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9144000"/>
  <p:notesSz cx="6858000" cy="9144000"/>
  <p:embeddedFontLst>
    <p:embeddedFont>
      <p:font typeface="Marcellus"/>
      <p:regular r:id="rId52"/>
    </p:embeddedFont>
    <p:embeddedFont>
      <p:font typeface="Tahoma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Tahoma-regular.fntdata"/><Relationship Id="rId52" Type="http://schemas.openxmlformats.org/officeDocument/2006/relationships/font" Target="fonts/Marcellus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Tahom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2" name="Google Shape;16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0" name="Google Shape;20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:notes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 208A</a:t>
            </a:r>
            <a:endParaRPr/>
          </a:p>
        </p:txBody>
      </p:sp>
      <p:sp>
        <p:nvSpPr>
          <p:cNvPr id="330" name="Google Shape;330;p23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February 2024</a:t>
            </a:r>
            <a:endParaRPr/>
          </a:p>
        </p:txBody>
      </p:sp>
      <p:sp>
        <p:nvSpPr>
          <p:cNvPr id="331" name="Google Shape;331;p23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Yale Braunstein - DFD</a:t>
            </a:r>
            <a:endParaRPr/>
          </a:p>
        </p:txBody>
      </p:sp>
      <p:sp>
        <p:nvSpPr>
          <p:cNvPr id="332" name="Google Shape;332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23:notes"/>
          <p:cNvSpPr/>
          <p:nvPr>
            <p:ph idx="3" type="sldImg"/>
          </p:nvPr>
        </p:nvSpPr>
        <p:spPr>
          <a:xfrm>
            <a:off x="1144588" y="687388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" name="Google Shape;33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:notes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 208A</a:t>
            </a:r>
            <a:endParaRPr/>
          </a:p>
        </p:txBody>
      </p:sp>
      <p:sp>
        <p:nvSpPr>
          <p:cNvPr id="365" name="Google Shape;365;p27:notes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 February 2024</a:t>
            </a:r>
            <a:endParaRPr/>
          </a:p>
        </p:txBody>
      </p:sp>
      <p:sp>
        <p:nvSpPr>
          <p:cNvPr id="366" name="Google Shape;366;p27:notes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Yale Braunstein - DFD</a:t>
            </a:r>
            <a:endParaRPr/>
          </a:p>
        </p:txBody>
      </p:sp>
      <p:sp>
        <p:nvSpPr>
          <p:cNvPr id="367" name="Google Shape;367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7:notes"/>
          <p:cNvSpPr/>
          <p:nvPr>
            <p:ph idx="3" type="sldImg"/>
          </p:nvPr>
        </p:nvSpPr>
        <p:spPr>
          <a:xfrm>
            <a:off x="1144588" y="687388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2" name="Google Shape;502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0" name="Google Shape;510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1" name="Google Shape;51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6858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b="0" i="0" sz="3600" u="none" cap="none" strike="noStrik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6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728983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b="0" i="0" sz="3600" u="none" cap="none" strike="noStrik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655370" y="1189973"/>
            <a:ext cx="8248389" cy="4899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55A11"/>
              </a:buClr>
              <a:buSzPts val="1680"/>
              <a:buFont typeface="Courier New"/>
              <a:buChar char="o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D4427"/>
              </a:buClr>
              <a:buSzPts val="1400"/>
              <a:buFont typeface="Times New Roman"/>
              <a:buChar char="−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681575" y="1606006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03704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3" type="body"/>
          </p:nvPr>
        </p:nvSpPr>
        <p:spPr>
          <a:xfrm>
            <a:off x="4803013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4" type="body"/>
          </p:nvPr>
        </p:nvSpPr>
        <p:spPr>
          <a:xfrm>
            <a:off x="4803013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2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6" name="Google Shape;106;p1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7.xml"/><Relationship Id="rId22" Type="http://schemas.openxmlformats.org/officeDocument/2006/relationships/theme" Target="../theme/theme1.xml"/><Relationship Id="rId10" Type="http://schemas.openxmlformats.org/officeDocument/2006/relationships/slideLayout" Target="../slideLayouts/slideLayout6.xml"/><Relationship Id="rId21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6.jp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19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.xml"/><Relationship Id="rId1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1148443" y="294320"/>
            <a:ext cx="6847115" cy="7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24390" y="6373654"/>
            <a:ext cx="1455965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2/5/2024</a:t>
            </a:r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8240198" y="6347051"/>
            <a:ext cx="6014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i="0" sz="1400" u="none" cap="none" strike="noStrike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1"/>
          <p:cNvCxnSpPr/>
          <p:nvPr/>
        </p:nvCxnSpPr>
        <p:spPr>
          <a:xfrm>
            <a:off x="173929" y="524443"/>
            <a:ext cx="15020" cy="5873873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" name="Google Shape;14;p1"/>
          <p:cNvCxnSpPr/>
          <p:nvPr/>
        </p:nvCxnSpPr>
        <p:spPr>
          <a:xfrm>
            <a:off x="8958782" y="135448"/>
            <a:ext cx="14374" cy="6100958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" name="Google Shape;15;p1"/>
          <p:cNvCxnSpPr/>
          <p:nvPr/>
        </p:nvCxnSpPr>
        <p:spPr>
          <a:xfrm>
            <a:off x="429274" y="135448"/>
            <a:ext cx="8536694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" name="Google Shape;16;p1"/>
          <p:cNvCxnSpPr/>
          <p:nvPr/>
        </p:nvCxnSpPr>
        <p:spPr>
          <a:xfrm flipH="1" rot="-5400000">
            <a:off x="162549" y="6424715"/>
            <a:ext cx="293100" cy="24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"/>
          <p:cNvCxnSpPr/>
          <p:nvPr/>
        </p:nvCxnSpPr>
        <p:spPr>
          <a:xfrm rot="5400000">
            <a:off x="8611957" y="6330007"/>
            <a:ext cx="454800" cy="267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" name="Google Shape;18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54" y="135448"/>
            <a:ext cx="425219" cy="6722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9588" y="135448"/>
            <a:ext cx="153343" cy="5305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1645" y="6043825"/>
            <a:ext cx="651512" cy="647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21" name="Google Shape;2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" y="6214968"/>
            <a:ext cx="1991676" cy="663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 rot="5400000">
            <a:off x="4987623" y="3550281"/>
            <a:ext cx="385984" cy="6282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5093663" y="3283949"/>
            <a:ext cx="173904" cy="628205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uml.org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2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4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en.wikipedia.org/wiki/List_of_UML_tools" TargetMode="External"/><Relationship Id="rId4" Type="http://schemas.openxmlformats.org/officeDocument/2006/relationships/hyperlink" Target="http://argouml.tigris.org/" TargetMode="External"/><Relationship Id="rId5" Type="http://schemas.openxmlformats.org/officeDocument/2006/relationships/hyperlink" Target="http://www.rational.com/" TargetMode="External"/><Relationship Id="rId6" Type="http://schemas.openxmlformats.org/officeDocument/2006/relationships/hyperlink" Target="http://www.pragsoft.com/" TargetMode="External"/><Relationship Id="rId7" Type="http://schemas.openxmlformats.org/officeDocument/2006/relationships/hyperlink" Target="http://www.borland.com/together/index.html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ctrTitle"/>
          </p:nvPr>
        </p:nvSpPr>
        <p:spPr>
          <a:xfrm>
            <a:off x="1043608" y="105273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5400"/>
              <a:t>SY-Mini Project </a:t>
            </a:r>
            <a:br>
              <a:rPr b="1" lang="en-US" sz="5400"/>
            </a:br>
            <a:br>
              <a:rPr lang="en-US" sz="5400"/>
            </a:br>
            <a:r>
              <a:rPr b="1" lang="en-US" sz="4000"/>
              <a:t>Tutorial -4</a:t>
            </a:r>
            <a:endParaRPr b="1" sz="4000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114" name="Google Shape;114;p19"/>
          <p:cNvSpPr txBox="1"/>
          <p:nvPr>
            <p:ph idx="1" type="subTitle"/>
          </p:nvPr>
        </p:nvSpPr>
        <p:spPr>
          <a:xfrm>
            <a:off x="1043608" y="4465508"/>
            <a:ext cx="7734334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Assistant Professor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Department of Computer Engineering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K. J. Somaiya College of Engineering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 sz="20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Somaiya Vidyavihar University</a:t>
            </a:r>
            <a:endParaRPr/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" y="2220"/>
            <a:ext cx="425219" cy="6855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73" y="0"/>
            <a:ext cx="157258" cy="5440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7" name="Google Shape;11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930" y="2219"/>
            <a:ext cx="1991676" cy="66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>
            <p:ph idx="11" type="ftr"/>
          </p:nvPr>
        </p:nvSpPr>
        <p:spPr>
          <a:xfrm>
            <a:off x="1979712" y="6356351"/>
            <a:ext cx="6408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1763688" y="3933056"/>
            <a:ext cx="68120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62626"/>
                </a:solidFill>
                <a:latin typeface="Marcellus"/>
                <a:ea typeface="Marcellus"/>
                <a:cs typeface="Marcellus"/>
                <a:sym typeface="Marcellus"/>
              </a:rPr>
              <a:t>Bharathi H N      Jyothi M Rao</a:t>
            </a:r>
            <a:endParaRPr sz="2400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Acknowledgements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Slides material are taken from different sources including: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the slides of Mr. Shiyuan Jin’s UML class, EEL 4884, Fall 2003.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the slides of Yi Luo’s 	UML Lecture,EEL5881 Software Engineering I</a:t>
            </a:r>
            <a:br>
              <a:rPr lang="en-US" sz="2000"/>
            </a:br>
            <a:r>
              <a:rPr lang="en-US" sz="2000"/>
              <a:t>	</a:t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i="1" lang="en-US" sz="2000"/>
              <a:t>Object-Oriented and Classical Software Engineering, </a:t>
            </a:r>
            <a:r>
              <a:rPr lang="en-US" sz="2000"/>
              <a:t>Sixth Edition, WCB/McGraw-Hill, 2005 Stephen R. Schach</a:t>
            </a:r>
            <a:endParaRPr sz="2000"/>
          </a:p>
          <a:p>
            <a:pPr indent="-158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/>
              <a:t>UML resource page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http://www.uml.org/</a:t>
            </a:r>
            <a:endParaRPr sz="2000"/>
          </a:p>
          <a:p>
            <a:pPr indent="-158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2123728" y="6381328"/>
            <a:ext cx="6408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34" name="Google Shape;134;p21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77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Use  of diagrams to design software system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Different</a:t>
            </a:r>
            <a:r>
              <a:rPr lang="en-US"/>
              <a:t> types of diagrams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EER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USE case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o"/>
            </a:pPr>
            <a:r>
              <a:rPr lang="en-US"/>
              <a:t>Data flow </a:t>
            </a:r>
            <a:endParaRPr/>
          </a:p>
          <a:p>
            <a:pPr indent="-1079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>
            <p:ph idx="11" type="ftr"/>
          </p:nvPr>
        </p:nvSpPr>
        <p:spPr>
          <a:xfrm>
            <a:off x="2051720" y="6381328"/>
            <a:ext cx="6408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17325" y="214825"/>
            <a:ext cx="7891200" cy="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Diagrams used in Software Development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Use graphical notation: more clearly than natural language (imprecise) and code (too detailed).</a:t>
            </a:r>
            <a:endParaRPr/>
          </a:p>
          <a:p>
            <a:pPr indent="-158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Help acquire an overall view of a system.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28575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58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2"/>
          <p:cNvSpPr txBox="1"/>
          <p:nvPr>
            <p:ph idx="11" type="ftr"/>
          </p:nvPr>
        </p:nvSpPr>
        <p:spPr>
          <a:xfrm>
            <a:off x="3028950" y="6356351"/>
            <a:ext cx="47834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sz="3600"/>
              <a:t>UML 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700000" y="828026"/>
            <a:ext cx="8229600" cy="50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UML → “Unified Modeling Language”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414">
              <a:latin typeface="Arial"/>
              <a:ea typeface="Arial"/>
              <a:cs typeface="Arial"/>
              <a:sym typeface="Arial"/>
            </a:endParaRPr>
          </a:p>
          <a:p>
            <a:pPr indent="-285750" lvl="0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814">
                <a:latin typeface="Arial"/>
                <a:ea typeface="Arial"/>
                <a:cs typeface="Arial"/>
                <a:sym typeface="Arial"/>
              </a:rPr>
              <a:t>It </a:t>
            </a:r>
            <a:r>
              <a:rPr lang="en-US" sz="2814">
                <a:latin typeface="Arial"/>
                <a:ea typeface="Arial"/>
                <a:cs typeface="Arial"/>
                <a:sym typeface="Arial"/>
              </a:rPr>
              <a:t> is a industry-standard graphical language for specifying, visualizing, constructing, and documenting the artifacts of software systems</a:t>
            </a:r>
            <a:endParaRPr sz="2814">
              <a:latin typeface="Arial"/>
              <a:ea typeface="Arial"/>
              <a:cs typeface="Arial"/>
              <a:sym typeface="Arial"/>
            </a:endParaRPr>
          </a:p>
          <a:p>
            <a:pPr indent="0" lvl="0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14">
              <a:latin typeface="Arial"/>
              <a:ea typeface="Arial"/>
              <a:cs typeface="Arial"/>
              <a:sym typeface="Arial"/>
            </a:endParaRPr>
          </a:p>
          <a:p>
            <a:pPr indent="-312086" lvl="0" marL="7429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15"/>
              <a:buFont typeface="Noto Sans Symbols"/>
              <a:buChar char="⮚"/>
            </a:pPr>
            <a:r>
              <a:rPr lang="en-US" sz="2814">
                <a:latin typeface="Arial"/>
                <a:ea typeface="Arial"/>
                <a:cs typeface="Arial"/>
                <a:sym typeface="Arial"/>
              </a:rPr>
              <a:t>Simplifies the complex process of software design</a:t>
            </a:r>
            <a:endParaRPr sz="2814">
              <a:latin typeface="Arial"/>
              <a:ea typeface="Arial"/>
              <a:cs typeface="Arial"/>
              <a:sym typeface="Arial"/>
            </a:endParaRPr>
          </a:p>
          <a:p>
            <a:pPr indent="0" lvl="0" marL="2857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3028950" y="6356350"/>
            <a:ext cx="388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Types of UML diagrams 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00000" y="1324625"/>
            <a:ext cx="8229600" cy="49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Entity relationship Diagram (Extensively studied in RDBMS course) </a:t>
            </a:r>
            <a:endParaRPr sz="3035"/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Use Case Diagram</a:t>
            </a:r>
            <a:endParaRPr sz="3035"/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Data flow diagram</a:t>
            </a:r>
            <a:endParaRPr sz="2235">
              <a:latin typeface="Arial"/>
              <a:ea typeface="Arial"/>
              <a:cs typeface="Arial"/>
              <a:sym typeface="Arial"/>
            </a:endParaRPr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Class Diagram</a:t>
            </a:r>
            <a:endParaRPr sz="3035"/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Sequence Diagram</a:t>
            </a:r>
            <a:endParaRPr sz="3035"/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Collaboration Diagram</a:t>
            </a:r>
            <a:endParaRPr sz="3035"/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State Diagram</a:t>
            </a:r>
            <a:endParaRPr sz="3035"/>
          </a:p>
          <a:p>
            <a:pPr indent="-310215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35"/>
              <a:buFont typeface="Noto Sans Symbols"/>
              <a:buChar char="⮚"/>
            </a:pPr>
            <a:r>
              <a:rPr lang="en-US" sz="2235">
                <a:latin typeface="Arial"/>
                <a:ea typeface="Arial"/>
                <a:cs typeface="Arial"/>
                <a:sym typeface="Arial"/>
              </a:rPr>
              <a:t>Activity Diagram </a:t>
            </a:r>
            <a:endParaRPr sz="2235">
              <a:latin typeface="Arial"/>
              <a:ea typeface="Arial"/>
              <a:cs typeface="Arial"/>
              <a:sym typeface="Arial"/>
            </a:endParaRPr>
          </a:p>
          <a:p>
            <a:pPr indent="-168275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1174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is only a subset of diagrams … but are most widely used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4"/>
          <p:cNvSpPr txBox="1"/>
          <p:nvPr>
            <p:ph idx="11" type="ftr"/>
          </p:nvPr>
        </p:nvSpPr>
        <p:spPr>
          <a:xfrm>
            <a:off x="3028950" y="6356351"/>
            <a:ext cx="4279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Example COMPANY Database</a:t>
            </a:r>
            <a:endParaRPr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Create a database schema design based on the following (simplified) </a:t>
            </a:r>
            <a:r>
              <a:rPr b="1" lang="en-US"/>
              <a:t>requirements</a:t>
            </a:r>
            <a:r>
              <a:rPr lang="en-US"/>
              <a:t> of the COMPANY Database: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The company is organized into DEPARTMENTs. Each department has a name, number and an employee who </a:t>
            </a:r>
            <a:r>
              <a:rPr i="1" lang="en-US"/>
              <a:t>manages</a:t>
            </a:r>
            <a:r>
              <a:rPr lang="en-US"/>
              <a:t> the department. We keep track of the start date of the department manager. A department may have several locations.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Each department </a:t>
            </a:r>
            <a:r>
              <a:rPr i="1" lang="en-US"/>
              <a:t>controls</a:t>
            </a:r>
            <a:r>
              <a:rPr lang="en-US"/>
              <a:t> a number of PROJECTs. Each project has a unique name, unique number and is located at a single location.</a:t>
            </a:r>
            <a:endParaRPr/>
          </a:p>
        </p:txBody>
      </p:sp>
      <p:sp>
        <p:nvSpPr>
          <p:cNvPr id="167" name="Google Shape;167;p25"/>
          <p:cNvSpPr txBox="1"/>
          <p:nvPr>
            <p:ph idx="11" type="ftr"/>
          </p:nvPr>
        </p:nvSpPr>
        <p:spPr>
          <a:xfrm>
            <a:off x="3028950" y="6356351"/>
            <a:ext cx="43513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Example COMPANY Database (Contd.)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We store each EMPLOYEE’s social security number, address, salary, sex, and birthdate. </a:t>
            </a:r>
            <a:endParaRPr/>
          </a:p>
          <a:p>
            <a:pPr indent="-13716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/>
              <a:t>Each employee </a:t>
            </a:r>
            <a:r>
              <a:rPr i="1" lang="en-US"/>
              <a:t>works for</a:t>
            </a:r>
            <a:r>
              <a:rPr lang="en-US"/>
              <a:t> one department but may </a:t>
            </a:r>
            <a:r>
              <a:rPr i="1" lang="en-US"/>
              <a:t>work on</a:t>
            </a:r>
            <a:r>
              <a:rPr lang="en-US"/>
              <a:t> several projects.</a:t>
            </a:r>
            <a:endParaRPr/>
          </a:p>
          <a:p>
            <a:pPr indent="-13716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/>
              <a:t>We keep track of the number of hours per week that an employee currently works on each project.</a:t>
            </a:r>
            <a:endParaRPr/>
          </a:p>
          <a:p>
            <a:pPr indent="-13716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/>
              <a:t>We also keep track of the </a:t>
            </a:r>
            <a:r>
              <a:rPr i="1" lang="en-US"/>
              <a:t>direct supervisor</a:t>
            </a:r>
            <a:r>
              <a:rPr lang="en-US"/>
              <a:t> of each employee.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Each employee may </a:t>
            </a:r>
            <a:r>
              <a:rPr i="1" lang="en-US"/>
              <a:t>have</a:t>
            </a:r>
            <a:r>
              <a:rPr lang="en-US"/>
              <a:t> a number of DEPENDENTs.</a:t>
            </a:r>
            <a:endParaRPr/>
          </a:p>
          <a:p>
            <a:pPr indent="-137160" lvl="2" marL="12001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/>
              <a:t>For each dependent, we keep track of their name, sex, birthdate, and relationship to the employee.</a:t>
            </a:r>
            <a:endParaRPr/>
          </a:p>
        </p:txBody>
      </p:sp>
      <p:sp>
        <p:nvSpPr>
          <p:cNvPr id="175" name="Google Shape;175;p26"/>
          <p:cNvSpPr txBox="1"/>
          <p:nvPr>
            <p:ph idx="11" type="ftr"/>
          </p:nvPr>
        </p:nvSpPr>
        <p:spPr>
          <a:xfrm>
            <a:off x="3028950" y="6356351"/>
            <a:ext cx="43513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ER Model Concepts</a:t>
            </a:r>
            <a:endParaRPr/>
          </a:p>
        </p:txBody>
      </p:sp>
      <p:sp>
        <p:nvSpPr>
          <p:cNvPr id="182" name="Google Shape;182;p27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Entities and Attributes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Entities(noun) are specific objects or things in the mini-world that are represented in the database.</a:t>
            </a:r>
            <a:endParaRPr/>
          </a:p>
          <a:p>
            <a:pPr indent="-137160" lvl="2" marL="12001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 sz="2000"/>
              <a:t>For example the EMPLOYEE John Smith, the Research DEPARTMENT, the ProductX PROJECT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Attributes are properties used to describe an entity.</a:t>
            </a:r>
            <a:endParaRPr/>
          </a:p>
          <a:p>
            <a:pPr indent="-137160" lvl="2" marL="12001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 sz="2000"/>
              <a:t>For example an EMPLOYEE entity may have the attributes Name, SSN, Address, Sex, BirthDate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A specific entity will have a value for each of its attributes.</a:t>
            </a:r>
            <a:endParaRPr/>
          </a:p>
          <a:p>
            <a:pPr indent="-137160" lvl="2" marL="12001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−"/>
            </a:pPr>
            <a:r>
              <a:rPr lang="en-US" sz="2000"/>
              <a:t>For example a specific employee entity may have Name='John Smith', SSN='123456789', Address ='731, Fondren, Houston, TX', Sex='M', BirthDate='09-JAN-55‘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Each attribute has a </a:t>
            </a:r>
            <a:r>
              <a:rPr i="1" lang="en-US" sz="2200"/>
              <a:t>value set</a:t>
            </a:r>
            <a:r>
              <a:rPr lang="en-US" sz="2200"/>
              <a:t> (or data type) associated with it – e.g. integer, string, subrange, enumerated type, …</a:t>
            </a:r>
            <a:endParaRPr/>
          </a:p>
        </p:txBody>
      </p:sp>
      <p:sp>
        <p:nvSpPr>
          <p:cNvPr id="183" name="Google Shape;183;p27"/>
          <p:cNvSpPr txBox="1"/>
          <p:nvPr>
            <p:ph idx="11" type="ftr"/>
          </p:nvPr>
        </p:nvSpPr>
        <p:spPr>
          <a:xfrm>
            <a:off x="3028950" y="6356351"/>
            <a:ext cx="46393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Initial Design of Entity Types:</a:t>
            </a:r>
            <a:br>
              <a:rPr lang="en-US"/>
            </a:br>
            <a:r>
              <a:rPr lang="en-US" sz="2400"/>
              <a:t>EMPLOYEE, DEPARTMENT, PROJECT, DEPENDENT</a:t>
            </a:r>
            <a:endParaRPr/>
          </a:p>
        </p:txBody>
      </p:sp>
      <p:pic>
        <p:nvPicPr>
          <p:cNvPr descr="fig03_08" id="189" name="Google Shape;1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600200"/>
            <a:ext cx="4859338" cy="4799013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>
            <p:ph idx="11" type="ftr"/>
          </p:nvPr>
        </p:nvSpPr>
        <p:spPr>
          <a:xfrm>
            <a:off x="3028950" y="6356351"/>
            <a:ext cx="44233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200"/>
              <a:buFont typeface="Times New Roman"/>
              <a:buNone/>
            </a:pPr>
            <a:r>
              <a:rPr lang="en-US" sz="3200"/>
              <a:t>Refining the initial design by introducing </a:t>
            </a:r>
            <a:r>
              <a:rPr b="1" lang="en-US" sz="3200"/>
              <a:t>relationships</a:t>
            </a:r>
            <a:endParaRPr/>
          </a:p>
        </p:txBody>
      </p:sp>
      <p:sp>
        <p:nvSpPr>
          <p:cNvPr id="196" name="Google Shape;196;p29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initial design is typically not complete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Some aspects in the requirements will be represented as </a:t>
            </a:r>
            <a:r>
              <a:rPr b="1" lang="en-US"/>
              <a:t>relationships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ER model has three main concepts: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Entities (and their entity types and entity sets)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Attributes (simple, composite, multivalued)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o"/>
            </a:pPr>
            <a:r>
              <a:rPr lang="en-US"/>
              <a:t>Relationships (and their relationship types and relationship sets)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introduce relationship concepts next</a:t>
            </a:r>
            <a:endParaRPr/>
          </a:p>
        </p:txBody>
      </p:sp>
      <p:sp>
        <p:nvSpPr>
          <p:cNvPr id="197" name="Google Shape;197;p29"/>
          <p:cNvSpPr txBox="1"/>
          <p:nvPr>
            <p:ph idx="11" type="ftr"/>
          </p:nvPr>
        </p:nvSpPr>
        <p:spPr>
          <a:xfrm>
            <a:off x="3028950" y="6356351"/>
            <a:ext cx="44233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200"/>
              <a:buFont typeface="Times New Roman"/>
              <a:buNone/>
            </a:pPr>
            <a:r>
              <a:rPr lang="en-US" sz="3200"/>
              <a:t>Relationships and Relationship Types (1)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</a:t>
            </a:r>
            <a:r>
              <a:rPr b="1" lang="en-US" sz="2400"/>
              <a:t>relationship</a:t>
            </a:r>
            <a:r>
              <a:rPr lang="en-US" sz="2400"/>
              <a:t> relates two or more distinct entities with a specific meaning.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o"/>
            </a:pPr>
            <a:r>
              <a:rPr lang="en-US" sz="2100"/>
              <a:t>For example, EMPLOYEE John Smith </a:t>
            </a:r>
            <a:r>
              <a:rPr i="1" lang="en-US" sz="2100"/>
              <a:t>works on</a:t>
            </a:r>
            <a:r>
              <a:rPr lang="en-US" sz="2100"/>
              <a:t> the ProductX PROJECT, or EMPLOYEE Franklin Wong </a:t>
            </a:r>
            <a:r>
              <a:rPr i="1" lang="en-US" sz="2100"/>
              <a:t>manages</a:t>
            </a:r>
            <a:r>
              <a:rPr lang="en-US" sz="2100"/>
              <a:t> the Research DEPARTMENT.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Relationships of the same type are grouped or typed into a </a:t>
            </a:r>
            <a:r>
              <a:rPr b="1" lang="en-US" sz="2400"/>
              <a:t>relationship type</a:t>
            </a:r>
            <a:r>
              <a:rPr lang="en-US" sz="2400"/>
              <a:t>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o"/>
            </a:pPr>
            <a:r>
              <a:rPr lang="en-US" sz="2100"/>
              <a:t>For example, the WORKS_ON relationship type in which EMPLOYEEs and PROJECTs participate, or the MANAGES relationship type in which EMPLOYEEs and DEPARTMENTs participate.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degree of a relationship type is the number of participating entity types.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o"/>
            </a:pPr>
            <a:r>
              <a:rPr lang="en-US" sz="2100"/>
              <a:t>Both MANAGES and WORKS_ON are </a:t>
            </a:r>
            <a:r>
              <a:rPr i="1" lang="en-US" sz="2100"/>
              <a:t>binary</a:t>
            </a:r>
            <a:r>
              <a:rPr lang="en-US" sz="2100"/>
              <a:t> relationships.</a:t>
            </a:r>
            <a:endParaRPr/>
          </a:p>
        </p:txBody>
      </p:sp>
      <p:sp>
        <p:nvSpPr>
          <p:cNvPr id="205" name="Google Shape;205;p30"/>
          <p:cNvSpPr txBox="1"/>
          <p:nvPr>
            <p:ph idx="11" type="ftr"/>
          </p:nvPr>
        </p:nvSpPr>
        <p:spPr>
          <a:xfrm>
            <a:off x="3028950" y="6356351"/>
            <a:ext cx="442337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200"/>
              <a:buFont typeface="Times New Roman"/>
              <a:buNone/>
            </a:pPr>
            <a:r>
              <a:rPr lang="en-US" sz="3200"/>
              <a:t>Refining the COMPANY database schema by introducing relationships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By examining the requirements, six relationship types are identified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All are </a:t>
            </a:r>
            <a:r>
              <a:rPr i="1" lang="en-US" sz="2400"/>
              <a:t>binary</a:t>
            </a:r>
            <a:r>
              <a:rPr lang="en-US" sz="2400"/>
              <a:t> relationships( degree 2)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Listed below with their participating entity types: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WORKS_FOR (between EMPLOYEE, DEPARTMENT)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MANAGES (also between EMPLOYEE, DEPARTMENT)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CONTROLS (between DEPARTMENT, PROJECT)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WORKS_ON (between EMPLOYEE, PROJECT)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SUPERVISION (between EMPLOYEE (as subordinate), EMPLOYEE (as supervisor))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o"/>
            </a:pPr>
            <a:r>
              <a:rPr lang="en-US" sz="2200"/>
              <a:t>DEPENDENTS_OF (between EMPLOYEE, DEPENDENT)</a:t>
            </a:r>
            <a:endParaRPr/>
          </a:p>
          <a:p>
            <a:pPr indent="-1460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212" name="Google Shape;212;p31"/>
          <p:cNvSpPr txBox="1"/>
          <p:nvPr>
            <p:ph idx="11" type="ftr"/>
          </p:nvPr>
        </p:nvSpPr>
        <p:spPr>
          <a:xfrm>
            <a:off x="3028950" y="6356351"/>
            <a:ext cx="55034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622300" y="215900"/>
            <a:ext cx="7940675" cy="76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ER DIAGRAM – Relationship Types are:</a:t>
            </a:r>
            <a:br>
              <a:rPr lang="en-US" sz="3200"/>
            </a:br>
            <a:r>
              <a:rPr b="1" lang="en-US" sz="1400"/>
              <a:t>WORKS_FOR, MANAGES, WORKS_ON, CONTROLS, SUPERVISION, DEPENDENTS_OF</a:t>
            </a:r>
            <a:endParaRPr/>
          </a:p>
        </p:txBody>
      </p:sp>
      <p:pic>
        <p:nvPicPr>
          <p:cNvPr descr="fig03_02" id="219" name="Google Shape;2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052736"/>
            <a:ext cx="6840760" cy="4994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>
            <p:ph idx="11" type="ftr"/>
          </p:nvPr>
        </p:nvSpPr>
        <p:spPr>
          <a:xfrm>
            <a:off x="3028950" y="6356351"/>
            <a:ext cx="550349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Use-Case Diagrams</a:t>
            </a:r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use-case diagram is a set of use cases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A use case is a model of the interaction between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describing a set of user </a:t>
            </a:r>
            <a:r>
              <a:rPr b="1" lang="en-US" sz="2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scenarios</a:t>
            </a:r>
            <a:r>
              <a:rPr lang="en-US"/>
              <a:t> and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capturing user requirements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111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External users of a software product (actors) and </a:t>
            </a:r>
            <a:endParaRPr sz="3200"/>
          </a:p>
          <a:p>
            <a:pPr indent="-3111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The software product itself</a:t>
            </a:r>
            <a:endParaRPr sz="3200"/>
          </a:p>
          <a:p>
            <a:pPr indent="-311150" lvl="0" marL="7429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More precisely, an actor is a user playing a specific role</a:t>
            </a:r>
            <a:endParaRPr sz="3200"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 between end user and software developers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Use-Case Diagrams</a:t>
            </a:r>
            <a:endParaRPr/>
          </a:p>
        </p:txBody>
      </p:sp>
      <p:sp>
        <p:nvSpPr>
          <p:cNvPr id="234" name="Google Shape;234;p34"/>
          <p:cNvSpPr/>
          <p:nvPr/>
        </p:nvSpPr>
        <p:spPr>
          <a:xfrm>
            <a:off x="3276600" y="2115343"/>
            <a:ext cx="2438400" cy="3846513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4"/>
          <p:cNvSpPr/>
          <p:nvPr/>
        </p:nvSpPr>
        <p:spPr>
          <a:xfrm>
            <a:off x="3609975" y="1905000"/>
            <a:ext cx="17634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Library System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4"/>
          <p:cNvSpPr/>
          <p:nvPr/>
        </p:nvSpPr>
        <p:spPr>
          <a:xfrm>
            <a:off x="3838575" y="3530600"/>
            <a:ext cx="923925" cy="431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4"/>
          <p:cNvSpPr/>
          <p:nvPr/>
        </p:nvSpPr>
        <p:spPr>
          <a:xfrm>
            <a:off x="4164013" y="3687763"/>
            <a:ext cx="40163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Borrow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34"/>
          <p:cNvSpPr/>
          <p:nvPr/>
        </p:nvSpPr>
        <p:spPr>
          <a:xfrm>
            <a:off x="3838575" y="4137025"/>
            <a:ext cx="923925" cy="511175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3962400" y="4373563"/>
            <a:ext cx="6000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Title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3657600" y="4886325"/>
            <a:ext cx="1371600" cy="523875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3971925" y="5059363"/>
            <a:ext cx="9207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Fine Remittance</a:t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42" name="Google Shape;242;p34"/>
          <p:cNvCxnSpPr/>
          <p:nvPr/>
        </p:nvCxnSpPr>
        <p:spPr>
          <a:xfrm>
            <a:off x="2354263" y="3513138"/>
            <a:ext cx="1484312" cy="177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34"/>
          <p:cNvCxnSpPr/>
          <p:nvPr/>
        </p:nvCxnSpPr>
        <p:spPr>
          <a:xfrm>
            <a:off x="2276475" y="3810000"/>
            <a:ext cx="1484313" cy="12477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34"/>
          <p:cNvCxnSpPr/>
          <p:nvPr/>
        </p:nvCxnSpPr>
        <p:spPr>
          <a:xfrm flipH="1">
            <a:off x="4676775" y="3405188"/>
            <a:ext cx="1331913" cy="9636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34"/>
          <p:cNvCxnSpPr/>
          <p:nvPr/>
        </p:nvCxnSpPr>
        <p:spPr>
          <a:xfrm flipH="1">
            <a:off x="4981575" y="3513138"/>
            <a:ext cx="989013" cy="149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34"/>
          <p:cNvCxnSpPr/>
          <p:nvPr/>
        </p:nvCxnSpPr>
        <p:spPr>
          <a:xfrm flipH="1" rot="10800000">
            <a:off x="4791075" y="3298825"/>
            <a:ext cx="1217613" cy="3206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4"/>
          <p:cNvCxnSpPr/>
          <p:nvPr/>
        </p:nvCxnSpPr>
        <p:spPr>
          <a:xfrm>
            <a:off x="4714875" y="4405313"/>
            <a:ext cx="1370013" cy="39211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4"/>
          <p:cNvCxnSpPr/>
          <p:nvPr/>
        </p:nvCxnSpPr>
        <p:spPr>
          <a:xfrm flipH="1" rot="10800000">
            <a:off x="4981575" y="4868863"/>
            <a:ext cx="1027113" cy="3206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4"/>
          <p:cNvCxnSpPr/>
          <p:nvPr/>
        </p:nvCxnSpPr>
        <p:spPr>
          <a:xfrm>
            <a:off x="1914525" y="3216275"/>
            <a:ext cx="1588" cy="301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34"/>
          <p:cNvCxnSpPr/>
          <p:nvPr/>
        </p:nvCxnSpPr>
        <p:spPr>
          <a:xfrm>
            <a:off x="1806575" y="3308350"/>
            <a:ext cx="2159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34"/>
          <p:cNvCxnSpPr/>
          <p:nvPr/>
        </p:nvCxnSpPr>
        <p:spPr>
          <a:xfrm flipH="1">
            <a:off x="1806575" y="3517900"/>
            <a:ext cx="107950" cy="242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34"/>
          <p:cNvCxnSpPr/>
          <p:nvPr/>
        </p:nvCxnSpPr>
        <p:spPr>
          <a:xfrm>
            <a:off x="1914525" y="3517900"/>
            <a:ext cx="107950" cy="242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34"/>
          <p:cNvSpPr/>
          <p:nvPr/>
        </p:nvSpPr>
        <p:spPr>
          <a:xfrm>
            <a:off x="1855788" y="2895600"/>
            <a:ext cx="107950" cy="244475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1776413" y="3870325"/>
            <a:ext cx="358775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" name="Google Shape;255;p34"/>
          <p:cNvCxnSpPr/>
          <p:nvPr/>
        </p:nvCxnSpPr>
        <p:spPr>
          <a:xfrm>
            <a:off x="6391275" y="3051175"/>
            <a:ext cx="1588" cy="301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4"/>
          <p:cNvCxnSpPr/>
          <p:nvPr/>
        </p:nvCxnSpPr>
        <p:spPr>
          <a:xfrm>
            <a:off x="6283325" y="3143250"/>
            <a:ext cx="2159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4"/>
          <p:cNvCxnSpPr/>
          <p:nvPr/>
        </p:nvCxnSpPr>
        <p:spPr>
          <a:xfrm flipH="1">
            <a:off x="6283325" y="3352800"/>
            <a:ext cx="107950" cy="242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4"/>
          <p:cNvCxnSpPr/>
          <p:nvPr/>
        </p:nvCxnSpPr>
        <p:spPr>
          <a:xfrm>
            <a:off x="6391275" y="3352800"/>
            <a:ext cx="107950" cy="242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4"/>
          <p:cNvSpPr/>
          <p:nvPr/>
        </p:nvSpPr>
        <p:spPr>
          <a:xfrm>
            <a:off x="6332538" y="2727325"/>
            <a:ext cx="134937" cy="244475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4"/>
          <p:cNvSpPr/>
          <p:nvPr/>
        </p:nvSpPr>
        <p:spPr>
          <a:xfrm>
            <a:off x="6149975" y="3705225"/>
            <a:ext cx="6223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61" name="Google Shape;261;p34"/>
          <p:cNvCxnSpPr/>
          <p:nvPr/>
        </p:nvCxnSpPr>
        <p:spPr>
          <a:xfrm>
            <a:off x="6391275" y="4803775"/>
            <a:ext cx="1588" cy="3016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34"/>
          <p:cNvCxnSpPr/>
          <p:nvPr/>
        </p:nvCxnSpPr>
        <p:spPr>
          <a:xfrm>
            <a:off x="6283325" y="4895850"/>
            <a:ext cx="215900" cy="15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" name="Google Shape;263;p34"/>
          <p:cNvCxnSpPr/>
          <p:nvPr/>
        </p:nvCxnSpPr>
        <p:spPr>
          <a:xfrm flipH="1">
            <a:off x="6283325" y="5105400"/>
            <a:ext cx="107950" cy="242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" name="Google Shape;264;p34"/>
          <p:cNvCxnSpPr/>
          <p:nvPr/>
        </p:nvCxnSpPr>
        <p:spPr>
          <a:xfrm>
            <a:off x="6391275" y="5105400"/>
            <a:ext cx="107950" cy="2428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34"/>
          <p:cNvSpPr/>
          <p:nvPr/>
        </p:nvSpPr>
        <p:spPr>
          <a:xfrm>
            <a:off x="6315075" y="4483100"/>
            <a:ext cx="152400" cy="2413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6103938" y="5457825"/>
            <a:ext cx="668337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1739902" y="2219325"/>
            <a:ext cx="1217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FF66CC"/>
                </a:solidFill>
                <a:latin typeface="Arial"/>
                <a:ea typeface="Arial"/>
                <a:cs typeface="Arial"/>
                <a:sym typeface="Arial"/>
              </a:rPr>
              <a:t>Boundary</a:t>
            </a:r>
            <a:endParaRPr/>
          </a:p>
        </p:txBody>
      </p:sp>
      <p:cxnSp>
        <p:nvCxnSpPr>
          <p:cNvPr id="268" name="Google Shape;268;p34"/>
          <p:cNvCxnSpPr/>
          <p:nvPr/>
        </p:nvCxnSpPr>
        <p:spPr>
          <a:xfrm>
            <a:off x="2895600" y="2524125"/>
            <a:ext cx="228600" cy="76200"/>
          </a:xfrm>
          <a:prstGeom prst="straightConnector1">
            <a:avLst/>
          </a:prstGeom>
          <a:noFill/>
          <a:ln cap="flat" cmpd="sng" w="9525">
            <a:solidFill>
              <a:srgbClr val="FF66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69" name="Google Shape;269;p34"/>
          <p:cNvSpPr/>
          <p:nvPr/>
        </p:nvSpPr>
        <p:spPr>
          <a:xfrm>
            <a:off x="838200" y="2524125"/>
            <a:ext cx="9906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FF66CC"/>
                </a:solidFill>
                <a:latin typeface="Arial"/>
                <a:ea typeface="Arial"/>
                <a:cs typeface="Arial"/>
                <a:sym typeface="Arial"/>
              </a:rPr>
              <a:t>Actor</a:t>
            </a:r>
            <a:endParaRPr/>
          </a:p>
        </p:txBody>
      </p:sp>
      <p:cxnSp>
        <p:nvCxnSpPr>
          <p:cNvPr id="270" name="Google Shape;270;p34"/>
          <p:cNvCxnSpPr/>
          <p:nvPr/>
        </p:nvCxnSpPr>
        <p:spPr>
          <a:xfrm>
            <a:off x="1371600" y="2828925"/>
            <a:ext cx="304800" cy="152400"/>
          </a:xfrm>
          <a:prstGeom prst="straightConnector1">
            <a:avLst/>
          </a:prstGeom>
          <a:noFill/>
          <a:ln cap="flat" cmpd="sng" w="9525">
            <a:solidFill>
              <a:srgbClr val="FF66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271" name="Google Shape;271;p34"/>
          <p:cNvCxnSpPr/>
          <p:nvPr/>
        </p:nvCxnSpPr>
        <p:spPr>
          <a:xfrm flipH="1">
            <a:off x="4572000" y="2447925"/>
            <a:ext cx="2133600" cy="1066800"/>
          </a:xfrm>
          <a:prstGeom prst="straightConnector1">
            <a:avLst/>
          </a:prstGeom>
          <a:noFill/>
          <a:ln cap="flat" cmpd="sng" w="9525">
            <a:solidFill>
              <a:srgbClr val="FF66CC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72" name="Google Shape;272;p34"/>
          <p:cNvSpPr/>
          <p:nvPr/>
        </p:nvSpPr>
        <p:spPr>
          <a:xfrm>
            <a:off x="6781800" y="2057400"/>
            <a:ext cx="13716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i="1" lang="en-US" sz="1600">
                <a:solidFill>
                  <a:srgbClr val="FF66CC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1600">
                <a:solidFill>
                  <a:srgbClr val="FF66CC"/>
                </a:solidFill>
                <a:latin typeface="Arial"/>
                <a:ea typeface="Arial"/>
                <a:cs typeface="Arial"/>
                <a:sym typeface="Arial"/>
              </a:rPr>
              <a:t>Use Case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 txBox="1"/>
          <p:nvPr/>
        </p:nvSpPr>
        <p:spPr>
          <a:xfrm>
            <a:off x="1524000" y="152400"/>
            <a:ext cx="541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5"/>
          <p:cNvSpPr txBox="1"/>
          <p:nvPr/>
        </p:nvSpPr>
        <p:spPr>
          <a:xfrm>
            <a:off x="457200" y="609600"/>
            <a:ext cx="8077200" cy="1552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5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Use-Case Diagrams</a:t>
            </a:r>
            <a:endParaRPr/>
          </a:p>
        </p:txBody>
      </p:sp>
      <p:sp>
        <p:nvSpPr>
          <p:cNvPr id="281" name="Google Shape;281;p35"/>
          <p:cNvSpPr txBox="1"/>
          <p:nvPr>
            <p:ph idx="1" type="body"/>
          </p:nvPr>
        </p:nvSpPr>
        <p:spPr>
          <a:xfrm>
            <a:off x="762000" y="1052737"/>
            <a:ext cx="7772400" cy="2808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 u="sng">
                <a:latin typeface="Arial"/>
                <a:ea typeface="Arial"/>
                <a:cs typeface="Arial"/>
                <a:sym typeface="Arial"/>
              </a:rPr>
              <a:t>Actors: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A role that a user plays with respect to the system, including human users and other systems. e.g., inanimate physical objects (e.g. robot); an external system that needs some information from the current system.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 u="sng">
                <a:latin typeface="Arial"/>
                <a:ea typeface="Arial"/>
                <a:cs typeface="Arial"/>
                <a:sym typeface="Arial"/>
              </a:rPr>
              <a:t>Use case: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A set of scenarios that describing an interaction  between a user and a system, including alternatives.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 u="sng">
                <a:latin typeface="Arial"/>
                <a:ea typeface="Arial"/>
                <a:cs typeface="Arial"/>
                <a:sym typeface="Arial"/>
              </a:rPr>
              <a:t>System boundary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rectangle diagram representing the boundary between the actors and the system.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pic>
        <p:nvPicPr>
          <p:cNvPr descr="actor" id="282" name="Google Shape;282;p3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4724400"/>
            <a:ext cx="3810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5"/>
          <p:cNvSpPr txBox="1"/>
          <p:nvPr>
            <p:ph idx="11" type="ftr"/>
          </p:nvPr>
        </p:nvSpPr>
        <p:spPr>
          <a:xfrm>
            <a:off x="3657600" y="6243638"/>
            <a:ext cx="40827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Engineering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Use-Case Diagrams</a:t>
            </a:r>
            <a:endParaRPr/>
          </a:p>
        </p:txBody>
      </p:sp>
      <p:sp>
        <p:nvSpPr>
          <p:cNvPr id="290" name="Google Shape;290;p36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>
                <a:latin typeface="Arial"/>
                <a:ea typeface="Arial"/>
                <a:cs typeface="Arial"/>
                <a:sym typeface="Arial"/>
              </a:rPr>
              <a:t>Association: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2857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communication between an actor and a use case; Represented by a solid line.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  <a:p>
            <a:pPr indent="-1714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u="sng">
                <a:latin typeface="Arial"/>
                <a:ea typeface="Arial"/>
                <a:cs typeface="Arial"/>
                <a:sym typeface="Arial"/>
              </a:rPr>
              <a:t>Generalization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relationship between one general use case and a special use case (used for defining special alternatives) Represented by a line with a triangular arrow head toward the parent use case.</a:t>
            </a:r>
            <a:endParaRPr/>
          </a:p>
          <a:p>
            <a:pPr indent="-184150" lvl="0" marL="28575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" name="Google Shape;291;p36"/>
          <p:cNvCxnSpPr/>
          <p:nvPr/>
        </p:nvCxnSpPr>
        <p:spPr>
          <a:xfrm>
            <a:off x="3581400" y="3124200"/>
            <a:ext cx="1600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2" name="Google Shape;292;p36"/>
          <p:cNvCxnSpPr/>
          <p:nvPr/>
        </p:nvCxnSpPr>
        <p:spPr>
          <a:xfrm>
            <a:off x="3581400" y="5334000"/>
            <a:ext cx="1143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3" name="Google Shape;293;p36"/>
          <p:cNvCxnSpPr/>
          <p:nvPr/>
        </p:nvCxnSpPr>
        <p:spPr>
          <a:xfrm>
            <a:off x="4724400" y="51816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4" name="Google Shape;294;p36"/>
          <p:cNvCxnSpPr/>
          <p:nvPr/>
        </p:nvCxnSpPr>
        <p:spPr>
          <a:xfrm>
            <a:off x="4724400" y="51816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5" name="Google Shape;295;p36"/>
          <p:cNvCxnSpPr/>
          <p:nvPr/>
        </p:nvCxnSpPr>
        <p:spPr>
          <a:xfrm flipH="1" rot="10800000">
            <a:off x="4724400" y="5334000"/>
            <a:ext cx="3810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296" name="Google Shape;296;p36"/>
          <p:cNvSpPr txBox="1"/>
          <p:nvPr>
            <p:ph idx="11" type="ftr"/>
          </p:nvPr>
        </p:nvSpPr>
        <p:spPr>
          <a:xfrm>
            <a:off x="3028950" y="6356351"/>
            <a:ext cx="43513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4000"/>
              <a:buFont typeface="Times New Roman"/>
              <a:buNone/>
            </a:pPr>
            <a:r>
              <a:rPr lang="en-US" sz="4000"/>
              <a:t>Use-Case Diagrams</a:t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1676400" y="3200400"/>
            <a:ext cx="6781800" cy="331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dotted line labeled &lt;&lt;extend&gt;&gt;  with an arrow toward the base case. The extending use case may add behavior to the base use case. The base class declares “extension points”.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&lt;&lt;extend&gt;&gt; 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04" name="Google Shape;304;p37"/>
          <p:cNvSpPr/>
          <p:nvPr/>
        </p:nvSpPr>
        <p:spPr>
          <a:xfrm>
            <a:off x="1676400" y="1327150"/>
            <a:ext cx="6553200" cy="2701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Include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 dotted line labeled &lt;&lt;include&gt;&gt; beginning at base use case and ending with an arrows pointing to the include use case.  The include relationship occurs when a chunk of behavior is similar across more than one use case. Use “include” in stead of copying the description of that behavior.  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&lt;&lt;include&gt;&gt;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5" name="Google Shape;305;p37"/>
          <p:cNvCxnSpPr/>
          <p:nvPr/>
        </p:nvCxnSpPr>
        <p:spPr>
          <a:xfrm>
            <a:off x="2438400" y="3962400"/>
            <a:ext cx="1752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lgDash"/>
            <a:miter lim="800000"/>
            <a:headEnd len="med" w="med" type="none"/>
            <a:tailEnd len="med" w="med" type="triangle"/>
          </a:ln>
        </p:spPr>
      </p:cxnSp>
      <p:cxnSp>
        <p:nvCxnSpPr>
          <p:cNvPr id="306" name="Google Shape;306;p37"/>
          <p:cNvCxnSpPr/>
          <p:nvPr/>
        </p:nvCxnSpPr>
        <p:spPr>
          <a:xfrm>
            <a:off x="2514600" y="6172200"/>
            <a:ext cx="1905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miter lim="800000"/>
            <a:headEnd len="med" w="med" type="none"/>
            <a:tailEnd len="med" w="med" type="triangle"/>
          </a:ln>
        </p:spPr>
      </p:cxnSp>
      <p:sp>
        <p:nvSpPr>
          <p:cNvPr id="307" name="Google Shape;307;p37"/>
          <p:cNvSpPr txBox="1"/>
          <p:nvPr>
            <p:ph idx="11" type="ftr"/>
          </p:nvPr>
        </p:nvSpPr>
        <p:spPr>
          <a:xfrm>
            <a:off x="3028950" y="6356351"/>
            <a:ext cx="45673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8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Use-Case Diagrams</a:t>
            </a:r>
            <a:endParaRPr/>
          </a:p>
        </p:txBody>
      </p:sp>
      <p:pic>
        <p:nvPicPr>
          <p:cNvPr id="314" name="Google Shape;31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362200"/>
            <a:ext cx="6705600" cy="357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8"/>
          <p:cNvSpPr/>
          <p:nvPr/>
        </p:nvSpPr>
        <p:spPr>
          <a:xfrm>
            <a:off x="6477000" y="6019800"/>
            <a:ext cx="145573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Figure 16.12</a:t>
            </a:r>
            <a:endParaRPr/>
          </a:p>
        </p:txBody>
      </p:sp>
      <p:sp>
        <p:nvSpPr>
          <p:cNvPr id="316" name="Google Shape;316;p38"/>
          <p:cNvSpPr/>
          <p:nvPr/>
        </p:nvSpPr>
        <p:spPr>
          <a:xfrm>
            <a:off x="2971800" y="6400800"/>
            <a:ext cx="32639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McGraw-Hill Companies, 2005</a:t>
            </a:r>
            <a:endParaRPr/>
          </a:p>
        </p:txBody>
      </p:sp>
      <p:sp>
        <p:nvSpPr>
          <p:cNvPr id="317" name="Google Shape;317;p38"/>
          <p:cNvSpPr txBox="1"/>
          <p:nvPr>
            <p:ph idx="11" type="ftr"/>
          </p:nvPr>
        </p:nvSpPr>
        <p:spPr>
          <a:xfrm>
            <a:off x="3028950" y="6356351"/>
            <a:ext cx="47834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Use-Case Diagrams</a:t>
            </a:r>
            <a:endParaRPr/>
          </a:p>
        </p:txBody>
      </p:sp>
      <p:sp>
        <p:nvSpPr>
          <p:cNvPr id="324" name="Google Shape;324;p39"/>
          <p:cNvSpPr txBox="1"/>
          <p:nvPr>
            <p:ph idx="1" type="body"/>
          </p:nvPr>
        </p:nvSpPr>
        <p:spPr>
          <a:xfrm>
            <a:off x="323528" y="980728"/>
            <a:ext cx="3350840" cy="50432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Both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Make Appointment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Request Medication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include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Check Patient Record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as a subtask (include) </a:t>
            </a:r>
            <a:endParaRPr/>
          </a:p>
          <a:p>
            <a:pPr indent="-127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extension point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is written inside the base case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Pay bill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; the extending class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Defer payment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adds the behavior of this extension point. (extend)</a:t>
            </a:r>
            <a:endParaRPr/>
          </a:p>
          <a:p>
            <a:pPr indent="-127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Pay Bill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is a parent use case and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Bill Insurance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is the child use case. (generalization)</a:t>
            </a:r>
            <a:endParaRPr/>
          </a:p>
          <a:p>
            <a:pPr indent="-127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1270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e_case" id="325" name="Google Shape;325;p39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6856" y="764704"/>
            <a:ext cx="4992688" cy="5191472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9"/>
          <p:cNvSpPr txBox="1"/>
          <p:nvPr/>
        </p:nvSpPr>
        <p:spPr>
          <a:xfrm>
            <a:off x="5410200" y="60960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(TogetherSoft, Inc)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39"/>
          <p:cNvSpPr txBox="1"/>
          <p:nvPr>
            <p:ph idx="11" type="ftr"/>
          </p:nvPr>
        </p:nvSpPr>
        <p:spPr>
          <a:xfrm>
            <a:off x="3657600" y="6243638"/>
            <a:ext cx="393873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Department of Computer Engineering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0"/>
          <p:cNvSpPr txBox="1"/>
          <p:nvPr>
            <p:ph idx="11" type="ftr"/>
          </p:nvPr>
        </p:nvSpPr>
        <p:spPr>
          <a:xfrm>
            <a:off x="3048000" y="6248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1" lang="en-US" sz="4800"/>
              <a:t>Data Flow Diagrams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1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Key Definitions</a:t>
            </a:r>
            <a:endParaRPr sz="4800"/>
          </a:p>
        </p:txBody>
      </p:sp>
      <p:sp>
        <p:nvSpPr>
          <p:cNvPr descr="Rectangle: Click to edit Master text styles&#10;Second level&#10;Third level&#10;Fourth level&#10;Fifth level" id="343" name="Google Shape;343;p41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33"/>
              </a:buClr>
              <a:buSzPts val="2800"/>
              <a:buFont typeface="Arial"/>
              <a:buChar char="•"/>
            </a:pPr>
            <a:r>
              <a:rPr i="1" lang="en-US">
                <a:solidFill>
                  <a:srgbClr val="FF0033"/>
                </a:solidFill>
              </a:rPr>
              <a:t>Data flow diagramming</a:t>
            </a:r>
            <a:r>
              <a:rPr lang="en-US"/>
              <a:t> shows business processes and the data that flows between them</a:t>
            </a:r>
            <a:endParaRPr/>
          </a:p>
          <a:p>
            <a:pPr indent="-63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-63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4400"/>
          </a:p>
          <a:p>
            <a:pPr indent="-63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sz="4400"/>
          </a:p>
        </p:txBody>
      </p:sp>
      <p:sp>
        <p:nvSpPr>
          <p:cNvPr id="344" name="Google Shape;344;p41"/>
          <p:cNvSpPr txBox="1"/>
          <p:nvPr>
            <p:ph idx="11" type="ftr"/>
          </p:nvPr>
        </p:nvSpPr>
        <p:spPr>
          <a:xfrm>
            <a:off x="3028950" y="6356350"/>
            <a:ext cx="47844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type="title"/>
          </p:nvPr>
        </p:nvSpPr>
        <p:spPr>
          <a:xfrm>
            <a:off x="611560" y="132867"/>
            <a:ext cx="5408240" cy="631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DFD Shapes from Visio  </a:t>
            </a:r>
            <a:br>
              <a:rPr lang="en-US"/>
            </a:br>
            <a:endParaRPr/>
          </a:p>
        </p:txBody>
      </p:sp>
      <p:pic>
        <p:nvPicPr>
          <p:cNvPr id="350" name="Google Shape;35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2133600"/>
            <a:ext cx="4876800" cy="411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2286000"/>
            <a:ext cx="1974850" cy="3773488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2"/>
          <p:cNvSpPr txBox="1"/>
          <p:nvPr/>
        </p:nvSpPr>
        <p:spPr>
          <a:xfrm>
            <a:off x="2555776" y="1676400"/>
            <a:ext cx="18722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 5.x</a:t>
            </a:r>
            <a:endParaRPr/>
          </a:p>
        </p:txBody>
      </p:sp>
      <p:sp>
        <p:nvSpPr>
          <p:cNvPr id="353" name="Google Shape;353;p42"/>
          <p:cNvSpPr/>
          <p:nvPr/>
        </p:nvSpPr>
        <p:spPr>
          <a:xfrm>
            <a:off x="6324600" y="1676400"/>
            <a:ext cx="138747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Visio 2000</a:t>
            </a:r>
            <a:endParaRPr/>
          </a:p>
        </p:txBody>
      </p:sp>
      <p:sp>
        <p:nvSpPr>
          <p:cNvPr id="354" name="Google Shape;354;p42"/>
          <p:cNvSpPr txBox="1"/>
          <p:nvPr>
            <p:ph idx="11" type="ftr"/>
          </p:nvPr>
        </p:nvSpPr>
        <p:spPr>
          <a:xfrm>
            <a:off x="3028950" y="6356351"/>
            <a:ext cx="4855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5" name="Google Shape;355;p42"/>
          <p:cNvSpPr txBox="1"/>
          <p:nvPr/>
        </p:nvSpPr>
        <p:spPr>
          <a:xfrm>
            <a:off x="1143000" y="620700"/>
            <a:ext cx="71127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1- Data store , 2- process,  3- External entity</a:t>
            </a:r>
            <a:endParaRPr b="1"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DFD Elements</a:t>
            </a:r>
            <a:endParaRPr/>
          </a:p>
        </p:txBody>
      </p:sp>
      <p:pic>
        <p:nvPicPr>
          <p:cNvPr descr="A:\!06-02W-.023" id="361" name="Google Shape;36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908720"/>
            <a:ext cx="7131050" cy="5309518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3"/>
          <p:cNvSpPr txBox="1"/>
          <p:nvPr>
            <p:ph idx="11" type="ftr"/>
          </p:nvPr>
        </p:nvSpPr>
        <p:spPr>
          <a:xfrm>
            <a:off x="3028950" y="6356351"/>
            <a:ext cx="427935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 txBox="1"/>
          <p:nvPr>
            <p:ph idx="11" type="ftr"/>
          </p:nvPr>
        </p:nvSpPr>
        <p:spPr>
          <a:xfrm>
            <a:off x="3048000" y="6248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4"/>
          <p:cNvSpPr txBox="1"/>
          <p:nvPr>
            <p:ph idx="12" type="sldNum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Creating Data Flow Diagrams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5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45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Integrating Scenario Descriptions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80" name="Google Shape;380;p45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DFDs generally integrate scenario descriptions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Names of use cases become processes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Names of inputs and outputs become data flows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Combining “small” data inputs and outputs into a single flow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6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6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Steps in Building DFDs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87" name="Google Shape;387;p46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Build the context diagram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Create DFD fragments for each scenario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Organize DFD fragments into level 0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Decompose level 0 DFDs as needed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/>
              <a:t>Validate DFDs with user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7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7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DFD Fragment Tips</a:t>
            </a:r>
            <a:endParaRPr/>
          </a:p>
        </p:txBody>
      </p:sp>
      <p:sp>
        <p:nvSpPr>
          <p:cNvPr descr="Rectangle: Click to edit Master text styles&#10;Second level&#10;Third level&#10;Fourth level&#10;Fifth level" id="394" name="Google Shape;394;p47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All process names must be verb phrases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Maintain organization’s viewpoint in naming processes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Layouts often place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processes in the center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inputs from the left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outputs to the right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stores beneath the processes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8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DFD Fragment Example</a:t>
            </a:r>
            <a:endParaRPr/>
          </a:p>
        </p:txBody>
      </p:sp>
      <p:pic>
        <p:nvPicPr>
          <p:cNvPr descr="A:\!06-12W-.030" id="401" name="Google Shape;40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2213" y="2424113"/>
            <a:ext cx="6129337" cy="2684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Second DFD Fragment Example</a:t>
            </a:r>
            <a:endParaRPr/>
          </a:p>
        </p:txBody>
      </p:sp>
      <p:pic>
        <p:nvPicPr>
          <p:cNvPr descr="A:\!06-13W-.031" id="408" name="Google Shape;40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676400"/>
            <a:ext cx="678180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Reading a DFD</a:t>
            </a:r>
            <a:endParaRPr/>
          </a:p>
        </p:txBody>
      </p:sp>
      <p:pic>
        <p:nvPicPr>
          <p:cNvPr descr="A:\!06-01W-.022" id="414" name="Google Shape;4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0" y="1133723"/>
            <a:ext cx="7500565" cy="5175597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50"/>
          <p:cNvSpPr txBox="1"/>
          <p:nvPr>
            <p:ph idx="11" type="ftr"/>
          </p:nvPr>
        </p:nvSpPr>
        <p:spPr>
          <a:xfrm>
            <a:off x="3028950" y="6356351"/>
            <a:ext cx="48554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Definition</a:t>
            </a:r>
            <a:endParaRPr/>
          </a:p>
        </p:txBody>
      </p:sp>
      <p:sp>
        <p:nvSpPr>
          <p:cNvPr descr="Rectangle: Click to edit Master text styles&#10;Second level&#10;Third level&#10;Fourth level&#10;Fifth level" id="421" name="Google Shape;421;p51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33"/>
              </a:buClr>
              <a:buSzPts val="2800"/>
              <a:buFont typeface="Arial"/>
              <a:buChar char="•"/>
            </a:pPr>
            <a:r>
              <a:rPr i="1" lang="en-US" sz="2800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the process of modeling the system and its components in increasing levels of detail.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33"/>
              </a:buClr>
              <a:buSzPts val="2800"/>
              <a:buFont typeface="Arial"/>
              <a:buChar char="•"/>
            </a:pPr>
            <a:r>
              <a:rPr i="1" lang="en-US" sz="2800">
                <a:solidFill>
                  <a:srgbClr val="FF0033"/>
                </a:solidFill>
                <a:latin typeface="Calibri"/>
                <a:ea typeface="Calibri"/>
                <a:cs typeface="Calibri"/>
                <a:sym typeface="Calibri"/>
              </a:rPr>
              <a:t>Balancing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involves insuring that information presented at one level of a DFD is accurately represented in the next level DFD.</a:t>
            </a:r>
            <a:endParaRPr/>
          </a:p>
        </p:txBody>
      </p:sp>
      <p:sp>
        <p:nvSpPr>
          <p:cNvPr id="422" name="Google Shape;422;p5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2"/>
          <p:cNvSpPr txBox="1"/>
          <p:nvPr>
            <p:ph type="title"/>
          </p:nvPr>
        </p:nvSpPr>
        <p:spPr>
          <a:xfrm>
            <a:off x="628650" y="365127"/>
            <a:ext cx="8191822" cy="687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Decomposition Diagram</a:t>
            </a:r>
            <a:endParaRPr/>
          </a:p>
        </p:txBody>
      </p:sp>
      <p:pic>
        <p:nvPicPr>
          <p:cNvPr descr="D:\docs\208\DFD6-5.JPG" id="428" name="Google Shape;42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68559" y="980728"/>
            <a:ext cx="10585176" cy="5616624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2"/>
          <p:cNvSpPr txBox="1"/>
          <p:nvPr>
            <p:ph idx="11" type="ftr"/>
          </p:nvPr>
        </p:nvSpPr>
        <p:spPr>
          <a:xfrm>
            <a:off x="2627784" y="6597352"/>
            <a:ext cx="492742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3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Composite &amp; Elementary Flows</a:t>
            </a:r>
            <a:endParaRPr/>
          </a:p>
        </p:txBody>
      </p:sp>
      <p:pic>
        <p:nvPicPr>
          <p:cNvPr descr="D:\docs\208\DFD6-12.JPG" id="436" name="Google Shape;43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196752"/>
            <a:ext cx="7848872" cy="501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4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Level 0 Diagram</a:t>
            </a:r>
            <a:endParaRPr/>
          </a:p>
        </p:txBody>
      </p:sp>
      <p:sp>
        <p:nvSpPr>
          <p:cNvPr descr="Rectangle: Click to edit Master text styles&#10;Second level&#10;Third level&#10;Fourth level&#10;Fifth level" id="442" name="Google Shape;442;p54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all the processes that comprise the overall system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how information moves from and to each process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data stores</a:t>
            </a:r>
            <a:endParaRPr/>
          </a:p>
        </p:txBody>
      </p:sp>
      <p:sp>
        <p:nvSpPr>
          <p:cNvPr id="443" name="Google Shape;443;p5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5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55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Level 0 Tips</a:t>
            </a:r>
            <a:endParaRPr/>
          </a:p>
        </p:txBody>
      </p:sp>
      <p:sp>
        <p:nvSpPr>
          <p:cNvPr descr="Rectangle: Click to edit Master text styles&#10;Second level&#10;Third level&#10;Fourth level&#10;Fifth level" id="450" name="Google Shape;450;p55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Generally move from top to bottom, left to right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Minimize crossed lines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/>
              <a:t>Iterate as needed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0033"/>
              </a:buClr>
              <a:buSzPts val="2400"/>
              <a:buChar char="o"/>
            </a:pPr>
            <a:r>
              <a:rPr i="1" lang="en-US">
                <a:solidFill>
                  <a:srgbClr val="FF0033"/>
                </a:solidFill>
              </a:rPr>
              <a:t>The DFD is often drawn many times before it is finished, even with very experienced systems analysts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Level 1 Diagrams</a:t>
            </a:r>
            <a:endParaRPr/>
          </a:p>
        </p:txBody>
      </p:sp>
      <p:sp>
        <p:nvSpPr>
          <p:cNvPr descr="Rectangle: Click to edit Master text styles&#10;Second level&#10;Third level&#10;Fourth level&#10;Fifth level" id="456" name="Google Shape;456;p56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all the processes that comprise a single process on the level 0 diagram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how information moves from and to each of these processes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in more detail the content of higher level process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1 diagrams may not be needed for all level 0 processes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7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/>
              <a:t>Tips for Level 1 and Below</a:t>
            </a:r>
            <a:endParaRPr/>
          </a:p>
        </p:txBody>
      </p:sp>
      <p:sp>
        <p:nvSpPr>
          <p:cNvPr descr="Rectangle: Click to edit Master text styles&#10;Second level&#10;Third level&#10;Fourth level&#10;Fifth level" id="464" name="Google Shape;464;p57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Sources for inputs and outputs listed at higher level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List source and destination of data flows to processes and stores within each DFD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Depth of DFD depends on overall system complexity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Two processes generally don’t need lower level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More than seven processes become overly complex and difficult to read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Level 2 Diagrams</a:t>
            </a:r>
            <a:endParaRPr/>
          </a:p>
        </p:txBody>
      </p:sp>
      <p:sp>
        <p:nvSpPr>
          <p:cNvPr descr="Rectangle: Click to edit Master text styles&#10;Second level&#10;Third level&#10;Fourth level&#10;Fifth level" id="470" name="Google Shape;470;p58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all processes that comprise a single process on the level 1 diagram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how information moves from and to each of these processes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 2 diagrams may not be needed for all level 1 processes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Correctly numbering each process helps the user understand where the process fits into the overall system</a:t>
            </a:r>
            <a:endParaRPr/>
          </a:p>
        </p:txBody>
      </p:sp>
      <p:sp>
        <p:nvSpPr>
          <p:cNvPr id="471" name="Google Shape;471;p5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9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Flows to &amp; from Data Stores</a:t>
            </a:r>
            <a:endParaRPr/>
          </a:p>
        </p:txBody>
      </p:sp>
      <p:pic>
        <p:nvPicPr>
          <p:cNvPr descr="D:\docs\208\DFD6-13.JPG" id="478" name="Google Shape;47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1676400"/>
            <a:ext cx="4421188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0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6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Illegal Data Flows</a:t>
            </a:r>
            <a:endParaRPr/>
          </a:p>
        </p:txBody>
      </p:sp>
      <p:pic>
        <p:nvPicPr>
          <p:cNvPr descr="D:\docs\208\DFD6-14.JPG" id="485" name="Google Shape;48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9800" y="1676400"/>
            <a:ext cx="4779963" cy="426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Flow Splits and Joins</a:t>
            </a:r>
            <a:endParaRPr/>
          </a:p>
        </p:txBody>
      </p:sp>
      <p:sp>
        <p:nvSpPr>
          <p:cNvPr descr="Rectangle: Click to edit Master text styles&#10;Second level&#10;Third level&#10;Fourth level&#10;Fifth level" id="491" name="Google Shape;491;p61"/>
          <p:cNvSpPr txBox="1"/>
          <p:nvPr>
            <p:ph idx="1" type="body"/>
          </p:nvPr>
        </p:nvSpPr>
        <p:spPr>
          <a:xfrm>
            <a:off x="571500" y="16764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 flow split shows where a flow is broken into its component parts for use in separate processes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 splits need not be mutually exclusive nor use all the data from the parent flow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t/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data flow join shows where components are merged to describe a more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comprehensive flow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61"/>
          <p:cNvSpPr txBox="1"/>
          <p:nvPr>
            <p:ph idx="11" type="ftr"/>
          </p:nvPr>
        </p:nvSpPr>
        <p:spPr>
          <a:xfrm>
            <a:off x="2128650" y="6408575"/>
            <a:ext cx="6040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62"/>
          <p:cNvSpPr txBox="1"/>
          <p:nvPr>
            <p:ph idx="12" type="sldNum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62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</a:pPr>
            <a:r>
              <a:rPr lang="en-US" sz="3600"/>
              <a:t>Validating the DFD</a:t>
            </a:r>
            <a:endParaRPr/>
          </a:p>
        </p:txBody>
      </p:sp>
      <p:sp>
        <p:nvSpPr>
          <p:cNvPr descr="Rectangle: Click to edit Master text styles&#10;Second level&#10;Third level&#10;Fourth level&#10;Fifth level" id="499" name="Google Shape;499;p62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Syntax errors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Assure correct DFD structure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Semantics errors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o"/>
            </a:pPr>
            <a:r>
              <a:rPr lang="en-US" sz="2800"/>
              <a:t>Assure accuracy of DFD relative to actual/desired business processes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User walkthroughs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Role-play processes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Examine lowest level DFDs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/>
              <a:t>Examine names carefully</a:t>
            </a:r>
            <a:endParaRPr sz="32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3"/>
          <p:cNvSpPr txBox="1"/>
          <p:nvPr>
            <p:ph type="title"/>
          </p:nvPr>
        </p:nvSpPr>
        <p:spPr>
          <a:xfrm>
            <a:off x="817323" y="214817"/>
            <a:ext cx="7402883" cy="8749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200"/>
              <a:buFont typeface="Times New Roman"/>
              <a:buNone/>
            </a:pPr>
            <a:r>
              <a:rPr lang="en-US" sz="3200"/>
              <a:t>UML Modeling tools </a:t>
            </a:r>
            <a:endParaRPr sz="3200"/>
          </a:p>
        </p:txBody>
      </p:sp>
      <p:sp>
        <p:nvSpPr>
          <p:cNvPr id="506" name="Google Shape;506;p63"/>
          <p:cNvSpPr txBox="1"/>
          <p:nvPr>
            <p:ph idx="1" type="body"/>
          </p:nvPr>
        </p:nvSpPr>
        <p:spPr>
          <a:xfrm>
            <a:off x="700004" y="1324629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List of UML tools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http://en.wikipedia.org/wiki/List_of_UML_tools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ArgoUML: 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http://argouml.tigris.org/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Rational Rose (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www.rational.com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by IBM</a:t>
            </a:r>
            <a:endParaRPr/>
          </a:p>
          <a:p>
            <a:pPr indent="-171450" lvl="0" marL="285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UML Studio 7.1 (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http://www.pragsoft.com/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 by Pragsoft Corporation:  Capable of handling very large models (tens of thousands of classes). Educational License US$ 125.00; Freeware version. </a:t>
            </a:r>
            <a:endParaRPr/>
          </a:p>
          <a:p>
            <a:pPr indent="-171450" lvl="0" marL="285750" rtl="0" algn="l">
              <a:lnSpc>
                <a:spcPct val="90000"/>
              </a:lnSpc>
              <a:spcBef>
                <a:spcPts val="4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TogetherSoft Control Center; TogetherSoft Solo (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http://www.borland.com/together/index.html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)  by Borland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63"/>
          <p:cNvSpPr txBox="1"/>
          <p:nvPr>
            <p:ph idx="11" type="ftr"/>
          </p:nvPr>
        </p:nvSpPr>
        <p:spPr>
          <a:xfrm>
            <a:off x="3207725" y="6341875"/>
            <a:ext cx="4524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Department of Computer Engineering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14" name="Google Shape;514;p64"/>
          <p:cNvSpPr txBox="1"/>
          <p:nvPr>
            <p:ph idx="1" type="subTitle"/>
          </p:nvPr>
        </p:nvSpPr>
        <p:spPr>
          <a:xfrm>
            <a:off x="6858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