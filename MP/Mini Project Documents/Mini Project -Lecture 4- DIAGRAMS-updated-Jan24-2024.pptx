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7" roundtripDataSignature="AMtx7miI0qNk/qjRNGLvhaEASTkMQNya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F4D0D341-2868-40F2-AB3B-E6761C207F1B}">
  <a:tblStyle styleId="{F4D0D341-2868-40F2-AB3B-E6761C207F1B}"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2" d="100"/>
          <a:sy n="72" d="100"/>
        </p:scale>
        <p:origin x="-1096" y="3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7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6539350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6" name="Google Shape;296;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4" name="Google Shape;314;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0" name="Google Shape;320;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4" name="Google Shape;344;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6" name="Google Shape;356;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3" name="Google Shape;373;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9" name="Google Shape;379;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4" name="Google Shape;384;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0" name="Google Shape;390;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p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p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7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1" name="Google Shape;411;p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7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6" name="Google Shape;416;p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2" name="Google Shape;422;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9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7" name="Google Shape;427;p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9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3" name="Google Shape;433;p9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6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6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6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6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6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6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6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6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1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6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16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6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1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6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16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6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16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1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6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17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7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17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17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17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1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7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17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17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7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7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72"/>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72"/>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172"/>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17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7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7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7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73"/>
          <p:cNvSpPr>
            <a:spLocks noGrp="1"/>
          </p:cNvSpPr>
          <p:nvPr>
            <p:ph type="pic" idx="2"/>
          </p:nvPr>
        </p:nvSpPr>
        <p:spPr>
          <a:xfrm>
            <a:off x="1792288" y="612775"/>
            <a:ext cx="5486400" cy="4114800"/>
          </a:xfrm>
          <a:prstGeom prst="rect">
            <a:avLst/>
          </a:prstGeom>
          <a:noFill/>
          <a:ln>
            <a:noFill/>
          </a:ln>
        </p:spPr>
      </p:sp>
      <p:sp>
        <p:nvSpPr>
          <p:cNvPr id="68" name="Google Shape;68;p17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7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7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7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7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74"/>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7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7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7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5"/>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75"/>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7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7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6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6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6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6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Tutorial 3- UML class diagram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Outline</a:t>
            </a:r>
            <a:endParaRPr/>
          </a:p>
        </p:txBody>
      </p:sp>
      <p:graphicFrame>
        <p:nvGraphicFramePr>
          <p:cNvPr id="95" name="Google Shape;95;p2"/>
          <p:cNvGraphicFramePr/>
          <p:nvPr/>
        </p:nvGraphicFramePr>
        <p:xfrm>
          <a:off x="1066800" y="1219200"/>
          <a:ext cx="6979625" cy="4191000"/>
        </p:xfrm>
        <a:graphic>
          <a:graphicData uri="http://schemas.openxmlformats.org/drawingml/2006/table">
            <a:tbl>
              <a:tblPr>
                <a:noFill/>
                <a:tableStyleId>{F4D0D341-2868-40F2-AB3B-E6761C207F1B}</a:tableStyleId>
              </a:tblPr>
              <a:tblGrid>
                <a:gridCol w="1273400"/>
                <a:gridCol w="5706225"/>
              </a:tblGrid>
              <a:tr h="1397000">
                <a:tc>
                  <a:txBody>
                    <a:bodyPr/>
                    <a:lstStyle/>
                    <a:p>
                      <a:pPr marL="0" marR="0" lvl="0" indent="0" algn="ctr" rtl="0">
                        <a:lnSpc>
                          <a:spcPct val="115000"/>
                        </a:lnSpc>
                        <a:spcBef>
                          <a:spcPts val="0"/>
                        </a:spcBef>
                        <a:spcAft>
                          <a:spcPts val="0"/>
                        </a:spcAft>
                        <a:buNone/>
                      </a:pPr>
                      <a:r>
                        <a:rPr lang="en-US" sz="2800" u="none" strike="noStrike" cap="none"/>
                        <a:t>2.1</a:t>
                      </a:r>
                      <a:endParaRPr/>
                    </a:p>
                    <a:p>
                      <a:pPr marL="0" marR="0" lvl="0" indent="0" algn="ctr" rtl="0">
                        <a:lnSpc>
                          <a:spcPct val="115000"/>
                        </a:lnSpc>
                        <a:spcBef>
                          <a:spcPts val="0"/>
                        </a:spcBef>
                        <a:spcAft>
                          <a:spcPts val="0"/>
                        </a:spcAft>
                        <a:buNone/>
                      </a:pPr>
                      <a:r>
                        <a:rPr lang="en-US" sz="2800" u="none" strike="noStrike" cap="none"/>
                        <a:t> </a:t>
                      </a:r>
                      <a:endParaRPr sz="2800" u="none" strike="noStrike" cap="none">
                        <a:latin typeface="Calibri"/>
                        <a:ea typeface="Calibri"/>
                        <a:cs typeface="Calibri"/>
                        <a:sym typeface="Calibri"/>
                      </a:endParaRPr>
                    </a:p>
                  </a:txBody>
                  <a:tcPr marL="69225" marR="69225" marT="0" marB="0"/>
                </a:tc>
                <a:tc>
                  <a:txBody>
                    <a:bodyPr/>
                    <a:lstStyle/>
                    <a:p>
                      <a:pPr marL="0" marR="0" lvl="0" indent="0" algn="just" rtl="0">
                        <a:lnSpc>
                          <a:spcPct val="115000"/>
                        </a:lnSpc>
                        <a:spcBef>
                          <a:spcPts val="0"/>
                        </a:spcBef>
                        <a:spcAft>
                          <a:spcPts val="0"/>
                        </a:spcAft>
                        <a:buNone/>
                      </a:pPr>
                      <a:r>
                        <a:rPr lang="en-US" sz="2800" u="none" strike="noStrike" cap="none"/>
                        <a:t>Introduction to OO Methodologies :Booch,Rambaug and Jacobson</a:t>
                      </a:r>
                      <a:endParaRPr sz="2800" b="1" u="none" strike="noStrike" cap="none">
                        <a:latin typeface="Calibri"/>
                        <a:ea typeface="Calibri"/>
                        <a:cs typeface="Calibri"/>
                        <a:sym typeface="Calibri"/>
                      </a:endParaRPr>
                    </a:p>
                  </a:txBody>
                  <a:tcPr marL="69225" marR="69225" marT="0" marB="0"/>
                </a:tc>
              </a:tr>
              <a:tr h="2794000">
                <a:tc>
                  <a:txBody>
                    <a:bodyPr/>
                    <a:lstStyle/>
                    <a:p>
                      <a:pPr marL="0" marR="0" lvl="0" indent="0" algn="ctr" rtl="0">
                        <a:lnSpc>
                          <a:spcPct val="115000"/>
                        </a:lnSpc>
                        <a:spcBef>
                          <a:spcPts val="0"/>
                        </a:spcBef>
                        <a:spcAft>
                          <a:spcPts val="0"/>
                        </a:spcAft>
                        <a:buNone/>
                      </a:pPr>
                      <a:r>
                        <a:rPr lang="en-US" sz="2800" u="none" strike="noStrike" cap="none"/>
                        <a:t>2.2</a:t>
                      </a:r>
                      <a:endParaRPr sz="2800" u="none" strike="noStrike" cap="none">
                        <a:latin typeface="Calibri"/>
                        <a:ea typeface="Calibri"/>
                        <a:cs typeface="Calibri"/>
                        <a:sym typeface="Calibri"/>
                      </a:endParaRPr>
                    </a:p>
                  </a:txBody>
                  <a:tcPr marL="69225" marR="69225" marT="0" marB="0"/>
                </a:tc>
                <a:tc>
                  <a:txBody>
                    <a:bodyPr/>
                    <a:lstStyle/>
                    <a:p>
                      <a:pPr marL="0" marR="0" lvl="0" indent="0" algn="just" rtl="0">
                        <a:lnSpc>
                          <a:spcPct val="115000"/>
                        </a:lnSpc>
                        <a:spcBef>
                          <a:spcPts val="0"/>
                        </a:spcBef>
                        <a:spcAft>
                          <a:spcPts val="0"/>
                        </a:spcAft>
                        <a:buClr>
                          <a:schemeClr val="dk1"/>
                        </a:buClr>
                        <a:buSzPts val="2800"/>
                        <a:buFont typeface="Calibri"/>
                        <a:buNone/>
                      </a:pPr>
                      <a:r>
                        <a:rPr lang="en-US" sz="2800" u="none" strike="noStrike" cap="none"/>
                        <a:t>Requirements Engineering Tasks, Requirement Elicitation Techniques, Software Requirements: Functional, Non-Functional, Domain </a:t>
                      </a:r>
                      <a:r>
                        <a:rPr lang="en-US" sz="2800" b="1" u="none" strike="noStrike" cap="none"/>
                        <a:t>Bernd Bruegge Chapter 4</a:t>
                      </a:r>
                      <a:endParaRPr sz="2800" u="none" strike="noStrike" cap="none">
                        <a:latin typeface="Calibri"/>
                        <a:ea typeface="Calibri"/>
                        <a:cs typeface="Calibri"/>
                        <a:sym typeface="Calibri"/>
                      </a:endParaRPr>
                    </a:p>
                  </a:txBody>
                  <a:tcPr marL="69225" marR="69225" marT="0" marB="0"/>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Outline</a:t>
            </a:r>
            <a:endParaRPr/>
          </a:p>
        </p:txBody>
      </p:sp>
      <p:graphicFrame>
        <p:nvGraphicFramePr>
          <p:cNvPr id="101" name="Google Shape;101;p3"/>
          <p:cNvGraphicFramePr/>
          <p:nvPr/>
        </p:nvGraphicFramePr>
        <p:xfrm>
          <a:off x="457200" y="1600200"/>
          <a:ext cx="8229600" cy="3662720"/>
        </p:xfrm>
        <a:graphic>
          <a:graphicData uri="http://schemas.openxmlformats.org/drawingml/2006/table">
            <a:tbl>
              <a:tblPr firstRow="1" bandRow="1">
                <a:noFill/>
                <a:tableStyleId>{F4D0D341-2868-40F2-AB3B-E6761C207F1B}</a:tableStyleId>
              </a:tblPr>
              <a:tblGrid>
                <a:gridCol w="1828800"/>
                <a:gridCol w="6400800"/>
              </a:tblGrid>
              <a:tr h="370850">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r>
              <a:tr h="370850">
                <a:tc>
                  <a:txBody>
                    <a:bodyPr/>
                    <a:lstStyle/>
                    <a:p>
                      <a:pPr marL="0" marR="0" lvl="0" indent="0" algn="l" rtl="0">
                        <a:spcBef>
                          <a:spcPts val="0"/>
                        </a:spcBef>
                        <a:spcAft>
                          <a:spcPts val="0"/>
                        </a:spcAft>
                        <a:buNone/>
                      </a:pPr>
                      <a:r>
                        <a:rPr lang="en-US" sz="1800"/>
                        <a:t>2.3</a:t>
                      </a:r>
                      <a:endParaRPr sz="180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a:t>Requirements  Characteristics, Requirement qualities, Requirement Specification, Requirement Traceability, System Analysis Model Generation, Requirement Prioritization, Documentation : Use Case Diagram,Acitvity Diagram</a:t>
                      </a:r>
                      <a:r>
                        <a:rPr lang="en-US" sz="1800" b="1"/>
                        <a:t>Bernd Bruegge Chpater 4 &amp; Chpater 2</a:t>
                      </a:r>
                      <a:endParaRPr sz="1800"/>
                    </a:p>
                    <a:p>
                      <a:pPr marL="0" marR="0" lvl="0" indent="0" algn="l" rtl="0">
                        <a:spcBef>
                          <a:spcPts val="0"/>
                        </a:spcBef>
                        <a:spcAft>
                          <a:spcPts val="0"/>
                        </a:spcAft>
                        <a:buNone/>
                      </a:pPr>
                      <a:endParaRPr sz="1800"/>
                    </a:p>
                  </a:txBody>
                  <a:tcPr marL="91450" marR="91450" marT="45725" marB="45725"/>
                </a:tc>
              </a:tr>
              <a:tr h="370850">
                <a:tc>
                  <a:txBody>
                    <a:bodyPr/>
                    <a:lstStyle/>
                    <a:p>
                      <a:pPr marL="0" marR="0" lvl="0" indent="0" algn="l" rtl="0">
                        <a:spcBef>
                          <a:spcPts val="0"/>
                        </a:spcBef>
                        <a:spcAft>
                          <a:spcPts val="0"/>
                        </a:spcAft>
                        <a:buNone/>
                      </a:pPr>
                      <a:r>
                        <a:rPr lang="en-US" sz="1800"/>
                        <a:t>2.4</a:t>
                      </a:r>
                      <a:endParaRPr sz="1800"/>
                    </a:p>
                  </a:txBody>
                  <a:tcPr marL="91450" marR="91450" marT="45725" marB="45725"/>
                </a:tc>
                <a:tc>
                  <a:txBody>
                    <a:bodyPr/>
                    <a:lstStyle/>
                    <a:p>
                      <a:pPr marL="0" marR="0" lvl="0" indent="0" algn="l" rtl="0">
                        <a:spcBef>
                          <a:spcPts val="0"/>
                        </a:spcBef>
                        <a:spcAft>
                          <a:spcPts val="0"/>
                        </a:spcAft>
                        <a:buNone/>
                      </a:pPr>
                      <a:r>
                        <a:rPr lang="en-US" sz="1800"/>
                        <a:t>Categorizing classes: entity, boundary and control ,Modeling associations and collections-Class Diagram</a:t>
                      </a:r>
                      <a:endParaRPr sz="1800"/>
                    </a:p>
                  </a:txBody>
                  <a:tcPr marL="91450" marR="91450" marT="45725" marB="45725"/>
                </a:tc>
              </a:tr>
              <a:tr h="370850">
                <a:tc>
                  <a:txBody>
                    <a:bodyPr/>
                    <a:lstStyle/>
                    <a:p>
                      <a:pPr marL="0" marR="0" lvl="0" indent="0" algn="l" rtl="0">
                        <a:spcBef>
                          <a:spcPts val="0"/>
                        </a:spcBef>
                        <a:spcAft>
                          <a:spcPts val="0"/>
                        </a:spcAft>
                        <a:buNone/>
                      </a:pPr>
                      <a:r>
                        <a:rPr lang="en-US" sz="1800"/>
                        <a:t>2.5</a:t>
                      </a:r>
                      <a:endParaRPr sz="180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a:t>Dynamic Analysis - Identifying Interaction – Sequence and Collaboration diagrams, State chart diagram</a:t>
                      </a:r>
                      <a:endParaRPr sz="1800"/>
                    </a:p>
                    <a:p>
                      <a:pPr marL="0" marR="0" lvl="0" indent="0" algn="l" rtl="0">
                        <a:spcBef>
                          <a:spcPts val="0"/>
                        </a:spcBef>
                        <a:spcAft>
                          <a:spcPts val="0"/>
                        </a:spcAft>
                        <a:buNone/>
                      </a:pPr>
                      <a:endParaRPr sz="1800"/>
                    </a:p>
                  </a:txBody>
                  <a:tcPr marL="91450" marR="91450" marT="45725" marB="457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Object Oriented Process </a:t>
            </a:r>
            <a:endParaRPr/>
          </a:p>
        </p:txBody>
      </p:sp>
      <p:sp>
        <p:nvSpPr>
          <p:cNvPr id="107" name="Google Shape;107;p4"/>
          <p:cNvSpPr txBox="1">
            <a:spLocks noGrp="1"/>
          </p:cNvSpPr>
          <p:nvPr>
            <p:ph type="body" idx="1"/>
          </p:nvPr>
        </p:nvSpPr>
        <p:spPr>
          <a:xfrm>
            <a:off x="457200" y="1600200"/>
            <a:ext cx="8229600" cy="51054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400"/>
              <a:buChar char="•"/>
            </a:pPr>
            <a:r>
              <a:rPr lang="en-US" sz="2400"/>
              <a:t>The Object Oriented Methodology of Building Systems takes the </a:t>
            </a:r>
            <a:r>
              <a:rPr lang="en-US" sz="2400" b="1"/>
              <a:t>objects as the basis</a:t>
            </a:r>
            <a:r>
              <a:rPr lang="en-US" sz="2400"/>
              <a:t>. </a:t>
            </a:r>
            <a:endParaRPr/>
          </a:p>
          <a:p>
            <a:pPr marL="342900" lvl="0" indent="-190500" algn="just" rtl="0">
              <a:spcBef>
                <a:spcPts val="480"/>
              </a:spcBef>
              <a:spcAft>
                <a:spcPts val="0"/>
              </a:spcAft>
              <a:buClr>
                <a:schemeClr val="dk1"/>
              </a:buClr>
              <a:buSzPts val="2400"/>
              <a:buNone/>
            </a:pPr>
            <a:endParaRPr sz="2400"/>
          </a:p>
          <a:p>
            <a:pPr marL="342900" lvl="0" indent="-342900" algn="just" rtl="0">
              <a:spcBef>
                <a:spcPts val="480"/>
              </a:spcBef>
              <a:spcAft>
                <a:spcPts val="0"/>
              </a:spcAft>
              <a:buClr>
                <a:schemeClr val="dk1"/>
              </a:buClr>
              <a:buSzPts val="2400"/>
              <a:buChar char="•"/>
            </a:pPr>
            <a:r>
              <a:rPr lang="en-US" sz="2400"/>
              <a:t>First the system to be developed is </a:t>
            </a:r>
            <a:r>
              <a:rPr lang="en-US" sz="2400" b="1"/>
              <a:t>observed and analyzed and the requirements are defined</a:t>
            </a:r>
            <a:r>
              <a:rPr lang="en-US" sz="2400"/>
              <a:t> as in any other method of system development. </a:t>
            </a:r>
            <a:endParaRPr/>
          </a:p>
          <a:p>
            <a:pPr marL="342900" lvl="0" indent="-190500" algn="just" rtl="0">
              <a:spcBef>
                <a:spcPts val="480"/>
              </a:spcBef>
              <a:spcAft>
                <a:spcPts val="0"/>
              </a:spcAft>
              <a:buClr>
                <a:schemeClr val="dk1"/>
              </a:buClr>
              <a:buSzPts val="2400"/>
              <a:buNone/>
            </a:pPr>
            <a:endParaRPr sz="2400"/>
          </a:p>
          <a:p>
            <a:pPr marL="342900" lvl="0" indent="-342900" algn="just" rtl="0">
              <a:spcBef>
                <a:spcPts val="480"/>
              </a:spcBef>
              <a:spcAft>
                <a:spcPts val="0"/>
              </a:spcAft>
              <a:buClr>
                <a:schemeClr val="dk1"/>
              </a:buClr>
              <a:buSzPts val="2400"/>
              <a:buChar char="•"/>
            </a:pPr>
            <a:r>
              <a:rPr lang="en-US" sz="2400"/>
              <a:t>Objects are identified.</a:t>
            </a:r>
            <a:endParaRPr/>
          </a:p>
          <a:p>
            <a:pPr marL="342900" lvl="0" indent="-190500" algn="just" rtl="0">
              <a:spcBef>
                <a:spcPts val="480"/>
              </a:spcBef>
              <a:spcAft>
                <a:spcPts val="0"/>
              </a:spcAft>
              <a:buClr>
                <a:schemeClr val="dk1"/>
              </a:buClr>
              <a:buSzPts val="2400"/>
              <a:buNone/>
            </a:pPr>
            <a:endParaRPr sz="2400"/>
          </a:p>
          <a:p>
            <a:pPr marL="342900" lvl="0" indent="-342900" algn="just" rtl="0">
              <a:spcBef>
                <a:spcPts val="480"/>
              </a:spcBef>
              <a:spcAft>
                <a:spcPts val="0"/>
              </a:spcAft>
              <a:buClr>
                <a:schemeClr val="dk1"/>
              </a:buClr>
              <a:buSzPts val="2400"/>
              <a:buChar char="•"/>
            </a:pPr>
            <a:r>
              <a:rPr lang="en-US" sz="2400"/>
              <a:t>Example: Banking System: customer is an object.</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Object Oriented Process </a:t>
            </a:r>
            <a:endParaRPr/>
          </a:p>
        </p:txBody>
      </p:sp>
      <p:sp>
        <p:nvSpPr>
          <p:cNvPr id="113" name="Google Shape;113;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just" rtl="0">
              <a:spcBef>
                <a:spcPts val="0"/>
              </a:spcBef>
              <a:spcAft>
                <a:spcPts val="0"/>
              </a:spcAft>
              <a:buClr>
                <a:schemeClr val="dk1"/>
              </a:buClr>
              <a:buSzPct val="100000"/>
              <a:buChar char="•"/>
            </a:pPr>
            <a:r>
              <a:rPr lang="en-US"/>
              <a:t>Object Modeling is based on identifying the objects in a system and their interrelationships.</a:t>
            </a:r>
            <a:endParaRPr/>
          </a:p>
          <a:p>
            <a:pPr marL="342900" lvl="0" indent="-154940" algn="just" rtl="0">
              <a:spcBef>
                <a:spcPts val="592"/>
              </a:spcBef>
              <a:spcAft>
                <a:spcPts val="0"/>
              </a:spcAft>
              <a:buClr>
                <a:schemeClr val="dk1"/>
              </a:buClr>
              <a:buSzPct val="100000"/>
              <a:buNone/>
            </a:pPr>
            <a:endParaRPr/>
          </a:p>
          <a:p>
            <a:pPr marL="342900" lvl="0" indent="-342900" algn="just" rtl="0">
              <a:spcBef>
                <a:spcPts val="592"/>
              </a:spcBef>
              <a:spcAft>
                <a:spcPts val="0"/>
              </a:spcAft>
              <a:buClr>
                <a:schemeClr val="dk1"/>
              </a:buClr>
              <a:buSzPct val="100000"/>
              <a:buChar char="•"/>
            </a:pPr>
            <a:r>
              <a:rPr lang="en-US"/>
              <a:t>The basic steps of system designing using Object Modeling may be listed as: </a:t>
            </a:r>
            <a:endParaRPr/>
          </a:p>
          <a:p>
            <a:pPr marL="342900" lvl="0" indent="-342900" algn="just" rtl="0">
              <a:spcBef>
                <a:spcPts val="592"/>
              </a:spcBef>
              <a:spcAft>
                <a:spcPts val="0"/>
              </a:spcAft>
              <a:buClr>
                <a:schemeClr val="dk1"/>
              </a:buClr>
              <a:buSzPct val="100000"/>
              <a:buFont typeface="Noto Sans Symbols"/>
              <a:buChar char="✔"/>
            </a:pPr>
            <a:r>
              <a:rPr lang="en-US"/>
              <a:t>System Analysis </a:t>
            </a:r>
            <a:endParaRPr/>
          </a:p>
          <a:p>
            <a:pPr marL="342900" lvl="0" indent="-342900" algn="just" rtl="0">
              <a:spcBef>
                <a:spcPts val="592"/>
              </a:spcBef>
              <a:spcAft>
                <a:spcPts val="0"/>
              </a:spcAft>
              <a:buClr>
                <a:schemeClr val="dk1"/>
              </a:buClr>
              <a:buSzPct val="100000"/>
              <a:buFont typeface="Noto Sans Symbols"/>
              <a:buChar char="✔"/>
            </a:pPr>
            <a:r>
              <a:rPr lang="en-US"/>
              <a:t>System Design</a:t>
            </a:r>
            <a:endParaRPr/>
          </a:p>
          <a:p>
            <a:pPr marL="342900" lvl="0" indent="-342900" algn="just" rtl="0">
              <a:spcBef>
                <a:spcPts val="592"/>
              </a:spcBef>
              <a:spcAft>
                <a:spcPts val="0"/>
              </a:spcAft>
              <a:buClr>
                <a:schemeClr val="dk1"/>
              </a:buClr>
              <a:buSzPct val="100000"/>
              <a:buFont typeface="Noto Sans Symbols"/>
              <a:buChar char="✔"/>
            </a:pPr>
            <a:r>
              <a:rPr lang="en-US"/>
              <a:t> Object Design </a:t>
            </a:r>
            <a:endParaRPr/>
          </a:p>
          <a:p>
            <a:pPr marL="342900" lvl="0" indent="-342900" algn="just" rtl="0">
              <a:spcBef>
                <a:spcPts val="592"/>
              </a:spcBef>
              <a:spcAft>
                <a:spcPts val="0"/>
              </a:spcAft>
              <a:buClr>
                <a:schemeClr val="dk1"/>
              </a:buClr>
              <a:buSzPct val="100000"/>
              <a:buFont typeface="Noto Sans Symbols"/>
              <a:buChar char="✔"/>
            </a:pPr>
            <a:r>
              <a:rPr lang="en-US"/>
              <a:t>Implementation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Class and Object</a:t>
            </a:r>
            <a:endParaRPr/>
          </a:p>
        </p:txBody>
      </p:sp>
      <p:sp>
        <p:nvSpPr>
          <p:cNvPr id="119" name="Google Shape;119;p8"/>
          <p:cNvSpPr txBox="1">
            <a:spLocks noGrp="1"/>
          </p:cNvSpPr>
          <p:nvPr>
            <p:ph type="body" idx="1"/>
          </p:nvPr>
        </p:nvSpPr>
        <p:spPr>
          <a:xfrm>
            <a:off x="457200" y="1600200"/>
            <a:ext cx="8229600" cy="4953000"/>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just" rtl="0">
              <a:spcBef>
                <a:spcPts val="0"/>
              </a:spcBef>
              <a:spcAft>
                <a:spcPts val="0"/>
              </a:spcAft>
              <a:buClr>
                <a:schemeClr val="dk1"/>
              </a:buClr>
              <a:buSzPct val="100000"/>
              <a:buChar char="•"/>
            </a:pPr>
            <a:r>
              <a:rPr lang="en-US"/>
              <a:t>The concepts of </a:t>
            </a:r>
            <a:r>
              <a:rPr lang="en-US" b="1"/>
              <a:t>objects and classes </a:t>
            </a:r>
            <a:r>
              <a:rPr lang="en-US"/>
              <a:t>are </a:t>
            </a:r>
            <a:r>
              <a:rPr lang="en-US" b="1"/>
              <a:t>intrinsically linked </a:t>
            </a:r>
            <a:r>
              <a:rPr lang="en-US"/>
              <a:t>with each other and form the foundation of object–oriented paradigm.</a:t>
            </a:r>
            <a:endParaRPr/>
          </a:p>
          <a:p>
            <a:pPr marL="342900" lvl="0" indent="-154940" algn="just" rtl="0">
              <a:spcBef>
                <a:spcPts val="592"/>
              </a:spcBef>
              <a:spcAft>
                <a:spcPts val="0"/>
              </a:spcAft>
              <a:buClr>
                <a:schemeClr val="dk1"/>
              </a:buClr>
              <a:buSzPct val="100000"/>
              <a:buNone/>
            </a:pPr>
            <a:endParaRPr/>
          </a:p>
          <a:p>
            <a:pPr marL="342900" lvl="0" indent="-342900" algn="just" rtl="0">
              <a:spcBef>
                <a:spcPts val="592"/>
              </a:spcBef>
              <a:spcAft>
                <a:spcPts val="0"/>
              </a:spcAft>
              <a:buClr>
                <a:schemeClr val="dk1"/>
              </a:buClr>
              <a:buSzPct val="100000"/>
              <a:buChar char="•"/>
            </a:pPr>
            <a:r>
              <a:rPr lang="en-US"/>
              <a:t>An object is a </a:t>
            </a:r>
            <a:r>
              <a:rPr lang="en-US" b="1"/>
              <a:t>real-world element in an object–oriented environment </a:t>
            </a:r>
            <a:r>
              <a:rPr lang="en-US"/>
              <a:t>that may have a physical or a conceptual existence.</a:t>
            </a:r>
            <a:endParaRPr/>
          </a:p>
          <a:p>
            <a:pPr marL="342900" lvl="0" indent="-154940" algn="just" rtl="0">
              <a:spcBef>
                <a:spcPts val="592"/>
              </a:spcBef>
              <a:spcAft>
                <a:spcPts val="0"/>
              </a:spcAft>
              <a:buClr>
                <a:schemeClr val="dk1"/>
              </a:buClr>
              <a:buSzPct val="100000"/>
              <a:buNone/>
            </a:pPr>
            <a:endParaRPr/>
          </a:p>
          <a:p>
            <a:pPr marL="342900" lvl="0" indent="-342900" algn="just" rtl="0">
              <a:spcBef>
                <a:spcPts val="592"/>
              </a:spcBef>
              <a:spcAft>
                <a:spcPts val="0"/>
              </a:spcAft>
              <a:buClr>
                <a:schemeClr val="dk1"/>
              </a:buClr>
              <a:buSzPct val="100000"/>
              <a:buChar char="•"/>
            </a:pPr>
            <a:r>
              <a:rPr lang="en-US"/>
              <a:t>Object is an entity that has identity , state and behavior.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Class and Object</a:t>
            </a:r>
            <a:endParaRPr/>
          </a:p>
        </p:txBody>
      </p:sp>
      <p:sp>
        <p:nvSpPr>
          <p:cNvPr id="125" name="Google Shape;125;p9"/>
          <p:cNvSpPr txBox="1">
            <a:spLocks noGrp="1"/>
          </p:cNvSpPr>
          <p:nvPr>
            <p:ph type="body" idx="1"/>
          </p:nvPr>
        </p:nvSpPr>
        <p:spPr>
          <a:xfrm>
            <a:off x="152400" y="1600200"/>
            <a:ext cx="8915400" cy="50292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800"/>
              <a:buChar char="•"/>
            </a:pPr>
            <a:r>
              <a:rPr lang="en-US" sz="2800"/>
              <a:t>Objects can be modeled according to the needs of the application. An object may have a physical existence, like a customer, a car, etc.; or an intangible conceptual existence, like a project, a process, etc.</a:t>
            </a:r>
            <a:endParaRPr/>
          </a:p>
          <a:p>
            <a:pPr marL="342900" lvl="0" indent="-165100" algn="just" rtl="0">
              <a:spcBef>
                <a:spcPts val="560"/>
              </a:spcBef>
              <a:spcAft>
                <a:spcPts val="0"/>
              </a:spcAft>
              <a:buClr>
                <a:schemeClr val="dk1"/>
              </a:buClr>
              <a:buSzPts val="2800"/>
              <a:buNone/>
            </a:pPr>
            <a:endParaRPr sz="2800"/>
          </a:p>
          <a:p>
            <a:pPr marL="342900" lvl="0" indent="-342900" algn="just" rtl="0">
              <a:spcBef>
                <a:spcPts val="560"/>
              </a:spcBef>
              <a:spcAft>
                <a:spcPts val="0"/>
              </a:spcAft>
              <a:buClr>
                <a:schemeClr val="dk1"/>
              </a:buClr>
              <a:buSzPts val="2800"/>
              <a:buChar char="•"/>
            </a:pPr>
            <a:r>
              <a:rPr lang="en-US" sz="2800"/>
              <a:t>A class represents a collection of objects having same characteristic properties that exhibit common behavior.</a:t>
            </a:r>
            <a:endParaRPr/>
          </a:p>
          <a:p>
            <a:pPr marL="342900" lvl="0" indent="-165100" algn="just" rtl="0">
              <a:spcBef>
                <a:spcPts val="560"/>
              </a:spcBef>
              <a:spcAft>
                <a:spcPts val="0"/>
              </a:spcAft>
              <a:buClr>
                <a:schemeClr val="dk1"/>
              </a:buClr>
              <a:buSzPts val="2800"/>
              <a:buNone/>
            </a:pPr>
            <a:endParaRPr sz="2800"/>
          </a:p>
          <a:p>
            <a:pPr marL="342900" lvl="0" indent="-342900" algn="just" rtl="0">
              <a:spcBef>
                <a:spcPts val="560"/>
              </a:spcBef>
              <a:spcAft>
                <a:spcPts val="0"/>
              </a:spcAft>
              <a:buClr>
                <a:schemeClr val="dk1"/>
              </a:buClr>
              <a:buSzPts val="2800"/>
              <a:buChar char="•"/>
            </a:pPr>
            <a:r>
              <a:rPr lang="en-US" sz="2800"/>
              <a:t>Creation of an object as a member of a class is called instantiation. Thus, object is an instance of a class.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Requirement Elicitation (Gathering)</a:t>
            </a:r>
            <a:endParaRPr/>
          </a:p>
        </p:txBody>
      </p:sp>
      <p:sp>
        <p:nvSpPr>
          <p:cNvPr id="131" name="Google Shape;131;p21"/>
          <p:cNvSpPr txBox="1">
            <a:spLocks noGrp="1"/>
          </p:cNvSpPr>
          <p:nvPr>
            <p:ph type="body" idx="1"/>
          </p:nvPr>
        </p:nvSpPr>
        <p:spPr>
          <a:xfrm>
            <a:off x="457200" y="1600200"/>
            <a:ext cx="8229600" cy="51054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400"/>
              <a:buChar char="•"/>
            </a:pPr>
            <a:r>
              <a:rPr lang="en-US" sz="2400" b="1"/>
              <a:t>A requirement </a:t>
            </a:r>
            <a:r>
              <a:rPr lang="en-US" sz="2400"/>
              <a:t>is a </a:t>
            </a:r>
            <a:r>
              <a:rPr lang="en-US" sz="2400" b="1"/>
              <a:t>feature</a:t>
            </a:r>
            <a:r>
              <a:rPr lang="en-US" sz="2400"/>
              <a:t> that the system must have or a </a:t>
            </a:r>
            <a:r>
              <a:rPr lang="en-US" sz="2400" b="1"/>
              <a:t>constraint</a:t>
            </a:r>
            <a:r>
              <a:rPr lang="en-US" sz="2400"/>
              <a:t> that it must satisfy to be </a:t>
            </a:r>
            <a:r>
              <a:rPr lang="en-US" sz="2400" b="1"/>
              <a:t>accepted by the client.</a:t>
            </a:r>
            <a:endParaRPr/>
          </a:p>
          <a:p>
            <a:pPr marL="342900" lvl="0" indent="-190500" algn="just" rtl="0">
              <a:spcBef>
                <a:spcPts val="480"/>
              </a:spcBef>
              <a:spcAft>
                <a:spcPts val="0"/>
              </a:spcAft>
              <a:buClr>
                <a:schemeClr val="dk1"/>
              </a:buClr>
              <a:buSzPts val="2400"/>
              <a:buNone/>
            </a:pPr>
            <a:endParaRPr sz="2400" b="1"/>
          </a:p>
          <a:p>
            <a:pPr marL="342900" lvl="0" indent="-342900" algn="just" rtl="0">
              <a:spcBef>
                <a:spcPts val="480"/>
              </a:spcBef>
              <a:spcAft>
                <a:spcPts val="0"/>
              </a:spcAft>
              <a:buClr>
                <a:schemeClr val="dk1"/>
              </a:buClr>
              <a:buSzPts val="2400"/>
              <a:buChar char="•"/>
            </a:pPr>
            <a:r>
              <a:rPr lang="en-US" sz="2400" b="1"/>
              <a:t>Requirements engineering </a:t>
            </a:r>
            <a:r>
              <a:rPr lang="en-US" sz="2400"/>
              <a:t>aims at </a:t>
            </a:r>
            <a:r>
              <a:rPr lang="en-US" sz="2400" b="1"/>
              <a:t>defining </a:t>
            </a:r>
            <a:r>
              <a:rPr lang="en-US" sz="2400"/>
              <a:t>the </a:t>
            </a:r>
            <a:r>
              <a:rPr lang="en-US" sz="2400" b="1"/>
              <a:t>requirements</a:t>
            </a:r>
            <a:r>
              <a:rPr lang="en-US" sz="2400"/>
              <a:t> of the system </a:t>
            </a:r>
            <a:r>
              <a:rPr lang="en-US" sz="2400" b="1"/>
              <a:t>under construction</a:t>
            </a:r>
            <a:r>
              <a:rPr lang="en-US" sz="2400"/>
              <a:t>.</a:t>
            </a:r>
            <a:endParaRPr/>
          </a:p>
          <a:p>
            <a:pPr marL="342900" lvl="0" indent="-190500" algn="just" rtl="0">
              <a:spcBef>
                <a:spcPts val="480"/>
              </a:spcBef>
              <a:spcAft>
                <a:spcPts val="0"/>
              </a:spcAft>
              <a:buClr>
                <a:schemeClr val="dk1"/>
              </a:buClr>
              <a:buSzPts val="2400"/>
              <a:buNone/>
            </a:pPr>
            <a:endParaRPr sz="2400" b="1"/>
          </a:p>
          <a:p>
            <a:pPr marL="342900" lvl="0" indent="-342900" algn="just" rtl="0">
              <a:spcBef>
                <a:spcPts val="480"/>
              </a:spcBef>
              <a:spcAft>
                <a:spcPts val="0"/>
              </a:spcAft>
              <a:buClr>
                <a:schemeClr val="dk1"/>
              </a:buClr>
              <a:buSzPts val="2400"/>
              <a:buChar char="•"/>
            </a:pPr>
            <a:r>
              <a:rPr lang="en-US" sz="2400" b="1"/>
              <a:t>Requirements engineering includes two main activities:</a:t>
            </a:r>
            <a:endParaRPr/>
          </a:p>
          <a:p>
            <a:pPr marL="342900" lvl="0" indent="-190500" algn="just" rtl="0">
              <a:spcBef>
                <a:spcPts val="480"/>
              </a:spcBef>
              <a:spcAft>
                <a:spcPts val="0"/>
              </a:spcAft>
              <a:buClr>
                <a:schemeClr val="dk1"/>
              </a:buClr>
              <a:buSzPts val="2400"/>
              <a:buNone/>
            </a:pPr>
            <a:endParaRPr sz="2400" b="1"/>
          </a:p>
          <a:p>
            <a:pPr marL="342900" lvl="0" indent="-342900" algn="just" rtl="0">
              <a:spcBef>
                <a:spcPts val="480"/>
              </a:spcBef>
              <a:spcAft>
                <a:spcPts val="0"/>
              </a:spcAft>
              <a:buClr>
                <a:schemeClr val="dk1"/>
              </a:buClr>
              <a:buSzPts val="2400"/>
              <a:buFont typeface="Noto Sans Symbols"/>
              <a:buChar char="✔"/>
            </a:pPr>
            <a:r>
              <a:rPr lang="en-US" sz="2400"/>
              <a:t>requirements elicitation: specification of system that client understands.</a:t>
            </a:r>
            <a:endParaRPr/>
          </a:p>
          <a:p>
            <a:pPr marL="342900" lvl="0" indent="-190500" algn="just" rtl="0">
              <a:spcBef>
                <a:spcPts val="480"/>
              </a:spcBef>
              <a:spcAft>
                <a:spcPts val="0"/>
              </a:spcAft>
              <a:buClr>
                <a:schemeClr val="dk1"/>
              </a:buClr>
              <a:buSzPts val="2400"/>
              <a:buFont typeface="Noto Sans Symbols"/>
              <a:buNone/>
            </a:pPr>
            <a:endParaRPr sz="2400"/>
          </a:p>
          <a:p>
            <a:pPr marL="342900" lvl="0" indent="-342900" algn="just" rtl="0">
              <a:spcBef>
                <a:spcPts val="480"/>
              </a:spcBef>
              <a:spcAft>
                <a:spcPts val="0"/>
              </a:spcAft>
              <a:buClr>
                <a:schemeClr val="dk1"/>
              </a:buClr>
              <a:buSzPts val="2400"/>
              <a:buFont typeface="Noto Sans Symbols"/>
              <a:buChar char="✔"/>
            </a:pPr>
            <a:r>
              <a:rPr lang="en-US" sz="2400"/>
              <a:t>Analysis: analysis model that developers can interpret.</a:t>
            </a:r>
            <a:endParaRPr sz="2400" b="1"/>
          </a:p>
          <a:p>
            <a:pPr marL="342900" lvl="0" indent="-139700" algn="just" rtl="0">
              <a:spcBef>
                <a:spcPts val="640"/>
              </a:spcBef>
              <a:spcAft>
                <a:spcPts val="0"/>
              </a:spcAft>
              <a:buClr>
                <a:schemeClr val="dk1"/>
              </a:buClr>
              <a:buSzPts val="3200"/>
              <a:buNone/>
            </a:pPr>
            <a:endParaRPr b="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Requirement Elicitation</a:t>
            </a:r>
            <a:endParaRPr/>
          </a:p>
        </p:txBody>
      </p:sp>
      <p:sp>
        <p:nvSpPr>
          <p:cNvPr id="137" name="Google Shape;137;p22"/>
          <p:cNvSpPr txBox="1">
            <a:spLocks noGrp="1"/>
          </p:cNvSpPr>
          <p:nvPr>
            <p:ph type="body" idx="1"/>
          </p:nvPr>
        </p:nvSpPr>
        <p:spPr>
          <a:xfrm>
            <a:off x="457200" y="1600200"/>
            <a:ext cx="8229600" cy="51054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2800"/>
              <a:buChar char="•"/>
            </a:pPr>
            <a:r>
              <a:rPr lang="en-US" sz="2800" b="1"/>
              <a:t>Requirements elicitation </a:t>
            </a:r>
            <a:r>
              <a:rPr lang="en-US" sz="2800"/>
              <a:t>is about </a:t>
            </a:r>
            <a:r>
              <a:rPr lang="en-US" sz="2800" b="1"/>
              <a:t>communication</a:t>
            </a:r>
            <a:r>
              <a:rPr lang="en-US" sz="2800"/>
              <a:t> among </a:t>
            </a:r>
            <a:r>
              <a:rPr lang="en-US" sz="2800" b="1"/>
              <a:t>developers </a:t>
            </a:r>
            <a:r>
              <a:rPr lang="en-US" sz="2800"/>
              <a:t>and </a:t>
            </a:r>
            <a:r>
              <a:rPr lang="en-US" sz="2800" b="1"/>
              <a:t>users</a:t>
            </a:r>
            <a:r>
              <a:rPr lang="en-US" sz="2800"/>
              <a:t> to define a new system.</a:t>
            </a:r>
            <a:endParaRPr/>
          </a:p>
          <a:p>
            <a:pPr marL="342900" lvl="0" indent="-165100" algn="just" rtl="0">
              <a:spcBef>
                <a:spcPts val="560"/>
              </a:spcBef>
              <a:spcAft>
                <a:spcPts val="0"/>
              </a:spcAft>
              <a:buClr>
                <a:schemeClr val="dk1"/>
              </a:buClr>
              <a:buSzPts val="2800"/>
              <a:buNone/>
            </a:pPr>
            <a:endParaRPr sz="2800"/>
          </a:p>
          <a:p>
            <a:pPr marL="342900" lvl="0" indent="-342900" algn="just" rtl="0">
              <a:spcBef>
                <a:spcPts val="560"/>
              </a:spcBef>
              <a:spcAft>
                <a:spcPts val="0"/>
              </a:spcAft>
              <a:buClr>
                <a:schemeClr val="dk1"/>
              </a:buClr>
              <a:buSzPts val="2800"/>
              <a:buChar char="•"/>
            </a:pPr>
            <a:r>
              <a:rPr lang="en-US" sz="2800" b="1"/>
              <a:t>Failure to communicate </a:t>
            </a:r>
            <a:r>
              <a:rPr lang="en-US" sz="2800"/>
              <a:t>and understand each others - </a:t>
            </a:r>
            <a:r>
              <a:rPr lang="en-US" sz="2800" b="1"/>
              <a:t>system fails</a:t>
            </a:r>
            <a:endParaRPr/>
          </a:p>
          <a:p>
            <a:pPr marL="342900" lvl="0" indent="-165100" algn="just" rtl="0">
              <a:spcBef>
                <a:spcPts val="560"/>
              </a:spcBef>
              <a:spcAft>
                <a:spcPts val="0"/>
              </a:spcAft>
              <a:buClr>
                <a:schemeClr val="dk1"/>
              </a:buClr>
              <a:buSzPts val="2800"/>
              <a:buNone/>
            </a:pPr>
            <a:endParaRPr sz="2800"/>
          </a:p>
          <a:p>
            <a:pPr marL="342900" lvl="0" indent="-342900" algn="just" rtl="0">
              <a:spcBef>
                <a:spcPts val="560"/>
              </a:spcBef>
              <a:spcAft>
                <a:spcPts val="0"/>
              </a:spcAft>
              <a:buClr>
                <a:schemeClr val="dk1"/>
              </a:buClr>
              <a:buSzPts val="2800"/>
              <a:buChar char="•"/>
            </a:pPr>
            <a:r>
              <a:rPr lang="en-US" sz="2800" b="1"/>
              <a:t>Errors</a:t>
            </a:r>
            <a:r>
              <a:rPr lang="en-US" sz="2800"/>
              <a:t> introduced during </a:t>
            </a:r>
            <a:r>
              <a:rPr lang="en-US" sz="2800" b="1"/>
              <a:t>requirements elicitation </a:t>
            </a:r>
            <a:r>
              <a:rPr lang="en-US" sz="2800"/>
              <a:t>are </a:t>
            </a:r>
            <a:r>
              <a:rPr lang="en-US" sz="2800" b="1"/>
              <a:t>expensive to correct</a:t>
            </a:r>
            <a:r>
              <a:rPr lang="en-US" sz="2800"/>
              <a:t>, as they are usually discovered late in the process, often as late as delivery.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3"/>
          <p:cNvSpPr txBox="1">
            <a:spLocks noGrp="1"/>
          </p:cNvSpPr>
          <p:nvPr>
            <p:ph type="title"/>
          </p:nvPr>
        </p:nvSpPr>
        <p:spPr>
          <a:xfrm>
            <a:off x="457200" y="274638"/>
            <a:ext cx="8229600" cy="94456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Requirement Elicitation</a:t>
            </a:r>
            <a:endParaRPr/>
          </a:p>
        </p:txBody>
      </p:sp>
      <p:sp>
        <p:nvSpPr>
          <p:cNvPr id="143" name="Google Shape;143;p23"/>
          <p:cNvSpPr txBox="1">
            <a:spLocks noGrp="1"/>
          </p:cNvSpPr>
          <p:nvPr>
            <p:ph type="body" idx="1"/>
          </p:nvPr>
        </p:nvSpPr>
        <p:spPr>
          <a:xfrm>
            <a:off x="152400" y="1447800"/>
            <a:ext cx="8839200" cy="51816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Char char="•"/>
            </a:pPr>
            <a:r>
              <a:rPr lang="en-US"/>
              <a:t>Requirements elicitation methods </a:t>
            </a:r>
            <a:r>
              <a:rPr lang="en-US" b="1"/>
              <a:t>aim at improving communication</a:t>
            </a:r>
            <a:r>
              <a:rPr lang="en-US"/>
              <a:t> among developers, clients, and users.</a:t>
            </a:r>
            <a:endParaRPr/>
          </a:p>
          <a:p>
            <a:pPr marL="342900" lvl="0" indent="-139700" algn="just" rtl="0">
              <a:spcBef>
                <a:spcPts val="640"/>
              </a:spcBef>
              <a:spcAft>
                <a:spcPts val="0"/>
              </a:spcAft>
              <a:buClr>
                <a:schemeClr val="dk1"/>
              </a:buClr>
              <a:buSzPts val="3200"/>
              <a:buNone/>
            </a:pPr>
            <a:endParaRPr/>
          </a:p>
          <a:p>
            <a:pPr marL="342900" lvl="0" indent="-342900" algn="just" rtl="0">
              <a:spcBef>
                <a:spcPts val="640"/>
              </a:spcBef>
              <a:spcAft>
                <a:spcPts val="0"/>
              </a:spcAft>
              <a:buClr>
                <a:schemeClr val="dk1"/>
              </a:buClr>
              <a:buSzPts val="3200"/>
              <a:buChar char="•"/>
            </a:pPr>
            <a:r>
              <a:rPr lang="en-US" b="1"/>
              <a:t>Requirement Specification:</a:t>
            </a:r>
            <a:r>
              <a:rPr lang="en-US"/>
              <a:t> The client, the developers, and the users </a:t>
            </a:r>
            <a:r>
              <a:rPr lang="en-US" b="1"/>
              <a:t>identify a problem area </a:t>
            </a:r>
            <a:r>
              <a:rPr lang="en-US"/>
              <a:t>and </a:t>
            </a:r>
            <a:r>
              <a:rPr lang="en-US" b="1"/>
              <a:t>define a system </a:t>
            </a:r>
            <a:r>
              <a:rPr lang="en-US"/>
              <a:t>that </a:t>
            </a:r>
            <a:r>
              <a:rPr lang="en-US" b="1"/>
              <a:t>addresses the problem</a:t>
            </a:r>
            <a:r>
              <a:rPr lang="en-US"/>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24"/>
          <p:cNvPicPr preferRelativeResize="0"/>
          <p:nvPr/>
        </p:nvPicPr>
        <p:blipFill rotWithShape="1">
          <a:blip r:embed="rId3">
            <a:alphaModFix/>
          </a:blip>
          <a:srcRect/>
          <a:stretch/>
        </p:blipFill>
        <p:spPr>
          <a:xfrm>
            <a:off x="0" y="0"/>
            <a:ext cx="9144000" cy="6858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Requirements Elicitation Activities</a:t>
            </a:r>
            <a:endParaRPr/>
          </a:p>
        </p:txBody>
      </p:sp>
      <p:sp>
        <p:nvSpPr>
          <p:cNvPr id="154" name="Google Shape;154;p25"/>
          <p:cNvSpPr txBox="1">
            <a:spLocks noGrp="1"/>
          </p:cNvSpPr>
          <p:nvPr>
            <p:ph type="body" idx="1"/>
          </p:nvPr>
        </p:nvSpPr>
        <p:spPr>
          <a:xfrm>
            <a:off x="152400" y="1600200"/>
            <a:ext cx="8915400" cy="5105400"/>
          </a:xfrm>
          <a:prstGeom prst="rect">
            <a:avLst/>
          </a:prstGeom>
          <a:noFill/>
          <a:ln>
            <a:noFill/>
          </a:ln>
        </p:spPr>
        <p:txBody>
          <a:bodyPr spcFirstLastPara="1" wrap="square" lIns="91425" tIns="45700" rIns="91425" bIns="45700" anchor="t" anchorCtr="0">
            <a:normAutofit fontScale="92500"/>
          </a:bodyPr>
          <a:lstStyle/>
          <a:p>
            <a:pPr marL="0" lvl="0" indent="0" algn="just" rtl="0">
              <a:spcBef>
                <a:spcPts val="0"/>
              </a:spcBef>
              <a:spcAft>
                <a:spcPts val="0"/>
              </a:spcAft>
              <a:buClr>
                <a:schemeClr val="dk1"/>
              </a:buClr>
              <a:buSzPct val="100000"/>
              <a:buNone/>
            </a:pPr>
            <a:r>
              <a:rPr lang="en-US" b="1" i="1"/>
              <a:t>1. Identifying actors</a:t>
            </a:r>
            <a:r>
              <a:rPr lang="en-US"/>
              <a:t>: developers </a:t>
            </a:r>
            <a:r>
              <a:rPr lang="en-US" b="1"/>
              <a:t>identify the different types of users</a:t>
            </a:r>
            <a:r>
              <a:rPr lang="en-US"/>
              <a:t> the future system will support.</a:t>
            </a:r>
            <a:endParaRPr/>
          </a:p>
          <a:p>
            <a:pPr marL="0" lvl="0" indent="0" algn="just" rtl="0">
              <a:spcBef>
                <a:spcPts val="592"/>
              </a:spcBef>
              <a:spcAft>
                <a:spcPts val="0"/>
              </a:spcAft>
              <a:buClr>
                <a:schemeClr val="dk1"/>
              </a:buClr>
              <a:buSzPct val="100000"/>
              <a:buNone/>
            </a:pPr>
            <a:endParaRPr/>
          </a:p>
          <a:p>
            <a:pPr marL="0" lvl="0" indent="0" algn="just" rtl="0">
              <a:spcBef>
                <a:spcPts val="592"/>
              </a:spcBef>
              <a:spcAft>
                <a:spcPts val="0"/>
              </a:spcAft>
              <a:buClr>
                <a:schemeClr val="dk1"/>
              </a:buClr>
              <a:buSzPct val="100000"/>
              <a:buNone/>
            </a:pPr>
            <a:r>
              <a:rPr lang="en-US" b="1" i="1"/>
              <a:t>2. Identifying scenarios</a:t>
            </a:r>
            <a:r>
              <a:rPr lang="en-US" b="1"/>
              <a:t>: </a:t>
            </a:r>
            <a:endParaRPr/>
          </a:p>
          <a:p>
            <a:pPr marL="342900" lvl="0" indent="-342900" algn="just" rtl="0">
              <a:spcBef>
                <a:spcPts val="592"/>
              </a:spcBef>
              <a:spcAft>
                <a:spcPts val="0"/>
              </a:spcAft>
              <a:buClr>
                <a:schemeClr val="dk1"/>
              </a:buClr>
              <a:buSzPct val="100000"/>
              <a:buFont typeface="Noto Sans Symbols"/>
              <a:buChar char="✔"/>
            </a:pPr>
            <a:r>
              <a:rPr lang="en-US"/>
              <a:t>developers </a:t>
            </a:r>
            <a:r>
              <a:rPr lang="en-US" b="1"/>
              <a:t>observe users </a:t>
            </a:r>
            <a:r>
              <a:rPr lang="en-US"/>
              <a:t>and develop a set of detailed scenarios (</a:t>
            </a:r>
            <a:r>
              <a:rPr lang="en-US" b="1"/>
              <a:t>concrete examples of future systems</a:t>
            </a:r>
            <a:r>
              <a:rPr lang="en-US"/>
              <a:t>) for typical functionality provided by the future system. </a:t>
            </a:r>
            <a:endParaRPr/>
          </a:p>
          <a:p>
            <a:pPr marL="342900" lvl="0" indent="-342900" algn="just" rtl="0">
              <a:spcBef>
                <a:spcPts val="592"/>
              </a:spcBef>
              <a:spcAft>
                <a:spcPts val="0"/>
              </a:spcAft>
              <a:buClr>
                <a:schemeClr val="dk1"/>
              </a:buClr>
              <a:buSzPct val="100000"/>
              <a:buFont typeface="Noto Sans Symbols"/>
              <a:buChar char="✔"/>
            </a:pPr>
            <a:r>
              <a:rPr lang="en-US"/>
              <a:t>Scenarios used for understanding application domain in detail.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Requirements Elicitation Activities</a:t>
            </a:r>
            <a:endParaRPr/>
          </a:p>
        </p:txBody>
      </p:sp>
      <p:sp>
        <p:nvSpPr>
          <p:cNvPr id="160" name="Google Shape;160;p26"/>
          <p:cNvSpPr txBox="1">
            <a:spLocks noGrp="1"/>
          </p:cNvSpPr>
          <p:nvPr>
            <p:ph type="body" idx="1"/>
          </p:nvPr>
        </p:nvSpPr>
        <p:spPr>
          <a:xfrm>
            <a:off x="457200" y="1600200"/>
            <a:ext cx="8229600" cy="502920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dk1"/>
              </a:buClr>
              <a:buSzPts val="3200"/>
              <a:buNone/>
            </a:pPr>
            <a:r>
              <a:rPr lang="en-US" b="1" i="1"/>
              <a:t>3. Identifying use cases</a:t>
            </a:r>
            <a:r>
              <a:rPr lang="en-US" b="1"/>
              <a:t>: </a:t>
            </a:r>
            <a:endParaRPr/>
          </a:p>
          <a:p>
            <a:pPr marL="342900" lvl="0" indent="-342900" algn="just" rtl="0">
              <a:spcBef>
                <a:spcPts val="640"/>
              </a:spcBef>
              <a:spcAft>
                <a:spcPts val="0"/>
              </a:spcAft>
              <a:buClr>
                <a:schemeClr val="dk1"/>
              </a:buClr>
              <a:buSzPts val="3200"/>
              <a:buFont typeface="Noto Sans Symbols"/>
              <a:buChar char="✔"/>
            </a:pPr>
            <a:r>
              <a:rPr lang="en-US"/>
              <a:t>Once developers and users agree on a set of scenarios.</a:t>
            </a:r>
            <a:endParaRPr/>
          </a:p>
          <a:p>
            <a:pPr marL="342900" lvl="0" indent="-139700" algn="just" rtl="0">
              <a:spcBef>
                <a:spcPts val="640"/>
              </a:spcBef>
              <a:spcAft>
                <a:spcPts val="0"/>
              </a:spcAft>
              <a:buClr>
                <a:schemeClr val="dk1"/>
              </a:buClr>
              <a:buSzPts val="3200"/>
              <a:buFont typeface="Noto Sans Symbols"/>
              <a:buNone/>
            </a:pPr>
            <a:endParaRPr/>
          </a:p>
          <a:p>
            <a:pPr marL="342900" lvl="0" indent="-342900" algn="just" rtl="0">
              <a:spcBef>
                <a:spcPts val="640"/>
              </a:spcBef>
              <a:spcAft>
                <a:spcPts val="0"/>
              </a:spcAft>
              <a:buClr>
                <a:schemeClr val="dk1"/>
              </a:buClr>
              <a:buSzPts val="3200"/>
              <a:buFont typeface="Noto Sans Symbols"/>
              <a:buChar char="✔"/>
            </a:pPr>
            <a:r>
              <a:rPr lang="en-US"/>
              <a:t>Set of use cases are derived from scenarios that represent future systems.</a:t>
            </a:r>
            <a:endParaRPr/>
          </a:p>
          <a:p>
            <a:pPr marL="342900" lvl="0" indent="-139700" algn="just" rtl="0">
              <a:spcBef>
                <a:spcPts val="640"/>
              </a:spcBef>
              <a:spcAft>
                <a:spcPts val="0"/>
              </a:spcAft>
              <a:buClr>
                <a:schemeClr val="dk1"/>
              </a:buClr>
              <a:buSzPts val="3200"/>
              <a:buFont typeface="Noto Sans Symbols"/>
              <a:buNone/>
            </a:pPr>
            <a:endParaRPr/>
          </a:p>
          <a:p>
            <a:pPr marL="342900" lvl="0" indent="-342900" algn="just" rtl="0">
              <a:spcBef>
                <a:spcPts val="640"/>
              </a:spcBef>
              <a:spcAft>
                <a:spcPts val="0"/>
              </a:spcAft>
              <a:buClr>
                <a:schemeClr val="dk1"/>
              </a:buClr>
              <a:buSzPts val="3200"/>
              <a:buFont typeface="Noto Sans Symbols"/>
              <a:buChar char="✔"/>
            </a:pPr>
            <a:r>
              <a:rPr lang="en-US"/>
              <a:t>Use cases are abstractions describing all possible cases of the system</a:t>
            </a:r>
            <a:endParaRPr/>
          </a:p>
          <a:p>
            <a:pPr marL="0" lvl="0" indent="0" algn="just" rtl="0">
              <a:spcBef>
                <a:spcPts val="640"/>
              </a:spcBef>
              <a:spcAft>
                <a:spcPts val="0"/>
              </a:spcAft>
              <a:buClr>
                <a:schemeClr val="dk1"/>
              </a:buClr>
              <a:buSzPts val="3200"/>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Requirements Elicitation Activities</a:t>
            </a:r>
            <a:endParaRPr/>
          </a:p>
        </p:txBody>
      </p:sp>
      <p:sp>
        <p:nvSpPr>
          <p:cNvPr id="166" name="Google Shape;166;p2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dk1"/>
              </a:buClr>
              <a:buSzPts val="3200"/>
              <a:buNone/>
            </a:pPr>
            <a:r>
              <a:rPr lang="en-US" b="1" i="1"/>
              <a:t>4. Refining use cases</a:t>
            </a:r>
            <a:r>
              <a:rPr lang="en-US" b="1"/>
              <a:t>:</a:t>
            </a:r>
            <a:r>
              <a:rPr lang="en-US"/>
              <a:t> </a:t>
            </a:r>
            <a:endParaRPr/>
          </a:p>
          <a:p>
            <a:pPr marL="342900" lvl="0" indent="-342900" algn="just" rtl="0">
              <a:spcBef>
                <a:spcPts val="640"/>
              </a:spcBef>
              <a:spcAft>
                <a:spcPts val="0"/>
              </a:spcAft>
              <a:buClr>
                <a:schemeClr val="dk1"/>
              </a:buClr>
              <a:buSzPts val="3200"/>
              <a:buFont typeface="Noto Sans Symbols"/>
              <a:buChar char="✔"/>
            </a:pPr>
            <a:r>
              <a:rPr lang="en-US" b="1"/>
              <a:t>requirements specification is complete </a:t>
            </a:r>
            <a:r>
              <a:rPr lang="en-US"/>
              <a:t>by detailing each use case.</a:t>
            </a:r>
            <a:endParaRPr/>
          </a:p>
          <a:p>
            <a:pPr marL="0" lvl="0" indent="0" algn="just" rtl="0">
              <a:spcBef>
                <a:spcPts val="640"/>
              </a:spcBef>
              <a:spcAft>
                <a:spcPts val="0"/>
              </a:spcAft>
              <a:buClr>
                <a:schemeClr val="dk1"/>
              </a:buClr>
              <a:buSzPts val="3200"/>
              <a:buNone/>
            </a:pPr>
            <a:r>
              <a:rPr lang="en-US"/>
              <a:t> </a:t>
            </a:r>
            <a:endParaRPr/>
          </a:p>
          <a:p>
            <a:pPr marL="342900" lvl="0" indent="-342900" algn="just" rtl="0">
              <a:spcBef>
                <a:spcPts val="640"/>
              </a:spcBef>
              <a:spcAft>
                <a:spcPts val="0"/>
              </a:spcAft>
              <a:buClr>
                <a:schemeClr val="dk1"/>
              </a:buClr>
              <a:buSzPts val="3200"/>
              <a:buFont typeface="Noto Sans Symbols"/>
              <a:buChar char="✔"/>
            </a:pPr>
            <a:r>
              <a:rPr lang="en-US"/>
              <a:t>describing the </a:t>
            </a:r>
            <a:r>
              <a:rPr lang="en-US" b="1"/>
              <a:t>behavior of the system </a:t>
            </a:r>
            <a:r>
              <a:rPr lang="en-US"/>
              <a:t>in the presence of </a:t>
            </a:r>
            <a:r>
              <a:rPr lang="en-US" b="1"/>
              <a:t>errors</a:t>
            </a:r>
            <a:r>
              <a:rPr lang="en-US"/>
              <a:t> and exceptional conditions.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Requirements Elicitation Activities</a:t>
            </a:r>
            <a:endParaRPr/>
          </a:p>
        </p:txBody>
      </p:sp>
      <p:sp>
        <p:nvSpPr>
          <p:cNvPr id="172" name="Google Shape;172;p2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dk1"/>
              </a:buClr>
              <a:buSzPts val="3200"/>
              <a:buNone/>
            </a:pPr>
            <a:r>
              <a:rPr lang="en-US" b="1" i="1"/>
              <a:t>5. Identifying relationships among use cases</a:t>
            </a:r>
            <a:r>
              <a:rPr lang="en-US"/>
              <a:t>:</a:t>
            </a:r>
            <a:endParaRPr/>
          </a:p>
          <a:p>
            <a:pPr marL="342900" lvl="0" indent="-342900" algn="just" rtl="0">
              <a:spcBef>
                <a:spcPts val="640"/>
              </a:spcBef>
              <a:spcAft>
                <a:spcPts val="0"/>
              </a:spcAft>
              <a:buClr>
                <a:schemeClr val="dk1"/>
              </a:buClr>
              <a:buSzPts val="3200"/>
              <a:buFont typeface="Noto Sans Symbols"/>
              <a:buChar char="✔"/>
            </a:pPr>
            <a:r>
              <a:rPr lang="en-US"/>
              <a:t> identify dependencies among use cases.</a:t>
            </a:r>
            <a:endParaRPr/>
          </a:p>
          <a:p>
            <a:pPr marL="0" lvl="0" indent="0" algn="just" rtl="0">
              <a:spcBef>
                <a:spcPts val="640"/>
              </a:spcBef>
              <a:spcAft>
                <a:spcPts val="0"/>
              </a:spcAft>
              <a:buClr>
                <a:schemeClr val="dk1"/>
              </a:buClr>
              <a:buSzPts val="3200"/>
              <a:buNone/>
            </a:pPr>
            <a:endParaRPr/>
          </a:p>
          <a:p>
            <a:pPr marL="342900" lvl="0" indent="-342900" algn="just" rtl="0">
              <a:spcBef>
                <a:spcPts val="640"/>
              </a:spcBef>
              <a:spcAft>
                <a:spcPts val="0"/>
              </a:spcAft>
              <a:buClr>
                <a:schemeClr val="dk1"/>
              </a:buClr>
              <a:buSzPts val="3200"/>
              <a:buFont typeface="Noto Sans Symbols"/>
              <a:buChar char="✔"/>
            </a:pPr>
            <a:r>
              <a:rPr lang="en-US"/>
              <a:t>Consolidate(combine) the use case model by factoring out common functionality.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Requirements Elicitation Activities</a:t>
            </a:r>
            <a:endParaRPr/>
          </a:p>
        </p:txBody>
      </p:sp>
      <p:sp>
        <p:nvSpPr>
          <p:cNvPr id="178" name="Google Shape;178;p29"/>
          <p:cNvSpPr txBox="1">
            <a:spLocks noGrp="1"/>
          </p:cNvSpPr>
          <p:nvPr>
            <p:ph type="body" idx="1"/>
          </p:nvPr>
        </p:nvSpPr>
        <p:spPr>
          <a:xfrm>
            <a:off x="457200" y="1600200"/>
            <a:ext cx="8229600" cy="51054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Char char="•"/>
            </a:pPr>
            <a:r>
              <a:rPr lang="en-US" b="1" i="1"/>
              <a:t>Identifying nonfunctional requirements</a:t>
            </a:r>
            <a:r>
              <a:rPr lang="en-US"/>
              <a:t>:</a:t>
            </a:r>
            <a:endParaRPr/>
          </a:p>
          <a:p>
            <a:pPr marL="342900" lvl="0" indent="-342900" algn="just" rtl="0">
              <a:spcBef>
                <a:spcPts val="640"/>
              </a:spcBef>
              <a:spcAft>
                <a:spcPts val="0"/>
              </a:spcAft>
              <a:buClr>
                <a:schemeClr val="dk1"/>
              </a:buClr>
              <a:buSzPts val="3200"/>
              <a:buFont typeface="Noto Sans Symbols"/>
              <a:buChar char="✔"/>
            </a:pPr>
            <a:r>
              <a:rPr lang="en-US"/>
              <a:t>developers, users, and clients agree on aspects that are visible to the user, but not directly related to functionality. </a:t>
            </a:r>
            <a:endParaRPr/>
          </a:p>
          <a:p>
            <a:pPr marL="0" lvl="0" indent="0" algn="just" rtl="0">
              <a:spcBef>
                <a:spcPts val="640"/>
              </a:spcBef>
              <a:spcAft>
                <a:spcPts val="0"/>
              </a:spcAft>
              <a:buClr>
                <a:schemeClr val="dk1"/>
              </a:buClr>
              <a:buSzPts val="3200"/>
              <a:buNone/>
            </a:pPr>
            <a:endParaRPr/>
          </a:p>
          <a:p>
            <a:pPr marL="342900" lvl="0" indent="-342900" algn="just" rtl="0">
              <a:spcBef>
                <a:spcPts val="640"/>
              </a:spcBef>
              <a:spcAft>
                <a:spcPts val="0"/>
              </a:spcAft>
              <a:buClr>
                <a:schemeClr val="dk1"/>
              </a:buClr>
              <a:buSzPts val="3200"/>
              <a:buFont typeface="Noto Sans Symbols"/>
              <a:buChar char="✔"/>
            </a:pPr>
            <a:r>
              <a:rPr lang="en-US"/>
              <a:t>These include constraints on the performance of the system, its documentation, the resources it consumes, its security, and its quality.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Requirement Elicitation Techniques</a:t>
            </a:r>
            <a:endParaRPr/>
          </a:p>
        </p:txBody>
      </p:sp>
      <p:sp>
        <p:nvSpPr>
          <p:cNvPr id="184" name="Google Shape;184;p30"/>
          <p:cNvSpPr txBox="1">
            <a:spLocks noGrp="1"/>
          </p:cNvSpPr>
          <p:nvPr>
            <p:ph type="body" idx="1"/>
          </p:nvPr>
        </p:nvSpPr>
        <p:spPr>
          <a:xfrm>
            <a:off x="457200" y="1600200"/>
            <a:ext cx="8229600" cy="5105400"/>
          </a:xfrm>
          <a:prstGeom prst="rect">
            <a:avLst/>
          </a:prstGeom>
          <a:noFill/>
          <a:ln>
            <a:noFill/>
          </a:ln>
        </p:spPr>
        <p:txBody>
          <a:bodyPr spcFirstLastPara="1" wrap="square" lIns="91425" tIns="45700" rIns="91425" bIns="45700" anchor="t" anchorCtr="0">
            <a:normAutofit fontScale="92500" lnSpcReduction="20000"/>
          </a:bodyPr>
          <a:lstStyle/>
          <a:p>
            <a:pPr marL="742950" lvl="1" indent="-285750" algn="just" rtl="0">
              <a:lnSpc>
                <a:spcPct val="150000"/>
              </a:lnSpc>
              <a:spcBef>
                <a:spcPts val="0"/>
              </a:spcBef>
              <a:spcAft>
                <a:spcPts val="0"/>
              </a:spcAft>
              <a:buClr>
                <a:srgbClr val="3D5500"/>
              </a:buClr>
              <a:buSzPct val="100000"/>
              <a:buFont typeface="Arial"/>
              <a:buChar char="•"/>
            </a:pPr>
            <a:r>
              <a:rPr lang="en-US" b="1">
                <a:solidFill>
                  <a:srgbClr val="1D1B10"/>
                </a:solidFill>
              </a:rPr>
              <a:t>Questionnaires:</a:t>
            </a:r>
            <a:r>
              <a:rPr lang="en-US" b="1" i="1">
                <a:solidFill>
                  <a:srgbClr val="1D1B10"/>
                </a:solidFill>
              </a:rPr>
              <a:t> </a:t>
            </a:r>
            <a:r>
              <a:rPr lang="en-US">
                <a:solidFill>
                  <a:srgbClr val="1D1B10"/>
                </a:solidFill>
              </a:rPr>
              <a:t>Asking the end user a list of pre-selected questions</a:t>
            </a:r>
            <a:endParaRPr/>
          </a:p>
          <a:p>
            <a:pPr marL="742950" lvl="1" indent="-285750" algn="just" rtl="0">
              <a:lnSpc>
                <a:spcPct val="150000"/>
              </a:lnSpc>
              <a:spcBef>
                <a:spcPts val="750"/>
              </a:spcBef>
              <a:spcAft>
                <a:spcPts val="0"/>
              </a:spcAft>
              <a:buClr>
                <a:srgbClr val="3D5500"/>
              </a:buClr>
              <a:buSzPct val="100000"/>
              <a:buFont typeface="Arial"/>
              <a:buChar char="•"/>
            </a:pPr>
            <a:r>
              <a:rPr lang="en-US" b="1">
                <a:solidFill>
                  <a:srgbClr val="1D1B10"/>
                </a:solidFill>
              </a:rPr>
              <a:t>Task Analysis:</a:t>
            </a:r>
            <a:r>
              <a:rPr lang="en-US" b="1" i="1">
                <a:solidFill>
                  <a:srgbClr val="1D1B10"/>
                </a:solidFill>
              </a:rPr>
              <a:t> </a:t>
            </a:r>
            <a:r>
              <a:rPr lang="en-US">
                <a:solidFill>
                  <a:srgbClr val="1D1B10"/>
                </a:solidFill>
              </a:rPr>
              <a:t>Observing end users in their operational environment</a:t>
            </a:r>
            <a:endParaRPr/>
          </a:p>
          <a:p>
            <a:pPr marL="742950" lvl="1" indent="-285750" algn="just" rtl="0">
              <a:lnSpc>
                <a:spcPct val="150000"/>
              </a:lnSpc>
              <a:spcBef>
                <a:spcPts val="750"/>
              </a:spcBef>
              <a:spcAft>
                <a:spcPts val="0"/>
              </a:spcAft>
              <a:buClr>
                <a:srgbClr val="3D5500"/>
              </a:buClr>
              <a:buSzPct val="100000"/>
              <a:buFont typeface="Arial"/>
              <a:buChar char="•"/>
            </a:pPr>
            <a:r>
              <a:rPr lang="en-US" b="1">
                <a:solidFill>
                  <a:srgbClr val="1D1B10"/>
                </a:solidFill>
              </a:rPr>
              <a:t>Scenarios:</a:t>
            </a:r>
            <a:r>
              <a:rPr lang="en-US">
                <a:solidFill>
                  <a:srgbClr val="1D1B10"/>
                </a:solidFill>
              </a:rPr>
              <a:t> Describe the use of the system as a series of interactions between a concrete end user and the system </a:t>
            </a:r>
            <a:endParaRPr/>
          </a:p>
          <a:p>
            <a:pPr marL="742950" lvl="1" indent="-285750" algn="just" rtl="0">
              <a:lnSpc>
                <a:spcPct val="150000"/>
              </a:lnSpc>
              <a:spcBef>
                <a:spcPts val="750"/>
              </a:spcBef>
              <a:spcAft>
                <a:spcPts val="0"/>
              </a:spcAft>
              <a:buClr>
                <a:srgbClr val="3D5500"/>
              </a:buClr>
              <a:buSzPct val="100000"/>
              <a:buFont typeface="Arial"/>
              <a:buChar char="•"/>
            </a:pPr>
            <a:r>
              <a:rPr lang="en-US" b="1">
                <a:solidFill>
                  <a:srgbClr val="1D1B10"/>
                </a:solidFill>
              </a:rPr>
              <a:t>Use cases:</a:t>
            </a:r>
            <a:r>
              <a:rPr lang="en-US">
                <a:solidFill>
                  <a:srgbClr val="1D1B10"/>
                </a:solidFill>
              </a:rPr>
              <a:t>  Abstractions that describe a class of scenarios.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Functional Requirements</a:t>
            </a:r>
            <a:endParaRPr/>
          </a:p>
        </p:txBody>
      </p:sp>
      <p:sp>
        <p:nvSpPr>
          <p:cNvPr id="190" name="Google Shape;190;p31"/>
          <p:cNvSpPr txBox="1">
            <a:spLocks noGrp="1"/>
          </p:cNvSpPr>
          <p:nvPr>
            <p:ph type="body" idx="1"/>
          </p:nvPr>
        </p:nvSpPr>
        <p:spPr>
          <a:xfrm>
            <a:off x="457200" y="1600200"/>
            <a:ext cx="8229600" cy="50292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Char char="•"/>
            </a:pPr>
            <a:r>
              <a:rPr lang="en-US" b="1"/>
              <a:t>Functional requirements </a:t>
            </a:r>
            <a:r>
              <a:rPr lang="en-US"/>
              <a:t>describe the </a:t>
            </a:r>
            <a:r>
              <a:rPr lang="en-US" b="1"/>
              <a:t>interactions between the system and its environment</a:t>
            </a:r>
            <a:r>
              <a:rPr lang="en-US"/>
              <a:t> independent of its implementation.</a:t>
            </a:r>
            <a:endParaRPr/>
          </a:p>
          <a:p>
            <a:pPr marL="342900" lvl="0" indent="-139700" algn="just" rtl="0">
              <a:spcBef>
                <a:spcPts val="640"/>
              </a:spcBef>
              <a:spcAft>
                <a:spcPts val="0"/>
              </a:spcAft>
              <a:buClr>
                <a:schemeClr val="dk1"/>
              </a:buClr>
              <a:buSzPts val="3200"/>
              <a:buNone/>
            </a:pPr>
            <a:endParaRPr/>
          </a:p>
          <a:p>
            <a:pPr marL="342900" lvl="0" indent="-342900" algn="just" rtl="0">
              <a:spcBef>
                <a:spcPts val="640"/>
              </a:spcBef>
              <a:spcAft>
                <a:spcPts val="0"/>
              </a:spcAft>
              <a:buClr>
                <a:schemeClr val="dk1"/>
              </a:buClr>
              <a:buSzPts val="3200"/>
              <a:buChar char="•"/>
            </a:pPr>
            <a:r>
              <a:rPr lang="en-US"/>
              <a:t>Does not focus on implementation details.</a:t>
            </a:r>
            <a:endParaRPr/>
          </a:p>
          <a:p>
            <a:pPr marL="342900" lvl="0" indent="-139700" algn="just" rtl="0">
              <a:spcBef>
                <a:spcPts val="640"/>
              </a:spcBef>
              <a:spcAft>
                <a:spcPts val="0"/>
              </a:spcAft>
              <a:buClr>
                <a:schemeClr val="dk1"/>
              </a:buClr>
              <a:buSzPts val="3200"/>
              <a:buNone/>
            </a:pPr>
            <a:endParaRPr/>
          </a:p>
          <a:p>
            <a:pPr marL="342900" lvl="0" indent="-342900" algn="just" rtl="0">
              <a:spcBef>
                <a:spcPts val="640"/>
              </a:spcBef>
              <a:spcAft>
                <a:spcPts val="0"/>
              </a:spcAft>
              <a:buClr>
                <a:schemeClr val="dk1"/>
              </a:buClr>
              <a:buSzPts val="3200"/>
              <a:buChar char="•"/>
            </a:pPr>
            <a:r>
              <a:rPr lang="en-US"/>
              <a:t>Example: </a:t>
            </a:r>
            <a:r>
              <a:rPr lang="en-US" b="1"/>
              <a:t>SatWatch</a:t>
            </a:r>
            <a:r>
              <a:rPr lang="en-US"/>
              <a:t>, a watch that resets itself without user intervention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Non-Functional Requirements</a:t>
            </a:r>
            <a:endParaRPr/>
          </a:p>
        </p:txBody>
      </p:sp>
      <p:sp>
        <p:nvSpPr>
          <p:cNvPr id="196" name="Google Shape;196;p3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Char char="•"/>
            </a:pPr>
            <a:r>
              <a:rPr lang="en-US" b="1"/>
              <a:t>Nonfunctional requirements </a:t>
            </a:r>
            <a:r>
              <a:rPr lang="en-US"/>
              <a:t>describe aspects of the system that are </a:t>
            </a:r>
            <a:r>
              <a:rPr lang="en-US" b="1"/>
              <a:t>not</a:t>
            </a:r>
            <a:r>
              <a:rPr lang="en-US"/>
              <a:t> directly </a:t>
            </a:r>
            <a:r>
              <a:rPr lang="en-US" b="1"/>
              <a:t>related</a:t>
            </a:r>
            <a:r>
              <a:rPr lang="en-US"/>
              <a:t> to the </a:t>
            </a:r>
            <a:r>
              <a:rPr lang="en-US" b="1"/>
              <a:t>functional behavior </a:t>
            </a:r>
            <a:r>
              <a:rPr lang="en-US"/>
              <a:t>of the system.</a:t>
            </a:r>
            <a:endParaRPr/>
          </a:p>
          <a:p>
            <a:pPr marL="342900" lvl="0" indent="-139700" algn="just" rtl="0">
              <a:spcBef>
                <a:spcPts val="640"/>
              </a:spcBef>
              <a:spcAft>
                <a:spcPts val="0"/>
              </a:spcAft>
              <a:buClr>
                <a:schemeClr val="dk1"/>
              </a:buClr>
              <a:buSzPts val="3200"/>
              <a:buNone/>
            </a:pPr>
            <a:endParaRPr/>
          </a:p>
          <a:p>
            <a:pPr marL="342900" lvl="0" indent="-342900" algn="just" rtl="0">
              <a:spcBef>
                <a:spcPts val="640"/>
              </a:spcBef>
              <a:spcAft>
                <a:spcPts val="0"/>
              </a:spcAft>
              <a:buClr>
                <a:schemeClr val="dk1"/>
              </a:buClr>
              <a:buSzPts val="3200"/>
              <a:buChar char="•"/>
            </a:pPr>
            <a:r>
              <a:rPr lang="en-US"/>
              <a:t>Usability to performance - </a:t>
            </a:r>
            <a:r>
              <a:rPr lang="en-US" b="1"/>
              <a:t>non functional requirements</a:t>
            </a:r>
            <a:endParaRPr b="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Non-Functional Requirements (Types)</a:t>
            </a:r>
            <a:endParaRPr/>
          </a:p>
        </p:txBody>
      </p:sp>
      <p:sp>
        <p:nvSpPr>
          <p:cNvPr id="202" name="Google Shape;202;p3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b="1"/>
              <a:t>1. Usability </a:t>
            </a:r>
            <a:r>
              <a:rPr lang="en-US"/>
              <a:t>is the ease with which a user can learn to operate or use system.</a:t>
            </a:r>
            <a:endParaRPr/>
          </a:p>
          <a:p>
            <a:pPr marL="342900" lvl="0" indent="-139700" algn="l" rtl="0">
              <a:spcBef>
                <a:spcPts val="640"/>
              </a:spcBef>
              <a:spcAft>
                <a:spcPts val="0"/>
              </a:spcAft>
              <a:buClr>
                <a:schemeClr val="dk1"/>
              </a:buClr>
              <a:buSzPts val="3200"/>
              <a:buNone/>
            </a:pPr>
            <a:endParaRPr/>
          </a:p>
          <a:p>
            <a:pPr marL="342900" lvl="0" indent="-342900" algn="l" rtl="0">
              <a:spcBef>
                <a:spcPts val="640"/>
              </a:spcBef>
              <a:spcAft>
                <a:spcPts val="0"/>
              </a:spcAft>
              <a:buClr>
                <a:schemeClr val="dk1"/>
              </a:buClr>
              <a:buSzPts val="3200"/>
              <a:buChar char="•"/>
            </a:pPr>
            <a:r>
              <a:rPr lang="en-US"/>
              <a:t>Usability requirements: online help or user level documentation , manual etc. </a:t>
            </a:r>
            <a:endParaRPr/>
          </a:p>
          <a:p>
            <a:pPr marL="342900" lvl="0" indent="-139700" algn="l" rtl="0">
              <a:spcBef>
                <a:spcPts val="640"/>
              </a:spcBef>
              <a:spcAft>
                <a:spcPts val="0"/>
              </a:spcAft>
              <a:buClr>
                <a:schemeClr val="dk1"/>
              </a:buClr>
              <a:buSzPts val="3200"/>
              <a:buNone/>
            </a:pPr>
            <a:endParaRPr/>
          </a:p>
          <a:p>
            <a:pPr marL="342900" lvl="0" indent="-342900" algn="l" rtl="0">
              <a:spcBef>
                <a:spcPts val="640"/>
              </a:spcBef>
              <a:spcAft>
                <a:spcPts val="0"/>
              </a:spcAft>
              <a:buClr>
                <a:schemeClr val="dk1"/>
              </a:buClr>
              <a:buSzPts val="3200"/>
              <a:buChar char="•"/>
            </a:pPr>
            <a:r>
              <a:rPr lang="en-US"/>
              <a:t>Clients can set usability issues for developer for example – color scheme for GUI</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Non-Functional Requirements</a:t>
            </a:r>
            <a:endParaRPr/>
          </a:p>
        </p:txBody>
      </p:sp>
      <p:sp>
        <p:nvSpPr>
          <p:cNvPr id="208" name="Google Shape;208;p34"/>
          <p:cNvSpPr txBox="1">
            <a:spLocks noGrp="1"/>
          </p:cNvSpPr>
          <p:nvPr>
            <p:ph type="body" idx="1"/>
          </p:nvPr>
        </p:nvSpPr>
        <p:spPr>
          <a:xfrm>
            <a:off x="457200" y="1600200"/>
            <a:ext cx="8229600" cy="510540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dk1"/>
              </a:buClr>
              <a:buSzPts val="3200"/>
              <a:buNone/>
            </a:pPr>
            <a:r>
              <a:rPr lang="en-US" b="1"/>
              <a:t>2. Reliability </a:t>
            </a:r>
            <a:r>
              <a:rPr lang="en-US"/>
              <a:t>is the ability of a system or component to </a:t>
            </a:r>
            <a:r>
              <a:rPr lang="en-US" b="1"/>
              <a:t>perform its required functions </a:t>
            </a:r>
            <a:r>
              <a:rPr lang="en-US"/>
              <a:t>under stated conditions for a specified period of time.</a:t>
            </a:r>
            <a:endParaRPr/>
          </a:p>
          <a:p>
            <a:pPr marL="0" lvl="0" indent="0" algn="just" rtl="0">
              <a:spcBef>
                <a:spcPts val="640"/>
              </a:spcBef>
              <a:spcAft>
                <a:spcPts val="0"/>
              </a:spcAft>
              <a:buClr>
                <a:schemeClr val="dk1"/>
              </a:buClr>
              <a:buSzPts val="3200"/>
              <a:buNone/>
            </a:pPr>
            <a:endParaRPr/>
          </a:p>
          <a:p>
            <a:pPr marL="342900" lvl="0" indent="-342900" algn="just" rtl="0">
              <a:spcBef>
                <a:spcPts val="640"/>
              </a:spcBef>
              <a:spcAft>
                <a:spcPts val="0"/>
              </a:spcAft>
              <a:buClr>
                <a:schemeClr val="dk1"/>
              </a:buClr>
              <a:buSzPts val="3200"/>
              <a:buChar char="•"/>
            </a:pPr>
            <a:r>
              <a:rPr lang="en-US"/>
              <a:t>Reliability is replaced with </a:t>
            </a:r>
            <a:r>
              <a:rPr lang="en-US" b="1"/>
              <a:t>dependability</a:t>
            </a:r>
            <a:r>
              <a:rPr lang="en-US"/>
              <a:t> which includes other features like </a:t>
            </a:r>
            <a:r>
              <a:rPr lang="en-US" b="1"/>
              <a:t>robustness and safety </a:t>
            </a:r>
            <a:endParaRPr/>
          </a:p>
          <a:p>
            <a:pPr marL="0" lvl="0" indent="0" algn="just" rtl="0">
              <a:spcBef>
                <a:spcPts val="640"/>
              </a:spcBef>
              <a:spcAft>
                <a:spcPts val="0"/>
              </a:spcAft>
              <a:buClr>
                <a:schemeClr val="dk1"/>
              </a:buClr>
              <a:buSzPts val="3200"/>
              <a:buNone/>
            </a:pPr>
            <a:endParaRPr/>
          </a:p>
          <a:p>
            <a:pPr marL="0" lvl="0" indent="0" algn="just" rtl="0">
              <a:spcBef>
                <a:spcPts val="640"/>
              </a:spcBef>
              <a:spcAft>
                <a:spcPts val="0"/>
              </a:spcAft>
              <a:buClr>
                <a:schemeClr val="dk1"/>
              </a:buClr>
              <a:buSzPts val="3200"/>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Non-Functional Requirements (Types)</a:t>
            </a:r>
            <a:endParaRPr/>
          </a:p>
        </p:txBody>
      </p:sp>
      <p:sp>
        <p:nvSpPr>
          <p:cNvPr id="214" name="Google Shape;214;p3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b="1"/>
              <a:t>3. Performance </a:t>
            </a:r>
            <a:r>
              <a:rPr lang="en-US"/>
              <a:t>requirements are concerned with quantifiable attributes of the system such as:</a:t>
            </a:r>
            <a:endParaRPr/>
          </a:p>
          <a:p>
            <a:pPr marL="0" lvl="0" indent="0" algn="l" rtl="0">
              <a:spcBef>
                <a:spcPts val="640"/>
              </a:spcBef>
              <a:spcAft>
                <a:spcPts val="0"/>
              </a:spcAft>
              <a:buClr>
                <a:schemeClr val="dk1"/>
              </a:buClr>
              <a:buSzPts val="3200"/>
              <a:buNone/>
            </a:pPr>
            <a:r>
              <a:rPr lang="en-US" b="1"/>
              <a:t>Response Time</a:t>
            </a:r>
            <a:endParaRPr/>
          </a:p>
          <a:p>
            <a:pPr marL="0" lvl="0" indent="0" algn="l" rtl="0">
              <a:spcBef>
                <a:spcPts val="640"/>
              </a:spcBef>
              <a:spcAft>
                <a:spcPts val="0"/>
              </a:spcAft>
              <a:buClr>
                <a:schemeClr val="dk1"/>
              </a:buClr>
              <a:buSzPts val="3200"/>
              <a:buNone/>
            </a:pPr>
            <a:r>
              <a:rPr lang="en-US" b="1"/>
              <a:t>Throughput</a:t>
            </a:r>
            <a:endParaRPr/>
          </a:p>
          <a:p>
            <a:pPr marL="0" lvl="0" indent="0" algn="l" rtl="0">
              <a:spcBef>
                <a:spcPts val="640"/>
              </a:spcBef>
              <a:spcAft>
                <a:spcPts val="0"/>
              </a:spcAft>
              <a:buClr>
                <a:schemeClr val="dk1"/>
              </a:buClr>
              <a:buSzPts val="3200"/>
              <a:buNone/>
            </a:pPr>
            <a:r>
              <a:rPr lang="en-US" b="1"/>
              <a:t>Availability</a:t>
            </a:r>
            <a:endParaRPr/>
          </a:p>
          <a:p>
            <a:pPr marL="0" lvl="0" indent="0" algn="l" rtl="0">
              <a:spcBef>
                <a:spcPts val="640"/>
              </a:spcBef>
              <a:spcAft>
                <a:spcPts val="0"/>
              </a:spcAft>
              <a:buClr>
                <a:schemeClr val="dk1"/>
              </a:buClr>
              <a:buSzPts val="3200"/>
              <a:buNone/>
            </a:pPr>
            <a:r>
              <a:rPr lang="en-US" b="1"/>
              <a:t>Accuracy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6"/>
          <p:cNvSpPr txBox="1">
            <a:spLocks noGrp="1"/>
          </p:cNvSpPr>
          <p:nvPr>
            <p:ph type="title"/>
          </p:nvPr>
        </p:nvSpPr>
        <p:spPr>
          <a:xfrm>
            <a:off x="457200" y="274638"/>
            <a:ext cx="8229600" cy="8683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Non-Functional Requirements (Types)</a:t>
            </a:r>
            <a:endParaRPr/>
          </a:p>
        </p:txBody>
      </p:sp>
      <p:sp>
        <p:nvSpPr>
          <p:cNvPr id="220" name="Google Shape;220;p36"/>
          <p:cNvSpPr txBox="1">
            <a:spLocks noGrp="1"/>
          </p:cNvSpPr>
          <p:nvPr>
            <p:ph type="body" idx="1"/>
          </p:nvPr>
        </p:nvSpPr>
        <p:spPr>
          <a:xfrm>
            <a:off x="228600" y="1371600"/>
            <a:ext cx="8686800" cy="53340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400"/>
              <a:buNone/>
            </a:pPr>
            <a:r>
              <a:rPr lang="en-US" sz="2400" b="1"/>
              <a:t>4. </a:t>
            </a:r>
            <a:r>
              <a:rPr lang="en-US" sz="2600" b="1"/>
              <a:t>Supportability </a:t>
            </a:r>
            <a:r>
              <a:rPr lang="en-US" sz="2600"/>
              <a:t>requirements are concerned with the ease of changes to the system after deployment.</a:t>
            </a:r>
            <a:endParaRPr/>
          </a:p>
          <a:p>
            <a:pPr marL="342900" lvl="0" indent="-342900" algn="just" rtl="0">
              <a:spcBef>
                <a:spcPts val="520"/>
              </a:spcBef>
              <a:spcAft>
                <a:spcPts val="0"/>
              </a:spcAft>
              <a:buClr>
                <a:schemeClr val="dk1"/>
              </a:buClr>
              <a:buSzPts val="2600"/>
              <a:buNone/>
            </a:pPr>
            <a:endParaRPr sz="2600"/>
          </a:p>
          <a:p>
            <a:pPr marL="342900" lvl="0" indent="-342900" algn="just" rtl="0">
              <a:spcBef>
                <a:spcPts val="520"/>
              </a:spcBef>
              <a:spcAft>
                <a:spcPts val="0"/>
              </a:spcAft>
              <a:buClr>
                <a:schemeClr val="dk1"/>
              </a:buClr>
              <a:buSzPts val="2600"/>
              <a:buFont typeface="Noto Sans Symbols"/>
              <a:buChar char="✔"/>
            </a:pPr>
            <a:r>
              <a:rPr lang="en-US" sz="2600" b="1"/>
              <a:t>Adaptability</a:t>
            </a:r>
            <a:r>
              <a:rPr lang="en-US" sz="2600"/>
              <a:t>: the ability to change the system to deal with </a:t>
            </a:r>
            <a:r>
              <a:rPr lang="en-US" sz="2600" b="1"/>
              <a:t>additional application domain concepts</a:t>
            </a:r>
            <a:r>
              <a:rPr lang="en-US" sz="2600"/>
              <a:t>.</a:t>
            </a:r>
            <a:endParaRPr/>
          </a:p>
          <a:p>
            <a:pPr marL="342900" lvl="0" indent="-177800" algn="just" rtl="0">
              <a:spcBef>
                <a:spcPts val="520"/>
              </a:spcBef>
              <a:spcAft>
                <a:spcPts val="0"/>
              </a:spcAft>
              <a:buClr>
                <a:schemeClr val="dk1"/>
              </a:buClr>
              <a:buSzPts val="2600"/>
              <a:buFont typeface="Noto Sans Symbols"/>
              <a:buNone/>
            </a:pPr>
            <a:endParaRPr sz="2600"/>
          </a:p>
          <a:p>
            <a:pPr marL="342900" lvl="0" indent="-342900" algn="just" rtl="0">
              <a:spcBef>
                <a:spcPts val="520"/>
              </a:spcBef>
              <a:spcAft>
                <a:spcPts val="0"/>
              </a:spcAft>
              <a:buClr>
                <a:schemeClr val="dk1"/>
              </a:buClr>
              <a:buSzPts val="2600"/>
              <a:buFont typeface="Noto Sans Symbols"/>
              <a:buChar char="✔"/>
            </a:pPr>
            <a:r>
              <a:rPr lang="en-US" sz="2600" b="1"/>
              <a:t>Maintainability</a:t>
            </a:r>
            <a:r>
              <a:rPr lang="en-US" sz="2600"/>
              <a:t>: the ability to </a:t>
            </a:r>
            <a:r>
              <a:rPr lang="en-US" sz="2600" b="1"/>
              <a:t>change the system </a:t>
            </a:r>
            <a:r>
              <a:rPr lang="en-US" sz="2600"/>
              <a:t>to deal with new technology or to </a:t>
            </a:r>
            <a:r>
              <a:rPr lang="en-US" sz="2600" b="1"/>
              <a:t>fix defects</a:t>
            </a:r>
            <a:r>
              <a:rPr lang="en-US" sz="2600"/>
              <a:t>.</a:t>
            </a:r>
            <a:endParaRPr/>
          </a:p>
          <a:p>
            <a:pPr marL="342900" lvl="0" indent="-177800" algn="just" rtl="0">
              <a:spcBef>
                <a:spcPts val="520"/>
              </a:spcBef>
              <a:spcAft>
                <a:spcPts val="0"/>
              </a:spcAft>
              <a:buClr>
                <a:schemeClr val="dk1"/>
              </a:buClr>
              <a:buSzPts val="2600"/>
              <a:buFont typeface="Noto Sans Symbols"/>
              <a:buNone/>
            </a:pPr>
            <a:endParaRPr sz="2600"/>
          </a:p>
          <a:p>
            <a:pPr marL="342900" lvl="0" indent="-342900" algn="just" rtl="0">
              <a:spcBef>
                <a:spcPts val="520"/>
              </a:spcBef>
              <a:spcAft>
                <a:spcPts val="0"/>
              </a:spcAft>
              <a:buClr>
                <a:schemeClr val="dk1"/>
              </a:buClr>
              <a:buSzPts val="2600"/>
              <a:buFont typeface="Noto Sans Symbols"/>
              <a:buChar char="✔"/>
            </a:pPr>
            <a:r>
              <a:rPr lang="en-US" sz="2600" b="1"/>
              <a:t>Internationalization:</a:t>
            </a:r>
            <a:r>
              <a:rPr lang="en-US" sz="2600"/>
              <a:t> the ability to </a:t>
            </a:r>
            <a:r>
              <a:rPr lang="en-US" sz="2600" b="1"/>
              <a:t>change the system </a:t>
            </a:r>
            <a:r>
              <a:rPr lang="en-US" sz="2600"/>
              <a:t>to deal with </a:t>
            </a:r>
            <a:r>
              <a:rPr lang="en-US" sz="2600" b="1"/>
              <a:t>additional international conventions</a:t>
            </a:r>
            <a:r>
              <a:rPr lang="en-US" sz="2600"/>
              <a:t>, such as languages, units, and number formats</a:t>
            </a:r>
            <a:endParaRPr sz="2600" b="1"/>
          </a:p>
          <a:p>
            <a:pPr marL="342900" lvl="0" indent="-342900" algn="just" rtl="0">
              <a:spcBef>
                <a:spcPts val="640"/>
              </a:spcBef>
              <a:spcAft>
                <a:spcPts val="0"/>
              </a:spcAft>
              <a:buClr>
                <a:schemeClr val="dk1"/>
              </a:buClr>
              <a:buSzPts val="3200"/>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Additional Non-functional Requirements</a:t>
            </a:r>
            <a:endParaRPr/>
          </a:p>
        </p:txBody>
      </p:sp>
      <p:sp>
        <p:nvSpPr>
          <p:cNvPr id="226" name="Google Shape;226;p37"/>
          <p:cNvSpPr txBox="1">
            <a:spLocks noGrp="1"/>
          </p:cNvSpPr>
          <p:nvPr>
            <p:ph type="body" idx="1"/>
          </p:nvPr>
        </p:nvSpPr>
        <p:spPr>
          <a:xfrm>
            <a:off x="457200" y="1600200"/>
            <a:ext cx="8229600" cy="5029200"/>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ts val="3200"/>
              <a:buChar char="•"/>
            </a:pPr>
            <a:r>
              <a:rPr lang="en-US" b="1"/>
              <a:t>Implementation requirements</a:t>
            </a:r>
            <a:endParaRPr/>
          </a:p>
          <a:p>
            <a:pPr marL="342900" lvl="0" indent="-342900" algn="just" rtl="0">
              <a:spcBef>
                <a:spcPts val="640"/>
              </a:spcBef>
              <a:spcAft>
                <a:spcPts val="0"/>
              </a:spcAft>
              <a:buClr>
                <a:schemeClr val="dk1"/>
              </a:buClr>
              <a:buSzPts val="3200"/>
              <a:buFont typeface="Noto Sans Symbols"/>
              <a:buChar char="✔"/>
            </a:pPr>
            <a:r>
              <a:rPr lang="en-US"/>
              <a:t>constraints on the </a:t>
            </a:r>
            <a:r>
              <a:rPr lang="en-US" b="1"/>
              <a:t>implementation</a:t>
            </a:r>
            <a:r>
              <a:rPr lang="en-US"/>
              <a:t> of the system.</a:t>
            </a:r>
            <a:endParaRPr/>
          </a:p>
          <a:p>
            <a:pPr marL="342900" lvl="0" indent="-342900" algn="just" rtl="0">
              <a:spcBef>
                <a:spcPts val="640"/>
              </a:spcBef>
              <a:spcAft>
                <a:spcPts val="0"/>
              </a:spcAft>
              <a:buClr>
                <a:schemeClr val="dk1"/>
              </a:buClr>
              <a:buSzPts val="3200"/>
              <a:buFont typeface="Noto Sans Symbols"/>
              <a:buChar char="✔"/>
            </a:pPr>
            <a:r>
              <a:rPr lang="en-US"/>
              <a:t>specific tools, programming languages, or hardware platforms.</a:t>
            </a:r>
            <a:endParaRPr/>
          </a:p>
          <a:p>
            <a:pPr marL="342900" lvl="0" indent="-139700" algn="just" rtl="0">
              <a:spcBef>
                <a:spcPts val="640"/>
              </a:spcBef>
              <a:spcAft>
                <a:spcPts val="0"/>
              </a:spcAft>
              <a:buClr>
                <a:schemeClr val="dk1"/>
              </a:buClr>
              <a:buSzPts val="3200"/>
              <a:buFont typeface="Noto Sans Symbols"/>
              <a:buNone/>
            </a:pPr>
            <a:endParaRPr/>
          </a:p>
          <a:p>
            <a:pPr marL="342900" lvl="0" indent="-342900" algn="just" rtl="0">
              <a:spcBef>
                <a:spcPts val="640"/>
              </a:spcBef>
              <a:spcAft>
                <a:spcPts val="0"/>
              </a:spcAft>
              <a:buClr>
                <a:schemeClr val="dk1"/>
              </a:buClr>
              <a:buSzPts val="3200"/>
              <a:buChar char="•"/>
            </a:pPr>
            <a:r>
              <a:rPr lang="en-US" b="1"/>
              <a:t>Interface requirements </a:t>
            </a:r>
            <a:endParaRPr/>
          </a:p>
          <a:p>
            <a:pPr marL="342900" lvl="0" indent="-342900" algn="just" rtl="0">
              <a:spcBef>
                <a:spcPts val="640"/>
              </a:spcBef>
              <a:spcAft>
                <a:spcPts val="0"/>
              </a:spcAft>
              <a:buClr>
                <a:schemeClr val="dk1"/>
              </a:buClr>
              <a:buSzPts val="3200"/>
              <a:buFont typeface="Noto Sans Symbols"/>
              <a:buChar char="✔"/>
            </a:pPr>
            <a:r>
              <a:rPr lang="en-US"/>
              <a:t>are constraints </a:t>
            </a:r>
            <a:r>
              <a:rPr lang="en-US" b="1"/>
              <a:t>imposed by external systems</a:t>
            </a:r>
            <a:endParaRPr/>
          </a:p>
          <a:p>
            <a:pPr marL="342900" lvl="0" indent="-342900" algn="just" rtl="0">
              <a:spcBef>
                <a:spcPts val="640"/>
              </a:spcBef>
              <a:spcAft>
                <a:spcPts val="0"/>
              </a:spcAft>
              <a:buClr>
                <a:schemeClr val="dk1"/>
              </a:buClr>
              <a:buSzPts val="3200"/>
              <a:buFont typeface="Noto Sans Symbols"/>
              <a:buChar char="✔"/>
            </a:pPr>
            <a:r>
              <a:rPr lang="en-US"/>
              <a:t>interchange formats</a:t>
            </a:r>
            <a:endParaRPr b="1"/>
          </a:p>
          <a:p>
            <a:pPr marL="342900" lvl="0" indent="-342900" algn="just" rtl="0">
              <a:spcBef>
                <a:spcPts val="640"/>
              </a:spcBef>
              <a:spcAft>
                <a:spcPts val="0"/>
              </a:spcAft>
              <a:buClr>
                <a:schemeClr val="dk1"/>
              </a:buClr>
              <a:buSzPts val="3200"/>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Requirements Characteristics</a:t>
            </a:r>
            <a:endParaRPr/>
          </a:p>
        </p:txBody>
      </p:sp>
      <p:sp>
        <p:nvSpPr>
          <p:cNvPr id="232" name="Google Shape;232;p4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Requirements are continuously validated with the client and the user.</a:t>
            </a:r>
            <a:endParaRPr/>
          </a:p>
          <a:p>
            <a:pPr marL="342900" lvl="0" indent="-139700" algn="l" rtl="0">
              <a:spcBef>
                <a:spcPts val="640"/>
              </a:spcBef>
              <a:spcAft>
                <a:spcPts val="0"/>
              </a:spcAft>
              <a:buClr>
                <a:schemeClr val="dk1"/>
              </a:buClr>
              <a:buSzPts val="3200"/>
              <a:buNone/>
            </a:pPr>
            <a:endParaRPr/>
          </a:p>
          <a:p>
            <a:pPr marL="342900" lvl="0" indent="-342900" algn="l" rtl="0">
              <a:spcBef>
                <a:spcPts val="640"/>
              </a:spcBef>
              <a:spcAft>
                <a:spcPts val="0"/>
              </a:spcAft>
              <a:buClr>
                <a:schemeClr val="dk1"/>
              </a:buClr>
              <a:buSzPts val="3200"/>
              <a:buChar char="•"/>
            </a:pPr>
            <a:r>
              <a:rPr lang="en-US"/>
              <a:t>Requirement validation involves checking that the specification is complete, consistent, unambiguous, and correct.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4"/>
          <p:cNvSpPr txBox="1">
            <a:spLocks noGrp="1"/>
          </p:cNvSpPr>
          <p:nvPr>
            <p:ph type="title"/>
          </p:nvPr>
        </p:nvSpPr>
        <p:spPr>
          <a:xfrm>
            <a:off x="457200" y="274638"/>
            <a:ext cx="8229600" cy="86836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Requirements Characteristics</a:t>
            </a:r>
            <a:endParaRPr/>
          </a:p>
        </p:txBody>
      </p:sp>
      <p:sp>
        <p:nvSpPr>
          <p:cNvPr id="238" name="Google Shape;238;p44"/>
          <p:cNvSpPr txBox="1">
            <a:spLocks noGrp="1"/>
          </p:cNvSpPr>
          <p:nvPr>
            <p:ph type="body" idx="1"/>
          </p:nvPr>
        </p:nvSpPr>
        <p:spPr>
          <a:xfrm>
            <a:off x="228600" y="1295400"/>
            <a:ext cx="8686800" cy="53340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None/>
            </a:pPr>
            <a:r>
              <a:rPr lang="en-US" b="1"/>
              <a:t>4. Correct: </a:t>
            </a:r>
            <a:r>
              <a:rPr lang="en-US"/>
              <a:t>represents accurately the system that the client needs and that the developers intend to build.</a:t>
            </a:r>
            <a:endParaRPr/>
          </a:p>
          <a:p>
            <a:pPr marL="342900" lvl="0" indent="-342900" algn="l" rtl="0">
              <a:spcBef>
                <a:spcPts val="640"/>
              </a:spcBef>
              <a:spcAft>
                <a:spcPts val="0"/>
              </a:spcAft>
              <a:buClr>
                <a:schemeClr val="dk1"/>
              </a:buClr>
              <a:buSzPts val="3200"/>
              <a:buNone/>
            </a:pPr>
            <a:endParaRPr/>
          </a:p>
          <a:p>
            <a:pPr marL="342900" lvl="0" indent="-342900" algn="just" rtl="0">
              <a:spcBef>
                <a:spcPts val="640"/>
              </a:spcBef>
              <a:spcAft>
                <a:spcPts val="0"/>
              </a:spcAft>
              <a:buClr>
                <a:schemeClr val="dk1"/>
              </a:buClr>
              <a:buSzPts val="3200"/>
              <a:buChar char="•"/>
            </a:pPr>
            <a:r>
              <a:rPr lang="en-US"/>
              <a:t>Correct—The requirements </a:t>
            </a:r>
            <a:r>
              <a:rPr lang="en-US" b="1"/>
              <a:t>describe the features of the system and environment of interest </a:t>
            </a:r>
            <a:r>
              <a:rPr lang="en-US"/>
              <a:t>to the client and the developer, but do </a:t>
            </a:r>
            <a:r>
              <a:rPr lang="en-US" b="1"/>
              <a:t>not describe other unintended features</a:t>
            </a:r>
            <a:r>
              <a:rPr lang="en-US"/>
              <a: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4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Use Case Diagrams</a:t>
            </a:r>
            <a:endParaRPr/>
          </a:p>
        </p:txBody>
      </p:sp>
      <p:sp>
        <p:nvSpPr>
          <p:cNvPr id="244" name="Google Shape;244;p47"/>
          <p:cNvSpPr txBox="1">
            <a:spLocks noGrp="1"/>
          </p:cNvSpPr>
          <p:nvPr>
            <p:ph type="body" idx="1"/>
          </p:nvPr>
        </p:nvSpPr>
        <p:spPr>
          <a:xfrm>
            <a:off x="457200" y="1600200"/>
            <a:ext cx="8229600" cy="5105400"/>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ts val="3200"/>
              <a:buChar char="•"/>
            </a:pPr>
            <a:r>
              <a:rPr lang="en-US" b="1"/>
              <a:t>Identifying Actors</a:t>
            </a:r>
            <a:endParaRPr/>
          </a:p>
          <a:p>
            <a:pPr marL="342900" lvl="0" indent="-342900" algn="l" rtl="0">
              <a:spcBef>
                <a:spcPts val="640"/>
              </a:spcBef>
              <a:spcAft>
                <a:spcPts val="0"/>
              </a:spcAft>
              <a:buClr>
                <a:schemeClr val="dk1"/>
              </a:buClr>
              <a:buSzPts val="3200"/>
              <a:buFont typeface="Noto Sans Symbols"/>
              <a:buChar char="✔"/>
            </a:pPr>
            <a:r>
              <a:rPr lang="en-US"/>
              <a:t>Actors </a:t>
            </a:r>
            <a:r>
              <a:rPr lang="en-US" b="1"/>
              <a:t>represent external entities </a:t>
            </a:r>
            <a:r>
              <a:rPr lang="en-US"/>
              <a:t>that interact with the system.</a:t>
            </a:r>
            <a:endParaRPr/>
          </a:p>
          <a:p>
            <a:pPr marL="342900" lvl="0" indent="-342900" algn="l" rtl="0">
              <a:spcBef>
                <a:spcPts val="640"/>
              </a:spcBef>
              <a:spcAft>
                <a:spcPts val="0"/>
              </a:spcAft>
              <a:buClr>
                <a:schemeClr val="dk1"/>
              </a:buClr>
              <a:buSzPts val="3200"/>
              <a:buFont typeface="Noto Sans Symbols"/>
              <a:buChar char="✔"/>
            </a:pPr>
            <a:r>
              <a:rPr lang="en-US"/>
              <a:t>An actor can be </a:t>
            </a:r>
            <a:r>
              <a:rPr lang="en-US" b="1"/>
              <a:t>human or an external system</a:t>
            </a:r>
            <a:r>
              <a:rPr lang="en-US"/>
              <a:t>.</a:t>
            </a:r>
            <a:endParaRPr/>
          </a:p>
          <a:p>
            <a:pPr marL="0" lvl="0" indent="0" algn="l" rtl="0">
              <a:spcBef>
                <a:spcPts val="640"/>
              </a:spcBef>
              <a:spcAft>
                <a:spcPts val="0"/>
              </a:spcAft>
              <a:buClr>
                <a:schemeClr val="dk1"/>
              </a:buClr>
              <a:buSzPts val="3200"/>
              <a:buNone/>
            </a:pPr>
            <a:endParaRPr/>
          </a:p>
          <a:p>
            <a:pPr marL="0" lvl="0" indent="0" algn="l" rtl="0">
              <a:spcBef>
                <a:spcPts val="640"/>
              </a:spcBef>
              <a:spcAft>
                <a:spcPts val="0"/>
              </a:spcAft>
              <a:buClr>
                <a:schemeClr val="dk1"/>
              </a:buClr>
              <a:buSzPts val="3200"/>
              <a:buNone/>
            </a:pPr>
            <a:endParaRPr/>
          </a:p>
          <a:p>
            <a:pPr marL="0" lvl="0" indent="0" algn="l" rtl="0">
              <a:spcBef>
                <a:spcPts val="640"/>
              </a:spcBef>
              <a:spcAft>
                <a:spcPts val="0"/>
              </a:spcAft>
              <a:buClr>
                <a:schemeClr val="dk1"/>
              </a:buClr>
              <a:buSzPts val="3200"/>
              <a:buNone/>
            </a:pPr>
            <a:endParaRPr/>
          </a:p>
          <a:p>
            <a:pPr marL="0" lvl="0" indent="0" algn="l" rtl="0">
              <a:spcBef>
                <a:spcPts val="640"/>
              </a:spcBef>
              <a:spcAft>
                <a:spcPts val="0"/>
              </a:spcAft>
              <a:buClr>
                <a:schemeClr val="dk1"/>
              </a:buClr>
              <a:buSzPts val="3200"/>
              <a:buNone/>
            </a:pPr>
            <a:r>
              <a:rPr lang="en-US"/>
              <a:t> </a:t>
            </a:r>
            <a:endParaRPr/>
          </a:p>
          <a:p>
            <a:pPr marL="0" lvl="0" indent="0" algn="l" rtl="0">
              <a:spcBef>
                <a:spcPts val="640"/>
              </a:spcBef>
              <a:spcAft>
                <a:spcPts val="0"/>
              </a:spcAft>
              <a:buClr>
                <a:schemeClr val="dk1"/>
              </a:buClr>
              <a:buSzPts val="3200"/>
              <a:buNone/>
            </a:pPr>
            <a:r>
              <a:rPr lang="en-US"/>
              <a:t>			        </a:t>
            </a:r>
            <a:r>
              <a:rPr lang="en-US" b="1"/>
              <a:t>Actor</a:t>
            </a:r>
            <a:endParaRPr/>
          </a:p>
        </p:txBody>
      </p:sp>
      <p:pic>
        <p:nvPicPr>
          <p:cNvPr id="245" name="Google Shape;245;p47"/>
          <p:cNvPicPr preferRelativeResize="0"/>
          <p:nvPr/>
        </p:nvPicPr>
        <p:blipFill rotWithShape="1">
          <a:blip r:embed="rId3">
            <a:alphaModFix/>
          </a:blip>
          <a:srcRect/>
          <a:stretch/>
        </p:blipFill>
        <p:spPr>
          <a:xfrm>
            <a:off x="3581401" y="4038600"/>
            <a:ext cx="1752600" cy="17526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8"/>
          <p:cNvSpPr txBox="1">
            <a:spLocks noGrp="1"/>
          </p:cNvSpPr>
          <p:nvPr>
            <p:ph type="title"/>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Use Case Diagrams</a:t>
            </a:r>
            <a:endParaRPr/>
          </a:p>
        </p:txBody>
      </p:sp>
      <p:sp>
        <p:nvSpPr>
          <p:cNvPr id="251" name="Google Shape;251;p48"/>
          <p:cNvSpPr txBox="1">
            <a:spLocks noGrp="1"/>
          </p:cNvSpPr>
          <p:nvPr>
            <p:ph type="body" idx="1"/>
          </p:nvPr>
        </p:nvSpPr>
        <p:spPr>
          <a:xfrm>
            <a:off x="457200" y="1066800"/>
            <a:ext cx="8229600" cy="54864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200"/>
              <a:buChar char="•"/>
            </a:pPr>
            <a:r>
              <a:rPr lang="en-US" sz="2200" b="1"/>
              <a:t>Give meaningful business relevant names for actors</a:t>
            </a:r>
            <a:r>
              <a:rPr lang="en-US" sz="2200"/>
              <a:t>.</a:t>
            </a:r>
            <a:endParaRPr/>
          </a:p>
          <a:p>
            <a:pPr marL="342900" lvl="0" indent="-203200" algn="l" rtl="0">
              <a:spcBef>
                <a:spcPts val="440"/>
              </a:spcBef>
              <a:spcAft>
                <a:spcPts val="0"/>
              </a:spcAft>
              <a:buClr>
                <a:schemeClr val="dk1"/>
              </a:buClr>
              <a:buSzPts val="2200"/>
              <a:buNone/>
            </a:pPr>
            <a:endParaRPr sz="2200"/>
          </a:p>
          <a:p>
            <a:pPr marL="342900" lvl="0" indent="-342900" algn="l" rtl="0">
              <a:spcBef>
                <a:spcPts val="440"/>
              </a:spcBef>
              <a:spcAft>
                <a:spcPts val="0"/>
              </a:spcAft>
              <a:buClr>
                <a:schemeClr val="dk1"/>
              </a:buClr>
              <a:buSzPts val="2200"/>
              <a:buChar char="•"/>
            </a:pPr>
            <a:r>
              <a:rPr lang="en-US" sz="2200" b="1"/>
              <a:t>Primary actors should be to the left side of the diagram</a:t>
            </a:r>
            <a:r>
              <a:rPr lang="en-US" sz="2200"/>
              <a:t> –highlight the important roles in the system.</a:t>
            </a:r>
            <a:endParaRPr/>
          </a:p>
          <a:p>
            <a:pPr marL="342900" lvl="0" indent="-203200" algn="l" rtl="0">
              <a:spcBef>
                <a:spcPts val="440"/>
              </a:spcBef>
              <a:spcAft>
                <a:spcPts val="0"/>
              </a:spcAft>
              <a:buClr>
                <a:schemeClr val="dk1"/>
              </a:buClr>
              <a:buSzPts val="2200"/>
              <a:buNone/>
            </a:pPr>
            <a:endParaRPr sz="2200"/>
          </a:p>
          <a:p>
            <a:pPr marL="342900" lvl="0" indent="-342900" algn="l" rtl="0">
              <a:spcBef>
                <a:spcPts val="440"/>
              </a:spcBef>
              <a:spcAft>
                <a:spcPts val="0"/>
              </a:spcAft>
              <a:buClr>
                <a:schemeClr val="dk1"/>
              </a:buClr>
              <a:buSzPts val="2200"/>
              <a:buChar char="•"/>
            </a:pPr>
            <a:r>
              <a:rPr lang="en-US" sz="2200" b="1"/>
              <a:t>Actors model roles (not positions)</a:t>
            </a:r>
            <a:r>
              <a:rPr lang="en-US" sz="2200"/>
              <a:t> – In a hotel both the front office executive and shift manager can make reservations. “Reservation Agent” actor name to highlight the role.</a:t>
            </a:r>
            <a:endParaRPr/>
          </a:p>
          <a:p>
            <a:pPr marL="342900" lvl="0" indent="-203200" algn="l" rtl="0">
              <a:spcBef>
                <a:spcPts val="440"/>
              </a:spcBef>
              <a:spcAft>
                <a:spcPts val="0"/>
              </a:spcAft>
              <a:buClr>
                <a:schemeClr val="dk1"/>
              </a:buClr>
              <a:buSzPts val="2200"/>
              <a:buNone/>
            </a:pPr>
            <a:endParaRPr sz="2200"/>
          </a:p>
          <a:p>
            <a:pPr marL="342900" lvl="0" indent="-342900" algn="l" rtl="0">
              <a:spcBef>
                <a:spcPts val="440"/>
              </a:spcBef>
              <a:spcAft>
                <a:spcPts val="0"/>
              </a:spcAft>
              <a:buClr>
                <a:schemeClr val="dk1"/>
              </a:buClr>
              <a:buSzPts val="2200"/>
              <a:buChar char="•"/>
            </a:pPr>
            <a:r>
              <a:rPr lang="en-US" sz="2200" b="1"/>
              <a:t>External systems are actors</a:t>
            </a:r>
            <a:r>
              <a:rPr lang="en-US" sz="2200"/>
              <a:t> – If your use case is send email and if interacts with the email management software then the software is an actor to that particular use case.</a:t>
            </a:r>
            <a:endParaRPr/>
          </a:p>
          <a:p>
            <a:pPr marL="342900" lvl="0" indent="-342900" algn="l" rtl="0">
              <a:spcBef>
                <a:spcPts val="440"/>
              </a:spcBef>
              <a:spcAft>
                <a:spcPts val="0"/>
              </a:spcAft>
              <a:buClr>
                <a:schemeClr val="dk1"/>
              </a:buClr>
              <a:buSzPts val="2200"/>
              <a:buChar char="•"/>
            </a:pPr>
            <a:r>
              <a:rPr lang="en-US" sz="2200" b="1"/>
              <a:t>Actors don’t interact with other actors</a:t>
            </a:r>
            <a:endParaRPr/>
          </a:p>
          <a:p>
            <a:pPr marL="342900" lvl="0" indent="-342900" algn="l" rtl="0">
              <a:spcBef>
                <a:spcPts val="440"/>
              </a:spcBef>
              <a:spcAft>
                <a:spcPts val="0"/>
              </a:spcAft>
              <a:buClr>
                <a:schemeClr val="dk1"/>
              </a:buClr>
              <a:buSzPts val="2200"/>
              <a:buChar char="•"/>
            </a:pPr>
            <a:r>
              <a:rPr lang="en-US" sz="2200" b="1"/>
              <a:t>Place inheriting actors below the parent actor</a:t>
            </a:r>
            <a:endParaRPr sz="22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pic>
        <p:nvPicPr>
          <p:cNvPr id="256" name="Google Shape;256;p49"/>
          <p:cNvPicPr preferRelativeResize="0"/>
          <p:nvPr/>
        </p:nvPicPr>
        <p:blipFill rotWithShape="1">
          <a:blip r:embed="rId3">
            <a:alphaModFix/>
          </a:blip>
          <a:srcRect/>
          <a:stretch/>
        </p:blipFill>
        <p:spPr>
          <a:xfrm>
            <a:off x="533400" y="228600"/>
            <a:ext cx="8153400" cy="63246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50"/>
          <p:cNvSpPr txBox="1">
            <a:spLocks noGrp="1"/>
          </p:cNvSpPr>
          <p:nvPr>
            <p:ph type="title"/>
          </p:nvPr>
        </p:nvSpPr>
        <p:spPr>
          <a:xfrm>
            <a:off x="457200" y="274638"/>
            <a:ext cx="8229600" cy="79216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Use Case Diagram</a:t>
            </a:r>
            <a:endParaRPr/>
          </a:p>
        </p:txBody>
      </p:sp>
      <p:sp>
        <p:nvSpPr>
          <p:cNvPr id="262" name="Google Shape;262;p50"/>
          <p:cNvSpPr txBox="1">
            <a:spLocks noGrp="1"/>
          </p:cNvSpPr>
          <p:nvPr>
            <p:ph type="body" idx="1"/>
          </p:nvPr>
        </p:nvSpPr>
        <p:spPr>
          <a:xfrm>
            <a:off x="152400" y="1219200"/>
            <a:ext cx="8915400" cy="55626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Char char="•"/>
            </a:pPr>
            <a:r>
              <a:rPr lang="en-US"/>
              <a:t>Once the </a:t>
            </a:r>
            <a:r>
              <a:rPr lang="en-US" b="1"/>
              <a:t>actors are identified</a:t>
            </a:r>
            <a:r>
              <a:rPr lang="en-US"/>
              <a:t>, the next step in the requirements elicitation activity is to </a:t>
            </a:r>
            <a:r>
              <a:rPr lang="en-US" b="1"/>
              <a:t>determine the functionality that will be accessible to each actor</a:t>
            </a:r>
            <a:r>
              <a:rPr lang="en-US"/>
              <a:t>.</a:t>
            </a:r>
            <a:endParaRPr/>
          </a:p>
          <a:p>
            <a:pPr marL="342900" lvl="0" indent="-139700" algn="just" rtl="0">
              <a:spcBef>
                <a:spcPts val="640"/>
              </a:spcBef>
              <a:spcAft>
                <a:spcPts val="0"/>
              </a:spcAft>
              <a:buClr>
                <a:schemeClr val="dk1"/>
              </a:buClr>
              <a:buSzPts val="3200"/>
              <a:buNone/>
            </a:pPr>
            <a:endParaRPr b="1"/>
          </a:p>
          <a:p>
            <a:pPr marL="342900" lvl="0" indent="-342900" algn="just" rtl="0">
              <a:spcBef>
                <a:spcPts val="640"/>
              </a:spcBef>
              <a:spcAft>
                <a:spcPts val="0"/>
              </a:spcAft>
              <a:buClr>
                <a:schemeClr val="dk1"/>
              </a:buClr>
              <a:buSzPts val="3200"/>
              <a:buChar char="•"/>
            </a:pPr>
            <a:r>
              <a:rPr lang="en-US" b="1"/>
              <a:t>Use cases are external (user) view of a system</a:t>
            </a:r>
            <a:endParaRPr/>
          </a:p>
          <a:p>
            <a:pPr marL="342900" lvl="0" indent="-139700" algn="just" rtl="0">
              <a:spcBef>
                <a:spcPts val="640"/>
              </a:spcBef>
              <a:spcAft>
                <a:spcPts val="0"/>
              </a:spcAft>
              <a:buClr>
                <a:schemeClr val="dk1"/>
              </a:buClr>
              <a:buSzPts val="3200"/>
              <a:buNone/>
            </a:pPr>
            <a:endParaRPr b="1"/>
          </a:p>
          <a:p>
            <a:pPr marL="342900" lvl="0" indent="-342900" algn="just" rtl="0">
              <a:spcBef>
                <a:spcPts val="640"/>
              </a:spcBef>
              <a:spcAft>
                <a:spcPts val="0"/>
              </a:spcAft>
              <a:buClr>
                <a:schemeClr val="dk1"/>
              </a:buClr>
              <a:buSzPts val="3200"/>
              <a:buChar char="•"/>
            </a:pPr>
            <a:r>
              <a:rPr lang="en-US" b="1"/>
              <a:t>Intended for modeling dialogue between user and system</a:t>
            </a:r>
            <a:endParaRPr b="1"/>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5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Use Case Diagram</a:t>
            </a:r>
            <a:endParaRPr/>
          </a:p>
        </p:txBody>
      </p:sp>
      <p:sp>
        <p:nvSpPr>
          <p:cNvPr id="268" name="Google Shape;268;p51"/>
          <p:cNvSpPr txBox="1">
            <a:spLocks noGrp="1"/>
          </p:cNvSpPr>
          <p:nvPr>
            <p:ph type="body" idx="1"/>
          </p:nvPr>
        </p:nvSpPr>
        <p:spPr>
          <a:xfrm>
            <a:off x="152400" y="1295400"/>
            <a:ext cx="8839200" cy="5486400"/>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Char char="•"/>
            </a:pPr>
            <a:r>
              <a:rPr lang="en-US" b="1"/>
              <a:t>Identifying Scenarios</a:t>
            </a:r>
            <a:endParaRPr/>
          </a:p>
          <a:p>
            <a:pPr marL="342900" lvl="0" indent="-342900" algn="just" rtl="0">
              <a:spcBef>
                <a:spcPts val="592"/>
              </a:spcBef>
              <a:spcAft>
                <a:spcPts val="0"/>
              </a:spcAft>
              <a:buClr>
                <a:schemeClr val="dk1"/>
              </a:buClr>
              <a:buSzPct val="100000"/>
              <a:buChar char="•"/>
            </a:pPr>
            <a:r>
              <a:rPr lang="en-US"/>
              <a:t>A scenario is a </a:t>
            </a:r>
            <a:r>
              <a:rPr lang="en-US" b="1"/>
              <a:t>narrative description </a:t>
            </a:r>
            <a:r>
              <a:rPr lang="en-US"/>
              <a:t>of what people do and experience as they try to make use of computer systems and applications.</a:t>
            </a:r>
            <a:endParaRPr/>
          </a:p>
          <a:p>
            <a:pPr marL="342900" lvl="0" indent="-154940" algn="just" rtl="0">
              <a:spcBef>
                <a:spcPts val="592"/>
              </a:spcBef>
              <a:spcAft>
                <a:spcPts val="0"/>
              </a:spcAft>
              <a:buClr>
                <a:schemeClr val="dk1"/>
              </a:buClr>
              <a:buSzPct val="100000"/>
              <a:buNone/>
            </a:pPr>
            <a:endParaRPr/>
          </a:p>
          <a:p>
            <a:pPr marL="342900" lvl="0" indent="-342900" algn="just" rtl="0">
              <a:spcBef>
                <a:spcPts val="592"/>
              </a:spcBef>
              <a:spcAft>
                <a:spcPts val="0"/>
              </a:spcAft>
              <a:buClr>
                <a:schemeClr val="dk1"/>
              </a:buClr>
              <a:buSzPct val="100000"/>
              <a:buChar char="•"/>
            </a:pPr>
            <a:r>
              <a:rPr lang="en-US"/>
              <a:t>Scenario is </a:t>
            </a:r>
            <a:r>
              <a:rPr lang="en-US" b="1"/>
              <a:t>description</a:t>
            </a:r>
            <a:r>
              <a:rPr lang="en-US"/>
              <a:t> of the system from </a:t>
            </a:r>
            <a:r>
              <a:rPr lang="en-US" b="1"/>
              <a:t>single actor’s</a:t>
            </a:r>
            <a:r>
              <a:rPr lang="en-US"/>
              <a:t> or user’s </a:t>
            </a:r>
            <a:r>
              <a:rPr lang="en-US" b="1"/>
              <a:t>point of view.</a:t>
            </a:r>
            <a:endParaRPr/>
          </a:p>
          <a:p>
            <a:pPr marL="342900" lvl="0" indent="-154940" algn="just" rtl="0">
              <a:spcBef>
                <a:spcPts val="592"/>
              </a:spcBef>
              <a:spcAft>
                <a:spcPts val="0"/>
              </a:spcAft>
              <a:buClr>
                <a:schemeClr val="dk1"/>
              </a:buClr>
              <a:buSzPct val="100000"/>
              <a:buNone/>
            </a:pPr>
            <a:endParaRPr b="1"/>
          </a:p>
          <a:p>
            <a:pPr marL="342900" lvl="0" indent="-342900" algn="just" rtl="0">
              <a:spcBef>
                <a:spcPts val="592"/>
              </a:spcBef>
              <a:spcAft>
                <a:spcPts val="0"/>
              </a:spcAft>
              <a:buClr>
                <a:schemeClr val="dk1"/>
              </a:buClr>
              <a:buSzPct val="100000"/>
              <a:buChar char="•"/>
            </a:pPr>
            <a:r>
              <a:rPr lang="en-US"/>
              <a:t>Scenarios may be </a:t>
            </a:r>
            <a:r>
              <a:rPr lang="en-US" b="1"/>
              <a:t>defined for current , future , evaluation or training phases</a:t>
            </a:r>
            <a:r>
              <a:rPr lang="en-US"/>
              <a:t> of the software development process.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52"/>
          <p:cNvSpPr txBox="1">
            <a:spLocks noGrp="1"/>
          </p:cNvSpPr>
          <p:nvPr>
            <p:ph type="title"/>
          </p:nvPr>
        </p:nvSpPr>
        <p:spPr>
          <a:xfrm>
            <a:off x="457200" y="274638"/>
            <a:ext cx="8229600" cy="79216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Use Case Diagram</a:t>
            </a:r>
            <a:endParaRPr/>
          </a:p>
        </p:txBody>
      </p:sp>
      <p:sp>
        <p:nvSpPr>
          <p:cNvPr id="274" name="Google Shape;274;p52"/>
          <p:cNvSpPr txBox="1">
            <a:spLocks noGrp="1"/>
          </p:cNvSpPr>
          <p:nvPr>
            <p:ph type="body" idx="1"/>
          </p:nvPr>
        </p:nvSpPr>
        <p:spPr>
          <a:xfrm>
            <a:off x="457200" y="1219200"/>
            <a:ext cx="8229600" cy="5334000"/>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Char char="•"/>
            </a:pPr>
            <a:r>
              <a:rPr lang="en-US" b="1"/>
              <a:t>Identifying Use Cases</a:t>
            </a:r>
            <a:endParaRPr/>
          </a:p>
          <a:p>
            <a:pPr marL="342900" lvl="0" indent="-342900" algn="just" rtl="0">
              <a:spcBef>
                <a:spcPts val="592"/>
              </a:spcBef>
              <a:spcAft>
                <a:spcPts val="0"/>
              </a:spcAft>
              <a:buClr>
                <a:schemeClr val="dk1"/>
              </a:buClr>
              <a:buSzPct val="100000"/>
              <a:buFont typeface="Noto Sans Symbols"/>
              <a:buChar char="✔"/>
            </a:pPr>
            <a:r>
              <a:rPr lang="en-US"/>
              <a:t>Use cases represent what the actors want your system to do for them.</a:t>
            </a:r>
            <a:endParaRPr/>
          </a:p>
          <a:p>
            <a:pPr marL="342900" lvl="0" indent="-154940" algn="just" rtl="0">
              <a:spcBef>
                <a:spcPts val="592"/>
              </a:spcBef>
              <a:spcAft>
                <a:spcPts val="0"/>
              </a:spcAft>
              <a:buClr>
                <a:schemeClr val="dk1"/>
              </a:buClr>
              <a:buSzPct val="100000"/>
              <a:buFont typeface="Noto Sans Symbols"/>
              <a:buNone/>
            </a:pPr>
            <a:endParaRPr/>
          </a:p>
          <a:p>
            <a:pPr marL="342900" lvl="0" indent="-342900" algn="just" rtl="0">
              <a:spcBef>
                <a:spcPts val="592"/>
              </a:spcBef>
              <a:spcAft>
                <a:spcPts val="0"/>
              </a:spcAft>
              <a:buClr>
                <a:schemeClr val="dk1"/>
              </a:buClr>
              <a:buSzPct val="100000"/>
              <a:buFont typeface="Noto Sans Symbols"/>
              <a:buChar char="✔"/>
            </a:pPr>
            <a:r>
              <a:rPr lang="en-US"/>
              <a:t>A use case represents a complete flow of events through the system.</a:t>
            </a:r>
            <a:endParaRPr/>
          </a:p>
          <a:p>
            <a:pPr marL="342900" lvl="0" indent="-154940" algn="just" rtl="0">
              <a:spcBef>
                <a:spcPts val="592"/>
              </a:spcBef>
              <a:spcAft>
                <a:spcPts val="0"/>
              </a:spcAft>
              <a:buClr>
                <a:schemeClr val="dk1"/>
              </a:buClr>
              <a:buSzPct val="100000"/>
              <a:buFont typeface="Noto Sans Symbols"/>
              <a:buNone/>
            </a:pPr>
            <a:endParaRPr/>
          </a:p>
          <a:p>
            <a:pPr marL="342900" lvl="0" indent="-342900" algn="just" rtl="0">
              <a:spcBef>
                <a:spcPts val="592"/>
              </a:spcBef>
              <a:spcAft>
                <a:spcPts val="0"/>
              </a:spcAft>
              <a:buClr>
                <a:schemeClr val="dk1"/>
              </a:buClr>
              <a:buSzPct val="100000"/>
              <a:buFont typeface="Noto Sans Symbols"/>
              <a:buChar char="✔"/>
            </a:pPr>
            <a:r>
              <a:rPr lang="en-US"/>
              <a:t>A Use Case captures some actor-visible function</a:t>
            </a:r>
            <a:endParaRPr/>
          </a:p>
          <a:p>
            <a:pPr marL="0" lvl="0" indent="0" algn="just" rtl="0">
              <a:spcBef>
                <a:spcPts val="592"/>
              </a:spcBef>
              <a:spcAft>
                <a:spcPts val="0"/>
              </a:spcAft>
              <a:buClr>
                <a:schemeClr val="dk1"/>
              </a:buClr>
              <a:buSzPct val="100000"/>
              <a:buNone/>
            </a:pPr>
            <a:r>
              <a:rPr lang="en-US"/>
              <a:t> - Achieves some discrete (business-level) goal for that actor </a:t>
            </a:r>
            <a:endParaRPr/>
          </a:p>
          <a:p>
            <a:pPr marL="0" lvl="0" indent="0" algn="just" rtl="0">
              <a:spcBef>
                <a:spcPts val="592"/>
              </a:spcBef>
              <a:spcAft>
                <a:spcPts val="0"/>
              </a:spcAft>
              <a:buClr>
                <a:schemeClr val="dk1"/>
              </a:buClr>
              <a:buSzPct val="100000"/>
              <a:buNone/>
            </a:pPr>
            <a:r>
              <a:rPr lang="en-US"/>
              <a:t>- May be read, write, or read-modify-write in nature </a:t>
            </a:r>
            <a:endParaRPr/>
          </a:p>
          <a:p>
            <a:pPr marL="342900" lvl="0" indent="-154940" algn="l" rtl="0">
              <a:spcBef>
                <a:spcPts val="592"/>
              </a:spcBef>
              <a:spcAft>
                <a:spcPts val="0"/>
              </a:spcAft>
              <a:buClr>
                <a:schemeClr val="dk1"/>
              </a:buClr>
              <a:buSzPct val="100000"/>
              <a:buFont typeface="Noto Sans Symbols"/>
              <a:buNone/>
            </a:pPr>
            <a:endParaRPr/>
          </a:p>
          <a:p>
            <a:pPr marL="0" lvl="0" indent="0" algn="l" rtl="0">
              <a:spcBef>
                <a:spcPts val="592"/>
              </a:spcBef>
              <a:spcAft>
                <a:spcPts val="0"/>
              </a:spcAft>
              <a:buClr>
                <a:schemeClr val="dk1"/>
              </a:buClr>
              <a:buSzPct val="100000"/>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pic>
        <p:nvPicPr>
          <p:cNvPr id="279" name="Google Shape;279;p54" descr="guidelines to follow when drawing use cases in use case diagrams"/>
          <p:cNvPicPr preferRelativeResize="0"/>
          <p:nvPr/>
        </p:nvPicPr>
        <p:blipFill rotWithShape="1">
          <a:blip r:embed="rId3">
            <a:alphaModFix/>
          </a:blip>
          <a:srcRect/>
          <a:stretch/>
        </p:blipFill>
        <p:spPr>
          <a:xfrm>
            <a:off x="609600" y="457200"/>
            <a:ext cx="8077200" cy="60960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5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Elements of use case diagram: Actor</a:t>
            </a:r>
            <a:endParaRPr/>
          </a:p>
        </p:txBody>
      </p:sp>
      <p:sp>
        <p:nvSpPr>
          <p:cNvPr id="285" name="Google Shape;285;p55"/>
          <p:cNvSpPr txBox="1">
            <a:spLocks noGrp="1"/>
          </p:cNvSpPr>
          <p:nvPr>
            <p:ph type="body" idx="1"/>
          </p:nvPr>
        </p:nvSpPr>
        <p:spPr>
          <a:xfrm>
            <a:off x="457200" y="1600200"/>
            <a:ext cx="8229600" cy="51816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a:t>Actor</a:t>
            </a:r>
            <a:endParaRPr/>
          </a:p>
          <a:p>
            <a:pPr marL="342900" lvl="0" indent="-139700" algn="l" rtl="0">
              <a:spcBef>
                <a:spcPts val="640"/>
              </a:spcBef>
              <a:spcAft>
                <a:spcPts val="0"/>
              </a:spcAft>
              <a:buClr>
                <a:schemeClr val="dk1"/>
              </a:buClr>
              <a:buSzPts val="3200"/>
              <a:buNone/>
            </a:pPr>
            <a:endParaRPr/>
          </a:p>
          <a:p>
            <a:pPr marL="342900" lvl="0" indent="-139700" algn="l" rtl="0">
              <a:spcBef>
                <a:spcPts val="640"/>
              </a:spcBef>
              <a:spcAft>
                <a:spcPts val="0"/>
              </a:spcAft>
              <a:buClr>
                <a:schemeClr val="dk1"/>
              </a:buClr>
              <a:buSzPts val="3200"/>
              <a:buNone/>
            </a:pPr>
            <a:endParaRPr/>
          </a:p>
          <a:p>
            <a:pPr marL="0" lvl="0" indent="0" algn="l" rtl="0">
              <a:spcBef>
                <a:spcPts val="640"/>
              </a:spcBef>
              <a:spcAft>
                <a:spcPts val="0"/>
              </a:spcAft>
              <a:buClr>
                <a:schemeClr val="dk1"/>
              </a:buClr>
              <a:buSzPts val="3200"/>
              <a:buNone/>
            </a:pPr>
            <a:r>
              <a:rPr lang="en-US"/>
              <a:t>                                      </a:t>
            </a:r>
            <a:endParaRPr/>
          </a:p>
        </p:txBody>
      </p:sp>
      <p:pic>
        <p:nvPicPr>
          <p:cNvPr id="286" name="Google Shape;286;p55"/>
          <p:cNvPicPr preferRelativeResize="0"/>
          <p:nvPr/>
        </p:nvPicPr>
        <p:blipFill rotWithShape="1">
          <a:blip r:embed="rId3">
            <a:alphaModFix/>
          </a:blip>
          <a:srcRect/>
          <a:stretch/>
        </p:blipFill>
        <p:spPr>
          <a:xfrm>
            <a:off x="3314700" y="2971800"/>
            <a:ext cx="1752600" cy="17526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5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Elements of use case diagram: Use Case</a:t>
            </a:r>
            <a:endParaRPr/>
          </a:p>
        </p:txBody>
      </p:sp>
      <p:sp>
        <p:nvSpPr>
          <p:cNvPr id="292" name="Google Shape;292;p5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System function (process – automated or manual).</a:t>
            </a:r>
            <a:endParaRPr/>
          </a:p>
          <a:p>
            <a:pPr marL="0" lvl="0" indent="0" algn="l" rtl="0">
              <a:spcBef>
                <a:spcPts val="640"/>
              </a:spcBef>
              <a:spcAft>
                <a:spcPts val="0"/>
              </a:spcAft>
              <a:buClr>
                <a:schemeClr val="dk1"/>
              </a:buClr>
              <a:buSzPts val="3200"/>
              <a:buNone/>
            </a:pPr>
            <a:endParaRPr/>
          </a:p>
          <a:p>
            <a:pPr marL="0" lvl="0" indent="0" algn="l" rtl="0">
              <a:spcBef>
                <a:spcPts val="640"/>
              </a:spcBef>
              <a:spcAft>
                <a:spcPts val="0"/>
              </a:spcAft>
              <a:buClr>
                <a:schemeClr val="dk1"/>
              </a:buClr>
              <a:buSzPts val="3200"/>
              <a:buNone/>
            </a:pPr>
            <a:endParaRPr/>
          </a:p>
          <a:p>
            <a:pPr marL="0" lvl="0" indent="0" algn="l" rtl="0">
              <a:spcBef>
                <a:spcPts val="640"/>
              </a:spcBef>
              <a:spcAft>
                <a:spcPts val="0"/>
              </a:spcAft>
              <a:buClr>
                <a:schemeClr val="dk1"/>
              </a:buClr>
              <a:buSzPts val="3200"/>
              <a:buNone/>
            </a:pPr>
            <a:endParaRPr/>
          </a:p>
          <a:p>
            <a:pPr marL="0" lvl="0" indent="0" algn="l" rtl="0">
              <a:spcBef>
                <a:spcPts val="640"/>
              </a:spcBef>
              <a:spcAft>
                <a:spcPts val="0"/>
              </a:spcAft>
              <a:buClr>
                <a:schemeClr val="dk1"/>
              </a:buClr>
              <a:buSzPts val="3200"/>
              <a:buNone/>
            </a:pPr>
            <a:r>
              <a:rPr lang="en-US"/>
              <a:t>  </a:t>
            </a:r>
            <a:endParaRPr/>
          </a:p>
          <a:p>
            <a:pPr marL="0" lvl="0" indent="0" algn="l" rtl="0">
              <a:spcBef>
                <a:spcPts val="640"/>
              </a:spcBef>
              <a:spcAft>
                <a:spcPts val="0"/>
              </a:spcAft>
              <a:buClr>
                <a:schemeClr val="dk1"/>
              </a:buClr>
              <a:buSzPts val="3200"/>
              <a:buNone/>
            </a:pPr>
            <a:r>
              <a:rPr lang="en-US"/>
              <a:t>                                    Use Case</a:t>
            </a:r>
            <a:endParaRPr/>
          </a:p>
        </p:txBody>
      </p:sp>
      <p:sp>
        <p:nvSpPr>
          <p:cNvPr id="293" name="Google Shape;293;p56"/>
          <p:cNvSpPr/>
          <p:nvPr/>
        </p:nvSpPr>
        <p:spPr>
          <a:xfrm>
            <a:off x="3048000" y="3581400"/>
            <a:ext cx="3200400" cy="11430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Calibri"/>
                <a:ea typeface="Calibri"/>
                <a:cs typeface="Calibri"/>
                <a:sym typeface="Calibri"/>
              </a:rPr>
              <a:t>Do Something  (Operation)</a:t>
            </a: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5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Elements of use case diagram</a:t>
            </a:r>
            <a:endParaRPr/>
          </a:p>
        </p:txBody>
      </p:sp>
      <p:pic>
        <p:nvPicPr>
          <p:cNvPr id="299" name="Google Shape;299;p57"/>
          <p:cNvPicPr preferRelativeResize="0">
            <a:picLocks noGrp="1"/>
          </p:cNvPicPr>
          <p:nvPr>
            <p:ph type="body" idx="1"/>
          </p:nvPr>
        </p:nvPicPr>
        <p:blipFill rotWithShape="1">
          <a:blip r:embed="rId3">
            <a:alphaModFix/>
          </a:blip>
          <a:srcRect/>
          <a:stretch/>
        </p:blipFill>
        <p:spPr>
          <a:xfrm>
            <a:off x="609600" y="1828800"/>
            <a:ext cx="8305800" cy="44958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5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There can be 5 relationship types in a use case diagram.</a:t>
            </a:r>
            <a:endParaRPr/>
          </a:p>
        </p:txBody>
      </p:sp>
      <p:sp>
        <p:nvSpPr>
          <p:cNvPr id="305" name="Google Shape;305;p5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Association between actor and use case</a:t>
            </a:r>
            <a:endParaRPr/>
          </a:p>
          <a:p>
            <a:pPr marL="342900" lvl="0" indent="-342900" algn="l" rtl="0">
              <a:spcBef>
                <a:spcPts val="640"/>
              </a:spcBef>
              <a:spcAft>
                <a:spcPts val="0"/>
              </a:spcAft>
              <a:buClr>
                <a:schemeClr val="dk1"/>
              </a:buClr>
              <a:buSzPts val="3200"/>
              <a:buChar char="•"/>
            </a:pPr>
            <a:r>
              <a:rPr lang="en-US"/>
              <a:t>Generalization of an actor</a:t>
            </a:r>
            <a:endParaRPr/>
          </a:p>
          <a:p>
            <a:pPr marL="342900" lvl="0" indent="-342900" algn="l" rtl="0">
              <a:spcBef>
                <a:spcPts val="640"/>
              </a:spcBef>
              <a:spcAft>
                <a:spcPts val="0"/>
              </a:spcAft>
              <a:buClr>
                <a:schemeClr val="dk1"/>
              </a:buClr>
              <a:buSzPts val="3200"/>
              <a:buChar char="•"/>
            </a:pPr>
            <a:r>
              <a:rPr lang="en-US"/>
              <a:t>Extend between two use cases</a:t>
            </a:r>
            <a:endParaRPr/>
          </a:p>
          <a:p>
            <a:pPr marL="342900" lvl="0" indent="-342900" algn="l" rtl="0">
              <a:spcBef>
                <a:spcPts val="640"/>
              </a:spcBef>
              <a:spcAft>
                <a:spcPts val="0"/>
              </a:spcAft>
              <a:buClr>
                <a:schemeClr val="dk1"/>
              </a:buClr>
              <a:buSzPts val="3200"/>
              <a:buChar char="•"/>
            </a:pPr>
            <a:r>
              <a:rPr lang="en-US"/>
              <a:t>Include between two use cases</a:t>
            </a:r>
            <a:endParaRPr/>
          </a:p>
          <a:p>
            <a:pPr marL="342900" lvl="0" indent="-342900" algn="l" rtl="0">
              <a:spcBef>
                <a:spcPts val="640"/>
              </a:spcBef>
              <a:spcAft>
                <a:spcPts val="0"/>
              </a:spcAft>
              <a:buClr>
                <a:schemeClr val="dk1"/>
              </a:buClr>
              <a:buSzPts val="3200"/>
              <a:buChar char="•"/>
            </a:pPr>
            <a:r>
              <a:rPr lang="en-US"/>
              <a:t>Generalization of a use case</a:t>
            </a:r>
            <a:endParaRPr/>
          </a:p>
          <a:p>
            <a:pPr marL="0" lvl="0" indent="0" algn="l" rtl="0">
              <a:spcBef>
                <a:spcPts val="640"/>
              </a:spcBef>
              <a:spcAft>
                <a:spcPts val="0"/>
              </a:spcAft>
              <a:buClr>
                <a:schemeClr val="dk1"/>
              </a:buClr>
              <a:buSzPts val="3200"/>
              <a:buNone/>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
            </a:r>
            <a:br>
              <a:rPr lang="en-US"/>
            </a:br>
            <a:r>
              <a:rPr lang="en-US"/>
              <a:t>Association Between Actor and Use Case</a:t>
            </a:r>
            <a:br>
              <a:rPr lang="en-US"/>
            </a:br>
            <a:endParaRPr/>
          </a:p>
        </p:txBody>
      </p:sp>
      <p:sp>
        <p:nvSpPr>
          <p:cNvPr id="311" name="Google Shape;311;p59"/>
          <p:cNvSpPr txBox="1">
            <a:spLocks noGrp="1"/>
          </p:cNvSpPr>
          <p:nvPr>
            <p:ph type="body" idx="1"/>
          </p:nvPr>
        </p:nvSpPr>
        <p:spPr>
          <a:xfrm>
            <a:off x="457200" y="1600200"/>
            <a:ext cx="8229600" cy="50292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This one is straightforward and present in every use case diagram.</a:t>
            </a:r>
            <a:endParaRPr/>
          </a:p>
          <a:p>
            <a:pPr marL="0" lvl="0" indent="0" algn="l" rtl="0">
              <a:spcBef>
                <a:spcPts val="640"/>
              </a:spcBef>
              <a:spcAft>
                <a:spcPts val="0"/>
              </a:spcAft>
              <a:buClr>
                <a:schemeClr val="dk1"/>
              </a:buClr>
              <a:buSzPts val="3200"/>
              <a:buNone/>
            </a:pPr>
            <a:endParaRPr/>
          </a:p>
          <a:p>
            <a:pPr marL="342900" lvl="0" indent="-342900" algn="l" rtl="0">
              <a:spcBef>
                <a:spcPts val="640"/>
              </a:spcBef>
              <a:spcAft>
                <a:spcPts val="0"/>
              </a:spcAft>
              <a:buClr>
                <a:schemeClr val="dk1"/>
              </a:buClr>
              <a:buSzPts val="3200"/>
              <a:buFont typeface="Noto Sans Symbols"/>
              <a:buChar char="✔"/>
            </a:pPr>
            <a:r>
              <a:rPr lang="en-US"/>
              <a:t>An actor must be </a:t>
            </a:r>
            <a:r>
              <a:rPr lang="en-US" b="1"/>
              <a:t>associated with at least one use case.</a:t>
            </a:r>
            <a:endParaRPr/>
          </a:p>
          <a:p>
            <a:pPr marL="342900" lvl="0" indent="-342900" algn="l" rtl="0">
              <a:spcBef>
                <a:spcPts val="640"/>
              </a:spcBef>
              <a:spcAft>
                <a:spcPts val="0"/>
              </a:spcAft>
              <a:buClr>
                <a:schemeClr val="dk1"/>
              </a:buClr>
              <a:buSzPts val="3200"/>
              <a:buFont typeface="Noto Sans Symbols"/>
              <a:buChar char="✔"/>
            </a:pPr>
            <a:r>
              <a:rPr lang="en-US"/>
              <a:t>An actor can be </a:t>
            </a:r>
            <a:r>
              <a:rPr lang="en-US" b="1"/>
              <a:t>associated with multiple use cases.</a:t>
            </a:r>
            <a:endParaRPr/>
          </a:p>
          <a:p>
            <a:pPr marL="342900" lvl="0" indent="-342900" algn="l" rtl="0">
              <a:spcBef>
                <a:spcPts val="640"/>
              </a:spcBef>
              <a:spcAft>
                <a:spcPts val="0"/>
              </a:spcAft>
              <a:buClr>
                <a:schemeClr val="dk1"/>
              </a:buClr>
              <a:buSzPts val="3200"/>
              <a:buFont typeface="Noto Sans Symbols"/>
              <a:buChar char="✔"/>
            </a:pPr>
            <a:r>
              <a:rPr lang="en-US" b="1"/>
              <a:t>Multiple</a:t>
            </a:r>
            <a:r>
              <a:rPr lang="en-US"/>
              <a:t> actors can be </a:t>
            </a:r>
            <a:r>
              <a:rPr lang="en-US" b="1"/>
              <a:t>associated with a single use case.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6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
            </a:r>
            <a:br>
              <a:rPr lang="en-US"/>
            </a:br>
            <a:r>
              <a:rPr lang="en-US"/>
              <a:t>Association Between Actor and Use Case</a:t>
            </a:r>
            <a:br>
              <a:rPr lang="en-US"/>
            </a:br>
            <a:endParaRPr/>
          </a:p>
        </p:txBody>
      </p:sp>
      <p:pic>
        <p:nvPicPr>
          <p:cNvPr id="317" name="Google Shape;317;p60"/>
          <p:cNvPicPr preferRelativeResize="0">
            <a:picLocks noGrp="1"/>
          </p:cNvPicPr>
          <p:nvPr>
            <p:ph type="body" idx="1"/>
          </p:nvPr>
        </p:nvPicPr>
        <p:blipFill rotWithShape="1">
          <a:blip r:embed="rId3">
            <a:alphaModFix/>
          </a:blip>
          <a:srcRect/>
          <a:stretch/>
        </p:blipFill>
        <p:spPr>
          <a:xfrm>
            <a:off x="1066800" y="2286000"/>
            <a:ext cx="7239000" cy="31242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61"/>
          <p:cNvSpPr txBox="1">
            <a:spLocks noGrp="1"/>
          </p:cNvSpPr>
          <p:nvPr>
            <p:ph type="title"/>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
            </a:r>
            <a:br>
              <a:rPr lang="en-US"/>
            </a:br>
            <a:r>
              <a:rPr lang="en-US"/>
              <a:t>Generalization of an Actor</a:t>
            </a:r>
            <a:br>
              <a:rPr lang="en-US"/>
            </a:br>
            <a:endParaRPr/>
          </a:p>
        </p:txBody>
      </p:sp>
      <p:sp>
        <p:nvSpPr>
          <p:cNvPr id="323" name="Google Shape;323;p61"/>
          <p:cNvSpPr txBox="1">
            <a:spLocks noGrp="1"/>
          </p:cNvSpPr>
          <p:nvPr>
            <p:ph type="body" idx="1"/>
          </p:nvPr>
        </p:nvSpPr>
        <p:spPr>
          <a:xfrm>
            <a:off x="457200" y="1143000"/>
            <a:ext cx="8229600" cy="49833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Char char="•"/>
            </a:pPr>
            <a:r>
              <a:rPr lang="en-US"/>
              <a:t>Generalization of an actor means that one actor can inherit the role of an other actor. </a:t>
            </a:r>
            <a:endParaRPr/>
          </a:p>
        </p:txBody>
      </p:sp>
      <p:pic>
        <p:nvPicPr>
          <p:cNvPr id="324" name="Google Shape;324;p61"/>
          <p:cNvPicPr preferRelativeResize="0"/>
          <p:nvPr/>
        </p:nvPicPr>
        <p:blipFill rotWithShape="1">
          <a:blip r:embed="rId3">
            <a:alphaModFix/>
          </a:blip>
          <a:srcRect/>
          <a:stretch/>
        </p:blipFill>
        <p:spPr>
          <a:xfrm>
            <a:off x="1981200" y="2438400"/>
            <a:ext cx="5486400" cy="41433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62"/>
          <p:cNvSpPr txBox="1">
            <a:spLocks noGrp="1"/>
          </p:cNvSpPr>
          <p:nvPr>
            <p:ph type="title"/>
          </p:nvPr>
        </p:nvSpPr>
        <p:spPr>
          <a:xfrm>
            <a:off x="457200" y="152400"/>
            <a:ext cx="8229600" cy="10668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
            </a:r>
            <a:br>
              <a:rPr lang="en-US"/>
            </a:br>
            <a:r>
              <a:rPr lang="en-US"/>
              <a:t>Extend Relationship Between Two Use Cases</a:t>
            </a:r>
            <a:br>
              <a:rPr lang="en-US"/>
            </a:br>
            <a:endParaRPr/>
          </a:p>
        </p:txBody>
      </p:sp>
      <p:sp>
        <p:nvSpPr>
          <p:cNvPr id="330" name="Google Shape;330;p62"/>
          <p:cNvSpPr txBox="1">
            <a:spLocks noGrp="1"/>
          </p:cNvSpPr>
          <p:nvPr>
            <p:ph type="body" idx="1"/>
          </p:nvPr>
        </p:nvSpPr>
        <p:spPr>
          <a:xfrm>
            <a:off x="152400" y="1371600"/>
            <a:ext cx="8839200" cy="5334000"/>
          </a:xfrm>
          <a:prstGeom prst="rect">
            <a:avLst/>
          </a:prstGeom>
          <a:noFill/>
          <a:ln>
            <a:noFill/>
          </a:ln>
        </p:spPr>
        <p:txBody>
          <a:bodyPr spcFirstLastPara="1" wrap="square" lIns="91425" tIns="45700" rIns="91425" bIns="45700" anchor="t" anchorCtr="0">
            <a:normAutofit lnSpcReduction="10000"/>
          </a:bodyPr>
          <a:lstStyle/>
          <a:p>
            <a:pPr marL="342900" lvl="0" indent="-342900" algn="just" rtl="0">
              <a:spcBef>
                <a:spcPts val="0"/>
              </a:spcBef>
              <a:spcAft>
                <a:spcPts val="0"/>
              </a:spcAft>
              <a:buClr>
                <a:schemeClr val="dk1"/>
              </a:buClr>
              <a:buSzPts val="3000"/>
              <a:buChar char="•"/>
            </a:pPr>
            <a:r>
              <a:rPr lang="en-US" sz="3000"/>
              <a:t>It extends the base use case and adds more functionality to the system. </a:t>
            </a:r>
            <a:endParaRPr sz="3000"/>
          </a:p>
          <a:p>
            <a:pPr marL="342900" lvl="0" indent="-342900" algn="just" rtl="0">
              <a:spcBef>
                <a:spcPts val="600"/>
              </a:spcBef>
              <a:spcAft>
                <a:spcPts val="0"/>
              </a:spcAft>
              <a:buClr>
                <a:schemeClr val="dk1"/>
              </a:buClr>
              <a:buSzPts val="3000"/>
              <a:buFont typeface="Noto Sans Symbols"/>
              <a:buChar char="✔"/>
            </a:pPr>
            <a:r>
              <a:rPr lang="en-US" sz="3000" b="1"/>
              <a:t>The extending use case is dependent on the extended (base) use case</a:t>
            </a:r>
            <a:r>
              <a:rPr lang="en-US" sz="3000"/>
              <a:t>.</a:t>
            </a:r>
            <a:endParaRPr/>
          </a:p>
          <a:p>
            <a:pPr marL="342900" lvl="0" indent="-342900" algn="just" rtl="0">
              <a:spcBef>
                <a:spcPts val="600"/>
              </a:spcBef>
              <a:spcAft>
                <a:spcPts val="0"/>
              </a:spcAft>
              <a:buClr>
                <a:schemeClr val="dk1"/>
              </a:buClr>
              <a:buSzPts val="3000"/>
              <a:buFont typeface="Noto Sans Symbols"/>
              <a:buChar char="✔"/>
            </a:pPr>
            <a:r>
              <a:rPr lang="en-US" sz="3000" b="1"/>
              <a:t>The extending use case is usually optional and can be triggered conditionally.</a:t>
            </a:r>
            <a:endParaRPr/>
          </a:p>
          <a:p>
            <a:pPr marL="342900" lvl="0" indent="-342900" algn="just" rtl="0">
              <a:spcBef>
                <a:spcPts val="600"/>
              </a:spcBef>
              <a:spcAft>
                <a:spcPts val="0"/>
              </a:spcAft>
              <a:buClr>
                <a:schemeClr val="dk1"/>
              </a:buClr>
              <a:buSzPts val="3000"/>
              <a:buFont typeface="Noto Sans Symbols"/>
              <a:buChar char="✔"/>
            </a:pPr>
            <a:r>
              <a:rPr lang="en-US" sz="3000" b="1"/>
              <a:t>The extended (base) use case must be meaningful on its own</a:t>
            </a:r>
            <a:r>
              <a:rPr lang="en-US" sz="3000"/>
              <a:t>.</a:t>
            </a:r>
            <a:endParaRPr/>
          </a:p>
          <a:p>
            <a:pPr marL="342900" lvl="0" indent="-342900" algn="just" rtl="0">
              <a:spcBef>
                <a:spcPts val="600"/>
              </a:spcBef>
              <a:spcAft>
                <a:spcPts val="0"/>
              </a:spcAft>
              <a:buClr>
                <a:schemeClr val="dk1"/>
              </a:buClr>
              <a:buSzPts val="3000"/>
              <a:buFont typeface="Noto Sans Symbols"/>
              <a:buChar char="✔"/>
            </a:pPr>
            <a:r>
              <a:rPr lang="en-US" sz="3000"/>
              <a:t>Arrow points to the base use case when using &lt;&lt;extend&gt;&gt;</a:t>
            </a:r>
            <a:endParaRPr/>
          </a:p>
          <a:p>
            <a:pPr marL="342900" lvl="0" indent="-342900" algn="just" rtl="0">
              <a:spcBef>
                <a:spcPts val="560"/>
              </a:spcBef>
              <a:spcAft>
                <a:spcPts val="0"/>
              </a:spcAft>
              <a:buClr>
                <a:schemeClr val="dk1"/>
              </a:buClr>
              <a:buSzPts val="2800"/>
              <a:buFont typeface="Noto Sans Symbols"/>
              <a:buChar char="✔"/>
            </a:pPr>
            <a:r>
              <a:rPr lang="en-US" sz="2800"/>
              <a:t>Extending use case is optional</a:t>
            </a:r>
            <a:endParaRPr sz="3000"/>
          </a:p>
          <a:p>
            <a:pPr marL="0" lvl="0" indent="0" algn="l" rtl="0">
              <a:spcBef>
                <a:spcPts val="600"/>
              </a:spcBef>
              <a:spcAft>
                <a:spcPts val="0"/>
              </a:spcAft>
              <a:buClr>
                <a:schemeClr val="dk1"/>
              </a:buClr>
              <a:buSzPts val="3000"/>
              <a:buNone/>
            </a:pPr>
            <a:endParaRPr sz="3000" b="1"/>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pic>
        <p:nvPicPr>
          <p:cNvPr id="335" name="Google Shape;335;p63" descr="use case diagram relationships with extend"/>
          <p:cNvPicPr preferRelativeResize="0"/>
          <p:nvPr/>
        </p:nvPicPr>
        <p:blipFill rotWithShape="1">
          <a:blip r:embed="rId3">
            <a:alphaModFix/>
          </a:blip>
          <a:srcRect/>
          <a:stretch/>
        </p:blipFill>
        <p:spPr>
          <a:xfrm>
            <a:off x="152400" y="304800"/>
            <a:ext cx="8458200" cy="63246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64"/>
          <p:cNvSpPr txBox="1">
            <a:spLocks noGrp="1"/>
          </p:cNvSpPr>
          <p:nvPr>
            <p:ph type="title"/>
          </p:nvPr>
        </p:nvSpPr>
        <p:spPr>
          <a:xfrm>
            <a:off x="457200" y="274638"/>
            <a:ext cx="8229600" cy="9447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
            </a:r>
            <a:br>
              <a:rPr lang="en-US"/>
            </a:br>
            <a:r>
              <a:rPr lang="en-US"/>
              <a:t>Include Relationship Between Two Use Cases</a:t>
            </a:r>
            <a:br>
              <a:rPr lang="en-US"/>
            </a:br>
            <a:endParaRPr/>
          </a:p>
        </p:txBody>
      </p:sp>
      <p:sp>
        <p:nvSpPr>
          <p:cNvPr id="341" name="Google Shape;341;p64"/>
          <p:cNvSpPr txBox="1">
            <a:spLocks noGrp="1"/>
          </p:cNvSpPr>
          <p:nvPr>
            <p:ph type="body" idx="1"/>
          </p:nvPr>
        </p:nvSpPr>
        <p:spPr>
          <a:xfrm>
            <a:off x="76200" y="1371600"/>
            <a:ext cx="8991600" cy="5410200"/>
          </a:xfrm>
          <a:prstGeom prst="rect">
            <a:avLst/>
          </a:prstGeom>
          <a:noFill/>
          <a:ln>
            <a:noFill/>
          </a:ln>
        </p:spPr>
        <p:txBody>
          <a:bodyPr spcFirstLastPara="1" wrap="square" lIns="91425" tIns="45700" rIns="91425" bIns="45700" anchor="t" anchorCtr="0">
            <a:normAutofit fontScale="92500"/>
          </a:bodyPr>
          <a:lstStyle/>
          <a:p>
            <a:pPr marL="342900" lvl="0" indent="-342900" algn="just" rtl="0">
              <a:spcBef>
                <a:spcPts val="0"/>
              </a:spcBef>
              <a:spcAft>
                <a:spcPts val="0"/>
              </a:spcAft>
              <a:buClr>
                <a:schemeClr val="dk1"/>
              </a:buClr>
              <a:buSzPct val="100000"/>
              <a:buChar char="•"/>
            </a:pPr>
            <a:r>
              <a:rPr lang="en-US"/>
              <a:t>Include relationship show that the behavior of the included use case is part of the including (base) use case. </a:t>
            </a:r>
            <a:endParaRPr/>
          </a:p>
          <a:p>
            <a:pPr marL="342900" lvl="0" indent="-154940" algn="just" rtl="0">
              <a:spcBef>
                <a:spcPts val="592"/>
              </a:spcBef>
              <a:spcAft>
                <a:spcPts val="0"/>
              </a:spcAft>
              <a:buClr>
                <a:schemeClr val="dk1"/>
              </a:buClr>
              <a:buSzPct val="100000"/>
              <a:buNone/>
            </a:pPr>
            <a:endParaRPr/>
          </a:p>
          <a:p>
            <a:pPr marL="342900" lvl="0" indent="-342900" algn="just" rtl="0">
              <a:spcBef>
                <a:spcPts val="592"/>
              </a:spcBef>
              <a:spcAft>
                <a:spcPts val="0"/>
              </a:spcAft>
              <a:buClr>
                <a:schemeClr val="dk1"/>
              </a:buClr>
              <a:buSzPct val="100000"/>
              <a:buChar char="•"/>
            </a:pPr>
            <a:r>
              <a:rPr lang="en-US"/>
              <a:t>The base use case is incomplete without the included use case.</a:t>
            </a:r>
            <a:endParaRPr/>
          </a:p>
          <a:p>
            <a:pPr marL="342900" lvl="0" indent="-154940" algn="just" rtl="0">
              <a:spcBef>
                <a:spcPts val="592"/>
              </a:spcBef>
              <a:spcAft>
                <a:spcPts val="0"/>
              </a:spcAft>
              <a:buClr>
                <a:schemeClr val="dk1"/>
              </a:buClr>
              <a:buSzPct val="100000"/>
              <a:buNone/>
            </a:pPr>
            <a:endParaRPr/>
          </a:p>
          <a:p>
            <a:pPr marL="342900" lvl="0" indent="-342900" algn="just" rtl="0">
              <a:spcBef>
                <a:spcPts val="592"/>
              </a:spcBef>
              <a:spcAft>
                <a:spcPts val="0"/>
              </a:spcAft>
              <a:buClr>
                <a:schemeClr val="dk1"/>
              </a:buClr>
              <a:buSzPct val="100000"/>
              <a:buChar char="•"/>
            </a:pPr>
            <a:r>
              <a:rPr lang="en-US"/>
              <a:t>The included use case is mandatory and not optional.</a:t>
            </a:r>
            <a:endParaRPr/>
          </a:p>
          <a:p>
            <a:pPr marL="342900" lvl="0" indent="-154940" algn="just" rtl="0">
              <a:spcBef>
                <a:spcPts val="592"/>
              </a:spcBef>
              <a:spcAft>
                <a:spcPts val="0"/>
              </a:spcAft>
              <a:buClr>
                <a:schemeClr val="dk1"/>
              </a:buClr>
              <a:buSzPct val="100000"/>
              <a:buNone/>
            </a:pPr>
            <a:endParaRPr/>
          </a:p>
          <a:p>
            <a:pPr marL="342900" lvl="0" indent="-342900" algn="just" rtl="0">
              <a:spcBef>
                <a:spcPts val="592"/>
              </a:spcBef>
              <a:spcAft>
                <a:spcPts val="0"/>
              </a:spcAft>
              <a:buClr>
                <a:schemeClr val="dk1"/>
              </a:buClr>
              <a:buSzPct val="100000"/>
              <a:buChar char="•"/>
            </a:pPr>
            <a:r>
              <a:rPr lang="en-US"/>
              <a:t>Like a “use case subroutine” </a:t>
            </a:r>
            <a:endParaRPr/>
          </a:p>
          <a:p>
            <a:pPr marL="342900" lvl="0" indent="-154940" algn="just" rtl="0">
              <a:spcBef>
                <a:spcPts val="592"/>
              </a:spcBef>
              <a:spcAft>
                <a:spcPts val="0"/>
              </a:spcAft>
              <a:buClr>
                <a:schemeClr val="dk1"/>
              </a:buClr>
              <a:buSzPct val="100000"/>
              <a:buNone/>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pic>
        <p:nvPicPr>
          <p:cNvPr id="346" name="Google Shape;346;p65" descr="How to use include in use case diagrams"/>
          <p:cNvPicPr preferRelativeResize="0"/>
          <p:nvPr/>
        </p:nvPicPr>
        <p:blipFill rotWithShape="1">
          <a:blip r:embed="rId3">
            <a:alphaModFix/>
          </a:blip>
          <a:srcRect/>
          <a:stretch/>
        </p:blipFill>
        <p:spPr>
          <a:xfrm>
            <a:off x="152400" y="152400"/>
            <a:ext cx="8839200" cy="66294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66"/>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
            </a:r>
            <a:br>
              <a:rPr lang="en-US"/>
            </a:br>
            <a:r>
              <a:rPr lang="en-US"/>
              <a:t>Generalization of a Use Case</a:t>
            </a:r>
            <a:br>
              <a:rPr lang="en-US"/>
            </a:br>
            <a:endParaRPr/>
          </a:p>
        </p:txBody>
      </p:sp>
      <p:sp>
        <p:nvSpPr>
          <p:cNvPr id="352" name="Google Shape;352;p66"/>
          <p:cNvSpPr txBox="1">
            <a:spLocks noGrp="1"/>
          </p:cNvSpPr>
          <p:nvPr>
            <p:ph type="body" idx="1"/>
          </p:nvPr>
        </p:nvSpPr>
        <p:spPr>
          <a:xfrm>
            <a:off x="152400" y="1295400"/>
            <a:ext cx="8839200" cy="54102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Char char="•"/>
            </a:pPr>
            <a:r>
              <a:rPr lang="en-US"/>
              <a:t>This is similar to the generalization of an actor. </a:t>
            </a:r>
            <a:endParaRPr/>
          </a:p>
          <a:p>
            <a:pPr marL="342900" lvl="0" indent="-342900" algn="just" rtl="0">
              <a:spcBef>
                <a:spcPts val="640"/>
              </a:spcBef>
              <a:spcAft>
                <a:spcPts val="0"/>
              </a:spcAft>
              <a:buClr>
                <a:schemeClr val="dk1"/>
              </a:buClr>
              <a:buSzPts val="3200"/>
              <a:buChar char="•"/>
            </a:pPr>
            <a:r>
              <a:rPr lang="en-US"/>
              <a:t>This is used when there are common behavior between two use cases and also specialized behavior specific to each use case.</a:t>
            </a:r>
            <a:endParaRPr/>
          </a:p>
        </p:txBody>
      </p:sp>
      <p:pic>
        <p:nvPicPr>
          <p:cNvPr id="353" name="Google Shape;353;p66"/>
          <p:cNvPicPr preferRelativeResize="0"/>
          <p:nvPr/>
        </p:nvPicPr>
        <p:blipFill rotWithShape="1">
          <a:blip r:embed="rId3">
            <a:alphaModFix/>
          </a:blip>
          <a:srcRect/>
          <a:stretch/>
        </p:blipFill>
        <p:spPr>
          <a:xfrm>
            <a:off x="1600200" y="3657600"/>
            <a:ext cx="5767386" cy="298449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6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PROBLEM DEFINTION-VENDING MACHINE</a:t>
            </a:r>
            <a:endParaRPr/>
          </a:p>
        </p:txBody>
      </p:sp>
      <p:sp>
        <p:nvSpPr>
          <p:cNvPr id="359" name="Google Shape;359;p67"/>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just" rtl="0">
              <a:spcBef>
                <a:spcPts val="0"/>
              </a:spcBef>
              <a:spcAft>
                <a:spcPts val="0"/>
              </a:spcAft>
              <a:buClr>
                <a:schemeClr val="dk1"/>
              </a:buClr>
              <a:buSzPct val="100000"/>
              <a:buChar char="•"/>
            </a:pPr>
            <a:r>
              <a:rPr lang="en-US"/>
              <a:t>A vending machine accepts coins for a  variety of products. The user selects the drink from products available through the selection panel. If the drink is available the price of the product is displayed. The user the deposits the coins depending on the price of the product. Coin collector collects the coins. After stipulated time, the controller will compare the deposited coins with the price, If the amount deposited is less than the price then error message will be displayed and all deposited coins will be dispensed by coin dispenser else the drink will be dispensed by the product dispenser. Draw use case diagram.</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6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Use Case Diagram for Vending Machine</a:t>
            </a:r>
            <a:endParaRPr/>
          </a:p>
        </p:txBody>
      </p:sp>
      <p:sp>
        <p:nvSpPr>
          <p:cNvPr id="365" name="Google Shape;365;p68"/>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Actor- User</a:t>
            </a:r>
            <a:endParaRPr/>
          </a:p>
          <a:p>
            <a:pPr marL="342900" lvl="0" indent="-342900" algn="l" rtl="0">
              <a:spcBef>
                <a:spcPts val="640"/>
              </a:spcBef>
              <a:spcAft>
                <a:spcPts val="0"/>
              </a:spcAft>
              <a:buClr>
                <a:schemeClr val="dk1"/>
              </a:buClr>
              <a:buSzPts val="3200"/>
              <a:buChar char="•"/>
            </a:pPr>
            <a:r>
              <a:rPr lang="en-US"/>
              <a:t>Processes involved in the system</a:t>
            </a:r>
            <a:endParaRPr/>
          </a:p>
          <a:p>
            <a:pPr marL="742950" lvl="1" indent="-285750" algn="l" rtl="0">
              <a:spcBef>
                <a:spcPts val="560"/>
              </a:spcBef>
              <a:spcAft>
                <a:spcPts val="0"/>
              </a:spcAft>
              <a:buClr>
                <a:schemeClr val="dk1"/>
              </a:buClr>
              <a:buSzPts val="2800"/>
              <a:buChar char="–"/>
            </a:pPr>
            <a:r>
              <a:rPr lang="en-US"/>
              <a:t>Select product</a:t>
            </a:r>
            <a:endParaRPr/>
          </a:p>
          <a:p>
            <a:pPr marL="742950" lvl="1" indent="-285750" algn="l" rtl="0">
              <a:spcBef>
                <a:spcPts val="560"/>
              </a:spcBef>
              <a:spcAft>
                <a:spcPts val="0"/>
              </a:spcAft>
              <a:buClr>
                <a:schemeClr val="dk1"/>
              </a:buClr>
              <a:buSzPts val="2800"/>
              <a:buChar char="–"/>
            </a:pPr>
            <a:r>
              <a:rPr lang="en-US"/>
              <a:t>Deposit coins</a:t>
            </a:r>
            <a:endParaRPr/>
          </a:p>
          <a:p>
            <a:pPr marL="742950" lvl="1" indent="-285750" algn="l" rtl="0">
              <a:spcBef>
                <a:spcPts val="560"/>
              </a:spcBef>
              <a:spcAft>
                <a:spcPts val="0"/>
              </a:spcAft>
              <a:buClr>
                <a:schemeClr val="dk1"/>
              </a:buClr>
              <a:buSzPts val="2800"/>
              <a:buChar char="–"/>
            </a:pPr>
            <a:r>
              <a:rPr lang="en-US"/>
              <a:t>Verify the deposited amount</a:t>
            </a:r>
            <a:endParaRPr/>
          </a:p>
          <a:p>
            <a:pPr marL="742950" lvl="1" indent="-285750" algn="l" rtl="0">
              <a:spcBef>
                <a:spcPts val="560"/>
              </a:spcBef>
              <a:spcAft>
                <a:spcPts val="0"/>
              </a:spcAft>
              <a:buClr>
                <a:schemeClr val="dk1"/>
              </a:buClr>
              <a:buSzPts val="2800"/>
              <a:buChar char="–"/>
            </a:pPr>
            <a:r>
              <a:rPr lang="en-US"/>
              <a:t>Dispense product</a:t>
            </a:r>
            <a:endParaRPr/>
          </a:p>
          <a:p>
            <a:pPr marL="742950" lvl="1" indent="-285750" algn="l" rtl="0">
              <a:spcBef>
                <a:spcPts val="560"/>
              </a:spcBef>
              <a:spcAft>
                <a:spcPts val="0"/>
              </a:spcAft>
              <a:buClr>
                <a:schemeClr val="dk1"/>
              </a:buClr>
              <a:buSzPts val="2800"/>
              <a:buChar char="–"/>
            </a:pPr>
            <a:r>
              <a:rPr lang="en-US"/>
              <a:t>Dispense coins</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pic>
        <p:nvPicPr>
          <p:cNvPr id="370" name="Google Shape;370;p69"/>
          <p:cNvPicPr preferRelativeResize="0"/>
          <p:nvPr/>
        </p:nvPicPr>
        <p:blipFill rotWithShape="1">
          <a:blip r:embed="rId3">
            <a:alphaModFix/>
          </a:blip>
          <a:srcRect/>
          <a:stretch/>
        </p:blipFill>
        <p:spPr>
          <a:xfrm>
            <a:off x="-152400" y="76200"/>
            <a:ext cx="9486900" cy="67818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7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Use Case Example</a:t>
            </a:r>
            <a:endParaRPr/>
          </a:p>
        </p:txBody>
      </p:sp>
      <p:sp>
        <p:nvSpPr>
          <p:cNvPr id="376" name="Google Shape;376;p70"/>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Char char="•"/>
            </a:pPr>
            <a:r>
              <a:rPr lang="en-US"/>
              <a:t>Customer (actor) uses bank ATM to Check Balances of his/her bank accounts, Deposit Funds, Withdraw Cash and/or Transfer Funds (use cases). ATM Technician provides Maintenance and Repairs. All these use cases also involve Bank actor whether it is related to customer transactions or to the ATM servicing.</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pic>
        <p:nvPicPr>
          <p:cNvPr id="381" name="Google Shape;381;p71"/>
          <p:cNvPicPr preferRelativeResize="0"/>
          <p:nvPr/>
        </p:nvPicPr>
        <p:blipFill rotWithShape="1">
          <a:blip r:embed="rId3">
            <a:alphaModFix/>
          </a:blip>
          <a:srcRect/>
          <a:stretch/>
        </p:blipFill>
        <p:spPr>
          <a:xfrm>
            <a:off x="0" y="0"/>
            <a:ext cx="9144000" cy="68580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7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Use Case Example</a:t>
            </a:r>
            <a:endParaRPr/>
          </a:p>
        </p:txBody>
      </p:sp>
      <p:sp>
        <p:nvSpPr>
          <p:cNvPr id="387" name="Google Shape;387;p72"/>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just" rtl="0">
              <a:spcBef>
                <a:spcPts val="0"/>
              </a:spcBef>
              <a:spcAft>
                <a:spcPts val="0"/>
              </a:spcAft>
              <a:buClr>
                <a:schemeClr val="dk1"/>
              </a:buClr>
              <a:buSzPct val="100000"/>
              <a:buChar char="•"/>
            </a:pPr>
            <a:r>
              <a:rPr lang="en-US"/>
              <a:t>On most bank ATMs, the customer is authenticated by inserting a plastic ATM card and entering a personal identification number (PIN). Customer Authentication use case is required for every ATM transaction so we show it as include relationship. Including this use case as well as transaction generalizations make the ATM Transaction an abstract use case. Customer may need some help from the ATM. ATM Transaction use case is extended via extension point called menu by the ATM Help use case whenever ATM Transaction is at the location specified by the menu and the bank customer requests help, e.g. by selecting Help menu item.</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pic>
        <p:nvPicPr>
          <p:cNvPr id="392" name="Google Shape;392;p73"/>
          <p:cNvPicPr preferRelativeResize="0"/>
          <p:nvPr/>
        </p:nvPicPr>
        <p:blipFill rotWithShape="1">
          <a:blip r:embed="rId3">
            <a:alphaModFix/>
          </a:blip>
          <a:srcRect/>
          <a:stretch/>
        </p:blipFill>
        <p:spPr>
          <a:xfrm>
            <a:off x="0" y="-152400"/>
            <a:ext cx="9144000" cy="70104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7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Use Case Example</a:t>
            </a:r>
            <a:endParaRPr/>
          </a:p>
        </p:txBody>
      </p:sp>
      <p:sp>
        <p:nvSpPr>
          <p:cNvPr id="398" name="Google Shape;398;p74"/>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Char char="•"/>
            </a:pPr>
            <a:r>
              <a:rPr lang="en-US"/>
              <a:t>ATM Technician maintains or repairs Bank ATM. Maintenance use case includes Replenishing ATM with cash, ink or printer paper, Upgrades of hardware, firmware or software, and remote or on-site Diagnostics. Diagnostics is also included in (shared with) Repair use case.</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pic>
        <p:nvPicPr>
          <p:cNvPr id="403" name="Google Shape;403;p75"/>
          <p:cNvPicPr preferRelativeResize="0"/>
          <p:nvPr/>
        </p:nvPicPr>
        <p:blipFill rotWithShape="1">
          <a:blip r:embed="rId3">
            <a:alphaModFix/>
          </a:blip>
          <a:srcRect/>
          <a:stretch/>
        </p:blipFill>
        <p:spPr>
          <a:xfrm>
            <a:off x="0" y="0"/>
            <a:ext cx="9143999" cy="68580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pic>
        <p:nvPicPr>
          <p:cNvPr id="408" name="Google Shape;408;p76"/>
          <p:cNvPicPr preferRelativeResize="0"/>
          <p:nvPr/>
        </p:nvPicPr>
        <p:blipFill rotWithShape="1">
          <a:blip r:embed="rId3">
            <a:alphaModFix/>
          </a:blip>
          <a:srcRect/>
          <a:stretch/>
        </p:blipFill>
        <p:spPr>
          <a:xfrm>
            <a:off x="838200" y="794359"/>
            <a:ext cx="7696198" cy="4642696"/>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pic>
        <p:nvPicPr>
          <p:cNvPr id="413" name="Google Shape;413;p77" descr="Image result for travel agency system use case diagram"/>
          <p:cNvPicPr preferRelativeResize="0"/>
          <p:nvPr/>
        </p:nvPicPr>
        <p:blipFill rotWithShape="1">
          <a:blip r:embed="rId3">
            <a:alphaModFix/>
          </a:blip>
          <a:srcRect/>
          <a:stretch/>
        </p:blipFill>
        <p:spPr>
          <a:xfrm>
            <a:off x="1600200" y="381000"/>
            <a:ext cx="5133975" cy="5743577"/>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7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USE CASE</a:t>
            </a:r>
            <a:endParaRPr/>
          </a:p>
        </p:txBody>
      </p:sp>
      <p:sp>
        <p:nvSpPr>
          <p:cNvPr id="419" name="Google Shape;419;p78"/>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4400"/>
              <a:buChar char="•"/>
            </a:pPr>
            <a:r>
              <a:rPr lang="en-US" sz="4400" b="1"/>
              <a:t>Online Airline Reservation System</a:t>
            </a:r>
            <a:endParaRPr sz="4400" b="1"/>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pic>
        <p:nvPicPr>
          <p:cNvPr id="424" name="Google Shape;424;p79" descr="UML use case diagram for airline reservation system"/>
          <p:cNvPicPr preferRelativeResize="0"/>
          <p:nvPr/>
        </p:nvPicPr>
        <p:blipFill rotWithShape="1">
          <a:blip r:embed="rId3">
            <a:alphaModFix/>
          </a:blip>
          <a:srcRect/>
          <a:stretch/>
        </p:blipFill>
        <p:spPr>
          <a:xfrm>
            <a:off x="304800" y="152400"/>
            <a:ext cx="8634958" cy="6443169"/>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pic>
        <p:nvPicPr>
          <p:cNvPr id="429" name="Google Shape;429;p98" descr="An example of business flow activity to process purchase order."/>
          <p:cNvPicPr preferRelativeResize="0"/>
          <p:nvPr/>
        </p:nvPicPr>
        <p:blipFill rotWithShape="1">
          <a:blip r:embed="rId3">
            <a:alphaModFix/>
          </a:blip>
          <a:srcRect/>
          <a:stretch/>
        </p:blipFill>
        <p:spPr>
          <a:xfrm>
            <a:off x="304800" y="838200"/>
            <a:ext cx="8572500" cy="3810000"/>
          </a:xfrm>
          <a:prstGeom prst="rect">
            <a:avLst/>
          </a:prstGeom>
          <a:noFill/>
          <a:ln>
            <a:noFill/>
          </a:ln>
        </p:spPr>
      </p:pic>
      <p:sp>
        <p:nvSpPr>
          <p:cNvPr id="430" name="Google Shape;430;p98"/>
          <p:cNvSpPr txBox="1">
            <a:spLocks noGrp="1"/>
          </p:cNvSpPr>
          <p:nvPr>
            <p:ph type="body" idx="4294967295"/>
          </p:nvPr>
        </p:nvSpPr>
        <p:spPr>
          <a:xfrm>
            <a:off x="0" y="1600200"/>
            <a:ext cx="8229600" cy="4526100"/>
          </a:xfrm>
          <a:prstGeom prst="rect">
            <a:avLst/>
          </a:prstGeom>
          <a:noFill/>
          <a:ln>
            <a:noFill/>
          </a:ln>
        </p:spPr>
        <p:txBody>
          <a:bodyPr spcFirstLastPara="1" wrap="square" lIns="91425" tIns="45700" rIns="91425" bIns="45700" anchor="t" anchorCtr="0">
            <a:normAutofit lnSpcReduction="10000"/>
          </a:bodyPr>
          <a:lstStyle/>
          <a:p>
            <a:pPr marL="342900" lvl="0" indent="-139700" algn="l" rtl="0">
              <a:spcBef>
                <a:spcPts val="0"/>
              </a:spcBef>
              <a:spcAft>
                <a:spcPts val="0"/>
              </a:spcAft>
              <a:buClr>
                <a:schemeClr val="dk1"/>
              </a:buClr>
              <a:buSzPts val="3200"/>
              <a:buNone/>
            </a:pPr>
            <a:endParaRPr i="1"/>
          </a:p>
          <a:p>
            <a:pPr marL="342900" lvl="0" indent="-139700" algn="l" rtl="0">
              <a:spcBef>
                <a:spcPts val="640"/>
              </a:spcBef>
              <a:spcAft>
                <a:spcPts val="0"/>
              </a:spcAft>
              <a:buClr>
                <a:schemeClr val="dk1"/>
              </a:buClr>
              <a:buSzPts val="3200"/>
              <a:buNone/>
            </a:pPr>
            <a:endParaRPr i="1"/>
          </a:p>
          <a:p>
            <a:pPr marL="342900" lvl="0" indent="-139700" algn="l" rtl="0">
              <a:spcBef>
                <a:spcPts val="640"/>
              </a:spcBef>
              <a:spcAft>
                <a:spcPts val="0"/>
              </a:spcAft>
              <a:buClr>
                <a:schemeClr val="dk1"/>
              </a:buClr>
              <a:buSzPts val="3200"/>
              <a:buNone/>
            </a:pPr>
            <a:endParaRPr i="1"/>
          </a:p>
          <a:p>
            <a:pPr marL="342900" lvl="0" indent="-139700" algn="l" rtl="0">
              <a:spcBef>
                <a:spcPts val="640"/>
              </a:spcBef>
              <a:spcAft>
                <a:spcPts val="0"/>
              </a:spcAft>
              <a:buClr>
                <a:schemeClr val="dk1"/>
              </a:buClr>
              <a:buSzPts val="3200"/>
              <a:buNone/>
            </a:pPr>
            <a:endParaRPr i="1"/>
          </a:p>
          <a:p>
            <a:pPr marL="342900" lvl="0" indent="-139700" algn="l" rtl="0">
              <a:spcBef>
                <a:spcPts val="640"/>
              </a:spcBef>
              <a:spcAft>
                <a:spcPts val="0"/>
              </a:spcAft>
              <a:buClr>
                <a:schemeClr val="dk1"/>
              </a:buClr>
              <a:buSzPts val="3200"/>
              <a:buNone/>
            </a:pPr>
            <a:endParaRPr i="1"/>
          </a:p>
          <a:p>
            <a:pPr marL="342900" lvl="0" indent="-139700" algn="l" rtl="0">
              <a:spcBef>
                <a:spcPts val="640"/>
              </a:spcBef>
              <a:spcAft>
                <a:spcPts val="0"/>
              </a:spcAft>
              <a:buClr>
                <a:schemeClr val="dk1"/>
              </a:buClr>
              <a:buSzPts val="3200"/>
              <a:buNone/>
            </a:pPr>
            <a:endParaRPr i="1"/>
          </a:p>
          <a:p>
            <a:pPr marL="342900" lvl="0" indent="-342900" algn="l" rtl="0">
              <a:spcBef>
                <a:spcPts val="640"/>
              </a:spcBef>
              <a:spcAft>
                <a:spcPts val="0"/>
              </a:spcAft>
              <a:buClr>
                <a:schemeClr val="dk1"/>
              </a:buClr>
              <a:buSzPts val="3200"/>
              <a:buChar char="•"/>
            </a:pPr>
            <a:r>
              <a:rPr lang="en-US" i="1"/>
              <a:t>An example of business flow activity to process purchase order.</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pic>
        <p:nvPicPr>
          <p:cNvPr id="435" name="Google Shape;435;p99" descr="Example of Purchase Ticket use case behavior described with UML activity diagram."/>
          <p:cNvPicPr preferRelativeResize="0"/>
          <p:nvPr/>
        </p:nvPicPr>
        <p:blipFill rotWithShape="1">
          <a:blip r:embed="rId3">
            <a:alphaModFix/>
          </a:blip>
          <a:srcRect/>
          <a:stretch/>
        </p:blipFill>
        <p:spPr>
          <a:xfrm>
            <a:off x="762000" y="152400"/>
            <a:ext cx="7543800" cy="6858001"/>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1937</Words>
  <Application>Microsoft Office PowerPoint</Application>
  <PresentationFormat>On-screen Show (4:3)</PresentationFormat>
  <Paragraphs>258</Paragraphs>
  <Slides>60</Slides>
  <Notes>60</Notes>
  <HiddenSlides>0</HiddenSlides>
  <MMClips>0</MMClips>
  <ScaleCrop>false</ScaleCrop>
  <HeadingPairs>
    <vt:vector size="4" baseType="variant">
      <vt:variant>
        <vt:lpstr>Theme</vt:lpstr>
      </vt:variant>
      <vt:variant>
        <vt:i4>1</vt:i4>
      </vt:variant>
      <vt:variant>
        <vt:lpstr>Slide Titles</vt:lpstr>
      </vt:variant>
      <vt:variant>
        <vt:i4>60</vt:i4>
      </vt:variant>
    </vt:vector>
  </HeadingPairs>
  <TitlesOfParts>
    <vt:vector size="61" baseType="lpstr">
      <vt:lpstr>Office Theme</vt:lpstr>
      <vt:lpstr>Tutorial 3- UML class diagram</vt:lpstr>
      <vt:lpstr>Outline</vt:lpstr>
      <vt:lpstr>Outline</vt:lpstr>
      <vt:lpstr>Object Oriented Process </vt:lpstr>
      <vt:lpstr>Object Oriented Process </vt:lpstr>
      <vt:lpstr>Class and Object</vt:lpstr>
      <vt:lpstr>Class and Object</vt:lpstr>
      <vt:lpstr>Requirement Elicitation (Gathering)</vt:lpstr>
      <vt:lpstr>Requirement Elicitation</vt:lpstr>
      <vt:lpstr>Requirement Elicitation</vt:lpstr>
      <vt:lpstr>PowerPoint Presentation</vt:lpstr>
      <vt:lpstr>Requirements Elicitation Activities</vt:lpstr>
      <vt:lpstr>Requirements Elicitation Activities</vt:lpstr>
      <vt:lpstr>Requirements Elicitation Activities</vt:lpstr>
      <vt:lpstr>Requirements Elicitation Activities</vt:lpstr>
      <vt:lpstr>Requirements Elicitation Activities</vt:lpstr>
      <vt:lpstr>Requirement Elicitation Techniques</vt:lpstr>
      <vt:lpstr>Functional Requirements</vt:lpstr>
      <vt:lpstr>Non-Functional Requirements</vt:lpstr>
      <vt:lpstr>Non-Functional Requirements (Types)</vt:lpstr>
      <vt:lpstr>Non-Functional Requirements</vt:lpstr>
      <vt:lpstr>Non-Functional Requirements (Types)</vt:lpstr>
      <vt:lpstr>Non-Functional Requirements (Types)</vt:lpstr>
      <vt:lpstr>Additional Non-functional Requirements</vt:lpstr>
      <vt:lpstr>Requirements Characteristics</vt:lpstr>
      <vt:lpstr>Requirements Characteristics</vt:lpstr>
      <vt:lpstr>Use Case Diagrams</vt:lpstr>
      <vt:lpstr>Use Case Diagrams</vt:lpstr>
      <vt:lpstr>PowerPoint Presentation</vt:lpstr>
      <vt:lpstr>Use Case Diagram</vt:lpstr>
      <vt:lpstr>Use Case Diagram</vt:lpstr>
      <vt:lpstr>Use Case Diagram</vt:lpstr>
      <vt:lpstr>PowerPoint Presentation</vt:lpstr>
      <vt:lpstr>Elements of use case diagram: Actor</vt:lpstr>
      <vt:lpstr>Elements of use case diagram: Use Case</vt:lpstr>
      <vt:lpstr>Elements of use case diagram</vt:lpstr>
      <vt:lpstr>There can be 5 relationship types in a use case diagram.</vt:lpstr>
      <vt:lpstr> Association Between Actor and Use Case </vt:lpstr>
      <vt:lpstr> Association Between Actor and Use Case </vt:lpstr>
      <vt:lpstr> Generalization of an Actor </vt:lpstr>
      <vt:lpstr> Extend Relationship Between Two Use Cases </vt:lpstr>
      <vt:lpstr>PowerPoint Presentation</vt:lpstr>
      <vt:lpstr> Include Relationship Between Two Use Cases </vt:lpstr>
      <vt:lpstr>PowerPoint Presentation</vt:lpstr>
      <vt:lpstr> Generalization of a Use Case </vt:lpstr>
      <vt:lpstr>PROBLEM DEFINTION-VENDING MACHINE</vt:lpstr>
      <vt:lpstr>Use Case Diagram for Vending Machine</vt:lpstr>
      <vt:lpstr>PowerPoint Presentation</vt:lpstr>
      <vt:lpstr>Use Case Example</vt:lpstr>
      <vt:lpstr>PowerPoint Presentation</vt:lpstr>
      <vt:lpstr>Use Case Example</vt:lpstr>
      <vt:lpstr>PowerPoint Presentation</vt:lpstr>
      <vt:lpstr>Use Case Example</vt:lpstr>
      <vt:lpstr>PowerPoint Presentation</vt:lpstr>
      <vt:lpstr>PowerPoint Presentation</vt:lpstr>
      <vt:lpstr>PowerPoint Presentation</vt:lpstr>
      <vt:lpstr>USE CASE</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Tutorial 3- UML class diagram</dc:title>
  <dc:creator>Lenovo</dc:creator>
  <cp:lastModifiedBy>Admin</cp:lastModifiedBy>
  <cp:revision>1</cp:revision>
  <dcterms:created xsi:type="dcterms:W3CDTF">2016-07-26T21:31:21Z</dcterms:created>
  <dcterms:modified xsi:type="dcterms:W3CDTF">2024-01-30T04:56:55Z</dcterms:modified>
</cp:coreProperties>
</file>