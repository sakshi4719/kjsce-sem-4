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1"/>
  </p:notesMasterIdLst>
  <p:sldIdLst>
    <p:sldId id="347" r:id="rId2"/>
    <p:sldId id="399" r:id="rId3"/>
    <p:sldId id="400" r:id="rId4"/>
    <p:sldId id="401" r:id="rId5"/>
    <p:sldId id="402" r:id="rId6"/>
    <p:sldId id="403" r:id="rId7"/>
    <p:sldId id="404" r:id="rId8"/>
    <p:sldId id="405" r:id="rId9"/>
    <p:sldId id="406" r:id="rId10"/>
    <p:sldId id="407" r:id="rId11"/>
    <p:sldId id="408" r:id="rId12"/>
    <p:sldId id="409" r:id="rId13"/>
    <p:sldId id="410" r:id="rId14"/>
    <p:sldId id="411" r:id="rId15"/>
    <p:sldId id="426" r:id="rId16"/>
    <p:sldId id="427" r:id="rId17"/>
    <p:sldId id="412" r:id="rId18"/>
    <p:sldId id="413" r:id="rId19"/>
    <p:sldId id="414" r:id="rId20"/>
    <p:sldId id="415" r:id="rId21"/>
    <p:sldId id="416" r:id="rId22"/>
    <p:sldId id="417" r:id="rId23"/>
    <p:sldId id="418" r:id="rId24"/>
    <p:sldId id="419" r:id="rId25"/>
    <p:sldId id="420" r:id="rId26"/>
    <p:sldId id="421" r:id="rId27"/>
    <p:sldId id="422" r:id="rId28"/>
    <p:sldId id="423" r:id="rId29"/>
    <p:sldId id="424" r:id="rId30"/>
    <p:sldId id="425" r:id="rId31"/>
    <p:sldId id="368" r:id="rId32"/>
    <p:sldId id="369" r:id="rId33"/>
    <p:sldId id="428" r:id="rId34"/>
    <p:sldId id="429" r:id="rId35"/>
    <p:sldId id="430" r:id="rId36"/>
    <p:sldId id="431" r:id="rId37"/>
    <p:sldId id="432" r:id="rId38"/>
    <p:sldId id="433" r:id="rId39"/>
    <p:sldId id="434" r:id="rId40"/>
    <p:sldId id="435" r:id="rId41"/>
    <p:sldId id="436" r:id="rId42"/>
    <p:sldId id="437" r:id="rId43"/>
    <p:sldId id="438" r:id="rId44"/>
    <p:sldId id="439" r:id="rId45"/>
    <p:sldId id="440" r:id="rId46"/>
    <p:sldId id="441" r:id="rId47"/>
    <p:sldId id="442" r:id="rId48"/>
    <p:sldId id="443" r:id="rId49"/>
    <p:sldId id="444" r:id="rId50"/>
    <p:sldId id="445" r:id="rId51"/>
    <p:sldId id="463" r:id="rId52"/>
    <p:sldId id="446" r:id="rId53"/>
    <p:sldId id="447" r:id="rId54"/>
    <p:sldId id="448" r:id="rId55"/>
    <p:sldId id="449" r:id="rId56"/>
    <p:sldId id="450" r:id="rId57"/>
    <p:sldId id="451" r:id="rId58"/>
    <p:sldId id="452" r:id="rId59"/>
    <p:sldId id="453" r:id="rId60"/>
    <p:sldId id="454" r:id="rId61"/>
    <p:sldId id="455" r:id="rId62"/>
    <p:sldId id="456" r:id="rId63"/>
    <p:sldId id="457" r:id="rId64"/>
    <p:sldId id="458" r:id="rId65"/>
    <p:sldId id="459" r:id="rId66"/>
    <p:sldId id="460" r:id="rId67"/>
    <p:sldId id="461" r:id="rId68"/>
    <p:sldId id="462" r:id="rId69"/>
    <p:sldId id="366"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5730" autoAdjust="0"/>
  </p:normalViewPr>
  <p:slideViewPr>
    <p:cSldViewPr>
      <p:cViewPr>
        <p:scale>
          <a:sx n="68" d="100"/>
          <a:sy n="68" d="100"/>
        </p:scale>
        <p:origin x="-1440" y="-150"/>
      </p:cViewPr>
      <p:guideLst>
        <p:guide orient="horz" pos="2160"/>
        <p:guide pos="2880"/>
      </p:guideLst>
    </p:cSldViewPr>
  </p:slideViewPr>
  <p:outlineViewPr>
    <p:cViewPr>
      <p:scale>
        <a:sx n="33" d="100"/>
        <a:sy n="33" d="100"/>
      </p:scale>
      <p:origin x="30" y="7002"/>
    </p:cViewPr>
  </p:outlineViewPr>
  <p:notesTextViewPr>
    <p:cViewPr>
      <p:scale>
        <a:sx n="1" d="1"/>
        <a:sy n="1" d="1"/>
      </p:scale>
      <p:origin x="0" y="0"/>
    </p:cViewPr>
  </p:notesTextViewPr>
  <p:sorterViewPr>
    <p:cViewPr>
      <p:scale>
        <a:sx n="100" d="100"/>
        <a:sy n="100" d="100"/>
      </p:scale>
      <p:origin x="0" y="1225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48141C-1FE4-4D87-B00D-6A681C6ABDAB}" type="datetimeFigureOut">
              <a:rPr lang="en-IN" smtClean="0"/>
              <a:t>20-02-2024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A97293-404B-44E7-8FF7-D9A57321EE43}" type="slidenum">
              <a:rPr lang="en-IN" smtClean="0"/>
              <a:t>‹#›</a:t>
            </a:fld>
            <a:endParaRPr lang="en-IN"/>
          </a:p>
        </p:txBody>
      </p:sp>
    </p:spTree>
    <p:extLst>
      <p:ext uri="{BB962C8B-B14F-4D97-AF65-F5344CB8AC3E}">
        <p14:creationId xmlns:p14="http://schemas.microsoft.com/office/powerpoint/2010/main" val="185678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09910DCD-4B35-41B5-9D33-ACFB34421816}" type="slidenum">
              <a:rPr lang="en-IN" smtClean="0"/>
              <a:t>1</a:t>
            </a:fld>
            <a:endParaRPr lang="en-IN"/>
          </a:p>
        </p:txBody>
      </p:sp>
    </p:spTree>
    <p:extLst>
      <p:ext uri="{BB962C8B-B14F-4D97-AF65-F5344CB8AC3E}">
        <p14:creationId xmlns:p14="http://schemas.microsoft.com/office/powerpoint/2010/main" val="1013702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The graphical analysis and correlation study  will help with this.</a:t>
            </a:r>
          </a:p>
          <a:p>
            <a:endParaRPr lang="en-IN" dirty="0"/>
          </a:p>
        </p:txBody>
      </p:sp>
      <p:sp>
        <p:nvSpPr>
          <p:cNvPr id="4" name="Slide Number Placeholder 3"/>
          <p:cNvSpPr>
            <a:spLocks noGrp="1"/>
          </p:cNvSpPr>
          <p:nvPr>
            <p:ph type="sldNum" sz="quarter" idx="10"/>
          </p:nvPr>
        </p:nvSpPr>
        <p:spPr/>
        <p:txBody>
          <a:bodyPr/>
          <a:lstStyle/>
          <a:p>
            <a:fld id="{56A0F9FD-20DD-4F40-B6D2-C076442E2F0B}" type="slidenum">
              <a:rPr lang="en-IN" smtClean="0"/>
              <a:t>34</a:t>
            </a:fld>
            <a:endParaRPr lang="en-IN"/>
          </a:p>
        </p:txBody>
      </p:sp>
    </p:spTree>
    <p:extLst>
      <p:ext uri="{BB962C8B-B14F-4D97-AF65-F5344CB8AC3E}">
        <p14:creationId xmlns:p14="http://schemas.microsoft.com/office/powerpoint/2010/main" val="3377007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56A0F9FD-20DD-4F40-B6D2-C076442E2F0B}" type="slidenum">
              <a:rPr lang="en-IN" smtClean="0"/>
              <a:t>35</a:t>
            </a:fld>
            <a:endParaRPr lang="en-IN"/>
          </a:p>
        </p:txBody>
      </p:sp>
    </p:spTree>
    <p:extLst>
      <p:ext uri="{BB962C8B-B14F-4D97-AF65-F5344CB8AC3E}">
        <p14:creationId xmlns:p14="http://schemas.microsoft.com/office/powerpoint/2010/main" val="2541513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Scatter plots can help visualize any linear relationships between the dependent (response) variable and independent (predictor) variables. Ideally, if you are having multiple predictor variables, a scatter plot is drawn for each one of them against the response, along with the line of best </a:t>
            </a:r>
          </a:p>
          <a:p>
            <a:endParaRPr lang="en-IN" dirty="0" smtClean="0"/>
          </a:p>
          <a:p>
            <a:r>
              <a:rPr lang="en-IN" dirty="0" smtClean="0"/>
              <a:t>The scatter plot along with the smoothing line above suggests a linearly increasing relationship between the ‘</a:t>
            </a:r>
            <a:r>
              <a:rPr lang="en-IN" dirty="0" err="1" smtClean="0"/>
              <a:t>dist</a:t>
            </a:r>
            <a:r>
              <a:rPr lang="en-IN" dirty="0" smtClean="0"/>
              <a:t>’ and ‘speed’ variables. This is a good thing, because, one of the underlying assumptions in linear regression is that the relationship between the response and predictor variables is linear and additive.</a:t>
            </a:r>
            <a:endParaRPr lang="en-IN" dirty="0"/>
          </a:p>
        </p:txBody>
      </p:sp>
      <p:sp>
        <p:nvSpPr>
          <p:cNvPr id="4" name="Slide Number Placeholder 3"/>
          <p:cNvSpPr>
            <a:spLocks noGrp="1"/>
          </p:cNvSpPr>
          <p:nvPr>
            <p:ph type="sldNum" sz="quarter" idx="10"/>
          </p:nvPr>
        </p:nvSpPr>
        <p:spPr/>
        <p:txBody>
          <a:bodyPr/>
          <a:lstStyle/>
          <a:p>
            <a:fld id="{56A0F9FD-20DD-4F40-B6D2-C076442E2F0B}" type="slidenum">
              <a:rPr lang="en-IN" smtClean="0"/>
              <a:t>36</a:t>
            </a:fld>
            <a:endParaRPr lang="en-IN"/>
          </a:p>
        </p:txBody>
      </p:sp>
    </p:spTree>
    <p:extLst>
      <p:ext uri="{BB962C8B-B14F-4D97-AF65-F5344CB8AC3E}">
        <p14:creationId xmlns:p14="http://schemas.microsoft.com/office/powerpoint/2010/main" val="271142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smtClean="0"/>
              <a:t>interquartile range</a:t>
            </a:r>
            <a:r>
              <a:rPr lang="en-IN" dirty="0" smtClean="0"/>
              <a:t> (</a:t>
            </a:r>
            <a:r>
              <a:rPr lang="en-IN" b="1" dirty="0" smtClean="0"/>
              <a:t>IQR</a:t>
            </a:r>
            <a:r>
              <a:rPr lang="en-IN" dirty="0" smtClean="0"/>
              <a:t>)</a:t>
            </a:r>
          </a:p>
          <a:p>
            <a:endParaRPr lang="en-IN" dirty="0"/>
          </a:p>
        </p:txBody>
      </p:sp>
      <p:sp>
        <p:nvSpPr>
          <p:cNvPr id="4" name="Slide Number Placeholder 3"/>
          <p:cNvSpPr>
            <a:spLocks noGrp="1"/>
          </p:cNvSpPr>
          <p:nvPr>
            <p:ph type="sldNum" sz="quarter" idx="10"/>
          </p:nvPr>
        </p:nvSpPr>
        <p:spPr/>
        <p:txBody>
          <a:bodyPr/>
          <a:lstStyle/>
          <a:p>
            <a:fld id="{56A0F9FD-20DD-4F40-B6D2-C076442E2F0B}" type="slidenum">
              <a:rPr lang="en-IN" smtClean="0"/>
              <a:t>37</a:t>
            </a:fld>
            <a:endParaRPr lang="en-IN"/>
          </a:p>
        </p:txBody>
      </p:sp>
    </p:spTree>
    <p:extLst>
      <p:ext uri="{BB962C8B-B14F-4D97-AF65-F5344CB8AC3E}">
        <p14:creationId xmlns:p14="http://schemas.microsoft.com/office/powerpoint/2010/main" val="669995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Now the linear model is built and we have a formula that we can use to predict the </a:t>
            </a:r>
            <a:r>
              <a:rPr lang="en-IN" dirty="0" err="1" smtClean="0"/>
              <a:t>dist</a:t>
            </a:r>
            <a:r>
              <a:rPr lang="en-IN" dirty="0" smtClean="0"/>
              <a:t> value if a corresponding speed is known. Is this enough to actually use this model? NO! Before using a regression model, you have to ensure that it is statistically significant. How do you ensure this? Lets begin by printing the summary statistics for </a:t>
            </a:r>
            <a:r>
              <a:rPr lang="en-IN" dirty="0" err="1" smtClean="0"/>
              <a:t>linearMod</a:t>
            </a:r>
            <a:r>
              <a:rPr lang="en-IN" dirty="0" smtClean="0"/>
              <a:t>.</a:t>
            </a:r>
            <a:endParaRPr lang="en-IN" dirty="0"/>
          </a:p>
        </p:txBody>
      </p:sp>
      <p:sp>
        <p:nvSpPr>
          <p:cNvPr id="4" name="Slide Number Placeholder 3"/>
          <p:cNvSpPr>
            <a:spLocks noGrp="1"/>
          </p:cNvSpPr>
          <p:nvPr>
            <p:ph type="sldNum" sz="quarter" idx="10"/>
          </p:nvPr>
        </p:nvSpPr>
        <p:spPr/>
        <p:txBody>
          <a:bodyPr/>
          <a:lstStyle/>
          <a:p>
            <a:fld id="{56A0F9FD-20DD-4F40-B6D2-C076442E2F0B}" type="slidenum">
              <a:rPr lang="en-IN" smtClean="0"/>
              <a:t>47</a:t>
            </a:fld>
            <a:endParaRPr lang="en-IN"/>
          </a:p>
        </p:txBody>
      </p:sp>
    </p:spTree>
    <p:extLst>
      <p:ext uri="{BB962C8B-B14F-4D97-AF65-F5344CB8AC3E}">
        <p14:creationId xmlns:p14="http://schemas.microsoft.com/office/powerpoint/2010/main" val="550112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From the model summary, the model p value and predictor’s p value are less than the significance level, so we know we have a statistically significant model. Also, the R-</a:t>
            </a:r>
            <a:r>
              <a:rPr lang="en-IN" dirty="0" err="1" smtClean="0"/>
              <a:t>Sq</a:t>
            </a:r>
            <a:r>
              <a:rPr lang="en-IN" dirty="0" smtClean="0"/>
              <a:t> and </a:t>
            </a:r>
            <a:r>
              <a:rPr lang="en-IN" dirty="0" err="1" smtClean="0"/>
              <a:t>Adj</a:t>
            </a:r>
            <a:r>
              <a:rPr lang="en-IN" dirty="0" smtClean="0"/>
              <a:t> R-</a:t>
            </a:r>
            <a:r>
              <a:rPr lang="en-IN" dirty="0" err="1" smtClean="0"/>
              <a:t>Sq</a:t>
            </a:r>
            <a:r>
              <a:rPr lang="en-IN" dirty="0" smtClean="0"/>
              <a:t> are comparative to the original model built on full data.</a:t>
            </a:r>
            <a:endParaRPr lang="en-IN" dirty="0"/>
          </a:p>
        </p:txBody>
      </p:sp>
      <p:sp>
        <p:nvSpPr>
          <p:cNvPr id="4" name="Slide Number Placeholder 3"/>
          <p:cNvSpPr>
            <a:spLocks noGrp="1"/>
          </p:cNvSpPr>
          <p:nvPr>
            <p:ph type="sldNum" sz="quarter" idx="10"/>
          </p:nvPr>
        </p:nvSpPr>
        <p:spPr/>
        <p:txBody>
          <a:bodyPr/>
          <a:lstStyle/>
          <a:p>
            <a:fld id="{56A0F9FD-20DD-4F40-B6D2-C076442E2F0B}" type="slidenum">
              <a:rPr lang="en-IN" smtClean="0"/>
              <a:t>63</a:t>
            </a:fld>
            <a:endParaRPr lang="en-IN"/>
          </a:p>
        </p:txBody>
      </p:sp>
    </p:spTree>
    <p:extLst>
      <p:ext uri="{BB962C8B-B14F-4D97-AF65-F5344CB8AC3E}">
        <p14:creationId xmlns:p14="http://schemas.microsoft.com/office/powerpoint/2010/main" val="2334875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F6FE439-C49D-4EC1-BB5F-F12E4768289D}" type="datetime1">
              <a:rPr lang="en-US">
                <a:solidFill>
                  <a:prstClr val="black"/>
                </a:solidFill>
              </a:rPr>
              <a:pPr/>
              <a:t>2/20/2024</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942641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356351"/>
            <a:ext cx="2057400" cy="365125"/>
          </a:xfrm>
          <a:prstGeom prst="rect">
            <a:avLst/>
          </a:prstGeom>
        </p:spPr>
        <p:txBody>
          <a:bodyPr/>
          <a:lstStyle/>
          <a:p>
            <a:fld id="{F74E0460-F78B-4751-ACD5-CB1FA823892D}" type="datetime1">
              <a:rPr lang="en-US">
                <a:solidFill>
                  <a:prstClr val="black"/>
                </a:solidFill>
              </a:rPr>
              <a:pPr/>
              <a:t>2/20/2024</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
        <p:nvSpPr>
          <p:cNvPr id="7" name="Text Placeholder 2"/>
          <p:cNvSpPr>
            <a:spLocks noGrp="1"/>
          </p:cNvSpPr>
          <p:nvPr>
            <p:ph idx="1"/>
          </p:nvPr>
        </p:nvSpPr>
        <p:spPr>
          <a:xfrm>
            <a:off x="728983" y="1324629"/>
            <a:ext cx="8229600" cy="4525963"/>
          </a:xfrm>
          <a:prstGeom prst="rect">
            <a:avLst/>
          </a:prstGeom>
        </p:spPr>
        <p:txBody>
          <a:bodyPr vert="horz" lIns="91440" tIns="45720" rIns="91440" bIns="45720" rtlCol="0">
            <a:normAutofit/>
          </a:bodyPr>
          <a:lstStyle>
            <a:lvl1pPr marL="285750" indent="-285750">
              <a:buFont typeface="Arial" panose="020B0604020202020204" pitchFamily="34" charset="0"/>
              <a:buChar char="•"/>
              <a:defRPr sz="2800">
                <a:latin typeface="Times New Roman" panose="02020603050405020304" pitchFamily="18" charset="0"/>
                <a:cs typeface="Times New Roman" panose="02020603050405020304" pitchFamily="18" charset="0"/>
              </a:defRPr>
            </a:lvl1pPr>
            <a:lvl2pPr marL="742950" indent="-285750">
              <a:buFont typeface="Courier New" panose="02070309020205020404" pitchFamily="49" charset="0"/>
              <a:buChar char="o"/>
              <a:defRPr sz="2400">
                <a:latin typeface="Times New Roman" panose="02020603050405020304" pitchFamily="18" charset="0"/>
                <a:cs typeface="Times New Roman" panose="02020603050405020304" pitchFamily="18" charset="0"/>
              </a:defRPr>
            </a:lvl2pPr>
            <a:lvl3pPr marL="1200150" indent="-137160">
              <a:buFont typeface="Calibri" panose="020F0502020204030204" pitchFamily="34" charset="0"/>
              <a:buChar char="−"/>
              <a:defRPr sz="20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8043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356351"/>
            <a:ext cx="2057400" cy="365125"/>
          </a:xfrm>
          <a:prstGeom prst="rect">
            <a:avLst/>
          </a:prstGeom>
        </p:spPr>
        <p:txBody>
          <a:bodyPr/>
          <a:lstStyle/>
          <a:p>
            <a:fld id="{57CA7694-521A-450C-9D96-31F4F6DC37F1}" type="datetime1">
              <a:rPr lang="en-US">
                <a:solidFill>
                  <a:prstClr val="black"/>
                </a:solidFill>
              </a:rPr>
              <a:pPr/>
              <a:t>2/20/2024</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
        <p:nvSpPr>
          <p:cNvPr id="7" name="Title 1"/>
          <p:cNvSpPr>
            <a:spLocks noGrp="1"/>
          </p:cNvSpPr>
          <p:nvPr>
            <p:ph type="title"/>
          </p:nvPr>
        </p:nvSpPr>
        <p:spPr>
          <a:xfrm>
            <a:off x="817323" y="214817"/>
            <a:ext cx="7402883" cy="874951"/>
          </a:xfrm>
          <a:prstGeom prst="rect">
            <a:avLst/>
          </a:prstGeom>
        </p:spPr>
        <p:txBody>
          <a:bodyPr/>
          <a:lstStyle>
            <a:lvl1pPr algn="ctr">
              <a:defRPr sz="3600">
                <a:solidFill>
                  <a:srgbClr val="930B0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9" name="Text Placeholder 2"/>
          <p:cNvSpPr>
            <a:spLocks noGrp="1"/>
          </p:cNvSpPr>
          <p:nvPr>
            <p:ph idx="1"/>
          </p:nvPr>
        </p:nvSpPr>
        <p:spPr>
          <a:xfrm>
            <a:off x="700004" y="1324629"/>
            <a:ext cx="8229600" cy="4525963"/>
          </a:xfrm>
          <a:prstGeom prst="rect">
            <a:avLst/>
          </a:prstGeom>
        </p:spPr>
        <p:txBody>
          <a:bodyPr vert="horz" lIns="91440" tIns="45720" rIns="91440" bIns="45720" rtlCol="0">
            <a:normAutofit/>
          </a:bodyPr>
          <a:lstStyle>
            <a:lvl1pPr marL="285750" indent="-285750">
              <a:buFont typeface="Arial" panose="020B0604020202020204" pitchFamily="34" charset="0"/>
              <a:buChar char="•"/>
              <a:defRPr sz="2800">
                <a:latin typeface="Times New Roman" panose="02020603050405020304" pitchFamily="18" charset="0"/>
                <a:cs typeface="Times New Roman" panose="02020603050405020304" pitchFamily="18" charset="0"/>
              </a:defRPr>
            </a:lvl1pPr>
            <a:lvl2pPr marL="742950" indent="-285750">
              <a:buFont typeface="Courier New" panose="02070309020205020404" pitchFamily="49" charset="0"/>
              <a:buChar char="o"/>
              <a:defRPr sz="2400">
                <a:latin typeface="Times New Roman" panose="02020603050405020304" pitchFamily="18" charset="0"/>
                <a:cs typeface="Times New Roman" panose="02020603050405020304" pitchFamily="18" charset="0"/>
              </a:defRPr>
            </a:lvl2pPr>
            <a:lvl3pPr marL="1200150" indent="-137160">
              <a:buFont typeface="Calibri" panose="020F0502020204030204" pitchFamily="34" charset="0"/>
              <a:buChar char="−"/>
              <a:defRPr sz="20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21365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7876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7323" y="214817"/>
            <a:ext cx="7402883" cy="874951"/>
          </a:xfrm>
          <a:prstGeom prst="rect">
            <a:avLst/>
          </a:prstGeom>
        </p:spPr>
        <p:txBody>
          <a:bodyPr/>
          <a:lstStyle>
            <a:lvl1pPr algn="ctr">
              <a:defRPr sz="3600">
                <a:solidFill>
                  <a:srgbClr val="930B0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655370" y="1189973"/>
            <a:ext cx="8248389" cy="4899308"/>
          </a:xfrm>
          <a:prstGeom prst="rect">
            <a:avLst/>
          </a:prstGeom>
        </p:spPr>
        <p:txBody>
          <a:bodyPr/>
          <a:lstStyle>
            <a:lvl1pPr>
              <a:defRPr>
                <a:latin typeface="Times New Roman" panose="02020603050405020304" pitchFamily="18" charset="0"/>
                <a:cs typeface="Times New Roman" panose="02020603050405020304" pitchFamily="18" charset="0"/>
              </a:defRPr>
            </a:lvl1pPr>
            <a:lvl2pPr marL="685800" indent="-228600">
              <a:buClr>
                <a:schemeClr val="accent2">
                  <a:lumMod val="75000"/>
                </a:schemeClr>
              </a:buClr>
              <a:buSzPct val="7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marL="1143000" indent="-228600">
              <a:buClr>
                <a:srgbClr val="8D4427"/>
              </a:buClr>
              <a:buSzPct val="70000"/>
              <a:buFont typeface="Times New Roman" panose="02020603050405020304" pitchFamily="18" charset="0"/>
              <a:buChar cha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05911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81575" y="1606006"/>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03704"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803013"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803013"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AC268793-EB06-4C2E-A344-050FACD6263B}" type="datetime1">
              <a:rPr lang="en-US">
                <a:solidFill>
                  <a:prstClr val="black"/>
                </a:solidFill>
              </a:rPr>
              <a:pPr/>
              <a:t>2/20/2024</a:t>
            </a:fld>
            <a:endParaRPr lang="en-US">
              <a:solidFill>
                <a:prstClr val="black"/>
              </a:solidFill>
            </a:endParaRP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18075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2FF30AE1-1730-442F-9262-909CF92DC89A}" type="datetime1">
              <a:rPr lang="en-US">
                <a:solidFill>
                  <a:prstClr val="black"/>
                </a:solidFill>
              </a:rPr>
              <a:pPr/>
              <a:t>2/20/2024</a:t>
            </a:fld>
            <a:endParaRPr lang="en-US">
              <a:solidFill>
                <a:prstClr val="black"/>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257896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3ED5625C-EF98-48BD-8FC8-5BF7C67FC7BA}" type="datetime1">
              <a:rPr lang="en-US">
                <a:solidFill>
                  <a:prstClr val="black"/>
                </a:solidFill>
              </a:rPr>
              <a:pPr/>
              <a:t>2/20/2024</a:t>
            </a:fld>
            <a:endParaRPr lang="en-US">
              <a:solidFill>
                <a:prstClr val="black"/>
              </a:solidFill>
            </a:endParaRP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827433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22647B38-CBE4-43F0-83C7-2BFE19C03D99}" type="datetime1">
              <a:rPr lang="en-US">
                <a:solidFill>
                  <a:prstClr val="black"/>
                </a:solidFill>
              </a:rPr>
              <a:pPr/>
              <a:t>2/20/2024</a:t>
            </a:fld>
            <a:endParaRPr lang="en-US">
              <a:solidFill>
                <a:prstClr val="black"/>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116122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774D2745-A1BB-4740-B2A6-77A91BD6B24F}" type="datetime1">
              <a:rPr lang="en-US">
                <a:solidFill>
                  <a:prstClr val="black"/>
                </a:solidFill>
              </a:rPr>
              <a:pPr/>
              <a:t>2/20/2024</a:t>
            </a:fld>
            <a:endParaRPr lang="en-US">
              <a:solidFill>
                <a:prstClr val="black"/>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783044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46D82B56-AE6E-4339-A450-F4754EE48308}" type="datetime1">
              <a:rPr lang="en-US">
                <a:solidFill>
                  <a:prstClr val="black"/>
                </a:solidFill>
              </a:rPr>
              <a:pPr/>
              <a:t>2/20/2024</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63579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BDE04EE8-9791-44D9-8C72-CADA01B0B9BA}" type="datetime1">
              <a:rPr lang="en-US">
                <a:solidFill>
                  <a:prstClr val="black"/>
                </a:solidFill>
              </a:rPr>
              <a:pPr/>
              <a:t>2/20/2024</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508065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952754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504195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p:txBody>
          <a:bodyPr/>
          <a:lstStyle>
            <a:lvl1pPr>
              <a:defRPr/>
            </a:lvl1pPr>
          </a:lstStyle>
          <a:p>
            <a:pPr>
              <a:defRPr/>
            </a:pPr>
            <a:r>
              <a:rPr lang="en-US">
                <a:solidFill>
                  <a:prstClr val="black"/>
                </a:solidFill>
              </a:rPr>
              <a:t>Copyright © 2009 Addison-Wesley. All rights reserved.</a:t>
            </a:r>
          </a:p>
        </p:txBody>
      </p:sp>
      <p:sp>
        <p:nvSpPr>
          <p:cNvPr id="5" name="Rectangle 5"/>
          <p:cNvSpPr>
            <a:spLocks noGrp="1" noChangeArrowheads="1"/>
          </p:cNvSpPr>
          <p:nvPr>
            <p:ph type="sldNum" sz="quarter" idx="11"/>
          </p:nvPr>
        </p:nvSpPr>
        <p:spPr/>
        <p:txBody>
          <a:bodyPr/>
          <a:lstStyle>
            <a:lvl1pPr>
              <a:defRPr/>
            </a:lvl1pPr>
          </a:lstStyle>
          <a:p>
            <a:pPr>
              <a:defRPr/>
            </a:pPr>
            <a:r>
              <a:rPr lang="en-US" altLang="en-US">
                <a:solidFill>
                  <a:prstClr val="black"/>
                </a:solidFill>
              </a:rPr>
              <a:t>1-</a:t>
            </a:r>
            <a:fld id="{2720CEF3-E9D1-4755-A08F-1B10BC3280D2}" type="slidenum">
              <a:rPr lang="en-US" altLang="en-US">
                <a:solidFill>
                  <a:prstClr val="black"/>
                </a:solidFill>
              </a:rPr>
              <a:pPr>
                <a:defRPr/>
              </a:pPr>
              <a:t>‹#›</a:t>
            </a:fld>
            <a:endParaRPr lang="en-US" altLang="en-US">
              <a:solidFill>
                <a:prstClr val="black"/>
              </a:solidFill>
            </a:endParaRPr>
          </a:p>
        </p:txBody>
      </p:sp>
    </p:spTree>
    <p:extLst>
      <p:ext uri="{BB962C8B-B14F-4D97-AF65-F5344CB8AC3E}">
        <p14:creationId xmlns:p14="http://schemas.microsoft.com/office/powerpoint/2010/main" val="14267050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315397" name="Rectangle 5"/>
          <p:cNvSpPr>
            <a:spLocks noGrp="1" noChangeArrowheads="1"/>
          </p:cNvSpPr>
          <p:nvPr>
            <p:ph type="ctrTitle"/>
          </p:nvPr>
        </p:nvSpPr>
        <p:spPr>
          <a:xfrm>
            <a:off x="685800" y="2130425"/>
            <a:ext cx="7772400" cy="1470025"/>
          </a:xfrm>
          <a:prstGeom prst="rect">
            <a:avLst/>
          </a:prstGeom>
        </p:spPr>
        <p:txBody>
          <a:bodyPr/>
          <a:lstStyle>
            <a:lvl1pPr>
              <a:defRPr/>
            </a:lvl1pPr>
          </a:lstStyle>
          <a:p>
            <a:r>
              <a:rPr lang="en-US"/>
              <a:t>Click to edit Master title style</a:t>
            </a:r>
          </a:p>
        </p:txBody>
      </p:sp>
      <p:sp>
        <p:nvSpPr>
          <p:cNvPr id="315398" name="Rectangle 6"/>
          <p:cNvSpPr>
            <a:spLocks noGrp="1" noChangeArrowheads="1"/>
          </p:cNvSpPr>
          <p:nvPr>
            <p:ph type="subTitle" idx="1"/>
          </p:nvPr>
        </p:nvSpPr>
        <p:spPr>
          <a:xfrm>
            <a:off x="685800" y="3886200"/>
            <a:ext cx="7086600" cy="1752600"/>
          </a:xfrm>
          <a:prstGeom prst="rect">
            <a:avLst/>
          </a:prstGeom>
        </p:spPr>
        <p:txBody>
          <a:bodyPr/>
          <a:lstStyle>
            <a:lvl1pPr marL="0" indent="0">
              <a:buFont typeface="Symbol" charset="2"/>
              <a:buNone/>
              <a:defRPr/>
            </a:lvl1pPr>
          </a:lstStyle>
          <a:p>
            <a:r>
              <a:rPr lang="en-US"/>
              <a:t>Click to edit Master subtitle style</a:t>
            </a:r>
          </a:p>
        </p:txBody>
      </p:sp>
    </p:spTree>
    <p:extLst>
      <p:ext uri="{BB962C8B-B14F-4D97-AF65-F5344CB8AC3E}">
        <p14:creationId xmlns:p14="http://schemas.microsoft.com/office/powerpoint/2010/main" val="413621550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image" Target="../media/image4.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1"/>
          <p:cNvSpPr txBox="1">
            <a:spLocks/>
          </p:cNvSpPr>
          <p:nvPr userDrawn="1"/>
        </p:nvSpPr>
        <p:spPr>
          <a:xfrm>
            <a:off x="1148443" y="294320"/>
            <a:ext cx="6847115" cy="73796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dirty="0">
              <a:solidFill>
                <a:prstClr val="black"/>
              </a:solidFill>
            </a:endParaRPr>
          </a:p>
        </p:txBody>
      </p:sp>
      <p:sp>
        <p:nvSpPr>
          <p:cNvPr id="11" name="Date Placeholder 6"/>
          <p:cNvSpPr txBox="1">
            <a:spLocks/>
          </p:cNvSpPr>
          <p:nvPr userDrawn="1"/>
        </p:nvSpPr>
        <p:spPr>
          <a:xfrm>
            <a:off x="324390" y="6373654"/>
            <a:ext cx="145596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4A7E44F-68F0-4AA3-A5C8-607811B8945D}" type="datetime1">
              <a:rPr lang="en-US" sz="1400" b="1" smtClean="0">
                <a:ln w="0"/>
                <a:solidFill>
                  <a:prstClr val="white"/>
                </a:solidFill>
                <a:effectLst>
                  <a:outerShdw blurRad="38100" dist="19050" dir="2700000" algn="tl" rotWithShape="0">
                    <a:prstClr val="black">
                      <a:alpha val="40000"/>
                    </a:prstClr>
                  </a:outerShdw>
                </a:effectLst>
                <a:latin typeface="Times New Roman" panose="02020603050405020304" pitchFamily="18" charset="0"/>
                <a:cs typeface="Times New Roman" panose="02020603050405020304" pitchFamily="18" charset="0"/>
              </a:rPr>
              <a:pPr algn="ctr"/>
              <a:t>2/20/2024</a:t>
            </a:fld>
            <a:endParaRPr lang="en-US" sz="1400" b="1" dirty="0">
              <a:solidFill>
                <a:prstClr val="white"/>
              </a:solidFill>
              <a:latin typeface="Times New Roman" panose="02020603050405020304" pitchFamily="18" charset="0"/>
              <a:cs typeface="Times New Roman" panose="02020603050405020304" pitchFamily="18" charset="0"/>
            </a:endParaRPr>
          </a:p>
        </p:txBody>
      </p:sp>
      <p:sp>
        <p:nvSpPr>
          <p:cNvPr id="13" name="Slide Number Placeholder 8"/>
          <p:cNvSpPr txBox="1">
            <a:spLocks/>
          </p:cNvSpPr>
          <p:nvPr userDrawn="1"/>
        </p:nvSpPr>
        <p:spPr>
          <a:xfrm>
            <a:off x="8240198" y="6347051"/>
            <a:ext cx="60143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A8E0CFD-BB30-4A9F-B723-AE1386555E15}" type="slidenum">
              <a:rPr lang="en-US" sz="1400" b="1" smtClean="0">
                <a:solidFill>
                  <a:prstClr val="white"/>
                </a:solidFill>
                <a:latin typeface="Times New Roman" panose="02020603050405020304" pitchFamily="18" charset="0"/>
                <a:cs typeface="Times New Roman" panose="02020603050405020304" pitchFamily="18" charset="0"/>
              </a:rPr>
              <a:pPr algn="ctr"/>
              <a:t>‹#›</a:t>
            </a:fld>
            <a:endParaRPr lang="en-US" sz="1400" b="1" dirty="0">
              <a:solidFill>
                <a:prstClr val="white"/>
              </a:solidFill>
              <a:latin typeface="Times New Roman" panose="02020603050405020304" pitchFamily="18" charset="0"/>
              <a:cs typeface="Times New Roman" panose="02020603050405020304" pitchFamily="18" charset="0"/>
            </a:endParaRPr>
          </a:p>
        </p:txBody>
      </p:sp>
      <p:cxnSp>
        <p:nvCxnSpPr>
          <p:cNvPr id="26" name="Straight Connector 25"/>
          <p:cNvCxnSpPr/>
          <p:nvPr userDrawn="1"/>
        </p:nvCxnSpPr>
        <p:spPr>
          <a:xfrm>
            <a:off x="173929" y="524443"/>
            <a:ext cx="15020" cy="58738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8958782" y="135448"/>
            <a:ext cx="14374" cy="610095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a:off x="429274" y="135448"/>
            <a:ext cx="853669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Curved Connector 31"/>
          <p:cNvCxnSpPr/>
          <p:nvPr userDrawn="1"/>
        </p:nvCxnSpPr>
        <p:spPr>
          <a:xfrm>
            <a:off x="188949" y="6398315"/>
            <a:ext cx="240325" cy="292996"/>
          </a:xfrm>
          <a:prstGeom prst="curvedConnector3">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Curved Connector 32"/>
          <p:cNvCxnSpPr/>
          <p:nvPr userDrawn="1"/>
        </p:nvCxnSpPr>
        <p:spPr>
          <a:xfrm rot="5400000">
            <a:off x="8611851" y="6330006"/>
            <a:ext cx="454905" cy="267707"/>
          </a:xfrm>
          <a:prstGeom prst="curvedConnector3">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xmlns="" id="{8026AED6-E793-48A3-96AF-36A0D1FE2D70}"/>
              </a:ext>
            </a:extLst>
          </p:cNvPr>
          <p:cNvPicPr>
            <a:picLocks noChangeAspect="1"/>
          </p:cNvPicPr>
          <p:nvPr userDrawn="1"/>
        </p:nvPicPr>
        <p:blipFill>
          <a:blip r:embed="rId18"/>
          <a:stretch>
            <a:fillRect/>
          </a:stretch>
        </p:blipFill>
        <p:spPr>
          <a:xfrm>
            <a:off x="454" y="135448"/>
            <a:ext cx="425219" cy="6722552"/>
          </a:xfrm>
          <a:prstGeom prst="rect">
            <a:avLst/>
          </a:prstGeom>
        </p:spPr>
      </p:pic>
      <p:pic>
        <p:nvPicPr>
          <p:cNvPr id="16" name="Picture 15">
            <a:extLst>
              <a:ext uri="{FF2B5EF4-FFF2-40B4-BE49-F238E27FC236}">
                <a16:creationId xmlns:a16="http://schemas.microsoft.com/office/drawing/2014/main" xmlns="" id="{98F5ADD7-F579-4B31-B088-24730AEA76C9}"/>
              </a:ext>
            </a:extLst>
          </p:cNvPr>
          <p:cNvPicPr>
            <a:picLocks noChangeAspect="1"/>
          </p:cNvPicPr>
          <p:nvPr userDrawn="1"/>
        </p:nvPicPr>
        <p:blipFill>
          <a:blip r:embed="rId19"/>
          <a:stretch>
            <a:fillRect/>
          </a:stretch>
        </p:blipFill>
        <p:spPr>
          <a:xfrm>
            <a:off x="429588" y="135448"/>
            <a:ext cx="153343" cy="5305232"/>
          </a:xfrm>
          <a:prstGeom prst="rect">
            <a:avLst/>
          </a:prstGeom>
        </p:spPr>
      </p:pic>
      <p:pic>
        <p:nvPicPr>
          <p:cNvPr id="17" name="Picture 16" descr="A close up of a sign&#10;&#10;Description automatically generated">
            <a:extLst>
              <a:ext uri="{FF2B5EF4-FFF2-40B4-BE49-F238E27FC236}">
                <a16:creationId xmlns:a16="http://schemas.microsoft.com/office/drawing/2014/main" xmlns="" id="{C8EA3854-8902-4417-899A-DE9CBF528C1A}"/>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8321645" y="6043825"/>
            <a:ext cx="651512" cy="647487"/>
          </a:xfrm>
          <a:prstGeom prst="rect">
            <a:avLst/>
          </a:prstGeom>
        </p:spPr>
      </p:pic>
      <p:pic>
        <p:nvPicPr>
          <p:cNvPr id="18" name="Picture 17" descr="A picture containing drawing&#10;&#10;Description automatically generated">
            <a:extLst>
              <a:ext uri="{FF2B5EF4-FFF2-40B4-BE49-F238E27FC236}">
                <a16:creationId xmlns:a16="http://schemas.microsoft.com/office/drawing/2014/main" xmlns="" id="{DA3B82F8-7F36-4AE6-A785-76BCA479C67E}"/>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454" y="6214968"/>
            <a:ext cx="1991676" cy="663892"/>
          </a:xfrm>
          <a:prstGeom prst="rect">
            <a:avLst/>
          </a:prstGeom>
        </p:spPr>
      </p:pic>
      <p:pic>
        <p:nvPicPr>
          <p:cNvPr id="22" name="Picture 21">
            <a:extLst>
              <a:ext uri="{FF2B5EF4-FFF2-40B4-BE49-F238E27FC236}">
                <a16:creationId xmlns:a16="http://schemas.microsoft.com/office/drawing/2014/main" xmlns="" id="{1547C2F5-D0C4-4329-8DC2-48B66EE4F515}"/>
              </a:ext>
            </a:extLst>
          </p:cNvPr>
          <p:cNvPicPr>
            <a:picLocks noChangeAspect="1"/>
          </p:cNvPicPr>
          <p:nvPr userDrawn="1"/>
        </p:nvPicPr>
        <p:blipFill>
          <a:blip r:embed="rId18"/>
          <a:stretch>
            <a:fillRect/>
          </a:stretch>
        </p:blipFill>
        <p:spPr>
          <a:xfrm rot="5400000">
            <a:off x="4987623" y="3550281"/>
            <a:ext cx="385984" cy="6282060"/>
          </a:xfrm>
          <a:prstGeom prst="rect">
            <a:avLst/>
          </a:prstGeom>
        </p:spPr>
      </p:pic>
      <p:pic>
        <p:nvPicPr>
          <p:cNvPr id="23" name="Picture 22">
            <a:extLst>
              <a:ext uri="{FF2B5EF4-FFF2-40B4-BE49-F238E27FC236}">
                <a16:creationId xmlns:a16="http://schemas.microsoft.com/office/drawing/2014/main" xmlns="" id="{B15A553C-6E56-4E14-9B40-3D70033DB61F}"/>
              </a:ext>
            </a:extLst>
          </p:cNvPr>
          <p:cNvPicPr>
            <a:picLocks noChangeAspect="1"/>
          </p:cNvPicPr>
          <p:nvPr userDrawn="1"/>
        </p:nvPicPr>
        <p:blipFill>
          <a:blip r:embed="rId19"/>
          <a:stretch>
            <a:fillRect/>
          </a:stretch>
        </p:blipFill>
        <p:spPr>
          <a:xfrm rot="5400000">
            <a:off x="5093663" y="3283949"/>
            <a:ext cx="173904" cy="6282059"/>
          </a:xfrm>
          <a:prstGeom prst="rect">
            <a:avLst/>
          </a:prstGeom>
        </p:spPr>
      </p:pic>
    </p:spTree>
    <p:extLst>
      <p:ext uri="{BB962C8B-B14F-4D97-AF65-F5344CB8AC3E}">
        <p14:creationId xmlns:p14="http://schemas.microsoft.com/office/powerpoint/2010/main" val="15701487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6" r:id="rId15"/>
    <p:sldLayoutId id="2147483677"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6.xml"/><Relationship Id="rId5" Type="http://schemas.openxmlformats.org/officeDocument/2006/relationships/image" Target="../media/image4.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3.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15.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vmlDrawing" Target="../drawings/vmlDrawing5.vml"/><Relationship Id="rId4" Type="http://schemas.openxmlformats.org/officeDocument/2006/relationships/image" Target="../media/image17.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3.xml"/><Relationship Id="rId1" Type="http://schemas.openxmlformats.org/officeDocument/2006/relationships/vmlDrawing" Target="../drawings/vmlDrawing6.vml"/><Relationship Id="rId6" Type="http://schemas.openxmlformats.org/officeDocument/2006/relationships/image" Target="../media/image19.wmf"/><Relationship Id="rId5" Type="http://schemas.openxmlformats.org/officeDocument/2006/relationships/oleObject" Target="../embeddings/oleObject10.bin"/><Relationship Id="rId4" Type="http://schemas.openxmlformats.org/officeDocument/2006/relationships/image" Target="../media/image18.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vmlDrawing" Target="../drawings/vmlDrawing7.vml"/><Relationship Id="rId5" Type="http://schemas.openxmlformats.org/officeDocument/2006/relationships/image" Target="../media/image20.png"/><Relationship Id="rId4" Type="http://schemas.openxmlformats.org/officeDocument/2006/relationships/image" Target="../media/image21.emf"/></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vmlDrawing" Target="../drawings/vmlDrawing8.vml"/><Relationship Id="rId5" Type="http://schemas.openxmlformats.org/officeDocument/2006/relationships/image" Target="../media/image23.wmf"/><Relationship Id="rId4" Type="http://schemas.openxmlformats.org/officeDocument/2006/relationships/oleObject" Target="../embeddings/oleObject12.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vmlDrawing" Target="../drawings/vmlDrawing9.vml"/><Relationship Id="rId6" Type="http://schemas.openxmlformats.org/officeDocument/2006/relationships/image" Target="../media/image25.wmf"/><Relationship Id="rId5" Type="http://schemas.openxmlformats.org/officeDocument/2006/relationships/oleObject" Target="../embeddings/oleObject14.bin"/><Relationship Id="rId4" Type="http://schemas.openxmlformats.org/officeDocument/2006/relationships/image" Target="../media/image24.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3.xml"/><Relationship Id="rId1" Type="http://schemas.openxmlformats.org/officeDocument/2006/relationships/vmlDrawing" Target="../drawings/vmlDrawing10.vml"/><Relationship Id="rId5" Type="http://schemas.openxmlformats.org/officeDocument/2006/relationships/image" Target="../media/image20.png"/><Relationship Id="rId4" Type="http://schemas.openxmlformats.org/officeDocument/2006/relationships/image" Target="../media/image26.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3.xml"/><Relationship Id="rId1" Type="http://schemas.openxmlformats.org/officeDocument/2006/relationships/vmlDrawing" Target="../drawings/vmlDrawing11.vml"/><Relationship Id="rId5" Type="http://schemas.openxmlformats.org/officeDocument/2006/relationships/image" Target="../media/image20.png"/><Relationship Id="rId4" Type="http://schemas.openxmlformats.org/officeDocument/2006/relationships/image" Target="../media/image26.wmf"/></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vmlDrawing" Target="../drawings/vmlDrawing12.vml"/><Relationship Id="rId5" Type="http://schemas.openxmlformats.org/officeDocument/2006/relationships/image" Target="../media/image27.wmf"/><Relationship Id="rId4" Type="http://schemas.openxmlformats.org/officeDocument/2006/relationships/oleObject" Target="../embeddings/oleObject17.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3.xml"/><Relationship Id="rId1" Type="http://schemas.openxmlformats.org/officeDocument/2006/relationships/vmlDrawing" Target="../drawings/vmlDrawing13.vml"/><Relationship Id="rId6" Type="http://schemas.openxmlformats.org/officeDocument/2006/relationships/image" Target="../media/image29.wmf"/><Relationship Id="rId5" Type="http://schemas.openxmlformats.org/officeDocument/2006/relationships/oleObject" Target="../embeddings/oleObject19.bin"/><Relationship Id="rId4" Type="http://schemas.openxmlformats.org/officeDocument/2006/relationships/image" Target="../media/image28.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2094" y="1628800"/>
            <a:ext cx="7772400" cy="1470025"/>
          </a:xfrm>
        </p:spPr>
        <p:txBody>
          <a:bodyPr>
            <a:normAutofit/>
          </a:bodyPr>
          <a:lstStyle/>
          <a:p>
            <a:pPr algn="ctr"/>
            <a:r>
              <a:rPr lang="en-IN" sz="5400" dirty="0" smtClean="0">
                <a:solidFill>
                  <a:srgbClr val="C00000"/>
                </a:solidFill>
                <a:latin typeface="Marcellus" panose="020E0602050203020307" pitchFamily="34" charset="0"/>
              </a:rPr>
              <a:t>Regression</a:t>
            </a:r>
            <a:endParaRPr lang="en-IN" sz="5400" dirty="0">
              <a:solidFill>
                <a:srgbClr val="C00000"/>
              </a:solidFill>
              <a:latin typeface="Marcellus" panose="020E0602050203020307" pitchFamily="34" charset="0"/>
            </a:endParaRPr>
          </a:p>
        </p:txBody>
      </p:sp>
      <p:pic>
        <p:nvPicPr>
          <p:cNvPr id="4" name="Picture 3">
            <a:extLst>
              <a:ext uri="{FF2B5EF4-FFF2-40B4-BE49-F238E27FC236}">
                <a16:creationId xmlns="" xmlns:a16="http://schemas.microsoft.com/office/drawing/2014/main" id="{8026AED6-E793-48A3-96AF-36A0D1FE2D70}"/>
              </a:ext>
            </a:extLst>
          </p:cNvPr>
          <p:cNvPicPr>
            <a:picLocks noChangeAspect="1"/>
          </p:cNvPicPr>
          <p:nvPr/>
        </p:nvPicPr>
        <p:blipFill>
          <a:blip r:embed="rId3"/>
          <a:stretch>
            <a:fillRect/>
          </a:stretch>
        </p:blipFill>
        <p:spPr>
          <a:xfrm>
            <a:off x="454" y="2220"/>
            <a:ext cx="425219" cy="6855781"/>
          </a:xfrm>
          <a:prstGeom prst="rect">
            <a:avLst/>
          </a:prstGeom>
        </p:spPr>
      </p:pic>
      <p:pic>
        <p:nvPicPr>
          <p:cNvPr id="5" name="Picture 4">
            <a:extLst>
              <a:ext uri="{FF2B5EF4-FFF2-40B4-BE49-F238E27FC236}">
                <a16:creationId xmlns="" xmlns:a16="http://schemas.microsoft.com/office/drawing/2014/main" id="{98F5ADD7-F579-4B31-B088-24730AEA76C9}"/>
              </a:ext>
            </a:extLst>
          </p:cNvPr>
          <p:cNvPicPr>
            <a:picLocks noChangeAspect="1"/>
          </p:cNvPicPr>
          <p:nvPr/>
        </p:nvPicPr>
        <p:blipFill>
          <a:blip r:embed="rId4"/>
          <a:stretch>
            <a:fillRect/>
          </a:stretch>
        </p:blipFill>
        <p:spPr>
          <a:xfrm>
            <a:off x="425673" y="0"/>
            <a:ext cx="157258" cy="5440680"/>
          </a:xfrm>
          <a:prstGeom prst="rect">
            <a:avLst/>
          </a:prstGeom>
        </p:spPr>
      </p:pic>
      <p:pic>
        <p:nvPicPr>
          <p:cNvPr id="7" name="Picture 6" descr="A picture containing drawing&#10;&#10;Description automatically generated">
            <a:extLst>
              <a:ext uri="{FF2B5EF4-FFF2-40B4-BE49-F238E27FC236}">
                <a16:creationId xmlns=""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930" y="2219"/>
            <a:ext cx="1991676" cy="663892"/>
          </a:xfrm>
          <a:prstGeom prst="rect">
            <a:avLst/>
          </a:prstGeom>
        </p:spPr>
      </p:pic>
      <p:sp>
        <p:nvSpPr>
          <p:cNvPr id="6" name="Subtitle 5"/>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00153857"/>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subTitle" idx="1"/>
          </p:nvPr>
        </p:nvSpPr>
        <p:spPr>
          <a:xfrm>
            <a:off x="1676400" y="533400"/>
            <a:ext cx="6400800" cy="5105400"/>
          </a:xfrm>
        </p:spPr>
        <p:txBody>
          <a:bodyPr/>
          <a:lstStyle/>
          <a:p>
            <a:pPr algn="ctr" eaLnBrk="1" hangingPunct="1"/>
            <a:endParaRPr lang="en-US" altLang="en-US" sz="3500" dirty="0" smtClean="0"/>
          </a:p>
          <a:p>
            <a:pPr algn="ctr" eaLnBrk="1" hangingPunct="1"/>
            <a:endParaRPr lang="en-US" altLang="en-US" sz="3500" dirty="0" smtClean="0"/>
          </a:p>
          <a:p>
            <a:pPr algn="ctr" eaLnBrk="1" hangingPunct="1"/>
            <a:r>
              <a:rPr lang="en-US" altLang="en-US" sz="3500" dirty="0" smtClean="0"/>
              <a:t>Correlation and Simple Linear Regression</a:t>
            </a:r>
          </a:p>
        </p:txBody>
      </p:sp>
      <p:sp>
        <p:nvSpPr>
          <p:cNvPr id="16387" name="Rectangle 9"/>
          <p:cNvSpPr>
            <a:spLocks noChangeArrowheads="1"/>
          </p:cNvSpPr>
          <p:nvPr/>
        </p:nvSpPr>
        <p:spPr bwMode="auto">
          <a:xfrm>
            <a:off x="533400" y="685800"/>
            <a:ext cx="82296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342" tIns="42672" rIns="85342" bIns="42672" anchor="b"/>
          <a:lstStyle>
            <a:lvl1pPr defTabSz="852488" eaLnBrk="0" hangingPunct="0">
              <a:defRPr sz="2400">
                <a:solidFill>
                  <a:schemeClr val="tx1"/>
                </a:solidFill>
                <a:latin typeface="Arial" charset="0"/>
              </a:defRPr>
            </a:lvl1pPr>
            <a:lvl2pPr marL="742950" indent="-285750" defTabSz="852488" eaLnBrk="0" hangingPunct="0">
              <a:defRPr sz="2400">
                <a:solidFill>
                  <a:schemeClr val="tx1"/>
                </a:solidFill>
                <a:latin typeface="Arial" charset="0"/>
              </a:defRPr>
            </a:lvl2pPr>
            <a:lvl3pPr marL="1143000" indent="-228600" defTabSz="852488" eaLnBrk="0" hangingPunct="0">
              <a:defRPr sz="2400">
                <a:solidFill>
                  <a:schemeClr val="tx1"/>
                </a:solidFill>
                <a:latin typeface="Arial" charset="0"/>
              </a:defRPr>
            </a:lvl3pPr>
            <a:lvl4pPr marL="1600200" indent="-228600" defTabSz="852488" eaLnBrk="0" hangingPunct="0">
              <a:defRPr sz="2400">
                <a:solidFill>
                  <a:schemeClr val="tx1"/>
                </a:solidFill>
                <a:latin typeface="Arial" charset="0"/>
              </a:defRPr>
            </a:lvl4pPr>
            <a:lvl5pPr marL="2057400" indent="-228600" defTabSz="852488" eaLnBrk="0" hangingPunct="0">
              <a:defRPr sz="2400">
                <a:solidFill>
                  <a:schemeClr val="tx1"/>
                </a:solidFill>
                <a:latin typeface="Arial" charset="0"/>
              </a:defRPr>
            </a:lvl5pPr>
            <a:lvl6pPr marL="2514600" indent="-228600" algn="ctr" defTabSz="852488" eaLnBrk="0" fontAlgn="base" hangingPunct="0">
              <a:spcBef>
                <a:spcPct val="0"/>
              </a:spcBef>
              <a:spcAft>
                <a:spcPct val="0"/>
              </a:spcAft>
              <a:defRPr sz="2400">
                <a:solidFill>
                  <a:schemeClr val="tx1"/>
                </a:solidFill>
                <a:latin typeface="Arial" charset="0"/>
              </a:defRPr>
            </a:lvl6pPr>
            <a:lvl7pPr marL="2971800" indent="-228600" algn="ctr" defTabSz="852488" eaLnBrk="0" fontAlgn="base" hangingPunct="0">
              <a:spcBef>
                <a:spcPct val="0"/>
              </a:spcBef>
              <a:spcAft>
                <a:spcPct val="0"/>
              </a:spcAft>
              <a:defRPr sz="2400">
                <a:solidFill>
                  <a:schemeClr val="tx1"/>
                </a:solidFill>
                <a:latin typeface="Arial" charset="0"/>
              </a:defRPr>
            </a:lvl7pPr>
            <a:lvl8pPr marL="3429000" indent="-228600" algn="ctr" defTabSz="852488" eaLnBrk="0" fontAlgn="base" hangingPunct="0">
              <a:spcBef>
                <a:spcPct val="0"/>
              </a:spcBef>
              <a:spcAft>
                <a:spcPct val="0"/>
              </a:spcAft>
              <a:defRPr sz="2400">
                <a:solidFill>
                  <a:schemeClr val="tx1"/>
                </a:solidFill>
                <a:latin typeface="Arial" charset="0"/>
              </a:defRPr>
            </a:lvl8pPr>
            <a:lvl9pPr marL="3886200" indent="-228600" algn="ctr" defTabSz="852488" eaLnBrk="0" fontAlgn="base" hangingPunct="0">
              <a:spcBef>
                <a:spcPct val="0"/>
              </a:spcBef>
              <a:spcAft>
                <a:spcPct val="0"/>
              </a:spcAft>
              <a:defRPr sz="2400">
                <a:solidFill>
                  <a:schemeClr val="tx1"/>
                </a:solidFill>
                <a:latin typeface="Arial" charset="0"/>
              </a:defRPr>
            </a:lvl9pPr>
          </a:lstStyle>
          <a:p>
            <a:pPr eaLnBrk="1" hangingPunct="1"/>
            <a:endParaRPr lang="en-US" altLang="en-US" sz="3600">
              <a:solidFill>
                <a:schemeClr val="folHlink"/>
              </a:solidFill>
            </a:endParaRPr>
          </a:p>
        </p:txBody>
      </p:sp>
    </p:spTree>
    <p:extLst>
      <p:ext uri="{BB962C8B-B14F-4D97-AF65-F5344CB8AC3E}">
        <p14:creationId xmlns:p14="http://schemas.microsoft.com/office/powerpoint/2010/main" val="2911143140"/>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817323" y="249793"/>
            <a:ext cx="7402883" cy="874951"/>
          </a:xfrm>
        </p:spPr>
        <p:txBody>
          <a:bodyPr/>
          <a:lstStyle/>
          <a:p>
            <a:pPr eaLnBrk="1" hangingPunct="1"/>
            <a:r>
              <a:rPr lang="en-US" altLang="en-US" b="1" smtClean="0"/>
              <a:t>The Sample Covariance</a:t>
            </a:r>
          </a:p>
        </p:txBody>
      </p:sp>
      <p:sp>
        <p:nvSpPr>
          <p:cNvPr id="1028" name="Rectangle 3"/>
          <p:cNvSpPr>
            <a:spLocks noGrp="1" noChangeArrowheads="1"/>
          </p:cNvSpPr>
          <p:nvPr>
            <p:ph type="body" idx="1"/>
          </p:nvPr>
        </p:nvSpPr>
        <p:spPr>
          <a:xfrm>
            <a:off x="838200" y="1340768"/>
            <a:ext cx="8077200" cy="4760913"/>
          </a:xfrm>
        </p:spPr>
        <p:txBody>
          <a:bodyPr/>
          <a:lstStyle/>
          <a:p>
            <a:pPr eaLnBrk="1" hangingPunct="1">
              <a:lnSpc>
                <a:spcPct val="90000"/>
              </a:lnSpc>
            </a:pPr>
            <a:r>
              <a:rPr lang="en-US" altLang="en-US" sz="2400" b="1" smtClean="0"/>
              <a:t>The sample covariance measures the strength of the linear relationship between </a:t>
            </a:r>
            <a:r>
              <a:rPr lang="en-US" altLang="en-US" sz="2400" b="1" smtClean="0">
                <a:solidFill>
                  <a:schemeClr val="folHlink"/>
                </a:solidFill>
              </a:rPr>
              <a:t>two variables </a:t>
            </a:r>
            <a:r>
              <a:rPr lang="en-US" altLang="en-US" sz="2400" b="1" smtClean="0"/>
              <a:t>(called bivariate data)</a:t>
            </a:r>
          </a:p>
          <a:p>
            <a:pPr eaLnBrk="1" hangingPunct="1">
              <a:lnSpc>
                <a:spcPct val="90000"/>
              </a:lnSpc>
            </a:pPr>
            <a:endParaRPr lang="en-US" altLang="en-US" sz="2400" b="1" smtClean="0"/>
          </a:p>
          <a:p>
            <a:pPr eaLnBrk="1" hangingPunct="1">
              <a:lnSpc>
                <a:spcPct val="90000"/>
              </a:lnSpc>
            </a:pPr>
            <a:r>
              <a:rPr lang="en-US" altLang="en-US" sz="2400" b="1" smtClean="0"/>
              <a:t>The </a:t>
            </a:r>
            <a:r>
              <a:rPr lang="en-US" altLang="en-US" sz="2400" b="1" smtClean="0">
                <a:solidFill>
                  <a:schemeClr val="folHlink"/>
                </a:solidFill>
              </a:rPr>
              <a:t>sample covariance</a:t>
            </a:r>
            <a:r>
              <a:rPr lang="en-US" altLang="en-US" sz="2400" b="1" smtClean="0"/>
              <a:t>:</a:t>
            </a:r>
          </a:p>
          <a:p>
            <a:pPr eaLnBrk="1" hangingPunct="1">
              <a:lnSpc>
                <a:spcPct val="90000"/>
              </a:lnSpc>
            </a:pPr>
            <a:endParaRPr lang="en-US" altLang="en-US" sz="2000" b="1" smtClean="0"/>
          </a:p>
          <a:p>
            <a:pPr eaLnBrk="1" hangingPunct="1">
              <a:lnSpc>
                <a:spcPct val="90000"/>
              </a:lnSpc>
            </a:pPr>
            <a:endParaRPr lang="en-US" altLang="en-US" sz="2000" b="1" smtClean="0"/>
          </a:p>
          <a:p>
            <a:pPr eaLnBrk="1" hangingPunct="1">
              <a:lnSpc>
                <a:spcPct val="90000"/>
              </a:lnSpc>
            </a:pPr>
            <a:endParaRPr lang="en-US" altLang="en-US" sz="2000" b="1" smtClean="0"/>
          </a:p>
          <a:p>
            <a:pPr eaLnBrk="1" hangingPunct="1">
              <a:lnSpc>
                <a:spcPct val="90000"/>
              </a:lnSpc>
            </a:pPr>
            <a:endParaRPr lang="en-US" altLang="en-US" sz="2000" b="1" smtClean="0"/>
          </a:p>
          <a:p>
            <a:pPr eaLnBrk="1" hangingPunct="1">
              <a:lnSpc>
                <a:spcPct val="90000"/>
              </a:lnSpc>
            </a:pPr>
            <a:endParaRPr lang="en-US" altLang="en-US" sz="2000" b="1" smtClean="0"/>
          </a:p>
          <a:p>
            <a:pPr lvl="1" eaLnBrk="1" hangingPunct="1">
              <a:lnSpc>
                <a:spcPct val="90000"/>
              </a:lnSpc>
              <a:spcBef>
                <a:spcPct val="40000"/>
              </a:spcBef>
            </a:pPr>
            <a:r>
              <a:rPr lang="en-US" altLang="en-US" sz="1800" b="1" smtClean="0"/>
              <a:t>Only concerned with the strength of the relationship </a:t>
            </a:r>
          </a:p>
          <a:p>
            <a:pPr lvl="1" eaLnBrk="1" hangingPunct="1">
              <a:lnSpc>
                <a:spcPct val="90000"/>
              </a:lnSpc>
              <a:spcBef>
                <a:spcPct val="40000"/>
              </a:spcBef>
            </a:pPr>
            <a:r>
              <a:rPr lang="en-US" altLang="en-US" sz="1800" b="1" smtClean="0"/>
              <a:t>No causal effect is implied</a:t>
            </a:r>
          </a:p>
          <a:p>
            <a:pPr lvl="1" eaLnBrk="1" hangingPunct="1">
              <a:lnSpc>
                <a:spcPct val="90000"/>
              </a:lnSpc>
              <a:spcBef>
                <a:spcPct val="40000"/>
              </a:spcBef>
            </a:pPr>
            <a:r>
              <a:rPr lang="en-US" altLang="en-US" sz="1800" b="1" smtClean="0"/>
              <a:t>Depends on the unit of measurement used for X and Y</a:t>
            </a:r>
          </a:p>
        </p:txBody>
      </p:sp>
      <p:graphicFrame>
        <p:nvGraphicFramePr>
          <p:cNvPr id="1026" name="Object 4"/>
          <p:cNvGraphicFramePr>
            <a:graphicFrameLocks noChangeAspect="1"/>
          </p:cNvGraphicFramePr>
          <p:nvPr>
            <p:extLst>
              <p:ext uri="{D42A27DB-BD31-4B8C-83A1-F6EECF244321}">
                <p14:modId xmlns:p14="http://schemas.microsoft.com/office/powerpoint/2010/main" val="2579114624"/>
              </p:ext>
            </p:extLst>
          </p:nvPr>
        </p:nvGraphicFramePr>
        <p:xfrm>
          <a:off x="1981200" y="3356992"/>
          <a:ext cx="4876800" cy="1450975"/>
        </p:xfrm>
        <a:graphic>
          <a:graphicData uri="http://schemas.openxmlformats.org/presentationml/2006/ole">
            <mc:AlternateContent xmlns:mc="http://schemas.openxmlformats.org/markup-compatibility/2006">
              <mc:Choice xmlns:v="urn:schemas-microsoft-com:vml" Requires="v">
                <p:oleObj spid="_x0000_s1034" name="Equation" r:id="rId3" imgW="2044440" imgH="609480" progId="Equation.3">
                  <p:embed/>
                </p:oleObj>
              </mc:Choice>
              <mc:Fallback>
                <p:oleObj name="Equation" r:id="rId3" imgW="2044440" imgH="609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356992"/>
                        <a:ext cx="4876800" cy="1450975"/>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017217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xfrm>
            <a:off x="938336" y="1556792"/>
            <a:ext cx="8458200" cy="3581400"/>
          </a:xfrm>
        </p:spPr>
        <p:txBody>
          <a:bodyPr/>
          <a:lstStyle/>
          <a:p>
            <a:pPr eaLnBrk="1" hangingPunct="1">
              <a:lnSpc>
                <a:spcPct val="90000"/>
              </a:lnSpc>
            </a:pPr>
            <a:r>
              <a:rPr lang="en-US" altLang="en-US" sz="3200" b="1" smtClean="0">
                <a:solidFill>
                  <a:schemeClr val="folHlink"/>
                </a:solidFill>
              </a:rPr>
              <a:t>Covariance</a:t>
            </a:r>
            <a:r>
              <a:rPr lang="en-US" altLang="en-US" sz="3200" b="1" smtClean="0"/>
              <a:t> between two random variables:</a:t>
            </a:r>
          </a:p>
          <a:p>
            <a:pPr eaLnBrk="1" hangingPunct="1">
              <a:lnSpc>
                <a:spcPct val="90000"/>
              </a:lnSpc>
            </a:pPr>
            <a:endParaRPr lang="en-US" altLang="en-US" sz="3200" b="1" smtClean="0"/>
          </a:p>
          <a:p>
            <a:pPr eaLnBrk="1" hangingPunct="1">
              <a:lnSpc>
                <a:spcPct val="110000"/>
              </a:lnSpc>
              <a:spcBef>
                <a:spcPct val="60000"/>
              </a:spcBef>
              <a:buFont typeface="Wingdings" pitchFamily="2" charset="2"/>
              <a:buNone/>
            </a:pPr>
            <a:r>
              <a:rPr lang="en-US" altLang="en-US" sz="2400" b="1" smtClean="0">
                <a:sym typeface="Symbol" pitchFamily="18" charset="2"/>
              </a:rPr>
              <a:t>cov(X,Y) &gt; 0       X and Y tend to move in the </a:t>
            </a:r>
            <a:r>
              <a:rPr lang="en-US" altLang="en-US" sz="2400" b="1" smtClean="0">
                <a:solidFill>
                  <a:schemeClr val="folHlink"/>
                </a:solidFill>
                <a:sym typeface="Symbol" pitchFamily="18" charset="2"/>
              </a:rPr>
              <a:t>same</a:t>
            </a:r>
            <a:r>
              <a:rPr lang="en-US" altLang="en-US" sz="2400" b="1" smtClean="0">
                <a:sym typeface="Symbol" pitchFamily="18" charset="2"/>
              </a:rPr>
              <a:t> direction</a:t>
            </a:r>
          </a:p>
          <a:p>
            <a:pPr eaLnBrk="1" hangingPunct="1">
              <a:lnSpc>
                <a:spcPct val="110000"/>
              </a:lnSpc>
              <a:spcBef>
                <a:spcPct val="60000"/>
              </a:spcBef>
              <a:buFont typeface="Wingdings" pitchFamily="2" charset="2"/>
              <a:buNone/>
            </a:pPr>
            <a:r>
              <a:rPr lang="en-US" altLang="en-US" sz="2400" b="1" smtClean="0">
                <a:sym typeface="Symbol" pitchFamily="18" charset="2"/>
              </a:rPr>
              <a:t>cov(X,Y) &lt; 0       X and Y tend to move in </a:t>
            </a:r>
            <a:r>
              <a:rPr lang="en-US" altLang="en-US" sz="2400" b="1" smtClean="0">
                <a:solidFill>
                  <a:schemeClr val="folHlink"/>
                </a:solidFill>
                <a:sym typeface="Symbol" pitchFamily="18" charset="2"/>
              </a:rPr>
              <a:t>opposite</a:t>
            </a:r>
            <a:r>
              <a:rPr lang="en-US" altLang="en-US" sz="2400" b="1" smtClean="0">
                <a:sym typeface="Symbol" pitchFamily="18" charset="2"/>
              </a:rPr>
              <a:t> directions</a:t>
            </a:r>
          </a:p>
          <a:p>
            <a:pPr eaLnBrk="1" hangingPunct="1">
              <a:lnSpc>
                <a:spcPct val="110000"/>
              </a:lnSpc>
              <a:spcBef>
                <a:spcPct val="60000"/>
              </a:spcBef>
              <a:buFont typeface="Wingdings" pitchFamily="2" charset="2"/>
              <a:buNone/>
            </a:pPr>
            <a:r>
              <a:rPr lang="en-US" altLang="en-US" sz="2400" b="1" smtClean="0">
                <a:sym typeface="Symbol" pitchFamily="18" charset="2"/>
              </a:rPr>
              <a:t>cov(X,Y) = 0       X and Y are independent</a:t>
            </a:r>
          </a:p>
          <a:p>
            <a:pPr eaLnBrk="1" hangingPunct="1">
              <a:lnSpc>
                <a:spcPct val="90000"/>
              </a:lnSpc>
              <a:buFont typeface="Wingdings" pitchFamily="2" charset="2"/>
              <a:buNone/>
            </a:pPr>
            <a:endParaRPr lang="en-US" altLang="en-US" b="1" smtClean="0">
              <a:sym typeface="Symbol" pitchFamily="18" charset="2"/>
            </a:endParaRPr>
          </a:p>
        </p:txBody>
      </p:sp>
      <p:sp>
        <p:nvSpPr>
          <p:cNvPr id="18435" name="Rectangle 3"/>
          <p:cNvSpPr>
            <a:spLocks noGrp="1" noChangeArrowheads="1"/>
          </p:cNvSpPr>
          <p:nvPr>
            <p:ph type="title"/>
          </p:nvPr>
        </p:nvSpPr>
        <p:spPr/>
        <p:txBody>
          <a:bodyPr/>
          <a:lstStyle/>
          <a:p>
            <a:pPr eaLnBrk="1" hangingPunct="1"/>
            <a:r>
              <a:rPr lang="en-US" altLang="en-US" b="1" smtClean="0"/>
              <a:t>Interpreting Covariance</a:t>
            </a:r>
          </a:p>
        </p:txBody>
      </p:sp>
      <p:sp>
        <p:nvSpPr>
          <p:cNvPr id="18436" name="Line 4"/>
          <p:cNvSpPr>
            <a:spLocks noChangeShapeType="1"/>
          </p:cNvSpPr>
          <p:nvPr/>
        </p:nvSpPr>
        <p:spPr bwMode="auto">
          <a:xfrm>
            <a:off x="2688976" y="2986336"/>
            <a:ext cx="381000" cy="0"/>
          </a:xfrm>
          <a:prstGeom prst="line">
            <a:avLst/>
          </a:prstGeom>
          <a:noFill/>
          <a:ln w="25400">
            <a:solidFill>
              <a:schemeClr val="hlink"/>
            </a:solidFill>
            <a:round/>
            <a:headEnd/>
            <a:tailEnd type="triangle" w="lg" len="med"/>
          </a:ln>
          <a:extLst>
            <a:ext uri="{909E8E84-426E-40DD-AFC4-6F175D3DCCD1}">
              <a14:hiddenFill xmlns:a14="http://schemas.microsoft.com/office/drawing/2010/main">
                <a:noFill/>
              </a14:hiddenFill>
            </a:ext>
          </a:extLst>
        </p:spPr>
        <p:txBody>
          <a:bodyPr lIns="90488" tIns="44450" rIns="90488" bIns="44450">
            <a:spAutoFit/>
          </a:bodyPr>
          <a:lstStyle/>
          <a:p>
            <a:endParaRPr lang="en-IN" b="1"/>
          </a:p>
        </p:txBody>
      </p:sp>
      <p:sp>
        <p:nvSpPr>
          <p:cNvPr id="18437" name="Line 5"/>
          <p:cNvSpPr>
            <a:spLocks noChangeShapeType="1"/>
          </p:cNvSpPr>
          <p:nvPr/>
        </p:nvSpPr>
        <p:spPr bwMode="auto">
          <a:xfrm>
            <a:off x="2688976" y="3595936"/>
            <a:ext cx="381000" cy="0"/>
          </a:xfrm>
          <a:prstGeom prst="line">
            <a:avLst/>
          </a:prstGeom>
          <a:noFill/>
          <a:ln w="25400">
            <a:solidFill>
              <a:schemeClr val="hlink"/>
            </a:solidFill>
            <a:round/>
            <a:headEnd/>
            <a:tailEnd type="triangle" w="lg" len="med"/>
          </a:ln>
          <a:extLst>
            <a:ext uri="{909E8E84-426E-40DD-AFC4-6F175D3DCCD1}">
              <a14:hiddenFill xmlns:a14="http://schemas.microsoft.com/office/drawing/2010/main">
                <a:noFill/>
              </a14:hiddenFill>
            </a:ext>
          </a:extLst>
        </p:spPr>
        <p:txBody>
          <a:bodyPr lIns="90488" tIns="44450" rIns="90488" bIns="44450">
            <a:spAutoFit/>
          </a:bodyPr>
          <a:lstStyle/>
          <a:p>
            <a:endParaRPr lang="en-IN" b="1"/>
          </a:p>
        </p:txBody>
      </p:sp>
      <p:sp>
        <p:nvSpPr>
          <p:cNvPr id="18438" name="Line 6"/>
          <p:cNvSpPr>
            <a:spLocks noChangeShapeType="1"/>
          </p:cNvSpPr>
          <p:nvPr/>
        </p:nvSpPr>
        <p:spPr bwMode="auto">
          <a:xfrm>
            <a:off x="2688976" y="4205536"/>
            <a:ext cx="381000" cy="0"/>
          </a:xfrm>
          <a:prstGeom prst="line">
            <a:avLst/>
          </a:prstGeom>
          <a:noFill/>
          <a:ln w="25400">
            <a:solidFill>
              <a:schemeClr val="hlink"/>
            </a:solidFill>
            <a:round/>
            <a:headEnd/>
            <a:tailEnd type="triangle" w="lg" len="med"/>
          </a:ln>
          <a:extLst>
            <a:ext uri="{909E8E84-426E-40DD-AFC4-6F175D3DCCD1}">
              <a14:hiddenFill xmlns:a14="http://schemas.microsoft.com/office/drawing/2010/main">
                <a:noFill/>
              </a14:hiddenFill>
            </a:ext>
          </a:extLst>
        </p:spPr>
        <p:txBody>
          <a:bodyPr lIns="90488" tIns="44450" rIns="90488" bIns="44450">
            <a:spAutoFit/>
          </a:bodyPr>
          <a:lstStyle/>
          <a:p>
            <a:endParaRPr lang="en-IN" b="1"/>
          </a:p>
        </p:txBody>
      </p:sp>
    </p:spTree>
    <p:extLst>
      <p:ext uri="{BB962C8B-B14F-4D97-AF65-F5344CB8AC3E}">
        <p14:creationId xmlns:p14="http://schemas.microsoft.com/office/powerpoint/2010/main" val="33608393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2"/>
          <p:cNvSpPr>
            <a:spLocks noGrp="1" noChangeArrowheads="1"/>
          </p:cNvSpPr>
          <p:nvPr>
            <p:ph type="title"/>
          </p:nvPr>
        </p:nvSpPr>
        <p:spPr>
          <a:xfrm>
            <a:off x="1154443" y="249793"/>
            <a:ext cx="7402883" cy="874951"/>
          </a:xfrm>
        </p:spPr>
        <p:txBody>
          <a:bodyPr/>
          <a:lstStyle/>
          <a:p>
            <a:pPr eaLnBrk="1" hangingPunct="1">
              <a:lnSpc>
                <a:spcPct val="80000"/>
              </a:lnSpc>
            </a:pPr>
            <a:r>
              <a:rPr lang="en-US" altLang="en-US" b="1" smtClean="0"/>
              <a:t>Coefficient of Correlation</a:t>
            </a:r>
          </a:p>
        </p:txBody>
      </p:sp>
      <p:sp>
        <p:nvSpPr>
          <p:cNvPr id="2055" name="Rectangle 3"/>
          <p:cNvSpPr>
            <a:spLocks noGrp="1" noChangeArrowheads="1"/>
          </p:cNvSpPr>
          <p:nvPr>
            <p:ph type="body" idx="1"/>
          </p:nvPr>
        </p:nvSpPr>
        <p:spPr>
          <a:xfrm>
            <a:off x="1175320" y="1296317"/>
            <a:ext cx="8077200" cy="4532313"/>
          </a:xfrm>
        </p:spPr>
        <p:txBody>
          <a:bodyPr/>
          <a:lstStyle/>
          <a:p>
            <a:pPr eaLnBrk="1" hangingPunct="1"/>
            <a:r>
              <a:rPr lang="en-US" altLang="en-US" smtClean="0"/>
              <a:t>Measures the relative strength of the linear relationship between two variables</a:t>
            </a:r>
          </a:p>
          <a:p>
            <a:pPr eaLnBrk="1" hangingPunct="1"/>
            <a:r>
              <a:rPr lang="en-US" altLang="en-US" smtClean="0">
                <a:solidFill>
                  <a:schemeClr val="folHlink"/>
                </a:solidFill>
              </a:rPr>
              <a:t>Sample coefficient of correlation</a:t>
            </a:r>
            <a:r>
              <a:rPr lang="en-US" altLang="en-US" smtClean="0"/>
              <a:t>:</a:t>
            </a:r>
          </a:p>
          <a:p>
            <a:pPr eaLnBrk="1" hangingPunct="1">
              <a:lnSpc>
                <a:spcPct val="80000"/>
              </a:lnSpc>
            </a:pPr>
            <a:endParaRPr lang="en-US" altLang="en-US" smtClean="0"/>
          </a:p>
          <a:p>
            <a:pPr eaLnBrk="1" hangingPunct="1">
              <a:lnSpc>
                <a:spcPct val="80000"/>
              </a:lnSpc>
            </a:pPr>
            <a:endParaRPr lang="en-US" altLang="en-US" smtClean="0"/>
          </a:p>
          <a:p>
            <a:pPr eaLnBrk="1" hangingPunct="1">
              <a:lnSpc>
                <a:spcPct val="80000"/>
              </a:lnSpc>
            </a:pPr>
            <a:endParaRPr lang="en-US" altLang="en-US" sz="1600" smtClean="0"/>
          </a:p>
          <a:p>
            <a:pPr eaLnBrk="1" hangingPunct="1">
              <a:lnSpc>
                <a:spcPct val="80000"/>
              </a:lnSpc>
              <a:buFont typeface="Wingdings" pitchFamily="2" charset="2"/>
              <a:buNone/>
            </a:pPr>
            <a:r>
              <a:rPr lang="en-US" altLang="en-US" smtClean="0"/>
              <a:t> </a:t>
            </a:r>
          </a:p>
          <a:p>
            <a:pPr eaLnBrk="1" hangingPunct="1">
              <a:lnSpc>
                <a:spcPct val="80000"/>
              </a:lnSpc>
              <a:buFont typeface="Wingdings" pitchFamily="2" charset="2"/>
              <a:buNone/>
            </a:pPr>
            <a:r>
              <a:rPr lang="en-US" altLang="en-US" smtClean="0"/>
              <a:t>where</a:t>
            </a:r>
          </a:p>
        </p:txBody>
      </p:sp>
      <p:graphicFrame>
        <p:nvGraphicFramePr>
          <p:cNvPr id="2050" name="Object 4"/>
          <p:cNvGraphicFramePr>
            <a:graphicFrameLocks noChangeAspect="1"/>
          </p:cNvGraphicFramePr>
          <p:nvPr>
            <p:extLst>
              <p:ext uri="{D42A27DB-BD31-4B8C-83A1-F6EECF244321}">
                <p14:modId xmlns:p14="http://schemas.microsoft.com/office/powerpoint/2010/main" val="3116972223"/>
              </p:ext>
            </p:extLst>
          </p:nvPr>
        </p:nvGraphicFramePr>
        <p:xfrm>
          <a:off x="3613720" y="2972717"/>
          <a:ext cx="2339975" cy="1089025"/>
        </p:xfrm>
        <a:graphic>
          <a:graphicData uri="http://schemas.openxmlformats.org/presentationml/2006/ole">
            <mc:AlternateContent xmlns:mc="http://schemas.openxmlformats.org/markup-compatibility/2006">
              <mc:Choice xmlns:v="urn:schemas-microsoft-com:vml" Requires="v">
                <p:oleObj spid="_x0000_s2082" name="Equation" r:id="rId3" imgW="927000" imgH="431640" progId="Equation.3">
                  <p:embed/>
                </p:oleObj>
              </mc:Choice>
              <mc:Fallback>
                <p:oleObj name="Equation" r:id="rId3" imgW="92700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3720" y="2972717"/>
                        <a:ext cx="2339975" cy="1089025"/>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5"/>
          <p:cNvGraphicFramePr>
            <a:graphicFrameLocks noChangeAspect="1"/>
          </p:cNvGraphicFramePr>
          <p:nvPr>
            <p:extLst>
              <p:ext uri="{D42A27DB-BD31-4B8C-83A1-F6EECF244321}">
                <p14:modId xmlns:p14="http://schemas.microsoft.com/office/powerpoint/2010/main" val="1561552228"/>
              </p:ext>
            </p:extLst>
          </p:nvPr>
        </p:nvGraphicFramePr>
        <p:xfrm>
          <a:off x="4375720" y="4796755"/>
          <a:ext cx="2209800" cy="1147762"/>
        </p:xfrm>
        <a:graphic>
          <a:graphicData uri="http://schemas.openxmlformats.org/presentationml/2006/ole">
            <mc:AlternateContent xmlns:mc="http://schemas.openxmlformats.org/markup-compatibility/2006">
              <mc:Choice xmlns:v="urn:schemas-microsoft-com:vml" Requires="v">
                <p:oleObj spid="_x0000_s2083" name="Equation" r:id="rId5" imgW="1244520" imgH="647640" progId="Equation.3">
                  <p:embed/>
                </p:oleObj>
              </mc:Choice>
              <mc:Fallback>
                <p:oleObj name="Equation" r:id="rId5" imgW="1244520" imgH="647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5720" y="4796755"/>
                        <a:ext cx="2209800" cy="1147762"/>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2" name="Object 6"/>
          <p:cNvGraphicFramePr>
            <a:graphicFrameLocks noChangeAspect="1"/>
          </p:cNvGraphicFramePr>
          <p:nvPr>
            <p:extLst>
              <p:ext uri="{D42A27DB-BD31-4B8C-83A1-F6EECF244321}">
                <p14:modId xmlns:p14="http://schemas.microsoft.com/office/powerpoint/2010/main" val="2274985741"/>
              </p:ext>
            </p:extLst>
          </p:nvPr>
        </p:nvGraphicFramePr>
        <p:xfrm>
          <a:off x="641920" y="4784055"/>
          <a:ext cx="3509963" cy="1160462"/>
        </p:xfrm>
        <a:graphic>
          <a:graphicData uri="http://schemas.openxmlformats.org/presentationml/2006/ole">
            <mc:AlternateContent xmlns:mc="http://schemas.openxmlformats.org/markup-compatibility/2006">
              <mc:Choice xmlns:v="urn:schemas-microsoft-com:vml" Requires="v">
                <p:oleObj spid="_x0000_s2084" name="Equation" r:id="rId7" imgW="1955520" imgH="647640" progId="Equation.3">
                  <p:embed/>
                </p:oleObj>
              </mc:Choice>
              <mc:Fallback>
                <p:oleObj name="Equation" r:id="rId7" imgW="1955520" imgH="647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920" y="4784055"/>
                        <a:ext cx="3509963" cy="1160462"/>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3" name="Object 7"/>
          <p:cNvGraphicFramePr>
            <a:graphicFrameLocks noChangeAspect="1"/>
          </p:cNvGraphicFramePr>
          <p:nvPr>
            <p:extLst>
              <p:ext uri="{D42A27DB-BD31-4B8C-83A1-F6EECF244321}">
                <p14:modId xmlns:p14="http://schemas.microsoft.com/office/powerpoint/2010/main" val="2187671003"/>
              </p:ext>
            </p:extLst>
          </p:nvPr>
        </p:nvGraphicFramePr>
        <p:xfrm>
          <a:off x="6761733" y="4801517"/>
          <a:ext cx="2208212" cy="1147763"/>
        </p:xfrm>
        <a:graphic>
          <a:graphicData uri="http://schemas.openxmlformats.org/presentationml/2006/ole">
            <mc:AlternateContent xmlns:mc="http://schemas.openxmlformats.org/markup-compatibility/2006">
              <mc:Choice xmlns:v="urn:schemas-microsoft-com:vml" Requires="v">
                <p:oleObj spid="_x0000_s2085" name="Equation" r:id="rId9" imgW="1244520" imgH="647640" progId="Equation.3">
                  <p:embed/>
                </p:oleObj>
              </mc:Choice>
              <mc:Fallback>
                <p:oleObj name="Equation" r:id="rId9" imgW="1244520" imgH="6476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61733" y="4801517"/>
                        <a:ext cx="2208212" cy="1147763"/>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053579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14400" y="381000"/>
            <a:ext cx="7793038" cy="990600"/>
          </a:xfrm>
        </p:spPr>
        <p:txBody>
          <a:bodyPr/>
          <a:lstStyle/>
          <a:p>
            <a:pPr eaLnBrk="1" hangingPunct="1">
              <a:lnSpc>
                <a:spcPct val="80000"/>
              </a:lnSpc>
            </a:pPr>
            <a:r>
              <a:rPr lang="en-US" altLang="en-US" smtClean="0"/>
              <a:t>Features of </a:t>
            </a:r>
            <a:br>
              <a:rPr lang="en-US" altLang="en-US" smtClean="0"/>
            </a:br>
            <a:r>
              <a:rPr lang="en-US" altLang="en-US" smtClean="0"/>
              <a:t>Correlation Coefficient, r</a:t>
            </a:r>
          </a:p>
        </p:txBody>
      </p:sp>
      <p:sp>
        <p:nvSpPr>
          <p:cNvPr id="19459" name="Rectangle 3"/>
          <p:cNvSpPr>
            <a:spLocks noGrp="1" noChangeArrowheads="1"/>
          </p:cNvSpPr>
          <p:nvPr>
            <p:ph type="body" idx="1"/>
          </p:nvPr>
        </p:nvSpPr>
        <p:spPr>
          <a:xfrm>
            <a:off x="838200" y="1752600"/>
            <a:ext cx="8077200" cy="4532313"/>
          </a:xfrm>
        </p:spPr>
        <p:txBody>
          <a:bodyPr/>
          <a:lstStyle/>
          <a:p>
            <a:pPr eaLnBrk="1" hangingPunct="1">
              <a:lnSpc>
                <a:spcPct val="120000"/>
              </a:lnSpc>
            </a:pPr>
            <a:r>
              <a:rPr lang="en-US" altLang="en-US" sz="2400" smtClean="0"/>
              <a:t>Unit free</a:t>
            </a:r>
          </a:p>
          <a:p>
            <a:pPr eaLnBrk="1" hangingPunct="1">
              <a:lnSpc>
                <a:spcPct val="120000"/>
              </a:lnSpc>
            </a:pPr>
            <a:r>
              <a:rPr lang="en-US" altLang="en-US" sz="2400" smtClean="0"/>
              <a:t>Ranges between –1 and 1</a:t>
            </a:r>
          </a:p>
          <a:p>
            <a:pPr eaLnBrk="1" hangingPunct="1">
              <a:lnSpc>
                <a:spcPct val="120000"/>
              </a:lnSpc>
            </a:pPr>
            <a:r>
              <a:rPr lang="en-US" altLang="en-US" sz="2400" smtClean="0"/>
              <a:t>The closer to –1, the stronger the negative linear relationship</a:t>
            </a:r>
          </a:p>
          <a:p>
            <a:pPr eaLnBrk="1" hangingPunct="1">
              <a:lnSpc>
                <a:spcPct val="120000"/>
              </a:lnSpc>
            </a:pPr>
            <a:r>
              <a:rPr lang="en-US" altLang="en-US" sz="2400" smtClean="0"/>
              <a:t>The closer to 1, the stronger the positive linear relationship</a:t>
            </a:r>
          </a:p>
          <a:p>
            <a:pPr eaLnBrk="1" hangingPunct="1">
              <a:lnSpc>
                <a:spcPct val="120000"/>
              </a:lnSpc>
            </a:pPr>
            <a:r>
              <a:rPr lang="en-US" altLang="en-US" sz="2400" smtClean="0"/>
              <a:t>The closer to 0, the weaker the linear relationship</a:t>
            </a:r>
          </a:p>
        </p:txBody>
      </p:sp>
    </p:spTree>
    <p:extLst>
      <p:ext uri="{BB962C8B-B14F-4D97-AF65-F5344CB8AC3E}">
        <p14:creationId xmlns:p14="http://schemas.microsoft.com/office/powerpoint/2010/main" val="23237856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Line 2"/>
          <p:cNvSpPr>
            <a:spLocks noChangeShapeType="1"/>
          </p:cNvSpPr>
          <p:nvPr/>
        </p:nvSpPr>
        <p:spPr bwMode="auto">
          <a:xfrm>
            <a:off x="6655370" y="2478832"/>
            <a:ext cx="228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483" name="Line 3"/>
          <p:cNvSpPr>
            <a:spLocks noChangeShapeType="1"/>
          </p:cNvSpPr>
          <p:nvPr/>
        </p:nvSpPr>
        <p:spPr bwMode="auto">
          <a:xfrm>
            <a:off x="6649020" y="5069632"/>
            <a:ext cx="228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484" name="Rectangle 4"/>
          <p:cNvSpPr>
            <a:spLocks noGrp="1" noChangeArrowheads="1"/>
          </p:cNvSpPr>
          <p:nvPr>
            <p:ph type="title"/>
          </p:nvPr>
        </p:nvSpPr>
        <p:spPr>
          <a:xfrm>
            <a:off x="1397570" y="116632"/>
            <a:ext cx="7793038" cy="1143000"/>
          </a:xfrm>
        </p:spPr>
        <p:txBody>
          <a:bodyPr/>
          <a:lstStyle/>
          <a:p>
            <a:pPr eaLnBrk="1" hangingPunct="1">
              <a:lnSpc>
                <a:spcPct val="80000"/>
              </a:lnSpc>
            </a:pPr>
            <a:r>
              <a:rPr lang="en-US" altLang="en-US" smtClean="0"/>
              <a:t>Scatter Plots of Data with Various Correlation Coefficients</a:t>
            </a:r>
          </a:p>
        </p:txBody>
      </p:sp>
      <p:sp>
        <p:nvSpPr>
          <p:cNvPr id="20485" name="Line 5"/>
          <p:cNvSpPr>
            <a:spLocks noChangeShapeType="1"/>
          </p:cNvSpPr>
          <p:nvPr/>
        </p:nvSpPr>
        <p:spPr bwMode="auto">
          <a:xfrm>
            <a:off x="668908" y="1873995"/>
            <a:ext cx="0" cy="15192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486" name="Line 6"/>
          <p:cNvSpPr>
            <a:spLocks noChangeShapeType="1"/>
          </p:cNvSpPr>
          <p:nvPr/>
        </p:nvSpPr>
        <p:spPr bwMode="auto">
          <a:xfrm flipH="1" flipV="1">
            <a:off x="668908" y="2021632"/>
            <a:ext cx="2574925" cy="8731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487" name="Oval 7"/>
          <p:cNvSpPr>
            <a:spLocks noChangeArrowheads="1"/>
          </p:cNvSpPr>
          <p:nvPr/>
        </p:nvSpPr>
        <p:spPr bwMode="auto">
          <a:xfrm rot="7282380" flipH="1">
            <a:off x="2786633" y="2707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488" name="Oval 8"/>
          <p:cNvSpPr>
            <a:spLocks noChangeArrowheads="1"/>
          </p:cNvSpPr>
          <p:nvPr/>
        </p:nvSpPr>
        <p:spPr bwMode="auto">
          <a:xfrm rot="7282380" flipH="1">
            <a:off x="2024633" y="2402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489" name="Oval 9"/>
          <p:cNvSpPr>
            <a:spLocks noChangeArrowheads="1"/>
          </p:cNvSpPr>
          <p:nvPr/>
        </p:nvSpPr>
        <p:spPr bwMode="auto">
          <a:xfrm rot="7282380" flipH="1">
            <a:off x="1719833" y="2326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490" name="Oval 10"/>
          <p:cNvSpPr>
            <a:spLocks noChangeArrowheads="1"/>
          </p:cNvSpPr>
          <p:nvPr/>
        </p:nvSpPr>
        <p:spPr bwMode="auto">
          <a:xfrm rot="7282380" flipH="1">
            <a:off x="729233" y="1945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491" name="Oval 11"/>
          <p:cNvSpPr>
            <a:spLocks noChangeArrowheads="1"/>
          </p:cNvSpPr>
          <p:nvPr/>
        </p:nvSpPr>
        <p:spPr bwMode="auto">
          <a:xfrm rot="7282380" flipH="1">
            <a:off x="1110233" y="20978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492" name="Oval 12"/>
          <p:cNvSpPr>
            <a:spLocks noChangeArrowheads="1"/>
          </p:cNvSpPr>
          <p:nvPr/>
        </p:nvSpPr>
        <p:spPr bwMode="auto">
          <a:xfrm rot="7282380" flipH="1">
            <a:off x="1415033" y="2174032"/>
            <a:ext cx="228600" cy="228600"/>
          </a:xfrm>
          <a:prstGeom prst="ellipse">
            <a:avLst/>
          </a:prstGeom>
          <a:solidFill>
            <a:schemeClr val="folHlink"/>
          </a:solidFill>
          <a:ln w="12700">
            <a:solidFill>
              <a:schemeClr val="tx1"/>
            </a:solidFill>
            <a:round/>
            <a:headEnd/>
            <a:tailEnd/>
          </a:ln>
        </p:spPr>
        <p:txBody>
          <a:bodyPr rot="10800000" vert="eaVert"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endParaRPr lang="en-US" altLang="en-US">
              <a:solidFill>
                <a:schemeClr val="tx2"/>
              </a:solidFill>
            </a:endParaRPr>
          </a:p>
        </p:txBody>
      </p:sp>
      <p:sp>
        <p:nvSpPr>
          <p:cNvPr id="20493" name="Text Box 13"/>
          <p:cNvSpPr txBox="1">
            <a:spLocks noChangeArrowheads="1"/>
          </p:cNvSpPr>
          <p:nvPr/>
        </p:nvSpPr>
        <p:spPr bwMode="auto">
          <a:xfrm>
            <a:off x="424433" y="14882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Y</a:t>
            </a:r>
          </a:p>
        </p:txBody>
      </p:sp>
      <p:sp>
        <p:nvSpPr>
          <p:cNvPr id="20494" name="Line 14"/>
          <p:cNvSpPr>
            <a:spLocks noChangeShapeType="1"/>
          </p:cNvSpPr>
          <p:nvPr/>
        </p:nvSpPr>
        <p:spPr bwMode="auto">
          <a:xfrm>
            <a:off x="653033" y="3393232"/>
            <a:ext cx="228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495" name="Oval 15"/>
          <p:cNvSpPr>
            <a:spLocks noChangeArrowheads="1"/>
          </p:cNvSpPr>
          <p:nvPr/>
        </p:nvSpPr>
        <p:spPr bwMode="auto">
          <a:xfrm rot="7282380" flipH="1">
            <a:off x="2405633" y="25550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496" name="Text Box 16"/>
          <p:cNvSpPr txBox="1">
            <a:spLocks noChangeArrowheads="1"/>
          </p:cNvSpPr>
          <p:nvPr/>
        </p:nvSpPr>
        <p:spPr bwMode="auto">
          <a:xfrm>
            <a:off x="2915220" y="31646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X</a:t>
            </a:r>
          </a:p>
        </p:txBody>
      </p:sp>
      <p:sp>
        <p:nvSpPr>
          <p:cNvPr id="20497" name="Line 17"/>
          <p:cNvSpPr>
            <a:spLocks noChangeShapeType="1"/>
          </p:cNvSpPr>
          <p:nvPr/>
        </p:nvSpPr>
        <p:spPr bwMode="auto">
          <a:xfrm>
            <a:off x="3623245" y="1873995"/>
            <a:ext cx="0" cy="15192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498" name="Line 18"/>
          <p:cNvSpPr>
            <a:spLocks noChangeShapeType="1"/>
          </p:cNvSpPr>
          <p:nvPr/>
        </p:nvSpPr>
        <p:spPr bwMode="auto">
          <a:xfrm flipH="1" flipV="1">
            <a:off x="3623245" y="2021632"/>
            <a:ext cx="2574925" cy="8731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499" name="Oval 19"/>
          <p:cNvSpPr>
            <a:spLocks noChangeArrowheads="1"/>
          </p:cNvSpPr>
          <p:nvPr/>
        </p:nvSpPr>
        <p:spPr bwMode="auto">
          <a:xfrm rot="-7282380">
            <a:off x="5740970" y="3012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00" name="Oval 20"/>
          <p:cNvSpPr>
            <a:spLocks noChangeArrowheads="1"/>
          </p:cNvSpPr>
          <p:nvPr/>
        </p:nvSpPr>
        <p:spPr bwMode="auto">
          <a:xfrm rot="-7282380">
            <a:off x="5664770" y="2631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01" name="Oval 21"/>
          <p:cNvSpPr>
            <a:spLocks noChangeArrowheads="1"/>
          </p:cNvSpPr>
          <p:nvPr/>
        </p:nvSpPr>
        <p:spPr bwMode="auto">
          <a:xfrm rot="-7282380">
            <a:off x="3835970" y="1640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02" name="Oval 22"/>
          <p:cNvSpPr>
            <a:spLocks noChangeArrowheads="1"/>
          </p:cNvSpPr>
          <p:nvPr/>
        </p:nvSpPr>
        <p:spPr bwMode="auto">
          <a:xfrm rot="-7282380">
            <a:off x="3988370" y="2021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03" name="Oval 23"/>
          <p:cNvSpPr>
            <a:spLocks noChangeArrowheads="1"/>
          </p:cNvSpPr>
          <p:nvPr/>
        </p:nvSpPr>
        <p:spPr bwMode="auto">
          <a:xfrm rot="-7282380">
            <a:off x="5359970" y="28598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04" name="Oval 24"/>
          <p:cNvSpPr>
            <a:spLocks noChangeArrowheads="1"/>
          </p:cNvSpPr>
          <p:nvPr/>
        </p:nvSpPr>
        <p:spPr bwMode="auto">
          <a:xfrm rot="-7282380">
            <a:off x="3683570" y="2326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05" name="Oval 25"/>
          <p:cNvSpPr>
            <a:spLocks noChangeArrowheads="1"/>
          </p:cNvSpPr>
          <p:nvPr/>
        </p:nvSpPr>
        <p:spPr bwMode="auto">
          <a:xfrm rot="-7282380">
            <a:off x="4978970" y="2631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06" name="Oval 26"/>
          <p:cNvSpPr>
            <a:spLocks noChangeArrowheads="1"/>
          </p:cNvSpPr>
          <p:nvPr/>
        </p:nvSpPr>
        <p:spPr bwMode="auto">
          <a:xfrm rot="-7282380">
            <a:off x="4445570" y="2021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07" name="Oval 27"/>
          <p:cNvSpPr>
            <a:spLocks noChangeArrowheads="1"/>
          </p:cNvSpPr>
          <p:nvPr/>
        </p:nvSpPr>
        <p:spPr bwMode="auto">
          <a:xfrm rot="-7282380">
            <a:off x="4674170" y="1869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08" name="Oval 28"/>
          <p:cNvSpPr>
            <a:spLocks noChangeArrowheads="1"/>
          </p:cNvSpPr>
          <p:nvPr/>
        </p:nvSpPr>
        <p:spPr bwMode="auto">
          <a:xfrm rot="-7282380">
            <a:off x="5512370" y="2402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09" name="Oval 29"/>
          <p:cNvSpPr>
            <a:spLocks noChangeArrowheads="1"/>
          </p:cNvSpPr>
          <p:nvPr/>
        </p:nvSpPr>
        <p:spPr bwMode="auto">
          <a:xfrm rot="-7282380">
            <a:off x="4064570" y="2326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10" name="Oval 30"/>
          <p:cNvSpPr>
            <a:spLocks noChangeArrowheads="1"/>
          </p:cNvSpPr>
          <p:nvPr/>
        </p:nvSpPr>
        <p:spPr bwMode="auto">
          <a:xfrm rot="-7282380">
            <a:off x="5283770" y="2174032"/>
            <a:ext cx="228600" cy="228600"/>
          </a:xfrm>
          <a:prstGeom prst="ellipse">
            <a:avLst/>
          </a:prstGeom>
          <a:solidFill>
            <a:schemeClr val="folHlink"/>
          </a:solidFill>
          <a:ln w="12700">
            <a:solidFill>
              <a:schemeClr val="tx1"/>
            </a:solidFill>
            <a:round/>
            <a:headEnd/>
            <a:tailEnd/>
          </a:ln>
        </p:spPr>
        <p:txBody>
          <a:bodyPr vert="eaVert"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endParaRPr lang="en-US" altLang="en-US">
              <a:solidFill>
                <a:schemeClr val="tx2"/>
              </a:solidFill>
            </a:endParaRPr>
          </a:p>
        </p:txBody>
      </p:sp>
      <p:sp>
        <p:nvSpPr>
          <p:cNvPr id="20511" name="Oval 31"/>
          <p:cNvSpPr>
            <a:spLocks noChangeArrowheads="1"/>
          </p:cNvSpPr>
          <p:nvPr/>
        </p:nvSpPr>
        <p:spPr bwMode="auto">
          <a:xfrm rot="-7282380">
            <a:off x="4369370" y="2326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12" name="Oval 32"/>
          <p:cNvSpPr>
            <a:spLocks noChangeArrowheads="1"/>
          </p:cNvSpPr>
          <p:nvPr/>
        </p:nvSpPr>
        <p:spPr bwMode="auto">
          <a:xfrm rot="-7282380">
            <a:off x="4750370" y="2402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13" name="Oval 33"/>
          <p:cNvSpPr>
            <a:spLocks noChangeArrowheads="1"/>
          </p:cNvSpPr>
          <p:nvPr/>
        </p:nvSpPr>
        <p:spPr bwMode="auto">
          <a:xfrm rot="-7282380">
            <a:off x="4521770" y="2631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14" name="Text Box 34"/>
          <p:cNvSpPr txBox="1">
            <a:spLocks noChangeArrowheads="1"/>
          </p:cNvSpPr>
          <p:nvPr/>
        </p:nvSpPr>
        <p:spPr bwMode="auto">
          <a:xfrm>
            <a:off x="3378770" y="14120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Y</a:t>
            </a:r>
          </a:p>
        </p:txBody>
      </p:sp>
      <p:sp>
        <p:nvSpPr>
          <p:cNvPr id="20515" name="Line 35"/>
          <p:cNvSpPr>
            <a:spLocks noChangeShapeType="1"/>
          </p:cNvSpPr>
          <p:nvPr/>
        </p:nvSpPr>
        <p:spPr bwMode="auto">
          <a:xfrm>
            <a:off x="3607370" y="3393232"/>
            <a:ext cx="228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16" name="Text Box 36"/>
          <p:cNvSpPr txBox="1">
            <a:spLocks noChangeArrowheads="1"/>
          </p:cNvSpPr>
          <p:nvPr/>
        </p:nvSpPr>
        <p:spPr bwMode="auto">
          <a:xfrm>
            <a:off x="5869558" y="31646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X</a:t>
            </a:r>
          </a:p>
        </p:txBody>
      </p:sp>
      <p:sp>
        <p:nvSpPr>
          <p:cNvPr id="20517" name="Line 37"/>
          <p:cNvSpPr>
            <a:spLocks noChangeShapeType="1"/>
          </p:cNvSpPr>
          <p:nvPr/>
        </p:nvSpPr>
        <p:spPr bwMode="auto">
          <a:xfrm>
            <a:off x="6618858" y="1873995"/>
            <a:ext cx="0" cy="15192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18" name="Oval 38"/>
          <p:cNvSpPr>
            <a:spLocks noChangeArrowheads="1"/>
          </p:cNvSpPr>
          <p:nvPr/>
        </p:nvSpPr>
        <p:spPr bwMode="auto">
          <a:xfrm rot="-7282380">
            <a:off x="6907783" y="2707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19" name="Oval 39"/>
          <p:cNvSpPr>
            <a:spLocks noChangeArrowheads="1"/>
          </p:cNvSpPr>
          <p:nvPr/>
        </p:nvSpPr>
        <p:spPr bwMode="auto">
          <a:xfrm rot="-7282380">
            <a:off x="8736583" y="2021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20" name="Oval 40"/>
          <p:cNvSpPr>
            <a:spLocks noChangeArrowheads="1"/>
          </p:cNvSpPr>
          <p:nvPr/>
        </p:nvSpPr>
        <p:spPr bwMode="auto">
          <a:xfrm rot="-7282380">
            <a:off x="8888983" y="2326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21" name="Oval 41"/>
          <p:cNvSpPr>
            <a:spLocks noChangeArrowheads="1"/>
          </p:cNvSpPr>
          <p:nvPr/>
        </p:nvSpPr>
        <p:spPr bwMode="auto">
          <a:xfrm rot="-7282380">
            <a:off x="7974583" y="2631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22" name="Oval 42"/>
          <p:cNvSpPr>
            <a:spLocks noChangeArrowheads="1"/>
          </p:cNvSpPr>
          <p:nvPr/>
        </p:nvSpPr>
        <p:spPr bwMode="auto">
          <a:xfrm rot="-7282380">
            <a:off x="8050783" y="2021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23" name="Oval 43"/>
          <p:cNvSpPr>
            <a:spLocks noChangeArrowheads="1"/>
          </p:cNvSpPr>
          <p:nvPr/>
        </p:nvSpPr>
        <p:spPr bwMode="auto">
          <a:xfrm rot="-7282380">
            <a:off x="7569770" y="1945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24" name="Oval 44"/>
          <p:cNvSpPr>
            <a:spLocks noChangeArrowheads="1"/>
          </p:cNvSpPr>
          <p:nvPr/>
        </p:nvSpPr>
        <p:spPr bwMode="auto">
          <a:xfrm rot="-7282380">
            <a:off x="6755383" y="20978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25" name="Oval 45"/>
          <p:cNvSpPr>
            <a:spLocks noChangeArrowheads="1"/>
          </p:cNvSpPr>
          <p:nvPr/>
        </p:nvSpPr>
        <p:spPr bwMode="auto">
          <a:xfrm rot="-7282380">
            <a:off x="7060183" y="2250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26" name="Oval 46"/>
          <p:cNvSpPr>
            <a:spLocks noChangeArrowheads="1"/>
          </p:cNvSpPr>
          <p:nvPr/>
        </p:nvSpPr>
        <p:spPr bwMode="auto">
          <a:xfrm rot="-7282380">
            <a:off x="7364983" y="2437557"/>
            <a:ext cx="228600" cy="228600"/>
          </a:xfrm>
          <a:prstGeom prst="ellipse">
            <a:avLst/>
          </a:prstGeom>
          <a:solidFill>
            <a:schemeClr val="folHlink"/>
          </a:solidFill>
          <a:ln w="12700">
            <a:solidFill>
              <a:schemeClr val="tx1"/>
            </a:solidFill>
            <a:round/>
            <a:headEnd/>
            <a:tailEnd/>
          </a:ln>
        </p:spPr>
        <p:txBody>
          <a:bodyPr vert="eaVert"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endParaRPr lang="en-US" altLang="en-US">
              <a:solidFill>
                <a:schemeClr val="tx2"/>
              </a:solidFill>
            </a:endParaRPr>
          </a:p>
        </p:txBody>
      </p:sp>
      <p:sp>
        <p:nvSpPr>
          <p:cNvPr id="20527" name="Oval 47"/>
          <p:cNvSpPr>
            <a:spLocks noChangeArrowheads="1"/>
          </p:cNvSpPr>
          <p:nvPr/>
        </p:nvSpPr>
        <p:spPr bwMode="auto">
          <a:xfrm rot="-7282380">
            <a:off x="7745983" y="2402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28" name="Oval 48"/>
          <p:cNvSpPr>
            <a:spLocks noChangeArrowheads="1"/>
          </p:cNvSpPr>
          <p:nvPr/>
        </p:nvSpPr>
        <p:spPr bwMode="auto">
          <a:xfrm rot="-7282380">
            <a:off x="7517383" y="2707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29" name="Text Box 49"/>
          <p:cNvSpPr txBox="1">
            <a:spLocks noChangeArrowheads="1"/>
          </p:cNvSpPr>
          <p:nvPr/>
        </p:nvSpPr>
        <p:spPr bwMode="auto">
          <a:xfrm>
            <a:off x="6374383" y="14120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Y</a:t>
            </a:r>
          </a:p>
        </p:txBody>
      </p:sp>
      <p:sp>
        <p:nvSpPr>
          <p:cNvPr id="20530" name="Line 50"/>
          <p:cNvSpPr>
            <a:spLocks noChangeShapeType="1"/>
          </p:cNvSpPr>
          <p:nvPr/>
        </p:nvSpPr>
        <p:spPr bwMode="auto">
          <a:xfrm>
            <a:off x="6602983" y="3393232"/>
            <a:ext cx="228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31" name="Oval 51"/>
          <p:cNvSpPr>
            <a:spLocks noChangeArrowheads="1"/>
          </p:cNvSpPr>
          <p:nvPr/>
        </p:nvSpPr>
        <p:spPr bwMode="auto">
          <a:xfrm rot="-7282380">
            <a:off x="8484170" y="25550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32" name="Text Box 52"/>
          <p:cNvSpPr txBox="1">
            <a:spLocks noChangeArrowheads="1"/>
          </p:cNvSpPr>
          <p:nvPr/>
        </p:nvSpPr>
        <p:spPr bwMode="auto">
          <a:xfrm>
            <a:off x="8865170" y="31646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X</a:t>
            </a:r>
          </a:p>
        </p:txBody>
      </p:sp>
      <p:sp>
        <p:nvSpPr>
          <p:cNvPr id="20533" name="Line 53"/>
          <p:cNvSpPr>
            <a:spLocks noChangeShapeType="1"/>
          </p:cNvSpPr>
          <p:nvPr/>
        </p:nvSpPr>
        <p:spPr bwMode="auto">
          <a:xfrm>
            <a:off x="3716908" y="4464795"/>
            <a:ext cx="0" cy="15192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34" name="Line 54"/>
          <p:cNvSpPr>
            <a:spLocks noChangeShapeType="1"/>
          </p:cNvSpPr>
          <p:nvPr/>
        </p:nvSpPr>
        <p:spPr bwMode="auto">
          <a:xfrm flipV="1">
            <a:off x="3716908" y="4612432"/>
            <a:ext cx="2574925" cy="8731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35" name="Oval 55"/>
          <p:cNvSpPr>
            <a:spLocks noChangeArrowheads="1"/>
          </p:cNvSpPr>
          <p:nvPr/>
        </p:nvSpPr>
        <p:spPr bwMode="auto">
          <a:xfrm rot="-7282380">
            <a:off x="3777233" y="56030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36" name="Oval 56"/>
          <p:cNvSpPr>
            <a:spLocks noChangeArrowheads="1"/>
          </p:cNvSpPr>
          <p:nvPr/>
        </p:nvSpPr>
        <p:spPr bwMode="auto">
          <a:xfrm rot="-7282380">
            <a:off x="4005833" y="5298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37" name="Oval 57"/>
          <p:cNvSpPr>
            <a:spLocks noChangeArrowheads="1"/>
          </p:cNvSpPr>
          <p:nvPr/>
        </p:nvSpPr>
        <p:spPr bwMode="auto">
          <a:xfrm rot="-7282380">
            <a:off x="5664770" y="40028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38" name="Oval 58"/>
          <p:cNvSpPr>
            <a:spLocks noChangeArrowheads="1"/>
          </p:cNvSpPr>
          <p:nvPr/>
        </p:nvSpPr>
        <p:spPr bwMode="auto">
          <a:xfrm rot="-7282380">
            <a:off x="5834633" y="4612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39" name="Oval 59"/>
          <p:cNvSpPr>
            <a:spLocks noChangeArrowheads="1"/>
          </p:cNvSpPr>
          <p:nvPr/>
        </p:nvSpPr>
        <p:spPr bwMode="auto">
          <a:xfrm rot="-7282380">
            <a:off x="4293170" y="56030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40" name="Oval 60"/>
          <p:cNvSpPr>
            <a:spLocks noChangeArrowheads="1"/>
          </p:cNvSpPr>
          <p:nvPr/>
        </p:nvSpPr>
        <p:spPr bwMode="auto">
          <a:xfrm rot="-7282380">
            <a:off x="6045770" y="5069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41" name="Oval 61"/>
          <p:cNvSpPr>
            <a:spLocks noChangeArrowheads="1"/>
          </p:cNvSpPr>
          <p:nvPr/>
        </p:nvSpPr>
        <p:spPr bwMode="auto">
          <a:xfrm rot="-7282380">
            <a:off x="5207570" y="5450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42" name="Oval 62"/>
          <p:cNvSpPr>
            <a:spLocks noChangeArrowheads="1"/>
          </p:cNvSpPr>
          <p:nvPr/>
        </p:nvSpPr>
        <p:spPr bwMode="auto">
          <a:xfrm rot="-7282380">
            <a:off x="5283770" y="4307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43" name="Oval 63"/>
          <p:cNvSpPr>
            <a:spLocks noChangeArrowheads="1"/>
          </p:cNvSpPr>
          <p:nvPr/>
        </p:nvSpPr>
        <p:spPr bwMode="auto">
          <a:xfrm rot="-7282380">
            <a:off x="4674170" y="43076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44" name="Oval 64"/>
          <p:cNvSpPr>
            <a:spLocks noChangeArrowheads="1"/>
          </p:cNvSpPr>
          <p:nvPr/>
        </p:nvSpPr>
        <p:spPr bwMode="auto">
          <a:xfrm rot="-7282380">
            <a:off x="3835970" y="4917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45" name="Oval 65"/>
          <p:cNvSpPr>
            <a:spLocks noChangeArrowheads="1"/>
          </p:cNvSpPr>
          <p:nvPr/>
        </p:nvSpPr>
        <p:spPr bwMode="auto">
          <a:xfrm rot="-7282380">
            <a:off x="4064570" y="44600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46" name="Oval 66"/>
          <p:cNvSpPr>
            <a:spLocks noChangeArrowheads="1"/>
          </p:cNvSpPr>
          <p:nvPr/>
        </p:nvSpPr>
        <p:spPr bwMode="auto">
          <a:xfrm rot="-7282380">
            <a:off x="4445570" y="4841032"/>
            <a:ext cx="228600" cy="228600"/>
          </a:xfrm>
          <a:prstGeom prst="ellipse">
            <a:avLst/>
          </a:prstGeom>
          <a:solidFill>
            <a:schemeClr val="folHlink"/>
          </a:solidFill>
          <a:ln w="12700">
            <a:solidFill>
              <a:schemeClr val="tx1"/>
            </a:solidFill>
            <a:round/>
            <a:headEnd/>
            <a:tailEnd/>
          </a:ln>
        </p:spPr>
        <p:txBody>
          <a:bodyPr vert="eaVert"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endParaRPr lang="en-US" altLang="en-US">
              <a:solidFill>
                <a:schemeClr val="tx2"/>
              </a:solidFill>
            </a:endParaRPr>
          </a:p>
        </p:txBody>
      </p:sp>
      <p:sp>
        <p:nvSpPr>
          <p:cNvPr id="20547" name="Oval 67"/>
          <p:cNvSpPr>
            <a:spLocks noChangeArrowheads="1"/>
          </p:cNvSpPr>
          <p:nvPr/>
        </p:nvSpPr>
        <p:spPr bwMode="auto">
          <a:xfrm rot="-7282380">
            <a:off x="5588570" y="4993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48" name="Oval 68"/>
          <p:cNvSpPr>
            <a:spLocks noChangeArrowheads="1"/>
          </p:cNvSpPr>
          <p:nvPr/>
        </p:nvSpPr>
        <p:spPr bwMode="auto">
          <a:xfrm rot="-7282380">
            <a:off x="4844033" y="4993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49" name="Oval 69"/>
          <p:cNvSpPr>
            <a:spLocks noChangeArrowheads="1"/>
          </p:cNvSpPr>
          <p:nvPr/>
        </p:nvSpPr>
        <p:spPr bwMode="auto">
          <a:xfrm rot="-7282380">
            <a:off x="4826570" y="5679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50" name="Text Box 70"/>
          <p:cNvSpPr txBox="1">
            <a:spLocks noChangeArrowheads="1"/>
          </p:cNvSpPr>
          <p:nvPr/>
        </p:nvSpPr>
        <p:spPr bwMode="auto">
          <a:xfrm>
            <a:off x="3448620" y="42314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Y</a:t>
            </a:r>
          </a:p>
        </p:txBody>
      </p:sp>
      <p:sp>
        <p:nvSpPr>
          <p:cNvPr id="20551" name="Line 71"/>
          <p:cNvSpPr>
            <a:spLocks noChangeShapeType="1"/>
          </p:cNvSpPr>
          <p:nvPr/>
        </p:nvSpPr>
        <p:spPr bwMode="auto">
          <a:xfrm>
            <a:off x="3701033" y="5984032"/>
            <a:ext cx="228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52" name="Oval 72"/>
          <p:cNvSpPr>
            <a:spLocks noChangeArrowheads="1"/>
          </p:cNvSpPr>
          <p:nvPr/>
        </p:nvSpPr>
        <p:spPr bwMode="auto">
          <a:xfrm rot="-7282380">
            <a:off x="5588570" y="5374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53" name="Text Box 73"/>
          <p:cNvSpPr txBox="1">
            <a:spLocks noChangeArrowheads="1"/>
          </p:cNvSpPr>
          <p:nvPr/>
        </p:nvSpPr>
        <p:spPr bwMode="auto">
          <a:xfrm>
            <a:off x="5963220" y="57554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X</a:t>
            </a:r>
          </a:p>
        </p:txBody>
      </p:sp>
      <p:sp>
        <p:nvSpPr>
          <p:cNvPr id="20554" name="Line 74"/>
          <p:cNvSpPr>
            <a:spLocks noChangeShapeType="1"/>
          </p:cNvSpPr>
          <p:nvPr/>
        </p:nvSpPr>
        <p:spPr bwMode="auto">
          <a:xfrm>
            <a:off x="651445" y="4464795"/>
            <a:ext cx="0" cy="15192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55" name="Line 75"/>
          <p:cNvSpPr>
            <a:spLocks noChangeShapeType="1"/>
          </p:cNvSpPr>
          <p:nvPr/>
        </p:nvSpPr>
        <p:spPr bwMode="auto">
          <a:xfrm flipV="1">
            <a:off x="651445" y="4612432"/>
            <a:ext cx="2574925" cy="8731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56" name="Oval 76"/>
          <p:cNvSpPr>
            <a:spLocks noChangeArrowheads="1"/>
          </p:cNvSpPr>
          <p:nvPr/>
        </p:nvSpPr>
        <p:spPr bwMode="auto">
          <a:xfrm rot="-7282380">
            <a:off x="711770" y="5298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57" name="Oval 77"/>
          <p:cNvSpPr>
            <a:spLocks noChangeArrowheads="1"/>
          </p:cNvSpPr>
          <p:nvPr/>
        </p:nvSpPr>
        <p:spPr bwMode="auto">
          <a:xfrm rot="-7282380">
            <a:off x="1016570" y="52220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58" name="Oval 78"/>
          <p:cNvSpPr>
            <a:spLocks noChangeArrowheads="1"/>
          </p:cNvSpPr>
          <p:nvPr/>
        </p:nvSpPr>
        <p:spPr bwMode="auto">
          <a:xfrm rot="-7282380">
            <a:off x="3073970" y="45362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59" name="Oval 79"/>
          <p:cNvSpPr>
            <a:spLocks noChangeArrowheads="1"/>
          </p:cNvSpPr>
          <p:nvPr/>
        </p:nvSpPr>
        <p:spPr bwMode="auto">
          <a:xfrm rot="-7282380">
            <a:off x="2692970" y="4612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60" name="Oval 80"/>
          <p:cNvSpPr>
            <a:spLocks noChangeArrowheads="1"/>
          </p:cNvSpPr>
          <p:nvPr/>
        </p:nvSpPr>
        <p:spPr bwMode="auto">
          <a:xfrm rot="-7282380">
            <a:off x="1321370" y="5069632"/>
            <a:ext cx="228600" cy="228600"/>
          </a:xfrm>
          <a:prstGeom prst="ellipse">
            <a:avLst/>
          </a:prstGeom>
          <a:solidFill>
            <a:schemeClr val="folHlink"/>
          </a:solidFill>
          <a:ln w="12700">
            <a:solidFill>
              <a:schemeClr val="tx1"/>
            </a:solidFill>
            <a:round/>
            <a:headEnd/>
            <a:tailEnd/>
          </a:ln>
        </p:spPr>
        <p:txBody>
          <a:bodyPr vert="eaVert"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endParaRPr lang="en-US" altLang="en-US">
              <a:solidFill>
                <a:schemeClr val="tx2"/>
              </a:solidFill>
            </a:endParaRPr>
          </a:p>
        </p:txBody>
      </p:sp>
      <p:sp>
        <p:nvSpPr>
          <p:cNvPr id="20561" name="Oval 81"/>
          <p:cNvSpPr>
            <a:spLocks noChangeArrowheads="1"/>
          </p:cNvSpPr>
          <p:nvPr/>
        </p:nvSpPr>
        <p:spPr bwMode="auto">
          <a:xfrm rot="-7282380">
            <a:off x="2007170" y="48410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62" name="Oval 82"/>
          <p:cNvSpPr>
            <a:spLocks noChangeArrowheads="1"/>
          </p:cNvSpPr>
          <p:nvPr/>
        </p:nvSpPr>
        <p:spPr bwMode="auto">
          <a:xfrm rot="-7282380">
            <a:off x="1702370" y="4993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63" name="Text Box 83"/>
          <p:cNvSpPr txBox="1">
            <a:spLocks noChangeArrowheads="1"/>
          </p:cNvSpPr>
          <p:nvPr/>
        </p:nvSpPr>
        <p:spPr bwMode="auto">
          <a:xfrm>
            <a:off x="306958" y="42314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Y</a:t>
            </a:r>
          </a:p>
        </p:txBody>
      </p:sp>
      <p:sp>
        <p:nvSpPr>
          <p:cNvPr id="20564" name="Line 84"/>
          <p:cNvSpPr>
            <a:spLocks noChangeShapeType="1"/>
          </p:cNvSpPr>
          <p:nvPr/>
        </p:nvSpPr>
        <p:spPr bwMode="auto">
          <a:xfrm>
            <a:off x="635570" y="5984032"/>
            <a:ext cx="228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65" name="Oval 85"/>
          <p:cNvSpPr>
            <a:spLocks noChangeArrowheads="1"/>
          </p:cNvSpPr>
          <p:nvPr/>
        </p:nvSpPr>
        <p:spPr bwMode="auto">
          <a:xfrm rot="-7282380">
            <a:off x="2388170" y="47648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66" name="Text Box 86"/>
          <p:cNvSpPr txBox="1">
            <a:spLocks noChangeArrowheads="1"/>
          </p:cNvSpPr>
          <p:nvPr/>
        </p:nvSpPr>
        <p:spPr bwMode="auto">
          <a:xfrm>
            <a:off x="2897758" y="57554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X</a:t>
            </a:r>
          </a:p>
        </p:txBody>
      </p:sp>
      <p:sp>
        <p:nvSpPr>
          <p:cNvPr id="20567" name="Text Box 87"/>
          <p:cNvSpPr txBox="1">
            <a:spLocks noChangeArrowheads="1"/>
          </p:cNvSpPr>
          <p:nvPr/>
        </p:nvSpPr>
        <p:spPr bwMode="auto">
          <a:xfrm>
            <a:off x="1322958" y="3469432"/>
            <a:ext cx="915987" cy="469900"/>
          </a:xfrm>
          <a:prstGeom prst="rect">
            <a:avLst/>
          </a:prstGeom>
          <a:solidFill>
            <a:srgbClr val="FDE0BD"/>
          </a:solidFill>
          <a:ln w="12700">
            <a:solidFill>
              <a:schemeClr val="tx1"/>
            </a:solidFill>
            <a:miter lim="800000"/>
            <a:headEnd/>
            <a:tailEnd/>
          </a:ln>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a:solidFill>
                  <a:schemeClr val="tx2"/>
                </a:solidFill>
              </a:rPr>
              <a:t>r = -1</a:t>
            </a:r>
          </a:p>
        </p:txBody>
      </p:sp>
      <p:sp>
        <p:nvSpPr>
          <p:cNvPr id="20568" name="Text Box 88"/>
          <p:cNvSpPr txBox="1">
            <a:spLocks noChangeArrowheads="1"/>
          </p:cNvSpPr>
          <p:nvPr/>
        </p:nvSpPr>
        <p:spPr bwMode="auto">
          <a:xfrm>
            <a:off x="4283645" y="3478957"/>
            <a:ext cx="1000125" cy="469900"/>
          </a:xfrm>
          <a:prstGeom prst="rect">
            <a:avLst/>
          </a:prstGeom>
          <a:solidFill>
            <a:srgbClr val="FDE0BD"/>
          </a:solidFill>
          <a:ln w="12700">
            <a:solidFill>
              <a:schemeClr val="tx1"/>
            </a:solidFill>
            <a:miter lim="800000"/>
            <a:headEnd/>
            <a:tailEnd/>
          </a:ln>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a:solidFill>
                  <a:schemeClr val="tx2"/>
                </a:solidFill>
              </a:rPr>
              <a:t>r = -.6</a:t>
            </a:r>
          </a:p>
        </p:txBody>
      </p:sp>
      <p:sp>
        <p:nvSpPr>
          <p:cNvPr id="20569" name="Text Box 89"/>
          <p:cNvSpPr txBox="1">
            <a:spLocks noChangeArrowheads="1"/>
          </p:cNvSpPr>
          <p:nvPr/>
        </p:nvSpPr>
        <p:spPr bwMode="auto">
          <a:xfrm>
            <a:off x="7407845" y="3478957"/>
            <a:ext cx="814388" cy="469900"/>
          </a:xfrm>
          <a:prstGeom prst="rect">
            <a:avLst/>
          </a:prstGeom>
          <a:solidFill>
            <a:srgbClr val="FDE0BD"/>
          </a:solidFill>
          <a:ln w="12700">
            <a:solidFill>
              <a:schemeClr val="tx1"/>
            </a:solidFill>
            <a:miter lim="800000"/>
            <a:headEnd/>
            <a:tailEnd/>
          </a:ln>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a:solidFill>
                  <a:schemeClr val="tx2"/>
                </a:solidFill>
              </a:rPr>
              <a:t>r = 0</a:t>
            </a:r>
          </a:p>
        </p:txBody>
      </p:sp>
      <p:sp>
        <p:nvSpPr>
          <p:cNvPr id="20570" name="Text Box 90"/>
          <p:cNvSpPr txBox="1">
            <a:spLocks noChangeArrowheads="1"/>
          </p:cNvSpPr>
          <p:nvPr/>
        </p:nvSpPr>
        <p:spPr bwMode="auto">
          <a:xfrm>
            <a:off x="4377308" y="6049120"/>
            <a:ext cx="1076325" cy="469900"/>
          </a:xfrm>
          <a:prstGeom prst="rect">
            <a:avLst/>
          </a:prstGeom>
          <a:solidFill>
            <a:srgbClr val="FDE0BD"/>
          </a:solidFill>
          <a:ln w="12700">
            <a:solidFill>
              <a:schemeClr val="tx1"/>
            </a:solidFill>
            <a:miter lim="800000"/>
            <a:headEnd/>
            <a:tailEnd/>
          </a:ln>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a:solidFill>
                  <a:schemeClr val="tx2"/>
                </a:solidFill>
              </a:rPr>
              <a:t>r = +.3</a:t>
            </a:r>
          </a:p>
        </p:txBody>
      </p:sp>
      <p:sp>
        <p:nvSpPr>
          <p:cNvPr id="20571" name="Text Box 91"/>
          <p:cNvSpPr txBox="1">
            <a:spLocks noChangeArrowheads="1"/>
          </p:cNvSpPr>
          <p:nvPr/>
        </p:nvSpPr>
        <p:spPr bwMode="auto">
          <a:xfrm>
            <a:off x="1311845" y="6034832"/>
            <a:ext cx="992188" cy="469900"/>
          </a:xfrm>
          <a:prstGeom prst="rect">
            <a:avLst/>
          </a:prstGeom>
          <a:solidFill>
            <a:srgbClr val="FDE0BD"/>
          </a:solidFill>
          <a:ln w="12700">
            <a:solidFill>
              <a:schemeClr val="tx1"/>
            </a:solidFill>
            <a:miter lim="800000"/>
            <a:headEnd/>
            <a:tailEnd/>
          </a:ln>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a:solidFill>
                  <a:schemeClr val="tx2"/>
                </a:solidFill>
              </a:rPr>
              <a:t>r = +1</a:t>
            </a:r>
          </a:p>
        </p:txBody>
      </p:sp>
      <p:sp>
        <p:nvSpPr>
          <p:cNvPr id="20572" name="Line 92"/>
          <p:cNvSpPr>
            <a:spLocks noChangeShapeType="1"/>
          </p:cNvSpPr>
          <p:nvPr/>
        </p:nvSpPr>
        <p:spPr bwMode="auto">
          <a:xfrm>
            <a:off x="6612508" y="4464795"/>
            <a:ext cx="0" cy="15192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73" name="Oval 93"/>
          <p:cNvSpPr>
            <a:spLocks noChangeArrowheads="1"/>
          </p:cNvSpPr>
          <p:nvPr/>
        </p:nvSpPr>
        <p:spPr bwMode="auto">
          <a:xfrm rot="-7282380">
            <a:off x="8788970" y="4993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74" name="Oval 94"/>
          <p:cNvSpPr>
            <a:spLocks noChangeArrowheads="1"/>
          </p:cNvSpPr>
          <p:nvPr/>
        </p:nvSpPr>
        <p:spPr bwMode="auto">
          <a:xfrm rot="-7282380">
            <a:off x="8255570" y="4993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75" name="Oval 95"/>
          <p:cNvSpPr>
            <a:spLocks noChangeArrowheads="1"/>
          </p:cNvSpPr>
          <p:nvPr/>
        </p:nvSpPr>
        <p:spPr bwMode="auto">
          <a:xfrm rot="-7282380">
            <a:off x="6807770" y="4993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76" name="Oval 96"/>
          <p:cNvSpPr>
            <a:spLocks noChangeArrowheads="1"/>
          </p:cNvSpPr>
          <p:nvPr/>
        </p:nvSpPr>
        <p:spPr bwMode="auto">
          <a:xfrm rot="-7282380">
            <a:off x="7112570" y="4993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77" name="Oval 97"/>
          <p:cNvSpPr>
            <a:spLocks noChangeArrowheads="1"/>
          </p:cNvSpPr>
          <p:nvPr/>
        </p:nvSpPr>
        <p:spPr bwMode="auto">
          <a:xfrm rot="-7282380">
            <a:off x="7417370" y="4993432"/>
            <a:ext cx="228600" cy="228600"/>
          </a:xfrm>
          <a:prstGeom prst="ellipse">
            <a:avLst/>
          </a:prstGeom>
          <a:solidFill>
            <a:schemeClr val="folHlink"/>
          </a:solidFill>
          <a:ln w="12700">
            <a:solidFill>
              <a:schemeClr val="tx1"/>
            </a:solidFill>
            <a:round/>
            <a:headEnd/>
            <a:tailEnd/>
          </a:ln>
        </p:spPr>
        <p:txBody>
          <a:bodyPr vert="eaVert"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endParaRPr lang="en-US" altLang="en-US">
              <a:solidFill>
                <a:schemeClr val="tx2"/>
              </a:solidFill>
            </a:endParaRPr>
          </a:p>
        </p:txBody>
      </p:sp>
      <p:sp>
        <p:nvSpPr>
          <p:cNvPr id="20578" name="Oval 98"/>
          <p:cNvSpPr>
            <a:spLocks noChangeArrowheads="1"/>
          </p:cNvSpPr>
          <p:nvPr/>
        </p:nvSpPr>
        <p:spPr bwMode="auto">
          <a:xfrm rot="-7282380">
            <a:off x="7739633" y="4993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79" name="Text Box 99"/>
          <p:cNvSpPr txBox="1">
            <a:spLocks noChangeArrowheads="1"/>
          </p:cNvSpPr>
          <p:nvPr/>
        </p:nvSpPr>
        <p:spPr bwMode="auto">
          <a:xfrm>
            <a:off x="6368033" y="40028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Y</a:t>
            </a:r>
          </a:p>
        </p:txBody>
      </p:sp>
      <p:sp>
        <p:nvSpPr>
          <p:cNvPr id="20580" name="Line 100"/>
          <p:cNvSpPr>
            <a:spLocks noChangeShapeType="1"/>
          </p:cNvSpPr>
          <p:nvPr/>
        </p:nvSpPr>
        <p:spPr bwMode="auto">
          <a:xfrm>
            <a:off x="6596633" y="5984032"/>
            <a:ext cx="22860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81" name="Text Box 101"/>
          <p:cNvSpPr txBox="1">
            <a:spLocks noChangeArrowheads="1"/>
          </p:cNvSpPr>
          <p:nvPr/>
        </p:nvSpPr>
        <p:spPr bwMode="auto">
          <a:xfrm>
            <a:off x="8858820" y="5755432"/>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b="1">
                <a:solidFill>
                  <a:schemeClr val="tx2"/>
                </a:solidFill>
              </a:rPr>
              <a:t>X</a:t>
            </a:r>
          </a:p>
        </p:txBody>
      </p:sp>
      <p:sp>
        <p:nvSpPr>
          <p:cNvPr id="20582" name="Text Box 102"/>
          <p:cNvSpPr txBox="1">
            <a:spLocks noChangeArrowheads="1"/>
          </p:cNvSpPr>
          <p:nvPr/>
        </p:nvSpPr>
        <p:spPr bwMode="auto">
          <a:xfrm>
            <a:off x="7401495" y="6047532"/>
            <a:ext cx="814388" cy="469900"/>
          </a:xfrm>
          <a:prstGeom prst="rect">
            <a:avLst/>
          </a:prstGeom>
          <a:solidFill>
            <a:srgbClr val="FDE0BD"/>
          </a:solidFill>
          <a:ln w="12700">
            <a:solidFill>
              <a:schemeClr val="tx1"/>
            </a:solidFill>
            <a:miter lim="800000"/>
            <a:headEnd/>
            <a:tailEnd/>
          </a:ln>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a:solidFill>
                  <a:schemeClr val="tx2"/>
                </a:solidFill>
              </a:rPr>
              <a:t>r = 0</a:t>
            </a:r>
          </a:p>
        </p:txBody>
      </p:sp>
      <p:sp>
        <p:nvSpPr>
          <p:cNvPr id="20583" name="Oval 103"/>
          <p:cNvSpPr>
            <a:spLocks noChangeArrowheads="1"/>
          </p:cNvSpPr>
          <p:nvPr/>
        </p:nvSpPr>
        <p:spPr bwMode="auto">
          <a:xfrm rot="-7282380">
            <a:off x="5207570" y="47648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84" name="Oval 104"/>
          <p:cNvSpPr>
            <a:spLocks noChangeArrowheads="1"/>
          </p:cNvSpPr>
          <p:nvPr/>
        </p:nvSpPr>
        <p:spPr bwMode="auto">
          <a:xfrm rot="-7282380">
            <a:off x="4597970" y="53744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0585" name="Oval 105"/>
          <p:cNvSpPr>
            <a:spLocks noChangeArrowheads="1"/>
          </p:cNvSpPr>
          <p:nvPr/>
        </p:nvSpPr>
        <p:spPr bwMode="auto">
          <a:xfrm rot="-7282380">
            <a:off x="4978970" y="4383832"/>
            <a:ext cx="228600" cy="228600"/>
          </a:xfrm>
          <a:prstGeom prst="ellipse">
            <a:avLst/>
          </a:prstGeom>
          <a:solidFill>
            <a:schemeClr val="folHlink"/>
          </a:solidFill>
          <a:ln w="12700">
            <a:solidFill>
              <a:schemeClr val="tx1"/>
            </a:solidFill>
            <a:round/>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Tree>
    <p:extLst>
      <p:ext uri="{BB962C8B-B14F-4D97-AF65-F5344CB8AC3E}">
        <p14:creationId xmlns:p14="http://schemas.microsoft.com/office/powerpoint/2010/main" val="2450599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14400" y="381000"/>
            <a:ext cx="7793038" cy="990600"/>
          </a:xfrm>
        </p:spPr>
        <p:txBody>
          <a:bodyPr/>
          <a:lstStyle/>
          <a:p>
            <a:pPr eaLnBrk="1" hangingPunct="1">
              <a:lnSpc>
                <a:spcPct val="80000"/>
              </a:lnSpc>
            </a:pPr>
            <a:r>
              <a:rPr lang="en-US" altLang="en-US" smtClean="0"/>
              <a:t>Using Excel to Find </a:t>
            </a:r>
            <a:br>
              <a:rPr lang="en-US" altLang="en-US" smtClean="0"/>
            </a:br>
            <a:r>
              <a:rPr lang="en-US" altLang="en-US" smtClean="0"/>
              <a:t>the Correlation Coefficient</a:t>
            </a:r>
          </a:p>
        </p:txBody>
      </p:sp>
      <p:sp>
        <p:nvSpPr>
          <p:cNvPr id="21507" name="Rectangle 3"/>
          <p:cNvSpPr>
            <a:spLocks noGrp="1" noChangeArrowheads="1"/>
          </p:cNvSpPr>
          <p:nvPr>
            <p:ph type="body" idx="1"/>
          </p:nvPr>
        </p:nvSpPr>
        <p:spPr>
          <a:xfrm>
            <a:off x="4800600" y="1676400"/>
            <a:ext cx="4038600" cy="3048000"/>
          </a:xfrm>
        </p:spPr>
        <p:txBody>
          <a:bodyPr/>
          <a:lstStyle/>
          <a:p>
            <a:pPr eaLnBrk="1" hangingPunct="1">
              <a:spcBef>
                <a:spcPct val="40000"/>
              </a:spcBef>
            </a:pPr>
            <a:r>
              <a:rPr lang="en-US" altLang="en-US" sz="2400" smtClean="0"/>
              <a:t>Select </a:t>
            </a:r>
          </a:p>
          <a:p>
            <a:pPr eaLnBrk="1" hangingPunct="1">
              <a:lnSpc>
                <a:spcPct val="70000"/>
              </a:lnSpc>
              <a:spcBef>
                <a:spcPct val="40000"/>
              </a:spcBef>
              <a:buFont typeface="Wingdings" pitchFamily="2" charset="2"/>
              <a:buNone/>
            </a:pPr>
            <a:r>
              <a:rPr lang="en-US" altLang="en-US" sz="2400" smtClean="0"/>
              <a:t>	</a:t>
            </a:r>
            <a:r>
              <a:rPr lang="en-US" altLang="en-US" sz="2400" smtClean="0">
                <a:solidFill>
                  <a:schemeClr val="folHlink"/>
                </a:solidFill>
              </a:rPr>
              <a:t>Tools/Data Analysis</a:t>
            </a:r>
          </a:p>
          <a:p>
            <a:pPr eaLnBrk="1" hangingPunct="1">
              <a:spcBef>
                <a:spcPct val="40000"/>
              </a:spcBef>
            </a:pPr>
            <a:r>
              <a:rPr lang="en-US" altLang="en-US" sz="2400" smtClean="0"/>
              <a:t>Choose </a:t>
            </a:r>
            <a:r>
              <a:rPr lang="en-US" altLang="en-US" sz="2400" smtClean="0">
                <a:solidFill>
                  <a:schemeClr val="folHlink"/>
                </a:solidFill>
              </a:rPr>
              <a:t>Correlation</a:t>
            </a:r>
            <a:r>
              <a:rPr lang="en-US" altLang="en-US" sz="2400" smtClean="0"/>
              <a:t> from the selection menu</a:t>
            </a:r>
          </a:p>
          <a:p>
            <a:pPr eaLnBrk="1" hangingPunct="1">
              <a:spcBef>
                <a:spcPct val="40000"/>
              </a:spcBef>
            </a:pPr>
            <a:r>
              <a:rPr lang="en-US" altLang="en-US" sz="2400" smtClean="0"/>
              <a:t>Click OK . . .</a:t>
            </a:r>
          </a:p>
        </p:txBody>
      </p:sp>
      <p:pic>
        <p:nvPicPr>
          <p:cNvPr id="21508" name="Picture 4" descr="correlation1-ch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76400"/>
            <a:ext cx="4467225"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5" descr="correlation2-ch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4724400"/>
            <a:ext cx="373380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Line 6"/>
          <p:cNvSpPr>
            <a:spLocks noChangeShapeType="1"/>
          </p:cNvSpPr>
          <p:nvPr/>
        </p:nvSpPr>
        <p:spPr bwMode="auto">
          <a:xfrm flipH="1" flipV="1">
            <a:off x="2743200" y="1981200"/>
            <a:ext cx="2438400" cy="304800"/>
          </a:xfrm>
          <a:prstGeom prst="line">
            <a:avLst/>
          </a:prstGeom>
          <a:noFill/>
          <a:ln w="19050">
            <a:solidFill>
              <a:schemeClr val="hlink"/>
            </a:solidFill>
            <a:miter lim="800000"/>
            <a:headEnd/>
            <a:tailEnd type="triangle" w="lg" len="med"/>
          </a:ln>
          <a:extLst>
            <a:ext uri="{909E8E84-426E-40DD-AFC4-6F175D3DCCD1}">
              <a14:hiddenFill xmlns:a14="http://schemas.microsoft.com/office/drawing/2010/main">
                <a:noFill/>
              </a14:hiddenFill>
            </a:ext>
          </a:extLst>
        </p:spPr>
        <p:txBody>
          <a:bodyPr wrap="none"/>
          <a:lstStyle/>
          <a:p>
            <a:endParaRPr lang="en-IN"/>
          </a:p>
        </p:txBody>
      </p:sp>
      <p:sp>
        <p:nvSpPr>
          <p:cNvPr id="21511" name="Line 7"/>
          <p:cNvSpPr>
            <a:spLocks noChangeShapeType="1"/>
          </p:cNvSpPr>
          <p:nvPr/>
        </p:nvSpPr>
        <p:spPr bwMode="auto">
          <a:xfrm flipH="1">
            <a:off x="3505200" y="2286000"/>
            <a:ext cx="1676400" cy="3657600"/>
          </a:xfrm>
          <a:prstGeom prst="line">
            <a:avLst/>
          </a:prstGeom>
          <a:noFill/>
          <a:ln w="19050">
            <a:solidFill>
              <a:schemeClr val="hlink"/>
            </a:solidFill>
            <a:miter lim="800000"/>
            <a:headEnd/>
            <a:tailEnd type="triangle" w="lg" len="med"/>
          </a:ln>
          <a:extLst>
            <a:ext uri="{909E8E84-426E-40DD-AFC4-6F175D3DCCD1}">
              <a14:hiddenFill xmlns:a14="http://schemas.microsoft.com/office/drawing/2010/main">
                <a:noFill/>
              </a14:hiddenFill>
            </a:ext>
          </a:extLst>
        </p:spPr>
        <p:txBody>
          <a:bodyPr wrap="none"/>
          <a:lstStyle/>
          <a:p>
            <a:endParaRPr lang="en-IN"/>
          </a:p>
        </p:txBody>
      </p:sp>
      <p:sp>
        <p:nvSpPr>
          <p:cNvPr id="21512" name="Line 8"/>
          <p:cNvSpPr>
            <a:spLocks noChangeShapeType="1"/>
          </p:cNvSpPr>
          <p:nvPr/>
        </p:nvSpPr>
        <p:spPr bwMode="auto">
          <a:xfrm flipH="1">
            <a:off x="6019800" y="2971800"/>
            <a:ext cx="990600" cy="2590800"/>
          </a:xfrm>
          <a:prstGeom prst="line">
            <a:avLst/>
          </a:prstGeom>
          <a:noFill/>
          <a:ln w="19050">
            <a:solidFill>
              <a:schemeClr val="hlink"/>
            </a:solidFill>
            <a:miter lim="800000"/>
            <a:headEnd/>
            <a:tailEnd type="triangle" w="lg" len="med"/>
          </a:ln>
          <a:extLst>
            <a:ext uri="{909E8E84-426E-40DD-AFC4-6F175D3DCCD1}">
              <a14:hiddenFill xmlns:a14="http://schemas.microsoft.com/office/drawing/2010/main">
                <a:noFill/>
              </a14:hiddenFill>
            </a:ext>
          </a:extLst>
        </p:spPr>
        <p:txBody>
          <a:bodyPr wrap="none"/>
          <a:lstStyle/>
          <a:p>
            <a:endParaRPr lang="en-IN"/>
          </a:p>
        </p:txBody>
      </p:sp>
    </p:spTree>
    <p:extLst>
      <p:ext uri="{BB962C8B-B14F-4D97-AF65-F5344CB8AC3E}">
        <p14:creationId xmlns:p14="http://schemas.microsoft.com/office/powerpoint/2010/main" val="30306918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14400" y="381000"/>
            <a:ext cx="7793038" cy="990600"/>
          </a:xfrm>
        </p:spPr>
        <p:txBody>
          <a:bodyPr/>
          <a:lstStyle/>
          <a:p>
            <a:pPr eaLnBrk="1" hangingPunct="1">
              <a:lnSpc>
                <a:spcPct val="80000"/>
              </a:lnSpc>
            </a:pPr>
            <a:r>
              <a:rPr lang="en-US" altLang="en-US" smtClean="0"/>
              <a:t>Using Excel to Find </a:t>
            </a:r>
            <a:br>
              <a:rPr lang="en-US" altLang="en-US" smtClean="0"/>
            </a:br>
            <a:r>
              <a:rPr lang="en-US" altLang="en-US" smtClean="0"/>
              <a:t>the Correlation Coefficient</a:t>
            </a:r>
          </a:p>
        </p:txBody>
      </p:sp>
      <p:sp>
        <p:nvSpPr>
          <p:cNvPr id="22531" name="Rectangle 3"/>
          <p:cNvSpPr>
            <a:spLocks noGrp="1" noChangeArrowheads="1"/>
          </p:cNvSpPr>
          <p:nvPr>
            <p:ph type="body" idx="1"/>
          </p:nvPr>
        </p:nvSpPr>
        <p:spPr>
          <a:xfrm>
            <a:off x="762000" y="4648200"/>
            <a:ext cx="4648200" cy="1752600"/>
          </a:xfrm>
        </p:spPr>
        <p:txBody>
          <a:bodyPr/>
          <a:lstStyle/>
          <a:p>
            <a:pPr eaLnBrk="1" hangingPunct="1"/>
            <a:r>
              <a:rPr lang="en-US" altLang="en-US" sz="2400" smtClean="0"/>
              <a:t>Input data range and select appropriate options</a:t>
            </a:r>
          </a:p>
          <a:p>
            <a:pPr eaLnBrk="1" hangingPunct="1"/>
            <a:r>
              <a:rPr lang="en-US" altLang="en-US" sz="2400" smtClean="0"/>
              <a:t>Click OK to get output</a:t>
            </a:r>
          </a:p>
        </p:txBody>
      </p:sp>
      <p:pic>
        <p:nvPicPr>
          <p:cNvPr id="22532" name="Picture 4" descr="correlation4-ch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5181600"/>
            <a:ext cx="302895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5" descr="correlation3-ch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00200"/>
            <a:ext cx="6296025" cy="30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Line 6"/>
          <p:cNvSpPr>
            <a:spLocks noChangeShapeType="1"/>
          </p:cNvSpPr>
          <p:nvPr/>
        </p:nvSpPr>
        <p:spPr bwMode="auto">
          <a:xfrm flipV="1">
            <a:off x="3124200" y="2819400"/>
            <a:ext cx="1066800" cy="1905000"/>
          </a:xfrm>
          <a:prstGeom prst="line">
            <a:avLst/>
          </a:prstGeom>
          <a:noFill/>
          <a:ln w="19050">
            <a:solidFill>
              <a:schemeClr val="hlink"/>
            </a:solidFill>
            <a:miter lim="800000"/>
            <a:headEnd/>
            <a:tailEnd type="triangle" w="lg" len="med"/>
          </a:ln>
          <a:extLst>
            <a:ext uri="{909E8E84-426E-40DD-AFC4-6F175D3DCCD1}">
              <a14:hiddenFill xmlns:a14="http://schemas.microsoft.com/office/drawing/2010/main">
                <a:noFill/>
              </a14:hiddenFill>
            </a:ext>
          </a:extLst>
        </p:spPr>
        <p:txBody>
          <a:bodyPr wrap="none"/>
          <a:lstStyle/>
          <a:p>
            <a:endParaRPr lang="en-IN"/>
          </a:p>
        </p:txBody>
      </p:sp>
      <p:sp>
        <p:nvSpPr>
          <p:cNvPr id="22535" name="Line 7"/>
          <p:cNvSpPr>
            <a:spLocks noChangeShapeType="1"/>
          </p:cNvSpPr>
          <p:nvPr/>
        </p:nvSpPr>
        <p:spPr bwMode="auto">
          <a:xfrm flipV="1">
            <a:off x="3124200" y="3048000"/>
            <a:ext cx="1066800" cy="1676400"/>
          </a:xfrm>
          <a:prstGeom prst="line">
            <a:avLst/>
          </a:prstGeom>
          <a:noFill/>
          <a:ln w="19050">
            <a:solidFill>
              <a:schemeClr val="hlink"/>
            </a:solidFill>
            <a:miter lim="800000"/>
            <a:headEnd/>
            <a:tailEnd type="triangle" w="lg" len="med"/>
          </a:ln>
          <a:extLst>
            <a:ext uri="{909E8E84-426E-40DD-AFC4-6F175D3DCCD1}">
              <a14:hiddenFill xmlns:a14="http://schemas.microsoft.com/office/drawing/2010/main">
                <a:noFill/>
              </a14:hiddenFill>
            </a:ext>
          </a:extLst>
        </p:spPr>
        <p:txBody>
          <a:bodyPr wrap="none"/>
          <a:lstStyle/>
          <a:p>
            <a:endParaRPr lang="en-IN"/>
          </a:p>
        </p:txBody>
      </p:sp>
      <p:sp>
        <p:nvSpPr>
          <p:cNvPr id="22536" name="Line 8"/>
          <p:cNvSpPr>
            <a:spLocks noChangeShapeType="1"/>
          </p:cNvSpPr>
          <p:nvPr/>
        </p:nvSpPr>
        <p:spPr bwMode="auto">
          <a:xfrm flipH="1" flipV="1">
            <a:off x="2819400" y="3429000"/>
            <a:ext cx="304800" cy="1295400"/>
          </a:xfrm>
          <a:prstGeom prst="line">
            <a:avLst/>
          </a:prstGeom>
          <a:noFill/>
          <a:ln w="19050">
            <a:solidFill>
              <a:schemeClr val="hlink"/>
            </a:solidFill>
            <a:miter lim="800000"/>
            <a:headEnd/>
            <a:tailEnd type="triangle" w="lg" len="med"/>
          </a:ln>
          <a:extLst>
            <a:ext uri="{909E8E84-426E-40DD-AFC4-6F175D3DCCD1}">
              <a14:hiddenFill xmlns:a14="http://schemas.microsoft.com/office/drawing/2010/main">
                <a:noFill/>
              </a14:hiddenFill>
            </a:ext>
          </a:extLst>
        </p:spPr>
        <p:txBody>
          <a:bodyPr wrap="none"/>
          <a:lstStyle/>
          <a:p>
            <a:endParaRPr lang="en-IN"/>
          </a:p>
        </p:txBody>
      </p:sp>
      <p:sp>
        <p:nvSpPr>
          <p:cNvPr id="22537" name="Line 9"/>
          <p:cNvSpPr>
            <a:spLocks noChangeShapeType="1"/>
          </p:cNvSpPr>
          <p:nvPr/>
        </p:nvSpPr>
        <p:spPr bwMode="auto">
          <a:xfrm>
            <a:off x="4191000" y="5715000"/>
            <a:ext cx="2286000" cy="0"/>
          </a:xfrm>
          <a:prstGeom prst="line">
            <a:avLst/>
          </a:prstGeom>
          <a:noFill/>
          <a:ln w="19050">
            <a:solidFill>
              <a:schemeClr val="hlink"/>
            </a:solidFill>
            <a:miter lim="800000"/>
            <a:headEnd/>
            <a:tailEnd type="triangle" w="lg" len="med"/>
          </a:ln>
          <a:extLst>
            <a:ext uri="{909E8E84-426E-40DD-AFC4-6F175D3DCCD1}">
              <a14:hiddenFill xmlns:a14="http://schemas.microsoft.com/office/drawing/2010/main">
                <a:noFill/>
              </a14:hiddenFill>
            </a:ext>
          </a:extLst>
        </p:spPr>
        <p:txBody>
          <a:bodyPr wrap="none"/>
          <a:lstStyle/>
          <a:p>
            <a:endParaRPr lang="en-IN"/>
          </a:p>
        </p:txBody>
      </p:sp>
      <p:sp>
        <p:nvSpPr>
          <p:cNvPr id="22538" name="Rectangle 10"/>
          <p:cNvSpPr>
            <a:spLocks noChangeArrowheads="1"/>
          </p:cNvSpPr>
          <p:nvPr/>
        </p:nvSpPr>
        <p:spPr bwMode="auto">
          <a:xfrm>
            <a:off x="6477000" y="5638800"/>
            <a:ext cx="838200" cy="228600"/>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2539" name="Text Box 11"/>
          <p:cNvSpPr txBox="1">
            <a:spLocks noChangeArrowheads="1"/>
          </p:cNvSpPr>
          <p:nvPr/>
        </p:nvSpPr>
        <p:spPr bwMode="auto">
          <a:xfrm>
            <a:off x="7543800" y="1203325"/>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eaLnBrk="1" hangingPunct="1">
              <a:spcBef>
                <a:spcPct val="50000"/>
              </a:spcBef>
            </a:pPr>
            <a:r>
              <a:rPr lang="en-US" altLang="en-US" sz="2000" i="1">
                <a:solidFill>
                  <a:srgbClr val="000099"/>
                </a:solidFill>
              </a:rPr>
              <a:t>(continued)</a:t>
            </a:r>
          </a:p>
        </p:txBody>
      </p:sp>
    </p:spTree>
    <p:extLst>
      <p:ext uri="{BB962C8B-B14F-4D97-AF65-F5344CB8AC3E}">
        <p14:creationId xmlns:p14="http://schemas.microsoft.com/office/powerpoint/2010/main" val="19963615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1182447" y="177785"/>
            <a:ext cx="7402883" cy="874951"/>
          </a:xfrm>
        </p:spPr>
        <p:txBody>
          <a:bodyPr/>
          <a:lstStyle/>
          <a:p>
            <a:pPr eaLnBrk="1" hangingPunct="1"/>
            <a:r>
              <a:rPr lang="en-US" altLang="en-US" b="1" smtClean="0"/>
              <a:t>Interpreting the Result</a:t>
            </a:r>
          </a:p>
        </p:txBody>
      </p:sp>
      <p:sp>
        <p:nvSpPr>
          <p:cNvPr id="3076" name="Rectangle 3"/>
          <p:cNvSpPr>
            <a:spLocks noGrp="1" noChangeArrowheads="1"/>
          </p:cNvSpPr>
          <p:nvPr>
            <p:ph type="body" idx="1"/>
          </p:nvPr>
        </p:nvSpPr>
        <p:spPr>
          <a:xfrm>
            <a:off x="669924" y="1658607"/>
            <a:ext cx="7239000" cy="4648200"/>
          </a:xfrm>
        </p:spPr>
        <p:txBody>
          <a:bodyPr>
            <a:normAutofit lnSpcReduction="10000"/>
          </a:bodyPr>
          <a:lstStyle/>
          <a:p>
            <a:pPr eaLnBrk="1" hangingPunct="1">
              <a:lnSpc>
                <a:spcPct val="90000"/>
              </a:lnSpc>
            </a:pPr>
            <a:r>
              <a:rPr lang="en-US" altLang="en-US" sz="2400" smtClean="0"/>
              <a:t>r = .733</a:t>
            </a:r>
          </a:p>
          <a:p>
            <a:pPr eaLnBrk="1" hangingPunct="1">
              <a:lnSpc>
                <a:spcPct val="90000"/>
              </a:lnSpc>
            </a:pPr>
            <a:endParaRPr lang="en-US" altLang="en-US" sz="2400" smtClean="0"/>
          </a:p>
          <a:p>
            <a:pPr eaLnBrk="1" hangingPunct="1">
              <a:lnSpc>
                <a:spcPct val="90000"/>
              </a:lnSpc>
            </a:pPr>
            <a:r>
              <a:rPr lang="en-US" altLang="en-US" sz="2400" smtClean="0"/>
              <a:t>There is a relatively </a:t>
            </a:r>
          </a:p>
          <a:p>
            <a:pPr eaLnBrk="1" hangingPunct="1">
              <a:lnSpc>
                <a:spcPct val="90000"/>
              </a:lnSpc>
              <a:buFont typeface="Wingdings" pitchFamily="2" charset="2"/>
              <a:buNone/>
            </a:pPr>
            <a:r>
              <a:rPr lang="en-US" altLang="en-US" sz="2400" smtClean="0"/>
              <a:t>	strong positive linear </a:t>
            </a:r>
          </a:p>
          <a:p>
            <a:pPr eaLnBrk="1" hangingPunct="1">
              <a:lnSpc>
                <a:spcPct val="90000"/>
              </a:lnSpc>
              <a:buFont typeface="Wingdings" pitchFamily="2" charset="2"/>
              <a:buNone/>
            </a:pPr>
            <a:r>
              <a:rPr lang="en-US" altLang="en-US" sz="2400" smtClean="0"/>
              <a:t>	relationship between </a:t>
            </a:r>
          </a:p>
          <a:p>
            <a:pPr eaLnBrk="1" hangingPunct="1">
              <a:lnSpc>
                <a:spcPct val="90000"/>
              </a:lnSpc>
              <a:buFont typeface="Wingdings" pitchFamily="2" charset="2"/>
              <a:buNone/>
            </a:pPr>
            <a:r>
              <a:rPr lang="en-US" altLang="en-US" sz="2400" smtClean="0"/>
              <a:t>	test score #1 </a:t>
            </a:r>
          </a:p>
          <a:p>
            <a:pPr eaLnBrk="1" hangingPunct="1">
              <a:lnSpc>
                <a:spcPct val="90000"/>
              </a:lnSpc>
              <a:buFont typeface="Wingdings" pitchFamily="2" charset="2"/>
              <a:buNone/>
            </a:pPr>
            <a:r>
              <a:rPr lang="en-US" altLang="en-US" sz="2400" smtClean="0"/>
              <a:t>	and test score #2</a:t>
            </a:r>
          </a:p>
          <a:p>
            <a:pPr eaLnBrk="1" hangingPunct="1">
              <a:lnSpc>
                <a:spcPct val="90000"/>
              </a:lnSpc>
              <a:buFont typeface="Wingdings" pitchFamily="2" charset="2"/>
              <a:buNone/>
            </a:pPr>
            <a:endParaRPr lang="en-US" altLang="en-US" sz="2400" smtClean="0"/>
          </a:p>
          <a:p>
            <a:pPr eaLnBrk="1" hangingPunct="1">
              <a:lnSpc>
                <a:spcPct val="90000"/>
              </a:lnSpc>
            </a:pPr>
            <a:r>
              <a:rPr lang="en-US" altLang="en-US" sz="2400" smtClean="0"/>
              <a:t>Students who scored high on the first test tended to score high on second test, and students who scored low on the first test tended to score low on the second test</a:t>
            </a:r>
          </a:p>
        </p:txBody>
      </p:sp>
      <p:graphicFrame>
        <p:nvGraphicFramePr>
          <p:cNvPr id="3074" name="Object 4"/>
          <p:cNvGraphicFramePr>
            <a:graphicFrameLocks noChangeAspect="1"/>
          </p:cNvGraphicFramePr>
          <p:nvPr>
            <p:extLst>
              <p:ext uri="{D42A27DB-BD31-4B8C-83A1-F6EECF244321}">
                <p14:modId xmlns:p14="http://schemas.microsoft.com/office/powerpoint/2010/main" val="1654485967"/>
              </p:ext>
            </p:extLst>
          </p:nvPr>
        </p:nvGraphicFramePr>
        <p:xfrm>
          <a:off x="4479924" y="1582407"/>
          <a:ext cx="4700588" cy="2946400"/>
        </p:xfrm>
        <a:graphic>
          <a:graphicData uri="http://schemas.openxmlformats.org/presentationml/2006/ole">
            <mc:AlternateContent xmlns:mc="http://schemas.openxmlformats.org/markup-compatibility/2006">
              <mc:Choice xmlns:v="urn:schemas-microsoft-com:vml" Requires="v">
                <p:oleObj spid="_x0000_s3082" name="Chart" r:id="rId3" imgW="5895975" imgH="3695802" progId="Excel.Chart.8">
                  <p:embed/>
                </p:oleObj>
              </mc:Choice>
              <mc:Fallback>
                <p:oleObj name="Chart" r:id="rId3" imgW="5895975" imgH="3695802"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9924" y="1582407"/>
                        <a:ext cx="4700588" cy="294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82630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smtClean="0"/>
              <a:t>Correlation vs. Regression</a:t>
            </a:r>
          </a:p>
        </p:txBody>
      </p:sp>
      <p:sp>
        <p:nvSpPr>
          <p:cNvPr id="23555" name="Rectangle 3"/>
          <p:cNvSpPr>
            <a:spLocks noGrp="1" noChangeArrowheads="1"/>
          </p:cNvSpPr>
          <p:nvPr>
            <p:ph type="body" idx="1"/>
          </p:nvPr>
        </p:nvSpPr>
        <p:spPr>
          <a:xfrm>
            <a:off x="762000" y="1676400"/>
            <a:ext cx="8077200" cy="4648200"/>
          </a:xfrm>
        </p:spPr>
        <p:txBody>
          <a:bodyPr/>
          <a:lstStyle/>
          <a:p>
            <a:pPr eaLnBrk="1" hangingPunct="1">
              <a:lnSpc>
                <a:spcPct val="90000"/>
              </a:lnSpc>
              <a:spcBef>
                <a:spcPct val="40000"/>
              </a:spcBef>
            </a:pPr>
            <a:r>
              <a:rPr lang="en-US" altLang="en-US" smtClean="0"/>
              <a:t>A </a:t>
            </a:r>
            <a:r>
              <a:rPr lang="en-US" altLang="en-US" smtClean="0">
                <a:solidFill>
                  <a:schemeClr val="folHlink"/>
                </a:solidFill>
              </a:rPr>
              <a:t>scatter diagram</a:t>
            </a:r>
            <a:r>
              <a:rPr lang="en-US" altLang="en-US" smtClean="0"/>
              <a:t> can be used to show the relationship between two variables</a:t>
            </a:r>
          </a:p>
          <a:p>
            <a:pPr eaLnBrk="1" hangingPunct="1">
              <a:lnSpc>
                <a:spcPct val="90000"/>
              </a:lnSpc>
              <a:spcBef>
                <a:spcPct val="40000"/>
              </a:spcBef>
            </a:pPr>
            <a:r>
              <a:rPr lang="en-US" altLang="en-US" smtClean="0">
                <a:solidFill>
                  <a:schemeClr val="folHlink"/>
                </a:solidFill>
              </a:rPr>
              <a:t>Correlation</a:t>
            </a:r>
            <a:r>
              <a:rPr lang="en-US" altLang="en-US" smtClean="0"/>
              <a:t> analysis is used to measure strength of the association (linear relationship) between two variables</a:t>
            </a:r>
          </a:p>
          <a:p>
            <a:pPr lvl="1" eaLnBrk="1" hangingPunct="1">
              <a:lnSpc>
                <a:spcPct val="90000"/>
              </a:lnSpc>
              <a:spcBef>
                <a:spcPct val="40000"/>
              </a:spcBef>
            </a:pPr>
            <a:r>
              <a:rPr lang="en-US" altLang="en-US" smtClean="0"/>
              <a:t>Correlation is only concerned with strength of the relationship </a:t>
            </a:r>
          </a:p>
          <a:p>
            <a:pPr lvl="1" eaLnBrk="1" hangingPunct="1">
              <a:lnSpc>
                <a:spcPct val="90000"/>
              </a:lnSpc>
              <a:spcBef>
                <a:spcPct val="40000"/>
              </a:spcBef>
            </a:pPr>
            <a:r>
              <a:rPr lang="en-US" altLang="en-US" smtClean="0"/>
              <a:t>No causal effect is implied with correlation</a:t>
            </a:r>
          </a:p>
          <a:p>
            <a:pPr lvl="1" eaLnBrk="1" hangingPunct="1">
              <a:lnSpc>
                <a:spcPct val="90000"/>
              </a:lnSpc>
              <a:spcBef>
                <a:spcPct val="40000"/>
              </a:spcBef>
            </a:pPr>
            <a:r>
              <a:rPr lang="en-US" altLang="en-US" smtClean="0"/>
              <a:t>Scatter diagrams were first presented in Ch. 2</a:t>
            </a:r>
          </a:p>
          <a:p>
            <a:pPr eaLnBrk="1" hangingPunct="1">
              <a:lnSpc>
                <a:spcPct val="90000"/>
              </a:lnSpc>
              <a:buFont typeface="Wingdings" pitchFamily="2" charset="2"/>
              <a:buNone/>
            </a:pPr>
            <a:endParaRPr lang="en-US" altLang="en-US" sz="3200" smtClean="0"/>
          </a:p>
        </p:txBody>
      </p:sp>
    </p:spTree>
    <p:extLst>
      <p:ext uri="{BB962C8B-B14F-4D97-AF65-F5344CB8AC3E}">
        <p14:creationId xmlns:p14="http://schemas.microsoft.com/office/powerpoint/2010/main" val="36911241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150938" y="304800"/>
            <a:ext cx="7078662" cy="1066800"/>
          </a:xfrm>
        </p:spPr>
        <p:txBody>
          <a:bodyPr/>
          <a:lstStyle/>
          <a:p>
            <a:pPr eaLnBrk="1" hangingPunct="1">
              <a:lnSpc>
                <a:spcPct val="80000"/>
              </a:lnSpc>
            </a:pPr>
            <a:r>
              <a:rPr lang="en-US" altLang="en-US" smtClean="0"/>
              <a:t>Introduction to </a:t>
            </a:r>
            <a:br>
              <a:rPr lang="en-US" altLang="en-US" smtClean="0"/>
            </a:br>
            <a:r>
              <a:rPr lang="en-US" altLang="en-US" smtClean="0"/>
              <a:t>Regression Analysis</a:t>
            </a:r>
          </a:p>
        </p:txBody>
      </p:sp>
      <p:sp>
        <p:nvSpPr>
          <p:cNvPr id="24579" name="Rectangle 3"/>
          <p:cNvSpPr>
            <a:spLocks noGrp="1" noChangeArrowheads="1"/>
          </p:cNvSpPr>
          <p:nvPr>
            <p:ph type="body" idx="1"/>
          </p:nvPr>
        </p:nvSpPr>
        <p:spPr>
          <a:xfrm>
            <a:off x="971600" y="1752600"/>
            <a:ext cx="8153400" cy="4495800"/>
          </a:xfrm>
        </p:spPr>
        <p:txBody>
          <a:bodyPr/>
          <a:lstStyle/>
          <a:p>
            <a:pPr eaLnBrk="1" hangingPunct="1">
              <a:spcBef>
                <a:spcPct val="40000"/>
              </a:spcBef>
            </a:pPr>
            <a:r>
              <a:rPr lang="en-US" altLang="en-US" sz="2700" smtClean="0">
                <a:solidFill>
                  <a:schemeClr val="folHlink"/>
                </a:solidFill>
              </a:rPr>
              <a:t>Regression analysis</a:t>
            </a:r>
            <a:r>
              <a:rPr lang="en-US" altLang="en-US" sz="2700" smtClean="0"/>
              <a:t> is used to:</a:t>
            </a:r>
          </a:p>
          <a:p>
            <a:pPr lvl="1" eaLnBrk="1" hangingPunct="1">
              <a:spcBef>
                <a:spcPct val="40000"/>
              </a:spcBef>
            </a:pPr>
            <a:r>
              <a:rPr lang="en-US" altLang="en-US" sz="2300" smtClean="0"/>
              <a:t>Predict the value of a dependent variable based on the value of at least one independent variable</a:t>
            </a:r>
          </a:p>
          <a:p>
            <a:pPr lvl="1" eaLnBrk="1" hangingPunct="1">
              <a:spcBef>
                <a:spcPct val="40000"/>
              </a:spcBef>
            </a:pPr>
            <a:r>
              <a:rPr lang="en-US" altLang="en-US" sz="2300" smtClean="0"/>
              <a:t>Explain the impact of changes in an independent variable on the dependent variable</a:t>
            </a:r>
          </a:p>
          <a:p>
            <a:pPr eaLnBrk="1" hangingPunct="1">
              <a:spcBef>
                <a:spcPct val="40000"/>
              </a:spcBef>
              <a:buFont typeface="Wingdings" pitchFamily="2" charset="2"/>
              <a:buNone/>
            </a:pPr>
            <a:r>
              <a:rPr lang="en-US" altLang="en-US" sz="2700" smtClean="0">
                <a:solidFill>
                  <a:schemeClr val="folHlink"/>
                </a:solidFill>
              </a:rPr>
              <a:t>Dependent variable:</a:t>
            </a:r>
            <a:r>
              <a:rPr lang="en-US" altLang="en-US" sz="2700" smtClean="0"/>
              <a:t>  the variable we wish to predict</a:t>
            </a:r>
          </a:p>
          <a:p>
            <a:pPr eaLnBrk="1" hangingPunct="1">
              <a:lnSpc>
                <a:spcPct val="40000"/>
              </a:lnSpc>
              <a:spcBef>
                <a:spcPct val="40000"/>
              </a:spcBef>
              <a:buFont typeface="Wingdings" pitchFamily="2" charset="2"/>
              <a:buNone/>
            </a:pPr>
            <a:r>
              <a:rPr lang="en-US" altLang="en-US" sz="2700" smtClean="0"/>
              <a:t>				       or explain</a:t>
            </a:r>
          </a:p>
          <a:p>
            <a:pPr eaLnBrk="1" hangingPunct="1">
              <a:spcBef>
                <a:spcPct val="40000"/>
              </a:spcBef>
              <a:buFont typeface="Wingdings" pitchFamily="2" charset="2"/>
              <a:buNone/>
            </a:pPr>
            <a:r>
              <a:rPr lang="en-US" altLang="en-US" sz="2700" smtClean="0">
                <a:solidFill>
                  <a:schemeClr val="folHlink"/>
                </a:solidFill>
              </a:rPr>
              <a:t>Independent variable:</a:t>
            </a:r>
            <a:r>
              <a:rPr lang="en-US" altLang="en-US" sz="2700" smtClean="0"/>
              <a:t>  the variable used to explain 				 the dependent variable</a:t>
            </a:r>
          </a:p>
        </p:txBody>
      </p:sp>
    </p:spTree>
    <p:extLst>
      <p:ext uri="{BB962C8B-B14F-4D97-AF65-F5344CB8AC3E}">
        <p14:creationId xmlns:p14="http://schemas.microsoft.com/office/powerpoint/2010/main" val="40367133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50938" y="381000"/>
            <a:ext cx="7078662" cy="990600"/>
          </a:xfrm>
        </p:spPr>
        <p:txBody>
          <a:bodyPr/>
          <a:lstStyle/>
          <a:p>
            <a:pPr eaLnBrk="1" hangingPunct="1">
              <a:lnSpc>
                <a:spcPct val="80000"/>
              </a:lnSpc>
            </a:pPr>
            <a:r>
              <a:rPr lang="en-US" altLang="en-US" smtClean="0"/>
              <a:t>Simple Linear Regression Model</a:t>
            </a:r>
          </a:p>
        </p:txBody>
      </p:sp>
      <p:sp>
        <p:nvSpPr>
          <p:cNvPr id="25603" name="Rectangle 3"/>
          <p:cNvSpPr>
            <a:spLocks noGrp="1" noChangeArrowheads="1"/>
          </p:cNvSpPr>
          <p:nvPr>
            <p:ph type="body" idx="1"/>
          </p:nvPr>
        </p:nvSpPr>
        <p:spPr>
          <a:xfrm>
            <a:off x="1219200" y="1905000"/>
            <a:ext cx="6934200" cy="3824288"/>
          </a:xfrm>
        </p:spPr>
        <p:txBody>
          <a:bodyPr/>
          <a:lstStyle/>
          <a:p>
            <a:pPr eaLnBrk="1" hangingPunct="1">
              <a:spcBef>
                <a:spcPct val="45000"/>
              </a:spcBef>
            </a:pPr>
            <a:r>
              <a:rPr lang="en-US" altLang="en-US" sz="2700" smtClean="0"/>
              <a:t>Only </a:t>
            </a:r>
            <a:r>
              <a:rPr lang="en-US" altLang="en-US" sz="2700" b="1" smtClean="0">
                <a:solidFill>
                  <a:schemeClr val="folHlink"/>
                </a:solidFill>
              </a:rPr>
              <a:t>one</a:t>
            </a:r>
            <a:r>
              <a:rPr lang="en-US" altLang="en-US" sz="2700" smtClean="0">
                <a:solidFill>
                  <a:schemeClr val="folHlink"/>
                </a:solidFill>
              </a:rPr>
              <a:t> independent variable</a:t>
            </a:r>
            <a:r>
              <a:rPr lang="en-US" altLang="en-US" sz="2700" smtClean="0"/>
              <a:t>, X</a:t>
            </a:r>
          </a:p>
          <a:p>
            <a:pPr eaLnBrk="1" hangingPunct="1">
              <a:spcBef>
                <a:spcPct val="45000"/>
              </a:spcBef>
            </a:pPr>
            <a:r>
              <a:rPr lang="en-US" altLang="en-US" sz="2700" smtClean="0"/>
              <a:t>Relationship between  X  and  Y  is described by a linear function</a:t>
            </a:r>
          </a:p>
          <a:p>
            <a:pPr eaLnBrk="1" hangingPunct="1">
              <a:spcBef>
                <a:spcPct val="45000"/>
              </a:spcBef>
            </a:pPr>
            <a:r>
              <a:rPr lang="en-US" altLang="en-US" sz="2700" smtClean="0"/>
              <a:t>Changes in  Y  are assumed to be caused by changes in  X</a:t>
            </a:r>
          </a:p>
        </p:txBody>
      </p:sp>
    </p:spTree>
    <p:extLst>
      <p:ext uri="{BB962C8B-B14F-4D97-AF65-F5344CB8AC3E}">
        <p14:creationId xmlns:p14="http://schemas.microsoft.com/office/powerpoint/2010/main" val="14269242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1026"/>
          <p:cNvGraphicFramePr>
            <a:graphicFrameLocks noChangeAspect="1"/>
          </p:cNvGraphicFramePr>
          <p:nvPr>
            <p:extLst>
              <p:ext uri="{D42A27DB-BD31-4B8C-83A1-F6EECF244321}">
                <p14:modId xmlns:p14="http://schemas.microsoft.com/office/powerpoint/2010/main" val="142397039"/>
              </p:ext>
            </p:extLst>
          </p:nvPr>
        </p:nvGraphicFramePr>
        <p:xfrm>
          <a:off x="2343472" y="3581400"/>
          <a:ext cx="4667250" cy="1217613"/>
        </p:xfrm>
        <a:graphic>
          <a:graphicData uri="http://schemas.openxmlformats.org/presentationml/2006/ole">
            <mc:AlternateContent xmlns:mc="http://schemas.openxmlformats.org/markup-compatibility/2006">
              <mc:Choice xmlns:v="urn:schemas-microsoft-com:vml" Requires="v">
                <p:oleObj spid="_x0000_s4106" name="Equation" r:id="rId3" imgW="876240" imgH="228600" progId="Equation.3">
                  <p:embed/>
                </p:oleObj>
              </mc:Choice>
              <mc:Fallback>
                <p:oleObj name="Equation" r:id="rId3" imgW="87624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3472" y="3581400"/>
                        <a:ext cx="4667250" cy="1217613"/>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9" name="Text Box 1027"/>
          <p:cNvSpPr txBox="1">
            <a:spLocks noChangeArrowheads="1"/>
          </p:cNvSpPr>
          <p:nvPr/>
        </p:nvSpPr>
        <p:spPr bwMode="auto">
          <a:xfrm>
            <a:off x="4172272" y="5029200"/>
            <a:ext cx="221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sz="2000"/>
              <a:t>Linear component</a:t>
            </a:r>
          </a:p>
        </p:txBody>
      </p:sp>
      <p:sp>
        <p:nvSpPr>
          <p:cNvPr id="4100" name="Rectangle 1028"/>
          <p:cNvSpPr>
            <a:spLocks noGrp="1" noChangeArrowheads="1"/>
          </p:cNvSpPr>
          <p:nvPr>
            <p:ph type="title"/>
          </p:nvPr>
        </p:nvSpPr>
        <p:spPr>
          <a:xfrm>
            <a:off x="1741810" y="381000"/>
            <a:ext cx="7078662" cy="990600"/>
          </a:xfrm>
        </p:spPr>
        <p:txBody>
          <a:bodyPr/>
          <a:lstStyle/>
          <a:p>
            <a:pPr eaLnBrk="1" hangingPunct="1">
              <a:lnSpc>
                <a:spcPct val="80000"/>
              </a:lnSpc>
            </a:pPr>
            <a:r>
              <a:rPr lang="en-US" altLang="en-US" smtClean="0"/>
              <a:t>Simple Linear Regression Model</a:t>
            </a:r>
          </a:p>
        </p:txBody>
      </p:sp>
      <p:sp>
        <p:nvSpPr>
          <p:cNvPr id="4101" name="Rectangle 1030"/>
          <p:cNvSpPr>
            <a:spLocks noChangeArrowheads="1"/>
          </p:cNvSpPr>
          <p:nvPr/>
        </p:nvSpPr>
        <p:spPr bwMode="auto">
          <a:xfrm>
            <a:off x="2724472" y="2514600"/>
            <a:ext cx="15240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spcBef>
                <a:spcPct val="50000"/>
              </a:spcBef>
            </a:pPr>
            <a:r>
              <a:rPr lang="en-US" altLang="en-US" sz="2000"/>
              <a:t>Population </a:t>
            </a:r>
            <a:br>
              <a:rPr lang="en-US" altLang="en-US" sz="2000"/>
            </a:br>
            <a:r>
              <a:rPr lang="en-US" altLang="en-US" sz="2000"/>
              <a:t>Y  intercept </a:t>
            </a:r>
          </a:p>
        </p:txBody>
      </p:sp>
      <p:sp>
        <p:nvSpPr>
          <p:cNvPr id="4102" name="Rectangle 1031"/>
          <p:cNvSpPr>
            <a:spLocks noChangeArrowheads="1"/>
          </p:cNvSpPr>
          <p:nvPr/>
        </p:nvSpPr>
        <p:spPr bwMode="auto">
          <a:xfrm>
            <a:off x="4477072" y="2362200"/>
            <a:ext cx="14478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spcBef>
                <a:spcPct val="50000"/>
              </a:spcBef>
            </a:pPr>
            <a:r>
              <a:rPr lang="en-US" altLang="en-US" sz="2000"/>
              <a:t>Population Slope</a:t>
            </a:r>
            <a:br>
              <a:rPr lang="en-US" altLang="en-US" sz="2000"/>
            </a:br>
            <a:r>
              <a:rPr lang="en-US" altLang="en-US" sz="2000"/>
              <a:t>Coefficient </a:t>
            </a:r>
          </a:p>
        </p:txBody>
      </p:sp>
      <p:sp>
        <p:nvSpPr>
          <p:cNvPr id="4103" name="Rectangle 1033"/>
          <p:cNvSpPr>
            <a:spLocks noChangeArrowheads="1"/>
          </p:cNvSpPr>
          <p:nvPr/>
        </p:nvSpPr>
        <p:spPr bwMode="auto">
          <a:xfrm>
            <a:off x="743272" y="3124200"/>
            <a:ext cx="183832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spcBef>
                <a:spcPct val="50000"/>
              </a:spcBef>
            </a:pPr>
            <a:r>
              <a:rPr lang="en-US" altLang="en-US" sz="2000"/>
              <a:t>Dependent Variable</a:t>
            </a:r>
          </a:p>
        </p:txBody>
      </p:sp>
      <p:sp>
        <p:nvSpPr>
          <p:cNvPr id="4104" name="Line 1034"/>
          <p:cNvSpPr>
            <a:spLocks noChangeShapeType="1"/>
          </p:cNvSpPr>
          <p:nvPr/>
        </p:nvSpPr>
        <p:spPr bwMode="auto">
          <a:xfrm>
            <a:off x="3562672" y="3200400"/>
            <a:ext cx="381000" cy="457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105" name="Line 1035"/>
          <p:cNvSpPr>
            <a:spLocks noChangeShapeType="1"/>
          </p:cNvSpPr>
          <p:nvPr/>
        </p:nvSpPr>
        <p:spPr bwMode="auto">
          <a:xfrm>
            <a:off x="1886272" y="3657600"/>
            <a:ext cx="381000" cy="152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106" name="Line 1036"/>
          <p:cNvSpPr>
            <a:spLocks noChangeShapeType="1"/>
          </p:cNvSpPr>
          <p:nvPr/>
        </p:nvSpPr>
        <p:spPr bwMode="auto">
          <a:xfrm flipH="1">
            <a:off x="6458272" y="3200400"/>
            <a:ext cx="0" cy="457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4107" name="Rectangle 1038"/>
          <p:cNvSpPr>
            <a:spLocks noChangeArrowheads="1"/>
          </p:cNvSpPr>
          <p:nvPr/>
        </p:nvSpPr>
        <p:spPr bwMode="auto">
          <a:xfrm>
            <a:off x="6229672" y="2514600"/>
            <a:ext cx="1604963"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spcBef>
                <a:spcPct val="50000"/>
              </a:spcBef>
            </a:pPr>
            <a:r>
              <a:rPr lang="en-US" altLang="en-US" sz="2000"/>
              <a:t>Independent Variable</a:t>
            </a:r>
          </a:p>
        </p:txBody>
      </p:sp>
      <p:sp>
        <p:nvSpPr>
          <p:cNvPr id="4108" name="AutoShape 1039"/>
          <p:cNvSpPr>
            <a:spLocks/>
          </p:cNvSpPr>
          <p:nvPr/>
        </p:nvSpPr>
        <p:spPr bwMode="auto">
          <a:xfrm rot="16200000" flipV="1">
            <a:off x="5160491" y="3659981"/>
            <a:ext cx="228600" cy="2662238"/>
          </a:xfrm>
          <a:prstGeom prst="leftBrace">
            <a:avLst>
              <a:gd name="adj1" fmla="val 97049"/>
              <a:gd name="adj2" fmla="val 50000"/>
            </a:avLst>
          </a:prstGeom>
          <a:noFill/>
          <a:ln w="38100">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4109" name="Line 1040"/>
          <p:cNvSpPr>
            <a:spLocks noChangeShapeType="1"/>
          </p:cNvSpPr>
          <p:nvPr/>
        </p:nvSpPr>
        <p:spPr bwMode="auto">
          <a:xfrm rot="-659185">
            <a:off x="5383535" y="3292475"/>
            <a:ext cx="227012" cy="3968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Tree>
    <p:extLst>
      <p:ext uri="{BB962C8B-B14F-4D97-AF65-F5344CB8AC3E}">
        <p14:creationId xmlns:p14="http://schemas.microsoft.com/office/powerpoint/2010/main" val="26320065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i="1" dirty="0"/>
              <a:t>Y</a:t>
            </a:r>
            <a:r>
              <a:rPr lang="en-IN" b="1" dirty="0"/>
              <a:t> = </a:t>
            </a:r>
            <a:r>
              <a:rPr lang="el-GR" b="1" i="1" dirty="0"/>
              <a:t>β</a:t>
            </a:r>
            <a:r>
              <a:rPr lang="el-GR" b="1" baseline="-25000" dirty="0"/>
              <a:t>1</a:t>
            </a:r>
            <a:r>
              <a:rPr lang="el-GR" b="1" dirty="0"/>
              <a:t> + </a:t>
            </a:r>
            <a:r>
              <a:rPr lang="el-GR" b="1" i="1" dirty="0"/>
              <a:t>β</a:t>
            </a:r>
            <a:r>
              <a:rPr lang="el-GR" b="1" baseline="-25000" dirty="0"/>
              <a:t>2</a:t>
            </a:r>
            <a:r>
              <a:rPr lang="en-IN" b="1" i="1" dirty="0"/>
              <a:t>X</a:t>
            </a:r>
            <a:r>
              <a:rPr lang="en-IN" b="1" dirty="0"/>
              <a:t> + </a:t>
            </a:r>
            <a:r>
              <a:rPr lang="el-GR" b="1" i="1" dirty="0" smtClean="0"/>
              <a:t>ϵ</a:t>
            </a:r>
            <a:endParaRPr lang="en-IN" b="1" dirty="0"/>
          </a:p>
        </p:txBody>
      </p:sp>
      <p:sp>
        <p:nvSpPr>
          <p:cNvPr id="3" name="Content Placeholder 2"/>
          <p:cNvSpPr>
            <a:spLocks noGrp="1"/>
          </p:cNvSpPr>
          <p:nvPr>
            <p:ph idx="1"/>
          </p:nvPr>
        </p:nvSpPr>
        <p:spPr/>
        <p:txBody>
          <a:bodyPr/>
          <a:lstStyle/>
          <a:p>
            <a:r>
              <a:rPr lang="en-IN" i="1" dirty="0"/>
              <a:t>β</a:t>
            </a:r>
            <a:r>
              <a:rPr lang="en-IN" baseline="-25000" dirty="0"/>
              <a:t>1</a:t>
            </a:r>
            <a:r>
              <a:rPr lang="en-IN" dirty="0"/>
              <a:t> is the intercept and </a:t>
            </a:r>
            <a:r>
              <a:rPr lang="en-IN" i="1" dirty="0" smtClean="0"/>
              <a:t>β</a:t>
            </a:r>
            <a:r>
              <a:rPr lang="en-IN" baseline="-25000" dirty="0" smtClean="0"/>
              <a:t>2</a:t>
            </a:r>
            <a:r>
              <a:rPr lang="en-IN" dirty="0" smtClean="0"/>
              <a:t> </a:t>
            </a:r>
            <a:r>
              <a:rPr lang="en-IN" dirty="0"/>
              <a:t>is the </a:t>
            </a:r>
            <a:r>
              <a:rPr lang="en-IN" dirty="0" smtClean="0"/>
              <a:t>slope.</a:t>
            </a:r>
          </a:p>
          <a:p>
            <a:r>
              <a:rPr lang="en-IN" dirty="0"/>
              <a:t>Collectively, they are called </a:t>
            </a:r>
            <a:r>
              <a:rPr lang="en-IN" i="1" dirty="0"/>
              <a:t>regression coefficients</a:t>
            </a:r>
            <a:r>
              <a:rPr lang="en-IN" dirty="0" smtClean="0"/>
              <a:t>.</a:t>
            </a:r>
          </a:p>
          <a:p>
            <a:r>
              <a:rPr lang="en-IN" i="1" dirty="0"/>
              <a:t>ϵ</a:t>
            </a:r>
            <a:r>
              <a:rPr lang="en-IN" dirty="0"/>
              <a:t> is the error term, the part of </a:t>
            </a:r>
            <a:r>
              <a:rPr lang="en-IN" i="1" dirty="0"/>
              <a:t>Y</a:t>
            </a:r>
            <a:r>
              <a:rPr lang="en-IN" dirty="0"/>
              <a:t> the regression model is unable to explain.</a:t>
            </a:r>
            <a:endParaRPr lang="en-IN" dirty="0" smtClean="0"/>
          </a:p>
          <a:p>
            <a:endParaRPr lang="en-IN" dirty="0"/>
          </a:p>
        </p:txBody>
      </p:sp>
    </p:spTree>
    <p:extLst>
      <p:ext uri="{BB962C8B-B14F-4D97-AF65-F5344CB8AC3E}">
        <p14:creationId xmlns:p14="http://schemas.microsoft.com/office/powerpoint/2010/main" val="23639115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2050" name="Picture 2" descr="http://r-statistics.co/screenshots/linear-regression-smal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6935" y="1268760"/>
            <a:ext cx="4821329" cy="4318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9673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2"/>
          <p:cNvGraphicFramePr>
            <a:graphicFrameLocks noChangeAspect="1"/>
          </p:cNvGraphicFramePr>
          <p:nvPr/>
        </p:nvGraphicFramePr>
        <p:xfrm>
          <a:off x="2482850" y="4275138"/>
          <a:ext cx="3794125" cy="1103312"/>
        </p:xfrm>
        <a:graphic>
          <a:graphicData uri="http://schemas.openxmlformats.org/presentationml/2006/ole">
            <mc:AlternateContent xmlns:mc="http://schemas.openxmlformats.org/markup-compatibility/2006">
              <mc:Choice xmlns:v="urn:schemas-microsoft-com:vml" Requires="v">
                <p:oleObj spid="_x0000_s5130" name="Equation" r:id="rId3" imgW="876240" imgH="253800" progId="Equation.3">
                  <p:embed/>
                </p:oleObj>
              </mc:Choice>
              <mc:Fallback>
                <p:oleObj name="Equation" r:id="rId3" imgW="876240" imgH="253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2850" y="4275138"/>
                        <a:ext cx="3794125" cy="1103312"/>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3" name="Text Box 3"/>
          <p:cNvSpPr txBox="1">
            <a:spLocks noChangeArrowheads="1"/>
          </p:cNvSpPr>
          <p:nvPr/>
        </p:nvSpPr>
        <p:spPr bwMode="auto">
          <a:xfrm>
            <a:off x="1143000" y="1600200"/>
            <a:ext cx="7086600" cy="835025"/>
          </a:xfrm>
          <a:prstGeom prst="rect">
            <a:avLst/>
          </a:prstGeom>
          <a:solidFill>
            <a:srgbClr val="FDE0BD"/>
          </a:solidFill>
          <a:ln w="12700">
            <a:solidFill>
              <a:schemeClr val="tx1"/>
            </a:solidFill>
            <a:miter lim="800000"/>
            <a:headEnd/>
            <a:tailEnd/>
          </a:ln>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a:t>The simple linear regression equation provides an </a:t>
            </a:r>
            <a:r>
              <a:rPr lang="en-US" altLang="en-US">
                <a:solidFill>
                  <a:schemeClr val="folHlink"/>
                </a:solidFill>
              </a:rPr>
              <a:t>estimate</a:t>
            </a:r>
            <a:r>
              <a:rPr lang="en-US" altLang="en-US"/>
              <a:t> of the population regression line</a:t>
            </a:r>
          </a:p>
        </p:txBody>
      </p:sp>
      <p:sp>
        <p:nvSpPr>
          <p:cNvPr id="5124" name="Rectangle 4"/>
          <p:cNvSpPr>
            <a:spLocks noGrp="1" noChangeArrowheads="1"/>
          </p:cNvSpPr>
          <p:nvPr>
            <p:ph type="title"/>
          </p:nvPr>
        </p:nvSpPr>
        <p:spPr>
          <a:xfrm>
            <a:off x="1150938" y="381000"/>
            <a:ext cx="7078662" cy="990600"/>
          </a:xfrm>
        </p:spPr>
        <p:txBody>
          <a:bodyPr/>
          <a:lstStyle/>
          <a:p>
            <a:pPr eaLnBrk="1" hangingPunct="1">
              <a:lnSpc>
                <a:spcPct val="80000"/>
              </a:lnSpc>
            </a:pPr>
            <a:r>
              <a:rPr lang="en-US" altLang="en-US" smtClean="0"/>
              <a:t>Simple Linear Regression Equation (Prediction Line)</a:t>
            </a:r>
          </a:p>
        </p:txBody>
      </p:sp>
      <p:sp>
        <p:nvSpPr>
          <p:cNvPr id="5125" name="Rectangle 5"/>
          <p:cNvSpPr>
            <a:spLocks noChangeArrowheads="1"/>
          </p:cNvSpPr>
          <p:nvPr/>
        </p:nvSpPr>
        <p:spPr bwMode="auto">
          <a:xfrm>
            <a:off x="3429000" y="2959100"/>
            <a:ext cx="18288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spcBef>
                <a:spcPct val="50000"/>
              </a:spcBef>
            </a:pPr>
            <a:r>
              <a:rPr lang="en-US" altLang="en-US" sz="2000"/>
              <a:t>Estimate of the regression </a:t>
            </a:r>
            <a:br>
              <a:rPr lang="en-US" altLang="en-US" sz="2000"/>
            </a:br>
            <a:r>
              <a:rPr lang="en-US" altLang="en-US" sz="2000"/>
              <a:t>intercept</a:t>
            </a:r>
            <a:endParaRPr lang="en-US" altLang="en-US" sz="2000" baseline="-25000"/>
          </a:p>
        </p:txBody>
      </p:sp>
      <p:sp>
        <p:nvSpPr>
          <p:cNvPr id="5126" name="Rectangle 6"/>
          <p:cNvSpPr>
            <a:spLocks noChangeArrowheads="1"/>
          </p:cNvSpPr>
          <p:nvPr/>
        </p:nvSpPr>
        <p:spPr bwMode="auto">
          <a:xfrm>
            <a:off x="5410200" y="3035300"/>
            <a:ext cx="2057400" cy="89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spcBef>
                <a:spcPct val="50000"/>
              </a:spcBef>
            </a:pPr>
            <a:r>
              <a:rPr lang="en-US" altLang="en-US" sz="2000"/>
              <a:t>Estimate of the regression slope</a:t>
            </a:r>
            <a:br>
              <a:rPr lang="en-US" altLang="en-US" sz="2000"/>
            </a:br>
            <a:endParaRPr lang="en-US" altLang="en-US" sz="2000" baseline="-25000"/>
          </a:p>
        </p:txBody>
      </p:sp>
      <p:sp>
        <p:nvSpPr>
          <p:cNvPr id="5127" name="Line 7"/>
          <p:cNvSpPr>
            <a:spLocks noChangeShapeType="1"/>
          </p:cNvSpPr>
          <p:nvPr/>
        </p:nvSpPr>
        <p:spPr bwMode="auto">
          <a:xfrm>
            <a:off x="3810000" y="3949700"/>
            <a:ext cx="76200" cy="457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5128" name="Line 8"/>
          <p:cNvSpPr>
            <a:spLocks noChangeShapeType="1"/>
          </p:cNvSpPr>
          <p:nvPr/>
        </p:nvSpPr>
        <p:spPr bwMode="auto">
          <a:xfrm flipH="1">
            <a:off x="5410200" y="3721100"/>
            <a:ext cx="228600" cy="762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5129" name="Rectangle 9"/>
          <p:cNvSpPr>
            <a:spLocks noChangeArrowheads="1"/>
          </p:cNvSpPr>
          <p:nvPr/>
        </p:nvSpPr>
        <p:spPr bwMode="auto">
          <a:xfrm>
            <a:off x="1066800" y="2654300"/>
            <a:ext cx="1752600"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spcBef>
                <a:spcPct val="50000"/>
              </a:spcBef>
            </a:pPr>
            <a:r>
              <a:rPr lang="en-US" altLang="en-US" sz="2000"/>
              <a:t>Estimated  (or predicted) Y value for observation i</a:t>
            </a:r>
            <a:endParaRPr lang="en-US" altLang="en-US" sz="2000" baseline="-25000"/>
          </a:p>
        </p:txBody>
      </p:sp>
      <p:sp>
        <p:nvSpPr>
          <p:cNvPr id="5130" name="Line 10"/>
          <p:cNvSpPr>
            <a:spLocks noChangeShapeType="1"/>
          </p:cNvSpPr>
          <p:nvPr/>
        </p:nvSpPr>
        <p:spPr bwMode="auto">
          <a:xfrm>
            <a:off x="2133600" y="3949700"/>
            <a:ext cx="457200" cy="4572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5131" name="Rectangle 11"/>
          <p:cNvSpPr>
            <a:spLocks noChangeArrowheads="1"/>
          </p:cNvSpPr>
          <p:nvPr/>
        </p:nvSpPr>
        <p:spPr bwMode="auto">
          <a:xfrm>
            <a:off x="6629400" y="4102100"/>
            <a:ext cx="17526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spcBef>
                <a:spcPct val="50000"/>
              </a:spcBef>
            </a:pPr>
            <a:r>
              <a:rPr lang="en-US" altLang="en-US" sz="2000"/>
              <a:t>Value of X for observation i</a:t>
            </a:r>
          </a:p>
        </p:txBody>
      </p:sp>
      <p:sp>
        <p:nvSpPr>
          <p:cNvPr id="5132" name="Line 12"/>
          <p:cNvSpPr>
            <a:spLocks noChangeShapeType="1"/>
          </p:cNvSpPr>
          <p:nvPr/>
        </p:nvSpPr>
        <p:spPr bwMode="auto">
          <a:xfrm flipH="1">
            <a:off x="6096000" y="4483100"/>
            <a:ext cx="533400" cy="1524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Tree>
    <p:extLst>
      <p:ext uri="{BB962C8B-B14F-4D97-AF65-F5344CB8AC3E}">
        <p14:creationId xmlns:p14="http://schemas.microsoft.com/office/powerpoint/2010/main" val="10699928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1019257" y="214817"/>
            <a:ext cx="7402883" cy="874951"/>
          </a:xfrm>
        </p:spPr>
        <p:txBody>
          <a:bodyPr/>
          <a:lstStyle/>
          <a:p>
            <a:pPr eaLnBrk="1" hangingPunct="1"/>
            <a:r>
              <a:rPr lang="en-US" altLang="en-US" smtClean="0"/>
              <a:t>Least Squares Method</a:t>
            </a:r>
          </a:p>
        </p:txBody>
      </p:sp>
      <p:sp>
        <p:nvSpPr>
          <p:cNvPr id="6149" name="Rectangle 3"/>
          <p:cNvSpPr>
            <a:spLocks noGrp="1" noChangeArrowheads="1"/>
          </p:cNvSpPr>
          <p:nvPr>
            <p:ph type="body" idx="1"/>
          </p:nvPr>
        </p:nvSpPr>
        <p:spPr>
          <a:xfrm>
            <a:off x="1268734" y="1752600"/>
            <a:ext cx="7543800" cy="1677988"/>
          </a:xfrm>
        </p:spPr>
        <p:txBody>
          <a:bodyPr>
            <a:normAutofit lnSpcReduction="10000"/>
          </a:bodyPr>
          <a:lstStyle/>
          <a:p>
            <a:pPr eaLnBrk="1" hangingPunct="1">
              <a:lnSpc>
                <a:spcPct val="130000"/>
              </a:lnSpc>
            </a:pPr>
            <a:r>
              <a:rPr lang="en-US" altLang="en-US" sz="2700" smtClean="0"/>
              <a:t>b</a:t>
            </a:r>
            <a:r>
              <a:rPr lang="en-US" altLang="en-US" sz="2700" baseline="-25000" smtClean="0"/>
              <a:t>0</a:t>
            </a:r>
            <a:r>
              <a:rPr lang="en-US" altLang="en-US" sz="2700" smtClean="0"/>
              <a:t>  and  b</a:t>
            </a:r>
            <a:r>
              <a:rPr lang="en-US" altLang="en-US" sz="2700" baseline="-25000" smtClean="0"/>
              <a:t>1</a:t>
            </a:r>
            <a:r>
              <a:rPr lang="en-US" altLang="en-US" sz="2700" smtClean="0"/>
              <a:t>  are obtained by finding the values of  b</a:t>
            </a:r>
            <a:r>
              <a:rPr lang="en-US" altLang="en-US" sz="2700" baseline="-25000" smtClean="0"/>
              <a:t>0</a:t>
            </a:r>
            <a:r>
              <a:rPr lang="en-US" altLang="en-US" sz="2700" smtClean="0"/>
              <a:t>  and  b</a:t>
            </a:r>
            <a:r>
              <a:rPr lang="en-US" altLang="en-US" sz="2700" baseline="-25000" smtClean="0"/>
              <a:t>1</a:t>
            </a:r>
            <a:r>
              <a:rPr lang="en-US" altLang="en-US" sz="2700" smtClean="0"/>
              <a:t>  that </a:t>
            </a:r>
            <a:r>
              <a:rPr lang="en-US" altLang="en-US" sz="2700" smtClean="0">
                <a:solidFill>
                  <a:schemeClr val="folHlink"/>
                </a:solidFill>
              </a:rPr>
              <a:t>minimize the sum of the squared differences </a:t>
            </a:r>
            <a:r>
              <a:rPr lang="en-US" altLang="en-US" sz="2700" smtClean="0"/>
              <a:t>between Y and     :</a:t>
            </a:r>
            <a:endParaRPr lang="en-US" altLang="en-US" smtClean="0"/>
          </a:p>
        </p:txBody>
      </p:sp>
      <p:graphicFrame>
        <p:nvGraphicFramePr>
          <p:cNvPr id="6146" name="Object 4"/>
          <p:cNvGraphicFramePr>
            <a:graphicFrameLocks noChangeAspect="1"/>
          </p:cNvGraphicFramePr>
          <p:nvPr>
            <p:extLst>
              <p:ext uri="{D42A27DB-BD31-4B8C-83A1-F6EECF244321}">
                <p14:modId xmlns:p14="http://schemas.microsoft.com/office/powerpoint/2010/main" val="3061302461"/>
              </p:ext>
            </p:extLst>
          </p:nvPr>
        </p:nvGraphicFramePr>
        <p:xfrm>
          <a:off x="811534" y="3810000"/>
          <a:ext cx="8008938" cy="785813"/>
        </p:xfrm>
        <a:graphic>
          <a:graphicData uri="http://schemas.openxmlformats.org/presentationml/2006/ole">
            <mc:AlternateContent xmlns:mc="http://schemas.openxmlformats.org/markup-compatibility/2006">
              <mc:Choice xmlns:v="urn:schemas-microsoft-com:vml" Requires="v">
                <p:oleObj spid="_x0000_s6162" name="Equation" r:id="rId3" imgW="2705040" imgH="266400" progId="Equation.3">
                  <p:embed/>
                </p:oleObj>
              </mc:Choice>
              <mc:Fallback>
                <p:oleObj name="Equation" r:id="rId3" imgW="2705040" imgH="266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534" y="3810000"/>
                        <a:ext cx="8008938" cy="785813"/>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7" name="Object 5"/>
          <p:cNvGraphicFramePr>
            <a:graphicFrameLocks noChangeAspect="1"/>
          </p:cNvGraphicFramePr>
          <p:nvPr>
            <p:extLst>
              <p:ext uri="{D42A27DB-BD31-4B8C-83A1-F6EECF244321}">
                <p14:modId xmlns:p14="http://schemas.microsoft.com/office/powerpoint/2010/main" val="613499320"/>
              </p:ext>
            </p:extLst>
          </p:nvPr>
        </p:nvGraphicFramePr>
        <p:xfrm>
          <a:off x="7171059" y="2895600"/>
          <a:ext cx="346075" cy="457200"/>
        </p:xfrm>
        <a:graphic>
          <a:graphicData uri="http://schemas.openxmlformats.org/presentationml/2006/ole">
            <mc:AlternateContent xmlns:mc="http://schemas.openxmlformats.org/markup-compatibility/2006">
              <mc:Choice xmlns:v="urn:schemas-microsoft-com:vml" Requires="v">
                <p:oleObj spid="_x0000_s6163" name="Equation" r:id="rId5" imgW="152280" imgH="203040" progId="Equation.3">
                  <p:embed/>
                </p:oleObj>
              </mc:Choice>
              <mc:Fallback>
                <p:oleObj name="Equation" r:id="rId5" imgW="152280" imgH="2030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1059" y="2895600"/>
                        <a:ext cx="3460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664762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150938" y="381000"/>
            <a:ext cx="7078662" cy="990600"/>
          </a:xfrm>
        </p:spPr>
        <p:txBody>
          <a:bodyPr/>
          <a:lstStyle/>
          <a:p>
            <a:pPr eaLnBrk="1" hangingPunct="1">
              <a:lnSpc>
                <a:spcPct val="80000"/>
              </a:lnSpc>
            </a:pPr>
            <a:r>
              <a:rPr lang="en-US" altLang="en-US" smtClean="0"/>
              <a:t>Finding the Least Squares Equation</a:t>
            </a:r>
          </a:p>
        </p:txBody>
      </p:sp>
      <p:sp>
        <p:nvSpPr>
          <p:cNvPr id="26627" name="Rectangle 3"/>
          <p:cNvSpPr>
            <a:spLocks noGrp="1" noChangeArrowheads="1"/>
          </p:cNvSpPr>
          <p:nvPr>
            <p:ph type="body" idx="1"/>
          </p:nvPr>
        </p:nvSpPr>
        <p:spPr>
          <a:xfrm>
            <a:off x="762000" y="2057400"/>
            <a:ext cx="8077200" cy="2362200"/>
          </a:xfrm>
        </p:spPr>
        <p:txBody>
          <a:bodyPr/>
          <a:lstStyle/>
          <a:p>
            <a:pPr eaLnBrk="1" hangingPunct="1">
              <a:spcBef>
                <a:spcPct val="40000"/>
              </a:spcBef>
            </a:pPr>
            <a:r>
              <a:rPr lang="en-US" altLang="en-US" sz="3100" smtClean="0"/>
              <a:t>The coefficients  b</a:t>
            </a:r>
            <a:r>
              <a:rPr lang="en-US" altLang="en-US" sz="3100" baseline="-25000" smtClean="0"/>
              <a:t>0</a:t>
            </a:r>
            <a:r>
              <a:rPr lang="en-US" altLang="en-US" sz="3100" smtClean="0"/>
              <a:t>  and  b</a:t>
            </a:r>
            <a:r>
              <a:rPr lang="en-US" altLang="en-US" sz="3100" baseline="-25000" smtClean="0"/>
              <a:t>1</a:t>
            </a:r>
            <a:r>
              <a:rPr lang="en-US" altLang="en-US" sz="3100" smtClean="0"/>
              <a:t> , and other regression results in this chapter, will be found using Excel or Minitab</a:t>
            </a:r>
          </a:p>
        </p:txBody>
      </p:sp>
      <p:sp>
        <p:nvSpPr>
          <p:cNvPr id="26628" name="Text Box 5"/>
          <p:cNvSpPr txBox="1">
            <a:spLocks noChangeArrowheads="1"/>
          </p:cNvSpPr>
          <p:nvPr/>
        </p:nvSpPr>
        <p:spPr bwMode="auto">
          <a:xfrm>
            <a:off x="1524000" y="4724400"/>
            <a:ext cx="6172200" cy="914400"/>
          </a:xfrm>
          <a:prstGeom prst="rect">
            <a:avLst/>
          </a:prstGeom>
          <a:solidFill>
            <a:srgbClr val="C7DAF7"/>
          </a:solidFill>
          <a:ln w="19050" algn="ctr">
            <a:solidFill>
              <a:schemeClr val="tx1"/>
            </a:solidFill>
            <a:miter lim="800000"/>
            <a:headEnd/>
            <a:tailEnd/>
          </a:ln>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nSpc>
                <a:spcPct val="110000"/>
              </a:lnSpc>
              <a:spcBef>
                <a:spcPct val="50000"/>
              </a:spcBef>
            </a:pPr>
            <a:r>
              <a:rPr lang="en-US" altLang="en-US"/>
              <a:t>Formulas are shown in the text for those who are interested</a:t>
            </a:r>
          </a:p>
        </p:txBody>
      </p:sp>
    </p:spTree>
    <p:extLst>
      <p:ext uri="{BB962C8B-B14F-4D97-AF65-F5344CB8AC3E}">
        <p14:creationId xmlns:p14="http://schemas.microsoft.com/office/powerpoint/2010/main" val="11773404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xfrm>
            <a:off x="1219200" y="2120900"/>
            <a:ext cx="7315200" cy="4027488"/>
          </a:xfrm>
        </p:spPr>
        <p:txBody>
          <a:bodyPr/>
          <a:lstStyle/>
          <a:p>
            <a:pPr eaLnBrk="1" hangingPunct="1">
              <a:lnSpc>
                <a:spcPct val="110000"/>
              </a:lnSpc>
              <a:spcBef>
                <a:spcPct val="45000"/>
              </a:spcBef>
            </a:pPr>
            <a:r>
              <a:rPr lang="en-US" altLang="en-US" sz="3100" smtClean="0"/>
              <a:t>b</a:t>
            </a:r>
            <a:r>
              <a:rPr lang="en-US" altLang="en-US" sz="3100" baseline="-25000" smtClean="0"/>
              <a:t>0</a:t>
            </a:r>
            <a:r>
              <a:rPr lang="en-US" altLang="en-US" sz="3100" smtClean="0"/>
              <a:t> is the estimated average value of Y when the value of X is zero</a:t>
            </a:r>
          </a:p>
          <a:p>
            <a:pPr eaLnBrk="1" hangingPunct="1">
              <a:lnSpc>
                <a:spcPct val="110000"/>
              </a:lnSpc>
              <a:spcBef>
                <a:spcPct val="45000"/>
              </a:spcBef>
            </a:pPr>
            <a:endParaRPr lang="en-US" altLang="en-US" sz="1400" smtClean="0"/>
          </a:p>
          <a:p>
            <a:pPr eaLnBrk="1" hangingPunct="1">
              <a:lnSpc>
                <a:spcPct val="110000"/>
              </a:lnSpc>
              <a:spcBef>
                <a:spcPct val="45000"/>
              </a:spcBef>
            </a:pPr>
            <a:r>
              <a:rPr lang="en-US" altLang="en-US" sz="3100" smtClean="0"/>
              <a:t>b</a:t>
            </a:r>
            <a:r>
              <a:rPr lang="en-US" altLang="en-US" sz="3100" baseline="-25000" smtClean="0"/>
              <a:t>1</a:t>
            </a:r>
            <a:r>
              <a:rPr lang="en-US" altLang="en-US" sz="3100" smtClean="0"/>
              <a:t> is the estimated change in the average value of Y as a result of a one-unit change in X</a:t>
            </a:r>
          </a:p>
        </p:txBody>
      </p:sp>
      <p:sp>
        <p:nvSpPr>
          <p:cNvPr id="27651" name="Rectangle 3"/>
          <p:cNvSpPr>
            <a:spLocks noGrp="1" noChangeArrowheads="1"/>
          </p:cNvSpPr>
          <p:nvPr>
            <p:ph type="title"/>
          </p:nvPr>
        </p:nvSpPr>
        <p:spPr>
          <a:xfrm>
            <a:off x="990600" y="609600"/>
            <a:ext cx="7793038" cy="762000"/>
          </a:xfrm>
        </p:spPr>
        <p:txBody>
          <a:bodyPr/>
          <a:lstStyle/>
          <a:p>
            <a:pPr eaLnBrk="1" hangingPunct="1">
              <a:lnSpc>
                <a:spcPct val="80000"/>
              </a:lnSpc>
            </a:pPr>
            <a:r>
              <a:rPr lang="en-US" altLang="en-US" smtClean="0"/>
              <a:t>Interpretation of the </a:t>
            </a:r>
            <a:br>
              <a:rPr lang="en-US" altLang="en-US" smtClean="0"/>
            </a:br>
            <a:r>
              <a:rPr lang="en-US" altLang="en-US" smtClean="0"/>
              <a:t>Slope and the Intercept</a:t>
            </a:r>
          </a:p>
        </p:txBody>
      </p:sp>
    </p:spTree>
    <p:extLst>
      <p:ext uri="{BB962C8B-B14F-4D97-AF65-F5344CB8AC3E}">
        <p14:creationId xmlns:p14="http://schemas.microsoft.com/office/powerpoint/2010/main" val="22668919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685800" y="1828800"/>
            <a:ext cx="8153400" cy="1371600"/>
          </a:xfrm>
          <a:prstGeom prst="rect">
            <a:avLst/>
          </a:prstGeom>
          <a:solidFill>
            <a:srgbClr val="FDE0BD"/>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28675" name="Rectangle 3"/>
          <p:cNvSpPr>
            <a:spLocks noGrp="1" noChangeArrowheads="1"/>
          </p:cNvSpPr>
          <p:nvPr>
            <p:ph type="title"/>
          </p:nvPr>
        </p:nvSpPr>
        <p:spPr>
          <a:xfrm>
            <a:off x="1150938" y="381000"/>
            <a:ext cx="7078662" cy="990600"/>
          </a:xfrm>
        </p:spPr>
        <p:txBody>
          <a:bodyPr/>
          <a:lstStyle/>
          <a:p>
            <a:pPr eaLnBrk="1" hangingPunct="1">
              <a:lnSpc>
                <a:spcPct val="80000"/>
              </a:lnSpc>
            </a:pPr>
            <a:r>
              <a:rPr lang="en-US" altLang="en-US" smtClean="0"/>
              <a:t>Simple Linear Regression Example</a:t>
            </a:r>
          </a:p>
        </p:txBody>
      </p:sp>
      <p:sp>
        <p:nvSpPr>
          <p:cNvPr id="28676" name="Rectangle 4"/>
          <p:cNvSpPr>
            <a:spLocks noGrp="1" noChangeArrowheads="1"/>
          </p:cNvSpPr>
          <p:nvPr>
            <p:ph type="body" idx="1"/>
          </p:nvPr>
        </p:nvSpPr>
        <p:spPr>
          <a:xfrm>
            <a:off x="762000" y="1828800"/>
            <a:ext cx="8153400" cy="4114800"/>
          </a:xfrm>
        </p:spPr>
        <p:txBody>
          <a:bodyPr/>
          <a:lstStyle/>
          <a:p>
            <a:pPr eaLnBrk="1" hangingPunct="1"/>
            <a:r>
              <a:rPr lang="en-US" altLang="en-US" sz="2700" smtClean="0"/>
              <a:t>A real estate agent wishes to examine the relationship between the selling price of a home and its size (measured in square feet)</a:t>
            </a:r>
          </a:p>
          <a:p>
            <a:pPr eaLnBrk="1" hangingPunct="1"/>
            <a:endParaRPr lang="en-US" altLang="en-US" sz="1400" smtClean="0"/>
          </a:p>
          <a:p>
            <a:pPr eaLnBrk="1" hangingPunct="1"/>
            <a:r>
              <a:rPr lang="en-US" altLang="en-US" sz="2700" smtClean="0"/>
              <a:t>A random sample of 10 houses is selected</a:t>
            </a:r>
          </a:p>
          <a:p>
            <a:pPr lvl="1" eaLnBrk="1" hangingPunct="1"/>
            <a:r>
              <a:rPr lang="en-US" altLang="en-US" sz="2700" smtClean="0">
                <a:solidFill>
                  <a:schemeClr val="folHlink"/>
                </a:solidFill>
              </a:rPr>
              <a:t>Dependent variable (Y) = house price </a:t>
            </a:r>
            <a:r>
              <a:rPr lang="en-US" altLang="en-US" sz="2300" smtClean="0">
                <a:solidFill>
                  <a:schemeClr val="folHlink"/>
                </a:solidFill>
              </a:rPr>
              <a:t>in $1000s</a:t>
            </a:r>
          </a:p>
          <a:p>
            <a:pPr lvl="1" eaLnBrk="1" hangingPunct="1"/>
            <a:r>
              <a:rPr lang="en-US" altLang="en-US" sz="2700" smtClean="0">
                <a:solidFill>
                  <a:schemeClr val="folHlink"/>
                </a:solidFill>
              </a:rPr>
              <a:t>Independent variable (X) = square feet</a:t>
            </a:r>
          </a:p>
        </p:txBody>
      </p:sp>
      <p:pic>
        <p:nvPicPr>
          <p:cNvPr id="28677" name="Picture 5" descr="ho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5029200"/>
            <a:ext cx="19812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56716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150938" y="381000"/>
            <a:ext cx="7078662" cy="990600"/>
          </a:xfrm>
        </p:spPr>
        <p:txBody>
          <a:bodyPr/>
          <a:lstStyle/>
          <a:p>
            <a:pPr eaLnBrk="1" hangingPunct="1">
              <a:lnSpc>
                <a:spcPct val="80000"/>
              </a:lnSpc>
            </a:pPr>
            <a:r>
              <a:rPr lang="en-US" altLang="en-US" smtClean="0"/>
              <a:t>Sample Data for House Price Model</a:t>
            </a:r>
          </a:p>
        </p:txBody>
      </p:sp>
      <p:graphicFrame>
        <p:nvGraphicFramePr>
          <p:cNvPr id="162863" name="Group 47"/>
          <p:cNvGraphicFramePr>
            <a:graphicFrameLocks noGrp="1"/>
          </p:cNvGraphicFramePr>
          <p:nvPr/>
        </p:nvGraphicFramePr>
        <p:xfrm>
          <a:off x="1524000" y="1600200"/>
          <a:ext cx="6096000" cy="4480428"/>
        </p:xfrm>
        <a:graphic>
          <a:graphicData uri="http://schemas.openxmlformats.org/drawingml/2006/table">
            <a:tbl>
              <a:tblPr/>
              <a:tblGrid>
                <a:gridCol w="3048000"/>
                <a:gridCol w="3048000"/>
              </a:tblGrid>
              <a:tr h="670465">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House Price in $1000s</a:t>
                      </a:r>
                    </a:p>
                    <a:p>
                      <a:pPr marL="0" marR="0" lvl="0" indent="0" algn="ctr" defTabSz="852488" rtl="0" eaLnBrk="1" fontAlgn="base" latinLnBrk="0" hangingPunct="1">
                        <a:lnSpc>
                          <a:spcPct val="8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(Y)</a:t>
                      </a:r>
                    </a:p>
                  </a:txBody>
                  <a:tcPr marT="45714" marB="45714"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C7DAF7"/>
                    </a:solidFill>
                  </a:tcPr>
                </a:tc>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smtClean="0">
                          <a:ln>
                            <a:noFill/>
                          </a:ln>
                          <a:solidFill>
                            <a:schemeClr val="tx1"/>
                          </a:solidFill>
                          <a:effectLst/>
                          <a:latin typeface="Arial" pitchFamily="34" charset="0"/>
                        </a:rPr>
                        <a:t>Square Feet </a:t>
                      </a:r>
                    </a:p>
                    <a:p>
                      <a:pPr marL="0" marR="0" lvl="0" indent="0" algn="ctr" defTabSz="852488" rtl="0" eaLnBrk="1" fontAlgn="base" latinLnBrk="0" hangingPunct="1">
                        <a:lnSpc>
                          <a:spcPct val="80000"/>
                        </a:lnSpc>
                        <a:spcBef>
                          <a:spcPct val="20000"/>
                        </a:spcBef>
                        <a:spcAft>
                          <a:spcPct val="0"/>
                        </a:spcAft>
                        <a:buClr>
                          <a:schemeClr val="folHlink"/>
                        </a:buClr>
                        <a:buSzTx/>
                        <a:buFont typeface="Wingdings" pitchFamily="2" charset="2"/>
                        <a:buNone/>
                        <a:tabLst/>
                      </a:pPr>
                      <a:r>
                        <a:rPr kumimoji="0" lang="en-US" sz="1900" b="1" i="0" u="none" strike="noStrike" cap="none" normalizeH="0" baseline="0" smtClean="0">
                          <a:ln>
                            <a:noFill/>
                          </a:ln>
                          <a:solidFill>
                            <a:schemeClr val="tx1"/>
                          </a:solidFill>
                          <a:effectLst/>
                          <a:latin typeface="Arial" pitchFamily="34" charset="0"/>
                        </a:rPr>
                        <a:t>(X)</a:t>
                      </a:r>
                    </a:p>
                  </a:txBody>
                  <a:tcPr marT="45714" marB="45714" anchor="ct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C7DAF7"/>
                    </a:solidFill>
                  </a:tcPr>
                </a:tc>
              </a:tr>
              <a:tr h="380946">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245</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1400</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r>
              <a:tr h="380946">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smtClean="0">
                          <a:ln>
                            <a:noFill/>
                          </a:ln>
                          <a:solidFill>
                            <a:schemeClr val="tx1"/>
                          </a:solidFill>
                          <a:effectLst/>
                          <a:latin typeface="Arial" pitchFamily="34" charset="0"/>
                        </a:rPr>
                        <a:t>312</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1600</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r>
              <a:tr h="380946">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279</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1700</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r>
              <a:tr h="380946">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smtClean="0">
                          <a:ln>
                            <a:noFill/>
                          </a:ln>
                          <a:solidFill>
                            <a:schemeClr val="tx1"/>
                          </a:solidFill>
                          <a:effectLst/>
                          <a:latin typeface="Arial" pitchFamily="34" charset="0"/>
                        </a:rPr>
                        <a:t>308</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1875</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r>
              <a:tr h="380946">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smtClean="0">
                          <a:ln>
                            <a:noFill/>
                          </a:ln>
                          <a:solidFill>
                            <a:schemeClr val="tx1"/>
                          </a:solidFill>
                          <a:effectLst/>
                          <a:latin typeface="Arial" pitchFamily="34" charset="0"/>
                        </a:rPr>
                        <a:t>199</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1100</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r>
              <a:tr h="380946">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smtClean="0">
                          <a:ln>
                            <a:noFill/>
                          </a:ln>
                          <a:solidFill>
                            <a:schemeClr val="tx1"/>
                          </a:solidFill>
                          <a:effectLst/>
                          <a:latin typeface="Arial" pitchFamily="34" charset="0"/>
                        </a:rPr>
                        <a:t>219</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1550</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r>
              <a:tr h="380946">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smtClean="0">
                          <a:ln>
                            <a:noFill/>
                          </a:ln>
                          <a:solidFill>
                            <a:schemeClr val="tx1"/>
                          </a:solidFill>
                          <a:effectLst/>
                          <a:latin typeface="Arial" pitchFamily="34" charset="0"/>
                        </a:rPr>
                        <a:t>405</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2350</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r>
              <a:tr h="380946">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smtClean="0">
                          <a:ln>
                            <a:noFill/>
                          </a:ln>
                          <a:solidFill>
                            <a:schemeClr val="tx1"/>
                          </a:solidFill>
                          <a:effectLst/>
                          <a:latin typeface="Arial" pitchFamily="34" charset="0"/>
                        </a:rPr>
                        <a:t>324</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2450</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r>
              <a:tr h="380946">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smtClean="0">
                          <a:ln>
                            <a:noFill/>
                          </a:ln>
                          <a:solidFill>
                            <a:schemeClr val="tx1"/>
                          </a:solidFill>
                          <a:effectLst/>
                          <a:latin typeface="Arial" pitchFamily="34" charset="0"/>
                        </a:rPr>
                        <a:t>319</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1425</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E0BD"/>
                    </a:solidFill>
                  </a:tcPr>
                </a:tc>
              </a:tr>
              <a:tr h="380946">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smtClean="0">
                          <a:ln>
                            <a:noFill/>
                          </a:ln>
                          <a:solidFill>
                            <a:schemeClr val="tx1"/>
                          </a:solidFill>
                          <a:effectLst/>
                          <a:latin typeface="Arial" pitchFamily="34" charset="0"/>
                        </a:rPr>
                        <a:t>255</a:t>
                      </a:r>
                    </a:p>
                  </a:txBody>
                  <a:tcPr marT="45714" marB="4571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DE0BD"/>
                    </a:solidFill>
                  </a:tcPr>
                </a:tc>
                <a:tc>
                  <a:txBody>
                    <a:bodyPr/>
                    <a:lstStyle/>
                    <a:p>
                      <a:pPr marL="0" marR="0" lvl="0" indent="0" algn="ctr" defTabSz="852488"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1900" b="1" i="0" u="none" strike="noStrike" cap="none" normalizeH="0" baseline="0" dirty="0" smtClean="0">
                          <a:ln>
                            <a:noFill/>
                          </a:ln>
                          <a:solidFill>
                            <a:schemeClr val="tx1"/>
                          </a:solidFill>
                          <a:effectLst/>
                          <a:latin typeface="Arial" pitchFamily="34" charset="0"/>
                        </a:rPr>
                        <a:t>1700</a:t>
                      </a:r>
                    </a:p>
                  </a:txBody>
                  <a:tcPr marT="45714" marB="4571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DE0BD"/>
                    </a:solidFill>
                  </a:tcPr>
                </a:tc>
              </a:tr>
            </a:tbl>
          </a:graphicData>
        </a:graphic>
      </p:graphicFrame>
      <p:pic>
        <p:nvPicPr>
          <p:cNvPr id="29737" name="Picture 45" descr="ho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6200" y="5562600"/>
            <a:ext cx="129540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14496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2"/>
          <p:cNvGraphicFramePr>
            <a:graphicFrameLocks noChangeAspect="1"/>
          </p:cNvGraphicFramePr>
          <p:nvPr/>
        </p:nvGraphicFramePr>
        <p:xfrm>
          <a:off x="1447800" y="2286000"/>
          <a:ext cx="5715000" cy="3883025"/>
        </p:xfrm>
        <a:graphic>
          <a:graphicData uri="http://schemas.openxmlformats.org/presentationml/2006/ole">
            <mc:AlternateContent xmlns:mc="http://schemas.openxmlformats.org/markup-compatibility/2006">
              <mc:Choice xmlns:v="urn:schemas-microsoft-com:vml" Requires="v">
                <p:oleObj spid="_x0000_s7178" name="Chart" r:id="rId3" imgW="5562600" imgH="3781552" progId="Excel.Chart.8">
                  <p:embed/>
                </p:oleObj>
              </mc:Choice>
              <mc:Fallback>
                <p:oleObj name="Chart" r:id="rId3" imgW="5562600" imgH="3781552"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286000"/>
                        <a:ext cx="5715000" cy="38830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lgn="ctr">
                            <a:solidFill>
                              <a:srgbClr val="CC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1" name="Rectangle 3"/>
          <p:cNvSpPr>
            <a:spLocks noGrp="1" noChangeArrowheads="1"/>
          </p:cNvSpPr>
          <p:nvPr>
            <p:ph type="title"/>
          </p:nvPr>
        </p:nvSpPr>
        <p:spPr/>
        <p:txBody>
          <a:bodyPr/>
          <a:lstStyle/>
          <a:p>
            <a:pPr eaLnBrk="1" hangingPunct="1"/>
            <a:r>
              <a:rPr lang="en-US" altLang="en-US" smtClean="0"/>
              <a:t>Graphical Presentation</a:t>
            </a:r>
          </a:p>
        </p:txBody>
      </p:sp>
      <p:sp>
        <p:nvSpPr>
          <p:cNvPr id="7172" name="Rectangle 4"/>
          <p:cNvSpPr>
            <a:spLocks noGrp="1" noChangeArrowheads="1"/>
          </p:cNvSpPr>
          <p:nvPr>
            <p:ph type="body" idx="1"/>
          </p:nvPr>
        </p:nvSpPr>
        <p:spPr>
          <a:xfrm>
            <a:off x="1752600" y="1952625"/>
            <a:ext cx="5791200" cy="1174750"/>
          </a:xfrm>
        </p:spPr>
        <p:txBody>
          <a:bodyPr/>
          <a:lstStyle/>
          <a:p>
            <a:pPr eaLnBrk="1" hangingPunct="1"/>
            <a:r>
              <a:rPr lang="en-US" altLang="en-US" smtClean="0"/>
              <a:t>House price model:  scatter plot</a:t>
            </a:r>
          </a:p>
        </p:txBody>
      </p:sp>
      <p:pic>
        <p:nvPicPr>
          <p:cNvPr id="7173" name="Picture 5" descr="hous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6200" y="5562600"/>
            <a:ext cx="129540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67307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hou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6200" y="5562600"/>
            <a:ext cx="129540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Rectangle 3"/>
          <p:cNvSpPr>
            <a:spLocks noGrp="1" noChangeArrowheads="1"/>
          </p:cNvSpPr>
          <p:nvPr>
            <p:ph type="title"/>
          </p:nvPr>
        </p:nvSpPr>
        <p:spPr/>
        <p:txBody>
          <a:bodyPr/>
          <a:lstStyle/>
          <a:p>
            <a:pPr eaLnBrk="1" hangingPunct="1"/>
            <a:r>
              <a:rPr lang="en-US" altLang="en-US" smtClean="0"/>
              <a:t>Regression Using Excel</a:t>
            </a:r>
          </a:p>
        </p:txBody>
      </p:sp>
      <p:sp>
        <p:nvSpPr>
          <p:cNvPr id="30724" name="Rectangle 4"/>
          <p:cNvSpPr>
            <a:spLocks noGrp="1" noChangeArrowheads="1"/>
          </p:cNvSpPr>
          <p:nvPr>
            <p:ph type="body" idx="1"/>
          </p:nvPr>
        </p:nvSpPr>
        <p:spPr>
          <a:xfrm>
            <a:off x="1295400" y="1524000"/>
            <a:ext cx="6096000" cy="685800"/>
          </a:xfrm>
        </p:spPr>
        <p:txBody>
          <a:bodyPr/>
          <a:lstStyle/>
          <a:p>
            <a:pPr eaLnBrk="1" hangingPunct="1"/>
            <a:r>
              <a:rPr lang="en-US" altLang="en-US" sz="2700" smtClean="0"/>
              <a:t>Tools / Data Analysis / Regression</a:t>
            </a:r>
          </a:p>
        </p:txBody>
      </p:sp>
      <p:pic>
        <p:nvPicPr>
          <p:cNvPr id="30725" name="Picture 5" descr="1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981200"/>
            <a:ext cx="6858000" cy="447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13047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2" descr="hou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6056313"/>
            <a:ext cx="1219200"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Rectangle 3"/>
          <p:cNvSpPr>
            <a:spLocks noChangeArrowheads="1"/>
          </p:cNvSpPr>
          <p:nvPr/>
        </p:nvSpPr>
        <p:spPr bwMode="auto">
          <a:xfrm>
            <a:off x="3276600" y="2286000"/>
            <a:ext cx="5715000" cy="533400"/>
          </a:xfrm>
          <a:prstGeom prst="rect">
            <a:avLst/>
          </a:prstGeom>
          <a:solidFill>
            <a:srgbClr val="FDE0BD"/>
          </a:solidFill>
          <a:ln w="9525">
            <a:solidFill>
              <a:schemeClr val="tx1"/>
            </a:solidFill>
            <a:miter lim="800000"/>
            <a:headEnd/>
            <a:tailEnd/>
          </a:ln>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8197" name="Rectangle 4"/>
          <p:cNvSpPr>
            <a:spLocks noGrp="1" noChangeArrowheads="1"/>
          </p:cNvSpPr>
          <p:nvPr>
            <p:ph type="title"/>
          </p:nvPr>
        </p:nvSpPr>
        <p:spPr/>
        <p:txBody>
          <a:bodyPr/>
          <a:lstStyle/>
          <a:p>
            <a:pPr eaLnBrk="1" hangingPunct="1"/>
            <a:r>
              <a:rPr lang="en-US" altLang="en-US" smtClean="0"/>
              <a:t>Excel Output</a:t>
            </a:r>
          </a:p>
        </p:txBody>
      </p:sp>
      <p:graphicFrame>
        <p:nvGraphicFramePr>
          <p:cNvPr id="165893" name="Group 5"/>
          <p:cNvGraphicFramePr>
            <a:graphicFrameLocks noGrp="1"/>
          </p:cNvGraphicFramePr>
          <p:nvPr/>
        </p:nvGraphicFramePr>
        <p:xfrm>
          <a:off x="533400" y="1676400"/>
          <a:ext cx="8229600" cy="4327525"/>
        </p:xfrm>
        <a:graphic>
          <a:graphicData uri="http://schemas.openxmlformats.org/drawingml/2006/table">
            <a:tbl>
              <a:tblPr/>
              <a:tblGrid>
                <a:gridCol w="1600200"/>
                <a:gridCol w="1066800"/>
                <a:gridCol w="1447800"/>
                <a:gridCol w="1079500"/>
                <a:gridCol w="792163"/>
                <a:gridCol w="1252537"/>
                <a:gridCol w="990600"/>
              </a:tblGrid>
              <a:tr h="255588">
                <a:tc gridSpan="2">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Regression Statistics</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cap="flat">
                      <a:noFill/>
                    </a:lnT>
                    <a:lnB w="12700" cap="flat" cmpd="sng" algn="ctr">
                      <a:solidFill>
                        <a:srgbClr val="000000"/>
                      </a:solidFill>
                      <a:prstDash val="solid"/>
                      <a:miter lim="800000"/>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cap="fla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cap="flat">
                      <a:noFill/>
                    </a:lnT>
                    <a:lnB>
                      <a:noFill/>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Multiple R</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0.76211</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a:noFill/>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R Square</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0.58082</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a:noFill/>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Adjusted R Square</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0.52842</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a:noFill/>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Standard Error</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41.33032</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a:noFill/>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Observations</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10</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a:noFill/>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a:noFill/>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300" b="1" i="0" u="none" strike="noStrike" cap="none" normalizeH="0" baseline="0" smtClean="0">
                          <a:ln>
                            <a:noFill/>
                          </a:ln>
                          <a:solidFill>
                            <a:schemeClr val="tx1"/>
                          </a:solidFill>
                          <a:effectLst/>
                          <a:latin typeface="Arial" pitchFamily="34" charset="0"/>
                        </a:rPr>
                        <a:t>ANOVA</a:t>
                      </a:r>
                    </a:p>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 </a:t>
                      </a:r>
                    </a:p>
                  </a:txBody>
                  <a:tcPr anchor="b" horzOverflow="overflow">
                    <a:lnL cap="flat">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df</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SS</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MS</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F</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Significance F</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a:noFill/>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Regression</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1</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18934.9348</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18934.9348</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11.0848</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0.01039</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a:noFill/>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Residual</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8</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13665.5652</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1708.1957</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a:noFill/>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a:noFill/>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Total</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9</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32600.5000</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 </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 </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 </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a:noFill/>
                    </a:lnB>
                    <a:lnTlToBr>
                      <a:noFill/>
                    </a:lnTlToBr>
                    <a:lnBlToTr>
                      <a:noFill/>
                    </a:lnBlToTr>
                    <a:noFill/>
                  </a:tcPr>
                </a:tc>
              </a:tr>
              <a:tr h="288925">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852488" rtl="0" eaLnBrk="1" fontAlgn="base" latinLnBrk="0" hangingPunct="1">
                        <a:lnSpc>
                          <a:spcPct val="100000"/>
                        </a:lnSpc>
                        <a:spcBef>
                          <a:spcPct val="20000"/>
                        </a:spcBef>
                        <a:spcAft>
                          <a:spcPct val="0"/>
                        </a:spcAft>
                        <a:buClr>
                          <a:schemeClr val="folHlink"/>
                        </a:buClr>
                        <a:buSzTx/>
                        <a:buFont typeface="Wingdings" pitchFamily="2" charset="2"/>
                        <a:buNone/>
                        <a:tabLst/>
                      </a:pP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r>
              <a:tr h="255588">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 </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Coefficients</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Standard Error</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t Stat</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P-value</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Lower 95%</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 latinLnBrk="0" hangingPunct="0">
                        <a:lnSpc>
                          <a:spcPct val="100000"/>
                        </a:lnSpc>
                        <a:spcBef>
                          <a:spcPct val="0"/>
                        </a:spcBef>
                        <a:spcAft>
                          <a:spcPct val="0"/>
                        </a:spcAft>
                        <a:buClrTx/>
                        <a:buSzTx/>
                        <a:buFontTx/>
                        <a:buNone/>
                        <a:tabLst/>
                      </a:pPr>
                      <a:r>
                        <a:rPr kumimoji="0" lang="en-US" sz="1200" b="1" i="1" u="none" strike="noStrike" cap="none" normalizeH="0" baseline="0" smtClean="0">
                          <a:ln>
                            <a:noFill/>
                          </a:ln>
                          <a:solidFill>
                            <a:schemeClr val="tx1"/>
                          </a:solidFill>
                          <a:effectLst/>
                          <a:latin typeface="Arial" pitchFamily="34" charset="0"/>
                          <a:cs typeface="Arial" pitchFamily="34" charset="0"/>
                        </a:rPr>
                        <a:t>Upper 95%</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Intercept</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98.24833</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58.03348</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1.69296</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0.12892</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-35.57720</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232.07386</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w="12700" cap="flat" cmpd="sng" algn="ctr">
                      <a:solidFill>
                        <a:srgbClr val="000000"/>
                      </a:solidFill>
                      <a:prstDash val="solid"/>
                      <a:miter lim="800000"/>
                      <a:headEnd type="none" w="med" len="med"/>
                      <a:tailEnd type="none" w="med" len="med"/>
                    </a:lnT>
                    <a:lnB>
                      <a:noFill/>
                    </a:lnB>
                    <a:lnTlToBr>
                      <a:noFill/>
                    </a:lnTlToBr>
                    <a:lnBlToTr>
                      <a:noFill/>
                    </a:lnBlToTr>
                    <a:noFill/>
                  </a:tcPr>
                </a:tc>
              </a:tr>
              <a:tr h="255588">
                <a:tc>
                  <a:txBody>
                    <a:body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Square Feet</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cap="flat">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0.10977</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0.03297</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3.32938</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0.01039</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0.03374</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Arial" pitchFamily="34" charset="0"/>
                          <a:cs typeface="Arial" pitchFamily="34" charset="0"/>
                        </a:rPr>
                        <a:t>0.18580</a:t>
                      </a:r>
                      <a:endParaRPr kumimoji="0" lang="en-US" sz="1200" b="1" i="0" u="none" strike="noStrike" cap="none" normalizeH="0" baseline="0" smtClean="0">
                        <a:ln>
                          <a:noFill/>
                        </a:ln>
                        <a:solidFill>
                          <a:schemeClr val="tx1"/>
                        </a:solidFill>
                        <a:effectLst/>
                        <a:latin typeface="Arial" pitchFamily="34" charset="0"/>
                      </a:endParaRPr>
                    </a:p>
                  </a:txBody>
                  <a:tcPr anchor="b" horzOverflow="overflow">
                    <a:lnL>
                      <a:noFill/>
                    </a:lnL>
                    <a:lnR cap="flat">
                      <a:noFill/>
                    </a:lnR>
                    <a:lnT>
                      <a:noFill/>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8311" name="Oval 121"/>
          <p:cNvSpPr>
            <a:spLocks noChangeArrowheads="1"/>
          </p:cNvSpPr>
          <p:nvPr/>
        </p:nvSpPr>
        <p:spPr bwMode="auto">
          <a:xfrm>
            <a:off x="381000" y="4953000"/>
            <a:ext cx="3124200" cy="1371600"/>
          </a:xfrm>
          <a:prstGeom prst="ellipse">
            <a:avLst/>
          </a:prstGeom>
          <a:noFill/>
          <a:ln w="2857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8312" name="Line 122"/>
          <p:cNvSpPr>
            <a:spLocks noChangeShapeType="1"/>
          </p:cNvSpPr>
          <p:nvPr/>
        </p:nvSpPr>
        <p:spPr bwMode="auto">
          <a:xfrm flipV="1">
            <a:off x="2667000" y="2819400"/>
            <a:ext cx="1447800" cy="2209800"/>
          </a:xfrm>
          <a:prstGeom prst="line">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IN"/>
          </a:p>
        </p:txBody>
      </p:sp>
      <p:sp>
        <p:nvSpPr>
          <p:cNvPr id="8313" name="Text Box 123"/>
          <p:cNvSpPr txBox="1">
            <a:spLocks noChangeArrowheads="1"/>
          </p:cNvSpPr>
          <p:nvPr/>
        </p:nvSpPr>
        <p:spPr bwMode="auto">
          <a:xfrm>
            <a:off x="3200400" y="1828800"/>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eaLnBrk="1" hangingPunct="1">
              <a:spcBef>
                <a:spcPct val="50000"/>
              </a:spcBef>
            </a:pPr>
            <a:r>
              <a:rPr lang="en-US" altLang="en-US">
                <a:solidFill>
                  <a:schemeClr val="folHlink"/>
                </a:solidFill>
              </a:rPr>
              <a:t>The regression equation is:</a:t>
            </a:r>
          </a:p>
        </p:txBody>
      </p:sp>
      <p:graphicFrame>
        <p:nvGraphicFramePr>
          <p:cNvPr id="8194" name="Object 124"/>
          <p:cNvGraphicFramePr>
            <a:graphicFrameLocks noChangeAspect="1"/>
          </p:cNvGraphicFramePr>
          <p:nvPr/>
        </p:nvGraphicFramePr>
        <p:xfrm>
          <a:off x="3276600" y="2438400"/>
          <a:ext cx="5735638" cy="365125"/>
        </p:xfrm>
        <a:graphic>
          <a:graphicData uri="http://schemas.openxmlformats.org/presentationml/2006/ole">
            <mc:AlternateContent xmlns:mc="http://schemas.openxmlformats.org/markup-compatibility/2006">
              <mc:Choice xmlns:v="urn:schemas-microsoft-com:vml" Requires="v">
                <p:oleObj spid="_x0000_s8202" name="Equation" r:id="rId4" imgW="3200400" imgH="203040" progId="Equation.3">
                  <p:embed/>
                </p:oleObj>
              </mc:Choice>
              <mc:Fallback>
                <p:oleObj name="Equation" r:id="rId4" imgW="3200400" imgH="203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2438400"/>
                        <a:ext cx="5735638" cy="3651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14" name="Freeform 125"/>
          <p:cNvSpPr>
            <a:spLocks/>
          </p:cNvSpPr>
          <p:nvPr/>
        </p:nvSpPr>
        <p:spPr bwMode="auto">
          <a:xfrm>
            <a:off x="3657600" y="2362200"/>
            <a:ext cx="628650" cy="85725"/>
          </a:xfrm>
          <a:custGeom>
            <a:avLst/>
            <a:gdLst>
              <a:gd name="T0" fmla="*/ 0 w 396"/>
              <a:gd name="T1" fmla="*/ 120967515 h 54"/>
              <a:gd name="T2" fmla="*/ 514111915 w 396"/>
              <a:gd name="T3" fmla="*/ 0 h 54"/>
              <a:gd name="T4" fmla="*/ 997981964 w 396"/>
              <a:gd name="T5" fmla="*/ 136088449 h 54"/>
              <a:gd name="T6" fmla="*/ 0 60000 65536"/>
              <a:gd name="T7" fmla="*/ 0 60000 65536"/>
              <a:gd name="T8" fmla="*/ 0 60000 65536"/>
              <a:gd name="T9" fmla="*/ 0 w 396"/>
              <a:gd name="T10" fmla="*/ 0 h 54"/>
              <a:gd name="T11" fmla="*/ 396 w 396"/>
              <a:gd name="T12" fmla="*/ 54 h 54"/>
            </a:gdLst>
            <a:ahLst/>
            <a:cxnLst>
              <a:cxn ang="T6">
                <a:pos x="T0" y="T1"/>
              </a:cxn>
              <a:cxn ang="T7">
                <a:pos x="T2" y="T3"/>
              </a:cxn>
              <a:cxn ang="T8">
                <a:pos x="T4" y="T5"/>
              </a:cxn>
            </a:cxnLst>
            <a:rect l="T9" t="T10" r="T11" b="T12"/>
            <a:pathLst>
              <a:path w="396" h="54">
                <a:moveTo>
                  <a:pt x="0" y="48"/>
                </a:moveTo>
                <a:lnTo>
                  <a:pt x="204" y="0"/>
                </a:lnTo>
                <a:lnTo>
                  <a:pt x="396" y="54"/>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Tree>
    <p:extLst>
      <p:ext uri="{BB962C8B-B14F-4D97-AF65-F5344CB8AC3E}">
        <p14:creationId xmlns:p14="http://schemas.microsoft.com/office/powerpoint/2010/main" val="32006831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p:cNvGraphicFramePr>
            <a:graphicFrameLocks noChangeAspect="1"/>
          </p:cNvGraphicFramePr>
          <p:nvPr/>
        </p:nvGraphicFramePr>
        <p:xfrm>
          <a:off x="2209800" y="2514600"/>
          <a:ext cx="4876800" cy="3314700"/>
        </p:xfrm>
        <a:graphic>
          <a:graphicData uri="http://schemas.openxmlformats.org/presentationml/2006/ole">
            <mc:AlternateContent xmlns:mc="http://schemas.openxmlformats.org/markup-compatibility/2006">
              <mc:Choice xmlns:v="urn:schemas-microsoft-com:vml" Requires="v">
                <p:oleObj spid="_x0000_s9234" name="Chart" r:id="rId3" imgW="5562600" imgH="3781552" progId="Excel.Chart.8">
                  <p:embed/>
                </p:oleObj>
              </mc:Choice>
              <mc:Fallback>
                <p:oleObj name="Chart" r:id="rId3" imgW="5562600" imgH="3781552"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514600"/>
                        <a:ext cx="4876800" cy="33147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lgn="ctr">
                            <a:solidFill>
                              <a:srgbClr val="CC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Rectangle 3"/>
          <p:cNvSpPr>
            <a:spLocks noChangeArrowheads="1"/>
          </p:cNvSpPr>
          <p:nvPr/>
        </p:nvSpPr>
        <p:spPr bwMode="auto">
          <a:xfrm>
            <a:off x="1828800" y="5715000"/>
            <a:ext cx="6019800" cy="685800"/>
          </a:xfrm>
          <a:prstGeom prst="rect">
            <a:avLst/>
          </a:prstGeom>
          <a:solidFill>
            <a:srgbClr val="FDE0BD"/>
          </a:solidFill>
          <a:ln w="12700" algn="ctr">
            <a:solidFill>
              <a:schemeClr val="tx1"/>
            </a:solidFill>
            <a:miter lim="800000"/>
            <a:headEnd/>
            <a:tailEnd/>
          </a:ln>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9221" name="Rectangle 4"/>
          <p:cNvSpPr>
            <a:spLocks noGrp="1" noChangeArrowheads="1"/>
          </p:cNvSpPr>
          <p:nvPr>
            <p:ph type="title"/>
          </p:nvPr>
        </p:nvSpPr>
        <p:spPr/>
        <p:txBody>
          <a:bodyPr/>
          <a:lstStyle/>
          <a:p>
            <a:pPr eaLnBrk="1" hangingPunct="1"/>
            <a:r>
              <a:rPr lang="en-US" altLang="en-US" smtClean="0"/>
              <a:t>Graphical Presentation</a:t>
            </a:r>
          </a:p>
        </p:txBody>
      </p:sp>
      <p:sp>
        <p:nvSpPr>
          <p:cNvPr id="9222" name="Rectangle 5"/>
          <p:cNvSpPr>
            <a:spLocks noGrp="1" noChangeArrowheads="1"/>
          </p:cNvSpPr>
          <p:nvPr>
            <p:ph type="body" idx="1"/>
          </p:nvPr>
        </p:nvSpPr>
        <p:spPr>
          <a:xfrm>
            <a:off x="838200" y="1868488"/>
            <a:ext cx="7315200" cy="1174750"/>
          </a:xfrm>
        </p:spPr>
        <p:txBody>
          <a:bodyPr/>
          <a:lstStyle/>
          <a:p>
            <a:pPr eaLnBrk="1" hangingPunct="1"/>
            <a:r>
              <a:rPr lang="en-US" altLang="en-US" smtClean="0"/>
              <a:t>House price model:  scatter plot and regression line</a:t>
            </a:r>
          </a:p>
        </p:txBody>
      </p:sp>
      <p:graphicFrame>
        <p:nvGraphicFramePr>
          <p:cNvPr id="9219" name="Object 6"/>
          <p:cNvGraphicFramePr>
            <a:graphicFrameLocks noChangeAspect="1"/>
          </p:cNvGraphicFramePr>
          <p:nvPr/>
        </p:nvGraphicFramePr>
        <p:xfrm>
          <a:off x="1981200" y="5943600"/>
          <a:ext cx="5735638" cy="365125"/>
        </p:xfrm>
        <a:graphic>
          <a:graphicData uri="http://schemas.openxmlformats.org/presentationml/2006/ole">
            <mc:AlternateContent xmlns:mc="http://schemas.openxmlformats.org/markup-compatibility/2006">
              <mc:Choice xmlns:v="urn:schemas-microsoft-com:vml" Requires="v">
                <p:oleObj spid="_x0000_s9235" name="Equation" r:id="rId5" imgW="3200400" imgH="203040" progId="Equation.3">
                  <p:embed/>
                </p:oleObj>
              </mc:Choice>
              <mc:Fallback>
                <p:oleObj name="Equation" r:id="rId5" imgW="3200400" imgH="2030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5943600"/>
                        <a:ext cx="5735638" cy="365125"/>
                      </a:xfrm>
                      <a:prstGeom prst="rect">
                        <a:avLst/>
                      </a:prstGeom>
                      <a:noFill/>
                      <a:ln>
                        <a:noFill/>
                      </a:ln>
                      <a:effectLst/>
                      <a:extLst>
                        <a:ext uri="{909E8E84-426E-40DD-AFC4-6F175D3DCCD1}">
                          <a14:hiddenFill xmlns:a14="http://schemas.microsoft.com/office/drawing/2010/main">
                            <a:solidFill>
                              <a:srgbClr val="FFD5D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3" name="Line 7"/>
          <p:cNvSpPr>
            <a:spLocks noChangeShapeType="1"/>
          </p:cNvSpPr>
          <p:nvPr/>
        </p:nvSpPr>
        <p:spPr bwMode="auto">
          <a:xfrm flipH="1">
            <a:off x="2819400" y="3886200"/>
            <a:ext cx="1676400" cy="762000"/>
          </a:xfrm>
          <a:prstGeom prst="line">
            <a:avLst/>
          </a:prstGeom>
          <a:noFill/>
          <a:ln w="12700">
            <a:solidFill>
              <a:schemeClr val="hlink"/>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IN"/>
          </a:p>
        </p:txBody>
      </p:sp>
      <p:sp>
        <p:nvSpPr>
          <p:cNvPr id="9224" name="Freeform 8"/>
          <p:cNvSpPr>
            <a:spLocks/>
          </p:cNvSpPr>
          <p:nvPr/>
        </p:nvSpPr>
        <p:spPr bwMode="auto">
          <a:xfrm>
            <a:off x="2438400" y="5867400"/>
            <a:ext cx="628650" cy="85725"/>
          </a:xfrm>
          <a:custGeom>
            <a:avLst/>
            <a:gdLst>
              <a:gd name="T0" fmla="*/ 0 w 396"/>
              <a:gd name="T1" fmla="*/ 120967515 h 54"/>
              <a:gd name="T2" fmla="*/ 514111915 w 396"/>
              <a:gd name="T3" fmla="*/ 0 h 54"/>
              <a:gd name="T4" fmla="*/ 997981964 w 396"/>
              <a:gd name="T5" fmla="*/ 136088449 h 54"/>
              <a:gd name="T6" fmla="*/ 0 60000 65536"/>
              <a:gd name="T7" fmla="*/ 0 60000 65536"/>
              <a:gd name="T8" fmla="*/ 0 60000 65536"/>
              <a:gd name="T9" fmla="*/ 0 w 396"/>
              <a:gd name="T10" fmla="*/ 0 h 54"/>
              <a:gd name="T11" fmla="*/ 396 w 396"/>
              <a:gd name="T12" fmla="*/ 54 h 54"/>
            </a:gdLst>
            <a:ahLst/>
            <a:cxnLst>
              <a:cxn ang="T6">
                <a:pos x="T0" y="T1"/>
              </a:cxn>
              <a:cxn ang="T7">
                <a:pos x="T2" y="T3"/>
              </a:cxn>
              <a:cxn ang="T8">
                <a:pos x="T4" y="T5"/>
              </a:cxn>
            </a:cxnLst>
            <a:rect l="T9" t="T10" r="T11" b="T12"/>
            <a:pathLst>
              <a:path w="396" h="54">
                <a:moveTo>
                  <a:pt x="0" y="48"/>
                </a:moveTo>
                <a:lnTo>
                  <a:pt x="204" y="0"/>
                </a:lnTo>
                <a:lnTo>
                  <a:pt x="396" y="54"/>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9225" name="Rectangle 9"/>
          <p:cNvSpPr>
            <a:spLocks noChangeArrowheads="1"/>
          </p:cNvSpPr>
          <p:nvPr/>
        </p:nvSpPr>
        <p:spPr bwMode="auto">
          <a:xfrm>
            <a:off x="7010400" y="3124200"/>
            <a:ext cx="1371600" cy="717550"/>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r>
              <a:rPr lang="en-US" altLang="en-US" sz="2000"/>
              <a:t>Slope </a:t>
            </a:r>
          </a:p>
          <a:p>
            <a:pPr algn="l"/>
            <a:r>
              <a:rPr lang="en-US" altLang="en-US" sz="2000"/>
              <a:t>= 0.10977</a:t>
            </a:r>
            <a:endParaRPr lang="en-US" altLang="en-US" sz="2000" baseline="-25000"/>
          </a:p>
        </p:txBody>
      </p:sp>
      <p:sp>
        <p:nvSpPr>
          <p:cNvPr id="9226" name="Rectangle 10"/>
          <p:cNvSpPr>
            <a:spLocks noChangeArrowheads="1"/>
          </p:cNvSpPr>
          <p:nvPr/>
        </p:nvSpPr>
        <p:spPr bwMode="auto">
          <a:xfrm>
            <a:off x="1066800" y="4724400"/>
            <a:ext cx="1219200" cy="6873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spcBef>
                <a:spcPct val="50000"/>
              </a:spcBef>
            </a:pPr>
            <a:r>
              <a:rPr lang="en-US" altLang="en-US" sz="2000"/>
              <a:t>Intercept </a:t>
            </a:r>
          </a:p>
          <a:p>
            <a:pPr algn="l">
              <a:lnSpc>
                <a:spcPct val="40000"/>
              </a:lnSpc>
              <a:spcBef>
                <a:spcPct val="50000"/>
              </a:spcBef>
            </a:pPr>
            <a:r>
              <a:rPr lang="en-US" altLang="en-US" sz="2000"/>
              <a:t>= 98.248  </a:t>
            </a:r>
          </a:p>
        </p:txBody>
      </p:sp>
      <p:sp>
        <p:nvSpPr>
          <p:cNvPr id="9227" name="Line 11"/>
          <p:cNvSpPr>
            <a:spLocks noChangeShapeType="1"/>
          </p:cNvSpPr>
          <p:nvPr/>
        </p:nvSpPr>
        <p:spPr bwMode="auto">
          <a:xfrm flipH="1">
            <a:off x="6019800" y="2438400"/>
            <a:ext cx="1676400" cy="762000"/>
          </a:xfrm>
          <a:prstGeom prst="line">
            <a:avLst/>
          </a:prstGeom>
          <a:noFill/>
          <a:ln w="12700">
            <a:solidFill>
              <a:schemeClr val="hlink"/>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IN"/>
          </a:p>
        </p:txBody>
      </p:sp>
      <p:sp>
        <p:nvSpPr>
          <p:cNvPr id="9228" name="Freeform 12"/>
          <p:cNvSpPr>
            <a:spLocks/>
          </p:cNvSpPr>
          <p:nvPr/>
        </p:nvSpPr>
        <p:spPr bwMode="auto">
          <a:xfrm>
            <a:off x="6400800" y="3048000"/>
            <a:ext cx="609600" cy="457200"/>
          </a:xfrm>
          <a:custGeom>
            <a:avLst/>
            <a:gdLst>
              <a:gd name="T0" fmla="*/ 967740089 w 384"/>
              <a:gd name="T1" fmla="*/ 725804891 h 288"/>
              <a:gd name="T2" fmla="*/ 241935022 w 384"/>
              <a:gd name="T3" fmla="*/ 604837442 h 288"/>
              <a:gd name="T4" fmla="*/ 0 w 384"/>
              <a:gd name="T5" fmla="*/ 0 h 288"/>
              <a:gd name="T6" fmla="*/ 0 60000 65536"/>
              <a:gd name="T7" fmla="*/ 0 60000 65536"/>
              <a:gd name="T8" fmla="*/ 0 60000 65536"/>
              <a:gd name="T9" fmla="*/ 0 w 384"/>
              <a:gd name="T10" fmla="*/ 0 h 288"/>
              <a:gd name="T11" fmla="*/ 384 w 384"/>
              <a:gd name="T12" fmla="*/ 288 h 288"/>
            </a:gdLst>
            <a:ahLst/>
            <a:cxnLst>
              <a:cxn ang="T6">
                <a:pos x="T0" y="T1"/>
              </a:cxn>
              <a:cxn ang="T7">
                <a:pos x="T2" y="T3"/>
              </a:cxn>
              <a:cxn ang="T8">
                <a:pos x="T4" y="T5"/>
              </a:cxn>
            </a:cxnLst>
            <a:rect l="T9" t="T10" r="T11" b="T12"/>
            <a:pathLst>
              <a:path w="384" h="288">
                <a:moveTo>
                  <a:pt x="384" y="288"/>
                </a:moveTo>
                <a:cubicBezTo>
                  <a:pt x="272" y="288"/>
                  <a:pt x="160" y="288"/>
                  <a:pt x="96" y="240"/>
                </a:cubicBezTo>
                <a:cubicBezTo>
                  <a:pt x="32" y="192"/>
                  <a:pt x="16" y="96"/>
                  <a:pt x="0" y="0"/>
                </a:cubicBezTo>
              </a:path>
            </a:pathLst>
          </a:custGeom>
          <a:noFill/>
          <a:ln w="19050">
            <a:solidFill>
              <a:schemeClr val="hlink"/>
            </a:solidFill>
            <a:round/>
            <a:headEnd/>
            <a:tailEnd type="triangle" w="lg" len="me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9229" name="Freeform 13"/>
          <p:cNvSpPr>
            <a:spLocks/>
          </p:cNvSpPr>
          <p:nvPr/>
        </p:nvSpPr>
        <p:spPr bwMode="auto">
          <a:xfrm>
            <a:off x="2286000" y="4572000"/>
            <a:ext cx="762000" cy="635000"/>
          </a:xfrm>
          <a:custGeom>
            <a:avLst/>
            <a:gdLst>
              <a:gd name="T0" fmla="*/ 0 w 480"/>
              <a:gd name="T1" fmla="*/ 967740102 h 400"/>
              <a:gd name="T2" fmla="*/ 967740151 w 480"/>
              <a:gd name="T3" fmla="*/ 846772638 h 400"/>
              <a:gd name="T4" fmla="*/ 1209675089 w 480"/>
              <a:gd name="T5" fmla="*/ 0 h 400"/>
              <a:gd name="T6" fmla="*/ 0 60000 65536"/>
              <a:gd name="T7" fmla="*/ 0 60000 65536"/>
              <a:gd name="T8" fmla="*/ 0 60000 65536"/>
              <a:gd name="T9" fmla="*/ 0 w 480"/>
              <a:gd name="T10" fmla="*/ 0 h 400"/>
              <a:gd name="T11" fmla="*/ 480 w 480"/>
              <a:gd name="T12" fmla="*/ 400 h 400"/>
            </a:gdLst>
            <a:ahLst/>
            <a:cxnLst>
              <a:cxn ang="T6">
                <a:pos x="T0" y="T1"/>
              </a:cxn>
              <a:cxn ang="T7">
                <a:pos x="T2" y="T3"/>
              </a:cxn>
              <a:cxn ang="T8">
                <a:pos x="T4" y="T5"/>
              </a:cxn>
            </a:cxnLst>
            <a:rect l="T9" t="T10" r="T11" b="T12"/>
            <a:pathLst>
              <a:path w="480" h="400">
                <a:moveTo>
                  <a:pt x="0" y="384"/>
                </a:moveTo>
                <a:cubicBezTo>
                  <a:pt x="152" y="392"/>
                  <a:pt x="304" y="400"/>
                  <a:pt x="384" y="336"/>
                </a:cubicBezTo>
                <a:cubicBezTo>
                  <a:pt x="464" y="272"/>
                  <a:pt x="464" y="56"/>
                  <a:pt x="480" y="0"/>
                </a:cubicBezTo>
              </a:path>
            </a:pathLst>
          </a:custGeom>
          <a:noFill/>
          <a:ln w="19050">
            <a:solidFill>
              <a:schemeClr val="hlink"/>
            </a:solidFill>
            <a:round/>
            <a:headEnd/>
            <a:tailEnd type="triangle" w="lg" len="me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pic>
        <p:nvPicPr>
          <p:cNvPr id="9230" name="Picture 14" descr="hous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08304" y="548680"/>
            <a:ext cx="129540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14953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ChangeArrowheads="1"/>
          </p:cNvSpPr>
          <p:nvPr/>
        </p:nvSpPr>
        <p:spPr bwMode="auto">
          <a:xfrm>
            <a:off x="6746304" y="4223048"/>
            <a:ext cx="2057400" cy="457200"/>
          </a:xfrm>
          <a:prstGeom prst="rect">
            <a:avLst/>
          </a:prstGeom>
          <a:solidFill>
            <a:srgbClr val="C7DAF7"/>
          </a:solidFill>
          <a:ln w="12700" algn="ctr">
            <a:solidFill>
              <a:schemeClr val="tx1"/>
            </a:solidFill>
            <a:miter lim="800000"/>
            <a:headEnd/>
            <a:tailEnd/>
          </a:ln>
        </p:spPr>
        <p:txBody>
          <a:bodyPr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10244" name="Rectangle 3"/>
          <p:cNvSpPr>
            <a:spLocks noChangeArrowheads="1"/>
          </p:cNvSpPr>
          <p:nvPr/>
        </p:nvSpPr>
        <p:spPr bwMode="auto">
          <a:xfrm>
            <a:off x="2936304" y="1860848"/>
            <a:ext cx="1752600" cy="457200"/>
          </a:xfrm>
          <a:prstGeom prst="rect">
            <a:avLst/>
          </a:prstGeom>
          <a:solidFill>
            <a:srgbClr val="C7DAF7"/>
          </a:solidFill>
          <a:ln w="12700" algn="ctr">
            <a:solidFill>
              <a:schemeClr val="tx1"/>
            </a:solidFill>
            <a:miter lim="800000"/>
            <a:headEnd/>
            <a:tailEnd/>
          </a:ln>
        </p:spPr>
        <p:txBody>
          <a:bodyPr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10245" name="Rectangle 4"/>
          <p:cNvSpPr>
            <a:spLocks noGrp="1" noChangeArrowheads="1"/>
          </p:cNvSpPr>
          <p:nvPr>
            <p:ph type="title"/>
          </p:nvPr>
        </p:nvSpPr>
        <p:spPr>
          <a:xfrm>
            <a:off x="1107504" y="260648"/>
            <a:ext cx="7793038" cy="1066800"/>
          </a:xfrm>
        </p:spPr>
        <p:txBody>
          <a:bodyPr/>
          <a:lstStyle/>
          <a:p>
            <a:pPr eaLnBrk="1" hangingPunct="1">
              <a:lnSpc>
                <a:spcPct val="80000"/>
              </a:lnSpc>
            </a:pPr>
            <a:r>
              <a:rPr lang="en-US" altLang="en-US" smtClean="0"/>
              <a:t>Interpretation of the </a:t>
            </a:r>
            <a:br>
              <a:rPr lang="en-US" altLang="en-US" smtClean="0"/>
            </a:br>
            <a:r>
              <a:rPr lang="en-US" altLang="en-US" smtClean="0"/>
              <a:t>Intercept,  b</a:t>
            </a:r>
            <a:r>
              <a:rPr lang="en-US" altLang="en-US" baseline="-25000" smtClean="0"/>
              <a:t>0</a:t>
            </a:r>
          </a:p>
        </p:txBody>
      </p:sp>
      <p:sp>
        <p:nvSpPr>
          <p:cNvPr id="10246" name="Rectangle 5"/>
          <p:cNvSpPr>
            <a:spLocks noGrp="1" noChangeArrowheads="1"/>
          </p:cNvSpPr>
          <p:nvPr>
            <p:ph type="body" idx="1"/>
          </p:nvPr>
        </p:nvSpPr>
        <p:spPr>
          <a:xfrm>
            <a:off x="726504" y="2622848"/>
            <a:ext cx="8077200" cy="3248025"/>
          </a:xfrm>
          <a:noFill/>
        </p:spPr>
        <p:txBody>
          <a:bodyPr>
            <a:spAutoFit/>
          </a:bodyPr>
          <a:lstStyle/>
          <a:p>
            <a:pPr eaLnBrk="1" hangingPunct="1">
              <a:lnSpc>
                <a:spcPct val="110000"/>
              </a:lnSpc>
              <a:spcBef>
                <a:spcPct val="40000"/>
              </a:spcBef>
            </a:pPr>
            <a:r>
              <a:rPr lang="en-US" altLang="en-US" smtClean="0"/>
              <a:t>b</a:t>
            </a:r>
            <a:r>
              <a:rPr lang="en-US" altLang="en-US" baseline="-25000" smtClean="0"/>
              <a:t>0</a:t>
            </a:r>
            <a:r>
              <a:rPr lang="en-US" altLang="en-US" smtClean="0"/>
              <a:t> is the estimated average value of Y when the value of X is zero (if X = 0 is in the range of observed X values)</a:t>
            </a:r>
          </a:p>
          <a:p>
            <a:pPr lvl="1" eaLnBrk="1" hangingPunct="1">
              <a:lnSpc>
                <a:spcPct val="110000"/>
              </a:lnSpc>
              <a:spcBef>
                <a:spcPct val="40000"/>
              </a:spcBef>
            </a:pPr>
            <a:r>
              <a:rPr lang="en-US" altLang="en-US" smtClean="0">
                <a:solidFill>
                  <a:schemeClr val="folHlink"/>
                </a:solidFill>
              </a:rPr>
              <a:t>Here, no houses had 0 square feet, so b</a:t>
            </a:r>
            <a:r>
              <a:rPr lang="en-US" altLang="en-US" baseline="-25000" smtClean="0">
                <a:solidFill>
                  <a:schemeClr val="folHlink"/>
                </a:solidFill>
              </a:rPr>
              <a:t>0</a:t>
            </a:r>
            <a:r>
              <a:rPr lang="en-US" altLang="en-US" smtClean="0">
                <a:solidFill>
                  <a:schemeClr val="folHlink"/>
                </a:solidFill>
              </a:rPr>
              <a:t> = 98.24833 just indicates that, for houses within the range of sizes observed, $98,248.33 is the portion of the house price not explained by square feet</a:t>
            </a:r>
            <a:endParaRPr lang="en-US" altLang="en-US" smtClean="0"/>
          </a:p>
        </p:txBody>
      </p:sp>
      <p:graphicFrame>
        <p:nvGraphicFramePr>
          <p:cNvPr id="10242" name="Object 6"/>
          <p:cNvGraphicFramePr>
            <a:graphicFrameLocks noChangeAspect="1"/>
          </p:cNvGraphicFramePr>
          <p:nvPr>
            <p:extLst>
              <p:ext uri="{D42A27DB-BD31-4B8C-83A1-F6EECF244321}">
                <p14:modId xmlns:p14="http://schemas.microsoft.com/office/powerpoint/2010/main" val="907281916"/>
              </p:ext>
            </p:extLst>
          </p:nvPr>
        </p:nvGraphicFramePr>
        <p:xfrm>
          <a:off x="650304" y="1860848"/>
          <a:ext cx="8001000" cy="509588"/>
        </p:xfrm>
        <a:graphic>
          <a:graphicData uri="http://schemas.openxmlformats.org/presentationml/2006/ole">
            <mc:AlternateContent xmlns:mc="http://schemas.openxmlformats.org/markup-compatibility/2006">
              <mc:Choice xmlns:v="urn:schemas-microsoft-com:vml" Requires="v">
                <p:oleObj spid="_x0000_s10250" name="Equation" r:id="rId3" imgW="3200400" imgH="203040" progId="Equation.3">
                  <p:embed/>
                </p:oleObj>
              </mc:Choice>
              <mc:Fallback>
                <p:oleObj name="Equation" r:id="rId3" imgW="320040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304" y="1860848"/>
                        <a:ext cx="8001000" cy="5095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7" name="Freeform 7"/>
          <p:cNvSpPr>
            <a:spLocks/>
          </p:cNvSpPr>
          <p:nvPr/>
        </p:nvSpPr>
        <p:spPr bwMode="auto">
          <a:xfrm>
            <a:off x="1336104" y="1784648"/>
            <a:ext cx="628650" cy="85725"/>
          </a:xfrm>
          <a:custGeom>
            <a:avLst/>
            <a:gdLst>
              <a:gd name="T0" fmla="*/ 0 w 396"/>
              <a:gd name="T1" fmla="*/ 120967515 h 54"/>
              <a:gd name="T2" fmla="*/ 514111915 w 396"/>
              <a:gd name="T3" fmla="*/ 0 h 54"/>
              <a:gd name="T4" fmla="*/ 997981964 w 396"/>
              <a:gd name="T5" fmla="*/ 136088449 h 54"/>
              <a:gd name="T6" fmla="*/ 0 60000 65536"/>
              <a:gd name="T7" fmla="*/ 0 60000 65536"/>
              <a:gd name="T8" fmla="*/ 0 60000 65536"/>
              <a:gd name="T9" fmla="*/ 0 w 396"/>
              <a:gd name="T10" fmla="*/ 0 h 54"/>
              <a:gd name="T11" fmla="*/ 396 w 396"/>
              <a:gd name="T12" fmla="*/ 54 h 54"/>
            </a:gdLst>
            <a:ahLst/>
            <a:cxnLst>
              <a:cxn ang="T6">
                <a:pos x="T0" y="T1"/>
              </a:cxn>
              <a:cxn ang="T7">
                <a:pos x="T2" y="T3"/>
              </a:cxn>
              <a:cxn ang="T8">
                <a:pos x="T4" y="T5"/>
              </a:cxn>
            </a:cxnLst>
            <a:rect l="T9" t="T10" r="T11" b="T12"/>
            <a:pathLst>
              <a:path w="396" h="54">
                <a:moveTo>
                  <a:pt x="0" y="48"/>
                </a:moveTo>
                <a:lnTo>
                  <a:pt x="204" y="0"/>
                </a:lnTo>
                <a:lnTo>
                  <a:pt x="396" y="54"/>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10248" name="Rectangle 8"/>
          <p:cNvSpPr>
            <a:spLocks noChangeArrowheads="1"/>
          </p:cNvSpPr>
          <p:nvPr/>
        </p:nvSpPr>
        <p:spPr bwMode="auto">
          <a:xfrm>
            <a:off x="574104" y="1632248"/>
            <a:ext cx="8305800" cy="914400"/>
          </a:xfrm>
          <a:prstGeom prst="rect">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pic>
        <p:nvPicPr>
          <p:cNvPr id="10249" name="Picture 9" descr="hous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27304" y="476672"/>
            <a:ext cx="129540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853588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ChangeArrowheads="1"/>
          </p:cNvSpPr>
          <p:nvPr/>
        </p:nvSpPr>
        <p:spPr bwMode="auto">
          <a:xfrm>
            <a:off x="5053458" y="1788840"/>
            <a:ext cx="1524000" cy="457200"/>
          </a:xfrm>
          <a:prstGeom prst="rect">
            <a:avLst/>
          </a:prstGeom>
          <a:solidFill>
            <a:srgbClr val="C7DAF7"/>
          </a:solidFill>
          <a:ln w="12700" algn="ctr">
            <a:solidFill>
              <a:schemeClr val="tx1"/>
            </a:solidFill>
            <a:miter lim="800000"/>
            <a:headEnd/>
            <a:tailEnd/>
          </a:ln>
        </p:spPr>
        <p:txBody>
          <a:bodyPr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11268" name="Rectangle 3"/>
          <p:cNvSpPr>
            <a:spLocks noChangeArrowheads="1"/>
          </p:cNvSpPr>
          <p:nvPr/>
        </p:nvSpPr>
        <p:spPr bwMode="auto">
          <a:xfrm>
            <a:off x="2386458" y="4455840"/>
            <a:ext cx="1676400" cy="457200"/>
          </a:xfrm>
          <a:prstGeom prst="rect">
            <a:avLst/>
          </a:prstGeom>
          <a:solidFill>
            <a:srgbClr val="C7DAF7"/>
          </a:solidFill>
          <a:ln w="19050" algn="ctr">
            <a:solidFill>
              <a:schemeClr val="tx1"/>
            </a:solidFill>
            <a:miter lim="800000"/>
            <a:headEnd/>
            <a:tailEnd/>
          </a:ln>
        </p:spPr>
        <p:txBody>
          <a:bodyPr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11269" name="Rectangle 4"/>
          <p:cNvSpPr>
            <a:spLocks noGrp="1" noChangeArrowheads="1"/>
          </p:cNvSpPr>
          <p:nvPr>
            <p:ph type="title"/>
          </p:nvPr>
        </p:nvSpPr>
        <p:spPr>
          <a:xfrm>
            <a:off x="1243458" y="188640"/>
            <a:ext cx="7793038" cy="1066800"/>
          </a:xfrm>
        </p:spPr>
        <p:txBody>
          <a:bodyPr/>
          <a:lstStyle/>
          <a:p>
            <a:pPr eaLnBrk="1" hangingPunct="1">
              <a:lnSpc>
                <a:spcPct val="80000"/>
              </a:lnSpc>
            </a:pPr>
            <a:r>
              <a:rPr lang="en-US" altLang="en-US" smtClean="0"/>
              <a:t>Interpretation of the </a:t>
            </a:r>
            <a:br>
              <a:rPr lang="en-US" altLang="en-US" smtClean="0"/>
            </a:br>
            <a:r>
              <a:rPr lang="en-US" altLang="en-US" smtClean="0"/>
              <a:t>Slope Coefficient,  b</a:t>
            </a:r>
            <a:r>
              <a:rPr lang="en-US" altLang="en-US" baseline="-25000" smtClean="0"/>
              <a:t>1</a:t>
            </a:r>
          </a:p>
        </p:txBody>
      </p:sp>
      <p:sp>
        <p:nvSpPr>
          <p:cNvPr id="11270" name="Rectangle 5"/>
          <p:cNvSpPr>
            <a:spLocks noGrp="1" noChangeArrowheads="1"/>
          </p:cNvSpPr>
          <p:nvPr>
            <p:ph type="body" idx="1"/>
          </p:nvPr>
        </p:nvSpPr>
        <p:spPr>
          <a:xfrm>
            <a:off x="862458" y="2627040"/>
            <a:ext cx="8077200" cy="3046413"/>
          </a:xfrm>
          <a:noFill/>
        </p:spPr>
        <p:txBody>
          <a:bodyPr>
            <a:spAutoFit/>
          </a:bodyPr>
          <a:lstStyle/>
          <a:p>
            <a:pPr eaLnBrk="1" hangingPunct="1">
              <a:lnSpc>
                <a:spcPct val="110000"/>
              </a:lnSpc>
              <a:spcBef>
                <a:spcPct val="40000"/>
              </a:spcBef>
            </a:pPr>
            <a:r>
              <a:rPr lang="en-US" altLang="en-US" sz="3200" smtClean="0"/>
              <a:t>b</a:t>
            </a:r>
            <a:r>
              <a:rPr lang="en-US" altLang="en-US" sz="3200" baseline="-25000" smtClean="0"/>
              <a:t>1</a:t>
            </a:r>
            <a:r>
              <a:rPr lang="en-US" altLang="en-US" sz="3200" smtClean="0"/>
              <a:t> measures the estimated change in the average value of Y as a result of a one-unit change in X</a:t>
            </a:r>
          </a:p>
          <a:p>
            <a:pPr lvl="1" eaLnBrk="1" hangingPunct="1">
              <a:lnSpc>
                <a:spcPct val="110000"/>
              </a:lnSpc>
              <a:spcBef>
                <a:spcPct val="40000"/>
              </a:spcBef>
            </a:pPr>
            <a:r>
              <a:rPr lang="en-US" altLang="en-US" smtClean="0">
                <a:solidFill>
                  <a:schemeClr val="folHlink"/>
                </a:solidFill>
              </a:rPr>
              <a:t>Here, b</a:t>
            </a:r>
            <a:r>
              <a:rPr lang="en-US" altLang="en-US" baseline="-25000" smtClean="0">
                <a:solidFill>
                  <a:schemeClr val="folHlink"/>
                </a:solidFill>
              </a:rPr>
              <a:t>1</a:t>
            </a:r>
            <a:r>
              <a:rPr lang="en-US" altLang="en-US" smtClean="0">
                <a:solidFill>
                  <a:schemeClr val="folHlink"/>
                </a:solidFill>
              </a:rPr>
              <a:t> = .10977 tells us that the average value of a house increases by .10977($1000) = $109.77, on average, for each additional one square foot of size</a:t>
            </a:r>
          </a:p>
        </p:txBody>
      </p:sp>
      <p:graphicFrame>
        <p:nvGraphicFramePr>
          <p:cNvPr id="11266" name="Object 6"/>
          <p:cNvGraphicFramePr>
            <a:graphicFrameLocks noChangeAspect="1"/>
          </p:cNvGraphicFramePr>
          <p:nvPr>
            <p:extLst>
              <p:ext uri="{D42A27DB-BD31-4B8C-83A1-F6EECF244321}">
                <p14:modId xmlns:p14="http://schemas.microsoft.com/office/powerpoint/2010/main" val="1795536464"/>
              </p:ext>
            </p:extLst>
          </p:nvPr>
        </p:nvGraphicFramePr>
        <p:xfrm>
          <a:off x="786258" y="1788840"/>
          <a:ext cx="8001000" cy="509588"/>
        </p:xfrm>
        <a:graphic>
          <a:graphicData uri="http://schemas.openxmlformats.org/presentationml/2006/ole">
            <mc:AlternateContent xmlns:mc="http://schemas.openxmlformats.org/markup-compatibility/2006">
              <mc:Choice xmlns:v="urn:schemas-microsoft-com:vml" Requires="v">
                <p:oleObj spid="_x0000_s11274" name="Equation" r:id="rId3" imgW="3200400" imgH="203040" progId="Equation.3">
                  <p:embed/>
                </p:oleObj>
              </mc:Choice>
              <mc:Fallback>
                <p:oleObj name="Equation" r:id="rId3" imgW="320040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258" y="1788840"/>
                        <a:ext cx="8001000" cy="50958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1" name="Freeform 7"/>
          <p:cNvSpPr>
            <a:spLocks/>
          </p:cNvSpPr>
          <p:nvPr/>
        </p:nvSpPr>
        <p:spPr bwMode="auto">
          <a:xfrm>
            <a:off x="1472058" y="1712640"/>
            <a:ext cx="628650" cy="85725"/>
          </a:xfrm>
          <a:custGeom>
            <a:avLst/>
            <a:gdLst>
              <a:gd name="T0" fmla="*/ 0 w 396"/>
              <a:gd name="T1" fmla="*/ 120967515 h 54"/>
              <a:gd name="T2" fmla="*/ 514111915 w 396"/>
              <a:gd name="T3" fmla="*/ 0 h 54"/>
              <a:gd name="T4" fmla="*/ 997981964 w 396"/>
              <a:gd name="T5" fmla="*/ 136088449 h 54"/>
              <a:gd name="T6" fmla="*/ 0 60000 65536"/>
              <a:gd name="T7" fmla="*/ 0 60000 65536"/>
              <a:gd name="T8" fmla="*/ 0 60000 65536"/>
              <a:gd name="T9" fmla="*/ 0 w 396"/>
              <a:gd name="T10" fmla="*/ 0 h 54"/>
              <a:gd name="T11" fmla="*/ 396 w 396"/>
              <a:gd name="T12" fmla="*/ 54 h 54"/>
            </a:gdLst>
            <a:ahLst/>
            <a:cxnLst>
              <a:cxn ang="T6">
                <a:pos x="T0" y="T1"/>
              </a:cxn>
              <a:cxn ang="T7">
                <a:pos x="T2" y="T3"/>
              </a:cxn>
              <a:cxn ang="T8">
                <a:pos x="T4" y="T5"/>
              </a:cxn>
            </a:cxnLst>
            <a:rect l="T9" t="T10" r="T11" b="T12"/>
            <a:pathLst>
              <a:path w="396" h="54">
                <a:moveTo>
                  <a:pt x="0" y="48"/>
                </a:moveTo>
                <a:lnTo>
                  <a:pt x="204" y="0"/>
                </a:lnTo>
                <a:lnTo>
                  <a:pt x="396" y="54"/>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11272" name="Rectangle 8"/>
          <p:cNvSpPr>
            <a:spLocks noChangeArrowheads="1"/>
          </p:cNvSpPr>
          <p:nvPr/>
        </p:nvSpPr>
        <p:spPr bwMode="auto">
          <a:xfrm>
            <a:off x="710058" y="1560240"/>
            <a:ext cx="8305800" cy="914400"/>
          </a:xfrm>
          <a:prstGeom prst="rect">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pic>
        <p:nvPicPr>
          <p:cNvPr id="11273" name="Picture 9" descr="hous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4328" y="332656"/>
            <a:ext cx="129540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307250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2" descr="hou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336" y="332656"/>
            <a:ext cx="11430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290" name="Object 3"/>
          <p:cNvGraphicFramePr>
            <a:graphicFrameLocks noChangeAspect="1"/>
          </p:cNvGraphicFramePr>
          <p:nvPr>
            <p:extLst>
              <p:ext uri="{D42A27DB-BD31-4B8C-83A1-F6EECF244321}">
                <p14:modId xmlns:p14="http://schemas.microsoft.com/office/powerpoint/2010/main" val="261159998"/>
              </p:ext>
            </p:extLst>
          </p:nvPr>
        </p:nvGraphicFramePr>
        <p:xfrm>
          <a:off x="1259904" y="2779440"/>
          <a:ext cx="6324600" cy="2305050"/>
        </p:xfrm>
        <a:graphic>
          <a:graphicData uri="http://schemas.openxmlformats.org/presentationml/2006/ole">
            <mc:AlternateContent xmlns:mc="http://schemas.openxmlformats.org/markup-compatibility/2006">
              <mc:Choice xmlns:v="urn:schemas-microsoft-com:vml" Requires="v">
                <p:oleObj spid="_x0000_s12298" name="Equation" r:id="rId4" imgW="2438280" imgH="876240" progId="Equation.3">
                  <p:embed/>
                </p:oleObj>
              </mc:Choice>
              <mc:Fallback>
                <p:oleObj name="Equation" r:id="rId4" imgW="2438280" imgH="876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904" y="2779440"/>
                        <a:ext cx="6324600" cy="23050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2" name="Freeform 4"/>
          <p:cNvSpPr>
            <a:spLocks/>
          </p:cNvSpPr>
          <p:nvPr/>
        </p:nvSpPr>
        <p:spPr bwMode="auto">
          <a:xfrm>
            <a:off x="2021904" y="2779440"/>
            <a:ext cx="628650" cy="85725"/>
          </a:xfrm>
          <a:custGeom>
            <a:avLst/>
            <a:gdLst>
              <a:gd name="T0" fmla="*/ 0 w 396"/>
              <a:gd name="T1" fmla="*/ 120967515 h 54"/>
              <a:gd name="T2" fmla="*/ 514111915 w 396"/>
              <a:gd name="T3" fmla="*/ 0 h 54"/>
              <a:gd name="T4" fmla="*/ 997981964 w 396"/>
              <a:gd name="T5" fmla="*/ 136088449 h 54"/>
              <a:gd name="T6" fmla="*/ 0 60000 65536"/>
              <a:gd name="T7" fmla="*/ 0 60000 65536"/>
              <a:gd name="T8" fmla="*/ 0 60000 65536"/>
              <a:gd name="T9" fmla="*/ 0 w 396"/>
              <a:gd name="T10" fmla="*/ 0 h 54"/>
              <a:gd name="T11" fmla="*/ 396 w 396"/>
              <a:gd name="T12" fmla="*/ 54 h 54"/>
            </a:gdLst>
            <a:ahLst/>
            <a:cxnLst>
              <a:cxn ang="T6">
                <a:pos x="T0" y="T1"/>
              </a:cxn>
              <a:cxn ang="T7">
                <a:pos x="T2" y="T3"/>
              </a:cxn>
              <a:cxn ang="T8">
                <a:pos x="T4" y="T5"/>
              </a:cxn>
            </a:cxnLst>
            <a:rect l="T9" t="T10" r="T11" b="T12"/>
            <a:pathLst>
              <a:path w="396" h="54">
                <a:moveTo>
                  <a:pt x="0" y="48"/>
                </a:moveTo>
                <a:lnTo>
                  <a:pt x="204" y="0"/>
                </a:lnTo>
                <a:lnTo>
                  <a:pt x="396" y="54"/>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eaLnBrk="1" hangingPunct="1"/>
            <a:endParaRPr lang="en-US" altLang="en-US"/>
          </a:p>
        </p:txBody>
      </p:sp>
      <p:sp>
        <p:nvSpPr>
          <p:cNvPr id="12293" name="Rectangle 6"/>
          <p:cNvSpPr>
            <a:spLocks noChangeArrowheads="1"/>
          </p:cNvSpPr>
          <p:nvPr/>
        </p:nvSpPr>
        <p:spPr bwMode="auto">
          <a:xfrm>
            <a:off x="2326704" y="1484040"/>
            <a:ext cx="4876800" cy="984250"/>
          </a:xfrm>
          <a:prstGeom prst="rect">
            <a:avLst/>
          </a:prstGeom>
          <a:solidFill>
            <a:srgbClr val="FDE0BD"/>
          </a:solidFill>
          <a:ln w="12700">
            <a:solidFill>
              <a:schemeClr val="tx1"/>
            </a:solidFill>
            <a:miter lim="800000"/>
            <a:headEnd/>
            <a:tailEnd/>
          </a:ln>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spcBef>
                <a:spcPct val="50000"/>
              </a:spcBef>
            </a:pPr>
            <a:r>
              <a:rPr lang="en-US" altLang="en-US" sz="2900"/>
              <a:t>Predict the price for a house with 2000 square feet:</a:t>
            </a:r>
          </a:p>
        </p:txBody>
      </p:sp>
      <p:sp>
        <p:nvSpPr>
          <p:cNvPr id="12294" name="Rectangle 7"/>
          <p:cNvSpPr>
            <a:spLocks noChangeArrowheads="1"/>
          </p:cNvSpPr>
          <p:nvPr/>
        </p:nvSpPr>
        <p:spPr bwMode="auto">
          <a:xfrm>
            <a:off x="650304" y="5141640"/>
            <a:ext cx="7315200" cy="984250"/>
          </a:xfrm>
          <a:prstGeom prst="rect">
            <a:avLst/>
          </a:prstGeom>
          <a:solidFill>
            <a:srgbClr val="C7DAF7"/>
          </a:solidFill>
          <a:ln w="12700">
            <a:solidFill>
              <a:schemeClr val="tx1"/>
            </a:solidFill>
            <a:miter lim="800000"/>
            <a:headEnd/>
            <a:tailEnd/>
          </a:ln>
        </p:spPr>
        <p:txBody>
          <a:bodyPr lIns="90488" tIns="44450" rIns="90488" bIns="44450">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a:spcBef>
                <a:spcPct val="50000"/>
              </a:spcBef>
            </a:pPr>
            <a:r>
              <a:rPr lang="en-US" altLang="en-US" sz="2900"/>
              <a:t>The predicted price for a house with 2000 square feet is 317.85($1,000s) = $317,850</a:t>
            </a:r>
          </a:p>
        </p:txBody>
      </p:sp>
      <p:sp>
        <p:nvSpPr>
          <p:cNvPr id="12295" name="Rectangle 10"/>
          <p:cNvSpPr>
            <a:spLocks noGrp="1" noChangeArrowheads="1"/>
          </p:cNvSpPr>
          <p:nvPr>
            <p:ph type="title"/>
          </p:nvPr>
        </p:nvSpPr>
        <p:spPr>
          <a:xfrm>
            <a:off x="1717104" y="188640"/>
            <a:ext cx="6629400" cy="1066800"/>
          </a:xfrm>
          <a:noFill/>
        </p:spPr>
        <p:txBody>
          <a:bodyPr/>
          <a:lstStyle/>
          <a:p>
            <a:pPr eaLnBrk="1" hangingPunct="1">
              <a:lnSpc>
                <a:spcPct val="80000"/>
              </a:lnSpc>
            </a:pPr>
            <a:r>
              <a:rPr lang="en-US" altLang="en-US" smtClean="0"/>
              <a:t>Predictions using </a:t>
            </a:r>
            <a:br>
              <a:rPr lang="en-US" altLang="en-US" smtClean="0"/>
            </a:br>
            <a:r>
              <a:rPr lang="en-US" altLang="en-US" smtClean="0"/>
              <a:t>Regression Analysis</a:t>
            </a:r>
          </a:p>
        </p:txBody>
      </p:sp>
    </p:spTree>
    <p:extLst>
      <p:ext uri="{BB962C8B-B14F-4D97-AF65-F5344CB8AC3E}">
        <p14:creationId xmlns:p14="http://schemas.microsoft.com/office/powerpoint/2010/main" val="170118769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body" idx="1"/>
          </p:nvPr>
        </p:nvSpPr>
        <p:spPr>
          <a:xfrm>
            <a:off x="990600" y="1299320"/>
            <a:ext cx="7620000" cy="4532312"/>
          </a:xfrm>
        </p:spPr>
        <p:txBody>
          <a:bodyPr/>
          <a:lstStyle/>
          <a:p>
            <a:pPr eaLnBrk="1" hangingPunct="1"/>
            <a:r>
              <a:rPr lang="en-US" altLang="en-US" sz="2700" smtClean="0"/>
              <a:t>The </a:t>
            </a:r>
            <a:r>
              <a:rPr lang="en-US" altLang="en-US" sz="2700" smtClean="0">
                <a:solidFill>
                  <a:schemeClr val="folHlink"/>
                </a:solidFill>
              </a:rPr>
              <a:t>coefficient of determination</a:t>
            </a:r>
            <a:r>
              <a:rPr lang="en-US" altLang="en-US" sz="2700" smtClean="0"/>
              <a:t> is the portion of the total variation in the dependent variable that is explained by variation in the independent variable</a:t>
            </a:r>
            <a:endParaRPr lang="en-US" altLang="en-US" sz="1400" smtClean="0"/>
          </a:p>
          <a:p>
            <a:pPr eaLnBrk="1" hangingPunct="1"/>
            <a:r>
              <a:rPr lang="en-US" altLang="en-US" sz="2700" smtClean="0"/>
              <a:t>The coefficient of determination is also called </a:t>
            </a:r>
            <a:r>
              <a:rPr lang="en-US" altLang="en-US" sz="2700" smtClean="0">
                <a:solidFill>
                  <a:schemeClr val="folHlink"/>
                </a:solidFill>
              </a:rPr>
              <a:t>r-squared</a:t>
            </a:r>
            <a:r>
              <a:rPr lang="en-US" altLang="en-US" sz="2700" smtClean="0"/>
              <a:t> and is denoted as </a:t>
            </a:r>
            <a:r>
              <a:rPr lang="en-US" altLang="en-US" sz="2700" smtClean="0">
                <a:solidFill>
                  <a:schemeClr val="folHlink"/>
                </a:solidFill>
              </a:rPr>
              <a:t>r</a:t>
            </a:r>
            <a:r>
              <a:rPr lang="en-US" altLang="en-US" sz="2700" baseline="30000" smtClean="0">
                <a:solidFill>
                  <a:schemeClr val="folHlink"/>
                </a:solidFill>
              </a:rPr>
              <a:t>2</a:t>
            </a:r>
            <a:endParaRPr lang="en-US" altLang="en-US" sz="2700" smtClean="0"/>
          </a:p>
        </p:txBody>
      </p:sp>
      <p:sp>
        <p:nvSpPr>
          <p:cNvPr id="13317" name="Rectangle 3"/>
          <p:cNvSpPr>
            <a:spLocks noGrp="1" noChangeArrowheads="1"/>
          </p:cNvSpPr>
          <p:nvPr>
            <p:ph type="title"/>
          </p:nvPr>
        </p:nvSpPr>
        <p:spPr>
          <a:xfrm>
            <a:off x="1219200" y="116632"/>
            <a:ext cx="7696200" cy="762000"/>
          </a:xfrm>
          <a:noFill/>
        </p:spPr>
        <p:txBody>
          <a:bodyPr/>
          <a:lstStyle/>
          <a:p>
            <a:pPr defTabSz="914400" eaLnBrk="1" hangingPunct="1"/>
            <a:r>
              <a:rPr lang="en-US" altLang="en-US" smtClean="0"/>
              <a:t>Coefficient of Determination, r</a:t>
            </a:r>
            <a:r>
              <a:rPr lang="en-US" altLang="en-US" baseline="30000" smtClean="0"/>
              <a:t>2</a:t>
            </a:r>
          </a:p>
        </p:txBody>
      </p:sp>
      <p:graphicFrame>
        <p:nvGraphicFramePr>
          <p:cNvPr id="13314" name="Object 5"/>
          <p:cNvGraphicFramePr>
            <a:graphicFrameLocks noChangeAspect="1"/>
          </p:cNvGraphicFramePr>
          <p:nvPr>
            <p:extLst>
              <p:ext uri="{D42A27DB-BD31-4B8C-83A1-F6EECF244321}">
                <p14:modId xmlns:p14="http://schemas.microsoft.com/office/powerpoint/2010/main" val="640492035"/>
              </p:ext>
            </p:extLst>
          </p:nvPr>
        </p:nvGraphicFramePr>
        <p:xfrm>
          <a:off x="3806825" y="5464920"/>
          <a:ext cx="1831975" cy="595312"/>
        </p:xfrm>
        <a:graphic>
          <a:graphicData uri="http://schemas.openxmlformats.org/presentationml/2006/ole">
            <mc:AlternateContent xmlns:mc="http://schemas.openxmlformats.org/markup-compatibility/2006">
              <mc:Choice xmlns:v="urn:schemas-microsoft-com:vml" Requires="v">
                <p:oleObj spid="_x0000_s13330" name="Equation" r:id="rId3" imgW="622080" imgH="203040" progId="Equation.3">
                  <p:embed/>
                </p:oleObj>
              </mc:Choice>
              <mc:Fallback>
                <p:oleObj name="Equation" r:id="rId3" imgW="62208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6825" y="5464920"/>
                        <a:ext cx="1831975" cy="595312"/>
                      </a:xfrm>
                      <a:prstGeom prst="rect">
                        <a:avLst/>
                      </a:prstGeom>
                      <a:solidFill>
                        <a:srgbClr val="C7DAF7"/>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8" name="Text Box 6"/>
          <p:cNvSpPr txBox="1">
            <a:spLocks noChangeArrowheads="1"/>
          </p:cNvSpPr>
          <p:nvPr/>
        </p:nvSpPr>
        <p:spPr bwMode="auto">
          <a:xfrm>
            <a:off x="2895600" y="5526832"/>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algn="ctr" eaLnBrk="0" fontAlgn="base" hangingPunct="0">
              <a:spcBef>
                <a:spcPct val="0"/>
              </a:spcBef>
              <a:spcAft>
                <a:spcPct val="0"/>
              </a:spcAft>
              <a:defRPr sz="2400">
                <a:solidFill>
                  <a:schemeClr val="tx1"/>
                </a:solidFill>
                <a:latin typeface="Arial" charset="0"/>
              </a:defRPr>
            </a:lvl6pPr>
            <a:lvl7pPr marL="2971800" indent="-228600" algn="ctr" eaLnBrk="0" fontAlgn="base" hangingPunct="0">
              <a:spcBef>
                <a:spcPct val="0"/>
              </a:spcBef>
              <a:spcAft>
                <a:spcPct val="0"/>
              </a:spcAft>
              <a:defRPr sz="2400">
                <a:solidFill>
                  <a:schemeClr val="tx1"/>
                </a:solidFill>
                <a:latin typeface="Arial" charset="0"/>
              </a:defRPr>
            </a:lvl7pPr>
            <a:lvl8pPr marL="3429000" indent="-228600" algn="ctr" eaLnBrk="0" fontAlgn="base" hangingPunct="0">
              <a:spcBef>
                <a:spcPct val="0"/>
              </a:spcBef>
              <a:spcAft>
                <a:spcPct val="0"/>
              </a:spcAft>
              <a:defRPr sz="2400">
                <a:solidFill>
                  <a:schemeClr val="tx1"/>
                </a:solidFill>
                <a:latin typeface="Arial" charset="0"/>
              </a:defRPr>
            </a:lvl8pPr>
            <a:lvl9pPr marL="3886200" indent="-228600" algn="ctr" eaLnBrk="0" fontAlgn="base" hangingPunct="0">
              <a:spcBef>
                <a:spcPct val="0"/>
              </a:spcBef>
              <a:spcAft>
                <a:spcPct val="0"/>
              </a:spcAft>
              <a:defRPr sz="2400">
                <a:solidFill>
                  <a:schemeClr val="tx1"/>
                </a:solidFill>
                <a:latin typeface="Arial" charset="0"/>
              </a:defRPr>
            </a:lvl9pPr>
          </a:lstStyle>
          <a:p>
            <a:pPr algn="l" eaLnBrk="1" hangingPunct="1">
              <a:spcBef>
                <a:spcPct val="50000"/>
              </a:spcBef>
            </a:pPr>
            <a:r>
              <a:rPr lang="en-US" altLang="en-US" sz="2000"/>
              <a:t>note:</a:t>
            </a:r>
          </a:p>
        </p:txBody>
      </p:sp>
      <p:graphicFrame>
        <p:nvGraphicFramePr>
          <p:cNvPr id="13315" name="Object 7"/>
          <p:cNvGraphicFramePr>
            <a:graphicFrameLocks noChangeAspect="1"/>
          </p:cNvGraphicFramePr>
          <p:nvPr>
            <p:extLst>
              <p:ext uri="{D42A27DB-BD31-4B8C-83A1-F6EECF244321}">
                <p14:modId xmlns:p14="http://schemas.microsoft.com/office/powerpoint/2010/main" val="2160827607"/>
              </p:ext>
            </p:extLst>
          </p:nvPr>
        </p:nvGraphicFramePr>
        <p:xfrm>
          <a:off x="1905000" y="4155232"/>
          <a:ext cx="5792788" cy="906463"/>
        </p:xfrm>
        <a:graphic>
          <a:graphicData uri="http://schemas.openxmlformats.org/presentationml/2006/ole">
            <mc:AlternateContent xmlns:mc="http://schemas.openxmlformats.org/markup-compatibility/2006">
              <mc:Choice xmlns:v="urn:schemas-microsoft-com:vml" Requires="v">
                <p:oleObj spid="_x0000_s13331" name="Equation" r:id="rId5" imgW="2666880" imgH="419040" progId="Equation.3">
                  <p:embed/>
                </p:oleObj>
              </mc:Choice>
              <mc:Fallback>
                <p:oleObj name="Equation" r:id="rId5" imgW="2666880" imgH="4190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4155232"/>
                        <a:ext cx="5792788" cy="906463"/>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202647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62791580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4007539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Example Problem</a:t>
            </a:r>
          </a:p>
        </p:txBody>
      </p:sp>
      <p:sp>
        <p:nvSpPr>
          <p:cNvPr id="3" name="Content Placeholder 2"/>
          <p:cNvSpPr>
            <a:spLocks noGrp="1"/>
          </p:cNvSpPr>
          <p:nvPr>
            <p:ph idx="1"/>
          </p:nvPr>
        </p:nvSpPr>
        <p:spPr/>
        <p:txBody>
          <a:bodyPr/>
          <a:lstStyle/>
          <a:p>
            <a:r>
              <a:rPr lang="en-IN" dirty="0" smtClean="0"/>
              <a:t>cars</a:t>
            </a:r>
          </a:p>
          <a:p>
            <a:r>
              <a:rPr lang="en-IN" dirty="0" smtClean="0"/>
              <a:t>head(cars)</a:t>
            </a:r>
          </a:p>
          <a:p>
            <a:endParaRPr lang="en-IN" dirty="0"/>
          </a:p>
        </p:txBody>
      </p:sp>
    </p:spTree>
    <p:extLst>
      <p:ext uri="{BB962C8B-B14F-4D97-AF65-F5344CB8AC3E}">
        <p14:creationId xmlns:p14="http://schemas.microsoft.com/office/powerpoint/2010/main" val="133502144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IN" dirty="0" smtClean="0"/>
              <a:t>Before building </a:t>
            </a:r>
            <a:r>
              <a:rPr lang="en-IN" dirty="0"/>
              <a:t>the regression </a:t>
            </a:r>
            <a:r>
              <a:rPr lang="en-IN" dirty="0" smtClean="0"/>
              <a:t>model</a:t>
            </a:r>
          </a:p>
          <a:p>
            <a:pPr algn="just"/>
            <a:r>
              <a:rPr lang="en-IN" dirty="0" smtClean="0"/>
              <a:t>To analyse </a:t>
            </a:r>
            <a:r>
              <a:rPr lang="en-IN" dirty="0"/>
              <a:t>and understand the variables. </a:t>
            </a:r>
            <a:endParaRPr lang="en-IN" dirty="0" smtClean="0"/>
          </a:p>
          <a:p>
            <a:pPr algn="just"/>
            <a:endParaRPr lang="en-IN" dirty="0"/>
          </a:p>
        </p:txBody>
      </p:sp>
    </p:spTree>
    <p:extLst>
      <p:ext uri="{BB962C8B-B14F-4D97-AF65-F5344CB8AC3E}">
        <p14:creationId xmlns:p14="http://schemas.microsoft.com/office/powerpoint/2010/main" val="37340701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Graphical </a:t>
            </a:r>
            <a:r>
              <a:rPr lang="en-IN" b="1" dirty="0" smtClean="0"/>
              <a:t>Analysis</a:t>
            </a:r>
            <a:endParaRPr lang="en-IN" b="1" dirty="0"/>
          </a:p>
        </p:txBody>
      </p:sp>
      <p:sp>
        <p:nvSpPr>
          <p:cNvPr id="3" name="Content Placeholder 2"/>
          <p:cNvSpPr>
            <a:spLocks noGrp="1"/>
          </p:cNvSpPr>
          <p:nvPr>
            <p:ph idx="1"/>
          </p:nvPr>
        </p:nvSpPr>
        <p:spPr/>
        <p:txBody>
          <a:bodyPr>
            <a:normAutofit lnSpcReduction="10000"/>
          </a:bodyPr>
          <a:lstStyle/>
          <a:p>
            <a:r>
              <a:rPr lang="en-IN" dirty="0" smtClean="0"/>
              <a:t>To </a:t>
            </a:r>
            <a:r>
              <a:rPr lang="en-IN" dirty="0"/>
              <a:t>predict Distance (</a:t>
            </a:r>
            <a:r>
              <a:rPr lang="en-IN" dirty="0" err="1"/>
              <a:t>dist</a:t>
            </a:r>
            <a:r>
              <a:rPr lang="en-IN" dirty="0"/>
              <a:t>) by establishing a statistically significant linear relationship with Speed (speed</a:t>
            </a:r>
            <a:r>
              <a:rPr lang="en-IN" dirty="0" smtClean="0"/>
              <a:t>).</a:t>
            </a:r>
            <a:endParaRPr lang="en-IN" dirty="0"/>
          </a:p>
          <a:p>
            <a:pPr lvl="1"/>
            <a:r>
              <a:rPr lang="en-IN" b="1" dirty="0" smtClean="0"/>
              <a:t>Scatter </a:t>
            </a:r>
            <a:r>
              <a:rPr lang="en-IN" b="1" dirty="0"/>
              <a:t>plot</a:t>
            </a:r>
            <a:r>
              <a:rPr lang="en-IN" dirty="0"/>
              <a:t>: Visualize the linear relationship between the predictor and response</a:t>
            </a:r>
          </a:p>
          <a:p>
            <a:pPr lvl="1"/>
            <a:r>
              <a:rPr lang="en-IN" b="1" dirty="0" smtClean="0"/>
              <a:t>Box </a:t>
            </a:r>
            <a:r>
              <a:rPr lang="en-IN" b="1" dirty="0"/>
              <a:t>plot</a:t>
            </a:r>
            <a:r>
              <a:rPr lang="en-IN" dirty="0"/>
              <a:t>: To spot any outlier observations in the variable. Having outliers in your predictor can drastically affect the predictions as they can easily affect the direction/slope of the line of best </a:t>
            </a:r>
            <a:r>
              <a:rPr lang="en-IN" dirty="0" smtClean="0"/>
              <a:t>fit.</a:t>
            </a:r>
          </a:p>
          <a:p>
            <a:pPr lvl="1"/>
            <a:r>
              <a:rPr lang="en-IN" b="1" dirty="0" smtClean="0"/>
              <a:t>Density </a:t>
            </a:r>
            <a:r>
              <a:rPr lang="en-IN" b="1" dirty="0"/>
              <a:t>plot</a:t>
            </a:r>
            <a:r>
              <a:rPr lang="en-IN" dirty="0"/>
              <a:t>: To see the distribution of the predictor variable. Ideally, a close to normal distribution (a bell shaped curve), without being skewed to the left or right is preferred. Let us see how to make each one of them.</a:t>
            </a:r>
          </a:p>
          <a:p>
            <a:endParaRPr lang="en-IN" dirty="0"/>
          </a:p>
        </p:txBody>
      </p:sp>
    </p:spTree>
    <p:extLst>
      <p:ext uri="{BB962C8B-B14F-4D97-AF65-F5344CB8AC3E}">
        <p14:creationId xmlns:p14="http://schemas.microsoft.com/office/powerpoint/2010/main" val="40553238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Scatter </a:t>
            </a:r>
            <a:r>
              <a:rPr lang="en-IN" b="1" dirty="0" smtClean="0"/>
              <a:t>Plot</a:t>
            </a:r>
            <a:endParaRPr lang="en-IN" dirty="0"/>
          </a:p>
        </p:txBody>
      </p:sp>
      <p:sp>
        <p:nvSpPr>
          <p:cNvPr id="3" name="Content Placeholder 2"/>
          <p:cNvSpPr>
            <a:spLocks noGrp="1"/>
          </p:cNvSpPr>
          <p:nvPr>
            <p:ph idx="1"/>
          </p:nvPr>
        </p:nvSpPr>
        <p:spPr/>
        <p:txBody>
          <a:bodyPr/>
          <a:lstStyle/>
          <a:p>
            <a:r>
              <a:rPr lang="en-IN" dirty="0" err="1"/>
              <a:t>scatter.smooth</a:t>
            </a:r>
            <a:r>
              <a:rPr lang="en-IN" dirty="0"/>
              <a:t>(x=</a:t>
            </a:r>
            <a:r>
              <a:rPr lang="en-IN" dirty="0" err="1"/>
              <a:t>cars$speed</a:t>
            </a:r>
            <a:r>
              <a:rPr lang="en-IN" dirty="0"/>
              <a:t>, y=</a:t>
            </a:r>
            <a:r>
              <a:rPr lang="en-IN" dirty="0" err="1"/>
              <a:t>cars$dist</a:t>
            </a:r>
            <a:r>
              <a:rPr lang="en-IN" dirty="0"/>
              <a:t>, main="</a:t>
            </a:r>
            <a:r>
              <a:rPr lang="en-IN" dirty="0" err="1"/>
              <a:t>Dist</a:t>
            </a:r>
            <a:r>
              <a:rPr lang="en-IN" dirty="0"/>
              <a:t> ~ Speed") </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636912"/>
            <a:ext cx="5829300" cy="3438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659092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err="1"/>
              <a:t>BoxPlot</a:t>
            </a:r>
            <a:r>
              <a:rPr lang="en-IN" b="1" dirty="0"/>
              <a:t> – Check for </a:t>
            </a:r>
            <a:r>
              <a:rPr lang="en-IN" b="1" dirty="0" smtClean="0"/>
              <a:t>outliers</a:t>
            </a:r>
            <a:endParaRPr lang="en-IN" dirty="0"/>
          </a:p>
        </p:txBody>
      </p:sp>
      <p:sp>
        <p:nvSpPr>
          <p:cNvPr id="3" name="Content Placeholder 2"/>
          <p:cNvSpPr>
            <a:spLocks noGrp="1"/>
          </p:cNvSpPr>
          <p:nvPr>
            <p:ph idx="1"/>
          </p:nvPr>
        </p:nvSpPr>
        <p:spPr/>
        <p:txBody>
          <a:bodyPr/>
          <a:lstStyle/>
          <a:p>
            <a:pPr marL="0" indent="0">
              <a:buNone/>
            </a:pPr>
            <a:r>
              <a:rPr lang="en-IN" b="1" i="1" dirty="0"/>
              <a:t>Generally, any </a:t>
            </a:r>
            <a:r>
              <a:rPr lang="en-IN" b="1" i="1" dirty="0" err="1"/>
              <a:t>datapoint</a:t>
            </a:r>
            <a:r>
              <a:rPr lang="en-IN" b="1" i="1" dirty="0"/>
              <a:t> that lies outside the 1.5 * interquartile-range (1.5 * IQR) is considered an outlier, where, IQR is calculated as the distance between the 25th percentile and 75th percentile values for that variable.</a:t>
            </a:r>
          </a:p>
        </p:txBody>
      </p:sp>
      <p:pic>
        <p:nvPicPr>
          <p:cNvPr id="1026" name="Picture 2" descr="Image result for IQ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4221088"/>
            <a:ext cx="5731743" cy="2134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84007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400" dirty="0"/>
              <a:t>par(</a:t>
            </a:r>
            <a:r>
              <a:rPr lang="en-IN" sz="2400" dirty="0" err="1"/>
              <a:t>mfrow</a:t>
            </a:r>
            <a:r>
              <a:rPr lang="en-IN" sz="2400" dirty="0"/>
              <a:t>=c(1, 2)) # divide graph area in 2 columns </a:t>
            </a:r>
            <a:endParaRPr lang="en-IN" sz="2400" dirty="0" smtClean="0"/>
          </a:p>
          <a:p>
            <a:r>
              <a:rPr lang="en-IN" sz="2400" dirty="0" smtClean="0"/>
              <a:t>boxplot(</a:t>
            </a:r>
            <a:r>
              <a:rPr lang="en-IN" sz="2400" dirty="0" err="1" smtClean="0"/>
              <a:t>cars$speed</a:t>
            </a:r>
            <a:r>
              <a:rPr lang="en-IN" sz="2400" dirty="0"/>
              <a:t>, main="Speed", sub=paste("Outlier rows: ", </a:t>
            </a:r>
            <a:r>
              <a:rPr lang="en-IN" sz="2400" dirty="0" err="1"/>
              <a:t>boxplot.stats</a:t>
            </a:r>
            <a:r>
              <a:rPr lang="en-IN" sz="2400" dirty="0"/>
              <a:t>(</a:t>
            </a:r>
            <a:r>
              <a:rPr lang="en-IN" sz="2400" dirty="0" err="1"/>
              <a:t>cars$speed</a:t>
            </a:r>
            <a:r>
              <a:rPr lang="en-IN" sz="2400" dirty="0"/>
              <a:t>)$out)) # box plot for 'speed' </a:t>
            </a:r>
            <a:endParaRPr lang="en-IN" sz="2400" dirty="0" smtClean="0"/>
          </a:p>
          <a:p>
            <a:r>
              <a:rPr lang="en-IN" sz="2400" dirty="0" smtClean="0"/>
              <a:t>boxplot(</a:t>
            </a:r>
            <a:r>
              <a:rPr lang="en-IN" sz="2400" dirty="0" err="1" smtClean="0"/>
              <a:t>cars$dist</a:t>
            </a:r>
            <a:r>
              <a:rPr lang="en-IN" sz="2400" dirty="0"/>
              <a:t>, main="Distance", sub=paste("Outlier rows: ", </a:t>
            </a:r>
            <a:r>
              <a:rPr lang="en-IN" sz="2400" dirty="0" err="1"/>
              <a:t>boxplot.stats</a:t>
            </a:r>
            <a:r>
              <a:rPr lang="en-IN" sz="2400" dirty="0"/>
              <a:t>(</a:t>
            </a:r>
            <a:r>
              <a:rPr lang="en-IN" sz="2400" dirty="0" err="1"/>
              <a:t>cars$dist</a:t>
            </a:r>
            <a:r>
              <a:rPr lang="en-IN" sz="2400" dirty="0"/>
              <a:t>)$out)) # box plot for 'distance'</a:t>
            </a:r>
          </a:p>
          <a:p>
            <a:endParaRPr lang="en-IN" sz="2400" dirty="0"/>
          </a:p>
        </p:txBody>
      </p:sp>
    </p:spTree>
    <p:extLst>
      <p:ext uri="{BB962C8B-B14F-4D97-AF65-F5344CB8AC3E}">
        <p14:creationId xmlns:p14="http://schemas.microsoft.com/office/powerpoint/2010/main" val="368497408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646659"/>
            <a:ext cx="5829300" cy="3438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351667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Density plot – Check if the response variable is close to </a:t>
            </a:r>
            <a:r>
              <a:rPr lang="en-IN" b="1" dirty="0" smtClean="0"/>
              <a:t>normality</a:t>
            </a:r>
            <a:endParaRPr lang="en-IN" dirty="0"/>
          </a:p>
        </p:txBody>
      </p:sp>
      <p:sp>
        <p:nvSpPr>
          <p:cNvPr id="3" name="Content Placeholder 2"/>
          <p:cNvSpPr>
            <a:spLocks noGrp="1"/>
          </p:cNvSpPr>
          <p:nvPr>
            <p:ph idx="1"/>
          </p:nvPr>
        </p:nvSpPr>
        <p:spPr/>
        <p:txBody>
          <a:bodyPr>
            <a:normAutofit fontScale="92500" lnSpcReduction="10000"/>
          </a:bodyPr>
          <a:lstStyle/>
          <a:p>
            <a:r>
              <a:rPr lang="en-IN" dirty="0"/>
              <a:t>library(e1071) </a:t>
            </a:r>
            <a:endParaRPr lang="en-IN" dirty="0" smtClean="0"/>
          </a:p>
          <a:p>
            <a:r>
              <a:rPr lang="en-IN" dirty="0" smtClean="0"/>
              <a:t>par(</a:t>
            </a:r>
            <a:r>
              <a:rPr lang="en-IN" dirty="0" err="1" smtClean="0"/>
              <a:t>mfrow</a:t>
            </a:r>
            <a:r>
              <a:rPr lang="en-IN" dirty="0" smtClean="0"/>
              <a:t>=c(1</a:t>
            </a:r>
            <a:r>
              <a:rPr lang="en-IN" dirty="0"/>
              <a:t>, 2)) # divide graph area in 2 columns </a:t>
            </a:r>
            <a:endParaRPr lang="en-IN" dirty="0" smtClean="0"/>
          </a:p>
          <a:p>
            <a:r>
              <a:rPr lang="en-IN" dirty="0" smtClean="0"/>
              <a:t>plot(density(</a:t>
            </a:r>
            <a:r>
              <a:rPr lang="en-IN" dirty="0" err="1" smtClean="0"/>
              <a:t>cars$speed</a:t>
            </a:r>
            <a:r>
              <a:rPr lang="en-IN" dirty="0"/>
              <a:t>), main="Density Plot: Speed", </a:t>
            </a:r>
            <a:r>
              <a:rPr lang="en-IN" dirty="0" err="1"/>
              <a:t>ylab</a:t>
            </a:r>
            <a:r>
              <a:rPr lang="en-IN" dirty="0"/>
              <a:t>="Frequency", sub=paste("Skewness:", round(e1071::skewness(</a:t>
            </a:r>
            <a:r>
              <a:rPr lang="en-IN" dirty="0" err="1"/>
              <a:t>cars$speed</a:t>
            </a:r>
            <a:r>
              <a:rPr lang="en-IN" dirty="0"/>
              <a:t>), 2))) # density plot for 'speed' </a:t>
            </a:r>
            <a:endParaRPr lang="en-IN" dirty="0" smtClean="0"/>
          </a:p>
          <a:p>
            <a:r>
              <a:rPr lang="en-IN" dirty="0" smtClean="0"/>
              <a:t>polygon(density(</a:t>
            </a:r>
            <a:r>
              <a:rPr lang="en-IN" dirty="0" err="1" smtClean="0"/>
              <a:t>cars$speed</a:t>
            </a:r>
            <a:r>
              <a:rPr lang="en-IN" dirty="0"/>
              <a:t>), col="red") </a:t>
            </a:r>
            <a:endParaRPr lang="en-IN" dirty="0" smtClean="0"/>
          </a:p>
          <a:p>
            <a:r>
              <a:rPr lang="en-IN" dirty="0" smtClean="0"/>
              <a:t>plot(density(</a:t>
            </a:r>
            <a:r>
              <a:rPr lang="en-IN" dirty="0" err="1" smtClean="0"/>
              <a:t>cars$dist</a:t>
            </a:r>
            <a:r>
              <a:rPr lang="en-IN" dirty="0"/>
              <a:t>), main="Density Plot: Distance", </a:t>
            </a:r>
            <a:r>
              <a:rPr lang="en-IN" dirty="0" err="1"/>
              <a:t>ylab</a:t>
            </a:r>
            <a:r>
              <a:rPr lang="en-IN" dirty="0"/>
              <a:t>="Frequency", sub=paste("Skewness:", round(e1071::skewness(</a:t>
            </a:r>
            <a:r>
              <a:rPr lang="en-IN" dirty="0" err="1"/>
              <a:t>cars$dist</a:t>
            </a:r>
            <a:r>
              <a:rPr lang="en-IN" dirty="0"/>
              <a:t>), </a:t>
            </a:r>
            <a:r>
              <a:rPr lang="en-IN" dirty="0" smtClean="0"/>
              <a:t>2)))</a:t>
            </a:r>
          </a:p>
          <a:p>
            <a:r>
              <a:rPr lang="en-IN" dirty="0"/>
              <a:t>polygon(density(</a:t>
            </a:r>
            <a:r>
              <a:rPr lang="en-IN" dirty="0" err="1"/>
              <a:t>cars$dist</a:t>
            </a:r>
            <a:r>
              <a:rPr lang="en-IN" dirty="0"/>
              <a:t>), col="red")</a:t>
            </a:r>
          </a:p>
        </p:txBody>
      </p:sp>
    </p:spTree>
    <p:extLst>
      <p:ext uri="{BB962C8B-B14F-4D97-AF65-F5344CB8AC3E}">
        <p14:creationId xmlns:p14="http://schemas.microsoft.com/office/powerpoint/2010/main" val="199803974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908720"/>
            <a:ext cx="8178992" cy="4824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22383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Correlation</a:t>
            </a:r>
            <a:endParaRPr lang="en-IN" dirty="0"/>
          </a:p>
        </p:txBody>
      </p:sp>
      <p:sp>
        <p:nvSpPr>
          <p:cNvPr id="3" name="Content Placeholder 2"/>
          <p:cNvSpPr>
            <a:spLocks noGrp="1"/>
          </p:cNvSpPr>
          <p:nvPr>
            <p:ph idx="1"/>
          </p:nvPr>
        </p:nvSpPr>
        <p:spPr/>
        <p:txBody>
          <a:bodyPr>
            <a:normAutofit lnSpcReduction="10000"/>
          </a:bodyPr>
          <a:lstStyle/>
          <a:p>
            <a:r>
              <a:rPr lang="en-IN" dirty="0"/>
              <a:t>Correlation is a statistical measure that suggests the level of linear dependence between two variables, that occur in pair – just like what we have here in speed and dist. Correlation can take values between -1 to +1. </a:t>
            </a:r>
            <a:endParaRPr lang="en-IN" dirty="0" smtClean="0"/>
          </a:p>
          <a:p>
            <a:r>
              <a:rPr lang="en-IN" dirty="0" smtClean="0"/>
              <a:t>If </a:t>
            </a:r>
            <a:r>
              <a:rPr lang="en-IN" dirty="0"/>
              <a:t>we observe for every instance where speed increases, the distance also increases along with it, then there is a high positive correlation between them and therefore the correlation between them will be closer to 1. </a:t>
            </a:r>
            <a:endParaRPr lang="en-IN" dirty="0" smtClean="0"/>
          </a:p>
          <a:p>
            <a:r>
              <a:rPr lang="en-IN" dirty="0" smtClean="0"/>
              <a:t>The </a:t>
            </a:r>
            <a:r>
              <a:rPr lang="en-IN" dirty="0"/>
              <a:t>opposite is true for an inverse relationship, in which case, the correlation between the variables will be close to -1.</a:t>
            </a:r>
          </a:p>
        </p:txBody>
      </p:sp>
    </p:spTree>
    <p:extLst>
      <p:ext uri="{BB962C8B-B14F-4D97-AF65-F5344CB8AC3E}">
        <p14:creationId xmlns:p14="http://schemas.microsoft.com/office/powerpoint/2010/main" val="381505033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A value closer to 0 suggests a weak relationship between the variables. </a:t>
            </a:r>
            <a:endParaRPr lang="en-IN" dirty="0" smtClean="0"/>
          </a:p>
          <a:p>
            <a:r>
              <a:rPr lang="en-IN" dirty="0" smtClean="0"/>
              <a:t>A </a:t>
            </a:r>
            <a:r>
              <a:rPr lang="en-IN" dirty="0"/>
              <a:t>low correlation (-0.2 &lt; x &lt; 0.2) probably suggests that much of variation of the response variable (</a:t>
            </a:r>
            <a:r>
              <a:rPr lang="en-IN" i="1" dirty="0"/>
              <a:t>Y</a:t>
            </a:r>
            <a:r>
              <a:rPr lang="en-IN" dirty="0"/>
              <a:t>) is unexplained by the predictor (</a:t>
            </a:r>
            <a:r>
              <a:rPr lang="en-IN" i="1" dirty="0"/>
              <a:t>X</a:t>
            </a:r>
            <a:r>
              <a:rPr lang="en-IN" dirty="0"/>
              <a:t>), in which case, we should probably </a:t>
            </a:r>
            <a:r>
              <a:rPr lang="en-IN" dirty="0" smtClean="0"/>
              <a:t>look </a:t>
            </a:r>
            <a:r>
              <a:rPr lang="en-IN" dirty="0"/>
              <a:t>for better explanatory variables</a:t>
            </a:r>
            <a:r>
              <a:rPr lang="en-IN" dirty="0" smtClean="0"/>
              <a:t>.</a:t>
            </a:r>
          </a:p>
          <a:p>
            <a:r>
              <a:rPr lang="en-IN" dirty="0" err="1"/>
              <a:t>cor</a:t>
            </a:r>
            <a:r>
              <a:rPr lang="en-IN" dirty="0"/>
              <a:t>(</a:t>
            </a:r>
            <a:r>
              <a:rPr lang="en-IN" dirty="0" err="1"/>
              <a:t>cars$speed</a:t>
            </a:r>
            <a:r>
              <a:rPr lang="en-IN" dirty="0"/>
              <a:t>, </a:t>
            </a:r>
            <a:r>
              <a:rPr lang="en-IN" dirty="0" err="1"/>
              <a:t>cars$dist</a:t>
            </a:r>
            <a:r>
              <a:rPr lang="en-IN" dirty="0" smtClean="0"/>
              <a:t>) </a:t>
            </a:r>
          </a:p>
          <a:p>
            <a:r>
              <a:rPr lang="en-IN" dirty="0"/>
              <a:t>0.8068949</a:t>
            </a:r>
          </a:p>
        </p:txBody>
      </p:sp>
    </p:spTree>
    <p:extLst>
      <p:ext uri="{BB962C8B-B14F-4D97-AF65-F5344CB8AC3E}">
        <p14:creationId xmlns:p14="http://schemas.microsoft.com/office/powerpoint/2010/main" val="20222177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Build Linear </a:t>
            </a:r>
            <a:r>
              <a:rPr lang="en-IN" b="1" dirty="0" smtClean="0"/>
              <a:t>Model</a:t>
            </a:r>
            <a:endParaRPr lang="en-IN" dirty="0"/>
          </a:p>
        </p:txBody>
      </p:sp>
      <p:sp>
        <p:nvSpPr>
          <p:cNvPr id="3" name="Content Placeholder 2"/>
          <p:cNvSpPr>
            <a:spLocks noGrp="1"/>
          </p:cNvSpPr>
          <p:nvPr>
            <p:ph idx="1"/>
          </p:nvPr>
        </p:nvSpPr>
        <p:spPr/>
        <p:txBody>
          <a:bodyPr>
            <a:normAutofit/>
          </a:bodyPr>
          <a:lstStyle/>
          <a:p>
            <a:r>
              <a:rPr lang="en-IN" dirty="0"/>
              <a:t>The function used for building linear models is lm(). </a:t>
            </a:r>
            <a:endParaRPr lang="en-IN" dirty="0" smtClean="0"/>
          </a:p>
          <a:p>
            <a:r>
              <a:rPr lang="en-IN" dirty="0" smtClean="0"/>
              <a:t>The </a:t>
            </a:r>
            <a:r>
              <a:rPr lang="en-IN" dirty="0"/>
              <a:t>lm() function takes in two main arguments, namely: </a:t>
            </a:r>
            <a:endParaRPr lang="en-IN" dirty="0" smtClean="0"/>
          </a:p>
          <a:p>
            <a:pPr lvl="1"/>
            <a:r>
              <a:rPr lang="en-IN" dirty="0" smtClean="0"/>
              <a:t>1</a:t>
            </a:r>
            <a:r>
              <a:rPr lang="en-IN" dirty="0"/>
              <a:t>. Formula </a:t>
            </a:r>
            <a:endParaRPr lang="en-IN" dirty="0" smtClean="0"/>
          </a:p>
          <a:p>
            <a:pPr lvl="1"/>
            <a:r>
              <a:rPr lang="en-IN" dirty="0" smtClean="0"/>
              <a:t>2</a:t>
            </a:r>
            <a:r>
              <a:rPr lang="en-IN" dirty="0"/>
              <a:t>. Data. </a:t>
            </a:r>
            <a:endParaRPr lang="en-IN" dirty="0" smtClean="0"/>
          </a:p>
          <a:p>
            <a:r>
              <a:rPr lang="en-IN" dirty="0" smtClean="0"/>
              <a:t>The </a:t>
            </a:r>
            <a:r>
              <a:rPr lang="en-IN" dirty="0"/>
              <a:t>data is typically a </a:t>
            </a:r>
            <a:r>
              <a:rPr lang="en-IN" dirty="0" err="1"/>
              <a:t>data.frame</a:t>
            </a:r>
            <a:r>
              <a:rPr lang="en-IN" dirty="0"/>
              <a:t> and the formula is a object of class formula. </a:t>
            </a:r>
            <a:endParaRPr lang="en-IN" dirty="0" smtClean="0"/>
          </a:p>
          <a:p>
            <a:r>
              <a:rPr lang="en-IN" dirty="0" smtClean="0"/>
              <a:t>The </a:t>
            </a:r>
            <a:r>
              <a:rPr lang="en-IN" dirty="0"/>
              <a:t>most common convention is to write out the formula directly in place of the argument</a:t>
            </a:r>
          </a:p>
        </p:txBody>
      </p:sp>
    </p:spTree>
    <p:extLst>
      <p:ext uri="{BB962C8B-B14F-4D97-AF65-F5344CB8AC3E}">
        <p14:creationId xmlns:p14="http://schemas.microsoft.com/office/powerpoint/2010/main" val="175421798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err="1"/>
              <a:t>linearMod</a:t>
            </a:r>
            <a:r>
              <a:rPr lang="en-IN" b="1" dirty="0"/>
              <a:t> &lt;- lm(</a:t>
            </a:r>
            <a:r>
              <a:rPr lang="en-IN" b="1" dirty="0" err="1"/>
              <a:t>dist</a:t>
            </a:r>
            <a:r>
              <a:rPr lang="en-IN" b="1" dirty="0"/>
              <a:t> ~ speed, data=cars)</a:t>
            </a:r>
            <a:r>
              <a:rPr lang="en-IN" dirty="0"/>
              <a:t>  # build linear regression model on full data</a:t>
            </a:r>
          </a:p>
          <a:p>
            <a:r>
              <a:rPr lang="en-IN" b="1" dirty="0"/>
              <a:t>print(</a:t>
            </a:r>
            <a:r>
              <a:rPr lang="en-IN" b="1" dirty="0" err="1"/>
              <a:t>linearMod</a:t>
            </a:r>
            <a:r>
              <a:rPr lang="en-IN" b="1" dirty="0"/>
              <a:t>)</a:t>
            </a:r>
          </a:p>
          <a:p>
            <a:r>
              <a:rPr lang="en-IN" dirty="0"/>
              <a:t>#&gt; Call:</a:t>
            </a:r>
          </a:p>
          <a:p>
            <a:r>
              <a:rPr lang="en-IN" dirty="0"/>
              <a:t>#&gt; lm(formula = </a:t>
            </a:r>
            <a:r>
              <a:rPr lang="en-IN" dirty="0" err="1"/>
              <a:t>dist</a:t>
            </a:r>
            <a:r>
              <a:rPr lang="en-IN" dirty="0"/>
              <a:t> ~ speed, data = cars)</a:t>
            </a:r>
          </a:p>
          <a:p>
            <a:r>
              <a:rPr lang="en-IN" dirty="0"/>
              <a:t>#&gt; </a:t>
            </a:r>
          </a:p>
          <a:p>
            <a:r>
              <a:rPr lang="en-IN" dirty="0"/>
              <a:t>#&gt; Coefficients:</a:t>
            </a:r>
          </a:p>
          <a:p>
            <a:r>
              <a:rPr lang="en-IN" dirty="0"/>
              <a:t>#&gt; (Intercept)        speed  </a:t>
            </a:r>
          </a:p>
          <a:p>
            <a:r>
              <a:rPr lang="en-IN" dirty="0"/>
              <a:t>#&gt;     -17.579        3.932</a:t>
            </a:r>
          </a:p>
        </p:txBody>
      </p:sp>
    </p:spTree>
    <p:extLst>
      <p:ext uri="{BB962C8B-B14F-4D97-AF65-F5344CB8AC3E}">
        <p14:creationId xmlns:p14="http://schemas.microsoft.com/office/powerpoint/2010/main" val="129314380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i="1" dirty="0" err="1"/>
              <a:t>dist</a:t>
            </a:r>
            <a:r>
              <a:rPr lang="en-IN" b="1" dirty="0"/>
              <a:t> = </a:t>
            </a:r>
            <a:r>
              <a:rPr lang="en-IN" b="1" i="1" dirty="0"/>
              <a:t>Intercept</a:t>
            </a:r>
            <a:r>
              <a:rPr lang="en-IN" b="1" dirty="0"/>
              <a:t> + (</a:t>
            </a:r>
            <a:r>
              <a:rPr lang="el-GR" b="1" i="1" dirty="0"/>
              <a:t>β</a:t>
            </a:r>
            <a:r>
              <a:rPr lang="el-GR" b="1" dirty="0"/>
              <a:t> ∗ </a:t>
            </a:r>
            <a:r>
              <a:rPr lang="en-IN" b="1" i="1" dirty="0"/>
              <a:t>speed</a:t>
            </a:r>
            <a:r>
              <a:rPr lang="en-IN" b="1" dirty="0"/>
              <a:t>)</a:t>
            </a:r>
            <a:br>
              <a:rPr lang="en-IN" b="1" dirty="0"/>
            </a:br>
            <a:r>
              <a:rPr lang="en-IN" dirty="0"/>
              <a:t>=&gt; </a:t>
            </a:r>
            <a:r>
              <a:rPr lang="en-IN" dirty="0" err="1"/>
              <a:t>dist</a:t>
            </a:r>
            <a:r>
              <a:rPr lang="en-IN" dirty="0"/>
              <a:t> = −17.579 + 3.932∗speed</a:t>
            </a:r>
          </a:p>
        </p:txBody>
      </p:sp>
    </p:spTree>
    <p:extLst>
      <p:ext uri="{BB962C8B-B14F-4D97-AF65-F5344CB8AC3E}">
        <p14:creationId xmlns:p14="http://schemas.microsoft.com/office/powerpoint/2010/main" val="163218804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Linear Regression </a:t>
            </a:r>
            <a:r>
              <a:rPr lang="en-IN" b="1" dirty="0" smtClean="0"/>
              <a:t>Diagnostics</a:t>
            </a:r>
            <a:endParaRPr lang="en-IN" dirty="0"/>
          </a:p>
        </p:txBody>
      </p:sp>
      <p:sp>
        <p:nvSpPr>
          <p:cNvPr id="3" name="Content Placeholder 2"/>
          <p:cNvSpPr>
            <a:spLocks noGrp="1"/>
          </p:cNvSpPr>
          <p:nvPr>
            <p:ph idx="1"/>
          </p:nvPr>
        </p:nvSpPr>
        <p:spPr/>
        <p:txBody>
          <a:bodyPr/>
          <a:lstStyle/>
          <a:p>
            <a:r>
              <a:rPr lang="en-IN" dirty="0"/>
              <a:t>summary(</a:t>
            </a:r>
            <a:r>
              <a:rPr lang="en-IN" dirty="0" err="1"/>
              <a:t>linearMod</a:t>
            </a:r>
            <a:r>
              <a:rPr lang="en-IN" dirty="0"/>
              <a:t>)</a:t>
            </a: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363210"/>
            <a:ext cx="6924364" cy="30100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573443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The p Value: Checking for statistical </a:t>
            </a:r>
            <a:r>
              <a:rPr lang="en-IN" b="1" dirty="0" smtClean="0"/>
              <a:t>significance</a:t>
            </a:r>
            <a:endParaRPr lang="en-IN" dirty="0"/>
          </a:p>
        </p:txBody>
      </p:sp>
      <p:sp>
        <p:nvSpPr>
          <p:cNvPr id="3" name="Content Placeholder 2"/>
          <p:cNvSpPr>
            <a:spLocks noGrp="1"/>
          </p:cNvSpPr>
          <p:nvPr>
            <p:ph idx="1"/>
          </p:nvPr>
        </p:nvSpPr>
        <p:spPr/>
        <p:txBody>
          <a:bodyPr>
            <a:normAutofit/>
          </a:bodyPr>
          <a:lstStyle/>
          <a:p>
            <a:r>
              <a:rPr lang="en-IN" dirty="0" smtClean="0"/>
              <a:t>The </a:t>
            </a:r>
            <a:r>
              <a:rPr lang="en-IN" dirty="0"/>
              <a:t>model p-Value (bottom last line) and the p-Value of individual predictor variables (extreme right column under ‘Coefficients</a:t>
            </a:r>
            <a:r>
              <a:rPr lang="en-IN" dirty="0" smtClean="0"/>
              <a:t>’).</a:t>
            </a:r>
          </a:p>
          <a:p>
            <a:r>
              <a:rPr lang="en-IN" dirty="0"/>
              <a:t>a linear model to be statistically significant only when both these p-Values are less that the pre-determined statistical significance level, which is ideally 0.05</a:t>
            </a:r>
            <a:r>
              <a:rPr lang="en-IN" dirty="0" smtClean="0"/>
              <a:t>.</a:t>
            </a:r>
          </a:p>
          <a:p>
            <a:r>
              <a:rPr lang="en-IN" dirty="0"/>
              <a:t>This is visually interpreted by the significance stars at the end of the row. The more the stars beside the variable’s p-Value, the more significant the variable.</a:t>
            </a:r>
          </a:p>
        </p:txBody>
      </p:sp>
    </p:spTree>
    <p:extLst>
      <p:ext uri="{BB962C8B-B14F-4D97-AF65-F5344CB8AC3E}">
        <p14:creationId xmlns:p14="http://schemas.microsoft.com/office/powerpoint/2010/main" val="266134630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Null and alternate </a:t>
            </a:r>
            <a:r>
              <a:rPr lang="en-IN" b="1" dirty="0" smtClean="0"/>
              <a:t>hypothesis</a:t>
            </a:r>
            <a:endParaRPr lang="en-IN" dirty="0"/>
          </a:p>
        </p:txBody>
      </p:sp>
      <p:sp>
        <p:nvSpPr>
          <p:cNvPr id="3" name="Content Placeholder 2"/>
          <p:cNvSpPr>
            <a:spLocks noGrp="1"/>
          </p:cNvSpPr>
          <p:nvPr>
            <p:ph idx="1"/>
          </p:nvPr>
        </p:nvSpPr>
        <p:spPr/>
        <p:txBody>
          <a:bodyPr/>
          <a:lstStyle/>
          <a:p>
            <a:r>
              <a:rPr lang="en-IN" dirty="0"/>
              <a:t>In Linear Regression, the Null Hypothesis is that the coefficients associated with the variables is equal to zero. </a:t>
            </a:r>
            <a:endParaRPr lang="en-IN" dirty="0" smtClean="0"/>
          </a:p>
          <a:p>
            <a:r>
              <a:rPr lang="en-IN" dirty="0" smtClean="0"/>
              <a:t>The </a:t>
            </a:r>
            <a:r>
              <a:rPr lang="en-IN" dirty="0"/>
              <a:t>alternate hypothesis is that the coefficients are not equal to zero (i.e. there exists a relationship between the independent variable in question and the dependent variable).</a:t>
            </a:r>
          </a:p>
        </p:txBody>
      </p:sp>
    </p:spTree>
    <p:extLst>
      <p:ext uri="{BB962C8B-B14F-4D97-AF65-F5344CB8AC3E}">
        <p14:creationId xmlns:p14="http://schemas.microsoft.com/office/powerpoint/2010/main" val="92975372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t-value</a:t>
            </a:r>
            <a:endParaRPr lang="en-IN" dirty="0"/>
          </a:p>
        </p:txBody>
      </p:sp>
      <p:sp>
        <p:nvSpPr>
          <p:cNvPr id="3" name="Content Placeholder 2"/>
          <p:cNvSpPr>
            <a:spLocks noGrp="1"/>
          </p:cNvSpPr>
          <p:nvPr>
            <p:ph idx="1"/>
          </p:nvPr>
        </p:nvSpPr>
        <p:spPr/>
        <p:txBody>
          <a:bodyPr>
            <a:normAutofit/>
          </a:bodyPr>
          <a:lstStyle/>
          <a:p>
            <a:r>
              <a:rPr lang="en-IN" dirty="0"/>
              <a:t>A larger </a:t>
            </a:r>
            <a:r>
              <a:rPr lang="en-IN" i="1" dirty="0"/>
              <a:t>t-value</a:t>
            </a:r>
            <a:r>
              <a:rPr lang="en-IN" dirty="0"/>
              <a:t> indicates that it is less likely that the coefficient is not equal to zero purely by chance. So, higher the t-value, the better</a:t>
            </a:r>
            <a:r>
              <a:rPr lang="en-IN" dirty="0" smtClean="0"/>
              <a:t>.</a:t>
            </a:r>
          </a:p>
          <a:p>
            <a:r>
              <a:rPr lang="en-IN" i="1" dirty="0" err="1"/>
              <a:t>Pr</a:t>
            </a:r>
            <a:r>
              <a:rPr lang="en-IN" i="1" dirty="0"/>
              <a:t>(&gt;|t|)</a:t>
            </a:r>
            <a:r>
              <a:rPr lang="en-IN" dirty="0"/>
              <a:t> or </a:t>
            </a:r>
            <a:r>
              <a:rPr lang="en-IN" i="1" dirty="0"/>
              <a:t>p-value</a:t>
            </a:r>
            <a:r>
              <a:rPr lang="en-IN" dirty="0"/>
              <a:t> is the probability that you get a t-value as high or higher than the observed value when the Null Hypothesis (the </a:t>
            </a:r>
            <a:r>
              <a:rPr lang="en-IN" i="1" dirty="0"/>
              <a:t>β</a:t>
            </a:r>
            <a:r>
              <a:rPr lang="en-IN" dirty="0"/>
              <a:t> coefficient is equal to zero or that there is no relationship) is true. So if the </a:t>
            </a:r>
            <a:r>
              <a:rPr lang="en-IN" i="1" dirty="0" err="1"/>
              <a:t>Pr</a:t>
            </a:r>
            <a:r>
              <a:rPr lang="en-IN" i="1" dirty="0"/>
              <a:t>(&gt;|t|)</a:t>
            </a:r>
            <a:r>
              <a:rPr lang="en-IN" dirty="0"/>
              <a:t> is low, the coefficients are significant (significantly different from zero). If the </a:t>
            </a:r>
            <a:r>
              <a:rPr lang="en-IN" i="1" dirty="0" err="1"/>
              <a:t>Pr</a:t>
            </a:r>
            <a:r>
              <a:rPr lang="en-IN" i="1" dirty="0"/>
              <a:t>(&gt;|t|)</a:t>
            </a:r>
            <a:r>
              <a:rPr lang="en-IN" dirty="0"/>
              <a:t> is high, the coefficients are not significant.</a:t>
            </a:r>
          </a:p>
        </p:txBody>
      </p:sp>
    </p:spTree>
    <p:extLst>
      <p:ext uri="{BB962C8B-B14F-4D97-AF65-F5344CB8AC3E}">
        <p14:creationId xmlns:p14="http://schemas.microsoft.com/office/powerpoint/2010/main" val="152139300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836712"/>
            <a:ext cx="8282535" cy="36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8330759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this means to us?</a:t>
            </a:r>
          </a:p>
        </p:txBody>
      </p:sp>
      <p:sp>
        <p:nvSpPr>
          <p:cNvPr id="3" name="Content Placeholder 2"/>
          <p:cNvSpPr>
            <a:spLocks noGrp="1"/>
          </p:cNvSpPr>
          <p:nvPr>
            <p:ph idx="1"/>
          </p:nvPr>
        </p:nvSpPr>
        <p:spPr/>
        <p:txBody>
          <a:bodyPr/>
          <a:lstStyle/>
          <a:p>
            <a:r>
              <a:rPr lang="en-IN" dirty="0" smtClean="0"/>
              <a:t>When </a:t>
            </a:r>
            <a:r>
              <a:rPr lang="en-IN" dirty="0"/>
              <a:t>p Value is less than significance level (&lt; 0.05), we can safely reject the null hypothesis that the co-efficient </a:t>
            </a:r>
            <a:r>
              <a:rPr lang="en-IN" i="1" dirty="0"/>
              <a:t>β</a:t>
            </a:r>
            <a:r>
              <a:rPr lang="en-IN" dirty="0"/>
              <a:t> of the predictor is zero</a:t>
            </a:r>
            <a:r>
              <a:rPr lang="en-IN" dirty="0" smtClean="0"/>
              <a:t>.</a:t>
            </a:r>
          </a:p>
          <a:p>
            <a:r>
              <a:rPr lang="en-IN" dirty="0"/>
              <a:t>In our case, </a:t>
            </a:r>
            <a:r>
              <a:rPr lang="en-IN" dirty="0" err="1"/>
              <a:t>linearMod</a:t>
            </a:r>
            <a:r>
              <a:rPr lang="en-IN" dirty="0"/>
              <a:t>, both these p-Values are well below the 0.05 threshold, so we can conclude our model is indeed statistically significant.</a:t>
            </a:r>
          </a:p>
        </p:txBody>
      </p:sp>
    </p:spTree>
    <p:extLst>
      <p:ext uri="{BB962C8B-B14F-4D97-AF65-F5344CB8AC3E}">
        <p14:creationId xmlns:p14="http://schemas.microsoft.com/office/powerpoint/2010/main" val="60124749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How to calculate the t Statistic and p-Values</a:t>
            </a:r>
            <a:r>
              <a:rPr lang="en-IN" b="1" dirty="0" smtClean="0"/>
              <a:t>?</a:t>
            </a:r>
            <a:endParaRPr lang="en-IN" dirty="0"/>
          </a:p>
        </p:txBody>
      </p:sp>
      <p:sp>
        <p:nvSpPr>
          <p:cNvPr id="3" name="Content Placeholder 2"/>
          <p:cNvSpPr>
            <a:spLocks noGrp="1"/>
          </p:cNvSpPr>
          <p:nvPr>
            <p:ph idx="1"/>
          </p:nvPr>
        </p:nvSpPr>
        <p:spPr/>
        <p:txBody>
          <a:bodyPr>
            <a:normAutofit fontScale="77500" lnSpcReduction="20000"/>
          </a:bodyPr>
          <a:lstStyle/>
          <a:p>
            <a:r>
              <a:rPr lang="en-IN" dirty="0" err="1"/>
              <a:t>modelSummary</a:t>
            </a:r>
            <a:r>
              <a:rPr lang="en-IN" dirty="0"/>
              <a:t> &lt;- summary(</a:t>
            </a:r>
            <a:r>
              <a:rPr lang="en-IN" dirty="0" err="1"/>
              <a:t>linearMod</a:t>
            </a:r>
            <a:r>
              <a:rPr lang="en-IN" dirty="0"/>
              <a:t>)  # capture model summary as an object</a:t>
            </a:r>
          </a:p>
          <a:p>
            <a:r>
              <a:rPr lang="en-IN" dirty="0" err="1"/>
              <a:t>modelCoeffs</a:t>
            </a:r>
            <a:r>
              <a:rPr lang="en-IN" dirty="0"/>
              <a:t> &lt;- </a:t>
            </a:r>
            <a:r>
              <a:rPr lang="en-IN" dirty="0" err="1"/>
              <a:t>modelSummary$coefficients</a:t>
            </a:r>
            <a:r>
              <a:rPr lang="en-IN" dirty="0"/>
              <a:t>  # model coefficients</a:t>
            </a:r>
          </a:p>
          <a:p>
            <a:r>
              <a:rPr lang="en-IN" dirty="0" err="1"/>
              <a:t>beta.estimate</a:t>
            </a:r>
            <a:r>
              <a:rPr lang="en-IN" dirty="0"/>
              <a:t> &lt;- </a:t>
            </a:r>
            <a:r>
              <a:rPr lang="en-IN" dirty="0" err="1"/>
              <a:t>modelCoeffs</a:t>
            </a:r>
            <a:r>
              <a:rPr lang="en-IN" dirty="0"/>
              <a:t>["speed", "Estimate"]  # get beta estimate for speed</a:t>
            </a:r>
          </a:p>
          <a:p>
            <a:r>
              <a:rPr lang="en-IN" dirty="0" err="1"/>
              <a:t>std.error</a:t>
            </a:r>
            <a:r>
              <a:rPr lang="en-IN" dirty="0"/>
              <a:t> &lt;- </a:t>
            </a:r>
            <a:r>
              <a:rPr lang="en-IN" dirty="0" err="1"/>
              <a:t>modelCoeffs</a:t>
            </a:r>
            <a:r>
              <a:rPr lang="en-IN" dirty="0"/>
              <a:t>["speed", "Std. Error"]  # get </a:t>
            </a:r>
            <a:r>
              <a:rPr lang="en-IN" dirty="0" err="1"/>
              <a:t>std.error</a:t>
            </a:r>
            <a:r>
              <a:rPr lang="en-IN" dirty="0"/>
              <a:t> for speed</a:t>
            </a:r>
          </a:p>
          <a:p>
            <a:r>
              <a:rPr lang="en-IN" dirty="0" err="1"/>
              <a:t>t_value</a:t>
            </a:r>
            <a:r>
              <a:rPr lang="en-IN" dirty="0"/>
              <a:t> &lt;- </a:t>
            </a:r>
            <a:r>
              <a:rPr lang="en-IN" dirty="0" err="1"/>
              <a:t>beta.estimate</a:t>
            </a:r>
            <a:r>
              <a:rPr lang="en-IN" dirty="0"/>
              <a:t>/</a:t>
            </a:r>
            <a:r>
              <a:rPr lang="en-IN" dirty="0" err="1"/>
              <a:t>std.error</a:t>
            </a:r>
            <a:r>
              <a:rPr lang="en-IN" dirty="0"/>
              <a:t>  # </a:t>
            </a:r>
            <a:r>
              <a:rPr lang="en-IN" dirty="0" err="1"/>
              <a:t>calc</a:t>
            </a:r>
            <a:r>
              <a:rPr lang="en-IN" dirty="0"/>
              <a:t> t statistic</a:t>
            </a:r>
          </a:p>
          <a:p>
            <a:r>
              <a:rPr lang="en-IN" dirty="0" err="1"/>
              <a:t>p_value</a:t>
            </a:r>
            <a:r>
              <a:rPr lang="en-IN" dirty="0"/>
              <a:t> &lt;- 2*</a:t>
            </a:r>
            <a:r>
              <a:rPr lang="en-IN" dirty="0" err="1"/>
              <a:t>pt</a:t>
            </a:r>
            <a:r>
              <a:rPr lang="en-IN" dirty="0"/>
              <a:t>(-abs(</a:t>
            </a:r>
            <a:r>
              <a:rPr lang="en-IN" dirty="0" err="1"/>
              <a:t>t_value</a:t>
            </a:r>
            <a:r>
              <a:rPr lang="en-IN" dirty="0"/>
              <a:t>), </a:t>
            </a:r>
            <a:r>
              <a:rPr lang="en-IN" dirty="0" err="1"/>
              <a:t>df</a:t>
            </a:r>
            <a:r>
              <a:rPr lang="en-IN" dirty="0"/>
              <a:t>=</a:t>
            </a:r>
            <a:r>
              <a:rPr lang="en-IN" dirty="0" err="1"/>
              <a:t>nrow</a:t>
            </a:r>
            <a:r>
              <a:rPr lang="en-IN" dirty="0"/>
              <a:t>(cars)-</a:t>
            </a:r>
            <a:r>
              <a:rPr lang="en-IN" dirty="0" err="1"/>
              <a:t>ncol</a:t>
            </a:r>
            <a:r>
              <a:rPr lang="en-IN" dirty="0"/>
              <a:t>(cars))  # </a:t>
            </a:r>
            <a:r>
              <a:rPr lang="en-IN" dirty="0" err="1"/>
              <a:t>calc</a:t>
            </a:r>
            <a:r>
              <a:rPr lang="en-IN" dirty="0"/>
              <a:t> p Value</a:t>
            </a:r>
          </a:p>
          <a:p>
            <a:r>
              <a:rPr lang="en-IN" dirty="0" err="1"/>
              <a:t>f_statistic</a:t>
            </a:r>
            <a:r>
              <a:rPr lang="en-IN" dirty="0"/>
              <a:t> &lt;- </a:t>
            </a:r>
            <a:r>
              <a:rPr lang="en-IN" dirty="0" err="1"/>
              <a:t>linearMod$fstatistic</a:t>
            </a:r>
            <a:r>
              <a:rPr lang="en-IN" dirty="0"/>
              <a:t>[1]  # </a:t>
            </a:r>
            <a:r>
              <a:rPr lang="en-IN" dirty="0" err="1"/>
              <a:t>fstatistic</a:t>
            </a:r>
            <a:endParaRPr lang="en-IN" dirty="0"/>
          </a:p>
          <a:p>
            <a:r>
              <a:rPr lang="en-IN" dirty="0"/>
              <a:t>f &lt;- summary(</a:t>
            </a:r>
            <a:r>
              <a:rPr lang="en-IN" dirty="0" err="1"/>
              <a:t>linearMod</a:t>
            </a:r>
            <a:r>
              <a:rPr lang="en-IN" dirty="0"/>
              <a:t>)$</a:t>
            </a:r>
            <a:r>
              <a:rPr lang="en-IN" dirty="0" err="1"/>
              <a:t>fstatistic</a:t>
            </a:r>
            <a:r>
              <a:rPr lang="en-IN" dirty="0"/>
              <a:t>  # parameters for model p-value </a:t>
            </a:r>
            <a:r>
              <a:rPr lang="en-IN" dirty="0" err="1"/>
              <a:t>calc</a:t>
            </a:r>
            <a:endParaRPr lang="en-IN" dirty="0"/>
          </a:p>
          <a:p>
            <a:r>
              <a:rPr lang="en-IN" dirty="0" err="1"/>
              <a:t>model_p</a:t>
            </a:r>
            <a:r>
              <a:rPr lang="en-IN" dirty="0"/>
              <a:t> &lt;- pf(f[1], f[2], f[3], lower=FALSE)</a:t>
            </a: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128" y="836712"/>
            <a:ext cx="2962275" cy="72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8181589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R-Squared and </a:t>
            </a:r>
            <a:r>
              <a:rPr lang="en-IN" b="1" dirty="0" err="1"/>
              <a:t>Adj</a:t>
            </a:r>
            <a:r>
              <a:rPr lang="en-IN" b="1" dirty="0"/>
              <a:t> </a:t>
            </a:r>
            <a:r>
              <a:rPr lang="en-IN" b="1" dirty="0" smtClean="0"/>
              <a:t>R-Squared</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7500" lnSpcReduction="20000"/>
              </a:bodyPr>
              <a:lstStyle/>
              <a:p>
                <a:r>
                  <a:rPr lang="en-IN" sz="2800" dirty="0" smtClean="0"/>
                  <a:t>The actual information in a data is the total variation it contains.</a:t>
                </a:r>
              </a:p>
              <a:p>
                <a:r>
                  <a:rPr lang="en-IN" sz="2800" dirty="0"/>
                  <a:t>R-Squared tells us is the proportion of variation in the dependent (response) </a:t>
                </a:r>
                <a:r>
                  <a:rPr lang="en-IN" sz="2800" dirty="0" smtClean="0"/>
                  <a:t>variable</a:t>
                </a:r>
              </a:p>
              <a:p>
                <a:pPr marL="0" indent="0">
                  <a:buNone/>
                </a:pPr>
                <a14:m>
                  <m:oMathPara xmlns:m="http://schemas.openxmlformats.org/officeDocument/2006/math">
                    <m:oMathParaPr>
                      <m:jc m:val="centerGroup"/>
                    </m:oMathParaPr>
                    <m:oMath xmlns:m="http://schemas.openxmlformats.org/officeDocument/2006/math">
                      <m:sSup>
                        <m:sSupPr>
                          <m:ctrlPr>
                            <a:rPr lang="en-IN" sz="2800" b="0" i="1" dirty="0" smtClean="0">
                              <a:latin typeface="Cambria Math"/>
                            </a:rPr>
                          </m:ctrlPr>
                        </m:sSupPr>
                        <m:e>
                          <m:r>
                            <a:rPr lang="en-IN" sz="2800" b="0" i="1" dirty="0" smtClean="0">
                              <a:latin typeface="Cambria Math"/>
                            </a:rPr>
                            <m:t>𝑅</m:t>
                          </m:r>
                        </m:e>
                        <m:sup>
                          <m:r>
                            <a:rPr lang="en-IN" sz="2800" b="0" i="1" dirty="0" smtClean="0">
                              <a:latin typeface="Cambria Math"/>
                            </a:rPr>
                            <m:t>2</m:t>
                          </m:r>
                        </m:sup>
                      </m:sSup>
                      <m:r>
                        <a:rPr lang="en-IN" sz="2800" b="0" i="1" dirty="0" smtClean="0">
                          <a:latin typeface="Cambria Math"/>
                        </a:rPr>
                        <m:t>=1−</m:t>
                      </m:r>
                      <m:f>
                        <m:fPr>
                          <m:ctrlPr>
                            <a:rPr lang="en-IN" sz="2800" i="1" smtClean="0">
                              <a:latin typeface="Cambria Math"/>
                            </a:rPr>
                          </m:ctrlPr>
                        </m:fPr>
                        <m:num>
                          <m:r>
                            <a:rPr lang="en-IN" sz="2800" b="0" i="1" smtClean="0">
                              <a:latin typeface="Cambria Math"/>
                            </a:rPr>
                            <m:t>𝑆𝑆𝐸</m:t>
                          </m:r>
                        </m:num>
                        <m:den>
                          <m:r>
                            <a:rPr lang="en-IN" sz="2800" b="0" i="1" smtClean="0">
                              <a:latin typeface="Cambria Math"/>
                            </a:rPr>
                            <m:t>𝑆𝑆𝑇</m:t>
                          </m:r>
                        </m:den>
                      </m:f>
                    </m:oMath>
                  </m:oMathPara>
                </a14:m>
                <a:endParaRPr lang="en-IN" sz="2800" dirty="0" smtClean="0"/>
              </a:p>
              <a:p>
                <a:pPr marL="0" indent="0">
                  <a:buNone/>
                </a:pPr>
                <a:r>
                  <a:rPr lang="en-IN" sz="2800" i="1" dirty="0"/>
                  <a:t>SSE</a:t>
                </a:r>
                <a:r>
                  <a:rPr lang="en-IN" sz="2800" dirty="0"/>
                  <a:t> is the </a:t>
                </a:r>
                <a:r>
                  <a:rPr lang="en-IN" sz="2800" i="1" dirty="0"/>
                  <a:t>sum of squared </a:t>
                </a:r>
                <a:r>
                  <a:rPr lang="en-IN" sz="2800" i="1" dirty="0" smtClean="0"/>
                  <a:t>errors, </a:t>
                </a:r>
                <a:r>
                  <a:rPr lang="en-IN" sz="2800" dirty="0" smtClean="0"/>
                  <a:t> </a:t>
                </a:r>
                <a14:m>
                  <m:oMath xmlns:m="http://schemas.openxmlformats.org/officeDocument/2006/math">
                    <m:r>
                      <a:rPr lang="en-IN" sz="2800" b="0" i="1" smtClean="0">
                        <a:latin typeface="Cambria Math"/>
                      </a:rPr>
                      <m:t>𝑆𝑆𝐸</m:t>
                    </m:r>
                    <m:r>
                      <a:rPr lang="pt-BR" sz="2800" i="1" smtClean="0">
                        <a:latin typeface="Cambria Math"/>
                      </a:rPr>
                      <m:t>=</m:t>
                    </m:r>
                    <m:nary>
                      <m:naryPr>
                        <m:chr m:val="∑"/>
                        <m:ctrlPr>
                          <a:rPr lang="pt-BR" sz="2800" i="1" smtClean="0">
                            <a:latin typeface="Cambria Math"/>
                          </a:rPr>
                        </m:ctrlPr>
                      </m:naryPr>
                      <m:sub>
                        <m:r>
                          <a:rPr lang="en-IN" sz="2800" b="0" i="1" smtClean="0">
                            <a:latin typeface="Cambria Math"/>
                          </a:rPr>
                          <m:t>𝑖</m:t>
                        </m:r>
                      </m:sub>
                      <m:sup>
                        <m:r>
                          <a:rPr lang="pt-BR" sz="2800" i="1" smtClean="0">
                            <a:latin typeface="Cambria Math"/>
                          </a:rPr>
                          <m:t>𝑛</m:t>
                        </m:r>
                      </m:sup>
                      <m:e>
                        <m:sSup>
                          <m:sSupPr>
                            <m:ctrlPr>
                              <a:rPr lang="pt-BR" sz="2800" i="1" smtClean="0">
                                <a:latin typeface="Cambria Math"/>
                              </a:rPr>
                            </m:ctrlPr>
                          </m:sSupPr>
                          <m:e>
                            <m:d>
                              <m:dPr>
                                <m:ctrlPr>
                                  <a:rPr lang="pt-BR" sz="2800" i="1">
                                    <a:latin typeface="Cambria Math"/>
                                  </a:rPr>
                                </m:ctrlPr>
                              </m:dPr>
                              <m:e>
                                <m:sSub>
                                  <m:sSubPr>
                                    <m:ctrlPr>
                                      <a:rPr lang="pt-BR" sz="2800" i="1">
                                        <a:latin typeface="Cambria Math"/>
                                      </a:rPr>
                                    </m:ctrlPr>
                                  </m:sSubPr>
                                  <m:e>
                                    <m:r>
                                      <a:rPr lang="en-IN" sz="2800" i="1">
                                        <a:latin typeface="Cambria Math"/>
                                      </a:rPr>
                                      <m:t>𝑦</m:t>
                                    </m:r>
                                  </m:e>
                                  <m:sub>
                                    <m:r>
                                      <a:rPr lang="en-IN" sz="2800" i="1">
                                        <a:latin typeface="Cambria Math"/>
                                      </a:rPr>
                                      <m:t>𝑖</m:t>
                                    </m:r>
                                  </m:sub>
                                </m:sSub>
                                <m:r>
                                  <a:rPr lang="en-IN" sz="2800" i="1">
                                    <a:latin typeface="Cambria Math"/>
                                  </a:rPr>
                                  <m:t>−</m:t>
                                </m:r>
                                <m:sSub>
                                  <m:sSubPr>
                                    <m:ctrlPr>
                                      <a:rPr lang="pt-BR" sz="2800" i="1">
                                        <a:latin typeface="Cambria Math"/>
                                      </a:rPr>
                                    </m:ctrlPr>
                                  </m:sSubPr>
                                  <m:e>
                                    <m:r>
                                      <a:rPr lang="cy-GB" sz="2800" b="0" i="1" smtClean="0">
                                        <a:latin typeface="Cambria Math"/>
                                      </a:rPr>
                                      <m:t>ŷ</m:t>
                                    </m:r>
                                  </m:e>
                                  <m:sub>
                                    <m:r>
                                      <a:rPr lang="en-IN" sz="2800" i="1">
                                        <a:latin typeface="Cambria Math"/>
                                      </a:rPr>
                                      <m:t>𝑖</m:t>
                                    </m:r>
                                  </m:sub>
                                </m:sSub>
                              </m:e>
                            </m:d>
                          </m:e>
                          <m:sup>
                            <m:r>
                              <a:rPr lang="en-IN" sz="2800" b="0" i="1" smtClean="0">
                                <a:latin typeface="Cambria Math"/>
                              </a:rPr>
                              <m:t>2</m:t>
                            </m:r>
                          </m:sup>
                        </m:sSup>
                      </m:e>
                    </m:nary>
                  </m:oMath>
                </a14:m>
                <a:endParaRPr lang="en-IN" sz="2800" dirty="0" smtClean="0"/>
              </a:p>
              <a:p>
                <a:pPr marL="0" indent="0">
                  <a:buNone/>
                </a:pPr>
                <a:r>
                  <a:rPr lang="en-IN" sz="2800" i="1" dirty="0"/>
                  <a:t>sum of squared total</a:t>
                </a:r>
                <a:r>
                  <a:rPr lang="en-IN" sz="2800" dirty="0" smtClean="0"/>
                  <a:t>, </a:t>
                </a:r>
                <a14:m>
                  <m:oMath xmlns:m="http://schemas.openxmlformats.org/officeDocument/2006/math">
                    <m:r>
                      <a:rPr lang="en-IN" sz="2800" i="1">
                        <a:latin typeface="Cambria Math"/>
                      </a:rPr>
                      <m:t>𝑆𝑆</m:t>
                    </m:r>
                    <m:r>
                      <a:rPr lang="en-IN" sz="2800" b="0" i="1" smtClean="0">
                        <a:latin typeface="Cambria Math"/>
                      </a:rPr>
                      <m:t>𝑇</m:t>
                    </m:r>
                    <m:r>
                      <a:rPr lang="pt-BR" sz="2800" i="1">
                        <a:latin typeface="Cambria Math"/>
                      </a:rPr>
                      <m:t>=</m:t>
                    </m:r>
                    <m:nary>
                      <m:naryPr>
                        <m:chr m:val="∑"/>
                        <m:ctrlPr>
                          <a:rPr lang="pt-BR" sz="2800" i="1">
                            <a:latin typeface="Cambria Math"/>
                          </a:rPr>
                        </m:ctrlPr>
                      </m:naryPr>
                      <m:sub>
                        <m:r>
                          <a:rPr lang="en-IN" sz="2800" i="1">
                            <a:latin typeface="Cambria Math"/>
                          </a:rPr>
                          <m:t>𝑖</m:t>
                        </m:r>
                      </m:sub>
                      <m:sup>
                        <m:r>
                          <a:rPr lang="pt-BR" sz="2800" i="1">
                            <a:latin typeface="Cambria Math"/>
                          </a:rPr>
                          <m:t>𝑛</m:t>
                        </m:r>
                      </m:sup>
                      <m:e>
                        <m:sSup>
                          <m:sSupPr>
                            <m:ctrlPr>
                              <a:rPr lang="pt-BR" sz="2800" i="1">
                                <a:latin typeface="Cambria Math"/>
                              </a:rPr>
                            </m:ctrlPr>
                          </m:sSupPr>
                          <m:e>
                            <m:d>
                              <m:dPr>
                                <m:ctrlPr>
                                  <a:rPr lang="pt-BR" sz="2800" i="1">
                                    <a:latin typeface="Cambria Math"/>
                                  </a:rPr>
                                </m:ctrlPr>
                              </m:dPr>
                              <m:e>
                                <m:sSub>
                                  <m:sSubPr>
                                    <m:ctrlPr>
                                      <a:rPr lang="pt-BR" sz="2800" i="1">
                                        <a:latin typeface="Cambria Math"/>
                                      </a:rPr>
                                    </m:ctrlPr>
                                  </m:sSubPr>
                                  <m:e>
                                    <m:r>
                                      <a:rPr lang="en-IN" sz="2800" i="1">
                                        <a:latin typeface="Cambria Math"/>
                                      </a:rPr>
                                      <m:t>𝑦</m:t>
                                    </m:r>
                                  </m:e>
                                  <m:sub>
                                    <m:r>
                                      <a:rPr lang="en-IN" sz="2800" i="1">
                                        <a:latin typeface="Cambria Math"/>
                                      </a:rPr>
                                      <m:t>𝑖</m:t>
                                    </m:r>
                                  </m:sub>
                                </m:sSub>
                                <m:r>
                                  <a:rPr lang="en-IN" sz="2800" i="1">
                                    <a:latin typeface="Cambria Math"/>
                                  </a:rPr>
                                  <m:t>−</m:t>
                                </m:r>
                                <m:sSub>
                                  <m:sSubPr>
                                    <m:ctrlPr>
                                      <a:rPr lang="pt-BR" sz="2800" i="1">
                                        <a:latin typeface="Cambria Math"/>
                                      </a:rPr>
                                    </m:ctrlPr>
                                  </m:sSubPr>
                                  <m:e>
                                    <m:acc>
                                      <m:accPr>
                                        <m:chr m:val="̅"/>
                                        <m:ctrlPr>
                                          <a:rPr lang="en-IN" sz="2800" i="1" dirty="0">
                                            <a:latin typeface="Cambria Math"/>
                                            <a:ea typeface="Cambria Math"/>
                                          </a:rPr>
                                        </m:ctrlPr>
                                      </m:accPr>
                                      <m:e>
                                        <m:r>
                                          <a:rPr lang="en-IN" sz="2800" i="1" dirty="0">
                                            <a:latin typeface="Cambria Math"/>
                                            <a:ea typeface="Cambria Math"/>
                                          </a:rPr>
                                          <m:t>𝑦</m:t>
                                        </m:r>
                                      </m:e>
                                    </m:acc>
                                  </m:e>
                                  <m:sub>
                                    <m:r>
                                      <a:rPr lang="en-IN" sz="2800" i="1">
                                        <a:latin typeface="Cambria Math"/>
                                      </a:rPr>
                                      <m:t>𝑖</m:t>
                                    </m:r>
                                  </m:sub>
                                </m:sSub>
                              </m:e>
                            </m:d>
                          </m:e>
                          <m:sup>
                            <m:r>
                              <a:rPr lang="en-IN" sz="2800" i="1">
                                <a:latin typeface="Cambria Math"/>
                              </a:rPr>
                              <m:t>2</m:t>
                            </m:r>
                          </m:sup>
                        </m:sSup>
                      </m:e>
                    </m:nary>
                  </m:oMath>
                </a14:m>
                <a:endParaRPr lang="en-IN" sz="2800" dirty="0" smtClean="0"/>
              </a:p>
              <a:p>
                <a14:m>
                  <m:oMath xmlns:m="http://schemas.openxmlformats.org/officeDocument/2006/math">
                    <m:sSub>
                      <m:sSubPr>
                        <m:ctrlPr>
                          <a:rPr lang="pt-BR" sz="2800" i="1">
                            <a:latin typeface="Cambria Math"/>
                          </a:rPr>
                        </m:ctrlPr>
                      </m:sSubPr>
                      <m:e>
                        <m:r>
                          <a:rPr lang="cy-GB" sz="2800" i="1">
                            <a:latin typeface="Cambria Math"/>
                          </a:rPr>
                          <m:t>ŷ</m:t>
                        </m:r>
                      </m:e>
                      <m:sub>
                        <m:r>
                          <a:rPr lang="en-IN" sz="2800" i="1">
                            <a:latin typeface="Cambria Math"/>
                          </a:rPr>
                          <m:t>𝑖</m:t>
                        </m:r>
                      </m:sub>
                    </m:sSub>
                  </m:oMath>
                </a14:m>
                <a:r>
                  <a:rPr lang="en-IN" sz="2800" dirty="0" smtClean="0"/>
                  <a:t> </a:t>
                </a:r>
                <a:r>
                  <a:rPr lang="en-IN" sz="2800" dirty="0"/>
                  <a:t>is the fitted value for observation </a:t>
                </a:r>
                <a:r>
                  <a:rPr lang="en-IN" sz="2800" i="1" dirty="0" err="1"/>
                  <a:t>i</a:t>
                </a:r>
                <a:r>
                  <a:rPr lang="en-IN" sz="2800" dirty="0"/>
                  <a:t> </a:t>
                </a:r>
                <a:r>
                  <a:rPr lang="en-IN" sz="2800" dirty="0" smtClean="0"/>
                  <a:t>and </a:t>
                </a:r>
                <a14:m>
                  <m:oMath xmlns:m="http://schemas.openxmlformats.org/officeDocument/2006/math">
                    <m:acc>
                      <m:accPr>
                        <m:chr m:val="̅"/>
                        <m:ctrlPr>
                          <a:rPr lang="en-IN" sz="2800" i="1" dirty="0">
                            <a:latin typeface="Cambria Math"/>
                            <a:ea typeface="Cambria Math"/>
                          </a:rPr>
                        </m:ctrlPr>
                      </m:accPr>
                      <m:e>
                        <m:r>
                          <a:rPr lang="en-IN" sz="2800" i="1" dirty="0">
                            <a:latin typeface="Cambria Math"/>
                            <a:ea typeface="Cambria Math"/>
                          </a:rPr>
                          <m:t>𝑦</m:t>
                        </m:r>
                      </m:e>
                    </m:acc>
                  </m:oMath>
                </a14:m>
                <a:r>
                  <a:rPr lang="en-IN" sz="2800" dirty="0" smtClean="0"/>
                  <a:t> is the mean of Y. </a:t>
                </a:r>
              </a:p>
              <a:p>
                <a:endParaRPr lang="en-IN" sz="2800" dirty="0"/>
              </a:p>
              <a:p>
                <a:r>
                  <a:rPr lang="en-IN" sz="2800" i="1" dirty="0"/>
                  <a:t>We don’t necessarily discard a model based on a low R-Squared value. Its a better practice to look at the AIC and prediction accuracy on validation sample when deciding on the efficacy of a model.</a:t>
                </a:r>
                <a:endParaRPr lang="en-IN" sz="2800" i="1" dirty="0" smtClean="0"/>
              </a:p>
              <a:p>
                <a:endParaRPr lang="en-IN" sz="2800" dirty="0"/>
              </a:p>
              <a:p>
                <a:endParaRPr lang="en-IN"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2156" r="-1481"/>
                </a:stretch>
              </a:blipFill>
            </p:spPr>
            <p:txBody>
              <a:bodyPr/>
              <a:lstStyle/>
              <a:p>
                <a:r>
                  <a:rPr lang="en-IN">
                    <a:noFill/>
                  </a:rPr>
                  <a:t> </a:t>
                </a:r>
              </a:p>
            </p:txBody>
          </p:sp>
        </mc:Fallback>
      </mc:AlternateContent>
    </p:spTree>
    <p:extLst>
      <p:ext uri="{BB962C8B-B14F-4D97-AF65-F5344CB8AC3E}">
        <p14:creationId xmlns:p14="http://schemas.microsoft.com/office/powerpoint/2010/main" val="114620176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Adjusted </a:t>
            </a:r>
            <a:r>
              <a:rPr lang="en-IN" b="1" dirty="0"/>
              <a:t>R-Squared</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67544" y="1600200"/>
                <a:ext cx="8229600" cy="4525963"/>
              </a:xfrm>
            </p:spPr>
            <p:txBody>
              <a:bodyPr>
                <a:normAutofit fontScale="70000" lnSpcReduction="20000"/>
              </a:bodyPr>
              <a:lstStyle/>
              <a:p>
                <a:r>
                  <a:rPr lang="en-IN" dirty="0" smtClean="0"/>
                  <a:t>the R-Squared value of the new bigger model will always be greater than that of the smaller subset. This is because, since all the variables in the original model is also present, their contribution to explain the dependent variable will be present in the super-set as well, therefore, whatever new variable we add can only add (if not significantly) to the variation</a:t>
                </a:r>
              </a:p>
              <a:p>
                <a:r>
                  <a:rPr lang="en-IN" dirty="0" err="1"/>
                  <a:t>Adj</a:t>
                </a:r>
                <a:r>
                  <a:rPr lang="en-IN" dirty="0"/>
                  <a:t> R-Squared penalizes total value for the number of terms (read predictors) in your model. Therefore when comparing nested models, it is a good practice to look at </a:t>
                </a:r>
                <a:r>
                  <a:rPr lang="en-IN" dirty="0" err="1"/>
                  <a:t>adj</a:t>
                </a:r>
                <a:r>
                  <a:rPr lang="en-IN" dirty="0"/>
                  <a:t>-R-squared value over R-squared</a:t>
                </a:r>
                <a:r>
                  <a:rPr lang="en-IN" dirty="0" smtClean="0"/>
                  <a:t>.</a:t>
                </a:r>
              </a:p>
              <a:p>
                <a:pPr marL="0" indent="0">
                  <a:buNone/>
                </a:pPr>
                <a14:m>
                  <m:oMathPara xmlns:m="http://schemas.openxmlformats.org/officeDocument/2006/math">
                    <m:oMathParaPr>
                      <m:jc m:val="centerGroup"/>
                    </m:oMathParaPr>
                    <m:oMath xmlns:m="http://schemas.openxmlformats.org/officeDocument/2006/math">
                      <m:sSubSup>
                        <m:sSubSupPr>
                          <m:ctrlPr>
                            <a:rPr lang="en-IN" i="1" dirty="0" smtClean="0">
                              <a:latin typeface="Cambria Math"/>
                            </a:rPr>
                          </m:ctrlPr>
                        </m:sSubSupPr>
                        <m:e>
                          <m:sSubSup>
                            <m:sSubSupPr>
                              <m:ctrlPr>
                                <a:rPr lang="en-IN" i="1" dirty="0">
                                  <a:latin typeface="Cambria Math"/>
                                </a:rPr>
                              </m:ctrlPr>
                            </m:sSubSupPr>
                            <m:e>
                              <m:r>
                                <a:rPr lang="en-IN" i="1" dirty="0">
                                  <a:latin typeface="Cambria Math"/>
                                </a:rPr>
                                <m:t>𝑅</m:t>
                              </m:r>
                            </m:e>
                            <m:sub/>
                            <m:sup>
                              <m:r>
                                <a:rPr lang="en-IN" i="1" dirty="0">
                                  <a:latin typeface="Cambria Math"/>
                                </a:rPr>
                                <m:t>2</m:t>
                              </m:r>
                            </m:sup>
                          </m:sSubSup>
                        </m:e>
                        <m:sub>
                          <m:r>
                            <a:rPr lang="en-IN" b="0" i="1" dirty="0" smtClean="0">
                              <a:latin typeface="Cambria Math"/>
                            </a:rPr>
                            <m:t>𝑎𝑑𝑗</m:t>
                          </m:r>
                        </m:sub>
                        <m:sup/>
                      </m:sSubSup>
                      <m:r>
                        <a:rPr lang="en-IN" i="1" dirty="0">
                          <a:latin typeface="Cambria Math"/>
                        </a:rPr>
                        <m:t>=1−</m:t>
                      </m:r>
                      <m:f>
                        <m:fPr>
                          <m:ctrlPr>
                            <a:rPr lang="en-IN" i="1">
                              <a:latin typeface="Cambria Math"/>
                            </a:rPr>
                          </m:ctrlPr>
                        </m:fPr>
                        <m:num>
                          <m:r>
                            <a:rPr lang="en-IN" b="0" i="1" smtClean="0">
                              <a:latin typeface="Cambria Math"/>
                            </a:rPr>
                            <m:t>𝑀</m:t>
                          </m:r>
                          <m:r>
                            <a:rPr lang="en-IN" i="1">
                              <a:latin typeface="Cambria Math"/>
                            </a:rPr>
                            <m:t>𝑆𝐸</m:t>
                          </m:r>
                        </m:num>
                        <m:den>
                          <m:r>
                            <a:rPr lang="en-IN" b="0" i="1" smtClean="0">
                              <a:latin typeface="Cambria Math"/>
                            </a:rPr>
                            <m:t>𝑀</m:t>
                          </m:r>
                          <m:r>
                            <a:rPr lang="en-IN" i="1">
                              <a:latin typeface="Cambria Math"/>
                            </a:rPr>
                            <m:t>𝑆𝑇</m:t>
                          </m:r>
                        </m:den>
                      </m:f>
                    </m:oMath>
                  </m:oMathPara>
                </a14:m>
                <a:endParaRPr lang="en-IN" dirty="0"/>
              </a:p>
              <a:p>
                <a:r>
                  <a:rPr lang="en-IN" i="1" dirty="0"/>
                  <a:t>MSE</a:t>
                </a:r>
                <a:r>
                  <a:rPr lang="en-IN" dirty="0"/>
                  <a:t> is the </a:t>
                </a:r>
                <a:r>
                  <a:rPr lang="en-IN" i="1" dirty="0"/>
                  <a:t>mean squared error</a:t>
                </a:r>
                <a:r>
                  <a:rPr lang="en-IN" dirty="0"/>
                  <a:t> given by</a:t>
                </a:r>
                <a14:m>
                  <m:oMath xmlns:m="http://schemas.openxmlformats.org/officeDocument/2006/math">
                    <m:r>
                      <a:rPr lang="en-IN" i="1" dirty="0" smtClean="0">
                        <a:latin typeface="Cambria Math"/>
                      </a:rPr>
                      <m:t> </m:t>
                    </m:r>
                    <m:r>
                      <a:rPr lang="en-IN" i="1" dirty="0">
                        <a:latin typeface="Cambria Math"/>
                      </a:rPr>
                      <m:t>𝑀𝑆𝐸</m:t>
                    </m:r>
                    <m:r>
                      <a:rPr lang="en-IN" i="1" dirty="0">
                        <a:latin typeface="Cambria Math"/>
                      </a:rPr>
                      <m:t>=</m:t>
                    </m:r>
                    <m:f>
                      <m:fPr>
                        <m:ctrlPr>
                          <a:rPr lang="en-IN" i="1" dirty="0">
                            <a:latin typeface="Cambria Math"/>
                          </a:rPr>
                        </m:ctrlPr>
                      </m:fPr>
                      <m:num>
                        <m:r>
                          <a:rPr lang="en-IN" i="1" dirty="0">
                            <a:latin typeface="Cambria Math"/>
                          </a:rPr>
                          <m:t>𝑆𝑆𝐸</m:t>
                        </m:r>
                      </m:num>
                      <m:den>
                        <m:r>
                          <a:rPr lang="en-IN" i="1" dirty="0">
                            <a:latin typeface="Cambria Math"/>
                          </a:rPr>
                          <m:t>(</m:t>
                        </m:r>
                        <m:r>
                          <a:rPr lang="en-IN" i="1" dirty="0">
                            <a:latin typeface="Cambria Math"/>
                          </a:rPr>
                          <m:t>𝑛</m:t>
                        </m:r>
                        <m:r>
                          <a:rPr lang="en-IN" i="1" dirty="0">
                            <a:latin typeface="Cambria Math"/>
                          </a:rPr>
                          <m:t>−</m:t>
                        </m:r>
                        <m:r>
                          <a:rPr lang="en-IN" i="1" dirty="0">
                            <a:latin typeface="Cambria Math"/>
                          </a:rPr>
                          <m:t>𝑞</m:t>
                        </m:r>
                        <m:r>
                          <a:rPr lang="en-IN" i="1" dirty="0">
                            <a:latin typeface="Cambria Math"/>
                          </a:rPr>
                          <m:t>)</m:t>
                        </m:r>
                      </m:den>
                    </m:f>
                    <m:r>
                      <a:rPr lang="en-IN" i="1" dirty="0" smtClean="0">
                        <a:latin typeface="Cambria Math"/>
                      </a:rPr>
                      <m:t> </m:t>
                    </m:r>
                  </m:oMath>
                </a14:m>
                <a:r>
                  <a:rPr lang="en-IN" dirty="0" smtClean="0"/>
                  <a:t>and </a:t>
                </a:r>
                <a14:m>
                  <m:oMath xmlns:m="http://schemas.openxmlformats.org/officeDocument/2006/math">
                    <m:r>
                      <a:rPr lang="en-IN" i="1" dirty="0">
                        <a:latin typeface="Cambria Math"/>
                      </a:rPr>
                      <m:t>𝑀𝑆</m:t>
                    </m:r>
                    <m:r>
                      <a:rPr lang="en-IN" b="0" i="1" dirty="0" smtClean="0">
                        <a:latin typeface="Cambria Math"/>
                      </a:rPr>
                      <m:t>𝑇</m:t>
                    </m:r>
                    <m:r>
                      <a:rPr lang="en-IN" i="1" dirty="0">
                        <a:latin typeface="Cambria Math"/>
                      </a:rPr>
                      <m:t>=</m:t>
                    </m:r>
                    <m:f>
                      <m:fPr>
                        <m:ctrlPr>
                          <a:rPr lang="en-IN" i="1" dirty="0">
                            <a:latin typeface="Cambria Math"/>
                          </a:rPr>
                        </m:ctrlPr>
                      </m:fPr>
                      <m:num>
                        <m:r>
                          <a:rPr lang="en-IN" i="1" dirty="0">
                            <a:latin typeface="Cambria Math"/>
                          </a:rPr>
                          <m:t>𝑆𝑆</m:t>
                        </m:r>
                        <m:r>
                          <a:rPr lang="en-IN" b="0" i="1" dirty="0" smtClean="0">
                            <a:latin typeface="Cambria Math"/>
                          </a:rPr>
                          <m:t>𝑇</m:t>
                        </m:r>
                      </m:num>
                      <m:den>
                        <m:r>
                          <a:rPr lang="en-IN" i="1" dirty="0">
                            <a:latin typeface="Cambria Math"/>
                          </a:rPr>
                          <m:t>(</m:t>
                        </m:r>
                        <m:r>
                          <a:rPr lang="en-IN" i="1" dirty="0">
                            <a:latin typeface="Cambria Math"/>
                          </a:rPr>
                          <m:t>𝑛</m:t>
                        </m:r>
                        <m:r>
                          <a:rPr lang="en-IN" i="1" dirty="0">
                            <a:latin typeface="Cambria Math"/>
                          </a:rPr>
                          <m:t>−1)</m:t>
                        </m:r>
                      </m:den>
                    </m:f>
                    <m:r>
                      <a:rPr lang="en-IN" i="1" dirty="0">
                        <a:latin typeface="Cambria Math"/>
                      </a:rPr>
                      <m:t> </m:t>
                    </m:r>
                  </m:oMath>
                </a14:m>
                <a:r>
                  <a:rPr lang="en-IN" dirty="0" smtClean="0"/>
                  <a:t>is </a:t>
                </a:r>
                <a:r>
                  <a:rPr lang="en-IN" dirty="0"/>
                  <a:t>the </a:t>
                </a:r>
                <a:r>
                  <a:rPr lang="en-IN" i="1" dirty="0"/>
                  <a:t>mean squared total</a:t>
                </a:r>
                <a:r>
                  <a:rPr lang="en-IN" dirty="0"/>
                  <a:t>, where </a:t>
                </a:r>
                <a:r>
                  <a:rPr lang="en-IN" i="1" dirty="0"/>
                  <a:t>n</a:t>
                </a:r>
                <a:r>
                  <a:rPr lang="en-IN" dirty="0"/>
                  <a:t> is the number of observations and </a:t>
                </a:r>
                <a:r>
                  <a:rPr lang="en-IN" i="1" dirty="0"/>
                  <a:t>q</a:t>
                </a:r>
                <a:r>
                  <a:rPr lang="en-IN" dirty="0"/>
                  <a:t> is the number of coefficients in the model</a:t>
                </a:r>
                <a:r>
                  <a:rPr lang="en-IN" dirty="0" smtClean="0"/>
                  <a:t>.</a:t>
                </a:r>
              </a:p>
              <a:p>
                <a:r>
                  <a:rPr lang="en-IN" dirty="0"/>
                  <a:t>the relationship </a:t>
                </a:r>
                <a:r>
                  <a:rPr lang="en-IN" dirty="0" smtClean="0"/>
                  <a:t>between</a:t>
                </a:r>
                <a14:m>
                  <m:oMath xmlns:m="http://schemas.openxmlformats.org/officeDocument/2006/math">
                    <m:sSubSup>
                      <m:sSubSupPr>
                        <m:ctrlPr>
                          <a:rPr lang="en-IN" i="1" dirty="0">
                            <a:latin typeface="Cambria Math"/>
                          </a:rPr>
                        </m:ctrlPr>
                      </m:sSubSupPr>
                      <m:e>
                        <m:r>
                          <a:rPr lang="en-IN" i="1" dirty="0">
                            <a:latin typeface="Cambria Math"/>
                          </a:rPr>
                          <m:t>𝑅</m:t>
                        </m:r>
                      </m:e>
                      <m:sub/>
                      <m:sup>
                        <m:r>
                          <a:rPr lang="en-IN" i="1" dirty="0">
                            <a:latin typeface="Cambria Math"/>
                          </a:rPr>
                          <m:t>2</m:t>
                        </m:r>
                      </m:sup>
                    </m:sSubSup>
                  </m:oMath>
                </a14:m>
                <a:r>
                  <a:rPr lang="en-IN" dirty="0" smtClean="0"/>
                  <a:t> and </a:t>
                </a:r>
                <a14:m>
                  <m:oMath xmlns:m="http://schemas.openxmlformats.org/officeDocument/2006/math">
                    <m:sSubSup>
                      <m:sSubSupPr>
                        <m:ctrlPr>
                          <a:rPr lang="en-IN" i="1" dirty="0">
                            <a:latin typeface="Cambria Math"/>
                          </a:rPr>
                        </m:ctrlPr>
                      </m:sSubSupPr>
                      <m:e>
                        <m:sSubSup>
                          <m:sSubSupPr>
                            <m:ctrlPr>
                              <a:rPr lang="en-IN" i="1" dirty="0">
                                <a:latin typeface="Cambria Math"/>
                              </a:rPr>
                            </m:ctrlPr>
                          </m:sSubSupPr>
                          <m:e>
                            <m:r>
                              <a:rPr lang="en-IN" i="1" dirty="0">
                                <a:latin typeface="Cambria Math"/>
                              </a:rPr>
                              <m:t>𝑅</m:t>
                            </m:r>
                          </m:e>
                          <m:sub/>
                          <m:sup>
                            <m:r>
                              <a:rPr lang="en-IN" i="1" dirty="0">
                                <a:latin typeface="Cambria Math"/>
                              </a:rPr>
                              <m:t>2</m:t>
                            </m:r>
                          </m:sup>
                        </m:sSubSup>
                      </m:e>
                      <m:sub>
                        <m:r>
                          <a:rPr lang="en-IN" i="1" dirty="0">
                            <a:latin typeface="Cambria Math"/>
                          </a:rPr>
                          <m:t>𝑎𝑑𝑗</m:t>
                        </m:r>
                      </m:sub>
                      <m:sup/>
                    </m:sSubSup>
                  </m:oMath>
                </a14:m>
                <a:endParaRPr lang="en-IN" dirty="0" smtClean="0"/>
              </a:p>
              <a:p>
                <a:pPr marL="0" indent="0" algn="ctr">
                  <a:buNone/>
                </a:pPr>
                <a:r>
                  <a:rPr lang="en-IN" dirty="0"/>
                  <a:t> </a:t>
                </a:r>
                <a14:m>
                  <m:oMath xmlns:m="http://schemas.openxmlformats.org/officeDocument/2006/math">
                    <m:sSubSup>
                      <m:sSubSupPr>
                        <m:ctrlPr>
                          <a:rPr lang="en-IN" i="1" dirty="0">
                            <a:latin typeface="Cambria Math"/>
                          </a:rPr>
                        </m:ctrlPr>
                      </m:sSubSupPr>
                      <m:e>
                        <m:sSubSup>
                          <m:sSubSupPr>
                            <m:ctrlPr>
                              <a:rPr lang="en-IN" i="1" dirty="0">
                                <a:latin typeface="Cambria Math"/>
                              </a:rPr>
                            </m:ctrlPr>
                          </m:sSubSupPr>
                          <m:e>
                            <m:r>
                              <a:rPr lang="en-IN" i="1" dirty="0">
                                <a:latin typeface="Cambria Math"/>
                              </a:rPr>
                              <m:t>𝑅</m:t>
                            </m:r>
                          </m:e>
                          <m:sub/>
                          <m:sup>
                            <m:r>
                              <a:rPr lang="en-IN" i="1" dirty="0">
                                <a:latin typeface="Cambria Math"/>
                              </a:rPr>
                              <m:t>2</m:t>
                            </m:r>
                          </m:sup>
                        </m:sSubSup>
                      </m:e>
                      <m:sub>
                        <m:r>
                          <a:rPr lang="en-IN" i="1" dirty="0">
                            <a:latin typeface="Cambria Math"/>
                          </a:rPr>
                          <m:t>𝑎𝑑𝑗</m:t>
                        </m:r>
                      </m:sub>
                      <m:sup/>
                    </m:sSubSup>
                    <m:r>
                      <a:rPr lang="en-IN" b="0" i="1" dirty="0" smtClean="0">
                        <a:latin typeface="Cambria Math"/>
                      </a:rPr>
                      <m:t>=1−</m:t>
                    </m:r>
                    <m:d>
                      <m:dPr>
                        <m:ctrlPr>
                          <a:rPr lang="en-IN" b="0" i="1" dirty="0" smtClean="0">
                            <a:latin typeface="Cambria Math"/>
                          </a:rPr>
                        </m:ctrlPr>
                      </m:dPr>
                      <m:e>
                        <m:f>
                          <m:fPr>
                            <m:ctrlPr>
                              <a:rPr lang="en-IN" i="1" dirty="0">
                                <a:latin typeface="Cambria Math"/>
                              </a:rPr>
                            </m:ctrlPr>
                          </m:fPr>
                          <m:num>
                            <m:r>
                              <a:rPr lang="en-IN" b="0" i="1" dirty="0" smtClean="0">
                                <a:latin typeface="Cambria Math"/>
                              </a:rPr>
                              <m:t>(1−</m:t>
                            </m:r>
                            <m:sSubSup>
                              <m:sSubSupPr>
                                <m:ctrlPr>
                                  <a:rPr lang="en-IN" i="1" dirty="0">
                                    <a:latin typeface="Cambria Math"/>
                                  </a:rPr>
                                </m:ctrlPr>
                              </m:sSubSupPr>
                              <m:e>
                                <m:r>
                                  <a:rPr lang="en-IN" i="1" dirty="0">
                                    <a:latin typeface="Cambria Math"/>
                                  </a:rPr>
                                  <m:t>𝑅</m:t>
                                </m:r>
                              </m:e>
                              <m:sub/>
                              <m:sup>
                                <m:r>
                                  <a:rPr lang="en-IN" i="1" dirty="0">
                                    <a:latin typeface="Cambria Math"/>
                                  </a:rPr>
                                  <m:t>2</m:t>
                                </m:r>
                              </m:sup>
                            </m:sSubSup>
                            <m:r>
                              <a:rPr lang="en-IN" b="0" i="1" dirty="0" smtClean="0">
                                <a:latin typeface="Cambria Math"/>
                              </a:rPr>
                              <m:t>)(</m:t>
                            </m:r>
                            <m:r>
                              <a:rPr lang="en-IN" b="0" i="1" dirty="0" smtClean="0">
                                <a:latin typeface="Cambria Math"/>
                              </a:rPr>
                              <m:t>𝑛</m:t>
                            </m:r>
                            <m:r>
                              <a:rPr lang="en-IN" b="0" i="1" dirty="0" smtClean="0">
                                <a:latin typeface="Cambria Math"/>
                              </a:rPr>
                              <m:t>−1)</m:t>
                            </m:r>
                          </m:num>
                          <m:den>
                            <m:r>
                              <a:rPr lang="en-IN" b="0" i="1" dirty="0" smtClean="0">
                                <a:latin typeface="Cambria Math"/>
                              </a:rPr>
                              <m:t>(</m:t>
                            </m:r>
                            <m:r>
                              <a:rPr lang="en-IN" b="0" i="1" dirty="0" smtClean="0">
                                <a:latin typeface="Cambria Math"/>
                              </a:rPr>
                              <m:t>𝑛</m:t>
                            </m:r>
                            <m:r>
                              <a:rPr lang="en-IN" b="0" i="1" dirty="0" smtClean="0">
                                <a:latin typeface="Cambria Math"/>
                              </a:rPr>
                              <m:t>−</m:t>
                            </m:r>
                            <m:r>
                              <a:rPr lang="en-IN" b="0" i="1" dirty="0" smtClean="0">
                                <a:latin typeface="Cambria Math"/>
                              </a:rPr>
                              <m:t>𝑞</m:t>
                            </m:r>
                            <m:r>
                              <a:rPr lang="en-IN" b="0" i="1" dirty="0" smtClean="0">
                                <a:latin typeface="Cambria Math"/>
                              </a:rPr>
                              <m:t>)</m:t>
                            </m:r>
                          </m:den>
                        </m:f>
                      </m:e>
                    </m:d>
                  </m:oMath>
                </a14:m>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67544" y="1600200"/>
                <a:ext cx="8229600" cy="4525963"/>
              </a:xfrm>
              <a:blipFill rotWithShape="1">
                <a:blip r:embed="rId2"/>
                <a:stretch>
                  <a:fillRect l="-519" t="-1752" r="-889"/>
                </a:stretch>
              </a:blipFill>
            </p:spPr>
            <p:txBody>
              <a:bodyPr/>
              <a:lstStyle/>
              <a:p>
                <a:r>
                  <a:rPr lang="en-IN">
                    <a:noFill/>
                  </a:rPr>
                  <a:t> </a:t>
                </a:r>
              </a:p>
            </p:txBody>
          </p:sp>
        </mc:Fallback>
      </mc:AlternateContent>
    </p:spTree>
    <p:extLst>
      <p:ext uri="{BB962C8B-B14F-4D97-AF65-F5344CB8AC3E}">
        <p14:creationId xmlns:p14="http://schemas.microsoft.com/office/powerpoint/2010/main" val="107911539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Standard Error and </a:t>
            </a:r>
            <a:r>
              <a:rPr lang="en-IN" b="1" dirty="0" smtClean="0"/>
              <a:t>F-Statistic</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IN" dirty="0" smtClean="0"/>
                  <a:t>Both standard errors and F-statistic are measures of goodness of fit.</a:t>
                </a:r>
              </a:p>
              <a:p>
                <a:pPr marL="0" indent="0">
                  <a:buNone/>
                </a:pPr>
                <a14:m>
                  <m:oMathPara xmlns:m="http://schemas.openxmlformats.org/officeDocument/2006/math">
                    <m:oMathParaPr>
                      <m:jc m:val="centerGroup"/>
                    </m:oMathParaPr>
                    <m:oMath xmlns:m="http://schemas.openxmlformats.org/officeDocument/2006/math">
                      <m:r>
                        <a:rPr lang="en-IN" i="1">
                          <a:latin typeface="Cambria Math"/>
                        </a:rPr>
                        <m:t>𝑆𝑡𝑑</m:t>
                      </m:r>
                      <m:r>
                        <a:rPr lang="en-IN" i="1">
                          <a:latin typeface="Cambria Math"/>
                        </a:rPr>
                        <m:t>.</m:t>
                      </m:r>
                      <m:r>
                        <a:rPr lang="en-IN" i="1">
                          <a:latin typeface="Cambria Math"/>
                        </a:rPr>
                        <m:t>𝐸𝑟𝑟𝑜𝑟</m:t>
                      </m:r>
                      <m:r>
                        <a:rPr lang="en-IN" b="0" i="1" smtClean="0">
                          <a:latin typeface="Cambria Math"/>
                        </a:rPr>
                        <m:t>=</m:t>
                      </m:r>
                      <m:rad>
                        <m:radPr>
                          <m:degHide m:val="on"/>
                          <m:ctrlPr>
                            <a:rPr lang="en-IN" i="1" smtClean="0">
                              <a:latin typeface="Cambria Math"/>
                            </a:rPr>
                          </m:ctrlPr>
                        </m:radPr>
                        <m:deg/>
                        <m:e>
                          <m:r>
                            <a:rPr lang="en-IN" b="0" i="1" smtClean="0">
                              <a:latin typeface="Cambria Math"/>
                            </a:rPr>
                            <m:t>𝑀𝑆𝐸</m:t>
                          </m:r>
                        </m:e>
                      </m:rad>
                      <m:r>
                        <a:rPr lang="en-IN" b="0" i="1" smtClean="0">
                          <a:latin typeface="Cambria Math"/>
                        </a:rPr>
                        <m:t>=</m:t>
                      </m:r>
                      <m:rad>
                        <m:radPr>
                          <m:degHide m:val="on"/>
                          <m:ctrlPr>
                            <a:rPr lang="en-IN" i="1" smtClean="0">
                              <a:latin typeface="Cambria Math"/>
                            </a:rPr>
                          </m:ctrlPr>
                        </m:radPr>
                        <m:deg/>
                        <m:e>
                          <m:f>
                            <m:fPr>
                              <m:ctrlPr>
                                <a:rPr lang="en-IN" i="1">
                                  <a:latin typeface="Cambria Math"/>
                                </a:rPr>
                              </m:ctrlPr>
                            </m:fPr>
                            <m:num>
                              <m:r>
                                <a:rPr lang="en-IN" b="0" i="1" smtClean="0">
                                  <a:latin typeface="Cambria Math"/>
                                </a:rPr>
                                <m:t>𝑆𝑆𝐸</m:t>
                              </m:r>
                            </m:num>
                            <m:den>
                              <m:r>
                                <a:rPr lang="en-IN" b="0" i="1" smtClean="0">
                                  <a:latin typeface="Cambria Math"/>
                                </a:rPr>
                                <m:t>𝑛</m:t>
                              </m:r>
                              <m:r>
                                <a:rPr lang="en-IN" b="0" i="1" smtClean="0">
                                  <a:latin typeface="Cambria Math"/>
                                </a:rPr>
                                <m:t>−</m:t>
                              </m:r>
                              <m:r>
                                <a:rPr lang="en-IN" b="0" i="1" smtClean="0">
                                  <a:latin typeface="Cambria Math"/>
                                </a:rPr>
                                <m:t>𝑞</m:t>
                              </m:r>
                            </m:den>
                          </m:f>
                        </m:e>
                      </m:rad>
                    </m:oMath>
                  </m:oMathPara>
                </a14:m>
                <a:endParaRPr lang="en-IN" dirty="0" smtClean="0"/>
              </a:p>
              <a:p>
                <a:pPr marL="0" indent="0">
                  <a:buNone/>
                </a:pPr>
                <a14:m>
                  <m:oMathPara xmlns:m="http://schemas.openxmlformats.org/officeDocument/2006/math">
                    <m:oMathParaPr>
                      <m:jc m:val="centerGroup"/>
                    </m:oMathParaPr>
                    <m:oMath xmlns:m="http://schemas.openxmlformats.org/officeDocument/2006/math">
                      <m:r>
                        <a:rPr lang="en-IN" i="1">
                          <a:latin typeface="Cambria Math"/>
                        </a:rPr>
                        <m:t>𝐹</m:t>
                      </m:r>
                      <m:r>
                        <a:rPr lang="en-IN" i="1">
                          <a:latin typeface="Cambria Math"/>
                        </a:rPr>
                        <m:t>−</m:t>
                      </m:r>
                      <m:r>
                        <a:rPr lang="en-IN" i="1">
                          <a:latin typeface="Cambria Math"/>
                        </a:rPr>
                        <m:t>𝑠𝑡𝑎𝑡𝑖𝑠𝑡𝑖𝑐</m:t>
                      </m:r>
                      <m:r>
                        <a:rPr lang="en-IN" b="0" i="1" smtClean="0">
                          <a:latin typeface="Cambria Math"/>
                        </a:rPr>
                        <m:t>=</m:t>
                      </m:r>
                      <m:f>
                        <m:fPr>
                          <m:ctrlPr>
                            <a:rPr lang="en-IN" i="1" smtClean="0">
                              <a:latin typeface="Cambria Math"/>
                            </a:rPr>
                          </m:ctrlPr>
                        </m:fPr>
                        <m:num>
                          <m:r>
                            <a:rPr lang="en-IN" b="0" i="1" smtClean="0">
                              <a:latin typeface="Cambria Math"/>
                            </a:rPr>
                            <m:t>𝑀𝑆𝑅</m:t>
                          </m:r>
                        </m:num>
                        <m:den>
                          <m:r>
                            <a:rPr lang="en-IN" b="0" i="1" smtClean="0">
                              <a:latin typeface="Cambria Math"/>
                            </a:rPr>
                            <m:t>𝑀𝑆𝐸</m:t>
                          </m:r>
                        </m:den>
                      </m:f>
                    </m:oMath>
                  </m:oMathPara>
                </a14:m>
                <a:endParaRPr lang="en-IN" dirty="0" smtClean="0"/>
              </a:p>
              <a:p>
                <a:pPr marL="0" indent="0">
                  <a:buNone/>
                </a:pPr>
                <a:r>
                  <a:rPr lang="en-IN" dirty="0"/>
                  <a:t>where, n is the number of observations, q is the number of coefficients and MSR is the mean square regression, calculated as</a:t>
                </a:r>
                <a:r>
                  <a:rPr lang="en-IN" dirty="0" smtClean="0"/>
                  <a:t>,</a:t>
                </a:r>
              </a:p>
              <a:p>
                <a:pPr marL="0" indent="0">
                  <a:buNone/>
                </a:pPr>
                <a14:m>
                  <m:oMathPara xmlns:m="http://schemas.openxmlformats.org/officeDocument/2006/math">
                    <m:oMathParaPr>
                      <m:jc m:val="centerGroup"/>
                    </m:oMathParaPr>
                    <m:oMath xmlns:m="http://schemas.openxmlformats.org/officeDocument/2006/math">
                      <m:r>
                        <a:rPr lang="en-IN" b="0" i="1" smtClean="0">
                          <a:latin typeface="Cambria Math"/>
                        </a:rPr>
                        <m:t>𝑀𝑆𝑅</m:t>
                      </m:r>
                      <m:r>
                        <a:rPr lang="en-IN" b="0" i="1" smtClean="0">
                          <a:latin typeface="Cambria Math"/>
                        </a:rPr>
                        <m:t>=</m:t>
                      </m:r>
                      <m:f>
                        <m:fPr>
                          <m:ctrlPr>
                            <a:rPr lang="en-IN" b="0" i="1" smtClean="0">
                              <a:latin typeface="Cambria Math"/>
                            </a:rPr>
                          </m:ctrlPr>
                        </m:fPr>
                        <m:num>
                          <m:nary>
                            <m:naryPr>
                              <m:chr m:val="∑"/>
                              <m:ctrlPr>
                                <a:rPr lang="pt-BR" i="1">
                                  <a:latin typeface="Cambria Math"/>
                                </a:rPr>
                              </m:ctrlPr>
                            </m:naryPr>
                            <m:sub>
                              <m:r>
                                <a:rPr lang="en-IN" i="1">
                                  <a:latin typeface="Cambria Math"/>
                                </a:rPr>
                                <m:t>𝑖</m:t>
                              </m:r>
                            </m:sub>
                            <m:sup>
                              <m:r>
                                <a:rPr lang="pt-BR" i="1">
                                  <a:latin typeface="Cambria Math"/>
                                </a:rPr>
                                <m:t>𝑛</m:t>
                              </m:r>
                            </m:sup>
                            <m:e>
                              <m:d>
                                <m:dPr>
                                  <m:ctrlPr>
                                    <a:rPr lang="pt-BR" i="1">
                                      <a:latin typeface="Cambria Math"/>
                                    </a:rPr>
                                  </m:ctrlPr>
                                </m:dPr>
                                <m:e>
                                  <m:sSub>
                                    <m:sSubPr>
                                      <m:ctrlPr>
                                        <a:rPr lang="pt-BR" i="1">
                                          <a:latin typeface="Cambria Math"/>
                                        </a:rPr>
                                      </m:ctrlPr>
                                    </m:sSubPr>
                                    <m:e>
                                      <m:r>
                                        <a:rPr lang="en-IN" i="1">
                                          <a:latin typeface="Cambria Math"/>
                                        </a:rPr>
                                        <m:t>𝑦</m:t>
                                      </m:r>
                                    </m:e>
                                    <m:sub>
                                      <m:r>
                                        <a:rPr lang="en-IN" i="1">
                                          <a:latin typeface="Cambria Math"/>
                                        </a:rPr>
                                        <m:t>𝑖</m:t>
                                      </m:r>
                                    </m:sub>
                                  </m:sSub>
                                  <m:r>
                                    <a:rPr lang="en-IN" i="1">
                                      <a:latin typeface="Cambria Math"/>
                                    </a:rPr>
                                    <m:t>−</m:t>
                                  </m:r>
                                  <m:sSub>
                                    <m:sSubPr>
                                      <m:ctrlPr>
                                        <a:rPr lang="pt-BR" i="1">
                                          <a:latin typeface="Cambria Math"/>
                                        </a:rPr>
                                      </m:ctrlPr>
                                    </m:sSubPr>
                                    <m:e>
                                      <m:r>
                                        <a:rPr lang="cy-GB" i="1">
                                          <a:latin typeface="Cambria Math"/>
                                        </a:rPr>
                                        <m:t>ŷ</m:t>
                                      </m:r>
                                    </m:e>
                                    <m:sub>
                                      <m:r>
                                        <a:rPr lang="en-IN" i="1">
                                          <a:latin typeface="Cambria Math"/>
                                        </a:rPr>
                                        <m:t>𝑖</m:t>
                                      </m:r>
                                    </m:sub>
                                  </m:sSub>
                                </m:e>
                              </m:d>
                            </m:e>
                          </m:nary>
                        </m:num>
                        <m:den>
                          <m:r>
                            <a:rPr lang="en-IN" b="0" i="1" smtClean="0">
                              <a:latin typeface="Cambria Math"/>
                            </a:rPr>
                            <m:t>𝑞</m:t>
                          </m:r>
                          <m:r>
                            <a:rPr lang="en-IN" b="0" i="1" smtClean="0">
                              <a:latin typeface="Cambria Math"/>
                            </a:rPr>
                            <m:t>−1</m:t>
                          </m:r>
                        </m:den>
                      </m:f>
                      <m:r>
                        <a:rPr lang="en-IN" b="0" i="1" smtClean="0">
                          <a:latin typeface="Cambria Math"/>
                        </a:rPr>
                        <m:t>=</m:t>
                      </m:r>
                      <m:f>
                        <m:fPr>
                          <m:ctrlPr>
                            <a:rPr lang="en-IN" b="0" i="1" smtClean="0">
                              <a:latin typeface="Cambria Math"/>
                            </a:rPr>
                          </m:ctrlPr>
                        </m:fPr>
                        <m:num>
                          <m:r>
                            <a:rPr lang="en-IN" b="0" i="1" smtClean="0">
                              <a:latin typeface="Cambria Math"/>
                            </a:rPr>
                            <m:t>𝑆𝑆𝑇</m:t>
                          </m:r>
                          <m:r>
                            <a:rPr lang="en-IN" b="0" i="1" smtClean="0">
                              <a:latin typeface="Cambria Math"/>
                            </a:rPr>
                            <m:t>−</m:t>
                          </m:r>
                          <m:r>
                            <a:rPr lang="en-IN" b="0" i="1" smtClean="0">
                              <a:latin typeface="Cambria Math"/>
                            </a:rPr>
                            <m:t>𝑆𝑆𝐸</m:t>
                          </m:r>
                        </m:num>
                        <m:den>
                          <m:r>
                            <a:rPr lang="en-IN" b="0" i="1" smtClean="0">
                              <a:latin typeface="Cambria Math"/>
                            </a:rPr>
                            <m:t>𝑞</m:t>
                          </m:r>
                          <m:r>
                            <a:rPr lang="en-IN" b="0" i="1" smtClean="0">
                              <a:latin typeface="Cambria Math"/>
                            </a:rPr>
                            <m:t>−1</m:t>
                          </m:r>
                        </m:den>
                      </m:f>
                    </m:oMath>
                  </m:oMathPara>
                </a14:m>
                <a:endParaRPr lang="en-IN" dirty="0" smtClean="0"/>
              </a:p>
              <a:p>
                <a:pPr marL="0" indent="0">
                  <a:buNone/>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85" t="-2426"/>
                </a:stretch>
              </a:blipFill>
            </p:spPr>
            <p:txBody>
              <a:bodyPr/>
              <a:lstStyle/>
              <a:p>
                <a:r>
                  <a:rPr lang="en-IN">
                    <a:noFill/>
                  </a:rPr>
                  <a:t> </a:t>
                </a:r>
              </a:p>
            </p:txBody>
          </p:sp>
        </mc:Fallback>
      </mc:AlternateContent>
    </p:spTree>
    <p:extLst>
      <p:ext uri="{BB962C8B-B14F-4D97-AF65-F5344CB8AC3E}">
        <p14:creationId xmlns:p14="http://schemas.microsoft.com/office/powerpoint/2010/main" val="53755385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AIC and </a:t>
            </a:r>
            <a:r>
              <a:rPr lang="en-IN" b="1" dirty="0" smtClean="0"/>
              <a:t>BIC</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marL="0" indent="0">
                  <a:buNone/>
                </a:pPr>
                <a:r>
                  <a:rPr lang="en-IN" dirty="0"/>
                  <a:t>The </a:t>
                </a:r>
                <a:r>
                  <a:rPr lang="en-IN" dirty="0" err="1"/>
                  <a:t>Akaike’s</a:t>
                </a:r>
                <a:r>
                  <a:rPr lang="en-IN" dirty="0"/>
                  <a:t> information criterion - AIC (</a:t>
                </a:r>
                <a:r>
                  <a:rPr lang="en-IN" dirty="0" err="1"/>
                  <a:t>Akaike</a:t>
                </a:r>
                <a:r>
                  <a:rPr lang="en-IN" dirty="0"/>
                  <a:t>, 1974) and the Bayesian information criterion - BIC (Schwarz, 1978) are measures of the goodness of fit of an estimated statistical model and can also be used for model selection. Both criteria depend on the maximized value of the likelihood function L for the estimated </a:t>
                </a:r>
                <a:r>
                  <a:rPr lang="en-IN" dirty="0" smtClean="0"/>
                  <a:t>model.</a:t>
                </a:r>
              </a:p>
              <a:p>
                <a:pPr marL="0" indent="0">
                  <a:buNone/>
                </a:pPr>
                <a:r>
                  <a:rPr lang="en-IN" dirty="0" smtClean="0"/>
                  <a:t>The </a:t>
                </a:r>
                <a:r>
                  <a:rPr lang="en-IN" dirty="0"/>
                  <a:t>AIC is defined as:</a:t>
                </a:r>
              </a:p>
              <a:p>
                <a:pPr marL="0" indent="0">
                  <a:buNone/>
                </a:pPr>
                <a14:m>
                  <m:oMathPara xmlns:m="http://schemas.openxmlformats.org/officeDocument/2006/math">
                    <m:oMathParaPr>
                      <m:jc m:val="centerGroup"/>
                    </m:oMathParaPr>
                    <m:oMath xmlns:m="http://schemas.openxmlformats.org/officeDocument/2006/math">
                      <m:r>
                        <a:rPr lang="en-IN" i="1" dirty="0" smtClean="0">
                          <a:latin typeface="Cambria Math"/>
                        </a:rPr>
                        <m:t>𝐴𝐼𝐶</m:t>
                      </m:r>
                      <m:r>
                        <a:rPr lang="en-IN" i="1" dirty="0" smtClean="0">
                          <a:latin typeface="Cambria Math"/>
                        </a:rPr>
                        <m:t> = (−2) × </m:t>
                      </m:r>
                      <m:r>
                        <m:rPr>
                          <m:sty m:val="p"/>
                        </m:rPr>
                        <a:rPr lang="en-IN" i="1" dirty="0" smtClean="0">
                          <a:latin typeface="Cambria Math"/>
                        </a:rPr>
                        <m:t>ln</m:t>
                      </m:r>
                      <m:r>
                        <a:rPr lang="en-IN" i="1" dirty="0" smtClean="0">
                          <a:latin typeface="Cambria Math"/>
                        </a:rPr>
                        <m:t>⁡(</m:t>
                      </m:r>
                      <m:r>
                        <a:rPr lang="en-IN" i="1" dirty="0" smtClean="0">
                          <a:latin typeface="Cambria Math"/>
                        </a:rPr>
                        <m:t>𝐿</m:t>
                      </m:r>
                      <m:r>
                        <a:rPr lang="en-IN" i="1" dirty="0" smtClean="0">
                          <a:latin typeface="Cambria Math"/>
                        </a:rPr>
                        <m:t>) + (2×</m:t>
                      </m:r>
                      <m:r>
                        <a:rPr lang="en-IN" i="1" dirty="0" smtClean="0">
                          <a:latin typeface="Cambria Math"/>
                        </a:rPr>
                        <m:t>𝑘</m:t>
                      </m:r>
                      <m:r>
                        <a:rPr lang="en-IN" i="1" dirty="0" smtClean="0">
                          <a:latin typeface="Cambria Math"/>
                        </a:rPr>
                        <m:t>)</m:t>
                      </m:r>
                    </m:oMath>
                  </m:oMathPara>
                </a14:m>
                <a:endParaRPr lang="en-IN" dirty="0" smtClean="0"/>
              </a:p>
              <a:p>
                <a:pPr marL="0" indent="0">
                  <a:buNone/>
                </a:pPr>
                <a:r>
                  <a:rPr lang="en-IN" dirty="0"/>
                  <a:t>where, k is the number of model parameters and the BIC is defined as</a:t>
                </a:r>
                <a:r>
                  <a:rPr lang="en-IN" dirty="0" smtClean="0"/>
                  <a:t>:</a:t>
                </a:r>
              </a:p>
              <a:p>
                <a:pPr marL="0" indent="0">
                  <a:buNone/>
                </a:pPr>
                <a14:m>
                  <m:oMathPara xmlns:m="http://schemas.openxmlformats.org/officeDocument/2006/math">
                    <m:oMathParaPr>
                      <m:jc m:val="centerGroup"/>
                    </m:oMathParaPr>
                    <m:oMath xmlns:m="http://schemas.openxmlformats.org/officeDocument/2006/math">
                      <m:r>
                        <a:rPr lang="pt-BR" i="1" dirty="0" smtClean="0">
                          <a:latin typeface="Cambria Math"/>
                        </a:rPr>
                        <m:t>𝐵𝐼𝐶</m:t>
                      </m:r>
                      <m:r>
                        <a:rPr lang="pt-BR" i="1" dirty="0" smtClean="0">
                          <a:latin typeface="Cambria Math"/>
                        </a:rPr>
                        <m:t> = (−2) × </m:t>
                      </m:r>
                      <m:r>
                        <m:rPr>
                          <m:sty m:val="p"/>
                        </m:rPr>
                        <a:rPr lang="pt-BR" i="1" dirty="0" smtClean="0">
                          <a:latin typeface="Cambria Math"/>
                        </a:rPr>
                        <m:t>ln</m:t>
                      </m:r>
                      <m:r>
                        <a:rPr lang="pt-BR" i="1" dirty="0" smtClean="0">
                          <a:latin typeface="Cambria Math"/>
                        </a:rPr>
                        <m:t>⁡(</m:t>
                      </m:r>
                      <m:r>
                        <a:rPr lang="pt-BR" i="1" dirty="0" smtClean="0">
                          <a:latin typeface="Cambria Math"/>
                        </a:rPr>
                        <m:t>𝐿</m:t>
                      </m:r>
                      <m:r>
                        <a:rPr lang="pt-BR" i="1" dirty="0" smtClean="0">
                          <a:latin typeface="Cambria Math"/>
                        </a:rPr>
                        <m:t>) + </m:t>
                      </m:r>
                      <m:r>
                        <a:rPr lang="pt-BR" i="1" dirty="0" smtClean="0">
                          <a:latin typeface="Cambria Math"/>
                        </a:rPr>
                        <m:t>𝑘</m:t>
                      </m:r>
                      <m:r>
                        <a:rPr lang="pt-BR" i="1" dirty="0" smtClean="0">
                          <a:latin typeface="Cambria Math"/>
                        </a:rPr>
                        <m:t> × </m:t>
                      </m:r>
                      <m:r>
                        <m:rPr>
                          <m:sty m:val="p"/>
                        </m:rPr>
                        <a:rPr lang="pt-BR" i="1" dirty="0" smtClean="0">
                          <a:latin typeface="Cambria Math"/>
                        </a:rPr>
                        <m:t>ln</m:t>
                      </m:r>
                      <m:r>
                        <a:rPr lang="pt-BR" i="1" dirty="0" smtClean="0">
                          <a:latin typeface="Cambria Math"/>
                        </a:rPr>
                        <m:t>⁡(</m:t>
                      </m:r>
                      <m:r>
                        <a:rPr lang="pt-BR" i="1" dirty="0" smtClean="0">
                          <a:latin typeface="Cambria Math"/>
                        </a:rPr>
                        <m:t>𝑛</m:t>
                      </m:r>
                      <m:r>
                        <a:rPr lang="pt-BR" i="1" dirty="0" smtClean="0">
                          <a:latin typeface="Cambria Math"/>
                        </a:rPr>
                        <m:t>)</m:t>
                      </m:r>
                    </m:oMath>
                  </m:oMathPara>
                </a14:m>
                <a:endParaRPr lang="en-IN" dirty="0"/>
              </a:p>
              <a:p>
                <a:pPr marL="0" indent="0">
                  <a:buNone/>
                </a:pPr>
                <a:r>
                  <a:rPr lang="en-IN" dirty="0"/>
                  <a:t>where, n is the sample size.</a:t>
                </a:r>
              </a:p>
              <a:p>
                <a:endParaRPr lang="en-IN" dirty="0" smtClean="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333" t="-2695" r="-2074" b="-2022"/>
                </a:stretch>
              </a:blipFill>
            </p:spPr>
            <p:txBody>
              <a:bodyPr/>
              <a:lstStyle/>
              <a:p>
                <a:r>
                  <a:rPr lang="en-IN">
                    <a:noFill/>
                  </a:rPr>
                  <a:t> </a:t>
                </a:r>
              </a:p>
            </p:txBody>
          </p:sp>
        </mc:Fallback>
      </mc:AlternateContent>
    </p:spTree>
    <p:extLst>
      <p:ext uri="{BB962C8B-B14F-4D97-AF65-F5344CB8AC3E}">
        <p14:creationId xmlns:p14="http://schemas.microsoft.com/office/powerpoint/2010/main" val="332430072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For model comparison, the model with the lowest AIC and BIC score is preferred.</a:t>
            </a:r>
          </a:p>
          <a:p>
            <a:r>
              <a:rPr lang="en-IN" dirty="0"/>
              <a:t>AIC(</a:t>
            </a:r>
            <a:r>
              <a:rPr lang="en-IN" dirty="0" err="1"/>
              <a:t>linearMod</a:t>
            </a:r>
            <a:r>
              <a:rPr lang="en-IN" dirty="0"/>
              <a:t>) # AIC =&gt; 419.1569 BIC(</a:t>
            </a:r>
            <a:r>
              <a:rPr lang="en-IN" dirty="0" err="1"/>
              <a:t>linearMod</a:t>
            </a:r>
            <a:r>
              <a:rPr lang="en-IN" dirty="0"/>
              <a:t>) # BIC =&gt; 424.8929</a:t>
            </a:r>
          </a:p>
          <a:p>
            <a:endParaRPr lang="en-IN" dirty="0"/>
          </a:p>
        </p:txBody>
      </p:sp>
    </p:spTree>
    <p:extLst>
      <p:ext uri="{BB962C8B-B14F-4D97-AF65-F5344CB8AC3E}">
        <p14:creationId xmlns:p14="http://schemas.microsoft.com/office/powerpoint/2010/main" val="320796131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29600" cy="1143000"/>
          </a:xfrm>
        </p:spPr>
        <p:txBody>
          <a:bodyPr>
            <a:noAutofit/>
          </a:bodyPr>
          <a:lstStyle/>
          <a:p>
            <a:r>
              <a:rPr lang="en-IN" sz="2800" b="1" dirty="0"/>
              <a:t>How to know if the model is best fit for your data</a:t>
            </a:r>
            <a:r>
              <a:rPr lang="en-IN" sz="2800" b="1" dirty="0" smtClean="0"/>
              <a:t>?</a:t>
            </a:r>
            <a:endParaRPr lang="en-IN"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57226344"/>
              </p:ext>
            </p:extLst>
          </p:nvPr>
        </p:nvGraphicFramePr>
        <p:xfrm>
          <a:off x="806896" y="692696"/>
          <a:ext cx="8229600" cy="5257800"/>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algn="l"/>
                      <a:r>
                        <a:rPr lang="en-IN" dirty="0"/>
                        <a:t>STATISTIC</a:t>
                      </a:r>
                    </a:p>
                  </a:txBody>
                  <a:tcPr anchor="ctr"/>
                </a:tc>
                <a:tc>
                  <a:txBody>
                    <a:bodyPr/>
                    <a:lstStyle/>
                    <a:p>
                      <a:pPr algn="l"/>
                      <a:r>
                        <a:rPr lang="en-IN"/>
                        <a:t>CRITERION</a:t>
                      </a:r>
                    </a:p>
                  </a:txBody>
                  <a:tcPr anchor="ctr"/>
                </a:tc>
              </a:tr>
              <a:tr h="370840">
                <a:tc>
                  <a:txBody>
                    <a:bodyPr/>
                    <a:lstStyle/>
                    <a:p>
                      <a:pPr algn="l"/>
                      <a:r>
                        <a:rPr lang="en-IN" dirty="0"/>
                        <a:t>R-Squared</a:t>
                      </a:r>
                    </a:p>
                  </a:txBody>
                  <a:tcPr anchor="ctr"/>
                </a:tc>
                <a:tc>
                  <a:txBody>
                    <a:bodyPr/>
                    <a:lstStyle/>
                    <a:p>
                      <a:pPr algn="l"/>
                      <a:r>
                        <a:rPr lang="en-IN"/>
                        <a:t>Higher the better </a:t>
                      </a:r>
                      <a:r>
                        <a:rPr lang="en-IN" i="1"/>
                        <a:t>(&gt; 0.70)</a:t>
                      </a:r>
                      <a:endParaRPr lang="en-IN"/>
                    </a:p>
                  </a:txBody>
                  <a:tcPr anchor="ctr"/>
                </a:tc>
              </a:tr>
              <a:tr h="370840">
                <a:tc>
                  <a:txBody>
                    <a:bodyPr/>
                    <a:lstStyle/>
                    <a:p>
                      <a:pPr algn="l"/>
                      <a:r>
                        <a:rPr lang="en-IN"/>
                        <a:t>Adj R-Squared</a:t>
                      </a:r>
                    </a:p>
                  </a:txBody>
                  <a:tcPr anchor="ctr"/>
                </a:tc>
                <a:tc>
                  <a:txBody>
                    <a:bodyPr/>
                    <a:lstStyle/>
                    <a:p>
                      <a:pPr algn="l"/>
                      <a:r>
                        <a:rPr lang="en-IN"/>
                        <a:t>Higher the better</a:t>
                      </a:r>
                    </a:p>
                  </a:txBody>
                  <a:tcPr anchor="ctr"/>
                </a:tc>
              </a:tr>
              <a:tr h="370840">
                <a:tc>
                  <a:txBody>
                    <a:bodyPr/>
                    <a:lstStyle/>
                    <a:p>
                      <a:pPr algn="l"/>
                      <a:r>
                        <a:rPr lang="en-IN"/>
                        <a:t>F-Statistic</a:t>
                      </a:r>
                    </a:p>
                  </a:txBody>
                  <a:tcPr anchor="ctr"/>
                </a:tc>
                <a:tc>
                  <a:txBody>
                    <a:bodyPr/>
                    <a:lstStyle/>
                    <a:p>
                      <a:pPr algn="l"/>
                      <a:r>
                        <a:rPr lang="en-IN"/>
                        <a:t>Higher the better</a:t>
                      </a:r>
                    </a:p>
                  </a:txBody>
                  <a:tcPr anchor="ctr"/>
                </a:tc>
              </a:tr>
              <a:tr h="370840">
                <a:tc>
                  <a:txBody>
                    <a:bodyPr/>
                    <a:lstStyle/>
                    <a:p>
                      <a:pPr algn="l"/>
                      <a:r>
                        <a:rPr lang="en-IN"/>
                        <a:t>Std. Error</a:t>
                      </a:r>
                    </a:p>
                  </a:txBody>
                  <a:tcPr anchor="ctr"/>
                </a:tc>
                <a:tc>
                  <a:txBody>
                    <a:bodyPr/>
                    <a:lstStyle/>
                    <a:p>
                      <a:pPr algn="l"/>
                      <a:r>
                        <a:rPr lang="en-IN"/>
                        <a:t>Closer to zero the better</a:t>
                      </a:r>
                    </a:p>
                  </a:txBody>
                  <a:tcPr anchor="ctr"/>
                </a:tc>
              </a:tr>
              <a:tr h="370840">
                <a:tc>
                  <a:txBody>
                    <a:bodyPr/>
                    <a:lstStyle/>
                    <a:p>
                      <a:pPr algn="l"/>
                      <a:r>
                        <a:rPr lang="en-IN"/>
                        <a:t>t-statistic</a:t>
                      </a:r>
                    </a:p>
                  </a:txBody>
                  <a:tcPr anchor="ctr"/>
                </a:tc>
                <a:tc>
                  <a:txBody>
                    <a:bodyPr/>
                    <a:lstStyle/>
                    <a:p>
                      <a:pPr algn="l"/>
                      <a:r>
                        <a:rPr lang="en-IN"/>
                        <a:t>Should be greater 1.96 for p-value to be less than 0.05</a:t>
                      </a:r>
                    </a:p>
                  </a:txBody>
                  <a:tcPr anchor="ctr"/>
                </a:tc>
              </a:tr>
              <a:tr h="370840">
                <a:tc>
                  <a:txBody>
                    <a:bodyPr/>
                    <a:lstStyle/>
                    <a:p>
                      <a:pPr algn="l"/>
                      <a:r>
                        <a:rPr lang="en-IN"/>
                        <a:t>AIC</a:t>
                      </a:r>
                    </a:p>
                  </a:txBody>
                  <a:tcPr anchor="ctr"/>
                </a:tc>
                <a:tc>
                  <a:txBody>
                    <a:bodyPr/>
                    <a:lstStyle/>
                    <a:p>
                      <a:pPr algn="l"/>
                      <a:r>
                        <a:rPr lang="en-IN"/>
                        <a:t>Lower the better</a:t>
                      </a:r>
                    </a:p>
                  </a:txBody>
                  <a:tcPr anchor="ctr"/>
                </a:tc>
              </a:tr>
              <a:tr h="370840">
                <a:tc>
                  <a:txBody>
                    <a:bodyPr/>
                    <a:lstStyle/>
                    <a:p>
                      <a:pPr algn="l"/>
                      <a:r>
                        <a:rPr lang="en-IN"/>
                        <a:t>BIC</a:t>
                      </a:r>
                    </a:p>
                  </a:txBody>
                  <a:tcPr anchor="ctr"/>
                </a:tc>
                <a:tc>
                  <a:txBody>
                    <a:bodyPr/>
                    <a:lstStyle/>
                    <a:p>
                      <a:pPr algn="l"/>
                      <a:r>
                        <a:rPr lang="en-IN"/>
                        <a:t>Lower the better</a:t>
                      </a:r>
                    </a:p>
                  </a:txBody>
                  <a:tcPr anchor="ctr"/>
                </a:tc>
              </a:tr>
              <a:tr h="370840">
                <a:tc>
                  <a:txBody>
                    <a:bodyPr/>
                    <a:lstStyle/>
                    <a:p>
                      <a:pPr algn="l"/>
                      <a:r>
                        <a:rPr lang="en-IN"/>
                        <a:t>Mallows cp</a:t>
                      </a:r>
                    </a:p>
                  </a:txBody>
                  <a:tcPr anchor="ctr"/>
                </a:tc>
                <a:tc>
                  <a:txBody>
                    <a:bodyPr/>
                    <a:lstStyle/>
                    <a:p>
                      <a:pPr algn="l"/>
                      <a:r>
                        <a:rPr lang="en-IN"/>
                        <a:t>Should be close to the number of predictors in model</a:t>
                      </a:r>
                    </a:p>
                  </a:txBody>
                  <a:tcPr anchor="ctr"/>
                </a:tc>
              </a:tr>
              <a:tr h="370840">
                <a:tc>
                  <a:txBody>
                    <a:bodyPr/>
                    <a:lstStyle/>
                    <a:p>
                      <a:pPr algn="l"/>
                      <a:r>
                        <a:rPr lang="en-IN"/>
                        <a:t>MAPE (Mean absolute percentage error)</a:t>
                      </a:r>
                    </a:p>
                  </a:txBody>
                  <a:tcPr anchor="ctr"/>
                </a:tc>
                <a:tc>
                  <a:txBody>
                    <a:bodyPr/>
                    <a:lstStyle/>
                    <a:p>
                      <a:pPr algn="l"/>
                      <a:r>
                        <a:rPr lang="en-IN"/>
                        <a:t>Lower the better</a:t>
                      </a:r>
                    </a:p>
                  </a:txBody>
                  <a:tcPr anchor="ctr"/>
                </a:tc>
              </a:tr>
              <a:tr h="370840">
                <a:tc>
                  <a:txBody>
                    <a:bodyPr/>
                    <a:lstStyle/>
                    <a:p>
                      <a:pPr algn="l"/>
                      <a:r>
                        <a:rPr lang="en-IN"/>
                        <a:t>MSE (Mean squared error)</a:t>
                      </a:r>
                    </a:p>
                  </a:txBody>
                  <a:tcPr anchor="ctr"/>
                </a:tc>
                <a:tc>
                  <a:txBody>
                    <a:bodyPr/>
                    <a:lstStyle/>
                    <a:p>
                      <a:pPr algn="l"/>
                      <a:r>
                        <a:rPr lang="en-IN"/>
                        <a:t>Lower the better</a:t>
                      </a:r>
                    </a:p>
                  </a:txBody>
                  <a:tcPr anchor="ctr"/>
                </a:tc>
              </a:tr>
              <a:tr h="370840">
                <a:tc>
                  <a:txBody>
                    <a:bodyPr/>
                    <a:lstStyle/>
                    <a:p>
                      <a:pPr algn="l"/>
                      <a:r>
                        <a:rPr lang="en-IN"/>
                        <a:t>Min_Max Accuracy =&gt; mean(min(actual, predicted)/max(actual, predicted))</a:t>
                      </a:r>
                    </a:p>
                  </a:txBody>
                  <a:tcPr anchor="ctr"/>
                </a:tc>
                <a:tc>
                  <a:txBody>
                    <a:bodyPr/>
                    <a:lstStyle/>
                    <a:p>
                      <a:pPr algn="l"/>
                      <a:r>
                        <a:rPr lang="en-IN" dirty="0"/>
                        <a:t>Higher the better</a:t>
                      </a:r>
                    </a:p>
                  </a:txBody>
                  <a:tcPr anchor="ctr"/>
                </a:tc>
              </a:tr>
            </a:tbl>
          </a:graphicData>
        </a:graphic>
      </p:graphicFrame>
    </p:spTree>
    <p:extLst>
      <p:ext uri="{BB962C8B-B14F-4D97-AF65-F5344CB8AC3E}">
        <p14:creationId xmlns:p14="http://schemas.microsoft.com/office/powerpoint/2010/main" val="372320993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Predicting Linear </a:t>
            </a:r>
            <a:r>
              <a:rPr lang="en-IN" b="1" dirty="0" smtClean="0"/>
              <a:t>Models</a:t>
            </a:r>
            <a:endParaRPr lang="en-IN" dirty="0"/>
          </a:p>
        </p:txBody>
      </p:sp>
      <p:sp>
        <p:nvSpPr>
          <p:cNvPr id="3" name="Content Placeholder 2"/>
          <p:cNvSpPr>
            <a:spLocks noGrp="1"/>
          </p:cNvSpPr>
          <p:nvPr>
            <p:ph idx="1"/>
          </p:nvPr>
        </p:nvSpPr>
        <p:spPr/>
        <p:txBody>
          <a:bodyPr>
            <a:normAutofit fontScale="92500" lnSpcReduction="10000"/>
          </a:bodyPr>
          <a:lstStyle/>
          <a:p>
            <a:r>
              <a:rPr lang="en-IN" dirty="0"/>
              <a:t>So far we have seen how to build a linear regression model using the whole dataset. If we build it that way, there is no way to tell how the model will perform with new data. So the preferred practice is to split your dataset into a 80:20 sample (</a:t>
            </a:r>
            <a:r>
              <a:rPr lang="en-IN" dirty="0" err="1"/>
              <a:t>training:test</a:t>
            </a:r>
            <a:r>
              <a:rPr lang="en-IN" dirty="0"/>
              <a:t>), then, build the model on the 80% sample and then use the model thus built to predict the dependent variable on test data.</a:t>
            </a:r>
          </a:p>
          <a:p>
            <a:r>
              <a:rPr lang="en-IN" dirty="0"/>
              <a:t>Doing it this way, we will have the model predicted values for the 20% data (test) as well as the actuals (from the original dataset). By calculating accuracy measures (like </a:t>
            </a:r>
            <a:r>
              <a:rPr lang="en-IN" dirty="0" err="1"/>
              <a:t>min_max</a:t>
            </a:r>
            <a:r>
              <a:rPr lang="en-IN" dirty="0"/>
              <a:t> accuracy) and error rates (MAPE or MSE), we can find out the prediction accuracy of the model. Now, lets see how to actually do this..</a:t>
            </a:r>
          </a:p>
          <a:p>
            <a:endParaRPr lang="en-IN" dirty="0"/>
          </a:p>
        </p:txBody>
      </p:sp>
    </p:spTree>
    <p:extLst>
      <p:ext uri="{BB962C8B-B14F-4D97-AF65-F5344CB8AC3E}">
        <p14:creationId xmlns:p14="http://schemas.microsoft.com/office/powerpoint/2010/main" val="22875696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Step 1: Create the training (development) and test (validation) data samples from original data</a:t>
            </a:r>
            <a:r>
              <a:rPr lang="en-IN" b="1" dirty="0" smtClean="0"/>
              <a:t>.</a:t>
            </a:r>
            <a:endParaRPr lang="en-IN" dirty="0"/>
          </a:p>
        </p:txBody>
      </p:sp>
      <p:sp>
        <p:nvSpPr>
          <p:cNvPr id="3" name="Content Placeholder 2"/>
          <p:cNvSpPr>
            <a:spLocks noGrp="1"/>
          </p:cNvSpPr>
          <p:nvPr>
            <p:ph idx="1"/>
          </p:nvPr>
        </p:nvSpPr>
        <p:spPr/>
        <p:txBody>
          <a:bodyPr>
            <a:normAutofit/>
          </a:bodyPr>
          <a:lstStyle/>
          <a:p>
            <a:r>
              <a:rPr lang="en-IN" dirty="0"/>
              <a:t># Create Training and Test data </a:t>
            </a:r>
            <a:r>
              <a:rPr lang="en-IN" dirty="0" smtClean="0"/>
              <a:t>– </a:t>
            </a:r>
          </a:p>
          <a:p>
            <a:r>
              <a:rPr lang="en-IN" dirty="0" err="1" smtClean="0"/>
              <a:t>set.seed</a:t>
            </a:r>
            <a:r>
              <a:rPr lang="en-IN" dirty="0" smtClean="0"/>
              <a:t>(100</a:t>
            </a:r>
            <a:r>
              <a:rPr lang="en-IN" dirty="0"/>
              <a:t>) # setting seed to reproduce results of random sampling </a:t>
            </a:r>
            <a:endParaRPr lang="en-IN" dirty="0" smtClean="0"/>
          </a:p>
          <a:p>
            <a:r>
              <a:rPr lang="en-IN" dirty="0" err="1" smtClean="0"/>
              <a:t>trainingRowIndex</a:t>
            </a:r>
            <a:r>
              <a:rPr lang="en-IN" dirty="0" smtClean="0"/>
              <a:t> </a:t>
            </a:r>
            <a:r>
              <a:rPr lang="en-IN" dirty="0"/>
              <a:t>&lt;- sample(1:nrow(cars), 0.8*</a:t>
            </a:r>
            <a:r>
              <a:rPr lang="en-IN" dirty="0" err="1"/>
              <a:t>nrow</a:t>
            </a:r>
            <a:r>
              <a:rPr lang="en-IN" dirty="0"/>
              <a:t>(cars)) # row indices for training data </a:t>
            </a:r>
            <a:endParaRPr lang="en-IN" dirty="0" smtClean="0"/>
          </a:p>
          <a:p>
            <a:r>
              <a:rPr lang="en-IN" dirty="0" err="1" smtClean="0"/>
              <a:t>trainingData</a:t>
            </a:r>
            <a:r>
              <a:rPr lang="en-IN" dirty="0" smtClean="0"/>
              <a:t> </a:t>
            </a:r>
            <a:r>
              <a:rPr lang="en-IN" dirty="0"/>
              <a:t>&lt;- cars[</a:t>
            </a:r>
            <a:r>
              <a:rPr lang="en-IN" dirty="0" err="1"/>
              <a:t>trainingRowIndex</a:t>
            </a:r>
            <a:r>
              <a:rPr lang="en-IN" dirty="0"/>
              <a:t>, ] # model training data </a:t>
            </a:r>
            <a:endParaRPr lang="en-IN" dirty="0" smtClean="0"/>
          </a:p>
          <a:p>
            <a:r>
              <a:rPr lang="en-IN" dirty="0" err="1" smtClean="0"/>
              <a:t>testData</a:t>
            </a:r>
            <a:r>
              <a:rPr lang="en-IN" dirty="0" smtClean="0"/>
              <a:t> </a:t>
            </a:r>
            <a:r>
              <a:rPr lang="en-IN" dirty="0"/>
              <a:t>&lt;- cars[-</a:t>
            </a:r>
            <a:r>
              <a:rPr lang="en-IN" dirty="0" err="1"/>
              <a:t>trainingRowIndex</a:t>
            </a:r>
            <a:r>
              <a:rPr lang="en-IN" dirty="0"/>
              <a:t>, ] # test data</a:t>
            </a:r>
          </a:p>
          <a:p>
            <a:endParaRPr lang="en-IN" dirty="0"/>
          </a:p>
        </p:txBody>
      </p:sp>
    </p:spTree>
    <p:extLst>
      <p:ext uri="{BB962C8B-B14F-4D97-AF65-F5344CB8AC3E}">
        <p14:creationId xmlns:p14="http://schemas.microsoft.com/office/powerpoint/2010/main" val="197812502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Step 2: Develop the model on the training data and use it to predict the distance on test </a:t>
            </a:r>
            <a:r>
              <a:rPr lang="en-IN" b="1" dirty="0" smtClean="0"/>
              <a:t>data</a:t>
            </a:r>
            <a:endParaRPr lang="en-IN" dirty="0"/>
          </a:p>
        </p:txBody>
      </p:sp>
      <p:sp>
        <p:nvSpPr>
          <p:cNvPr id="3" name="Content Placeholder 2"/>
          <p:cNvSpPr>
            <a:spLocks noGrp="1"/>
          </p:cNvSpPr>
          <p:nvPr>
            <p:ph idx="1"/>
          </p:nvPr>
        </p:nvSpPr>
        <p:spPr/>
        <p:txBody>
          <a:bodyPr/>
          <a:lstStyle/>
          <a:p>
            <a:r>
              <a:rPr lang="en-IN" dirty="0"/>
              <a:t># Build the model on training data -</a:t>
            </a:r>
          </a:p>
          <a:p>
            <a:r>
              <a:rPr lang="en-IN" dirty="0" err="1"/>
              <a:t>lmMod</a:t>
            </a:r>
            <a:r>
              <a:rPr lang="en-IN" dirty="0"/>
              <a:t> &lt;- lm(</a:t>
            </a:r>
            <a:r>
              <a:rPr lang="en-IN" dirty="0" err="1"/>
              <a:t>dist</a:t>
            </a:r>
            <a:r>
              <a:rPr lang="en-IN" dirty="0"/>
              <a:t> ~ speed, data=</a:t>
            </a:r>
            <a:r>
              <a:rPr lang="en-IN" dirty="0" err="1"/>
              <a:t>trainingData</a:t>
            </a:r>
            <a:r>
              <a:rPr lang="en-IN" dirty="0"/>
              <a:t>)  # build the model</a:t>
            </a:r>
          </a:p>
          <a:p>
            <a:r>
              <a:rPr lang="en-IN" dirty="0" err="1"/>
              <a:t>distPred</a:t>
            </a:r>
            <a:r>
              <a:rPr lang="en-IN" dirty="0"/>
              <a:t> &lt;- predict(</a:t>
            </a:r>
            <a:r>
              <a:rPr lang="en-IN" dirty="0" err="1"/>
              <a:t>lmMod</a:t>
            </a:r>
            <a:r>
              <a:rPr lang="en-IN" dirty="0"/>
              <a:t>, </a:t>
            </a:r>
            <a:r>
              <a:rPr lang="en-IN" dirty="0" err="1"/>
              <a:t>testData</a:t>
            </a:r>
            <a:r>
              <a:rPr lang="en-IN" dirty="0"/>
              <a:t>)  # predict distance</a:t>
            </a:r>
          </a:p>
        </p:txBody>
      </p:sp>
    </p:spTree>
    <p:extLst>
      <p:ext uri="{BB962C8B-B14F-4D97-AF65-F5344CB8AC3E}">
        <p14:creationId xmlns:p14="http://schemas.microsoft.com/office/powerpoint/2010/main" val="273365980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323" y="44624"/>
            <a:ext cx="7402883" cy="874951"/>
          </a:xfrm>
        </p:spPr>
        <p:txBody>
          <a:bodyPr>
            <a:normAutofit/>
          </a:bodyPr>
          <a:lstStyle/>
          <a:p>
            <a:r>
              <a:rPr lang="en-IN" b="1" dirty="0"/>
              <a:t>Step 3: Review diagnostic measures</a:t>
            </a:r>
            <a:r>
              <a:rPr lang="en-IN" b="1" dirty="0" smtClean="0"/>
              <a:t>.</a:t>
            </a:r>
            <a:endParaRPr lang="en-IN" dirty="0"/>
          </a:p>
        </p:txBody>
      </p:sp>
      <p:sp>
        <p:nvSpPr>
          <p:cNvPr id="3" name="Content Placeholder 2"/>
          <p:cNvSpPr>
            <a:spLocks noGrp="1"/>
          </p:cNvSpPr>
          <p:nvPr>
            <p:ph idx="1"/>
          </p:nvPr>
        </p:nvSpPr>
        <p:spPr>
          <a:xfrm>
            <a:off x="683568" y="548680"/>
            <a:ext cx="8229600" cy="4525963"/>
          </a:xfrm>
        </p:spPr>
        <p:txBody>
          <a:bodyPr>
            <a:noAutofit/>
          </a:bodyPr>
          <a:lstStyle/>
          <a:p>
            <a:r>
              <a:rPr lang="en-IN" sz="1400" dirty="0"/>
              <a:t>summary (</a:t>
            </a:r>
            <a:r>
              <a:rPr lang="en-IN" sz="1400" dirty="0" err="1"/>
              <a:t>lmMod</a:t>
            </a:r>
            <a:r>
              <a:rPr lang="en-IN" sz="1400" dirty="0"/>
              <a:t>)  # model summary</a:t>
            </a:r>
          </a:p>
          <a:p>
            <a:r>
              <a:rPr lang="en-IN" sz="1400" dirty="0" smtClean="0"/>
              <a:t>#&gt; </a:t>
            </a:r>
            <a:r>
              <a:rPr lang="en-IN" sz="1400" dirty="0"/>
              <a:t>Call:</a:t>
            </a:r>
          </a:p>
          <a:p>
            <a:r>
              <a:rPr lang="en-IN" sz="1400" dirty="0"/>
              <a:t>#&gt; lm(formula = </a:t>
            </a:r>
            <a:r>
              <a:rPr lang="en-IN" sz="1400" dirty="0" err="1"/>
              <a:t>dist</a:t>
            </a:r>
            <a:r>
              <a:rPr lang="en-IN" sz="1400" dirty="0"/>
              <a:t> ~ speed, data = </a:t>
            </a:r>
            <a:r>
              <a:rPr lang="en-IN" sz="1400" dirty="0" err="1"/>
              <a:t>trainingData</a:t>
            </a:r>
            <a:r>
              <a:rPr lang="en-IN" sz="1400" dirty="0"/>
              <a:t>)</a:t>
            </a:r>
          </a:p>
          <a:p>
            <a:r>
              <a:rPr lang="en-IN" sz="1400" dirty="0"/>
              <a:t>#&gt; </a:t>
            </a:r>
            <a:r>
              <a:rPr lang="en-IN" sz="1400" dirty="0" smtClean="0"/>
              <a:t>#&gt; </a:t>
            </a:r>
            <a:r>
              <a:rPr lang="en-IN" sz="1400" dirty="0"/>
              <a:t>Residuals:</a:t>
            </a:r>
          </a:p>
          <a:p>
            <a:r>
              <a:rPr lang="en-IN" sz="1400" dirty="0"/>
              <a:t>#&gt;     Min      1Q  Median      3Q     Max </a:t>
            </a:r>
          </a:p>
          <a:p>
            <a:r>
              <a:rPr lang="en-IN" sz="1400" dirty="0"/>
              <a:t>#&gt; -23.350 -10.771  -2.137   9.255  42.231 </a:t>
            </a:r>
          </a:p>
          <a:p>
            <a:r>
              <a:rPr lang="en-IN" sz="1400" dirty="0"/>
              <a:t>#&gt; </a:t>
            </a:r>
            <a:r>
              <a:rPr lang="en-IN" sz="1400" dirty="0" smtClean="0"/>
              <a:t>#&gt; </a:t>
            </a:r>
            <a:r>
              <a:rPr lang="en-IN" sz="1400" dirty="0"/>
              <a:t>Coefficients:</a:t>
            </a:r>
          </a:p>
          <a:p>
            <a:r>
              <a:rPr lang="en-IN" sz="1400" dirty="0"/>
              <a:t>#&gt;             Estimate Std. Error t value </a:t>
            </a:r>
            <a:r>
              <a:rPr lang="en-IN" sz="1400" dirty="0" err="1"/>
              <a:t>Pr</a:t>
            </a:r>
            <a:r>
              <a:rPr lang="en-IN" sz="1400" dirty="0"/>
              <a:t>(&gt;|t|)    </a:t>
            </a:r>
          </a:p>
          <a:p>
            <a:r>
              <a:rPr lang="en-IN" sz="1400" dirty="0"/>
              <a:t>#&gt; (Intercept)  -22.657      7.999  -2.833  0.00735 ** </a:t>
            </a:r>
          </a:p>
          <a:p>
            <a:r>
              <a:rPr lang="en-IN" sz="1400" dirty="0"/>
              <a:t>#&gt; speed          4.316      0.487   8.863 8.73e-11 ***</a:t>
            </a:r>
          </a:p>
          <a:p>
            <a:r>
              <a:rPr lang="en-IN" sz="1400" dirty="0"/>
              <a:t>#&gt; ---</a:t>
            </a:r>
          </a:p>
          <a:p>
            <a:r>
              <a:rPr lang="en-IN" sz="1400" dirty="0"/>
              <a:t>#&gt; </a:t>
            </a:r>
            <a:r>
              <a:rPr lang="en-IN" sz="1400" dirty="0" err="1"/>
              <a:t>Signif</a:t>
            </a:r>
            <a:r>
              <a:rPr lang="en-IN" sz="1400" dirty="0"/>
              <a:t>. codes:  0 '***' 0.001 '**' 0.01 '*' 0.05 '.' 0.1 ' ' 1</a:t>
            </a:r>
          </a:p>
          <a:p>
            <a:r>
              <a:rPr lang="en-IN" sz="1400" dirty="0"/>
              <a:t>#&gt; </a:t>
            </a:r>
          </a:p>
          <a:p>
            <a:r>
              <a:rPr lang="en-IN" sz="1400" dirty="0"/>
              <a:t>#&gt; Residual standard error: 15.84 on 38 degrees of freedom</a:t>
            </a:r>
          </a:p>
          <a:p>
            <a:r>
              <a:rPr lang="en-IN" sz="1400" dirty="0"/>
              <a:t>#&gt; Multiple R-squared:  0.674,  Adjusted R-squared:  0.6654 </a:t>
            </a:r>
          </a:p>
          <a:p>
            <a:r>
              <a:rPr lang="en-IN" sz="1400" dirty="0"/>
              <a:t>#&gt; F-statistic: 78.56 on 1 and 38 DF,  p-value: 8.734e-11</a:t>
            </a:r>
          </a:p>
          <a:p>
            <a:r>
              <a:rPr lang="en-IN" sz="1400" dirty="0"/>
              <a:t>AIC (</a:t>
            </a:r>
            <a:r>
              <a:rPr lang="en-IN" sz="1400" dirty="0" err="1"/>
              <a:t>lmMod</a:t>
            </a:r>
            <a:r>
              <a:rPr lang="en-IN" sz="1400" dirty="0"/>
              <a:t>)  # Calculate </a:t>
            </a:r>
            <a:r>
              <a:rPr lang="en-IN" sz="1400" dirty="0" err="1"/>
              <a:t>akaike</a:t>
            </a:r>
            <a:r>
              <a:rPr lang="en-IN" sz="1400" dirty="0"/>
              <a:t> information criterion</a:t>
            </a:r>
          </a:p>
          <a:p>
            <a:r>
              <a:rPr lang="en-IN" sz="1400" dirty="0"/>
              <a:t>#&gt; [1] 338.4489</a:t>
            </a:r>
          </a:p>
        </p:txBody>
      </p:sp>
    </p:spTree>
    <p:extLst>
      <p:ext uri="{BB962C8B-B14F-4D97-AF65-F5344CB8AC3E}">
        <p14:creationId xmlns:p14="http://schemas.microsoft.com/office/powerpoint/2010/main" val="178147053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323" y="105777"/>
            <a:ext cx="7402883" cy="874951"/>
          </a:xfrm>
        </p:spPr>
        <p:txBody>
          <a:bodyPr>
            <a:normAutofit fontScale="90000"/>
          </a:bodyPr>
          <a:lstStyle/>
          <a:p>
            <a:r>
              <a:rPr lang="en-IN" b="1" dirty="0"/>
              <a:t>Step 4: Calculate prediction accuracy and error </a:t>
            </a:r>
            <a:r>
              <a:rPr lang="en-IN" b="1" dirty="0" smtClean="0"/>
              <a:t>rates</a:t>
            </a:r>
            <a:endParaRPr lang="en-IN" dirty="0"/>
          </a:p>
        </p:txBody>
      </p:sp>
      <p:sp>
        <p:nvSpPr>
          <p:cNvPr id="3" name="Content Placeholder 2"/>
          <p:cNvSpPr>
            <a:spLocks noGrp="1"/>
          </p:cNvSpPr>
          <p:nvPr>
            <p:ph idx="1"/>
          </p:nvPr>
        </p:nvSpPr>
        <p:spPr>
          <a:xfrm>
            <a:off x="700004" y="1082428"/>
            <a:ext cx="8229600" cy="4525963"/>
          </a:xfrm>
        </p:spPr>
        <p:txBody>
          <a:bodyPr>
            <a:noAutofit/>
          </a:bodyPr>
          <a:lstStyle/>
          <a:p>
            <a:r>
              <a:rPr lang="en-IN" sz="1900" dirty="0"/>
              <a:t>A simple correlation between the actuals and predicted values can be used as a form of accuracy measure. A higher correlation accuracy implies that the actuals and predicted values have similar directional movement, i.e. when the actuals values increase the </a:t>
            </a:r>
            <a:r>
              <a:rPr lang="en-IN" sz="1900" dirty="0" err="1"/>
              <a:t>predicteds</a:t>
            </a:r>
            <a:r>
              <a:rPr lang="en-IN" sz="1900" dirty="0"/>
              <a:t> also increase and vice-versa</a:t>
            </a:r>
            <a:r>
              <a:rPr lang="en-IN" sz="1900" dirty="0" smtClean="0"/>
              <a:t>.</a:t>
            </a:r>
          </a:p>
          <a:p>
            <a:r>
              <a:rPr lang="en-IN" sz="1900" dirty="0" err="1"/>
              <a:t>actuals_preds</a:t>
            </a:r>
            <a:r>
              <a:rPr lang="en-IN" sz="1900" dirty="0"/>
              <a:t> &lt;- </a:t>
            </a:r>
            <a:r>
              <a:rPr lang="en-IN" sz="1900" dirty="0" err="1"/>
              <a:t>data.frame</a:t>
            </a:r>
            <a:r>
              <a:rPr lang="en-IN" sz="1900" dirty="0"/>
              <a:t>(</a:t>
            </a:r>
            <a:r>
              <a:rPr lang="en-IN" sz="1900" dirty="0" err="1"/>
              <a:t>cbind</a:t>
            </a:r>
            <a:r>
              <a:rPr lang="en-IN" sz="1900" dirty="0"/>
              <a:t>(actuals=</a:t>
            </a:r>
            <a:r>
              <a:rPr lang="en-IN" sz="1900" dirty="0" err="1"/>
              <a:t>testData$dist</a:t>
            </a:r>
            <a:r>
              <a:rPr lang="en-IN" sz="1900" dirty="0"/>
              <a:t>, </a:t>
            </a:r>
            <a:r>
              <a:rPr lang="en-IN" sz="1900" dirty="0" err="1"/>
              <a:t>predicteds</a:t>
            </a:r>
            <a:r>
              <a:rPr lang="en-IN" sz="1900" dirty="0"/>
              <a:t>=</a:t>
            </a:r>
            <a:r>
              <a:rPr lang="en-IN" sz="1900" dirty="0" err="1"/>
              <a:t>distPred</a:t>
            </a:r>
            <a:r>
              <a:rPr lang="en-IN" sz="1900" dirty="0"/>
              <a:t>)) # make </a:t>
            </a:r>
            <a:r>
              <a:rPr lang="en-IN" sz="1900" dirty="0" err="1"/>
              <a:t>actuals_predicteds</a:t>
            </a:r>
            <a:r>
              <a:rPr lang="en-IN" sz="1900" dirty="0"/>
              <a:t> </a:t>
            </a:r>
            <a:r>
              <a:rPr lang="en-IN" sz="1900" dirty="0" err="1"/>
              <a:t>dataframe</a:t>
            </a:r>
            <a:r>
              <a:rPr lang="en-IN" sz="1900" dirty="0"/>
              <a:t>. </a:t>
            </a:r>
            <a:endParaRPr lang="en-IN" sz="1900" dirty="0" smtClean="0"/>
          </a:p>
          <a:p>
            <a:r>
              <a:rPr lang="en-IN" sz="1900" dirty="0" err="1" smtClean="0"/>
              <a:t>correlation_accuracy</a:t>
            </a:r>
            <a:r>
              <a:rPr lang="en-IN" sz="1900" dirty="0" smtClean="0"/>
              <a:t> </a:t>
            </a:r>
            <a:r>
              <a:rPr lang="en-IN" sz="1900" dirty="0"/>
              <a:t>&lt;- </a:t>
            </a:r>
            <a:r>
              <a:rPr lang="en-IN" sz="1900" dirty="0" err="1"/>
              <a:t>cor</a:t>
            </a:r>
            <a:r>
              <a:rPr lang="en-IN" sz="1900" dirty="0"/>
              <a:t>(</a:t>
            </a:r>
            <a:r>
              <a:rPr lang="en-IN" sz="1900" dirty="0" err="1"/>
              <a:t>actuals_preds</a:t>
            </a:r>
            <a:r>
              <a:rPr lang="en-IN" sz="1900" dirty="0"/>
              <a:t>) </a:t>
            </a:r>
            <a:r>
              <a:rPr lang="en-IN" sz="1900" dirty="0" smtClean="0"/>
              <a:t># </a:t>
            </a:r>
            <a:r>
              <a:rPr lang="en-IN" sz="1900" dirty="0"/>
              <a:t>82.7% </a:t>
            </a:r>
            <a:endParaRPr lang="en-IN" sz="1900" dirty="0" smtClean="0"/>
          </a:p>
          <a:p>
            <a:r>
              <a:rPr lang="en-IN" sz="1900" dirty="0" smtClean="0"/>
              <a:t>head(</a:t>
            </a:r>
            <a:r>
              <a:rPr lang="en-IN" sz="1900" dirty="0" err="1" smtClean="0"/>
              <a:t>actuals_preds</a:t>
            </a:r>
            <a:r>
              <a:rPr lang="en-IN" sz="1900" dirty="0"/>
              <a:t>) </a:t>
            </a:r>
            <a:endParaRPr lang="en-IN" sz="1900" dirty="0" smtClean="0"/>
          </a:p>
          <a:p>
            <a:r>
              <a:rPr lang="en-IN" sz="1900" dirty="0" smtClean="0"/>
              <a:t>#&gt; </a:t>
            </a:r>
            <a:r>
              <a:rPr lang="en-IN" sz="1900" dirty="0"/>
              <a:t>actuals </a:t>
            </a:r>
            <a:r>
              <a:rPr lang="en-IN" sz="1900" dirty="0" err="1"/>
              <a:t>predicteds</a:t>
            </a:r>
            <a:r>
              <a:rPr lang="en-IN" sz="1900" dirty="0"/>
              <a:t> </a:t>
            </a:r>
            <a:endParaRPr lang="en-IN" sz="1900" dirty="0" smtClean="0"/>
          </a:p>
          <a:p>
            <a:r>
              <a:rPr lang="en-IN" sz="1900" dirty="0" smtClean="0"/>
              <a:t>#&gt; </a:t>
            </a:r>
            <a:r>
              <a:rPr lang="en-IN" sz="1900" dirty="0"/>
              <a:t>1 2 -5.392776 </a:t>
            </a:r>
            <a:endParaRPr lang="en-IN" sz="1900" dirty="0" smtClean="0"/>
          </a:p>
          <a:p>
            <a:r>
              <a:rPr lang="en-IN" sz="1900" dirty="0" smtClean="0"/>
              <a:t>#&gt; </a:t>
            </a:r>
            <a:r>
              <a:rPr lang="en-IN" sz="1900" dirty="0"/>
              <a:t>4 22 7.555787 </a:t>
            </a:r>
            <a:endParaRPr lang="en-IN" sz="1900" dirty="0" smtClean="0"/>
          </a:p>
          <a:p>
            <a:r>
              <a:rPr lang="en-IN" sz="1900" dirty="0" smtClean="0"/>
              <a:t>#&gt; </a:t>
            </a:r>
            <a:r>
              <a:rPr lang="en-IN" sz="1900" dirty="0"/>
              <a:t>8 26 20.504349 </a:t>
            </a:r>
            <a:endParaRPr lang="en-IN" sz="1900" dirty="0" smtClean="0"/>
          </a:p>
          <a:p>
            <a:r>
              <a:rPr lang="en-IN" sz="1900" dirty="0" smtClean="0"/>
              <a:t>#&gt; </a:t>
            </a:r>
            <a:r>
              <a:rPr lang="en-IN" sz="1900" dirty="0"/>
              <a:t>20 26 37.769100 </a:t>
            </a:r>
            <a:endParaRPr lang="en-IN" sz="1900" dirty="0" smtClean="0"/>
          </a:p>
          <a:p>
            <a:r>
              <a:rPr lang="en-IN" sz="1900" dirty="0" smtClean="0"/>
              <a:t>#&gt; </a:t>
            </a:r>
            <a:r>
              <a:rPr lang="en-IN" sz="1900" dirty="0"/>
              <a:t>26 54 42.085287 </a:t>
            </a:r>
            <a:endParaRPr lang="en-IN" sz="1900" dirty="0" smtClean="0"/>
          </a:p>
          <a:p>
            <a:r>
              <a:rPr lang="en-IN" sz="1900" dirty="0" smtClean="0"/>
              <a:t>#&gt; </a:t>
            </a:r>
            <a:r>
              <a:rPr lang="en-IN" sz="1900" dirty="0"/>
              <a:t>31 50 50.717663</a:t>
            </a:r>
          </a:p>
        </p:txBody>
      </p:sp>
    </p:spTree>
    <p:extLst>
      <p:ext uri="{BB962C8B-B14F-4D97-AF65-F5344CB8AC3E}">
        <p14:creationId xmlns:p14="http://schemas.microsoft.com/office/powerpoint/2010/main" val="324476279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IN" dirty="0"/>
                  <a:t>Now lets calculate the Min Max accuracy and MAPE: </a:t>
                </a:r>
                <a:r>
                  <a:rPr lang="en-IN" b="1" dirty="0"/>
                  <a:t/>
                </a:r>
                <a:br>
                  <a:rPr lang="en-IN" b="1" dirty="0"/>
                </a:br>
                <a14:m>
                  <m:oMath xmlns:m="http://schemas.openxmlformats.org/officeDocument/2006/math">
                    <m:r>
                      <m:rPr>
                        <m:nor/>
                      </m:rPr>
                      <a:rPr lang="en-IN" b="1" i="1"/>
                      <m:t>MinMaxAccuracy</m:t>
                    </m:r>
                    <m:r>
                      <m:rPr>
                        <m:nor/>
                      </m:rPr>
                      <a:rPr lang="en-IN" b="1"/>
                      <m:t>=</m:t>
                    </m:r>
                    <m:r>
                      <m:rPr>
                        <m:nor/>
                      </m:rPr>
                      <a:rPr lang="en-IN" b="1" i="1"/>
                      <m:t>mean</m:t>
                    </m:r>
                    <m:d>
                      <m:dPr>
                        <m:ctrlPr>
                          <a:rPr lang="en-IN" b="1" i="1" smtClean="0">
                            <a:latin typeface="Cambria Math"/>
                          </a:rPr>
                        </m:ctrlPr>
                      </m:dPr>
                      <m:e>
                        <m:f>
                          <m:fPr>
                            <m:ctrlPr>
                              <a:rPr lang="en-IN" b="1" i="1">
                                <a:latin typeface="Cambria Math"/>
                              </a:rPr>
                            </m:ctrlPr>
                          </m:fPr>
                          <m:num>
                            <m:r>
                              <m:rPr>
                                <m:nor/>
                              </m:rPr>
                              <a:rPr lang="en-IN" b="1" i="1"/>
                              <m:t>min</m:t>
                            </m:r>
                            <m:r>
                              <m:rPr>
                                <m:nor/>
                              </m:rPr>
                              <a:rPr lang="en-IN" b="1"/>
                              <m:t>(</m:t>
                            </m:r>
                            <m:r>
                              <m:rPr>
                                <m:nor/>
                              </m:rPr>
                              <a:rPr lang="en-IN" b="1" i="1"/>
                              <m:t>actuals</m:t>
                            </m:r>
                            <m:r>
                              <m:rPr>
                                <m:nor/>
                              </m:rPr>
                              <a:rPr lang="en-IN" b="1"/>
                              <m:t>,</m:t>
                            </m:r>
                            <m:r>
                              <m:rPr>
                                <m:nor/>
                              </m:rPr>
                              <a:rPr lang="en-IN" b="1" i="1"/>
                              <m:t>predicteds</m:t>
                            </m:r>
                            <m:r>
                              <m:rPr>
                                <m:nor/>
                              </m:rPr>
                              <a:rPr lang="en-IN" b="1"/>
                              <m:t>)</m:t>
                            </m:r>
                          </m:num>
                          <m:den>
                            <m:r>
                              <m:rPr>
                                <m:nor/>
                              </m:rPr>
                              <a:rPr lang="en-IN" b="1" i="1"/>
                              <m:t>max</m:t>
                            </m:r>
                            <m:r>
                              <m:rPr>
                                <m:nor/>
                              </m:rPr>
                              <a:rPr lang="en-IN" b="1"/>
                              <m:t>(</m:t>
                            </m:r>
                            <m:r>
                              <m:rPr>
                                <m:nor/>
                              </m:rPr>
                              <a:rPr lang="en-IN" b="1" i="1"/>
                              <m:t>actuals</m:t>
                            </m:r>
                            <m:r>
                              <m:rPr>
                                <m:nor/>
                              </m:rPr>
                              <a:rPr lang="en-IN" b="1"/>
                              <m:t>,</m:t>
                            </m:r>
                            <m:r>
                              <m:rPr>
                                <m:nor/>
                              </m:rPr>
                              <a:rPr lang="en-IN" b="1" i="1"/>
                              <m:t>predicteds</m:t>
                            </m:r>
                            <m:r>
                              <m:rPr>
                                <m:nor/>
                              </m:rPr>
                              <a:rPr lang="en-IN" b="1"/>
                              <m:t>)</m:t>
                            </m:r>
                          </m:den>
                        </m:f>
                      </m:e>
                    </m:d>
                  </m:oMath>
                </a14:m>
                <a:endParaRPr lang="en-IN" dirty="0" smtClean="0"/>
              </a:p>
              <a:p>
                <a:pPr marL="0" indent="0">
                  <a:buNone/>
                </a:pPr>
                <a14:m>
                  <m:oMathPara xmlns:m="http://schemas.openxmlformats.org/officeDocument/2006/math">
                    <m:oMathParaPr>
                      <m:jc m:val="centerGroup"/>
                    </m:oMathParaPr>
                    <m:oMath xmlns:m="http://schemas.openxmlformats.org/officeDocument/2006/math">
                      <m:r>
                        <m:rPr>
                          <m:nor/>
                        </m:rPr>
                        <a:rPr lang="en-IN" b="1" i="1"/>
                        <m:t>MeanAbsolutePercentageError</m:t>
                      </m:r>
                      <m:r>
                        <m:rPr>
                          <m:nor/>
                        </m:rPr>
                        <a:rPr lang="en-IN" b="1"/>
                        <m:t> (</m:t>
                      </m:r>
                      <m:r>
                        <m:rPr>
                          <m:nor/>
                        </m:rPr>
                        <a:rPr lang="en-IN" b="1" i="1"/>
                        <m:t>MAPE</m:t>
                      </m:r>
                      <m:r>
                        <m:rPr>
                          <m:nor/>
                        </m:rPr>
                        <a:rPr lang="en-IN" b="1"/>
                        <m:t>)=</m:t>
                      </m:r>
                      <m:r>
                        <m:rPr>
                          <m:nor/>
                        </m:rPr>
                        <a:rPr lang="en-IN" b="1" i="1"/>
                        <m:t>mean</m:t>
                      </m:r>
                      <m:d>
                        <m:dPr>
                          <m:ctrlPr>
                            <a:rPr lang="en-IN" b="1" i="1">
                              <a:latin typeface="Cambria Math"/>
                            </a:rPr>
                          </m:ctrlPr>
                        </m:dPr>
                        <m:e>
                          <m:f>
                            <m:fPr>
                              <m:ctrlPr>
                                <a:rPr lang="en-IN" b="1" i="1">
                                  <a:latin typeface="Cambria Math"/>
                                </a:rPr>
                              </m:ctrlPr>
                            </m:fPr>
                            <m:num>
                              <m:r>
                                <m:rPr>
                                  <m:nor/>
                                </m:rPr>
                                <a:rPr lang="en-IN" b="1" i="1"/>
                                <m:t>abs</m:t>
                              </m:r>
                              <m:r>
                                <m:rPr>
                                  <m:nor/>
                                </m:rPr>
                                <a:rPr lang="en-IN" b="1"/>
                                <m:t>(</m:t>
                              </m:r>
                              <m:r>
                                <m:rPr>
                                  <m:nor/>
                                </m:rPr>
                                <a:rPr lang="en-IN" b="1" i="1"/>
                                <m:t>predicteds</m:t>
                              </m:r>
                              <m:r>
                                <m:rPr>
                                  <m:nor/>
                                </m:rPr>
                                <a:rPr lang="en-IN" b="1"/>
                                <m:t>−</m:t>
                              </m:r>
                              <m:r>
                                <m:rPr>
                                  <m:nor/>
                                </m:rPr>
                                <a:rPr lang="en-IN" b="1" i="1"/>
                                <m:t>actuals</m:t>
                              </m:r>
                              <m:r>
                                <m:rPr>
                                  <m:nor/>
                                </m:rPr>
                                <a:rPr lang="en-IN" b="1"/>
                                <m:t>)</m:t>
                              </m:r>
                            </m:num>
                            <m:den>
                              <m:r>
                                <m:rPr>
                                  <m:nor/>
                                </m:rPr>
                                <a:rPr lang="en-IN" b="1" i="1"/>
                                <m:t>actuals</m:t>
                              </m:r>
                            </m:den>
                          </m:f>
                        </m:e>
                      </m:d>
                    </m:oMath>
                  </m:oMathPara>
                </a14:m>
                <a:endParaRPr lang="en-IN" dirty="0"/>
              </a:p>
              <a:p>
                <a:endParaRPr lang="en-IN" dirty="0" smtClean="0"/>
              </a:p>
              <a:p>
                <a:r>
                  <a:rPr lang="en-IN" dirty="0" err="1"/>
                  <a:t>min_max_accuracy</a:t>
                </a:r>
                <a:r>
                  <a:rPr lang="en-IN" dirty="0"/>
                  <a:t> &lt;- mean(apply(</a:t>
                </a:r>
                <a:r>
                  <a:rPr lang="en-IN" dirty="0" err="1"/>
                  <a:t>actuals_preds</a:t>
                </a:r>
                <a:r>
                  <a:rPr lang="en-IN" dirty="0"/>
                  <a:t>, 1, min) / apply(</a:t>
                </a:r>
                <a:r>
                  <a:rPr lang="en-IN" dirty="0" err="1"/>
                  <a:t>actuals_preds</a:t>
                </a:r>
                <a:r>
                  <a:rPr lang="en-IN" dirty="0"/>
                  <a:t>, 1, max</a:t>
                </a:r>
                <a:r>
                  <a:rPr lang="en-IN" dirty="0" smtClean="0"/>
                  <a:t>))</a:t>
                </a:r>
              </a:p>
              <a:p>
                <a:r>
                  <a:rPr lang="en-IN" dirty="0" smtClean="0"/>
                  <a:t> </a:t>
                </a:r>
                <a:r>
                  <a:rPr lang="en-IN" dirty="0"/>
                  <a:t># =&gt; 58.42%, </a:t>
                </a:r>
                <a:r>
                  <a:rPr lang="en-IN" dirty="0" err="1"/>
                  <a:t>min_max</a:t>
                </a:r>
                <a:r>
                  <a:rPr lang="en-IN" dirty="0"/>
                  <a:t> accuracy </a:t>
                </a:r>
                <a:endParaRPr lang="en-IN" dirty="0" smtClean="0"/>
              </a:p>
              <a:p>
                <a:r>
                  <a:rPr lang="en-IN" dirty="0" err="1" smtClean="0"/>
                  <a:t>mape</a:t>
                </a:r>
                <a:r>
                  <a:rPr lang="en-IN" dirty="0" smtClean="0"/>
                  <a:t> </a:t>
                </a:r>
                <a:r>
                  <a:rPr lang="en-IN" dirty="0"/>
                  <a:t>&lt;- mean(abs((</a:t>
                </a:r>
                <a:r>
                  <a:rPr lang="en-IN" dirty="0" err="1"/>
                  <a:t>actuals_preds$predicteds</a:t>
                </a:r>
                <a:r>
                  <a:rPr lang="en-IN" dirty="0"/>
                  <a:t> - </a:t>
                </a:r>
                <a:r>
                  <a:rPr lang="en-IN" dirty="0" err="1"/>
                  <a:t>actuals_preds$actuals</a:t>
                </a:r>
                <a:r>
                  <a:rPr lang="en-IN" dirty="0"/>
                  <a:t>))/</a:t>
                </a:r>
                <a:r>
                  <a:rPr lang="en-IN" dirty="0" err="1"/>
                  <a:t>actuals_preds$actuals</a:t>
                </a:r>
                <a:r>
                  <a:rPr lang="en-IN" dirty="0" smtClean="0"/>
                  <a:t>)</a:t>
                </a:r>
              </a:p>
              <a:p>
                <a:r>
                  <a:rPr lang="en-IN" dirty="0" smtClean="0"/>
                  <a:t> </a:t>
                </a:r>
                <a:r>
                  <a:rPr lang="en-IN" dirty="0"/>
                  <a:t># =&gt; 48.38%, mean absolute percentage deviation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887"/>
                </a:stretch>
              </a:blipFill>
            </p:spPr>
            <p:txBody>
              <a:bodyPr/>
              <a:lstStyle/>
              <a:p>
                <a:r>
                  <a:rPr lang="en-IN">
                    <a:noFill/>
                  </a:rPr>
                  <a:t> </a:t>
                </a:r>
              </a:p>
            </p:txBody>
          </p:sp>
        </mc:Fallback>
      </mc:AlternateContent>
    </p:spTree>
    <p:extLst>
      <p:ext uri="{BB962C8B-B14F-4D97-AF65-F5344CB8AC3E}">
        <p14:creationId xmlns:p14="http://schemas.microsoft.com/office/powerpoint/2010/main" val="124082040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k- Fold Cross </a:t>
            </a:r>
            <a:r>
              <a:rPr lang="en-IN" b="1" dirty="0" smtClean="0"/>
              <a:t>validation</a:t>
            </a:r>
            <a:endParaRPr lang="en-IN" dirty="0"/>
          </a:p>
        </p:txBody>
      </p:sp>
      <p:sp>
        <p:nvSpPr>
          <p:cNvPr id="3" name="Content Placeholder 2"/>
          <p:cNvSpPr>
            <a:spLocks noGrp="1"/>
          </p:cNvSpPr>
          <p:nvPr>
            <p:ph idx="1"/>
          </p:nvPr>
        </p:nvSpPr>
        <p:spPr/>
        <p:txBody>
          <a:bodyPr>
            <a:normAutofit fontScale="62500" lnSpcReduction="20000"/>
          </a:bodyPr>
          <a:lstStyle/>
          <a:p>
            <a:r>
              <a:rPr lang="en-IN" dirty="0"/>
              <a:t>Suppose, the model predicts satisfactorily on the 20% split (test data), is that enough to believe that your model will perform equally well all the time? It is important to rigorously test the model’s performance as much as possible. One way is to ensure that the model equation you have will perform well, when it is ‘built’ on a different subset of training data and predicted on the remaining data.</a:t>
            </a:r>
          </a:p>
          <a:p>
            <a:r>
              <a:rPr lang="en-IN" dirty="0"/>
              <a:t>How to do this is? Split your data into ‘k’ mutually exclusive random sample portions. Keeping each portion as test data, we build the model on the remaining (k-1 portion) data and calculate the mean squared error of the predictions. This is done for each of the ‘k’ random sample portions. Then finally, the average of these mean squared errors (for ‘k’ portions) is computed. We can use this metric to compare different linear models.</a:t>
            </a:r>
          </a:p>
          <a:p>
            <a:r>
              <a:rPr lang="en-IN" dirty="0"/>
              <a:t>By doing this, we need to check two things:</a:t>
            </a:r>
          </a:p>
          <a:p>
            <a:r>
              <a:rPr lang="en-IN" dirty="0"/>
              <a:t>If the model’s prediction accuracy isn’t varying too much for any one particular sample, and</a:t>
            </a:r>
          </a:p>
          <a:p>
            <a:r>
              <a:rPr lang="en-IN" dirty="0"/>
              <a:t>If the lines of best fit don’t vary too much with respect the </a:t>
            </a:r>
            <a:r>
              <a:rPr lang="en-IN" dirty="0" err="1"/>
              <a:t>the</a:t>
            </a:r>
            <a:r>
              <a:rPr lang="en-IN" dirty="0"/>
              <a:t> slope and level.</a:t>
            </a:r>
          </a:p>
          <a:p>
            <a:r>
              <a:rPr lang="en-IN" dirty="0"/>
              <a:t>In other words, they should be parallel and as close to each other as possible. You can find a more detailed explanation for interpreting the cross validation charts when you learn about advanced linear model building.</a:t>
            </a:r>
          </a:p>
          <a:p>
            <a:endParaRPr lang="en-IN" dirty="0"/>
          </a:p>
        </p:txBody>
      </p:sp>
    </p:spTree>
    <p:extLst>
      <p:ext uri="{BB962C8B-B14F-4D97-AF65-F5344CB8AC3E}">
        <p14:creationId xmlns:p14="http://schemas.microsoft.com/office/powerpoint/2010/main" val="26403725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dirty="0"/>
              <a:t>library(DAAG) </a:t>
            </a:r>
            <a:endParaRPr lang="en-IN" dirty="0" smtClean="0"/>
          </a:p>
          <a:p>
            <a:r>
              <a:rPr lang="en-IN" dirty="0" err="1" smtClean="0"/>
              <a:t>cvResults</a:t>
            </a:r>
            <a:r>
              <a:rPr lang="en-IN" dirty="0" smtClean="0"/>
              <a:t> </a:t>
            </a:r>
            <a:r>
              <a:rPr lang="en-IN" dirty="0"/>
              <a:t>&lt;- </a:t>
            </a:r>
            <a:r>
              <a:rPr lang="en-IN" dirty="0" err="1"/>
              <a:t>suppressWarnings</a:t>
            </a:r>
            <a:r>
              <a:rPr lang="en-IN" dirty="0"/>
              <a:t>(</a:t>
            </a:r>
            <a:r>
              <a:rPr lang="en-IN" dirty="0" err="1"/>
              <a:t>CVlm</a:t>
            </a:r>
            <a:r>
              <a:rPr lang="en-IN" dirty="0"/>
              <a:t>(</a:t>
            </a:r>
            <a:r>
              <a:rPr lang="en-IN" dirty="0" err="1"/>
              <a:t>df</a:t>
            </a:r>
            <a:r>
              <a:rPr lang="en-IN" dirty="0"/>
              <a:t>=cars, </a:t>
            </a:r>
            <a:r>
              <a:rPr lang="en-IN" dirty="0" err="1"/>
              <a:t>form.lm</a:t>
            </a:r>
            <a:r>
              <a:rPr lang="en-IN" dirty="0"/>
              <a:t>=</a:t>
            </a:r>
            <a:r>
              <a:rPr lang="en-IN" dirty="0" err="1"/>
              <a:t>dist</a:t>
            </a:r>
            <a:r>
              <a:rPr lang="en-IN" dirty="0"/>
              <a:t> ~ speed, m=5, dots=FALSE, seed=29, </a:t>
            </a:r>
            <a:r>
              <a:rPr lang="en-IN" dirty="0" err="1"/>
              <a:t>legend.pos</a:t>
            </a:r>
            <a:r>
              <a:rPr lang="en-IN" dirty="0"/>
              <a:t>="</a:t>
            </a:r>
            <a:r>
              <a:rPr lang="en-IN" dirty="0" err="1"/>
              <a:t>topleft</a:t>
            </a:r>
            <a:r>
              <a:rPr lang="en-IN" dirty="0"/>
              <a:t>", </a:t>
            </a:r>
            <a:r>
              <a:rPr lang="en-IN" dirty="0" err="1"/>
              <a:t>printit</a:t>
            </a:r>
            <a:r>
              <a:rPr lang="en-IN" dirty="0"/>
              <a:t>=FALSE, main="Small symbols are predicted values while bigger ones are actuals.")); </a:t>
            </a:r>
            <a:endParaRPr lang="en-IN" dirty="0" smtClean="0"/>
          </a:p>
          <a:p>
            <a:r>
              <a:rPr lang="en-IN" dirty="0" smtClean="0"/>
              <a:t># </a:t>
            </a:r>
            <a:r>
              <a:rPr lang="en-IN" dirty="0"/>
              <a:t>performs the CV </a:t>
            </a:r>
            <a:endParaRPr lang="en-IN" dirty="0" smtClean="0"/>
          </a:p>
          <a:p>
            <a:r>
              <a:rPr lang="en-IN" dirty="0" err="1" smtClean="0"/>
              <a:t>attr</a:t>
            </a:r>
            <a:r>
              <a:rPr lang="en-IN" dirty="0" smtClean="0"/>
              <a:t>(</a:t>
            </a:r>
            <a:r>
              <a:rPr lang="en-IN" dirty="0" err="1" smtClean="0"/>
              <a:t>cvResults</a:t>
            </a:r>
            <a:r>
              <a:rPr lang="en-IN" dirty="0"/>
              <a:t>, '</a:t>
            </a:r>
            <a:r>
              <a:rPr lang="en-IN" dirty="0" err="1"/>
              <a:t>ms</a:t>
            </a:r>
            <a:r>
              <a:rPr lang="en-IN" dirty="0"/>
              <a:t>') </a:t>
            </a:r>
            <a:r>
              <a:rPr lang="en-IN" dirty="0" smtClean="0"/>
              <a:t># </a:t>
            </a:r>
            <a:r>
              <a:rPr lang="en-IN" dirty="0"/>
              <a:t>=&gt; 251.2783 mean squared error</a:t>
            </a:r>
          </a:p>
          <a:p>
            <a:endParaRPr lang="en-IN" dirty="0"/>
          </a:p>
        </p:txBody>
      </p:sp>
    </p:spTree>
    <p:extLst>
      <p:ext uri="{BB962C8B-B14F-4D97-AF65-F5344CB8AC3E}">
        <p14:creationId xmlns:p14="http://schemas.microsoft.com/office/powerpoint/2010/main" val="3361099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60375" y="411162"/>
            <a:ext cx="8229600" cy="1143000"/>
          </a:xfrm>
        </p:spPr>
        <p:txBody>
          <a:bodyPr>
            <a:noAutofit/>
          </a:bodyPr>
          <a:lstStyle/>
          <a:p>
            <a:r>
              <a:rPr lang="en-IN" sz="3600" dirty="0" smtClean="0"/>
              <a:t>In the below plot, Are the dashed lines parallel? Are the small and big symbols are not over dispersed for one particular </a:t>
            </a:r>
            <a:r>
              <a:rPr lang="en-IN" sz="3600" dirty="0" err="1" smtClean="0"/>
              <a:t>color</a:t>
            </a:r>
            <a:r>
              <a:rPr lang="en-IN" sz="3600" dirty="0" smtClean="0"/>
              <a:t>?</a:t>
            </a:r>
            <a:endParaRPr lang="en-IN" sz="3600" dirty="0"/>
          </a:p>
        </p:txBody>
      </p:sp>
      <p:sp>
        <p:nvSpPr>
          <p:cNvPr id="4" name="AutoShape 2" descr="http://r-statistics.co/screenshots/cv-plot.png"/>
          <p:cNvSpPr>
            <a:spLocks noChangeAspect="1" noChangeArrowheads="1"/>
          </p:cNvSpPr>
          <p:nvPr/>
        </p:nvSpPr>
        <p:spPr bwMode="auto">
          <a:xfrm>
            <a:off x="155575" y="-2408238"/>
            <a:ext cx="5029200" cy="50292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http://r-statistics.co/screenshots/cv-plot.png"/>
          <p:cNvSpPr>
            <a:spLocks noChangeAspect="1" noChangeArrowheads="1"/>
          </p:cNvSpPr>
          <p:nvPr/>
        </p:nvSpPr>
        <p:spPr bwMode="auto">
          <a:xfrm>
            <a:off x="307975" y="-2255838"/>
            <a:ext cx="5029200" cy="50292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http://r-statistics.co/screenshots/cv-plot.png"/>
          <p:cNvSpPr>
            <a:spLocks noChangeAspect="1" noChangeArrowheads="1"/>
          </p:cNvSpPr>
          <p:nvPr/>
        </p:nvSpPr>
        <p:spPr bwMode="auto">
          <a:xfrm>
            <a:off x="460375" y="-2103438"/>
            <a:ext cx="5029200" cy="50292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4893" y="1988840"/>
            <a:ext cx="4272385" cy="432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30453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5841" y="2967335"/>
            <a:ext cx="2852320"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Question</a:t>
            </a:r>
          </a:p>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t>
            </a: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1923128560"/>
      </p:ext>
    </p:extLst>
  </p:cSld>
  <p:clrMapOvr>
    <a:masterClrMapping/>
  </p:clrMapOvr>
  <p:timing>
    <p:tnLst>
      <p:par>
        <p:cTn id="1" dur="indefinite" restart="never" nodeType="tmRoot"/>
      </p:par>
    </p:tnLst>
  </p:timing>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365</TotalTime>
  <Words>3701</Words>
  <Application>Microsoft Office PowerPoint</Application>
  <PresentationFormat>On-screen Show (4:3)</PresentationFormat>
  <Paragraphs>435</Paragraphs>
  <Slides>69</Slides>
  <Notes>7</Notes>
  <HiddenSlides>5</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69</vt:i4>
      </vt:variant>
    </vt:vector>
  </HeadingPairs>
  <TitlesOfParts>
    <vt:vector size="72" baseType="lpstr">
      <vt:lpstr>2_Custom Design</vt:lpstr>
      <vt:lpstr>Equation</vt:lpstr>
      <vt:lpstr>Chart</vt:lpstr>
      <vt:lpstr>Regression</vt:lpstr>
      <vt:lpstr>PowerPoint Presentation</vt:lpstr>
      <vt:lpstr>The Sample Covariance</vt:lpstr>
      <vt:lpstr>Interpreting Covariance</vt:lpstr>
      <vt:lpstr>Coefficient of Correlation</vt:lpstr>
      <vt:lpstr>Features of  Correlation Coefficient, r</vt:lpstr>
      <vt:lpstr>Scatter Plots of Data with Various Correlation Coefficients</vt:lpstr>
      <vt:lpstr>Using Excel to Find  the Correlation Coefficient</vt:lpstr>
      <vt:lpstr>Using Excel to Find  the Correlation Coefficient</vt:lpstr>
      <vt:lpstr>Interpreting the Result</vt:lpstr>
      <vt:lpstr>Correlation vs. Regression</vt:lpstr>
      <vt:lpstr>Introduction to  Regression Analysis</vt:lpstr>
      <vt:lpstr>Simple Linear Regression Model</vt:lpstr>
      <vt:lpstr>Simple Linear Regression Model</vt:lpstr>
      <vt:lpstr>Y = β1 + β2X + ϵ</vt:lpstr>
      <vt:lpstr>PowerPoint Presentation</vt:lpstr>
      <vt:lpstr>Simple Linear Regression Equation (Prediction Line)</vt:lpstr>
      <vt:lpstr>Least Squares Method</vt:lpstr>
      <vt:lpstr>Finding the Least Squares Equation</vt:lpstr>
      <vt:lpstr>Interpretation of the  Slope and the Intercept</vt:lpstr>
      <vt:lpstr>Simple Linear Regression Example</vt:lpstr>
      <vt:lpstr>Sample Data for House Price Model</vt:lpstr>
      <vt:lpstr>Graphical Presentation</vt:lpstr>
      <vt:lpstr>Regression Using Excel</vt:lpstr>
      <vt:lpstr>Excel Output</vt:lpstr>
      <vt:lpstr>Graphical Presentation</vt:lpstr>
      <vt:lpstr>Interpretation of the  Intercept,  b0</vt:lpstr>
      <vt:lpstr>Interpretation of the  Slope Coefficient,  b1</vt:lpstr>
      <vt:lpstr>Predictions using  Regression Analysis</vt:lpstr>
      <vt:lpstr>Coefficient of Determination, r2</vt:lpstr>
      <vt:lpstr>PowerPoint Presentation</vt:lpstr>
      <vt:lpstr>PowerPoint Presentation</vt:lpstr>
      <vt:lpstr>Example Problem</vt:lpstr>
      <vt:lpstr>PowerPoint Presentation</vt:lpstr>
      <vt:lpstr>Graphical Analysis</vt:lpstr>
      <vt:lpstr>Scatter Plot</vt:lpstr>
      <vt:lpstr>BoxPlot – Check for outliers</vt:lpstr>
      <vt:lpstr>PowerPoint Presentation</vt:lpstr>
      <vt:lpstr>PowerPoint Presentation</vt:lpstr>
      <vt:lpstr>Density plot – Check if the response variable is close to normality</vt:lpstr>
      <vt:lpstr>PowerPoint Presentation</vt:lpstr>
      <vt:lpstr>Correlation</vt:lpstr>
      <vt:lpstr>PowerPoint Presentation</vt:lpstr>
      <vt:lpstr>Build Linear Model</vt:lpstr>
      <vt:lpstr>PowerPoint Presentation</vt:lpstr>
      <vt:lpstr>PowerPoint Presentation</vt:lpstr>
      <vt:lpstr>Linear Regression Diagnostics</vt:lpstr>
      <vt:lpstr>The p Value: Checking for statistical significance</vt:lpstr>
      <vt:lpstr>Null and alternate hypothesis</vt:lpstr>
      <vt:lpstr>t-value</vt:lpstr>
      <vt:lpstr>PowerPoint Presentation</vt:lpstr>
      <vt:lpstr>What this means to us?</vt:lpstr>
      <vt:lpstr>How to calculate the t Statistic and p-Values?</vt:lpstr>
      <vt:lpstr>R-Squared and Adj R-Squared</vt:lpstr>
      <vt:lpstr>Adjusted R-Squared</vt:lpstr>
      <vt:lpstr>Standard Error and F-Statistic</vt:lpstr>
      <vt:lpstr>AIC and BIC</vt:lpstr>
      <vt:lpstr>PowerPoint Presentation</vt:lpstr>
      <vt:lpstr>How to know if the model is best fit for your data?</vt:lpstr>
      <vt:lpstr>Predicting Linear Models</vt:lpstr>
      <vt:lpstr>Step 1: Create the training (development) and test (validation) data samples from original data.</vt:lpstr>
      <vt:lpstr>Step 2: Develop the model on the training data and use it to predict the distance on test data</vt:lpstr>
      <vt:lpstr>Step 3: Review diagnostic measures.</vt:lpstr>
      <vt:lpstr>Step 4: Calculate prediction accuracy and error rates</vt:lpstr>
      <vt:lpstr>PowerPoint Presentation</vt:lpstr>
      <vt:lpstr>k- Fold Cross validation</vt:lpstr>
      <vt:lpstr>PowerPoint Presentation</vt:lpstr>
      <vt:lpstr>In the below plot, Are the dashed lines parallel? Are the small and big symbols are not over dispersed for one particular color?</vt:lpstr>
      <vt:lpstr>PowerPoint Presentation</vt:lpstr>
    </vt:vector>
  </TitlesOfParts>
  <Manager>Vaibhav Vasani</Manager>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ADS</dc:title>
  <dc:subject>ADS</dc:subject>
  <dc:creator>Vaibhav Vasani</dc:creator>
  <cp:keywords>ADS</cp:keywords>
  <dc:description>Vaibhav</dc:description>
  <cp:lastModifiedBy>Admin</cp:lastModifiedBy>
  <cp:revision>21</cp:revision>
  <dcterms:created xsi:type="dcterms:W3CDTF">2021-02-11T03:47:51Z</dcterms:created>
  <dcterms:modified xsi:type="dcterms:W3CDTF">2024-02-20T03:54:28Z</dcterms:modified>
  <cp:category>Honours</cp:category>
</cp:coreProperties>
</file>