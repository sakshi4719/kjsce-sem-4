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7.xml"/>
  <Override ContentType="application/vnd.openxmlformats-officedocument.presentationml.notesSlide+xml" PartName="/ppt/notesSlides/notesSlide5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50.xml"/>
  <Override ContentType="application/vnd.openxmlformats-officedocument.presentationml.notesSlide+xml" PartName="/ppt/notesSlides/notesSlide100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85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77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73.xml"/>
  <Override ContentType="application/vnd.openxmlformats-officedocument.presentationml.notesSlide+xml" PartName="/ppt/notesSlides/notesSlide8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69.xml"/>
  <Override ContentType="application/vnd.openxmlformats-officedocument.presentationml.notesSlide+xml" PartName="/ppt/notesSlides/notesSlide105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93.xml"/>
  <Override ContentType="application/vnd.openxmlformats-officedocument.presentationml.notesSlide+xml" PartName="/ppt/notesSlides/notesSlide87.xml"/>
  <Override ContentType="application/vnd.openxmlformats-officedocument.presentationml.notesSlide+xml" PartName="/ppt/notesSlides/notesSlide57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75.xml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54.xml"/>
  <Override ContentType="application/vnd.openxmlformats-officedocument.presentationml.notesSlide+xml" PartName="/ppt/notesSlides/notesSlide103.xml"/>
  <Override ContentType="application/vnd.openxmlformats-officedocument.presentationml.notesSlide+xml" PartName="/ppt/notesSlides/notesSlide97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9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63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60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48.xml"/>
  <Override ContentType="application/vnd.openxmlformats-officedocument.presentationml.notesSlide+xml" PartName="/ppt/notesSlides/notesSlide101.xml"/>
  <Override ContentType="application/vnd.openxmlformats-officedocument.presentationml.notesSlide+xml" PartName="/ppt/notesSlides/notesSlide95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5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5.xml"/>
  <Override ContentType="application/vnd.openxmlformats-officedocument.presentationml.notesSlide+xml" PartName="/ppt/notesSlides/notesSlide78.xml"/>
  <Override ContentType="application/vnd.openxmlformats-officedocument.presentationml.notesSlide+xml" PartName="/ppt/notesSlides/notesSlide71.xml"/>
  <Override ContentType="application/vnd.openxmlformats-officedocument.presentationml.notesSlide+xml" PartName="/ppt/notesSlides/notesSlide92.xml"/>
  <Override ContentType="application/vnd.openxmlformats-officedocument.presentationml.notesSlide+xml" PartName="/ppt/notesSlides/notesSlide84.xml"/>
  <Override ContentType="application/vnd.openxmlformats-officedocument.presentationml.notesSlide+xml" PartName="/ppt/notesSlides/notesSlide76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68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82.xml"/>
  <Override ContentType="application/vnd.openxmlformats-officedocument.presentationml.notesSlide+xml" PartName="/ppt/notesSlides/notesSlide94.xml"/>
  <Override ContentType="application/vnd.openxmlformats-officedocument.presentationml.notesSlide+xml" PartName="/ppt/notesSlides/notesSlide51.xml"/>
  <Override ContentType="application/vnd.openxmlformats-officedocument.presentationml.notesSlide+xml" PartName="/ppt/notesSlides/notesSlide90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86.xml"/>
  <Override ContentType="application/vnd.openxmlformats-officedocument.presentationml.notesSlide+xml" PartName="/ppt/notesSlides/notesSlide99.xml"/>
  <Override ContentType="application/vnd.openxmlformats-officedocument.presentationml.notesSlide+xml" PartName="/ppt/notesSlides/notesSlide56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80.xml"/>
  <Override ContentType="application/vnd.openxmlformats-officedocument.presentationml.notesSlide+xml" PartName="/ppt/notesSlides/notesSlide61.xml"/>
  <Override ContentType="application/vnd.openxmlformats-officedocument.presentationml.notesSlide+xml" PartName="/ppt/notesSlides/notesSlide74.xml"/>
  <Override ContentType="application/vnd.openxmlformats-officedocument.presentationml.notesSlide+xml" PartName="/ppt/notesSlides/notesSlide58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88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62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70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5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47.xml"/>
  <Override ContentType="application/vnd.openxmlformats-officedocument.presentationml.notesSlide+xml" PartName="/ppt/notesSlides/notesSlide72.xml"/>
  <Override ContentType="application/vnd.openxmlformats-officedocument.presentationml.notesSlide+xml" PartName="/ppt/notesSlides/notesSlide98.xml"/>
  <Override ContentType="application/vnd.openxmlformats-officedocument.presentationml.notesSlide+xml" PartName="/ppt/notesSlides/notesSlide104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64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79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49.xml"/>
  <Override ContentType="application/vnd.openxmlformats-officedocument.presentationml.notesSlide+xml" PartName="/ppt/notesSlides/notesSlide96.xml"/>
  <Override ContentType="application/vnd.openxmlformats-officedocument.presentationml.notesSlide+xml" PartName="/ppt/notesSlides/notesSlide102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83.xml"/>
  <Override ContentType="application/vnd.openxmlformats-officedocument.presentationml.notesSlide+xml" PartName="/ppt/notesSlides/notesSlide53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66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3.xml"/>
  <Override ContentType="application/vnd.openxmlformats-officedocument.presentationml.slide+xml" PartName="/ppt/slides/slide78.xml"/>
  <Override ContentType="application/vnd.openxmlformats-officedocument.presentationml.slide+xml" PartName="/ppt/slides/slide86.xml"/>
  <Override ContentType="application/vnd.openxmlformats-officedocument.presentationml.slide+xml" PartName="/ppt/slides/slide35.xml"/>
  <Override ContentType="application/vnd.openxmlformats-officedocument.presentationml.slide+xml" PartName="/ppt/slides/slide105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33.xml"/>
  <Override ContentType="application/vnd.openxmlformats-officedocument.presentationml.slide+xml" PartName="/ppt/slides/slide51.xml"/>
  <Override ContentType="application/vnd.openxmlformats-officedocument.presentationml.slide+xml" PartName="/ppt/slides/slide68.xml"/>
  <Override ContentType="application/vnd.openxmlformats-officedocument.presentationml.slide+xml" PartName="/ppt/slides/slide94.xml"/>
  <Override ContentType="application/vnd.openxmlformats-officedocument.presentationml.slide+xml" PartName="/ppt/slides/slide84.xml"/>
  <Override ContentType="application/vnd.openxmlformats-officedocument.presentationml.slide+xml" PartName="/ppt/slides/slide37.xml"/>
  <Override ContentType="application/vnd.openxmlformats-officedocument.presentationml.slide+xml" PartName="/ppt/slides/slide71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66.xml"/>
  <Override ContentType="application/vnd.openxmlformats-officedocument.presentationml.slide+xml" PartName="/ppt/slides/slide23.xml"/>
  <Override ContentType="application/vnd.openxmlformats-officedocument.presentationml.slide+xml" PartName="/ppt/slides/slide10.xml"/>
  <Override ContentType="application/vnd.openxmlformats-officedocument.presentationml.slide+xml" PartName="/ppt/slides/slide53.xml"/>
  <Override ContentType="application/vnd.openxmlformats-officedocument.presentationml.slide+xml" PartName="/ppt/slides/slide96.xml"/>
  <Override ContentType="application/vnd.openxmlformats-officedocument.presentationml.slide+xml" PartName="/ppt/slides/slide48.xml"/>
  <Override ContentType="application/vnd.openxmlformats-officedocument.presentationml.slide+xml" PartName="/ppt/slides/slide22.xml"/>
  <Override ContentType="application/vnd.openxmlformats-officedocument.presentationml.slide+xml" PartName="/ppt/slides/slide82.xml"/>
  <Override ContentType="application/vnd.openxmlformats-officedocument.presentationml.slide+xml" PartName="/ppt/slides/slide65.xml"/>
  <Override ContentType="application/vnd.openxmlformats-officedocument.presentationml.slide+xml" PartName="/ppt/slides/slide9.xml"/>
  <Override ContentType="application/vnd.openxmlformats-officedocument.presentationml.slide+xml" PartName="/ppt/slides/slide12.xml"/>
  <Override ContentType="application/vnd.openxmlformats-officedocument.presentationml.slide+xml" PartName="/ppt/slides/slide98.xml"/>
  <Override ContentType="application/vnd.openxmlformats-officedocument.presentationml.slide+xml" PartName="/ppt/slides/slide72.xml"/>
  <Override ContentType="application/vnd.openxmlformats-officedocument.presentationml.slide+xml" PartName="/ppt/slides/slide20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55.xml"/>
  <Override ContentType="application/vnd.openxmlformats-officedocument.presentationml.slide+xml" PartName="/ppt/slides/slide29.xml"/>
  <Override ContentType="application/vnd.openxmlformats-officedocument.presentationml.slide+xml" PartName="/ppt/slides/slide59.xml"/>
  <Override ContentType="application/vnd.openxmlformats-officedocument.presentationml.slide+xml" PartName="/ppt/slides/slide89.xml"/>
  <Override ContentType="application/vnd.openxmlformats-officedocument.presentationml.slide+xml" PartName="/ppt/slides/slide76.xml"/>
  <Override ContentType="application/vnd.openxmlformats-officedocument.presentationml.slide+xml" PartName="/ppt/slides/slide63.xml"/>
  <Override ContentType="application/vnd.openxmlformats-officedocument.presentationml.slide+xml" PartName="/ppt/slides/slide93.xml"/>
  <Override ContentType="application/vnd.openxmlformats-officedocument.presentationml.slide+xml" PartName="/ppt/slides/slide101.xml"/>
  <Override ContentType="application/vnd.openxmlformats-officedocument.presentationml.slide+xml" PartName="/ppt/slides/slide80.xml"/>
  <Override ContentType="application/vnd.openxmlformats-officedocument.presentationml.slide+xml" PartName="/ppt/slides/slide103.xml"/>
  <Override ContentType="application/vnd.openxmlformats-officedocument.presentationml.slide+xml" PartName="/ppt/slides/slide61.xml"/>
  <Override ContentType="application/vnd.openxmlformats-officedocument.presentationml.slide+xml" PartName="/ppt/slides/slide91.xml"/>
  <Override ContentType="application/vnd.openxmlformats-officedocument.presentationml.slide+xml" PartName="/ppt/slides/slide31.xml"/>
  <Override ContentType="application/vnd.openxmlformats-officedocument.presentationml.slide+xml" PartName="/ppt/slides/slide87.xml"/>
  <Override ContentType="application/vnd.openxmlformats-officedocument.presentationml.slide+xml" PartName="/ppt/slides/slide74.xml"/>
  <Override ContentType="application/vnd.openxmlformats-officedocument.presentationml.slide+xml" PartName="/ppt/slides/slide27.xml"/>
  <Override ContentType="application/vnd.openxmlformats-officedocument.presentationml.slide+xml" PartName="/ppt/slides/slide57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14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60.xml"/>
  <Override ContentType="application/vnd.openxmlformats-officedocument.presentationml.slide+xml" PartName="/ppt/slides/slide52.xml"/>
  <Override ContentType="application/vnd.openxmlformats-officedocument.presentationml.slide+xml" PartName="/ppt/slides/slide26.xml"/>
  <Override ContentType="application/vnd.openxmlformats-officedocument.presentationml.slide+xml" PartName="/ppt/slides/slide95.xml"/>
  <Override ContentType="application/vnd.openxmlformats-officedocument.presentationml.slide+xml" PartName="/ppt/slides/slide69.xml"/>
  <Override ContentType="application/vnd.openxmlformats-officedocument.presentationml.slide+xml" PartName="/ppt/slides/slide85.xml"/>
  <Override ContentType="application/vnd.openxmlformats-officedocument.presentationml.slide+xml" PartName="/ppt/slides/slide42.xml"/>
  <Override ContentType="application/vnd.openxmlformats-officedocument.presentationml.slide+xml" PartName="/ppt/slides/slide50.xml"/>
  <Override ContentType="application/vnd.openxmlformats-officedocument.presentationml.slide+xml" PartName="/ppt/slides/slide77.xml"/>
  <Override ContentType="application/vnd.openxmlformats-officedocument.presentationml.slide+xml" PartName="/ppt/slides/slide34.xml"/>
  <Override ContentType="application/vnd.openxmlformats-officedocument.presentationml.slide+xml" PartName="/ppt/slides/slide16.xml"/>
  <Override ContentType="application/vnd.openxmlformats-officedocument.presentationml.slide+xml" PartName="/ppt/slides/slide104.xml"/>
  <Override ContentType="application/vnd.openxmlformats-officedocument.presentationml.slide+xml" PartName="/ppt/slides/slide24.xml"/>
  <Override ContentType="application/vnd.openxmlformats-officedocument.presentationml.slide+xml" PartName="/ppt/slides/slide97.xml"/>
  <Override ContentType="application/vnd.openxmlformats-officedocument.presentationml.slide+xml" PartName="/ppt/slides/slide11.xml"/>
  <Override ContentType="application/vnd.openxmlformats-officedocument.presentationml.slide+xml" PartName="/ppt/slides/slide67.xml"/>
  <Override ContentType="application/vnd.openxmlformats-officedocument.presentationml.slide+xml" PartName="/ppt/slides/slide54.xml"/>
  <Override ContentType="application/vnd.openxmlformats-officedocument.presentationml.slide+xml" PartName="/ppt/slides/slide36.xml"/>
  <Override ContentType="application/vnd.openxmlformats-officedocument.presentationml.slide+xml" PartName="/ppt/slides/slide79.xml"/>
  <Override ContentType="application/vnd.openxmlformats-officedocument.presentationml.slide+xml" PartName="/ppt/slides/slide49.xml"/>
  <Override ContentType="application/vnd.openxmlformats-officedocument.presentationml.slide+xml" PartName="/ppt/slides/slide83.xml"/>
  <Override ContentType="application/vnd.openxmlformats-officedocument.presentationml.slide+xml" PartName="/ppt/slides/slide70.xml"/>
  <Override ContentType="application/vnd.openxmlformats-officedocument.presentationml.slide+xml" PartName="/ppt/slides/slide6.xml"/>
  <Override ContentType="application/vnd.openxmlformats-officedocument.presentationml.slide+xml" PartName="/ppt/slides/slide40.xml"/>
  <Override ContentType="application/vnd.openxmlformats-officedocument.presentationml.slide+xml" PartName="/ppt/slides/slide73.xml"/>
  <Override ContentType="application/vnd.openxmlformats-officedocument.presentationml.slide+xml" PartName="/ppt/slides/slide30.xml"/>
  <Override ContentType="application/vnd.openxmlformats-officedocument.presentationml.slide+xml" PartName="/ppt/slides/slide99.xml"/>
  <Override ContentType="application/vnd.openxmlformats-officedocument.presentationml.slide+xml" PartName="/ppt/slides/slide39.xml"/>
  <Override ContentType="application/vnd.openxmlformats-officedocument.presentationml.slide+xml" PartName="/ppt/slides/slide13.xml"/>
  <Override ContentType="application/vnd.openxmlformats-officedocument.presentationml.slide+xml" PartName="/ppt/slides/slide56.xml"/>
  <Override ContentType="application/vnd.openxmlformats-officedocument.presentationml.slide+xml" PartName="/ppt/slides/slide47.xml"/>
  <Override ContentType="application/vnd.openxmlformats-officedocument.presentationml.slide+xml" PartName="/ppt/slides/slide21.xml"/>
  <Override ContentType="application/vnd.openxmlformats-officedocument.presentationml.slide+xml" PartName="/ppt/slides/slide100.xml"/>
  <Override ContentType="application/vnd.openxmlformats-officedocument.presentationml.slide+xml" PartName="/ppt/slides/slide64.xml"/>
  <Override ContentType="application/vnd.openxmlformats-officedocument.presentationml.slide+xml" PartName="/ppt/slides/slide81.xml"/>
  <Override ContentType="application/vnd.openxmlformats-officedocument.presentationml.slide+xml" PartName="/ppt/slides/slide90.xml"/>
  <Override ContentType="application/vnd.openxmlformats-officedocument.presentationml.slide+xml" PartName="/ppt/slides/slide8.xml"/>
  <Override ContentType="application/vnd.openxmlformats-officedocument.presentationml.slide+xml" PartName="/ppt/slides/slide32.xml"/>
  <Override ContentType="application/vnd.openxmlformats-officedocument.presentationml.slide+xml" PartName="/ppt/slides/slide62.xml"/>
  <Override ContentType="application/vnd.openxmlformats-officedocument.presentationml.slide+xml" PartName="/ppt/slides/slide75.xml"/>
  <Override ContentType="application/vnd.openxmlformats-officedocument.presentationml.slide+xml" PartName="/ppt/slides/slide1.xml"/>
  <Override ContentType="application/vnd.openxmlformats-officedocument.presentationml.slide+xml" PartName="/ppt/slides/slide58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15.xml"/>
  <Override ContentType="application/vnd.openxmlformats-officedocument.presentationml.slide+xml" PartName="/ppt/slides/slide88.xml"/>
  <Override ContentType="application/vnd.openxmlformats-officedocument.presentationml.slide+xml" PartName="/ppt/slides/slide92.xml"/>
  <Override ContentType="application/vnd.openxmlformats-officedocument.presentationml.slide+xml" PartName="/ppt/slides/slide102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  <p:sldId id="321" r:id="rId72"/>
    <p:sldId id="322" r:id="rId73"/>
    <p:sldId id="323" r:id="rId74"/>
    <p:sldId id="324" r:id="rId75"/>
    <p:sldId id="325" r:id="rId76"/>
    <p:sldId id="326" r:id="rId77"/>
    <p:sldId id="327" r:id="rId78"/>
    <p:sldId id="328" r:id="rId79"/>
    <p:sldId id="329" r:id="rId80"/>
    <p:sldId id="330" r:id="rId81"/>
    <p:sldId id="331" r:id="rId82"/>
    <p:sldId id="332" r:id="rId83"/>
    <p:sldId id="333" r:id="rId84"/>
    <p:sldId id="334" r:id="rId85"/>
    <p:sldId id="335" r:id="rId86"/>
    <p:sldId id="336" r:id="rId87"/>
    <p:sldId id="337" r:id="rId88"/>
    <p:sldId id="338" r:id="rId89"/>
    <p:sldId id="339" r:id="rId90"/>
    <p:sldId id="340" r:id="rId91"/>
    <p:sldId id="341" r:id="rId92"/>
    <p:sldId id="342" r:id="rId93"/>
    <p:sldId id="343" r:id="rId94"/>
    <p:sldId id="344" r:id="rId95"/>
    <p:sldId id="345" r:id="rId96"/>
    <p:sldId id="346" r:id="rId97"/>
    <p:sldId id="347" r:id="rId98"/>
    <p:sldId id="348" r:id="rId99"/>
    <p:sldId id="349" r:id="rId100"/>
    <p:sldId id="350" r:id="rId101"/>
    <p:sldId id="351" r:id="rId102"/>
    <p:sldId id="352" r:id="rId103"/>
    <p:sldId id="353" r:id="rId104"/>
    <p:sldId id="354" r:id="rId105"/>
    <p:sldId id="355" r:id="rId106"/>
    <p:sldId id="356" r:id="rId107"/>
    <p:sldId id="357" r:id="rId108"/>
    <p:sldId id="358" r:id="rId109"/>
    <p:sldId id="359" r:id="rId110"/>
    <p:sldId id="360" r:id="rId111"/>
  </p:sldIdLst>
  <p:sldSz cy="6858000" cx="12192000"/>
  <p:notesSz cx="6858000" cy="9144000"/>
  <p:embeddedFontLst>
    <p:embeddedFont>
      <p:font typeface="Marcellus"/>
      <p:regular r:id="rId112"/>
    </p:embeddedFont>
    <p:embeddedFont>
      <p:font typeface="Fira Sans"/>
      <p:regular r:id="rId113"/>
      <p:bold r:id="rId114"/>
      <p:italic r:id="rId115"/>
      <p:boldItalic r:id="rId11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3840">
          <p15:clr>
            <a:srgbClr val="000000"/>
          </p15:clr>
        </p15:guide>
      </p15:sldGuideLst>
    </p:ext>
    <p:ext uri="GoogleSlidesCustomDataVersion2">
      <go:slidesCustomData xmlns:go="http://customooxmlschemas.google.com/" r:id="rId117" roundtripDataSignature="AMtx7mhBvMF156IUmhDrC8imq9ulzhfz0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5B9686C9-2DAC-4542-8D34-4B4182193A1A}">
  <a:tblStyle styleId="{5B9686C9-2DAC-4542-8D34-4B4182193A1A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  <a:tblStyle styleId="{112EDE2C-E6AC-42DE-8778-5CDE3AA45634}" styleName="Table_1">
    <a:wholeTbl>
      <a:tcTxStyle b="off" i="off">
        <a:font>
          <a:latin typeface="Fira Sans"/>
          <a:ea typeface="Fira Sans"/>
          <a:cs typeface="Fira Sans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7EFEB"/>
          </a:solidFill>
        </a:fill>
      </a:tcStyle>
    </a:wholeTbl>
    <a:band1H>
      <a:tcTxStyle/>
      <a:tcStyle>
        <a:fill>
          <a:solidFill>
            <a:srgbClr val="CBDDD5"/>
          </a:solidFill>
        </a:fill>
      </a:tcStyle>
    </a:band1H>
    <a:band2H>
      <a:tcTxStyle/>
    </a:band2H>
    <a:band1V>
      <a:tcTxStyle/>
      <a:tcStyle>
        <a:fill>
          <a:solidFill>
            <a:srgbClr val="CBDDD5"/>
          </a:solidFill>
        </a:fill>
      </a:tcStyle>
    </a:band1V>
    <a:band2V>
      <a:tcTxStyle/>
    </a:band2V>
    <a:lastCol>
      <a:tcTxStyle b="on" i="off">
        <a:font>
          <a:latin typeface="Fira Sans"/>
          <a:ea typeface="Fira Sans"/>
          <a:cs typeface="Fira Sans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Fira Sans"/>
          <a:ea typeface="Fira Sans"/>
          <a:cs typeface="Fira Sans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Fira Sans"/>
          <a:ea typeface="Fira Sans"/>
          <a:cs typeface="Fira Sans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Fira Sans"/>
          <a:ea typeface="Fira Sans"/>
          <a:cs typeface="Fira Sans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384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4.xml"/><Relationship Id="rId42" Type="http://schemas.openxmlformats.org/officeDocument/2006/relationships/slide" Target="slides/slide36.xml"/><Relationship Id="rId41" Type="http://schemas.openxmlformats.org/officeDocument/2006/relationships/slide" Target="slides/slide35.xml"/><Relationship Id="rId44" Type="http://schemas.openxmlformats.org/officeDocument/2006/relationships/slide" Target="slides/slide38.xml"/><Relationship Id="rId43" Type="http://schemas.openxmlformats.org/officeDocument/2006/relationships/slide" Target="slides/slide37.xml"/><Relationship Id="rId46" Type="http://schemas.openxmlformats.org/officeDocument/2006/relationships/slide" Target="slides/slide40.xml"/><Relationship Id="rId45" Type="http://schemas.openxmlformats.org/officeDocument/2006/relationships/slide" Target="slides/slide39.xml"/><Relationship Id="rId107" Type="http://schemas.openxmlformats.org/officeDocument/2006/relationships/slide" Target="slides/slide101.xml"/><Relationship Id="rId106" Type="http://schemas.openxmlformats.org/officeDocument/2006/relationships/slide" Target="slides/slide100.xml"/><Relationship Id="rId105" Type="http://schemas.openxmlformats.org/officeDocument/2006/relationships/slide" Target="slides/slide99.xml"/><Relationship Id="rId104" Type="http://schemas.openxmlformats.org/officeDocument/2006/relationships/slide" Target="slides/slide98.xml"/><Relationship Id="rId109" Type="http://schemas.openxmlformats.org/officeDocument/2006/relationships/slide" Target="slides/slide103.xml"/><Relationship Id="rId108" Type="http://schemas.openxmlformats.org/officeDocument/2006/relationships/slide" Target="slides/slide102.xml"/><Relationship Id="rId48" Type="http://schemas.openxmlformats.org/officeDocument/2006/relationships/slide" Target="slides/slide42.xml"/><Relationship Id="rId47" Type="http://schemas.openxmlformats.org/officeDocument/2006/relationships/slide" Target="slides/slide41.xml"/><Relationship Id="rId49" Type="http://schemas.openxmlformats.org/officeDocument/2006/relationships/slide" Target="slides/slide43.xml"/><Relationship Id="rId103" Type="http://schemas.openxmlformats.org/officeDocument/2006/relationships/slide" Target="slides/slide97.xml"/><Relationship Id="rId102" Type="http://schemas.openxmlformats.org/officeDocument/2006/relationships/slide" Target="slides/slide96.xml"/><Relationship Id="rId101" Type="http://schemas.openxmlformats.org/officeDocument/2006/relationships/slide" Target="slides/slide95.xml"/><Relationship Id="rId100" Type="http://schemas.openxmlformats.org/officeDocument/2006/relationships/slide" Target="slides/slide94.xml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33" Type="http://schemas.openxmlformats.org/officeDocument/2006/relationships/slide" Target="slides/slide27.xml"/><Relationship Id="rId32" Type="http://schemas.openxmlformats.org/officeDocument/2006/relationships/slide" Target="slides/slide26.xml"/><Relationship Id="rId35" Type="http://schemas.openxmlformats.org/officeDocument/2006/relationships/slide" Target="slides/slide29.xml"/><Relationship Id="rId34" Type="http://schemas.openxmlformats.org/officeDocument/2006/relationships/slide" Target="slides/slide28.xml"/><Relationship Id="rId37" Type="http://schemas.openxmlformats.org/officeDocument/2006/relationships/slide" Target="slides/slide31.xml"/><Relationship Id="rId36" Type="http://schemas.openxmlformats.org/officeDocument/2006/relationships/slide" Target="slides/slide30.xml"/><Relationship Id="rId39" Type="http://schemas.openxmlformats.org/officeDocument/2006/relationships/slide" Target="slides/slide33.xml"/><Relationship Id="rId38" Type="http://schemas.openxmlformats.org/officeDocument/2006/relationships/slide" Target="slides/slide32.xml"/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29" Type="http://schemas.openxmlformats.org/officeDocument/2006/relationships/slide" Target="slides/slide23.xml"/><Relationship Id="rId95" Type="http://schemas.openxmlformats.org/officeDocument/2006/relationships/slide" Target="slides/slide89.xml"/><Relationship Id="rId94" Type="http://schemas.openxmlformats.org/officeDocument/2006/relationships/slide" Target="slides/slide88.xml"/><Relationship Id="rId97" Type="http://schemas.openxmlformats.org/officeDocument/2006/relationships/slide" Target="slides/slide91.xml"/><Relationship Id="rId96" Type="http://schemas.openxmlformats.org/officeDocument/2006/relationships/slide" Target="slides/slide90.xml"/><Relationship Id="rId11" Type="http://schemas.openxmlformats.org/officeDocument/2006/relationships/slide" Target="slides/slide5.xml"/><Relationship Id="rId99" Type="http://schemas.openxmlformats.org/officeDocument/2006/relationships/slide" Target="slides/slide93.xml"/><Relationship Id="rId10" Type="http://schemas.openxmlformats.org/officeDocument/2006/relationships/slide" Target="slides/slide4.xml"/><Relationship Id="rId98" Type="http://schemas.openxmlformats.org/officeDocument/2006/relationships/slide" Target="slides/slide92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91" Type="http://schemas.openxmlformats.org/officeDocument/2006/relationships/slide" Target="slides/slide85.xml"/><Relationship Id="rId90" Type="http://schemas.openxmlformats.org/officeDocument/2006/relationships/slide" Target="slides/slide84.xml"/><Relationship Id="rId93" Type="http://schemas.openxmlformats.org/officeDocument/2006/relationships/slide" Target="slides/slide87.xml"/><Relationship Id="rId92" Type="http://schemas.openxmlformats.org/officeDocument/2006/relationships/slide" Target="slides/slide86.xml"/><Relationship Id="rId117" Type="http://customschemas.google.com/relationships/presentationmetadata" Target="metadata"/><Relationship Id="rId116" Type="http://schemas.openxmlformats.org/officeDocument/2006/relationships/font" Target="fonts/FiraSans-boldItalic.fntdata"/><Relationship Id="rId115" Type="http://schemas.openxmlformats.org/officeDocument/2006/relationships/font" Target="fonts/FiraSans-italic.fntdata"/><Relationship Id="rId15" Type="http://schemas.openxmlformats.org/officeDocument/2006/relationships/slide" Target="slides/slide9.xml"/><Relationship Id="rId110" Type="http://schemas.openxmlformats.org/officeDocument/2006/relationships/slide" Target="slides/slide104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14" Type="http://schemas.openxmlformats.org/officeDocument/2006/relationships/font" Target="fonts/FiraSans-bold.fntdata"/><Relationship Id="rId18" Type="http://schemas.openxmlformats.org/officeDocument/2006/relationships/slide" Target="slides/slide12.xml"/><Relationship Id="rId113" Type="http://schemas.openxmlformats.org/officeDocument/2006/relationships/font" Target="fonts/FiraSans-regular.fntdata"/><Relationship Id="rId112" Type="http://schemas.openxmlformats.org/officeDocument/2006/relationships/font" Target="fonts/Marcellus-regular.fntdata"/><Relationship Id="rId111" Type="http://schemas.openxmlformats.org/officeDocument/2006/relationships/slide" Target="slides/slide105.xml"/><Relationship Id="rId84" Type="http://schemas.openxmlformats.org/officeDocument/2006/relationships/slide" Target="slides/slide78.xml"/><Relationship Id="rId83" Type="http://schemas.openxmlformats.org/officeDocument/2006/relationships/slide" Target="slides/slide77.xml"/><Relationship Id="rId86" Type="http://schemas.openxmlformats.org/officeDocument/2006/relationships/slide" Target="slides/slide80.xml"/><Relationship Id="rId85" Type="http://schemas.openxmlformats.org/officeDocument/2006/relationships/slide" Target="slides/slide79.xml"/><Relationship Id="rId88" Type="http://schemas.openxmlformats.org/officeDocument/2006/relationships/slide" Target="slides/slide82.xml"/><Relationship Id="rId87" Type="http://schemas.openxmlformats.org/officeDocument/2006/relationships/slide" Target="slides/slide81.xml"/><Relationship Id="rId89" Type="http://schemas.openxmlformats.org/officeDocument/2006/relationships/slide" Target="slides/slide83.xml"/><Relationship Id="rId80" Type="http://schemas.openxmlformats.org/officeDocument/2006/relationships/slide" Target="slides/slide74.xml"/><Relationship Id="rId82" Type="http://schemas.openxmlformats.org/officeDocument/2006/relationships/slide" Target="slides/slide76.xml"/><Relationship Id="rId81" Type="http://schemas.openxmlformats.org/officeDocument/2006/relationships/slide" Target="slides/slide75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73" Type="http://schemas.openxmlformats.org/officeDocument/2006/relationships/slide" Target="slides/slide67.xml"/><Relationship Id="rId72" Type="http://schemas.openxmlformats.org/officeDocument/2006/relationships/slide" Target="slides/slide66.xml"/><Relationship Id="rId75" Type="http://schemas.openxmlformats.org/officeDocument/2006/relationships/slide" Target="slides/slide69.xml"/><Relationship Id="rId74" Type="http://schemas.openxmlformats.org/officeDocument/2006/relationships/slide" Target="slides/slide68.xml"/><Relationship Id="rId77" Type="http://schemas.openxmlformats.org/officeDocument/2006/relationships/slide" Target="slides/slide71.xml"/><Relationship Id="rId76" Type="http://schemas.openxmlformats.org/officeDocument/2006/relationships/slide" Target="slides/slide70.xml"/><Relationship Id="rId79" Type="http://schemas.openxmlformats.org/officeDocument/2006/relationships/slide" Target="slides/slide73.xml"/><Relationship Id="rId78" Type="http://schemas.openxmlformats.org/officeDocument/2006/relationships/slide" Target="slides/slide72.xml"/><Relationship Id="rId71" Type="http://schemas.openxmlformats.org/officeDocument/2006/relationships/slide" Target="slides/slide65.xml"/><Relationship Id="rId70" Type="http://schemas.openxmlformats.org/officeDocument/2006/relationships/slide" Target="slides/slide64.xml"/><Relationship Id="rId62" Type="http://schemas.openxmlformats.org/officeDocument/2006/relationships/slide" Target="slides/slide56.xml"/><Relationship Id="rId61" Type="http://schemas.openxmlformats.org/officeDocument/2006/relationships/slide" Target="slides/slide55.xml"/><Relationship Id="rId64" Type="http://schemas.openxmlformats.org/officeDocument/2006/relationships/slide" Target="slides/slide58.xml"/><Relationship Id="rId63" Type="http://schemas.openxmlformats.org/officeDocument/2006/relationships/slide" Target="slides/slide57.xml"/><Relationship Id="rId66" Type="http://schemas.openxmlformats.org/officeDocument/2006/relationships/slide" Target="slides/slide60.xml"/><Relationship Id="rId65" Type="http://schemas.openxmlformats.org/officeDocument/2006/relationships/slide" Target="slides/slide59.xml"/><Relationship Id="rId68" Type="http://schemas.openxmlformats.org/officeDocument/2006/relationships/slide" Target="slides/slide62.xml"/><Relationship Id="rId67" Type="http://schemas.openxmlformats.org/officeDocument/2006/relationships/slide" Target="slides/slide61.xml"/><Relationship Id="rId60" Type="http://schemas.openxmlformats.org/officeDocument/2006/relationships/slide" Target="slides/slide54.xml"/><Relationship Id="rId69" Type="http://schemas.openxmlformats.org/officeDocument/2006/relationships/slide" Target="slides/slide63.xml"/><Relationship Id="rId51" Type="http://schemas.openxmlformats.org/officeDocument/2006/relationships/slide" Target="slides/slide45.xml"/><Relationship Id="rId50" Type="http://schemas.openxmlformats.org/officeDocument/2006/relationships/slide" Target="slides/slide44.xml"/><Relationship Id="rId53" Type="http://schemas.openxmlformats.org/officeDocument/2006/relationships/slide" Target="slides/slide47.xml"/><Relationship Id="rId52" Type="http://schemas.openxmlformats.org/officeDocument/2006/relationships/slide" Target="slides/slide46.xml"/><Relationship Id="rId55" Type="http://schemas.openxmlformats.org/officeDocument/2006/relationships/slide" Target="slides/slide49.xml"/><Relationship Id="rId54" Type="http://schemas.openxmlformats.org/officeDocument/2006/relationships/slide" Target="slides/slide48.xml"/><Relationship Id="rId57" Type="http://schemas.openxmlformats.org/officeDocument/2006/relationships/slide" Target="slides/slide51.xml"/><Relationship Id="rId56" Type="http://schemas.openxmlformats.org/officeDocument/2006/relationships/slide" Target="slides/slide50.xml"/><Relationship Id="rId59" Type="http://schemas.openxmlformats.org/officeDocument/2006/relationships/slide" Target="slides/slide53.xml"/><Relationship Id="rId58" Type="http://schemas.openxmlformats.org/officeDocument/2006/relationships/slide" Target="slides/slide5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IN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p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6" name="Google Shape;106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3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" name="Google Shape;113;p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" name="Google Shape;119;p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Google Shape;125;p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" name="Google Shape;131;p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" name="Google Shape;137;p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1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" name="Google Shape;149;p1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" name="Google Shape;156;p1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" name="Google Shape;162;p1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" name="Google Shape;168;p1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" name="Google Shape;174;p1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" name="Google Shape;179;p1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" name="Google Shape;184;p1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0" name="Google Shape;190;p1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6" name="Google Shape;196;p1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2" name="Google Shape;202;p2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8" name="Google Shape;208;p2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5" name="Google Shape;215;p2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1" name="Google Shape;221;p2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7" name="Google Shape;227;p2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3" name="Google Shape;233;p2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9" name="Google Shape;239;p2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5" name="Google Shape;245;p2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1" name="Google Shape;251;p2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7" name="Google Shape;257;p2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3" name="Google Shape;263;p3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9" name="Google Shape;269;p3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5" name="Google Shape;275;p3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p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3" name="Google Shape;283;p3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p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1" name="Google Shape;291;p3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7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p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9" name="Google Shape;299;p3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5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p3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7" name="Google Shape;307;p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I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using the </a:t>
            </a:r>
            <a:r>
              <a:rPr b="1" i="0" lang="en-I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dim ( ) </a:t>
            </a:r>
            <a:r>
              <a:rPr b="0" i="0" lang="en-I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function bit faster than using the array ( ) function; it’s especially useful if you have your data already in a vector</a:t>
            </a:r>
            <a:r>
              <a:rPr lang="en-IN"/>
              <a:t> </a:t>
            </a:r>
            <a:br>
              <a:rPr lang="en-IN"/>
            </a:br>
            <a:endParaRPr/>
          </a:p>
        </p:txBody>
      </p:sp>
      <p:sp>
        <p:nvSpPr>
          <p:cNvPr id="308" name="Google Shape;308;p36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5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p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7" name="Google Shape;317;p3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3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p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5" name="Google Shape;325;p3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0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p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2" name="Google Shape;332;p3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7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p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9" name="Google Shape;339;p4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4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p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6" name="Google Shape;346;p4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p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3" name="Google Shape;353;p4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9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Google Shape;360;p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1" name="Google Shape;361;p4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6" name="Shape 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" name="Google Shape;367;p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8" name="Google Shape;368;p4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3" name="Shape 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" name="Google Shape;374;p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5" name="Google Shape;375;p4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0" name="Shape 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" name="Google Shape;381;p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2" name="Google Shape;382;p4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8" name="Shape 3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" name="Google Shape;389;p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0" name="Google Shape;390;p4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6" name="Shape 3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7" name="Google Shape;397;p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8" name="Google Shape;398;p4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3" name="Shape 4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" name="Google Shape;404;p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5" name="Google Shape;405;p4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0" name="Shape 4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" name="Google Shape;411;p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2" name="Google Shape;412;p5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7" name="Shape 4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8" name="Google Shape;418;p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9" name="Google Shape;419;p5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4" name="Shape 4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5" name="Google Shape;425;p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6" name="Google Shape;426;p5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1" name="Shape 4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2" name="Google Shape;432;p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3" name="Google Shape;433;p5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8" name="Shape 4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9" name="Google Shape;439;p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0" name="Google Shape;440;p5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5" name="Shape 4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6" name="Google Shape;446;p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7" name="Google Shape;447;p5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2" name="Shape 4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3" name="Google Shape;453;p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4" name="Google Shape;454;p5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9" name="Shape 4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" name="Google Shape;460;p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1" name="Google Shape;461;p5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6" name="Shape 4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7" name="Google Shape;467;p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8" name="Google Shape;468;p5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3" name="Shape 4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4" name="Google Shape;474;p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5" name="Google Shape;475;p5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0" name="Shape 4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" name="Google Shape;481;p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2" name="Google Shape;482;p6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7" name="Shape 4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8" name="Google Shape;488;p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9" name="Google Shape;489;p6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4" name="Shape 4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5" name="Google Shape;495;p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6" name="Google Shape;496;p6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1" name="Shape 5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2" name="Google Shape;502;p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3" name="Google Shape;503;p6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8" name="Shape 5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9" name="Google Shape;509;p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0" name="Google Shape;510;p6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5" name="Shape 5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6" name="Google Shape;516;p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7" name="Google Shape;517;p6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2" name="Shape 5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3" name="Google Shape;523;p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4" name="Google Shape;524;p6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9" name="Shape 5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0" name="Google Shape;530;p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1" name="Google Shape;531;p6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7" name="Shape 5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8" name="Google Shape;538;p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9" name="Google Shape;539;p6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4" name="Shape 5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5" name="Google Shape;545;p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6" name="Google Shape;546;p6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1" name="Shape 5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" name="Google Shape;552;p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3" name="Google Shape;553;p7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8" name="Shape 5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9" name="Google Shape;559;p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0" name="Google Shape;560;p7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5" name="Shape 5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6" name="Google Shape;566;p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7" name="Google Shape;567;p7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2" name="Shape 5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" name="Google Shape;573;p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4" name="Google Shape;574;p7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9" name="Shape 5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0" name="Google Shape;580;p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1" name="Google Shape;581;p7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6" name="Shape 5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7" name="Google Shape;587;p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8" name="Google Shape;588;p7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3" name="Shape 5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4" name="Google Shape;594;p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5" name="Google Shape;595;p7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0" name="Shape 6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1" name="Google Shape;601;p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2" name="Google Shape;602;p7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7" name="Shape 6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8" name="Google Shape;608;p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9" name="Google Shape;609;p7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4" name="Shape 6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5" name="Google Shape;615;p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6" name="Google Shape;616;p7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1" name="Shape 6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2" name="Google Shape;622;p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3" name="Google Shape;623;p8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8" name="Shape 6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9" name="Google Shape;629;p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0" name="Google Shape;630;p8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5" name="Shape 6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6" name="Google Shape;636;p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7" name="Google Shape;637;p8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4" name="Shape 6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" name="Google Shape;645;p8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46" name="Google Shape;646;p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If there are missing values, then the mean function returns NA.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To drop the missing values from the calculation use na.rm = TRUE. which means remove the NA values.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7" name="Google Shape;647;p83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2" name="Shape 6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3" name="Google Shape;653;p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4" name="Google Shape;654;p8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0" name="Shape 6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1" name="Google Shape;661;p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2" name="Google Shape;662;p8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7" name="Shape 6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8" name="Google Shape;668;p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9" name="Google Shape;669;p8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4" name="Shape 6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" name="Google Shape;675;p8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6" name="Google Shape;676;p8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0" name="Shape 6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1" name="Google Shape;681;p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2" name="Google Shape;682;p8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6" name="Shape 6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7" name="Google Shape;687;p8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8" name="Google Shape;688;p8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2" name="Shape 6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3" name="Google Shape;693;p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4" name="Google Shape;694;p9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8" name="Shape 6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9" name="Google Shape;699;p9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0" name="Google Shape;700;p9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4" name="Shape 7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5" name="Google Shape;705;p9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6" name="Google Shape;706;p9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0" name="Shape 7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1" name="Google Shape;711;p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2" name="Google Shape;712;p9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6" name="Shape 7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" name="Google Shape;717;p9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8" name="Google Shape;718;p9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2" name="Shape 7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3" name="Google Shape;723;p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4" name="Google Shape;724;p9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8" name="Shape 7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9" name="Google Shape;729;p9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0" name="Google Shape;730;p9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4" name="Shape 7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5" name="Google Shape;735;p9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6" name="Google Shape;736;p9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0" name="Shape 7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1" name="Google Shape;741;p9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2" name="Google Shape;742;p9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6" name="Shape 7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" name="Google Shape;747;p9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8" name="Google Shape;748;p9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2" name="Shape 7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3" name="Google Shape;753;p10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4" name="Google Shape;754;p10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8" name="Shape 7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9" name="Google Shape;759;p10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0" name="Google Shape;760;p10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4" name="Shape 7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5" name="Google Shape;765;p10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6" name="Google Shape;766;p10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0" name="Shape 7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1" name="Google Shape;771;p10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2" name="Google Shape;772;p10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6" name="Shape 7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7" name="Google Shape;777;p10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8" name="Google Shape;778;p10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2" name="Shape 7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3" name="Google Shape;783;p10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4" name="Google Shape;784;p10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8" name="Shape 7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9" name="Google Shape;789;p10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0" name="Google Shape;790;p10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108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Marcellus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108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22" name="Google Shape;22;p10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10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10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109"/>
          <p:cNvSpPr txBox="1"/>
          <p:nvPr>
            <p:ph type="title"/>
          </p:nvPr>
        </p:nvSpPr>
        <p:spPr>
          <a:xfrm>
            <a:off x="870858" y="659039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5400"/>
              <a:buFont typeface="Marcellus"/>
              <a:buNone/>
              <a:defRPr sz="5400">
                <a:solidFill>
                  <a:srgbClr val="C00000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109"/>
          <p:cNvSpPr txBox="1"/>
          <p:nvPr>
            <p:ph idx="1" type="body"/>
          </p:nvPr>
        </p:nvSpPr>
        <p:spPr>
          <a:xfrm>
            <a:off x="838200" y="2070560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8" name="Google Shape;28;p10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10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10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110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Marcellus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110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4" name="Google Shape;34;p11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1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11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11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111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0" name="Google Shape;40;p111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1" name="Google Shape;41;p11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11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11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2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112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7" name="Google Shape;47;p112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8" name="Google Shape;48;p112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9" name="Google Shape;49;p112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0" name="Google Shape;50;p11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11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1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1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11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1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11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1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1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1" name="Google Shape;61;p11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15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Marcellus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115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5" name="Google Shape;65;p115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6" name="Google Shape;66;p11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1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8" name="Google Shape;68;p11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16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Marcellus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116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72" name="Google Shape;72;p116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73" name="Google Shape;73;p11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11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5" name="Google Shape;75;p11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1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17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9" name="Google Shape;79;p11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11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1" name="Google Shape;81;p11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18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4" name="Google Shape;84;p118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5" name="Google Shape;85;p11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6" name="Google Shape;86;p11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7" name="Google Shape;87;p11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7.xml"/><Relationship Id="rId10" Type="http://schemas.openxmlformats.org/officeDocument/2006/relationships/slideLayout" Target="../slideLayouts/slideLayout6.xml"/><Relationship Id="rId13" Type="http://schemas.openxmlformats.org/officeDocument/2006/relationships/slideLayout" Target="../slideLayouts/slideLayout9.xml"/><Relationship Id="rId12" Type="http://schemas.openxmlformats.org/officeDocument/2006/relationships/slideLayout" Target="../slideLayouts/slideLayout8.xml"/><Relationship Id="rId1" Type="http://schemas.openxmlformats.org/officeDocument/2006/relationships/image" Target="../media/image1.png"/><Relationship Id="rId2" Type="http://schemas.openxmlformats.org/officeDocument/2006/relationships/image" Target="../media/image9.png"/><Relationship Id="rId3" Type="http://schemas.openxmlformats.org/officeDocument/2006/relationships/image" Target="../media/image7.png"/><Relationship Id="rId4" Type="http://schemas.openxmlformats.org/officeDocument/2006/relationships/image" Target="../media/image10.jpg"/><Relationship Id="rId9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1.xml"/><Relationship Id="rId14" Type="http://schemas.openxmlformats.org/officeDocument/2006/relationships/slideLayout" Target="../slideLayouts/slideLayout10.xml"/><Relationship Id="rId16" Type="http://schemas.openxmlformats.org/officeDocument/2006/relationships/theme" Target="../theme/theme1.xml"/><Relationship Id="rId5" Type="http://schemas.openxmlformats.org/officeDocument/2006/relationships/slideLayout" Target="../slideLayouts/slideLayout1.xml"/><Relationship Id="rId6" Type="http://schemas.openxmlformats.org/officeDocument/2006/relationships/slideLayout" Target="../slideLayouts/slideLayout2.xml"/><Relationship Id="rId7" Type="http://schemas.openxmlformats.org/officeDocument/2006/relationships/slideLayout" Target="../slideLayouts/slideLayout3.xml"/><Relationship Id="rId8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0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Marcellus"/>
              <a:buNone/>
              <a:defRPr b="0" i="0" sz="4400" u="none" cap="none" strike="noStrike">
                <a:solidFill>
                  <a:schemeClr val="dk1"/>
                </a:solidFill>
                <a:latin typeface="Marcellus"/>
                <a:ea typeface="Marcellus"/>
                <a:cs typeface="Marcellus"/>
                <a:sym typeface="Marcellu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107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9pPr>
          </a:lstStyle>
          <a:p/>
        </p:txBody>
      </p:sp>
      <p:sp>
        <p:nvSpPr>
          <p:cNvPr id="12" name="Google Shape;12;p10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9pPr>
          </a:lstStyle>
          <a:p/>
        </p:txBody>
      </p:sp>
      <p:sp>
        <p:nvSpPr>
          <p:cNvPr id="13" name="Google Shape;13;p10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9pPr>
          </a:lstStyle>
          <a:p/>
        </p:txBody>
      </p:sp>
      <p:sp>
        <p:nvSpPr>
          <p:cNvPr id="14" name="Google Shape;14;p10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Fira Sans"/>
                <a:ea typeface="Fira Sans"/>
                <a:cs typeface="Fira Sans"/>
                <a:sym typeface="Fira Sans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Fira Sans"/>
                <a:ea typeface="Fira Sans"/>
                <a:cs typeface="Fira Sans"/>
                <a:sym typeface="Fira Sans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Fira Sans"/>
                <a:ea typeface="Fira Sans"/>
                <a:cs typeface="Fira Sans"/>
                <a:sym typeface="Fira Sans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Fira Sans"/>
                <a:ea typeface="Fira Sans"/>
                <a:cs typeface="Fira Sans"/>
                <a:sym typeface="Fira Sans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Fira Sans"/>
                <a:ea typeface="Fira Sans"/>
                <a:cs typeface="Fira Sans"/>
                <a:sym typeface="Fira Sans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Fira Sans"/>
                <a:ea typeface="Fira Sans"/>
                <a:cs typeface="Fira Sans"/>
                <a:sym typeface="Fira Sans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Fira Sans"/>
                <a:ea typeface="Fira Sans"/>
                <a:cs typeface="Fira Sans"/>
                <a:sym typeface="Fira Sans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Fira Sans"/>
                <a:ea typeface="Fira Sans"/>
                <a:cs typeface="Fira Sans"/>
                <a:sym typeface="Fira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15" name="Google Shape;15;p107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605" y="2219"/>
            <a:ext cx="566958" cy="6855781"/>
          </a:xfrm>
          <a:prstGeom prst="rect">
            <a:avLst/>
          </a:prstGeom>
          <a:noFill/>
          <a:ln>
            <a:noFill/>
          </a:ln>
        </p:spPr>
      </p:pic>
      <p:pic>
        <p:nvPicPr>
          <p:cNvPr id="16" name="Google Shape;16;p10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567563" y="0"/>
            <a:ext cx="209677" cy="544068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close up of a sign&#10;&#10;Description automatically generated" id="17" name="Google Shape;17;p10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269580" y="6218107"/>
            <a:ext cx="868683" cy="64748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picture containing drawing&#10;&#10;Description automatically generated" id="18" name="Google Shape;18;p10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77240" y="2219"/>
            <a:ext cx="2655568" cy="663892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5"/>
    <p:sldLayoutId id="2147483650" r:id="rId6"/>
    <p:sldLayoutId id="2147483651" r:id="rId7"/>
    <p:sldLayoutId id="2147483652" r:id="rId8"/>
    <p:sldLayoutId id="2147483653" r:id="rId9"/>
    <p:sldLayoutId id="2147483654" r:id="rId10"/>
    <p:sldLayoutId id="2147483655" r:id="rId11"/>
    <p:sldLayoutId id="2147483656" r:id="rId12"/>
    <p:sldLayoutId id="2147483657" r:id="rId13"/>
    <p:sldLayoutId id="2147483658" r:id="rId14"/>
    <p:sldLayoutId id="2147483659" r:id="rId15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9.png"/><Relationship Id="rId5" Type="http://schemas.openxmlformats.org/officeDocument/2006/relationships/image" Target="../media/image7.png"/><Relationship Id="rId6" Type="http://schemas.openxmlformats.org/officeDocument/2006/relationships/image" Target="../media/image10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1.xml"/><Relationship Id="rId3" Type="http://schemas.openxmlformats.org/officeDocument/2006/relationships/hyperlink" Target="https://www.tutorialspoint.com/r/r_if_statement.htm" TargetMode="External"/><Relationship Id="rId4" Type="http://schemas.openxmlformats.org/officeDocument/2006/relationships/hyperlink" Target="https://www.tutorialspoint.com/r/r_if_else_statement.htm" TargetMode="External"/><Relationship Id="rId5" Type="http://schemas.openxmlformats.org/officeDocument/2006/relationships/hyperlink" Target="https://www.tutorialspoint.com/r/r_switch_statement.htm" TargetMode="External"/><Relationship Id="rId6" Type="http://schemas.openxmlformats.org/officeDocument/2006/relationships/image" Target="../media/image8.jp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2.xml"/><Relationship Id="rId3" Type="http://schemas.openxmlformats.org/officeDocument/2006/relationships/hyperlink" Target="https://www.tutorialspoint.com/r/r_repeat_loop.htm" TargetMode="External"/><Relationship Id="rId4" Type="http://schemas.openxmlformats.org/officeDocument/2006/relationships/hyperlink" Target="https://www.tutorialspoint.com/r/r_while_loop.htm" TargetMode="External"/><Relationship Id="rId5" Type="http://schemas.openxmlformats.org/officeDocument/2006/relationships/hyperlink" Target="https://www.tutorialspoint.com/r/r_for_loop.htm" TargetMode="External"/><Relationship Id="rId6" Type="http://schemas.openxmlformats.org/officeDocument/2006/relationships/image" Target="../media/image16.jp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12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14.pn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18.pn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17.png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1.xml"/><Relationship Id="rId3" Type="http://schemas.openxmlformats.org/officeDocument/2006/relationships/image" Target="../media/image13.png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5.xml"/><Relationship Id="rId3" Type="http://schemas.openxmlformats.org/officeDocument/2006/relationships/image" Target="../media/image5.png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6.xml"/><Relationship Id="rId3" Type="http://schemas.openxmlformats.org/officeDocument/2006/relationships/image" Target="../media/image15.png"/></Relationships>
</file>

<file path=ppt/slides/_rels/slide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7.xml"/></Relationships>
</file>

<file path=ppt/slides/_rels/slide4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8.xml"/></Relationships>
</file>

<file path=ppt/slides/_rels/slide4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9.xml"/></Relationships>
</file>

<file path=ppt/slides/_rels/slide5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0.xml"/></Relationships>
</file>

<file path=ppt/slides/_rels/slide5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1.xml"/></Relationships>
</file>

<file path=ppt/slides/_rels/slide5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2.xml"/></Relationships>
</file>

<file path=ppt/slides/_rels/slide5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3.xml"/></Relationships>
</file>

<file path=ppt/slides/_rels/slide5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4.xml"/></Relationships>
</file>

<file path=ppt/slides/_rels/slide5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5.xml"/></Relationships>
</file>

<file path=ppt/slides/_rels/slide5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6.xml"/></Relationships>
</file>

<file path=ppt/slides/_rels/slide5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7.xml"/></Relationships>
</file>

<file path=ppt/slides/_rels/slide5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8.xml"/></Relationships>
</file>

<file path=ppt/slides/_rels/slide5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9.xml"/></Relationships>
</file>

<file path=ppt/slides/_rels/slide6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0.xml"/></Relationships>
</file>

<file path=ppt/slides/_rels/slide6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1.xml"/></Relationships>
</file>

<file path=ppt/slides/_rels/slide6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2.xml"/></Relationships>
</file>

<file path=ppt/slides/_rels/slide6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3.xml"/></Relationships>
</file>

<file path=ppt/slides/_rels/slide6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4.xml"/></Relationships>
</file>

<file path=ppt/slides/_rels/slide6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5.xml"/></Relationships>
</file>

<file path=ppt/slides/_rels/slide6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6.xml"/><Relationship Id="rId3" Type="http://schemas.openxmlformats.org/officeDocument/2006/relationships/image" Target="../media/image19.png"/></Relationships>
</file>

<file path=ppt/slides/_rels/slide6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7.xml"/></Relationships>
</file>

<file path=ppt/slides/_rels/slide6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8.xml"/></Relationships>
</file>

<file path=ppt/slides/_rels/slide6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9.xml"/></Relationships>
</file>

<file path=ppt/slides/_rels/slide7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0.xml"/></Relationships>
</file>

<file path=ppt/slides/_rels/slide7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1.xml"/></Relationships>
</file>

<file path=ppt/slides/_rels/slide7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2.xml"/></Relationships>
</file>

<file path=ppt/slides/_rels/slide7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3.xml"/></Relationships>
</file>

<file path=ppt/slides/_rels/slide7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4.xml"/></Relationships>
</file>

<file path=ppt/slides/_rels/slide7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5.xml"/></Relationships>
</file>

<file path=ppt/slides/_rels/slide7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6.xml"/></Relationships>
</file>

<file path=ppt/slides/_rels/slide7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7.xml"/></Relationships>
</file>

<file path=ppt/slides/_rels/slide7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8.xml"/></Relationships>
</file>

<file path=ppt/slides/_rels/slide7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9.xml"/></Relationships>
</file>

<file path=ppt/slides/_rels/slide8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0.xml"/></Relationships>
</file>

<file path=ppt/slides/_rels/slide8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1.xml"/></Relationships>
</file>

<file path=ppt/slides/_rels/slide8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2.xml"/></Relationships>
</file>

<file path=ppt/slides/_rels/slide8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3.xml"/></Relationships>
</file>

<file path=ppt/slides/_rels/slide8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4.xml"/></Relationships>
</file>

<file path=ppt/slides/_rels/slide8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5.xml"/></Relationships>
</file>

<file path=ppt/slides/_rels/slide8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6.xml"/></Relationships>
</file>

<file path=ppt/slides/_rels/slide8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7.xml"/></Relationships>
</file>

<file path=ppt/slides/_rels/slide8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8.xml"/></Relationships>
</file>

<file path=ppt/slides/_rels/slide8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9.xml"/></Relationships>
</file>

<file path=ppt/slides/_rels/slide9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0.xml"/></Relationships>
</file>

<file path=ppt/slides/_rels/slide9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1.xml"/></Relationships>
</file>

<file path=ppt/slides/_rels/slide9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2.xml"/></Relationships>
</file>

<file path=ppt/slides/_rels/slide9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3.xml"/></Relationships>
</file>

<file path=ppt/slides/_rels/slide9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4.xml"/></Relationships>
</file>

<file path=ppt/slides/_rels/slide9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5.xml"/></Relationships>
</file>

<file path=ppt/slides/_rels/slide9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6.xml"/></Relationships>
</file>

<file path=ppt/slides/_rels/slide9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7.xml"/></Relationships>
</file>

<file path=ppt/slides/_rels/slide9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8.xml"/></Relationships>
</file>

<file path=ppt/slides/_rels/slide9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9.xml"/></Relationships>
</file>

<file path=ppt/slides/_rels/slide10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0.xml"/></Relationships>
</file>

<file path=ppt/slides/_rels/slide10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1.xml"/></Relationships>
</file>

<file path=ppt/slides/_rels/slide10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2.xml"/></Relationships>
</file>

<file path=ppt/slides/_rels/slide10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3.xml"/></Relationships>
</file>

<file path=ppt/slides/_rels/slide10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4.xml"/></Relationships>
</file>

<file path=ppt/slides/_rels/slide10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5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5400"/>
              <a:buFont typeface="Marcellus"/>
              <a:buNone/>
            </a:pPr>
            <a:r>
              <a:rPr lang="en-IN" sz="5400">
                <a:solidFill>
                  <a:srgbClr val="C00000"/>
                </a:solidFill>
                <a:latin typeface="Marcellus"/>
                <a:ea typeface="Marcellus"/>
                <a:cs typeface="Marcellus"/>
                <a:sym typeface="Marcellus"/>
              </a:rPr>
              <a:t>Introduction to R for Data Science</a:t>
            </a:r>
            <a:endParaRPr sz="5400">
              <a:solidFill>
                <a:srgbClr val="C00000"/>
              </a:solidFill>
              <a:latin typeface="Marcellus"/>
              <a:ea typeface="Marcellus"/>
              <a:cs typeface="Marcellus"/>
              <a:sym typeface="Marcellus"/>
            </a:endParaRPr>
          </a:p>
        </p:txBody>
      </p:sp>
      <p:sp>
        <p:nvSpPr>
          <p:cNvPr id="93" name="Google Shape;93;p1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2000"/>
              <a:buNone/>
            </a:pPr>
            <a:r>
              <a:rPr lang="en-IN" sz="2000">
                <a:solidFill>
                  <a:srgbClr val="262626"/>
                </a:solidFill>
                <a:latin typeface="Marcellus"/>
                <a:ea typeface="Marcellus"/>
                <a:cs typeface="Marcellus"/>
                <a:sym typeface="Marcellus"/>
              </a:rPr>
              <a:t>By</a:t>
            </a:r>
            <a:endParaRPr/>
          </a:p>
          <a:p>
            <a:pPr indent="0" lvl="0" marL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262626"/>
              </a:buClr>
              <a:buSzPts val="2000"/>
              <a:buNone/>
            </a:pPr>
            <a:r>
              <a:rPr lang="en-IN" sz="2000">
                <a:solidFill>
                  <a:srgbClr val="262626"/>
                </a:solidFill>
                <a:latin typeface="Marcellus"/>
                <a:ea typeface="Marcellus"/>
                <a:cs typeface="Marcellus"/>
                <a:sym typeface="Marcellus"/>
              </a:rPr>
              <a:t>Prof. Vaibhav P. Vasani</a:t>
            </a:r>
            <a:endParaRPr/>
          </a:p>
          <a:p>
            <a:pPr indent="0" lvl="0" marL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262626"/>
              </a:buClr>
              <a:buSzPts val="2000"/>
              <a:buNone/>
            </a:pPr>
            <a:r>
              <a:rPr lang="en-IN" sz="2000">
                <a:solidFill>
                  <a:srgbClr val="262626"/>
                </a:solidFill>
                <a:latin typeface="Marcellus"/>
                <a:ea typeface="Marcellus"/>
                <a:cs typeface="Marcellus"/>
                <a:sym typeface="Marcellus"/>
              </a:rPr>
              <a:t>Assistant Professor</a:t>
            </a:r>
            <a:endParaRPr/>
          </a:p>
          <a:p>
            <a:pPr indent="0" lvl="0" marL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262626"/>
              </a:buClr>
              <a:buSzPts val="2000"/>
              <a:buNone/>
            </a:pPr>
            <a:r>
              <a:rPr lang="en-IN" sz="2000">
                <a:solidFill>
                  <a:srgbClr val="262626"/>
                </a:solidFill>
                <a:latin typeface="Marcellus"/>
                <a:ea typeface="Marcellus"/>
                <a:cs typeface="Marcellus"/>
                <a:sym typeface="Marcellus"/>
              </a:rPr>
              <a:t>Department of Computer Engineering </a:t>
            </a:r>
            <a:endParaRPr/>
          </a:p>
          <a:p>
            <a:pPr indent="0" lvl="0" marL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262626"/>
              </a:buClr>
              <a:buSzPts val="2000"/>
              <a:buNone/>
            </a:pPr>
            <a:r>
              <a:rPr lang="en-IN" sz="2000">
                <a:solidFill>
                  <a:srgbClr val="262626"/>
                </a:solidFill>
                <a:latin typeface="Marcellus"/>
                <a:ea typeface="Marcellus"/>
                <a:cs typeface="Marcellus"/>
                <a:sym typeface="Marcellus"/>
              </a:rPr>
              <a:t>K. J. Somaiya College of Engineering</a:t>
            </a:r>
            <a:endParaRPr/>
          </a:p>
          <a:p>
            <a:pPr indent="0" lvl="0" marL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262626"/>
              </a:buClr>
              <a:buSzPts val="2000"/>
              <a:buNone/>
            </a:pPr>
            <a:r>
              <a:rPr lang="en-IN" sz="2000">
                <a:solidFill>
                  <a:srgbClr val="262626"/>
                </a:solidFill>
                <a:latin typeface="Marcellus"/>
                <a:ea typeface="Marcellus"/>
                <a:cs typeface="Marcellus"/>
                <a:sym typeface="Marcellus"/>
              </a:rPr>
              <a:t>Somaiya Vidyavihar University</a:t>
            </a:r>
            <a:endParaRPr/>
          </a:p>
        </p:txBody>
      </p:sp>
      <p:pic>
        <p:nvPicPr>
          <p:cNvPr id="94" name="Google Shape;94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05" y="2219"/>
            <a:ext cx="566958" cy="6855781"/>
          </a:xfrm>
          <a:prstGeom prst="rect">
            <a:avLst/>
          </a:prstGeom>
          <a:noFill/>
          <a:ln>
            <a:noFill/>
          </a:ln>
        </p:spPr>
      </p:pic>
      <p:pic>
        <p:nvPicPr>
          <p:cNvPr id="95" name="Google Shape;95;p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67563" y="0"/>
            <a:ext cx="209677" cy="544068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close up of a sign&#10;&#10;Description automatically generated" id="96" name="Google Shape;96;p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1269580" y="6218107"/>
            <a:ext cx="868683" cy="64748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picture containing drawing&#10;&#10;Description automatically generated" id="97" name="Google Shape;97;p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77240" y="2219"/>
            <a:ext cx="2655568" cy="66389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"/>
          <p:cNvSpPr txBox="1"/>
          <p:nvPr>
            <p:ph type="title"/>
          </p:nvPr>
        </p:nvSpPr>
        <p:spPr>
          <a:xfrm>
            <a:off x="870858" y="659039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5400"/>
              <a:buFont typeface="Marcellus"/>
              <a:buNone/>
            </a:pPr>
            <a:r>
              <a:rPr lang="en-IN"/>
              <a:t>R language: Overview</a:t>
            </a:r>
            <a:endParaRPr/>
          </a:p>
        </p:txBody>
      </p:sp>
      <p:sp>
        <p:nvSpPr>
          <p:cNvPr id="103" name="Google Shape;103;p2"/>
          <p:cNvSpPr txBox="1"/>
          <p:nvPr>
            <p:ph idx="1" type="body"/>
          </p:nvPr>
        </p:nvSpPr>
        <p:spPr>
          <a:xfrm>
            <a:off x="838200" y="2070560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20000"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IN">
                <a:solidFill>
                  <a:srgbClr val="FF0000"/>
                </a:solidFill>
              </a:rPr>
              <a:t>Open source</a:t>
            </a:r>
            <a:r>
              <a:rPr lang="en-IN"/>
              <a:t> and </a:t>
            </a:r>
            <a:r>
              <a:rPr lang="en-IN">
                <a:solidFill>
                  <a:srgbClr val="FF0000"/>
                </a:solidFill>
              </a:rPr>
              <a:t>open development</a:t>
            </a:r>
            <a:r>
              <a:rPr lang="en-IN"/>
              <a:t>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IN"/>
              <a:t>Design and deployment of </a:t>
            </a:r>
            <a:r>
              <a:rPr lang="en-IN">
                <a:solidFill>
                  <a:srgbClr val="FF0000"/>
                </a:solidFill>
              </a:rPr>
              <a:t>portable</a:t>
            </a:r>
            <a:r>
              <a:rPr lang="en-IN"/>
              <a:t>, </a:t>
            </a:r>
            <a:r>
              <a:rPr lang="en-IN">
                <a:solidFill>
                  <a:srgbClr val="FF0000"/>
                </a:solidFill>
              </a:rPr>
              <a:t>extensible</a:t>
            </a:r>
            <a:r>
              <a:rPr lang="en-IN"/>
              <a:t>, and </a:t>
            </a:r>
            <a:r>
              <a:rPr lang="en-IN">
                <a:solidFill>
                  <a:srgbClr val="FF0000"/>
                </a:solidFill>
              </a:rPr>
              <a:t>scalable</a:t>
            </a:r>
            <a:r>
              <a:rPr lang="en-IN"/>
              <a:t> software.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IN">
                <a:solidFill>
                  <a:srgbClr val="FF0000"/>
                </a:solidFill>
              </a:rPr>
              <a:t>Interoperability</a:t>
            </a:r>
            <a:r>
              <a:rPr lang="en-IN"/>
              <a:t> with other languages: </a:t>
            </a:r>
            <a:r>
              <a:rPr b="1" lang="en-IN"/>
              <a:t>C, XML</a:t>
            </a:r>
            <a:r>
              <a:rPr lang="en-IN"/>
              <a:t>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IN"/>
              <a:t>Variety of </a:t>
            </a:r>
            <a:r>
              <a:rPr lang="en-IN">
                <a:solidFill>
                  <a:srgbClr val="FF0000"/>
                </a:solidFill>
              </a:rPr>
              <a:t>statistical and numerical methods</a:t>
            </a:r>
            <a:r>
              <a:rPr lang="en-IN"/>
              <a:t>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IN"/>
              <a:t>High quality </a:t>
            </a:r>
            <a:r>
              <a:rPr lang="en-IN">
                <a:solidFill>
                  <a:srgbClr val="FF0000"/>
                </a:solidFill>
              </a:rPr>
              <a:t>visualization</a:t>
            </a:r>
            <a:r>
              <a:rPr lang="en-IN"/>
              <a:t> and </a:t>
            </a:r>
            <a:r>
              <a:rPr lang="en-IN">
                <a:solidFill>
                  <a:srgbClr val="FF0000"/>
                </a:solidFill>
              </a:rPr>
              <a:t>graphics</a:t>
            </a:r>
            <a:r>
              <a:rPr lang="en-IN"/>
              <a:t> tools.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IN"/>
              <a:t>Effective, extensible </a:t>
            </a:r>
            <a:r>
              <a:rPr lang="en-IN">
                <a:solidFill>
                  <a:srgbClr val="FF0000"/>
                </a:solidFill>
              </a:rPr>
              <a:t>user interface</a:t>
            </a:r>
            <a:r>
              <a:rPr lang="en-IN"/>
              <a:t>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IN"/>
              <a:t>Innovative tools for producing </a:t>
            </a:r>
            <a:r>
              <a:rPr lang="en-IN">
                <a:solidFill>
                  <a:srgbClr val="FF0000"/>
                </a:solidFill>
              </a:rPr>
              <a:t>documentation</a:t>
            </a:r>
            <a:r>
              <a:rPr lang="en-IN"/>
              <a:t> and </a:t>
            </a:r>
            <a:r>
              <a:rPr lang="en-IN">
                <a:solidFill>
                  <a:srgbClr val="FF0000"/>
                </a:solidFill>
              </a:rPr>
              <a:t>training</a:t>
            </a:r>
            <a:r>
              <a:rPr lang="en-IN">
                <a:solidFill>
                  <a:schemeClr val="accent2"/>
                </a:solidFill>
              </a:rPr>
              <a:t> </a:t>
            </a:r>
            <a:r>
              <a:rPr lang="en-IN"/>
              <a:t>materials: </a:t>
            </a:r>
            <a:r>
              <a:rPr b="1" lang="en-IN"/>
              <a:t>vignettes</a:t>
            </a:r>
            <a:r>
              <a:rPr lang="en-IN"/>
              <a:t>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IN"/>
              <a:t>Supports the </a:t>
            </a:r>
            <a:r>
              <a:rPr lang="en-IN">
                <a:solidFill>
                  <a:srgbClr val="FF0000"/>
                </a:solidFill>
              </a:rPr>
              <a:t>creation</a:t>
            </a:r>
            <a:r>
              <a:rPr lang="en-IN"/>
              <a:t>, </a:t>
            </a:r>
            <a:r>
              <a:rPr lang="en-IN">
                <a:solidFill>
                  <a:srgbClr val="FF0000"/>
                </a:solidFill>
              </a:rPr>
              <a:t>testing</a:t>
            </a:r>
            <a:r>
              <a:rPr lang="en-IN"/>
              <a:t>, and </a:t>
            </a:r>
            <a:r>
              <a:rPr lang="en-IN">
                <a:solidFill>
                  <a:srgbClr val="FF0000"/>
                </a:solidFill>
              </a:rPr>
              <a:t>distribution</a:t>
            </a:r>
            <a:r>
              <a:rPr lang="en-IN"/>
              <a:t> of software and data modules: </a:t>
            </a:r>
            <a:r>
              <a:rPr b="1" lang="en-IN"/>
              <a:t>packages</a:t>
            </a:r>
            <a:r>
              <a:rPr lang="en-IN"/>
              <a:t>.</a:t>
            </a:r>
            <a:endParaRPr/>
          </a:p>
          <a:p>
            <a:pPr indent="-64135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3"/>
          <p:cNvSpPr txBox="1"/>
          <p:nvPr>
            <p:ph type="title"/>
          </p:nvPr>
        </p:nvSpPr>
        <p:spPr>
          <a:xfrm>
            <a:off x="870858" y="659039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ct val="100000"/>
              <a:buFont typeface="Marcellus"/>
              <a:buNone/>
            </a:pPr>
            <a:r>
              <a:rPr lang="en-IN"/>
              <a:t>List of companies that use R for analytics</a:t>
            </a:r>
            <a:endParaRPr/>
          </a:p>
        </p:txBody>
      </p:sp>
      <p:sp>
        <p:nvSpPr>
          <p:cNvPr id="110" name="Google Shape;110;p3"/>
          <p:cNvSpPr txBox="1"/>
          <p:nvPr>
            <p:ph idx="1" type="body"/>
          </p:nvPr>
        </p:nvSpPr>
        <p:spPr>
          <a:xfrm>
            <a:off x="838200" y="2070560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55000" lnSpcReduction="20000"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IN"/>
              <a:t>TechCrunch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IN"/>
              <a:t>Google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IN"/>
              <a:t>Facebook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IN"/>
              <a:t>Genpact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IN"/>
              <a:t>Bing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IN"/>
              <a:t>Orbitz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IN"/>
              <a:t>ANZ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IN"/>
              <a:t>The New York Times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IN"/>
              <a:t>Thomas Cook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IN"/>
              <a:t>Accenture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IN"/>
              <a:t>Wipro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IN"/>
              <a:t>Mozilla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IN"/>
              <a:t>Novartis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IN"/>
              <a:t>Merck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4"/>
          <p:cNvSpPr txBox="1"/>
          <p:nvPr>
            <p:ph type="title"/>
          </p:nvPr>
        </p:nvSpPr>
        <p:spPr>
          <a:xfrm>
            <a:off x="870858" y="659039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5400"/>
              <a:buFont typeface="Marcellus"/>
              <a:buNone/>
            </a:pPr>
            <a:r>
              <a:rPr lang="en-IN"/>
              <a:t>How companies are using R</a:t>
            </a:r>
            <a:endParaRPr/>
          </a:p>
        </p:txBody>
      </p:sp>
      <p:sp>
        <p:nvSpPr>
          <p:cNvPr id="116" name="Google Shape;116;p4"/>
          <p:cNvSpPr txBox="1"/>
          <p:nvPr>
            <p:ph idx="1" type="body"/>
          </p:nvPr>
        </p:nvSpPr>
        <p:spPr>
          <a:xfrm>
            <a:off x="838200" y="2070560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IN"/>
              <a:t>Ford uses R to improve the design of its vehicles.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IN"/>
              <a:t>Basically, Twitter uses R to monitor user experience.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IN"/>
              <a:t>The US National Weather Service uses R to predict severe flooding.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IN"/>
              <a:t>The Human Rights Data Analysis Group uses R to quantify the impact of war.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IN"/>
              <a:t>R is being used by The New York Times to create infographics.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IN"/>
              <a:t>Google uses R to calculate the ROI of advertising campaigns.</a:t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5"/>
          <p:cNvSpPr txBox="1"/>
          <p:nvPr>
            <p:ph type="title"/>
          </p:nvPr>
        </p:nvSpPr>
        <p:spPr>
          <a:xfrm>
            <a:off x="609600" y="-43408"/>
            <a:ext cx="10972800" cy="102413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4000"/>
              <a:buFont typeface="Marcellus"/>
              <a:buNone/>
            </a:pPr>
            <a:r>
              <a:rPr lang="en-IN" sz="4000"/>
              <a:t>More Use Cases of R Language</a:t>
            </a:r>
            <a:endParaRPr sz="4000"/>
          </a:p>
        </p:txBody>
      </p:sp>
      <p:sp>
        <p:nvSpPr>
          <p:cNvPr id="122" name="Google Shape;122;p5"/>
          <p:cNvSpPr txBox="1"/>
          <p:nvPr>
            <p:ph idx="1" type="body"/>
          </p:nvPr>
        </p:nvSpPr>
        <p:spPr>
          <a:xfrm>
            <a:off x="609600" y="836713"/>
            <a:ext cx="109728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IN" sz="2000"/>
              <a:t>a. Facebook: Basically, Facebook uses R to update status and its social network graph. Also, for predicting colleague interactions with R,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IN" sz="2000"/>
              <a:t>b. Ford Motor Company: As Ford relies on Hadoop. Also, R for statistical analysis and data-driven decision support.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IN" sz="2000"/>
              <a:t>c. Google: Basically, Google uses R to calculate ROI on advertising campaigns, to predict economic activity. Also to improve the efficiency of online advertising.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IN" sz="2000"/>
              <a:t>d. Foursquare: As R is an important stack behind Foursquare’s famed recommendation engine.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IN" sz="2000"/>
              <a:t>e. John Deere: Basically, Statisticians at John Deere use R for time series modeling. Also, geospatial analysis in a reliable and reproducible way. The results are then integrated with Excel and SAP. </a:t>
            </a:r>
            <a:endParaRPr sz="20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6"/>
          <p:cNvSpPr txBox="1"/>
          <p:nvPr>
            <p:ph type="title"/>
          </p:nvPr>
        </p:nvSpPr>
        <p:spPr>
          <a:xfrm>
            <a:off x="609600" y="-43408"/>
            <a:ext cx="10972800" cy="102413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4000"/>
              <a:buFont typeface="Marcellus"/>
              <a:buNone/>
            </a:pPr>
            <a:r>
              <a:rPr lang="en-IN" sz="4000"/>
              <a:t>More Use Cases of R Language</a:t>
            </a:r>
            <a:endParaRPr sz="4000"/>
          </a:p>
        </p:txBody>
      </p:sp>
      <p:sp>
        <p:nvSpPr>
          <p:cNvPr id="128" name="Google Shape;128;p6"/>
          <p:cNvSpPr txBox="1"/>
          <p:nvPr>
            <p:ph idx="1" type="body"/>
          </p:nvPr>
        </p:nvSpPr>
        <p:spPr>
          <a:xfrm>
            <a:off x="609600" y="836713"/>
            <a:ext cx="109728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-IN" sz="1800"/>
              <a:t>f. Microsoft: Microsoft uses R for the Xbox matchmaking service. Also, as a statistical engine within the Azure ML framework.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-IN" sz="1800"/>
              <a:t>g. Mozilla: Generally, it is the foundation behind the Firefox web browser, uses R to visualize Web activity.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-IN" sz="1800"/>
              <a:t>h. New York Times: Basically, R is used in the news cycle at The New York Times to crunch data and prepare graphics before they go to print or online.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-IN" sz="1800"/>
              <a:t>i. Thomas Cook: Thomas Cook uses R for Prediction. Also, Fuzzy Logic to automate price settings of their last-minute offers.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-IN" sz="1800"/>
              <a:t>j. National Weather Service: Basically, the National Weather Service uses R at its River Forecast Centers. Thus, it is used to generate graphics for flood forecasting.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-IN" sz="1800"/>
              <a:t>k. Twitter: R is part of Twitter’s Data Science toolbox for sophisticated statistical modeling.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-IN" sz="1800"/>
              <a:t>l. Trulia: Trulia, the real-estate analysis website uses R for predicting house prices and local crime rate.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-IN" sz="1800"/>
              <a:t>m. ANZ Bank: ANZ, the fourth largest bank in Australia uses R for its credit risk analysis.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7"/>
          <p:cNvSpPr txBox="1"/>
          <p:nvPr>
            <p:ph type="title"/>
          </p:nvPr>
        </p:nvSpPr>
        <p:spPr>
          <a:xfrm>
            <a:off x="870858" y="659039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ct val="100000"/>
              <a:buFont typeface="Marcellus"/>
              <a:buNone/>
            </a:pPr>
            <a:r>
              <a:rPr lang="en-IN"/>
              <a:t>Why is R important for data science?</a:t>
            </a:r>
            <a:endParaRPr/>
          </a:p>
        </p:txBody>
      </p:sp>
      <p:sp>
        <p:nvSpPr>
          <p:cNvPr id="134" name="Google Shape;134;p7"/>
          <p:cNvSpPr txBox="1"/>
          <p:nvPr>
            <p:ph idx="1" type="body"/>
          </p:nvPr>
        </p:nvSpPr>
        <p:spPr>
          <a:xfrm>
            <a:off x="838200" y="2070560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b="1" lang="en-IN"/>
              <a:t>You can run your code without any Compiler</a:t>
            </a:r>
            <a:r>
              <a:rPr lang="en-IN"/>
              <a:t> – R is an interpreted language. Hence we can run Code without any compiler. R interprets the Code and makes the development of code easier.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b="1" lang="en-IN"/>
              <a:t>Many calculations done with vectors </a:t>
            </a:r>
            <a:r>
              <a:rPr lang="en-IN"/>
              <a:t>– R is a vector language, so anyone can add functions to a single Vector without putting in a loop. Hence, R is powerful and faster than other languages.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b="1" lang="en-IN"/>
              <a:t>Statistical Language</a:t>
            </a:r>
            <a:r>
              <a:rPr lang="en-IN"/>
              <a:t>– R used in biology, genetics as well as in statistics. R is a turning complete language where any type of task can perform.</a:t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8"/>
          <p:cNvSpPr txBox="1"/>
          <p:nvPr>
            <p:ph type="title"/>
          </p:nvPr>
        </p:nvSpPr>
        <p:spPr>
          <a:xfrm>
            <a:off x="870858" y="659039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5400"/>
              <a:buFont typeface="Marcellus"/>
              <a:buNone/>
            </a:pPr>
            <a:r>
              <a:rPr lang="en-IN"/>
              <a:t>Why is R Good for Business?</a:t>
            </a:r>
            <a:endParaRPr/>
          </a:p>
        </p:txBody>
      </p:sp>
      <p:sp>
        <p:nvSpPr>
          <p:cNvPr id="140" name="Google Shape;140;p8"/>
          <p:cNvSpPr txBox="1"/>
          <p:nvPr>
            <p:ph idx="1" type="body"/>
          </p:nvPr>
        </p:nvSpPr>
        <p:spPr>
          <a:xfrm>
            <a:off x="838200" y="2070560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IN"/>
              <a:t>The most important reason why R is good for business is that it is an open source. R is great for visualization. As per new research, R has far more capabilities as compared to earlier tools.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IN"/>
              <a:t>For data-driven business, data science talent shortage is a very big problem. Companies are using R programming as their platform and recruit trained users of R.</a:t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10"/>
          <p:cNvSpPr txBox="1"/>
          <p:nvPr>
            <p:ph type="title"/>
          </p:nvPr>
        </p:nvSpPr>
        <p:spPr>
          <a:xfrm>
            <a:off x="870858" y="659039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5400"/>
              <a:buFont typeface="Marcellus"/>
              <a:buNone/>
            </a:pPr>
            <a:r>
              <a:rPr lang="en-IN"/>
              <a:t>Using R as calculator </a:t>
            </a:r>
            <a:endParaRPr/>
          </a:p>
        </p:txBody>
      </p:sp>
      <p:sp>
        <p:nvSpPr>
          <p:cNvPr id="146" name="Google Shape;146;p10"/>
          <p:cNvSpPr txBox="1"/>
          <p:nvPr>
            <p:ph idx="1" type="body"/>
          </p:nvPr>
        </p:nvSpPr>
        <p:spPr>
          <a:xfrm>
            <a:off x="838200" y="2070560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IN"/>
              <a:t>Example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IN"/>
              <a:t>Arithmetic 🡪  2+2, 2*3,2-12, 12/2,2**2</a:t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  <a:p>
            <a:pPr indent="-762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11"/>
          <p:cNvSpPr txBox="1"/>
          <p:nvPr>
            <p:ph type="title"/>
          </p:nvPr>
        </p:nvSpPr>
        <p:spPr>
          <a:xfrm>
            <a:off x="870858" y="659039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5400"/>
              <a:buFont typeface="Marcellus"/>
              <a:buNone/>
            </a:pPr>
            <a:r>
              <a:rPr lang="en-IN"/>
              <a:t>Practice</a:t>
            </a:r>
            <a:endParaRPr/>
          </a:p>
        </p:txBody>
      </p:sp>
      <p:sp>
        <p:nvSpPr>
          <p:cNvPr id="152" name="Google Shape;152;p11"/>
          <p:cNvSpPr txBox="1"/>
          <p:nvPr>
            <p:ph idx="1" type="body"/>
          </p:nvPr>
        </p:nvSpPr>
        <p:spPr>
          <a:xfrm>
            <a:off x="838200" y="2070560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508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  <a:p>
            <a:pPr indent="-762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/>
          </a:p>
        </p:txBody>
      </p:sp>
      <p:pic>
        <p:nvPicPr>
          <p:cNvPr id="153" name="Google Shape;153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503712" y="2780928"/>
            <a:ext cx="5184576" cy="172819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12"/>
          <p:cNvSpPr txBox="1"/>
          <p:nvPr>
            <p:ph type="title"/>
          </p:nvPr>
        </p:nvSpPr>
        <p:spPr>
          <a:xfrm>
            <a:off x="870858" y="659039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5400"/>
              <a:buFont typeface="Marcellus"/>
              <a:buNone/>
            </a:pPr>
            <a:r>
              <a:rPr lang="en-IN"/>
              <a:t>Character </a:t>
            </a:r>
            <a:endParaRPr/>
          </a:p>
        </p:txBody>
      </p:sp>
      <p:sp>
        <p:nvSpPr>
          <p:cNvPr id="159" name="Google Shape;159;p12"/>
          <p:cNvSpPr txBox="1"/>
          <p:nvPr>
            <p:ph idx="1" type="body"/>
          </p:nvPr>
        </p:nvSpPr>
        <p:spPr>
          <a:xfrm>
            <a:off x="838200" y="2070560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IN" sz="3200"/>
              <a:t>Input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IN" sz="2000"/>
              <a:t>Name = “Krishna”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IN" sz="2000"/>
              <a:t>Name2 &lt;-  “Radha”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IN" sz="3200"/>
              <a:t>Output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IN" sz="2000"/>
              <a:t>Name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IN" sz="2000"/>
              <a:t>Name2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IN" sz="2000"/>
              <a:t>Print(Name)</a:t>
            </a:r>
            <a:endParaRPr/>
          </a:p>
          <a:p>
            <a:pPr indent="-254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 sz="32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13"/>
          <p:cNvSpPr txBox="1"/>
          <p:nvPr>
            <p:ph type="title"/>
          </p:nvPr>
        </p:nvSpPr>
        <p:spPr>
          <a:xfrm>
            <a:off x="870858" y="659039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5400"/>
              <a:buFont typeface="Marcellus"/>
              <a:buNone/>
            </a:pPr>
            <a:r>
              <a:rPr lang="en-IN"/>
              <a:t>Data Types</a:t>
            </a:r>
            <a:endParaRPr/>
          </a:p>
        </p:txBody>
      </p:sp>
      <p:sp>
        <p:nvSpPr>
          <p:cNvPr id="165" name="Google Shape;165;p13"/>
          <p:cNvSpPr txBox="1"/>
          <p:nvPr>
            <p:ph idx="1" type="body"/>
          </p:nvPr>
        </p:nvSpPr>
        <p:spPr>
          <a:xfrm>
            <a:off x="838200" y="2070560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10000"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IN"/>
              <a:t>There are two types of data classified on very broad level. They are Numeric and Character data.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IN"/>
              <a:t>Numeric Data: - It includes 0~9, “.” and “- ve” sign.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IN"/>
              <a:t>Character Data: - Everything except Numeric data type is Character. For Example, Names, Gender etc.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IN"/>
              <a:t>Data is also classified as Quantitative and Qualitative.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IN"/>
              <a:t>For Example, “1,2,3…” are Quantitative Data while “Good”, “Bad” etc. are Qualitative Data.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IN"/>
              <a:t>Although we can convert Qualitative Data into Quantitative Data using Ordinal Values.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IN"/>
              <a:t>For Example, “Good” can be rated as 9 while “Average” can be rated as 5 and “Bad” can be rated as 0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14"/>
          <p:cNvSpPr txBox="1"/>
          <p:nvPr>
            <p:ph type="title"/>
          </p:nvPr>
        </p:nvSpPr>
        <p:spPr>
          <a:xfrm>
            <a:off x="870858" y="659039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5400"/>
              <a:buFont typeface="Marcellus"/>
              <a:buNone/>
            </a:pPr>
            <a:r>
              <a:rPr lang="en-IN"/>
              <a:t>R-objects not data types</a:t>
            </a:r>
            <a:endParaRPr/>
          </a:p>
        </p:txBody>
      </p:sp>
      <p:sp>
        <p:nvSpPr>
          <p:cNvPr id="171" name="Google Shape;171;p14"/>
          <p:cNvSpPr txBox="1"/>
          <p:nvPr>
            <p:ph idx="1" type="body"/>
          </p:nvPr>
        </p:nvSpPr>
        <p:spPr>
          <a:xfrm>
            <a:off x="838200" y="2070560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IN"/>
              <a:t>Vectors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IN"/>
              <a:t>Lists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IN"/>
              <a:t>Matrices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IN"/>
              <a:t>Arrays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IN"/>
              <a:t>Factors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IN"/>
              <a:t>Data Frames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76" name="Google Shape;176;p15"/>
          <p:cNvGraphicFramePr/>
          <p:nvPr/>
        </p:nvGraphicFramePr>
        <p:xfrm>
          <a:off x="1871531" y="62068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{5B9686C9-2DAC-4542-8D34-4B4182193A1A}</a:tableStyleId>
              </a:tblPr>
              <a:tblGrid>
                <a:gridCol w="1407775"/>
                <a:gridCol w="2935575"/>
                <a:gridCol w="4777675"/>
              </a:tblGrid>
              <a:tr h="7452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 u="none" cap="none" strike="noStrike"/>
                        <a:t>Data Type</a:t>
                      </a:r>
                      <a:endParaRPr/>
                    </a:p>
                  </a:txBody>
                  <a:tcPr marT="40700" marB="40700" marR="54275" marL="54275">
                    <a:lnL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 u="none" cap="none" strike="noStrike"/>
                        <a:t>Example</a:t>
                      </a:r>
                      <a:endParaRPr/>
                    </a:p>
                  </a:txBody>
                  <a:tcPr marT="40700" marB="40700" marR="54275" marL="54275">
                    <a:lnL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 u="none" cap="none" strike="noStrike"/>
                        <a:t>Verify</a:t>
                      </a:r>
                      <a:endParaRPr/>
                    </a:p>
                  </a:txBody>
                  <a:tcPr marT="40700" marB="40700" marR="54275" marL="54275">
                    <a:lnL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EEEEE"/>
                    </a:solidFill>
                  </a:tcPr>
                </a:tc>
              </a:tr>
              <a:tr h="13837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 u="none" cap="none" strike="noStrike"/>
                        <a:t>Logical</a:t>
                      </a:r>
                      <a:endParaRPr/>
                    </a:p>
                  </a:txBody>
                  <a:tcPr marT="40700" marB="40700" marR="54275" marL="54275">
                    <a:lnL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 u="none" cap="none" strike="noStrike"/>
                        <a:t>TRUE, FALSE</a:t>
                      </a:r>
                      <a:endParaRPr/>
                    </a:p>
                  </a:txBody>
                  <a:tcPr marT="40700" marB="40700" marR="54275" marL="54275">
                    <a:lnL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 u="none" cap="none" strike="noStrike"/>
                        <a:t>v </a:t>
                      </a:r>
                      <a:r>
                        <a:rPr lang="en-IN" sz="1800" u="none" cap="none" strike="noStrike">
                          <a:solidFill>
                            <a:srgbClr val="666600"/>
                          </a:solidFill>
                        </a:rPr>
                        <a:t>&lt;-</a:t>
                      </a:r>
                      <a:r>
                        <a:rPr lang="en-IN" sz="1800" u="none" cap="none" strike="noStrike"/>
                        <a:t> TRUE </a:t>
                      </a:r>
                      <a:endParaRPr sz="1800" u="none" cap="none" strike="noStrike"/>
                    </a:p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 u="none" cap="none" strike="noStrike">
                          <a:solidFill>
                            <a:srgbClr val="000088"/>
                          </a:solidFill>
                        </a:rPr>
                        <a:t>print</a:t>
                      </a:r>
                      <a:r>
                        <a:rPr lang="en-IN" sz="1800" u="none" cap="none" strike="noStrike">
                          <a:solidFill>
                            <a:srgbClr val="666600"/>
                          </a:solidFill>
                        </a:rPr>
                        <a:t>(</a:t>
                      </a:r>
                      <a:r>
                        <a:rPr lang="en-IN" sz="1800" u="none" cap="none" strike="noStrike">
                          <a:solidFill>
                            <a:srgbClr val="000088"/>
                          </a:solidFill>
                        </a:rPr>
                        <a:t>class</a:t>
                      </a:r>
                      <a:r>
                        <a:rPr lang="en-IN" sz="1800" u="none" cap="none" strike="noStrike">
                          <a:solidFill>
                            <a:srgbClr val="666600"/>
                          </a:solidFill>
                        </a:rPr>
                        <a:t>(</a:t>
                      </a:r>
                      <a:r>
                        <a:rPr lang="en-IN" sz="1800" u="none" cap="none" strike="noStrike"/>
                        <a:t>v</a:t>
                      </a:r>
                      <a:r>
                        <a:rPr lang="en-IN" sz="1800" u="none" cap="none" strike="noStrike">
                          <a:solidFill>
                            <a:srgbClr val="666600"/>
                          </a:solidFill>
                        </a:rPr>
                        <a:t>))</a:t>
                      </a:r>
                      <a:endParaRPr/>
                    </a:p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 u="none" cap="none" strike="noStrike">
                          <a:solidFill>
                            <a:srgbClr val="000000"/>
                          </a:solidFill>
                        </a:rPr>
                        <a:t>it produces the following result −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 u="none" cap="none" strike="noStrike"/>
                        <a:t>[1] "logical" </a:t>
                      </a:r>
                      <a:endParaRPr/>
                    </a:p>
                  </a:txBody>
                  <a:tcPr marT="40700" marB="40700" marR="54275" marL="54275">
                    <a:lnL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3837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 u="none" cap="none" strike="noStrike"/>
                        <a:t>Numeric</a:t>
                      </a:r>
                      <a:endParaRPr/>
                    </a:p>
                  </a:txBody>
                  <a:tcPr marT="40700" marB="40700" marR="54275" marL="54275">
                    <a:lnL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 u="none" cap="none" strike="noStrike"/>
                        <a:t>12.3, 5, 999</a:t>
                      </a:r>
                      <a:endParaRPr/>
                    </a:p>
                  </a:txBody>
                  <a:tcPr marT="40700" marB="40700" marR="54275" marL="54275">
                    <a:lnL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 u="none" cap="none" strike="noStrike"/>
                        <a:t>v </a:t>
                      </a:r>
                      <a:r>
                        <a:rPr lang="en-IN" sz="1800" u="none" cap="none" strike="noStrike">
                          <a:solidFill>
                            <a:srgbClr val="666600"/>
                          </a:solidFill>
                        </a:rPr>
                        <a:t>&lt;-</a:t>
                      </a:r>
                      <a:r>
                        <a:rPr lang="en-IN" sz="1800" u="none" cap="none" strike="noStrike"/>
                        <a:t> </a:t>
                      </a:r>
                      <a:r>
                        <a:rPr lang="en-IN" sz="1800" u="none" cap="none" strike="noStrike">
                          <a:solidFill>
                            <a:srgbClr val="006666"/>
                          </a:solidFill>
                        </a:rPr>
                        <a:t>23.5</a:t>
                      </a:r>
                      <a:r>
                        <a:rPr lang="en-IN" sz="1800" u="none" cap="none" strike="noStrike"/>
                        <a:t> </a:t>
                      </a:r>
                      <a:endParaRPr sz="1800" u="none" cap="none" strike="noStrike"/>
                    </a:p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 u="none" cap="none" strike="noStrike">
                          <a:solidFill>
                            <a:srgbClr val="000088"/>
                          </a:solidFill>
                        </a:rPr>
                        <a:t>print</a:t>
                      </a:r>
                      <a:r>
                        <a:rPr lang="en-IN" sz="1800" u="none" cap="none" strike="noStrike">
                          <a:solidFill>
                            <a:srgbClr val="666600"/>
                          </a:solidFill>
                        </a:rPr>
                        <a:t>(</a:t>
                      </a:r>
                      <a:r>
                        <a:rPr lang="en-IN" sz="1800" u="none" cap="none" strike="noStrike">
                          <a:solidFill>
                            <a:srgbClr val="000088"/>
                          </a:solidFill>
                        </a:rPr>
                        <a:t>class</a:t>
                      </a:r>
                      <a:r>
                        <a:rPr lang="en-IN" sz="1800" u="none" cap="none" strike="noStrike">
                          <a:solidFill>
                            <a:srgbClr val="666600"/>
                          </a:solidFill>
                        </a:rPr>
                        <a:t>(</a:t>
                      </a:r>
                      <a:r>
                        <a:rPr lang="en-IN" sz="1800" u="none" cap="none" strike="noStrike"/>
                        <a:t>v</a:t>
                      </a:r>
                      <a:r>
                        <a:rPr lang="en-IN" sz="1800" u="none" cap="none" strike="noStrike">
                          <a:solidFill>
                            <a:srgbClr val="666600"/>
                          </a:solidFill>
                        </a:rPr>
                        <a:t>))</a:t>
                      </a:r>
                      <a:endParaRPr/>
                    </a:p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 u="none" cap="none" strike="noStrike">
                          <a:solidFill>
                            <a:srgbClr val="000000"/>
                          </a:solidFill>
                        </a:rPr>
                        <a:t>it produces the following result −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 u="none" cap="none" strike="noStrike"/>
                        <a:t>[1] "numeric" </a:t>
                      </a:r>
                      <a:endParaRPr/>
                    </a:p>
                  </a:txBody>
                  <a:tcPr marT="40700" marB="40700" marR="54275" marL="54275">
                    <a:lnL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3837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 u="none" cap="none" strike="noStrike"/>
                        <a:t>Integer</a:t>
                      </a:r>
                      <a:endParaRPr/>
                    </a:p>
                  </a:txBody>
                  <a:tcPr marT="40700" marB="40700" marR="54275" marL="54275">
                    <a:lnL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 u="none" cap="none" strike="noStrike"/>
                        <a:t>2L, 34L, 0L</a:t>
                      </a:r>
                      <a:endParaRPr/>
                    </a:p>
                  </a:txBody>
                  <a:tcPr marT="40700" marB="40700" marR="54275" marL="54275">
                    <a:lnL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 u="none" cap="none" strike="noStrike"/>
                        <a:t>v </a:t>
                      </a:r>
                      <a:r>
                        <a:rPr lang="en-IN" sz="1800" u="none" cap="none" strike="noStrike">
                          <a:solidFill>
                            <a:srgbClr val="666600"/>
                          </a:solidFill>
                        </a:rPr>
                        <a:t>&lt;-</a:t>
                      </a:r>
                      <a:r>
                        <a:rPr lang="en-IN" sz="1800" u="none" cap="none" strike="noStrike"/>
                        <a:t> </a:t>
                      </a:r>
                      <a:r>
                        <a:rPr lang="en-IN" sz="1800" u="none" cap="none" strike="noStrike">
                          <a:solidFill>
                            <a:srgbClr val="006666"/>
                          </a:solidFill>
                        </a:rPr>
                        <a:t>2L</a:t>
                      </a:r>
                      <a:r>
                        <a:rPr lang="en-IN" sz="1800" u="none" cap="none" strike="noStrike"/>
                        <a:t> </a:t>
                      </a:r>
                      <a:endParaRPr sz="1800" u="none" cap="none" strike="noStrike"/>
                    </a:p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 u="none" cap="none" strike="noStrike">
                          <a:solidFill>
                            <a:srgbClr val="000088"/>
                          </a:solidFill>
                        </a:rPr>
                        <a:t>print</a:t>
                      </a:r>
                      <a:r>
                        <a:rPr lang="en-IN" sz="1800" u="none" cap="none" strike="noStrike">
                          <a:solidFill>
                            <a:srgbClr val="666600"/>
                          </a:solidFill>
                        </a:rPr>
                        <a:t>(</a:t>
                      </a:r>
                      <a:r>
                        <a:rPr lang="en-IN" sz="1800" u="none" cap="none" strike="noStrike">
                          <a:solidFill>
                            <a:srgbClr val="000088"/>
                          </a:solidFill>
                        </a:rPr>
                        <a:t>class</a:t>
                      </a:r>
                      <a:r>
                        <a:rPr lang="en-IN" sz="1800" u="none" cap="none" strike="noStrike">
                          <a:solidFill>
                            <a:srgbClr val="666600"/>
                          </a:solidFill>
                        </a:rPr>
                        <a:t>(</a:t>
                      </a:r>
                      <a:r>
                        <a:rPr lang="en-IN" sz="1800" u="none" cap="none" strike="noStrike"/>
                        <a:t>v</a:t>
                      </a:r>
                      <a:r>
                        <a:rPr lang="en-IN" sz="1800" u="none" cap="none" strike="noStrike">
                          <a:solidFill>
                            <a:srgbClr val="666600"/>
                          </a:solidFill>
                        </a:rPr>
                        <a:t>))</a:t>
                      </a:r>
                      <a:endParaRPr/>
                    </a:p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 u="none" cap="none" strike="noStrike">
                          <a:solidFill>
                            <a:srgbClr val="000000"/>
                          </a:solidFill>
                        </a:rPr>
                        <a:t>it produces the following result −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 u="none" cap="none" strike="noStrike"/>
                        <a:t>[1] "integer" </a:t>
                      </a:r>
                      <a:endParaRPr/>
                    </a:p>
                  </a:txBody>
                  <a:tcPr marT="40700" marB="40700" marR="54275" marL="54275">
                    <a:lnL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81" name="Google Shape;181;p16"/>
          <p:cNvGraphicFramePr/>
          <p:nvPr/>
        </p:nvGraphicFramePr>
        <p:xfrm>
          <a:off x="2063553" y="692697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{5B9686C9-2DAC-4542-8D34-4B4182193A1A}</a:tableStyleId>
              </a:tblPr>
              <a:tblGrid>
                <a:gridCol w="1407775"/>
                <a:gridCol w="2935575"/>
                <a:gridCol w="4777675"/>
              </a:tblGrid>
              <a:tr h="5546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 u="none" cap="none" strike="noStrike"/>
                        <a:t>Data Type</a:t>
                      </a:r>
                      <a:endParaRPr/>
                    </a:p>
                  </a:txBody>
                  <a:tcPr marT="40700" marB="40700" marR="54275" marL="54275">
                    <a:lnL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 u="none" cap="none" strike="noStrike"/>
                        <a:t>Example</a:t>
                      </a:r>
                      <a:endParaRPr/>
                    </a:p>
                  </a:txBody>
                  <a:tcPr marT="40700" marB="40700" marR="54275" marL="54275">
                    <a:lnL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 u="none" cap="none" strike="noStrike"/>
                        <a:t>Verify</a:t>
                      </a:r>
                      <a:endParaRPr/>
                    </a:p>
                  </a:txBody>
                  <a:tcPr marT="40700" marB="40700" marR="54275" marL="54275">
                    <a:lnL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EEEEE"/>
                    </a:solidFill>
                  </a:tcPr>
                </a:tc>
              </a:tr>
              <a:tr h="10686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 u="none" cap="none" strike="noStrike"/>
                        <a:t>Complex</a:t>
                      </a:r>
                      <a:endParaRPr/>
                    </a:p>
                  </a:txBody>
                  <a:tcPr marT="40700" marB="40700" marR="54275" marL="54275">
                    <a:lnL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 u="none" cap="none" strike="noStrike"/>
                        <a:t>3 + 2i</a:t>
                      </a:r>
                      <a:endParaRPr/>
                    </a:p>
                  </a:txBody>
                  <a:tcPr marT="40700" marB="40700" marR="54275" marL="54275">
                    <a:lnL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 u="none" cap="none" strike="noStrike"/>
                        <a:t>v </a:t>
                      </a:r>
                      <a:r>
                        <a:rPr lang="en-IN" sz="1800" u="none" cap="none" strike="noStrike">
                          <a:solidFill>
                            <a:srgbClr val="666600"/>
                          </a:solidFill>
                        </a:rPr>
                        <a:t>&lt;-</a:t>
                      </a:r>
                      <a:r>
                        <a:rPr lang="en-IN" sz="1800" u="none" cap="none" strike="noStrike"/>
                        <a:t> </a:t>
                      </a:r>
                      <a:r>
                        <a:rPr lang="en-IN" sz="1800" u="none" cap="none" strike="noStrike">
                          <a:solidFill>
                            <a:srgbClr val="006666"/>
                          </a:solidFill>
                        </a:rPr>
                        <a:t>2</a:t>
                      </a:r>
                      <a:r>
                        <a:rPr lang="en-IN" sz="1800" u="none" cap="none" strike="noStrike">
                          <a:solidFill>
                            <a:srgbClr val="666600"/>
                          </a:solidFill>
                        </a:rPr>
                        <a:t>+</a:t>
                      </a:r>
                      <a:r>
                        <a:rPr lang="en-IN" sz="1800" u="none" cap="none" strike="noStrike">
                          <a:solidFill>
                            <a:srgbClr val="006666"/>
                          </a:solidFill>
                        </a:rPr>
                        <a:t>5i</a:t>
                      </a:r>
                      <a:r>
                        <a:rPr lang="en-IN" sz="1800" u="none" cap="none" strike="noStrike"/>
                        <a:t> </a:t>
                      </a:r>
                      <a:r>
                        <a:rPr lang="en-IN" sz="1800" u="none" cap="none" strike="noStrike">
                          <a:solidFill>
                            <a:srgbClr val="000088"/>
                          </a:solidFill>
                        </a:rPr>
                        <a:t>print</a:t>
                      </a:r>
                      <a:r>
                        <a:rPr lang="en-IN" sz="1800" u="none" cap="none" strike="noStrike">
                          <a:solidFill>
                            <a:srgbClr val="666600"/>
                          </a:solidFill>
                        </a:rPr>
                        <a:t>(</a:t>
                      </a:r>
                      <a:r>
                        <a:rPr lang="en-IN" sz="1800" u="none" cap="none" strike="noStrike">
                          <a:solidFill>
                            <a:srgbClr val="000088"/>
                          </a:solidFill>
                        </a:rPr>
                        <a:t>class</a:t>
                      </a:r>
                      <a:r>
                        <a:rPr lang="en-IN" sz="1800" u="none" cap="none" strike="noStrike">
                          <a:solidFill>
                            <a:srgbClr val="666600"/>
                          </a:solidFill>
                        </a:rPr>
                        <a:t>(</a:t>
                      </a:r>
                      <a:r>
                        <a:rPr lang="en-IN" sz="1800" u="none" cap="none" strike="noStrike"/>
                        <a:t>v</a:t>
                      </a:r>
                      <a:r>
                        <a:rPr lang="en-IN" sz="1800" u="none" cap="none" strike="noStrike">
                          <a:solidFill>
                            <a:srgbClr val="666600"/>
                          </a:solidFill>
                        </a:rPr>
                        <a:t>))</a:t>
                      </a:r>
                      <a:endParaRPr/>
                    </a:p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 u="none" cap="none" strike="noStrike">
                          <a:solidFill>
                            <a:srgbClr val="000000"/>
                          </a:solidFill>
                        </a:rPr>
                        <a:t>it produces the following result −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 u="none" cap="none" strike="noStrike"/>
                        <a:t>[1] "complex" </a:t>
                      </a:r>
                      <a:endParaRPr/>
                    </a:p>
                  </a:txBody>
                  <a:tcPr marT="40700" marB="40700" marR="54275" marL="54275">
                    <a:lnL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3846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 u="none" cap="none" strike="noStrike"/>
                        <a:t>Character</a:t>
                      </a:r>
                      <a:endParaRPr/>
                    </a:p>
                  </a:txBody>
                  <a:tcPr marT="40700" marB="40700" marR="54275" marL="54275">
                    <a:lnL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 u="none" cap="none" strike="noStrike"/>
                        <a:t>'a' , '"good", "TRUE", '23.4'</a:t>
                      </a:r>
                      <a:endParaRPr/>
                    </a:p>
                  </a:txBody>
                  <a:tcPr marT="40700" marB="40700" marR="54275" marL="54275">
                    <a:lnL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 u="none" cap="none" strike="noStrike"/>
                        <a:t>v </a:t>
                      </a:r>
                      <a:r>
                        <a:rPr lang="en-IN" sz="1800" u="none" cap="none" strike="noStrike">
                          <a:solidFill>
                            <a:srgbClr val="666600"/>
                          </a:solidFill>
                        </a:rPr>
                        <a:t>&lt;-</a:t>
                      </a:r>
                      <a:r>
                        <a:rPr lang="en-IN" sz="1800" u="none" cap="none" strike="noStrike"/>
                        <a:t> </a:t>
                      </a:r>
                      <a:r>
                        <a:rPr lang="en-IN" sz="1800" u="none" cap="none" strike="noStrike">
                          <a:solidFill>
                            <a:srgbClr val="008800"/>
                          </a:solidFill>
                        </a:rPr>
                        <a:t>"TRUE"</a:t>
                      </a:r>
                      <a:r>
                        <a:rPr lang="en-IN" sz="1800" u="none" cap="none" strike="noStrike"/>
                        <a:t> </a:t>
                      </a:r>
                      <a:endParaRPr sz="1800" u="none" cap="none" strike="noStrike"/>
                    </a:p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 u="none" cap="none" strike="noStrike">
                          <a:solidFill>
                            <a:srgbClr val="000088"/>
                          </a:solidFill>
                        </a:rPr>
                        <a:t>print</a:t>
                      </a:r>
                      <a:r>
                        <a:rPr lang="en-IN" sz="1800" u="none" cap="none" strike="noStrike">
                          <a:solidFill>
                            <a:srgbClr val="666600"/>
                          </a:solidFill>
                        </a:rPr>
                        <a:t>(</a:t>
                      </a:r>
                      <a:r>
                        <a:rPr lang="en-IN" sz="1800" u="none" cap="none" strike="noStrike">
                          <a:solidFill>
                            <a:srgbClr val="000088"/>
                          </a:solidFill>
                        </a:rPr>
                        <a:t>class</a:t>
                      </a:r>
                      <a:r>
                        <a:rPr lang="en-IN" sz="1800" u="none" cap="none" strike="noStrike">
                          <a:solidFill>
                            <a:srgbClr val="666600"/>
                          </a:solidFill>
                        </a:rPr>
                        <a:t>(</a:t>
                      </a:r>
                      <a:r>
                        <a:rPr lang="en-IN" sz="1800" u="none" cap="none" strike="noStrike"/>
                        <a:t>v</a:t>
                      </a:r>
                      <a:r>
                        <a:rPr lang="en-IN" sz="1800" u="none" cap="none" strike="noStrike">
                          <a:solidFill>
                            <a:srgbClr val="666600"/>
                          </a:solidFill>
                        </a:rPr>
                        <a:t>))</a:t>
                      </a:r>
                      <a:endParaRPr/>
                    </a:p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 u="none" cap="none" strike="noStrike">
                          <a:solidFill>
                            <a:srgbClr val="000000"/>
                          </a:solidFill>
                        </a:rPr>
                        <a:t>it produces the following result −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 u="none" cap="none" strike="noStrike"/>
                        <a:t>[1] "character" </a:t>
                      </a:r>
                      <a:endParaRPr/>
                    </a:p>
                  </a:txBody>
                  <a:tcPr marT="40700" marB="40700" marR="54275" marL="54275">
                    <a:lnL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3846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 u="none" cap="none" strike="noStrike"/>
                        <a:t>Raw</a:t>
                      </a:r>
                      <a:endParaRPr/>
                    </a:p>
                  </a:txBody>
                  <a:tcPr marT="40700" marB="40700" marR="54275" marL="54275">
                    <a:lnL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 u="none" cap="none" strike="noStrike"/>
                        <a:t>"Hello" is stored as 48 65 6c 6c 6f</a:t>
                      </a:r>
                      <a:endParaRPr/>
                    </a:p>
                  </a:txBody>
                  <a:tcPr marT="40700" marB="40700" marR="54275" marL="54275">
                    <a:lnL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 u="none" cap="none" strike="noStrike"/>
                        <a:t>v </a:t>
                      </a:r>
                      <a:r>
                        <a:rPr lang="en-IN" sz="1800" u="none" cap="none" strike="noStrike">
                          <a:solidFill>
                            <a:srgbClr val="666600"/>
                          </a:solidFill>
                        </a:rPr>
                        <a:t>&lt;-</a:t>
                      </a:r>
                      <a:r>
                        <a:rPr lang="en-IN" sz="1800" u="none" cap="none" strike="noStrike"/>
                        <a:t> charToRaw</a:t>
                      </a:r>
                      <a:r>
                        <a:rPr lang="en-IN" sz="1800" u="none" cap="none" strike="noStrike">
                          <a:solidFill>
                            <a:srgbClr val="666600"/>
                          </a:solidFill>
                        </a:rPr>
                        <a:t>(</a:t>
                      </a:r>
                      <a:r>
                        <a:rPr lang="en-IN" sz="1800" u="none" cap="none" strike="noStrike">
                          <a:solidFill>
                            <a:srgbClr val="008800"/>
                          </a:solidFill>
                        </a:rPr>
                        <a:t>"Hello"</a:t>
                      </a:r>
                      <a:r>
                        <a:rPr lang="en-IN" sz="1800" u="none" cap="none" strike="noStrike">
                          <a:solidFill>
                            <a:srgbClr val="666600"/>
                          </a:solidFill>
                        </a:rPr>
                        <a:t>)</a:t>
                      </a:r>
                      <a:r>
                        <a:rPr lang="en-IN" sz="1800" u="none" cap="none" strike="noStrike"/>
                        <a:t> </a:t>
                      </a:r>
                      <a:endParaRPr sz="1800" u="none" cap="none" strike="noStrike"/>
                    </a:p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 u="none" cap="none" strike="noStrike">
                          <a:solidFill>
                            <a:srgbClr val="000088"/>
                          </a:solidFill>
                        </a:rPr>
                        <a:t>print</a:t>
                      </a:r>
                      <a:r>
                        <a:rPr lang="en-IN" sz="1800" u="none" cap="none" strike="noStrike">
                          <a:solidFill>
                            <a:srgbClr val="666600"/>
                          </a:solidFill>
                        </a:rPr>
                        <a:t>(</a:t>
                      </a:r>
                      <a:r>
                        <a:rPr lang="en-IN" sz="1800" u="none" cap="none" strike="noStrike">
                          <a:solidFill>
                            <a:srgbClr val="000088"/>
                          </a:solidFill>
                        </a:rPr>
                        <a:t>class</a:t>
                      </a:r>
                      <a:r>
                        <a:rPr lang="en-IN" sz="1800" u="none" cap="none" strike="noStrike">
                          <a:solidFill>
                            <a:srgbClr val="666600"/>
                          </a:solidFill>
                        </a:rPr>
                        <a:t>(</a:t>
                      </a:r>
                      <a:r>
                        <a:rPr lang="en-IN" sz="1800" u="none" cap="none" strike="noStrike"/>
                        <a:t>v</a:t>
                      </a:r>
                      <a:r>
                        <a:rPr lang="en-IN" sz="1800" u="none" cap="none" strike="noStrike">
                          <a:solidFill>
                            <a:srgbClr val="666600"/>
                          </a:solidFill>
                        </a:rPr>
                        <a:t>))</a:t>
                      </a:r>
                      <a:endParaRPr/>
                    </a:p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 u="none" cap="none" strike="noStrike">
                          <a:solidFill>
                            <a:srgbClr val="000000"/>
                          </a:solidFill>
                        </a:rPr>
                        <a:t>it produces the following result −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 u="none" cap="none" strike="noStrike"/>
                        <a:t>[1] "raw" </a:t>
                      </a:r>
                      <a:endParaRPr/>
                    </a:p>
                  </a:txBody>
                  <a:tcPr marT="40700" marB="40700" marR="54275" marL="54275">
                    <a:lnL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17"/>
          <p:cNvSpPr txBox="1"/>
          <p:nvPr>
            <p:ph type="title"/>
          </p:nvPr>
        </p:nvSpPr>
        <p:spPr>
          <a:xfrm>
            <a:off x="870858" y="659039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5400"/>
              <a:buFont typeface="Marcellus"/>
              <a:buNone/>
            </a:pPr>
            <a:r>
              <a:rPr lang="en-IN"/>
              <a:t>Vectors</a:t>
            </a:r>
            <a:endParaRPr/>
          </a:p>
        </p:txBody>
      </p:sp>
      <p:sp>
        <p:nvSpPr>
          <p:cNvPr id="187" name="Google Shape;187;p17"/>
          <p:cNvSpPr txBox="1"/>
          <p:nvPr>
            <p:ph idx="1" type="body"/>
          </p:nvPr>
        </p:nvSpPr>
        <p:spPr>
          <a:xfrm>
            <a:off x="838200" y="2070560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IN" sz="2800"/>
              <a:t>When you want to create vector with more than one element, you should use </a:t>
            </a:r>
            <a:r>
              <a:rPr b="1" lang="en-IN" sz="2800"/>
              <a:t>c()</a:t>
            </a:r>
            <a:r>
              <a:rPr lang="en-IN" sz="2800"/>
              <a:t> function which means to combine the elements into a vector.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-IN" sz="1800"/>
              <a:t># Create a vector.</a:t>
            </a:r>
            <a:endParaRPr sz="1800"/>
          </a:p>
          <a:p>
            <a:pPr indent="-228600" lvl="2" marL="11430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-IN" sz="1800"/>
              <a:t>apple &lt;- c('red','green',"yellow") </a:t>
            </a:r>
            <a:endParaRPr/>
          </a:p>
          <a:p>
            <a:pPr indent="-228600" lvl="2" marL="11430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-IN" sz="1800"/>
              <a:t>print(apple)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-IN" sz="1800"/>
              <a:t># Get the class of the vector. </a:t>
            </a:r>
            <a:endParaRPr sz="1800"/>
          </a:p>
          <a:p>
            <a:pPr indent="-228600" lvl="2" marL="11430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-IN" sz="1800"/>
              <a:t>print(class(apple))</a:t>
            </a:r>
            <a:endParaRPr sz="1800"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 sz="2800"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 sz="280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18"/>
          <p:cNvSpPr txBox="1"/>
          <p:nvPr>
            <p:ph type="title"/>
          </p:nvPr>
        </p:nvSpPr>
        <p:spPr>
          <a:xfrm>
            <a:off x="870858" y="659039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5400"/>
              <a:buFont typeface="Marcellus"/>
              <a:buNone/>
            </a:pPr>
            <a:r>
              <a:rPr lang="en-IN"/>
              <a:t>Multiple Elements Vector</a:t>
            </a:r>
            <a:endParaRPr/>
          </a:p>
        </p:txBody>
      </p:sp>
      <p:sp>
        <p:nvSpPr>
          <p:cNvPr id="193" name="Google Shape;193;p18"/>
          <p:cNvSpPr txBox="1"/>
          <p:nvPr>
            <p:ph idx="1" type="body"/>
          </p:nvPr>
        </p:nvSpPr>
        <p:spPr>
          <a:xfrm>
            <a:off x="838200" y="2070560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77500" lnSpcReduction="20000"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IN"/>
              <a:t># Creating a sequence from 5 to 13.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IN"/>
              <a:t>v &lt;- 5:13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IN"/>
              <a:t>print(v)</a:t>
            </a:r>
            <a:endParaRPr/>
          </a:p>
          <a:p>
            <a:pPr indent="-90804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IN"/>
              <a:t># Creating a sequence from 6.6 to 12.6.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IN"/>
              <a:t>v &lt;- 6.6:12.6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IN"/>
              <a:t>print(v)</a:t>
            </a:r>
            <a:endParaRPr/>
          </a:p>
          <a:p>
            <a:pPr indent="-90804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IN"/>
              <a:t># If the final element specified does not belong to the sequence then it is discarded.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IN"/>
              <a:t>v &lt;- 3.8:11.4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IN"/>
              <a:t>print(v)</a:t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19"/>
          <p:cNvSpPr txBox="1"/>
          <p:nvPr>
            <p:ph type="title"/>
          </p:nvPr>
        </p:nvSpPr>
        <p:spPr>
          <a:xfrm>
            <a:off x="870858" y="659039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5400"/>
              <a:buFont typeface="Marcellus"/>
              <a:buNone/>
            </a:pPr>
            <a:r>
              <a:t/>
            </a:r>
            <a:endParaRPr/>
          </a:p>
        </p:txBody>
      </p:sp>
      <p:sp>
        <p:nvSpPr>
          <p:cNvPr id="199" name="Google Shape;199;p19"/>
          <p:cNvSpPr txBox="1"/>
          <p:nvPr>
            <p:ph idx="1" type="body"/>
          </p:nvPr>
        </p:nvSpPr>
        <p:spPr>
          <a:xfrm>
            <a:off x="838200" y="2070560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b="1" lang="en-IN"/>
              <a:t>Using sequence (Seq.) operator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IN"/>
              <a:t># Create vector with elements from 5 to 9 incrementing by 0.4. 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IN"/>
              <a:t>print(seq(5, 9, by = 0.4))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b="1" lang="en-IN"/>
              <a:t>Using the c() function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IN"/>
              <a:t># The logical and numeric values are converted to characters. 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IN"/>
              <a:t>s &lt;- c('apple','red',5,TRUE) 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IN"/>
              <a:t>print(s)</a:t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20"/>
          <p:cNvSpPr txBox="1"/>
          <p:nvPr>
            <p:ph type="title"/>
          </p:nvPr>
        </p:nvSpPr>
        <p:spPr>
          <a:xfrm>
            <a:off x="870858" y="659039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5400"/>
              <a:buFont typeface="Marcellus"/>
              <a:buNone/>
            </a:pPr>
            <a:r>
              <a:rPr lang="en-IN"/>
              <a:t>Variable</a:t>
            </a:r>
            <a:endParaRPr/>
          </a:p>
        </p:txBody>
      </p:sp>
      <p:graphicFrame>
        <p:nvGraphicFramePr>
          <p:cNvPr id="205" name="Google Shape;205;p20"/>
          <p:cNvGraphicFramePr/>
          <p:nvPr/>
        </p:nvGraphicFramePr>
        <p:xfrm>
          <a:off x="609600" y="160020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{112EDE2C-E6AC-42DE-8778-5CDE3AA45634}</a:tableStyleId>
              </a:tblPr>
              <a:tblGrid>
                <a:gridCol w="2194550"/>
                <a:gridCol w="2194550"/>
                <a:gridCol w="6569900"/>
              </a:tblGrid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 u="none" cap="none" strike="noStrike"/>
                        <a:t>Variable Name</a:t>
                      </a:r>
                      <a:endParaRPr/>
                    </a:p>
                  </a:txBody>
                  <a:tcPr marT="76200" marB="76200" marR="101600" marL="10160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 u="none" cap="none" strike="noStrike"/>
                        <a:t>Validity</a:t>
                      </a:r>
                      <a:endParaRPr/>
                    </a:p>
                  </a:txBody>
                  <a:tcPr marT="76200" marB="76200" marR="101600" marL="10160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 u="none" cap="none" strike="noStrike"/>
                        <a:t>Reason</a:t>
                      </a:r>
                      <a:endParaRPr/>
                    </a:p>
                  </a:txBody>
                  <a:tcPr marT="76200" marB="76200" marR="101600" marL="10160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 u="none" cap="none" strike="noStrike"/>
                        <a:t>var_name2.</a:t>
                      </a:r>
                      <a:endParaRPr/>
                    </a:p>
                  </a:txBody>
                  <a:tcPr marT="76200" marB="76200" marR="101600" marL="10160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 u="none" cap="none" strike="noStrike"/>
                        <a:t>valid</a:t>
                      </a:r>
                      <a:endParaRPr/>
                    </a:p>
                  </a:txBody>
                  <a:tcPr marT="76200" marB="76200" marR="101600" marL="10160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 u="none" cap="none" strike="noStrike"/>
                        <a:t>Has letters, numbers, dot and underscore</a:t>
                      </a:r>
                      <a:endParaRPr/>
                    </a:p>
                  </a:txBody>
                  <a:tcPr marT="76200" marB="76200" marR="101600" marL="10160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 u="none" cap="none" strike="noStrike"/>
                        <a:t>var_name%</a:t>
                      </a:r>
                      <a:endParaRPr/>
                    </a:p>
                  </a:txBody>
                  <a:tcPr marT="76200" marB="76200" marR="101600" marL="10160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 u="none" cap="none" strike="noStrike"/>
                        <a:t>Invalid</a:t>
                      </a:r>
                      <a:endParaRPr/>
                    </a:p>
                  </a:txBody>
                  <a:tcPr marT="76200" marB="76200" marR="101600" marL="10160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 u="none" cap="none" strike="noStrike"/>
                        <a:t>Has the character '%'. Only dot(.) and underscore allowed.</a:t>
                      </a:r>
                      <a:endParaRPr/>
                    </a:p>
                  </a:txBody>
                  <a:tcPr marT="76200" marB="76200" marR="101600" marL="10160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 u="none" cap="none" strike="noStrike"/>
                        <a:t>2var_name</a:t>
                      </a:r>
                      <a:endParaRPr/>
                    </a:p>
                  </a:txBody>
                  <a:tcPr marT="76200" marB="76200" marR="101600" marL="10160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 u="none" cap="none" strike="noStrike"/>
                        <a:t>invalid</a:t>
                      </a:r>
                      <a:endParaRPr/>
                    </a:p>
                  </a:txBody>
                  <a:tcPr marT="76200" marB="76200" marR="101600" marL="10160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 u="none" cap="none" strike="noStrike"/>
                        <a:t>Starts with a number</a:t>
                      </a:r>
                      <a:endParaRPr/>
                    </a:p>
                  </a:txBody>
                  <a:tcPr marT="76200" marB="76200" marR="101600" marL="10160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 u="none" cap="none" strike="noStrike">
                          <a:solidFill>
                            <a:srgbClr val="000000"/>
                          </a:solidFill>
                        </a:rPr>
                        <a:t>.var_name,</a:t>
                      </a:r>
                      <a:endParaRPr/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 u="none" cap="none" strike="noStrike">
                          <a:solidFill>
                            <a:srgbClr val="000000"/>
                          </a:solidFill>
                        </a:rPr>
                        <a:t>var.name</a:t>
                      </a:r>
                      <a:endParaRPr/>
                    </a:p>
                  </a:txBody>
                  <a:tcPr marT="76200" marB="76200" marR="101600" marL="10160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 u="none" cap="none" strike="noStrike"/>
                        <a:t>valid</a:t>
                      </a:r>
                      <a:endParaRPr/>
                    </a:p>
                  </a:txBody>
                  <a:tcPr marT="76200" marB="76200" marR="101600" marL="10160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 u="none" cap="none" strike="noStrike"/>
                        <a:t>Can start with a dot(.) but the dot(.)should not be followed by a number.</a:t>
                      </a:r>
                      <a:endParaRPr/>
                    </a:p>
                  </a:txBody>
                  <a:tcPr marT="76200" marB="76200" marR="101600" marL="101600" anchor="ctr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 u="none" cap="none" strike="noStrike"/>
                        <a:t>.2var_name</a:t>
                      </a:r>
                      <a:endParaRPr/>
                    </a:p>
                  </a:txBody>
                  <a:tcPr marT="76200" marB="76200" marR="101600" marL="10160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 u="none" cap="none" strike="noStrike"/>
                        <a:t>invalid</a:t>
                      </a:r>
                      <a:endParaRPr/>
                    </a:p>
                  </a:txBody>
                  <a:tcPr marT="76200" marB="76200" marR="101600" marL="10160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 u="none" cap="none" strike="noStrike"/>
                        <a:t>The starting dot is followed by a number making it invalid.</a:t>
                      </a:r>
                      <a:endParaRPr/>
                    </a:p>
                  </a:txBody>
                  <a:tcPr marT="76200" marB="76200" marR="101600" marL="10160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 u="none" cap="none" strike="noStrike"/>
                        <a:t>_var_name</a:t>
                      </a:r>
                      <a:endParaRPr/>
                    </a:p>
                  </a:txBody>
                  <a:tcPr marT="76200" marB="76200" marR="101600" marL="10160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 u="none" cap="none" strike="noStrike"/>
                        <a:t>invalid</a:t>
                      </a:r>
                      <a:endParaRPr/>
                    </a:p>
                  </a:txBody>
                  <a:tcPr marT="76200" marB="76200" marR="101600" marL="10160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 u="none" cap="none" strike="noStrike"/>
                        <a:t>Starts with _ which is not valid</a:t>
                      </a:r>
                      <a:endParaRPr/>
                    </a:p>
                  </a:txBody>
                  <a:tcPr marT="76200" marB="76200" marR="101600" marL="101600"/>
                </a:tc>
              </a:tr>
            </a:tbl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21"/>
          <p:cNvSpPr txBox="1"/>
          <p:nvPr>
            <p:ph type="title"/>
          </p:nvPr>
        </p:nvSpPr>
        <p:spPr>
          <a:xfrm>
            <a:off x="870858" y="659039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5400"/>
              <a:buFont typeface="Marcellus"/>
              <a:buNone/>
            </a:pPr>
            <a:r>
              <a:rPr lang="en-IN"/>
              <a:t>Variable Assignment</a:t>
            </a:r>
            <a:endParaRPr/>
          </a:p>
        </p:txBody>
      </p:sp>
      <p:sp>
        <p:nvSpPr>
          <p:cNvPr id="211" name="Google Shape;211;p21"/>
          <p:cNvSpPr txBox="1"/>
          <p:nvPr>
            <p:ph idx="1" type="body"/>
          </p:nvPr>
        </p:nvSpPr>
        <p:spPr>
          <a:xfrm>
            <a:off x="838200" y="2070560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62500" lnSpcReduction="20000"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IN"/>
              <a:t># Assignment using equal operator.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IN"/>
              <a:t>var.1 = c(0,1,2,3)           </a:t>
            </a:r>
            <a:endParaRPr/>
          </a:p>
          <a:p>
            <a:pPr indent="-117475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IN"/>
              <a:t># Assignment using leftward operator.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IN"/>
              <a:t>var.2 &lt;- c("learn","R")   </a:t>
            </a:r>
            <a:endParaRPr/>
          </a:p>
          <a:p>
            <a:pPr indent="-117475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IN"/>
              <a:t># Assignment using rightward operator.   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IN"/>
              <a:t>c(TRUE,1) -&gt; var.3           </a:t>
            </a:r>
            <a:endParaRPr/>
          </a:p>
          <a:p>
            <a:pPr indent="-117475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IN"/>
              <a:t>print(var.1)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IN"/>
              <a:t>cat ("var.1 is ", var.1 ,"\n")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IN"/>
              <a:t>cat ("var.2 is ", var.2 ,"\n")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IN"/>
              <a:t>cat ("var.3 is ", var.3 ,"\n")</a:t>
            </a:r>
            <a:endParaRPr/>
          </a:p>
        </p:txBody>
      </p:sp>
      <p:sp>
        <p:nvSpPr>
          <p:cNvPr id="212" name="Google Shape;212;p21"/>
          <p:cNvSpPr/>
          <p:nvPr/>
        </p:nvSpPr>
        <p:spPr>
          <a:xfrm>
            <a:off x="6096000" y="4509121"/>
            <a:ext cx="5280587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IN" sz="1800" u="none" cap="none" strike="noStrike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rPr>
              <a:t>The </a:t>
            </a:r>
            <a:r>
              <a:rPr b="1" i="0" lang="en-IN" sz="1800" u="none" cap="none" strike="noStrike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rPr>
              <a:t>cat()</a:t>
            </a:r>
            <a:r>
              <a:rPr b="0" i="0" lang="en-IN" sz="1800" u="none" cap="none" strike="noStrike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rPr>
              <a:t> function combines multiple items into a continuous print output.</a:t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22"/>
          <p:cNvSpPr txBox="1"/>
          <p:nvPr>
            <p:ph type="title"/>
          </p:nvPr>
        </p:nvSpPr>
        <p:spPr>
          <a:xfrm>
            <a:off x="870858" y="659039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5400"/>
              <a:buFont typeface="Marcellus"/>
              <a:buNone/>
            </a:pPr>
            <a:r>
              <a:rPr lang="en-IN"/>
              <a:t>Finding Variables</a:t>
            </a:r>
            <a:endParaRPr/>
          </a:p>
        </p:txBody>
      </p:sp>
      <p:sp>
        <p:nvSpPr>
          <p:cNvPr id="218" name="Google Shape;218;p22"/>
          <p:cNvSpPr txBox="1"/>
          <p:nvPr>
            <p:ph idx="1" type="body"/>
          </p:nvPr>
        </p:nvSpPr>
        <p:spPr>
          <a:xfrm>
            <a:off x="838200" y="2070560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IN"/>
              <a:t>print(ls())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IN"/>
              <a:t>Or 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IN"/>
              <a:t>ls()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IN"/>
              <a:t># List the variables starting with the pattern "var". print(ls(pattern = "var")) 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IN"/>
              <a:t>The variables starting with dot(.) are hidden, they can be listed using "all.names = TRUE" argument to ls() function.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IN"/>
              <a:t>	print(ls(all.name = TRUE))</a:t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23"/>
          <p:cNvSpPr txBox="1"/>
          <p:nvPr>
            <p:ph type="title"/>
          </p:nvPr>
        </p:nvSpPr>
        <p:spPr>
          <a:xfrm>
            <a:off x="870858" y="659039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5400"/>
              <a:buFont typeface="Marcellus"/>
              <a:buNone/>
            </a:pPr>
            <a:r>
              <a:rPr lang="en-IN"/>
              <a:t>Deleting Variables</a:t>
            </a:r>
            <a:endParaRPr/>
          </a:p>
        </p:txBody>
      </p:sp>
      <p:sp>
        <p:nvSpPr>
          <p:cNvPr id="224" name="Google Shape;224;p23"/>
          <p:cNvSpPr txBox="1"/>
          <p:nvPr>
            <p:ph idx="1" type="body"/>
          </p:nvPr>
        </p:nvSpPr>
        <p:spPr>
          <a:xfrm>
            <a:off x="838200" y="2070560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IN"/>
              <a:t>rm(var.3)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IN"/>
              <a:t>print(var.3)</a:t>
            </a:r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24"/>
          <p:cNvSpPr txBox="1"/>
          <p:nvPr>
            <p:ph type="title"/>
          </p:nvPr>
        </p:nvSpPr>
        <p:spPr>
          <a:xfrm>
            <a:off x="870858" y="659039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5400"/>
              <a:buFont typeface="Marcellus"/>
              <a:buNone/>
            </a:pPr>
            <a:r>
              <a:rPr lang="en-IN"/>
              <a:t>Operators</a:t>
            </a:r>
            <a:endParaRPr b="1"/>
          </a:p>
        </p:txBody>
      </p:sp>
      <p:sp>
        <p:nvSpPr>
          <p:cNvPr id="230" name="Google Shape;230;p24"/>
          <p:cNvSpPr txBox="1"/>
          <p:nvPr>
            <p:ph idx="1" type="body"/>
          </p:nvPr>
        </p:nvSpPr>
        <p:spPr>
          <a:xfrm>
            <a:off x="838200" y="2070560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IN"/>
              <a:t>Arithmetic Operators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IN"/>
              <a:t>Relational Operators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IN"/>
              <a:t>Logical Operators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IN"/>
              <a:t>Assignment Operators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IN"/>
              <a:t>Miscellaneous Operators</a:t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25"/>
          <p:cNvSpPr txBox="1"/>
          <p:nvPr>
            <p:ph type="title"/>
          </p:nvPr>
        </p:nvSpPr>
        <p:spPr>
          <a:xfrm>
            <a:off x="609600" y="-619472"/>
            <a:ext cx="10972800" cy="160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5400"/>
              <a:buFont typeface="Marcellus"/>
              <a:buNone/>
            </a:pPr>
            <a:r>
              <a:rPr lang="en-IN"/>
              <a:t>Arithmetic Operators</a:t>
            </a:r>
            <a:endParaRPr/>
          </a:p>
        </p:txBody>
      </p:sp>
      <p:graphicFrame>
        <p:nvGraphicFramePr>
          <p:cNvPr id="236" name="Google Shape;236;p25"/>
          <p:cNvGraphicFramePr/>
          <p:nvPr/>
        </p:nvGraphicFramePr>
        <p:xfrm>
          <a:off x="527382" y="95618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{112EDE2C-E6AC-42DE-8778-5CDE3AA45634}</a:tableStyleId>
              </a:tblPr>
              <a:tblGrid>
                <a:gridCol w="1056125"/>
                <a:gridCol w="2688300"/>
                <a:gridCol w="7392825"/>
              </a:tblGrid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400" u="none" cap="none" strike="noStrike"/>
                        <a:t>Operator</a:t>
                      </a:r>
                      <a:endParaRPr/>
                    </a:p>
                  </a:txBody>
                  <a:tcPr marT="76200" marB="76200" marR="101600" marL="10160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400" u="none" cap="none" strike="noStrike"/>
                        <a:t>Description</a:t>
                      </a:r>
                      <a:endParaRPr/>
                    </a:p>
                  </a:txBody>
                  <a:tcPr marT="76200" marB="76200" marR="101600" marL="10160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400" u="none" cap="none" strike="noStrike"/>
                        <a:t>Example</a:t>
                      </a:r>
                      <a:endParaRPr/>
                    </a:p>
                  </a:txBody>
                  <a:tcPr marT="76200" marB="76200" marR="101600" marL="10160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400" u="none" cap="none" strike="noStrike"/>
                        <a:t>+</a:t>
                      </a:r>
                      <a:endParaRPr/>
                    </a:p>
                  </a:txBody>
                  <a:tcPr marT="76200" marB="76200" marR="101600" marL="10160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400" u="none" cap="none" strike="noStrike"/>
                        <a:t>Adds two vectors</a:t>
                      </a:r>
                      <a:endParaRPr/>
                    </a:p>
                  </a:txBody>
                  <a:tcPr marT="76200" marB="76200" marR="101600" marL="101600"/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400" u="none" cap="none" strike="noStrike"/>
                        <a:t>v </a:t>
                      </a:r>
                      <a:r>
                        <a:rPr lang="en-IN" sz="1400" u="none" cap="none" strike="noStrike">
                          <a:solidFill>
                            <a:srgbClr val="666600"/>
                          </a:solidFill>
                        </a:rPr>
                        <a:t>&lt;-</a:t>
                      </a:r>
                      <a:r>
                        <a:rPr lang="en-IN" sz="1400" u="none" cap="none" strike="noStrike"/>
                        <a:t> c</a:t>
                      </a:r>
                      <a:r>
                        <a:rPr lang="en-IN" sz="1400" u="none" cap="none" strike="noStrike">
                          <a:solidFill>
                            <a:srgbClr val="666600"/>
                          </a:solidFill>
                        </a:rPr>
                        <a:t>(</a:t>
                      </a:r>
                      <a:r>
                        <a:rPr lang="en-IN" sz="1400" u="none" cap="none" strike="noStrike"/>
                        <a:t> </a:t>
                      </a:r>
                      <a:r>
                        <a:rPr lang="en-IN" sz="1400" u="none" cap="none" strike="noStrike">
                          <a:solidFill>
                            <a:srgbClr val="006666"/>
                          </a:solidFill>
                        </a:rPr>
                        <a:t>2</a:t>
                      </a:r>
                      <a:r>
                        <a:rPr lang="en-IN" sz="1400" u="none" cap="none" strike="noStrike">
                          <a:solidFill>
                            <a:srgbClr val="666600"/>
                          </a:solidFill>
                        </a:rPr>
                        <a:t>,</a:t>
                      </a:r>
                      <a:r>
                        <a:rPr lang="en-IN" sz="1400" u="none" cap="none" strike="noStrike">
                          <a:solidFill>
                            <a:srgbClr val="006666"/>
                          </a:solidFill>
                        </a:rPr>
                        <a:t>5.5</a:t>
                      </a:r>
                      <a:r>
                        <a:rPr lang="en-IN" sz="1400" u="none" cap="none" strike="noStrike">
                          <a:solidFill>
                            <a:srgbClr val="666600"/>
                          </a:solidFill>
                        </a:rPr>
                        <a:t>,</a:t>
                      </a:r>
                      <a:r>
                        <a:rPr lang="en-IN" sz="1400" u="none" cap="none" strike="noStrike">
                          <a:solidFill>
                            <a:srgbClr val="006666"/>
                          </a:solidFill>
                        </a:rPr>
                        <a:t>6</a:t>
                      </a:r>
                      <a:r>
                        <a:rPr lang="en-IN" sz="1400" u="none" cap="none" strike="noStrike">
                          <a:solidFill>
                            <a:srgbClr val="666600"/>
                          </a:solidFill>
                        </a:rPr>
                        <a:t>)</a:t>
                      </a:r>
                      <a:r>
                        <a:rPr lang="en-IN" sz="1400" u="none" cap="none" strike="noStrike"/>
                        <a:t> t </a:t>
                      </a:r>
                      <a:r>
                        <a:rPr lang="en-IN" sz="1400" u="none" cap="none" strike="noStrike">
                          <a:solidFill>
                            <a:srgbClr val="666600"/>
                          </a:solidFill>
                        </a:rPr>
                        <a:t>&lt;-</a:t>
                      </a:r>
                      <a:r>
                        <a:rPr lang="en-IN" sz="1400" u="none" cap="none" strike="noStrike"/>
                        <a:t> c</a:t>
                      </a:r>
                      <a:r>
                        <a:rPr lang="en-IN" sz="1400" u="none" cap="none" strike="noStrike">
                          <a:solidFill>
                            <a:srgbClr val="666600"/>
                          </a:solidFill>
                        </a:rPr>
                        <a:t>(</a:t>
                      </a:r>
                      <a:r>
                        <a:rPr lang="en-IN" sz="1400" u="none" cap="none" strike="noStrike">
                          <a:solidFill>
                            <a:srgbClr val="006666"/>
                          </a:solidFill>
                        </a:rPr>
                        <a:t>8</a:t>
                      </a:r>
                      <a:r>
                        <a:rPr lang="en-IN" sz="1400" u="none" cap="none" strike="noStrike">
                          <a:solidFill>
                            <a:srgbClr val="666600"/>
                          </a:solidFill>
                        </a:rPr>
                        <a:t>,</a:t>
                      </a:r>
                      <a:r>
                        <a:rPr lang="en-IN" sz="1400" u="none" cap="none" strike="noStrike"/>
                        <a:t> </a:t>
                      </a:r>
                      <a:r>
                        <a:rPr lang="en-IN" sz="1400" u="none" cap="none" strike="noStrike">
                          <a:solidFill>
                            <a:srgbClr val="006666"/>
                          </a:solidFill>
                        </a:rPr>
                        <a:t>3</a:t>
                      </a:r>
                      <a:r>
                        <a:rPr lang="en-IN" sz="1400" u="none" cap="none" strike="noStrike">
                          <a:solidFill>
                            <a:srgbClr val="666600"/>
                          </a:solidFill>
                        </a:rPr>
                        <a:t>,</a:t>
                      </a:r>
                      <a:r>
                        <a:rPr lang="en-IN" sz="1400" u="none" cap="none" strike="noStrike"/>
                        <a:t> </a:t>
                      </a:r>
                      <a:r>
                        <a:rPr lang="en-IN" sz="1400" u="none" cap="none" strike="noStrike">
                          <a:solidFill>
                            <a:srgbClr val="006666"/>
                          </a:solidFill>
                        </a:rPr>
                        <a:t>4</a:t>
                      </a:r>
                      <a:r>
                        <a:rPr lang="en-IN" sz="1400" u="none" cap="none" strike="noStrike">
                          <a:solidFill>
                            <a:srgbClr val="666600"/>
                          </a:solidFill>
                        </a:rPr>
                        <a:t>)</a:t>
                      </a:r>
                      <a:r>
                        <a:rPr lang="en-IN" sz="1400" u="none" cap="none" strike="noStrike"/>
                        <a:t> </a:t>
                      </a:r>
                      <a:r>
                        <a:rPr lang="en-IN" sz="1400" u="none" cap="none" strike="noStrike">
                          <a:solidFill>
                            <a:srgbClr val="000088"/>
                          </a:solidFill>
                        </a:rPr>
                        <a:t>print</a:t>
                      </a:r>
                      <a:r>
                        <a:rPr lang="en-IN" sz="1400" u="none" cap="none" strike="noStrike">
                          <a:solidFill>
                            <a:srgbClr val="666600"/>
                          </a:solidFill>
                        </a:rPr>
                        <a:t>(</a:t>
                      </a:r>
                      <a:r>
                        <a:rPr lang="en-IN" sz="1400" u="none" cap="none" strike="noStrike"/>
                        <a:t>v</a:t>
                      </a:r>
                      <a:r>
                        <a:rPr lang="en-IN" sz="1400" u="none" cap="none" strike="noStrike">
                          <a:solidFill>
                            <a:srgbClr val="666600"/>
                          </a:solidFill>
                        </a:rPr>
                        <a:t>+</a:t>
                      </a:r>
                      <a:r>
                        <a:rPr lang="en-IN" sz="1400" u="none" cap="none" strike="noStrike"/>
                        <a:t>t</a:t>
                      </a:r>
                      <a:r>
                        <a:rPr lang="en-IN" sz="1400" u="none" cap="none" strike="noStrike">
                          <a:solidFill>
                            <a:srgbClr val="666600"/>
                          </a:solidFill>
                        </a:rPr>
                        <a:t>)</a:t>
                      </a:r>
                      <a:endParaRPr/>
                    </a:p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400" u="none" cap="none" strike="noStrike">
                          <a:solidFill>
                            <a:srgbClr val="000000"/>
                          </a:solidFill>
                        </a:rPr>
                        <a:t>it produces the following result − </a:t>
                      </a:r>
                      <a:r>
                        <a:rPr lang="en-IN" sz="1400" u="none" cap="none" strike="noStrike"/>
                        <a:t>[1] 10.0 8.5 10.0 </a:t>
                      </a:r>
                      <a:endParaRPr/>
                    </a:p>
                  </a:txBody>
                  <a:tcPr marT="76200" marB="76200" marR="101600" marL="10160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400" u="none" cap="none" strike="noStrike"/>
                        <a:t>−</a:t>
                      </a:r>
                      <a:endParaRPr/>
                    </a:p>
                  </a:txBody>
                  <a:tcPr marT="76200" marB="76200" marR="101600" marL="10160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400" u="none" cap="none" strike="noStrike"/>
                        <a:t>Subtracts second vector from the first</a:t>
                      </a:r>
                      <a:endParaRPr/>
                    </a:p>
                  </a:txBody>
                  <a:tcPr marT="76200" marB="76200" marR="101600" marL="101600"/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400" u="none" cap="none" strike="noStrike"/>
                        <a:t>v </a:t>
                      </a:r>
                      <a:r>
                        <a:rPr lang="en-IN" sz="1400" u="none" cap="none" strike="noStrike">
                          <a:solidFill>
                            <a:srgbClr val="666600"/>
                          </a:solidFill>
                        </a:rPr>
                        <a:t>&lt;-</a:t>
                      </a:r>
                      <a:r>
                        <a:rPr lang="en-IN" sz="1400" u="none" cap="none" strike="noStrike"/>
                        <a:t> c</a:t>
                      </a:r>
                      <a:r>
                        <a:rPr lang="en-IN" sz="1400" u="none" cap="none" strike="noStrike">
                          <a:solidFill>
                            <a:srgbClr val="666600"/>
                          </a:solidFill>
                        </a:rPr>
                        <a:t>(</a:t>
                      </a:r>
                      <a:r>
                        <a:rPr lang="en-IN" sz="1400" u="none" cap="none" strike="noStrike"/>
                        <a:t> </a:t>
                      </a:r>
                      <a:r>
                        <a:rPr lang="en-IN" sz="1400" u="none" cap="none" strike="noStrike">
                          <a:solidFill>
                            <a:srgbClr val="006666"/>
                          </a:solidFill>
                        </a:rPr>
                        <a:t>2</a:t>
                      </a:r>
                      <a:r>
                        <a:rPr lang="en-IN" sz="1400" u="none" cap="none" strike="noStrike">
                          <a:solidFill>
                            <a:srgbClr val="666600"/>
                          </a:solidFill>
                        </a:rPr>
                        <a:t>,</a:t>
                      </a:r>
                      <a:r>
                        <a:rPr lang="en-IN" sz="1400" u="none" cap="none" strike="noStrike">
                          <a:solidFill>
                            <a:srgbClr val="006666"/>
                          </a:solidFill>
                        </a:rPr>
                        <a:t>5.5</a:t>
                      </a:r>
                      <a:r>
                        <a:rPr lang="en-IN" sz="1400" u="none" cap="none" strike="noStrike">
                          <a:solidFill>
                            <a:srgbClr val="666600"/>
                          </a:solidFill>
                        </a:rPr>
                        <a:t>,</a:t>
                      </a:r>
                      <a:r>
                        <a:rPr lang="en-IN" sz="1400" u="none" cap="none" strike="noStrike">
                          <a:solidFill>
                            <a:srgbClr val="006666"/>
                          </a:solidFill>
                        </a:rPr>
                        <a:t>6</a:t>
                      </a:r>
                      <a:r>
                        <a:rPr lang="en-IN" sz="1400" u="none" cap="none" strike="noStrike">
                          <a:solidFill>
                            <a:srgbClr val="666600"/>
                          </a:solidFill>
                        </a:rPr>
                        <a:t>)</a:t>
                      </a:r>
                      <a:r>
                        <a:rPr lang="en-IN" sz="1400" u="none" cap="none" strike="noStrike"/>
                        <a:t> t </a:t>
                      </a:r>
                      <a:r>
                        <a:rPr lang="en-IN" sz="1400" u="none" cap="none" strike="noStrike">
                          <a:solidFill>
                            <a:srgbClr val="666600"/>
                          </a:solidFill>
                        </a:rPr>
                        <a:t>&lt;-</a:t>
                      </a:r>
                      <a:r>
                        <a:rPr lang="en-IN" sz="1400" u="none" cap="none" strike="noStrike"/>
                        <a:t> c</a:t>
                      </a:r>
                      <a:r>
                        <a:rPr lang="en-IN" sz="1400" u="none" cap="none" strike="noStrike">
                          <a:solidFill>
                            <a:srgbClr val="666600"/>
                          </a:solidFill>
                        </a:rPr>
                        <a:t>(</a:t>
                      </a:r>
                      <a:r>
                        <a:rPr lang="en-IN" sz="1400" u="none" cap="none" strike="noStrike">
                          <a:solidFill>
                            <a:srgbClr val="006666"/>
                          </a:solidFill>
                        </a:rPr>
                        <a:t>8</a:t>
                      </a:r>
                      <a:r>
                        <a:rPr lang="en-IN" sz="1400" u="none" cap="none" strike="noStrike">
                          <a:solidFill>
                            <a:srgbClr val="666600"/>
                          </a:solidFill>
                        </a:rPr>
                        <a:t>,</a:t>
                      </a:r>
                      <a:r>
                        <a:rPr lang="en-IN" sz="1400" u="none" cap="none" strike="noStrike"/>
                        <a:t> </a:t>
                      </a:r>
                      <a:r>
                        <a:rPr lang="en-IN" sz="1400" u="none" cap="none" strike="noStrike">
                          <a:solidFill>
                            <a:srgbClr val="006666"/>
                          </a:solidFill>
                        </a:rPr>
                        <a:t>3</a:t>
                      </a:r>
                      <a:r>
                        <a:rPr lang="en-IN" sz="1400" u="none" cap="none" strike="noStrike">
                          <a:solidFill>
                            <a:srgbClr val="666600"/>
                          </a:solidFill>
                        </a:rPr>
                        <a:t>,</a:t>
                      </a:r>
                      <a:r>
                        <a:rPr lang="en-IN" sz="1400" u="none" cap="none" strike="noStrike"/>
                        <a:t> </a:t>
                      </a:r>
                      <a:r>
                        <a:rPr lang="en-IN" sz="1400" u="none" cap="none" strike="noStrike">
                          <a:solidFill>
                            <a:srgbClr val="006666"/>
                          </a:solidFill>
                        </a:rPr>
                        <a:t>4</a:t>
                      </a:r>
                      <a:r>
                        <a:rPr lang="en-IN" sz="1400" u="none" cap="none" strike="noStrike">
                          <a:solidFill>
                            <a:srgbClr val="666600"/>
                          </a:solidFill>
                        </a:rPr>
                        <a:t>)</a:t>
                      </a:r>
                      <a:r>
                        <a:rPr lang="en-IN" sz="1400" u="none" cap="none" strike="noStrike"/>
                        <a:t> </a:t>
                      </a:r>
                      <a:endParaRPr sz="1400" u="none" cap="none" strike="noStrike"/>
                    </a:p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400" u="none" cap="none" strike="noStrike">
                          <a:solidFill>
                            <a:srgbClr val="000088"/>
                          </a:solidFill>
                        </a:rPr>
                        <a:t>print</a:t>
                      </a:r>
                      <a:r>
                        <a:rPr lang="en-IN" sz="1400" u="none" cap="none" strike="noStrike">
                          <a:solidFill>
                            <a:srgbClr val="666600"/>
                          </a:solidFill>
                        </a:rPr>
                        <a:t>(</a:t>
                      </a:r>
                      <a:r>
                        <a:rPr lang="en-IN" sz="1400" u="none" cap="none" strike="noStrike"/>
                        <a:t>v</a:t>
                      </a:r>
                      <a:r>
                        <a:rPr lang="en-IN" sz="1400" u="none" cap="none" strike="noStrike">
                          <a:solidFill>
                            <a:srgbClr val="666600"/>
                          </a:solidFill>
                        </a:rPr>
                        <a:t>-</a:t>
                      </a:r>
                      <a:r>
                        <a:rPr lang="en-IN" sz="1400" u="none" cap="none" strike="noStrike"/>
                        <a:t>t</a:t>
                      </a:r>
                      <a:r>
                        <a:rPr lang="en-IN" sz="1400" u="none" cap="none" strike="noStrike">
                          <a:solidFill>
                            <a:srgbClr val="666600"/>
                          </a:solidFill>
                        </a:rPr>
                        <a:t>)</a:t>
                      </a:r>
                      <a:r>
                        <a:rPr lang="en-IN" sz="1400" u="none" cap="none" strike="noStrike">
                          <a:solidFill>
                            <a:srgbClr val="000000"/>
                          </a:solidFill>
                        </a:rPr>
                        <a:t>it produces the following result − </a:t>
                      </a:r>
                      <a:r>
                        <a:rPr lang="en-IN" sz="1400" u="none" cap="none" strike="noStrike"/>
                        <a:t>[1] -6.0 2.5 2.0 </a:t>
                      </a:r>
                      <a:endParaRPr/>
                    </a:p>
                  </a:txBody>
                  <a:tcPr marT="76200" marB="76200" marR="101600" marL="10160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400" u="none" cap="none" strike="noStrike"/>
                        <a:t>*</a:t>
                      </a:r>
                      <a:endParaRPr/>
                    </a:p>
                  </a:txBody>
                  <a:tcPr marT="76200" marB="76200" marR="101600" marL="10160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400" u="none" cap="none" strike="noStrike"/>
                        <a:t>Multiplies both vectors</a:t>
                      </a:r>
                      <a:endParaRPr/>
                    </a:p>
                  </a:txBody>
                  <a:tcPr marT="76200" marB="76200" marR="101600" marL="101600"/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400" u="none" cap="none" strike="noStrike"/>
                        <a:t>v </a:t>
                      </a:r>
                      <a:r>
                        <a:rPr lang="en-IN" sz="1400" u="none" cap="none" strike="noStrike">
                          <a:solidFill>
                            <a:srgbClr val="666600"/>
                          </a:solidFill>
                        </a:rPr>
                        <a:t>&lt;-</a:t>
                      </a:r>
                      <a:r>
                        <a:rPr lang="en-IN" sz="1400" u="none" cap="none" strike="noStrike"/>
                        <a:t> c</a:t>
                      </a:r>
                      <a:r>
                        <a:rPr lang="en-IN" sz="1400" u="none" cap="none" strike="noStrike">
                          <a:solidFill>
                            <a:srgbClr val="666600"/>
                          </a:solidFill>
                        </a:rPr>
                        <a:t>(</a:t>
                      </a:r>
                      <a:r>
                        <a:rPr lang="en-IN" sz="1400" u="none" cap="none" strike="noStrike"/>
                        <a:t> </a:t>
                      </a:r>
                      <a:r>
                        <a:rPr lang="en-IN" sz="1400" u="none" cap="none" strike="noStrike">
                          <a:solidFill>
                            <a:srgbClr val="006666"/>
                          </a:solidFill>
                        </a:rPr>
                        <a:t>2</a:t>
                      </a:r>
                      <a:r>
                        <a:rPr lang="en-IN" sz="1400" u="none" cap="none" strike="noStrike">
                          <a:solidFill>
                            <a:srgbClr val="666600"/>
                          </a:solidFill>
                        </a:rPr>
                        <a:t>,</a:t>
                      </a:r>
                      <a:r>
                        <a:rPr lang="en-IN" sz="1400" u="none" cap="none" strike="noStrike">
                          <a:solidFill>
                            <a:srgbClr val="006666"/>
                          </a:solidFill>
                        </a:rPr>
                        <a:t>5.5</a:t>
                      </a:r>
                      <a:r>
                        <a:rPr lang="en-IN" sz="1400" u="none" cap="none" strike="noStrike">
                          <a:solidFill>
                            <a:srgbClr val="666600"/>
                          </a:solidFill>
                        </a:rPr>
                        <a:t>,</a:t>
                      </a:r>
                      <a:r>
                        <a:rPr lang="en-IN" sz="1400" u="none" cap="none" strike="noStrike">
                          <a:solidFill>
                            <a:srgbClr val="006666"/>
                          </a:solidFill>
                        </a:rPr>
                        <a:t>6</a:t>
                      </a:r>
                      <a:r>
                        <a:rPr lang="en-IN" sz="1400" u="none" cap="none" strike="noStrike">
                          <a:solidFill>
                            <a:srgbClr val="666600"/>
                          </a:solidFill>
                        </a:rPr>
                        <a:t>)</a:t>
                      </a:r>
                      <a:r>
                        <a:rPr lang="en-IN" sz="1400" u="none" cap="none" strike="noStrike"/>
                        <a:t> t </a:t>
                      </a:r>
                      <a:r>
                        <a:rPr lang="en-IN" sz="1400" u="none" cap="none" strike="noStrike">
                          <a:solidFill>
                            <a:srgbClr val="666600"/>
                          </a:solidFill>
                        </a:rPr>
                        <a:t>&lt;-</a:t>
                      </a:r>
                      <a:r>
                        <a:rPr lang="en-IN" sz="1400" u="none" cap="none" strike="noStrike"/>
                        <a:t> c</a:t>
                      </a:r>
                      <a:r>
                        <a:rPr lang="en-IN" sz="1400" u="none" cap="none" strike="noStrike">
                          <a:solidFill>
                            <a:srgbClr val="666600"/>
                          </a:solidFill>
                        </a:rPr>
                        <a:t>(</a:t>
                      </a:r>
                      <a:r>
                        <a:rPr lang="en-IN" sz="1400" u="none" cap="none" strike="noStrike">
                          <a:solidFill>
                            <a:srgbClr val="006666"/>
                          </a:solidFill>
                        </a:rPr>
                        <a:t>8</a:t>
                      </a:r>
                      <a:r>
                        <a:rPr lang="en-IN" sz="1400" u="none" cap="none" strike="noStrike">
                          <a:solidFill>
                            <a:srgbClr val="666600"/>
                          </a:solidFill>
                        </a:rPr>
                        <a:t>,</a:t>
                      </a:r>
                      <a:r>
                        <a:rPr lang="en-IN" sz="1400" u="none" cap="none" strike="noStrike"/>
                        <a:t> </a:t>
                      </a:r>
                      <a:r>
                        <a:rPr lang="en-IN" sz="1400" u="none" cap="none" strike="noStrike">
                          <a:solidFill>
                            <a:srgbClr val="006666"/>
                          </a:solidFill>
                        </a:rPr>
                        <a:t>3</a:t>
                      </a:r>
                      <a:r>
                        <a:rPr lang="en-IN" sz="1400" u="none" cap="none" strike="noStrike">
                          <a:solidFill>
                            <a:srgbClr val="666600"/>
                          </a:solidFill>
                        </a:rPr>
                        <a:t>,</a:t>
                      </a:r>
                      <a:r>
                        <a:rPr lang="en-IN" sz="1400" u="none" cap="none" strike="noStrike"/>
                        <a:t> </a:t>
                      </a:r>
                      <a:r>
                        <a:rPr lang="en-IN" sz="1400" u="none" cap="none" strike="noStrike">
                          <a:solidFill>
                            <a:srgbClr val="006666"/>
                          </a:solidFill>
                        </a:rPr>
                        <a:t>4</a:t>
                      </a:r>
                      <a:r>
                        <a:rPr lang="en-IN" sz="1400" u="none" cap="none" strike="noStrike">
                          <a:solidFill>
                            <a:srgbClr val="666600"/>
                          </a:solidFill>
                        </a:rPr>
                        <a:t>)</a:t>
                      </a:r>
                      <a:r>
                        <a:rPr lang="en-IN" sz="1400" u="none" cap="none" strike="noStrike"/>
                        <a:t> </a:t>
                      </a:r>
                      <a:r>
                        <a:rPr lang="en-IN" sz="1400" u="none" cap="none" strike="noStrike">
                          <a:solidFill>
                            <a:srgbClr val="000088"/>
                          </a:solidFill>
                        </a:rPr>
                        <a:t>print</a:t>
                      </a:r>
                      <a:r>
                        <a:rPr lang="en-IN" sz="1400" u="none" cap="none" strike="noStrike">
                          <a:solidFill>
                            <a:srgbClr val="666600"/>
                          </a:solidFill>
                        </a:rPr>
                        <a:t>(</a:t>
                      </a:r>
                      <a:r>
                        <a:rPr lang="en-IN" sz="1400" u="none" cap="none" strike="noStrike"/>
                        <a:t>v</a:t>
                      </a:r>
                      <a:r>
                        <a:rPr lang="en-IN" sz="1400" u="none" cap="none" strike="noStrike">
                          <a:solidFill>
                            <a:srgbClr val="666600"/>
                          </a:solidFill>
                        </a:rPr>
                        <a:t>*</a:t>
                      </a:r>
                      <a:r>
                        <a:rPr lang="en-IN" sz="1400" u="none" cap="none" strike="noStrike"/>
                        <a:t>t</a:t>
                      </a:r>
                      <a:r>
                        <a:rPr lang="en-IN" sz="1400" u="none" cap="none" strike="noStrike">
                          <a:solidFill>
                            <a:srgbClr val="666600"/>
                          </a:solidFill>
                        </a:rPr>
                        <a:t>)</a:t>
                      </a:r>
                      <a:endParaRPr/>
                    </a:p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400" u="none" cap="none" strike="noStrike">
                          <a:solidFill>
                            <a:srgbClr val="000000"/>
                          </a:solidFill>
                        </a:rPr>
                        <a:t>it produces the following result − </a:t>
                      </a:r>
                      <a:r>
                        <a:rPr lang="en-IN" sz="1400" u="none" cap="none" strike="noStrike"/>
                        <a:t>[1] 16.0 16.5 24.0 </a:t>
                      </a:r>
                      <a:endParaRPr/>
                    </a:p>
                  </a:txBody>
                  <a:tcPr marT="76200" marB="76200" marR="101600" marL="10160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400" u="none" cap="none" strike="noStrike"/>
                        <a:t>/</a:t>
                      </a:r>
                      <a:endParaRPr/>
                    </a:p>
                  </a:txBody>
                  <a:tcPr marT="76200" marB="76200" marR="101600" marL="10160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400" u="none" cap="none" strike="noStrike"/>
                        <a:t>Divide the first vector with the second</a:t>
                      </a:r>
                      <a:endParaRPr/>
                    </a:p>
                  </a:txBody>
                  <a:tcPr marT="76200" marB="76200" marR="101600" marL="101600"/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400" u="none" cap="none" strike="noStrike"/>
                        <a:t>v </a:t>
                      </a:r>
                      <a:r>
                        <a:rPr lang="en-IN" sz="1400" u="none" cap="none" strike="noStrike">
                          <a:solidFill>
                            <a:srgbClr val="666600"/>
                          </a:solidFill>
                        </a:rPr>
                        <a:t>&lt;-</a:t>
                      </a:r>
                      <a:r>
                        <a:rPr lang="en-IN" sz="1400" u="none" cap="none" strike="noStrike"/>
                        <a:t> c</a:t>
                      </a:r>
                      <a:r>
                        <a:rPr lang="en-IN" sz="1400" u="none" cap="none" strike="noStrike">
                          <a:solidFill>
                            <a:srgbClr val="666600"/>
                          </a:solidFill>
                        </a:rPr>
                        <a:t>(</a:t>
                      </a:r>
                      <a:r>
                        <a:rPr lang="en-IN" sz="1400" u="none" cap="none" strike="noStrike"/>
                        <a:t> </a:t>
                      </a:r>
                      <a:r>
                        <a:rPr lang="en-IN" sz="1400" u="none" cap="none" strike="noStrike">
                          <a:solidFill>
                            <a:srgbClr val="006666"/>
                          </a:solidFill>
                        </a:rPr>
                        <a:t>2</a:t>
                      </a:r>
                      <a:r>
                        <a:rPr lang="en-IN" sz="1400" u="none" cap="none" strike="noStrike">
                          <a:solidFill>
                            <a:srgbClr val="666600"/>
                          </a:solidFill>
                        </a:rPr>
                        <a:t>,</a:t>
                      </a:r>
                      <a:r>
                        <a:rPr lang="en-IN" sz="1400" u="none" cap="none" strike="noStrike">
                          <a:solidFill>
                            <a:srgbClr val="006666"/>
                          </a:solidFill>
                        </a:rPr>
                        <a:t>5.5</a:t>
                      </a:r>
                      <a:r>
                        <a:rPr lang="en-IN" sz="1400" u="none" cap="none" strike="noStrike">
                          <a:solidFill>
                            <a:srgbClr val="666600"/>
                          </a:solidFill>
                        </a:rPr>
                        <a:t>,</a:t>
                      </a:r>
                      <a:r>
                        <a:rPr lang="en-IN" sz="1400" u="none" cap="none" strike="noStrike">
                          <a:solidFill>
                            <a:srgbClr val="006666"/>
                          </a:solidFill>
                        </a:rPr>
                        <a:t>6</a:t>
                      </a:r>
                      <a:r>
                        <a:rPr lang="en-IN" sz="1400" u="none" cap="none" strike="noStrike">
                          <a:solidFill>
                            <a:srgbClr val="666600"/>
                          </a:solidFill>
                        </a:rPr>
                        <a:t>)</a:t>
                      </a:r>
                      <a:r>
                        <a:rPr lang="en-IN" sz="1400" u="none" cap="none" strike="noStrike"/>
                        <a:t> t </a:t>
                      </a:r>
                      <a:r>
                        <a:rPr lang="en-IN" sz="1400" u="none" cap="none" strike="noStrike">
                          <a:solidFill>
                            <a:srgbClr val="666600"/>
                          </a:solidFill>
                        </a:rPr>
                        <a:t>&lt;-</a:t>
                      </a:r>
                      <a:r>
                        <a:rPr lang="en-IN" sz="1400" u="none" cap="none" strike="noStrike"/>
                        <a:t> c</a:t>
                      </a:r>
                      <a:r>
                        <a:rPr lang="en-IN" sz="1400" u="none" cap="none" strike="noStrike">
                          <a:solidFill>
                            <a:srgbClr val="666600"/>
                          </a:solidFill>
                        </a:rPr>
                        <a:t>(</a:t>
                      </a:r>
                      <a:r>
                        <a:rPr lang="en-IN" sz="1400" u="none" cap="none" strike="noStrike">
                          <a:solidFill>
                            <a:srgbClr val="006666"/>
                          </a:solidFill>
                        </a:rPr>
                        <a:t>8</a:t>
                      </a:r>
                      <a:r>
                        <a:rPr lang="en-IN" sz="1400" u="none" cap="none" strike="noStrike">
                          <a:solidFill>
                            <a:srgbClr val="666600"/>
                          </a:solidFill>
                        </a:rPr>
                        <a:t>,</a:t>
                      </a:r>
                      <a:r>
                        <a:rPr lang="en-IN" sz="1400" u="none" cap="none" strike="noStrike"/>
                        <a:t> </a:t>
                      </a:r>
                      <a:r>
                        <a:rPr lang="en-IN" sz="1400" u="none" cap="none" strike="noStrike">
                          <a:solidFill>
                            <a:srgbClr val="006666"/>
                          </a:solidFill>
                        </a:rPr>
                        <a:t>3</a:t>
                      </a:r>
                      <a:r>
                        <a:rPr lang="en-IN" sz="1400" u="none" cap="none" strike="noStrike">
                          <a:solidFill>
                            <a:srgbClr val="666600"/>
                          </a:solidFill>
                        </a:rPr>
                        <a:t>,</a:t>
                      </a:r>
                      <a:r>
                        <a:rPr lang="en-IN" sz="1400" u="none" cap="none" strike="noStrike"/>
                        <a:t> </a:t>
                      </a:r>
                      <a:r>
                        <a:rPr lang="en-IN" sz="1400" u="none" cap="none" strike="noStrike">
                          <a:solidFill>
                            <a:srgbClr val="006666"/>
                          </a:solidFill>
                        </a:rPr>
                        <a:t>4</a:t>
                      </a:r>
                      <a:r>
                        <a:rPr lang="en-IN" sz="1400" u="none" cap="none" strike="noStrike">
                          <a:solidFill>
                            <a:srgbClr val="666600"/>
                          </a:solidFill>
                        </a:rPr>
                        <a:t>)</a:t>
                      </a:r>
                      <a:r>
                        <a:rPr lang="en-IN" sz="1400" u="none" cap="none" strike="noStrike"/>
                        <a:t> </a:t>
                      </a:r>
                      <a:r>
                        <a:rPr lang="en-IN" sz="1400" u="none" cap="none" strike="noStrike">
                          <a:solidFill>
                            <a:srgbClr val="000088"/>
                          </a:solidFill>
                        </a:rPr>
                        <a:t>print</a:t>
                      </a:r>
                      <a:r>
                        <a:rPr lang="en-IN" sz="1400" u="none" cap="none" strike="noStrike">
                          <a:solidFill>
                            <a:srgbClr val="666600"/>
                          </a:solidFill>
                        </a:rPr>
                        <a:t>(</a:t>
                      </a:r>
                      <a:r>
                        <a:rPr lang="en-IN" sz="1400" u="none" cap="none" strike="noStrike"/>
                        <a:t>v</a:t>
                      </a:r>
                      <a:r>
                        <a:rPr lang="en-IN" sz="1400" u="none" cap="none" strike="noStrike">
                          <a:solidFill>
                            <a:srgbClr val="666600"/>
                          </a:solidFill>
                        </a:rPr>
                        <a:t>/</a:t>
                      </a:r>
                      <a:r>
                        <a:rPr lang="en-IN" sz="1400" u="none" cap="none" strike="noStrike"/>
                        <a:t>t</a:t>
                      </a:r>
                      <a:r>
                        <a:rPr lang="en-IN" sz="1400" u="none" cap="none" strike="noStrike">
                          <a:solidFill>
                            <a:srgbClr val="666600"/>
                          </a:solidFill>
                        </a:rPr>
                        <a:t>)</a:t>
                      </a:r>
                      <a:endParaRPr/>
                    </a:p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400" u="none" cap="none" strike="noStrike">
                          <a:solidFill>
                            <a:srgbClr val="000000"/>
                          </a:solidFill>
                        </a:rPr>
                        <a:t>When we execute the above code, it produces the following result −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400" u="none" cap="none" strike="noStrike"/>
                        <a:t>[1] 0.250000 1.833333 1.500000 </a:t>
                      </a:r>
                      <a:endParaRPr/>
                    </a:p>
                  </a:txBody>
                  <a:tcPr marT="76200" marB="76200" marR="101600" marL="10160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400" u="none" cap="none" strike="noStrike"/>
                        <a:t>%%</a:t>
                      </a:r>
                      <a:endParaRPr/>
                    </a:p>
                  </a:txBody>
                  <a:tcPr marT="76200" marB="76200" marR="101600" marL="10160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400" u="none" cap="none" strike="noStrike"/>
                        <a:t>Give the remainder of the first vector with the second</a:t>
                      </a:r>
                      <a:endParaRPr/>
                    </a:p>
                  </a:txBody>
                  <a:tcPr marT="76200" marB="76200" marR="101600" marL="101600"/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400" u="none" cap="none" strike="noStrike"/>
                        <a:t>v </a:t>
                      </a:r>
                      <a:r>
                        <a:rPr lang="en-IN" sz="1400" u="none" cap="none" strike="noStrike">
                          <a:solidFill>
                            <a:srgbClr val="666600"/>
                          </a:solidFill>
                        </a:rPr>
                        <a:t>&lt;-</a:t>
                      </a:r>
                      <a:r>
                        <a:rPr lang="en-IN" sz="1400" u="none" cap="none" strike="noStrike"/>
                        <a:t> c</a:t>
                      </a:r>
                      <a:r>
                        <a:rPr lang="en-IN" sz="1400" u="none" cap="none" strike="noStrike">
                          <a:solidFill>
                            <a:srgbClr val="666600"/>
                          </a:solidFill>
                        </a:rPr>
                        <a:t>(</a:t>
                      </a:r>
                      <a:r>
                        <a:rPr lang="en-IN" sz="1400" u="none" cap="none" strike="noStrike"/>
                        <a:t> </a:t>
                      </a:r>
                      <a:r>
                        <a:rPr lang="en-IN" sz="1400" u="none" cap="none" strike="noStrike">
                          <a:solidFill>
                            <a:srgbClr val="006666"/>
                          </a:solidFill>
                        </a:rPr>
                        <a:t>2</a:t>
                      </a:r>
                      <a:r>
                        <a:rPr lang="en-IN" sz="1400" u="none" cap="none" strike="noStrike">
                          <a:solidFill>
                            <a:srgbClr val="666600"/>
                          </a:solidFill>
                        </a:rPr>
                        <a:t>,</a:t>
                      </a:r>
                      <a:r>
                        <a:rPr lang="en-IN" sz="1400" u="none" cap="none" strike="noStrike">
                          <a:solidFill>
                            <a:srgbClr val="006666"/>
                          </a:solidFill>
                        </a:rPr>
                        <a:t>5.5</a:t>
                      </a:r>
                      <a:r>
                        <a:rPr lang="en-IN" sz="1400" u="none" cap="none" strike="noStrike">
                          <a:solidFill>
                            <a:srgbClr val="666600"/>
                          </a:solidFill>
                        </a:rPr>
                        <a:t>,</a:t>
                      </a:r>
                      <a:r>
                        <a:rPr lang="en-IN" sz="1400" u="none" cap="none" strike="noStrike">
                          <a:solidFill>
                            <a:srgbClr val="006666"/>
                          </a:solidFill>
                        </a:rPr>
                        <a:t>6</a:t>
                      </a:r>
                      <a:r>
                        <a:rPr lang="en-IN" sz="1400" u="none" cap="none" strike="noStrike">
                          <a:solidFill>
                            <a:srgbClr val="666600"/>
                          </a:solidFill>
                        </a:rPr>
                        <a:t>)</a:t>
                      </a:r>
                      <a:r>
                        <a:rPr lang="en-IN" sz="1400" u="none" cap="none" strike="noStrike"/>
                        <a:t> t </a:t>
                      </a:r>
                      <a:r>
                        <a:rPr lang="en-IN" sz="1400" u="none" cap="none" strike="noStrike">
                          <a:solidFill>
                            <a:srgbClr val="666600"/>
                          </a:solidFill>
                        </a:rPr>
                        <a:t>&lt;-</a:t>
                      </a:r>
                      <a:r>
                        <a:rPr lang="en-IN" sz="1400" u="none" cap="none" strike="noStrike"/>
                        <a:t> c</a:t>
                      </a:r>
                      <a:r>
                        <a:rPr lang="en-IN" sz="1400" u="none" cap="none" strike="noStrike">
                          <a:solidFill>
                            <a:srgbClr val="666600"/>
                          </a:solidFill>
                        </a:rPr>
                        <a:t>(</a:t>
                      </a:r>
                      <a:r>
                        <a:rPr lang="en-IN" sz="1400" u="none" cap="none" strike="noStrike">
                          <a:solidFill>
                            <a:srgbClr val="006666"/>
                          </a:solidFill>
                        </a:rPr>
                        <a:t>8</a:t>
                      </a:r>
                      <a:r>
                        <a:rPr lang="en-IN" sz="1400" u="none" cap="none" strike="noStrike">
                          <a:solidFill>
                            <a:srgbClr val="666600"/>
                          </a:solidFill>
                        </a:rPr>
                        <a:t>,</a:t>
                      </a:r>
                      <a:r>
                        <a:rPr lang="en-IN" sz="1400" u="none" cap="none" strike="noStrike"/>
                        <a:t> </a:t>
                      </a:r>
                      <a:r>
                        <a:rPr lang="en-IN" sz="1400" u="none" cap="none" strike="noStrike">
                          <a:solidFill>
                            <a:srgbClr val="006666"/>
                          </a:solidFill>
                        </a:rPr>
                        <a:t>3</a:t>
                      </a:r>
                      <a:r>
                        <a:rPr lang="en-IN" sz="1400" u="none" cap="none" strike="noStrike">
                          <a:solidFill>
                            <a:srgbClr val="666600"/>
                          </a:solidFill>
                        </a:rPr>
                        <a:t>,</a:t>
                      </a:r>
                      <a:r>
                        <a:rPr lang="en-IN" sz="1400" u="none" cap="none" strike="noStrike"/>
                        <a:t> </a:t>
                      </a:r>
                      <a:r>
                        <a:rPr lang="en-IN" sz="1400" u="none" cap="none" strike="noStrike">
                          <a:solidFill>
                            <a:srgbClr val="006666"/>
                          </a:solidFill>
                        </a:rPr>
                        <a:t>4</a:t>
                      </a:r>
                      <a:r>
                        <a:rPr lang="en-IN" sz="1400" u="none" cap="none" strike="noStrike">
                          <a:solidFill>
                            <a:srgbClr val="666600"/>
                          </a:solidFill>
                        </a:rPr>
                        <a:t>)</a:t>
                      </a:r>
                      <a:r>
                        <a:rPr lang="en-IN" sz="1400" u="none" cap="none" strike="noStrike"/>
                        <a:t> </a:t>
                      </a:r>
                      <a:r>
                        <a:rPr lang="en-IN" sz="1400" u="none" cap="none" strike="noStrike">
                          <a:solidFill>
                            <a:srgbClr val="000088"/>
                          </a:solidFill>
                        </a:rPr>
                        <a:t>print</a:t>
                      </a:r>
                      <a:r>
                        <a:rPr lang="en-IN" sz="1400" u="none" cap="none" strike="noStrike">
                          <a:solidFill>
                            <a:srgbClr val="666600"/>
                          </a:solidFill>
                        </a:rPr>
                        <a:t>(</a:t>
                      </a:r>
                      <a:r>
                        <a:rPr lang="en-IN" sz="1400" u="none" cap="none" strike="noStrike"/>
                        <a:t>v</a:t>
                      </a:r>
                      <a:r>
                        <a:rPr lang="en-IN" sz="1400" u="none" cap="none" strike="noStrike">
                          <a:solidFill>
                            <a:srgbClr val="666600"/>
                          </a:solidFill>
                        </a:rPr>
                        <a:t>%%</a:t>
                      </a:r>
                      <a:r>
                        <a:rPr lang="en-IN" sz="1400" u="none" cap="none" strike="noStrike"/>
                        <a:t>t</a:t>
                      </a:r>
                      <a:r>
                        <a:rPr lang="en-IN" sz="1400" u="none" cap="none" strike="noStrike">
                          <a:solidFill>
                            <a:srgbClr val="666600"/>
                          </a:solidFill>
                        </a:rPr>
                        <a:t>)</a:t>
                      </a:r>
                      <a:endParaRPr/>
                    </a:p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400" u="none" cap="none" strike="noStrike">
                          <a:solidFill>
                            <a:srgbClr val="000000"/>
                          </a:solidFill>
                        </a:rPr>
                        <a:t>it produces the following result − </a:t>
                      </a:r>
                      <a:r>
                        <a:rPr lang="en-IN" sz="1400" u="none" cap="none" strike="noStrike"/>
                        <a:t>[1] 2.0 2.5 2.0 </a:t>
                      </a:r>
                      <a:endParaRPr/>
                    </a:p>
                  </a:txBody>
                  <a:tcPr marT="76200" marB="76200" marR="101600" marL="10160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400" u="none" cap="none" strike="noStrike"/>
                        <a:t>%/%</a:t>
                      </a:r>
                      <a:endParaRPr/>
                    </a:p>
                  </a:txBody>
                  <a:tcPr marT="76200" marB="76200" marR="101600" marL="10160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400" u="none" cap="none" strike="noStrike"/>
                        <a:t>The result of division of first vector with second (quotient)</a:t>
                      </a:r>
                      <a:endParaRPr/>
                    </a:p>
                  </a:txBody>
                  <a:tcPr marT="76200" marB="76200" marR="101600" marL="101600"/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400" u="none" cap="none" strike="noStrike"/>
                        <a:t>v </a:t>
                      </a:r>
                      <a:r>
                        <a:rPr lang="en-IN" sz="1400" u="none" cap="none" strike="noStrike">
                          <a:solidFill>
                            <a:srgbClr val="666600"/>
                          </a:solidFill>
                        </a:rPr>
                        <a:t>&lt;-</a:t>
                      </a:r>
                      <a:r>
                        <a:rPr lang="en-IN" sz="1400" u="none" cap="none" strike="noStrike"/>
                        <a:t> c</a:t>
                      </a:r>
                      <a:r>
                        <a:rPr lang="en-IN" sz="1400" u="none" cap="none" strike="noStrike">
                          <a:solidFill>
                            <a:srgbClr val="666600"/>
                          </a:solidFill>
                        </a:rPr>
                        <a:t>(</a:t>
                      </a:r>
                      <a:r>
                        <a:rPr lang="en-IN" sz="1400" u="none" cap="none" strike="noStrike"/>
                        <a:t> </a:t>
                      </a:r>
                      <a:r>
                        <a:rPr lang="en-IN" sz="1400" u="none" cap="none" strike="noStrike">
                          <a:solidFill>
                            <a:srgbClr val="006666"/>
                          </a:solidFill>
                        </a:rPr>
                        <a:t>2</a:t>
                      </a:r>
                      <a:r>
                        <a:rPr lang="en-IN" sz="1400" u="none" cap="none" strike="noStrike">
                          <a:solidFill>
                            <a:srgbClr val="666600"/>
                          </a:solidFill>
                        </a:rPr>
                        <a:t>,</a:t>
                      </a:r>
                      <a:r>
                        <a:rPr lang="en-IN" sz="1400" u="none" cap="none" strike="noStrike">
                          <a:solidFill>
                            <a:srgbClr val="006666"/>
                          </a:solidFill>
                        </a:rPr>
                        <a:t>5.5</a:t>
                      </a:r>
                      <a:r>
                        <a:rPr lang="en-IN" sz="1400" u="none" cap="none" strike="noStrike">
                          <a:solidFill>
                            <a:srgbClr val="666600"/>
                          </a:solidFill>
                        </a:rPr>
                        <a:t>,</a:t>
                      </a:r>
                      <a:r>
                        <a:rPr lang="en-IN" sz="1400" u="none" cap="none" strike="noStrike">
                          <a:solidFill>
                            <a:srgbClr val="006666"/>
                          </a:solidFill>
                        </a:rPr>
                        <a:t>6</a:t>
                      </a:r>
                      <a:r>
                        <a:rPr lang="en-IN" sz="1400" u="none" cap="none" strike="noStrike">
                          <a:solidFill>
                            <a:srgbClr val="666600"/>
                          </a:solidFill>
                        </a:rPr>
                        <a:t>)</a:t>
                      </a:r>
                      <a:r>
                        <a:rPr lang="en-IN" sz="1400" u="none" cap="none" strike="noStrike"/>
                        <a:t> t </a:t>
                      </a:r>
                      <a:r>
                        <a:rPr lang="en-IN" sz="1400" u="none" cap="none" strike="noStrike">
                          <a:solidFill>
                            <a:srgbClr val="666600"/>
                          </a:solidFill>
                        </a:rPr>
                        <a:t>&lt;-</a:t>
                      </a:r>
                      <a:r>
                        <a:rPr lang="en-IN" sz="1400" u="none" cap="none" strike="noStrike"/>
                        <a:t> c</a:t>
                      </a:r>
                      <a:r>
                        <a:rPr lang="en-IN" sz="1400" u="none" cap="none" strike="noStrike">
                          <a:solidFill>
                            <a:srgbClr val="666600"/>
                          </a:solidFill>
                        </a:rPr>
                        <a:t>(</a:t>
                      </a:r>
                      <a:r>
                        <a:rPr lang="en-IN" sz="1400" u="none" cap="none" strike="noStrike">
                          <a:solidFill>
                            <a:srgbClr val="006666"/>
                          </a:solidFill>
                        </a:rPr>
                        <a:t>8</a:t>
                      </a:r>
                      <a:r>
                        <a:rPr lang="en-IN" sz="1400" u="none" cap="none" strike="noStrike">
                          <a:solidFill>
                            <a:srgbClr val="666600"/>
                          </a:solidFill>
                        </a:rPr>
                        <a:t>,</a:t>
                      </a:r>
                      <a:r>
                        <a:rPr lang="en-IN" sz="1400" u="none" cap="none" strike="noStrike"/>
                        <a:t> </a:t>
                      </a:r>
                      <a:r>
                        <a:rPr lang="en-IN" sz="1400" u="none" cap="none" strike="noStrike">
                          <a:solidFill>
                            <a:srgbClr val="006666"/>
                          </a:solidFill>
                        </a:rPr>
                        <a:t>3</a:t>
                      </a:r>
                      <a:r>
                        <a:rPr lang="en-IN" sz="1400" u="none" cap="none" strike="noStrike">
                          <a:solidFill>
                            <a:srgbClr val="666600"/>
                          </a:solidFill>
                        </a:rPr>
                        <a:t>,</a:t>
                      </a:r>
                      <a:r>
                        <a:rPr lang="en-IN" sz="1400" u="none" cap="none" strike="noStrike"/>
                        <a:t> </a:t>
                      </a:r>
                      <a:r>
                        <a:rPr lang="en-IN" sz="1400" u="none" cap="none" strike="noStrike">
                          <a:solidFill>
                            <a:srgbClr val="006666"/>
                          </a:solidFill>
                        </a:rPr>
                        <a:t>4</a:t>
                      </a:r>
                      <a:r>
                        <a:rPr lang="en-IN" sz="1400" u="none" cap="none" strike="noStrike">
                          <a:solidFill>
                            <a:srgbClr val="666600"/>
                          </a:solidFill>
                        </a:rPr>
                        <a:t>)</a:t>
                      </a:r>
                      <a:r>
                        <a:rPr lang="en-IN" sz="1400" u="none" cap="none" strike="noStrike"/>
                        <a:t> </a:t>
                      </a:r>
                      <a:r>
                        <a:rPr lang="en-IN" sz="1400" u="none" cap="none" strike="noStrike">
                          <a:solidFill>
                            <a:srgbClr val="000088"/>
                          </a:solidFill>
                        </a:rPr>
                        <a:t>print</a:t>
                      </a:r>
                      <a:r>
                        <a:rPr lang="en-IN" sz="1400" u="none" cap="none" strike="noStrike">
                          <a:solidFill>
                            <a:srgbClr val="666600"/>
                          </a:solidFill>
                        </a:rPr>
                        <a:t>(</a:t>
                      </a:r>
                      <a:r>
                        <a:rPr lang="en-IN" sz="1400" u="none" cap="none" strike="noStrike"/>
                        <a:t>v</a:t>
                      </a:r>
                      <a:r>
                        <a:rPr lang="en-IN" sz="1400" u="none" cap="none" strike="noStrike">
                          <a:solidFill>
                            <a:srgbClr val="666600"/>
                          </a:solidFill>
                        </a:rPr>
                        <a:t>%/%</a:t>
                      </a:r>
                      <a:r>
                        <a:rPr lang="en-IN" sz="1400" u="none" cap="none" strike="noStrike"/>
                        <a:t>t</a:t>
                      </a:r>
                      <a:r>
                        <a:rPr lang="en-IN" sz="1400" u="none" cap="none" strike="noStrike">
                          <a:solidFill>
                            <a:srgbClr val="666600"/>
                          </a:solidFill>
                        </a:rPr>
                        <a:t>)</a:t>
                      </a:r>
                      <a:endParaRPr/>
                    </a:p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400" u="none" cap="none" strike="noStrike">
                          <a:solidFill>
                            <a:srgbClr val="000000"/>
                          </a:solidFill>
                        </a:rPr>
                        <a:t>it produces the following result − </a:t>
                      </a:r>
                      <a:r>
                        <a:rPr lang="en-IN" sz="1400" u="none" cap="none" strike="noStrike"/>
                        <a:t>[1] 0 1 1 </a:t>
                      </a:r>
                      <a:endParaRPr/>
                    </a:p>
                  </a:txBody>
                  <a:tcPr marT="76200" marB="76200" marR="101600" marL="10160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400" u="none" cap="none" strike="noStrike"/>
                        <a:t>^</a:t>
                      </a:r>
                      <a:endParaRPr/>
                    </a:p>
                  </a:txBody>
                  <a:tcPr marT="76200" marB="76200" marR="101600" marL="10160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400" u="none" cap="none" strike="noStrike"/>
                        <a:t>The first vector raised to the exponent of second vector</a:t>
                      </a:r>
                      <a:endParaRPr/>
                    </a:p>
                  </a:txBody>
                  <a:tcPr marT="76200" marB="76200" marR="101600" marL="101600"/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400" u="none" cap="none" strike="noStrike"/>
                        <a:t>v </a:t>
                      </a:r>
                      <a:r>
                        <a:rPr lang="en-IN" sz="1400" u="none" cap="none" strike="noStrike">
                          <a:solidFill>
                            <a:srgbClr val="666600"/>
                          </a:solidFill>
                        </a:rPr>
                        <a:t>&lt;-</a:t>
                      </a:r>
                      <a:r>
                        <a:rPr lang="en-IN" sz="1400" u="none" cap="none" strike="noStrike"/>
                        <a:t> c</a:t>
                      </a:r>
                      <a:r>
                        <a:rPr lang="en-IN" sz="1400" u="none" cap="none" strike="noStrike">
                          <a:solidFill>
                            <a:srgbClr val="666600"/>
                          </a:solidFill>
                        </a:rPr>
                        <a:t>(</a:t>
                      </a:r>
                      <a:r>
                        <a:rPr lang="en-IN" sz="1400" u="none" cap="none" strike="noStrike"/>
                        <a:t> </a:t>
                      </a:r>
                      <a:r>
                        <a:rPr lang="en-IN" sz="1400" u="none" cap="none" strike="noStrike">
                          <a:solidFill>
                            <a:srgbClr val="006666"/>
                          </a:solidFill>
                        </a:rPr>
                        <a:t>2</a:t>
                      </a:r>
                      <a:r>
                        <a:rPr lang="en-IN" sz="1400" u="none" cap="none" strike="noStrike">
                          <a:solidFill>
                            <a:srgbClr val="666600"/>
                          </a:solidFill>
                        </a:rPr>
                        <a:t>,</a:t>
                      </a:r>
                      <a:r>
                        <a:rPr lang="en-IN" sz="1400" u="none" cap="none" strike="noStrike">
                          <a:solidFill>
                            <a:srgbClr val="006666"/>
                          </a:solidFill>
                        </a:rPr>
                        <a:t>5.5</a:t>
                      </a:r>
                      <a:r>
                        <a:rPr lang="en-IN" sz="1400" u="none" cap="none" strike="noStrike">
                          <a:solidFill>
                            <a:srgbClr val="666600"/>
                          </a:solidFill>
                        </a:rPr>
                        <a:t>,</a:t>
                      </a:r>
                      <a:r>
                        <a:rPr lang="en-IN" sz="1400" u="none" cap="none" strike="noStrike">
                          <a:solidFill>
                            <a:srgbClr val="006666"/>
                          </a:solidFill>
                        </a:rPr>
                        <a:t>6</a:t>
                      </a:r>
                      <a:r>
                        <a:rPr lang="en-IN" sz="1400" u="none" cap="none" strike="noStrike">
                          <a:solidFill>
                            <a:srgbClr val="666600"/>
                          </a:solidFill>
                        </a:rPr>
                        <a:t>)</a:t>
                      </a:r>
                      <a:r>
                        <a:rPr lang="en-IN" sz="1400" u="none" cap="none" strike="noStrike"/>
                        <a:t> t </a:t>
                      </a:r>
                      <a:r>
                        <a:rPr lang="en-IN" sz="1400" u="none" cap="none" strike="noStrike">
                          <a:solidFill>
                            <a:srgbClr val="666600"/>
                          </a:solidFill>
                        </a:rPr>
                        <a:t>&lt;-</a:t>
                      </a:r>
                      <a:r>
                        <a:rPr lang="en-IN" sz="1400" u="none" cap="none" strike="noStrike"/>
                        <a:t> c</a:t>
                      </a:r>
                      <a:r>
                        <a:rPr lang="en-IN" sz="1400" u="none" cap="none" strike="noStrike">
                          <a:solidFill>
                            <a:srgbClr val="666600"/>
                          </a:solidFill>
                        </a:rPr>
                        <a:t>(</a:t>
                      </a:r>
                      <a:r>
                        <a:rPr lang="en-IN" sz="1400" u="none" cap="none" strike="noStrike">
                          <a:solidFill>
                            <a:srgbClr val="006666"/>
                          </a:solidFill>
                        </a:rPr>
                        <a:t>8</a:t>
                      </a:r>
                      <a:r>
                        <a:rPr lang="en-IN" sz="1400" u="none" cap="none" strike="noStrike">
                          <a:solidFill>
                            <a:srgbClr val="666600"/>
                          </a:solidFill>
                        </a:rPr>
                        <a:t>,</a:t>
                      </a:r>
                      <a:r>
                        <a:rPr lang="en-IN" sz="1400" u="none" cap="none" strike="noStrike"/>
                        <a:t> </a:t>
                      </a:r>
                      <a:r>
                        <a:rPr lang="en-IN" sz="1400" u="none" cap="none" strike="noStrike">
                          <a:solidFill>
                            <a:srgbClr val="006666"/>
                          </a:solidFill>
                        </a:rPr>
                        <a:t>3</a:t>
                      </a:r>
                      <a:r>
                        <a:rPr lang="en-IN" sz="1400" u="none" cap="none" strike="noStrike">
                          <a:solidFill>
                            <a:srgbClr val="666600"/>
                          </a:solidFill>
                        </a:rPr>
                        <a:t>,</a:t>
                      </a:r>
                      <a:r>
                        <a:rPr lang="en-IN" sz="1400" u="none" cap="none" strike="noStrike"/>
                        <a:t> </a:t>
                      </a:r>
                      <a:r>
                        <a:rPr lang="en-IN" sz="1400" u="none" cap="none" strike="noStrike">
                          <a:solidFill>
                            <a:srgbClr val="006666"/>
                          </a:solidFill>
                        </a:rPr>
                        <a:t>4</a:t>
                      </a:r>
                      <a:r>
                        <a:rPr lang="en-IN" sz="1400" u="none" cap="none" strike="noStrike">
                          <a:solidFill>
                            <a:srgbClr val="666600"/>
                          </a:solidFill>
                        </a:rPr>
                        <a:t>)</a:t>
                      </a:r>
                      <a:r>
                        <a:rPr lang="en-IN" sz="1400" u="none" cap="none" strike="noStrike"/>
                        <a:t> </a:t>
                      </a:r>
                      <a:r>
                        <a:rPr lang="en-IN" sz="1400" u="none" cap="none" strike="noStrike">
                          <a:solidFill>
                            <a:srgbClr val="000088"/>
                          </a:solidFill>
                        </a:rPr>
                        <a:t>print</a:t>
                      </a:r>
                      <a:r>
                        <a:rPr lang="en-IN" sz="1400" u="none" cap="none" strike="noStrike">
                          <a:solidFill>
                            <a:srgbClr val="666600"/>
                          </a:solidFill>
                        </a:rPr>
                        <a:t>(</a:t>
                      </a:r>
                      <a:r>
                        <a:rPr lang="en-IN" sz="1400" u="none" cap="none" strike="noStrike"/>
                        <a:t>v</a:t>
                      </a:r>
                      <a:r>
                        <a:rPr lang="en-IN" sz="1400" u="none" cap="none" strike="noStrike">
                          <a:solidFill>
                            <a:srgbClr val="666600"/>
                          </a:solidFill>
                        </a:rPr>
                        <a:t>^</a:t>
                      </a:r>
                      <a:r>
                        <a:rPr lang="en-IN" sz="1400" u="none" cap="none" strike="noStrike"/>
                        <a:t>t</a:t>
                      </a:r>
                      <a:r>
                        <a:rPr lang="en-IN" sz="1400" u="none" cap="none" strike="noStrike">
                          <a:solidFill>
                            <a:srgbClr val="666600"/>
                          </a:solidFill>
                        </a:rPr>
                        <a:t>)</a:t>
                      </a:r>
                      <a:endParaRPr/>
                    </a:p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400" u="none" cap="none" strike="noStrike">
                          <a:solidFill>
                            <a:srgbClr val="000000"/>
                          </a:solidFill>
                        </a:rPr>
                        <a:t>it produces the following result − </a:t>
                      </a:r>
                      <a:r>
                        <a:rPr lang="en-IN" sz="1400" u="none" cap="none" strike="noStrike"/>
                        <a:t>[1] 256.000 166.375 1296.000</a:t>
                      </a:r>
                      <a:endParaRPr/>
                    </a:p>
                  </a:txBody>
                  <a:tcPr marT="76200" marB="76200" marR="101600" marL="101600"/>
                </a:tc>
              </a:tr>
            </a:tbl>
          </a:graphicData>
        </a:graphic>
      </p:graphicFrame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26"/>
          <p:cNvSpPr txBox="1"/>
          <p:nvPr>
            <p:ph type="title"/>
          </p:nvPr>
        </p:nvSpPr>
        <p:spPr>
          <a:xfrm>
            <a:off x="609600" y="-547464"/>
            <a:ext cx="10972800" cy="160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5400"/>
              <a:buFont typeface="Marcellus"/>
              <a:buNone/>
            </a:pPr>
            <a:r>
              <a:rPr lang="en-IN"/>
              <a:t>Relational Operators</a:t>
            </a:r>
            <a:endParaRPr/>
          </a:p>
        </p:txBody>
      </p:sp>
      <p:graphicFrame>
        <p:nvGraphicFramePr>
          <p:cNvPr id="242" name="Google Shape;242;p26"/>
          <p:cNvGraphicFramePr/>
          <p:nvPr/>
        </p:nvGraphicFramePr>
        <p:xfrm>
          <a:off x="431371" y="6721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{5B9686C9-2DAC-4542-8D34-4B4182193A1A}</a:tableStyleId>
              </a:tblPr>
              <a:tblGrid>
                <a:gridCol w="1152125"/>
                <a:gridCol w="3744425"/>
                <a:gridCol w="6336700"/>
              </a:tblGrid>
              <a:tr h="1702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400" u="none" cap="none" strike="noStrike"/>
                        <a:t>Operator</a:t>
                      </a:r>
                      <a:endParaRPr/>
                    </a:p>
                  </a:txBody>
                  <a:tcPr marT="24700" marB="24700" marR="32950" marL="32950">
                    <a:lnL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400" u="none" cap="none" strike="noStrike"/>
                        <a:t>Description</a:t>
                      </a:r>
                      <a:endParaRPr/>
                    </a:p>
                  </a:txBody>
                  <a:tcPr marT="24700" marB="24700" marR="32950" marL="32950">
                    <a:lnL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400" u="none" cap="none" strike="noStrike"/>
                        <a:t>Example</a:t>
                      </a:r>
                      <a:endParaRPr/>
                    </a:p>
                  </a:txBody>
                  <a:tcPr marT="24700" marB="24700" marR="32950" marL="32950">
                    <a:lnL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EEEEE"/>
                    </a:solidFill>
                  </a:tcPr>
                </a:tc>
              </a:tr>
              <a:tr h="9195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400" u="none" cap="none" strike="noStrike"/>
                        <a:t>&gt;</a:t>
                      </a:r>
                      <a:endParaRPr/>
                    </a:p>
                  </a:txBody>
                  <a:tcPr marT="24700" marB="24700" marR="32950" marL="32950">
                    <a:lnL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400" u="none" cap="none" strike="noStrike"/>
                        <a:t>Checks if each element of the first vector is greater than the corresponding element of the second vector.</a:t>
                      </a:r>
                      <a:endParaRPr/>
                    </a:p>
                  </a:txBody>
                  <a:tcPr marT="24700" marB="24700" marR="32950" marL="32950" anchor="ctr">
                    <a:lnL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400" u="none" cap="none" strike="noStrike"/>
                        <a:t>v </a:t>
                      </a:r>
                      <a:r>
                        <a:rPr lang="en-IN" sz="1400" u="none" cap="none" strike="noStrike">
                          <a:solidFill>
                            <a:srgbClr val="666600"/>
                          </a:solidFill>
                        </a:rPr>
                        <a:t>&lt;-</a:t>
                      </a:r>
                      <a:r>
                        <a:rPr lang="en-IN" sz="1400" u="none" cap="none" strike="noStrike"/>
                        <a:t> c</a:t>
                      </a:r>
                      <a:r>
                        <a:rPr lang="en-IN" sz="1400" u="none" cap="none" strike="noStrike">
                          <a:solidFill>
                            <a:srgbClr val="666600"/>
                          </a:solidFill>
                        </a:rPr>
                        <a:t>(</a:t>
                      </a:r>
                      <a:r>
                        <a:rPr lang="en-IN" sz="1400" u="none" cap="none" strike="noStrike">
                          <a:solidFill>
                            <a:srgbClr val="006666"/>
                          </a:solidFill>
                        </a:rPr>
                        <a:t>2</a:t>
                      </a:r>
                      <a:r>
                        <a:rPr lang="en-IN" sz="1400" u="none" cap="none" strike="noStrike">
                          <a:solidFill>
                            <a:srgbClr val="666600"/>
                          </a:solidFill>
                        </a:rPr>
                        <a:t>,</a:t>
                      </a:r>
                      <a:r>
                        <a:rPr lang="en-IN" sz="1400" u="none" cap="none" strike="noStrike">
                          <a:solidFill>
                            <a:srgbClr val="006666"/>
                          </a:solidFill>
                        </a:rPr>
                        <a:t>5.5</a:t>
                      </a:r>
                      <a:r>
                        <a:rPr lang="en-IN" sz="1400" u="none" cap="none" strike="noStrike">
                          <a:solidFill>
                            <a:srgbClr val="666600"/>
                          </a:solidFill>
                        </a:rPr>
                        <a:t>,</a:t>
                      </a:r>
                      <a:r>
                        <a:rPr lang="en-IN" sz="1400" u="none" cap="none" strike="noStrike">
                          <a:solidFill>
                            <a:srgbClr val="006666"/>
                          </a:solidFill>
                        </a:rPr>
                        <a:t>6</a:t>
                      </a:r>
                      <a:r>
                        <a:rPr lang="en-IN" sz="1400" u="none" cap="none" strike="noStrike">
                          <a:solidFill>
                            <a:srgbClr val="666600"/>
                          </a:solidFill>
                        </a:rPr>
                        <a:t>,</a:t>
                      </a:r>
                      <a:r>
                        <a:rPr lang="en-IN" sz="1400" u="none" cap="none" strike="noStrike">
                          <a:solidFill>
                            <a:srgbClr val="006666"/>
                          </a:solidFill>
                        </a:rPr>
                        <a:t>9</a:t>
                      </a:r>
                      <a:r>
                        <a:rPr lang="en-IN" sz="1400" u="none" cap="none" strike="noStrike">
                          <a:solidFill>
                            <a:srgbClr val="666600"/>
                          </a:solidFill>
                        </a:rPr>
                        <a:t>)</a:t>
                      </a:r>
                      <a:r>
                        <a:rPr lang="en-IN" sz="1400" u="none" cap="none" strike="noStrike"/>
                        <a:t> t </a:t>
                      </a:r>
                      <a:r>
                        <a:rPr lang="en-IN" sz="1400" u="none" cap="none" strike="noStrike">
                          <a:solidFill>
                            <a:srgbClr val="666600"/>
                          </a:solidFill>
                        </a:rPr>
                        <a:t>&lt;-</a:t>
                      </a:r>
                      <a:r>
                        <a:rPr lang="en-IN" sz="1400" u="none" cap="none" strike="noStrike"/>
                        <a:t> c</a:t>
                      </a:r>
                      <a:r>
                        <a:rPr lang="en-IN" sz="1400" u="none" cap="none" strike="noStrike">
                          <a:solidFill>
                            <a:srgbClr val="666600"/>
                          </a:solidFill>
                        </a:rPr>
                        <a:t>(</a:t>
                      </a:r>
                      <a:r>
                        <a:rPr lang="en-IN" sz="1400" u="none" cap="none" strike="noStrike">
                          <a:solidFill>
                            <a:srgbClr val="006666"/>
                          </a:solidFill>
                        </a:rPr>
                        <a:t>8</a:t>
                      </a:r>
                      <a:r>
                        <a:rPr lang="en-IN" sz="1400" u="none" cap="none" strike="noStrike">
                          <a:solidFill>
                            <a:srgbClr val="666600"/>
                          </a:solidFill>
                        </a:rPr>
                        <a:t>,</a:t>
                      </a:r>
                      <a:r>
                        <a:rPr lang="en-IN" sz="1400" u="none" cap="none" strike="noStrike">
                          <a:solidFill>
                            <a:srgbClr val="006666"/>
                          </a:solidFill>
                        </a:rPr>
                        <a:t>2.5</a:t>
                      </a:r>
                      <a:r>
                        <a:rPr lang="en-IN" sz="1400" u="none" cap="none" strike="noStrike">
                          <a:solidFill>
                            <a:srgbClr val="666600"/>
                          </a:solidFill>
                        </a:rPr>
                        <a:t>,</a:t>
                      </a:r>
                      <a:r>
                        <a:rPr lang="en-IN" sz="1400" u="none" cap="none" strike="noStrike">
                          <a:solidFill>
                            <a:srgbClr val="006666"/>
                          </a:solidFill>
                        </a:rPr>
                        <a:t>14</a:t>
                      </a:r>
                      <a:r>
                        <a:rPr lang="en-IN" sz="1400" u="none" cap="none" strike="noStrike">
                          <a:solidFill>
                            <a:srgbClr val="666600"/>
                          </a:solidFill>
                        </a:rPr>
                        <a:t>,</a:t>
                      </a:r>
                      <a:r>
                        <a:rPr lang="en-IN" sz="1400" u="none" cap="none" strike="noStrike">
                          <a:solidFill>
                            <a:srgbClr val="006666"/>
                          </a:solidFill>
                        </a:rPr>
                        <a:t>9</a:t>
                      </a:r>
                      <a:r>
                        <a:rPr lang="en-IN" sz="1400" u="none" cap="none" strike="noStrike">
                          <a:solidFill>
                            <a:srgbClr val="666600"/>
                          </a:solidFill>
                        </a:rPr>
                        <a:t>)</a:t>
                      </a:r>
                      <a:r>
                        <a:rPr lang="en-IN" sz="1400" u="none" cap="none" strike="noStrike"/>
                        <a:t> </a:t>
                      </a:r>
                      <a:endParaRPr sz="1400" u="none" cap="none" strike="noStrike"/>
                    </a:p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400" u="none" cap="none" strike="noStrike">
                          <a:solidFill>
                            <a:srgbClr val="000088"/>
                          </a:solidFill>
                        </a:rPr>
                        <a:t>print</a:t>
                      </a:r>
                      <a:r>
                        <a:rPr lang="en-IN" sz="1400" u="none" cap="none" strike="noStrike">
                          <a:solidFill>
                            <a:srgbClr val="666600"/>
                          </a:solidFill>
                        </a:rPr>
                        <a:t>(</a:t>
                      </a:r>
                      <a:r>
                        <a:rPr lang="en-IN" sz="1400" u="none" cap="none" strike="noStrike"/>
                        <a:t>v</a:t>
                      </a:r>
                      <a:r>
                        <a:rPr lang="en-IN" sz="1400" u="none" cap="none" strike="noStrike">
                          <a:solidFill>
                            <a:srgbClr val="666600"/>
                          </a:solidFill>
                        </a:rPr>
                        <a:t>&gt;</a:t>
                      </a:r>
                      <a:r>
                        <a:rPr lang="en-IN" sz="1400" u="none" cap="none" strike="noStrike"/>
                        <a:t>t</a:t>
                      </a:r>
                      <a:r>
                        <a:rPr lang="en-IN" sz="1400" u="none" cap="none" strike="noStrike">
                          <a:solidFill>
                            <a:srgbClr val="666600"/>
                          </a:solidFill>
                        </a:rPr>
                        <a:t>)</a:t>
                      </a:r>
                      <a:r>
                        <a:rPr lang="en-IN" sz="1400" u="none" cap="none" strike="noStrike">
                          <a:solidFill>
                            <a:srgbClr val="000000"/>
                          </a:solidFill>
                        </a:rPr>
                        <a:t>it produces the following result −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400" u="none" cap="none" strike="noStrike"/>
                        <a:t>[1] FALSE TRUE FALSE FALSE </a:t>
                      </a:r>
                      <a:endParaRPr/>
                    </a:p>
                  </a:txBody>
                  <a:tcPr marT="24700" marB="24700" marR="32950" marL="32950">
                    <a:lnL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8120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400" u="none" cap="none" strike="noStrike"/>
                        <a:t>&lt;</a:t>
                      </a:r>
                      <a:endParaRPr/>
                    </a:p>
                  </a:txBody>
                  <a:tcPr marT="24700" marB="24700" marR="32950" marL="32950">
                    <a:lnL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400" u="none" cap="none" strike="noStrike"/>
                        <a:t>Checks if each element of the first vector is less than the corresponding element of the second vector.</a:t>
                      </a:r>
                      <a:endParaRPr/>
                    </a:p>
                  </a:txBody>
                  <a:tcPr marT="24700" marB="24700" marR="32950" marL="32950" anchor="ctr">
                    <a:lnL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400" u="none" cap="none" strike="noStrike"/>
                        <a:t>v </a:t>
                      </a:r>
                      <a:r>
                        <a:rPr lang="en-IN" sz="1400" u="none" cap="none" strike="noStrike">
                          <a:solidFill>
                            <a:srgbClr val="666600"/>
                          </a:solidFill>
                        </a:rPr>
                        <a:t>&lt;-</a:t>
                      </a:r>
                      <a:r>
                        <a:rPr lang="en-IN" sz="1400" u="none" cap="none" strike="noStrike"/>
                        <a:t> c</a:t>
                      </a:r>
                      <a:r>
                        <a:rPr lang="en-IN" sz="1400" u="none" cap="none" strike="noStrike">
                          <a:solidFill>
                            <a:srgbClr val="666600"/>
                          </a:solidFill>
                        </a:rPr>
                        <a:t>(</a:t>
                      </a:r>
                      <a:r>
                        <a:rPr lang="en-IN" sz="1400" u="none" cap="none" strike="noStrike">
                          <a:solidFill>
                            <a:srgbClr val="006666"/>
                          </a:solidFill>
                        </a:rPr>
                        <a:t>2</a:t>
                      </a:r>
                      <a:r>
                        <a:rPr lang="en-IN" sz="1400" u="none" cap="none" strike="noStrike">
                          <a:solidFill>
                            <a:srgbClr val="666600"/>
                          </a:solidFill>
                        </a:rPr>
                        <a:t>,</a:t>
                      </a:r>
                      <a:r>
                        <a:rPr lang="en-IN" sz="1400" u="none" cap="none" strike="noStrike">
                          <a:solidFill>
                            <a:srgbClr val="006666"/>
                          </a:solidFill>
                        </a:rPr>
                        <a:t>5.5</a:t>
                      </a:r>
                      <a:r>
                        <a:rPr lang="en-IN" sz="1400" u="none" cap="none" strike="noStrike">
                          <a:solidFill>
                            <a:srgbClr val="666600"/>
                          </a:solidFill>
                        </a:rPr>
                        <a:t>,</a:t>
                      </a:r>
                      <a:r>
                        <a:rPr lang="en-IN" sz="1400" u="none" cap="none" strike="noStrike">
                          <a:solidFill>
                            <a:srgbClr val="006666"/>
                          </a:solidFill>
                        </a:rPr>
                        <a:t>6</a:t>
                      </a:r>
                      <a:r>
                        <a:rPr lang="en-IN" sz="1400" u="none" cap="none" strike="noStrike">
                          <a:solidFill>
                            <a:srgbClr val="666600"/>
                          </a:solidFill>
                        </a:rPr>
                        <a:t>,</a:t>
                      </a:r>
                      <a:r>
                        <a:rPr lang="en-IN" sz="1400" u="none" cap="none" strike="noStrike">
                          <a:solidFill>
                            <a:srgbClr val="006666"/>
                          </a:solidFill>
                        </a:rPr>
                        <a:t>9</a:t>
                      </a:r>
                      <a:r>
                        <a:rPr lang="en-IN" sz="1400" u="none" cap="none" strike="noStrike">
                          <a:solidFill>
                            <a:srgbClr val="666600"/>
                          </a:solidFill>
                        </a:rPr>
                        <a:t>)</a:t>
                      </a:r>
                      <a:r>
                        <a:rPr lang="en-IN" sz="1400" u="none" cap="none" strike="noStrike"/>
                        <a:t> t </a:t>
                      </a:r>
                      <a:r>
                        <a:rPr lang="en-IN" sz="1400" u="none" cap="none" strike="noStrike">
                          <a:solidFill>
                            <a:srgbClr val="666600"/>
                          </a:solidFill>
                        </a:rPr>
                        <a:t>&lt;-</a:t>
                      </a:r>
                      <a:r>
                        <a:rPr lang="en-IN" sz="1400" u="none" cap="none" strike="noStrike"/>
                        <a:t> c</a:t>
                      </a:r>
                      <a:r>
                        <a:rPr lang="en-IN" sz="1400" u="none" cap="none" strike="noStrike">
                          <a:solidFill>
                            <a:srgbClr val="666600"/>
                          </a:solidFill>
                        </a:rPr>
                        <a:t>(</a:t>
                      </a:r>
                      <a:r>
                        <a:rPr lang="en-IN" sz="1400" u="none" cap="none" strike="noStrike">
                          <a:solidFill>
                            <a:srgbClr val="006666"/>
                          </a:solidFill>
                        </a:rPr>
                        <a:t>8</a:t>
                      </a:r>
                      <a:r>
                        <a:rPr lang="en-IN" sz="1400" u="none" cap="none" strike="noStrike">
                          <a:solidFill>
                            <a:srgbClr val="666600"/>
                          </a:solidFill>
                        </a:rPr>
                        <a:t>,</a:t>
                      </a:r>
                      <a:r>
                        <a:rPr lang="en-IN" sz="1400" u="none" cap="none" strike="noStrike">
                          <a:solidFill>
                            <a:srgbClr val="006666"/>
                          </a:solidFill>
                        </a:rPr>
                        <a:t>2.5</a:t>
                      </a:r>
                      <a:r>
                        <a:rPr lang="en-IN" sz="1400" u="none" cap="none" strike="noStrike">
                          <a:solidFill>
                            <a:srgbClr val="666600"/>
                          </a:solidFill>
                        </a:rPr>
                        <a:t>,</a:t>
                      </a:r>
                      <a:r>
                        <a:rPr lang="en-IN" sz="1400" u="none" cap="none" strike="noStrike">
                          <a:solidFill>
                            <a:srgbClr val="006666"/>
                          </a:solidFill>
                        </a:rPr>
                        <a:t>14</a:t>
                      </a:r>
                      <a:r>
                        <a:rPr lang="en-IN" sz="1400" u="none" cap="none" strike="noStrike">
                          <a:solidFill>
                            <a:srgbClr val="666600"/>
                          </a:solidFill>
                        </a:rPr>
                        <a:t>,</a:t>
                      </a:r>
                      <a:r>
                        <a:rPr lang="en-IN" sz="1400" u="none" cap="none" strike="noStrike">
                          <a:solidFill>
                            <a:srgbClr val="006666"/>
                          </a:solidFill>
                        </a:rPr>
                        <a:t>9</a:t>
                      </a:r>
                      <a:r>
                        <a:rPr lang="en-IN" sz="1400" u="none" cap="none" strike="noStrike">
                          <a:solidFill>
                            <a:srgbClr val="666600"/>
                          </a:solidFill>
                        </a:rPr>
                        <a:t>)</a:t>
                      </a:r>
                      <a:r>
                        <a:rPr lang="en-IN" sz="1400" u="none" cap="none" strike="noStrike"/>
                        <a:t> </a:t>
                      </a:r>
                      <a:r>
                        <a:rPr lang="en-IN" sz="1400" u="none" cap="none" strike="noStrike">
                          <a:solidFill>
                            <a:srgbClr val="000088"/>
                          </a:solidFill>
                        </a:rPr>
                        <a:t>print</a:t>
                      </a:r>
                      <a:r>
                        <a:rPr lang="en-IN" sz="1400" u="none" cap="none" strike="noStrike">
                          <a:solidFill>
                            <a:srgbClr val="666600"/>
                          </a:solidFill>
                        </a:rPr>
                        <a:t>(</a:t>
                      </a:r>
                      <a:r>
                        <a:rPr lang="en-IN" sz="1400" u="none" cap="none" strike="noStrike"/>
                        <a:t>v </a:t>
                      </a:r>
                      <a:r>
                        <a:rPr lang="en-IN" sz="1400" u="none" cap="none" strike="noStrike">
                          <a:solidFill>
                            <a:srgbClr val="666600"/>
                          </a:solidFill>
                        </a:rPr>
                        <a:t>&lt;</a:t>
                      </a:r>
                      <a:r>
                        <a:rPr lang="en-IN" sz="1400" u="none" cap="none" strike="noStrike"/>
                        <a:t> t</a:t>
                      </a:r>
                      <a:r>
                        <a:rPr lang="en-IN" sz="1400" u="none" cap="none" strike="noStrike">
                          <a:solidFill>
                            <a:srgbClr val="666600"/>
                          </a:solidFill>
                        </a:rPr>
                        <a:t>)</a:t>
                      </a:r>
                      <a:r>
                        <a:rPr lang="en-IN" sz="1400" u="none" cap="none" strike="noStrike">
                          <a:solidFill>
                            <a:srgbClr val="000000"/>
                          </a:solidFill>
                        </a:rPr>
                        <a:t>it produces the following result −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400" u="none" cap="none" strike="noStrike"/>
                        <a:t>[1] TRUE FALSE TRUE FALSE </a:t>
                      </a:r>
                      <a:endParaRPr/>
                    </a:p>
                  </a:txBody>
                  <a:tcPr marT="24700" marB="24700" marR="32950" marL="32950">
                    <a:lnL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8120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400" u="none" cap="none" strike="noStrike"/>
                        <a:t>==</a:t>
                      </a:r>
                      <a:endParaRPr/>
                    </a:p>
                  </a:txBody>
                  <a:tcPr marT="24700" marB="24700" marR="32950" marL="32950">
                    <a:lnL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400" u="none" cap="none" strike="noStrike"/>
                        <a:t>Checks if each element of the first vector is equal to the corresponding element of the second vector.</a:t>
                      </a:r>
                      <a:endParaRPr/>
                    </a:p>
                  </a:txBody>
                  <a:tcPr marT="24700" marB="24700" marR="32950" marL="32950" anchor="ctr">
                    <a:lnL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400" u="none" cap="none" strike="noStrike"/>
                        <a:t>v </a:t>
                      </a:r>
                      <a:r>
                        <a:rPr lang="en-IN" sz="1400" u="none" cap="none" strike="noStrike">
                          <a:solidFill>
                            <a:srgbClr val="666600"/>
                          </a:solidFill>
                        </a:rPr>
                        <a:t>&lt;-</a:t>
                      </a:r>
                      <a:r>
                        <a:rPr lang="en-IN" sz="1400" u="none" cap="none" strike="noStrike"/>
                        <a:t> c</a:t>
                      </a:r>
                      <a:r>
                        <a:rPr lang="en-IN" sz="1400" u="none" cap="none" strike="noStrike">
                          <a:solidFill>
                            <a:srgbClr val="666600"/>
                          </a:solidFill>
                        </a:rPr>
                        <a:t>(</a:t>
                      </a:r>
                      <a:r>
                        <a:rPr lang="en-IN" sz="1400" u="none" cap="none" strike="noStrike">
                          <a:solidFill>
                            <a:srgbClr val="006666"/>
                          </a:solidFill>
                        </a:rPr>
                        <a:t>2</a:t>
                      </a:r>
                      <a:r>
                        <a:rPr lang="en-IN" sz="1400" u="none" cap="none" strike="noStrike">
                          <a:solidFill>
                            <a:srgbClr val="666600"/>
                          </a:solidFill>
                        </a:rPr>
                        <a:t>,</a:t>
                      </a:r>
                      <a:r>
                        <a:rPr lang="en-IN" sz="1400" u="none" cap="none" strike="noStrike">
                          <a:solidFill>
                            <a:srgbClr val="006666"/>
                          </a:solidFill>
                        </a:rPr>
                        <a:t>5.5</a:t>
                      </a:r>
                      <a:r>
                        <a:rPr lang="en-IN" sz="1400" u="none" cap="none" strike="noStrike">
                          <a:solidFill>
                            <a:srgbClr val="666600"/>
                          </a:solidFill>
                        </a:rPr>
                        <a:t>,</a:t>
                      </a:r>
                      <a:r>
                        <a:rPr lang="en-IN" sz="1400" u="none" cap="none" strike="noStrike">
                          <a:solidFill>
                            <a:srgbClr val="006666"/>
                          </a:solidFill>
                        </a:rPr>
                        <a:t>6</a:t>
                      </a:r>
                      <a:r>
                        <a:rPr lang="en-IN" sz="1400" u="none" cap="none" strike="noStrike">
                          <a:solidFill>
                            <a:srgbClr val="666600"/>
                          </a:solidFill>
                        </a:rPr>
                        <a:t>,</a:t>
                      </a:r>
                      <a:r>
                        <a:rPr lang="en-IN" sz="1400" u="none" cap="none" strike="noStrike">
                          <a:solidFill>
                            <a:srgbClr val="006666"/>
                          </a:solidFill>
                        </a:rPr>
                        <a:t>9</a:t>
                      </a:r>
                      <a:r>
                        <a:rPr lang="en-IN" sz="1400" u="none" cap="none" strike="noStrike">
                          <a:solidFill>
                            <a:srgbClr val="666600"/>
                          </a:solidFill>
                        </a:rPr>
                        <a:t>)</a:t>
                      </a:r>
                      <a:r>
                        <a:rPr lang="en-IN" sz="1400" u="none" cap="none" strike="noStrike"/>
                        <a:t> t </a:t>
                      </a:r>
                      <a:r>
                        <a:rPr lang="en-IN" sz="1400" u="none" cap="none" strike="noStrike">
                          <a:solidFill>
                            <a:srgbClr val="666600"/>
                          </a:solidFill>
                        </a:rPr>
                        <a:t>&lt;-</a:t>
                      </a:r>
                      <a:r>
                        <a:rPr lang="en-IN" sz="1400" u="none" cap="none" strike="noStrike"/>
                        <a:t> c</a:t>
                      </a:r>
                      <a:r>
                        <a:rPr lang="en-IN" sz="1400" u="none" cap="none" strike="noStrike">
                          <a:solidFill>
                            <a:srgbClr val="666600"/>
                          </a:solidFill>
                        </a:rPr>
                        <a:t>(</a:t>
                      </a:r>
                      <a:r>
                        <a:rPr lang="en-IN" sz="1400" u="none" cap="none" strike="noStrike">
                          <a:solidFill>
                            <a:srgbClr val="006666"/>
                          </a:solidFill>
                        </a:rPr>
                        <a:t>8</a:t>
                      </a:r>
                      <a:r>
                        <a:rPr lang="en-IN" sz="1400" u="none" cap="none" strike="noStrike">
                          <a:solidFill>
                            <a:srgbClr val="666600"/>
                          </a:solidFill>
                        </a:rPr>
                        <a:t>,</a:t>
                      </a:r>
                      <a:r>
                        <a:rPr lang="en-IN" sz="1400" u="none" cap="none" strike="noStrike">
                          <a:solidFill>
                            <a:srgbClr val="006666"/>
                          </a:solidFill>
                        </a:rPr>
                        <a:t>2.5</a:t>
                      </a:r>
                      <a:r>
                        <a:rPr lang="en-IN" sz="1400" u="none" cap="none" strike="noStrike">
                          <a:solidFill>
                            <a:srgbClr val="666600"/>
                          </a:solidFill>
                        </a:rPr>
                        <a:t>,</a:t>
                      </a:r>
                      <a:r>
                        <a:rPr lang="en-IN" sz="1400" u="none" cap="none" strike="noStrike">
                          <a:solidFill>
                            <a:srgbClr val="006666"/>
                          </a:solidFill>
                        </a:rPr>
                        <a:t>14</a:t>
                      </a:r>
                      <a:r>
                        <a:rPr lang="en-IN" sz="1400" u="none" cap="none" strike="noStrike">
                          <a:solidFill>
                            <a:srgbClr val="666600"/>
                          </a:solidFill>
                        </a:rPr>
                        <a:t>,</a:t>
                      </a:r>
                      <a:r>
                        <a:rPr lang="en-IN" sz="1400" u="none" cap="none" strike="noStrike">
                          <a:solidFill>
                            <a:srgbClr val="006666"/>
                          </a:solidFill>
                        </a:rPr>
                        <a:t>9</a:t>
                      </a:r>
                      <a:r>
                        <a:rPr lang="en-IN" sz="1400" u="none" cap="none" strike="noStrike">
                          <a:solidFill>
                            <a:srgbClr val="666600"/>
                          </a:solidFill>
                        </a:rPr>
                        <a:t>)</a:t>
                      </a:r>
                      <a:r>
                        <a:rPr lang="en-IN" sz="1400" u="none" cap="none" strike="noStrike"/>
                        <a:t> </a:t>
                      </a:r>
                      <a:r>
                        <a:rPr lang="en-IN" sz="1400" u="none" cap="none" strike="noStrike">
                          <a:solidFill>
                            <a:srgbClr val="000088"/>
                          </a:solidFill>
                        </a:rPr>
                        <a:t>print</a:t>
                      </a:r>
                      <a:r>
                        <a:rPr lang="en-IN" sz="1400" u="none" cap="none" strike="noStrike">
                          <a:solidFill>
                            <a:srgbClr val="666600"/>
                          </a:solidFill>
                        </a:rPr>
                        <a:t>(</a:t>
                      </a:r>
                      <a:r>
                        <a:rPr lang="en-IN" sz="1400" u="none" cap="none" strike="noStrike"/>
                        <a:t>v </a:t>
                      </a:r>
                      <a:r>
                        <a:rPr lang="en-IN" sz="1400" u="none" cap="none" strike="noStrike">
                          <a:solidFill>
                            <a:srgbClr val="666600"/>
                          </a:solidFill>
                        </a:rPr>
                        <a:t>==</a:t>
                      </a:r>
                      <a:r>
                        <a:rPr lang="en-IN" sz="1400" u="none" cap="none" strike="noStrike"/>
                        <a:t> t</a:t>
                      </a:r>
                      <a:r>
                        <a:rPr lang="en-IN" sz="1400" u="none" cap="none" strike="noStrike">
                          <a:solidFill>
                            <a:srgbClr val="666600"/>
                          </a:solidFill>
                        </a:rPr>
                        <a:t>)</a:t>
                      </a:r>
                      <a:r>
                        <a:rPr lang="en-IN" sz="1400" u="none" cap="none" strike="noStrike">
                          <a:solidFill>
                            <a:srgbClr val="000000"/>
                          </a:solidFill>
                        </a:rPr>
                        <a:t>it produces the following result −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400" u="none" cap="none" strike="noStrike"/>
                        <a:t>[1] FALSE FALSE FALSE TRUE </a:t>
                      </a:r>
                      <a:endParaRPr/>
                    </a:p>
                  </a:txBody>
                  <a:tcPr marT="24700" marB="24700" marR="32950" marL="32950">
                    <a:lnL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9195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400" u="none" cap="none" strike="noStrike"/>
                        <a:t>&lt;=</a:t>
                      </a:r>
                      <a:endParaRPr/>
                    </a:p>
                  </a:txBody>
                  <a:tcPr marT="24700" marB="24700" marR="32950" marL="32950">
                    <a:lnL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400" u="none" cap="none" strike="noStrike"/>
                        <a:t>Checks if each element of the first vector is less than or equal to the corresponding element of the second vector.</a:t>
                      </a:r>
                      <a:endParaRPr/>
                    </a:p>
                  </a:txBody>
                  <a:tcPr marT="24700" marB="24700" marR="32950" marL="32950" anchor="ctr">
                    <a:lnL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400" u="none" cap="none" strike="noStrike"/>
                        <a:t>v </a:t>
                      </a:r>
                      <a:r>
                        <a:rPr lang="en-IN" sz="1400" u="none" cap="none" strike="noStrike">
                          <a:solidFill>
                            <a:srgbClr val="666600"/>
                          </a:solidFill>
                        </a:rPr>
                        <a:t>&lt;-</a:t>
                      </a:r>
                      <a:r>
                        <a:rPr lang="en-IN" sz="1400" u="none" cap="none" strike="noStrike"/>
                        <a:t> c</a:t>
                      </a:r>
                      <a:r>
                        <a:rPr lang="en-IN" sz="1400" u="none" cap="none" strike="noStrike">
                          <a:solidFill>
                            <a:srgbClr val="666600"/>
                          </a:solidFill>
                        </a:rPr>
                        <a:t>(</a:t>
                      </a:r>
                      <a:r>
                        <a:rPr lang="en-IN" sz="1400" u="none" cap="none" strike="noStrike">
                          <a:solidFill>
                            <a:srgbClr val="006666"/>
                          </a:solidFill>
                        </a:rPr>
                        <a:t>2</a:t>
                      </a:r>
                      <a:r>
                        <a:rPr lang="en-IN" sz="1400" u="none" cap="none" strike="noStrike">
                          <a:solidFill>
                            <a:srgbClr val="666600"/>
                          </a:solidFill>
                        </a:rPr>
                        <a:t>,</a:t>
                      </a:r>
                      <a:r>
                        <a:rPr lang="en-IN" sz="1400" u="none" cap="none" strike="noStrike">
                          <a:solidFill>
                            <a:srgbClr val="006666"/>
                          </a:solidFill>
                        </a:rPr>
                        <a:t>5.5</a:t>
                      </a:r>
                      <a:r>
                        <a:rPr lang="en-IN" sz="1400" u="none" cap="none" strike="noStrike">
                          <a:solidFill>
                            <a:srgbClr val="666600"/>
                          </a:solidFill>
                        </a:rPr>
                        <a:t>,</a:t>
                      </a:r>
                      <a:r>
                        <a:rPr lang="en-IN" sz="1400" u="none" cap="none" strike="noStrike">
                          <a:solidFill>
                            <a:srgbClr val="006666"/>
                          </a:solidFill>
                        </a:rPr>
                        <a:t>6</a:t>
                      </a:r>
                      <a:r>
                        <a:rPr lang="en-IN" sz="1400" u="none" cap="none" strike="noStrike">
                          <a:solidFill>
                            <a:srgbClr val="666600"/>
                          </a:solidFill>
                        </a:rPr>
                        <a:t>,</a:t>
                      </a:r>
                      <a:r>
                        <a:rPr lang="en-IN" sz="1400" u="none" cap="none" strike="noStrike">
                          <a:solidFill>
                            <a:srgbClr val="006666"/>
                          </a:solidFill>
                        </a:rPr>
                        <a:t>9</a:t>
                      </a:r>
                      <a:r>
                        <a:rPr lang="en-IN" sz="1400" u="none" cap="none" strike="noStrike">
                          <a:solidFill>
                            <a:srgbClr val="666600"/>
                          </a:solidFill>
                        </a:rPr>
                        <a:t>)</a:t>
                      </a:r>
                      <a:r>
                        <a:rPr lang="en-IN" sz="1400" u="none" cap="none" strike="noStrike"/>
                        <a:t> t </a:t>
                      </a:r>
                      <a:r>
                        <a:rPr lang="en-IN" sz="1400" u="none" cap="none" strike="noStrike">
                          <a:solidFill>
                            <a:srgbClr val="666600"/>
                          </a:solidFill>
                        </a:rPr>
                        <a:t>&lt;-</a:t>
                      </a:r>
                      <a:r>
                        <a:rPr lang="en-IN" sz="1400" u="none" cap="none" strike="noStrike"/>
                        <a:t> c</a:t>
                      </a:r>
                      <a:r>
                        <a:rPr lang="en-IN" sz="1400" u="none" cap="none" strike="noStrike">
                          <a:solidFill>
                            <a:srgbClr val="666600"/>
                          </a:solidFill>
                        </a:rPr>
                        <a:t>(</a:t>
                      </a:r>
                      <a:r>
                        <a:rPr lang="en-IN" sz="1400" u="none" cap="none" strike="noStrike">
                          <a:solidFill>
                            <a:srgbClr val="006666"/>
                          </a:solidFill>
                        </a:rPr>
                        <a:t>8</a:t>
                      </a:r>
                      <a:r>
                        <a:rPr lang="en-IN" sz="1400" u="none" cap="none" strike="noStrike">
                          <a:solidFill>
                            <a:srgbClr val="666600"/>
                          </a:solidFill>
                        </a:rPr>
                        <a:t>,</a:t>
                      </a:r>
                      <a:r>
                        <a:rPr lang="en-IN" sz="1400" u="none" cap="none" strike="noStrike">
                          <a:solidFill>
                            <a:srgbClr val="006666"/>
                          </a:solidFill>
                        </a:rPr>
                        <a:t>2.5</a:t>
                      </a:r>
                      <a:r>
                        <a:rPr lang="en-IN" sz="1400" u="none" cap="none" strike="noStrike">
                          <a:solidFill>
                            <a:srgbClr val="666600"/>
                          </a:solidFill>
                        </a:rPr>
                        <a:t>,</a:t>
                      </a:r>
                      <a:r>
                        <a:rPr lang="en-IN" sz="1400" u="none" cap="none" strike="noStrike">
                          <a:solidFill>
                            <a:srgbClr val="006666"/>
                          </a:solidFill>
                        </a:rPr>
                        <a:t>14</a:t>
                      </a:r>
                      <a:r>
                        <a:rPr lang="en-IN" sz="1400" u="none" cap="none" strike="noStrike">
                          <a:solidFill>
                            <a:srgbClr val="666600"/>
                          </a:solidFill>
                        </a:rPr>
                        <a:t>,</a:t>
                      </a:r>
                      <a:r>
                        <a:rPr lang="en-IN" sz="1400" u="none" cap="none" strike="noStrike">
                          <a:solidFill>
                            <a:srgbClr val="006666"/>
                          </a:solidFill>
                        </a:rPr>
                        <a:t>9</a:t>
                      </a:r>
                      <a:r>
                        <a:rPr lang="en-IN" sz="1400" u="none" cap="none" strike="noStrike">
                          <a:solidFill>
                            <a:srgbClr val="666600"/>
                          </a:solidFill>
                        </a:rPr>
                        <a:t>)</a:t>
                      </a:r>
                      <a:r>
                        <a:rPr lang="en-IN" sz="1400" u="none" cap="none" strike="noStrike"/>
                        <a:t> </a:t>
                      </a:r>
                      <a:r>
                        <a:rPr lang="en-IN" sz="1400" u="none" cap="none" strike="noStrike">
                          <a:solidFill>
                            <a:srgbClr val="000088"/>
                          </a:solidFill>
                        </a:rPr>
                        <a:t>print</a:t>
                      </a:r>
                      <a:r>
                        <a:rPr lang="en-IN" sz="1400" u="none" cap="none" strike="noStrike">
                          <a:solidFill>
                            <a:srgbClr val="666600"/>
                          </a:solidFill>
                        </a:rPr>
                        <a:t>(</a:t>
                      </a:r>
                      <a:r>
                        <a:rPr lang="en-IN" sz="1400" u="none" cap="none" strike="noStrike"/>
                        <a:t>v</a:t>
                      </a:r>
                      <a:r>
                        <a:rPr lang="en-IN" sz="1400" u="none" cap="none" strike="noStrike">
                          <a:solidFill>
                            <a:srgbClr val="666600"/>
                          </a:solidFill>
                        </a:rPr>
                        <a:t>&lt;=</a:t>
                      </a:r>
                      <a:r>
                        <a:rPr lang="en-IN" sz="1400" u="none" cap="none" strike="noStrike"/>
                        <a:t>t</a:t>
                      </a:r>
                      <a:r>
                        <a:rPr lang="en-IN" sz="1400" u="none" cap="none" strike="noStrike">
                          <a:solidFill>
                            <a:srgbClr val="666600"/>
                          </a:solidFill>
                        </a:rPr>
                        <a:t>)</a:t>
                      </a:r>
                      <a:r>
                        <a:rPr lang="en-IN" sz="1400" u="none" cap="none" strike="noStrike">
                          <a:solidFill>
                            <a:srgbClr val="000000"/>
                          </a:solidFill>
                        </a:rPr>
                        <a:t>it produces the following result −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400" u="none" cap="none" strike="noStrike"/>
                        <a:t>[1] TRUE FALSE TRUE TRUE </a:t>
                      </a:r>
                      <a:endParaRPr/>
                    </a:p>
                  </a:txBody>
                  <a:tcPr marT="24700" marB="24700" marR="32950" marL="32950">
                    <a:lnL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9195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400" u="none" cap="none" strike="noStrike"/>
                        <a:t>&gt;=</a:t>
                      </a:r>
                      <a:endParaRPr/>
                    </a:p>
                  </a:txBody>
                  <a:tcPr marT="24700" marB="24700" marR="32950" marL="32950">
                    <a:lnL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400" u="none" cap="none" strike="noStrike"/>
                        <a:t>Checks if each element of the first vector is greater than or equal to the corresponding element of the second vector.</a:t>
                      </a:r>
                      <a:endParaRPr/>
                    </a:p>
                  </a:txBody>
                  <a:tcPr marT="24700" marB="24700" marR="32950" marL="32950" anchor="ctr">
                    <a:lnL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400" u="none" cap="none" strike="noStrike"/>
                        <a:t>v </a:t>
                      </a:r>
                      <a:r>
                        <a:rPr lang="en-IN" sz="1400" u="none" cap="none" strike="noStrike">
                          <a:solidFill>
                            <a:srgbClr val="666600"/>
                          </a:solidFill>
                        </a:rPr>
                        <a:t>&lt;-</a:t>
                      </a:r>
                      <a:r>
                        <a:rPr lang="en-IN" sz="1400" u="none" cap="none" strike="noStrike"/>
                        <a:t> c</a:t>
                      </a:r>
                      <a:r>
                        <a:rPr lang="en-IN" sz="1400" u="none" cap="none" strike="noStrike">
                          <a:solidFill>
                            <a:srgbClr val="666600"/>
                          </a:solidFill>
                        </a:rPr>
                        <a:t>(</a:t>
                      </a:r>
                      <a:r>
                        <a:rPr lang="en-IN" sz="1400" u="none" cap="none" strike="noStrike">
                          <a:solidFill>
                            <a:srgbClr val="006666"/>
                          </a:solidFill>
                        </a:rPr>
                        <a:t>2</a:t>
                      </a:r>
                      <a:r>
                        <a:rPr lang="en-IN" sz="1400" u="none" cap="none" strike="noStrike">
                          <a:solidFill>
                            <a:srgbClr val="666600"/>
                          </a:solidFill>
                        </a:rPr>
                        <a:t>,</a:t>
                      </a:r>
                      <a:r>
                        <a:rPr lang="en-IN" sz="1400" u="none" cap="none" strike="noStrike">
                          <a:solidFill>
                            <a:srgbClr val="006666"/>
                          </a:solidFill>
                        </a:rPr>
                        <a:t>5.5</a:t>
                      </a:r>
                      <a:r>
                        <a:rPr lang="en-IN" sz="1400" u="none" cap="none" strike="noStrike">
                          <a:solidFill>
                            <a:srgbClr val="666600"/>
                          </a:solidFill>
                        </a:rPr>
                        <a:t>,</a:t>
                      </a:r>
                      <a:r>
                        <a:rPr lang="en-IN" sz="1400" u="none" cap="none" strike="noStrike">
                          <a:solidFill>
                            <a:srgbClr val="006666"/>
                          </a:solidFill>
                        </a:rPr>
                        <a:t>6</a:t>
                      </a:r>
                      <a:r>
                        <a:rPr lang="en-IN" sz="1400" u="none" cap="none" strike="noStrike">
                          <a:solidFill>
                            <a:srgbClr val="666600"/>
                          </a:solidFill>
                        </a:rPr>
                        <a:t>,</a:t>
                      </a:r>
                      <a:r>
                        <a:rPr lang="en-IN" sz="1400" u="none" cap="none" strike="noStrike">
                          <a:solidFill>
                            <a:srgbClr val="006666"/>
                          </a:solidFill>
                        </a:rPr>
                        <a:t>9</a:t>
                      </a:r>
                      <a:r>
                        <a:rPr lang="en-IN" sz="1400" u="none" cap="none" strike="noStrike">
                          <a:solidFill>
                            <a:srgbClr val="666600"/>
                          </a:solidFill>
                        </a:rPr>
                        <a:t>)</a:t>
                      </a:r>
                      <a:r>
                        <a:rPr lang="en-IN" sz="1400" u="none" cap="none" strike="noStrike"/>
                        <a:t> t </a:t>
                      </a:r>
                      <a:r>
                        <a:rPr lang="en-IN" sz="1400" u="none" cap="none" strike="noStrike">
                          <a:solidFill>
                            <a:srgbClr val="666600"/>
                          </a:solidFill>
                        </a:rPr>
                        <a:t>&lt;-</a:t>
                      </a:r>
                      <a:r>
                        <a:rPr lang="en-IN" sz="1400" u="none" cap="none" strike="noStrike"/>
                        <a:t> c</a:t>
                      </a:r>
                      <a:r>
                        <a:rPr lang="en-IN" sz="1400" u="none" cap="none" strike="noStrike">
                          <a:solidFill>
                            <a:srgbClr val="666600"/>
                          </a:solidFill>
                        </a:rPr>
                        <a:t>(</a:t>
                      </a:r>
                      <a:r>
                        <a:rPr lang="en-IN" sz="1400" u="none" cap="none" strike="noStrike">
                          <a:solidFill>
                            <a:srgbClr val="006666"/>
                          </a:solidFill>
                        </a:rPr>
                        <a:t>8</a:t>
                      </a:r>
                      <a:r>
                        <a:rPr lang="en-IN" sz="1400" u="none" cap="none" strike="noStrike">
                          <a:solidFill>
                            <a:srgbClr val="666600"/>
                          </a:solidFill>
                        </a:rPr>
                        <a:t>,</a:t>
                      </a:r>
                      <a:r>
                        <a:rPr lang="en-IN" sz="1400" u="none" cap="none" strike="noStrike">
                          <a:solidFill>
                            <a:srgbClr val="006666"/>
                          </a:solidFill>
                        </a:rPr>
                        <a:t>2.5</a:t>
                      </a:r>
                      <a:r>
                        <a:rPr lang="en-IN" sz="1400" u="none" cap="none" strike="noStrike">
                          <a:solidFill>
                            <a:srgbClr val="666600"/>
                          </a:solidFill>
                        </a:rPr>
                        <a:t>,</a:t>
                      </a:r>
                      <a:r>
                        <a:rPr lang="en-IN" sz="1400" u="none" cap="none" strike="noStrike">
                          <a:solidFill>
                            <a:srgbClr val="006666"/>
                          </a:solidFill>
                        </a:rPr>
                        <a:t>14</a:t>
                      </a:r>
                      <a:r>
                        <a:rPr lang="en-IN" sz="1400" u="none" cap="none" strike="noStrike">
                          <a:solidFill>
                            <a:srgbClr val="666600"/>
                          </a:solidFill>
                        </a:rPr>
                        <a:t>,</a:t>
                      </a:r>
                      <a:r>
                        <a:rPr lang="en-IN" sz="1400" u="none" cap="none" strike="noStrike">
                          <a:solidFill>
                            <a:srgbClr val="006666"/>
                          </a:solidFill>
                        </a:rPr>
                        <a:t>9</a:t>
                      </a:r>
                      <a:r>
                        <a:rPr lang="en-IN" sz="1400" u="none" cap="none" strike="noStrike">
                          <a:solidFill>
                            <a:srgbClr val="666600"/>
                          </a:solidFill>
                        </a:rPr>
                        <a:t>)</a:t>
                      </a:r>
                      <a:r>
                        <a:rPr lang="en-IN" sz="1400" u="none" cap="none" strike="noStrike"/>
                        <a:t> </a:t>
                      </a:r>
                      <a:r>
                        <a:rPr lang="en-IN" sz="1400" u="none" cap="none" strike="noStrike">
                          <a:solidFill>
                            <a:srgbClr val="000088"/>
                          </a:solidFill>
                        </a:rPr>
                        <a:t>print</a:t>
                      </a:r>
                      <a:r>
                        <a:rPr lang="en-IN" sz="1400" u="none" cap="none" strike="noStrike">
                          <a:solidFill>
                            <a:srgbClr val="666600"/>
                          </a:solidFill>
                        </a:rPr>
                        <a:t>(</a:t>
                      </a:r>
                      <a:r>
                        <a:rPr lang="en-IN" sz="1400" u="none" cap="none" strike="noStrike"/>
                        <a:t>v</a:t>
                      </a:r>
                      <a:r>
                        <a:rPr lang="en-IN" sz="1400" u="none" cap="none" strike="noStrike">
                          <a:solidFill>
                            <a:srgbClr val="666600"/>
                          </a:solidFill>
                        </a:rPr>
                        <a:t>&gt;=</a:t>
                      </a:r>
                      <a:r>
                        <a:rPr lang="en-IN" sz="1400" u="none" cap="none" strike="noStrike"/>
                        <a:t>t</a:t>
                      </a:r>
                      <a:r>
                        <a:rPr lang="en-IN" sz="1400" u="none" cap="none" strike="noStrike">
                          <a:solidFill>
                            <a:srgbClr val="666600"/>
                          </a:solidFill>
                        </a:rPr>
                        <a:t>)</a:t>
                      </a:r>
                      <a:r>
                        <a:rPr lang="en-IN" sz="1400" u="none" cap="none" strike="noStrike">
                          <a:solidFill>
                            <a:srgbClr val="000000"/>
                          </a:solidFill>
                        </a:rPr>
                        <a:t>it produces the following result −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400" u="none" cap="none" strike="noStrike"/>
                        <a:t>[1] FALSE TRUE FALSE TRUE </a:t>
                      </a:r>
                      <a:endParaRPr/>
                    </a:p>
                  </a:txBody>
                  <a:tcPr marT="24700" marB="24700" marR="32950" marL="32950">
                    <a:lnL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9195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400" u="none" cap="none" strike="noStrike"/>
                        <a:t>!=</a:t>
                      </a:r>
                      <a:endParaRPr/>
                    </a:p>
                  </a:txBody>
                  <a:tcPr marT="24700" marB="24700" marR="32950" marL="32950">
                    <a:lnL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400" u="none" cap="none" strike="noStrike"/>
                        <a:t>Checks if each element of the first vector is unequal to the corresponding element of the second vector.</a:t>
                      </a:r>
                      <a:endParaRPr/>
                    </a:p>
                  </a:txBody>
                  <a:tcPr marT="24700" marB="24700" marR="32950" marL="32950" anchor="ctr">
                    <a:lnL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400" u="none" cap="none" strike="noStrike"/>
                        <a:t>v </a:t>
                      </a:r>
                      <a:r>
                        <a:rPr lang="en-IN" sz="1400" u="none" cap="none" strike="noStrike">
                          <a:solidFill>
                            <a:srgbClr val="666600"/>
                          </a:solidFill>
                        </a:rPr>
                        <a:t>&lt;-</a:t>
                      </a:r>
                      <a:r>
                        <a:rPr lang="en-IN" sz="1400" u="none" cap="none" strike="noStrike"/>
                        <a:t> c</a:t>
                      </a:r>
                      <a:r>
                        <a:rPr lang="en-IN" sz="1400" u="none" cap="none" strike="noStrike">
                          <a:solidFill>
                            <a:srgbClr val="666600"/>
                          </a:solidFill>
                        </a:rPr>
                        <a:t>(</a:t>
                      </a:r>
                      <a:r>
                        <a:rPr lang="en-IN" sz="1400" u="none" cap="none" strike="noStrike">
                          <a:solidFill>
                            <a:srgbClr val="006666"/>
                          </a:solidFill>
                        </a:rPr>
                        <a:t>2</a:t>
                      </a:r>
                      <a:r>
                        <a:rPr lang="en-IN" sz="1400" u="none" cap="none" strike="noStrike">
                          <a:solidFill>
                            <a:srgbClr val="666600"/>
                          </a:solidFill>
                        </a:rPr>
                        <a:t>,</a:t>
                      </a:r>
                      <a:r>
                        <a:rPr lang="en-IN" sz="1400" u="none" cap="none" strike="noStrike">
                          <a:solidFill>
                            <a:srgbClr val="006666"/>
                          </a:solidFill>
                        </a:rPr>
                        <a:t>5.5</a:t>
                      </a:r>
                      <a:r>
                        <a:rPr lang="en-IN" sz="1400" u="none" cap="none" strike="noStrike">
                          <a:solidFill>
                            <a:srgbClr val="666600"/>
                          </a:solidFill>
                        </a:rPr>
                        <a:t>,</a:t>
                      </a:r>
                      <a:r>
                        <a:rPr lang="en-IN" sz="1400" u="none" cap="none" strike="noStrike">
                          <a:solidFill>
                            <a:srgbClr val="006666"/>
                          </a:solidFill>
                        </a:rPr>
                        <a:t>6</a:t>
                      </a:r>
                      <a:r>
                        <a:rPr lang="en-IN" sz="1400" u="none" cap="none" strike="noStrike">
                          <a:solidFill>
                            <a:srgbClr val="666600"/>
                          </a:solidFill>
                        </a:rPr>
                        <a:t>,</a:t>
                      </a:r>
                      <a:r>
                        <a:rPr lang="en-IN" sz="1400" u="none" cap="none" strike="noStrike">
                          <a:solidFill>
                            <a:srgbClr val="006666"/>
                          </a:solidFill>
                        </a:rPr>
                        <a:t>9</a:t>
                      </a:r>
                      <a:r>
                        <a:rPr lang="en-IN" sz="1400" u="none" cap="none" strike="noStrike">
                          <a:solidFill>
                            <a:srgbClr val="666600"/>
                          </a:solidFill>
                        </a:rPr>
                        <a:t>)</a:t>
                      </a:r>
                      <a:r>
                        <a:rPr lang="en-IN" sz="1400" u="none" cap="none" strike="noStrike"/>
                        <a:t> t </a:t>
                      </a:r>
                      <a:r>
                        <a:rPr lang="en-IN" sz="1400" u="none" cap="none" strike="noStrike">
                          <a:solidFill>
                            <a:srgbClr val="666600"/>
                          </a:solidFill>
                        </a:rPr>
                        <a:t>&lt;-</a:t>
                      </a:r>
                      <a:r>
                        <a:rPr lang="en-IN" sz="1400" u="none" cap="none" strike="noStrike"/>
                        <a:t> c</a:t>
                      </a:r>
                      <a:r>
                        <a:rPr lang="en-IN" sz="1400" u="none" cap="none" strike="noStrike">
                          <a:solidFill>
                            <a:srgbClr val="666600"/>
                          </a:solidFill>
                        </a:rPr>
                        <a:t>(</a:t>
                      </a:r>
                      <a:r>
                        <a:rPr lang="en-IN" sz="1400" u="none" cap="none" strike="noStrike">
                          <a:solidFill>
                            <a:srgbClr val="006666"/>
                          </a:solidFill>
                        </a:rPr>
                        <a:t>8</a:t>
                      </a:r>
                      <a:r>
                        <a:rPr lang="en-IN" sz="1400" u="none" cap="none" strike="noStrike">
                          <a:solidFill>
                            <a:srgbClr val="666600"/>
                          </a:solidFill>
                        </a:rPr>
                        <a:t>,</a:t>
                      </a:r>
                      <a:r>
                        <a:rPr lang="en-IN" sz="1400" u="none" cap="none" strike="noStrike">
                          <a:solidFill>
                            <a:srgbClr val="006666"/>
                          </a:solidFill>
                        </a:rPr>
                        <a:t>2.5</a:t>
                      </a:r>
                      <a:r>
                        <a:rPr lang="en-IN" sz="1400" u="none" cap="none" strike="noStrike">
                          <a:solidFill>
                            <a:srgbClr val="666600"/>
                          </a:solidFill>
                        </a:rPr>
                        <a:t>,</a:t>
                      </a:r>
                      <a:r>
                        <a:rPr lang="en-IN" sz="1400" u="none" cap="none" strike="noStrike">
                          <a:solidFill>
                            <a:srgbClr val="006666"/>
                          </a:solidFill>
                        </a:rPr>
                        <a:t>14</a:t>
                      </a:r>
                      <a:r>
                        <a:rPr lang="en-IN" sz="1400" u="none" cap="none" strike="noStrike">
                          <a:solidFill>
                            <a:srgbClr val="666600"/>
                          </a:solidFill>
                        </a:rPr>
                        <a:t>,</a:t>
                      </a:r>
                      <a:r>
                        <a:rPr lang="en-IN" sz="1400" u="none" cap="none" strike="noStrike">
                          <a:solidFill>
                            <a:srgbClr val="006666"/>
                          </a:solidFill>
                        </a:rPr>
                        <a:t>9</a:t>
                      </a:r>
                      <a:r>
                        <a:rPr lang="en-IN" sz="1400" u="none" cap="none" strike="noStrike">
                          <a:solidFill>
                            <a:srgbClr val="666600"/>
                          </a:solidFill>
                        </a:rPr>
                        <a:t>)</a:t>
                      </a:r>
                      <a:r>
                        <a:rPr lang="en-IN" sz="1400" u="none" cap="none" strike="noStrike"/>
                        <a:t> </a:t>
                      </a:r>
                      <a:r>
                        <a:rPr lang="en-IN" sz="1400" u="none" cap="none" strike="noStrike">
                          <a:solidFill>
                            <a:srgbClr val="000088"/>
                          </a:solidFill>
                        </a:rPr>
                        <a:t>print</a:t>
                      </a:r>
                      <a:r>
                        <a:rPr lang="en-IN" sz="1400" u="none" cap="none" strike="noStrike">
                          <a:solidFill>
                            <a:srgbClr val="666600"/>
                          </a:solidFill>
                        </a:rPr>
                        <a:t>(</a:t>
                      </a:r>
                      <a:r>
                        <a:rPr lang="en-IN" sz="1400" u="none" cap="none" strike="noStrike"/>
                        <a:t>v</a:t>
                      </a:r>
                      <a:r>
                        <a:rPr lang="en-IN" sz="1400" u="none" cap="none" strike="noStrike">
                          <a:solidFill>
                            <a:srgbClr val="666600"/>
                          </a:solidFill>
                        </a:rPr>
                        <a:t>!=</a:t>
                      </a:r>
                      <a:r>
                        <a:rPr lang="en-IN" sz="1400" u="none" cap="none" strike="noStrike"/>
                        <a:t>t</a:t>
                      </a:r>
                      <a:r>
                        <a:rPr lang="en-IN" sz="1400" u="none" cap="none" strike="noStrike">
                          <a:solidFill>
                            <a:srgbClr val="666600"/>
                          </a:solidFill>
                        </a:rPr>
                        <a:t>)</a:t>
                      </a:r>
                      <a:r>
                        <a:rPr lang="en-IN" sz="1400" u="none" cap="none" strike="noStrike">
                          <a:solidFill>
                            <a:srgbClr val="000000"/>
                          </a:solidFill>
                        </a:rPr>
                        <a:t>it produces the following result −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400" u="none" cap="none" strike="noStrike"/>
                        <a:t>[1] TRUE TRUE TRUE FALSE</a:t>
                      </a:r>
                      <a:endParaRPr/>
                    </a:p>
                  </a:txBody>
                  <a:tcPr marT="24700" marB="24700" marR="32950" marL="32950">
                    <a:lnL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27"/>
          <p:cNvSpPr txBox="1"/>
          <p:nvPr>
            <p:ph type="title"/>
          </p:nvPr>
        </p:nvSpPr>
        <p:spPr>
          <a:xfrm>
            <a:off x="870858" y="659039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5400"/>
              <a:buFont typeface="Marcellus"/>
              <a:buNone/>
            </a:pPr>
            <a:r>
              <a:rPr lang="en-IN"/>
              <a:t>Logical Operators</a:t>
            </a:r>
            <a:endParaRPr/>
          </a:p>
        </p:txBody>
      </p:sp>
      <p:graphicFrame>
        <p:nvGraphicFramePr>
          <p:cNvPr id="248" name="Google Shape;248;p27"/>
          <p:cNvGraphicFramePr/>
          <p:nvPr/>
        </p:nvGraphicFramePr>
        <p:xfrm>
          <a:off x="1103446" y="150655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{5B9686C9-2DAC-4542-8D34-4B4182193A1A}</a:tableStyleId>
              </a:tblPr>
              <a:tblGrid>
                <a:gridCol w="1117650"/>
                <a:gridCol w="5171850"/>
                <a:gridCol w="4175675"/>
              </a:tblGrid>
              <a:tr h="1629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600" u="none" cap="none" strike="noStrike"/>
                        <a:t>Operator</a:t>
                      </a:r>
                      <a:endParaRPr/>
                    </a:p>
                  </a:txBody>
                  <a:tcPr marT="29075" marB="29075" marR="38775" marL="38775">
                    <a:lnL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600" u="none" cap="none" strike="noStrike"/>
                        <a:t>Description</a:t>
                      </a:r>
                      <a:endParaRPr/>
                    </a:p>
                  </a:txBody>
                  <a:tcPr marT="29075" marB="29075" marR="38775" marL="38775">
                    <a:lnL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600" u="none" cap="none" strike="noStrike"/>
                        <a:t>Example</a:t>
                      </a:r>
                      <a:endParaRPr/>
                    </a:p>
                  </a:txBody>
                  <a:tcPr marT="29075" marB="29075" marR="38775" marL="38775">
                    <a:lnL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EEEEE"/>
                    </a:solidFill>
                  </a:tcPr>
                </a:tc>
              </a:tr>
              <a:tr h="17336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600" u="none" cap="none" strike="noStrike"/>
                        <a:t>&amp;</a:t>
                      </a:r>
                      <a:endParaRPr/>
                    </a:p>
                  </a:txBody>
                  <a:tcPr marT="29075" marB="29075" marR="38775" marL="38775">
                    <a:lnL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600" u="none" cap="none" strike="noStrike"/>
                        <a:t>It is called Element-wise Logical AND operator. It combines each element of the first vector with the corresponding element of the second vector and gives a output TRUE if both the elements are TRUE.</a:t>
                      </a:r>
                      <a:endParaRPr/>
                    </a:p>
                  </a:txBody>
                  <a:tcPr marT="29075" marB="29075" marR="38775" marL="38775" anchor="ctr">
                    <a:lnL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600" u="none" cap="none" strike="noStrike"/>
                        <a:t>v </a:t>
                      </a:r>
                      <a:r>
                        <a:rPr lang="en-IN" sz="1600" u="none" cap="none" strike="noStrike">
                          <a:solidFill>
                            <a:srgbClr val="666600"/>
                          </a:solidFill>
                        </a:rPr>
                        <a:t>&lt;-</a:t>
                      </a:r>
                      <a:r>
                        <a:rPr lang="en-IN" sz="1600" u="none" cap="none" strike="noStrike"/>
                        <a:t> c</a:t>
                      </a:r>
                      <a:r>
                        <a:rPr lang="en-IN" sz="1600" u="none" cap="none" strike="noStrike">
                          <a:solidFill>
                            <a:srgbClr val="666600"/>
                          </a:solidFill>
                        </a:rPr>
                        <a:t>(</a:t>
                      </a:r>
                      <a:r>
                        <a:rPr lang="en-IN" sz="1600" u="none" cap="none" strike="noStrike">
                          <a:solidFill>
                            <a:srgbClr val="006666"/>
                          </a:solidFill>
                        </a:rPr>
                        <a:t>3</a:t>
                      </a:r>
                      <a:r>
                        <a:rPr lang="en-IN" sz="1600" u="none" cap="none" strike="noStrike">
                          <a:solidFill>
                            <a:srgbClr val="666600"/>
                          </a:solidFill>
                        </a:rPr>
                        <a:t>,</a:t>
                      </a:r>
                      <a:r>
                        <a:rPr lang="en-IN" sz="1600" u="none" cap="none" strike="noStrike">
                          <a:solidFill>
                            <a:srgbClr val="006666"/>
                          </a:solidFill>
                        </a:rPr>
                        <a:t>1</a:t>
                      </a:r>
                      <a:r>
                        <a:rPr lang="en-IN" sz="1600" u="none" cap="none" strike="noStrike">
                          <a:solidFill>
                            <a:srgbClr val="666600"/>
                          </a:solidFill>
                        </a:rPr>
                        <a:t>,</a:t>
                      </a:r>
                      <a:r>
                        <a:rPr lang="en-IN" sz="1600" u="none" cap="none" strike="noStrike"/>
                        <a:t>TRUE</a:t>
                      </a:r>
                      <a:r>
                        <a:rPr lang="en-IN" sz="1600" u="none" cap="none" strike="noStrike">
                          <a:solidFill>
                            <a:srgbClr val="666600"/>
                          </a:solidFill>
                        </a:rPr>
                        <a:t>,</a:t>
                      </a:r>
                      <a:r>
                        <a:rPr lang="en-IN" sz="1600" u="none" cap="none" strike="noStrike">
                          <a:solidFill>
                            <a:srgbClr val="006666"/>
                          </a:solidFill>
                        </a:rPr>
                        <a:t>2</a:t>
                      </a:r>
                      <a:r>
                        <a:rPr lang="en-IN" sz="1600" u="none" cap="none" strike="noStrike">
                          <a:solidFill>
                            <a:srgbClr val="666600"/>
                          </a:solidFill>
                        </a:rPr>
                        <a:t>+</a:t>
                      </a:r>
                      <a:r>
                        <a:rPr lang="en-IN" sz="1600" u="none" cap="none" strike="noStrike">
                          <a:solidFill>
                            <a:srgbClr val="006666"/>
                          </a:solidFill>
                        </a:rPr>
                        <a:t>3i</a:t>
                      </a:r>
                      <a:r>
                        <a:rPr lang="en-IN" sz="1600" u="none" cap="none" strike="noStrike">
                          <a:solidFill>
                            <a:srgbClr val="666600"/>
                          </a:solidFill>
                        </a:rPr>
                        <a:t>)</a:t>
                      </a:r>
                      <a:r>
                        <a:rPr lang="en-IN" sz="1600" u="none" cap="none" strike="noStrike"/>
                        <a:t> </a:t>
                      </a:r>
                      <a:endParaRPr sz="1600" u="none" cap="none" strike="noStrike"/>
                    </a:p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600" u="none" cap="none" strike="noStrike"/>
                        <a:t>t </a:t>
                      </a:r>
                      <a:r>
                        <a:rPr lang="en-IN" sz="1600" u="none" cap="none" strike="noStrike">
                          <a:solidFill>
                            <a:srgbClr val="666600"/>
                          </a:solidFill>
                        </a:rPr>
                        <a:t>&lt;-</a:t>
                      </a:r>
                      <a:r>
                        <a:rPr lang="en-IN" sz="1600" u="none" cap="none" strike="noStrike"/>
                        <a:t> c</a:t>
                      </a:r>
                      <a:r>
                        <a:rPr lang="en-IN" sz="1600" u="none" cap="none" strike="noStrike">
                          <a:solidFill>
                            <a:srgbClr val="666600"/>
                          </a:solidFill>
                        </a:rPr>
                        <a:t>(</a:t>
                      </a:r>
                      <a:r>
                        <a:rPr lang="en-IN" sz="1600" u="none" cap="none" strike="noStrike">
                          <a:solidFill>
                            <a:srgbClr val="006666"/>
                          </a:solidFill>
                        </a:rPr>
                        <a:t>4</a:t>
                      </a:r>
                      <a:r>
                        <a:rPr lang="en-IN" sz="1600" u="none" cap="none" strike="noStrike">
                          <a:solidFill>
                            <a:srgbClr val="666600"/>
                          </a:solidFill>
                        </a:rPr>
                        <a:t>,</a:t>
                      </a:r>
                      <a:r>
                        <a:rPr lang="en-IN" sz="1600" u="none" cap="none" strike="noStrike">
                          <a:solidFill>
                            <a:srgbClr val="006666"/>
                          </a:solidFill>
                        </a:rPr>
                        <a:t>1</a:t>
                      </a:r>
                      <a:r>
                        <a:rPr lang="en-IN" sz="1600" u="none" cap="none" strike="noStrike">
                          <a:solidFill>
                            <a:srgbClr val="666600"/>
                          </a:solidFill>
                        </a:rPr>
                        <a:t>,</a:t>
                      </a:r>
                      <a:r>
                        <a:rPr lang="en-IN" sz="1600" u="none" cap="none" strike="noStrike"/>
                        <a:t>FALSE</a:t>
                      </a:r>
                      <a:r>
                        <a:rPr lang="en-IN" sz="1600" u="none" cap="none" strike="noStrike">
                          <a:solidFill>
                            <a:srgbClr val="666600"/>
                          </a:solidFill>
                        </a:rPr>
                        <a:t>,</a:t>
                      </a:r>
                      <a:r>
                        <a:rPr lang="en-IN" sz="1600" u="none" cap="none" strike="noStrike">
                          <a:solidFill>
                            <a:srgbClr val="006666"/>
                          </a:solidFill>
                        </a:rPr>
                        <a:t>2</a:t>
                      </a:r>
                      <a:r>
                        <a:rPr lang="en-IN" sz="1600" u="none" cap="none" strike="noStrike">
                          <a:solidFill>
                            <a:srgbClr val="666600"/>
                          </a:solidFill>
                        </a:rPr>
                        <a:t>+</a:t>
                      </a:r>
                      <a:r>
                        <a:rPr lang="en-IN" sz="1600" u="none" cap="none" strike="noStrike">
                          <a:solidFill>
                            <a:srgbClr val="006666"/>
                          </a:solidFill>
                        </a:rPr>
                        <a:t>3i</a:t>
                      </a:r>
                      <a:r>
                        <a:rPr lang="en-IN" sz="1600" u="none" cap="none" strike="noStrike">
                          <a:solidFill>
                            <a:srgbClr val="666600"/>
                          </a:solidFill>
                        </a:rPr>
                        <a:t>)</a:t>
                      </a:r>
                      <a:r>
                        <a:rPr lang="en-IN" sz="1600" u="none" cap="none" strike="noStrike"/>
                        <a:t> </a:t>
                      </a:r>
                      <a:endParaRPr sz="1600" u="none" cap="none" strike="noStrike"/>
                    </a:p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600" u="none" cap="none" strike="noStrike">
                          <a:solidFill>
                            <a:srgbClr val="000088"/>
                          </a:solidFill>
                        </a:rPr>
                        <a:t>print</a:t>
                      </a:r>
                      <a:r>
                        <a:rPr lang="en-IN" sz="1600" u="none" cap="none" strike="noStrike">
                          <a:solidFill>
                            <a:srgbClr val="666600"/>
                          </a:solidFill>
                        </a:rPr>
                        <a:t>(</a:t>
                      </a:r>
                      <a:r>
                        <a:rPr lang="en-IN" sz="1600" u="none" cap="none" strike="noStrike"/>
                        <a:t>v</a:t>
                      </a:r>
                      <a:r>
                        <a:rPr lang="en-IN" sz="1600" u="none" cap="none" strike="noStrike">
                          <a:solidFill>
                            <a:srgbClr val="666600"/>
                          </a:solidFill>
                        </a:rPr>
                        <a:t>&amp;</a:t>
                      </a:r>
                      <a:r>
                        <a:rPr lang="en-IN" sz="1600" u="none" cap="none" strike="noStrike"/>
                        <a:t>t</a:t>
                      </a:r>
                      <a:r>
                        <a:rPr lang="en-IN" sz="1600" u="none" cap="none" strike="noStrike">
                          <a:solidFill>
                            <a:srgbClr val="666600"/>
                          </a:solidFill>
                        </a:rPr>
                        <a:t>)</a:t>
                      </a:r>
                      <a:endParaRPr/>
                    </a:p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600" u="none" cap="none" strike="noStrike">
                          <a:solidFill>
                            <a:srgbClr val="000000"/>
                          </a:solidFill>
                        </a:rPr>
                        <a:t>it produces the following result −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600" u="none" cap="none" strike="noStrike"/>
                        <a:t>[1] TRUE TRUE FALSE TRUE </a:t>
                      </a:r>
                      <a:endParaRPr/>
                    </a:p>
                  </a:txBody>
                  <a:tcPr marT="29075" marB="29075" marR="38775" marL="38775">
                    <a:lnL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7336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600" u="none" cap="none" strike="noStrike"/>
                        <a:t>|</a:t>
                      </a:r>
                      <a:endParaRPr/>
                    </a:p>
                  </a:txBody>
                  <a:tcPr marT="29075" marB="29075" marR="38775" marL="38775">
                    <a:lnL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600" u="none" cap="none" strike="noStrike"/>
                        <a:t>It is called Element-wise Logical OR operator. It combines each element of the first vector with the corresponding element of the second vector and gives a output TRUE if one the elements is TRUE.</a:t>
                      </a:r>
                      <a:endParaRPr/>
                    </a:p>
                  </a:txBody>
                  <a:tcPr marT="29075" marB="29075" marR="38775" marL="38775" anchor="ctr">
                    <a:lnL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600" u="none" cap="none" strike="noStrike"/>
                        <a:t>v </a:t>
                      </a:r>
                      <a:r>
                        <a:rPr lang="en-IN" sz="1600" u="none" cap="none" strike="noStrike">
                          <a:solidFill>
                            <a:srgbClr val="666600"/>
                          </a:solidFill>
                        </a:rPr>
                        <a:t>&lt;-</a:t>
                      </a:r>
                      <a:r>
                        <a:rPr lang="en-IN" sz="1600" u="none" cap="none" strike="noStrike"/>
                        <a:t> c</a:t>
                      </a:r>
                      <a:r>
                        <a:rPr lang="en-IN" sz="1600" u="none" cap="none" strike="noStrike">
                          <a:solidFill>
                            <a:srgbClr val="666600"/>
                          </a:solidFill>
                        </a:rPr>
                        <a:t>(</a:t>
                      </a:r>
                      <a:r>
                        <a:rPr lang="en-IN" sz="1600" u="none" cap="none" strike="noStrike">
                          <a:solidFill>
                            <a:srgbClr val="006666"/>
                          </a:solidFill>
                        </a:rPr>
                        <a:t>3</a:t>
                      </a:r>
                      <a:r>
                        <a:rPr lang="en-IN" sz="1600" u="none" cap="none" strike="noStrike">
                          <a:solidFill>
                            <a:srgbClr val="666600"/>
                          </a:solidFill>
                        </a:rPr>
                        <a:t>,</a:t>
                      </a:r>
                      <a:r>
                        <a:rPr lang="en-IN" sz="1600" u="none" cap="none" strike="noStrike">
                          <a:solidFill>
                            <a:srgbClr val="006666"/>
                          </a:solidFill>
                        </a:rPr>
                        <a:t>0</a:t>
                      </a:r>
                      <a:r>
                        <a:rPr lang="en-IN" sz="1600" u="none" cap="none" strike="noStrike">
                          <a:solidFill>
                            <a:srgbClr val="666600"/>
                          </a:solidFill>
                        </a:rPr>
                        <a:t>,</a:t>
                      </a:r>
                      <a:r>
                        <a:rPr lang="en-IN" sz="1600" u="none" cap="none" strike="noStrike"/>
                        <a:t>TRUE</a:t>
                      </a:r>
                      <a:r>
                        <a:rPr lang="en-IN" sz="1600" u="none" cap="none" strike="noStrike">
                          <a:solidFill>
                            <a:srgbClr val="666600"/>
                          </a:solidFill>
                        </a:rPr>
                        <a:t>,</a:t>
                      </a:r>
                      <a:r>
                        <a:rPr lang="en-IN" sz="1600" u="none" cap="none" strike="noStrike">
                          <a:solidFill>
                            <a:srgbClr val="006666"/>
                          </a:solidFill>
                        </a:rPr>
                        <a:t>2</a:t>
                      </a:r>
                      <a:r>
                        <a:rPr lang="en-IN" sz="1600" u="none" cap="none" strike="noStrike">
                          <a:solidFill>
                            <a:srgbClr val="666600"/>
                          </a:solidFill>
                        </a:rPr>
                        <a:t>+</a:t>
                      </a:r>
                      <a:r>
                        <a:rPr lang="en-IN" sz="1600" u="none" cap="none" strike="noStrike">
                          <a:solidFill>
                            <a:srgbClr val="006666"/>
                          </a:solidFill>
                        </a:rPr>
                        <a:t>2i</a:t>
                      </a:r>
                      <a:r>
                        <a:rPr lang="en-IN" sz="1600" u="none" cap="none" strike="noStrike">
                          <a:solidFill>
                            <a:srgbClr val="666600"/>
                          </a:solidFill>
                        </a:rPr>
                        <a:t>)</a:t>
                      </a:r>
                      <a:r>
                        <a:rPr lang="en-IN" sz="1600" u="none" cap="none" strike="noStrike"/>
                        <a:t> </a:t>
                      </a:r>
                      <a:endParaRPr sz="1600" u="none" cap="none" strike="noStrike"/>
                    </a:p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600" u="none" cap="none" strike="noStrike"/>
                        <a:t>t </a:t>
                      </a:r>
                      <a:r>
                        <a:rPr lang="en-IN" sz="1600" u="none" cap="none" strike="noStrike">
                          <a:solidFill>
                            <a:srgbClr val="666600"/>
                          </a:solidFill>
                        </a:rPr>
                        <a:t>&lt;-</a:t>
                      </a:r>
                      <a:r>
                        <a:rPr lang="en-IN" sz="1600" u="none" cap="none" strike="noStrike"/>
                        <a:t> c</a:t>
                      </a:r>
                      <a:r>
                        <a:rPr lang="en-IN" sz="1600" u="none" cap="none" strike="noStrike">
                          <a:solidFill>
                            <a:srgbClr val="666600"/>
                          </a:solidFill>
                        </a:rPr>
                        <a:t>(</a:t>
                      </a:r>
                      <a:r>
                        <a:rPr lang="en-IN" sz="1600" u="none" cap="none" strike="noStrike">
                          <a:solidFill>
                            <a:srgbClr val="006666"/>
                          </a:solidFill>
                        </a:rPr>
                        <a:t>4</a:t>
                      </a:r>
                      <a:r>
                        <a:rPr lang="en-IN" sz="1600" u="none" cap="none" strike="noStrike">
                          <a:solidFill>
                            <a:srgbClr val="666600"/>
                          </a:solidFill>
                        </a:rPr>
                        <a:t>,</a:t>
                      </a:r>
                      <a:r>
                        <a:rPr lang="en-IN" sz="1600" u="none" cap="none" strike="noStrike">
                          <a:solidFill>
                            <a:srgbClr val="006666"/>
                          </a:solidFill>
                        </a:rPr>
                        <a:t>0</a:t>
                      </a:r>
                      <a:r>
                        <a:rPr lang="en-IN" sz="1600" u="none" cap="none" strike="noStrike">
                          <a:solidFill>
                            <a:srgbClr val="666600"/>
                          </a:solidFill>
                        </a:rPr>
                        <a:t>,</a:t>
                      </a:r>
                      <a:r>
                        <a:rPr lang="en-IN" sz="1600" u="none" cap="none" strike="noStrike"/>
                        <a:t>FALSE</a:t>
                      </a:r>
                      <a:r>
                        <a:rPr lang="en-IN" sz="1600" u="none" cap="none" strike="noStrike">
                          <a:solidFill>
                            <a:srgbClr val="666600"/>
                          </a:solidFill>
                        </a:rPr>
                        <a:t>,</a:t>
                      </a:r>
                      <a:r>
                        <a:rPr lang="en-IN" sz="1600" u="none" cap="none" strike="noStrike">
                          <a:solidFill>
                            <a:srgbClr val="006666"/>
                          </a:solidFill>
                        </a:rPr>
                        <a:t>2</a:t>
                      </a:r>
                      <a:r>
                        <a:rPr lang="en-IN" sz="1600" u="none" cap="none" strike="noStrike">
                          <a:solidFill>
                            <a:srgbClr val="666600"/>
                          </a:solidFill>
                        </a:rPr>
                        <a:t>+</a:t>
                      </a:r>
                      <a:r>
                        <a:rPr lang="en-IN" sz="1600" u="none" cap="none" strike="noStrike">
                          <a:solidFill>
                            <a:srgbClr val="006666"/>
                          </a:solidFill>
                        </a:rPr>
                        <a:t>3i</a:t>
                      </a:r>
                      <a:r>
                        <a:rPr lang="en-IN" sz="1600" u="none" cap="none" strike="noStrike">
                          <a:solidFill>
                            <a:srgbClr val="666600"/>
                          </a:solidFill>
                        </a:rPr>
                        <a:t>)</a:t>
                      </a:r>
                      <a:r>
                        <a:rPr lang="en-IN" sz="1600" u="none" cap="none" strike="noStrike"/>
                        <a:t> </a:t>
                      </a:r>
                      <a:r>
                        <a:rPr lang="en-IN" sz="1600" u="none" cap="none" strike="noStrike">
                          <a:solidFill>
                            <a:srgbClr val="000088"/>
                          </a:solidFill>
                        </a:rPr>
                        <a:t>print</a:t>
                      </a:r>
                      <a:r>
                        <a:rPr lang="en-IN" sz="1600" u="none" cap="none" strike="noStrike">
                          <a:solidFill>
                            <a:srgbClr val="666600"/>
                          </a:solidFill>
                        </a:rPr>
                        <a:t>(</a:t>
                      </a:r>
                      <a:r>
                        <a:rPr lang="en-IN" sz="1600" u="none" cap="none" strike="noStrike"/>
                        <a:t>v</a:t>
                      </a:r>
                      <a:r>
                        <a:rPr lang="en-IN" sz="1600" u="none" cap="none" strike="noStrike">
                          <a:solidFill>
                            <a:srgbClr val="666600"/>
                          </a:solidFill>
                        </a:rPr>
                        <a:t>|</a:t>
                      </a:r>
                      <a:r>
                        <a:rPr lang="en-IN" sz="1600" u="none" cap="none" strike="noStrike"/>
                        <a:t>t</a:t>
                      </a:r>
                      <a:r>
                        <a:rPr lang="en-IN" sz="1600" u="none" cap="none" strike="noStrike">
                          <a:solidFill>
                            <a:srgbClr val="666600"/>
                          </a:solidFill>
                        </a:rPr>
                        <a:t>)</a:t>
                      </a:r>
                      <a:endParaRPr/>
                    </a:p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600" u="none" cap="none" strike="noStrike">
                          <a:solidFill>
                            <a:srgbClr val="000000"/>
                          </a:solidFill>
                        </a:rPr>
                        <a:t>it produces the following result −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600" u="none" cap="none" strike="noStrike"/>
                        <a:t>[1] TRUE FALSE TRUE TRUE </a:t>
                      </a:r>
                      <a:endParaRPr/>
                    </a:p>
                  </a:txBody>
                  <a:tcPr marT="29075" marB="29075" marR="38775" marL="38775">
                    <a:lnL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8958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600" u="none" cap="none" strike="noStrike"/>
                        <a:t>!</a:t>
                      </a:r>
                      <a:endParaRPr/>
                    </a:p>
                  </a:txBody>
                  <a:tcPr marT="29075" marB="29075" marR="38775" marL="38775">
                    <a:lnL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600" u="none" cap="none" strike="noStrike"/>
                        <a:t>It is called Logical NOT operator. Takes each element of the vector and gives the opposite logical value.</a:t>
                      </a:r>
                      <a:endParaRPr/>
                    </a:p>
                  </a:txBody>
                  <a:tcPr marT="29075" marB="29075" marR="38775" marL="38775" anchor="ctr">
                    <a:lnL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600" u="none" cap="none" strike="noStrike"/>
                        <a:t>v </a:t>
                      </a:r>
                      <a:r>
                        <a:rPr lang="en-IN" sz="1600" u="none" cap="none" strike="noStrike">
                          <a:solidFill>
                            <a:srgbClr val="666600"/>
                          </a:solidFill>
                        </a:rPr>
                        <a:t>&lt;-</a:t>
                      </a:r>
                      <a:r>
                        <a:rPr lang="en-IN" sz="1600" u="none" cap="none" strike="noStrike"/>
                        <a:t> c</a:t>
                      </a:r>
                      <a:r>
                        <a:rPr lang="en-IN" sz="1600" u="none" cap="none" strike="noStrike">
                          <a:solidFill>
                            <a:srgbClr val="666600"/>
                          </a:solidFill>
                        </a:rPr>
                        <a:t>(</a:t>
                      </a:r>
                      <a:r>
                        <a:rPr lang="en-IN" sz="1600" u="none" cap="none" strike="noStrike">
                          <a:solidFill>
                            <a:srgbClr val="006666"/>
                          </a:solidFill>
                        </a:rPr>
                        <a:t>3</a:t>
                      </a:r>
                      <a:r>
                        <a:rPr lang="en-IN" sz="1600" u="none" cap="none" strike="noStrike">
                          <a:solidFill>
                            <a:srgbClr val="666600"/>
                          </a:solidFill>
                        </a:rPr>
                        <a:t>,</a:t>
                      </a:r>
                      <a:r>
                        <a:rPr lang="en-IN" sz="1600" u="none" cap="none" strike="noStrike">
                          <a:solidFill>
                            <a:srgbClr val="006666"/>
                          </a:solidFill>
                        </a:rPr>
                        <a:t>0</a:t>
                      </a:r>
                      <a:r>
                        <a:rPr lang="en-IN" sz="1600" u="none" cap="none" strike="noStrike">
                          <a:solidFill>
                            <a:srgbClr val="666600"/>
                          </a:solidFill>
                        </a:rPr>
                        <a:t>,</a:t>
                      </a:r>
                      <a:r>
                        <a:rPr lang="en-IN" sz="1600" u="none" cap="none" strike="noStrike"/>
                        <a:t>TRUE</a:t>
                      </a:r>
                      <a:r>
                        <a:rPr lang="en-IN" sz="1600" u="none" cap="none" strike="noStrike">
                          <a:solidFill>
                            <a:srgbClr val="666600"/>
                          </a:solidFill>
                        </a:rPr>
                        <a:t>,</a:t>
                      </a:r>
                      <a:r>
                        <a:rPr lang="en-IN" sz="1600" u="none" cap="none" strike="noStrike">
                          <a:solidFill>
                            <a:srgbClr val="006666"/>
                          </a:solidFill>
                        </a:rPr>
                        <a:t>2</a:t>
                      </a:r>
                      <a:r>
                        <a:rPr lang="en-IN" sz="1600" u="none" cap="none" strike="noStrike">
                          <a:solidFill>
                            <a:srgbClr val="666600"/>
                          </a:solidFill>
                        </a:rPr>
                        <a:t>+</a:t>
                      </a:r>
                      <a:r>
                        <a:rPr lang="en-IN" sz="1600" u="none" cap="none" strike="noStrike">
                          <a:solidFill>
                            <a:srgbClr val="006666"/>
                          </a:solidFill>
                        </a:rPr>
                        <a:t>2i</a:t>
                      </a:r>
                      <a:r>
                        <a:rPr lang="en-IN" sz="1600" u="none" cap="none" strike="noStrike">
                          <a:solidFill>
                            <a:srgbClr val="666600"/>
                          </a:solidFill>
                        </a:rPr>
                        <a:t>)</a:t>
                      </a:r>
                      <a:r>
                        <a:rPr lang="en-IN" sz="1600" u="none" cap="none" strike="noStrike"/>
                        <a:t> </a:t>
                      </a:r>
                      <a:r>
                        <a:rPr lang="en-IN" sz="1600" u="none" cap="none" strike="noStrike">
                          <a:solidFill>
                            <a:srgbClr val="000088"/>
                          </a:solidFill>
                        </a:rPr>
                        <a:t>print</a:t>
                      </a:r>
                      <a:r>
                        <a:rPr lang="en-IN" sz="1600" u="none" cap="none" strike="noStrike">
                          <a:solidFill>
                            <a:srgbClr val="666600"/>
                          </a:solidFill>
                        </a:rPr>
                        <a:t>(!</a:t>
                      </a:r>
                      <a:r>
                        <a:rPr lang="en-IN" sz="1600" u="none" cap="none" strike="noStrike"/>
                        <a:t>v</a:t>
                      </a:r>
                      <a:r>
                        <a:rPr lang="en-IN" sz="1600" u="none" cap="none" strike="noStrike">
                          <a:solidFill>
                            <a:srgbClr val="666600"/>
                          </a:solidFill>
                        </a:rPr>
                        <a:t>)</a:t>
                      </a:r>
                      <a:endParaRPr/>
                    </a:p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600" u="none" cap="none" strike="noStrike">
                          <a:solidFill>
                            <a:srgbClr val="000000"/>
                          </a:solidFill>
                        </a:rPr>
                        <a:t>it produces the following result −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600" u="none" cap="none" strike="noStrike"/>
                        <a:t>[1] FALSE TRUE FALSE FALSE</a:t>
                      </a:r>
                      <a:endParaRPr sz="1600" u="none" cap="none" strike="noStrike"/>
                    </a:p>
                  </a:txBody>
                  <a:tcPr marT="29075" marB="29075" marR="38775" marL="38775">
                    <a:lnL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28"/>
          <p:cNvSpPr txBox="1"/>
          <p:nvPr>
            <p:ph type="title"/>
          </p:nvPr>
        </p:nvSpPr>
        <p:spPr>
          <a:xfrm>
            <a:off x="870858" y="659039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5400"/>
              <a:buFont typeface="Marcellus"/>
              <a:buNone/>
            </a:pPr>
            <a:r>
              <a:t/>
            </a:r>
            <a:endParaRPr/>
          </a:p>
        </p:txBody>
      </p:sp>
      <p:graphicFrame>
        <p:nvGraphicFramePr>
          <p:cNvPr id="254" name="Google Shape;254;p28"/>
          <p:cNvGraphicFramePr/>
          <p:nvPr/>
        </p:nvGraphicFramePr>
        <p:xfrm>
          <a:off x="1199457" y="16002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{5B9686C9-2DAC-4542-8D34-4B4182193A1A}</a:tableStyleId>
              </a:tblPr>
              <a:tblGrid>
                <a:gridCol w="3029350"/>
                <a:gridCol w="3029350"/>
                <a:gridCol w="4022425"/>
              </a:tblGrid>
              <a:tr h="3406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600" u="none" cap="none" strike="noStrike"/>
                        <a:t>Operator</a:t>
                      </a:r>
                      <a:endParaRPr/>
                    </a:p>
                  </a:txBody>
                  <a:tcPr marT="60825" marB="60825" marR="81100" marL="81100">
                    <a:lnL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600" u="none" cap="none" strike="noStrike"/>
                        <a:t>Description</a:t>
                      </a:r>
                      <a:endParaRPr/>
                    </a:p>
                  </a:txBody>
                  <a:tcPr marT="60825" marB="60825" marR="81100" marL="81100">
                    <a:lnL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600" u="none" cap="none" strike="noStrike"/>
                        <a:t>Example</a:t>
                      </a:r>
                      <a:endParaRPr/>
                    </a:p>
                  </a:txBody>
                  <a:tcPr marT="60825" marB="60825" marR="81100" marL="81100">
                    <a:lnL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EEEEE"/>
                    </a:solidFill>
                  </a:tcPr>
                </a:tc>
              </a:tr>
              <a:tr h="20926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600" u="none" cap="none" strike="noStrike"/>
                        <a:t>&amp;&amp;</a:t>
                      </a:r>
                      <a:endParaRPr/>
                    </a:p>
                  </a:txBody>
                  <a:tcPr marT="60825" marB="60825" marR="81100" marL="81100">
                    <a:lnL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600" u="none" cap="none" strike="noStrike"/>
                        <a:t>Called Logical AND operator. Takes first element of both the vectors and gives the TRUE only if both are TRUE.</a:t>
                      </a:r>
                      <a:endParaRPr/>
                    </a:p>
                  </a:txBody>
                  <a:tcPr marT="60825" marB="60825" marR="81100" marL="81100" anchor="ctr">
                    <a:lnL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600" u="none" cap="none" strike="noStrike"/>
                        <a:t>v </a:t>
                      </a:r>
                      <a:r>
                        <a:rPr lang="en-IN" sz="1600" u="none" cap="none" strike="noStrike">
                          <a:solidFill>
                            <a:srgbClr val="666600"/>
                          </a:solidFill>
                        </a:rPr>
                        <a:t>&lt;-</a:t>
                      </a:r>
                      <a:r>
                        <a:rPr lang="en-IN" sz="1600" u="none" cap="none" strike="noStrike"/>
                        <a:t> c</a:t>
                      </a:r>
                      <a:r>
                        <a:rPr lang="en-IN" sz="1600" u="none" cap="none" strike="noStrike">
                          <a:solidFill>
                            <a:srgbClr val="666600"/>
                          </a:solidFill>
                        </a:rPr>
                        <a:t>(</a:t>
                      </a:r>
                      <a:r>
                        <a:rPr lang="en-IN" sz="1600" u="none" cap="none" strike="noStrike">
                          <a:solidFill>
                            <a:srgbClr val="006666"/>
                          </a:solidFill>
                        </a:rPr>
                        <a:t>3</a:t>
                      </a:r>
                      <a:r>
                        <a:rPr lang="en-IN" sz="1600" u="none" cap="none" strike="noStrike">
                          <a:solidFill>
                            <a:srgbClr val="666600"/>
                          </a:solidFill>
                        </a:rPr>
                        <a:t>,</a:t>
                      </a:r>
                      <a:r>
                        <a:rPr lang="en-IN" sz="1600" u="none" cap="none" strike="noStrike">
                          <a:solidFill>
                            <a:srgbClr val="006666"/>
                          </a:solidFill>
                        </a:rPr>
                        <a:t>0</a:t>
                      </a:r>
                      <a:r>
                        <a:rPr lang="en-IN" sz="1600" u="none" cap="none" strike="noStrike">
                          <a:solidFill>
                            <a:srgbClr val="666600"/>
                          </a:solidFill>
                        </a:rPr>
                        <a:t>,</a:t>
                      </a:r>
                      <a:r>
                        <a:rPr lang="en-IN" sz="1600" u="none" cap="none" strike="noStrike"/>
                        <a:t>TRUE</a:t>
                      </a:r>
                      <a:r>
                        <a:rPr lang="en-IN" sz="1600" u="none" cap="none" strike="noStrike">
                          <a:solidFill>
                            <a:srgbClr val="666600"/>
                          </a:solidFill>
                        </a:rPr>
                        <a:t>,</a:t>
                      </a:r>
                      <a:r>
                        <a:rPr lang="en-IN" sz="1600" u="none" cap="none" strike="noStrike">
                          <a:solidFill>
                            <a:srgbClr val="006666"/>
                          </a:solidFill>
                        </a:rPr>
                        <a:t>2</a:t>
                      </a:r>
                      <a:r>
                        <a:rPr lang="en-IN" sz="1600" u="none" cap="none" strike="noStrike">
                          <a:solidFill>
                            <a:srgbClr val="666600"/>
                          </a:solidFill>
                        </a:rPr>
                        <a:t>+</a:t>
                      </a:r>
                      <a:r>
                        <a:rPr lang="en-IN" sz="1600" u="none" cap="none" strike="noStrike">
                          <a:solidFill>
                            <a:srgbClr val="006666"/>
                          </a:solidFill>
                        </a:rPr>
                        <a:t>2i</a:t>
                      </a:r>
                      <a:r>
                        <a:rPr lang="en-IN" sz="1600" u="none" cap="none" strike="noStrike">
                          <a:solidFill>
                            <a:srgbClr val="666600"/>
                          </a:solidFill>
                        </a:rPr>
                        <a:t>)</a:t>
                      </a:r>
                      <a:r>
                        <a:rPr lang="en-IN" sz="1600" u="none" cap="none" strike="noStrike"/>
                        <a:t> t </a:t>
                      </a:r>
                      <a:r>
                        <a:rPr lang="en-IN" sz="1600" u="none" cap="none" strike="noStrike">
                          <a:solidFill>
                            <a:srgbClr val="666600"/>
                          </a:solidFill>
                        </a:rPr>
                        <a:t>&lt;-</a:t>
                      </a:r>
                      <a:r>
                        <a:rPr lang="en-IN" sz="1600" u="none" cap="none" strike="noStrike"/>
                        <a:t> c</a:t>
                      </a:r>
                      <a:r>
                        <a:rPr lang="en-IN" sz="1600" u="none" cap="none" strike="noStrike">
                          <a:solidFill>
                            <a:srgbClr val="666600"/>
                          </a:solidFill>
                        </a:rPr>
                        <a:t>(</a:t>
                      </a:r>
                      <a:r>
                        <a:rPr lang="en-IN" sz="1600" u="none" cap="none" strike="noStrike">
                          <a:solidFill>
                            <a:srgbClr val="006666"/>
                          </a:solidFill>
                        </a:rPr>
                        <a:t>1</a:t>
                      </a:r>
                      <a:r>
                        <a:rPr lang="en-IN" sz="1600" u="none" cap="none" strike="noStrike">
                          <a:solidFill>
                            <a:srgbClr val="666600"/>
                          </a:solidFill>
                        </a:rPr>
                        <a:t>,</a:t>
                      </a:r>
                      <a:r>
                        <a:rPr lang="en-IN" sz="1600" u="none" cap="none" strike="noStrike">
                          <a:solidFill>
                            <a:srgbClr val="006666"/>
                          </a:solidFill>
                        </a:rPr>
                        <a:t>3</a:t>
                      </a:r>
                      <a:r>
                        <a:rPr lang="en-IN" sz="1600" u="none" cap="none" strike="noStrike">
                          <a:solidFill>
                            <a:srgbClr val="666600"/>
                          </a:solidFill>
                        </a:rPr>
                        <a:t>,</a:t>
                      </a:r>
                      <a:r>
                        <a:rPr lang="en-IN" sz="1600" u="none" cap="none" strike="noStrike"/>
                        <a:t>TRUE</a:t>
                      </a:r>
                      <a:r>
                        <a:rPr lang="en-IN" sz="1600" u="none" cap="none" strike="noStrike">
                          <a:solidFill>
                            <a:srgbClr val="666600"/>
                          </a:solidFill>
                        </a:rPr>
                        <a:t>,</a:t>
                      </a:r>
                      <a:r>
                        <a:rPr lang="en-IN" sz="1600" u="none" cap="none" strike="noStrike">
                          <a:solidFill>
                            <a:srgbClr val="006666"/>
                          </a:solidFill>
                        </a:rPr>
                        <a:t>2</a:t>
                      </a:r>
                      <a:r>
                        <a:rPr lang="en-IN" sz="1600" u="none" cap="none" strike="noStrike">
                          <a:solidFill>
                            <a:srgbClr val="666600"/>
                          </a:solidFill>
                        </a:rPr>
                        <a:t>+</a:t>
                      </a:r>
                      <a:r>
                        <a:rPr lang="en-IN" sz="1600" u="none" cap="none" strike="noStrike">
                          <a:solidFill>
                            <a:srgbClr val="006666"/>
                          </a:solidFill>
                        </a:rPr>
                        <a:t>3i</a:t>
                      </a:r>
                      <a:r>
                        <a:rPr lang="en-IN" sz="1600" u="none" cap="none" strike="noStrike">
                          <a:solidFill>
                            <a:srgbClr val="666600"/>
                          </a:solidFill>
                        </a:rPr>
                        <a:t>)</a:t>
                      </a:r>
                      <a:r>
                        <a:rPr lang="en-IN" sz="1600" u="none" cap="none" strike="noStrike"/>
                        <a:t> </a:t>
                      </a:r>
                      <a:r>
                        <a:rPr lang="en-IN" sz="1600" u="none" cap="none" strike="noStrike">
                          <a:solidFill>
                            <a:srgbClr val="000088"/>
                          </a:solidFill>
                        </a:rPr>
                        <a:t>print</a:t>
                      </a:r>
                      <a:r>
                        <a:rPr lang="en-IN" sz="1600" u="none" cap="none" strike="noStrike">
                          <a:solidFill>
                            <a:srgbClr val="666600"/>
                          </a:solidFill>
                        </a:rPr>
                        <a:t>(</a:t>
                      </a:r>
                      <a:r>
                        <a:rPr lang="en-IN" sz="1600" u="none" cap="none" strike="noStrike"/>
                        <a:t>v</a:t>
                      </a:r>
                      <a:r>
                        <a:rPr lang="en-IN" sz="1600" u="none" cap="none" strike="noStrike">
                          <a:solidFill>
                            <a:srgbClr val="666600"/>
                          </a:solidFill>
                        </a:rPr>
                        <a:t>&amp;&amp;</a:t>
                      </a:r>
                      <a:r>
                        <a:rPr lang="en-IN" sz="1600" u="none" cap="none" strike="noStrike"/>
                        <a:t>t</a:t>
                      </a:r>
                      <a:r>
                        <a:rPr lang="en-IN" sz="1600" u="none" cap="none" strike="noStrike">
                          <a:solidFill>
                            <a:srgbClr val="666600"/>
                          </a:solidFill>
                        </a:rPr>
                        <a:t>)</a:t>
                      </a:r>
                      <a:r>
                        <a:rPr lang="en-IN" sz="1600" u="none" cap="none" strike="noStrike">
                          <a:solidFill>
                            <a:srgbClr val="000000"/>
                          </a:solidFill>
                        </a:rPr>
                        <a:t>it produces the following result −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600" u="none" cap="none" strike="noStrike"/>
                        <a:t>[1] TRUE </a:t>
                      </a:r>
                      <a:endParaRPr/>
                    </a:p>
                  </a:txBody>
                  <a:tcPr marT="60825" marB="60825" marR="81100" marL="81100">
                    <a:lnL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926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600" u="none" cap="none" strike="noStrike"/>
                        <a:t>||</a:t>
                      </a:r>
                      <a:endParaRPr/>
                    </a:p>
                  </a:txBody>
                  <a:tcPr marT="60825" marB="60825" marR="81100" marL="81100">
                    <a:lnL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600" u="none" cap="none" strike="noStrike"/>
                        <a:t>Called Logical OR operator. Takes first element of both the vectors and gives the TRUE if one of them is TRUE.</a:t>
                      </a:r>
                      <a:endParaRPr/>
                    </a:p>
                  </a:txBody>
                  <a:tcPr marT="60825" marB="60825" marR="81100" marL="81100" anchor="ctr">
                    <a:lnL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600" u="none" cap="none" strike="noStrike"/>
                        <a:t>v </a:t>
                      </a:r>
                      <a:r>
                        <a:rPr lang="en-IN" sz="1600" u="none" cap="none" strike="noStrike">
                          <a:solidFill>
                            <a:srgbClr val="666600"/>
                          </a:solidFill>
                        </a:rPr>
                        <a:t>&lt;-</a:t>
                      </a:r>
                      <a:r>
                        <a:rPr lang="en-IN" sz="1600" u="none" cap="none" strike="noStrike"/>
                        <a:t> c</a:t>
                      </a:r>
                      <a:r>
                        <a:rPr lang="en-IN" sz="1600" u="none" cap="none" strike="noStrike">
                          <a:solidFill>
                            <a:srgbClr val="666600"/>
                          </a:solidFill>
                        </a:rPr>
                        <a:t>(</a:t>
                      </a:r>
                      <a:r>
                        <a:rPr lang="en-IN" sz="1600" u="none" cap="none" strike="noStrike">
                          <a:solidFill>
                            <a:srgbClr val="006666"/>
                          </a:solidFill>
                        </a:rPr>
                        <a:t>0</a:t>
                      </a:r>
                      <a:r>
                        <a:rPr lang="en-IN" sz="1600" u="none" cap="none" strike="noStrike">
                          <a:solidFill>
                            <a:srgbClr val="666600"/>
                          </a:solidFill>
                        </a:rPr>
                        <a:t>,</a:t>
                      </a:r>
                      <a:r>
                        <a:rPr lang="en-IN" sz="1600" u="none" cap="none" strike="noStrike">
                          <a:solidFill>
                            <a:srgbClr val="006666"/>
                          </a:solidFill>
                        </a:rPr>
                        <a:t>0</a:t>
                      </a:r>
                      <a:r>
                        <a:rPr lang="en-IN" sz="1600" u="none" cap="none" strike="noStrike">
                          <a:solidFill>
                            <a:srgbClr val="666600"/>
                          </a:solidFill>
                        </a:rPr>
                        <a:t>,</a:t>
                      </a:r>
                      <a:r>
                        <a:rPr lang="en-IN" sz="1600" u="none" cap="none" strike="noStrike"/>
                        <a:t>TRUE</a:t>
                      </a:r>
                      <a:r>
                        <a:rPr lang="en-IN" sz="1600" u="none" cap="none" strike="noStrike">
                          <a:solidFill>
                            <a:srgbClr val="666600"/>
                          </a:solidFill>
                        </a:rPr>
                        <a:t>,</a:t>
                      </a:r>
                      <a:r>
                        <a:rPr lang="en-IN" sz="1600" u="none" cap="none" strike="noStrike">
                          <a:solidFill>
                            <a:srgbClr val="006666"/>
                          </a:solidFill>
                        </a:rPr>
                        <a:t>2</a:t>
                      </a:r>
                      <a:r>
                        <a:rPr lang="en-IN" sz="1600" u="none" cap="none" strike="noStrike">
                          <a:solidFill>
                            <a:srgbClr val="666600"/>
                          </a:solidFill>
                        </a:rPr>
                        <a:t>+</a:t>
                      </a:r>
                      <a:r>
                        <a:rPr lang="en-IN" sz="1600" u="none" cap="none" strike="noStrike">
                          <a:solidFill>
                            <a:srgbClr val="006666"/>
                          </a:solidFill>
                        </a:rPr>
                        <a:t>2i</a:t>
                      </a:r>
                      <a:r>
                        <a:rPr lang="en-IN" sz="1600" u="none" cap="none" strike="noStrike">
                          <a:solidFill>
                            <a:srgbClr val="666600"/>
                          </a:solidFill>
                        </a:rPr>
                        <a:t>)</a:t>
                      </a:r>
                      <a:r>
                        <a:rPr lang="en-IN" sz="1600" u="none" cap="none" strike="noStrike"/>
                        <a:t> t </a:t>
                      </a:r>
                      <a:r>
                        <a:rPr lang="en-IN" sz="1600" u="none" cap="none" strike="noStrike">
                          <a:solidFill>
                            <a:srgbClr val="666600"/>
                          </a:solidFill>
                        </a:rPr>
                        <a:t>&lt;-</a:t>
                      </a:r>
                      <a:r>
                        <a:rPr lang="en-IN" sz="1600" u="none" cap="none" strike="noStrike"/>
                        <a:t> c</a:t>
                      </a:r>
                      <a:r>
                        <a:rPr lang="en-IN" sz="1600" u="none" cap="none" strike="noStrike">
                          <a:solidFill>
                            <a:srgbClr val="666600"/>
                          </a:solidFill>
                        </a:rPr>
                        <a:t>(</a:t>
                      </a:r>
                      <a:r>
                        <a:rPr lang="en-IN" sz="1600" u="none" cap="none" strike="noStrike">
                          <a:solidFill>
                            <a:srgbClr val="006666"/>
                          </a:solidFill>
                        </a:rPr>
                        <a:t>0</a:t>
                      </a:r>
                      <a:r>
                        <a:rPr lang="en-IN" sz="1600" u="none" cap="none" strike="noStrike">
                          <a:solidFill>
                            <a:srgbClr val="666600"/>
                          </a:solidFill>
                        </a:rPr>
                        <a:t>,</a:t>
                      </a:r>
                      <a:r>
                        <a:rPr lang="en-IN" sz="1600" u="none" cap="none" strike="noStrike">
                          <a:solidFill>
                            <a:srgbClr val="006666"/>
                          </a:solidFill>
                        </a:rPr>
                        <a:t>3</a:t>
                      </a:r>
                      <a:r>
                        <a:rPr lang="en-IN" sz="1600" u="none" cap="none" strike="noStrike">
                          <a:solidFill>
                            <a:srgbClr val="666600"/>
                          </a:solidFill>
                        </a:rPr>
                        <a:t>,</a:t>
                      </a:r>
                      <a:r>
                        <a:rPr lang="en-IN" sz="1600" u="none" cap="none" strike="noStrike"/>
                        <a:t>TRUE</a:t>
                      </a:r>
                      <a:r>
                        <a:rPr lang="en-IN" sz="1600" u="none" cap="none" strike="noStrike">
                          <a:solidFill>
                            <a:srgbClr val="666600"/>
                          </a:solidFill>
                        </a:rPr>
                        <a:t>,</a:t>
                      </a:r>
                      <a:r>
                        <a:rPr lang="en-IN" sz="1600" u="none" cap="none" strike="noStrike">
                          <a:solidFill>
                            <a:srgbClr val="006666"/>
                          </a:solidFill>
                        </a:rPr>
                        <a:t>2</a:t>
                      </a:r>
                      <a:r>
                        <a:rPr lang="en-IN" sz="1600" u="none" cap="none" strike="noStrike">
                          <a:solidFill>
                            <a:srgbClr val="666600"/>
                          </a:solidFill>
                        </a:rPr>
                        <a:t>+</a:t>
                      </a:r>
                      <a:r>
                        <a:rPr lang="en-IN" sz="1600" u="none" cap="none" strike="noStrike">
                          <a:solidFill>
                            <a:srgbClr val="006666"/>
                          </a:solidFill>
                        </a:rPr>
                        <a:t>3i</a:t>
                      </a:r>
                      <a:r>
                        <a:rPr lang="en-IN" sz="1600" u="none" cap="none" strike="noStrike">
                          <a:solidFill>
                            <a:srgbClr val="666600"/>
                          </a:solidFill>
                        </a:rPr>
                        <a:t>)</a:t>
                      </a:r>
                      <a:r>
                        <a:rPr lang="en-IN" sz="1600" u="none" cap="none" strike="noStrike"/>
                        <a:t> </a:t>
                      </a:r>
                      <a:r>
                        <a:rPr lang="en-IN" sz="1600" u="none" cap="none" strike="noStrike">
                          <a:solidFill>
                            <a:srgbClr val="000088"/>
                          </a:solidFill>
                        </a:rPr>
                        <a:t>print</a:t>
                      </a:r>
                      <a:r>
                        <a:rPr lang="en-IN" sz="1600" u="none" cap="none" strike="noStrike">
                          <a:solidFill>
                            <a:srgbClr val="666600"/>
                          </a:solidFill>
                        </a:rPr>
                        <a:t>(</a:t>
                      </a:r>
                      <a:r>
                        <a:rPr lang="en-IN" sz="1600" u="none" cap="none" strike="noStrike"/>
                        <a:t>v</a:t>
                      </a:r>
                      <a:r>
                        <a:rPr lang="en-IN" sz="1600" u="none" cap="none" strike="noStrike">
                          <a:solidFill>
                            <a:srgbClr val="666600"/>
                          </a:solidFill>
                        </a:rPr>
                        <a:t>||</a:t>
                      </a:r>
                      <a:r>
                        <a:rPr lang="en-IN" sz="1600" u="none" cap="none" strike="noStrike"/>
                        <a:t>t</a:t>
                      </a:r>
                      <a:r>
                        <a:rPr lang="en-IN" sz="1600" u="none" cap="none" strike="noStrike">
                          <a:solidFill>
                            <a:srgbClr val="666600"/>
                          </a:solidFill>
                        </a:rPr>
                        <a:t>)</a:t>
                      </a:r>
                      <a:r>
                        <a:rPr lang="en-IN" sz="1600" u="none" cap="none" strike="noStrike">
                          <a:solidFill>
                            <a:srgbClr val="000000"/>
                          </a:solidFill>
                        </a:rPr>
                        <a:t>it produces the following result −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600" u="none" cap="none" strike="noStrike"/>
                        <a:t>[1] FALSE</a:t>
                      </a:r>
                      <a:endParaRPr/>
                    </a:p>
                  </a:txBody>
                  <a:tcPr marT="60825" marB="60825" marR="81100" marL="81100">
                    <a:lnL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29"/>
          <p:cNvSpPr txBox="1"/>
          <p:nvPr>
            <p:ph type="title"/>
          </p:nvPr>
        </p:nvSpPr>
        <p:spPr>
          <a:xfrm>
            <a:off x="870858" y="659039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5400"/>
              <a:buFont typeface="Marcellus"/>
              <a:buNone/>
            </a:pPr>
            <a:r>
              <a:rPr lang="en-IN"/>
              <a:t>Assignment Operators</a:t>
            </a:r>
            <a:endParaRPr/>
          </a:p>
        </p:txBody>
      </p:sp>
      <p:graphicFrame>
        <p:nvGraphicFramePr>
          <p:cNvPr id="260" name="Google Shape;260;p29"/>
          <p:cNvGraphicFramePr/>
          <p:nvPr/>
        </p:nvGraphicFramePr>
        <p:xfrm>
          <a:off x="1487490" y="16002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{5B9686C9-2DAC-4542-8D34-4B4182193A1A}</a:tableStyleId>
              </a:tblPr>
              <a:tblGrid>
                <a:gridCol w="2308850"/>
                <a:gridCol w="2308850"/>
                <a:gridCol w="4599300"/>
              </a:tblGrid>
              <a:tr h="5102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400" u="none" cap="none" strike="noStrike"/>
                        <a:t>Operator</a:t>
                      </a:r>
                      <a:endParaRPr/>
                    </a:p>
                  </a:txBody>
                  <a:tcPr marT="55475" marB="55475" marR="73950" marL="73950">
                    <a:lnL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400" u="none" cap="none" strike="noStrike"/>
                        <a:t>Description</a:t>
                      </a:r>
                      <a:endParaRPr/>
                    </a:p>
                  </a:txBody>
                  <a:tcPr marT="55475" marB="55475" marR="73950" marL="73950">
                    <a:lnL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400" u="none" cap="none" strike="noStrike"/>
                        <a:t>Example</a:t>
                      </a:r>
                      <a:endParaRPr/>
                    </a:p>
                  </a:txBody>
                  <a:tcPr marT="55475" marB="55475" marR="73950" marL="73950">
                    <a:lnL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EEEEE"/>
                    </a:solidFill>
                  </a:tcPr>
                </a:tc>
              </a:tr>
              <a:tr h="16065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400" u="none" cap="none" strike="noStrike">
                          <a:solidFill>
                            <a:srgbClr val="000000"/>
                          </a:solidFill>
                        </a:rPr>
                        <a:t>&lt;−</a:t>
                      </a:r>
                      <a:endParaRPr/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400" u="none" cap="none" strike="noStrike">
                          <a:solidFill>
                            <a:srgbClr val="000000"/>
                          </a:solidFill>
                        </a:rPr>
                        <a:t>or</a:t>
                      </a:r>
                      <a:endParaRPr/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400" u="none" cap="none" strike="noStrike">
                          <a:solidFill>
                            <a:srgbClr val="000000"/>
                          </a:solidFill>
                        </a:rPr>
                        <a:t>=</a:t>
                      </a:r>
                      <a:endParaRPr/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400" u="none" cap="none" strike="noStrike">
                          <a:solidFill>
                            <a:srgbClr val="000000"/>
                          </a:solidFill>
                        </a:rPr>
                        <a:t>or</a:t>
                      </a:r>
                      <a:endParaRPr/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400" u="none" cap="none" strike="noStrike">
                          <a:solidFill>
                            <a:srgbClr val="000000"/>
                          </a:solidFill>
                        </a:rPr>
                        <a:t>&lt;&lt;−</a:t>
                      </a:r>
                      <a:endParaRPr/>
                    </a:p>
                  </a:txBody>
                  <a:tcPr marT="55475" marB="55475" marR="73950" marL="73950" anchor="ctr">
                    <a:lnL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400" u="none" cap="none" strike="noStrike"/>
                        <a:t>Called Left Assignment</a:t>
                      </a:r>
                      <a:endParaRPr/>
                    </a:p>
                  </a:txBody>
                  <a:tcPr marT="55475" marB="55475" marR="73950" marL="73950">
                    <a:lnL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400" u="none" cap="none" strike="noStrike"/>
                        <a:t>v1 </a:t>
                      </a:r>
                      <a:r>
                        <a:rPr lang="en-IN" sz="1400" u="none" cap="none" strike="noStrike">
                          <a:solidFill>
                            <a:srgbClr val="666600"/>
                          </a:solidFill>
                        </a:rPr>
                        <a:t>&lt;-</a:t>
                      </a:r>
                      <a:r>
                        <a:rPr lang="en-IN" sz="1400" u="none" cap="none" strike="noStrike"/>
                        <a:t> c</a:t>
                      </a:r>
                      <a:r>
                        <a:rPr lang="en-IN" sz="1400" u="none" cap="none" strike="noStrike">
                          <a:solidFill>
                            <a:srgbClr val="666600"/>
                          </a:solidFill>
                        </a:rPr>
                        <a:t>(</a:t>
                      </a:r>
                      <a:r>
                        <a:rPr lang="en-IN" sz="1400" u="none" cap="none" strike="noStrike">
                          <a:solidFill>
                            <a:srgbClr val="006666"/>
                          </a:solidFill>
                        </a:rPr>
                        <a:t>3</a:t>
                      </a:r>
                      <a:r>
                        <a:rPr lang="en-IN" sz="1400" u="none" cap="none" strike="noStrike">
                          <a:solidFill>
                            <a:srgbClr val="666600"/>
                          </a:solidFill>
                        </a:rPr>
                        <a:t>,</a:t>
                      </a:r>
                      <a:r>
                        <a:rPr lang="en-IN" sz="1400" u="none" cap="none" strike="noStrike">
                          <a:solidFill>
                            <a:srgbClr val="006666"/>
                          </a:solidFill>
                        </a:rPr>
                        <a:t>1</a:t>
                      </a:r>
                      <a:r>
                        <a:rPr lang="en-IN" sz="1400" u="none" cap="none" strike="noStrike">
                          <a:solidFill>
                            <a:srgbClr val="666600"/>
                          </a:solidFill>
                        </a:rPr>
                        <a:t>,</a:t>
                      </a:r>
                      <a:r>
                        <a:rPr lang="en-IN" sz="1400" u="none" cap="none" strike="noStrike"/>
                        <a:t>TRUE</a:t>
                      </a:r>
                      <a:r>
                        <a:rPr lang="en-IN" sz="1400" u="none" cap="none" strike="noStrike">
                          <a:solidFill>
                            <a:srgbClr val="666600"/>
                          </a:solidFill>
                        </a:rPr>
                        <a:t>,</a:t>
                      </a:r>
                      <a:r>
                        <a:rPr lang="en-IN" sz="1400" u="none" cap="none" strike="noStrike">
                          <a:solidFill>
                            <a:srgbClr val="006666"/>
                          </a:solidFill>
                        </a:rPr>
                        <a:t>2</a:t>
                      </a:r>
                      <a:r>
                        <a:rPr lang="en-IN" sz="1400" u="none" cap="none" strike="noStrike">
                          <a:solidFill>
                            <a:srgbClr val="666600"/>
                          </a:solidFill>
                        </a:rPr>
                        <a:t>+</a:t>
                      </a:r>
                      <a:r>
                        <a:rPr lang="en-IN" sz="1400" u="none" cap="none" strike="noStrike">
                          <a:solidFill>
                            <a:srgbClr val="006666"/>
                          </a:solidFill>
                        </a:rPr>
                        <a:t>3i</a:t>
                      </a:r>
                      <a:r>
                        <a:rPr lang="en-IN" sz="1400" u="none" cap="none" strike="noStrike">
                          <a:solidFill>
                            <a:srgbClr val="666600"/>
                          </a:solidFill>
                        </a:rPr>
                        <a:t>)</a:t>
                      </a:r>
                      <a:r>
                        <a:rPr lang="en-IN" sz="1400" u="none" cap="none" strike="noStrike"/>
                        <a:t> v2 </a:t>
                      </a:r>
                      <a:r>
                        <a:rPr lang="en-IN" sz="1400" u="none" cap="none" strike="noStrike">
                          <a:solidFill>
                            <a:srgbClr val="666600"/>
                          </a:solidFill>
                        </a:rPr>
                        <a:t>&lt;&lt;-</a:t>
                      </a:r>
                      <a:r>
                        <a:rPr lang="en-IN" sz="1400" u="none" cap="none" strike="noStrike"/>
                        <a:t> c</a:t>
                      </a:r>
                      <a:r>
                        <a:rPr lang="en-IN" sz="1400" u="none" cap="none" strike="noStrike">
                          <a:solidFill>
                            <a:srgbClr val="666600"/>
                          </a:solidFill>
                        </a:rPr>
                        <a:t>(</a:t>
                      </a:r>
                      <a:r>
                        <a:rPr lang="en-IN" sz="1400" u="none" cap="none" strike="noStrike">
                          <a:solidFill>
                            <a:srgbClr val="006666"/>
                          </a:solidFill>
                        </a:rPr>
                        <a:t>3</a:t>
                      </a:r>
                      <a:r>
                        <a:rPr lang="en-IN" sz="1400" u="none" cap="none" strike="noStrike">
                          <a:solidFill>
                            <a:srgbClr val="666600"/>
                          </a:solidFill>
                        </a:rPr>
                        <a:t>,</a:t>
                      </a:r>
                      <a:r>
                        <a:rPr lang="en-IN" sz="1400" u="none" cap="none" strike="noStrike">
                          <a:solidFill>
                            <a:srgbClr val="006666"/>
                          </a:solidFill>
                        </a:rPr>
                        <a:t>1</a:t>
                      </a:r>
                      <a:r>
                        <a:rPr lang="en-IN" sz="1400" u="none" cap="none" strike="noStrike">
                          <a:solidFill>
                            <a:srgbClr val="666600"/>
                          </a:solidFill>
                        </a:rPr>
                        <a:t>,</a:t>
                      </a:r>
                      <a:r>
                        <a:rPr lang="en-IN" sz="1400" u="none" cap="none" strike="noStrike"/>
                        <a:t>TRUE</a:t>
                      </a:r>
                      <a:r>
                        <a:rPr lang="en-IN" sz="1400" u="none" cap="none" strike="noStrike">
                          <a:solidFill>
                            <a:srgbClr val="666600"/>
                          </a:solidFill>
                        </a:rPr>
                        <a:t>,</a:t>
                      </a:r>
                      <a:r>
                        <a:rPr lang="en-IN" sz="1400" u="none" cap="none" strike="noStrike">
                          <a:solidFill>
                            <a:srgbClr val="006666"/>
                          </a:solidFill>
                        </a:rPr>
                        <a:t>2</a:t>
                      </a:r>
                      <a:r>
                        <a:rPr lang="en-IN" sz="1400" u="none" cap="none" strike="noStrike">
                          <a:solidFill>
                            <a:srgbClr val="666600"/>
                          </a:solidFill>
                        </a:rPr>
                        <a:t>+</a:t>
                      </a:r>
                      <a:r>
                        <a:rPr lang="en-IN" sz="1400" u="none" cap="none" strike="noStrike">
                          <a:solidFill>
                            <a:srgbClr val="006666"/>
                          </a:solidFill>
                        </a:rPr>
                        <a:t>3i</a:t>
                      </a:r>
                      <a:r>
                        <a:rPr lang="en-IN" sz="1400" u="none" cap="none" strike="noStrike">
                          <a:solidFill>
                            <a:srgbClr val="666600"/>
                          </a:solidFill>
                        </a:rPr>
                        <a:t>)</a:t>
                      </a:r>
                      <a:r>
                        <a:rPr lang="en-IN" sz="1400" u="none" cap="none" strike="noStrike"/>
                        <a:t> v3 </a:t>
                      </a:r>
                      <a:r>
                        <a:rPr lang="en-IN" sz="1400" u="none" cap="none" strike="noStrike">
                          <a:solidFill>
                            <a:srgbClr val="666600"/>
                          </a:solidFill>
                        </a:rPr>
                        <a:t>=</a:t>
                      </a:r>
                      <a:r>
                        <a:rPr lang="en-IN" sz="1400" u="none" cap="none" strike="noStrike"/>
                        <a:t> c</a:t>
                      </a:r>
                      <a:r>
                        <a:rPr lang="en-IN" sz="1400" u="none" cap="none" strike="noStrike">
                          <a:solidFill>
                            <a:srgbClr val="666600"/>
                          </a:solidFill>
                        </a:rPr>
                        <a:t>(</a:t>
                      </a:r>
                      <a:r>
                        <a:rPr lang="en-IN" sz="1400" u="none" cap="none" strike="noStrike">
                          <a:solidFill>
                            <a:srgbClr val="006666"/>
                          </a:solidFill>
                        </a:rPr>
                        <a:t>3</a:t>
                      </a:r>
                      <a:r>
                        <a:rPr lang="en-IN" sz="1400" u="none" cap="none" strike="noStrike">
                          <a:solidFill>
                            <a:srgbClr val="666600"/>
                          </a:solidFill>
                        </a:rPr>
                        <a:t>,</a:t>
                      </a:r>
                      <a:r>
                        <a:rPr lang="en-IN" sz="1400" u="none" cap="none" strike="noStrike">
                          <a:solidFill>
                            <a:srgbClr val="006666"/>
                          </a:solidFill>
                        </a:rPr>
                        <a:t>1</a:t>
                      </a:r>
                      <a:r>
                        <a:rPr lang="en-IN" sz="1400" u="none" cap="none" strike="noStrike">
                          <a:solidFill>
                            <a:srgbClr val="666600"/>
                          </a:solidFill>
                        </a:rPr>
                        <a:t>,</a:t>
                      </a:r>
                      <a:r>
                        <a:rPr lang="en-IN" sz="1400" u="none" cap="none" strike="noStrike"/>
                        <a:t>TRUE</a:t>
                      </a:r>
                      <a:r>
                        <a:rPr lang="en-IN" sz="1400" u="none" cap="none" strike="noStrike">
                          <a:solidFill>
                            <a:srgbClr val="666600"/>
                          </a:solidFill>
                        </a:rPr>
                        <a:t>,</a:t>
                      </a:r>
                      <a:r>
                        <a:rPr lang="en-IN" sz="1400" u="none" cap="none" strike="noStrike">
                          <a:solidFill>
                            <a:srgbClr val="006666"/>
                          </a:solidFill>
                        </a:rPr>
                        <a:t>2</a:t>
                      </a:r>
                      <a:r>
                        <a:rPr lang="en-IN" sz="1400" u="none" cap="none" strike="noStrike">
                          <a:solidFill>
                            <a:srgbClr val="666600"/>
                          </a:solidFill>
                        </a:rPr>
                        <a:t>+</a:t>
                      </a:r>
                      <a:r>
                        <a:rPr lang="en-IN" sz="1400" u="none" cap="none" strike="noStrike">
                          <a:solidFill>
                            <a:srgbClr val="006666"/>
                          </a:solidFill>
                        </a:rPr>
                        <a:t>3i</a:t>
                      </a:r>
                      <a:r>
                        <a:rPr lang="en-IN" sz="1400" u="none" cap="none" strike="noStrike">
                          <a:solidFill>
                            <a:srgbClr val="666600"/>
                          </a:solidFill>
                        </a:rPr>
                        <a:t>)</a:t>
                      </a:r>
                      <a:r>
                        <a:rPr lang="en-IN" sz="1400" u="none" cap="none" strike="noStrike"/>
                        <a:t> </a:t>
                      </a:r>
                      <a:r>
                        <a:rPr lang="en-IN" sz="1400" u="none" cap="none" strike="noStrike">
                          <a:solidFill>
                            <a:srgbClr val="000088"/>
                          </a:solidFill>
                        </a:rPr>
                        <a:t>print</a:t>
                      </a:r>
                      <a:r>
                        <a:rPr lang="en-IN" sz="1400" u="none" cap="none" strike="noStrike">
                          <a:solidFill>
                            <a:srgbClr val="666600"/>
                          </a:solidFill>
                        </a:rPr>
                        <a:t>(</a:t>
                      </a:r>
                      <a:r>
                        <a:rPr lang="en-IN" sz="1400" u="none" cap="none" strike="noStrike"/>
                        <a:t>v1</a:t>
                      </a:r>
                      <a:r>
                        <a:rPr lang="en-IN" sz="1400" u="none" cap="none" strike="noStrike">
                          <a:solidFill>
                            <a:srgbClr val="666600"/>
                          </a:solidFill>
                        </a:rPr>
                        <a:t>)</a:t>
                      </a:r>
                      <a:r>
                        <a:rPr lang="en-IN" sz="1400" u="none" cap="none" strike="noStrike"/>
                        <a:t> </a:t>
                      </a:r>
                      <a:r>
                        <a:rPr lang="en-IN" sz="1400" u="none" cap="none" strike="noStrike">
                          <a:solidFill>
                            <a:srgbClr val="000088"/>
                          </a:solidFill>
                        </a:rPr>
                        <a:t>print</a:t>
                      </a:r>
                      <a:r>
                        <a:rPr lang="en-IN" sz="1400" u="none" cap="none" strike="noStrike">
                          <a:solidFill>
                            <a:srgbClr val="666600"/>
                          </a:solidFill>
                        </a:rPr>
                        <a:t>(</a:t>
                      </a:r>
                      <a:r>
                        <a:rPr lang="en-IN" sz="1400" u="none" cap="none" strike="noStrike"/>
                        <a:t>v2</a:t>
                      </a:r>
                      <a:r>
                        <a:rPr lang="en-IN" sz="1400" u="none" cap="none" strike="noStrike">
                          <a:solidFill>
                            <a:srgbClr val="666600"/>
                          </a:solidFill>
                        </a:rPr>
                        <a:t>)</a:t>
                      </a:r>
                      <a:r>
                        <a:rPr lang="en-IN" sz="1400" u="none" cap="none" strike="noStrike"/>
                        <a:t> </a:t>
                      </a:r>
                      <a:r>
                        <a:rPr lang="en-IN" sz="1400" u="none" cap="none" strike="noStrike">
                          <a:solidFill>
                            <a:srgbClr val="000088"/>
                          </a:solidFill>
                        </a:rPr>
                        <a:t>print</a:t>
                      </a:r>
                      <a:r>
                        <a:rPr lang="en-IN" sz="1400" u="none" cap="none" strike="noStrike">
                          <a:solidFill>
                            <a:srgbClr val="666600"/>
                          </a:solidFill>
                        </a:rPr>
                        <a:t>(</a:t>
                      </a:r>
                      <a:r>
                        <a:rPr lang="en-IN" sz="1400" u="none" cap="none" strike="noStrike"/>
                        <a:t>v3</a:t>
                      </a:r>
                      <a:r>
                        <a:rPr lang="en-IN" sz="1400" u="none" cap="none" strike="noStrike">
                          <a:solidFill>
                            <a:srgbClr val="666600"/>
                          </a:solidFill>
                        </a:rPr>
                        <a:t>)</a:t>
                      </a:r>
                      <a:r>
                        <a:rPr lang="en-IN" sz="1400" u="none" cap="none" strike="noStrike">
                          <a:solidFill>
                            <a:srgbClr val="000000"/>
                          </a:solidFill>
                        </a:rPr>
                        <a:t>it produces the following result −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400" u="none" cap="none" strike="noStrike"/>
                        <a:t>[1] 3+0i 1+0i 1+0i 2+3i [1] 3+0i 1+0i 1+0i 2+3i [1] 3+0i 1+0i 1+0i 2+3i </a:t>
                      </a:r>
                      <a:endParaRPr/>
                    </a:p>
                  </a:txBody>
                  <a:tcPr marT="55475" marB="55475" marR="73950" marL="73950">
                    <a:lnL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9080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400" u="none" cap="none" strike="noStrike">
                          <a:solidFill>
                            <a:srgbClr val="000000"/>
                          </a:solidFill>
                        </a:rPr>
                        <a:t>-&gt;</a:t>
                      </a:r>
                      <a:endParaRPr/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400" u="none" cap="none" strike="noStrike">
                          <a:solidFill>
                            <a:srgbClr val="000000"/>
                          </a:solidFill>
                        </a:rPr>
                        <a:t>or</a:t>
                      </a:r>
                      <a:endParaRPr/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400" u="none" cap="none" strike="noStrike">
                          <a:solidFill>
                            <a:srgbClr val="000000"/>
                          </a:solidFill>
                        </a:rPr>
                        <a:t>-&gt;&gt;</a:t>
                      </a:r>
                      <a:endParaRPr/>
                    </a:p>
                  </a:txBody>
                  <a:tcPr marT="55475" marB="55475" marR="73950" marL="73950" anchor="ctr">
                    <a:lnL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400" u="none" cap="none" strike="noStrike"/>
                        <a:t>Called Right Assignment</a:t>
                      </a:r>
                      <a:endParaRPr/>
                    </a:p>
                  </a:txBody>
                  <a:tcPr marT="55475" marB="55475" marR="73950" marL="73950">
                    <a:lnL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400" u="none" cap="none" strike="noStrike"/>
                        <a:t>c</a:t>
                      </a:r>
                      <a:r>
                        <a:rPr lang="en-IN" sz="1400" u="none" cap="none" strike="noStrike">
                          <a:solidFill>
                            <a:srgbClr val="666600"/>
                          </a:solidFill>
                        </a:rPr>
                        <a:t>(</a:t>
                      </a:r>
                      <a:r>
                        <a:rPr lang="en-IN" sz="1400" u="none" cap="none" strike="noStrike">
                          <a:solidFill>
                            <a:srgbClr val="006666"/>
                          </a:solidFill>
                        </a:rPr>
                        <a:t>3</a:t>
                      </a:r>
                      <a:r>
                        <a:rPr lang="en-IN" sz="1400" u="none" cap="none" strike="noStrike">
                          <a:solidFill>
                            <a:srgbClr val="666600"/>
                          </a:solidFill>
                        </a:rPr>
                        <a:t>,</a:t>
                      </a:r>
                      <a:r>
                        <a:rPr lang="en-IN" sz="1400" u="none" cap="none" strike="noStrike">
                          <a:solidFill>
                            <a:srgbClr val="006666"/>
                          </a:solidFill>
                        </a:rPr>
                        <a:t>1</a:t>
                      </a:r>
                      <a:r>
                        <a:rPr lang="en-IN" sz="1400" u="none" cap="none" strike="noStrike">
                          <a:solidFill>
                            <a:srgbClr val="666600"/>
                          </a:solidFill>
                        </a:rPr>
                        <a:t>,</a:t>
                      </a:r>
                      <a:r>
                        <a:rPr lang="en-IN" sz="1400" u="none" cap="none" strike="noStrike"/>
                        <a:t>TRUE</a:t>
                      </a:r>
                      <a:r>
                        <a:rPr lang="en-IN" sz="1400" u="none" cap="none" strike="noStrike">
                          <a:solidFill>
                            <a:srgbClr val="666600"/>
                          </a:solidFill>
                        </a:rPr>
                        <a:t>,</a:t>
                      </a:r>
                      <a:r>
                        <a:rPr lang="en-IN" sz="1400" u="none" cap="none" strike="noStrike">
                          <a:solidFill>
                            <a:srgbClr val="006666"/>
                          </a:solidFill>
                        </a:rPr>
                        <a:t>2</a:t>
                      </a:r>
                      <a:r>
                        <a:rPr lang="en-IN" sz="1400" u="none" cap="none" strike="noStrike">
                          <a:solidFill>
                            <a:srgbClr val="666600"/>
                          </a:solidFill>
                        </a:rPr>
                        <a:t>+</a:t>
                      </a:r>
                      <a:r>
                        <a:rPr lang="en-IN" sz="1400" u="none" cap="none" strike="noStrike">
                          <a:solidFill>
                            <a:srgbClr val="006666"/>
                          </a:solidFill>
                        </a:rPr>
                        <a:t>3i</a:t>
                      </a:r>
                      <a:r>
                        <a:rPr lang="en-IN" sz="1400" u="none" cap="none" strike="noStrike">
                          <a:solidFill>
                            <a:srgbClr val="666600"/>
                          </a:solidFill>
                        </a:rPr>
                        <a:t>)</a:t>
                      </a:r>
                      <a:r>
                        <a:rPr lang="en-IN" sz="1400" u="none" cap="none" strike="noStrike"/>
                        <a:t> </a:t>
                      </a:r>
                      <a:r>
                        <a:rPr lang="en-IN" sz="1400" u="none" cap="none" strike="noStrike">
                          <a:solidFill>
                            <a:srgbClr val="666600"/>
                          </a:solidFill>
                        </a:rPr>
                        <a:t>-&gt;</a:t>
                      </a:r>
                      <a:r>
                        <a:rPr lang="en-IN" sz="1400" u="none" cap="none" strike="noStrike"/>
                        <a:t> v1 c</a:t>
                      </a:r>
                      <a:r>
                        <a:rPr lang="en-IN" sz="1400" u="none" cap="none" strike="noStrike">
                          <a:solidFill>
                            <a:srgbClr val="666600"/>
                          </a:solidFill>
                        </a:rPr>
                        <a:t>(</a:t>
                      </a:r>
                      <a:r>
                        <a:rPr lang="en-IN" sz="1400" u="none" cap="none" strike="noStrike">
                          <a:solidFill>
                            <a:srgbClr val="006666"/>
                          </a:solidFill>
                        </a:rPr>
                        <a:t>3</a:t>
                      </a:r>
                      <a:r>
                        <a:rPr lang="en-IN" sz="1400" u="none" cap="none" strike="noStrike">
                          <a:solidFill>
                            <a:srgbClr val="666600"/>
                          </a:solidFill>
                        </a:rPr>
                        <a:t>,</a:t>
                      </a:r>
                      <a:r>
                        <a:rPr lang="en-IN" sz="1400" u="none" cap="none" strike="noStrike">
                          <a:solidFill>
                            <a:srgbClr val="006666"/>
                          </a:solidFill>
                        </a:rPr>
                        <a:t>1</a:t>
                      </a:r>
                      <a:r>
                        <a:rPr lang="en-IN" sz="1400" u="none" cap="none" strike="noStrike">
                          <a:solidFill>
                            <a:srgbClr val="666600"/>
                          </a:solidFill>
                        </a:rPr>
                        <a:t>,</a:t>
                      </a:r>
                      <a:r>
                        <a:rPr lang="en-IN" sz="1400" u="none" cap="none" strike="noStrike"/>
                        <a:t>TRUE</a:t>
                      </a:r>
                      <a:r>
                        <a:rPr lang="en-IN" sz="1400" u="none" cap="none" strike="noStrike">
                          <a:solidFill>
                            <a:srgbClr val="666600"/>
                          </a:solidFill>
                        </a:rPr>
                        <a:t>,</a:t>
                      </a:r>
                      <a:r>
                        <a:rPr lang="en-IN" sz="1400" u="none" cap="none" strike="noStrike">
                          <a:solidFill>
                            <a:srgbClr val="006666"/>
                          </a:solidFill>
                        </a:rPr>
                        <a:t>2</a:t>
                      </a:r>
                      <a:r>
                        <a:rPr lang="en-IN" sz="1400" u="none" cap="none" strike="noStrike">
                          <a:solidFill>
                            <a:srgbClr val="666600"/>
                          </a:solidFill>
                        </a:rPr>
                        <a:t>+</a:t>
                      </a:r>
                      <a:r>
                        <a:rPr lang="en-IN" sz="1400" u="none" cap="none" strike="noStrike">
                          <a:solidFill>
                            <a:srgbClr val="006666"/>
                          </a:solidFill>
                        </a:rPr>
                        <a:t>3i</a:t>
                      </a:r>
                      <a:r>
                        <a:rPr lang="en-IN" sz="1400" u="none" cap="none" strike="noStrike">
                          <a:solidFill>
                            <a:srgbClr val="666600"/>
                          </a:solidFill>
                        </a:rPr>
                        <a:t>)</a:t>
                      </a:r>
                      <a:r>
                        <a:rPr lang="en-IN" sz="1400" u="none" cap="none" strike="noStrike"/>
                        <a:t> </a:t>
                      </a:r>
                      <a:r>
                        <a:rPr lang="en-IN" sz="1400" u="none" cap="none" strike="noStrike">
                          <a:solidFill>
                            <a:srgbClr val="666600"/>
                          </a:solidFill>
                        </a:rPr>
                        <a:t>-&gt;&gt;</a:t>
                      </a:r>
                      <a:r>
                        <a:rPr lang="en-IN" sz="1400" u="none" cap="none" strike="noStrike"/>
                        <a:t> v2 </a:t>
                      </a:r>
                      <a:r>
                        <a:rPr lang="en-IN" sz="1400" u="none" cap="none" strike="noStrike">
                          <a:solidFill>
                            <a:srgbClr val="000088"/>
                          </a:solidFill>
                        </a:rPr>
                        <a:t>print</a:t>
                      </a:r>
                      <a:r>
                        <a:rPr lang="en-IN" sz="1400" u="none" cap="none" strike="noStrike">
                          <a:solidFill>
                            <a:srgbClr val="666600"/>
                          </a:solidFill>
                        </a:rPr>
                        <a:t>(</a:t>
                      </a:r>
                      <a:r>
                        <a:rPr lang="en-IN" sz="1400" u="none" cap="none" strike="noStrike"/>
                        <a:t>v1</a:t>
                      </a:r>
                      <a:r>
                        <a:rPr lang="en-IN" sz="1400" u="none" cap="none" strike="noStrike">
                          <a:solidFill>
                            <a:srgbClr val="666600"/>
                          </a:solidFill>
                        </a:rPr>
                        <a:t>)</a:t>
                      </a:r>
                      <a:r>
                        <a:rPr lang="en-IN" sz="1400" u="none" cap="none" strike="noStrike"/>
                        <a:t> </a:t>
                      </a:r>
                      <a:r>
                        <a:rPr lang="en-IN" sz="1400" u="none" cap="none" strike="noStrike">
                          <a:solidFill>
                            <a:srgbClr val="000088"/>
                          </a:solidFill>
                        </a:rPr>
                        <a:t>print</a:t>
                      </a:r>
                      <a:r>
                        <a:rPr lang="en-IN" sz="1400" u="none" cap="none" strike="noStrike">
                          <a:solidFill>
                            <a:srgbClr val="666600"/>
                          </a:solidFill>
                        </a:rPr>
                        <a:t>(</a:t>
                      </a:r>
                      <a:r>
                        <a:rPr lang="en-IN" sz="1400" u="none" cap="none" strike="noStrike"/>
                        <a:t>v2</a:t>
                      </a:r>
                      <a:r>
                        <a:rPr lang="en-IN" sz="1400" u="none" cap="none" strike="noStrike">
                          <a:solidFill>
                            <a:srgbClr val="666600"/>
                          </a:solidFill>
                        </a:rPr>
                        <a:t>)</a:t>
                      </a:r>
                      <a:r>
                        <a:rPr lang="en-IN" sz="1400" u="none" cap="none" strike="noStrike">
                          <a:solidFill>
                            <a:srgbClr val="000000"/>
                          </a:solidFill>
                        </a:rPr>
                        <a:t>it produces the following result −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400" u="none" cap="none" strike="noStrike"/>
                        <a:t>[1] 3+0i 1+0i 1+0i 2+3i [1] 3+0i 1+0i 1+0i 2+3i</a:t>
                      </a:r>
                      <a:endParaRPr/>
                    </a:p>
                  </a:txBody>
                  <a:tcPr marT="55475" marB="55475" marR="73950" marL="73950">
                    <a:lnL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30"/>
          <p:cNvSpPr txBox="1"/>
          <p:nvPr>
            <p:ph type="title"/>
          </p:nvPr>
        </p:nvSpPr>
        <p:spPr>
          <a:xfrm>
            <a:off x="870858" y="659039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5400"/>
              <a:buFont typeface="Marcellus"/>
              <a:buNone/>
            </a:pPr>
            <a:r>
              <a:rPr lang="en-IN"/>
              <a:t>Miscellaneous Operators</a:t>
            </a:r>
            <a:endParaRPr/>
          </a:p>
        </p:txBody>
      </p:sp>
      <p:graphicFrame>
        <p:nvGraphicFramePr>
          <p:cNvPr id="266" name="Google Shape;266;p30"/>
          <p:cNvGraphicFramePr/>
          <p:nvPr/>
        </p:nvGraphicFramePr>
        <p:xfrm>
          <a:off x="719404" y="1639344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{5B9686C9-2DAC-4542-8D34-4B4182193A1A}</a:tableStyleId>
              </a:tblPr>
              <a:tblGrid>
                <a:gridCol w="2961950"/>
                <a:gridCol w="2961950"/>
                <a:gridCol w="4829275"/>
              </a:tblGrid>
              <a:tr h="3704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 u="none" cap="none" strike="noStrike"/>
                        <a:t>Operator</a:t>
                      </a:r>
                      <a:endParaRPr/>
                    </a:p>
                  </a:txBody>
                  <a:tcPr marT="40275" marB="40275" marR="53700" marL="53700">
                    <a:lnL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 u="none" cap="none" strike="noStrike"/>
                        <a:t>Description</a:t>
                      </a:r>
                      <a:endParaRPr/>
                    </a:p>
                  </a:txBody>
                  <a:tcPr marT="40275" marB="40275" marR="53700" marL="53700">
                    <a:lnL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 u="none" cap="none" strike="noStrike"/>
                        <a:t>Example</a:t>
                      </a:r>
                      <a:endParaRPr/>
                    </a:p>
                  </a:txBody>
                  <a:tcPr marT="40275" marB="40275" marR="53700" marL="53700">
                    <a:lnL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EEEEE"/>
                    </a:solidFill>
                  </a:tcPr>
                </a:tc>
              </a:tr>
              <a:tr h="12402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 u="none" cap="none" strike="noStrike"/>
                        <a:t>:</a:t>
                      </a:r>
                      <a:endParaRPr/>
                    </a:p>
                  </a:txBody>
                  <a:tcPr marT="40275" marB="40275" marR="53700" marL="53700">
                    <a:lnL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 u="none" cap="none" strike="noStrike"/>
                        <a:t>Colon operator. It creates the series of numbers in sequence for a vector.</a:t>
                      </a:r>
                      <a:endParaRPr/>
                    </a:p>
                  </a:txBody>
                  <a:tcPr marT="40275" marB="40275" marR="53700" marL="53700" anchor="ctr">
                    <a:lnL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 u="none" cap="none" strike="noStrike"/>
                        <a:t>v </a:t>
                      </a:r>
                      <a:r>
                        <a:rPr lang="en-IN" sz="1800" u="none" cap="none" strike="noStrike">
                          <a:solidFill>
                            <a:srgbClr val="666600"/>
                          </a:solidFill>
                        </a:rPr>
                        <a:t>&lt;-</a:t>
                      </a:r>
                      <a:r>
                        <a:rPr lang="en-IN" sz="1800" u="none" cap="none" strike="noStrike"/>
                        <a:t> </a:t>
                      </a:r>
                      <a:r>
                        <a:rPr lang="en-IN" sz="1800" u="none" cap="none" strike="noStrike">
                          <a:solidFill>
                            <a:srgbClr val="006666"/>
                          </a:solidFill>
                        </a:rPr>
                        <a:t>2</a:t>
                      </a:r>
                      <a:r>
                        <a:rPr lang="en-IN" sz="1800" u="none" cap="none" strike="noStrike">
                          <a:solidFill>
                            <a:srgbClr val="666600"/>
                          </a:solidFill>
                        </a:rPr>
                        <a:t>:</a:t>
                      </a:r>
                      <a:r>
                        <a:rPr lang="en-IN" sz="1800" u="none" cap="none" strike="noStrike">
                          <a:solidFill>
                            <a:srgbClr val="006666"/>
                          </a:solidFill>
                        </a:rPr>
                        <a:t>8</a:t>
                      </a:r>
                      <a:r>
                        <a:rPr lang="en-IN" sz="1800" u="none" cap="none" strike="noStrike"/>
                        <a:t> </a:t>
                      </a:r>
                      <a:r>
                        <a:rPr lang="en-IN" sz="1800" u="none" cap="none" strike="noStrike">
                          <a:solidFill>
                            <a:srgbClr val="000088"/>
                          </a:solidFill>
                        </a:rPr>
                        <a:t>print</a:t>
                      </a:r>
                      <a:r>
                        <a:rPr lang="en-IN" sz="1800" u="none" cap="none" strike="noStrike">
                          <a:solidFill>
                            <a:srgbClr val="666600"/>
                          </a:solidFill>
                        </a:rPr>
                        <a:t>(</a:t>
                      </a:r>
                      <a:r>
                        <a:rPr lang="en-IN" sz="1800" u="none" cap="none" strike="noStrike"/>
                        <a:t>v</a:t>
                      </a:r>
                      <a:r>
                        <a:rPr lang="en-IN" sz="1800" u="none" cap="none" strike="noStrike">
                          <a:solidFill>
                            <a:srgbClr val="666600"/>
                          </a:solidFill>
                        </a:rPr>
                        <a:t>)</a:t>
                      </a:r>
                      <a:r>
                        <a:rPr lang="en-IN" sz="1800" u="none" cap="none" strike="noStrike"/>
                        <a:t> </a:t>
                      </a:r>
                      <a:r>
                        <a:rPr lang="en-IN" sz="1800" u="none" cap="none" strike="noStrike">
                          <a:solidFill>
                            <a:srgbClr val="000000"/>
                          </a:solidFill>
                        </a:rPr>
                        <a:t>it produces the following result −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 u="none" cap="none" strike="noStrike"/>
                        <a:t>[1] 2 3 4 5 6 7 8 </a:t>
                      </a:r>
                      <a:endParaRPr/>
                    </a:p>
                  </a:txBody>
                  <a:tcPr marT="40275" marB="40275" marR="53700" marL="53700">
                    <a:lnL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2402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 u="none" cap="none" strike="noStrike"/>
                        <a:t>%in%</a:t>
                      </a:r>
                      <a:endParaRPr/>
                    </a:p>
                  </a:txBody>
                  <a:tcPr marT="40275" marB="40275" marR="53700" marL="53700">
                    <a:lnL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 u="none" cap="none" strike="noStrike"/>
                        <a:t>This operator is used to identify if an element belongs to a vector.</a:t>
                      </a:r>
                      <a:endParaRPr/>
                    </a:p>
                  </a:txBody>
                  <a:tcPr marT="40275" marB="40275" marR="53700" marL="53700" anchor="ctr">
                    <a:lnL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 u="none" cap="none" strike="noStrike"/>
                        <a:t>v1 </a:t>
                      </a:r>
                      <a:r>
                        <a:rPr lang="en-IN" sz="1800" u="none" cap="none" strike="noStrike">
                          <a:solidFill>
                            <a:srgbClr val="666600"/>
                          </a:solidFill>
                        </a:rPr>
                        <a:t>&lt;-</a:t>
                      </a:r>
                      <a:r>
                        <a:rPr lang="en-IN" sz="1800" u="none" cap="none" strike="noStrike"/>
                        <a:t> </a:t>
                      </a:r>
                      <a:r>
                        <a:rPr lang="en-IN" sz="1800" u="none" cap="none" strike="noStrike">
                          <a:solidFill>
                            <a:srgbClr val="006666"/>
                          </a:solidFill>
                        </a:rPr>
                        <a:t>8</a:t>
                      </a:r>
                      <a:r>
                        <a:rPr lang="en-IN" sz="1800" u="none" cap="none" strike="noStrike"/>
                        <a:t> v2 </a:t>
                      </a:r>
                      <a:r>
                        <a:rPr lang="en-IN" sz="1800" u="none" cap="none" strike="noStrike">
                          <a:solidFill>
                            <a:srgbClr val="666600"/>
                          </a:solidFill>
                        </a:rPr>
                        <a:t>&lt;-</a:t>
                      </a:r>
                      <a:r>
                        <a:rPr lang="en-IN" sz="1800" u="none" cap="none" strike="noStrike"/>
                        <a:t> </a:t>
                      </a:r>
                      <a:r>
                        <a:rPr lang="en-IN" sz="1800" u="none" cap="none" strike="noStrike">
                          <a:solidFill>
                            <a:srgbClr val="006666"/>
                          </a:solidFill>
                        </a:rPr>
                        <a:t>12</a:t>
                      </a:r>
                      <a:r>
                        <a:rPr lang="en-IN" sz="1800" u="none" cap="none" strike="noStrike"/>
                        <a:t> t </a:t>
                      </a:r>
                      <a:r>
                        <a:rPr lang="en-IN" sz="1800" u="none" cap="none" strike="noStrike">
                          <a:solidFill>
                            <a:srgbClr val="666600"/>
                          </a:solidFill>
                        </a:rPr>
                        <a:t>&lt;-</a:t>
                      </a:r>
                      <a:r>
                        <a:rPr lang="en-IN" sz="1800" u="none" cap="none" strike="noStrike"/>
                        <a:t> </a:t>
                      </a:r>
                      <a:r>
                        <a:rPr lang="en-IN" sz="1800" u="none" cap="none" strike="noStrike">
                          <a:solidFill>
                            <a:srgbClr val="006666"/>
                          </a:solidFill>
                        </a:rPr>
                        <a:t>1</a:t>
                      </a:r>
                      <a:r>
                        <a:rPr lang="en-IN" sz="1800" u="none" cap="none" strike="noStrike">
                          <a:solidFill>
                            <a:srgbClr val="666600"/>
                          </a:solidFill>
                        </a:rPr>
                        <a:t>:</a:t>
                      </a:r>
                      <a:r>
                        <a:rPr lang="en-IN" sz="1800" u="none" cap="none" strike="noStrike">
                          <a:solidFill>
                            <a:srgbClr val="006666"/>
                          </a:solidFill>
                        </a:rPr>
                        <a:t>10</a:t>
                      </a:r>
                      <a:r>
                        <a:rPr lang="en-IN" sz="1800" u="none" cap="none" strike="noStrike"/>
                        <a:t> </a:t>
                      </a:r>
                      <a:r>
                        <a:rPr lang="en-IN" sz="1800" u="none" cap="none" strike="noStrike">
                          <a:solidFill>
                            <a:srgbClr val="000088"/>
                          </a:solidFill>
                        </a:rPr>
                        <a:t>print</a:t>
                      </a:r>
                      <a:r>
                        <a:rPr lang="en-IN" sz="1800" u="none" cap="none" strike="noStrike">
                          <a:solidFill>
                            <a:srgbClr val="666600"/>
                          </a:solidFill>
                        </a:rPr>
                        <a:t>(</a:t>
                      </a:r>
                      <a:r>
                        <a:rPr lang="en-IN" sz="1800" u="none" cap="none" strike="noStrike"/>
                        <a:t>v1 </a:t>
                      </a:r>
                      <a:r>
                        <a:rPr lang="en-IN" sz="1800" u="none" cap="none" strike="noStrike">
                          <a:solidFill>
                            <a:srgbClr val="666600"/>
                          </a:solidFill>
                        </a:rPr>
                        <a:t>%</a:t>
                      </a:r>
                      <a:r>
                        <a:rPr lang="en-IN" sz="1800" u="none" cap="none" strike="noStrike">
                          <a:solidFill>
                            <a:srgbClr val="000088"/>
                          </a:solidFill>
                        </a:rPr>
                        <a:t>in</a:t>
                      </a:r>
                      <a:r>
                        <a:rPr lang="en-IN" sz="1800" u="none" cap="none" strike="noStrike">
                          <a:solidFill>
                            <a:srgbClr val="666600"/>
                          </a:solidFill>
                        </a:rPr>
                        <a:t>%</a:t>
                      </a:r>
                      <a:r>
                        <a:rPr lang="en-IN" sz="1800" u="none" cap="none" strike="noStrike"/>
                        <a:t> t</a:t>
                      </a:r>
                      <a:r>
                        <a:rPr lang="en-IN" sz="1800" u="none" cap="none" strike="noStrike">
                          <a:solidFill>
                            <a:srgbClr val="666600"/>
                          </a:solidFill>
                        </a:rPr>
                        <a:t>)</a:t>
                      </a:r>
                      <a:r>
                        <a:rPr lang="en-IN" sz="1800" u="none" cap="none" strike="noStrike"/>
                        <a:t> </a:t>
                      </a:r>
                      <a:r>
                        <a:rPr lang="en-IN" sz="1800" u="none" cap="none" strike="noStrike">
                          <a:solidFill>
                            <a:srgbClr val="000088"/>
                          </a:solidFill>
                        </a:rPr>
                        <a:t>print</a:t>
                      </a:r>
                      <a:r>
                        <a:rPr lang="en-IN" sz="1800" u="none" cap="none" strike="noStrike">
                          <a:solidFill>
                            <a:srgbClr val="666600"/>
                          </a:solidFill>
                        </a:rPr>
                        <a:t>(</a:t>
                      </a:r>
                      <a:r>
                        <a:rPr lang="en-IN" sz="1800" u="none" cap="none" strike="noStrike"/>
                        <a:t>v2 </a:t>
                      </a:r>
                      <a:r>
                        <a:rPr lang="en-IN" sz="1800" u="none" cap="none" strike="noStrike">
                          <a:solidFill>
                            <a:srgbClr val="666600"/>
                          </a:solidFill>
                        </a:rPr>
                        <a:t>%</a:t>
                      </a:r>
                      <a:r>
                        <a:rPr lang="en-IN" sz="1800" u="none" cap="none" strike="noStrike">
                          <a:solidFill>
                            <a:srgbClr val="000088"/>
                          </a:solidFill>
                        </a:rPr>
                        <a:t>in</a:t>
                      </a:r>
                      <a:r>
                        <a:rPr lang="en-IN" sz="1800" u="none" cap="none" strike="noStrike">
                          <a:solidFill>
                            <a:srgbClr val="666600"/>
                          </a:solidFill>
                        </a:rPr>
                        <a:t>%</a:t>
                      </a:r>
                      <a:r>
                        <a:rPr lang="en-IN" sz="1800" u="none" cap="none" strike="noStrike"/>
                        <a:t> t</a:t>
                      </a:r>
                      <a:r>
                        <a:rPr lang="en-IN" sz="1800" u="none" cap="none" strike="noStrike">
                          <a:solidFill>
                            <a:srgbClr val="666600"/>
                          </a:solidFill>
                        </a:rPr>
                        <a:t>)</a:t>
                      </a:r>
                      <a:r>
                        <a:rPr lang="en-IN" sz="1800" u="none" cap="none" strike="noStrike"/>
                        <a:t> </a:t>
                      </a:r>
                      <a:r>
                        <a:rPr lang="en-IN" sz="1800" u="none" cap="none" strike="noStrike">
                          <a:solidFill>
                            <a:srgbClr val="000000"/>
                          </a:solidFill>
                        </a:rPr>
                        <a:t>it produces the following result −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 u="none" cap="none" strike="noStrike"/>
                        <a:t>[1] TRUE [1] FALSE </a:t>
                      </a:r>
                      <a:endParaRPr/>
                    </a:p>
                  </a:txBody>
                  <a:tcPr marT="40275" marB="40275" marR="53700" marL="53700">
                    <a:lnL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6751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 u="none" cap="none" strike="noStrike"/>
                        <a:t>%*%</a:t>
                      </a:r>
                      <a:endParaRPr/>
                    </a:p>
                  </a:txBody>
                  <a:tcPr marT="40275" marB="40275" marR="53700" marL="53700">
                    <a:lnL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 u="none" cap="none" strike="noStrike"/>
                        <a:t>This operator is used to multiply a matrix with its transpose.</a:t>
                      </a:r>
                      <a:endParaRPr/>
                    </a:p>
                  </a:txBody>
                  <a:tcPr marT="40275" marB="40275" marR="53700" marL="53700" anchor="ctr">
                    <a:lnL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 u="none" cap="none" strike="noStrike"/>
                        <a:t>M </a:t>
                      </a:r>
                      <a:r>
                        <a:rPr lang="en-IN" sz="1800" u="none" cap="none" strike="noStrike">
                          <a:solidFill>
                            <a:srgbClr val="666600"/>
                          </a:solidFill>
                        </a:rPr>
                        <a:t>=</a:t>
                      </a:r>
                      <a:r>
                        <a:rPr lang="en-IN" sz="1800" u="none" cap="none" strike="noStrike"/>
                        <a:t> matrix</a:t>
                      </a:r>
                      <a:r>
                        <a:rPr lang="en-IN" sz="1800" u="none" cap="none" strike="noStrike">
                          <a:solidFill>
                            <a:srgbClr val="666600"/>
                          </a:solidFill>
                        </a:rPr>
                        <a:t>(</a:t>
                      </a:r>
                      <a:r>
                        <a:rPr lang="en-IN" sz="1800" u="none" cap="none" strike="noStrike"/>
                        <a:t> c</a:t>
                      </a:r>
                      <a:r>
                        <a:rPr lang="en-IN" sz="1800" u="none" cap="none" strike="noStrike">
                          <a:solidFill>
                            <a:srgbClr val="666600"/>
                          </a:solidFill>
                        </a:rPr>
                        <a:t>(</a:t>
                      </a:r>
                      <a:r>
                        <a:rPr lang="en-IN" sz="1800" u="none" cap="none" strike="noStrike">
                          <a:solidFill>
                            <a:srgbClr val="006666"/>
                          </a:solidFill>
                        </a:rPr>
                        <a:t>2</a:t>
                      </a:r>
                      <a:r>
                        <a:rPr lang="en-IN" sz="1800" u="none" cap="none" strike="noStrike">
                          <a:solidFill>
                            <a:srgbClr val="666600"/>
                          </a:solidFill>
                        </a:rPr>
                        <a:t>,</a:t>
                      </a:r>
                      <a:r>
                        <a:rPr lang="en-IN" sz="1800" u="none" cap="none" strike="noStrike">
                          <a:solidFill>
                            <a:srgbClr val="006666"/>
                          </a:solidFill>
                        </a:rPr>
                        <a:t>6</a:t>
                      </a:r>
                      <a:r>
                        <a:rPr lang="en-IN" sz="1800" u="none" cap="none" strike="noStrike">
                          <a:solidFill>
                            <a:srgbClr val="666600"/>
                          </a:solidFill>
                        </a:rPr>
                        <a:t>,</a:t>
                      </a:r>
                      <a:r>
                        <a:rPr lang="en-IN" sz="1800" u="none" cap="none" strike="noStrike">
                          <a:solidFill>
                            <a:srgbClr val="006666"/>
                          </a:solidFill>
                        </a:rPr>
                        <a:t>5</a:t>
                      </a:r>
                      <a:r>
                        <a:rPr lang="en-IN" sz="1800" u="none" cap="none" strike="noStrike">
                          <a:solidFill>
                            <a:srgbClr val="666600"/>
                          </a:solidFill>
                        </a:rPr>
                        <a:t>,</a:t>
                      </a:r>
                      <a:r>
                        <a:rPr lang="en-IN" sz="1800" u="none" cap="none" strike="noStrike">
                          <a:solidFill>
                            <a:srgbClr val="006666"/>
                          </a:solidFill>
                        </a:rPr>
                        <a:t>1</a:t>
                      </a:r>
                      <a:r>
                        <a:rPr lang="en-IN" sz="1800" u="none" cap="none" strike="noStrike">
                          <a:solidFill>
                            <a:srgbClr val="666600"/>
                          </a:solidFill>
                        </a:rPr>
                        <a:t>,</a:t>
                      </a:r>
                      <a:r>
                        <a:rPr lang="en-IN" sz="1800" u="none" cap="none" strike="noStrike">
                          <a:solidFill>
                            <a:srgbClr val="006666"/>
                          </a:solidFill>
                        </a:rPr>
                        <a:t>10</a:t>
                      </a:r>
                      <a:r>
                        <a:rPr lang="en-IN" sz="1800" u="none" cap="none" strike="noStrike">
                          <a:solidFill>
                            <a:srgbClr val="666600"/>
                          </a:solidFill>
                        </a:rPr>
                        <a:t>,</a:t>
                      </a:r>
                      <a:r>
                        <a:rPr lang="en-IN" sz="1800" u="none" cap="none" strike="noStrike">
                          <a:solidFill>
                            <a:srgbClr val="006666"/>
                          </a:solidFill>
                        </a:rPr>
                        <a:t>4</a:t>
                      </a:r>
                      <a:r>
                        <a:rPr lang="en-IN" sz="1800" u="none" cap="none" strike="noStrike">
                          <a:solidFill>
                            <a:srgbClr val="666600"/>
                          </a:solidFill>
                        </a:rPr>
                        <a:t>),</a:t>
                      </a:r>
                      <a:r>
                        <a:rPr lang="en-IN" sz="1800" u="none" cap="none" strike="noStrike"/>
                        <a:t> nrow </a:t>
                      </a:r>
                      <a:r>
                        <a:rPr lang="en-IN" sz="1800" u="none" cap="none" strike="noStrike">
                          <a:solidFill>
                            <a:srgbClr val="666600"/>
                          </a:solidFill>
                        </a:rPr>
                        <a:t>=</a:t>
                      </a:r>
                      <a:r>
                        <a:rPr lang="en-IN" sz="1800" u="none" cap="none" strike="noStrike"/>
                        <a:t> </a:t>
                      </a:r>
                      <a:r>
                        <a:rPr lang="en-IN" sz="1800" u="none" cap="none" strike="noStrike">
                          <a:solidFill>
                            <a:srgbClr val="006666"/>
                          </a:solidFill>
                        </a:rPr>
                        <a:t>2</a:t>
                      </a:r>
                      <a:r>
                        <a:rPr lang="en-IN" sz="1800" u="none" cap="none" strike="noStrike">
                          <a:solidFill>
                            <a:srgbClr val="666600"/>
                          </a:solidFill>
                        </a:rPr>
                        <a:t>,</a:t>
                      </a:r>
                      <a:r>
                        <a:rPr lang="en-IN" sz="1800" u="none" cap="none" strike="noStrike"/>
                        <a:t>ncol </a:t>
                      </a:r>
                      <a:r>
                        <a:rPr lang="en-IN" sz="1800" u="none" cap="none" strike="noStrike">
                          <a:solidFill>
                            <a:srgbClr val="666600"/>
                          </a:solidFill>
                        </a:rPr>
                        <a:t>=</a:t>
                      </a:r>
                      <a:r>
                        <a:rPr lang="en-IN" sz="1800" u="none" cap="none" strike="noStrike"/>
                        <a:t> </a:t>
                      </a:r>
                      <a:r>
                        <a:rPr lang="en-IN" sz="1800" u="none" cap="none" strike="noStrike">
                          <a:solidFill>
                            <a:srgbClr val="006666"/>
                          </a:solidFill>
                        </a:rPr>
                        <a:t>3</a:t>
                      </a:r>
                      <a:r>
                        <a:rPr lang="en-IN" sz="1800" u="none" cap="none" strike="noStrike">
                          <a:solidFill>
                            <a:srgbClr val="666600"/>
                          </a:solidFill>
                        </a:rPr>
                        <a:t>,</a:t>
                      </a:r>
                      <a:r>
                        <a:rPr lang="en-IN" sz="1800" u="none" cap="none" strike="noStrike"/>
                        <a:t>byrow </a:t>
                      </a:r>
                      <a:r>
                        <a:rPr lang="en-IN" sz="1800" u="none" cap="none" strike="noStrike">
                          <a:solidFill>
                            <a:srgbClr val="666600"/>
                          </a:solidFill>
                        </a:rPr>
                        <a:t>=</a:t>
                      </a:r>
                      <a:r>
                        <a:rPr lang="en-IN" sz="1800" u="none" cap="none" strike="noStrike"/>
                        <a:t> TRUE</a:t>
                      </a:r>
                      <a:r>
                        <a:rPr lang="en-IN" sz="1800" u="none" cap="none" strike="noStrike">
                          <a:solidFill>
                            <a:srgbClr val="666600"/>
                          </a:solidFill>
                        </a:rPr>
                        <a:t>)</a:t>
                      </a:r>
                      <a:r>
                        <a:rPr lang="en-IN" sz="1800" u="none" cap="none" strike="noStrike"/>
                        <a:t> t </a:t>
                      </a:r>
                      <a:r>
                        <a:rPr lang="en-IN" sz="1800" u="none" cap="none" strike="noStrike">
                          <a:solidFill>
                            <a:srgbClr val="666600"/>
                          </a:solidFill>
                        </a:rPr>
                        <a:t>=</a:t>
                      </a:r>
                      <a:r>
                        <a:rPr lang="en-IN" sz="1800" u="none" cap="none" strike="noStrike"/>
                        <a:t> M </a:t>
                      </a:r>
                      <a:r>
                        <a:rPr lang="en-IN" sz="1800" u="none" cap="none" strike="noStrike">
                          <a:solidFill>
                            <a:srgbClr val="666600"/>
                          </a:solidFill>
                        </a:rPr>
                        <a:t>%*%</a:t>
                      </a:r>
                      <a:r>
                        <a:rPr lang="en-IN" sz="1800" u="none" cap="none" strike="noStrike"/>
                        <a:t> t</a:t>
                      </a:r>
                      <a:r>
                        <a:rPr lang="en-IN" sz="1800" u="none" cap="none" strike="noStrike">
                          <a:solidFill>
                            <a:srgbClr val="666600"/>
                          </a:solidFill>
                        </a:rPr>
                        <a:t>(</a:t>
                      </a:r>
                      <a:r>
                        <a:rPr lang="en-IN" sz="1800" u="none" cap="none" strike="noStrike"/>
                        <a:t>M</a:t>
                      </a:r>
                      <a:r>
                        <a:rPr lang="en-IN" sz="1800" u="none" cap="none" strike="noStrike">
                          <a:solidFill>
                            <a:srgbClr val="666600"/>
                          </a:solidFill>
                        </a:rPr>
                        <a:t>)</a:t>
                      </a:r>
                      <a:r>
                        <a:rPr lang="en-IN" sz="1800" u="none" cap="none" strike="noStrike"/>
                        <a:t> </a:t>
                      </a:r>
                      <a:r>
                        <a:rPr lang="en-IN" sz="1800" u="none" cap="none" strike="noStrike">
                          <a:solidFill>
                            <a:srgbClr val="000088"/>
                          </a:solidFill>
                        </a:rPr>
                        <a:t>print</a:t>
                      </a:r>
                      <a:r>
                        <a:rPr lang="en-IN" sz="1800" u="none" cap="none" strike="noStrike">
                          <a:solidFill>
                            <a:srgbClr val="666600"/>
                          </a:solidFill>
                        </a:rPr>
                        <a:t>(</a:t>
                      </a:r>
                      <a:r>
                        <a:rPr lang="en-IN" sz="1800" u="none" cap="none" strike="noStrike"/>
                        <a:t>t</a:t>
                      </a:r>
                      <a:r>
                        <a:rPr lang="en-IN" sz="1800" u="none" cap="none" strike="noStrike">
                          <a:solidFill>
                            <a:srgbClr val="666600"/>
                          </a:solidFill>
                        </a:rPr>
                        <a:t>)</a:t>
                      </a:r>
                      <a:r>
                        <a:rPr lang="en-IN" sz="1800" u="none" cap="none" strike="noStrike">
                          <a:solidFill>
                            <a:srgbClr val="000000"/>
                          </a:solidFill>
                        </a:rPr>
                        <a:t>it produces the following result −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 u="none" cap="none" strike="noStrike"/>
                        <a:t>[,1] [,2] [1,] 65 82 [2,] 82 117</a:t>
                      </a:r>
                      <a:endParaRPr/>
                    </a:p>
                  </a:txBody>
                  <a:tcPr marT="40275" marB="40275" marR="53700" marL="53700">
                    <a:lnL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31"/>
          <p:cNvSpPr txBox="1"/>
          <p:nvPr>
            <p:ph type="title"/>
          </p:nvPr>
        </p:nvSpPr>
        <p:spPr>
          <a:xfrm>
            <a:off x="870858" y="659039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5400"/>
              <a:buFont typeface="Marcellus"/>
              <a:buNone/>
            </a:pPr>
            <a:r>
              <a:t/>
            </a:r>
            <a:endParaRPr/>
          </a:p>
        </p:txBody>
      </p:sp>
      <p:sp>
        <p:nvSpPr>
          <p:cNvPr id="272" name="Google Shape;272;p31"/>
          <p:cNvSpPr txBox="1"/>
          <p:nvPr>
            <p:ph idx="1" type="body"/>
          </p:nvPr>
        </p:nvSpPr>
        <p:spPr>
          <a:xfrm>
            <a:off x="838200" y="2070560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508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32"/>
          <p:cNvSpPr txBox="1"/>
          <p:nvPr>
            <p:ph type="title"/>
          </p:nvPr>
        </p:nvSpPr>
        <p:spPr>
          <a:xfrm>
            <a:off x="870858" y="659039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5400"/>
              <a:buFont typeface="Marcellus"/>
              <a:buNone/>
            </a:pPr>
            <a:r>
              <a:rPr lang="en-IN"/>
              <a:t>R - Decision making</a:t>
            </a:r>
            <a:endParaRPr/>
          </a:p>
        </p:txBody>
      </p:sp>
      <p:graphicFrame>
        <p:nvGraphicFramePr>
          <p:cNvPr id="278" name="Google Shape;278;p32"/>
          <p:cNvGraphicFramePr/>
          <p:nvPr/>
        </p:nvGraphicFramePr>
        <p:xfrm>
          <a:off x="911424" y="2204864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{5B9686C9-2DAC-4542-8D34-4B4182193A1A}</a:tableStyleId>
              </a:tblPr>
              <a:tblGrid>
                <a:gridCol w="744525"/>
                <a:gridCol w="4344025"/>
              </a:tblGrid>
              <a:tr h="3909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400" u="none" cap="none" strike="noStrike">
                          <a:solidFill>
                            <a:schemeClr val="dk1"/>
                          </a:solidFill>
                        </a:rPr>
                        <a:t>Sr.No.</a:t>
                      </a:r>
                      <a:endParaRPr/>
                    </a:p>
                  </a:txBody>
                  <a:tcPr marT="51900" marB="51900" marR="69200" marL="69200">
                    <a:lnL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400" u="none" cap="none" strike="noStrike">
                          <a:solidFill>
                            <a:schemeClr val="dk1"/>
                          </a:solidFill>
                        </a:rPr>
                        <a:t>Statement &amp; Description</a:t>
                      </a:r>
                      <a:endParaRPr/>
                    </a:p>
                  </a:txBody>
                  <a:tcPr marT="51900" marB="51900" marR="69200" marL="69200">
                    <a:lnL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EEEEE"/>
                    </a:solidFill>
                  </a:tcPr>
                </a:tc>
              </a:tr>
              <a:tr h="10028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400" u="none" cap="none" strike="noStrike">
                          <a:solidFill>
                            <a:schemeClr val="dk1"/>
                          </a:solidFill>
                        </a:rPr>
                        <a:t>1</a:t>
                      </a:r>
                      <a:endParaRPr/>
                    </a:p>
                  </a:txBody>
                  <a:tcPr marT="51900" marB="51900" marR="69200" marL="69200">
                    <a:lnL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IN" sz="1400" u="sng" cap="none" strike="noStrike">
                          <a:solidFill>
                            <a:schemeClr val="dk1"/>
                          </a:solidFill>
                          <a:hlinkClick r:id="rId3">
                            <a:extLst>
                              <a:ext uri="{A12FA001-AC4F-418D-AE19-62706E023703}">
                                <ahyp:hlinkClr val="tx"/>
                              </a:ext>
                            </a:extLst>
                          </a:hlinkClick>
                        </a:rPr>
                        <a:t>if statement</a:t>
                      </a:r>
                      <a:r>
                        <a:rPr lang="en-IN" sz="1400" u="none" cap="none" strike="noStrike">
                          <a:solidFill>
                            <a:schemeClr val="dk1"/>
                          </a:solidFill>
                        </a:rPr>
                        <a:t>An </a:t>
                      </a:r>
                      <a:r>
                        <a:rPr b="1" lang="en-IN" sz="1400" u="none" cap="none" strike="noStrike">
                          <a:solidFill>
                            <a:schemeClr val="dk1"/>
                          </a:solidFill>
                        </a:rPr>
                        <a:t>if</a:t>
                      </a:r>
                      <a:r>
                        <a:rPr lang="en-IN" sz="1400" u="none" cap="none" strike="noStrike">
                          <a:solidFill>
                            <a:schemeClr val="dk1"/>
                          </a:solidFill>
                        </a:rPr>
                        <a:t> statement consists of a Boolean expression followed by one or more statements.</a:t>
                      </a:r>
                      <a:endParaRPr/>
                    </a:p>
                  </a:txBody>
                  <a:tcPr marT="51900" marB="51900" marR="69200" marL="69200">
                    <a:lnL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3087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400" u="none" cap="none" strike="noStrike">
                          <a:solidFill>
                            <a:schemeClr val="dk1"/>
                          </a:solidFill>
                        </a:rPr>
                        <a:t>2</a:t>
                      </a:r>
                      <a:endParaRPr/>
                    </a:p>
                  </a:txBody>
                  <a:tcPr marT="51900" marB="51900" marR="69200" marL="69200">
                    <a:lnL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IN" sz="1400" u="sng" cap="none" strike="noStrike">
                          <a:solidFill>
                            <a:schemeClr val="dk1"/>
                          </a:solidFill>
                          <a:hlinkClick r:id="rId4">
                            <a:extLst>
                              <a:ext uri="{A12FA001-AC4F-418D-AE19-62706E023703}">
                                <ahyp:hlinkClr val="tx"/>
                              </a:ext>
                            </a:extLst>
                          </a:hlinkClick>
                        </a:rPr>
                        <a:t>if...else statement</a:t>
                      </a:r>
                      <a:r>
                        <a:rPr lang="en-IN" sz="1400" u="none" cap="none" strike="noStrike">
                          <a:solidFill>
                            <a:schemeClr val="dk1"/>
                          </a:solidFill>
                        </a:rPr>
                        <a:t>An </a:t>
                      </a:r>
                      <a:r>
                        <a:rPr b="1" lang="en-IN" sz="1400" u="none" cap="none" strike="noStrike">
                          <a:solidFill>
                            <a:schemeClr val="dk1"/>
                          </a:solidFill>
                        </a:rPr>
                        <a:t>if</a:t>
                      </a:r>
                      <a:r>
                        <a:rPr lang="en-IN" sz="1400" u="none" cap="none" strike="noStrike">
                          <a:solidFill>
                            <a:schemeClr val="dk1"/>
                          </a:solidFill>
                        </a:rPr>
                        <a:t> statement can be followed by an optional </a:t>
                      </a:r>
                      <a:r>
                        <a:rPr b="1" lang="en-IN" sz="1400" u="none" cap="none" strike="noStrike">
                          <a:solidFill>
                            <a:schemeClr val="dk1"/>
                          </a:solidFill>
                        </a:rPr>
                        <a:t>else</a:t>
                      </a:r>
                      <a:r>
                        <a:rPr lang="en-IN" sz="1400" u="none" cap="none" strike="noStrike">
                          <a:solidFill>
                            <a:schemeClr val="dk1"/>
                          </a:solidFill>
                        </a:rPr>
                        <a:t>statement, which executes when the Boolean expression is false.</a:t>
                      </a:r>
                      <a:endParaRPr/>
                    </a:p>
                  </a:txBody>
                  <a:tcPr marT="51900" marB="51900" marR="69200" marL="69200">
                    <a:lnL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0028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400" u="none" cap="none" strike="noStrike">
                          <a:solidFill>
                            <a:schemeClr val="dk1"/>
                          </a:solidFill>
                        </a:rPr>
                        <a:t>3</a:t>
                      </a:r>
                      <a:endParaRPr/>
                    </a:p>
                  </a:txBody>
                  <a:tcPr marT="51900" marB="51900" marR="69200" marL="69200">
                    <a:lnL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IN" sz="1400" u="sng" cap="none" strike="noStrike">
                          <a:solidFill>
                            <a:schemeClr val="dk1"/>
                          </a:solidFill>
                          <a:hlinkClick r:id="rId5">
                            <a:extLst>
                              <a:ext uri="{A12FA001-AC4F-418D-AE19-62706E023703}">
                                <ahyp:hlinkClr val="tx"/>
                              </a:ext>
                            </a:extLst>
                          </a:hlinkClick>
                        </a:rPr>
                        <a:t>switch statement</a:t>
                      </a:r>
                      <a:r>
                        <a:rPr lang="en-IN" sz="1400" u="none" cap="none" strike="noStrike">
                          <a:solidFill>
                            <a:schemeClr val="dk1"/>
                          </a:solidFill>
                        </a:rPr>
                        <a:t>A </a:t>
                      </a:r>
                      <a:r>
                        <a:rPr b="1" lang="en-IN" sz="1400" u="none" cap="none" strike="noStrike">
                          <a:solidFill>
                            <a:schemeClr val="dk1"/>
                          </a:solidFill>
                        </a:rPr>
                        <a:t>switch</a:t>
                      </a:r>
                      <a:r>
                        <a:rPr lang="en-IN" sz="1400" u="none" cap="none" strike="noStrike">
                          <a:solidFill>
                            <a:schemeClr val="dk1"/>
                          </a:solidFill>
                        </a:rPr>
                        <a:t> statement allows a variable to be tested for equality against a list of values.</a:t>
                      </a:r>
                      <a:endParaRPr/>
                    </a:p>
                  </a:txBody>
                  <a:tcPr marT="51900" marB="51900" marR="69200" marL="69200">
                    <a:lnL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pic>
        <p:nvPicPr>
          <p:cNvPr descr="Decision Making" id="279" name="Google Shape;279;p3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152118" y="2204865"/>
            <a:ext cx="3365500" cy="3228975"/>
          </a:xfrm>
          <a:prstGeom prst="rect">
            <a:avLst/>
          </a:prstGeom>
          <a:noFill/>
          <a:ln>
            <a:noFill/>
          </a:ln>
        </p:spPr>
      </p:pic>
      <p:sp>
        <p:nvSpPr>
          <p:cNvPr id="280" name="Google Shape;280;p3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Prof. Vaibhav P. Vasani</a:t>
            </a:r>
            <a:endParaRPr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p33"/>
          <p:cNvSpPr txBox="1"/>
          <p:nvPr>
            <p:ph type="title"/>
          </p:nvPr>
        </p:nvSpPr>
        <p:spPr>
          <a:xfrm>
            <a:off x="870858" y="659039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5400"/>
              <a:buFont typeface="Marcellus"/>
              <a:buNone/>
            </a:pPr>
            <a:r>
              <a:rPr lang="en-IN"/>
              <a:t>R - Loops</a:t>
            </a:r>
            <a:endParaRPr/>
          </a:p>
        </p:txBody>
      </p:sp>
      <p:graphicFrame>
        <p:nvGraphicFramePr>
          <p:cNvPr id="286" name="Google Shape;286;p33"/>
          <p:cNvGraphicFramePr/>
          <p:nvPr/>
        </p:nvGraphicFramePr>
        <p:xfrm>
          <a:off x="1007432" y="16002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{5B9686C9-2DAC-4542-8D34-4B4182193A1A}</a:tableStyleId>
              </a:tblPr>
              <a:tblGrid>
                <a:gridCol w="1471425"/>
                <a:gridCol w="3521125"/>
              </a:tblGrid>
              <a:tr h="4775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600" u="none" cap="none" strike="noStrike"/>
                        <a:t>Sr.No.</a:t>
                      </a:r>
                      <a:endParaRPr/>
                    </a:p>
                  </a:txBody>
                  <a:tcPr marT="51900" marB="51900" marR="69200" marL="69200">
                    <a:lnL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600" u="none" cap="none" strike="noStrike"/>
                        <a:t>Loop Type &amp; Description</a:t>
                      </a:r>
                      <a:endParaRPr/>
                    </a:p>
                  </a:txBody>
                  <a:tcPr marT="51900" marB="51900" marR="69200" marL="69200">
                    <a:lnL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EEEEE"/>
                    </a:solidFill>
                  </a:tcPr>
                </a:tc>
              </a:tr>
              <a:tr h="14117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600" u="none" cap="none" strike="noStrike"/>
                        <a:t>1</a:t>
                      </a:r>
                      <a:endParaRPr/>
                    </a:p>
                  </a:txBody>
                  <a:tcPr marT="51900" marB="51900" marR="69200" marL="69200">
                    <a:lnL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IN" sz="1600" u="sng" cap="none" strike="noStrike">
                          <a:solidFill>
                            <a:srgbClr val="313131"/>
                          </a:solidFill>
                          <a:hlinkClick r:id="rId3">
                            <a:extLst>
                              <a:ext uri="{A12FA001-AC4F-418D-AE19-62706E023703}">
                                <ahyp:hlinkClr val="tx"/>
                              </a:ext>
                            </a:extLst>
                          </a:hlinkClick>
                        </a:rPr>
                        <a:t>repeat loop</a:t>
                      </a:r>
                      <a:r>
                        <a:rPr lang="en-IN" sz="1600" u="none" cap="none" strike="noStrike">
                          <a:solidFill>
                            <a:srgbClr val="000000"/>
                          </a:solidFill>
                        </a:rPr>
                        <a:t>Executes a sequence of statements multiple times and abbreviates the code that manages the loop variable.</a:t>
                      </a:r>
                      <a:endParaRPr/>
                    </a:p>
                  </a:txBody>
                  <a:tcPr marT="51900" marB="51900" marR="69200" marL="69200">
                    <a:lnL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5986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600" u="none" cap="none" strike="noStrike"/>
                        <a:t>2</a:t>
                      </a:r>
                      <a:endParaRPr/>
                    </a:p>
                  </a:txBody>
                  <a:tcPr marT="51900" marB="51900" marR="69200" marL="69200">
                    <a:lnL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IN" sz="1600" u="sng" cap="none" strike="noStrike">
                          <a:solidFill>
                            <a:srgbClr val="313131"/>
                          </a:solidFill>
                          <a:hlinkClick r:id="rId4">
                            <a:extLst>
                              <a:ext uri="{A12FA001-AC4F-418D-AE19-62706E023703}">
                                <ahyp:hlinkClr val="tx"/>
                              </a:ext>
                            </a:extLst>
                          </a:hlinkClick>
                        </a:rPr>
                        <a:t>while loop</a:t>
                      </a:r>
                      <a:r>
                        <a:rPr lang="en-IN" sz="1600" u="none" cap="none" strike="noStrike">
                          <a:solidFill>
                            <a:srgbClr val="000000"/>
                          </a:solidFill>
                        </a:rPr>
                        <a:t>Repeats a statement or group of statements while a given condition is true. It tests the condition before executing the loop body.</a:t>
                      </a:r>
                      <a:endParaRPr/>
                    </a:p>
                  </a:txBody>
                  <a:tcPr marT="51900" marB="51900" marR="69200" marL="69200">
                    <a:lnL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0380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600" u="none" cap="none" strike="noStrike"/>
                        <a:t>3</a:t>
                      </a:r>
                      <a:endParaRPr/>
                    </a:p>
                  </a:txBody>
                  <a:tcPr marT="51900" marB="51900" marR="69200" marL="69200">
                    <a:lnL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IN" sz="1600" u="sng" cap="none" strike="noStrike">
                          <a:solidFill>
                            <a:srgbClr val="313131"/>
                          </a:solidFill>
                          <a:hlinkClick r:id="rId5">
                            <a:extLst>
                              <a:ext uri="{A12FA001-AC4F-418D-AE19-62706E023703}">
                                <ahyp:hlinkClr val="tx"/>
                              </a:ext>
                            </a:extLst>
                          </a:hlinkClick>
                        </a:rPr>
                        <a:t>for loop</a:t>
                      </a:r>
                      <a:r>
                        <a:rPr lang="en-IN" sz="1600" u="none" cap="none" strike="noStrike">
                          <a:solidFill>
                            <a:srgbClr val="000000"/>
                          </a:solidFill>
                        </a:rPr>
                        <a:t>Like a while statement, except that it tests the condition at the end of the loop body.</a:t>
                      </a:r>
                      <a:endParaRPr/>
                    </a:p>
                  </a:txBody>
                  <a:tcPr marT="51900" marB="51900" marR="69200" marL="69200">
                    <a:lnL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pic>
        <p:nvPicPr>
          <p:cNvPr descr="Loop Architecture" id="287" name="Google Shape;287;p3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331200" y="1708105"/>
            <a:ext cx="3860800" cy="3314700"/>
          </a:xfrm>
          <a:prstGeom prst="rect">
            <a:avLst/>
          </a:prstGeom>
          <a:noFill/>
          <a:ln>
            <a:noFill/>
          </a:ln>
        </p:spPr>
      </p:pic>
      <p:sp>
        <p:nvSpPr>
          <p:cNvPr id="288" name="Google Shape;288;p3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Prof. Vaibhav P. Vasani</a:t>
            </a:r>
            <a:endParaRPr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2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p34"/>
          <p:cNvSpPr txBox="1"/>
          <p:nvPr>
            <p:ph type="title"/>
          </p:nvPr>
        </p:nvSpPr>
        <p:spPr>
          <a:xfrm>
            <a:off x="870858" y="659039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5400"/>
              <a:buFont typeface="Marcellus"/>
              <a:buNone/>
            </a:pPr>
            <a:r>
              <a:rPr lang="en-IN"/>
              <a:t>Data Frame</a:t>
            </a:r>
            <a:endParaRPr/>
          </a:p>
        </p:txBody>
      </p:sp>
      <p:sp>
        <p:nvSpPr>
          <p:cNvPr id="294" name="Google Shape;294;p34"/>
          <p:cNvSpPr txBox="1"/>
          <p:nvPr>
            <p:ph idx="1" type="body"/>
          </p:nvPr>
        </p:nvSpPr>
        <p:spPr>
          <a:xfrm>
            <a:off x="838200" y="2070560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IN"/>
              <a:t>A data frame is used for storing data tables. It is a list of vectors of equal length.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IN"/>
              <a:t>For example, here is a built-in data frame in R, called mtcars.</a:t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IN"/>
              <a:t>mtcars[1,2]</a:t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  <p:pic>
        <p:nvPicPr>
          <p:cNvPr id="295" name="Google Shape;295;p3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927648" y="4149080"/>
            <a:ext cx="7137400" cy="857250"/>
          </a:xfrm>
          <a:prstGeom prst="rect">
            <a:avLst/>
          </a:prstGeom>
          <a:noFill/>
          <a:ln>
            <a:noFill/>
          </a:ln>
        </p:spPr>
      </p:pic>
      <p:sp>
        <p:nvSpPr>
          <p:cNvPr id="296" name="Google Shape;296;p3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Prof. Vaibhav P. Vasani</a:t>
            </a:r>
            <a:endParaRPr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p35"/>
          <p:cNvSpPr txBox="1"/>
          <p:nvPr>
            <p:ph type="title"/>
          </p:nvPr>
        </p:nvSpPr>
        <p:spPr>
          <a:xfrm>
            <a:off x="870858" y="659039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5400"/>
              <a:buFont typeface="Marcellus"/>
              <a:buNone/>
            </a:pPr>
            <a:r>
              <a:rPr lang="en-IN"/>
              <a:t>Array and Matrices</a:t>
            </a:r>
            <a:endParaRPr/>
          </a:p>
        </p:txBody>
      </p:sp>
      <p:sp>
        <p:nvSpPr>
          <p:cNvPr id="302" name="Google Shape;302;p35"/>
          <p:cNvSpPr txBox="1"/>
          <p:nvPr>
            <p:ph idx="1" type="body"/>
          </p:nvPr>
        </p:nvSpPr>
        <p:spPr>
          <a:xfrm>
            <a:off x="838200" y="2070560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IN"/>
              <a:t>Two different options for constructing matrices or arrays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IN"/>
              <a:t>matrix () and Array ()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IN"/>
              <a:t>&gt;my.array&lt; - array(1:24, dim=c(3,4,2))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IN"/>
              <a:t> </a:t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  <p:pic>
        <p:nvPicPr>
          <p:cNvPr id="303" name="Google Shape;303;p3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615946" y="3068960"/>
            <a:ext cx="4992555" cy="3007612"/>
          </a:xfrm>
          <a:prstGeom prst="rect">
            <a:avLst/>
          </a:prstGeom>
          <a:noFill/>
          <a:ln>
            <a:noFill/>
          </a:ln>
        </p:spPr>
      </p:pic>
      <p:sp>
        <p:nvSpPr>
          <p:cNvPr id="304" name="Google Shape;304;p3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Prof. Vaibhav P. Vasani</a:t>
            </a:r>
            <a:endParaRPr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9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36"/>
          <p:cNvSpPr txBox="1"/>
          <p:nvPr>
            <p:ph type="title"/>
          </p:nvPr>
        </p:nvSpPr>
        <p:spPr>
          <a:xfrm>
            <a:off x="870858" y="659039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5400"/>
              <a:buFont typeface="Marcellus"/>
              <a:buNone/>
            </a:pPr>
            <a:r>
              <a:t/>
            </a:r>
            <a:endParaRPr/>
          </a:p>
        </p:txBody>
      </p:sp>
      <p:sp>
        <p:nvSpPr>
          <p:cNvPr id="311" name="Google Shape;311;p36"/>
          <p:cNvSpPr txBox="1"/>
          <p:nvPr>
            <p:ph idx="1" type="body"/>
          </p:nvPr>
        </p:nvSpPr>
        <p:spPr>
          <a:xfrm>
            <a:off x="838200" y="2070560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IN"/>
              <a:t>my.vector&lt;- 1:24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IN"/>
              <a:t>dim(my.vector) &lt;- c(3,4,2)</a:t>
            </a:r>
            <a:endParaRPr/>
          </a:p>
        </p:txBody>
      </p:sp>
      <p:pic>
        <p:nvPicPr>
          <p:cNvPr id="312" name="Google Shape;312;p3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99456" y="3573016"/>
            <a:ext cx="10162171" cy="1579612"/>
          </a:xfrm>
          <a:prstGeom prst="rect">
            <a:avLst/>
          </a:prstGeom>
          <a:noFill/>
          <a:ln>
            <a:noFill/>
          </a:ln>
        </p:spPr>
      </p:pic>
      <p:sp>
        <p:nvSpPr>
          <p:cNvPr id="313" name="Google Shape;313;p36"/>
          <p:cNvSpPr/>
          <p:nvPr/>
        </p:nvSpPr>
        <p:spPr>
          <a:xfrm>
            <a:off x="1396168" y="5411043"/>
            <a:ext cx="9768747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80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rPr>
              <a:t>check whether two objects are identical by using the </a:t>
            </a:r>
            <a:r>
              <a:rPr b="1" lang="en-IN" sz="180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rPr>
              <a:t>identical () </a:t>
            </a:r>
            <a:r>
              <a:rPr lang="en-IN" sz="180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rPr>
              <a:t>function. </a:t>
            </a:r>
            <a:br>
              <a:rPr lang="en-IN" sz="180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rPr>
            </a:br>
            <a:endParaRPr sz="1800">
              <a:solidFill>
                <a:schemeClr val="dk1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314" name="Google Shape;314;p3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Prof. Vaibhav P. Vasani</a:t>
            </a:r>
            <a:endParaRPr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8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p37"/>
          <p:cNvSpPr txBox="1"/>
          <p:nvPr>
            <p:ph type="title"/>
          </p:nvPr>
        </p:nvSpPr>
        <p:spPr>
          <a:xfrm>
            <a:off x="870858" y="659039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5400"/>
              <a:buFont typeface="Marcellus"/>
              <a:buNone/>
            </a:pPr>
            <a:r>
              <a:rPr lang="en-IN"/>
              <a:t>Accessing Vector Elements</a:t>
            </a:r>
            <a:endParaRPr/>
          </a:p>
        </p:txBody>
      </p:sp>
      <p:sp>
        <p:nvSpPr>
          <p:cNvPr id="320" name="Google Shape;320;p37"/>
          <p:cNvSpPr txBox="1"/>
          <p:nvPr>
            <p:ph idx="1" type="body"/>
          </p:nvPr>
        </p:nvSpPr>
        <p:spPr>
          <a:xfrm>
            <a:off x="838200" y="2070560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IN" sz="2400"/>
              <a:t>Assume already have a vector with the numbers 1 through 24</a:t>
            </a:r>
            <a:endParaRPr sz="2400"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IN" sz="2400"/>
              <a:t>my.vector &lt;- 1:24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sz="2400"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IN" sz="2400"/>
              <a:t>convert that vector to an array exactly like my.array simply by assigning the dimensions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IN" sz="2400"/>
              <a:t>dim(my.vector) &lt;- c(3,4,2)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sz="2400"/>
          </a:p>
        </p:txBody>
      </p:sp>
      <p:pic>
        <p:nvPicPr>
          <p:cNvPr id="321" name="Google Shape;321;p3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19403" y="4365104"/>
            <a:ext cx="10325100" cy="1676400"/>
          </a:xfrm>
          <a:prstGeom prst="rect">
            <a:avLst/>
          </a:prstGeom>
          <a:noFill/>
          <a:ln>
            <a:noFill/>
          </a:ln>
        </p:spPr>
      </p:pic>
      <p:sp>
        <p:nvSpPr>
          <p:cNvPr id="322" name="Google Shape;322;p3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Prof. Vaibhav P. Vasani</a:t>
            </a:r>
            <a:endParaRPr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6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p38"/>
          <p:cNvSpPr txBox="1"/>
          <p:nvPr>
            <p:ph type="title"/>
          </p:nvPr>
        </p:nvSpPr>
        <p:spPr>
          <a:xfrm>
            <a:off x="870858" y="659039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5400"/>
              <a:buFont typeface="Marcellus"/>
              <a:buNone/>
            </a:pPr>
            <a:r>
              <a:rPr lang="en-IN"/>
              <a:t>R - Packages</a:t>
            </a:r>
            <a:endParaRPr/>
          </a:p>
        </p:txBody>
      </p:sp>
      <p:sp>
        <p:nvSpPr>
          <p:cNvPr id="328" name="Google Shape;328;p38"/>
          <p:cNvSpPr txBox="1"/>
          <p:nvPr>
            <p:ph idx="1" type="body"/>
          </p:nvPr>
        </p:nvSpPr>
        <p:spPr>
          <a:xfrm>
            <a:off x="838200" y="2070560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IN" sz="2000"/>
              <a:t>.libPaths()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IN" sz="2000"/>
              <a:t>library()		//Get the list of all the packages installed</a:t>
            </a:r>
            <a:endParaRPr sz="2000"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IN" sz="2000"/>
              <a:t>search()	//Get all packages currently loaded in the R environment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IN" sz="2000"/>
              <a:t>  install.packages("Package Name")//Install a New Package</a:t>
            </a:r>
            <a:endParaRPr/>
          </a:p>
          <a:p>
            <a:pPr indent="-101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t/>
            </a:r>
            <a:endParaRPr sz="2000"/>
          </a:p>
        </p:txBody>
      </p:sp>
      <p:sp>
        <p:nvSpPr>
          <p:cNvPr id="329" name="Google Shape;329;p3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Prof. Vaibhav P. Vasani</a:t>
            </a:r>
            <a:endParaRPr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3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p39"/>
          <p:cNvSpPr txBox="1"/>
          <p:nvPr>
            <p:ph type="title"/>
          </p:nvPr>
        </p:nvSpPr>
        <p:spPr>
          <a:xfrm>
            <a:off x="870858" y="659039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5400"/>
              <a:buFont typeface="Marcellus"/>
              <a:buNone/>
            </a:pPr>
            <a:r>
              <a:rPr lang="en-IN"/>
              <a:t>Reading database using R</a:t>
            </a:r>
            <a:endParaRPr/>
          </a:p>
        </p:txBody>
      </p:sp>
      <p:sp>
        <p:nvSpPr>
          <p:cNvPr id="335" name="Google Shape;335;p39"/>
          <p:cNvSpPr txBox="1"/>
          <p:nvPr>
            <p:ph idx="1" type="body"/>
          </p:nvPr>
        </p:nvSpPr>
        <p:spPr>
          <a:xfrm>
            <a:off x="838200" y="2070560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IN"/>
              <a:t>import Datasets from various sources having various files types for example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IN"/>
              <a:t>CSV File</a:t>
            </a:r>
            <a:endParaRPr/>
          </a:p>
        </p:txBody>
      </p:sp>
      <p:sp>
        <p:nvSpPr>
          <p:cNvPr id="336" name="Google Shape;336;p3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Prof. Vaibhav P. Vasani</a:t>
            </a:r>
            <a:endParaRPr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0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p40"/>
          <p:cNvSpPr txBox="1"/>
          <p:nvPr>
            <p:ph type="title"/>
          </p:nvPr>
        </p:nvSpPr>
        <p:spPr>
          <a:xfrm>
            <a:off x="870858" y="659039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ct val="100000"/>
              <a:buFont typeface="Marcellus"/>
              <a:buNone/>
            </a:pPr>
            <a:r>
              <a:rPr lang="en-IN"/>
              <a:t> </a:t>
            </a:r>
            <a:br>
              <a:rPr lang="en-IN" sz="4800"/>
            </a:br>
            <a:r>
              <a:rPr lang="en-IN"/>
              <a:t>Importing &amp; Exporting CSV </a:t>
            </a:r>
            <a:endParaRPr/>
          </a:p>
        </p:txBody>
      </p:sp>
      <p:sp>
        <p:nvSpPr>
          <p:cNvPr id="342" name="Google Shape;342;p40"/>
          <p:cNvSpPr txBox="1"/>
          <p:nvPr>
            <p:ph idx="1" type="body"/>
          </p:nvPr>
        </p:nvSpPr>
        <p:spPr>
          <a:xfrm>
            <a:off x="838200" y="2070560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IN"/>
              <a:t>CSV file 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IN"/>
              <a:t>Test1.csv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IN"/>
              <a:t>mydata = read.csv("mydata.csv")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IN"/>
              <a:t>mydata</a:t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  <p:sp>
        <p:nvSpPr>
          <p:cNvPr id="343" name="Google Shape;343;p4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Prof. Vaibhav P. Vasani</a:t>
            </a:r>
            <a:endParaRPr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7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Google Shape;348;p41"/>
          <p:cNvSpPr txBox="1"/>
          <p:nvPr>
            <p:ph type="title"/>
          </p:nvPr>
        </p:nvSpPr>
        <p:spPr>
          <a:xfrm>
            <a:off x="870858" y="659039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5400"/>
              <a:buFont typeface="Marcellus"/>
              <a:buNone/>
            </a:pPr>
            <a:r>
              <a:t/>
            </a:r>
            <a:endParaRPr/>
          </a:p>
        </p:txBody>
      </p:sp>
      <p:sp>
        <p:nvSpPr>
          <p:cNvPr id="349" name="Google Shape;349;p41"/>
          <p:cNvSpPr txBox="1"/>
          <p:nvPr>
            <p:ph idx="1" type="body"/>
          </p:nvPr>
        </p:nvSpPr>
        <p:spPr>
          <a:xfrm>
            <a:off x="838200" y="2070560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20000"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IN"/>
              <a:t>Loading data – data(dataset_name)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IN"/>
              <a:t>read and write functions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IN"/>
              <a:t>getwd() and setwd(dir)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IN"/>
              <a:t>read and write functions use full path name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IN"/>
              <a:t>Example: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IN"/>
              <a:t>read.csv (“C:/Rtutorials/Sampledata.csv”). Similarly for writing dataset we use the write () function.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IN"/>
              <a:t>“Getwd” means get the working directory (wd) and “setwd” is used to set the working directory</a:t>
            </a:r>
            <a:endParaRPr/>
          </a:p>
        </p:txBody>
      </p:sp>
      <p:sp>
        <p:nvSpPr>
          <p:cNvPr id="350" name="Google Shape;350;p4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Prof. Vaibhav P. Vasani</a:t>
            </a:r>
            <a:endParaRPr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4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Google Shape;355;p42"/>
          <p:cNvSpPr txBox="1"/>
          <p:nvPr>
            <p:ph type="title"/>
          </p:nvPr>
        </p:nvSpPr>
        <p:spPr>
          <a:xfrm>
            <a:off x="870858" y="659039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5400"/>
              <a:buFont typeface="Marcellus"/>
              <a:buNone/>
            </a:pPr>
            <a:r>
              <a:t/>
            </a:r>
            <a:endParaRPr/>
          </a:p>
        </p:txBody>
      </p:sp>
      <p:sp>
        <p:nvSpPr>
          <p:cNvPr id="356" name="Google Shape;356;p42"/>
          <p:cNvSpPr txBox="1"/>
          <p:nvPr>
            <p:ph idx="1" type="body"/>
          </p:nvPr>
        </p:nvSpPr>
        <p:spPr>
          <a:xfrm>
            <a:off x="838200" y="2070560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508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  <p:pic>
        <p:nvPicPr>
          <p:cNvPr id="357" name="Google Shape;357;p4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826829" y="2197424"/>
            <a:ext cx="6629545" cy="2599729"/>
          </a:xfrm>
          <a:prstGeom prst="rect">
            <a:avLst/>
          </a:prstGeom>
          <a:noFill/>
          <a:ln>
            <a:noFill/>
          </a:ln>
        </p:spPr>
      </p:pic>
      <p:sp>
        <p:nvSpPr>
          <p:cNvPr id="358" name="Google Shape;358;p4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Prof. Vaibhav P. Vasani</a:t>
            </a:r>
            <a:endParaRPr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2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Google Shape;363;p43"/>
          <p:cNvSpPr txBox="1"/>
          <p:nvPr>
            <p:ph type="title"/>
          </p:nvPr>
        </p:nvSpPr>
        <p:spPr>
          <a:xfrm>
            <a:off x="870858" y="659039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ct val="100000"/>
              <a:buFont typeface="Marcellus"/>
              <a:buNone/>
            </a:pPr>
            <a:r>
              <a:rPr lang="en-IN"/>
              <a:t>Outliers and Missing Data treatment</a:t>
            </a:r>
            <a:endParaRPr/>
          </a:p>
        </p:txBody>
      </p:sp>
      <p:sp>
        <p:nvSpPr>
          <p:cNvPr id="364" name="Google Shape;364;p43"/>
          <p:cNvSpPr txBox="1"/>
          <p:nvPr>
            <p:ph idx="1" type="body"/>
          </p:nvPr>
        </p:nvSpPr>
        <p:spPr>
          <a:xfrm>
            <a:off x="838200" y="2070560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IN"/>
              <a:t>In R, missing values are represented by the symbol NA (not available).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IN"/>
              <a:t>Impossible values (e.g., dividing by zero) are represented by the symbol NaN (not a number).</a:t>
            </a:r>
            <a:endParaRPr/>
          </a:p>
          <a:p>
            <a:pPr indent="-64135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IN"/>
              <a:t>y &lt;- c(1,2,3,NA)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IN"/>
              <a:t>is.na(y)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IN"/>
              <a:t># returns a vector (F F F T)</a:t>
            </a:r>
            <a:endParaRPr/>
          </a:p>
        </p:txBody>
      </p:sp>
      <p:sp>
        <p:nvSpPr>
          <p:cNvPr id="365" name="Google Shape;365;p4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Prof. Vaibhav P. Vasani</a:t>
            </a:r>
            <a:endParaRPr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9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Google Shape;370;p44"/>
          <p:cNvSpPr txBox="1"/>
          <p:nvPr>
            <p:ph type="title"/>
          </p:nvPr>
        </p:nvSpPr>
        <p:spPr>
          <a:xfrm>
            <a:off x="870858" y="659039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5400"/>
              <a:buFont typeface="Marcellus"/>
              <a:buNone/>
            </a:pPr>
            <a:r>
              <a:t/>
            </a:r>
            <a:endParaRPr/>
          </a:p>
        </p:txBody>
      </p:sp>
      <p:sp>
        <p:nvSpPr>
          <p:cNvPr id="371" name="Google Shape;371;p44"/>
          <p:cNvSpPr txBox="1"/>
          <p:nvPr>
            <p:ph idx="1" type="body"/>
          </p:nvPr>
        </p:nvSpPr>
        <p:spPr>
          <a:xfrm>
            <a:off x="838200" y="2070560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85000" lnSpcReduction="20000"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IN"/>
              <a:t>x &lt;- c(1,2,NA,3)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IN"/>
              <a:t>mean(x)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IN"/>
              <a:t># returns NA</a:t>
            </a:r>
            <a:endParaRPr/>
          </a:p>
          <a:p>
            <a:pPr indent="-7747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IN"/>
              <a:t>To remove missing values from our dataset we use na.omit() function.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IN"/>
              <a:t>newdata&lt;- na.omit(mydata)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IN"/>
              <a:t>x &lt;- c(1,2,NA,3)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IN"/>
              <a:t>mean(x, na.rm=TRUE)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IN"/>
              <a:t># returns 2</a:t>
            </a:r>
            <a:endParaRPr/>
          </a:p>
        </p:txBody>
      </p:sp>
      <p:sp>
        <p:nvSpPr>
          <p:cNvPr id="372" name="Google Shape;372;p4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Prof. Vaibhav P. Vasani</a:t>
            </a:r>
            <a:endParaRPr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6" name="Shape 3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" name="Google Shape;377;p45"/>
          <p:cNvSpPr txBox="1"/>
          <p:nvPr>
            <p:ph type="title"/>
          </p:nvPr>
        </p:nvSpPr>
        <p:spPr>
          <a:xfrm>
            <a:off x="870858" y="659039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5400"/>
              <a:buFont typeface="Marcellus"/>
              <a:buNone/>
            </a:pPr>
            <a:r>
              <a:rPr lang="en-IN"/>
              <a:t>Outliers</a:t>
            </a:r>
            <a:endParaRPr/>
          </a:p>
        </p:txBody>
      </p:sp>
      <p:sp>
        <p:nvSpPr>
          <p:cNvPr id="378" name="Google Shape;378;p45"/>
          <p:cNvSpPr txBox="1"/>
          <p:nvPr>
            <p:ph idx="1" type="body"/>
          </p:nvPr>
        </p:nvSpPr>
        <p:spPr>
          <a:xfrm>
            <a:off x="838200" y="2070560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IN"/>
              <a:t>Outlier is a point or an observation that deviates significantly from the other observations.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IN"/>
              <a:t>Due to experimental errors or “special circumstances”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IN"/>
              <a:t>Outlier detection tests to check for outliers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IN"/>
              <a:t>Outlier treatment –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IN"/>
              <a:t>Retention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IN"/>
              <a:t>Exclusion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IN"/>
              <a:t>Other treatment methods</a:t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  <p:sp>
        <p:nvSpPr>
          <p:cNvPr id="379" name="Google Shape;379;p4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Prof. Vaibhav P. Vasani</a:t>
            </a:r>
            <a:endParaRPr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3" name="Shape 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" name="Google Shape;384;p46"/>
          <p:cNvSpPr txBox="1"/>
          <p:nvPr>
            <p:ph type="title"/>
          </p:nvPr>
        </p:nvSpPr>
        <p:spPr>
          <a:xfrm>
            <a:off x="870858" y="659039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3200"/>
              <a:buFont typeface="Marcellus"/>
              <a:buNone/>
            </a:pPr>
            <a:r>
              <a:rPr lang="en-IN" sz="3200"/>
              <a:t>Normally we use BOX Plot and Scatter plot to find outliers from graphical representation.</a:t>
            </a:r>
            <a:endParaRPr/>
          </a:p>
        </p:txBody>
      </p:sp>
      <p:sp>
        <p:nvSpPr>
          <p:cNvPr id="385" name="Google Shape;385;p46"/>
          <p:cNvSpPr txBox="1"/>
          <p:nvPr>
            <p:ph idx="1" type="body"/>
          </p:nvPr>
        </p:nvSpPr>
        <p:spPr>
          <a:xfrm>
            <a:off x="838200" y="2070560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508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  <p:pic>
        <p:nvPicPr>
          <p:cNvPr id="386" name="Google Shape;386;p4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23393" y="2543652"/>
            <a:ext cx="11376585" cy="2613540"/>
          </a:xfrm>
          <a:prstGeom prst="rect">
            <a:avLst/>
          </a:prstGeom>
          <a:noFill/>
          <a:ln>
            <a:noFill/>
          </a:ln>
        </p:spPr>
      </p:pic>
      <p:sp>
        <p:nvSpPr>
          <p:cNvPr id="387" name="Google Shape;387;p4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Prof. Vaibhav P. Vasani</a:t>
            </a:r>
            <a:endParaRPr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1" name="Shape 3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" name="Google Shape;392;p47"/>
          <p:cNvSpPr txBox="1"/>
          <p:nvPr>
            <p:ph type="title"/>
          </p:nvPr>
        </p:nvSpPr>
        <p:spPr>
          <a:xfrm>
            <a:off x="870858" y="659039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5400"/>
              <a:buFont typeface="Marcellus"/>
              <a:buNone/>
            </a:pPr>
            <a:r>
              <a:t/>
            </a:r>
            <a:endParaRPr/>
          </a:p>
        </p:txBody>
      </p:sp>
      <p:sp>
        <p:nvSpPr>
          <p:cNvPr id="393" name="Google Shape;393;p47"/>
          <p:cNvSpPr txBox="1"/>
          <p:nvPr>
            <p:ph idx="1" type="body"/>
          </p:nvPr>
        </p:nvSpPr>
        <p:spPr>
          <a:xfrm>
            <a:off x="838200" y="2070560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508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  <p:pic>
        <p:nvPicPr>
          <p:cNvPr id="394" name="Google Shape;394;p4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775520" y="2293572"/>
            <a:ext cx="9648395" cy="3295669"/>
          </a:xfrm>
          <a:prstGeom prst="rect">
            <a:avLst/>
          </a:prstGeom>
          <a:noFill/>
          <a:ln>
            <a:noFill/>
          </a:ln>
        </p:spPr>
      </p:pic>
      <p:sp>
        <p:nvSpPr>
          <p:cNvPr id="395" name="Google Shape;395;p4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Prof. Vaibhav P. Vasani</a:t>
            </a:r>
            <a:endParaRPr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9" name="Shape 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" name="Google Shape;400;p48"/>
          <p:cNvSpPr txBox="1"/>
          <p:nvPr>
            <p:ph type="title"/>
          </p:nvPr>
        </p:nvSpPr>
        <p:spPr>
          <a:xfrm>
            <a:off x="870858" y="659039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5400"/>
              <a:buFont typeface="Marcellus"/>
              <a:buNone/>
            </a:pPr>
            <a:r>
              <a:rPr lang="en-IN"/>
              <a:t>Combining Data sets in R</a:t>
            </a:r>
            <a:endParaRPr/>
          </a:p>
        </p:txBody>
      </p:sp>
      <p:sp>
        <p:nvSpPr>
          <p:cNvPr id="401" name="Google Shape;401;p48"/>
          <p:cNvSpPr txBox="1"/>
          <p:nvPr>
            <p:ph idx="1" type="body"/>
          </p:nvPr>
        </p:nvSpPr>
        <p:spPr>
          <a:xfrm>
            <a:off x="838200" y="2070560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10000"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IN"/>
              <a:t>To merge two data frames (datasets) horizontally, use the merge function. In most cases, you join two data frames by one or more common key variables (i.e., an inner join).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IN"/>
              <a:t>To merge two data frames by ID: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IN"/>
              <a:t>total &lt;- merge(data frameA,data frameB,by="ID")</a:t>
            </a:r>
            <a:endParaRPr/>
          </a:p>
          <a:p>
            <a:pPr indent="-8763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IN"/>
              <a:t>To merge two data frames by ID and Country: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IN"/>
              <a:t>total &lt;- merge(data frameA,data frameB,by=c("ID","Country"))</a:t>
            </a:r>
            <a:endParaRPr/>
          </a:p>
          <a:p>
            <a:pPr indent="-64135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</p:txBody>
      </p:sp>
      <p:sp>
        <p:nvSpPr>
          <p:cNvPr id="402" name="Google Shape;402;p4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Prof. Vaibhav P. Vasani</a:t>
            </a:r>
            <a:endParaRPr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6" name="Shape 4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7" name="Google Shape;407;p49"/>
          <p:cNvSpPr txBox="1"/>
          <p:nvPr>
            <p:ph type="title"/>
          </p:nvPr>
        </p:nvSpPr>
        <p:spPr>
          <a:xfrm>
            <a:off x="870858" y="659039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5400"/>
              <a:buFont typeface="Marcellus"/>
              <a:buNone/>
            </a:pPr>
            <a:r>
              <a:t/>
            </a:r>
            <a:endParaRPr/>
          </a:p>
        </p:txBody>
      </p:sp>
      <p:sp>
        <p:nvSpPr>
          <p:cNvPr id="408" name="Google Shape;408;p49"/>
          <p:cNvSpPr txBox="1"/>
          <p:nvPr>
            <p:ph idx="1" type="body"/>
          </p:nvPr>
        </p:nvSpPr>
        <p:spPr>
          <a:xfrm>
            <a:off x="838200" y="2070560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IN"/>
              <a:t>To join two data frames (datasets) vertically, use the rbind function. The two data frames must have the same variables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IN"/>
              <a:t>total &lt;- rbind(data frameA, data frameB)</a:t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  <p:sp>
        <p:nvSpPr>
          <p:cNvPr id="409" name="Google Shape;409;p4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Prof. Vaibhav P. Vasani</a:t>
            </a:r>
            <a:endParaRPr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3" name="Shape 4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4" name="Google Shape;414;p50"/>
          <p:cNvSpPr txBox="1"/>
          <p:nvPr>
            <p:ph type="title"/>
          </p:nvPr>
        </p:nvSpPr>
        <p:spPr>
          <a:xfrm>
            <a:off x="870858" y="659039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5400"/>
              <a:buFont typeface="Marcellus"/>
              <a:buNone/>
            </a:pPr>
            <a:r>
              <a:t/>
            </a:r>
            <a:endParaRPr/>
          </a:p>
        </p:txBody>
      </p:sp>
      <p:sp>
        <p:nvSpPr>
          <p:cNvPr id="415" name="Google Shape;415;p50"/>
          <p:cNvSpPr txBox="1"/>
          <p:nvPr>
            <p:ph idx="1" type="body"/>
          </p:nvPr>
        </p:nvSpPr>
        <p:spPr>
          <a:xfrm>
            <a:off x="838200" y="2070560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IN"/>
              <a:t>Note:-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IN"/>
              <a:t>If data frameA has variables that data frameB does not, then either: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IN"/>
              <a:t>1. Delete the extra variables in data frameA or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IN"/>
              <a:t>2. Create the additional variables in data frameB and set them to NA (missing)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IN"/>
              <a:t>before joining them with rbind( ).</a:t>
            </a:r>
            <a:endParaRPr/>
          </a:p>
        </p:txBody>
      </p:sp>
      <p:sp>
        <p:nvSpPr>
          <p:cNvPr id="416" name="Google Shape;416;p5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Prof. Vaibhav P. Vasani</a:t>
            </a:r>
            <a:endParaRPr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0" name="Shape 4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1" name="Google Shape;421;p51"/>
          <p:cNvSpPr txBox="1"/>
          <p:nvPr>
            <p:ph type="title"/>
          </p:nvPr>
        </p:nvSpPr>
        <p:spPr>
          <a:xfrm>
            <a:off x="870858" y="659039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ct val="100000"/>
              <a:buFont typeface="Marcellus"/>
              <a:buNone/>
            </a:pPr>
            <a:r>
              <a:rPr lang="en-IN" sz="4000"/>
              <a:t>Plyr package: Tools for Splitting, Applying and Combining Data.</a:t>
            </a:r>
            <a:endParaRPr sz="4000"/>
          </a:p>
        </p:txBody>
      </p:sp>
      <p:sp>
        <p:nvSpPr>
          <p:cNvPr id="422" name="Google Shape;422;p51"/>
          <p:cNvSpPr txBox="1"/>
          <p:nvPr>
            <p:ph idx="1" type="body"/>
          </p:nvPr>
        </p:nvSpPr>
        <p:spPr>
          <a:xfrm>
            <a:off x="838200" y="2070560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1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IN"/>
              <a:t>We use rbind.fill() in plyr package in R. It binds or combines a list of data frames filling missing columns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IN"/>
              <a:t>with NA.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IN"/>
              <a:t>Example 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IN"/>
              <a:t>rbind.fill(mtcars[c("mpg", "wt")], mtcars[c("wt", "cyl")])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IN"/>
              <a:t>In this all the missing value will be filled with NA.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</p:txBody>
      </p:sp>
      <p:sp>
        <p:nvSpPr>
          <p:cNvPr id="423" name="Google Shape;423;p5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Prof. Vaibhav P. Vasani</a:t>
            </a:r>
            <a:endParaRPr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7" name="Shape 4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8" name="Google Shape;428;p52"/>
          <p:cNvSpPr txBox="1"/>
          <p:nvPr>
            <p:ph type="title"/>
          </p:nvPr>
        </p:nvSpPr>
        <p:spPr>
          <a:xfrm>
            <a:off x="870858" y="659039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5400"/>
              <a:buFont typeface="Marcellus"/>
              <a:buNone/>
            </a:pPr>
            <a:r>
              <a:t/>
            </a:r>
            <a:endParaRPr/>
          </a:p>
        </p:txBody>
      </p:sp>
      <p:sp>
        <p:nvSpPr>
          <p:cNvPr id="429" name="Google Shape;429;p52"/>
          <p:cNvSpPr txBox="1"/>
          <p:nvPr>
            <p:ph idx="1" type="body"/>
          </p:nvPr>
        </p:nvSpPr>
        <p:spPr>
          <a:xfrm>
            <a:off x="838200" y="2070560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</a:pPr>
            <a:r>
              <a:rPr b="1" lang="en-IN" sz="3600"/>
              <a:t>For example,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IN" sz="2400"/>
              <a:t>if(hours &gt; 100) net.price&lt;- net.price * 0.9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IN" sz="2400"/>
              <a:t>if(public) {tot.price&lt;- net.price * 1.06 } else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IN" sz="2400"/>
              <a:t>{tot.price&lt;- net.price * 1.12} round(tot.price)}</a:t>
            </a:r>
            <a:endParaRPr/>
          </a:p>
          <a:p>
            <a:pPr indent="-762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sz="2400"/>
          </a:p>
          <a:p>
            <a:pPr indent="-762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sz="2400"/>
          </a:p>
          <a:p>
            <a:pPr indent="0" lvl="1" marL="457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b="1" lang="en-IN" sz="2400"/>
              <a:t>Or it can be written as also,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IN" sz="2400"/>
              <a:t>if(public) tot.price&lt;- net.price * 1.06 else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IN" sz="2400"/>
              <a:t>tot.price&lt;- net.price * 1.12</a:t>
            </a:r>
            <a:endParaRPr sz="2400"/>
          </a:p>
          <a:p>
            <a:pPr indent="-762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sz="2400"/>
          </a:p>
        </p:txBody>
      </p:sp>
      <p:sp>
        <p:nvSpPr>
          <p:cNvPr id="430" name="Google Shape;430;p5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Prof. Vaibhav P. Vasani</a:t>
            </a:r>
            <a:endParaRPr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4" name="Shape 4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5" name="Google Shape;435;p53"/>
          <p:cNvSpPr txBox="1"/>
          <p:nvPr>
            <p:ph type="title"/>
          </p:nvPr>
        </p:nvSpPr>
        <p:spPr>
          <a:xfrm>
            <a:off x="870858" y="659039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5400"/>
              <a:buFont typeface="Marcellus"/>
              <a:buNone/>
            </a:pPr>
            <a:r>
              <a:rPr lang="en-IN"/>
              <a:t>Pie Chart</a:t>
            </a:r>
            <a:endParaRPr/>
          </a:p>
        </p:txBody>
      </p:sp>
      <p:sp>
        <p:nvSpPr>
          <p:cNvPr id="436" name="Google Shape;436;p53"/>
          <p:cNvSpPr txBox="1"/>
          <p:nvPr>
            <p:ph idx="1" type="body"/>
          </p:nvPr>
        </p:nvSpPr>
        <p:spPr>
          <a:xfrm>
            <a:off x="838200" y="2070560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IN" sz="2800"/>
              <a:t>pie(x, labels, radius, main, col, clockwise) Following is the description of the parameters used −</a:t>
            </a:r>
            <a:endParaRPr sz="2800"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b="1" lang="en-IN" sz="1800"/>
              <a:t>x</a:t>
            </a:r>
            <a:r>
              <a:rPr lang="en-IN" sz="1800"/>
              <a:t> is a vector containing the numeric values used in the pie chart.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b="1" lang="en-IN" sz="1800"/>
              <a:t>labels</a:t>
            </a:r>
            <a:r>
              <a:rPr lang="en-IN" sz="1800"/>
              <a:t> is used to give description to the slices.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b="1" lang="en-IN" sz="1800"/>
              <a:t>radius</a:t>
            </a:r>
            <a:r>
              <a:rPr lang="en-IN" sz="1800"/>
              <a:t> indicates the radius of the circle of the pie chart.(value between −1 and +1).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b="1" lang="en-IN" sz="1800"/>
              <a:t>main</a:t>
            </a:r>
            <a:r>
              <a:rPr lang="en-IN" sz="1800"/>
              <a:t> indicates the title of the chart.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b="1" lang="en-IN" sz="1800"/>
              <a:t>col</a:t>
            </a:r>
            <a:r>
              <a:rPr lang="en-IN" sz="1800"/>
              <a:t> indicates the color palette.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b="1" lang="en-IN" sz="1800"/>
              <a:t>clockwise</a:t>
            </a:r>
            <a:r>
              <a:rPr lang="en-IN" sz="1800"/>
              <a:t> is a logical value indicating if the slices are drawn clockwise or anti clockwise.</a:t>
            </a:r>
            <a:endParaRPr/>
          </a:p>
          <a:p>
            <a:pPr indent="-1143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t/>
            </a:r>
            <a:endParaRPr sz="1800"/>
          </a:p>
        </p:txBody>
      </p:sp>
      <p:sp>
        <p:nvSpPr>
          <p:cNvPr id="437" name="Google Shape;437;p5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Prof. Vaibhav P. Vasani</a:t>
            </a:r>
            <a:endParaRPr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1" name="Shape 4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2" name="Google Shape;442;p54"/>
          <p:cNvSpPr txBox="1"/>
          <p:nvPr>
            <p:ph type="title"/>
          </p:nvPr>
        </p:nvSpPr>
        <p:spPr>
          <a:xfrm>
            <a:off x="870858" y="659039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5400"/>
              <a:buFont typeface="Marcellus"/>
              <a:buNone/>
            </a:pPr>
            <a:r>
              <a:rPr lang="en-IN"/>
              <a:t>Pie Chart- Example</a:t>
            </a:r>
            <a:endParaRPr/>
          </a:p>
        </p:txBody>
      </p:sp>
      <p:sp>
        <p:nvSpPr>
          <p:cNvPr id="443" name="Google Shape;443;p54"/>
          <p:cNvSpPr txBox="1"/>
          <p:nvPr>
            <p:ph idx="1" type="body"/>
          </p:nvPr>
        </p:nvSpPr>
        <p:spPr>
          <a:xfrm>
            <a:off x="838200" y="2070560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IN"/>
              <a:t>x &lt;- c(21, 62, 10, 53) labels &lt;- c("London", "New York", "Singapore", "Mumbai")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IN"/>
              <a:t>pie(x,labels)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IN"/>
              <a:t>pie(x, labels, main = "City pie chart", col = rainbow(length(x)))</a:t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  <p:sp>
        <p:nvSpPr>
          <p:cNvPr id="444" name="Google Shape;444;p5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Prof. Vaibhav P. Vasani</a:t>
            </a:r>
            <a:endParaRPr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8" name="Shape 4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9" name="Google Shape;449;p55"/>
          <p:cNvSpPr txBox="1"/>
          <p:nvPr>
            <p:ph type="title"/>
          </p:nvPr>
        </p:nvSpPr>
        <p:spPr>
          <a:xfrm>
            <a:off x="870858" y="659039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ct val="100000"/>
              <a:buFont typeface="Marcellus"/>
              <a:buNone/>
            </a:pPr>
            <a:r>
              <a:rPr b="1" lang="en-IN"/>
              <a:t>Slice Percentages and Chart Legend</a:t>
            </a:r>
            <a:endParaRPr/>
          </a:p>
        </p:txBody>
      </p:sp>
      <p:sp>
        <p:nvSpPr>
          <p:cNvPr id="450" name="Google Shape;450;p55"/>
          <p:cNvSpPr txBox="1"/>
          <p:nvPr>
            <p:ph idx="1" type="body"/>
          </p:nvPr>
        </p:nvSpPr>
        <p:spPr>
          <a:xfrm>
            <a:off x="838200" y="2070560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10000"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IN"/>
              <a:t># Create data for the graph. 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IN"/>
              <a:t>x &lt;- c(21, 62, 10,53) labels &lt;- c("London","New York","Singapore","Mumbai") piepercent&lt;- round(100*x/sum(x), 1) 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IN"/>
              <a:t># Plot the chart. 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IN"/>
              <a:t>pie(x, labels = piepercent, main = "City pie chart",col = rainbow(length(x))) legend("topright", c("London","New York","Singapore","Mumbai"), cex = 0.8, fill = rainbow(length(x))) </a:t>
            </a:r>
            <a:endParaRPr/>
          </a:p>
        </p:txBody>
      </p:sp>
      <p:sp>
        <p:nvSpPr>
          <p:cNvPr id="451" name="Google Shape;451;p5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Prof. Vaibhav P. Vasani</a:t>
            </a:r>
            <a:endParaRPr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5" name="Shape 4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6" name="Google Shape;456;p56"/>
          <p:cNvSpPr txBox="1"/>
          <p:nvPr>
            <p:ph type="title"/>
          </p:nvPr>
        </p:nvSpPr>
        <p:spPr>
          <a:xfrm>
            <a:off x="870858" y="659039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5400"/>
              <a:buFont typeface="Marcellus"/>
              <a:buNone/>
            </a:pPr>
            <a:r>
              <a:rPr b="1" lang="en-IN"/>
              <a:t>3D Pie Chart</a:t>
            </a:r>
            <a:endParaRPr/>
          </a:p>
        </p:txBody>
      </p:sp>
      <p:sp>
        <p:nvSpPr>
          <p:cNvPr id="457" name="Google Shape;457;p56"/>
          <p:cNvSpPr txBox="1"/>
          <p:nvPr>
            <p:ph idx="1" type="body"/>
          </p:nvPr>
        </p:nvSpPr>
        <p:spPr>
          <a:xfrm>
            <a:off x="838200" y="2070560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85000" lnSpcReduction="20000"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IN"/>
              <a:t># Get the library.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IN"/>
              <a:t>library(plotrix)</a:t>
            </a:r>
            <a:endParaRPr/>
          </a:p>
          <a:p>
            <a:pPr indent="-7747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IN"/>
              <a:t># Create data for the graph.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IN"/>
              <a:t>x &lt;-  c(21, 62, 10,53)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IN"/>
              <a:t>lbl &lt;-  c("London","New York","Singapore","Mumbai")</a:t>
            </a:r>
            <a:endParaRPr/>
          </a:p>
          <a:p>
            <a:pPr indent="-7747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IN"/>
              <a:t># Plot the chart.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IN"/>
              <a:t>pie3D(x,labels = lbl,explode = 0.1, main = "Pie Chart of Countries ")</a:t>
            </a:r>
            <a:endParaRPr/>
          </a:p>
          <a:p>
            <a:pPr indent="-7747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</p:txBody>
      </p:sp>
      <p:sp>
        <p:nvSpPr>
          <p:cNvPr id="458" name="Google Shape;458;p5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Prof. Vaibhav P. Vasani</a:t>
            </a:r>
            <a:endParaRPr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2" name="Shape 4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3" name="Google Shape;463;p57"/>
          <p:cNvSpPr txBox="1"/>
          <p:nvPr>
            <p:ph type="title"/>
          </p:nvPr>
        </p:nvSpPr>
        <p:spPr>
          <a:xfrm>
            <a:off x="870858" y="659039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5400"/>
              <a:buFont typeface="Marcellus"/>
              <a:buNone/>
            </a:pPr>
            <a:r>
              <a:rPr b="1" lang="en-IN"/>
              <a:t>R - Bar Charts</a:t>
            </a:r>
            <a:endParaRPr/>
          </a:p>
        </p:txBody>
      </p:sp>
      <p:sp>
        <p:nvSpPr>
          <p:cNvPr id="464" name="Google Shape;464;p57"/>
          <p:cNvSpPr txBox="1"/>
          <p:nvPr>
            <p:ph idx="1" type="body"/>
          </p:nvPr>
        </p:nvSpPr>
        <p:spPr>
          <a:xfrm>
            <a:off x="838200" y="2070560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IN" sz="2800"/>
              <a:t>barplot(H,xlab,ylab,main, names.arg,col)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b="1" lang="en-IN" sz="1800"/>
              <a:t>H</a:t>
            </a:r>
            <a:r>
              <a:rPr lang="en-IN" sz="1800"/>
              <a:t> is a vector or matrix containing numeric values used in bar chart.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b="1" lang="en-IN" sz="1800"/>
              <a:t>xlab</a:t>
            </a:r>
            <a:r>
              <a:rPr lang="en-IN" sz="1800"/>
              <a:t> is the label for x axis.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b="1" lang="en-IN" sz="1800"/>
              <a:t>ylab</a:t>
            </a:r>
            <a:r>
              <a:rPr lang="en-IN" sz="1800"/>
              <a:t> is the label for y axis.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b="1" lang="en-IN" sz="1800"/>
              <a:t>main</a:t>
            </a:r>
            <a:r>
              <a:rPr lang="en-IN" sz="1800"/>
              <a:t> is the title of the bar chart.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b="1" lang="en-IN" sz="1800"/>
              <a:t>names.arg</a:t>
            </a:r>
            <a:r>
              <a:rPr lang="en-IN" sz="1800"/>
              <a:t> is a vector of names appearing under each bar.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b="1" lang="en-IN" sz="1800"/>
              <a:t>col</a:t>
            </a:r>
            <a:r>
              <a:rPr lang="en-IN" sz="1800"/>
              <a:t> is used to give colors to the bars in the graph.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 sz="2800"/>
          </a:p>
        </p:txBody>
      </p:sp>
      <p:sp>
        <p:nvSpPr>
          <p:cNvPr id="465" name="Google Shape;465;p5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Prof. Vaibhav P. Vasani</a:t>
            </a:r>
            <a:endParaRPr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9" name="Shape 4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0" name="Google Shape;470;p58"/>
          <p:cNvSpPr txBox="1"/>
          <p:nvPr>
            <p:ph type="title"/>
          </p:nvPr>
        </p:nvSpPr>
        <p:spPr>
          <a:xfrm>
            <a:off x="870858" y="659039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5400"/>
              <a:buFont typeface="Marcellus"/>
              <a:buNone/>
            </a:pPr>
            <a:r>
              <a:t/>
            </a:r>
            <a:endParaRPr/>
          </a:p>
        </p:txBody>
      </p:sp>
      <p:sp>
        <p:nvSpPr>
          <p:cNvPr id="471" name="Google Shape;471;p58"/>
          <p:cNvSpPr txBox="1"/>
          <p:nvPr>
            <p:ph idx="1" type="body"/>
          </p:nvPr>
        </p:nvSpPr>
        <p:spPr>
          <a:xfrm>
            <a:off x="838200" y="2070560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IN"/>
              <a:t># Create the data for the chart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IN"/>
              <a:t>H &lt;- c(7,12,28,3,41)</a:t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IN"/>
              <a:t># Plot the bar chart 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IN"/>
              <a:t>barplot(H)</a:t>
            </a:r>
            <a:endParaRPr/>
          </a:p>
        </p:txBody>
      </p:sp>
      <p:sp>
        <p:nvSpPr>
          <p:cNvPr id="472" name="Google Shape;472;p5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Prof. Vaibhav P. Vasani</a:t>
            </a:r>
            <a:endParaRPr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6" name="Shape 4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7" name="Google Shape;477;p59"/>
          <p:cNvSpPr txBox="1"/>
          <p:nvPr>
            <p:ph type="title"/>
          </p:nvPr>
        </p:nvSpPr>
        <p:spPr>
          <a:xfrm>
            <a:off x="870858" y="659039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5400"/>
              <a:buFont typeface="Marcellus"/>
              <a:buNone/>
            </a:pPr>
            <a:r>
              <a:rPr lang="en-IN"/>
              <a:t>Bar Chart Labels, Title and Colors</a:t>
            </a:r>
            <a:endParaRPr/>
          </a:p>
        </p:txBody>
      </p:sp>
      <p:sp>
        <p:nvSpPr>
          <p:cNvPr id="478" name="Google Shape;478;p59"/>
          <p:cNvSpPr txBox="1"/>
          <p:nvPr>
            <p:ph idx="1" type="body"/>
          </p:nvPr>
        </p:nvSpPr>
        <p:spPr>
          <a:xfrm>
            <a:off x="838200" y="2070560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IN"/>
              <a:t># Create the data for the chart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IN"/>
              <a:t>H &lt;- c(7,12,28,3,41)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IN"/>
              <a:t>M &lt;- c("Mar","Apr","May","Jun","Jul")</a:t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IN"/>
              <a:t># Plot the bar chart 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IN"/>
              <a:t>barplot(H,names.arg=M,xlab="Month",ylab="Revenue",col="blue",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IN"/>
              <a:t>main="Revenue chart",border="red")</a:t>
            </a:r>
            <a:endParaRPr/>
          </a:p>
        </p:txBody>
      </p:sp>
      <p:sp>
        <p:nvSpPr>
          <p:cNvPr id="479" name="Google Shape;479;p5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Prof. Vaibhav P. Vasani</a:t>
            </a:r>
            <a:endParaRPr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3" name="Shape 4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4" name="Google Shape;484;p60"/>
          <p:cNvSpPr txBox="1"/>
          <p:nvPr>
            <p:ph type="title"/>
          </p:nvPr>
        </p:nvSpPr>
        <p:spPr>
          <a:xfrm>
            <a:off x="870858" y="659039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ct val="100000"/>
              <a:buFont typeface="Marcellus"/>
              <a:buNone/>
            </a:pPr>
            <a:r>
              <a:rPr lang="en-IN"/>
              <a:t>Group Bar Chart and Stacked Bar Chart</a:t>
            </a:r>
            <a:endParaRPr/>
          </a:p>
        </p:txBody>
      </p:sp>
      <p:sp>
        <p:nvSpPr>
          <p:cNvPr id="485" name="Google Shape;485;p60"/>
          <p:cNvSpPr txBox="1"/>
          <p:nvPr>
            <p:ph idx="1" type="body"/>
          </p:nvPr>
        </p:nvSpPr>
        <p:spPr>
          <a:xfrm>
            <a:off x="838200" y="2070560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62500" lnSpcReduction="20000"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IN"/>
              <a:t># Create the input vectors.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IN"/>
              <a:t>colors = c("green","orange","brown")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IN"/>
              <a:t>months &lt;- c("Mar","Apr","May","Jun","Jul")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IN"/>
              <a:t>regions &lt;- c("East","West","North")</a:t>
            </a:r>
            <a:endParaRPr/>
          </a:p>
          <a:p>
            <a:pPr indent="-117475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IN"/>
              <a:t># Create the matrix of the values.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IN"/>
              <a:t>Values &lt;- matrix(c(2,9,3,11,9,4,8,7,3,12,5,2,8,10,11), nrow = 3, ncol = 5, byrow = TRUE)</a:t>
            </a:r>
            <a:endParaRPr/>
          </a:p>
          <a:p>
            <a:pPr indent="-117475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IN"/>
              <a:t># Create the bar chart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IN"/>
              <a:t>barplot(Values, main = "total revenue", names.arg = months, xlab = "month", ylab = "revenue", col = colors)</a:t>
            </a:r>
            <a:endParaRPr/>
          </a:p>
          <a:p>
            <a:pPr indent="-117475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IN"/>
              <a:t># Add the legend to the chart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IN"/>
              <a:t>legend("topleft", regions, cex = 1.3, fill = colors)</a:t>
            </a:r>
            <a:endParaRPr/>
          </a:p>
        </p:txBody>
      </p:sp>
      <p:sp>
        <p:nvSpPr>
          <p:cNvPr id="486" name="Google Shape;486;p6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Prof. Vaibhav P. Vasani</a:t>
            </a:r>
            <a:endParaRPr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0" name="Shape 4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" name="Google Shape;491;p61"/>
          <p:cNvSpPr txBox="1"/>
          <p:nvPr>
            <p:ph type="title"/>
          </p:nvPr>
        </p:nvSpPr>
        <p:spPr>
          <a:xfrm>
            <a:off x="870858" y="659039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5400"/>
              <a:buFont typeface="Marcellus"/>
              <a:buNone/>
            </a:pPr>
            <a:r>
              <a:rPr lang="en-IN"/>
              <a:t>R - Boxplots</a:t>
            </a:r>
            <a:endParaRPr/>
          </a:p>
        </p:txBody>
      </p:sp>
      <p:sp>
        <p:nvSpPr>
          <p:cNvPr id="492" name="Google Shape;492;p61"/>
          <p:cNvSpPr txBox="1"/>
          <p:nvPr>
            <p:ph idx="1" type="body"/>
          </p:nvPr>
        </p:nvSpPr>
        <p:spPr>
          <a:xfrm>
            <a:off x="838200" y="2070560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IN"/>
              <a:t>Boxplots are a measure of how well distributed is the data in a data set.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IN"/>
              <a:t>It divides the data set into three quartiles. 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IN"/>
              <a:t>This graph represents the minimum, maximum, median, first quartile and third quartile in the data set. 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IN"/>
              <a:t>It is also useful in comparing the distribution of data across data sets by drawing boxplots for each of them.</a:t>
            </a:r>
            <a:endParaRPr/>
          </a:p>
        </p:txBody>
      </p:sp>
      <p:sp>
        <p:nvSpPr>
          <p:cNvPr id="493" name="Google Shape;493;p6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Prof. Vaibhav P. Vasani</a:t>
            </a:r>
            <a:endParaRPr/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7" name="Shape 4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8" name="Google Shape;498;p62"/>
          <p:cNvSpPr txBox="1"/>
          <p:nvPr>
            <p:ph type="title"/>
          </p:nvPr>
        </p:nvSpPr>
        <p:spPr>
          <a:xfrm>
            <a:off x="870858" y="659039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5400"/>
              <a:buFont typeface="Marcellus"/>
              <a:buNone/>
            </a:pPr>
            <a:r>
              <a:t/>
            </a:r>
            <a:endParaRPr/>
          </a:p>
        </p:txBody>
      </p:sp>
      <p:sp>
        <p:nvSpPr>
          <p:cNvPr id="499" name="Google Shape;499;p62"/>
          <p:cNvSpPr txBox="1"/>
          <p:nvPr>
            <p:ph idx="1" type="body"/>
          </p:nvPr>
        </p:nvSpPr>
        <p:spPr>
          <a:xfrm>
            <a:off x="838200" y="2070560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IN"/>
              <a:t>boxplot(x, data, notch, varwidth, names, main)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b="1" lang="en-IN"/>
              <a:t>x</a:t>
            </a:r>
            <a:r>
              <a:rPr lang="en-IN"/>
              <a:t> is a vector or a formula.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b="1" lang="en-IN"/>
              <a:t>data</a:t>
            </a:r>
            <a:r>
              <a:rPr lang="en-IN"/>
              <a:t> is the data frame.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b="1" lang="en-IN"/>
              <a:t>notch</a:t>
            </a:r>
            <a:r>
              <a:rPr lang="en-IN"/>
              <a:t> is a logical value. Set as TRUE to draw a notch.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b="1" lang="en-IN"/>
              <a:t>varwidth</a:t>
            </a:r>
            <a:r>
              <a:rPr lang="en-IN"/>
              <a:t> is a logical value. Set as true to draw width of the box proportionate to the sample size.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b="1" lang="en-IN"/>
              <a:t>names</a:t>
            </a:r>
            <a:r>
              <a:rPr lang="en-IN"/>
              <a:t> are the group labels which will be printed under each boxplot.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b="1" lang="en-IN"/>
              <a:t>main</a:t>
            </a:r>
            <a:r>
              <a:rPr lang="en-IN"/>
              <a:t> is used to give a title to the graph.</a:t>
            </a:r>
            <a:endParaRPr/>
          </a:p>
          <a:p>
            <a:pPr indent="-64135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</p:txBody>
      </p:sp>
      <p:sp>
        <p:nvSpPr>
          <p:cNvPr id="500" name="Google Shape;500;p6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Prof. Vaibhav P. Vasani</a:t>
            </a:r>
            <a:endParaRPr/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4" name="Shape 5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5" name="Google Shape;505;p63"/>
          <p:cNvSpPr txBox="1"/>
          <p:nvPr>
            <p:ph type="title"/>
          </p:nvPr>
        </p:nvSpPr>
        <p:spPr>
          <a:xfrm>
            <a:off x="870858" y="659039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5400"/>
              <a:buFont typeface="Marcellus"/>
              <a:buNone/>
            </a:pPr>
            <a:r>
              <a:t/>
            </a:r>
            <a:endParaRPr/>
          </a:p>
        </p:txBody>
      </p:sp>
      <p:sp>
        <p:nvSpPr>
          <p:cNvPr id="506" name="Google Shape;506;p63"/>
          <p:cNvSpPr txBox="1"/>
          <p:nvPr>
            <p:ph idx="1" type="body"/>
          </p:nvPr>
        </p:nvSpPr>
        <p:spPr>
          <a:xfrm>
            <a:off x="838200" y="2070560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508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IN"/>
              <a:t>input &lt;- mtcars[,c('mpg','cyl')]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IN"/>
              <a:t>print(head(input))</a:t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IN"/>
              <a:t>boxplot(mpg ~ cyl, data = mtcars, xlab = "Number of Cylinders", ylab = "Miles Per Gallon", main = "Mileage Data") </a:t>
            </a:r>
            <a:endParaRPr/>
          </a:p>
        </p:txBody>
      </p:sp>
      <p:sp>
        <p:nvSpPr>
          <p:cNvPr id="507" name="Google Shape;507;p6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Prof. Vaibhav P. Vasani</a:t>
            </a:r>
            <a:endParaRPr/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1" name="Shape 5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" name="Google Shape;512;p64"/>
          <p:cNvSpPr txBox="1"/>
          <p:nvPr>
            <p:ph type="title"/>
          </p:nvPr>
        </p:nvSpPr>
        <p:spPr>
          <a:xfrm>
            <a:off x="870858" y="659039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5400"/>
              <a:buFont typeface="Marcellus"/>
              <a:buNone/>
            </a:pPr>
            <a:r>
              <a:rPr lang="en-IN"/>
              <a:t>Boxplot with Notch</a:t>
            </a:r>
            <a:endParaRPr/>
          </a:p>
        </p:txBody>
      </p:sp>
      <p:sp>
        <p:nvSpPr>
          <p:cNvPr id="513" name="Google Shape;513;p64"/>
          <p:cNvSpPr txBox="1"/>
          <p:nvPr>
            <p:ph idx="1" type="body"/>
          </p:nvPr>
        </p:nvSpPr>
        <p:spPr>
          <a:xfrm>
            <a:off x="838200" y="2070560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85000" lnSpcReduction="20000"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IN"/>
              <a:t>boxplot with notch to find out how the medians of different data groups match with each other.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IN"/>
              <a:t>boxplot(mpg ~ cyl, data = mtcars, 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IN"/>
              <a:t>   xlab = "Number of Cylinders",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IN"/>
              <a:t>   ylab = "Miles Per Gallon", 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IN"/>
              <a:t>   main = "Mileage Data",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IN"/>
              <a:t>   notch = TRUE, 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IN"/>
              <a:t>   varwidth = TRUE, 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IN"/>
              <a:t>   col = c("green","yellow","purple"),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IN"/>
              <a:t>   names = c("High","Medium","Low")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IN"/>
              <a:t>)</a:t>
            </a:r>
            <a:endParaRPr/>
          </a:p>
        </p:txBody>
      </p:sp>
      <p:sp>
        <p:nvSpPr>
          <p:cNvPr id="514" name="Google Shape;514;p6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Prof. Vaibhav P. Vasani</a:t>
            </a:r>
            <a:endParaRPr/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8" name="Shape 5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9" name="Google Shape;519;p65"/>
          <p:cNvSpPr txBox="1"/>
          <p:nvPr>
            <p:ph type="title"/>
          </p:nvPr>
        </p:nvSpPr>
        <p:spPr>
          <a:xfrm>
            <a:off x="870858" y="659039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5400"/>
              <a:buFont typeface="Marcellus"/>
              <a:buNone/>
            </a:pPr>
            <a:r>
              <a:rPr b="1" lang="en-IN"/>
              <a:t>R - Histograms</a:t>
            </a:r>
            <a:endParaRPr/>
          </a:p>
        </p:txBody>
      </p:sp>
      <p:sp>
        <p:nvSpPr>
          <p:cNvPr id="520" name="Google Shape;520;p65"/>
          <p:cNvSpPr txBox="1"/>
          <p:nvPr>
            <p:ph idx="1" type="body"/>
          </p:nvPr>
        </p:nvSpPr>
        <p:spPr>
          <a:xfrm>
            <a:off x="838200" y="2070560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IN"/>
              <a:t>A histogram represents the frequencies of values of a variable bucketed into ranges. 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IN"/>
              <a:t>Histogram is similar to bar chart but the difference is it groups the values into continuous ranges. 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IN"/>
              <a:t>Each bar in histogram represents the height of the number of values present in that range.</a:t>
            </a:r>
            <a:endParaRPr/>
          </a:p>
        </p:txBody>
      </p:sp>
      <p:sp>
        <p:nvSpPr>
          <p:cNvPr id="521" name="Google Shape;521;p6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Prof. Vaibhav P. Vasani</a:t>
            </a:r>
            <a:endParaRPr/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5" name="Shape 5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6" name="Google Shape;526;p66"/>
          <p:cNvSpPr txBox="1"/>
          <p:nvPr>
            <p:ph type="title"/>
          </p:nvPr>
        </p:nvSpPr>
        <p:spPr>
          <a:xfrm>
            <a:off x="870858" y="659039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5400"/>
              <a:buFont typeface="Marcellus"/>
              <a:buNone/>
            </a:pPr>
            <a:r>
              <a:t/>
            </a:r>
            <a:endParaRPr/>
          </a:p>
        </p:txBody>
      </p:sp>
      <p:sp>
        <p:nvSpPr>
          <p:cNvPr id="527" name="Google Shape;527;p66"/>
          <p:cNvSpPr txBox="1"/>
          <p:nvPr>
            <p:ph idx="1" type="body"/>
          </p:nvPr>
        </p:nvSpPr>
        <p:spPr>
          <a:xfrm>
            <a:off x="838200" y="2070560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85000" lnSpcReduction="10000"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IN"/>
              <a:t>hist(v,main,xlab,xlim,ylim,breaks,col,border)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b="1" lang="en-IN"/>
              <a:t>v</a:t>
            </a:r>
            <a:r>
              <a:rPr lang="en-IN"/>
              <a:t> is a vector containing numeric values used in histogram.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b="1" lang="en-IN"/>
              <a:t>main</a:t>
            </a:r>
            <a:r>
              <a:rPr lang="en-IN"/>
              <a:t> indicates title of the chart.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b="1" lang="en-IN"/>
              <a:t>col</a:t>
            </a:r>
            <a:r>
              <a:rPr lang="en-IN"/>
              <a:t> is used to set color of the bars.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b="1" lang="en-IN"/>
              <a:t>border</a:t>
            </a:r>
            <a:r>
              <a:rPr lang="en-IN"/>
              <a:t> is used to set border color of each bar.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b="1" lang="en-IN"/>
              <a:t>xlab</a:t>
            </a:r>
            <a:r>
              <a:rPr lang="en-IN"/>
              <a:t> is used to give description of x-axis.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b="1" lang="en-IN"/>
              <a:t>xlim</a:t>
            </a:r>
            <a:r>
              <a:rPr lang="en-IN"/>
              <a:t> is used to specify the range of values on the x-axis.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b="1" lang="en-IN"/>
              <a:t>ylim</a:t>
            </a:r>
            <a:r>
              <a:rPr lang="en-IN"/>
              <a:t> is used to specify the range of values on the y-axis.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b="1" lang="en-IN"/>
              <a:t>breaks</a:t>
            </a:r>
            <a:r>
              <a:rPr lang="en-IN"/>
              <a:t> is used to mention the width of each bar.</a:t>
            </a:r>
            <a:endParaRPr/>
          </a:p>
          <a:p>
            <a:pPr indent="-7747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</p:txBody>
      </p:sp>
      <p:sp>
        <p:nvSpPr>
          <p:cNvPr id="528" name="Google Shape;528;p6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Prof. Vaibhav P. Vasani</a:t>
            </a:r>
            <a:endParaRPr/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2" name="Shape 5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3" name="Google Shape;533;p67"/>
          <p:cNvSpPr txBox="1"/>
          <p:nvPr>
            <p:ph type="title"/>
          </p:nvPr>
        </p:nvSpPr>
        <p:spPr>
          <a:xfrm>
            <a:off x="870858" y="659039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5400"/>
              <a:buFont typeface="Marcellus"/>
              <a:buNone/>
            </a:pPr>
            <a:r>
              <a:t/>
            </a:r>
            <a:endParaRPr/>
          </a:p>
        </p:txBody>
      </p:sp>
      <p:sp>
        <p:nvSpPr>
          <p:cNvPr id="534" name="Google Shape;534;p67"/>
          <p:cNvSpPr txBox="1"/>
          <p:nvPr>
            <p:ph idx="1" type="body"/>
          </p:nvPr>
        </p:nvSpPr>
        <p:spPr>
          <a:xfrm>
            <a:off x="838200" y="2070560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IN"/>
              <a:t>v &lt;- c(9,13,21,8,36,22,12,41,31,33,19)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IN"/>
              <a:t>hist(v,xlab = "Weight",col = "yellow",border = "blue")</a:t>
            </a:r>
            <a:endParaRPr/>
          </a:p>
        </p:txBody>
      </p:sp>
      <p:pic>
        <p:nvPicPr>
          <p:cNvPr id="535" name="Google Shape;535;p6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543605" y="3789040"/>
            <a:ext cx="7721600" cy="2190750"/>
          </a:xfrm>
          <a:prstGeom prst="rect">
            <a:avLst/>
          </a:prstGeom>
          <a:noFill/>
          <a:ln>
            <a:noFill/>
          </a:ln>
        </p:spPr>
      </p:pic>
      <p:sp>
        <p:nvSpPr>
          <p:cNvPr id="536" name="Google Shape;536;p6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Prof. Vaibhav P. Vasani</a:t>
            </a:r>
            <a:endParaRPr/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0" name="Shape 5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1" name="Google Shape;541;p68"/>
          <p:cNvSpPr txBox="1"/>
          <p:nvPr>
            <p:ph type="title"/>
          </p:nvPr>
        </p:nvSpPr>
        <p:spPr>
          <a:xfrm>
            <a:off x="870858" y="659039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5400"/>
              <a:buFont typeface="Marcellus"/>
              <a:buNone/>
            </a:pPr>
            <a:r>
              <a:rPr b="1" lang="en-IN"/>
              <a:t>Range of X and Y values</a:t>
            </a:r>
            <a:endParaRPr/>
          </a:p>
        </p:txBody>
      </p:sp>
      <p:sp>
        <p:nvSpPr>
          <p:cNvPr id="542" name="Google Shape;542;p68"/>
          <p:cNvSpPr txBox="1"/>
          <p:nvPr>
            <p:ph idx="1" type="body"/>
          </p:nvPr>
        </p:nvSpPr>
        <p:spPr>
          <a:xfrm>
            <a:off x="838200" y="2070560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IN"/>
              <a:t>v &lt;- c(9,13,21,8,36,22,12,41,31,33,19)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IN"/>
              <a:t>hist(v,xlab = "Weight",col = "green",border = "red", xlim = c(0,40), ylim = c(0,5), breaks = 5)</a:t>
            </a:r>
            <a:endParaRPr/>
          </a:p>
        </p:txBody>
      </p:sp>
      <p:sp>
        <p:nvSpPr>
          <p:cNvPr id="543" name="Google Shape;543;p6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Prof. Vaibhav P. Vasani</a:t>
            </a:r>
            <a:endParaRPr/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7" name="Shape 5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8" name="Google Shape;548;p69"/>
          <p:cNvSpPr txBox="1"/>
          <p:nvPr>
            <p:ph type="title"/>
          </p:nvPr>
        </p:nvSpPr>
        <p:spPr>
          <a:xfrm>
            <a:off x="870858" y="659039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5400"/>
              <a:buFont typeface="Marcellus"/>
              <a:buNone/>
            </a:pPr>
            <a:r>
              <a:rPr b="1" lang="en-IN"/>
              <a:t>R - Line Graphs</a:t>
            </a:r>
            <a:endParaRPr/>
          </a:p>
        </p:txBody>
      </p:sp>
      <p:sp>
        <p:nvSpPr>
          <p:cNvPr id="549" name="Google Shape;549;p69"/>
          <p:cNvSpPr txBox="1"/>
          <p:nvPr>
            <p:ph idx="1" type="body"/>
          </p:nvPr>
        </p:nvSpPr>
        <p:spPr>
          <a:xfrm>
            <a:off x="838200" y="2070560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IN"/>
              <a:t>A line chart is a graph that connects a series of points by drawing line segments between them. 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IN"/>
              <a:t>These points are ordered in one of their coordinate (usually the x-coordinate) value. 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IN"/>
              <a:t>Line charts are usually used in identifying the trends in data.</a:t>
            </a:r>
            <a:endParaRPr/>
          </a:p>
        </p:txBody>
      </p:sp>
      <p:sp>
        <p:nvSpPr>
          <p:cNvPr id="550" name="Google Shape;550;p6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Prof. Vaibhav P. Vasani</a:t>
            </a:r>
            <a:endParaRPr/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4" name="Shape 5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5" name="Google Shape;555;p70"/>
          <p:cNvSpPr txBox="1"/>
          <p:nvPr>
            <p:ph type="title"/>
          </p:nvPr>
        </p:nvSpPr>
        <p:spPr>
          <a:xfrm>
            <a:off x="870858" y="659039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5400"/>
              <a:buFont typeface="Marcellus"/>
              <a:buNone/>
            </a:pPr>
            <a:r>
              <a:t/>
            </a:r>
            <a:endParaRPr/>
          </a:p>
        </p:txBody>
      </p:sp>
      <p:sp>
        <p:nvSpPr>
          <p:cNvPr id="556" name="Google Shape;556;p70"/>
          <p:cNvSpPr txBox="1"/>
          <p:nvPr>
            <p:ph idx="1" type="body"/>
          </p:nvPr>
        </p:nvSpPr>
        <p:spPr>
          <a:xfrm>
            <a:off x="838200" y="2070560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IN"/>
              <a:t>plot(v,type,col,xlab,ylab)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b="1" lang="en-IN"/>
              <a:t>v</a:t>
            </a:r>
            <a:r>
              <a:rPr lang="en-IN"/>
              <a:t> is a vector containing the numeric values.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b="1" lang="en-IN"/>
              <a:t>type</a:t>
            </a:r>
            <a:r>
              <a:rPr lang="en-IN"/>
              <a:t> takes the value "p" to draw only the points, "l" to draw only the lines and "o" to draw both points and lines.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b="1" lang="en-IN"/>
              <a:t>xlab</a:t>
            </a:r>
            <a:r>
              <a:rPr lang="en-IN"/>
              <a:t> is the label for x axis.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b="1" lang="en-IN"/>
              <a:t>ylab</a:t>
            </a:r>
            <a:r>
              <a:rPr lang="en-IN"/>
              <a:t> is the label for y axis.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b="1" lang="en-IN"/>
              <a:t>main</a:t>
            </a:r>
            <a:r>
              <a:rPr lang="en-IN"/>
              <a:t> is the Title of the chart.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b="1" lang="en-IN"/>
              <a:t>col</a:t>
            </a:r>
            <a:r>
              <a:rPr lang="en-IN"/>
              <a:t> is used to give colors to both the points and lines.</a:t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  <p:sp>
        <p:nvSpPr>
          <p:cNvPr id="557" name="Google Shape;557;p7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Prof. Vaibhav P. Vasani</a:t>
            </a:r>
            <a:endParaRPr/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1" name="Shape 5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2" name="Google Shape;562;p71"/>
          <p:cNvSpPr txBox="1"/>
          <p:nvPr>
            <p:ph type="title"/>
          </p:nvPr>
        </p:nvSpPr>
        <p:spPr>
          <a:xfrm>
            <a:off x="870858" y="659039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5400"/>
              <a:buFont typeface="Marcellus"/>
              <a:buNone/>
            </a:pPr>
            <a:r>
              <a:t/>
            </a:r>
            <a:endParaRPr/>
          </a:p>
        </p:txBody>
      </p:sp>
      <p:sp>
        <p:nvSpPr>
          <p:cNvPr id="563" name="Google Shape;563;p71"/>
          <p:cNvSpPr txBox="1"/>
          <p:nvPr>
            <p:ph idx="1" type="body"/>
          </p:nvPr>
        </p:nvSpPr>
        <p:spPr>
          <a:xfrm>
            <a:off x="838200" y="2070560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IN"/>
              <a:t># Create the data for the chart.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IN"/>
              <a:t>v &lt;- c(7,12,28,3,41)</a:t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IN"/>
              <a:t># Plot the bar chart. 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IN"/>
              <a:t>plot(v,type = "o")</a:t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  <p:sp>
        <p:nvSpPr>
          <p:cNvPr id="564" name="Google Shape;564;p7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Prof. Vaibhav P. Vasani</a:t>
            </a:r>
            <a:endParaRPr/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8" name="Shape 5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9" name="Google Shape;569;p72"/>
          <p:cNvSpPr txBox="1"/>
          <p:nvPr>
            <p:ph type="title"/>
          </p:nvPr>
        </p:nvSpPr>
        <p:spPr>
          <a:xfrm>
            <a:off x="870858" y="659039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5400"/>
              <a:buFont typeface="Marcellus"/>
              <a:buNone/>
            </a:pPr>
            <a:r>
              <a:rPr b="1" lang="en-IN"/>
              <a:t>Line Chart Title, Color and Labels</a:t>
            </a:r>
            <a:endParaRPr/>
          </a:p>
        </p:txBody>
      </p:sp>
      <p:sp>
        <p:nvSpPr>
          <p:cNvPr id="570" name="Google Shape;570;p72"/>
          <p:cNvSpPr txBox="1"/>
          <p:nvPr>
            <p:ph idx="1" type="body"/>
          </p:nvPr>
        </p:nvSpPr>
        <p:spPr>
          <a:xfrm>
            <a:off x="838200" y="2070560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IN"/>
              <a:t># Create the data for the chart.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IN"/>
              <a:t>v &lt;- c(7,12,28,3,41)</a:t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IN"/>
              <a:t># Plot the bar chart.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IN"/>
              <a:t>plot(v,type = "o", col = "red", xlab = "Month", ylab = "Rain fall",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IN"/>
              <a:t>   main = "Rain fall chart")</a:t>
            </a:r>
            <a:endParaRPr/>
          </a:p>
        </p:txBody>
      </p:sp>
      <p:sp>
        <p:nvSpPr>
          <p:cNvPr id="571" name="Google Shape;571;p7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Prof. Vaibhav P. Vasani</a:t>
            </a:r>
            <a:endParaRPr/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5" name="Shape 5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6" name="Google Shape;576;p73"/>
          <p:cNvSpPr txBox="1"/>
          <p:nvPr>
            <p:ph type="title"/>
          </p:nvPr>
        </p:nvSpPr>
        <p:spPr>
          <a:xfrm>
            <a:off x="870858" y="659039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5400"/>
              <a:buFont typeface="Marcellus"/>
              <a:buNone/>
            </a:pPr>
            <a:r>
              <a:rPr b="1" lang="en-IN"/>
              <a:t>Multiple Lines in a Line Chart</a:t>
            </a:r>
            <a:endParaRPr/>
          </a:p>
        </p:txBody>
      </p:sp>
      <p:sp>
        <p:nvSpPr>
          <p:cNvPr id="577" name="Google Shape;577;p73"/>
          <p:cNvSpPr txBox="1"/>
          <p:nvPr>
            <p:ph idx="1" type="body"/>
          </p:nvPr>
        </p:nvSpPr>
        <p:spPr>
          <a:xfrm>
            <a:off x="838200" y="2070560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10000"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IN"/>
              <a:t># Create the data for the chart.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IN"/>
              <a:t>v &lt;- c(7,12,28,3,41)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IN"/>
              <a:t>t &lt;- c(14,7,6,19,3)</a:t>
            </a:r>
            <a:endParaRPr/>
          </a:p>
          <a:p>
            <a:pPr indent="-64135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IN"/>
              <a:t># Plot the bar chart.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IN"/>
              <a:t>plot(v,type = "o",col = "red", xlab = "Month", ylab = "Rain fall",   main = "Rain fall chart")</a:t>
            </a:r>
            <a:endParaRPr/>
          </a:p>
          <a:p>
            <a:pPr indent="-64135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IN"/>
              <a:t>lines(t, type = "o", col = "blue")</a:t>
            </a:r>
            <a:endParaRPr/>
          </a:p>
        </p:txBody>
      </p:sp>
      <p:sp>
        <p:nvSpPr>
          <p:cNvPr id="578" name="Google Shape;578;p7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Prof. Vaibhav P. Vasani</a:t>
            </a:r>
            <a:endParaRPr/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2" name="Shape 5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" name="Google Shape;583;p74"/>
          <p:cNvSpPr txBox="1"/>
          <p:nvPr>
            <p:ph type="title"/>
          </p:nvPr>
        </p:nvSpPr>
        <p:spPr>
          <a:xfrm>
            <a:off x="870858" y="659039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5400"/>
              <a:buFont typeface="Marcellus"/>
              <a:buNone/>
            </a:pPr>
            <a:r>
              <a:rPr b="1" lang="en-IN"/>
              <a:t>R - Scatterplots</a:t>
            </a:r>
            <a:endParaRPr/>
          </a:p>
        </p:txBody>
      </p:sp>
      <p:sp>
        <p:nvSpPr>
          <p:cNvPr id="584" name="Google Shape;584;p74"/>
          <p:cNvSpPr txBox="1"/>
          <p:nvPr>
            <p:ph idx="1" type="body"/>
          </p:nvPr>
        </p:nvSpPr>
        <p:spPr>
          <a:xfrm>
            <a:off x="838200" y="2070560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IN"/>
              <a:t>Scatterplots show many points plotted in the Cartesian plane. </a:t>
            </a:r>
            <a:br>
              <a:rPr lang="en-IN"/>
            </a:br>
            <a:r>
              <a:rPr lang="en-IN"/>
              <a:t>Each point represents the values of two variables. 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IN"/>
              <a:t>One variable is chosen in the horizontal axis and another in the vertical axis.</a:t>
            </a:r>
            <a:endParaRPr/>
          </a:p>
        </p:txBody>
      </p:sp>
      <p:sp>
        <p:nvSpPr>
          <p:cNvPr id="585" name="Google Shape;585;p7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Prof. Vaibhav P. Vasani</a:t>
            </a:r>
            <a:endParaRPr/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9" name="Shape 5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0" name="Google Shape;590;p75"/>
          <p:cNvSpPr txBox="1"/>
          <p:nvPr>
            <p:ph type="title"/>
          </p:nvPr>
        </p:nvSpPr>
        <p:spPr>
          <a:xfrm>
            <a:off x="870858" y="659039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5400"/>
              <a:buFont typeface="Marcellus"/>
              <a:buNone/>
            </a:pPr>
            <a:r>
              <a:t/>
            </a:r>
            <a:endParaRPr/>
          </a:p>
        </p:txBody>
      </p:sp>
      <p:sp>
        <p:nvSpPr>
          <p:cNvPr id="591" name="Google Shape;591;p75"/>
          <p:cNvSpPr txBox="1"/>
          <p:nvPr>
            <p:ph idx="1" type="body"/>
          </p:nvPr>
        </p:nvSpPr>
        <p:spPr>
          <a:xfrm>
            <a:off x="838200" y="2070560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85000" lnSpcReduction="10000"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IN"/>
              <a:t>plot(x, y, main, xlab, ylab, xlim, ylim, axes)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b="1" lang="en-IN"/>
              <a:t>x</a:t>
            </a:r>
            <a:r>
              <a:rPr lang="en-IN"/>
              <a:t> is the data set whose values are the horizontal coordinates.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b="1" lang="en-IN"/>
              <a:t>y</a:t>
            </a:r>
            <a:r>
              <a:rPr lang="en-IN"/>
              <a:t> is the data set whose values are the vertical coordinates.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b="1" lang="en-IN"/>
              <a:t>main</a:t>
            </a:r>
            <a:r>
              <a:rPr lang="en-IN"/>
              <a:t> is the tile of the graph.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b="1" lang="en-IN"/>
              <a:t>xlab</a:t>
            </a:r>
            <a:r>
              <a:rPr lang="en-IN"/>
              <a:t> is the label in the horizontal axis.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b="1" lang="en-IN"/>
              <a:t>ylab</a:t>
            </a:r>
            <a:r>
              <a:rPr lang="en-IN"/>
              <a:t> is the label in the vertical axis.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b="1" lang="en-IN"/>
              <a:t>xlim</a:t>
            </a:r>
            <a:r>
              <a:rPr lang="en-IN"/>
              <a:t> is the limits of the values of x used for plotting.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b="1" lang="en-IN"/>
              <a:t>ylim</a:t>
            </a:r>
            <a:r>
              <a:rPr lang="en-IN"/>
              <a:t> is the limits of the values of y used for plotting.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b="1" lang="en-IN"/>
              <a:t>axes</a:t>
            </a:r>
            <a:r>
              <a:rPr lang="en-IN"/>
              <a:t> indicates whether both axes should be drawn on the plot.</a:t>
            </a:r>
            <a:endParaRPr/>
          </a:p>
          <a:p>
            <a:pPr indent="-7747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</p:txBody>
      </p:sp>
      <p:sp>
        <p:nvSpPr>
          <p:cNvPr id="592" name="Google Shape;592;p7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Prof. Vaibhav P. Vasani</a:t>
            </a:r>
            <a:endParaRPr/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6" name="Shape 5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7" name="Google Shape;597;p76"/>
          <p:cNvSpPr txBox="1"/>
          <p:nvPr>
            <p:ph type="title"/>
          </p:nvPr>
        </p:nvSpPr>
        <p:spPr>
          <a:xfrm>
            <a:off x="870858" y="659039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5400"/>
              <a:buFont typeface="Marcellus"/>
              <a:buNone/>
            </a:pPr>
            <a:r>
              <a:t/>
            </a:r>
            <a:endParaRPr/>
          </a:p>
        </p:txBody>
      </p:sp>
      <p:sp>
        <p:nvSpPr>
          <p:cNvPr id="598" name="Google Shape;598;p76"/>
          <p:cNvSpPr txBox="1"/>
          <p:nvPr>
            <p:ph idx="1" type="body"/>
          </p:nvPr>
        </p:nvSpPr>
        <p:spPr>
          <a:xfrm>
            <a:off x="838200" y="2070560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IN"/>
              <a:t>input &lt;- mtcars[,c('wt','mpg')]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IN"/>
              <a:t>print(head(input))</a:t>
            </a:r>
            <a:endParaRPr/>
          </a:p>
        </p:txBody>
      </p:sp>
      <p:sp>
        <p:nvSpPr>
          <p:cNvPr id="599" name="Google Shape;599;p7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Prof. Vaibhav P. Vasani</a:t>
            </a:r>
            <a:endParaRPr/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3" name="Shape 6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" name="Google Shape;604;p77"/>
          <p:cNvSpPr txBox="1"/>
          <p:nvPr>
            <p:ph type="title"/>
          </p:nvPr>
        </p:nvSpPr>
        <p:spPr>
          <a:xfrm>
            <a:off x="870858" y="659039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5400"/>
              <a:buFont typeface="Marcellus"/>
              <a:buNone/>
            </a:pPr>
            <a:r>
              <a:rPr b="1" lang="en-IN"/>
              <a:t>Creating the Scatterplot</a:t>
            </a:r>
            <a:endParaRPr/>
          </a:p>
        </p:txBody>
      </p:sp>
      <p:sp>
        <p:nvSpPr>
          <p:cNvPr id="605" name="Google Shape;605;p77"/>
          <p:cNvSpPr txBox="1"/>
          <p:nvPr>
            <p:ph idx="1" type="body"/>
          </p:nvPr>
        </p:nvSpPr>
        <p:spPr>
          <a:xfrm>
            <a:off x="838200" y="2070560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77500" lnSpcReduction="20000"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IN"/>
              <a:t># Get the input values.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IN"/>
              <a:t>input &lt;- mtcars[,c('wt','mpg')]</a:t>
            </a:r>
            <a:endParaRPr/>
          </a:p>
          <a:p>
            <a:pPr indent="-90804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IN"/>
              <a:t># Plot the chart for cars with weight between 2.5 to 5 and mileage between 15 and 30.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IN"/>
              <a:t>plot(x = input$wt,y = input$mpg,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IN"/>
              <a:t>   xlab = "Weight",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IN"/>
              <a:t>   ylab = "Milage",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IN"/>
              <a:t>   xlim = c(2.5,5),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IN"/>
              <a:t>   ylim = c(15,30),		 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IN"/>
              <a:t>   main = "Weight vs Milage"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IN"/>
              <a:t>)</a:t>
            </a:r>
            <a:endParaRPr/>
          </a:p>
        </p:txBody>
      </p:sp>
      <p:sp>
        <p:nvSpPr>
          <p:cNvPr id="606" name="Google Shape;606;p7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Prof. Vaibhav P. Vasani</a:t>
            </a:r>
            <a:endParaRPr/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0" name="Shape 6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1" name="Google Shape;611;p78"/>
          <p:cNvSpPr txBox="1"/>
          <p:nvPr>
            <p:ph type="title"/>
          </p:nvPr>
        </p:nvSpPr>
        <p:spPr>
          <a:xfrm>
            <a:off x="870858" y="659039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5400"/>
              <a:buFont typeface="Marcellus"/>
              <a:buNone/>
            </a:pPr>
            <a:r>
              <a:rPr b="1" lang="en-IN"/>
              <a:t>Scatterplot Matrices</a:t>
            </a:r>
            <a:endParaRPr/>
          </a:p>
        </p:txBody>
      </p:sp>
      <p:sp>
        <p:nvSpPr>
          <p:cNvPr id="612" name="Google Shape;612;p78"/>
          <p:cNvSpPr txBox="1"/>
          <p:nvPr>
            <p:ph idx="1" type="body"/>
          </p:nvPr>
        </p:nvSpPr>
        <p:spPr>
          <a:xfrm>
            <a:off x="838200" y="2070560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20000"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IN"/>
              <a:t>When we have more than two variables and we want to find the correlation between one variable versus the remaining ones we use scatterplot matrix. 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IN"/>
              <a:t>We use </a:t>
            </a:r>
            <a:r>
              <a:rPr b="1" lang="en-IN"/>
              <a:t>pairs()</a:t>
            </a:r>
            <a:r>
              <a:rPr lang="en-IN"/>
              <a:t> function to create matrices of scatterplots.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IN"/>
              <a:t>pairs(formula, data)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b="1" lang="en-IN"/>
              <a:t>formula</a:t>
            </a:r>
            <a:r>
              <a:rPr lang="en-IN"/>
              <a:t> represents the series of variables used in pairs.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b="1" lang="en-IN"/>
              <a:t>data</a:t>
            </a:r>
            <a:r>
              <a:rPr lang="en-IN"/>
              <a:t> represents the data set from which the variables will be taken.</a:t>
            </a:r>
            <a:endParaRPr/>
          </a:p>
          <a:p>
            <a:pPr indent="-64135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</p:txBody>
      </p:sp>
      <p:sp>
        <p:nvSpPr>
          <p:cNvPr id="613" name="Google Shape;613;p7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Prof. Vaibhav P. Vasani</a:t>
            </a:r>
            <a:endParaRPr/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7" name="Shape 6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8" name="Google Shape;618;p79"/>
          <p:cNvSpPr txBox="1"/>
          <p:nvPr>
            <p:ph type="title"/>
          </p:nvPr>
        </p:nvSpPr>
        <p:spPr>
          <a:xfrm>
            <a:off x="870858" y="659039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5400"/>
              <a:buFont typeface="Marcellus"/>
              <a:buNone/>
            </a:pPr>
            <a:r>
              <a:t/>
            </a:r>
            <a:endParaRPr/>
          </a:p>
        </p:txBody>
      </p:sp>
      <p:sp>
        <p:nvSpPr>
          <p:cNvPr id="619" name="Google Shape;619;p79"/>
          <p:cNvSpPr txBox="1"/>
          <p:nvPr>
            <p:ph idx="1" type="body"/>
          </p:nvPr>
        </p:nvSpPr>
        <p:spPr>
          <a:xfrm>
            <a:off x="838200" y="2070560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IN"/>
              <a:t># Plot the matrices between 4 variables giving 12 plots.</a:t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IN"/>
              <a:t># One variable with 3 others and total 4 variables.</a:t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IN"/>
              <a:t>pairs(~wt+mpg+disp+cyl,data = mtcars,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IN"/>
              <a:t>   main = "Scatterplot Matrix")</a:t>
            </a:r>
            <a:endParaRPr/>
          </a:p>
        </p:txBody>
      </p:sp>
      <p:sp>
        <p:nvSpPr>
          <p:cNvPr id="620" name="Google Shape;620;p7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Prof. Vaibhav P. Vasani</a:t>
            </a:r>
            <a:endParaRPr/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4" name="Shape 6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5" name="Google Shape;625;p80"/>
          <p:cNvSpPr txBox="1"/>
          <p:nvPr>
            <p:ph type="title"/>
          </p:nvPr>
        </p:nvSpPr>
        <p:spPr>
          <a:xfrm>
            <a:off x="870858" y="659039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5400"/>
              <a:buFont typeface="Marcellus"/>
              <a:buNone/>
            </a:pPr>
            <a:r>
              <a:rPr b="1" lang="en-IN"/>
              <a:t>R - Mean, Median and Mode</a:t>
            </a:r>
            <a:endParaRPr/>
          </a:p>
        </p:txBody>
      </p:sp>
      <p:sp>
        <p:nvSpPr>
          <p:cNvPr id="626" name="Google Shape;626;p80"/>
          <p:cNvSpPr txBox="1"/>
          <p:nvPr>
            <p:ph idx="1" type="body"/>
          </p:nvPr>
        </p:nvSpPr>
        <p:spPr>
          <a:xfrm>
            <a:off x="838200" y="2070560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IN"/>
              <a:t>Statistical analysis in R is performed by using many in-built functions. 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IN"/>
              <a:t>Most of these functions are part of the R base package. 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IN"/>
              <a:t>These functions take R vector as an input along with the arguments and give the result.</a:t>
            </a:r>
            <a:endParaRPr/>
          </a:p>
        </p:txBody>
      </p:sp>
      <p:sp>
        <p:nvSpPr>
          <p:cNvPr id="627" name="Google Shape;627;p8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Prof. Vaibhav P. Vasani</a:t>
            </a:r>
            <a:endParaRPr/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1" name="Shape 6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2" name="Google Shape;632;p81"/>
          <p:cNvSpPr txBox="1"/>
          <p:nvPr>
            <p:ph type="title"/>
          </p:nvPr>
        </p:nvSpPr>
        <p:spPr>
          <a:xfrm>
            <a:off x="870858" y="659039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5400"/>
              <a:buFont typeface="Marcellus"/>
              <a:buNone/>
            </a:pPr>
            <a:r>
              <a:t/>
            </a:r>
            <a:endParaRPr/>
          </a:p>
        </p:txBody>
      </p:sp>
      <p:sp>
        <p:nvSpPr>
          <p:cNvPr id="633" name="Google Shape;633;p81"/>
          <p:cNvSpPr txBox="1"/>
          <p:nvPr>
            <p:ph idx="1" type="body"/>
          </p:nvPr>
        </p:nvSpPr>
        <p:spPr>
          <a:xfrm>
            <a:off x="838200" y="2070560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IN"/>
              <a:t># Create a vector. 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IN"/>
              <a:t>x &lt;- c(12,7,3,4.2,18,2,54,-21,8,-5)</a:t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IN"/>
              <a:t># Find Mean.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IN"/>
              <a:t>result.mean &lt;- mean(x)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IN"/>
              <a:t>print(result.mean)</a:t>
            </a:r>
            <a:endParaRPr/>
          </a:p>
        </p:txBody>
      </p:sp>
      <p:sp>
        <p:nvSpPr>
          <p:cNvPr id="634" name="Google Shape;634;p8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Prof. Vaibhav P. Vasani</a:t>
            </a:r>
            <a:endParaRPr/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8" name="Shape 6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9" name="Google Shape;639;p82"/>
          <p:cNvSpPr txBox="1"/>
          <p:nvPr>
            <p:ph type="title"/>
          </p:nvPr>
        </p:nvSpPr>
        <p:spPr>
          <a:xfrm>
            <a:off x="870858" y="659039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5400"/>
              <a:buFont typeface="Marcellus"/>
              <a:buNone/>
            </a:pPr>
            <a:r>
              <a:rPr b="1" lang="en-IN"/>
              <a:t>Applying Trim Option</a:t>
            </a:r>
            <a:endParaRPr/>
          </a:p>
        </p:txBody>
      </p:sp>
      <p:sp>
        <p:nvSpPr>
          <p:cNvPr id="640" name="Google Shape;640;p82"/>
          <p:cNvSpPr txBox="1"/>
          <p:nvPr>
            <p:ph idx="1" type="body"/>
          </p:nvPr>
        </p:nvSpPr>
        <p:spPr>
          <a:xfrm>
            <a:off x="838200" y="2070560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IN" sz="2000"/>
              <a:t># Create a vector.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IN" sz="2000"/>
              <a:t>x &lt;- c(12,7,3,4.2,18,2,54,-21,8,-5)</a:t>
            </a:r>
            <a:endParaRPr/>
          </a:p>
          <a:p>
            <a:pPr indent="-101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t/>
            </a:r>
            <a:endParaRPr sz="2000"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IN" sz="2000"/>
              <a:t># Find Mean.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IN" sz="2000"/>
              <a:t>result.mean &lt;-  mean(x,trim = 0.3)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IN" sz="2000"/>
              <a:t>print(result.mean)</a:t>
            </a:r>
            <a:endParaRPr/>
          </a:p>
        </p:txBody>
      </p:sp>
      <p:sp>
        <p:nvSpPr>
          <p:cNvPr id="641" name="Google Shape;641;p82"/>
          <p:cNvSpPr/>
          <p:nvPr/>
        </p:nvSpPr>
        <p:spPr>
          <a:xfrm>
            <a:off x="1103445" y="4005064"/>
            <a:ext cx="9793088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80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rPr>
              <a:t>When trim parameter is supplied, the values in the vector get sorted and then the required numbers of observations are dropped from calculating the mean.</a:t>
            </a:r>
            <a:endParaRPr/>
          </a:p>
        </p:txBody>
      </p:sp>
      <p:sp>
        <p:nvSpPr>
          <p:cNvPr id="642" name="Google Shape;642;p82"/>
          <p:cNvSpPr/>
          <p:nvPr/>
        </p:nvSpPr>
        <p:spPr>
          <a:xfrm>
            <a:off x="911424" y="5085184"/>
            <a:ext cx="11041227" cy="9233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80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rPr>
              <a:t>When trim = 0.3, 3 values from each end will be dropped from the calculations to find mean.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80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rPr>
              <a:t>In this case the sorted vector is (−21, −5, 2, 3, 4.2, 7, 8, 12, 18, 54) and the values removed from the vector for calculating mean are (−21,−5,2) from left and (12,18,54) from right.</a:t>
            </a:r>
            <a:endParaRPr/>
          </a:p>
        </p:txBody>
      </p:sp>
      <p:sp>
        <p:nvSpPr>
          <p:cNvPr id="643" name="Google Shape;643;p8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Prof. Vaibhav P. Vasani</a:t>
            </a:r>
            <a:endParaRPr/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8" name="Shape 6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9" name="Google Shape;649;p83"/>
          <p:cNvSpPr txBox="1"/>
          <p:nvPr>
            <p:ph type="title"/>
          </p:nvPr>
        </p:nvSpPr>
        <p:spPr>
          <a:xfrm>
            <a:off x="870858" y="659039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5400"/>
              <a:buFont typeface="Marcellus"/>
              <a:buNone/>
            </a:pPr>
            <a:r>
              <a:rPr b="1" lang="en-IN"/>
              <a:t>Applying NA Option</a:t>
            </a:r>
            <a:endParaRPr/>
          </a:p>
        </p:txBody>
      </p:sp>
      <p:sp>
        <p:nvSpPr>
          <p:cNvPr id="650" name="Google Shape;650;p83"/>
          <p:cNvSpPr txBox="1"/>
          <p:nvPr>
            <p:ph idx="1" type="body"/>
          </p:nvPr>
        </p:nvSpPr>
        <p:spPr>
          <a:xfrm>
            <a:off x="838200" y="2070560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85000" lnSpcReduction="20000"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IN"/>
              <a:t># Create a vector. 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IN"/>
              <a:t>x &lt;- c(12,7,3,4.2,18,2,54,-21,8,-5,NA)</a:t>
            </a:r>
            <a:endParaRPr/>
          </a:p>
          <a:p>
            <a:pPr indent="-7747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IN"/>
              <a:t># Find mean.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IN"/>
              <a:t>result.mean &lt;-  mean(x)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IN"/>
              <a:t>print(result.mean)</a:t>
            </a:r>
            <a:endParaRPr/>
          </a:p>
          <a:p>
            <a:pPr indent="-7747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IN"/>
              <a:t># Find mean dropping NA values.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IN"/>
              <a:t>result.mean &lt;-  mean(x,na.rm = TRUE)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IN"/>
              <a:t>print(result.mean)</a:t>
            </a:r>
            <a:endParaRPr/>
          </a:p>
        </p:txBody>
      </p:sp>
      <p:sp>
        <p:nvSpPr>
          <p:cNvPr id="651" name="Google Shape;651;p8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Prof. Vaibhav P. Vasani</a:t>
            </a:r>
            <a:endParaRPr/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5" name="Shape 6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6" name="Google Shape;656;p84"/>
          <p:cNvSpPr txBox="1"/>
          <p:nvPr>
            <p:ph type="title"/>
          </p:nvPr>
        </p:nvSpPr>
        <p:spPr>
          <a:xfrm>
            <a:off x="870858" y="659039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5400"/>
              <a:buFont typeface="Marcellus"/>
              <a:buNone/>
            </a:pPr>
            <a:r>
              <a:rPr b="1" lang="en-IN"/>
              <a:t>Median</a:t>
            </a:r>
            <a:endParaRPr/>
          </a:p>
        </p:txBody>
      </p:sp>
      <p:sp>
        <p:nvSpPr>
          <p:cNvPr id="657" name="Google Shape;657;p84"/>
          <p:cNvSpPr txBox="1"/>
          <p:nvPr>
            <p:ph idx="1" type="body"/>
          </p:nvPr>
        </p:nvSpPr>
        <p:spPr>
          <a:xfrm>
            <a:off x="838200" y="2070560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IN"/>
              <a:t># Create the vector.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IN"/>
              <a:t>x &lt;- c(12,7,3,4.2,18,2,54,-21,8,-5)</a:t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IN"/>
              <a:t># Find the median.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IN"/>
              <a:t>median.result &lt;- median(x)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IN"/>
              <a:t>print(median.result)</a:t>
            </a:r>
            <a:endParaRPr/>
          </a:p>
        </p:txBody>
      </p:sp>
      <p:sp>
        <p:nvSpPr>
          <p:cNvPr id="658" name="Google Shape;658;p84"/>
          <p:cNvSpPr/>
          <p:nvPr/>
        </p:nvSpPr>
        <p:spPr>
          <a:xfrm>
            <a:off x="2543605" y="5517233"/>
            <a:ext cx="6096000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80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rPr>
              <a:t>The middle most value in a data series is called the median. </a:t>
            </a:r>
            <a:endParaRPr/>
          </a:p>
        </p:txBody>
      </p:sp>
      <p:sp>
        <p:nvSpPr>
          <p:cNvPr id="659" name="Google Shape;659;p8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Prof. Vaibhav P. Vasani</a:t>
            </a:r>
            <a:endParaRPr/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3" name="Shape 6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4" name="Google Shape;664;p85"/>
          <p:cNvSpPr txBox="1"/>
          <p:nvPr>
            <p:ph type="title"/>
          </p:nvPr>
        </p:nvSpPr>
        <p:spPr>
          <a:xfrm>
            <a:off x="870858" y="659039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5400"/>
              <a:buFont typeface="Marcellus"/>
              <a:buNone/>
            </a:pPr>
            <a:r>
              <a:rPr b="1" lang="en-IN"/>
              <a:t>Mode</a:t>
            </a:r>
            <a:endParaRPr/>
          </a:p>
        </p:txBody>
      </p:sp>
      <p:sp>
        <p:nvSpPr>
          <p:cNvPr id="665" name="Google Shape;665;p85"/>
          <p:cNvSpPr txBox="1"/>
          <p:nvPr>
            <p:ph idx="1" type="body"/>
          </p:nvPr>
        </p:nvSpPr>
        <p:spPr>
          <a:xfrm>
            <a:off x="838200" y="2070560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IN"/>
              <a:t>The mode is the value that has highest number of occurrences in a set of data. Unike mean and median, mode can have both numeric and charac</a:t>
            </a:r>
            <a:endParaRPr/>
          </a:p>
        </p:txBody>
      </p:sp>
      <p:sp>
        <p:nvSpPr>
          <p:cNvPr id="666" name="Google Shape;666;p8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Prof. Vaibhav P. Vasani</a:t>
            </a:r>
            <a:endParaRPr/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0" name="Shape 6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1" name="Google Shape;671;p86"/>
          <p:cNvSpPr txBox="1"/>
          <p:nvPr>
            <p:ph type="title"/>
          </p:nvPr>
        </p:nvSpPr>
        <p:spPr>
          <a:xfrm>
            <a:off x="870858" y="659039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5400"/>
              <a:buFont typeface="Marcellus"/>
              <a:buNone/>
            </a:pPr>
            <a:r>
              <a:t/>
            </a:r>
            <a:endParaRPr/>
          </a:p>
        </p:txBody>
      </p:sp>
      <p:sp>
        <p:nvSpPr>
          <p:cNvPr id="672" name="Google Shape;672;p86"/>
          <p:cNvSpPr txBox="1"/>
          <p:nvPr>
            <p:ph idx="1" type="body"/>
          </p:nvPr>
        </p:nvSpPr>
        <p:spPr>
          <a:xfrm>
            <a:off x="838200" y="2070560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47500" lnSpcReduction="20000"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IN"/>
              <a:t># Create the function.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IN"/>
              <a:t>getmode &lt;- function(v) {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IN"/>
              <a:t>   uniqv &lt;- unique(v)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IN"/>
              <a:t>   uniqv[which.max(tabulate(match(v, uniqv)))]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IN"/>
              <a:t>}</a:t>
            </a:r>
            <a:endParaRPr/>
          </a:p>
          <a:p>
            <a:pPr indent="-144145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IN"/>
              <a:t># Create the vector with numbers.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IN"/>
              <a:t>v &lt;- c(2,1,2,3,1,2,3,4,1,5,5,3,2,3)</a:t>
            </a:r>
            <a:endParaRPr/>
          </a:p>
          <a:p>
            <a:pPr indent="-144145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IN"/>
              <a:t># Calculate the mode using the user function.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IN"/>
              <a:t>result &lt;- getmode(v)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IN"/>
              <a:t>print(result)</a:t>
            </a:r>
            <a:endParaRPr/>
          </a:p>
          <a:p>
            <a:pPr indent="-144145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IN"/>
              <a:t># Create the vector with characters.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IN"/>
              <a:t>charv &lt;- c("o","it","the","it","it")</a:t>
            </a:r>
            <a:endParaRPr/>
          </a:p>
          <a:p>
            <a:pPr indent="-144145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IN"/>
              <a:t># Calculate the mode using the user function.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IN"/>
              <a:t>result &lt;- getmode(charv)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IN"/>
              <a:t>print(result)</a:t>
            </a:r>
            <a:endParaRPr/>
          </a:p>
        </p:txBody>
      </p:sp>
      <p:sp>
        <p:nvSpPr>
          <p:cNvPr id="673" name="Google Shape;673;p8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Prof. Vaibhav P. Vasani</a:t>
            </a:r>
            <a:endParaRPr/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7" name="Shape 6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8" name="Google Shape;678;p87"/>
          <p:cNvSpPr txBox="1"/>
          <p:nvPr>
            <p:ph type="title"/>
          </p:nvPr>
        </p:nvSpPr>
        <p:spPr>
          <a:xfrm>
            <a:off x="870858" y="659039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5400"/>
              <a:buFont typeface="Marcellus"/>
              <a:buNone/>
            </a:pPr>
            <a:r>
              <a:t/>
            </a:r>
            <a:endParaRPr/>
          </a:p>
        </p:txBody>
      </p:sp>
      <p:sp>
        <p:nvSpPr>
          <p:cNvPr id="679" name="Google Shape;679;p87"/>
          <p:cNvSpPr txBox="1"/>
          <p:nvPr>
            <p:ph idx="1" type="body"/>
          </p:nvPr>
        </p:nvSpPr>
        <p:spPr>
          <a:xfrm>
            <a:off x="838200" y="2070560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508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3" name="Shape 6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4" name="Google Shape;684;p88"/>
          <p:cNvSpPr txBox="1"/>
          <p:nvPr>
            <p:ph type="title"/>
          </p:nvPr>
        </p:nvSpPr>
        <p:spPr>
          <a:xfrm>
            <a:off x="870858" y="659039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5400"/>
              <a:buFont typeface="Marcellus"/>
              <a:buNone/>
            </a:pPr>
            <a:r>
              <a:t/>
            </a:r>
            <a:endParaRPr/>
          </a:p>
        </p:txBody>
      </p:sp>
      <p:sp>
        <p:nvSpPr>
          <p:cNvPr id="685" name="Google Shape;685;p88"/>
          <p:cNvSpPr txBox="1"/>
          <p:nvPr>
            <p:ph idx="1" type="body"/>
          </p:nvPr>
        </p:nvSpPr>
        <p:spPr>
          <a:xfrm>
            <a:off x="838200" y="2070560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508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9" name="Shape 6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0" name="Google Shape;690;p89"/>
          <p:cNvSpPr txBox="1"/>
          <p:nvPr>
            <p:ph type="title"/>
          </p:nvPr>
        </p:nvSpPr>
        <p:spPr>
          <a:xfrm>
            <a:off x="870858" y="659039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5400"/>
              <a:buFont typeface="Marcellus"/>
              <a:buNone/>
            </a:pPr>
            <a:r>
              <a:t/>
            </a:r>
            <a:endParaRPr/>
          </a:p>
        </p:txBody>
      </p:sp>
      <p:sp>
        <p:nvSpPr>
          <p:cNvPr id="691" name="Google Shape;691;p89"/>
          <p:cNvSpPr txBox="1"/>
          <p:nvPr>
            <p:ph idx="1" type="body"/>
          </p:nvPr>
        </p:nvSpPr>
        <p:spPr>
          <a:xfrm>
            <a:off x="838200" y="2070560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508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5" name="Shape 6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" name="Google Shape;696;p90"/>
          <p:cNvSpPr txBox="1"/>
          <p:nvPr>
            <p:ph type="title"/>
          </p:nvPr>
        </p:nvSpPr>
        <p:spPr>
          <a:xfrm>
            <a:off x="870858" y="659039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5400"/>
              <a:buFont typeface="Marcellus"/>
              <a:buNone/>
            </a:pPr>
            <a:r>
              <a:t/>
            </a:r>
            <a:endParaRPr/>
          </a:p>
        </p:txBody>
      </p:sp>
      <p:sp>
        <p:nvSpPr>
          <p:cNvPr id="697" name="Google Shape;697;p90"/>
          <p:cNvSpPr txBox="1"/>
          <p:nvPr>
            <p:ph idx="1" type="body"/>
          </p:nvPr>
        </p:nvSpPr>
        <p:spPr>
          <a:xfrm>
            <a:off x="838200" y="2070560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508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1" name="Shape 7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2" name="Google Shape;702;p91"/>
          <p:cNvSpPr txBox="1"/>
          <p:nvPr>
            <p:ph type="title"/>
          </p:nvPr>
        </p:nvSpPr>
        <p:spPr>
          <a:xfrm>
            <a:off x="870858" y="659039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5400"/>
              <a:buFont typeface="Marcellus"/>
              <a:buNone/>
            </a:pPr>
            <a:r>
              <a:t/>
            </a:r>
            <a:endParaRPr/>
          </a:p>
        </p:txBody>
      </p:sp>
      <p:sp>
        <p:nvSpPr>
          <p:cNvPr id="703" name="Google Shape;703;p91"/>
          <p:cNvSpPr txBox="1"/>
          <p:nvPr>
            <p:ph idx="1" type="body"/>
          </p:nvPr>
        </p:nvSpPr>
        <p:spPr>
          <a:xfrm>
            <a:off x="838200" y="2070560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508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7" name="Shape 7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8" name="Google Shape;708;p92"/>
          <p:cNvSpPr txBox="1"/>
          <p:nvPr>
            <p:ph type="title"/>
          </p:nvPr>
        </p:nvSpPr>
        <p:spPr>
          <a:xfrm>
            <a:off x="870858" y="659039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5400"/>
              <a:buFont typeface="Marcellus"/>
              <a:buNone/>
            </a:pPr>
            <a:r>
              <a:t/>
            </a:r>
            <a:endParaRPr/>
          </a:p>
        </p:txBody>
      </p:sp>
      <p:sp>
        <p:nvSpPr>
          <p:cNvPr id="709" name="Google Shape;709;p92"/>
          <p:cNvSpPr txBox="1"/>
          <p:nvPr>
            <p:ph idx="1" type="body"/>
          </p:nvPr>
        </p:nvSpPr>
        <p:spPr>
          <a:xfrm>
            <a:off x="838200" y="2070560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508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3" name="Shape 7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4" name="Google Shape;714;p93"/>
          <p:cNvSpPr txBox="1"/>
          <p:nvPr>
            <p:ph type="title"/>
          </p:nvPr>
        </p:nvSpPr>
        <p:spPr>
          <a:xfrm>
            <a:off x="870858" y="659039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5400"/>
              <a:buFont typeface="Marcellus"/>
              <a:buNone/>
            </a:pPr>
            <a:r>
              <a:t/>
            </a:r>
            <a:endParaRPr/>
          </a:p>
        </p:txBody>
      </p:sp>
      <p:sp>
        <p:nvSpPr>
          <p:cNvPr id="715" name="Google Shape;715;p93"/>
          <p:cNvSpPr txBox="1"/>
          <p:nvPr>
            <p:ph idx="1" type="body"/>
          </p:nvPr>
        </p:nvSpPr>
        <p:spPr>
          <a:xfrm>
            <a:off x="838200" y="2070560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508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9" name="Shape 7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0" name="Google Shape;720;p94"/>
          <p:cNvSpPr txBox="1"/>
          <p:nvPr>
            <p:ph type="title"/>
          </p:nvPr>
        </p:nvSpPr>
        <p:spPr>
          <a:xfrm>
            <a:off x="870858" y="659039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5400"/>
              <a:buFont typeface="Marcellus"/>
              <a:buNone/>
            </a:pPr>
            <a:r>
              <a:t/>
            </a:r>
            <a:endParaRPr/>
          </a:p>
        </p:txBody>
      </p:sp>
      <p:sp>
        <p:nvSpPr>
          <p:cNvPr id="721" name="Google Shape;721;p94"/>
          <p:cNvSpPr txBox="1"/>
          <p:nvPr>
            <p:ph idx="1" type="body"/>
          </p:nvPr>
        </p:nvSpPr>
        <p:spPr>
          <a:xfrm>
            <a:off x="838200" y="2070560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508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5" name="Shape 7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6" name="Google Shape;726;p95"/>
          <p:cNvSpPr txBox="1"/>
          <p:nvPr>
            <p:ph type="title"/>
          </p:nvPr>
        </p:nvSpPr>
        <p:spPr>
          <a:xfrm>
            <a:off x="870858" y="659039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5400"/>
              <a:buFont typeface="Marcellus"/>
              <a:buNone/>
            </a:pPr>
            <a:r>
              <a:t/>
            </a:r>
            <a:endParaRPr/>
          </a:p>
        </p:txBody>
      </p:sp>
      <p:sp>
        <p:nvSpPr>
          <p:cNvPr id="727" name="Google Shape;727;p95"/>
          <p:cNvSpPr txBox="1"/>
          <p:nvPr>
            <p:ph idx="1" type="body"/>
          </p:nvPr>
        </p:nvSpPr>
        <p:spPr>
          <a:xfrm>
            <a:off x="838200" y="2070560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508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1" name="Shape 7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2" name="Google Shape;732;p96"/>
          <p:cNvSpPr txBox="1"/>
          <p:nvPr>
            <p:ph type="title"/>
          </p:nvPr>
        </p:nvSpPr>
        <p:spPr>
          <a:xfrm>
            <a:off x="870858" y="659039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5400"/>
              <a:buFont typeface="Marcellus"/>
              <a:buNone/>
            </a:pPr>
            <a:r>
              <a:t/>
            </a:r>
            <a:endParaRPr/>
          </a:p>
        </p:txBody>
      </p:sp>
      <p:sp>
        <p:nvSpPr>
          <p:cNvPr id="733" name="Google Shape;733;p96"/>
          <p:cNvSpPr txBox="1"/>
          <p:nvPr>
            <p:ph idx="1" type="body"/>
          </p:nvPr>
        </p:nvSpPr>
        <p:spPr>
          <a:xfrm>
            <a:off x="838200" y="2070560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508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7" name="Shape 7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8" name="Google Shape;738;p97"/>
          <p:cNvSpPr txBox="1"/>
          <p:nvPr>
            <p:ph type="title"/>
          </p:nvPr>
        </p:nvSpPr>
        <p:spPr>
          <a:xfrm>
            <a:off x="870858" y="659039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5400"/>
              <a:buFont typeface="Marcellus"/>
              <a:buNone/>
            </a:pPr>
            <a:r>
              <a:t/>
            </a:r>
            <a:endParaRPr/>
          </a:p>
        </p:txBody>
      </p:sp>
      <p:sp>
        <p:nvSpPr>
          <p:cNvPr id="739" name="Google Shape;739;p97"/>
          <p:cNvSpPr txBox="1"/>
          <p:nvPr>
            <p:ph idx="1" type="body"/>
          </p:nvPr>
        </p:nvSpPr>
        <p:spPr>
          <a:xfrm>
            <a:off x="838200" y="2070560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508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3" name="Shape 7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4" name="Google Shape;744;p98"/>
          <p:cNvSpPr txBox="1"/>
          <p:nvPr>
            <p:ph type="title"/>
          </p:nvPr>
        </p:nvSpPr>
        <p:spPr>
          <a:xfrm>
            <a:off x="870858" y="659039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5400"/>
              <a:buFont typeface="Marcellus"/>
              <a:buNone/>
            </a:pPr>
            <a:r>
              <a:t/>
            </a:r>
            <a:endParaRPr/>
          </a:p>
        </p:txBody>
      </p:sp>
      <p:sp>
        <p:nvSpPr>
          <p:cNvPr id="745" name="Google Shape;745;p98"/>
          <p:cNvSpPr txBox="1"/>
          <p:nvPr>
            <p:ph idx="1" type="body"/>
          </p:nvPr>
        </p:nvSpPr>
        <p:spPr>
          <a:xfrm>
            <a:off x="838200" y="2070560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508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9" name="Shape 7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0" name="Google Shape;750;p99"/>
          <p:cNvSpPr txBox="1"/>
          <p:nvPr>
            <p:ph type="title"/>
          </p:nvPr>
        </p:nvSpPr>
        <p:spPr>
          <a:xfrm>
            <a:off x="870858" y="659039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5400"/>
              <a:buFont typeface="Marcellus"/>
              <a:buNone/>
            </a:pPr>
            <a:r>
              <a:t/>
            </a:r>
            <a:endParaRPr/>
          </a:p>
        </p:txBody>
      </p:sp>
      <p:sp>
        <p:nvSpPr>
          <p:cNvPr id="751" name="Google Shape;751;p99"/>
          <p:cNvSpPr txBox="1"/>
          <p:nvPr>
            <p:ph idx="1" type="body"/>
          </p:nvPr>
        </p:nvSpPr>
        <p:spPr>
          <a:xfrm>
            <a:off x="838200" y="2070560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508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5" name="Shape 7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6" name="Google Shape;756;p100"/>
          <p:cNvSpPr txBox="1"/>
          <p:nvPr>
            <p:ph type="title"/>
          </p:nvPr>
        </p:nvSpPr>
        <p:spPr>
          <a:xfrm>
            <a:off x="870858" y="659039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5400"/>
              <a:buFont typeface="Marcellus"/>
              <a:buNone/>
            </a:pPr>
            <a:r>
              <a:t/>
            </a:r>
            <a:endParaRPr/>
          </a:p>
        </p:txBody>
      </p:sp>
      <p:sp>
        <p:nvSpPr>
          <p:cNvPr id="757" name="Google Shape;757;p100"/>
          <p:cNvSpPr txBox="1"/>
          <p:nvPr>
            <p:ph idx="1" type="body"/>
          </p:nvPr>
        </p:nvSpPr>
        <p:spPr>
          <a:xfrm>
            <a:off x="838200" y="2070560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508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1" name="Shape 7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2" name="Google Shape;762;p101"/>
          <p:cNvSpPr txBox="1"/>
          <p:nvPr>
            <p:ph type="title"/>
          </p:nvPr>
        </p:nvSpPr>
        <p:spPr>
          <a:xfrm>
            <a:off x="870858" y="659039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5400"/>
              <a:buFont typeface="Marcellus"/>
              <a:buNone/>
            </a:pPr>
            <a:r>
              <a:t/>
            </a:r>
            <a:endParaRPr/>
          </a:p>
        </p:txBody>
      </p:sp>
      <p:sp>
        <p:nvSpPr>
          <p:cNvPr id="763" name="Google Shape;763;p101"/>
          <p:cNvSpPr txBox="1"/>
          <p:nvPr>
            <p:ph idx="1" type="body"/>
          </p:nvPr>
        </p:nvSpPr>
        <p:spPr>
          <a:xfrm>
            <a:off x="838200" y="2070560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508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7" name="Shape 7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" name="Google Shape;768;p102"/>
          <p:cNvSpPr txBox="1"/>
          <p:nvPr>
            <p:ph type="title"/>
          </p:nvPr>
        </p:nvSpPr>
        <p:spPr>
          <a:xfrm>
            <a:off x="870858" y="659039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5400"/>
              <a:buFont typeface="Marcellus"/>
              <a:buNone/>
            </a:pPr>
            <a:r>
              <a:t/>
            </a:r>
            <a:endParaRPr/>
          </a:p>
        </p:txBody>
      </p:sp>
      <p:sp>
        <p:nvSpPr>
          <p:cNvPr id="769" name="Google Shape;769;p102"/>
          <p:cNvSpPr txBox="1"/>
          <p:nvPr>
            <p:ph idx="1" type="body"/>
          </p:nvPr>
        </p:nvSpPr>
        <p:spPr>
          <a:xfrm>
            <a:off x="838200" y="2070560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508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3" name="Shape 7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4" name="Google Shape;774;p103"/>
          <p:cNvSpPr txBox="1"/>
          <p:nvPr>
            <p:ph type="title"/>
          </p:nvPr>
        </p:nvSpPr>
        <p:spPr>
          <a:xfrm>
            <a:off x="870858" y="659039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5400"/>
              <a:buFont typeface="Marcellus"/>
              <a:buNone/>
            </a:pPr>
            <a:r>
              <a:t/>
            </a:r>
            <a:endParaRPr/>
          </a:p>
        </p:txBody>
      </p:sp>
      <p:sp>
        <p:nvSpPr>
          <p:cNvPr id="775" name="Google Shape;775;p103"/>
          <p:cNvSpPr txBox="1"/>
          <p:nvPr>
            <p:ph idx="1" type="body"/>
          </p:nvPr>
        </p:nvSpPr>
        <p:spPr>
          <a:xfrm>
            <a:off x="838200" y="2070560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508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9" name="Shape 7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0" name="Google Shape;780;p104"/>
          <p:cNvSpPr txBox="1"/>
          <p:nvPr>
            <p:ph type="title"/>
          </p:nvPr>
        </p:nvSpPr>
        <p:spPr>
          <a:xfrm>
            <a:off x="870858" y="659039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5400"/>
              <a:buFont typeface="Marcellus"/>
              <a:buNone/>
            </a:pPr>
            <a:r>
              <a:t/>
            </a:r>
            <a:endParaRPr/>
          </a:p>
        </p:txBody>
      </p:sp>
      <p:sp>
        <p:nvSpPr>
          <p:cNvPr id="781" name="Google Shape;781;p104"/>
          <p:cNvSpPr txBox="1"/>
          <p:nvPr>
            <p:ph idx="1" type="body"/>
          </p:nvPr>
        </p:nvSpPr>
        <p:spPr>
          <a:xfrm>
            <a:off x="838200" y="2070560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508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5" name="Shape 7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6" name="Google Shape;786;p105"/>
          <p:cNvSpPr txBox="1"/>
          <p:nvPr>
            <p:ph type="title"/>
          </p:nvPr>
        </p:nvSpPr>
        <p:spPr>
          <a:xfrm>
            <a:off x="870858" y="659039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5400"/>
              <a:buFont typeface="Marcellus"/>
              <a:buNone/>
            </a:pPr>
            <a:r>
              <a:t/>
            </a:r>
            <a:endParaRPr/>
          </a:p>
        </p:txBody>
      </p:sp>
      <p:sp>
        <p:nvSpPr>
          <p:cNvPr id="787" name="Google Shape;787;p105"/>
          <p:cNvSpPr txBox="1"/>
          <p:nvPr>
            <p:ph idx="1" type="body"/>
          </p:nvPr>
        </p:nvSpPr>
        <p:spPr>
          <a:xfrm>
            <a:off x="838200" y="2070560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508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1" name="Shape 7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2" name="Google Shape;792;p106"/>
          <p:cNvSpPr txBox="1"/>
          <p:nvPr>
            <p:ph type="title"/>
          </p:nvPr>
        </p:nvSpPr>
        <p:spPr>
          <a:xfrm>
            <a:off x="870858" y="659039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5400"/>
              <a:buFont typeface="Marcellus"/>
              <a:buNone/>
            </a:pPr>
            <a:r>
              <a:t/>
            </a:r>
            <a:endParaRPr/>
          </a:p>
        </p:txBody>
      </p:sp>
      <p:sp>
        <p:nvSpPr>
          <p:cNvPr id="793" name="Google Shape;793;p106"/>
          <p:cNvSpPr txBox="1"/>
          <p:nvPr>
            <p:ph idx="1" type="body"/>
          </p:nvPr>
        </p:nvSpPr>
        <p:spPr>
          <a:xfrm>
            <a:off x="838200" y="2070560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508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  <p:sp>
        <p:nvSpPr>
          <p:cNvPr id="794" name="Google Shape;794;p106"/>
          <p:cNvSpPr/>
          <p:nvPr/>
        </p:nvSpPr>
        <p:spPr>
          <a:xfrm>
            <a:off x="3686385" y="2167233"/>
            <a:ext cx="5245343" cy="9233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5400" cap="none">
                <a:solidFill>
                  <a:srgbClr val="FFAA4C"/>
                </a:solidFill>
                <a:latin typeface="Fira Sans"/>
                <a:ea typeface="Fira Sans"/>
                <a:cs typeface="Fira Sans"/>
                <a:sym typeface="Fira Sans"/>
              </a:rPr>
              <a:t>Thank you </a:t>
            </a:r>
            <a:endParaRPr b="1" sz="5400" cap="none">
              <a:solidFill>
                <a:srgbClr val="FFAA4C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1D9A78"/>
      </a:accent1>
      <a:accent2>
        <a:srgbClr val="8BC145"/>
      </a:accent2>
      <a:accent3>
        <a:srgbClr val="36AFCE"/>
      </a:accent3>
      <a:accent4>
        <a:srgbClr val="1D6FA9"/>
      </a:accent4>
      <a:accent5>
        <a:srgbClr val="B74919"/>
      </a:accent5>
      <a:accent6>
        <a:srgbClr val="F19D19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2020-04-30T07:52:47Z</dcterms:created>
  <dc:creator>Aditi  Rajani</dc:creator>
</cp:coreProperties>
</file>