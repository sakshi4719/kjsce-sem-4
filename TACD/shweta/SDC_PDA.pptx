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6" roundtripDataSignature="AMtx7mjsj+xwrEU/kZEBY5J0leInAT7k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customschemas.google.com/relationships/presentationmetadata" Target="meta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6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PDA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67544" y="130622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PDA</a:t>
            </a:r>
            <a:endParaRPr b="1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Pushdown Automata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PDA is the Class of Automata associated with CFL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Finite Automata </a:t>
            </a:r>
            <a:r>
              <a:rPr lang="en-IN" sz="2400">
                <a:solidFill>
                  <a:srgbClr val="FF0000"/>
                </a:solidFill>
              </a:rPr>
              <a:t>cannot recognize all context free languages</a:t>
            </a:r>
            <a:r>
              <a:rPr lang="en-IN" sz="2400"/>
              <a:t> as FA has strictly finite memory whereas the recognition of a CFL may require storing an unbounded amount of information.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Eg-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L={a</a:t>
            </a:r>
            <a:r>
              <a:rPr baseline="30000" lang="en-IN" sz="2400"/>
              <a:t>n</a:t>
            </a:r>
            <a:r>
              <a:rPr lang="en-IN" sz="2400"/>
              <a:t>b</a:t>
            </a:r>
            <a:r>
              <a:rPr baseline="30000" lang="en-IN" sz="2400"/>
              <a:t>n</a:t>
            </a:r>
            <a:r>
              <a:rPr lang="en-IN" sz="2400"/>
              <a:t>|n&gt;=0}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When scanning the string, we must check that all a’s are preceding the first b, we also need to count the number of a’s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Since n is unbounded, this counting cannot be done with a finite memory.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We want a machine that can count without limit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 txBox="1"/>
          <p:nvPr>
            <p:ph type="title"/>
          </p:nvPr>
        </p:nvSpPr>
        <p:spPr>
          <a:xfrm>
            <a:off x="467544" y="20263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PDA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457200" y="620688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A pushdown automaton is −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/>
              <a:t>"Finite state machine" + "a stack"</a:t>
            </a:r>
            <a:endParaRPr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A pushdown automaton has three components −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lang="en-IN" sz="2400"/>
              <a:t>an input tape,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lang="en-IN" sz="2400"/>
              <a:t>a control unit, and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lang="en-IN" sz="2400"/>
              <a:t>a stack with infinite size.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The stack head scans the top symbol of the stack.</a:t>
            </a:r>
            <a:endParaRPr sz="2400"/>
          </a:p>
        </p:txBody>
      </p:sp>
      <p:sp>
        <p:nvSpPr>
          <p:cNvPr id="103" name="Google Shape;103;p4"/>
          <p:cNvSpPr txBox="1"/>
          <p:nvPr>
            <p:ph type="title"/>
          </p:nvPr>
        </p:nvSpPr>
        <p:spPr>
          <a:xfrm>
            <a:off x="467544" y="20263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PDA</a:t>
            </a:r>
            <a:endParaRPr b="1"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412776"/>
            <a:ext cx="7920880" cy="288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Deterministic PDA</a:t>
            </a:r>
            <a:r>
              <a:rPr b="1" lang="en-IN" u="sng"/>
              <a:t>: Formal Definition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457201" y="1196752"/>
            <a:ext cx="8229600" cy="4165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list of seven elements is called a 7-tuple,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 PDA can be defined as a 7-tuple</a:t>
            </a:r>
            <a:endParaRPr/>
          </a:p>
        </p:txBody>
      </p:sp>
      <p:sp>
        <p:nvSpPr>
          <p:cNvPr id="111" name="Google Shape;11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12" name="Google Shape;11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3" name="Google Shape;11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u="sng"/>
              <a:t>PDA: Formal Definition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/>
              <a:t>PDA is denoted by  7 Tuple: M=(Q, ∑, ᴦ, δ, q</a:t>
            </a:r>
            <a:r>
              <a:rPr b="1" baseline="-25000" lang="en-IN" sz="2400"/>
              <a:t>0</a:t>
            </a:r>
            <a:r>
              <a:rPr b="1" lang="en-IN" sz="2400"/>
              <a:t>, z, F) where 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Q:Finite set of Internal states of the Control Unit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∑:Finite input alphabet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ᴦ: Finite Set of Stack Symbols/Pushdown symbols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δ:Q X (∑ U {ε}) X ᴦ -&gt;Q X ᴦ *: Transition function(TF) </a:t>
            </a:r>
            <a:endParaRPr/>
          </a:p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/>
              <a:t>or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δ:Q X ∑</a:t>
            </a:r>
            <a:r>
              <a:rPr b="1" baseline="-25000" lang="en-IN" sz="2400"/>
              <a:t>ε</a:t>
            </a:r>
            <a:r>
              <a:rPr b="1" lang="en-IN" sz="2400"/>
              <a:t> X ᴦ</a:t>
            </a:r>
            <a:r>
              <a:rPr b="1" baseline="-25000" lang="en-IN" sz="2400"/>
              <a:t>ε</a:t>
            </a:r>
            <a:r>
              <a:rPr b="1" lang="en-IN" sz="2400"/>
              <a:t> -&gt;Q X ᴦ</a:t>
            </a:r>
            <a:r>
              <a:rPr b="1" baseline="-25000" lang="en-IN" sz="2400"/>
              <a:t>ε </a:t>
            </a:r>
            <a:r>
              <a:rPr b="1" lang="en-IN" sz="2400"/>
              <a:t>*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q</a:t>
            </a:r>
            <a:r>
              <a:rPr b="1" baseline="-25000" lang="en-IN" sz="2400"/>
              <a:t>0</a:t>
            </a:r>
            <a:r>
              <a:rPr b="1" lang="en-IN" sz="2400"/>
              <a:t>: Start state of Control Unit, q0 ∈ Q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z : Stack start Symbol, z ∈ ᴦ, </a:t>
            </a:r>
            <a:r>
              <a:rPr b="1" lang="en-IN" sz="2400">
                <a:solidFill>
                  <a:srgbClr val="FF0000"/>
                </a:solidFill>
              </a:rPr>
              <a:t>Initially present in the stack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F: Set of Final States/ Accept State, F ⊆ Q</a:t>
            </a:r>
            <a:endParaRPr/>
          </a:p>
        </p:txBody>
      </p:sp>
      <p:sp>
        <p:nvSpPr>
          <p:cNvPr id="120" name="Google Shape;12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21" name="Google Shape;12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2" name="Google Shape;12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δ Function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δ Function:-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δ:Q X (∑ U {ε} X ᴦ -&gt;Q X ᴦ *: Transition function(TF) 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or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δ:Q X ∑</a:t>
            </a:r>
            <a:r>
              <a:rPr b="1" baseline="-25000" lang="en-IN" sz="2400"/>
              <a:t>ε</a:t>
            </a:r>
            <a:r>
              <a:rPr b="1" lang="en-IN" sz="2400"/>
              <a:t> X ᴦ</a:t>
            </a:r>
            <a:r>
              <a:rPr b="1" baseline="-25000" lang="en-IN" sz="2400"/>
              <a:t>ε</a:t>
            </a:r>
            <a:r>
              <a:rPr b="1" lang="en-IN" sz="2400"/>
              <a:t> -&gt;Q X ᴦ</a:t>
            </a:r>
            <a:r>
              <a:rPr b="1" baseline="-25000" lang="en-IN" sz="2400"/>
              <a:t>ε </a:t>
            </a:r>
            <a:r>
              <a:rPr b="1" lang="en-IN" sz="2400"/>
              <a:t>*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129" name="Google Shape;12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30" name="Google Shape;13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1" name="Google Shape;13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  <p:sp>
        <p:nvSpPr>
          <p:cNvPr descr="data:image/png;base64,iVBORw0KGgoAAAANSUhEUgAAAVMAAACVCAMAAADSU+lbAAABg1BMVEX///8AAADd3d3o6OiTk5OFhYWzs7PCwsJaWlrU1NTi4uKenp6MjIza2tqXl5f5+fnw8PB6eno8PDzKysqrq6tsbGxnZ2dGRkZzc3NgYGAAXQAAUgAAWAC6urry//8ARgAuLi5UVFQASwC1x7cSEhIZGRn///ju///k6uXh3LUdfmsmJiYATwCx4eM1NTWnp6fAz8L/7dAAbVTPw5e+u4RQn5ilp2UAdmDU5+gAaTygoll+u7uuwKrk8/XGzLRPbwUwmZHR8PgoXgC86vmEj0n/9eKh1eCExMrS2suNnmcpaQtjq6zr580AYCysq3Pe06oAb0uovJdlnIYAYhgleDlPcSE2hVkAaCSGsKPF2NRtgThzkVTT17gAiIEAZUsAe2aewLcmcj9TgEL28Mve8N1+rJLE6+pCjXSl1dEAWS28w5Rqt65/hyxBawAATxoAi4lDfko/fU1YdR9ahGxAi3D09dW2z7m6rnFmkmx2mYmLpYKLtZs4aSCChBmLkzsuYz8AMwDH6TWGAAALQUlEQVR4nO2dC0PaSAKAZ1RAVCCIVg0BVDSCWh/FN75Qg5aH2FprbbU+tlbtdnfV2+563nb3fvrNBCUTkkDEXElwvlIgmUk6/ZhXJsMAAIVCoVAoFAqFQqEAUF+TVFcprEmq6pTx2lRp6Yct6iEicEQztKUbVnagzfYMNmoHtsMe9YBOZYC3qk41aS35WcN27bDGUkeWOhA4oV070AVH1QOaYHOJc5qJMk6faYeVcuop6dQH27QDnVrqXNBd4pxmgjo1HurUeKhT46FOjYc6NR7q1HioU+OhTo3HCKf8/PwCelmcn7nfQzr1eMgXjOSUX5zHhIPSaalTEX6JWwYg4+cS93tIp1O9L9Bzrjc7cL+HcLoy7Pdz7PCqdFrS6cbYWOGgJ+YURDn/Kljj0oUdpFMhxSUBWOLWC3uIso+s7b1kJd2kU3Sg399bOOkTcwrW2MEMR5iR1aeb7CHIcVtS+ZbXp0jdOrEpOV1jj49evS4c9tScZrjtN6QZmVMk7fMaGSp3ij4P8rQFp/wOmyYDnppTMLW9vUVsytv9CfYtS4bKnOY4qRrGSPl0k919tycFPDmn79ntLKFG7pRPbbNJYpt0KqxwcdlpJacoo/qnpYAf7JSP8BHAL/CRSAQA9C4C0LtIEHjwiwegBxC385syjHGa46Y/sJPSdlH/dEKWTWVO19jDIBlGlP337Nv56uXT6PR+KJE7GO/dZieFreD4RyHFstwqyLDoJRENpVGnZZud9ixtb28n5Ica4pTf4dbHWaIMFzmNoVaKgHAa5YoTVHCa4dhVMqCs08z8/FEwcw7QYwN9GMIRfqgzfvzmOAkyJ8fvQBS9fa4SJTq4759ETl+An0KfkFPUIZzI55opVLCmTmdR8RvgVz4vJRSHGuJ0Arfqa+xBYYdep/w1ezaGWJACC04FFoXd7p7fB5R1Gpu93ZnMLYPY8jh3moojC+MfNaKOb0X2L3juaGMnnjtkvrxQiYKcDl6/QqcK9f4sbAHSaRoIuwNfk/wvodAZWOoN/TogP9QIpwLnR9XluL+38HkXO+WmyU3JqeBnUR/UHyI6BVJ9GsNh3Nl91VDe6WBk82BfdJrdi8yMb+3FNJ3unp4cRgexuWj2dmdZJQpy+luUW8YuQWY2KHeaQ+le5lM4iy6tKg41xGk4jF8Ww6rXpjh9l5PkJlH2F8MiavkU5eJw+A+psi3vdPfybQLlU/TInOzGx9mrE7UMiBmfDYeDUVR4coPRrXA4qBIF1acH4OtvYlbnr3dxv25iWQyZS4OvcSbTO7MiOj1+s1tUd9TQGEpsGT3lXgQ3J3OTIPcxM12i7GPZfOr1PJfMib1jRhEFtfszgJ/h8/kEN/75J/SyADaC+EVs7/O9ARm15BTX5/z7UDbBfwj5z3F9eqERVXgnPt+ePgcZ3JVzlLo7LsPnKR+nhpw+gnqoU2o7hLDFXa/M1iTUqQgDi9PEeFQA3bC7H08q6uhoC2jm2KfrNNDW2trZNurMD+wyfTAgT4bmFC1Xna1TfDvU1RxQO3PtOmUCDoTqfxphHypY6utyO3Ci+sgS7YA9nSq03/+/GJ87LxY2en1O+blr0qkz4G0tKGtUi+GFsNmHzfiaO/twrB432kVIdUCtT0P2Dzk6n4n/iGw2XI05ZepH3XmVPd6A3W4PtHVA6FNEa4Ed5KajoSd/kDShVZdTj8/eJR45ZCN315JTu03MnX2towFGynIBpVQGjhQf66kfbURNemHbATu6VGi8j1EfaGscET+HZzanS36uGnJahzNMi72uuD1ugrBol00tEzKdZD51abdRTuddgR/xNjjVelW1NP/UqSzkIvaiOpWB3WqRYFeZ8yO678z29AR8oM7d7HY3KHAPQZW9BWCrZqh7pNSRJQ5sQA1ml/ZpvRqBKKCxOKClvASRRiib+R+ADkUUL+zT0yh5Yf+Qu9mVz50dZWbGWxOdTl3yYtNfXBcAVx8cKX1tVIhJvG+qq0Fcmv/1Inpgk7ThURbyEcvMazcPjnz7ZhefA8oWiqn70SnSRX2fOdOVJ9/0D4mVhRfqK+bVxw1N+s0akRbcR22CDfi9vL9vZpphT7WTUAIGduKBOlyUnNBWNrpJ6K/yt+q0acJFvQMVeNiPN0d1jz9XHfM6FYdG26Ddl2+ousyaTgX4Wk7ZkzYFDgj7mjyw0SZ2qDywtdoJ0ksAOTVrH8/TjtLWCvMyXbhmtQY2yOi5Xv6x1Pvuek1N4hipWPTb7kepXBqjA+ahEzkdqnYiimmTqiM7cipeS43c9057TF+vok5fu+IyutrYiSqeubt35L0foyo5rmYGGFRZNUCzXUnZSzWbpnfqQ52+kkPNVcHaTt0wgC5QzHZ1am2nYl1qugtpazvtwJd9rWYb8LG2U/FmoA1Wd3EiBZZ2mq9KVQZ7q4ulnebvmrnMdnVqaafPxK4pY7bhCUs7vbvOG+qrcjqKsLJTTz9sYYCnpQ86y0f+gVjZKQMhHMXjlFD33eEfgpWdgno7ui71QbdBfSmjbm5Y2ql4re8z6kZPwKgT1YJTg8ZQDOvnUqcFqFMR6tR4qFPjoU6Nhzo1HurUeKhT46FOjYc6NR7q1HioU+OhTo2HOjUeQ506jJodbHWn9srHT21FCw/0KNcj8FY0ZdA6Tu0tStphVwP+qxJkKzv4r+dbkBXdQbCO084Hfim07AxKDyPDY4f2ol1MZTNbrePUC51Nuqm3PXxWqr51M3RgJacPmWrmfrjTJ9juP8xpBbOnqdMyUKd6kJxOXF1effqXuALgxDmIqMamTvUgOZ1LR/Z4F7+3sQciC3NnCzy5OOwd1KkeCKe/3x59+/Xb8Lud5Fx87ezT8R8phVTqVA+E09fzR98uvm2BqfW59T/juezNpWJpZupUD4TTdQCQ01n0Zi4+kc5sBT8oVqymTvUgOf2CcqXwb+E1iD3/ci7cfN6/OVfEpk71QPtSxkOdGg91ajySU/46lCUa+sz9WvL8krSXOtWD5HQtDWJxsH97BPaPbo+ElbON/9wGcUO180inT25Ob8Ep/xfuOWVmF9bWJwYFLvE9Gb1YyB16lp6/f5TTJqOW/7KgU3CdBMJMDP8axkSaT2GnB2DzZ/R4nFPDsKLTnP+GSwtceCf5Z5pnE3+n9w9AJjuW+nxNnT4Mot2PhPfwz53M4OZpLCiEI+LmAtiQLvupUz383/tShkGdGo8VnW7cl3J+TO3ngkSoUz1ITr8mwXfxxwv5MXCrHI4WoU71IDlFXabvyc3fTyaFf15xZ+qxqVM9FDmdSgvZTyF+l+bTR0CU/XWwtDoVp04fDdHn50KHwbm0sP3pvwPXk+qxqVM9EH0p/NtL6C/+w2tMaaquUzujhcdUayBaqX9aEhOtgWslp102rwa2bjOtMOZ90JqcFcxBMwy7yk9HFTDVutJe6G7WzWgjbaN08NA5vdVbd8Y6TpucD6N6q/dax6l1kJwunp4WD0hQpxUhOd0IvxwewL/0LEGdVgRR9oVUEny4+Yu4c06dVoTklF+Kg+g0yB1KgdRpRUhO16YjkcxscGJZCqROK0JyenJ5vJuIXd4QFSp1WhG0L2U81KnxUKfGQ50aD3VqPNYZ67MOZcb5q508SxJo7ShBd7WTR6FICGMzgB9DBPNfh82g540ZtFtzihelDAJ3w60LV6njq0SuNw3Ay+xJb2IqLXDr1U6ZdYleLGzsATAXB2DtKBsUsgNgMbg5+QtV+ggWU9lz0amQDb5P/jSN921yVxrTZig6yL0DuYsgdhobDg0vC+wquE1spvkVxTe4KXoRdkJ+VO7/joOlJBBCiZw/tLUwlwaxi4FqJ83C4EldwCM+QNFbCsW6/A9vJI5W3LTQ/AAAAABJRU5ErkJggg==" id="132" name="Google Shape;132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2564905"/>
            <a:ext cx="6552728" cy="2880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δ Function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307975" y="260648"/>
            <a:ext cx="8389169" cy="6264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/>
              <a:t>δ Function:-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δ:Q X (∑ U {ε} X ᴦ -&gt;Q X ᴦ *: Transition function(TF) </a:t>
            </a:r>
            <a:endParaRPr/>
          </a:p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/>
              <a:t>or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δ:Q X ∑</a:t>
            </a:r>
            <a:r>
              <a:rPr b="1" baseline="-25000" lang="en-IN" sz="2400"/>
              <a:t>ε</a:t>
            </a:r>
            <a:r>
              <a:rPr b="1" lang="en-IN" sz="2400"/>
              <a:t> X ᴦ</a:t>
            </a:r>
            <a:r>
              <a:rPr b="1" baseline="-25000" lang="en-IN" sz="2400"/>
              <a:t>ε</a:t>
            </a:r>
            <a:r>
              <a:rPr b="1" lang="en-IN" sz="2400"/>
              <a:t> -&gt;Q X ᴦ</a:t>
            </a:r>
            <a:r>
              <a:rPr b="1" baseline="-25000" lang="en-IN" sz="2400"/>
              <a:t>ε </a:t>
            </a:r>
            <a:r>
              <a:rPr b="1" lang="en-IN" sz="2400"/>
              <a:t>*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/>
              <a:t>Domain-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The Arguments are :-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b="1" lang="en-IN" sz="2400"/>
              <a:t>Current State of the control Unit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b="1" lang="en-IN" sz="2400"/>
              <a:t>Current Input Symbol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b="1" lang="en-IN" sz="2400"/>
              <a:t>Current Symbol on the Top of the stack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/>
              <a:t>Range-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The Set of pair (q,x) where :-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b="1" lang="en-IN" sz="2400"/>
              <a:t>q is Next state of the control Unit</a:t>
            </a:r>
            <a:endParaRPr/>
          </a:p>
          <a:p>
            <a:pPr indent="-457200" lvl="0" marL="4572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arenR"/>
            </a:pPr>
            <a:r>
              <a:rPr b="1" lang="en-IN" sz="2400"/>
              <a:t>x is a string which is put on the top pf the stack , in place of the single symbol there before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</p:txBody>
      </p:sp>
      <p:sp>
        <p:nvSpPr>
          <p:cNvPr id="140" name="Google Shape;14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41" name="Google Shape;141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2" name="Google Shape;14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  <p:sp>
        <p:nvSpPr>
          <p:cNvPr descr="data:image/png;base64,iVBORw0KGgoAAAANSUhEUgAAAVMAAACVCAMAAADSU+lbAAABg1BMVEX///8AAADd3d3o6OiTk5OFhYWzs7PCwsJaWlrU1NTi4uKenp6MjIza2tqXl5f5+fnw8PB6eno8PDzKysqrq6tsbGxnZ2dGRkZzc3NgYGAAXQAAUgAAWAC6urry//8ARgAuLi5UVFQASwC1x7cSEhIZGRn///ju///k6uXh3LUdfmsmJiYATwCx4eM1NTWnp6fAz8L/7dAAbVTPw5e+u4RQn5ilp2UAdmDU5+gAaTygoll+u7uuwKrk8/XGzLRPbwUwmZHR8PgoXgC86vmEj0n/9eKh1eCExMrS2suNnmcpaQtjq6zr580AYCysq3Pe06oAb0uovJdlnIYAYhgleDlPcSE2hVkAaCSGsKPF2NRtgThzkVTT17gAiIEAZUsAe2aewLcmcj9TgEL28Mve8N1+rJLE6+pCjXSl1dEAWS28w5Rqt65/hyxBawAATxoAi4lDfko/fU1YdR9ahGxAi3D09dW2z7m6rnFmkmx2mYmLpYKLtZs4aSCChBmLkzsuYz8AMwDH6TWGAAALQUlEQVR4nO2dC0PaSAKAZ1RAVCCIVg0BVDSCWh/FN75Qg5aH2FprbbU+tlbtdnfV2+563nb3fvrNBCUTkkDEXElwvlIgmUk6/ZhXJsMAAIVCoVAoFAqFQqEAUF+TVFcprEmq6pTx2lRp6Yct6iEicEQztKUbVnagzfYMNmoHtsMe9YBOZYC3qk41aS35WcN27bDGUkeWOhA4oV070AVH1QOaYHOJc5qJMk6faYeVcuop6dQH27QDnVrqXNBd4pxmgjo1HurUeKhT46FOjYc6NR7q1HioU+OhTo3HCKf8/PwCelmcn7nfQzr1eMgXjOSUX5zHhIPSaalTEX6JWwYg4+cS93tIp1O9L9Bzrjc7cL+HcLoy7Pdz7PCqdFrS6cbYWOGgJ+YURDn/Kljj0oUdpFMhxSUBWOLWC3uIso+s7b1kJd2kU3Sg399bOOkTcwrW2MEMR5iR1aeb7CHIcVtS+ZbXp0jdOrEpOV1jj49evS4c9tScZrjtN6QZmVMk7fMaGSp3ij4P8rQFp/wOmyYDnppTMLW9vUVsytv9CfYtS4bKnOY4qRrGSPl0k919tycFPDmn79ntLKFG7pRPbbNJYpt0KqxwcdlpJacoo/qnpYAf7JSP8BHAL/CRSAQA9C4C0LtIEHjwiwegBxC385syjHGa46Y/sJPSdlH/dEKWTWVO19jDIBlGlP337Nv56uXT6PR+KJE7GO/dZieFreD4RyHFstwqyLDoJRENpVGnZZud9ixtb28n5Ica4pTf4dbHWaIMFzmNoVaKgHAa5YoTVHCa4dhVMqCs08z8/FEwcw7QYwN9GMIRfqgzfvzmOAkyJ8fvQBS9fa4SJTq4759ETl+An0KfkFPUIZzI55opVLCmTmdR8RvgVz4vJRSHGuJ0Arfqa+xBYYdep/w1ezaGWJACC04FFoXd7p7fB5R1Gpu93ZnMLYPY8jh3moojC+MfNaKOb0X2L3juaGMnnjtkvrxQiYKcDl6/QqcK9f4sbAHSaRoIuwNfk/wvodAZWOoN/TogP9QIpwLnR9XluL+38HkXO+WmyU3JqeBnUR/UHyI6BVJ9GsNh3Nl91VDe6WBk82BfdJrdi8yMb+3FNJ3unp4cRgexuWj2dmdZJQpy+luUW8YuQWY2KHeaQ+le5lM4iy6tKg41xGk4jF8Ww6rXpjh9l5PkJlH2F8MiavkU5eJw+A+psi3vdPfybQLlU/TInOzGx9mrE7UMiBmfDYeDUVR4coPRrXA4qBIF1acH4OtvYlbnr3dxv25iWQyZS4OvcSbTO7MiOj1+s1tUd9TQGEpsGT3lXgQ3J3OTIPcxM12i7GPZfOr1PJfMib1jRhEFtfszgJ/h8/kEN/75J/SyADaC+EVs7/O9ARm15BTX5/z7UDbBfwj5z3F9eqERVXgnPt+ePgcZ3JVzlLo7LsPnKR+nhpw+gnqoU2o7hLDFXa/M1iTUqQgDi9PEeFQA3bC7H08q6uhoC2jm2KfrNNDW2trZNurMD+wyfTAgT4bmFC1Xna1TfDvU1RxQO3PtOmUCDoTqfxphHypY6utyO3Ci+sgS7YA9nSq03/+/GJ87LxY2en1O+blr0qkz4G0tKGtUi+GFsNmHzfiaO/twrB432kVIdUCtT0P2Dzk6n4n/iGw2XI05ZepH3XmVPd6A3W4PtHVA6FNEa4Ed5KajoSd/kDShVZdTj8/eJR45ZCN315JTu03MnX2towFGynIBpVQGjhQf66kfbURNemHbATu6VGi8j1EfaGscET+HZzanS36uGnJahzNMi72uuD1ugrBol00tEzKdZD51abdRTuddgR/xNjjVelW1NP/UqSzkIvaiOpWB3WqRYFeZ8yO678z29AR8oM7d7HY3KHAPQZW9BWCrZqh7pNSRJQ5sQA1ml/ZpvRqBKKCxOKClvASRRiib+R+ADkUUL+zT0yh5Yf+Qu9mVz50dZWbGWxOdTl3yYtNfXBcAVx8cKX1tVIhJvG+qq0Fcmv/1Inpgk7ThURbyEcvMazcPjnz7ZhefA8oWiqn70SnSRX2fOdOVJ9/0D4mVhRfqK+bVxw1N+s0akRbcR22CDfi9vL9vZpphT7WTUAIGduKBOlyUnNBWNrpJ6K/yt+q0acJFvQMVeNiPN0d1jz9XHfM6FYdG26Ddl2+ousyaTgX4Wk7ZkzYFDgj7mjyw0SZ2qDywtdoJ0ksAOTVrH8/TjtLWCvMyXbhmtQY2yOi5Xv6x1Pvuek1N4hipWPTb7kepXBqjA+ahEzkdqnYiimmTqiM7cipeS43c9057TF+vok5fu+IyutrYiSqeubt35L0foyo5rmYGGFRZNUCzXUnZSzWbpnfqQ52+kkPNVcHaTt0wgC5QzHZ1am2nYl1qugtpazvtwJd9rWYb8LG2U/FmoA1Wd3EiBZZ2mq9KVQZ7q4ulnebvmrnMdnVqaafPxK4pY7bhCUs7vbvOG+qrcjqKsLJTTz9sYYCnpQ86y0f+gVjZKQMhHMXjlFD33eEfgpWdgno7ui71QbdBfSmjbm5Y2ql4re8z6kZPwKgT1YJTg8ZQDOvnUqcFqFMR6tR4qFPjoU6Nhzo1HurUeKhT46FOjYc6NR7q1HioU+OhTo2HOjUeQ506jJodbHWn9srHT21FCw/0KNcj8FY0ZdA6Tu0tStphVwP+qxJkKzv4r+dbkBXdQbCO084Hfim07AxKDyPDY4f2ol1MZTNbrePUC51Nuqm3PXxWqr51M3RgJacPmWrmfrjTJ9juP8xpBbOnqdMyUKd6kJxOXF1effqXuALgxDmIqMamTvUgOZ1LR/Z4F7+3sQciC3NnCzy5OOwd1KkeCKe/3x59+/Xb8Lud5Fx87ezT8R8phVTqVA+E09fzR98uvm2BqfW59T/juezNpWJpZupUD4TTdQCQ01n0Zi4+kc5sBT8oVqymTvUgOf2CcqXwb+E1iD3/ci7cfN6/OVfEpk71QPtSxkOdGg91ajySU/46lCUa+sz9WvL8krSXOtWD5HQtDWJxsH97BPaPbo+ElbON/9wGcUO180inT25Ob8Ep/xfuOWVmF9bWJwYFLvE9Gb1YyB16lp6/f5TTJqOW/7KgU3CdBMJMDP8axkSaT2GnB2DzZ/R4nFPDsKLTnP+GSwtceCf5Z5pnE3+n9w9AJjuW+nxNnT4Mot2PhPfwz53M4OZpLCiEI+LmAtiQLvupUz383/tShkGdGo8VnW7cl3J+TO3ngkSoUz1ITr8mwXfxxwv5MXCrHI4WoU71IDlFXabvyc3fTyaFf15xZ+qxqVM9FDmdSgvZTyF+l+bTR0CU/XWwtDoVp04fDdHn50KHwbm0sP3pvwPXk+qxqVM9EH0p/NtL6C/+w2tMaaquUzujhcdUayBaqX9aEhOtgWslp102rwa2bjOtMOZ90JqcFcxBMwy7yk9HFTDVutJe6G7WzWgjbaN08NA5vdVbd8Y6TpucD6N6q/dax6l1kJwunp4WD0hQpxUhOd0IvxwewL/0LEGdVgRR9oVUEny4+Yu4c06dVoTklF+Kg+g0yB1KgdRpRUhO16YjkcxscGJZCqROK0JyenJ5vJuIXd4QFSp1WhG0L2U81KnxUKfGQ50aD3VqPNYZ67MOZcb5q508SxJo7ShBd7WTR6FICGMzgB9DBPNfh82g540ZtFtzihelDAJ3w60LV6njq0SuNw3Ay+xJb2IqLXDr1U6ZdYleLGzsATAXB2DtKBsUsgNgMbg5+QtV+ggWU9lz0amQDb5P/jSN921yVxrTZig6yL0DuYsgdhobDg0vC+wquE1spvkVxTe4KXoRdkJ+VO7/joOlJBBCiZw/tLUwlwaxi4FqJ83C4EldwCM+QNFbCsW6/A9vJI5W3LTQ/AAAAABJRU5ErkJggg==" id="143" name="Google Shape;143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5170" y="1268760"/>
            <a:ext cx="4076641" cy="2376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δ Function</a:t>
            </a:r>
            <a:endParaRPr/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δ Function:-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δ:Q X (∑ U {ε} X ᴦ -&gt;Q X ᴦ *: Transition function(TF) </a:t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or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δ:Q X ∑</a:t>
            </a:r>
            <a:r>
              <a:rPr b="1" baseline="-25000" lang="en-IN" sz="2400"/>
              <a:t>ε</a:t>
            </a:r>
            <a:r>
              <a:rPr b="1" lang="en-IN" sz="2400"/>
              <a:t> X ᴦ</a:t>
            </a:r>
            <a:r>
              <a:rPr b="1" baseline="-25000" lang="en-IN" sz="2400"/>
              <a:t>ε</a:t>
            </a:r>
            <a:r>
              <a:rPr b="1" lang="en-IN" sz="2400"/>
              <a:t> -&gt;Q X ᴦ</a:t>
            </a:r>
            <a:r>
              <a:rPr b="1" baseline="-25000" lang="en-IN" sz="2400"/>
              <a:t>ε </a:t>
            </a:r>
            <a:r>
              <a:rPr b="1" lang="en-IN" sz="2400"/>
              <a:t>*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Domain-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The Arguments are :-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Current State of the control Unit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arenR"/>
            </a:pPr>
            <a:r>
              <a:rPr b="1" lang="en-IN" sz="2400">
                <a:solidFill>
                  <a:srgbClr val="FF0000"/>
                </a:solidFill>
              </a:rPr>
              <a:t>Current Input Symbol- Can be ε, indicating a move that does not consume an input symbol, Also called ε or Null Transition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arenR"/>
            </a:pPr>
            <a:r>
              <a:rPr b="1" lang="en-IN" sz="2400">
                <a:solidFill>
                  <a:srgbClr val="FF0000"/>
                </a:solidFill>
              </a:rPr>
              <a:t>Current Symbol on the Top of the stack- δ is defined so that it needs a stack symbol, no move is possible if the stack is empty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151" name="Google Shape;15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52" name="Google Shape;15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3" name="Google Shape;15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Instantaneous Description</a:t>
            </a:r>
            <a:endParaRPr/>
          </a:p>
        </p:txBody>
      </p:sp>
      <p:sp>
        <p:nvSpPr>
          <p:cNvPr id="159" name="Google Shape;159;p10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Let M=(Q, ∑, ᴦ, δ, q</a:t>
            </a:r>
            <a:r>
              <a:rPr b="1" baseline="-25000" lang="en-IN" sz="2400"/>
              <a:t>0</a:t>
            </a:r>
            <a:r>
              <a:rPr b="1" lang="en-IN" sz="2400"/>
              <a:t>, z, F) be a pda</a:t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An Instantaneous Description(ID) is (q,x,α)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where q ∈ Q, x ∈ ∑</a:t>
            </a:r>
            <a:r>
              <a:rPr b="1" baseline="-25000" lang="en-IN" sz="2400"/>
              <a:t>ε , </a:t>
            </a:r>
            <a:r>
              <a:rPr b="1" lang="en-IN" sz="2400"/>
              <a:t>α ∈ ᴦ</a:t>
            </a:r>
            <a:r>
              <a:rPr b="1" baseline="-25000" lang="en-IN" sz="2400"/>
              <a:t>ε</a:t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q is the Current State of the control Unit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x is the Unread part of the input string/The part of the input to be processed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IN" sz="2400"/>
              <a:t>Say a1,a2,….an</a:t>
            </a:r>
            <a:endParaRPr/>
          </a:p>
          <a:p>
            <a:pPr indent="-457200" lvl="1" marL="8572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IN" sz="2400"/>
              <a:t>The PDA will process in a1,a2,….an order only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α are the stack contents with the left most symbol indicating the top pf the stack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This triplet is called ID</a:t>
            </a:r>
            <a:endParaRPr/>
          </a:p>
        </p:txBody>
      </p:sp>
      <p:sp>
        <p:nvSpPr>
          <p:cNvPr id="160" name="Google Shape;16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61" name="Google Shape;16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2" name="Google Shape;16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Instantaneous Description</a:t>
            </a:r>
            <a:endParaRPr/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467544" y="836712"/>
            <a:ext cx="8229600" cy="5688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A move from one ID to another will be denoted by Turnstile notation </a:t>
            </a:r>
            <a:br>
              <a:rPr lang="en-IN" sz="2400"/>
            </a:b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⊢ sign is called a “turnstile notation” and represents </a:t>
            </a:r>
            <a:br>
              <a:rPr lang="en-IN" sz="2400"/>
            </a:br>
            <a:r>
              <a:rPr lang="en-IN" sz="2400"/>
              <a:t>one move. </a:t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169" name="Google Shape;16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70" name="Google Shape;17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1" name="Google Shape;1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Move Relation-</a:t>
            </a:r>
            <a:endParaRPr/>
          </a:p>
        </p:txBody>
      </p:sp>
      <p:sp>
        <p:nvSpPr>
          <p:cNvPr id="177" name="Google Shape;177;p12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Let M be a PDA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A move relation between IDs are defined as:-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(q, a1a2………an, z1z2….zn) </a:t>
            </a:r>
            <a:r>
              <a:rPr lang="en-IN" sz="2400">
                <a:solidFill>
                  <a:srgbClr val="FF0000"/>
                </a:solidFill>
              </a:rPr>
              <a:t>⊢ </a:t>
            </a:r>
            <a:r>
              <a:rPr b="1" lang="en-IN" sz="2400">
                <a:solidFill>
                  <a:srgbClr val="FF0000"/>
                </a:solidFill>
              </a:rPr>
              <a:t>(q’,a2………an,βz2….zn)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if δ(q,a1,z1)=(q’, β)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178" name="Google Shape;1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179" name="Google Shape;1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0" name="Google Shape;18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L={a</a:t>
            </a:r>
            <a:r>
              <a:rPr b="1" baseline="30000" lang="en-IN" sz="2400"/>
              <a:t>n</a:t>
            </a:r>
            <a:r>
              <a:rPr b="1" lang="en-IN" sz="2400"/>
              <a:t>b</a:t>
            </a:r>
            <a:r>
              <a:rPr b="1" baseline="30000" lang="en-IN" sz="2400"/>
              <a:t>n</a:t>
            </a:r>
            <a:r>
              <a:rPr b="1" lang="en-IN" sz="2400"/>
              <a:t>|n&gt;=1}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186" name="Google Shape;186;p13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1</a:t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>
            <a:off x="251520" y="836712"/>
            <a:ext cx="1177771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Logic-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L={a</a:t>
            </a:r>
            <a:r>
              <a:rPr b="1" baseline="30000" lang="en-IN" sz="2400"/>
              <a:t>n</a:t>
            </a:r>
            <a:r>
              <a:rPr b="1" lang="en-IN" sz="2400"/>
              <a:t>b</a:t>
            </a:r>
            <a:r>
              <a:rPr b="1" baseline="30000" lang="en-IN" sz="2400"/>
              <a:t>n</a:t>
            </a:r>
            <a:r>
              <a:rPr b="1" lang="en-IN" sz="2400"/>
              <a:t>|n&gt;=1}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193" name="Google Shape;193;p14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1</a:t>
            </a:r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251520" y="836712"/>
            <a:ext cx="1177771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Logic-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L={a</a:t>
            </a:r>
            <a:r>
              <a:rPr b="1" baseline="30000" lang="en-IN" sz="2400"/>
              <a:t>n</a:t>
            </a:r>
            <a:r>
              <a:rPr b="1" lang="en-IN" sz="2400"/>
              <a:t>b</a:t>
            </a:r>
            <a:r>
              <a:rPr b="1" baseline="30000" lang="en-IN" sz="2400"/>
              <a:t>n</a:t>
            </a:r>
            <a:r>
              <a:rPr b="1" lang="en-IN" sz="2400"/>
              <a:t>|n&gt;=1}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200" name="Google Shape;200;p15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1</a:t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251520" y="836712"/>
            <a:ext cx="1177771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Rules-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3635896" y="6264069"/>
            <a:ext cx="144016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L={a</a:t>
            </a:r>
            <a:r>
              <a:rPr b="1" baseline="30000" lang="en-IN" sz="2400"/>
              <a:t>n</a:t>
            </a:r>
            <a:r>
              <a:rPr b="1" lang="en-IN" sz="2400"/>
              <a:t>b</a:t>
            </a:r>
            <a:r>
              <a:rPr b="1" baseline="30000" lang="en-IN" sz="2400"/>
              <a:t>n</a:t>
            </a:r>
            <a:r>
              <a:rPr b="1" lang="en-IN" sz="2400"/>
              <a:t>|n&gt;=1}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08" name="Google Shape;208;p16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1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251520" y="836712"/>
            <a:ext cx="1368152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Simulation-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L={a</a:t>
            </a:r>
            <a:r>
              <a:rPr b="1" baseline="30000" lang="en-IN" sz="2400"/>
              <a:t>n</a:t>
            </a:r>
            <a:r>
              <a:rPr b="1" lang="en-IN" sz="2400"/>
              <a:t>b</a:t>
            </a:r>
            <a:r>
              <a:rPr b="1" baseline="30000" lang="en-IN" sz="2400"/>
              <a:t>2n</a:t>
            </a:r>
            <a:r>
              <a:rPr b="1" lang="en-IN" sz="2400"/>
              <a:t>|n&gt;=1}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2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179512" y="827420"/>
            <a:ext cx="1177771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Logic-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L={a</a:t>
            </a:r>
            <a:r>
              <a:rPr b="1" baseline="30000" lang="en-IN" sz="2400"/>
              <a:t>n</a:t>
            </a:r>
            <a:r>
              <a:rPr b="1" lang="en-IN" sz="2400"/>
              <a:t>b</a:t>
            </a:r>
            <a:r>
              <a:rPr b="1" baseline="30000" lang="en-IN" sz="2400"/>
              <a:t>2n</a:t>
            </a:r>
            <a:r>
              <a:rPr b="1" lang="en-IN" sz="2400"/>
              <a:t>|n&gt;=1}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2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179512" y="827420"/>
            <a:ext cx="1177771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Logic-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L={a</a:t>
            </a:r>
            <a:r>
              <a:rPr b="1" baseline="30000" lang="en-IN" sz="2400"/>
              <a:t>n</a:t>
            </a:r>
            <a:r>
              <a:rPr b="1" lang="en-IN" sz="2400"/>
              <a:t>b</a:t>
            </a:r>
            <a:r>
              <a:rPr b="1" baseline="30000" lang="en-IN" sz="2400"/>
              <a:t>2n</a:t>
            </a:r>
            <a:r>
              <a:rPr b="1" lang="en-IN" sz="2400"/>
              <a:t>|n&gt;=1}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2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251520" y="836712"/>
            <a:ext cx="1177771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Rules-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4427984" y="4365104"/>
            <a:ext cx="144016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L={a</a:t>
            </a:r>
            <a:r>
              <a:rPr b="1" baseline="30000" lang="en-IN" sz="2400"/>
              <a:t>n</a:t>
            </a:r>
            <a:r>
              <a:rPr b="1" lang="en-IN" sz="2400"/>
              <a:t>b</a:t>
            </a:r>
            <a:r>
              <a:rPr b="1" baseline="30000" lang="en-IN" sz="2400"/>
              <a:t>2n</a:t>
            </a:r>
            <a:r>
              <a:rPr b="1" lang="en-IN" sz="2400"/>
              <a:t>|n&gt;=1}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2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251520" y="836712"/>
            <a:ext cx="1368152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Simulation-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(w)=n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3</a:t>
            </a:r>
            <a:endParaRPr b="1" sz="2400"/>
          </a:p>
        </p:txBody>
      </p:sp>
      <p:sp>
        <p:nvSpPr>
          <p:cNvPr id="245" name="Google Shape;245;p21"/>
          <p:cNvSpPr/>
          <p:nvPr/>
        </p:nvSpPr>
        <p:spPr>
          <a:xfrm>
            <a:off x="179512" y="1259468"/>
            <a:ext cx="2169399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Transition Rules-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251520" y="1620089"/>
            <a:ext cx="8229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I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“aababb”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(w)=n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52" name="Google Shape;252;p22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3</a:t>
            </a:r>
            <a:endParaRPr b="1" sz="2400"/>
          </a:p>
        </p:txBody>
      </p:sp>
      <p:sp>
        <p:nvSpPr>
          <p:cNvPr id="253" name="Google Shape;253;p22"/>
          <p:cNvSpPr/>
          <p:nvPr/>
        </p:nvSpPr>
        <p:spPr>
          <a:xfrm>
            <a:off x="179512" y="1259468"/>
            <a:ext cx="2169399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Transition Rules-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251520" y="1620089"/>
            <a:ext cx="8229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I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“aababb”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4164853" y="2883878"/>
            <a:ext cx="26094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(w)=n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61" name="Google Shape;261;p23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3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242361" y="1412776"/>
            <a:ext cx="1368152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Simulation-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(w)&gt;n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68" name="Google Shape;268;p24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4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242361" y="1412776"/>
            <a:ext cx="1368152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Logic-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/>
          <p:nvPr>
            <p:ph idx="1" type="body"/>
          </p:nvPr>
        </p:nvSpPr>
        <p:spPr>
          <a:xfrm>
            <a:off x="251520" y="188640"/>
            <a:ext cx="8229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IN"/>
              <a:t>String “aababab”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(w)&gt;n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80" name="Google Shape;280;p26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4</a:t>
            </a:r>
            <a:endParaRPr b="1" sz="2400"/>
          </a:p>
        </p:txBody>
      </p:sp>
      <p:sp>
        <p:nvSpPr>
          <p:cNvPr id="281" name="Google Shape;281;p26"/>
          <p:cNvSpPr/>
          <p:nvPr/>
        </p:nvSpPr>
        <p:spPr>
          <a:xfrm>
            <a:off x="242360" y="1412776"/>
            <a:ext cx="2169399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Transition Rules-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(w)&gt;n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87" name="Google Shape;287;p27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4</a:t>
            </a:r>
            <a:endParaRPr b="1" sz="2400"/>
          </a:p>
        </p:txBody>
      </p:sp>
      <p:sp>
        <p:nvSpPr>
          <p:cNvPr id="288" name="Google Shape;288;p27"/>
          <p:cNvSpPr/>
          <p:nvPr/>
        </p:nvSpPr>
        <p:spPr>
          <a:xfrm>
            <a:off x="242361" y="1412776"/>
            <a:ext cx="1368152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Simulation-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(w)&lt;n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94" name="Google Shape;294;p28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5</a:t>
            </a:r>
            <a:endParaRPr/>
          </a:p>
        </p:txBody>
      </p:sp>
      <p:sp>
        <p:nvSpPr>
          <p:cNvPr id="295" name="Google Shape;295;p28"/>
          <p:cNvSpPr/>
          <p:nvPr/>
        </p:nvSpPr>
        <p:spPr>
          <a:xfrm>
            <a:off x="242361" y="1412776"/>
            <a:ext cx="1368152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Logic-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251520" y="188640"/>
            <a:ext cx="82296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IN"/>
              <a:t>String “abbab”</a:t>
            </a:r>
            <a:endParaRPr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(w)&lt;n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06" name="Google Shape;306;p30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5</a:t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242360" y="1412776"/>
            <a:ext cx="2169399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Transition Rules-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(w)&lt;n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13" name="Google Shape;313;p31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5</a:t>
            </a:r>
            <a:endParaRPr/>
          </a:p>
        </p:txBody>
      </p:sp>
      <p:sp>
        <p:nvSpPr>
          <p:cNvPr id="314" name="Google Shape;314;p31"/>
          <p:cNvSpPr/>
          <p:nvPr/>
        </p:nvSpPr>
        <p:spPr>
          <a:xfrm>
            <a:off x="242361" y="1412776"/>
            <a:ext cx="1368152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Simulation-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that accepts a string of well formed paranthesis.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Consider the paranthesis as (,),{,},[,]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20" name="Google Shape;320;p32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6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language L={wcw</a:t>
            </a:r>
            <a:r>
              <a:rPr b="1" baseline="30000" lang="en-IN" sz="2400"/>
              <a:t>R</a:t>
            </a:r>
            <a:r>
              <a:rPr b="1" lang="en-IN" sz="2400"/>
              <a:t>|w is in (0|1)* and wR is reverse of w}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String 101c101</a:t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26" name="Google Shape;326;p33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7</a:t>
            </a:r>
            <a:endParaRPr/>
          </a:p>
        </p:txBody>
      </p:sp>
      <p:sp>
        <p:nvSpPr>
          <p:cNvPr id="327" name="Google Shape;327;p33"/>
          <p:cNvSpPr/>
          <p:nvPr/>
        </p:nvSpPr>
        <p:spPr>
          <a:xfrm>
            <a:off x="242361" y="1196752"/>
            <a:ext cx="1368152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Logic-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language L={wcw</a:t>
            </a:r>
            <a:r>
              <a:rPr b="1" baseline="30000" lang="en-IN" sz="2400"/>
              <a:t>R</a:t>
            </a:r>
            <a:r>
              <a:rPr b="1" lang="en-IN" sz="2400"/>
              <a:t>|w is in (0|1)* and wR is reverse of w}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PDA will go on pushing the symbols onto the stack till it encounters c in the input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It reads c but will not push it onto the stack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For every symbol read after c, it checks whether it matches with the topmost symbol of the stack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input read is 0 ,top=0,pop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input read is 1,top=1,pop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input ends, we reach zo, replace z0 by null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Stack empty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String accepted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33" name="Google Shape;333;p34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7</a:t>
            </a:r>
            <a:endParaRPr/>
          </a:p>
        </p:txBody>
      </p:sp>
      <p:sp>
        <p:nvSpPr>
          <p:cNvPr id="334" name="Google Shape;334;p34"/>
          <p:cNvSpPr/>
          <p:nvPr/>
        </p:nvSpPr>
        <p:spPr>
          <a:xfrm>
            <a:off x="242361" y="1196752"/>
            <a:ext cx="1368152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Logic-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language L={wcw</a:t>
            </a:r>
            <a:r>
              <a:rPr b="1" baseline="30000" lang="en-IN" sz="2400"/>
              <a:t>R</a:t>
            </a:r>
            <a:r>
              <a:rPr b="1" lang="en-IN" sz="2400"/>
              <a:t>|w is in (0|1)* and wR is reverse of w}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40" name="Google Shape;340;p35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7</a:t>
            </a:r>
            <a:endParaRPr/>
          </a:p>
        </p:txBody>
      </p:sp>
      <p:sp>
        <p:nvSpPr>
          <p:cNvPr id="341" name="Google Shape;341;p35"/>
          <p:cNvSpPr/>
          <p:nvPr/>
        </p:nvSpPr>
        <p:spPr>
          <a:xfrm>
            <a:off x="242360" y="1196752"/>
            <a:ext cx="2097391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Transition Rules</a:t>
            </a:r>
            <a:endParaRPr/>
          </a:p>
        </p:txBody>
      </p:sp>
      <p:sp>
        <p:nvSpPr>
          <p:cNvPr id="342" name="Google Shape;342;p35"/>
          <p:cNvSpPr/>
          <p:nvPr/>
        </p:nvSpPr>
        <p:spPr>
          <a:xfrm>
            <a:off x="323528" y="5867980"/>
            <a:ext cx="4392488" cy="46166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Deterministic PDA</a:t>
            </a:r>
            <a:endParaRPr/>
          </a:p>
        </p:txBody>
      </p:sp>
      <p:sp>
        <p:nvSpPr>
          <p:cNvPr id="343" name="Google Shape;343;p35"/>
          <p:cNvSpPr txBox="1"/>
          <p:nvPr/>
        </p:nvSpPr>
        <p:spPr>
          <a:xfrm>
            <a:off x="8172400" y="6309320"/>
            <a:ext cx="216024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6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49" name="Google Shape;349;p36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Non-Deterministic PDA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 u="sng"/>
              <a:t>NPDA: Formal Definition</a:t>
            </a:r>
            <a:endParaRPr/>
          </a:p>
        </p:txBody>
      </p:sp>
      <p:sp>
        <p:nvSpPr>
          <p:cNvPr id="355" name="Google Shape;355;p37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/>
              <a:t>NPDA is denoted by  7 Tuple: M=(Q, ∑, ᴦ, δ, q</a:t>
            </a:r>
            <a:r>
              <a:rPr b="1" baseline="-25000" lang="en-IN" sz="2400"/>
              <a:t>0</a:t>
            </a:r>
            <a:r>
              <a:rPr b="1" lang="en-IN" sz="2400"/>
              <a:t>, z, F) where 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Q:Finite set of Internal states of the Control Unit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∑:Finite input alphabet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ᴦ: Finite Set of Stack Symbols/Pushdown symbols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δ:Q X (∑ U {ε}) X ᴦ -&gt;2</a:t>
            </a:r>
            <a:r>
              <a:rPr b="1" baseline="30000" lang="en-IN" sz="2400"/>
              <a:t>Q X ᴦ *</a:t>
            </a:r>
            <a:r>
              <a:rPr b="1" lang="en-IN" sz="2400"/>
              <a:t>: Transition function(TF) </a:t>
            </a:r>
            <a:endParaRPr/>
          </a:p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 sz="2400"/>
              <a:t>or</a:t>
            </a:r>
            <a:endParaRPr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δ:Q X ∑</a:t>
            </a:r>
            <a:r>
              <a:rPr b="1" baseline="-25000" lang="en-IN" sz="2400"/>
              <a:t>ε</a:t>
            </a:r>
            <a:r>
              <a:rPr b="1" lang="en-IN" sz="2400"/>
              <a:t> X ᴦ</a:t>
            </a:r>
            <a:r>
              <a:rPr b="1" baseline="-25000" lang="en-IN" sz="2400"/>
              <a:t>ε</a:t>
            </a:r>
            <a:r>
              <a:rPr b="1" lang="en-IN" sz="2400"/>
              <a:t> -&gt;2</a:t>
            </a:r>
            <a:r>
              <a:rPr b="1" baseline="30000" lang="en-IN" sz="2400"/>
              <a:t>Q X ᴦ *</a:t>
            </a:r>
            <a:endParaRPr b="1" sz="2400"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q</a:t>
            </a:r>
            <a:r>
              <a:rPr b="1" baseline="-25000" lang="en-IN" sz="2400"/>
              <a:t>0</a:t>
            </a:r>
            <a:r>
              <a:rPr b="1" lang="en-IN" sz="2400"/>
              <a:t>: Start state of Control Unit, q0 ∈ Q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z : Stack start Symbol, z ∈ ᴦ, </a:t>
            </a:r>
            <a:r>
              <a:rPr b="1" lang="en-IN" sz="2400">
                <a:solidFill>
                  <a:srgbClr val="FF0000"/>
                </a:solidFill>
              </a:rPr>
              <a:t>Initially present in the stack</a:t>
            </a:r>
            <a:endParaRPr/>
          </a:p>
          <a:p>
            <a:pPr indent="-20193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IN" sz="2400"/>
              <a:t>F: Set of Final States/ Accept State, F ⊆ Q</a:t>
            </a:r>
            <a:endParaRPr/>
          </a:p>
        </p:txBody>
      </p:sp>
      <p:sp>
        <p:nvSpPr>
          <p:cNvPr id="356" name="Google Shape;35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357" name="Google Shape;35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8" name="Google Shape;35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8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Design a PDA for language L={ww</a:t>
            </a:r>
            <a:r>
              <a:rPr baseline="30000" lang="en-IN" sz="2400"/>
              <a:t>R</a:t>
            </a:r>
            <a:r>
              <a:rPr lang="en-IN" sz="2400"/>
              <a:t>|w is non-empty even palindromes over {a,b} , wR is reverse of w}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Initial a and b read , when top=z0, it will push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Further, If we read a, top=a, Two Moves possible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arenR"/>
            </a:pPr>
            <a:r>
              <a:rPr b="1" lang="en-IN" sz="2400">
                <a:solidFill>
                  <a:srgbClr val="FF0000"/>
                </a:solidFill>
              </a:rPr>
              <a:t>Pop and advance input tape head one position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arenR"/>
            </a:pPr>
            <a:r>
              <a:rPr b="1" lang="en-IN" sz="2400">
                <a:solidFill>
                  <a:srgbClr val="FF0000"/>
                </a:solidFill>
              </a:rPr>
              <a:t>Push the element read and advance input tape head one position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Further, If we read b, top=b, Two Moves possible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arenR"/>
            </a:pPr>
            <a:r>
              <a:rPr b="1" lang="en-IN" sz="2400">
                <a:solidFill>
                  <a:srgbClr val="FF0000"/>
                </a:solidFill>
              </a:rPr>
              <a:t>Pop and advance input tape head one position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arenR"/>
            </a:pPr>
            <a:r>
              <a:rPr b="1" lang="en-IN" sz="2400">
                <a:solidFill>
                  <a:srgbClr val="FF0000"/>
                </a:solidFill>
              </a:rPr>
              <a:t>Push the element read and advance input tape head one position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64" name="Google Shape;364;p38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Non Determinism-Example 1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Non Determinism-Example 1</a:t>
            </a:r>
            <a:endParaRPr/>
          </a:p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323528" y="692696"/>
            <a:ext cx="2242592" cy="46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String “baab”</a:t>
            </a:r>
            <a:endParaRPr sz="2400"/>
          </a:p>
        </p:txBody>
      </p:sp>
      <p:sp>
        <p:nvSpPr>
          <p:cNvPr id="371" name="Google Shape;371;p39"/>
          <p:cNvSpPr txBox="1"/>
          <p:nvPr/>
        </p:nvSpPr>
        <p:spPr>
          <a:xfrm>
            <a:off x="5724128" y="845096"/>
            <a:ext cx="2242592" cy="46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“baaaab”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9"/>
          <p:cNvSpPr/>
          <p:nvPr/>
        </p:nvSpPr>
        <p:spPr>
          <a:xfrm>
            <a:off x="107504" y="323364"/>
            <a:ext cx="2594236" cy="36933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length palindromes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0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language L={ww</a:t>
            </a:r>
            <a:r>
              <a:rPr b="1" baseline="30000" lang="en-IN" sz="2400"/>
              <a:t>R</a:t>
            </a:r>
            <a:r>
              <a:rPr b="1" lang="en-IN" sz="2400"/>
              <a:t>|w is non-empty even palindromes over {a,b} , wR is reverse of w} </a:t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δ(q0,a,zo)=(q0,az0)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δ(q0,b,zo)=(q0,bz0)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δ(q0,a,a)={(q0,aa),(q1, ε)}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δ(q0,b,b)={(q0,bb),(q1, ε)}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δ(q1,a,a)=(q1, ε)</a:t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δ(q1,b,b)=(q1, ε)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δ(q1,ε,z0)=(q1, ε)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78" name="Google Shape;378;p40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Non Determinism-Example 1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type="title"/>
          </p:nvPr>
        </p:nvSpPr>
        <p:spPr>
          <a:xfrm>
            <a:off x="611560" y="3140968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 u="sng"/>
              <a:t>Equivalence of CFG and PDA</a:t>
            </a:r>
            <a:endParaRPr sz="3200"/>
          </a:p>
        </p:txBody>
      </p:sp>
      <p:sp>
        <p:nvSpPr>
          <p:cNvPr id="384" name="Google Shape;384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385" name="Google Shape;385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86" name="Google Shape;386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2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CFG to PDA Conversion</a:t>
            </a:r>
            <a:endParaRPr b="1" sz="3200"/>
          </a:p>
        </p:txBody>
      </p:sp>
      <p:sp>
        <p:nvSpPr>
          <p:cNvPr id="392" name="Google Shape;392;p42"/>
          <p:cNvSpPr txBox="1"/>
          <p:nvPr>
            <p:ph idx="1" type="body"/>
          </p:nvPr>
        </p:nvSpPr>
        <p:spPr>
          <a:xfrm>
            <a:off x="395536" y="2564904"/>
            <a:ext cx="8229600" cy="1224136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every CFG G, there exists a PDA M accepting L(G) and for every PDA M, there exists a CFG generating L(M)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393" name="Google Shape;39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394" name="Google Shape;39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95" name="Google Shape;39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CFG to PDA Conversion</a:t>
            </a:r>
            <a:endParaRPr b="1" sz="3200"/>
          </a:p>
        </p:txBody>
      </p:sp>
      <p:sp>
        <p:nvSpPr>
          <p:cNvPr id="401" name="Google Shape;401;p43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Let L be a CFL, There exists a CFG G=(V,T,P,S) generating 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Assume that G is in GNF Form, Thus, G does not contain Epsilon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Else Convert it in GNF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For each production A-&gt;aα of G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Add δ(q,a,A)=(q, α)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For each production A-&gt;a of G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IN" sz="2400">
                <a:solidFill>
                  <a:srgbClr val="FF0000"/>
                </a:solidFill>
              </a:rPr>
              <a:t>Add δ(q,a,A)=(q, ε)</a:t>
            </a:r>
            <a:endParaRPr b="1"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402" name="Google Shape;402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403" name="Google Shape;403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04" name="Google Shape;404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4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CFG to PDA Conversion-Eg 1</a:t>
            </a:r>
            <a:endParaRPr b="1" sz="3200"/>
          </a:p>
        </p:txBody>
      </p:sp>
      <p:sp>
        <p:nvSpPr>
          <p:cNvPr id="410" name="Google Shape;410;p44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Construct a PDA equivalent to the following grammar: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S-&gt;aAA</a:t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A-&gt;aS|bS|a</a:t>
            </a:r>
            <a:endParaRPr b="1" sz="2400"/>
          </a:p>
        </p:txBody>
      </p:sp>
      <p:sp>
        <p:nvSpPr>
          <p:cNvPr id="411" name="Google Shape;411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412" name="Google Shape;41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13" name="Google Shape;413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5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CFG to PDA Conversion-Eg 2</a:t>
            </a:r>
            <a:endParaRPr b="1" sz="3200"/>
          </a:p>
        </p:txBody>
      </p:sp>
      <p:sp>
        <p:nvSpPr>
          <p:cNvPr id="419" name="Google Shape;419;p45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Construct a PDA equivalent to the following grammar: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S-&gt;aSa|bSb|a</a:t>
            </a:r>
            <a:endParaRPr b="1" sz="2400"/>
          </a:p>
        </p:txBody>
      </p:sp>
      <p:sp>
        <p:nvSpPr>
          <p:cNvPr id="420" name="Google Shape;420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421" name="Google Shape;421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22" name="Google Shape;422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CFG to PDA Conversion-Eg 3</a:t>
            </a:r>
            <a:endParaRPr b="1" sz="3200"/>
          </a:p>
        </p:txBody>
      </p:sp>
      <p:sp>
        <p:nvSpPr>
          <p:cNvPr id="428" name="Google Shape;428;p46"/>
          <p:cNvSpPr txBox="1"/>
          <p:nvPr>
            <p:ph idx="1" type="body"/>
          </p:nvPr>
        </p:nvSpPr>
        <p:spPr>
          <a:xfrm>
            <a:off x="467544" y="548680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Construct a PDA equivalent to the following grammar: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E-&gt;+EE|*EE|id</a:t>
            </a:r>
            <a:endParaRPr b="1" sz="2400"/>
          </a:p>
        </p:txBody>
      </p:sp>
      <p:sp>
        <p:nvSpPr>
          <p:cNvPr id="429" name="Google Shape;42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Ms. Shweta Dhawan Chachra</a:t>
            </a:r>
            <a:endParaRPr/>
          </a:p>
        </p:txBody>
      </p:sp>
      <p:sp>
        <p:nvSpPr>
          <p:cNvPr id="430" name="Google Shape;43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31" name="Google Shape;43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15-04-2024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PDA to CFG Conversion</a:t>
            </a:r>
            <a:endParaRPr/>
          </a:p>
        </p:txBody>
      </p:sp>
      <p:sp>
        <p:nvSpPr>
          <p:cNvPr id="437" name="Google Shape;437;p47"/>
          <p:cNvSpPr txBox="1"/>
          <p:nvPr>
            <p:ph idx="1" type="body"/>
          </p:nvPr>
        </p:nvSpPr>
        <p:spPr>
          <a:xfrm>
            <a:off x="457200" y="1600201"/>
            <a:ext cx="8229600" cy="820688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Given a PDA accepting a language  L, we can obtain a CFG generating L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PDA to CFG Conversion</a:t>
            </a:r>
            <a:endParaRPr/>
          </a:p>
        </p:txBody>
      </p:sp>
      <p:sp>
        <p:nvSpPr>
          <p:cNvPr id="443" name="Google Shape;443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Construct a CFG G=(V,T,P,S) where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V is a set of objects of the form [q,A,p]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where p and q are in Q and A is in </a:t>
            </a:r>
            <a:r>
              <a:rPr b="1" lang="en-IN" sz="2400"/>
              <a:t>ᴦ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If (q,a,A)=(r,BB) then the move tells that if PDA M starts in state q with A on the top of the stack and gets “a” as next symbol in the input, then it enters into state r and replaces A by BB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"/>
          <p:cNvSpPr txBox="1"/>
          <p:nvPr>
            <p:ph type="title"/>
          </p:nvPr>
        </p:nvSpPr>
        <p:spPr>
          <a:xfrm>
            <a:off x="395536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PDA to CFG Conversion</a:t>
            </a:r>
            <a:endParaRPr b="1"/>
          </a:p>
        </p:txBody>
      </p:sp>
      <p:sp>
        <p:nvSpPr>
          <p:cNvPr id="449" name="Google Shape;449;p49"/>
          <p:cNvSpPr txBox="1"/>
          <p:nvPr>
            <p:ph idx="1" type="body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/>
              <a:t>The object </a:t>
            </a:r>
            <a:r>
              <a:rPr lang="en-IN" sz="2400"/>
              <a:t>[q,A,p] derives to a string that allows PDA M to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IN" sz="2400"/>
              <a:t>Erase A from the top of the stack,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IN" sz="2400"/>
              <a:t>By starting in state q and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IN" sz="2400"/>
              <a:t>Ending up in state p using sequence of moves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0"/>
          <p:cNvSpPr txBox="1"/>
          <p:nvPr>
            <p:ph type="title"/>
          </p:nvPr>
        </p:nvSpPr>
        <p:spPr>
          <a:xfrm>
            <a:off x="395536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PDA to CFG Conversion</a:t>
            </a:r>
            <a:endParaRPr b="1"/>
          </a:p>
        </p:txBody>
      </p:sp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To erase A from the top of the stack by starting in state q and ending in state p, the PDA M has to consume a from input and enter into the state 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Then by starting in state r get B erased by entering into any state say s using sequence of moves followed by getting again B erased by starting in a state s and ending up in state p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Sequence of moves:-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Object [q,A,p] derives to a[r,B,s][s,B,p]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Hence  P contains the rules of the form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IN" sz="2400">
                <a:solidFill>
                  <a:srgbClr val="FF0000"/>
                </a:solidFill>
              </a:rPr>
              <a:t>[q,a,p]-&gt;a[r,B,s][s,B,p]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1"/>
          <p:cNvSpPr txBox="1"/>
          <p:nvPr>
            <p:ph type="title"/>
          </p:nvPr>
        </p:nvSpPr>
        <p:spPr>
          <a:xfrm>
            <a:off x="395536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N"/>
              <a:t>PDA to CFG Conversion</a:t>
            </a:r>
            <a:endParaRPr b="1"/>
          </a:p>
        </p:txBody>
      </p:sp>
      <p:sp>
        <p:nvSpPr>
          <p:cNvPr id="461" name="Google Shape;461;p51"/>
          <p:cNvSpPr txBox="1"/>
          <p:nvPr>
            <p:ph idx="1" type="body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Since strings accepted by PDA M are those , that allows PDA M to erase Z</a:t>
            </a:r>
            <a:r>
              <a:rPr baseline="-25000" lang="en-IN" sz="2400"/>
              <a:t>0</a:t>
            </a:r>
            <a:r>
              <a:rPr lang="en-IN" sz="2400"/>
              <a:t> from the top of the stack by starting in state q0 and ending up in any state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start symbol S will derive to objects [q0,z0,q] for every q in Q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-25000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type="title"/>
          </p:nvPr>
        </p:nvSpPr>
        <p:spPr>
          <a:xfrm>
            <a:off x="395536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PDA to CFG Conversion</a:t>
            </a:r>
            <a:endParaRPr b="1" sz="3200"/>
          </a:p>
        </p:txBody>
      </p:sp>
      <p:sp>
        <p:nvSpPr>
          <p:cNvPr id="467" name="Google Shape;467;p52"/>
          <p:cNvSpPr txBox="1"/>
          <p:nvPr>
            <p:ph idx="1" type="body"/>
          </p:nvPr>
        </p:nvSpPr>
        <p:spPr>
          <a:xfrm>
            <a:off x="0" y="332656"/>
            <a:ext cx="8229600" cy="478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Give the CFG generating the language accepted by the following PDA:-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M=({q0,q1},{0,1},{Z0,X},</a:t>
            </a:r>
            <a:r>
              <a:rPr b="1" lang="en-IN" sz="2400"/>
              <a:t> δ,q0,Z0,</a:t>
            </a:r>
            <a:r>
              <a:rPr lang="en-IN" sz="2400"/>
              <a:t> ∅) where </a:t>
            </a:r>
            <a:r>
              <a:rPr b="1" lang="en-IN" sz="2400"/>
              <a:t>δ is given below: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δ(q0,1,Z0)=(q0,XZ0)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δ(q0,1,X)=(q0,XX)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δ(q0,0,X)=(q1,X)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δ(q0, ε,Z0)=(q0, ε)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δ(q1,1,X)=(q1, ε)</a:t>
            </a:r>
            <a:endParaRPr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IN" sz="2400"/>
              <a:t>δ(q1,0,Z0)=(q0,Z0)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3"/>
          <p:cNvSpPr txBox="1"/>
          <p:nvPr>
            <p:ph type="title"/>
          </p:nvPr>
        </p:nvSpPr>
        <p:spPr>
          <a:xfrm>
            <a:off x="395536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PDA to CFG Conversion</a:t>
            </a:r>
            <a:endParaRPr b="1" sz="3200"/>
          </a:p>
        </p:txBody>
      </p:sp>
      <p:sp>
        <p:nvSpPr>
          <p:cNvPr id="473" name="Google Shape;473;p53"/>
          <p:cNvSpPr txBox="1"/>
          <p:nvPr>
            <p:ph idx="1" type="body"/>
          </p:nvPr>
        </p:nvSpPr>
        <p:spPr>
          <a:xfrm>
            <a:off x="0" y="332656"/>
            <a:ext cx="4283968" cy="478539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M=({q0,q1},{0,1},{Z0,X},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δ,q0,Z0,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∅) where </a:t>
            </a:r>
            <a:r>
              <a:rPr b="1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 is given below: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productions are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S-&gt;[q0,Z0,q0]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S-&gt;[q0,Z0,q1]</a:t>
            </a:r>
            <a:endParaRPr sz="2400"/>
          </a:p>
        </p:txBody>
      </p:sp>
      <p:sp>
        <p:nvSpPr>
          <p:cNvPr id="474" name="Google Shape;474;p53"/>
          <p:cNvSpPr/>
          <p:nvPr/>
        </p:nvSpPr>
        <p:spPr>
          <a:xfrm>
            <a:off x="4572000" y="332656"/>
            <a:ext cx="4572000" cy="1938992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PDA M to erase Z</a:t>
            </a:r>
            <a:r>
              <a:rPr baseline="-25000"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the top of the stack by starting in state q0 and ending up in any state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start symbol S will derive to objects [q0,z0,q] for every q in Q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 txBox="1"/>
          <p:nvPr>
            <p:ph type="title"/>
          </p:nvPr>
        </p:nvSpPr>
        <p:spPr>
          <a:xfrm>
            <a:off x="395536" y="0"/>
            <a:ext cx="8229600" cy="346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IN" sz="3200"/>
              <a:t>PDA to CFG Conversion</a:t>
            </a:r>
            <a:endParaRPr b="1" sz="3200"/>
          </a:p>
        </p:txBody>
      </p:sp>
      <p:sp>
        <p:nvSpPr>
          <p:cNvPr id="480" name="Google Shape;480;p54"/>
          <p:cNvSpPr txBox="1"/>
          <p:nvPr>
            <p:ph idx="1" type="body"/>
          </p:nvPr>
        </p:nvSpPr>
        <p:spPr>
          <a:xfrm>
            <a:off x="0" y="332656"/>
            <a:ext cx="8229600" cy="652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For Move δ(q0,1,Z0)=(q0,XZ0)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productions are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For Move δ(q0,1,X)=(q0,XX)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The productions are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81" name="Google Shape;481;p54"/>
          <p:cNvSpPr/>
          <p:nvPr/>
        </p:nvSpPr>
        <p:spPr>
          <a:xfrm>
            <a:off x="4283968" y="836712"/>
            <a:ext cx="4572000" cy="230832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object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[q,A,p] derives to a string that allows PDA M to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Erase A from the top of the stack,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starting in state q and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Ending up in state p using sequence of moves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JFLAP</a:t>
            </a:r>
            <a:endParaRPr/>
          </a:p>
        </p:txBody>
      </p:sp>
      <p:sp>
        <p:nvSpPr>
          <p:cNvPr id="487" name="Google Shape;487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6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L={w | w ∈ (a + b)* and n</a:t>
            </a:r>
            <a:r>
              <a:rPr b="1" baseline="-25000" lang="en-IN" sz="2400"/>
              <a:t>a</a:t>
            </a:r>
            <a:r>
              <a:rPr b="1" lang="en-IN" sz="2400"/>
              <a:t>(w)&gt;n</a:t>
            </a:r>
            <a:r>
              <a:rPr b="1" baseline="-25000" lang="en-IN" sz="2400"/>
              <a:t>b</a:t>
            </a:r>
            <a:r>
              <a:rPr b="1" lang="en-IN" sz="2400"/>
              <a:t>(w) }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493" name="Google Shape;493;p56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4</a:t>
            </a:r>
            <a:endParaRPr b="1" sz="2400"/>
          </a:p>
        </p:txBody>
      </p:sp>
      <p:sp>
        <p:nvSpPr>
          <p:cNvPr id="494" name="Google Shape;494;p56"/>
          <p:cNvSpPr/>
          <p:nvPr/>
        </p:nvSpPr>
        <p:spPr>
          <a:xfrm>
            <a:off x="242360" y="1412776"/>
            <a:ext cx="2169399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Transition Rules-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0" name="Google Shape;500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501" name="Google Shape;501;p57"/>
          <p:cNvPicPr preferRelativeResize="0"/>
          <p:nvPr/>
        </p:nvPicPr>
        <p:blipFill rotWithShape="1">
          <a:blip r:embed="rId3">
            <a:alphaModFix/>
          </a:blip>
          <a:srcRect b="6399" l="0" r="0" t="0"/>
          <a:stretch/>
        </p:blipFill>
        <p:spPr>
          <a:xfrm>
            <a:off x="0" y="-99392"/>
            <a:ext cx="9144000" cy="695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7" name="Google Shape;507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508" name="Google Shape;508;p58"/>
          <p:cNvPicPr preferRelativeResize="0"/>
          <p:nvPr/>
        </p:nvPicPr>
        <p:blipFill rotWithShape="1">
          <a:blip r:embed="rId3">
            <a:alphaModFix/>
          </a:blip>
          <a:srcRect b="6168" l="0" r="0" t="0"/>
          <a:stretch/>
        </p:blipFill>
        <p:spPr>
          <a:xfrm>
            <a:off x="0" y="-27384"/>
            <a:ext cx="9144000" cy="6846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9"/>
          <p:cNvSpPr txBox="1"/>
          <p:nvPr>
            <p:ph idx="1" type="body"/>
          </p:nvPr>
        </p:nvSpPr>
        <p:spPr>
          <a:xfrm>
            <a:off x="107504" y="332656"/>
            <a:ext cx="8856984" cy="65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/>
              <a:t>Design a PDA for accepting the language L={a</a:t>
            </a:r>
            <a:r>
              <a:rPr b="1" baseline="30000" lang="en-IN" sz="2400"/>
              <a:t>n</a:t>
            </a:r>
            <a:r>
              <a:rPr b="1" lang="en-IN" sz="2400"/>
              <a:t>b</a:t>
            </a:r>
            <a:r>
              <a:rPr b="1" baseline="30000" lang="en-IN" sz="2400"/>
              <a:t>n</a:t>
            </a:r>
            <a:r>
              <a:rPr b="1" lang="en-IN" sz="2400"/>
              <a:t>|n&gt;=1}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514" name="Google Shape;514;p59"/>
          <p:cNvSpPr txBox="1"/>
          <p:nvPr>
            <p:ph type="title"/>
          </p:nvPr>
        </p:nvSpPr>
        <p:spPr>
          <a:xfrm>
            <a:off x="457200" y="-27384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IN" sz="2400"/>
              <a:t>PDA Example 1</a:t>
            </a:r>
            <a:endParaRPr/>
          </a:p>
        </p:txBody>
      </p:sp>
      <p:sp>
        <p:nvSpPr>
          <p:cNvPr id="515" name="Google Shape;515;p59"/>
          <p:cNvSpPr/>
          <p:nvPr/>
        </p:nvSpPr>
        <p:spPr>
          <a:xfrm>
            <a:off x="251520" y="836712"/>
            <a:ext cx="1177771" cy="369332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Rules-</a:t>
            </a:r>
            <a:endParaRPr/>
          </a:p>
        </p:txBody>
      </p:sp>
      <p:sp>
        <p:nvSpPr>
          <p:cNvPr id="516" name="Google Shape;516;p59"/>
          <p:cNvSpPr txBox="1"/>
          <p:nvPr/>
        </p:nvSpPr>
        <p:spPr>
          <a:xfrm>
            <a:off x="3635896" y="6264069"/>
            <a:ext cx="144016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2" name="Google Shape;522;p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523" name="Google Shape;523;p60"/>
          <p:cNvPicPr preferRelativeResize="0"/>
          <p:nvPr/>
        </p:nvPicPr>
        <p:blipFill rotWithShape="1">
          <a:blip r:embed="rId3">
            <a:alphaModFix/>
          </a:blip>
          <a:srcRect b="6232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2022-04-19T04:15:15Z</dcterms:created>
  <dc:creator>Admin</dc:creator>
</cp:coreProperties>
</file>