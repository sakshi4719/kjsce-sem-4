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311.xml"/>
  <Override ContentType="application/vnd.openxmlformats-officedocument.presentationml.notesSlide+xml" PartName="/ppt/notesSlides/notesSlide257.xml"/>
  <Override ContentType="application/vnd.openxmlformats-officedocument.presentationml.notesSlide+xml" PartName="/ppt/notesSlides/notesSlide265.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49.xml"/>
  <Override ContentType="application/vnd.openxmlformats-officedocument.presentationml.notesSlide+xml" PartName="/ppt/notesSlides/notesSlide273.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303.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293.xml"/>
  <Override ContentType="application/vnd.openxmlformats-officedocument.presentationml.notesSlide+xml" PartName="/ppt/notesSlides/notesSlide137.xml"/>
  <Override ContentType="application/vnd.openxmlformats-officedocument.presentationml.notesSlide+xml" PartName="/ppt/notesSlides/notesSlide27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326.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81.xml"/>
  <Override ContentType="application/vnd.openxmlformats-officedocument.presentationml.notesSlide+xml" PartName="/ppt/notesSlides/notesSlide331.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261.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70.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315.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296.xml"/>
  <Override ContentType="application/vnd.openxmlformats-officedocument.presentationml.notesSlide+xml" PartName="/ppt/notesSlides/notesSlide253.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19.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306.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323.xml"/>
  <Override ContentType="application/vnd.openxmlformats-officedocument.presentationml.notesSlide+xml" PartName="/ppt/notesSlides/notesSlide71.xml"/>
  <Override ContentType="application/vnd.openxmlformats-officedocument.presentationml.notesSlide+xml" PartName="/ppt/notesSlides/notesSlide285.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268.xml"/>
  <Override ContentType="application/vnd.openxmlformats-officedocument.presentationml.notesSlide+xml" PartName="/ppt/notesSlides/notesSlide329.xml"/>
  <Override ContentType="application/vnd.openxmlformats-officedocument.presentationml.notesSlide+xml" PartName="/ppt/notesSlides/notesSlide290.xml"/>
  <Override ContentType="application/vnd.openxmlformats-officedocument.presentationml.notesSlide+xml" PartName="/ppt/notesSlides/notesSlide274.xml"/>
  <Override ContentType="application/vnd.openxmlformats-officedocument.presentationml.notesSlide+xml" PartName="/ppt/notesSlides/notesSlide84.xml"/>
  <Override ContentType="application/vnd.openxmlformats-officedocument.presentationml.notesSlide+xml" PartName="/ppt/notesSlides/notesSlide302.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56.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266.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320.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330.xml"/>
  <Override ContentType="application/vnd.openxmlformats-officedocument.presentationml.notesSlide+xml" PartName="/ppt/notesSlides/notesSlide13.xml"/>
  <Override ContentType="application/vnd.openxmlformats-officedocument.presentationml.notesSlide+xml" PartName="/ppt/notesSlides/notesSlide24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289.xml"/>
  <Override ContentType="application/vnd.openxmlformats-officedocument.presentationml.notesSlide+xml" PartName="/ppt/notesSlides/notesSlide280.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31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51.xml"/>
  <Override ContentType="application/vnd.openxmlformats-officedocument.presentationml.notesSlide+xml" PartName="/ppt/notesSlides/notesSlide294.xml"/>
  <Override ContentType="application/vnd.openxmlformats-officedocument.presentationml.notesSlide+xml" PartName="/ppt/notesSlides/notesSlide149.xml"/>
  <Override ContentType="application/vnd.openxmlformats-officedocument.presentationml.notesSlide+xml" PartName="/ppt/notesSlides/notesSlide252.xml"/>
  <Override ContentType="application/vnd.openxmlformats-officedocument.presentationml.notesSlide+xml" PartName="/ppt/notesSlides/notesSlide62.xml"/>
  <Override ContentType="application/vnd.openxmlformats-officedocument.presentationml.notesSlide+xml" PartName="/ppt/notesSlides/notesSlide295.xml"/>
  <Override ContentType="application/vnd.openxmlformats-officedocument.presentationml.notesSlide+xml" PartName="/ppt/notesSlides/notesSlide324.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78.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8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262.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307.xml"/>
  <Override ContentType="application/vnd.openxmlformats-officedocument.presentationml.notesSlide+xml" PartName="/ppt/notesSlides/notesSlide318.xml"/>
  <Override ContentType="application/vnd.openxmlformats-officedocument.presentationml.notesSlide+xml" PartName="/ppt/notesSlides/notesSlide284.xml"/>
  <Override ContentType="application/vnd.openxmlformats-officedocument.presentationml.notesSlide+xml" PartName="/ppt/notesSlides/notesSlide128.xml"/>
  <Override ContentType="application/vnd.openxmlformats-officedocument.presentationml.notesSlide+xml" PartName="/ppt/notesSlides/notesSlide267.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299.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291.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28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275.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28.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263.xml"/>
  <Override ContentType="application/vnd.openxmlformats-officedocument.presentationml.notesSlide+xml" PartName="/ppt/notesSlides/notesSlide25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313.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301.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287.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308.xml"/>
  <Override ContentType="application/vnd.openxmlformats-officedocument.presentationml.notesSlide+xml" PartName="/ppt/notesSlides/notesSlide325.xml"/>
  <Override ContentType="application/vnd.openxmlformats-officedocument.presentationml.notesSlide+xml" PartName="/ppt/notesSlides/notesSlide279.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321.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317.xml"/>
  <Override ContentType="application/vnd.openxmlformats-officedocument.presentationml.notesSlide+xml" PartName="/ppt/notesSlides/notesSlide304.xml"/>
  <Override ContentType="application/vnd.openxmlformats-officedocument.presentationml.notesSlide+xml" PartName="/ppt/notesSlides/notesSlide272.xml"/>
  <Override ContentType="application/vnd.openxmlformats-officedocument.presentationml.notesSlide+xml" PartName="/ppt/notesSlides/notesSlide310.xml"/>
  <Override ContentType="application/vnd.openxmlformats-officedocument.presentationml.notesSlide+xml" PartName="/ppt/notesSlides/notesSlide255.xml"/>
  <Override ContentType="application/vnd.openxmlformats-officedocument.presentationml.notesSlide+xml" PartName="/ppt/notesSlides/notesSlide212.xml"/>
  <Override ContentType="application/vnd.openxmlformats-officedocument.presentationml.notesSlide+xml" PartName="/ppt/notesSlides/notesSlide298.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28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248.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258.xml"/>
  <Override ContentType="application/vnd.openxmlformats-officedocument.presentationml.notesSlide+xml" PartName="/ppt/notesSlides/notesSlide312.xml"/>
  <Override ContentType="application/vnd.openxmlformats-officedocument.presentationml.notesSlide+xml" PartName="/ppt/notesSlides/notesSlide169.xml"/>
  <Override ContentType="application/vnd.openxmlformats-officedocument.presentationml.notesSlide+xml" PartName="/ppt/notesSlides/notesSlide292.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276.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300.xml"/>
  <Override ContentType="application/vnd.openxmlformats-officedocument.presentationml.notesSlide+xml" PartName="/ppt/notesSlides/notesSlide327.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264.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309.xml"/>
  <Override ContentType="application/vnd.openxmlformats-officedocument.presentationml.notesSlide+xml" PartName="/ppt/notesSlides/notesSlide2.xml"/>
  <Override ContentType="application/vnd.openxmlformats-officedocument.presentationml.notesSlide+xml" PartName="/ppt/notesSlides/notesSlide260.xml"/>
  <Override ContentType="application/vnd.openxmlformats-officedocument.presentationml.notesSlide+xml" PartName="/ppt/notesSlides/notesSlide316.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69.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305.xml"/>
  <Override ContentType="application/vnd.openxmlformats-officedocument.presentationml.notesSlide+xml" PartName="/ppt/notesSlides/notesSlide6.xml"/>
  <Override ContentType="application/vnd.openxmlformats-officedocument.presentationml.notesSlide+xml" PartName="/ppt/notesSlides/notesSlide271.xml"/>
  <Override ContentType="application/vnd.openxmlformats-officedocument.presentationml.notesSlide+xml" PartName="/ppt/notesSlides/notesSlide237.xml"/>
  <Override ContentType="application/vnd.openxmlformats-officedocument.presentationml.notesSlide+xml" PartName="/ppt/notesSlides/notesSlide297.xml"/>
  <Override ContentType="application/vnd.openxmlformats-officedocument.presentationml.notesSlide+xml" PartName="/ppt/notesSlides/notesSlide211.xml"/>
  <Override ContentType="application/vnd.openxmlformats-officedocument.presentationml.notesSlide+xml" PartName="/ppt/notesSlides/notesSlide254.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286.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322.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296.xml"/>
  <Override ContentType="application/vnd.openxmlformats-officedocument.presentationml.slide+xml" PartName="/ppt/slides/slide164.xml"/>
  <Override ContentType="application/vnd.openxmlformats-officedocument.presentationml.slide+xml" PartName="/ppt/slides/slide253.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26.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261.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113.xml"/>
  <Override ContentType="application/vnd.openxmlformats-officedocument.presentationml.slide+xml" PartName="/ppt/slides/slide28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281.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76.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65.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314.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57.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195.xml"/>
  <Override ContentType="application/vnd.openxmlformats-officedocument.presentationml.slide+xml" PartName="/ppt/slides/slide306.xml"/>
  <Override ContentType="application/vnd.openxmlformats-officedocument.presentationml.slide+xml" PartName="/ppt/slides/slide272.xml"/>
  <Override ContentType="application/vnd.openxmlformats-officedocument.presentationml.slide+xml" PartName="/ppt/slides/slide59.xml"/>
  <Override ContentType="application/vnd.openxmlformats-officedocument.presentationml.slide+xml" PartName="/ppt/slides/slide285.xml"/>
  <Override ContentType="application/vnd.openxmlformats-officedocument.presentationml.slide+xml" PartName="/ppt/slides/slide89.xml"/>
  <Override ContentType="application/vnd.openxmlformats-officedocument.presentationml.slide+xml" PartName="/ppt/slides/slide323.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68.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310.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309.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287.xml"/>
  <Override ContentType="application/vnd.openxmlformats-officedocument.presentationml.slide+xml" PartName="/ppt/slides/slide270.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297.xml"/>
  <Override ContentType="application/vnd.openxmlformats-officedocument.presentationml.slide+xml" PartName="/ppt/slides/slide34.xml"/>
  <Override ContentType="application/vnd.openxmlformats-officedocument.presentationml.slide+xml" PartName="/ppt/slides/slide25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79.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293.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300.xml"/>
  <Override ContentType="application/vnd.openxmlformats-officedocument.presentationml.slide+xml" PartName="/ppt/slides/slide315.xml"/>
  <Override ContentType="application/vnd.openxmlformats-officedocument.presentationml.slide+xml" PartName="/ppt/slides/slide171.xml"/>
  <Override ContentType="application/vnd.openxmlformats-officedocument.presentationml.slide+xml" PartName="/ppt/slides/slide259.xml"/>
  <Override ContentType="application/vnd.openxmlformats-officedocument.presentationml.slide+xml" PartName="/ppt/slides/slide282.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327.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264.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258.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311.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292.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275.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269.xml"/>
  <Override ContentType="application/vnd.openxmlformats-officedocument.presentationml.slide+xml" PartName="/ppt/slides/slide322.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305.xml"/>
  <Override ContentType="application/vnd.openxmlformats-officedocument.presentationml.slide+xml" PartName="/ppt/slides/slide200.xml"/>
  <Override ContentType="application/vnd.openxmlformats-officedocument.presentationml.slide+xml" PartName="/ppt/slides/slide243.xml"/>
  <Override ContentType="application/vnd.openxmlformats-officedocument.presentationml.slide+xml" PartName="/ppt/slides/slide88.xml"/>
  <Override ContentType="application/vnd.openxmlformats-officedocument.presentationml.slide+xml" PartName="/ppt/slides/slide286.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260.xml"/>
  <Override ContentType="application/vnd.openxmlformats-officedocument.presentationml.slide+xml" PartName="/ppt/slides/slide308.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71.xml"/>
  <Override ContentType="application/vnd.openxmlformats-officedocument.presentationml.slide+xml" PartName="/ppt/slides/slide324.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316.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94.xml"/>
  <Override ContentType="application/vnd.openxmlformats-officedocument.presentationml.slide+xml" PartName="/ppt/slides/slide220.xml"/>
  <Override ContentType="application/vnd.openxmlformats-officedocument.presentationml.slide+xml" PartName="/ppt/slides/slide26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328.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278.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25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301.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66.xml"/>
  <Override ContentType="application/vnd.openxmlformats-officedocument.presentationml.slide+xml" PartName="/ppt/slides/slide283.xml"/>
  <Override ContentType="application/vnd.openxmlformats-officedocument.presentationml.slide+xml" PartName="/ppt/slides/slide291.xml"/>
  <Override ContentType="application/vnd.openxmlformats-officedocument.presentationml.slide+xml" PartName="/ppt/slides/slide312.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304.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274.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321.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319.xml"/>
  <Override ContentType="application/vnd.openxmlformats-officedocument.presentationml.slide+xml" PartName="/ppt/slides/slide212.xml"/>
  <Override ContentType="application/vnd.openxmlformats-officedocument.presentationml.slide+xml" PartName="/ppt/slides/slide255.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29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325.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317.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307.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262.xml"/>
  <Override ContentType="application/vnd.openxmlformats-officedocument.presentationml.slide+xml" PartName="/ppt/slides/slide97.xml"/>
  <Override ContentType="application/vnd.openxmlformats-officedocument.presentationml.slide+xml" PartName="/ppt/slides/slide331.xml"/>
  <Override ContentType="application/vnd.openxmlformats-officedocument.presentationml.slide+xml" PartName="/ppt/slides/slide140.xml"/>
  <Override ContentType="application/vnd.openxmlformats-officedocument.presentationml.slide+xml" PartName="/ppt/slides/slide277.xml"/>
  <Override ContentType="application/vnd.openxmlformats-officedocument.presentationml.slide+xml" PartName="/ppt/slides/slide11.xml"/>
  <Override ContentType="application/vnd.openxmlformats-officedocument.presentationml.slide+xml" PartName="/ppt/slides/slide280.xml"/>
  <Override ContentType="application/vnd.openxmlformats-officedocument.presentationml.slide+xml" PartName="/ppt/slides/slide302.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289.xml"/>
  <Override ContentType="application/vnd.openxmlformats-officedocument.presentationml.slide+xml" PartName="/ppt/slides/slide36.xml"/>
  <Override ContentType="application/vnd.openxmlformats-officedocument.presentationml.slide+xml" PartName="/ppt/slides/slide313.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252.xml"/>
  <Override ContentType="application/vnd.openxmlformats-officedocument.presentationml.slide+xml" PartName="/ppt/slides/slide295.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320.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284.xml"/>
  <Override ContentType="application/vnd.openxmlformats-officedocument.presentationml.slide+xml" PartName="/ppt/slides/slide330.xml"/>
  <Override ContentType="application/vnd.openxmlformats-officedocument.presentationml.slide+xml" PartName="/ppt/slides/slide47.xml"/>
  <Override ContentType="application/vnd.openxmlformats-officedocument.presentationml.slide+xml" PartName="/ppt/slides/slide26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303.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9.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318.xml"/>
  <Override ContentType="application/vnd.openxmlformats-officedocument.presentationml.slide+xml" PartName="/ppt/slides/slide230.xml"/>
  <Override ContentType="application/vnd.openxmlformats-officedocument.presentationml.slide+xml" PartName="/ppt/slides/slide290.xml"/>
  <Override ContentType="application/vnd.openxmlformats-officedocument.presentationml.slide+xml" PartName="/ppt/slides/slide256.xml"/>
  <Override ContentType="application/vnd.openxmlformats-officedocument.presentationml.slide+xml" PartName="/ppt/slides/slide299.xml"/>
  <Override ContentType="application/vnd.openxmlformats-officedocument.presentationml.slide+xml" PartName="/ppt/slides/slide128.xml"/>
  <Override ContentType="application/vnd.openxmlformats-officedocument.presentationml.slide+xml" PartName="/ppt/slides/slide273.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38" roundtripDataSignature="AMtx7mgUgzFI85FonU7Fv7HDHtuwObcs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D1F0B8-C0F4-4710-A24E-F3ACE173D476}">
  <a:tblStyle styleId="{1DD1F0B8-C0F4-4710-A24E-F3ACE173D47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DEEE8"/>
          </a:solidFill>
        </a:fill>
      </a:tcStyle>
    </a:wholeTbl>
    <a:band1H>
      <a:tcTxStyle/>
      <a:tcStyle>
        <a:fill>
          <a:solidFill>
            <a:srgbClr val="FCDCCE"/>
          </a:solidFill>
        </a:fill>
      </a:tcStyle>
    </a:band1H>
    <a:band2H>
      <a:tcTxStyle/>
    </a:band2H>
    <a:band1V>
      <a:tcTxStyle/>
      <a:tcStyle>
        <a:fill>
          <a:solidFill>
            <a:srgbClr val="FCDCCE"/>
          </a:solidFill>
        </a:fill>
      </a:tcStyle>
    </a:band1V>
    <a:band2V>
      <a:tcTxStyle/>
    </a:band2V>
    <a:lastCol>
      <a:tcTxStyle b="on" i="off">
        <a:font>
          <a:latin typeface="Calibri"/>
          <a:ea typeface="Calibri"/>
          <a:cs typeface="Calibri"/>
        </a:font>
        <a:schemeClr val="lt1"/>
      </a:tcTxStyle>
      <a:tcStyle>
        <a:fill>
          <a:solidFill>
            <a:schemeClr val="accent6"/>
          </a:solidFill>
        </a:fill>
      </a:tcStyle>
    </a:lastCol>
    <a:firstCol>
      <a:tcTxStyle b="on" i="off">
        <a:font>
          <a:latin typeface="Calibri"/>
          <a:ea typeface="Calibri"/>
          <a:cs typeface="Calibri"/>
        </a:font>
        <a:schemeClr val="lt1"/>
      </a:tcTxStyle>
      <a:tcStyle>
        <a:fill>
          <a:solidFill>
            <a:schemeClr val="accent6"/>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6"/>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6"/>
          </a:solidFill>
        </a:fill>
      </a:tcStyle>
    </a:firstRow>
    <a:neCell>
      <a:tcTxStyle/>
    </a:neCell>
    <a:nwCell>
      <a:tcTxStyle/>
    </a:nwCell>
  </a:tblStyle>
  <a:tblStyle styleId="{67F6A887-4D8F-49DA-B730-5EAACEBB6B1F}"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07B78194-B2C8-4966-9A5C-DB386C4496CD}" styleName="Table_2">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190" Type="http://schemas.openxmlformats.org/officeDocument/2006/relationships/slide" Target="slides/slide18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194" Type="http://schemas.openxmlformats.org/officeDocument/2006/relationships/slide" Target="slides/slide188.xml"/><Relationship Id="rId43" Type="http://schemas.openxmlformats.org/officeDocument/2006/relationships/slide" Target="slides/slide37.xml"/><Relationship Id="rId193" Type="http://schemas.openxmlformats.org/officeDocument/2006/relationships/slide" Target="slides/slide187.xml"/><Relationship Id="rId46" Type="http://schemas.openxmlformats.org/officeDocument/2006/relationships/slide" Target="slides/slide40.xml"/><Relationship Id="rId192" Type="http://schemas.openxmlformats.org/officeDocument/2006/relationships/slide" Target="slides/slide186.xml"/><Relationship Id="rId45" Type="http://schemas.openxmlformats.org/officeDocument/2006/relationships/slide" Target="slides/slide39.xml"/><Relationship Id="rId191" Type="http://schemas.openxmlformats.org/officeDocument/2006/relationships/slide" Target="slides/slide185.xml"/><Relationship Id="rId48" Type="http://schemas.openxmlformats.org/officeDocument/2006/relationships/slide" Target="slides/slide42.xml"/><Relationship Id="rId187" Type="http://schemas.openxmlformats.org/officeDocument/2006/relationships/slide" Target="slides/slide181.xml"/><Relationship Id="rId47" Type="http://schemas.openxmlformats.org/officeDocument/2006/relationships/slide" Target="slides/slide41.xml"/><Relationship Id="rId186" Type="http://schemas.openxmlformats.org/officeDocument/2006/relationships/slide" Target="slides/slide180.xml"/><Relationship Id="rId185" Type="http://schemas.openxmlformats.org/officeDocument/2006/relationships/slide" Target="slides/slide179.xml"/><Relationship Id="rId49" Type="http://schemas.openxmlformats.org/officeDocument/2006/relationships/slide" Target="slides/slide43.xml"/><Relationship Id="rId184" Type="http://schemas.openxmlformats.org/officeDocument/2006/relationships/slide" Target="slides/slide178.xml"/><Relationship Id="rId189" Type="http://schemas.openxmlformats.org/officeDocument/2006/relationships/slide" Target="slides/slide183.xml"/><Relationship Id="rId188" Type="http://schemas.openxmlformats.org/officeDocument/2006/relationships/slide" Target="slides/slide18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slide" Target="slides/slide177.xml"/><Relationship Id="rId32" Type="http://schemas.openxmlformats.org/officeDocument/2006/relationships/slide" Target="slides/slide26.xml"/><Relationship Id="rId182" Type="http://schemas.openxmlformats.org/officeDocument/2006/relationships/slide" Target="slides/slide176.xml"/><Relationship Id="rId35" Type="http://schemas.openxmlformats.org/officeDocument/2006/relationships/slide" Target="slides/slide29.xml"/><Relationship Id="rId181" Type="http://schemas.openxmlformats.org/officeDocument/2006/relationships/slide" Target="slides/slide175.xml"/><Relationship Id="rId34" Type="http://schemas.openxmlformats.org/officeDocument/2006/relationships/slide" Target="slides/slide28.xml"/><Relationship Id="rId180" Type="http://schemas.openxmlformats.org/officeDocument/2006/relationships/slide" Target="slides/slide174.xml"/><Relationship Id="rId37" Type="http://schemas.openxmlformats.org/officeDocument/2006/relationships/slide" Target="slides/slide31.xml"/><Relationship Id="rId176" Type="http://schemas.openxmlformats.org/officeDocument/2006/relationships/slide" Target="slides/slide170.xml"/><Relationship Id="rId297" Type="http://schemas.openxmlformats.org/officeDocument/2006/relationships/slide" Target="slides/slide291.xml"/><Relationship Id="rId36" Type="http://schemas.openxmlformats.org/officeDocument/2006/relationships/slide" Target="slides/slide30.xml"/><Relationship Id="rId175" Type="http://schemas.openxmlformats.org/officeDocument/2006/relationships/slide" Target="slides/slide169.xml"/><Relationship Id="rId296" Type="http://schemas.openxmlformats.org/officeDocument/2006/relationships/slide" Target="slides/slide290.xml"/><Relationship Id="rId39" Type="http://schemas.openxmlformats.org/officeDocument/2006/relationships/slide" Target="slides/slide33.xml"/><Relationship Id="rId174" Type="http://schemas.openxmlformats.org/officeDocument/2006/relationships/slide" Target="slides/slide168.xml"/><Relationship Id="rId295" Type="http://schemas.openxmlformats.org/officeDocument/2006/relationships/slide" Target="slides/slide289.xml"/><Relationship Id="rId38" Type="http://schemas.openxmlformats.org/officeDocument/2006/relationships/slide" Target="slides/slide32.xml"/><Relationship Id="rId173" Type="http://schemas.openxmlformats.org/officeDocument/2006/relationships/slide" Target="slides/slide167.xml"/><Relationship Id="rId294" Type="http://schemas.openxmlformats.org/officeDocument/2006/relationships/slide" Target="slides/slide288.xml"/><Relationship Id="rId179" Type="http://schemas.openxmlformats.org/officeDocument/2006/relationships/slide" Target="slides/slide173.xml"/><Relationship Id="rId178" Type="http://schemas.openxmlformats.org/officeDocument/2006/relationships/slide" Target="slides/slide172.xml"/><Relationship Id="rId299" Type="http://schemas.openxmlformats.org/officeDocument/2006/relationships/slide" Target="slides/slide293.xml"/><Relationship Id="rId177" Type="http://schemas.openxmlformats.org/officeDocument/2006/relationships/slide" Target="slides/slide171.xml"/><Relationship Id="rId298" Type="http://schemas.openxmlformats.org/officeDocument/2006/relationships/slide" Target="slides/slide29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98" Type="http://schemas.openxmlformats.org/officeDocument/2006/relationships/slide" Target="slides/slide192.xml"/><Relationship Id="rId14" Type="http://schemas.openxmlformats.org/officeDocument/2006/relationships/slide" Target="slides/slide8.xml"/><Relationship Id="rId197" Type="http://schemas.openxmlformats.org/officeDocument/2006/relationships/slide" Target="slides/slide191.xml"/><Relationship Id="rId17" Type="http://schemas.openxmlformats.org/officeDocument/2006/relationships/slide" Target="slides/slide11.xml"/><Relationship Id="rId196" Type="http://schemas.openxmlformats.org/officeDocument/2006/relationships/slide" Target="slides/slide190.xml"/><Relationship Id="rId16" Type="http://schemas.openxmlformats.org/officeDocument/2006/relationships/slide" Target="slides/slide10.xml"/><Relationship Id="rId195" Type="http://schemas.openxmlformats.org/officeDocument/2006/relationships/slide" Target="slides/slide189.xml"/><Relationship Id="rId19" Type="http://schemas.openxmlformats.org/officeDocument/2006/relationships/slide" Target="slides/slide13.xml"/><Relationship Id="rId18" Type="http://schemas.openxmlformats.org/officeDocument/2006/relationships/slide" Target="slides/slide12.xml"/><Relationship Id="rId199" Type="http://schemas.openxmlformats.org/officeDocument/2006/relationships/slide" Target="slides/slide193.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271" Type="http://schemas.openxmlformats.org/officeDocument/2006/relationships/slide" Target="slides/slide265.xml"/><Relationship Id="rId87" Type="http://schemas.openxmlformats.org/officeDocument/2006/relationships/slide" Target="slides/slide81.xml"/><Relationship Id="rId270" Type="http://schemas.openxmlformats.org/officeDocument/2006/relationships/slide" Target="slides/slide264.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269" Type="http://schemas.openxmlformats.org/officeDocument/2006/relationships/slide" Target="slides/slide263.xml"/><Relationship Id="rId9" Type="http://schemas.openxmlformats.org/officeDocument/2006/relationships/slide" Target="slides/slide3.xml"/><Relationship Id="rId143" Type="http://schemas.openxmlformats.org/officeDocument/2006/relationships/slide" Target="slides/slide137.xml"/><Relationship Id="rId264" Type="http://schemas.openxmlformats.org/officeDocument/2006/relationships/slide" Target="slides/slide258.xml"/><Relationship Id="rId142" Type="http://schemas.openxmlformats.org/officeDocument/2006/relationships/slide" Target="slides/slide136.xml"/><Relationship Id="rId263" Type="http://schemas.openxmlformats.org/officeDocument/2006/relationships/slide" Target="slides/slide257.xml"/><Relationship Id="rId141" Type="http://schemas.openxmlformats.org/officeDocument/2006/relationships/slide" Target="slides/slide135.xml"/><Relationship Id="rId262" Type="http://schemas.openxmlformats.org/officeDocument/2006/relationships/slide" Target="slides/slide256.xml"/><Relationship Id="rId140" Type="http://schemas.openxmlformats.org/officeDocument/2006/relationships/slide" Target="slides/slide134.xml"/><Relationship Id="rId261" Type="http://schemas.openxmlformats.org/officeDocument/2006/relationships/slide" Target="slides/slide255.xml"/><Relationship Id="rId5" Type="http://schemas.openxmlformats.org/officeDocument/2006/relationships/slideMaster" Target="slideMasters/slideMaster1.xml"/><Relationship Id="rId147" Type="http://schemas.openxmlformats.org/officeDocument/2006/relationships/slide" Target="slides/slide141.xml"/><Relationship Id="rId268" Type="http://schemas.openxmlformats.org/officeDocument/2006/relationships/slide" Target="slides/slide262.xml"/><Relationship Id="rId6" Type="http://schemas.openxmlformats.org/officeDocument/2006/relationships/notesMaster" Target="notesMasters/notesMaster1.xml"/><Relationship Id="rId146" Type="http://schemas.openxmlformats.org/officeDocument/2006/relationships/slide" Target="slides/slide140.xml"/><Relationship Id="rId267" Type="http://schemas.openxmlformats.org/officeDocument/2006/relationships/slide" Target="slides/slide261.xml"/><Relationship Id="rId7" Type="http://schemas.openxmlformats.org/officeDocument/2006/relationships/slide" Target="slides/slide1.xml"/><Relationship Id="rId145" Type="http://schemas.openxmlformats.org/officeDocument/2006/relationships/slide" Target="slides/slide139.xml"/><Relationship Id="rId266" Type="http://schemas.openxmlformats.org/officeDocument/2006/relationships/slide" Target="slides/slide260.xml"/><Relationship Id="rId8" Type="http://schemas.openxmlformats.org/officeDocument/2006/relationships/slide" Target="slides/slide2.xml"/><Relationship Id="rId144" Type="http://schemas.openxmlformats.org/officeDocument/2006/relationships/slide" Target="slides/slide138.xml"/><Relationship Id="rId265" Type="http://schemas.openxmlformats.org/officeDocument/2006/relationships/slide" Target="slides/slide259.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260" Type="http://schemas.openxmlformats.org/officeDocument/2006/relationships/slide" Target="slides/slide254.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259" Type="http://schemas.openxmlformats.org/officeDocument/2006/relationships/slide" Target="slides/slide253.xml"/><Relationship Id="rId137" Type="http://schemas.openxmlformats.org/officeDocument/2006/relationships/slide" Target="slides/slide131.xml"/><Relationship Id="rId258" Type="http://schemas.openxmlformats.org/officeDocument/2006/relationships/slide" Target="slides/slide252.xml"/><Relationship Id="rId132" Type="http://schemas.openxmlformats.org/officeDocument/2006/relationships/slide" Target="slides/slide126.xml"/><Relationship Id="rId253" Type="http://schemas.openxmlformats.org/officeDocument/2006/relationships/slide" Target="slides/slide247.xml"/><Relationship Id="rId131" Type="http://schemas.openxmlformats.org/officeDocument/2006/relationships/slide" Target="slides/slide125.xml"/><Relationship Id="rId252" Type="http://schemas.openxmlformats.org/officeDocument/2006/relationships/slide" Target="slides/slide246.xml"/><Relationship Id="rId130" Type="http://schemas.openxmlformats.org/officeDocument/2006/relationships/slide" Target="slides/slide124.xml"/><Relationship Id="rId251" Type="http://schemas.openxmlformats.org/officeDocument/2006/relationships/slide" Target="slides/slide245.xml"/><Relationship Id="rId250" Type="http://schemas.openxmlformats.org/officeDocument/2006/relationships/slide" Target="slides/slide244.xml"/><Relationship Id="rId136" Type="http://schemas.openxmlformats.org/officeDocument/2006/relationships/slide" Target="slides/slide130.xml"/><Relationship Id="rId257" Type="http://schemas.openxmlformats.org/officeDocument/2006/relationships/slide" Target="slides/slide251.xml"/><Relationship Id="rId135" Type="http://schemas.openxmlformats.org/officeDocument/2006/relationships/slide" Target="slides/slide129.xml"/><Relationship Id="rId256" Type="http://schemas.openxmlformats.org/officeDocument/2006/relationships/slide" Target="slides/slide250.xml"/><Relationship Id="rId134" Type="http://schemas.openxmlformats.org/officeDocument/2006/relationships/slide" Target="slides/slide128.xml"/><Relationship Id="rId255" Type="http://schemas.openxmlformats.org/officeDocument/2006/relationships/slide" Target="slides/slide249.xml"/><Relationship Id="rId133" Type="http://schemas.openxmlformats.org/officeDocument/2006/relationships/slide" Target="slides/slide127.xml"/><Relationship Id="rId254" Type="http://schemas.openxmlformats.org/officeDocument/2006/relationships/slide" Target="slides/slide248.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293" Type="http://schemas.openxmlformats.org/officeDocument/2006/relationships/slide" Target="slides/slide287.xml"/><Relationship Id="rId65" Type="http://schemas.openxmlformats.org/officeDocument/2006/relationships/slide" Target="slides/slide59.xml"/><Relationship Id="rId171" Type="http://schemas.openxmlformats.org/officeDocument/2006/relationships/slide" Target="slides/slide165.xml"/><Relationship Id="rId292" Type="http://schemas.openxmlformats.org/officeDocument/2006/relationships/slide" Target="slides/slide286.xml"/><Relationship Id="rId68" Type="http://schemas.openxmlformats.org/officeDocument/2006/relationships/slide" Target="slides/slide62.xml"/><Relationship Id="rId170" Type="http://schemas.openxmlformats.org/officeDocument/2006/relationships/slide" Target="slides/slide164.xml"/><Relationship Id="rId291" Type="http://schemas.openxmlformats.org/officeDocument/2006/relationships/slide" Target="slides/slide285.xml"/><Relationship Id="rId67" Type="http://schemas.openxmlformats.org/officeDocument/2006/relationships/slide" Target="slides/slide61.xml"/><Relationship Id="rId290" Type="http://schemas.openxmlformats.org/officeDocument/2006/relationships/slide" Target="slides/slide284.xml"/><Relationship Id="rId60" Type="http://schemas.openxmlformats.org/officeDocument/2006/relationships/slide" Target="slides/slide54.xml"/><Relationship Id="rId165" Type="http://schemas.openxmlformats.org/officeDocument/2006/relationships/slide" Target="slides/slide159.xml"/><Relationship Id="rId286" Type="http://schemas.openxmlformats.org/officeDocument/2006/relationships/slide" Target="slides/slide280.xml"/><Relationship Id="rId69" Type="http://schemas.openxmlformats.org/officeDocument/2006/relationships/slide" Target="slides/slide63.xml"/><Relationship Id="rId164" Type="http://schemas.openxmlformats.org/officeDocument/2006/relationships/slide" Target="slides/slide158.xml"/><Relationship Id="rId285" Type="http://schemas.openxmlformats.org/officeDocument/2006/relationships/slide" Target="slides/slide279.xml"/><Relationship Id="rId163" Type="http://schemas.openxmlformats.org/officeDocument/2006/relationships/slide" Target="slides/slide157.xml"/><Relationship Id="rId284" Type="http://schemas.openxmlformats.org/officeDocument/2006/relationships/slide" Target="slides/slide278.xml"/><Relationship Id="rId162" Type="http://schemas.openxmlformats.org/officeDocument/2006/relationships/slide" Target="slides/slide156.xml"/><Relationship Id="rId283" Type="http://schemas.openxmlformats.org/officeDocument/2006/relationships/slide" Target="slides/slide277.xml"/><Relationship Id="rId169" Type="http://schemas.openxmlformats.org/officeDocument/2006/relationships/slide" Target="slides/slide163.xml"/><Relationship Id="rId168" Type="http://schemas.openxmlformats.org/officeDocument/2006/relationships/slide" Target="slides/slide162.xml"/><Relationship Id="rId289" Type="http://schemas.openxmlformats.org/officeDocument/2006/relationships/slide" Target="slides/slide283.xml"/><Relationship Id="rId167" Type="http://schemas.openxmlformats.org/officeDocument/2006/relationships/slide" Target="slides/slide161.xml"/><Relationship Id="rId288" Type="http://schemas.openxmlformats.org/officeDocument/2006/relationships/slide" Target="slides/slide282.xml"/><Relationship Id="rId166" Type="http://schemas.openxmlformats.org/officeDocument/2006/relationships/slide" Target="slides/slide160.xml"/><Relationship Id="rId287" Type="http://schemas.openxmlformats.org/officeDocument/2006/relationships/slide" Target="slides/slide281.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282" Type="http://schemas.openxmlformats.org/officeDocument/2006/relationships/slide" Target="slides/slide276.xml"/><Relationship Id="rId54" Type="http://schemas.openxmlformats.org/officeDocument/2006/relationships/slide" Target="slides/slide48.xml"/><Relationship Id="rId160" Type="http://schemas.openxmlformats.org/officeDocument/2006/relationships/slide" Target="slides/slide154.xml"/><Relationship Id="rId281" Type="http://schemas.openxmlformats.org/officeDocument/2006/relationships/slide" Target="slides/slide275.xml"/><Relationship Id="rId57" Type="http://schemas.openxmlformats.org/officeDocument/2006/relationships/slide" Target="slides/slide51.xml"/><Relationship Id="rId280" Type="http://schemas.openxmlformats.org/officeDocument/2006/relationships/slide" Target="slides/slide274.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275" Type="http://schemas.openxmlformats.org/officeDocument/2006/relationships/slide" Target="slides/slide269.xml"/><Relationship Id="rId58" Type="http://schemas.openxmlformats.org/officeDocument/2006/relationships/slide" Target="slides/slide52.xml"/><Relationship Id="rId153" Type="http://schemas.openxmlformats.org/officeDocument/2006/relationships/slide" Target="slides/slide147.xml"/><Relationship Id="rId274" Type="http://schemas.openxmlformats.org/officeDocument/2006/relationships/slide" Target="slides/slide268.xml"/><Relationship Id="rId152" Type="http://schemas.openxmlformats.org/officeDocument/2006/relationships/slide" Target="slides/slide146.xml"/><Relationship Id="rId273" Type="http://schemas.openxmlformats.org/officeDocument/2006/relationships/slide" Target="slides/slide267.xml"/><Relationship Id="rId151" Type="http://schemas.openxmlformats.org/officeDocument/2006/relationships/slide" Target="slides/slide145.xml"/><Relationship Id="rId272" Type="http://schemas.openxmlformats.org/officeDocument/2006/relationships/slide" Target="slides/slide266.xml"/><Relationship Id="rId158" Type="http://schemas.openxmlformats.org/officeDocument/2006/relationships/slide" Target="slides/slide152.xml"/><Relationship Id="rId279" Type="http://schemas.openxmlformats.org/officeDocument/2006/relationships/slide" Target="slides/slide273.xml"/><Relationship Id="rId157" Type="http://schemas.openxmlformats.org/officeDocument/2006/relationships/slide" Target="slides/slide151.xml"/><Relationship Id="rId278" Type="http://schemas.openxmlformats.org/officeDocument/2006/relationships/slide" Target="slides/slide272.xml"/><Relationship Id="rId156" Type="http://schemas.openxmlformats.org/officeDocument/2006/relationships/slide" Target="slides/slide150.xml"/><Relationship Id="rId277" Type="http://schemas.openxmlformats.org/officeDocument/2006/relationships/slide" Target="slides/slide271.xml"/><Relationship Id="rId155" Type="http://schemas.openxmlformats.org/officeDocument/2006/relationships/slide" Target="slides/slide149.xml"/><Relationship Id="rId276" Type="http://schemas.openxmlformats.org/officeDocument/2006/relationships/slide" Target="slides/slide270.xml"/><Relationship Id="rId107" Type="http://schemas.openxmlformats.org/officeDocument/2006/relationships/slide" Target="slides/slide101.xml"/><Relationship Id="rId228" Type="http://schemas.openxmlformats.org/officeDocument/2006/relationships/slide" Target="slides/slide222.xml"/><Relationship Id="rId106" Type="http://schemas.openxmlformats.org/officeDocument/2006/relationships/slide" Target="slides/slide100.xml"/><Relationship Id="rId227" Type="http://schemas.openxmlformats.org/officeDocument/2006/relationships/slide" Target="slides/slide221.xml"/><Relationship Id="rId105" Type="http://schemas.openxmlformats.org/officeDocument/2006/relationships/slide" Target="slides/slide99.xml"/><Relationship Id="rId226" Type="http://schemas.openxmlformats.org/officeDocument/2006/relationships/slide" Target="slides/slide220.xml"/><Relationship Id="rId104" Type="http://schemas.openxmlformats.org/officeDocument/2006/relationships/slide" Target="slides/slide98.xml"/><Relationship Id="rId225" Type="http://schemas.openxmlformats.org/officeDocument/2006/relationships/slide" Target="slides/slide219.xml"/><Relationship Id="rId109" Type="http://schemas.openxmlformats.org/officeDocument/2006/relationships/slide" Target="slides/slide103.xml"/><Relationship Id="rId108" Type="http://schemas.openxmlformats.org/officeDocument/2006/relationships/slide" Target="slides/slide102.xml"/><Relationship Id="rId229" Type="http://schemas.openxmlformats.org/officeDocument/2006/relationships/slide" Target="slides/slide223.xml"/><Relationship Id="rId220" Type="http://schemas.openxmlformats.org/officeDocument/2006/relationships/slide" Target="slides/slide214.xml"/><Relationship Id="rId103" Type="http://schemas.openxmlformats.org/officeDocument/2006/relationships/slide" Target="slides/slide97.xml"/><Relationship Id="rId224" Type="http://schemas.openxmlformats.org/officeDocument/2006/relationships/slide" Target="slides/slide218.xml"/><Relationship Id="rId102" Type="http://schemas.openxmlformats.org/officeDocument/2006/relationships/slide" Target="slides/slide96.xml"/><Relationship Id="rId223" Type="http://schemas.openxmlformats.org/officeDocument/2006/relationships/slide" Target="slides/slide217.xml"/><Relationship Id="rId101" Type="http://schemas.openxmlformats.org/officeDocument/2006/relationships/slide" Target="slides/slide95.xml"/><Relationship Id="rId222" Type="http://schemas.openxmlformats.org/officeDocument/2006/relationships/slide" Target="slides/slide216.xml"/><Relationship Id="rId100" Type="http://schemas.openxmlformats.org/officeDocument/2006/relationships/slide" Target="slides/slide94.xml"/><Relationship Id="rId221" Type="http://schemas.openxmlformats.org/officeDocument/2006/relationships/slide" Target="slides/slide215.xml"/><Relationship Id="rId217" Type="http://schemas.openxmlformats.org/officeDocument/2006/relationships/slide" Target="slides/slide211.xml"/><Relationship Id="rId338" Type="http://customschemas.google.com/relationships/presentationmetadata" Target="metadata"/><Relationship Id="rId216" Type="http://schemas.openxmlformats.org/officeDocument/2006/relationships/slide" Target="slides/slide210.xml"/><Relationship Id="rId337" Type="http://schemas.openxmlformats.org/officeDocument/2006/relationships/slide" Target="slides/slide331.xml"/><Relationship Id="rId215" Type="http://schemas.openxmlformats.org/officeDocument/2006/relationships/slide" Target="slides/slide209.xml"/><Relationship Id="rId336" Type="http://schemas.openxmlformats.org/officeDocument/2006/relationships/slide" Target="slides/slide330.xml"/><Relationship Id="rId214" Type="http://schemas.openxmlformats.org/officeDocument/2006/relationships/slide" Target="slides/slide208.xml"/><Relationship Id="rId335" Type="http://schemas.openxmlformats.org/officeDocument/2006/relationships/slide" Target="slides/slide329.xml"/><Relationship Id="rId219" Type="http://schemas.openxmlformats.org/officeDocument/2006/relationships/slide" Target="slides/slide213.xml"/><Relationship Id="rId218" Type="http://schemas.openxmlformats.org/officeDocument/2006/relationships/slide" Target="slides/slide212.xml"/><Relationship Id="rId330" Type="http://schemas.openxmlformats.org/officeDocument/2006/relationships/slide" Target="slides/slide324.xml"/><Relationship Id="rId213" Type="http://schemas.openxmlformats.org/officeDocument/2006/relationships/slide" Target="slides/slide207.xml"/><Relationship Id="rId334" Type="http://schemas.openxmlformats.org/officeDocument/2006/relationships/slide" Target="slides/slide328.xml"/><Relationship Id="rId212" Type="http://schemas.openxmlformats.org/officeDocument/2006/relationships/slide" Target="slides/slide206.xml"/><Relationship Id="rId333" Type="http://schemas.openxmlformats.org/officeDocument/2006/relationships/slide" Target="slides/slide327.xml"/><Relationship Id="rId211" Type="http://schemas.openxmlformats.org/officeDocument/2006/relationships/slide" Target="slides/slide205.xml"/><Relationship Id="rId332" Type="http://schemas.openxmlformats.org/officeDocument/2006/relationships/slide" Target="slides/slide326.xml"/><Relationship Id="rId210" Type="http://schemas.openxmlformats.org/officeDocument/2006/relationships/slide" Target="slides/slide204.xml"/><Relationship Id="rId331" Type="http://schemas.openxmlformats.org/officeDocument/2006/relationships/slide" Target="slides/slide325.xml"/><Relationship Id="rId129" Type="http://schemas.openxmlformats.org/officeDocument/2006/relationships/slide" Target="slides/slide123.xml"/><Relationship Id="rId128" Type="http://schemas.openxmlformats.org/officeDocument/2006/relationships/slide" Target="slides/slide122.xml"/><Relationship Id="rId249" Type="http://schemas.openxmlformats.org/officeDocument/2006/relationships/slide" Target="slides/slide243.xml"/><Relationship Id="rId127" Type="http://schemas.openxmlformats.org/officeDocument/2006/relationships/slide" Target="slides/slide121.xml"/><Relationship Id="rId248" Type="http://schemas.openxmlformats.org/officeDocument/2006/relationships/slide" Target="slides/slide242.xml"/><Relationship Id="rId126" Type="http://schemas.openxmlformats.org/officeDocument/2006/relationships/slide" Target="slides/slide120.xml"/><Relationship Id="rId247" Type="http://schemas.openxmlformats.org/officeDocument/2006/relationships/slide" Target="slides/slide241.xml"/><Relationship Id="rId121" Type="http://schemas.openxmlformats.org/officeDocument/2006/relationships/slide" Target="slides/slide115.xml"/><Relationship Id="rId242" Type="http://schemas.openxmlformats.org/officeDocument/2006/relationships/slide" Target="slides/slide236.xml"/><Relationship Id="rId120" Type="http://schemas.openxmlformats.org/officeDocument/2006/relationships/slide" Target="slides/slide114.xml"/><Relationship Id="rId241" Type="http://schemas.openxmlformats.org/officeDocument/2006/relationships/slide" Target="slides/slide235.xml"/><Relationship Id="rId240" Type="http://schemas.openxmlformats.org/officeDocument/2006/relationships/slide" Target="slides/slide234.xml"/><Relationship Id="rId125" Type="http://schemas.openxmlformats.org/officeDocument/2006/relationships/slide" Target="slides/slide119.xml"/><Relationship Id="rId246" Type="http://schemas.openxmlformats.org/officeDocument/2006/relationships/slide" Target="slides/slide240.xml"/><Relationship Id="rId124" Type="http://schemas.openxmlformats.org/officeDocument/2006/relationships/slide" Target="slides/slide118.xml"/><Relationship Id="rId245" Type="http://schemas.openxmlformats.org/officeDocument/2006/relationships/slide" Target="slides/slide239.xml"/><Relationship Id="rId123" Type="http://schemas.openxmlformats.org/officeDocument/2006/relationships/slide" Target="slides/slide117.xml"/><Relationship Id="rId244" Type="http://schemas.openxmlformats.org/officeDocument/2006/relationships/slide" Target="slides/slide238.xml"/><Relationship Id="rId122" Type="http://schemas.openxmlformats.org/officeDocument/2006/relationships/slide" Target="slides/slide116.xml"/><Relationship Id="rId243" Type="http://schemas.openxmlformats.org/officeDocument/2006/relationships/slide" Target="slides/slide237.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99" Type="http://schemas.openxmlformats.org/officeDocument/2006/relationships/slide" Target="slides/slide93.xml"/><Relationship Id="rId98" Type="http://schemas.openxmlformats.org/officeDocument/2006/relationships/slide" Target="slides/slide92.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239" Type="http://schemas.openxmlformats.org/officeDocument/2006/relationships/slide" Target="slides/slide233.xml"/><Relationship Id="rId117" Type="http://schemas.openxmlformats.org/officeDocument/2006/relationships/slide" Target="slides/slide111.xml"/><Relationship Id="rId238" Type="http://schemas.openxmlformats.org/officeDocument/2006/relationships/slide" Target="slides/slide232.xml"/><Relationship Id="rId116" Type="http://schemas.openxmlformats.org/officeDocument/2006/relationships/slide" Target="slides/slide110.xml"/><Relationship Id="rId237" Type="http://schemas.openxmlformats.org/officeDocument/2006/relationships/slide" Target="slides/slide231.xml"/><Relationship Id="rId115" Type="http://schemas.openxmlformats.org/officeDocument/2006/relationships/slide" Target="slides/slide109.xml"/><Relationship Id="rId236" Type="http://schemas.openxmlformats.org/officeDocument/2006/relationships/slide" Target="slides/slide230.xml"/><Relationship Id="rId119" Type="http://schemas.openxmlformats.org/officeDocument/2006/relationships/slide" Target="slides/slide113.xml"/><Relationship Id="rId110" Type="http://schemas.openxmlformats.org/officeDocument/2006/relationships/slide" Target="slides/slide104.xml"/><Relationship Id="rId231" Type="http://schemas.openxmlformats.org/officeDocument/2006/relationships/slide" Target="slides/slide225.xml"/><Relationship Id="rId230" Type="http://schemas.openxmlformats.org/officeDocument/2006/relationships/slide" Target="slides/slide224.xml"/><Relationship Id="rId114" Type="http://schemas.openxmlformats.org/officeDocument/2006/relationships/slide" Target="slides/slide108.xml"/><Relationship Id="rId235" Type="http://schemas.openxmlformats.org/officeDocument/2006/relationships/slide" Target="slides/slide229.xml"/><Relationship Id="rId113" Type="http://schemas.openxmlformats.org/officeDocument/2006/relationships/slide" Target="slides/slide107.xml"/><Relationship Id="rId234" Type="http://schemas.openxmlformats.org/officeDocument/2006/relationships/slide" Target="slides/slide228.xml"/><Relationship Id="rId112" Type="http://schemas.openxmlformats.org/officeDocument/2006/relationships/slide" Target="slides/slide106.xml"/><Relationship Id="rId233" Type="http://schemas.openxmlformats.org/officeDocument/2006/relationships/slide" Target="slides/slide227.xml"/><Relationship Id="rId111" Type="http://schemas.openxmlformats.org/officeDocument/2006/relationships/slide" Target="slides/slide105.xml"/><Relationship Id="rId232" Type="http://schemas.openxmlformats.org/officeDocument/2006/relationships/slide" Target="slides/slide226.xml"/><Relationship Id="rId305" Type="http://schemas.openxmlformats.org/officeDocument/2006/relationships/slide" Target="slides/slide299.xml"/><Relationship Id="rId304" Type="http://schemas.openxmlformats.org/officeDocument/2006/relationships/slide" Target="slides/slide298.xml"/><Relationship Id="rId303" Type="http://schemas.openxmlformats.org/officeDocument/2006/relationships/slide" Target="slides/slide297.xml"/><Relationship Id="rId302" Type="http://schemas.openxmlformats.org/officeDocument/2006/relationships/slide" Target="slides/slide296.xml"/><Relationship Id="rId309" Type="http://schemas.openxmlformats.org/officeDocument/2006/relationships/slide" Target="slides/slide303.xml"/><Relationship Id="rId308" Type="http://schemas.openxmlformats.org/officeDocument/2006/relationships/slide" Target="slides/slide302.xml"/><Relationship Id="rId307" Type="http://schemas.openxmlformats.org/officeDocument/2006/relationships/slide" Target="slides/slide301.xml"/><Relationship Id="rId306" Type="http://schemas.openxmlformats.org/officeDocument/2006/relationships/slide" Target="slides/slide300.xml"/><Relationship Id="rId301" Type="http://schemas.openxmlformats.org/officeDocument/2006/relationships/slide" Target="slides/slide295.xml"/><Relationship Id="rId300" Type="http://schemas.openxmlformats.org/officeDocument/2006/relationships/slide" Target="slides/slide294.xml"/><Relationship Id="rId206" Type="http://schemas.openxmlformats.org/officeDocument/2006/relationships/slide" Target="slides/slide200.xml"/><Relationship Id="rId327" Type="http://schemas.openxmlformats.org/officeDocument/2006/relationships/slide" Target="slides/slide321.xml"/><Relationship Id="rId205" Type="http://schemas.openxmlformats.org/officeDocument/2006/relationships/slide" Target="slides/slide199.xml"/><Relationship Id="rId326" Type="http://schemas.openxmlformats.org/officeDocument/2006/relationships/slide" Target="slides/slide320.xml"/><Relationship Id="rId204" Type="http://schemas.openxmlformats.org/officeDocument/2006/relationships/slide" Target="slides/slide198.xml"/><Relationship Id="rId325" Type="http://schemas.openxmlformats.org/officeDocument/2006/relationships/slide" Target="slides/slide319.xml"/><Relationship Id="rId203" Type="http://schemas.openxmlformats.org/officeDocument/2006/relationships/slide" Target="slides/slide197.xml"/><Relationship Id="rId324" Type="http://schemas.openxmlformats.org/officeDocument/2006/relationships/slide" Target="slides/slide318.xml"/><Relationship Id="rId209" Type="http://schemas.openxmlformats.org/officeDocument/2006/relationships/slide" Target="slides/slide203.xml"/><Relationship Id="rId208" Type="http://schemas.openxmlformats.org/officeDocument/2006/relationships/slide" Target="slides/slide202.xml"/><Relationship Id="rId329" Type="http://schemas.openxmlformats.org/officeDocument/2006/relationships/slide" Target="slides/slide323.xml"/><Relationship Id="rId207" Type="http://schemas.openxmlformats.org/officeDocument/2006/relationships/slide" Target="slides/slide201.xml"/><Relationship Id="rId328" Type="http://schemas.openxmlformats.org/officeDocument/2006/relationships/slide" Target="slides/slide322.xml"/><Relationship Id="rId202" Type="http://schemas.openxmlformats.org/officeDocument/2006/relationships/slide" Target="slides/slide196.xml"/><Relationship Id="rId323" Type="http://schemas.openxmlformats.org/officeDocument/2006/relationships/slide" Target="slides/slide317.xml"/><Relationship Id="rId201" Type="http://schemas.openxmlformats.org/officeDocument/2006/relationships/slide" Target="slides/slide195.xml"/><Relationship Id="rId322" Type="http://schemas.openxmlformats.org/officeDocument/2006/relationships/slide" Target="slides/slide316.xml"/><Relationship Id="rId200" Type="http://schemas.openxmlformats.org/officeDocument/2006/relationships/slide" Target="slides/slide194.xml"/><Relationship Id="rId321" Type="http://schemas.openxmlformats.org/officeDocument/2006/relationships/slide" Target="slides/slide315.xml"/><Relationship Id="rId320" Type="http://schemas.openxmlformats.org/officeDocument/2006/relationships/slide" Target="slides/slide314.xml"/><Relationship Id="rId316" Type="http://schemas.openxmlformats.org/officeDocument/2006/relationships/slide" Target="slides/slide310.xml"/><Relationship Id="rId315" Type="http://schemas.openxmlformats.org/officeDocument/2006/relationships/slide" Target="slides/slide309.xml"/><Relationship Id="rId314" Type="http://schemas.openxmlformats.org/officeDocument/2006/relationships/slide" Target="slides/slide308.xml"/><Relationship Id="rId313" Type="http://schemas.openxmlformats.org/officeDocument/2006/relationships/slide" Target="slides/slide307.xml"/><Relationship Id="rId319" Type="http://schemas.openxmlformats.org/officeDocument/2006/relationships/slide" Target="slides/slide313.xml"/><Relationship Id="rId318" Type="http://schemas.openxmlformats.org/officeDocument/2006/relationships/slide" Target="slides/slide312.xml"/><Relationship Id="rId317" Type="http://schemas.openxmlformats.org/officeDocument/2006/relationships/slide" Target="slides/slide311.xml"/><Relationship Id="rId312" Type="http://schemas.openxmlformats.org/officeDocument/2006/relationships/slide" Target="slides/slide306.xml"/><Relationship Id="rId311" Type="http://schemas.openxmlformats.org/officeDocument/2006/relationships/slide" Target="slides/slide305.xml"/><Relationship Id="rId310" Type="http://schemas.openxmlformats.org/officeDocument/2006/relationships/slide" Target="slides/slide30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 name="Google Shape;502;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4" name="Google Shape;574;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3" name="Google Shape;583;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 name="Google Shape;592;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0" name="Google Shape;610;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4" name="Google Shape;664;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4" name="Google Shape;674;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4" name="Google Shape;684;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5" name="Google Shape;695;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4" name="Google Shape;704;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3" name="Google Shape;713;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2" name="Google Shape;722;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1" name="Google Shape;731;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 name="Google Shape;741;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1" name="Google Shape;751;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0" name="Google Shape;760;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0" name="Google Shape;770;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0" name="Google Shape;780;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0" name="Google Shape;790;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 name="Google Shape;800;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0" name="Google Shape;810;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0" name="Google Shape;820;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 name="Google Shape;832;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2" name="Google Shape;842;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2" name="Google Shape;852;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2" name="Google Shape;862;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2" name="Google Shape;872;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2" name="Google Shape;882;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2" name="Google Shape;892;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p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2" name="Google Shape;902;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2" name="Google Shape;912;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p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2" name="Google Shape;922;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2" name="Google Shape;932;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1" name="Google Shape;941;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0" name="Google Shape;950;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0" name="Google Shape;960;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0" name="Google Shape;970;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p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1" name="Google Shape;981;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2" name="Google Shape;992;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3" name="Google Shape;1003;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p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4" name="Google Shape;1014;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5" name="Google Shape;1025;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6" name="Google Shape;1036;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6" name="Google Shape;1046;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5" name="Google Shape;1055;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p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4" name="Google Shape;1064;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p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4" name="Google Shape;1074;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p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4" name="Google Shape;1084;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p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4" name="Google Shape;1094;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p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6" name="Google Shape;1106;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p1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7" name="Google Shape;1117;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p1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7" name="Google Shape;1127;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p1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7" name="Google Shape;1137;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1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8" name="Google Shape;1148;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p1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9" name="Google Shape;1159;p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p1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9" name="Google Shape;1169;p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p1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9" name="Google Shape;1179;p1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p1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9" name="Google Shape;1189;p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p1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0" name="Google Shape;1200;p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p1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0" name="Google Shape;1210;p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p1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9" name="Google Shape;1219;p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p1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8" name="Google Shape;1228;p1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p1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8" name="Google Shape;1238;p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p1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9" name="Google Shape;1249;p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p1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9" name="Google Shape;1259;p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p1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8" name="Google Shape;1268;p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p1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9" name="Google Shape;1279;p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p1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8" name="Google Shape;1288;p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p1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7" name="Google Shape;1297;p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p1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9" name="Google Shape;1319;p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p1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3" name="Google Shape;1343;p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p1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9" name="Google Shape;1369;p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p1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7" name="Google Shape;1397;p1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5" name="Shape 1425"/>
        <p:cNvGrpSpPr/>
        <p:nvPr/>
      </p:nvGrpSpPr>
      <p:grpSpPr>
        <a:xfrm>
          <a:off x="0" y="0"/>
          <a:ext cx="0" cy="0"/>
          <a:chOff x="0" y="0"/>
          <a:chExt cx="0" cy="0"/>
        </a:xfrm>
      </p:grpSpPr>
      <p:sp>
        <p:nvSpPr>
          <p:cNvPr id="1426" name="Google Shape;1426;p1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7" name="Google Shape;1427;p1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7" name="Shape 1457"/>
        <p:cNvGrpSpPr/>
        <p:nvPr/>
      </p:nvGrpSpPr>
      <p:grpSpPr>
        <a:xfrm>
          <a:off x="0" y="0"/>
          <a:ext cx="0" cy="0"/>
          <a:chOff x="0" y="0"/>
          <a:chExt cx="0" cy="0"/>
        </a:xfrm>
      </p:grpSpPr>
      <p:sp>
        <p:nvSpPr>
          <p:cNvPr id="1458" name="Google Shape;1458;p1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9" name="Google Shape;1459;p1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p1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3" name="Google Shape;1493;p1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7" name="Shape 1527"/>
        <p:cNvGrpSpPr/>
        <p:nvPr/>
      </p:nvGrpSpPr>
      <p:grpSpPr>
        <a:xfrm>
          <a:off x="0" y="0"/>
          <a:ext cx="0" cy="0"/>
          <a:chOff x="0" y="0"/>
          <a:chExt cx="0" cy="0"/>
        </a:xfrm>
      </p:grpSpPr>
      <p:sp>
        <p:nvSpPr>
          <p:cNvPr id="1528" name="Google Shape;1528;p1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9" name="Google Shape;1529;p1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p1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7" name="Google Shape;1567;p1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5" name="Shape 1605"/>
        <p:cNvGrpSpPr/>
        <p:nvPr/>
      </p:nvGrpSpPr>
      <p:grpSpPr>
        <a:xfrm>
          <a:off x="0" y="0"/>
          <a:ext cx="0" cy="0"/>
          <a:chOff x="0" y="0"/>
          <a:chExt cx="0" cy="0"/>
        </a:xfrm>
      </p:grpSpPr>
      <p:sp>
        <p:nvSpPr>
          <p:cNvPr id="1606" name="Google Shape;1606;p1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7" name="Google Shape;1607;p1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5" name="Shape 1615"/>
        <p:cNvGrpSpPr/>
        <p:nvPr/>
      </p:nvGrpSpPr>
      <p:grpSpPr>
        <a:xfrm>
          <a:off x="0" y="0"/>
          <a:ext cx="0" cy="0"/>
          <a:chOff x="0" y="0"/>
          <a:chExt cx="0" cy="0"/>
        </a:xfrm>
      </p:grpSpPr>
      <p:sp>
        <p:nvSpPr>
          <p:cNvPr id="1616" name="Google Shape;1616;p1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7" name="Google Shape;1617;p1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6" name="Shape 1626"/>
        <p:cNvGrpSpPr/>
        <p:nvPr/>
      </p:nvGrpSpPr>
      <p:grpSpPr>
        <a:xfrm>
          <a:off x="0" y="0"/>
          <a:ext cx="0" cy="0"/>
          <a:chOff x="0" y="0"/>
          <a:chExt cx="0" cy="0"/>
        </a:xfrm>
      </p:grpSpPr>
      <p:sp>
        <p:nvSpPr>
          <p:cNvPr id="1627" name="Google Shape;1627;p1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8" name="Google Shape;1628;p1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p1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7" name="Google Shape;1637;p1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p1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7" name="Google Shape;1647;p1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8" name="Shape 1658"/>
        <p:cNvGrpSpPr/>
        <p:nvPr/>
      </p:nvGrpSpPr>
      <p:grpSpPr>
        <a:xfrm>
          <a:off x="0" y="0"/>
          <a:ext cx="0" cy="0"/>
          <a:chOff x="0" y="0"/>
          <a:chExt cx="0" cy="0"/>
        </a:xfrm>
      </p:grpSpPr>
      <p:sp>
        <p:nvSpPr>
          <p:cNvPr id="1659" name="Google Shape;1659;p1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0" name="Google Shape;1660;p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5" name="Shape 1675"/>
        <p:cNvGrpSpPr/>
        <p:nvPr/>
      </p:nvGrpSpPr>
      <p:grpSpPr>
        <a:xfrm>
          <a:off x="0" y="0"/>
          <a:ext cx="0" cy="0"/>
          <a:chOff x="0" y="0"/>
          <a:chExt cx="0" cy="0"/>
        </a:xfrm>
      </p:grpSpPr>
      <p:sp>
        <p:nvSpPr>
          <p:cNvPr id="1676" name="Google Shape;1676;p1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7" name="Google Shape;1677;p1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1" name="Shape 1701"/>
        <p:cNvGrpSpPr/>
        <p:nvPr/>
      </p:nvGrpSpPr>
      <p:grpSpPr>
        <a:xfrm>
          <a:off x="0" y="0"/>
          <a:ext cx="0" cy="0"/>
          <a:chOff x="0" y="0"/>
          <a:chExt cx="0" cy="0"/>
        </a:xfrm>
      </p:grpSpPr>
      <p:sp>
        <p:nvSpPr>
          <p:cNvPr id="1702" name="Google Shape;1702;p1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3" name="Google Shape;1703;p1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7" name="Shape 1727"/>
        <p:cNvGrpSpPr/>
        <p:nvPr/>
      </p:nvGrpSpPr>
      <p:grpSpPr>
        <a:xfrm>
          <a:off x="0" y="0"/>
          <a:ext cx="0" cy="0"/>
          <a:chOff x="0" y="0"/>
          <a:chExt cx="0" cy="0"/>
        </a:xfrm>
      </p:grpSpPr>
      <p:sp>
        <p:nvSpPr>
          <p:cNvPr id="1728" name="Google Shape;1728;p1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9" name="Google Shape;1729;p1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6" name="Shape 1736"/>
        <p:cNvGrpSpPr/>
        <p:nvPr/>
      </p:nvGrpSpPr>
      <p:grpSpPr>
        <a:xfrm>
          <a:off x="0" y="0"/>
          <a:ext cx="0" cy="0"/>
          <a:chOff x="0" y="0"/>
          <a:chExt cx="0" cy="0"/>
        </a:xfrm>
      </p:grpSpPr>
      <p:sp>
        <p:nvSpPr>
          <p:cNvPr id="1737" name="Google Shape;1737;p1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8" name="Google Shape;1738;p1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4" name="Shape 1754"/>
        <p:cNvGrpSpPr/>
        <p:nvPr/>
      </p:nvGrpSpPr>
      <p:grpSpPr>
        <a:xfrm>
          <a:off x="0" y="0"/>
          <a:ext cx="0" cy="0"/>
          <a:chOff x="0" y="0"/>
          <a:chExt cx="0" cy="0"/>
        </a:xfrm>
      </p:grpSpPr>
      <p:sp>
        <p:nvSpPr>
          <p:cNvPr id="1755" name="Google Shape;1755;p1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6" name="Google Shape;1756;p1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4" name="Shape 1774"/>
        <p:cNvGrpSpPr/>
        <p:nvPr/>
      </p:nvGrpSpPr>
      <p:grpSpPr>
        <a:xfrm>
          <a:off x="0" y="0"/>
          <a:ext cx="0" cy="0"/>
          <a:chOff x="0" y="0"/>
          <a:chExt cx="0" cy="0"/>
        </a:xfrm>
      </p:grpSpPr>
      <p:sp>
        <p:nvSpPr>
          <p:cNvPr id="1775" name="Google Shape;1775;p1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6" name="Google Shape;1776;p1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6" name="Shape 1796"/>
        <p:cNvGrpSpPr/>
        <p:nvPr/>
      </p:nvGrpSpPr>
      <p:grpSpPr>
        <a:xfrm>
          <a:off x="0" y="0"/>
          <a:ext cx="0" cy="0"/>
          <a:chOff x="0" y="0"/>
          <a:chExt cx="0" cy="0"/>
        </a:xfrm>
      </p:grpSpPr>
      <p:sp>
        <p:nvSpPr>
          <p:cNvPr id="1797" name="Google Shape;1797;p1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8" name="Google Shape;1798;p1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0" name="Shape 1820"/>
        <p:cNvGrpSpPr/>
        <p:nvPr/>
      </p:nvGrpSpPr>
      <p:grpSpPr>
        <a:xfrm>
          <a:off x="0" y="0"/>
          <a:ext cx="0" cy="0"/>
          <a:chOff x="0" y="0"/>
          <a:chExt cx="0" cy="0"/>
        </a:xfrm>
      </p:grpSpPr>
      <p:sp>
        <p:nvSpPr>
          <p:cNvPr id="1821" name="Google Shape;1821;p1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2" name="Google Shape;1822;p1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3" name="Google Shape;1823;p1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p1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2" name="Google Shape;1832;p1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3" name="Google Shape;1833;p1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5" name="Shape 1845"/>
        <p:cNvGrpSpPr/>
        <p:nvPr/>
      </p:nvGrpSpPr>
      <p:grpSpPr>
        <a:xfrm>
          <a:off x="0" y="0"/>
          <a:ext cx="0" cy="0"/>
          <a:chOff x="0" y="0"/>
          <a:chExt cx="0" cy="0"/>
        </a:xfrm>
      </p:grpSpPr>
      <p:sp>
        <p:nvSpPr>
          <p:cNvPr id="1846" name="Google Shape;1846;p1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7" name="Google Shape;1847;p1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8" name="Google Shape;1848;p1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6" name="Shape 1866"/>
        <p:cNvGrpSpPr/>
        <p:nvPr/>
      </p:nvGrpSpPr>
      <p:grpSpPr>
        <a:xfrm>
          <a:off x="0" y="0"/>
          <a:ext cx="0" cy="0"/>
          <a:chOff x="0" y="0"/>
          <a:chExt cx="0" cy="0"/>
        </a:xfrm>
      </p:grpSpPr>
      <p:sp>
        <p:nvSpPr>
          <p:cNvPr id="1867" name="Google Shape;1867;p1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8" name="Google Shape;1868;p1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9" name="Google Shape;1869;p1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9" name="Shape 1889"/>
        <p:cNvGrpSpPr/>
        <p:nvPr/>
      </p:nvGrpSpPr>
      <p:grpSpPr>
        <a:xfrm>
          <a:off x="0" y="0"/>
          <a:ext cx="0" cy="0"/>
          <a:chOff x="0" y="0"/>
          <a:chExt cx="0" cy="0"/>
        </a:xfrm>
      </p:grpSpPr>
      <p:sp>
        <p:nvSpPr>
          <p:cNvPr id="1890" name="Google Shape;1890;p1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1" name="Google Shape;1891;p1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2" name="Google Shape;1892;p1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4" name="Shape 1914"/>
        <p:cNvGrpSpPr/>
        <p:nvPr/>
      </p:nvGrpSpPr>
      <p:grpSpPr>
        <a:xfrm>
          <a:off x="0" y="0"/>
          <a:ext cx="0" cy="0"/>
          <a:chOff x="0" y="0"/>
          <a:chExt cx="0" cy="0"/>
        </a:xfrm>
      </p:grpSpPr>
      <p:sp>
        <p:nvSpPr>
          <p:cNvPr id="1915" name="Google Shape;1915;p1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6" name="Google Shape;1916;p1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7" name="Google Shape;1917;p1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1" name="Shape 1941"/>
        <p:cNvGrpSpPr/>
        <p:nvPr/>
      </p:nvGrpSpPr>
      <p:grpSpPr>
        <a:xfrm>
          <a:off x="0" y="0"/>
          <a:ext cx="0" cy="0"/>
          <a:chOff x="0" y="0"/>
          <a:chExt cx="0" cy="0"/>
        </a:xfrm>
      </p:grpSpPr>
      <p:sp>
        <p:nvSpPr>
          <p:cNvPr id="1942" name="Google Shape;1942;p1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3" name="Google Shape;1943;p1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4" name="Google Shape;1944;p1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0" name="Shape 1970"/>
        <p:cNvGrpSpPr/>
        <p:nvPr/>
      </p:nvGrpSpPr>
      <p:grpSpPr>
        <a:xfrm>
          <a:off x="0" y="0"/>
          <a:ext cx="0" cy="0"/>
          <a:chOff x="0" y="0"/>
          <a:chExt cx="0" cy="0"/>
        </a:xfrm>
      </p:grpSpPr>
      <p:sp>
        <p:nvSpPr>
          <p:cNvPr id="1971" name="Google Shape;1971;p1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2" name="Google Shape;1972;p1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3" name="Google Shape;1973;p1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1" name="Shape 2001"/>
        <p:cNvGrpSpPr/>
        <p:nvPr/>
      </p:nvGrpSpPr>
      <p:grpSpPr>
        <a:xfrm>
          <a:off x="0" y="0"/>
          <a:ext cx="0" cy="0"/>
          <a:chOff x="0" y="0"/>
          <a:chExt cx="0" cy="0"/>
        </a:xfrm>
      </p:grpSpPr>
      <p:sp>
        <p:nvSpPr>
          <p:cNvPr id="2002" name="Google Shape;2002;p1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3" name="Google Shape;2003;p1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4" name="Google Shape;2004;p1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2" name="Shape 2032"/>
        <p:cNvGrpSpPr/>
        <p:nvPr/>
      </p:nvGrpSpPr>
      <p:grpSpPr>
        <a:xfrm>
          <a:off x="0" y="0"/>
          <a:ext cx="0" cy="0"/>
          <a:chOff x="0" y="0"/>
          <a:chExt cx="0" cy="0"/>
        </a:xfrm>
      </p:grpSpPr>
      <p:sp>
        <p:nvSpPr>
          <p:cNvPr id="2033" name="Google Shape;2033;p1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4" name="Google Shape;2034;p1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5" name="Google Shape;2035;p1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2" name="Shape 2042"/>
        <p:cNvGrpSpPr/>
        <p:nvPr/>
      </p:nvGrpSpPr>
      <p:grpSpPr>
        <a:xfrm>
          <a:off x="0" y="0"/>
          <a:ext cx="0" cy="0"/>
          <a:chOff x="0" y="0"/>
          <a:chExt cx="0" cy="0"/>
        </a:xfrm>
      </p:grpSpPr>
      <p:sp>
        <p:nvSpPr>
          <p:cNvPr id="2043" name="Google Shape;2043;p1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4" name="Google Shape;2044;p1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5" name="Google Shape;2045;p1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2" name="Shape 2052"/>
        <p:cNvGrpSpPr/>
        <p:nvPr/>
      </p:nvGrpSpPr>
      <p:grpSpPr>
        <a:xfrm>
          <a:off x="0" y="0"/>
          <a:ext cx="0" cy="0"/>
          <a:chOff x="0" y="0"/>
          <a:chExt cx="0" cy="0"/>
        </a:xfrm>
      </p:grpSpPr>
      <p:sp>
        <p:nvSpPr>
          <p:cNvPr id="2053" name="Google Shape;2053;p1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4" name="Google Shape;2054;p1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5" name="Google Shape;2055;p1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1" name="Shape 2061"/>
        <p:cNvGrpSpPr/>
        <p:nvPr/>
      </p:nvGrpSpPr>
      <p:grpSpPr>
        <a:xfrm>
          <a:off x="0" y="0"/>
          <a:ext cx="0" cy="0"/>
          <a:chOff x="0" y="0"/>
          <a:chExt cx="0" cy="0"/>
        </a:xfrm>
      </p:grpSpPr>
      <p:sp>
        <p:nvSpPr>
          <p:cNvPr id="2062" name="Google Shape;2062;p1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3" name="Google Shape;2063;p1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4" name="Google Shape;2064;p16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8" name="Shape 2088"/>
        <p:cNvGrpSpPr/>
        <p:nvPr/>
      </p:nvGrpSpPr>
      <p:grpSpPr>
        <a:xfrm>
          <a:off x="0" y="0"/>
          <a:ext cx="0" cy="0"/>
          <a:chOff x="0" y="0"/>
          <a:chExt cx="0" cy="0"/>
        </a:xfrm>
      </p:grpSpPr>
      <p:sp>
        <p:nvSpPr>
          <p:cNvPr id="2089" name="Google Shape;2089;p1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0" name="Google Shape;2090;p1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1" name="Google Shape;2091;p16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8" name="Shape 2098"/>
        <p:cNvGrpSpPr/>
        <p:nvPr/>
      </p:nvGrpSpPr>
      <p:grpSpPr>
        <a:xfrm>
          <a:off x="0" y="0"/>
          <a:ext cx="0" cy="0"/>
          <a:chOff x="0" y="0"/>
          <a:chExt cx="0" cy="0"/>
        </a:xfrm>
      </p:grpSpPr>
      <p:sp>
        <p:nvSpPr>
          <p:cNvPr id="2099" name="Google Shape;2099;p1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0" name="Google Shape;2100;p1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1" name="Google Shape;2101;p1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9" name="Shape 2109"/>
        <p:cNvGrpSpPr/>
        <p:nvPr/>
      </p:nvGrpSpPr>
      <p:grpSpPr>
        <a:xfrm>
          <a:off x="0" y="0"/>
          <a:ext cx="0" cy="0"/>
          <a:chOff x="0" y="0"/>
          <a:chExt cx="0" cy="0"/>
        </a:xfrm>
      </p:grpSpPr>
      <p:sp>
        <p:nvSpPr>
          <p:cNvPr id="2110" name="Google Shape;2110;p1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1" name="Google Shape;2111;p1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2" name="Google Shape;2112;p1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1" name="Shape 2121"/>
        <p:cNvGrpSpPr/>
        <p:nvPr/>
      </p:nvGrpSpPr>
      <p:grpSpPr>
        <a:xfrm>
          <a:off x="0" y="0"/>
          <a:ext cx="0" cy="0"/>
          <a:chOff x="0" y="0"/>
          <a:chExt cx="0" cy="0"/>
        </a:xfrm>
      </p:grpSpPr>
      <p:sp>
        <p:nvSpPr>
          <p:cNvPr id="2122" name="Google Shape;2122;p1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3" name="Google Shape;2123;p1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4" name="Google Shape;2124;p16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3" name="Shape 2133"/>
        <p:cNvGrpSpPr/>
        <p:nvPr/>
      </p:nvGrpSpPr>
      <p:grpSpPr>
        <a:xfrm>
          <a:off x="0" y="0"/>
          <a:ext cx="0" cy="0"/>
          <a:chOff x="0" y="0"/>
          <a:chExt cx="0" cy="0"/>
        </a:xfrm>
      </p:grpSpPr>
      <p:sp>
        <p:nvSpPr>
          <p:cNvPr id="2134" name="Google Shape;2134;p1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5" name="Google Shape;2135;p1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6" name="Google Shape;2136;p16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5" name="Shape 2145"/>
        <p:cNvGrpSpPr/>
        <p:nvPr/>
      </p:nvGrpSpPr>
      <p:grpSpPr>
        <a:xfrm>
          <a:off x="0" y="0"/>
          <a:ext cx="0" cy="0"/>
          <a:chOff x="0" y="0"/>
          <a:chExt cx="0" cy="0"/>
        </a:xfrm>
      </p:grpSpPr>
      <p:sp>
        <p:nvSpPr>
          <p:cNvPr id="2146" name="Google Shape;2146;p1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7" name="Google Shape;2147;p1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8" name="Google Shape;2148;p1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7" name="Shape 2157"/>
        <p:cNvGrpSpPr/>
        <p:nvPr/>
      </p:nvGrpSpPr>
      <p:grpSpPr>
        <a:xfrm>
          <a:off x="0" y="0"/>
          <a:ext cx="0" cy="0"/>
          <a:chOff x="0" y="0"/>
          <a:chExt cx="0" cy="0"/>
        </a:xfrm>
      </p:grpSpPr>
      <p:sp>
        <p:nvSpPr>
          <p:cNvPr id="2158" name="Google Shape;2158;p1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9" name="Google Shape;2159;p1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0" name="Google Shape;2160;p1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2" name="Shape 2172"/>
        <p:cNvGrpSpPr/>
        <p:nvPr/>
      </p:nvGrpSpPr>
      <p:grpSpPr>
        <a:xfrm>
          <a:off x="0" y="0"/>
          <a:ext cx="0" cy="0"/>
          <a:chOff x="0" y="0"/>
          <a:chExt cx="0" cy="0"/>
        </a:xfrm>
      </p:grpSpPr>
      <p:sp>
        <p:nvSpPr>
          <p:cNvPr id="2173" name="Google Shape;2173;p1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4" name="Google Shape;2174;p1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5" name="Google Shape;2175;p1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0" name="Shape 2190"/>
        <p:cNvGrpSpPr/>
        <p:nvPr/>
      </p:nvGrpSpPr>
      <p:grpSpPr>
        <a:xfrm>
          <a:off x="0" y="0"/>
          <a:ext cx="0" cy="0"/>
          <a:chOff x="0" y="0"/>
          <a:chExt cx="0" cy="0"/>
        </a:xfrm>
      </p:grpSpPr>
      <p:sp>
        <p:nvSpPr>
          <p:cNvPr id="2191" name="Google Shape;2191;p1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2" name="Google Shape;2192;p1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3" name="Google Shape;2193;p1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0" name="Shape 2200"/>
        <p:cNvGrpSpPr/>
        <p:nvPr/>
      </p:nvGrpSpPr>
      <p:grpSpPr>
        <a:xfrm>
          <a:off x="0" y="0"/>
          <a:ext cx="0" cy="0"/>
          <a:chOff x="0" y="0"/>
          <a:chExt cx="0" cy="0"/>
        </a:xfrm>
      </p:grpSpPr>
      <p:sp>
        <p:nvSpPr>
          <p:cNvPr id="2201" name="Google Shape;2201;p1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2" name="Google Shape;2202;p1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3" name="Google Shape;2203;p1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0" name="Shape 2210"/>
        <p:cNvGrpSpPr/>
        <p:nvPr/>
      </p:nvGrpSpPr>
      <p:grpSpPr>
        <a:xfrm>
          <a:off x="0" y="0"/>
          <a:ext cx="0" cy="0"/>
          <a:chOff x="0" y="0"/>
          <a:chExt cx="0" cy="0"/>
        </a:xfrm>
      </p:grpSpPr>
      <p:sp>
        <p:nvSpPr>
          <p:cNvPr id="2211" name="Google Shape;2211;p1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2" name="Google Shape;2212;p1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3" name="Google Shape;2213;p1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1" name="Shape 2231"/>
        <p:cNvGrpSpPr/>
        <p:nvPr/>
      </p:nvGrpSpPr>
      <p:grpSpPr>
        <a:xfrm>
          <a:off x="0" y="0"/>
          <a:ext cx="0" cy="0"/>
          <a:chOff x="0" y="0"/>
          <a:chExt cx="0" cy="0"/>
        </a:xfrm>
      </p:grpSpPr>
      <p:sp>
        <p:nvSpPr>
          <p:cNvPr id="2232" name="Google Shape;2232;p1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3" name="Google Shape;2233;p1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4" name="Google Shape;2234;p1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1" name="Shape 2241"/>
        <p:cNvGrpSpPr/>
        <p:nvPr/>
      </p:nvGrpSpPr>
      <p:grpSpPr>
        <a:xfrm>
          <a:off x="0" y="0"/>
          <a:ext cx="0" cy="0"/>
          <a:chOff x="0" y="0"/>
          <a:chExt cx="0" cy="0"/>
        </a:xfrm>
      </p:grpSpPr>
      <p:sp>
        <p:nvSpPr>
          <p:cNvPr id="2242" name="Google Shape;2242;p1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3" name="Google Shape;2243;p1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4" name="Google Shape;2244;p17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6" name="Shape 2276"/>
        <p:cNvGrpSpPr/>
        <p:nvPr/>
      </p:nvGrpSpPr>
      <p:grpSpPr>
        <a:xfrm>
          <a:off x="0" y="0"/>
          <a:ext cx="0" cy="0"/>
          <a:chOff x="0" y="0"/>
          <a:chExt cx="0" cy="0"/>
        </a:xfrm>
      </p:grpSpPr>
      <p:sp>
        <p:nvSpPr>
          <p:cNvPr id="2277" name="Google Shape;2277;p1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8" name="Google Shape;2278;p1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9" name="Google Shape;2279;p17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1" name="Shape 2311"/>
        <p:cNvGrpSpPr/>
        <p:nvPr/>
      </p:nvGrpSpPr>
      <p:grpSpPr>
        <a:xfrm>
          <a:off x="0" y="0"/>
          <a:ext cx="0" cy="0"/>
          <a:chOff x="0" y="0"/>
          <a:chExt cx="0" cy="0"/>
        </a:xfrm>
      </p:grpSpPr>
      <p:sp>
        <p:nvSpPr>
          <p:cNvPr id="2312" name="Google Shape;2312;p1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3" name="Google Shape;2313;p1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4" name="Google Shape;2314;p17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5" name="Shape 2335"/>
        <p:cNvGrpSpPr/>
        <p:nvPr/>
      </p:nvGrpSpPr>
      <p:grpSpPr>
        <a:xfrm>
          <a:off x="0" y="0"/>
          <a:ext cx="0" cy="0"/>
          <a:chOff x="0" y="0"/>
          <a:chExt cx="0" cy="0"/>
        </a:xfrm>
      </p:grpSpPr>
      <p:sp>
        <p:nvSpPr>
          <p:cNvPr id="2336" name="Google Shape;2336;p1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7" name="Google Shape;2337;p1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8" name="Google Shape;2338;p1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0" name="Shape 2360"/>
        <p:cNvGrpSpPr/>
        <p:nvPr/>
      </p:nvGrpSpPr>
      <p:grpSpPr>
        <a:xfrm>
          <a:off x="0" y="0"/>
          <a:ext cx="0" cy="0"/>
          <a:chOff x="0" y="0"/>
          <a:chExt cx="0" cy="0"/>
        </a:xfrm>
      </p:grpSpPr>
      <p:sp>
        <p:nvSpPr>
          <p:cNvPr id="2361" name="Google Shape;2361;p1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2" name="Google Shape;2362;p1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3" name="Google Shape;2363;p1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0" name="Shape 2370"/>
        <p:cNvGrpSpPr/>
        <p:nvPr/>
      </p:nvGrpSpPr>
      <p:grpSpPr>
        <a:xfrm>
          <a:off x="0" y="0"/>
          <a:ext cx="0" cy="0"/>
          <a:chOff x="0" y="0"/>
          <a:chExt cx="0" cy="0"/>
        </a:xfrm>
      </p:grpSpPr>
      <p:sp>
        <p:nvSpPr>
          <p:cNvPr id="2371" name="Google Shape;2371;p1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2" name="Google Shape;2372;p1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3" name="Google Shape;2373;p17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0" name="Shape 2380"/>
        <p:cNvGrpSpPr/>
        <p:nvPr/>
      </p:nvGrpSpPr>
      <p:grpSpPr>
        <a:xfrm>
          <a:off x="0" y="0"/>
          <a:ext cx="0" cy="0"/>
          <a:chOff x="0" y="0"/>
          <a:chExt cx="0" cy="0"/>
        </a:xfrm>
      </p:grpSpPr>
      <p:sp>
        <p:nvSpPr>
          <p:cNvPr id="2381" name="Google Shape;2381;p1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2" name="Google Shape;2382;p1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3" name="Google Shape;2383;p17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1" name="Shape 2391"/>
        <p:cNvGrpSpPr/>
        <p:nvPr/>
      </p:nvGrpSpPr>
      <p:grpSpPr>
        <a:xfrm>
          <a:off x="0" y="0"/>
          <a:ext cx="0" cy="0"/>
          <a:chOff x="0" y="0"/>
          <a:chExt cx="0" cy="0"/>
        </a:xfrm>
      </p:grpSpPr>
      <p:sp>
        <p:nvSpPr>
          <p:cNvPr id="2392" name="Google Shape;2392;p1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3" name="Google Shape;2393;p1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0" name="Shape 2400"/>
        <p:cNvGrpSpPr/>
        <p:nvPr/>
      </p:nvGrpSpPr>
      <p:grpSpPr>
        <a:xfrm>
          <a:off x="0" y="0"/>
          <a:ext cx="0" cy="0"/>
          <a:chOff x="0" y="0"/>
          <a:chExt cx="0" cy="0"/>
        </a:xfrm>
      </p:grpSpPr>
      <p:sp>
        <p:nvSpPr>
          <p:cNvPr id="2401" name="Google Shape;2401;p1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2" name="Google Shape;2402;p1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9" name="Shape 2409"/>
        <p:cNvGrpSpPr/>
        <p:nvPr/>
      </p:nvGrpSpPr>
      <p:grpSpPr>
        <a:xfrm>
          <a:off x="0" y="0"/>
          <a:ext cx="0" cy="0"/>
          <a:chOff x="0" y="0"/>
          <a:chExt cx="0" cy="0"/>
        </a:xfrm>
      </p:grpSpPr>
      <p:sp>
        <p:nvSpPr>
          <p:cNvPr id="2410" name="Google Shape;2410;p1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1" name="Google Shape;2411;p1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0" name="Shape 2420"/>
        <p:cNvGrpSpPr/>
        <p:nvPr/>
      </p:nvGrpSpPr>
      <p:grpSpPr>
        <a:xfrm>
          <a:off x="0" y="0"/>
          <a:ext cx="0" cy="0"/>
          <a:chOff x="0" y="0"/>
          <a:chExt cx="0" cy="0"/>
        </a:xfrm>
      </p:grpSpPr>
      <p:sp>
        <p:nvSpPr>
          <p:cNvPr id="2421" name="Google Shape;2421;p1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2" name="Google Shape;2422;p1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0" name="Shape 2430"/>
        <p:cNvGrpSpPr/>
        <p:nvPr/>
      </p:nvGrpSpPr>
      <p:grpSpPr>
        <a:xfrm>
          <a:off x="0" y="0"/>
          <a:ext cx="0" cy="0"/>
          <a:chOff x="0" y="0"/>
          <a:chExt cx="0" cy="0"/>
        </a:xfrm>
      </p:grpSpPr>
      <p:sp>
        <p:nvSpPr>
          <p:cNvPr id="2431" name="Google Shape;2431;p1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2" name="Google Shape;2432;p1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9" name="Shape 2439"/>
        <p:cNvGrpSpPr/>
        <p:nvPr/>
      </p:nvGrpSpPr>
      <p:grpSpPr>
        <a:xfrm>
          <a:off x="0" y="0"/>
          <a:ext cx="0" cy="0"/>
          <a:chOff x="0" y="0"/>
          <a:chExt cx="0" cy="0"/>
        </a:xfrm>
      </p:grpSpPr>
      <p:sp>
        <p:nvSpPr>
          <p:cNvPr id="2440" name="Google Shape;2440;p1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1" name="Google Shape;2441;p1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8" name="Shape 2448"/>
        <p:cNvGrpSpPr/>
        <p:nvPr/>
      </p:nvGrpSpPr>
      <p:grpSpPr>
        <a:xfrm>
          <a:off x="0" y="0"/>
          <a:ext cx="0" cy="0"/>
          <a:chOff x="0" y="0"/>
          <a:chExt cx="0" cy="0"/>
        </a:xfrm>
      </p:grpSpPr>
      <p:sp>
        <p:nvSpPr>
          <p:cNvPr id="2449" name="Google Shape;2449;p1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0" name="Google Shape;2450;p1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7" name="Shape 2457"/>
        <p:cNvGrpSpPr/>
        <p:nvPr/>
      </p:nvGrpSpPr>
      <p:grpSpPr>
        <a:xfrm>
          <a:off x="0" y="0"/>
          <a:ext cx="0" cy="0"/>
          <a:chOff x="0" y="0"/>
          <a:chExt cx="0" cy="0"/>
        </a:xfrm>
      </p:grpSpPr>
      <p:sp>
        <p:nvSpPr>
          <p:cNvPr id="2458" name="Google Shape;2458;p1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9" name="Google Shape;2459;p1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9" name="Shape 2469"/>
        <p:cNvGrpSpPr/>
        <p:nvPr/>
      </p:nvGrpSpPr>
      <p:grpSpPr>
        <a:xfrm>
          <a:off x="0" y="0"/>
          <a:ext cx="0" cy="0"/>
          <a:chOff x="0" y="0"/>
          <a:chExt cx="0" cy="0"/>
        </a:xfrm>
      </p:grpSpPr>
      <p:sp>
        <p:nvSpPr>
          <p:cNvPr id="2470" name="Google Shape;2470;p1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1" name="Google Shape;2471;p1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1" name="Shape 2481"/>
        <p:cNvGrpSpPr/>
        <p:nvPr/>
      </p:nvGrpSpPr>
      <p:grpSpPr>
        <a:xfrm>
          <a:off x="0" y="0"/>
          <a:ext cx="0" cy="0"/>
          <a:chOff x="0" y="0"/>
          <a:chExt cx="0" cy="0"/>
        </a:xfrm>
      </p:grpSpPr>
      <p:sp>
        <p:nvSpPr>
          <p:cNvPr id="2482" name="Google Shape;2482;p1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3" name="Google Shape;2483;p1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7" name="Shape 2497"/>
        <p:cNvGrpSpPr/>
        <p:nvPr/>
      </p:nvGrpSpPr>
      <p:grpSpPr>
        <a:xfrm>
          <a:off x="0" y="0"/>
          <a:ext cx="0" cy="0"/>
          <a:chOff x="0" y="0"/>
          <a:chExt cx="0" cy="0"/>
        </a:xfrm>
      </p:grpSpPr>
      <p:sp>
        <p:nvSpPr>
          <p:cNvPr id="2498" name="Google Shape;2498;p1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9" name="Google Shape;2499;p1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5" name="Shape 2505"/>
        <p:cNvGrpSpPr/>
        <p:nvPr/>
      </p:nvGrpSpPr>
      <p:grpSpPr>
        <a:xfrm>
          <a:off x="0" y="0"/>
          <a:ext cx="0" cy="0"/>
          <a:chOff x="0" y="0"/>
          <a:chExt cx="0" cy="0"/>
        </a:xfrm>
      </p:grpSpPr>
      <p:sp>
        <p:nvSpPr>
          <p:cNvPr id="2506" name="Google Shape;2506;p1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7" name="Google Shape;2507;p1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8" name="Shape 2528"/>
        <p:cNvGrpSpPr/>
        <p:nvPr/>
      </p:nvGrpSpPr>
      <p:grpSpPr>
        <a:xfrm>
          <a:off x="0" y="0"/>
          <a:ext cx="0" cy="0"/>
          <a:chOff x="0" y="0"/>
          <a:chExt cx="0" cy="0"/>
        </a:xfrm>
      </p:grpSpPr>
      <p:sp>
        <p:nvSpPr>
          <p:cNvPr id="2529" name="Google Shape;2529;p1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0" name="Google Shape;2530;p1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0" name="Shape 2560"/>
        <p:cNvGrpSpPr/>
        <p:nvPr/>
      </p:nvGrpSpPr>
      <p:grpSpPr>
        <a:xfrm>
          <a:off x="0" y="0"/>
          <a:ext cx="0" cy="0"/>
          <a:chOff x="0" y="0"/>
          <a:chExt cx="0" cy="0"/>
        </a:xfrm>
      </p:grpSpPr>
      <p:sp>
        <p:nvSpPr>
          <p:cNvPr id="2561" name="Google Shape;2561;p1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2" name="Google Shape;2562;p1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3" name="Google Shape;2563;p19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1" name="Shape 2571"/>
        <p:cNvGrpSpPr/>
        <p:nvPr/>
      </p:nvGrpSpPr>
      <p:grpSpPr>
        <a:xfrm>
          <a:off x="0" y="0"/>
          <a:ext cx="0" cy="0"/>
          <a:chOff x="0" y="0"/>
          <a:chExt cx="0" cy="0"/>
        </a:xfrm>
      </p:grpSpPr>
      <p:sp>
        <p:nvSpPr>
          <p:cNvPr id="2572" name="Google Shape;2572;p1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3" name="Google Shape;2573;p1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0" name="Shape 2580"/>
        <p:cNvGrpSpPr/>
        <p:nvPr/>
      </p:nvGrpSpPr>
      <p:grpSpPr>
        <a:xfrm>
          <a:off x="0" y="0"/>
          <a:ext cx="0" cy="0"/>
          <a:chOff x="0" y="0"/>
          <a:chExt cx="0" cy="0"/>
        </a:xfrm>
      </p:grpSpPr>
      <p:sp>
        <p:nvSpPr>
          <p:cNvPr id="2581" name="Google Shape;2581;p1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2" name="Google Shape;2582;p1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9" name="Shape 2589"/>
        <p:cNvGrpSpPr/>
        <p:nvPr/>
      </p:nvGrpSpPr>
      <p:grpSpPr>
        <a:xfrm>
          <a:off x="0" y="0"/>
          <a:ext cx="0" cy="0"/>
          <a:chOff x="0" y="0"/>
          <a:chExt cx="0" cy="0"/>
        </a:xfrm>
      </p:grpSpPr>
      <p:sp>
        <p:nvSpPr>
          <p:cNvPr id="2590" name="Google Shape;2590;p1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1" name="Google Shape;2591;p1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8" name="Shape 2598"/>
        <p:cNvGrpSpPr/>
        <p:nvPr/>
      </p:nvGrpSpPr>
      <p:grpSpPr>
        <a:xfrm>
          <a:off x="0" y="0"/>
          <a:ext cx="0" cy="0"/>
          <a:chOff x="0" y="0"/>
          <a:chExt cx="0" cy="0"/>
        </a:xfrm>
      </p:grpSpPr>
      <p:sp>
        <p:nvSpPr>
          <p:cNvPr id="2599" name="Google Shape;2599;p1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0" name="Google Shape;2600;p1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7" name="Shape 2607"/>
        <p:cNvGrpSpPr/>
        <p:nvPr/>
      </p:nvGrpSpPr>
      <p:grpSpPr>
        <a:xfrm>
          <a:off x="0" y="0"/>
          <a:ext cx="0" cy="0"/>
          <a:chOff x="0" y="0"/>
          <a:chExt cx="0" cy="0"/>
        </a:xfrm>
      </p:grpSpPr>
      <p:sp>
        <p:nvSpPr>
          <p:cNvPr id="2608" name="Google Shape;2608;p1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9" name="Google Shape;2609;p1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8" name="Shape 2618"/>
        <p:cNvGrpSpPr/>
        <p:nvPr/>
      </p:nvGrpSpPr>
      <p:grpSpPr>
        <a:xfrm>
          <a:off x="0" y="0"/>
          <a:ext cx="0" cy="0"/>
          <a:chOff x="0" y="0"/>
          <a:chExt cx="0" cy="0"/>
        </a:xfrm>
      </p:grpSpPr>
      <p:sp>
        <p:nvSpPr>
          <p:cNvPr id="2619" name="Google Shape;2619;p1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0" name="Google Shape;2620;p1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8" name="Shape 2628"/>
        <p:cNvGrpSpPr/>
        <p:nvPr/>
      </p:nvGrpSpPr>
      <p:grpSpPr>
        <a:xfrm>
          <a:off x="0" y="0"/>
          <a:ext cx="0" cy="0"/>
          <a:chOff x="0" y="0"/>
          <a:chExt cx="0" cy="0"/>
        </a:xfrm>
      </p:grpSpPr>
      <p:sp>
        <p:nvSpPr>
          <p:cNvPr id="2629" name="Google Shape;2629;p2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0" name="Google Shape;2630;p2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8" name="Shape 2638"/>
        <p:cNvGrpSpPr/>
        <p:nvPr/>
      </p:nvGrpSpPr>
      <p:grpSpPr>
        <a:xfrm>
          <a:off x="0" y="0"/>
          <a:ext cx="0" cy="0"/>
          <a:chOff x="0" y="0"/>
          <a:chExt cx="0" cy="0"/>
        </a:xfrm>
      </p:grpSpPr>
      <p:sp>
        <p:nvSpPr>
          <p:cNvPr id="2639" name="Google Shape;2639;p2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0" name="Google Shape;2640;p2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8" name="Shape 2648"/>
        <p:cNvGrpSpPr/>
        <p:nvPr/>
      </p:nvGrpSpPr>
      <p:grpSpPr>
        <a:xfrm>
          <a:off x="0" y="0"/>
          <a:ext cx="0" cy="0"/>
          <a:chOff x="0" y="0"/>
          <a:chExt cx="0" cy="0"/>
        </a:xfrm>
      </p:grpSpPr>
      <p:sp>
        <p:nvSpPr>
          <p:cNvPr id="2649" name="Google Shape;2649;p2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0" name="Google Shape;2650;p2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0" name="Shape 2660"/>
        <p:cNvGrpSpPr/>
        <p:nvPr/>
      </p:nvGrpSpPr>
      <p:grpSpPr>
        <a:xfrm>
          <a:off x="0" y="0"/>
          <a:ext cx="0" cy="0"/>
          <a:chOff x="0" y="0"/>
          <a:chExt cx="0" cy="0"/>
        </a:xfrm>
      </p:grpSpPr>
      <p:sp>
        <p:nvSpPr>
          <p:cNvPr id="2661" name="Google Shape;2661;p2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2" name="Google Shape;2662;p2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7" name="Shape 2697"/>
        <p:cNvGrpSpPr/>
        <p:nvPr/>
      </p:nvGrpSpPr>
      <p:grpSpPr>
        <a:xfrm>
          <a:off x="0" y="0"/>
          <a:ext cx="0" cy="0"/>
          <a:chOff x="0" y="0"/>
          <a:chExt cx="0" cy="0"/>
        </a:xfrm>
      </p:grpSpPr>
      <p:sp>
        <p:nvSpPr>
          <p:cNvPr id="2698" name="Google Shape;2698;p2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9" name="Google Shape;2699;p2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0" name="Google Shape;2700;p20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0" name="Shape 2710"/>
        <p:cNvGrpSpPr/>
        <p:nvPr/>
      </p:nvGrpSpPr>
      <p:grpSpPr>
        <a:xfrm>
          <a:off x="0" y="0"/>
          <a:ext cx="0" cy="0"/>
          <a:chOff x="0" y="0"/>
          <a:chExt cx="0" cy="0"/>
        </a:xfrm>
      </p:grpSpPr>
      <p:sp>
        <p:nvSpPr>
          <p:cNvPr id="2711" name="Google Shape;2711;p2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2" name="Google Shape;2712;p2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3" name="Google Shape;2713;p20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3" name="Shape 2723"/>
        <p:cNvGrpSpPr/>
        <p:nvPr/>
      </p:nvGrpSpPr>
      <p:grpSpPr>
        <a:xfrm>
          <a:off x="0" y="0"/>
          <a:ext cx="0" cy="0"/>
          <a:chOff x="0" y="0"/>
          <a:chExt cx="0" cy="0"/>
        </a:xfrm>
      </p:grpSpPr>
      <p:sp>
        <p:nvSpPr>
          <p:cNvPr id="2724" name="Google Shape;2724;p2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5" name="Google Shape;2725;p2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6" name="Google Shape;2726;p20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0" name="Shape 2740"/>
        <p:cNvGrpSpPr/>
        <p:nvPr/>
      </p:nvGrpSpPr>
      <p:grpSpPr>
        <a:xfrm>
          <a:off x="0" y="0"/>
          <a:ext cx="0" cy="0"/>
          <a:chOff x="0" y="0"/>
          <a:chExt cx="0" cy="0"/>
        </a:xfrm>
      </p:grpSpPr>
      <p:sp>
        <p:nvSpPr>
          <p:cNvPr id="2741" name="Google Shape;2741;p2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2" name="Google Shape;2742;p2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3" name="Google Shape;2743;p20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1" name="Shape 2781"/>
        <p:cNvGrpSpPr/>
        <p:nvPr/>
      </p:nvGrpSpPr>
      <p:grpSpPr>
        <a:xfrm>
          <a:off x="0" y="0"/>
          <a:ext cx="0" cy="0"/>
          <a:chOff x="0" y="0"/>
          <a:chExt cx="0" cy="0"/>
        </a:xfrm>
      </p:grpSpPr>
      <p:sp>
        <p:nvSpPr>
          <p:cNvPr id="2782" name="Google Shape;2782;p2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3" name="Google Shape;2783;p2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4" name="Google Shape;2784;p20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4" name="Shape 2794"/>
        <p:cNvGrpSpPr/>
        <p:nvPr/>
      </p:nvGrpSpPr>
      <p:grpSpPr>
        <a:xfrm>
          <a:off x="0" y="0"/>
          <a:ext cx="0" cy="0"/>
          <a:chOff x="0" y="0"/>
          <a:chExt cx="0" cy="0"/>
        </a:xfrm>
      </p:grpSpPr>
      <p:sp>
        <p:nvSpPr>
          <p:cNvPr id="2795" name="Google Shape;2795;p2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6" name="Google Shape;2796;p2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7" name="Google Shape;2797;p20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7" name="Shape 2807"/>
        <p:cNvGrpSpPr/>
        <p:nvPr/>
      </p:nvGrpSpPr>
      <p:grpSpPr>
        <a:xfrm>
          <a:off x="0" y="0"/>
          <a:ext cx="0" cy="0"/>
          <a:chOff x="0" y="0"/>
          <a:chExt cx="0" cy="0"/>
        </a:xfrm>
      </p:grpSpPr>
      <p:sp>
        <p:nvSpPr>
          <p:cNvPr id="2808" name="Google Shape;2808;p2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9" name="Google Shape;2809;p2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0" name="Google Shape;2810;p2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0" name="Shape 2820"/>
        <p:cNvGrpSpPr/>
        <p:nvPr/>
      </p:nvGrpSpPr>
      <p:grpSpPr>
        <a:xfrm>
          <a:off x="0" y="0"/>
          <a:ext cx="0" cy="0"/>
          <a:chOff x="0" y="0"/>
          <a:chExt cx="0" cy="0"/>
        </a:xfrm>
      </p:grpSpPr>
      <p:sp>
        <p:nvSpPr>
          <p:cNvPr id="2821" name="Google Shape;2821;p2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2" name="Google Shape;2822;p2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3" name="Google Shape;2823;p2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3" name="Shape 2833"/>
        <p:cNvGrpSpPr/>
        <p:nvPr/>
      </p:nvGrpSpPr>
      <p:grpSpPr>
        <a:xfrm>
          <a:off x="0" y="0"/>
          <a:ext cx="0" cy="0"/>
          <a:chOff x="0" y="0"/>
          <a:chExt cx="0" cy="0"/>
        </a:xfrm>
      </p:grpSpPr>
      <p:sp>
        <p:nvSpPr>
          <p:cNvPr id="2834" name="Google Shape;2834;p2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5" name="Google Shape;2835;p2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3" name="Shape 2843"/>
        <p:cNvGrpSpPr/>
        <p:nvPr/>
      </p:nvGrpSpPr>
      <p:grpSpPr>
        <a:xfrm>
          <a:off x="0" y="0"/>
          <a:ext cx="0" cy="0"/>
          <a:chOff x="0" y="0"/>
          <a:chExt cx="0" cy="0"/>
        </a:xfrm>
      </p:grpSpPr>
      <p:sp>
        <p:nvSpPr>
          <p:cNvPr id="2844" name="Google Shape;2844;p2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5" name="Google Shape;2845;p2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3" name="Shape 2853"/>
        <p:cNvGrpSpPr/>
        <p:nvPr/>
      </p:nvGrpSpPr>
      <p:grpSpPr>
        <a:xfrm>
          <a:off x="0" y="0"/>
          <a:ext cx="0" cy="0"/>
          <a:chOff x="0" y="0"/>
          <a:chExt cx="0" cy="0"/>
        </a:xfrm>
      </p:grpSpPr>
      <p:sp>
        <p:nvSpPr>
          <p:cNvPr id="2854" name="Google Shape;2854;p2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5" name="Google Shape;2855;p2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2" name="Shape 2862"/>
        <p:cNvGrpSpPr/>
        <p:nvPr/>
      </p:nvGrpSpPr>
      <p:grpSpPr>
        <a:xfrm>
          <a:off x="0" y="0"/>
          <a:ext cx="0" cy="0"/>
          <a:chOff x="0" y="0"/>
          <a:chExt cx="0" cy="0"/>
        </a:xfrm>
      </p:grpSpPr>
      <p:sp>
        <p:nvSpPr>
          <p:cNvPr id="2863" name="Google Shape;2863;p2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4" name="Google Shape;2864;p2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1" name="Shape 2871"/>
        <p:cNvGrpSpPr/>
        <p:nvPr/>
      </p:nvGrpSpPr>
      <p:grpSpPr>
        <a:xfrm>
          <a:off x="0" y="0"/>
          <a:ext cx="0" cy="0"/>
          <a:chOff x="0" y="0"/>
          <a:chExt cx="0" cy="0"/>
        </a:xfrm>
      </p:grpSpPr>
      <p:sp>
        <p:nvSpPr>
          <p:cNvPr id="2872" name="Google Shape;2872;p2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3" name="Google Shape;2873;p2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0" name="Shape 2880"/>
        <p:cNvGrpSpPr/>
        <p:nvPr/>
      </p:nvGrpSpPr>
      <p:grpSpPr>
        <a:xfrm>
          <a:off x="0" y="0"/>
          <a:ext cx="0" cy="0"/>
          <a:chOff x="0" y="0"/>
          <a:chExt cx="0" cy="0"/>
        </a:xfrm>
      </p:grpSpPr>
      <p:sp>
        <p:nvSpPr>
          <p:cNvPr id="2881" name="Google Shape;2881;p2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2" name="Google Shape;2882;p2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0" name="Shape 2890"/>
        <p:cNvGrpSpPr/>
        <p:nvPr/>
      </p:nvGrpSpPr>
      <p:grpSpPr>
        <a:xfrm>
          <a:off x="0" y="0"/>
          <a:ext cx="0" cy="0"/>
          <a:chOff x="0" y="0"/>
          <a:chExt cx="0" cy="0"/>
        </a:xfrm>
      </p:grpSpPr>
      <p:sp>
        <p:nvSpPr>
          <p:cNvPr id="2891" name="Google Shape;2891;p2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2" name="Google Shape;2892;p2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9" name="Shape 2899"/>
        <p:cNvGrpSpPr/>
        <p:nvPr/>
      </p:nvGrpSpPr>
      <p:grpSpPr>
        <a:xfrm>
          <a:off x="0" y="0"/>
          <a:ext cx="0" cy="0"/>
          <a:chOff x="0" y="0"/>
          <a:chExt cx="0" cy="0"/>
        </a:xfrm>
      </p:grpSpPr>
      <p:sp>
        <p:nvSpPr>
          <p:cNvPr id="2900" name="Google Shape;2900;p2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1" name="Google Shape;2901;p2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7" name="Shape 2907"/>
        <p:cNvGrpSpPr/>
        <p:nvPr/>
      </p:nvGrpSpPr>
      <p:grpSpPr>
        <a:xfrm>
          <a:off x="0" y="0"/>
          <a:ext cx="0" cy="0"/>
          <a:chOff x="0" y="0"/>
          <a:chExt cx="0" cy="0"/>
        </a:xfrm>
      </p:grpSpPr>
      <p:sp>
        <p:nvSpPr>
          <p:cNvPr id="2908" name="Google Shape;2908;p2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9" name="Google Shape;2909;p2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5" name="Shape 2915"/>
        <p:cNvGrpSpPr/>
        <p:nvPr/>
      </p:nvGrpSpPr>
      <p:grpSpPr>
        <a:xfrm>
          <a:off x="0" y="0"/>
          <a:ext cx="0" cy="0"/>
          <a:chOff x="0" y="0"/>
          <a:chExt cx="0" cy="0"/>
        </a:xfrm>
      </p:grpSpPr>
      <p:sp>
        <p:nvSpPr>
          <p:cNvPr id="2916" name="Google Shape;2916;p2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7" name="Google Shape;2917;p2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3" name="Shape 2923"/>
        <p:cNvGrpSpPr/>
        <p:nvPr/>
      </p:nvGrpSpPr>
      <p:grpSpPr>
        <a:xfrm>
          <a:off x="0" y="0"/>
          <a:ext cx="0" cy="0"/>
          <a:chOff x="0" y="0"/>
          <a:chExt cx="0" cy="0"/>
        </a:xfrm>
      </p:grpSpPr>
      <p:sp>
        <p:nvSpPr>
          <p:cNvPr id="2924" name="Google Shape;2924;p2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5" name="Google Shape;2925;p2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1" name="Shape 2931"/>
        <p:cNvGrpSpPr/>
        <p:nvPr/>
      </p:nvGrpSpPr>
      <p:grpSpPr>
        <a:xfrm>
          <a:off x="0" y="0"/>
          <a:ext cx="0" cy="0"/>
          <a:chOff x="0" y="0"/>
          <a:chExt cx="0" cy="0"/>
        </a:xfrm>
      </p:grpSpPr>
      <p:sp>
        <p:nvSpPr>
          <p:cNvPr id="2932" name="Google Shape;2932;p2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3" name="Google Shape;2933;p2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9" name="Shape 2939"/>
        <p:cNvGrpSpPr/>
        <p:nvPr/>
      </p:nvGrpSpPr>
      <p:grpSpPr>
        <a:xfrm>
          <a:off x="0" y="0"/>
          <a:ext cx="0" cy="0"/>
          <a:chOff x="0" y="0"/>
          <a:chExt cx="0" cy="0"/>
        </a:xfrm>
      </p:grpSpPr>
      <p:sp>
        <p:nvSpPr>
          <p:cNvPr id="2940" name="Google Shape;2940;p2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1" name="Google Shape;2941;p2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2" name="Google Shape;2942;p2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6" name="Shape 2946"/>
        <p:cNvGrpSpPr/>
        <p:nvPr/>
      </p:nvGrpSpPr>
      <p:grpSpPr>
        <a:xfrm>
          <a:off x="0" y="0"/>
          <a:ext cx="0" cy="0"/>
          <a:chOff x="0" y="0"/>
          <a:chExt cx="0" cy="0"/>
        </a:xfrm>
      </p:grpSpPr>
      <p:sp>
        <p:nvSpPr>
          <p:cNvPr id="2947" name="Google Shape;2947;p2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8" name="Google Shape;2948;p2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7" name="Shape 2957"/>
        <p:cNvGrpSpPr/>
        <p:nvPr/>
      </p:nvGrpSpPr>
      <p:grpSpPr>
        <a:xfrm>
          <a:off x="0" y="0"/>
          <a:ext cx="0" cy="0"/>
          <a:chOff x="0" y="0"/>
          <a:chExt cx="0" cy="0"/>
        </a:xfrm>
      </p:grpSpPr>
      <p:sp>
        <p:nvSpPr>
          <p:cNvPr id="2958" name="Google Shape;2958;p2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9" name="Google Shape;2959;p2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0" name="Google Shape;2960;p2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7" name="Shape 2967"/>
        <p:cNvGrpSpPr/>
        <p:nvPr/>
      </p:nvGrpSpPr>
      <p:grpSpPr>
        <a:xfrm>
          <a:off x="0" y="0"/>
          <a:ext cx="0" cy="0"/>
          <a:chOff x="0" y="0"/>
          <a:chExt cx="0" cy="0"/>
        </a:xfrm>
      </p:grpSpPr>
      <p:sp>
        <p:nvSpPr>
          <p:cNvPr id="2968" name="Google Shape;2968;p2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9" name="Google Shape;2969;p2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6" name="Shape 2976"/>
        <p:cNvGrpSpPr/>
        <p:nvPr/>
      </p:nvGrpSpPr>
      <p:grpSpPr>
        <a:xfrm>
          <a:off x="0" y="0"/>
          <a:ext cx="0" cy="0"/>
          <a:chOff x="0" y="0"/>
          <a:chExt cx="0" cy="0"/>
        </a:xfrm>
      </p:grpSpPr>
      <p:sp>
        <p:nvSpPr>
          <p:cNvPr id="2977" name="Google Shape;2977;p2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8" name="Google Shape;2978;p2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5" name="Shape 2985"/>
        <p:cNvGrpSpPr/>
        <p:nvPr/>
      </p:nvGrpSpPr>
      <p:grpSpPr>
        <a:xfrm>
          <a:off x="0" y="0"/>
          <a:ext cx="0" cy="0"/>
          <a:chOff x="0" y="0"/>
          <a:chExt cx="0" cy="0"/>
        </a:xfrm>
      </p:grpSpPr>
      <p:sp>
        <p:nvSpPr>
          <p:cNvPr id="2986" name="Google Shape;2986;p2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7" name="Google Shape;2987;p2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4" name="Shape 2994"/>
        <p:cNvGrpSpPr/>
        <p:nvPr/>
      </p:nvGrpSpPr>
      <p:grpSpPr>
        <a:xfrm>
          <a:off x="0" y="0"/>
          <a:ext cx="0" cy="0"/>
          <a:chOff x="0" y="0"/>
          <a:chExt cx="0" cy="0"/>
        </a:xfrm>
      </p:grpSpPr>
      <p:sp>
        <p:nvSpPr>
          <p:cNvPr id="2995" name="Google Shape;2995;p2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6" name="Google Shape;2996;p2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3" name="Shape 3003"/>
        <p:cNvGrpSpPr/>
        <p:nvPr/>
      </p:nvGrpSpPr>
      <p:grpSpPr>
        <a:xfrm>
          <a:off x="0" y="0"/>
          <a:ext cx="0" cy="0"/>
          <a:chOff x="0" y="0"/>
          <a:chExt cx="0" cy="0"/>
        </a:xfrm>
      </p:grpSpPr>
      <p:sp>
        <p:nvSpPr>
          <p:cNvPr id="3004" name="Google Shape;3004;p2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5" name="Google Shape;3005;p2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2" name="Shape 3012"/>
        <p:cNvGrpSpPr/>
        <p:nvPr/>
      </p:nvGrpSpPr>
      <p:grpSpPr>
        <a:xfrm>
          <a:off x="0" y="0"/>
          <a:ext cx="0" cy="0"/>
          <a:chOff x="0" y="0"/>
          <a:chExt cx="0" cy="0"/>
        </a:xfrm>
      </p:grpSpPr>
      <p:sp>
        <p:nvSpPr>
          <p:cNvPr id="3013" name="Google Shape;3013;p2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4" name="Google Shape;3014;p2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1" name="Shape 3021"/>
        <p:cNvGrpSpPr/>
        <p:nvPr/>
      </p:nvGrpSpPr>
      <p:grpSpPr>
        <a:xfrm>
          <a:off x="0" y="0"/>
          <a:ext cx="0" cy="0"/>
          <a:chOff x="0" y="0"/>
          <a:chExt cx="0" cy="0"/>
        </a:xfrm>
      </p:grpSpPr>
      <p:sp>
        <p:nvSpPr>
          <p:cNvPr id="3022" name="Google Shape;3022;p2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3" name="Google Shape;3023;p2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0" name="Shape 3030"/>
        <p:cNvGrpSpPr/>
        <p:nvPr/>
      </p:nvGrpSpPr>
      <p:grpSpPr>
        <a:xfrm>
          <a:off x="0" y="0"/>
          <a:ext cx="0" cy="0"/>
          <a:chOff x="0" y="0"/>
          <a:chExt cx="0" cy="0"/>
        </a:xfrm>
      </p:grpSpPr>
      <p:sp>
        <p:nvSpPr>
          <p:cNvPr id="3031" name="Google Shape;3031;p2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2" name="Google Shape;3032;p2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9" name="Shape 3039"/>
        <p:cNvGrpSpPr/>
        <p:nvPr/>
      </p:nvGrpSpPr>
      <p:grpSpPr>
        <a:xfrm>
          <a:off x="0" y="0"/>
          <a:ext cx="0" cy="0"/>
          <a:chOff x="0" y="0"/>
          <a:chExt cx="0" cy="0"/>
        </a:xfrm>
      </p:grpSpPr>
      <p:sp>
        <p:nvSpPr>
          <p:cNvPr id="3040" name="Google Shape;3040;p2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1" name="Google Shape;3041;p2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8" name="Shape 3048"/>
        <p:cNvGrpSpPr/>
        <p:nvPr/>
      </p:nvGrpSpPr>
      <p:grpSpPr>
        <a:xfrm>
          <a:off x="0" y="0"/>
          <a:ext cx="0" cy="0"/>
          <a:chOff x="0" y="0"/>
          <a:chExt cx="0" cy="0"/>
        </a:xfrm>
      </p:grpSpPr>
      <p:sp>
        <p:nvSpPr>
          <p:cNvPr id="3049" name="Google Shape;3049;p2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0" name="Google Shape;3050;p2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8" name="Shape 3058"/>
        <p:cNvGrpSpPr/>
        <p:nvPr/>
      </p:nvGrpSpPr>
      <p:grpSpPr>
        <a:xfrm>
          <a:off x="0" y="0"/>
          <a:ext cx="0" cy="0"/>
          <a:chOff x="0" y="0"/>
          <a:chExt cx="0" cy="0"/>
        </a:xfrm>
      </p:grpSpPr>
      <p:sp>
        <p:nvSpPr>
          <p:cNvPr id="3059" name="Google Shape;3059;p2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0" name="Google Shape;3060;p2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7" name="Shape 3067"/>
        <p:cNvGrpSpPr/>
        <p:nvPr/>
      </p:nvGrpSpPr>
      <p:grpSpPr>
        <a:xfrm>
          <a:off x="0" y="0"/>
          <a:ext cx="0" cy="0"/>
          <a:chOff x="0" y="0"/>
          <a:chExt cx="0" cy="0"/>
        </a:xfrm>
      </p:grpSpPr>
      <p:sp>
        <p:nvSpPr>
          <p:cNvPr id="3068" name="Google Shape;3068;p2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9" name="Google Shape;3069;p2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6" name="Shape 3076"/>
        <p:cNvGrpSpPr/>
        <p:nvPr/>
      </p:nvGrpSpPr>
      <p:grpSpPr>
        <a:xfrm>
          <a:off x="0" y="0"/>
          <a:ext cx="0" cy="0"/>
          <a:chOff x="0" y="0"/>
          <a:chExt cx="0" cy="0"/>
        </a:xfrm>
      </p:grpSpPr>
      <p:sp>
        <p:nvSpPr>
          <p:cNvPr id="3077" name="Google Shape;3077;p2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8" name="Google Shape;3078;p2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6" name="Shape 3086"/>
        <p:cNvGrpSpPr/>
        <p:nvPr/>
      </p:nvGrpSpPr>
      <p:grpSpPr>
        <a:xfrm>
          <a:off x="0" y="0"/>
          <a:ext cx="0" cy="0"/>
          <a:chOff x="0" y="0"/>
          <a:chExt cx="0" cy="0"/>
        </a:xfrm>
      </p:grpSpPr>
      <p:sp>
        <p:nvSpPr>
          <p:cNvPr id="3087" name="Google Shape;3087;p2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8" name="Google Shape;3088;p2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5" name="Shape 3095"/>
        <p:cNvGrpSpPr/>
        <p:nvPr/>
      </p:nvGrpSpPr>
      <p:grpSpPr>
        <a:xfrm>
          <a:off x="0" y="0"/>
          <a:ext cx="0" cy="0"/>
          <a:chOff x="0" y="0"/>
          <a:chExt cx="0" cy="0"/>
        </a:xfrm>
      </p:grpSpPr>
      <p:sp>
        <p:nvSpPr>
          <p:cNvPr id="3096" name="Google Shape;3096;p2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7" name="Google Shape;3097;p2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4" name="Shape 3104"/>
        <p:cNvGrpSpPr/>
        <p:nvPr/>
      </p:nvGrpSpPr>
      <p:grpSpPr>
        <a:xfrm>
          <a:off x="0" y="0"/>
          <a:ext cx="0" cy="0"/>
          <a:chOff x="0" y="0"/>
          <a:chExt cx="0" cy="0"/>
        </a:xfrm>
      </p:grpSpPr>
      <p:sp>
        <p:nvSpPr>
          <p:cNvPr id="3105" name="Google Shape;3105;p2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6" name="Google Shape;3106;p2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3" name="Shape 3113"/>
        <p:cNvGrpSpPr/>
        <p:nvPr/>
      </p:nvGrpSpPr>
      <p:grpSpPr>
        <a:xfrm>
          <a:off x="0" y="0"/>
          <a:ext cx="0" cy="0"/>
          <a:chOff x="0" y="0"/>
          <a:chExt cx="0" cy="0"/>
        </a:xfrm>
      </p:grpSpPr>
      <p:sp>
        <p:nvSpPr>
          <p:cNvPr id="3114" name="Google Shape;3114;p2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5" name="Google Shape;3115;p2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2" name="Shape 3122"/>
        <p:cNvGrpSpPr/>
        <p:nvPr/>
      </p:nvGrpSpPr>
      <p:grpSpPr>
        <a:xfrm>
          <a:off x="0" y="0"/>
          <a:ext cx="0" cy="0"/>
          <a:chOff x="0" y="0"/>
          <a:chExt cx="0" cy="0"/>
        </a:xfrm>
      </p:grpSpPr>
      <p:sp>
        <p:nvSpPr>
          <p:cNvPr id="3123" name="Google Shape;3123;p2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4" name="Google Shape;3124;p2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1" name="Shape 3131"/>
        <p:cNvGrpSpPr/>
        <p:nvPr/>
      </p:nvGrpSpPr>
      <p:grpSpPr>
        <a:xfrm>
          <a:off x="0" y="0"/>
          <a:ext cx="0" cy="0"/>
          <a:chOff x="0" y="0"/>
          <a:chExt cx="0" cy="0"/>
        </a:xfrm>
      </p:grpSpPr>
      <p:sp>
        <p:nvSpPr>
          <p:cNvPr id="3132" name="Google Shape;3132;p2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3" name="Google Shape;3133;p2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0" name="Shape 3140"/>
        <p:cNvGrpSpPr/>
        <p:nvPr/>
      </p:nvGrpSpPr>
      <p:grpSpPr>
        <a:xfrm>
          <a:off x="0" y="0"/>
          <a:ext cx="0" cy="0"/>
          <a:chOff x="0" y="0"/>
          <a:chExt cx="0" cy="0"/>
        </a:xfrm>
      </p:grpSpPr>
      <p:sp>
        <p:nvSpPr>
          <p:cNvPr id="3141" name="Google Shape;3141;p2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2" name="Google Shape;3142;p2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9" name="Shape 3149"/>
        <p:cNvGrpSpPr/>
        <p:nvPr/>
      </p:nvGrpSpPr>
      <p:grpSpPr>
        <a:xfrm>
          <a:off x="0" y="0"/>
          <a:ext cx="0" cy="0"/>
          <a:chOff x="0" y="0"/>
          <a:chExt cx="0" cy="0"/>
        </a:xfrm>
      </p:grpSpPr>
      <p:sp>
        <p:nvSpPr>
          <p:cNvPr id="3150" name="Google Shape;3150;p2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1" name="Google Shape;3151;p2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1" name="Shape 3161"/>
        <p:cNvGrpSpPr/>
        <p:nvPr/>
      </p:nvGrpSpPr>
      <p:grpSpPr>
        <a:xfrm>
          <a:off x="0" y="0"/>
          <a:ext cx="0" cy="0"/>
          <a:chOff x="0" y="0"/>
          <a:chExt cx="0" cy="0"/>
        </a:xfrm>
      </p:grpSpPr>
      <p:sp>
        <p:nvSpPr>
          <p:cNvPr id="3162" name="Google Shape;3162;p2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3" name="Google Shape;3163;p2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3" name="Shape 3173"/>
        <p:cNvGrpSpPr/>
        <p:nvPr/>
      </p:nvGrpSpPr>
      <p:grpSpPr>
        <a:xfrm>
          <a:off x="0" y="0"/>
          <a:ext cx="0" cy="0"/>
          <a:chOff x="0" y="0"/>
          <a:chExt cx="0" cy="0"/>
        </a:xfrm>
      </p:grpSpPr>
      <p:sp>
        <p:nvSpPr>
          <p:cNvPr id="3174" name="Google Shape;3174;p2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5" name="Google Shape;3175;p2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6" name="Shape 3206"/>
        <p:cNvGrpSpPr/>
        <p:nvPr/>
      </p:nvGrpSpPr>
      <p:grpSpPr>
        <a:xfrm>
          <a:off x="0" y="0"/>
          <a:ext cx="0" cy="0"/>
          <a:chOff x="0" y="0"/>
          <a:chExt cx="0" cy="0"/>
        </a:xfrm>
      </p:grpSpPr>
      <p:sp>
        <p:nvSpPr>
          <p:cNvPr id="3207" name="Google Shape;3207;p2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8" name="Google Shape;3208;p2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7" name="Shape 3237"/>
        <p:cNvGrpSpPr/>
        <p:nvPr/>
      </p:nvGrpSpPr>
      <p:grpSpPr>
        <a:xfrm>
          <a:off x="0" y="0"/>
          <a:ext cx="0" cy="0"/>
          <a:chOff x="0" y="0"/>
          <a:chExt cx="0" cy="0"/>
        </a:xfrm>
      </p:grpSpPr>
      <p:sp>
        <p:nvSpPr>
          <p:cNvPr id="3238" name="Google Shape;3238;p2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9" name="Google Shape;3239;p2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8" name="Shape 3268"/>
        <p:cNvGrpSpPr/>
        <p:nvPr/>
      </p:nvGrpSpPr>
      <p:grpSpPr>
        <a:xfrm>
          <a:off x="0" y="0"/>
          <a:ext cx="0" cy="0"/>
          <a:chOff x="0" y="0"/>
          <a:chExt cx="0" cy="0"/>
        </a:xfrm>
      </p:grpSpPr>
      <p:sp>
        <p:nvSpPr>
          <p:cNvPr id="3269" name="Google Shape;3269;p2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0" name="Google Shape;3270;p2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7" name="Shape 3277"/>
        <p:cNvGrpSpPr/>
        <p:nvPr/>
      </p:nvGrpSpPr>
      <p:grpSpPr>
        <a:xfrm>
          <a:off x="0" y="0"/>
          <a:ext cx="0" cy="0"/>
          <a:chOff x="0" y="0"/>
          <a:chExt cx="0" cy="0"/>
        </a:xfrm>
      </p:grpSpPr>
      <p:sp>
        <p:nvSpPr>
          <p:cNvPr id="3278" name="Google Shape;3278;p2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9" name="Google Shape;3279;p2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8" name="Shape 3288"/>
        <p:cNvGrpSpPr/>
        <p:nvPr/>
      </p:nvGrpSpPr>
      <p:grpSpPr>
        <a:xfrm>
          <a:off x="0" y="0"/>
          <a:ext cx="0" cy="0"/>
          <a:chOff x="0" y="0"/>
          <a:chExt cx="0" cy="0"/>
        </a:xfrm>
      </p:grpSpPr>
      <p:sp>
        <p:nvSpPr>
          <p:cNvPr id="3289" name="Google Shape;3289;p2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0" name="Google Shape;3290;p2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6" name="Shape 3296"/>
        <p:cNvGrpSpPr/>
        <p:nvPr/>
      </p:nvGrpSpPr>
      <p:grpSpPr>
        <a:xfrm>
          <a:off x="0" y="0"/>
          <a:ext cx="0" cy="0"/>
          <a:chOff x="0" y="0"/>
          <a:chExt cx="0" cy="0"/>
        </a:xfrm>
      </p:grpSpPr>
      <p:sp>
        <p:nvSpPr>
          <p:cNvPr id="3297" name="Google Shape;3297;p2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8" name="Google Shape;3298;p2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4" name="Shape 3304"/>
        <p:cNvGrpSpPr/>
        <p:nvPr/>
      </p:nvGrpSpPr>
      <p:grpSpPr>
        <a:xfrm>
          <a:off x="0" y="0"/>
          <a:ext cx="0" cy="0"/>
          <a:chOff x="0" y="0"/>
          <a:chExt cx="0" cy="0"/>
        </a:xfrm>
      </p:grpSpPr>
      <p:sp>
        <p:nvSpPr>
          <p:cNvPr id="3305" name="Google Shape;3305;p2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6" name="Google Shape;3306;p2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2" name="Shape 3332"/>
        <p:cNvGrpSpPr/>
        <p:nvPr/>
      </p:nvGrpSpPr>
      <p:grpSpPr>
        <a:xfrm>
          <a:off x="0" y="0"/>
          <a:ext cx="0" cy="0"/>
          <a:chOff x="0" y="0"/>
          <a:chExt cx="0" cy="0"/>
        </a:xfrm>
      </p:grpSpPr>
      <p:sp>
        <p:nvSpPr>
          <p:cNvPr id="3333" name="Google Shape;3333;p2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4" name="Google Shape;3334;p2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1" name="Shape 3341"/>
        <p:cNvGrpSpPr/>
        <p:nvPr/>
      </p:nvGrpSpPr>
      <p:grpSpPr>
        <a:xfrm>
          <a:off x="0" y="0"/>
          <a:ext cx="0" cy="0"/>
          <a:chOff x="0" y="0"/>
          <a:chExt cx="0" cy="0"/>
        </a:xfrm>
      </p:grpSpPr>
      <p:sp>
        <p:nvSpPr>
          <p:cNvPr id="3342" name="Google Shape;3342;p2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3" name="Google Shape;3343;p2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2" name="Shape 3352"/>
        <p:cNvGrpSpPr/>
        <p:nvPr/>
      </p:nvGrpSpPr>
      <p:grpSpPr>
        <a:xfrm>
          <a:off x="0" y="0"/>
          <a:ext cx="0" cy="0"/>
          <a:chOff x="0" y="0"/>
          <a:chExt cx="0" cy="0"/>
        </a:xfrm>
      </p:grpSpPr>
      <p:sp>
        <p:nvSpPr>
          <p:cNvPr id="3353" name="Google Shape;3353;p2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4" name="Google Shape;3354;p2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0" name="Shape 3360"/>
        <p:cNvGrpSpPr/>
        <p:nvPr/>
      </p:nvGrpSpPr>
      <p:grpSpPr>
        <a:xfrm>
          <a:off x="0" y="0"/>
          <a:ext cx="0" cy="0"/>
          <a:chOff x="0" y="0"/>
          <a:chExt cx="0" cy="0"/>
        </a:xfrm>
      </p:grpSpPr>
      <p:sp>
        <p:nvSpPr>
          <p:cNvPr id="3361" name="Google Shape;3361;p2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2" name="Google Shape;3362;p2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8" name="Shape 3368"/>
        <p:cNvGrpSpPr/>
        <p:nvPr/>
      </p:nvGrpSpPr>
      <p:grpSpPr>
        <a:xfrm>
          <a:off x="0" y="0"/>
          <a:ext cx="0" cy="0"/>
          <a:chOff x="0" y="0"/>
          <a:chExt cx="0" cy="0"/>
        </a:xfrm>
      </p:grpSpPr>
      <p:sp>
        <p:nvSpPr>
          <p:cNvPr id="3369" name="Google Shape;3369;p2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0" name="Google Shape;3370;p2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6" name="Shape 3376"/>
        <p:cNvGrpSpPr/>
        <p:nvPr/>
      </p:nvGrpSpPr>
      <p:grpSpPr>
        <a:xfrm>
          <a:off x="0" y="0"/>
          <a:ext cx="0" cy="0"/>
          <a:chOff x="0" y="0"/>
          <a:chExt cx="0" cy="0"/>
        </a:xfrm>
      </p:grpSpPr>
      <p:sp>
        <p:nvSpPr>
          <p:cNvPr id="3377" name="Google Shape;3377;p2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8" name="Google Shape;3378;p2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5" name="Shape 3405"/>
        <p:cNvGrpSpPr/>
        <p:nvPr/>
      </p:nvGrpSpPr>
      <p:grpSpPr>
        <a:xfrm>
          <a:off x="0" y="0"/>
          <a:ext cx="0" cy="0"/>
          <a:chOff x="0" y="0"/>
          <a:chExt cx="0" cy="0"/>
        </a:xfrm>
      </p:grpSpPr>
      <p:sp>
        <p:nvSpPr>
          <p:cNvPr id="3406" name="Google Shape;3406;p2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7" name="Google Shape;3407;p2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4" name="Shape 3414"/>
        <p:cNvGrpSpPr/>
        <p:nvPr/>
      </p:nvGrpSpPr>
      <p:grpSpPr>
        <a:xfrm>
          <a:off x="0" y="0"/>
          <a:ext cx="0" cy="0"/>
          <a:chOff x="0" y="0"/>
          <a:chExt cx="0" cy="0"/>
        </a:xfrm>
      </p:grpSpPr>
      <p:sp>
        <p:nvSpPr>
          <p:cNvPr id="3415" name="Google Shape;3415;p2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6" name="Google Shape;3416;p2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8" name="Shape 3438"/>
        <p:cNvGrpSpPr/>
        <p:nvPr/>
      </p:nvGrpSpPr>
      <p:grpSpPr>
        <a:xfrm>
          <a:off x="0" y="0"/>
          <a:ext cx="0" cy="0"/>
          <a:chOff x="0" y="0"/>
          <a:chExt cx="0" cy="0"/>
        </a:xfrm>
      </p:grpSpPr>
      <p:sp>
        <p:nvSpPr>
          <p:cNvPr id="3439" name="Google Shape;3439;p2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0" name="Google Shape;3440;p2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7" name="Shape 3447"/>
        <p:cNvGrpSpPr/>
        <p:nvPr/>
      </p:nvGrpSpPr>
      <p:grpSpPr>
        <a:xfrm>
          <a:off x="0" y="0"/>
          <a:ext cx="0" cy="0"/>
          <a:chOff x="0" y="0"/>
          <a:chExt cx="0" cy="0"/>
        </a:xfrm>
      </p:grpSpPr>
      <p:sp>
        <p:nvSpPr>
          <p:cNvPr id="3448" name="Google Shape;3448;p2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9" name="Google Shape;3449;p2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6" name="Shape 3456"/>
        <p:cNvGrpSpPr/>
        <p:nvPr/>
      </p:nvGrpSpPr>
      <p:grpSpPr>
        <a:xfrm>
          <a:off x="0" y="0"/>
          <a:ext cx="0" cy="0"/>
          <a:chOff x="0" y="0"/>
          <a:chExt cx="0" cy="0"/>
        </a:xfrm>
      </p:grpSpPr>
      <p:sp>
        <p:nvSpPr>
          <p:cNvPr id="3457" name="Google Shape;3457;p2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8" name="Google Shape;3458;p2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7" name="Shape 3467"/>
        <p:cNvGrpSpPr/>
        <p:nvPr/>
      </p:nvGrpSpPr>
      <p:grpSpPr>
        <a:xfrm>
          <a:off x="0" y="0"/>
          <a:ext cx="0" cy="0"/>
          <a:chOff x="0" y="0"/>
          <a:chExt cx="0" cy="0"/>
        </a:xfrm>
      </p:grpSpPr>
      <p:sp>
        <p:nvSpPr>
          <p:cNvPr id="3468" name="Google Shape;3468;p2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9" name="Google Shape;3469;p2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0" name="Shape 3500"/>
        <p:cNvGrpSpPr/>
        <p:nvPr/>
      </p:nvGrpSpPr>
      <p:grpSpPr>
        <a:xfrm>
          <a:off x="0" y="0"/>
          <a:ext cx="0" cy="0"/>
          <a:chOff x="0" y="0"/>
          <a:chExt cx="0" cy="0"/>
        </a:xfrm>
      </p:grpSpPr>
      <p:sp>
        <p:nvSpPr>
          <p:cNvPr id="3501" name="Google Shape;3501;p2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2" name="Google Shape;3502;p2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0" name="Shape 3530"/>
        <p:cNvGrpSpPr/>
        <p:nvPr/>
      </p:nvGrpSpPr>
      <p:grpSpPr>
        <a:xfrm>
          <a:off x="0" y="0"/>
          <a:ext cx="0" cy="0"/>
          <a:chOff x="0" y="0"/>
          <a:chExt cx="0" cy="0"/>
        </a:xfrm>
      </p:grpSpPr>
      <p:sp>
        <p:nvSpPr>
          <p:cNvPr id="3531" name="Google Shape;3531;p2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2" name="Google Shape;3532;p2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0" name="Shape 3560"/>
        <p:cNvGrpSpPr/>
        <p:nvPr/>
      </p:nvGrpSpPr>
      <p:grpSpPr>
        <a:xfrm>
          <a:off x="0" y="0"/>
          <a:ext cx="0" cy="0"/>
          <a:chOff x="0" y="0"/>
          <a:chExt cx="0" cy="0"/>
        </a:xfrm>
      </p:grpSpPr>
      <p:sp>
        <p:nvSpPr>
          <p:cNvPr id="3561" name="Google Shape;3561;p2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2" name="Google Shape;3562;p2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9" name="Shape 3569"/>
        <p:cNvGrpSpPr/>
        <p:nvPr/>
      </p:nvGrpSpPr>
      <p:grpSpPr>
        <a:xfrm>
          <a:off x="0" y="0"/>
          <a:ext cx="0" cy="0"/>
          <a:chOff x="0" y="0"/>
          <a:chExt cx="0" cy="0"/>
        </a:xfrm>
      </p:grpSpPr>
      <p:sp>
        <p:nvSpPr>
          <p:cNvPr id="3570" name="Google Shape;3570;p2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1" name="Google Shape;3571;p2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1" name="Shape 3591"/>
        <p:cNvGrpSpPr/>
        <p:nvPr/>
      </p:nvGrpSpPr>
      <p:grpSpPr>
        <a:xfrm>
          <a:off x="0" y="0"/>
          <a:ext cx="0" cy="0"/>
          <a:chOff x="0" y="0"/>
          <a:chExt cx="0" cy="0"/>
        </a:xfrm>
      </p:grpSpPr>
      <p:sp>
        <p:nvSpPr>
          <p:cNvPr id="3592" name="Google Shape;3592;p2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3" name="Google Shape;3593;p2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9" name="Shape 3599"/>
        <p:cNvGrpSpPr/>
        <p:nvPr/>
      </p:nvGrpSpPr>
      <p:grpSpPr>
        <a:xfrm>
          <a:off x="0" y="0"/>
          <a:ext cx="0" cy="0"/>
          <a:chOff x="0" y="0"/>
          <a:chExt cx="0" cy="0"/>
        </a:xfrm>
      </p:grpSpPr>
      <p:sp>
        <p:nvSpPr>
          <p:cNvPr id="3600" name="Google Shape;3600;p2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1" name="Google Shape;3601;p2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4" name="Shape 3614"/>
        <p:cNvGrpSpPr/>
        <p:nvPr/>
      </p:nvGrpSpPr>
      <p:grpSpPr>
        <a:xfrm>
          <a:off x="0" y="0"/>
          <a:ext cx="0" cy="0"/>
          <a:chOff x="0" y="0"/>
          <a:chExt cx="0" cy="0"/>
        </a:xfrm>
      </p:grpSpPr>
      <p:sp>
        <p:nvSpPr>
          <p:cNvPr id="3615" name="Google Shape;3615;p2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6" name="Google Shape;3616;p2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2" name="Shape 3622"/>
        <p:cNvGrpSpPr/>
        <p:nvPr/>
      </p:nvGrpSpPr>
      <p:grpSpPr>
        <a:xfrm>
          <a:off x="0" y="0"/>
          <a:ext cx="0" cy="0"/>
          <a:chOff x="0" y="0"/>
          <a:chExt cx="0" cy="0"/>
        </a:xfrm>
      </p:grpSpPr>
      <p:sp>
        <p:nvSpPr>
          <p:cNvPr id="3623" name="Google Shape;3623;p2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4" name="Google Shape;3624;p2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2" name="Shape 3642"/>
        <p:cNvGrpSpPr/>
        <p:nvPr/>
      </p:nvGrpSpPr>
      <p:grpSpPr>
        <a:xfrm>
          <a:off x="0" y="0"/>
          <a:ext cx="0" cy="0"/>
          <a:chOff x="0" y="0"/>
          <a:chExt cx="0" cy="0"/>
        </a:xfrm>
      </p:grpSpPr>
      <p:sp>
        <p:nvSpPr>
          <p:cNvPr id="3643" name="Google Shape;3643;p2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4" name="Google Shape;3644;p2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0" name="Shape 3650"/>
        <p:cNvGrpSpPr/>
        <p:nvPr/>
      </p:nvGrpSpPr>
      <p:grpSpPr>
        <a:xfrm>
          <a:off x="0" y="0"/>
          <a:ext cx="0" cy="0"/>
          <a:chOff x="0" y="0"/>
          <a:chExt cx="0" cy="0"/>
        </a:xfrm>
      </p:grpSpPr>
      <p:sp>
        <p:nvSpPr>
          <p:cNvPr id="3651" name="Google Shape;3651;p2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2" name="Google Shape;3652;p2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9" name="Shape 3659"/>
        <p:cNvGrpSpPr/>
        <p:nvPr/>
      </p:nvGrpSpPr>
      <p:grpSpPr>
        <a:xfrm>
          <a:off x="0" y="0"/>
          <a:ext cx="0" cy="0"/>
          <a:chOff x="0" y="0"/>
          <a:chExt cx="0" cy="0"/>
        </a:xfrm>
      </p:grpSpPr>
      <p:sp>
        <p:nvSpPr>
          <p:cNvPr id="3660" name="Google Shape;3660;p2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1" name="Google Shape;3661;p2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0" name="Shape 3670"/>
        <p:cNvGrpSpPr/>
        <p:nvPr/>
      </p:nvGrpSpPr>
      <p:grpSpPr>
        <a:xfrm>
          <a:off x="0" y="0"/>
          <a:ext cx="0" cy="0"/>
          <a:chOff x="0" y="0"/>
          <a:chExt cx="0" cy="0"/>
        </a:xfrm>
      </p:grpSpPr>
      <p:sp>
        <p:nvSpPr>
          <p:cNvPr id="3671" name="Google Shape;3671;p2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2" name="Google Shape;3672;p2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1" name="Shape 3681"/>
        <p:cNvGrpSpPr/>
        <p:nvPr/>
      </p:nvGrpSpPr>
      <p:grpSpPr>
        <a:xfrm>
          <a:off x="0" y="0"/>
          <a:ext cx="0" cy="0"/>
          <a:chOff x="0" y="0"/>
          <a:chExt cx="0" cy="0"/>
        </a:xfrm>
      </p:grpSpPr>
      <p:sp>
        <p:nvSpPr>
          <p:cNvPr id="3682" name="Google Shape;3682;p2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3" name="Google Shape;3683;p2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2" name="Shape 3692"/>
        <p:cNvGrpSpPr/>
        <p:nvPr/>
      </p:nvGrpSpPr>
      <p:grpSpPr>
        <a:xfrm>
          <a:off x="0" y="0"/>
          <a:ext cx="0" cy="0"/>
          <a:chOff x="0" y="0"/>
          <a:chExt cx="0" cy="0"/>
        </a:xfrm>
      </p:grpSpPr>
      <p:sp>
        <p:nvSpPr>
          <p:cNvPr id="3693" name="Google Shape;3693;p2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4" name="Google Shape;3694;p2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3" name="Shape 3703"/>
        <p:cNvGrpSpPr/>
        <p:nvPr/>
      </p:nvGrpSpPr>
      <p:grpSpPr>
        <a:xfrm>
          <a:off x="0" y="0"/>
          <a:ext cx="0" cy="0"/>
          <a:chOff x="0" y="0"/>
          <a:chExt cx="0" cy="0"/>
        </a:xfrm>
      </p:grpSpPr>
      <p:sp>
        <p:nvSpPr>
          <p:cNvPr id="3704" name="Google Shape;3704;p2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5" name="Google Shape;3705;p2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4" name="Shape 3714"/>
        <p:cNvGrpSpPr/>
        <p:nvPr/>
      </p:nvGrpSpPr>
      <p:grpSpPr>
        <a:xfrm>
          <a:off x="0" y="0"/>
          <a:ext cx="0" cy="0"/>
          <a:chOff x="0" y="0"/>
          <a:chExt cx="0" cy="0"/>
        </a:xfrm>
      </p:grpSpPr>
      <p:sp>
        <p:nvSpPr>
          <p:cNvPr id="3715" name="Google Shape;3715;p2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6" name="Google Shape;3716;p2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5" name="Shape 3725"/>
        <p:cNvGrpSpPr/>
        <p:nvPr/>
      </p:nvGrpSpPr>
      <p:grpSpPr>
        <a:xfrm>
          <a:off x="0" y="0"/>
          <a:ext cx="0" cy="0"/>
          <a:chOff x="0" y="0"/>
          <a:chExt cx="0" cy="0"/>
        </a:xfrm>
      </p:grpSpPr>
      <p:sp>
        <p:nvSpPr>
          <p:cNvPr id="3726" name="Google Shape;3726;p2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7" name="Google Shape;3727;p2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6" name="Shape 3736"/>
        <p:cNvGrpSpPr/>
        <p:nvPr/>
      </p:nvGrpSpPr>
      <p:grpSpPr>
        <a:xfrm>
          <a:off x="0" y="0"/>
          <a:ext cx="0" cy="0"/>
          <a:chOff x="0" y="0"/>
          <a:chExt cx="0" cy="0"/>
        </a:xfrm>
      </p:grpSpPr>
      <p:sp>
        <p:nvSpPr>
          <p:cNvPr id="3737" name="Google Shape;3737;p2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8" name="Google Shape;3738;p2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6" name="Shape 3746"/>
        <p:cNvGrpSpPr/>
        <p:nvPr/>
      </p:nvGrpSpPr>
      <p:grpSpPr>
        <a:xfrm>
          <a:off x="0" y="0"/>
          <a:ext cx="0" cy="0"/>
          <a:chOff x="0" y="0"/>
          <a:chExt cx="0" cy="0"/>
        </a:xfrm>
      </p:grpSpPr>
      <p:sp>
        <p:nvSpPr>
          <p:cNvPr id="3747" name="Google Shape;3747;p2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8" name="Google Shape;3748;p2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6" name="Shape 3756"/>
        <p:cNvGrpSpPr/>
        <p:nvPr/>
      </p:nvGrpSpPr>
      <p:grpSpPr>
        <a:xfrm>
          <a:off x="0" y="0"/>
          <a:ext cx="0" cy="0"/>
          <a:chOff x="0" y="0"/>
          <a:chExt cx="0" cy="0"/>
        </a:xfrm>
      </p:grpSpPr>
      <p:sp>
        <p:nvSpPr>
          <p:cNvPr id="3757" name="Google Shape;3757;p2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8" name="Google Shape;3758;p2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7" name="Shape 3767"/>
        <p:cNvGrpSpPr/>
        <p:nvPr/>
      </p:nvGrpSpPr>
      <p:grpSpPr>
        <a:xfrm>
          <a:off x="0" y="0"/>
          <a:ext cx="0" cy="0"/>
          <a:chOff x="0" y="0"/>
          <a:chExt cx="0" cy="0"/>
        </a:xfrm>
      </p:grpSpPr>
      <p:sp>
        <p:nvSpPr>
          <p:cNvPr id="3768" name="Google Shape;3768;p2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9" name="Google Shape;3769;p2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7" name="Shape 3777"/>
        <p:cNvGrpSpPr/>
        <p:nvPr/>
      </p:nvGrpSpPr>
      <p:grpSpPr>
        <a:xfrm>
          <a:off x="0" y="0"/>
          <a:ext cx="0" cy="0"/>
          <a:chOff x="0" y="0"/>
          <a:chExt cx="0" cy="0"/>
        </a:xfrm>
      </p:grpSpPr>
      <p:sp>
        <p:nvSpPr>
          <p:cNvPr id="3778" name="Google Shape;3778;p2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9" name="Google Shape;3779;p2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6" name="Shape 3786"/>
        <p:cNvGrpSpPr/>
        <p:nvPr/>
      </p:nvGrpSpPr>
      <p:grpSpPr>
        <a:xfrm>
          <a:off x="0" y="0"/>
          <a:ext cx="0" cy="0"/>
          <a:chOff x="0" y="0"/>
          <a:chExt cx="0" cy="0"/>
        </a:xfrm>
      </p:grpSpPr>
      <p:sp>
        <p:nvSpPr>
          <p:cNvPr id="3787" name="Google Shape;3787;p2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8" name="Google Shape;3788;p2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7" name="Shape 3797"/>
        <p:cNvGrpSpPr/>
        <p:nvPr/>
      </p:nvGrpSpPr>
      <p:grpSpPr>
        <a:xfrm>
          <a:off x="0" y="0"/>
          <a:ext cx="0" cy="0"/>
          <a:chOff x="0" y="0"/>
          <a:chExt cx="0" cy="0"/>
        </a:xfrm>
      </p:grpSpPr>
      <p:sp>
        <p:nvSpPr>
          <p:cNvPr id="3798" name="Google Shape;3798;p2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9" name="Google Shape;3799;p2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9" name="Shape 3809"/>
        <p:cNvGrpSpPr/>
        <p:nvPr/>
      </p:nvGrpSpPr>
      <p:grpSpPr>
        <a:xfrm>
          <a:off x="0" y="0"/>
          <a:ext cx="0" cy="0"/>
          <a:chOff x="0" y="0"/>
          <a:chExt cx="0" cy="0"/>
        </a:xfrm>
      </p:grpSpPr>
      <p:sp>
        <p:nvSpPr>
          <p:cNvPr id="3810" name="Google Shape;3810;p2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1" name="Google Shape;3811;p2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2" name="Shape 3822"/>
        <p:cNvGrpSpPr/>
        <p:nvPr/>
      </p:nvGrpSpPr>
      <p:grpSpPr>
        <a:xfrm>
          <a:off x="0" y="0"/>
          <a:ext cx="0" cy="0"/>
          <a:chOff x="0" y="0"/>
          <a:chExt cx="0" cy="0"/>
        </a:xfrm>
      </p:grpSpPr>
      <p:sp>
        <p:nvSpPr>
          <p:cNvPr id="3823" name="Google Shape;3823;p2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4" name="Google Shape;3824;p2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4" name="Shape 3834"/>
        <p:cNvGrpSpPr/>
        <p:nvPr/>
      </p:nvGrpSpPr>
      <p:grpSpPr>
        <a:xfrm>
          <a:off x="0" y="0"/>
          <a:ext cx="0" cy="0"/>
          <a:chOff x="0" y="0"/>
          <a:chExt cx="0" cy="0"/>
        </a:xfrm>
      </p:grpSpPr>
      <p:sp>
        <p:nvSpPr>
          <p:cNvPr id="3835" name="Google Shape;3835;p2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6" name="Google Shape;3836;p2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2" name="Shape 3842"/>
        <p:cNvGrpSpPr/>
        <p:nvPr/>
      </p:nvGrpSpPr>
      <p:grpSpPr>
        <a:xfrm>
          <a:off x="0" y="0"/>
          <a:ext cx="0" cy="0"/>
          <a:chOff x="0" y="0"/>
          <a:chExt cx="0" cy="0"/>
        </a:xfrm>
      </p:grpSpPr>
      <p:sp>
        <p:nvSpPr>
          <p:cNvPr id="3843" name="Google Shape;3843;p2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4" name="Google Shape;3844;p2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1" name="Shape 3851"/>
        <p:cNvGrpSpPr/>
        <p:nvPr/>
      </p:nvGrpSpPr>
      <p:grpSpPr>
        <a:xfrm>
          <a:off x="0" y="0"/>
          <a:ext cx="0" cy="0"/>
          <a:chOff x="0" y="0"/>
          <a:chExt cx="0" cy="0"/>
        </a:xfrm>
      </p:grpSpPr>
      <p:sp>
        <p:nvSpPr>
          <p:cNvPr id="3852" name="Google Shape;3852;p2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3" name="Google Shape;3853;p2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0" name="Shape 3860"/>
        <p:cNvGrpSpPr/>
        <p:nvPr/>
      </p:nvGrpSpPr>
      <p:grpSpPr>
        <a:xfrm>
          <a:off x="0" y="0"/>
          <a:ext cx="0" cy="0"/>
          <a:chOff x="0" y="0"/>
          <a:chExt cx="0" cy="0"/>
        </a:xfrm>
      </p:grpSpPr>
      <p:sp>
        <p:nvSpPr>
          <p:cNvPr id="3861" name="Google Shape;3861;p2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2" name="Google Shape;3862;p2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9" name="Shape 3869"/>
        <p:cNvGrpSpPr/>
        <p:nvPr/>
      </p:nvGrpSpPr>
      <p:grpSpPr>
        <a:xfrm>
          <a:off x="0" y="0"/>
          <a:ext cx="0" cy="0"/>
          <a:chOff x="0" y="0"/>
          <a:chExt cx="0" cy="0"/>
        </a:xfrm>
      </p:grpSpPr>
      <p:sp>
        <p:nvSpPr>
          <p:cNvPr id="3870" name="Google Shape;3870;p2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1" name="Google Shape;3871;p2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8" name="Shape 3878"/>
        <p:cNvGrpSpPr/>
        <p:nvPr/>
      </p:nvGrpSpPr>
      <p:grpSpPr>
        <a:xfrm>
          <a:off x="0" y="0"/>
          <a:ext cx="0" cy="0"/>
          <a:chOff x="0" y="0"/>
          <a:chExt cx="0" cy="0"/>
        </a:xfrm>
      </p:grpSpPr>
      <p:sp>
        <p:nvSpPr>
          <p:cNvPr id="3879" name="Google Shape;3879;p3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0" name="Google Shape;3880;p3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7" name="Shape 3887"/>
        <p:cNvGrpSpPr/>
        <p:nvPr/>
      </p:nvGrpSpPr>
      <p:grpSpPr>
        <a:xfrm>
          <a:off x="0" y="0"/>
          <a:ext cx="0" cy="0"/>
          <a:chOff x="0" y="0"/>
          <a:chExt cx="0" cy="0"/>
        </a:xfrm>
      </p:grpSpPr>
      <p:sp>
        <p:nvSpPr>
          <p:cNvPr id="3888" name="Google Shape;3888;p3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9" name="Google Shape;3889;p3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7" name="Shape 3897"/>
        <p:cNvGrpSpPr/>
        <p:nvPr/>
      </p:nvGrpSpPr>
      <p:grpSpPr>
        <a:xfrm>
          <a:off x="0" y="0"/>
          <a:ext cx="0" cy="0"/>
          <a:chOff x="0" y="0"/>
          <a:chExt cx="0" cy="0"/>
        </a:xfrm>
      </p:grpSpPr>
      <p:sp>
        <p:nvSpPr>
          <p:cNvPr id="3898" name="Google Shape;3898;p3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9" name="Google Shape;3899;p3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7" name="Shape 3907"/>
        <p:cNvGrpSpPr/>
        <p:nvPr/>
      </p:nvGrpSpPr>
      <p:grpSpPr>
        <a:xfrm>
          <a:off x="0" y="0"/>
          <a:ext cx="0" cy="0"/>
          <a:chOff x="0" y="0"/>
          <a:chExt cx="0" cy="0"/>
        </a:xfrm>
      </p:grpSpPr>
      <p:sp>
        <p:nvSpPr>
          <p:cNvPr id="3908" name="Google Shape;3908;p3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9" name="Google Shape;3909;p3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7" name="Shape 3917"/>
        <p:cNvGrpSpPr/>
        <p:nvPr/>
      </p:nvGrpSpPr>
      <p:grpSpPr>
        <a:xfrm>
          <a:off x="0" y="0"/>
          <a:ext cx="0" cy="0"/>
          <a:chOff x="0" y="0"/>
          <a:chExt cx="0" cy="0"/>
        </a:xfrm>
      </p:grpSpPr>
      <p:sp>
        <p:nvSpPr>
          <p:cNvPr id="3918" name="Google Shape;3918;p3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9" name="Google Shape;3919;p3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7" name="Shape 3927"/>
        <p:cNvGrpSpPr/>
        <p:nvPr/>
      </p:nvGrpSpPr>
      <p:grpSpPr>
        <a:xfrm>
          <a:off x="0" y="0"/>
          <a:ext cx="0" cy="0"/>
          <a:chOff x="0" y="0"/>
          <a:chExt cx="0" cy="0"/>
        </a:xfrm>
      </p:grpSpPr>
      <p:sp>
        <p:nvSpPr>
          <p:cNvPr id="3928" name="Google Shape;3928;p3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9" name="Google Shape;3929;p3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6" name="Shape 3936"/>
        <p:cNvGrpSpPr/>
        <p:nvPr/>
      </p:nvGrpSpPr>
      <p:grpSpPr>
        <a:xfrm>
          <a:off x="0" y="0"/>
          <a:ext cx="0" cy="0"/>
          <a:chOff x="0" y="0"/>
          <a:chExt cx="0" cy="0"/>
        </a:xfrm>
      </p:grpSpPr>
      <p:sp>
        <p:nvSpPr>
          <p:cNvPr id="3937" name="Google Shape;3937;p3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8" name="Google Shape;3938;p3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5" name="Shape 3945"/>
        <p:cNvGrpSpPr/>
        <p:nvPr/>
      </p:nvGrpSpPr>
      <p:grpSpPr>
        <a:xfrm>
          <a:off x="0" y="0"/>
          <a:ext cx="0" cy="0"/>
          <a:chOff x="0" y="0"/>
          <a:chExt cx="0" cy="0"/>
        </a:xfrm>
      </p:grpSpPr>
      <p:sp>
        <p:nvSpPr>
          <p:cNvPr id="3946" name="Google Shape;3946;p3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7" name="Google Shape;3947;p3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4" name="Shape 3954"/>
        <p:cNvGrpSpPr/>
        <p:nvPr/>
      </p:nvGrpSpPr>
      <p:grpSpPr>
        <a:xfrm>
          <a:off x="0" y="0"/>
          <a:ext cx="0" cy="0"/>
          <a:chOff x="0" y="0"/>
          <a:chExt cx="0" cy="0"/>
        </a:xfrm>
      </p:grpSpPr>
      <p:sp>
        <p:nvSpPr>
          <p:cNvPr id="3955" name="Google Shape;3955;p3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6" name="Google Shape;3956;p3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3" name="Shape 3963"/>
        <p:cNvGrpSpPr/>
        <p:nvPr/>
      </p:nvGrpSpPr>
      <p:grpSpPr>
        <a:xfrm>
          <a:off x="0" y="0"/>
          <a:ext cx="0" cy="0"/>
          <a:chOff x="0" y="0"/>
          <a:chExt cx="0" cy="0"/>
        </a:xfrm>
      </p:grpSpPr>
      <p:sp>
        <p:nvSpPr>
          <p:cNvPr id="3964" name="Google Shape;3964;p3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5" name="Google Shape;3965;p3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2" name="Shape 3972"/>
        <p:cNvGrpSpPr/>
        <p:nvPr/>
      </p:nvGrpSpPr>
      <p:grpSpPr>
        <a:xfrm>
          <a:off x="0" y="0"/>
          <a:ext cx="0" cy="0"/>
          <a:chOff x="0" y="0"/>
          <a:chExt cx="0" cy="0"/>
        </a:xfrm>
      </p:grpSpPr>
      <p:sp>
        <p:nvSpPr>
          <p:cNvPr id="3973" name="Google Shape;3973;p3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4" name="Google Shape;3974;p3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1" name="Shape 3981"/>
        <p:cNvGrpSpPr/>
        <p:nvPr/>
      </p:nvGrpSpPr>
      <p:grpSpPr>
        <a:xfrm>
          <a:off x="0" y="0"/>
          <a:ext cx="0" cy="0"/>
          <a:chOff x="0" y="0"/>
          <a:chExt cx="0" cy="0"/>
        </a:xfrm>
      </p:grpSpPr>
      <p:sp>
        <p:nvSpPr>
          <p:cNvPr id="3982" name="Google Shape;3982;p3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3" name="Google Shape;3983;p3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0" name="Shape 3990"/>
        <p:cNvGrpSpPr/>
        <p:nvPr/>
      </p:nvGrpSpPr>
      <p:grpSpPr>
        <a:xfrm>
          <a:off x="0" y="0"/>
          <a:ext cx="0" cy="0"/>
          <a:chOff x="0" y="0"/>
          <a:chExt cx="0" cy="0"/>
        </a:xfrm>
      </p:grpSpPr>
      <p:sp>
        <p:nvSpPr>
          <p:cNvPr id="3991" name="Google Shape;3991;p3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2" name="Google Shape;3992;p3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9" name="Shape 3999"/>
        <p:cNvGrpSpPr/>
        <p:nvPr/>
      </p:nvGrpSpPr>
      <p:grpSpPr>
        <a:xfrm>
          <a:off x="0" y="0"/>
          <a:ext cx="0" cy="0"/>
          <a:chOff x="0" y="0"/>
          <a:chExt cx="0" cy="0"/>
        </a:xfrm>
      </p:grpSpPr>
      <p:sp>
        <p:nvSpPr>
          <p:cNvPr id="4000" name="Google Shape;4000;p3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1" name="Google Shape;4001;p3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8" name="Shape 4008"/>
        <p:cNvGrpSpPr/>
        <p:nvPr/>
      </p:nvGrpSpPr>
      <p:grpSpPr>
        <a:xfrm>
          <a:off x="0" y="0"/>
          <a:ext cx="0" cy="0"/>
          <a:chOff x="0" y="0"/>
          <a:chExt cx="0" cy="0"/>
        </a:xfrm>
      </p:grpSpPr>
      <p:sp>
        <p:nvSpPr>
          <p:cNvPr id="4009" name="Google Shape;4009;p3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0" name="Google Shape;4010;p3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7" name="Shape 4017"/>
        <p:cNvGrpSpPr/>
        <p:nvPr/>
      </p:nvGrpSpPr>
      <p:grpSpPr>
        <a:xfrm>
          <a:off x="0" y="0"/>
          <a:ext cx="0" cy="0"/>
          <a:chOff x="0" y="0"/>
          <a:chExt cx="0" cy="0"/>
        </a:xfrm>
      </p:grpSpPr>
      <p:sp>
        <p:nvSpPr>
          <p:cNvPr id="4018" name="Google Shape;4018;p3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9" name="Google Shape;4019;p3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6" name="Shape 4026"/>
        <p:cNvGrpSpPr/>
        <p:nvPr/>
      </p:nvGrpSpPr>
      <p:grpSpPr>
        <a:xfrm>
          <a:off x="0" y="0"/>
          <a:ext cx="0" cy="0"/>
          <a:chOff x="0" y="0"/>
          <a:chExt cx="0" cy="0"/>
        </a:xfrm>
      </p:grpSpPr>
      <p:sp>
        <p:nvSpPr>
          <p:cNvPr id="4027" name="Google Shape;4027;p3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028" name="Google Shape;4028;p3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IN"/>
              <a:t>Definitions</a:t>
            </a:r>
            <a:endParaRPr/>
          </a:p>
        </p:txBody>
      </p:sp>
      <p:sp>
        <p:nvSpPr>
          <p:cNvPr id="4029" name="Google Shape;4029;p3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IN"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3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3" name="Shape 4033"/>
        <p:cNvGrpSpPr/>
        <p:nvPr/>
      </p:nvGrpSpPr>
      <p:grpSpPr>
        <a:xfrm>
          <a:off x="0" y="0"/>
          <a:ext cx="0" cy="0"/>
          <a:chOff x="0" y="0"/>
          <a:chExt cx="0" cy="0"/>
        </a:xfrm>
      </p:grpSpPr>
      <p:sp>
        <p:nvSpPr>
          <p:cNvPr id="4034" name="Google Shape;4034;p3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5" name="Google Shape;4035;p3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9" name="Shape 4039"/>
        <p:cNvGrpSpPr/>
        <p:nvPr/>
      </p:nvGrpSpPr>
      <p:grpSpPr>
        <a:xfrm>
          <a:off x="0" y="0"/>
          <a:ext cx="0" cy="0"/>
          <a:chOff x="0" y="0"/>
          <a:chExt cx="0" cy="0"/>
        </a:xfrm>
      </p:grpSpPr>
      <p:sp>
        <p:nvSpPr>
          <p:cNvPr id="4040" name="Google Shape;4040;p3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1" name="Google Shape;4041;p3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5" name="Shape 4045"/>
        <p:cNvGrpSpPr/>
        <p:nvPr/>
      </p:nvGrpSpPr>
      <p:grpSpPr>
        <a:xfrm>
          <a:off x="0" y="0"/>
          <a:ext cx="0" cy="0"/>
          <a:chOff x="0" y="0"/>
          <a:chExt cx="0" cy="0"/>
        </a:xfrm>
      </p:grpSpPr>
      <p:sp>
        <p:nvSpPr>
          <p:cNvPr id="4046" name="Google Shape;4046;p3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7" name="Google Shape;4047;p3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1" name="Shape 4051"/>
        <p:cNvGrpSpPr/>
        <p:nvPr/>
      </p:nvGrpSpPr>
      <p:grpSpPr>
        <a:xfrm>
          <a:off x="0" y="0"/>
          <a:ext cx="0" cy="0"/>
          <a:chOff x="0" y="0"/>
          <a:chExt cx="0" cy="0"/>
        </a:xfrm>
      </p:grpSpPr>
      <p:sp>
        <p:nvSpPr>
          <p:cNvPr id="4052" name="Google Shape;4052;p3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3" name="Google Shape;4053;p3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7" name="Shape 4057"/>
        <p:cNvGrpSpPr/>
        <p:nvPr/>
      </p:nvGrpSpPr>
      <p:grpSpPr>
        <a:xfrm>
          <a:off x="0" y="0"/>
          <a:ext cx="0" cy="0"/>
          <a:chOff x="0" y="0"/>
          <a:chExt cx="0" cy="0"/>
        </a:xfrm>
      </p:grpSpPr>
      <p:sp>
        <p:nvSpPr>
          <p:cNvPr id="4058" name="Google Shape;4058;p3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9" name="Google Shape;4059;p3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3" name="Shape 4063"/>
        <p:cNvGrpSpPr/>
        <p:nvPr/>
      </p:nvGrpSpPr>
      <p:grpSpPr>
        <a:xfrm>
          <a:off x="0" y="0"/>
          <a:ext cx="0" cy="0"/>
          <a:chOff x="0" y="0"/>
          <a:chExt cx="0" cy="0"/>
        </a:xfrm>
      </p:grpSpPr>
      <p:sp>
        <p:nvSpPr>
          <p:cNvPr id="4064" name="Google Shape;4064;p3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5" name="Google Shape;4065;p3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9" name="Shape 4069"/>
        <p:cNvGrpSpPr/>
        <p:nvPr/>
      </p:nvGrpSpPr>
      <p:grpSpPr>
        <a:xfrm>
          <a:off x="0" y="0"/>
          <a:ext cx="0" cy="0"/>
          <a:chOff x="0" y="0"/>
          <a:chExt cx="0" cy="0"/>
        </a:xfrm>
      </p:grpSpPr>
      <p:sp>
        <p:nvSpPr>
          <p:cNvPr id="4070" name="Google Shape;4070;p3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1" name="Google Shape;4071;p3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5" name="Shape 4075"/>
        <p:cNvGrpSpPr/>
        <p:nvPr/>
      </p:nvGrpSpPr>
      <p:grpSpPr>
        <a:xfrm>
          <a:off x="0" y="0"/>
          <a:ext cx="0" cy="0"/>
          <a:chOff x="0" y="0"/>
          <a:chExt cx="0" cy="0"/>
        </a:xfrm>
      </p:grpSpPr>
      <p:sp>
        <p:nvSpPr>
          <p:cNvPr id="4076" name="Google Shape;4076;p3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7" name="Google Shape;4077;p3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1" name="Shape 4081"/>
        <p:cNvGrpSpPr/>
        <p:nvPr/>
      </p:nvGrpSpPr>
      <p:grpSpPr>
        <a:xfrm>
          <a:off x="0" y="0"/>
          <a:ext cx="0" cy="0"/>
          <a:chOff x="0" y="0"/>
          <a:chExt cx="0" cy="0"/>
        </a:xfrm>
      </p:grpSpPr>
      <p:sp>
        <p:nvSpPr>
          <p:cNvPr id="4082" name="Google Shape;4082;p3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3" name="Google Shape;4083;p3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7" name="Shape 4087"/>
        <p:cNvGrpSpPr/>
        <p:nvPr/>
      </p:nvGrpSpPr>
      <p:grpSpPr>
        <a:xfrm>
          <a:off x="0" y="0"/>
          <a:ext cx="0" cy="0"/>
          <a:chOff x="0" y="0"/>
          <a:chExt cx="0" cy="0"/>
        </a:xfrm>
      </p:grpSpPr>
      <p:sp>
        <p:nvSpPr>
          <p:cNvPr id="4088" name="Google Shape;4088;p3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9" name="Google Shape;4089;p3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3" name="Shape 4093"/>
        <p:cNvGrpSpPr/>
        <p:nvPr/>
      </p:nvGrpSpPr>
      <p:grpSpPr>
        <a:xfrm>
          <a:off x="0" y="0"/>
          <a:ext cx="0" cy="0"/>
          <a:chOff x="0" y="0"/>
          <a:chExt cx="0" cy="0"/>
        </a:xfrm>
      </p:grpSpPr>
      <p:sp>
        <p:nvSpPr>
          <p:cNvPr id="4094" name="Google Shape;4094;p3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5" name="Google Shape;4095;p3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9" name="Shape 4099"/>
        <p:cNvGrpSpPr/>
        <p:nvPr/>
      </p:nvGrpSpPr>
      <p:grpSpPr>
        <a:xfrm>
          <a:off x="0" y="0"/>
          <a:ext cx="0" cy="0"/>
          <a:chOff x="0" y="0"/>
          <a:chExt cx="0" cy="0"/>
        </a:xfrm>
      </p:grpSpPr>
      <p:sp>
        <p:nvSpPr>
          <p:cNvPr id="4100" name="Google Shape;4100;p3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1" name="Google Shape;4101;p3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5" name="Shape 4105"/>
        <p:cNvGrpSpPr/>
        <p:nvPr/>
      </p:nvGrpSpPr>
      <p:grpSpPr>
        <a:xfrm>
          <a:off x="0" y="0"/>
          <a:ext cx="0" cy="0"/>
          <a:chOff x="0" y="0"/>
          <a:chExt cx="0" cy="0"/>
        </a:xfrm>
      </p:grpSpPr>
      <p:sp>
        <p:nvSpPr>
          <p:cNvPr id="4106" name="Google Shape;4106;p3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7" name="Google Shape;4107;p3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1" name="Shape 4111"/>
        <p:cNvGrpSpPr/>
        <p:nvPr/>
      </p:nvGrpSpPr>
      <p:grpSpPr>
        <a:xfrm>
          <a:off x="0" y="0"/>
          <a:ext cx="0" cy="0"/>
          <a:chOff x="0" y="0"/>
          <a:chExt cx="0" cy="0"/>
        </a:xfrm>
      </p:grpSpPr>
      <p:sp>
        <p:nvSpPr>
          <p:cNvPr id="4112" name="Google Shape;4112;p3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3" name="Google Shape;4113;p3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7" name="Shape 4117"/>
        <p:cNvGrpSpPr/>
        <p:nvPr/>
      </p:nvGrpSpPr>
      <p:grpSpPr>
        <a:xfrm>
          <a:off x="0" y="0"/>
          <a:ext cx="0" cy="0"/>
          <a:chOff x="0" y="0"/>
          <a:chExt cx="0" cy="0"/>
        </a:xfrm>
      </p:grpSpPr>
      <p:sp>
        <p:nvSpPr>
          <p:cNvPr id="4118" name="Google Shape;4118;p3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9" name="Google Shape;4119;p3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3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3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3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3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3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3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3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3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3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3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4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4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34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3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4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41"/>
          <p:cNvSpPr/>
          <p:nvPr>
            <p:ph idx="2" type="pic"/>
          </p:nvPr>
        </p:nvSpPr>
        <p:spPr>
          <a:xfrm>
            <a:off x="1792288" y="612775"/>
            <a:ext cx="5486400" cy="4114800"/>
          </a:xfrm>
          <a:prstGeom prst="rect">
            <a:avLst/>
          </a:prstGeom>
          <a:noFill/>
          <a:ln>
            <a:noFill/>
          </a:ln>
        </p:spPr>
      </p:sp>
      <p:sp>
        <p:nvSpPr>
          <p:cNvPr id="68" name="Google Shape;68;p34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3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4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3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4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4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3.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1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5.png"/><Relationship Id="rId4" Type="http://schemas.openxmlformats.org/officeDocument/2006/relationships/image" Target="../media/image1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1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1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17.png"/><Relationship Id="rId4" Type="http://schemas.openxmlformats.org/officeDocument/2006/relationships/image" Target="../media/image1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2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2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2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2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2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2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2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2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24.png"/><Relationship Id="rId4" Type="http://schemas.openxmlformats.org/officeDocument/2006/relationships/image" Target="../media/image2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2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3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3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3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3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3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30.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3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46.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4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46.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3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3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3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34.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34.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3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39.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34.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36.png"/><Relationship Id="rId4" Type="http://schemas.openxmlformats.org/officeDocument/2006/relationships/image" Target="../media/image3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34.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image" Target="../media/image42.jp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image" Target="../media/image42.jp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40.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 Id="rId3" Type="http://schemas.openxmlformats.org/officeDocument/2006/relationships/image" Target="../media/image38.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 Id="rId3" Type="http://schemas.openxmlformats.org/officeDocument/2006/relationships/image" Target="../media/image38.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47.jp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 Id="rId3" Type="http://schemas.openxmlformats.org/officeDocument/2006/relationships/image" Target="../media/image45.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 Id="rId3" Type="http://schemas.openxmlformats.org/officeDocument/2006/relationships/image" Target="../media/image45.jpg"/><Relationship Id="rId4" Type="http://schemas.openxmlformats.org/officeDocument/2006/relationships/image" Target="../media/image44.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56.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 Id="rId3" Type="http://schemas.openxmlformats.org/officeDocument/2006/relationships/image" Target="../media/image50.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 Id="rId3" Type="http://schemas.openxmlformats.org/officeDocument/2006/relationships/image" Target="../media/image52.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 Id="rId3" Type="http://schemas.openxmlformats.org/officeDocument/2006/relationships/image" Target="../media/image52.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 Id="rId3" Type="http://schemas.openxmlformats.org/officeDocument/2006/relationships/image" Target="../media/image52.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 Id="rId3" Type="http://schemas.openxmlformats.org/officeDocument/2006/relationships/image" Target="../media/image52.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 Id="rId3" Type="http://schemas.openxmlformats.org/officeDocument/2006/relationships/image" Target="../media/image5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 Id="rId3" Type="http://schemas.openxmlformats.org/officeDocument/2006/relationships/image" Target="../media/image52.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 Id="rId3" Type="http://schemas.openxmlformats.org/officeDocument/2006/relationships/image" Target="../media/image55.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 Id="rId3" Type="http://schemas.openxmlformats.org/officeDocument/2006/relationships/image" Target="../media/image54.jpg"/><Relationship Id="rId4" Type="http://schemas.openxmlformats.org/officeDocument/2006/relationships/image" Target="../media/image53.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 Id="rId3" Type="http://schemas.openxmlformats.org/officeDocument/2006/relationships/image" Target="../media/image57.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 Id="rId3" Type="http://schemas.openxmlformats.org/officeDocument/2006/relationships/image" Target="../media/image59.jpg"/><Relationship Id="rId4" Type="http://schemas.openxmlformats.org/officeDocument/2006/relationships/image" Target="../media/image70.jp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 Id="rId3" Type="http://schemas.openxmlformats.org/officeDocument/2006/relationships/image" Target="../media/image59.jp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 Id="rId3" Type="http://schemas.openxmlformats.org/officeDocument/2006/relationships/image" Target="../media/image59.jp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 Id="rId3" Type="http://schemas.openxmlformats.org/officeDocument/2006/relationships/image" Target="../media/image59.jp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 Id="rId3" Type="http://schemas.openxmlformats.org/officeDocument/2006/relationships/image" Target="../media/image59.jp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 Id="rId3" Type="http://schemas.openxmlformats.org/officeDocument/2006/relationships/image" Target="../media/image65.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 Id="rId3" Type="http://schemas.openxmlformats.org/officeDocument/2006/relationships/image" Target="../media/image67.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 Id="rId3" Type="http://schemas.openxmlformats.org/officeDocument/2006/relationships/image" Target="../media/image67.png"/><Relationship Id="rId4" Type="http://schemas.openxmlformats.org/officeDocument/2006/relationships/image" Target="../media/image61.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 Id="rId3" Type="http://schemas.openxmlformats.org/officeDocument/2006/relationships/image" Target="../media/image64.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 Id="rId3" Type="http://schemas.openxmlformats.org/officeDocument/2006/relationships/image" Target="../media/image74.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 Id="rId3" Type="http://schemas.openxmlformats.org/officeDocument/2006/relationships/image" Target="../media/image64.png"/><Relationship Id="rId4" Type="http://schemas.openxmlformats.org/officeDocument/2006/relationships/image" Target="../media/image62.png"/><Relationship Id="rId5" Type="http://schemas.openxmlformats.org/officeDocument/2006/relationships/image" Target="../media/image72.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 Id="rId3" Type="http://schemas.openxmlformats.org/officeDocument/2006/relationships/image" Target="../media/image73.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 Id="rId3" Type="http://schemas.openxmlformats.org/officeDocument/2006/relationships/image" Target="../media/image76.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 Id="rId3" Type="http://schemas.openxmlformats.org/officeDocument/2006/relationships/image" Target="../media/image69.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0.xml"/><Relationship Id="rId3" Type="http://schemas.openxmlformats.org/officeDocument/2006/relationships/image" Target="../media/image77.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1.xml"/><Relationship Id="rId3" Type="http://schemas.openxmlformats.org/officeDocument/2006/relationships/image" Target="../media/image77.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2.xml"/><Relationship Id="rId3" Type="http://schemas.openxmlformats.org/officeDocument/2006/relationships/image" Target="../media/image71.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3.xml"/><Relationship Id="rId3" Type="http://schemas.openxmlformats.org/officeDocument/2006/relationships/image" Target="../media/image71.png"/><Relationship Id="rId4" Type="http://schemas.openxmlformats.org/officeDocument/2006/relationships/image" Target="../media/image78.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8.xml"/><Relationship Id="rId3" Type="http://schemas.openxmlformats.org/officeDocument/2006/relationships/image" Target="../media/image79.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5.xml"/><Relationship Id="rId3" Type="http://schemas.openxmlformats.org/officeDocument/2006/relationships/image" Target="../media/image84.pn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9.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1.xml"/><Relationship Id="rId3" Type="http://schemas.openxmlformats.org/officeDocument/2006/relationships/image" Target="../media/image83.png"/></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2.xml"/><Relationship Id="rId3" Type="http://schemas.openxmlformats.org/officeDocument/2006/relationships/image" Target="../media/image80.png"/></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3.xml"/><Relationship Id="rId3" Type="http://schemas.openxmlformats.org/officeDocument/2006/relationships/image" Target="../media/image80.png"/></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4.xml"/><Relationship Id="rId3" Type="http://schemas.openxmlformats.org/officeDocument/2006/relationships/image" Target="../media/image80.png"/></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9.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4.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5.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6.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8.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9.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0.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1.xml"/><Relationship Id="rId3" Type="http://schemas.openxmlformats.org/officeDocument/2006/relationships/image" Target="../media/image85.png"/></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2.xml"/><Relationship Id="rId3" Type="http://schemas.openxmlformats.org/officeDocument/2006/relationships/image" Target="../media/image85.png"/></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3.xml"/><Relationship Id="rId3" Type="http://schemas.openxmlformats.org/officeDocument/2006/relationships/image" Target="../media/image86.png"/></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4.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5.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6.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9.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0.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Finite State Machine </a:t>
            </a:r>
            <a:br>
              <a:rPr lang="en-IN" sz="3200"/>
            </a:br>
            <a:r>
              <a:rPr lang="en-IN" sz="3200"/>
              <a:t>Or</a:t>
            </a:r>
            <a:br>
              <a:rPr lang="en-IN" sz="3200"/>
            </a:br>
            <a:r>
              <a:rPr lang="en-IN" sz="3200"/>
              <a:t>Finite Automata</a:t>
            </a:r>
            <a:endParaRPr sz="3200"/>
          </a:p>
        </p:txBody>
      </p:sp>
      <p:sp>
        <p:nvSpPr>
          <p:cNvPr id="89" name="Google Shape;89;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lang="en-IN"/>
              <a:t>Module 1</a:t>
            </a:r>
            <a:endParaRPr/>
          </a:p>
        </p:txBody>
      </p:sp>
      <p:sp>
        <p:nvSpPr>
          <p:cNvPr id="90" name="Google Shape;90;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91" name="Google Shape;91;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92" name="Google Shape;9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Syllabus</a:t>
            </a:r>
            <a:endParaRPr/>
          </a:p>
        </p:txBody>
      </p:sp>
      <p:sp>
        <p:nvSpPr>
          <p:cNvPr id="98" name="Google Shape;98;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99" name="Google Shape;99;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00" name="Google Shape;100;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101" name="Google Shape;101;p2"/>
          <p:cNvPicPr preferRelativeResize="0"/>
          <p:nvPr>
            <p:ph idx="1" type="body"/>
          </p:nvPr>
        </p:nvPicPr>
        <p:blipFill rotWithShape="1">
          <a:blip r:embed="rId3">
            <a:alphaModFix/>
          </a:blip>
          <a:srcRect b="40155" l="20741" r="41050" t="25559"/>
          <a:stretch/>
        </p:blipFill>
        <p:spPr>
          <a:xfrm>
            <a:off x="395536" y="1844824"/>
            <a:ext cx="8237092" cy="415565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Computational models</a:t>
            </a:r>
            <a:endParaRPr/>
          </a:p>
        </p:txBody>
      </p:sp>
      <p:sp>
        <p:nvSpPr>
          <p:cNvPr id="107" name="Google Shape;107;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CMs</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Real computers are quite complicated to allow us to set up a manageable mathematical theory for them directly</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Instead we can use an idealized computer called computational model in order to begin the theory of computation</a:t>
            </a:r>
            <a:endParaRPr/>
          </a:p>
        </p:txBody>
      </p:sp>
      <p:sp>
        <p:nvSpPr>
          <p:cNvPr id="108" name="Google Shape;108;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09" name="Google Shape;109;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10" name="Google Shape;11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Finite automata</a:t>
            </a:r>
            <a:endParaRPr/>
          </a:p>
        </p:txBody>
      </p:sp>
      <p:sp>
        <p:nvSpPr>
          <p:cNvPr id="116" name="Google Shape;116;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The simplest computational model is called a finite state machine or a finite automaton</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FA are good models for computers with an extremely limited amount of memory</a:t>
            </a:r>
            <a:endParaRPr/>
          </a:p>
          <a:p>
            <a:pPr indent="-190500" lvl="0" marL="342900" rtl="0" algn="l">
              <a:spcBef>
                <a:spcPts val="480"/>
              </a:spcBef>
              <a:spcAft>
                <a:spcPts val="0"/>
              </a:spcAft>
              <a:buClr>
                <a:schemeClr val="dk1"/>
              </a:buClr>
              <a:buSzPts val="2400"/>
              <a:buNone/>
            </a:pPr>
            <a:r>
              <a:t/>
            </a:r>
            <a:endParaRPr sz="2400"/>
          </a:p>
        </p:txBody>
      </p:sp>
      <p:sp>
        <p:nvSpPr>
          <p:cNvPr id="117" name="Google Shape;11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18" name="Google Shape;118;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19" name="Google Shape;119;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Finite automata</a:t>
            </a:r>
            <a:endParaRPr/>
          </a:p>
        </p:txBody>
      </p:sp>
      <p:sp>
        <p:nvSpPr>
          <p:cNvPr id="125" name="Google Shape;125;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Before developing the mathematics of finite automata we will examine the usage of a concrete finite automaton: </a:t>
            </a:r>
            <a:endParaRPr sz="2400"/>
          </a:p>
          <a:p>
            <a:pPr indent="-285750" lvl="1" marL="742950" rtl="0" algn="l">
              <a:spcBef>
                <a:spcPts val="480"/>
              </a:spcBef>
              <a:spcAft>
                <a:spcPts val="0"/>
              </a:spcAft>
              <a:buClr>
                <a:schemeClr val="dk1"/>
              </a:buClr>
              <a:buSzPts val="2400"/>
              <a:buChar char="–"/>
            </a:pPr>
            <a:r>
              <a:rPr lang="en-IN" sz="2400"/>
              <a:t>The controller of an automatic door</a:t>
            </a:r>
            <a:endParaRPr/>
          </a:p>
        </p:txBody>
      </p:sp>
      <p:sp>
        <p:nvSpPr>
          <p:cNvPr id="126" name="Google Shape;126;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27" name="Google Shape;127;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28" name="Google Shape;128;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The controller of an automatic door</a:t>
            </a:r>
            <a:endParaRPr/>
          </a:p>
        </p:txBody>
      </p:sp>
      <p:sp>
        <p:nvSpPr>
          <p:cNvPr id="134" name="Google Shape;134;p6"/>
          <p:cNvSpPr txBox="1"/>
          <p:nvPr>
            <p:ph idx="1" type="body"/>
          </p:nvPr>
        </p:nvSpPr>
        <p:spPr>
          <a:xfrm>
            <a:off x="395536" y="126876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Automatic doors are often found at supermarket entrances and exits</a:t>
            </a:r>
            <a:endParaRPr/>
          </a:p>
          <a:p>
            <a:pPr indent="-342900" lvl="0" marL="342900" rtl="0" algn="l">
              <a:spcBef>
                <a:spcPts val="480"/>
              </a:spcBef>
              <a:spcAft>
                <a:spcPts val="0"/>
              </a:spcAft>
              <a:buClr>
                <a:schemeClr val="dk1"/>
              </a:buClr>
              <a:buSzPts val="2400"/>
              <a:buChar char="•"/>
            </a:pPr>
            <a:r>
              <a:rPr lang="en-IN" sz="2400"/>
              <a:t>An automatic door swing open when sensing that a person is approaching</a:t>
            </a:r>
            <a:endParaRPr/>
          </a:p>
        </p:txBody>
      </p:sp>
      <p:sp>
        <p:nvSpPr>
          <p:cNvPr id="135" name="Google Shape;135;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36" name="Google Shape;136;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37" name="Google Shape;1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id="138" name="Google Shape;138;p6"/>
          <p:cNvPicPr preferRelativeResize="0"/>
          <p:nvPr/>
        </p:nvPicPr>
        <p:blipFill rotWithShape="1">
          <a:blip r:embed="rId3">
            <a:alphaModFix/>
          </a:blip>
          <a:srcRect b="7936" l="20414" r="17674" t="46875"/>
          <a:stretch/>
        </p:blipFill>
        <p:spPr>
          <a:xfrm>
            <a:off x="755576" y="2924944"/>
            <a:ext cx="8055429" cy="330562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The controller of an automatic door</a:t>
            </a:r>
            <a:endParaRPr/>
          </a:p>
        </p:txBody>
      </p:sp>
      <p:pic>
        <p:nvPicPr>
          <p:cNvPr id="144" name="Google Shape;144;p7"/>
          <p:cNvPicPr preferRelativeResize="0"/>
          <p:nvPr/>
        </p:nvPicPr>
        <p:blipFill rotWithShape="1">
          <a:blip r:embed="rId3">
            <a:alphaModFix/>
          </a:blip>
          <a:srcRect b="36647" l="26680" r="40629" t="35891"/>
          <a:stretch/>
        </p:blipFill>
        <p:spPr>
          <a:xfrm>
            <a:off x="1979712" y="3356441"/>
            <a:ext cx="5117171" cy="2416905"/>
          </a:xfrm>
          <a:prstGeom prst="rect">
            <a:avLst/>
          </a:prstGeom>
          <a:noFill/>
          <a:ln>
            <a:noFill/>
          </a:ln>
        </p:spPr>
      </p:pic>
      <p:sp>
        <p:nvSpPr>
          <p:cNvPr id="145" name="Google Shape;145;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An automatic door is controlled by a simple automaton seen in Figure 1</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rgbClr val="FF0000"/>
              </a:buClr>
              <a:buSzPts val="2400"/>
              <a:buChar char="•"/>
            </a:pPr>
            <a:r>
              <a:rPr b="1" lang="en-IN" sz="2400">
                <a:solidFill>
                  <a:srgbClr val="FF0000"/>
                </a:solidFill>
              </a:rPr>
              <a:t>One way door</a:t>
            </a:r>
            <a:endParaRPr/>
          </a:p>
        </p:txBody>
      </p:sp>
      <p:sp>
        <p:nvSpPr>
          <p:cNvPr id="146" name="Google Shape;146;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47" name="Google Shape;147;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48" name="Google Shape;148;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Behaviour</a:t>
            </a:r>
            <a:endParaRPr b="1"/>
          </a:p>
        </p:txBody>
      </p:sp>
      <p:sp>
        <p:nvSpPr>
          <p:cNvPr id="154" name="Google Shape;154;p8"/>
          <p:cNvSpPr txBox="1"/>
          <p:nvPr>
            <p:ph idx="1" type="body"/>
          </p:nvPr>
        </p:nvSpPr>
        <p:spPr>
          <a:xfrm>
            <a:off x="323528" y="1196752"/>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An automatic door has a pad in front to detect the presence of a person about to walk through the door</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Another pad is located to the rear of the doorway so that the controller can hold the door open long enough for the person to pass all the way through</a:t>
            </a:r>
            <a:endParaRPr sz="2400"/>
          </a:p>
        </p:txBody>
      </p:sp>
      <p:sp>
        <p:nvSpPr>
          <p:cNvPr id="155" name="Google Shape;155;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56" name="Google Shape;156;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57" name="Google Shape;157;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id="158" name="Google Shape;158;p8"/>
          <p:cNvPicPr preferRelativeResize="0"/>
          <p:nvPr/>
        </p:nvPicPr>
        <p:blipFill rotWithShape="1">
          <a:blip r:embed="rId3">
            <a:alphaModFix/>
          </a:blip>
          <a:srcRect b="8262" l="54645" r="17673" t="46875"/>
          <a:stretch/>
        </p:blipFill>
        <p:spPr>
          <a:xfrm>
            <a:off x="4644008" y="3595611"/>
            <a:ext cx="2952328" cy="269018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States of the controller</a:t>
            </a:r>
            <a:endParaRPr/>
          </a:p>
        </p:txBody>
      </p:sp>
      <p:sp>
        <p:nvSpPr>
          <p:cNvPr id="164" name="Google Shape;164;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The controller is in either of two states:</a:t>
            </a:r>
            <a:endParaRPr/>
          </a:p>
          <a:p>
            <a:pPr indent="-285750" lvl="1" marL="742950" rtl="0" algn="l">
              <a:spcBef>
                <a:spcPts val="480"/>
              </a:spcBef>
              <a:spcAft>
                <a:spcPts val="0"/>
              </a:spcAft>
              <a:buClr>
                <a:schemeClr val="dk1"/>
              </a:buClr>
              <a:buSzPts val="2400"/>
              <a:buChar char="–"/>
            </a:pPr>
            <a:r>
              <a:rPr lang="en-IN" sz="2400"/>
              <a:t>open or closed</a:t>
            </a:r>
            <a:endParaRPr/>
          </a:p>
          <a:p>
            <a:pPr indent="-285750" lvl="1" marL="742950" rtl="0" algn="l">
              <a:spcBef>
                <a:spcPts val="480"/>
              </a:spcBef>
              <a:spcAft>
                <a:spcPts val="0"/>
              </a:spcAft>
              <a:buClr>
                <a:schemeClr val="dk1"/>
              </a:buClr>
              <a:buSzPts val="2400"/>
              <a:buChar char="–"/>
            </a:pPr>
            <a:r>
              <a:rPr lang="en-IN" sz="2400"/>
              <a:t>representing the condition of the door</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There are 4 possible input conditions:</a:t>
            </a:r>
            <a:endParaRPr/>
          </a:p>
          <a:p>
            <a:pPr indent="-285750" lvl="1" marL="742950" rtl="0" algn="l">
              <a:spcBef>
                <a:spcPts val="480"/>
              </a:spcBef>
              <a:spcAft>
                <a:spcPts val="0"/>
              </a:spcAft>
              <a:buClr>
                <a:schemeClr val="dk1"/>
              </a:buClr>
              <a:buSzPts val="2400"/>
              <a:buChar char="–"/>
            </a:pPr>
            <a:r>
              <a:rPr lang="en-IN" sz="2400"/>
              <a:t>front, meaning that a person is standing on the front pad</a:t>
            </a:r>
            <a:endParaRPr/>
          </a:p>
          <a:p>
            <a:pPr indent="-285750" lvl="1" marL="742950" rtl="0" algn="l">
              <a:spcBef>
                <a:spcPts val="480"/>
              </a:spcBef>
              <a:spcAft>
                <a:spcPts val="0"/>
              </a:spcAft>
              <a:buClr>
                <a:schemeClr val="dk1"/>
              </a:buClr>
              <a:buSzPts val="2400"/>
              <a:buChar char="–"/>
            </a:pPr>
            <a:r>
              <a:rPr lang="en-IN" sz="2400"/>
              <a:t>rear, meaning that a person is standing on the rear pad</a:t>
            </a:r>
            <a:endParaRPr/>
          </a:p>
          <a:p>
            <a:pPr indent="-285750" lvl="1" marL="742950" rtl="0" algn="l">
              <a:spcBef>
                <a:spcPts val="480"/>
              </a:spcBef>
              <a:spcAft>
                <a:spcPts val="0"/>
              </a:spcAft>
              <a:buClr>
                <a:schemeClr val="dk1"/>
              </a:buClr>
              <a:buSzPts val="2400"/>
              <a:buChar char="–"/>
            </a:pPr>
            <a:r>
              <a:rPr lang="en-IN" sz="2400"/>
              <a:t>both, meaning that people are standing on both pads</a:t>
            </a:r>
            <a:endParaRPr/>
          </a:p>
          <a:p>
            <a:pPr indent="-285750" lvl="1" marL="742950" rtl="0" algn="l">
              <a:spcBef>
                <a:spcPts val="480"/>
              </a:spcBef>
              <a:spcAft>
                <a:spcPts val="0"/>
              </a:spcAft>
              <a:buClr>
                <a:schemeClr val="dk1"/>
              </a:buClr>
              <a:buSzPts val="2400"/>
              <a:buChar char="–"/>
            </a:pPr>
            <a:r>
              <a:rPr lang="en-IN" sz="2400"/>
              <a:t>neither, meaning that no one is standing on either pad</a:t>
            </a:r>
            <a:endParaRPr/>
          </a:p>
        </p:txBody>
      </p:sp>
      <p:sp>
        <p:nvSpPr>
          <p:cNvPr id="165" name="Google Shape;165;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66" name="Google Shape;166;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67" name="Google Shape;167;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68" name="Google Shape;168;p9"/>
          <p:cNvSpPr txBox="1"/>
          <p:nvPr/>
        </p:nvSpPr>
        <p:spPr>
          <a:xfrm>
            <a:off x="467544" y="2718048"/>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dk1"/>
              </a:buClr>
              <a:buSzPts val="4400"/>
              <a:buFont typeface="Calibri"/>
              <a:buNone/>
            </a:pPr>
            <a:r>
              <a:rPr b="1" i="0" lang="en-IN" sz="4400" u="none" cap="none" strike="noStrike">
                <a:solidFill>
                  <a:schemeClr val="dk1"/>
                </a:solidFill>
                <a:latin typeface="Calibri"/>
                <a:ea typeface="Calibri"/>
                <a:cs typeface="Calibri"/>
                <a:sym typeface="Calibri"/>
              </a:rPr>
              <a:t>Inputs to the controller</a:t>
            </a:r>
            <a:endParaRPr b="1" i="0" sz="4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0"/>
          <p:cNvSpPr txBox="1"/>
          <p:nvPr>
            <p:ph type="title"/>
          </p:nvPr>
        </p:nvSpPr>
        <p:spPr>
          <a:xfrm>
            <a:off x="553874" y="0"/>
            <a:ext cx="8229600" cy="41805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Interpretation</a:t>
            </a:r>
            <a:endParaRPr/>
          </a:p>
        </p:txBody>
      </p:sp>
      <p:sp>
        <p:nvSpPr>
          <p:cNvPr id="174" name="Google Shape;174;p10"/>
          <p:cNvSpPr txBox="1"/>
          <p:nvPr>
            <p:ph idx="1" type="body"/>
          </p:nvPr>
        </p:nvSpPr>
        <p:spPr>
          <a:xfrm>
            <a:off x="323528" y="661963"/>
            <a:ext cx="8229600" cy="291105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When controller is in the state closed and the input is REAR or NEITHER the controller remains in the state closed.</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In addition, If the input BOTH is received, it stays closed because opening the door risks knocking someone over the rear pad. But if input FRONT arrives, it moves to the open state</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39700" lvl="0" marL="342900" rtl="0" algn="l">
              <a:spcBef>
                <a:spcPts val="640"/>
              </a:spcBef>
              <a:spcAft>
                <a:spcPts val="0"/>
              </a:spcAft>
              <a:buClr>
                <a:schemeClr val="dk1"/>
              </a:buClr>
              <a:buSzPts val="3200"/>
              <a:buNone/>
            </a:pPr>
            <a:r>
              <a:t/>
            </a:r>
            <a:endParaRPr/>
          </a:p>
        </p:txBody>
      </p:sp>
      <p:sp>
        <p:nvSpPr>
          <p:cNvPr id="175" name="Google Shape;175;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76" name="Google Shape;176;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77" name="Google Shape;177;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id="178" name="Google Shape;178;p10"/>
          <p:cNvPicPr preferRelativeResize="0"/>
          <p:nvPr/>
        </p:nvPicPr>
        <p:blipFill rotWithShape="1">
          <a:blip r:embed="rId3">
            <a:alphaModFix/>
          </a:blip>
          <a:srcRect b="7936" l="20414" r="17674" t="46875"/>
          <a:stretch/>
        </p:blipFill>
        <p:spPr>
          <a:xfrm>
            <a:off x="755576" y="3789040"/>
            <a:ext cx="8055429" cy="244153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1"/>
          <p:cNvSpPr txBox="1"/>
          <p:nvPr>
            <p:ph type="title"/>
          </p:nvPr>
        </p:nvSpPr>
        <p:spPr>
          <a:xfrm>
            <a:off x="553874" y="0"/>
            <a:ext cx="8229600" cy="41805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Interpretation</a:t>
            </a:r>
            <a:endParaRPr/>
          </a:p>
        </p:txBody>
      </p:sp>
      <p:sp>
        <p:nvSpPr>
          <p:cNvPr id="184" name="Google Shape;184;p11"/>
          <p:cNvSpPr txBox="1"/>
          <p:nvPr>
            <p:ph idx="1" type="body"/>
          </p:nvPr>
        </p:nvSpPr>
        <p:spPr>
          <a:xfrm>
            <a:off x="323528" y="980727"/>
            <a:ext cx="8229600" cy="122413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When controller is in the state closed and the input is front the controller moves to the state open</a:t>
            </a:r>
            <a:endParaRPr/>
          </a:p>
          <a:p>
            <a:pPr indent="-190500" lvl="0" marL="342900" rtl="0" algn="l">
              <a:spcBef>
                <a:spcPts val="480"/>
              </a:spcBef>
              <a:spcAft>
                <a:spcPts val="0"/>
              </a:spcAft>
              <a:buClr>
                <a:schemeClr val="dk1"/>
              </a:buClr>
              <a:buSzPts val="2400"/>
              <a:buNone/>
            </a:pPr>
            <a:r>
              <a:t/>
            </a:r>
            <a:endParaRPr sz="2400"/>
          </a:p>
          <a:p>
            <a:pPr indent="-139700" lvl="0" marL="342900" rtl="0" algn="l">
              <a:spcBef>
                <a:spcPts val="640"/>
              </a:spcBef>
              <a:spcAft>
                <a:spcPts val="0"/>
              </a:spcAft>
              <a:buClr>
                <a:schemeClr val="dk1"/>
              </a:buClr>
              <a:buSzPts val="3200"/>
              <a:buNone/>
            </a:pPr>
            <a:r>
              <a:t/>
            </a:r>
            <a:endParaRPr/>
          </a:p>
        </p:txBody>
      </p:sp>
      <p:sp>
        <p:nvSpPr>
          <p:cNvPr id="185" name="Google Shape;185;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86" name="Google Shape;186;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87" name="Google Shape;187;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id="188" name="Google Shape;188;p11"/>
          <p:cNvPicPr preferRelativeResize="0"/>
          <p:nvPr/>
        </p:nvPicPr>
        <p:blipFill rotWithShape="1">
          <a:blip r:embed="rId3">
            <a:alphaModFix/>
          </a:blip>
          <a:srcRect b="7936" l="20414" r="17674" t="46875"/>
          <a:stretch/>
        </p:blipFill>
        <p:spPr>
          <a:xfrm>
            <a:off x="755576" y="3789040"/>
            <a:ext cx="8055429" cy="244153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Interpretation</a:t>
            </a:r>
            <a:endParaRPr/>
          </a:p>
        </p:txBody>
      </p:sp>
      <p:sp>
        <p:nvSpPr>
          <p:cNvPr id="194" name="Google Shape;194;p12"/>
          <p:cNvSpPr txBox="1"/>
          <p:nvPr>
            <p:ph idx="1" type="body"/>
          </p:nvPr>
        </p:nvSpPr>
        <p:spPr>
          <a:xfrm>
            <a:off x="457200" y="1600201"/>
            <a:ext cx="8229600" cy="2188839"/>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b="1" lang="en-IN" sz="2400"/>
              <a:t>When the controller is in the state open </a:t>
            </a:r>
            <a:endParaRPr/>
          </a:p>
          <a:p>
            <a:pPr indent="-342900" lvl="0" marL="342900" rtl="0" algn="l">
              <a:spcBef>
                <a:spcPts val="444"/>
              </a:spcBef>
              <a:spcAft>
                <a:spcPts val="0"/>
              </a:spcAft>
              <a:buClr>
                <a:schemeClr val="dk1"/>
              </a:buClr>
              <a:buSzPct val="100000"/>
              <a:buChar char="•"/>
            </a:pPr>
            <a:r>
              <a:rPr b="1" lang="en-IN" sz="2400"/>
              <a:t>Input is one of front, rear, both, the controller remains in the state open</a:t>
            </a:r>
            <a:endParaRPr b="1" sz="2400"/>
          </a:p>
          <a:p>
            <a:pPr indent="-201930" lvl="0" marL="342900" rtl="0" algn="l">
              <a:spcBef>
                <a:spcPts val="444"/>
              </a:spcBef>
              <a:spcAft>
                <a:spcPts val="0"/>
              </a:spcAft>
              <a:buClr>
                <a:schemeClr val="dk1"/>
              </a:buClr>
              <a:buSzPct val="100000"/>
              <a:buNone/>
            </a:pPr>
            <a:r>
              <a:t/>
            </a:r>
            <a:endParaRPr sz="2400"/>
          </a:p>
          <a:p>
            <a:pPr indent="-342900" lvl="0" marL="342900" rtl="0" algn="l">
              <a:spcBef>
                <a:spcPts val="444"/>
              </a:spcBef>
              <a:spcAft>
                <a:spcPts val="0"/>
              </a:spcAft>
              <a:buClr>
                <a:schemeClr val="dk1"/>
              </a:buClr>
              <a:buSzPct val="100000"/>
              <a:buChar char="•"/>
            </a:pPr>
            <a:r>
              <a:rPr lang="en-IN" sz="2400"/>
              <a:t>When the controller is in the state open </a:t>
            </a:r>
            <a:endParaRPr sz="2400"/>
          </a:p>
          <a:p>
            <a:pPr indent="-342900" lvl="0" marL="342900" rtl="0" algn="l">
              <a:spcBef>
                <a:spcPts val="444"/>
              </a:spcBef>
              <a:spcAft>
                <a:spcPts val="0"/>
              </a:spcAft>
              <a:buClr>
                <a:schemeClr val="dk1"/>
              </a:buClr>
              <a:buSzPct val="100000"/>
              <a:buChar char="•"/>
            </a:pPr>
            <a:r>
              <a:rPr lang="en-IN" sz="2400"/>
              <a:t>Input is neither the controller moves to the state closed</a:t>
            </a:r>
            <a:endParaRPr sz="2400"/>
          </a:p>
        </p:txBody>
      </p:sp>
      <p:sp>
        <p:nvSpPr>
          <p:cNvPr id="195" name="Google Shape;195;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96" name="Google Shape;196;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97" name="Google Shape;19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id="198" name="Google Shape;198;p12"/>
          <p:cNvPicPr preferRelativeResize="0"/>
          <p:nvPr/>
        </p:nvPicPr>
        <p:blipFill rotWithShape="1">
          <a:blip r:embed="rId3">
            <a:alphaModFix/>
          </a:blip>
          <a:srcRect b="7936" l="20414" r="17674" t="46875"/>
          <a:stretch/>
        </p:blipFill>
        <p:spPr>
          <a:xfrm>
            <a:off x="755576" y="3789040"/>
            <a:ext cx="8055429" cy="244153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State transition diagram</a:t>
            </a:r>
            <a:endParaRPr/>
          </a:p>
        </p:txBody>
      </p:sp>
      <p:sp>
        <p:nvSpPr>
          <p:cNvPr id="204" name="Google Shape;204;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Depicts the movements of the controller from state to state depending upon the input it receives</a:t>
            </a:r>
            <a:endParaRPr/>
          </a:p>
          <a:p>
            <a:pPr indent="-342900" lvl="0" marL="342900" rtl="0" algn="l">
              <a:spcBef>
                <a:spcPts val="480"/>
              </a:spcBef>
              <a:spcAft>
                <a:spcPts val="0"/>
              </a:spcAft>
              <a:buClr>
                <a:schemeClr val="dk1"/>
              </a:buClr>
              <a:buSzPts val="2400"/>
              <a:buChar char="•"/>
            </a:pPr>
            <a:r>
              <a:rPr lang="en-IN" sz="2400"/>
              <a:t>Start State=Closed</a:t>
            </a:r>
            <a:endParaRPr sz="2400"/>
          </a:p>
        </p:txBody>
      </p:sp>
      <p:sp>
        <p:nvSpPr>
          <p:cNvPr id="205" name="Google Shape;20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06" name="Google Shape;20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07" name="Google Shape;207;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id="208" name="Google Shape;208;p13"/>
          <p:cNvPicPr preferRelativeResize="0"/>
          <p:nvPr/>
        </p:nvPicPr>
        <p:blipFill rotWithShape="1">
          <a:blip r:embed="rId3">
            <a:alphaModFix/>
          </a:blip>
          <a:srcRect b="32738" l="21195" r="21802" t="39683"/>
          <a:stretch/>
        </p:blipFill>
        <p:spPr>
          <a:xfrm>
            <a:off x="1043608" y="3429000"/>
            <a:ext cx="7416800" cy="201748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State transition diagram</a:t>
            </a:r>
            <a:endParaRPr/>
          </a:p>
        </p:txBody>
      </p:sp>
      <p:sp>
        <p:nvSpPr>
          <p:cNvPr id="214" name="Google Shape;214;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The state transition diagram of the controller,</a:t>
            </a:r>
            <a:endParaRPr/>
          </a:p>
        </p:txBody>
      </p:sp>
      <p:sp>
        <p:nvSpPr>
          <p:cNvPr id="215" name="Google Shape;21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16" name="Google Shape;21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17" name="Google Shape;217;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id="218" name="Google Shape;218;p14"/>
          <p:cNvPicPr preferRelativeResize="0"/>
          <p:nvPr/>
        </p:nvPicPr>
        <p:blipFill rotWithShape="1">
          <a:blip r:embed="rId3">
            <a:alphaModFix/>
          </a:blip>
          <a:srcRect b="6249" l="19634" r="18901" t="31747"/>
          <a:stretch/>
        </p:blipFill>
        <p:spPr>
          <a:xfrm>
            <a:off x="1619672" y="2276872"/>
            <a:ext cx="6341188" cy="359640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5"/>
          <p:cNvSpPr txBox="1"/>
          <p:nvPr>
            <p:ph type="title"/>
          </p:nvPr>
        </p:nvSpPr>
        <p:spPr>
          <a:xfrm>
            <a:off x="349188" y="33148"/>
            <a:ext cx="8229600" cy="562074"/>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State transition table</a:t>
            </a:r>
            <a:endParaRPr/>
          </a:p>
        </p:txBody>
      </p:sp>
      <p:sp>
        <p:nvSpPr>
          <p:cNvPr id="224" name="Google Shape;224;p15"/>
          <p:cNvSpPr txBox="1"/>
          <p:nvPr>
            <p:ph idx="1" type="body"/>
          </p:nvPr>
        </p:nvSpPr>
        <p:spPr>
          <a:xfrm>
            <a:off x="349188" y="675588"/>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The movement of the controller (and of the door) can also be represented by a table </a:t>
            </a:r>
            <a:endParaRPr sz="2400"/>
          </a:p>
          <a:p>
            <a:pPr indent="-342900" lvl="0" marL="342900" rtl="0" algn="l">
              <a:spcBef>
                <a:spcPts val="480"/>
              </a:spcBef>
              <a:spcAft>
                <a:spcPts val="0"/>
              </a:spcAft>
              <a:buClr>
                <a:schemeClr val="dk1"/>
              </a:buClr>
              <a:buSzPts val="2400"/>
              <a:buChar char="•"/>
            </a:pPr>
            <a:r>
              <a:rPr lang="en-IN" sz="2400"/>
              <a:t>Rows are labelled by the states </a:t>
            </a:r>
            <a:endParaRPr/>
          </a:p>
          <a:p>
            <a:pPr indent="-342900" lvl="0" marL="342900" rtl="0" algn="l">
              <a:spcBef>
                <a:spcPts val="480"/>
              </a:spcBef>
              <a:spcAft>
                <a:spcPts val="0"/>
              </a:spcAft>
              <a:buClr>
                <a:schemeClr val="dk1"/>
              </a:buClr>
              <a:buSzPts val="2400"/>
              <a:buChar char="•"/>
            </a:pPr>
            <a:r>
              <a:rPr lang="en-IN" sz="2400"/>
              <a:t>Columns are labeled by the input</a:t>
            </a:r>
            <a:endParaRPr sz="2400"/>
          </a:p>
        </p:txBody>
      </p:sp>
      <p:pic>
        <p:nvPicPr>
          <p:cNvPr id="225" name="Google Shape;225;p15"/>
          <p:cNvPicPr preferRelativeResize="0"/>
          <p:nvPr/>
        </p:nvPicPr>
        <p:blipFill rotWithShape="1">
          <a:blip r:embed="rId3">
            <a:alphaModFix/>
          </a:blip>
          <a:srcRect b="19047" l="18183" r="39539" t="75235"/>
          <a:stretch/>
        </p:blipFill>
        <p:spPr>
          <a:xfrm>
            <a:off x="1475656" y="5955172"/>
            <a:ext cx="6480720" cy="492690"/>
          </a:xfrm>
          <a:prstGeom prst="rect">
            <a:avLst/>
          </a:prstGeom>
          <a:noFill/>
          <a:ln>
            <a:noFill/>
          </a:ln>
        </p:spPr>
      </p:pic>
      <p:sp>
        <p:nvSpPr>
          <p:cNvPr id="226" name="Google Shape;226;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27" name="Google Shape;227;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28" name="Google Shape;22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id="229" name="Google Shape;229;p15"/>
          <p:cNvPicPr preferRelativeResize="0"/>
          <p:nvPr/>
        </p:nvPicPr>
        <p:blipFill rotWithShape="1">
          <a:blip r:embed="rId4">
            <a:alphaModFix/>
          </a:blip>
          <a:srcRect b="18849" l="16844" r="15331" t="24999"/>
          <a:stretch/>
        </p:blipFill>
        <p:spPr>
          <a:xfrm>
            <a:off x="1171587" y="2420887"/>
            <a:ext cx="7088857" cy="329958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Exercise</a:t>
            </a:r>
            <a:endParaRPr/>
          </a:p>
        </p:txBody>
      </p:sp>
      <p:sp>
        <p:nvSpPr>
          <p:cNvPr id="235" name="Google Shape;235;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IN"/>
              <a:t>How should we change the state diagram if we have a sliding door?</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IN"/>
              <a:t>Try it Out!!</a:t>
            </a:r>
            <a:endParaRPr/>
          </a:p>
        </p:txBody>
      </p:sp>
      <p:sp>
        <p:nvSpPr>
          <p:cNvPr id="236" name="Google Shape;23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37" name="Google Shape;23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38" name="Google Shape;23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44" name="Google Shape;244;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This controller is a computer that has just a single bit of memory capable of recording the two states of the controller.</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Other common devices have larger memories.</a:t>
            </a:r>
            <a:endParaRPr sz="2400"/>
          </a:p>
        </p:txBody>
      </p:sp>
      <p:sp>
        <p:nvSpPr>
          <p:cNvPr id="245" name="Google Shape;24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46" name="Google Shape;24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47" name="Google Shape;24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Examples</a:t>
            </a:r>
            <a:endParaRPr/>
          </a:p>
        </p:txBody>
      </p:sp>
      <p:sp>
        <p:nvSpPr>
          <p:cNvPr id="253" name="Google Shape;253;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Other similar devices need controllers with larger memory.</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a:t>
            </a:r>
            <a:endParaRPr sz="2400"/>
          </a:p>
          <a:p>
            <a:pPr indent="0" lvl="0" marL="0" rtl="0" algn="l">
              <a:spcBef>
                <a:spcPts val="480"/>
              </a:spcBef>
              <a:spcAft>
                <a:spcPts val="0"/>
              </a:spcAft>
              <a:buClr>
                <a:schemeClr val="dk1"/>
              </a:buClr>
              <a:buSzPts val="2400"/>
              <a:buNone/>
            </a:pPr>
            <a:r>
              <a:t/>
            </a:r>
            <a:endParaRPr sz="2400"/>
          </a:p>
        </p:txBody>
      </p:sp>
      <p:sp>
        <p:nvSpPr>
          <p:cNvPr id="254" name="Google Shape;254;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55" name="Google Shape;255;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56" name="Google Shape;25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Examples</a:t>
            </a:r>
            <a:endParaRPr/>
          </a:p>
        </p:txBody>
      </p:sp>
      <p:sp>
        <p:nvSpPr>
          <p:cNvPr id="262" name="Google Shape;262;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Example-</a:t>
            </a:r>
            <a:endParaRPr/>
          </a:p>
          <a:p>
            <a:pPr indent="-342900" lvl="0" marL="342900" rtl="0" algn="l">
              <a:spcBef>
                <a:spcPts val="480"/>
              </a:spcBef>
              <a:spcAft>
                <a:spcPts val="0"/>
              </a:spcAft>
              <a:buClr>
                <a:schemeClr val="dk1"/>
              </a:buClr>
              <a:buSzPts val="2400"/>
              <a:buChar char="•"/>
            </a:pPr>
            <a:r>
              <a:rPr lang="en-IN" sz="2400"/>
              <a:t>A state of the controller of an elevator may represent the floor the elevator is on and the inputs may be signals received from other floors</a:t>
            </a:r>
            <a:endParaRPr/>
          </a:p>
          <a:p>
            <a:pPr indent="-190500" lvl="0" marL="342900" rtl="0" algn="l">
              <a:spcBef>
                <a:spcPts val="480"/>
              </a:spcBef>
              <a:spcAft>
                <a:spcPts val="0"/>
              </a:spcAft>
              <a:buClr>
                <a:schemeClr val="dk1"/>
              </a:buClr>
              <a:buSzPts val="2400"/>
              <a:buNone/>
            </a:pPr>
            <a:r>
              <a:t/>
            </a:r>
            <a:endParaRPr sz="2400"/>
          </a:p>
        </p:txBody>
      </p:sp>
      <p:sp>
        <p:nvSpPr>
          <p:cNvPr id="263" name="Google Shape;26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64" name="Google Shape;26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65" name="Google Shape;2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Examples of FSM</a:t>
            </a:r>
            <a:endParaRPr/>
          </a:p>
        </p:txBody>
      </p:sp>
      <p:sp>
        <p:nvSpPr>
          <p:cNvPr id="271" name="Google Shape;271;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Example-</a:t>
            </a:r>
            <a:endParaRPr/>
          </a:p>
          <a:p>
            <a:pPr indent="-342900" lvl="0" marL="342900" rtl="0" algn="l">
              <a:spcBef>
                <a:spcPts val="480"/>
              </a:spcBef>
              <a:spcAft>
                <a:spcPts val="0"/>
              </a:spcAft>
              <a:buClr>
                <a:schemeClr val="dk1"/>
              </a:buClr>
              <a:buSzPts val="2400"/>
              <a:buChar char="•"/>
            </a:pPr>
            <a:r>
              <a:rPr lang="en-IN" sz="2400"/>
              <a:t>Controllers of various household appliances such as </a:t>
            </a:r>
            <a:endParaRPr/>
          </a:p>
          <a:p>
            <a:pPr indent="-285750" lvl="1" marL="742950" rtl="0" algn="l">
              <a:spcBef>
                <a:spcPts val="480"/>
              </a:spcBef>
              <a:spcAft>
                <a:spcPts val="0"/>
              </a:spcAft>
              <a:buClr>
                <a:schemeClr val="dk1"/>
              </a:buClr>
              <a:buSzPts val="2400"/>
              <a:buChar char="–"/>
            </a:pPr>
            <a:r>
              <a:rPr lang="en-IN" sz="2400"/>
              <a:t>dishwashers, </a:t>
            </a:r>
            <a:endParaRPr/>
          </a:p>
          <a:p>
            <a:pPr indent="-285750" lvl="1" marL="742950" rtl="0" algn="l">
              <a:spcBef>
                <a:spcPts val="480"/>
              </a:spcBef>
              <a:spcAft>
                <a:spcPts val="0"/>
              </a:spcAft>
              <a:buClr>
                <a:schemeClr val="dk1"/>
              </a:buClr>
              <a:buSzPts val="2400"/>
              <a:buChar char="–"/>
            </a:pPr>
            <a:r>
              <a:rPr lang="en-IN" sz="2400"/>
              <a:t>electronic thermostats , </a:t>
            </a:r>
            <a:endParaRPr/>
          </a:p>
          <a:p>
            <a:pPr indent="-285750" lvl="1" marL="742950" rtl="0" algn="l">
              <a:spcBef>
                <a:spcPts val="480"/>
              </a:spcBef>
              <a:spcAft>
                <a:spcPts val="0"/>
              </a:spcAft>
              <a:buClr>
                <a:schemeClr val="dk1"/>
              </a:buClr>
              <a:buSzPts val="2400"/>
              <a:buChar char="–"/>
            </a:pPr>
            <a:r>
              <a:rPr lang="en-IN" sz="2400"/>
              <a:t>parts of digital watches, </a:t>
            </a:r>
            <a:endParaRPr/>
          </a:p>
          <a:p>
            <a:pPr indent="-285750" lvl="1" marL="742950" rtl="0" algn="l">
              <a:spcBef>
                <a:spcPts val="480"/>
              </a:spcBef>
              <a:spcAft>
                <a:spcPts val="0"/>
              </a:spcAft>
              <a:buClr>
                <a:schemeClr val="dk1"/>
              </a:buClr>
              <a:buSzPts val="2400"/>
              <a:buChar char="–"/>
            </a:pPr>
            <a:r>
              <a:rPr lang="en-IN" sz="2400"/>
              <a:t>calculators </a:t>
            </a:r>
            <a:endParaRPr/>
          </a:p>
          <a:p>
            <a:pPr indent="-285750" lvl="1" marL="742950" rtl="0" algn="l">
              <a:spcBef>
                <a:spcPts val="480"/>
              </a:spcBef>
              <a:spcAft>
                <a:spcPts val="0"/>
              </a:spcAft>
              <a:buClr>
                <a:schemeClr val="dk1"/>
              </a:buClr>
              <a:buSzPts val="2400"/>
              <a:buChar char="–"/>
            </a:pPr>
            <a:r>
              <a:rPr lang="en-IN" sz="2400"/>
              <a:t>are computers with limited memories.</a:t>
            </a:r>
            <a:endParaRPr sz="2400"/>
          </a:p>
          <a:p>
            <a:pPr indent="-190500" lvl="0" marL="342900" rtl="0" algn="l">
              <a:spcBef>
                <a:spcPts val="480"/>
              </a:spcBef>
              <a:spcAft>
                <a:spcPts val="0"/>
              </a:spcAft>
              <a:buClr>
                <a:schemeClr val="dk1"/>
              </a:buClr>
              <a:buSzPts val="2400"/>
              <a:buNone/>
            </a:pPr>
            <a:r>
              <a:t/>
            </a:r>
            <a:endParaRPr sz="2400"/>
          </a:p>
        </p:txBody>
      </p:sp>
      <p:sp>
        <p:nvSpPr>
          <p:cNvPr id="272" name="Google Shape;2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73" name="Google Shape;2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74" name="Google Shape;27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Examples of FSM</a:t>
            </a:r>
            <a:endParaRPr/>
          </a:p>
        </p:txBody>
      </p:sp>
      <p:sp>
        <p:nvSpPr>
          <p:cNvPr id="280" name="Google Shape;280;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A switching circuit, such as the control unit of a computer.</a:t>
            </a:r>
            <a:endParaRPr/>
          </a:p>
          <a:p>
            <a:pPr indent="-342900" lvl="0" marL="342900" rtl="0" algn="l">
              <a:spcBef>
                <a:spcPts val="480"/>
              </a:spcBef>
              <a:spcAft>
                <a:spcPts val="0"/>
              </a:spcAft>
              <a:buClr>
                <a:schemeClr val="dk1"/>
              </a:buClr>
              <a:buSzPts val="2400"/>
              <a:buChar char="•"/>
            </a:pPr>
            <a:r>
              <a:rPr lang="en-IN" sz="2400"/>
              <a:t>A switching circuit is composed of a finite number of gates, each of which can be in one of two conditions, usually denoted 0 and 1.</a:t>
            </a:r>
            <a:endParaRPr/>
          </a:p>
          <a:p>
            <a:pPr indent="-342900" lvl="0" marL="342900" rtl="0" algn="l">
              <a:spcBef>
                <a:spcPts val="480"/>
              </a:spcBef>
              <a:spcAft>
                <a:spcPts val="0"/>
              </a:spcAft>
              <a:buClr>
                <a:schemeClr val="dk1"/>
              </a:buClr>
              <a:buSzPts val="2400"/>
              <a:buChar char="•"/>
            </a:pPr>
            <a:r>
              <a:rPr lang="en-IN" sz="2400"/>
              <a:t>The state of a switching network with n gates is thus any one of the 2</a:t>
            </a:r>
            <a:r>
              <a:rPr baseline="30000" lang="en-IN" sz="2400"/>
              <a:t>n</a:t>
            </a:r>
            <a:r>
              <a:rPr lang="en-IN" sz="2400"/>
              <a:t> assignments of 0 or 1 to the various gates </a:t>
            </a:r>
            <a:endParaRPr/>
          </a:p>
          <a:p>
            <a:pPr indent="0" lvl="0" marL="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281" name="Google Shape;28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82" name="Google Shape;28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83" name="Google Shape;283;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Examples of FSM</a:t>
            </a:r>
            <a:endParaRPr/>
          </a:p>
        </p:txBody>
      </p:sp>
      <p:sp>
        <p:nvSpPr>
          <p:cNvPr id="289" name="Google Shape;289;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Although the voltages on each gate can assume any of an infinite set of values, the electronic circuits are so designed that only two of the voltages corresponding to 0 and 1 are stable and other voltages instantaneously adjust themselves to one of these voltages.</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Thus, It a FSM that separated the logical design of a computer from the electronic implementation</a:t>
            </a:r>
            <a:endParaRPr/>
          </a:p>
          <a:p>
            <a:pPr indent="0" lvl="0" marL="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290" name="Google Shape;290;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91" name="Google Shape;291;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92" name="Google Shape;29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Design a FSM for JK Flip Flop</a:t>
            </a:r>
            <a:endParaRPr/>
          </a:p>
        </p:txBody>
      </p:sp>
      <p:sp>
        <p:nvSpPr>
          <p:cNvPr id="298" name="Google Shape;298;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299" name="Google Shape;299;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00" name="Google Shape;300;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01" name="Google Shape;301;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4"/>
          <p:cNvSpPr txBox="1"/>
          <p:nvPr>
            <p:ph type="title"/>
          </p:nvPr>
        </p:nvSpPr>
        <p:spPr>
          <a:xfrm>
            <a:off x="467544" y="0"/>
            <a:ext cx="8229600" cy="41805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FSM for JK Flip Flop</a:t>
            </a:r>
            <a:endParaRPr/>
          </a:p>
        </p:txBody>
      </p:sp>
      <p:sp>
        <p:nvSpPr>
          <p:cNvPr id="307" name="Google Shape;30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08" name="Google Shape;30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09" name="Google Shape;30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10" name="Google Shape;310;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id="311" name="Google Shape;311;p24"/>
          <p:cNvPicPr preferRelativeResize="0"/>
          <p:nvPr/>
        </p:nvPicPr>
        <p:blipFill rotWithShape="1">
          <a:blip r:embed="rId3">
            <a:alphaModFix/>
          </a:blip>
          <a:srcRect b="33532" l="37594" r="22248" t="27380"/>
          <a:stretch/>
        </p:blipFill>
        <p:spPr>
          <a:xfrm>
            <a:off x="431138" y="548680"/>
            <a:ext cx="5225143" cy="285931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5"/>
          <p:cNvSpPr txBox="1"/>
          <p:nvPr>
            <p:ph type="title"/>
          </p:nvPr>
        </p:nvSpPr>
        <p:spPr>
          <a:xfrm>
            <a:off x="467544" y="0"/>
            <a:ext cx="8229600" cy="41805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FSM for JK Flip Flop</a:t>
            </a:r>
            <a:endParaRPr/>
          </a:p>
        </p:txBody>
      </p:sp>
      <p:sp>
        <p:nvSpPr>
          <p:cNvPr id="317" name="Google Shape;317;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18" name="Google Shape;31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19" name="Google Shape;31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20" name="Google Shape;320;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id="321" name="Google Shape;321;p25"/>
          <p:cNvPicPr preferRelativeResize="0"/>
          <p:nvPr/>
        </p:nvPicPr>
        <p:blipFill rotWithShape="1">
          <a:blip r:embed="rId3">
            <a:alphaModFix/>
          </a:blip>
          <a:srcRect b="33532" l="37594" r="22248" t="27380"/>
          <a:stretch/>
        </p:blipFill>
        <p:spPr>
          <a:xfrm>
            <a:off x="431138" y="548680"/>
            <a:ext cx="5225143" cy="2859315"/>
          </a:xfrm>
          <a:prstGeom prst="rect">
            <a:avLst/>
          </a:prstGeom>
          <a:noFill/>
          <a:ln>
            <a:noFill/>
          </a:ln>
        </p:spPr>
      </p:pic>
      <p:pic>
        <p:nvPicPr>
          <p:cNvPr id="322" name="Google Shape;322;p25"/>
          <p:cNvPicPr preferRelativeResize="0"/>
          <p:nvPr/>
        </p:nvPicPr>
        <p:blipFill rotWithShape="1">
          <a:blip r:embed="rId4">
            <a:alphaModFix/>
          </a:blip>
          <a:srcRect b="32671" l="24975" r="31791" t="28124"/>
          <a:stretch/>
        </p:blipFill>
        <p:spPr>
          <a:xfrm>
            <a:off x="3347864" y="3439362"/>
            <a:ext cx="5624946" cy="286789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Examples of FSM</a:t>
            </a:r>
            <a:endParaRPr/>
          </a:p>
        </p:txBody>
      </p:sp>
      <p:sp>
        <p:nvSpPr>
          <p:cNvPr id="328" name="Google Shape;328;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Certain commonly used programs such as text editors and the lexical analyzers found in most compliers are often designed as finite state systems.</a:t>
            </a:r>
            <a:endParaRPr/>
          </a:p>
        </p:txBody>
      </p:sp>
      <p:sp>
        <p:nvSpPr>
          <p:cNvPr id="329" name="Google Shape;32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30" name="Google Shape;33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31" name="Google Shape;33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Examples of FSM</a:t>
            </a:r>
            <a:endParaRPr/>
          </a:p>
        </p:txBody>
      </p:sp>
      <p:sp>
        <p:nvSpPr>
          <p:cNvPr id="337" name="Google Shape;337;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2400"/>
              <a:buChar char="•"/>
            </a:pPr>
            <a:r>
              <a:rPr lang="en-IN" sz="2400"/>
              <a:t>For example, a lexical analyzer scans the symbols of a computer program to locate the strings of characters corresponding to </a:t>
            </a:r>
            <a:endParaRPr/>
          </a:p>
          <a:p>
            <a:pPr indent="-342900" lvl="0" marL="342900" rtl="0" algn="l">
              <a:spcBef>
                <a:spcPts val="480"/>
              </a:spcBef>
              <a:spcAft>
                <a:spcPts val="0"/>
              </a:spcAft>
              <a:buClr>
                <a:schemeClr val="dk1"/>
              </a:buClr>
              <a:buSzPts val="2400"/>
              <a:buChar char="•"/>
            </a:pPr>
            <a:r>
              <a:rPr b="1" lang="en-IN" sz="2400"/>
              <a:t>identifiers, </a:t>
            </a:r>
            <a:endParaRPr/>
          </a:p>
          <a:p>
            <a:pPr indent="-342900" lvl="0" marL="342900" rtl="0" algn="l">
              <a:spcBef>
                <a:spcPts val="480"/>
              </a:spcBef>
              <a:spcAft>
                <a:spcPts val="0"/>
              </a:spcAft>
              <a:buClr>
                <a:schemeClr val="dk1"/>
              </a:buClr>
              <a:buSzPts val="2400"/>
              <a:buChar char="•"/>
            </a:pPr>
            <a:r>
              <a:rPr b="1" lang="en-IN" sz="2400"/>
              <a:t>numerical constants, </a:t>
            </a:r>
            <a:endParaRPr/>
          </a:p>
          <a:p>
            <a:pPr indent="-342900" lvl="0" marL="342900" rtl="0" algn="l">
              <a:spcBef>
                <a:spcPts val="480"/>
              </a:spcBef>
              <a:spcAft>
                <a:spcPts val="0"/>
              </a:spcAft>
              <a:buClr>
                <a:schemeClr val="dk1"/>
              </a:buClr>
              <a:buSzPts val="2400"/>
              <a:buChar char="•"/>
            </a:pPr>
            <a:r>
              <a:rPr b="1" lang="en-IN" sz="2400"/>
              <a:t>reserved words</a:t>
            </a:r>
            <a:r>
              <a:rPr lang="en-IN" sz="2400"/>
              <a:t>, and so on.</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In this process the lexical analyzer needs to remember only a finite amount of information, </a:t>
            </a:r>
            <a:endParaRPr/>
          </a:p>
          <a:p>
            <a:pPr indent="-285750" lvl="1" marL="742950" rtl="0" algn="l">
              <a:spcBef>
                <a:spcPts val="480"/>
              </a:spcBef>
              <a:spcAft>
                <a:spcPts val="0"/>
              </a:spcAft>
              <a:buClr>
                <a:schemeClr val="dk1"/>
              </a:buClr>
              <a:buSzPts val="2400"/>
              <a:buChar char="–"/>
            </a:pPr>
            <a:r>
              <a:rPr b="1" lang="en-IN" sz="2400"/>
              <a:t>such as how long a prefix of a reserved word it has seen since startup.</a:t>
            </a:r>
            <a:endParaRPr/>
          </a:p>
        </p:txBody>
      </p:sp>
      <p:sp>
        <p:nvSpPr>
          <p:cNvPr id="338" name="Google Shape;33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39" name="Google Shape;33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40" name="Google Shape;34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8"/>
          <p:cNvSpPr txBox="1"/>
          <p:nvPr>
            <p:ph type="title"/>
          </p:nvPr>
        </p:nvSpPr>
        <p:spPr>
          <a:xfrm>
            <a:off x="457201" y="188640"/>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Wolf, Goat, and Cabbage problem</a:t>
            </a:r>
            <a:endParaRPr/>
          </a:p>
        </p:txBody>
      </p:sp>
      <p:sp>
        <p:nvSpPr>
          <p:cNvPr id="346" name="Google Shape;346;p28"/>
          <p:cNvSpPr txBox="1"/>
          <p:nvPr>
            <p:ph idx="1" type="body"/>
          </p:nvPr>
        </p:nvSpPr>
        <p:spPr>
          <a:xfrm>
            <a:off x="457201" y="764704"/>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A man with a wolf, goat, and cabbage is on the left bank of a river. </a:t>
            </a:r>
            <a:endParaRPr/>
          </a:p>
          <a:p>
            <a:pPr indent="-342900" lvl="0" marL="342900" rtl="0" algn="l">
              <a:spcBef>
                <a:spcPts val="480"/>
              </a:spcBef>
              <a:spcAft>
                <a:spcPts val="0"/>
              </a:spcAft>
              <a:buClr>
                <a:schemeClr val="dk1"/>
              </a:buClr>
              <a:buSzPts val="2400"/>
              <a:buChar char="•"/>
            </a:pPr>
            <a:r>
              <a:rPr lang="en-IN" sz="2400"/>
              <a:t>There is a boat large enough to carry the man and only one of the other three. </a:t>
            </a:r>
            <a:endParaRPr/>
          </a:p>
          <a:p>
            <a:pPr indent="-342900" lvl="0" marL="342900" rtl="0" algn="l">
              <a:spcBef>
                <a:spcPts val="480"/>
              </a:spcBef>
              <a:spcAft>
                <a:spcPts val="0"/>
              </a:spcAft>
              <a:buClr>
                <a:schemeClr val="dk1"/>
              </a:buClr>
              <a:buSzPts val="2400"/>
              <a:buChar char="•"/>
            </a:pPr>
            <a:r>
              <a:rPr lang="en-IN" sz="2400"/>
              <a:t>The man and his entourage wish to cross to the right bank, and the man can ferry each across, one at a time.</a:t>
            </a:r>
            <a:endParaRPr/>
          </a:p>
          <a:p>
            <a:pPr indent="-165100" lvl="0" marL="342900" rtl="0" algn="l">
              <a:spcBef>
                <a:spcPts val="560"/>
              </a:spcBef>
              <a:spcAft>
                <a:spcPts val="0"/>
              </a:spcAft>
              <a:buClr>
                <a:schemeClr val="dk1"/>
              </a:buClr>
              <a:buSzPts val="2800"/>
              <a:buNone/>
            </a:pPr>
            <a:r>
              <a:t/>
            </a:r>
            <a:endParaRPr sz="2800"/>
          </a:p>
        </p:txBody>
      </p:sp>
      <p:sp>
        <p:nvSpPr>
          <p:cNvPr id="347" name="Google Shape;347;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48" name="Google Shape;348;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49" name="Google Shape;349;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descr="Solving River-Crossing Puzzles with R" id="350" name="Google Shape;350;p28"/>
          <p:cNvPicPr preferRelativeResize="0"/>
          <p:nvPr/>
        </p:nvPicPr>
        <p:blipFill rotWithShape="1">
          <a:blip r:embed="rId3">
            <a:alphaModFix/>
          </a:blip>
          <a:srcRect b="0" l="0" r="0" t="0"/>
          <a:stretch/>
        </p:blipFill>
        <p:spPr>
          <a:xfrm>
            <a:off x="395537" y="3861048"/>
            <a:ext cx="4176464" cy="1914525"/>
          </a:xfrm>
          <a:prstGeom prst="rect">
            <a:avLst/>
          </a:prstGeom>
          <a:noFill/>
          <a:ln>
            <a:noFill/>
          </a:ln>
        </p:spPr>
      </p:pic>
      <p:pic>
        <p:nvPicPr>
          <p:cNvPr descr="River Crossing : Farmer, Wolf, Goat and Cabbage Puzzle | Puzzles World" id="351" name="Google Shape;351;p28"/>
          <p:cNvPicPr preferRelativeResize="0"/>
          <p:nvPr/>
        </p:nvPicPr>
        <p:blipFill rotWithShape="1">
          <a:blip r:embed="rId4">
            <a:alphaModFix/>
          </a:blip>
          <a:srcRect b="10962" l="0" r="0" t="0"/>
          <a:stretch/>
        </p:blipFill>
        <p:spPr>
          <a:xfrm>
            <a:off x="4572001" y="3276962"/>
            <a:ext cx="4276725" cy="309548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9"/>
          <p:cNvSpPr txBox="1"/>
          <p:nvPr>
            <p:ph idx="1" type="body"/>
          </p:nvPr>
        </p:nvSpPr>
        <p:spPr>
          <a:xfrm>
            <a:off x="457201" y="836712"/>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If the man leaves the wolf and goat unattended on either shore, the wolf will surely eat the goat.</a:t>
            </a:r>
            <a:endParaRPr/>
          </a:p>
          <a:p>
            <a:pPr indent="-342900" lvl="0" marL="342900" rtl="0" algn="l">
              <a:spcBef>
                <a:spcPts val="480"/>
              </a:spcBef>
              <a:spcAft>
                <a:spcPts val="0"/>
              </a:spcAft>
              <a:buClr>
                <a:schemeClr val="dk1"/>
              </a:buClr>
              <a:buSzPts val="2400"/>
              <a:buChar char="•"/>
            </a:pPr>
            <a:r>
              <a:rPr lang="en-IN" sz="2400"/>
              <a:t>If the goat and cabbage are left unattended, the goat will eat the cabbage.</a:t>
            </a:r>
            <a:endParaRPr/>
          </a:p>
          <a:p>
            <a:pPr indent="-342900" lvl="0" marL="342900" rtl="0" algn="l">
              <a:spcBef>
                <a:spcPts val="480"/>
              </a:spcBef>
              <a:spcAft>
                <a:spcPts val="0"/>
              </a:spcAft>
              <a:buClr>
                <a:schemeClr val="dk1"/>
              </a:buClr>
              <a:buSzPts val="2400"/>
              <a:buChar char="•"/>
            </a:pPr>
            <a:r>
              <a:rPr lang="en-IN" sz="2400"/>
              <a:t>Is it possible to cross the river without the goat or cabbage being eaten?</a:t>
            </a:r>
            <a:endParaRPr/>
          </a:p>
          <a:p>
            <a:pPr indent="-190500" lvl="0" marL="342900" rtl="0" algn="l">
              <a:spcBef>
                <a:spcPts val="480"/>
              </a:spcBef>
              <a:spcAft>
                <a:spcPts val="0"/>
              </a:spcAft>
              <a:buClr>
                <a:schemeClr val="dk1"/>
              </a:buClr>
              <a:buSzPts val="2400"/>
              <a:buNone/>
            </a:pPr>
            <a:r>
              <a:t/>
            </a:r>
            <a:endParaRPr sz="2400"/>
          </a:p>
        </p:txBody>
      </p:sp>
      <p:sp>
        <p:nvSpPr>
          <p:cNvPr id="357" name="Google Shape;35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58" name="Google Shape;35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59" name="Google Shape;359;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descr="Solving River-Crossing Puzzles with R" id="360" name="Google Shape;360;p29"/>
          <p:cNvPicPr preferRelativeResize="0"/>
          <p:nvPr/>
        </p:nvPicPr>
        <p:blipFill rotWithShape="1">
          <a:blip r:embed="rId3">
            <a:alphaModFix/>
          </a:blip>
          <a:srcRect b="0" l="0" r="0" t="0"/>
          <a:stretch/>
        </p:blipFill>
        <p:spPr>
          <a:xfrm>
            <a:off x="395537" y="3861048"/>
            <a:ext cx="4176464" cy="1914525"/>
          </a:xfrm>
          <a:prstGeom prst="rect">
            <a:avLst/>
          </a:prstGeom>
          <a:noFill/>
          <a:ln>
            <a:noFill/>
          </a:ln>
        </p:spPr>
      </p:pic>
      <p:pic>
        <p:nvPicPr>
          <p:cNvPr descr="River Crossing : Farmer, Wolf, Goat and Cabbage Puzzle | Puzzles World" id="361" name="Google Shape;361;p29"/>
          <p:cNvPicPr preferRelativeResize="0"/>
          <p:nvPr/>
        </p:nvPicPr>
        <p:blipFill rotWithShape="1">
          <a:blip r:embed="rId4">
            <a:alphaModFix/>
          </a:blip>
          <a:srcRect b="10962" l="0" r="0" t="0"/>
          <a:stretch/>
        </p:blipFill>
        <p:spPr>
          <a:xfrm>
            <a:off x="4572001" y="3276962"/>
            <a:ext cx="4276725" cy="3095481"/>
          </a:xfrm>
          <a:prstGeom prst="rect">
            <a:avLst/>
          </a:prstGeom>
          <a:noFill/>
          <a:ln>
            <a:noFill/>
          </a:ln>
        </p:spPr>
      </p:pic>
      <p:sp>
        <p:nvSpPr>
          <p:cNvPr id="362" name="Google Shape;362;p29"/>
          <p:cNvSpPr txBox="1"/>
          <p:nvPr>
            <p:ph type="title"/>
          </p:nvPr>
        </p:nvSpPr>
        <p:spPr>
          <a:xfrm>
            <a:off x="457201" y="188640"/>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Wolf, Goat, and Cabbage problem</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0"/>
          <p:cNvSpPr txBox="1"/>
          <p:nvPr>
            <p:ph idx="1" type="body"/>
          </p:nvPr>
        </p:nvSpPr>
        <p:spPr>
          <a:xfrm>
            <a:off x="457201" y="836712"/>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The problem is modelled by observing the occupants of each bank after a crossing.</a:t>
            </a:r>
            <a:endParaRPr/>
          </a:p>
          <a:p>
            <a:pPr indent="-342900" lvl="0" marL="342900" rtl="0" algn="l">
              <a:spcBef>
                <a:spcPts val="480"/>
              </a:spcBef>
              <a:spcAft>
                <a:spcPts val="0"/>
              </a:spcAft>
              <a:buClr>
                <a:schemeClr val="dk1"/>
              </a:buClr>
              <a:buSzPts val="2400"/>
              <a:buChar char="•"/>
            </a:pPr>
            <a:r>
              <a:rPr lang="en-IN" sz="2400"/>
              <a:t>There are 16 subsets of the man (M), wolf (W), goat (G), and cabbage (C). </a:t>
            </a:r>
            <a:endParaRPr/>
          </a:p>
        </p:txBody>
      </p:sp>
      <p:sp>
        <p:nvSpPr>
          <p:cNvPr id="368" name="Google Shape;36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69" name="Google Shape;36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70" name="Google Shape;370;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descr="Solving River-Crossing Puzzles with R" id="371" name="Google Shape;371;p30"/>
          <p:cNvPicPr preferRelativeResize="0"/>
          <p:nvPr/>
        </p:nvPicPr>
        <p:blipFill rotWithShape="1">
          <a:blip r:embed="rId3">
            <a:alphaModFix/>
          </a:blip>
          <a:srcRect b="0" l="0" r="0" t="0"/>
          <a:stretch/>
        </p:blipFill>
        <p:spPr>
          <a:xfrm>
            <a:off x="395537" y="4509120"/>
            <a:ext cx="2762719" cy="1728192"/>
          </a:xfrm>
          <a:prstGeom prst="rect">
            <a:avLst/>
          </a:prstGeom>
          <a:noFill/>
          <a:ln>
            <a:noFill/>
          </a:ln>
        </p:spPr>
      </p:pic>
      <p:sp>
        <p:nvSpPr>
          <p:cNvPr id="372" name="Google Shape;372;p30"/>
          <p:cNvSpPr txBox="1"/>
          <p:nvPr>
            <p:ph type="title"/>
          </p:nvPr>
        </p:nvSpPr>
        <p:spPr>
          <a:xfrm>
            <a:off x="457201" y="188640"/>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Wolf, Goat, and Cabbage problem</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1"/>
          <p:cNvSpPr txBox="1"/>
          <p:nvPr>
            <p:ph idx="1" type="body"/>
          </p:nvPr>
        </p:nvSpPr>
        <p:spPr>
          <a:xfrm>
            <a:off x="457201" y="836712"/>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States are labelled by hyphenated pairs </a:t>
            </a:r>
            <a:endParaRPr sz="2400"/>
          </a:p>
          <a:p>
            <a:pPr indent="-342900" lvl="0" marL="342900" rtl="0" algn="l">
              <a:spcBef>
                <a:spcPts val="480"/>
              </a:spcBef>
              <a:spcAft>
                <a:spcPts val="0"/>
              </a:spcAft>
              <a:buClr>
                <a:schemeClr val="dk1"/>
              </a:buClr>
              <a:buSzPts val="2400"/>
              <a:buChar char="•"/>
            </a:pPr>
            <a:r>
              <a:rPr b="1" lang="en-IN" sz="2400"/>
              <a:t>Left Bank Occupants-Right Bank Occupants</a:t>
            </a:r>
            <a:endParaRPr b="1" sz="2400"/>
          </a:p>
          <a:p>
            <a:pPr indent="-342900" lvl="0" marL="342900" rtl="0" algn="l">
              <a:spcBef>
                <a:spcPts val="480"/>
              </a:spcBef>
              <a:spcAft>
                <a:spcPts val="0"/>
              </a:spcAft>
              <a:buClr>
                <a:schemeClr val="dk1"/>
              </a:buClr>
              <a:buSzPts val="2400"/>
              <a:buChar char="•"/>
            </a:pPr>
            <a:r>
              <a:rPr lang="en-IN" sz="2400"/>
              <a:t>Symbols on left of the hyphen=subset on the left bank</a:t>
            </a:r>
            <a:endParaRPr/>
          </a:p>
          <a:p>
            <a:pPr indent="-342900" lvl="0" marL="342900" rtl="0" algn="l">
              <a:spcBef>
                <a:spcPts val="480"/>
              </a:spcBef>
              <a:spcAft>
                <a:spcPts val="0"/>
              </a:spcAft>
              <a:buClr>
                <a:schemeClr val="dk1"/>
              </a:buClr>
              <a:buSzPts val="2400"/>
              <a:buChar char="•"/>
            </a:pPr>
            <a:r>
              <a:rPr lang="en-IN" sz="2400"/>
              <a:t>Symbols on right of the hyphen=subset on the right bank</a:t>
            </a:r>
            <a:endParaRPr/>
          </a:p>
          <a:p>
            <a:pPr indent="-342900" lvl="0" marL="342900" rtl="0" algn="l">
              <a:spcBef>
                <a:spcPts val="480"/>
              </a:spcBef>
              <a:spcAft>
                <a:spcPts val="0"/>
              </a:spcAft>
              <a:buClr>
                <a:schemeClr val="dk1"/>
              </a:buClr>
              <a:buSzPts val="2400"/>
              <a:buChar char="•"/>
            </a:pPr>
            <a:r>
              <a:rPr lang="en-IN" sz="2400"/>
              <a:t>Eg: MG-WC</a:t>
            </a:r>
            <a:endParaRPr sz="2400"/>
          </a:p>
          <a:p>
            <a:pPr indent="-190500" lvl="0" marL="342900" rtl="0" algn="l">
              <a:spcBef>
                <a:spcPts val="480"/>
              </a:spcBef>
              <a:spcAft>
                <a:spcPts val="0"/>
              </a:spcAft>
              <a:buClr>
                <a:schemeClr val="dk1"/>
              </a:buClr>
              <a:buSzPts val="2400"/>
              <a:buNone/>
            </a:pPr>
            <a:r>
              <a:t/>
            </a:r>
            <a:endParaRPr sz="2400"/>
          </a:p>
        </p:txBody>
      </p:sp>
      <p:sp>
        <p:nvSpPr>
          <p:cNvPr id="378" name="Google Shape;378;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79" name="Google Shape;37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80" name="Google Shape;380;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descr="Solving River-Crossing Puzzles with R" id="381" name="Google Shape;381;p31"/>
          <p:cNvPicPr preferRelativeResize="0"/>
          <p:nvPr/>
        </p:nvPicPr>
        <p:blipFill rotWithShape="1">
          <a:blip r:embed="rId3">
            <a:alphaModFix/>
          </a:blip>
          <a:srcRect b="0" l="0" r="0" t="0"/>
          <a:stretch/>
        </p:blipFill>
        <p:spPr>
          <a:xfrm>
            <a:off x="395537" y="4509120"/>
            <a:ext cx="2762719" cy="1728192"/>
          </a:xfrm>
          <a:prstGeom prst="rect">
            <a:avLst/>
          </a:prstGeom>
          <a:noFill/>
          <a:ln>
            <a:noFill/>
          </a:ln>
        </p:spPr>
      </p:pic>
      <p:sp>
        <p:nvSpPr>
          <p:cNvPr id="382" name="Google Shape;382;p31"/>
          <p:cNvSpPr txBox="1"/>
          <p:nvPr>
            <p:ph type="title"/>
          </p:nvPr>
        </p:nvSpPr>
        <p:spPr>
          <a:xfrm>
            <a:off x="457201" y="188640"/>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Wolf, Goat, and Cabbage problem</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2"/>
          <p:cNvSpPr txBox="1"/>
          <p:nvPr>
            <p:ph idx="1" type="body"/>
          </p:nvPr>
        </p:nvSpPr>
        <p:spPr>
          <a:xfrm>
            <a:off x="457201" y="836712"/>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IN" sz="2400"/>
              <a:t>Fatal Combination-</a:t>
            </a:r>
            <a:endParaRPr b="1" sz="2400"/>
          </a:p>
          <a:p>
            <a:pPr indent="-342900" lvl="0" marL="342900" rtl="0" algn="l">
              <a:spcBef>
                <a:spcPts val="480"/>
              </a:spcBef>
              <a:spcAft>
                <a:spcPts val="0"/>
              </a:spcAft>
              <a:buClr>
                <a:schemeClr val="dk1"/>
              </a:buClr>
              <a:buSzPts val="2400"/>
              <a:buChar char="•"/>
            </a:pPr>
            <a:r>
              <a:rPr lang="en-IN" sz="2400"/>
              <a:t>GC-MW</a:t>
            </a:r>
            <a:endParaRPr/>
          </a:p>
          <a:p>
            <a:pPr indent="-342900" lvl="0" marL="342900" rtl="0" algn="l">
              <a:spcBef>
                <a:spcPts val="480"/>
              </a:spcBef>
              <a:spcAft>
                <a:spcPts val="0"/>
              </a:spcAft>
              <a:buClr>
                <a:schemeClr val="dk1"/>
              </a:buClr>
              <a:buSzPts val="2400"/>
              <a:buChar char="•"/>
            </a:pPr>
            <a:r>
              <a:rPr lang="en-IN" sz="2400"/>
              <a:t>GW-MC</a:t>
            </a:r>
            <a:endParaRPr sz="2400"/>
          </a:p>
          <a:p>
            <a:pPr indent="-342900" lvl="0" marL="342900" rtl="0" algn="l">
              <a:spcBef>
                <a:spcPts val="480"/>
              </a:spcBef>
              <a:spcAft>
                <a:spcPts val="0"/>
              </a:spcAft>
              <a:buClr>
                <a:schemeClr val="dk1"/>
              </a:buClr>
              <a:buSzPts val="2400"/>
              <a:buChar char="•"/>
            </a:pPr>
            <a:r>
              <a:rPr lang="en-IN" sz="2400"/>
              <a:t>These are fatal and may never be entered by the system</a:t>
            </a:r>
            <a:endParaRPr/>
          </a:p>
          <a:p>
            <a:pPr indent="-190500" lvl="0" marL="342900" rtl="0" algn="l">
              <a:spcBef>
                <a:spcPts val="480"/>
              </a:spcBef>
              <a:spcAft>
                <a:spcPts val="0"/>
              </a:spcAft>
              <a:buClr>
                <a:schemeClr val="dk1"/>
              </a:buClr>
              <a:buSzPts val="2400"/>
              <a:buNone/>
            </a:pPr>
            <a:r>
              <a:t/>
            </a:r>
            <a:endParaRPr sz="2400"/>
          </a:p>
        </p:txBody>
      </p:sp>
      <p:sp>
        <p:nvSpPr>
          <p:cNvPr id="388" name="Google Shape;38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89" name="Google Shape;38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90" name="Google Shape;390;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descr="Solving River-Crossing Puzzles with R" id="391" name="Google Shape;391;p32"/>
          <p:cNvPicPr preferRelativeResize="0"/>
          <p:nvPr/>
        </p:nvPicPr>
        <p:blipFill rotWithShape="1">
          <a:blip r:embed="rId3">
            <a:alphaModFix/>
          </a:blip>
          <a:srcRect b="0" l="0" r="0" t="0"/>
          <a:stretch/>
        </p:blipFill>
        <p:spPr>
          <a:xfrm>
            <a:off x="395537" y="4509120"/>
            <a:ext cx="2762719" cy="1728192"/>
          </a:xfrm>
          <a:prstGeom prst="rect">
            <a:avLst/>
          </a:prstGeom>
          <a:noFill/>
          <a:ln>
            <a:noFill/>
          </a:ln>
        </p:spPr>
      </p:pic>
      <p:sp>
        <p:nvSpPr>
          <p:cNvPr id="392" name="Google Shape;392;p32"/>
          <p:cNvSpPr txBox="1"/>
          <p:nvPr>
            <p:ph type="title"/>
          </p:nvPr>
        </p:nvSpPr>
        <p:spPr>
          <a:xfrm>
            <a:off x="457201" y="188640"/>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Wolf, Goat, and Cabbage problem</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3"/>
          <p:cNvSpPr txBox="1"/>
          <p:nvPr>
            <p:ph idx="1" type="body"/>
          </p:nvPr>
        </p:nvSpPr>
        <p:spPr>
          <a:xfrm>
            <a:off x="457201" y="836712"/>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The inputs are the action that the man takes</a:t>
            </a:r>
            <a:endParaRPr/>
          </a:p>
          <a:p>
            <a:pPr indent="-342900" lvl="0" marL="342900" rtl="0" algn="l">
              <a:spcBef>
                <a:spcPts val="480"/>
              </a:spcBef>
              <a:spcAft>
                <a:spcPts val="0"/>
              </a:spcAft>
              <a:buClr>
                <a:schemeClr val="dk1"/>
              </a:buClr>
              <a:buSzPts val="2400"/>
              <a:buChar char="•"/>
            </a:pPr>
            <a:r>
              <a:rPr lang="en-IN" sz="2400"/>
              <a:t>Man crosses alone=Input m</a:t>
            </a:r>
            <a:endParaRPr/>
          </a:p>
          <a:p>
            <a:pPr indent="-342900" lvl="0" marL="342900" rtl="0" algn="l">
              <a:spcBef>
                <a:spcPts val="480"/>
              </a:spcBef>
              <a:spcAft>
                <a:spcPts val="0"/>
              </a:spcAft>
              <a:buClr>
                <a:schemeClr val="dk1"/>
              </a:buClr>
              <a:buSzPts val="2400"/>
              <a:buChar char="•"/>
            </a:pPr>
            <a:r>
              <a:rPr lang="en-IN" sz="2400"/>
              <a:t>Man crosses with wolf=w</a:t>
            </a:r>
            <a:endParaRPr/>
          </a:p>
          <a:p>
            <a:pPr indent="-342900" lvl="0" marL="342900" rtl="0" algn="l">
              <a:spcBef>
                <a:spcPts val="480"/>
              </a:spcBef>
              <a:spcAft>
                <a:spcPts val="0"/>
              </a:spcAft>
              <a:buClr>
                <a:schemeClr val="dk1"/>
              </a:buClr>
              <a:buSzPts val="2400"/>
              <a:buChar char="•"/>
            </a:pPr>
            <a:r>
              <a:rPr lang="en-IN" sz="2400"/>
              <a:t>Man crosses with goat=g</a:t>
            </a:r>
            <a:endParaRPr/>
          </a:p>
          <a:p>
            <a:pPr indent="-342900" lvl="0" marL="342900" rtl="0" algn="l">
              <a:spcBef>
                <a:spcPts val="480"/>
              </a:spcBef>
              <a:spcAft>
                <a:spcPts val="0"/>
              </a:spcAft>
              <a:buClr>
                <a:schemeClr val="dk1"/>
              </a:buClr>
              <a:buSzPts val="2400"/>
              <a:buChar char="•"/>
            </a:pPr>
            <a:r>
              <a:rPr lang="en-IN" sz="2400"/>
              <a:t>Man crosses with cabbage=c</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Initial state=MWGC-ø</a:t>
            </a:r>
            <a:endParaRPr/>
          </a:p>
          <a:p>
            <a:pPr indent="-342900" lvl="0" marL="342900" rtl="0" algn="l">
              <a:spcBef>
                <a:spcPts val="480"/>
              </a:spcBef>
              <a:spcAft>
                <a:spcPts val="0"/>
              </a:spcAft>
              <a:buClr>
                <a:schemeClr val="dk1"/>
              </a:buClr>
              <a:buSzPts val="2400"/>
              <a:buChar char="•"/>
            </a:pPr>
            <a:r>
              <a:rPr lang="en-IN" sz="2400"/>
              <a:t>Final state=ø-MWGC</a:t>
            </a:r>
            <a:endParaRPr/>
          </a:p>
        </p:txBody>
      </p:sp>
      <p:sp>
        <p:nvSpPr>
          <p:cNvPr id="398" name="Google Shape;398;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99" name="Google Shape;399;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400" name="Google Shape;400;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descr="Solving River-Crossing Puzzles with R" id="401" name="Google Shape;401;p33"/>
          <p:cNvPicPr preferRelativeResize="0"/>
          <p:nvPr/>
        </p:nvPicPr>
        <p:blipFill rotWithShape="1">
          <a:blip r:embed="rId3">
            <a:alphaModFix/>
          </a:blip>
          <a:srcRect b="0" l="0" r="0" t="0"/>
          <a:stretch/>
        </p:blipFill>
        <p:spPr>
          <a:xfrm>
            <a:off x="395537" y="4572126"/>
            <a:ext cx="2664296" cy="1665186"/>
          </a:xfrm>
          <a:prstGeom prst="rect">
            <a:avLst/>
          </a:prstGeom>
          <a:noFill/>
          <a:ln>
            <a:noFill/>
          </a:ln>
        </p:spPr>
      </p:pic>
      <p:sp>
        <p:nvSpPr>
          <p:cNvPr id="402" name="Google Shape;402;p33"/>
          <p:cNvSpPr txBox="1"/>
          <p:nvPr>
            <p:ph type="title"/>
          </p:nvPr>
        </p:nvSpPr>
        <p:spPr>
          <a:xfrm>
            <a:off x="457201" y="188640"/>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Wolf, Goat, and Cabbage problem</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4"/>
          <p:cNvSpPr txBox="1"/>
          <p:nvPr>
            <p:ph idx="1" type="body"/>
          </p:nvPr>
        </p:nvSpPr>
        <p:spPr>
          <a:xfrm>
            <a:off x="457201" y="836712"/>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State Transition Diagram-</a:t>
            </a:r>
            <a:endParaRPr/>
          </a:p>
        </p:txBody>
      </p:sp>
      <p:sp>
        <p:nvSpPr>
          <p:cNvPr id="408" name="Google Shape;40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409" name="Google Shape;40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410" name="Google Shape;410;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id="411" name="Google Shape;411;p34"/>
          <p:cNvPicPr preferRelativeResize="0"/>
          <p:nvPr/>
        </p:nvPicPr>
        <p:blipFill rotWithShape="1">
          <a:blip r:embed="rId3">
            <a:alphaModFix/>
          </a:blip>
          <a:srcRect b="0" l="0" r="0" t="0"/>
          <a:stretch/>
        </p:blipFill>
        <p:spPr>
          <a:xfrm>
            <a:off x="827584" y="1430162"/>
            <a:ext cx="7092179" cy="4929168"/>
          </a:xfrm>
          <a:prstGeom prst="rect">
            <a:avLst/>
          </a:prstGeom>
          <a:noFill/>
          <a:ln>
            <a:noFill/>
          </a:ln>
        </p:spPr>
      </p:pic>
      <p:sp>
        <p:nvSpPr>
          <p:cNvPr id="412" name="Google Shape;412;p34"/>
          <p:cNvSpPr txBox="1"/>
          <p:nvPr>
            <p:ph type="title"/>
          </p:nvPr>
        </p:nvSpPr>
        <p:spPr>
          <a:xfrm>
            <a:off x="457201" y="188640"/>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Wolf, Goat, and Cabbage problem</a:t>
            </a:r>
            <a:endParaRPr/>
          </a:p>
        </p:txBody>
      </p:sp>
      <p:sp>
        <p:nvSpPr>
          <p:cNvPr id="413" name="Google Shape;413;p34"/>
          <p:cNvSpPr/>
          <p:nvPr/>
        </p:nvSpPr>
        <p:spPr>
          <a:xfrm>
            <a:off x="251520" y="2636912"/>
            <a:ext cx="3024336" cy="193899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b="0" i="0" lang="en-IN" sz="2400" u="none" cap="none" strike="noStrike">
                <a:solidFill>
                  <a:schemeClr val="dk1"/>
                </a:solidFill>
                <a:latin typeface="Calibri"/>
                <a:ea typeface="Calibri"/>
                <a:cs typeface="Calibri"/>
                <a:sym typeface="Calibri"/>
              </a:rPr>
              <a:t>Showing all legal moves</a:t>
            </a:r>
            <a:endParaRPr/>
          </a:p>
          <a:p>
            <a:pPr indent="-342900" lvl="0" marL="342900" marR="0" rtl="0" algn="l">
              <a:spcBef>
                <a:spcPts val="0"/>
              </a:spcBef>
              <a:spcAft>
                <a:spcPts val="0"/>
              </a:spcAft>
              <a:buClr>
                <a:schemeClr val="dk1"/>
              </a:buClr>
              <a:buSzPts val="2400"/>
              <a:buFont typeface="Arial"/>
              <a:buChar char="•"/>
            </a:pPr>
            <a:r>
              <a:rPr b="0" i="0" lang="en-IN" sz="2400" u="none" cap="none" strike="noStrike">
                <a:solidFill>
                  <a:schemeClr val="dk1"/>
                </a:solidFill>
                <a:latin typeface="Calibri"/>
                <a:ea typeface="Calibri"/>
                <a:cs typeface="Calibri"/>
                <a:sym typeface="Calibri"/>
              </a:rPr>
              <a:t>All reachable states</a:t>
            </a:r>
            <a:endParaRPr/>
          </a:p>
          <a:p>
            <a:pPr indent="-342900" lvl="0" marL="342900" marR="0" rtl="0" algn="l">
              <a:spcBef>
                <a:spcPts val="0"/>
              </a:spcBef>
              <a:spcAft>
                <a:spcPts val="0"/>
              </a:spcAft>
              <a:buClr>
                <a:schemeClr val="dk1"/>
              </a:buClr>
              <a:buSzPts val="2400"/>
              <a:buFont typeface="Arial"/>
              <a:buChar char="•"/>
            </a:pPr>
            <a:r>
              <a:rPr b="0" i="0" lang="en-IN" sz="2400" u="none" cap="none" strike="noStrike">
                <a:solidFill>
                  <a:schemeClr val="dk1"/>
                </a:solidFill>
                <a:latin typeface="Calibri"/>
                <a:ea typeface="Calibri"/>
                <a:cs typeface="Calibri"/>
                <a:sym typeface="Calibri"/>
              </a:rPr>
              <a:t>Start state and Final state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5"/>
          <p:cNvSpPr txBox="1"/>
          <p:nvPr>
            <p:ph idx="1" type="body"/>
          </p:nvPr>
        </p:nvSpPr>
        <p:spPr>
          <a:xfrm>
            <a:off x="457201" y="836712"/>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There are </a:t>
            </a:r>
            <a:r>
              <a:rPr b="1" lang="en-IN" sz="2400"/>
              <a:t>two equally short solutions </a:t>
            </a:r>
            <a:r>
              <a:rPr lang="en-IN" sz="2400"/>
              <a:t>to the problem, as can be seen by searching for paths form the initial state to the final state.</a:t>
            </a:r>
            <a:endParaRPr/>
          </a:p>
        </p:txBody>
      </p:sp>
      <p:sp>
        <p:nvSpPr>
          <p:cNvPr id="419" name="Google Shape;41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420" name="Google Shape;42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421" name="Google Shape;42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id="422" name="Google Shape;422;p35"/>
          <p:cNvPicPr preferRelativeResize="0"/>
          <p:nvPr/>
        </p:nvPicPr>
        <p:blipFill rotWithShape="1">
          <a:blip r:embed="rId3">
            <a:alphaModFix/>
          </a:blip>
          <a:srcRect b="0" l="0" r="0" t="0"/>
          <a:stretch/>
        </p:blipFill>
        <p:spPr>
          <a:xfrm>
            <a:off x="1403648" y="1948302"/>
            <a:ext cx="6336703" cy="4404101"/>
          </a:xfrm>
          <a:prstGeom prst="rect">
            <a:avLst/>
          </a:prstGeom>
          <a:noFill/>
          <a:ln>
            <a:noFill/>
          </a:ln>
        </p:spPr>
      </p:pic>
      <p:sp>
        <p:nvSpPr>
          <p:cNvPr id="423" name="Google Shape;423;p35"/>
          <p:cNvSpPr txBox="1"/>
          <p:nvPr>
            <p:ph type="title"/>
          </p:nvPr>
        </p:nvSpPr>
        <p:spPr>
          <a:xfrm>
            <a:off x="457201" y="188640"/>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Wolf, Goat, and Cabbage problem</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6"/>
          <p:cNvSpPr txBox="1"/>
          <p:nvPr>
            <p:ph idx="1" type="body"/>
          </p:nvPr>
        </p:nvSpPr>
        <p:spPr>
          <a:xfrm>
            <a:off x="457201" y="836712"/>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Then a sequence of moves is a string, </a:t>
            </a:r>
            <a:endParaRPr/>
          </a:p>
          <a:p>
            <a:pPr indent="-342900" lvl="0" marL="342900" rtl="0" algn="l">
              <a:spcBef>
                <a:spcPts val="480"/>
              </a:spcBef>
              <a:spcAft>
                <a:spcPts val="0"/>
              </a:spcAft>
              <a:buClr>
                <a:schemeClr val="dk1"/>
              </a:buClr>
              <a:buSzPts val="2400"/>
              <a:buChar char="•"/>
            </a:pPr>
            <a:r>
              <a:rPr lang="en-IN" sz="2400"/>
              <a:t>Such as the solution </a:t>
            </a:r>
            <a:r>
              <a:rPr b="1" lang="en-IN" sz="2400"/>
              <a:t>gmwgcmg and gmcgwmg</a:t>
            </a:r>
            <a:endParaRPr b="1"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429" name="Google Shape;42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430" name="Google Shape;43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431" name="Google Shape;431;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id="432" name="Google Shape;432;p36"/>
          <p:cNvPicPr preferRelativeResize="0"/>
          <p:nvPr/>
        </p:nvPicPr>
        <p:blipFill rotWithShape="1">
          <a:blip r:embed="rId3">
            <a:alphaModFix/>
          </a:blip>
          <a:srcRect b="0" l="0" r="0" t="0"/>
          <a:stretch/>
        </p:blipFill>
        <p:spPr>
          <a:xfrm>
            <a:off x="1403648" y="1844824"/>
            <a:ext cx="6485589" cy="4507579"/>
          </a:xfrm>
          <a:prstGeom prst="rect">
            <a:avLst/>
          </a:prstGeom>
          <a:noFill/>
          <a:ln>
            <a:noFill/>
          </a:ln>
        </p:spPr>
      </p:pic>
      <p:sp>
        <p:nvSpPr>
          <p:cNvPr id="433" name="Google Shape;433;p36"/>
          <p:cNvSpPr txBox="1"/>
          <p:nvPr>
            <p:ph type="title"/>
          </p:nvPr>
        </p:nvSpPr>
        <p:spPr>
          <a:xfrm>
            <a:off x="457201" y="188640"/>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Wolf, Goat, and Cabbage problem</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7"/>
          <p:cNvSpPr txBox="1"/>
          <p:nvPr>
            <p:ph idx="1" type="body"/>
          </p:nvPr>
        </p:nvSpPr>
        <p:spPr>
          <a:xfrm>
            <a:off x="457201" y="836712"/>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What happens if we try a string that is not in the language?</a:t>
            </a:r>
            <a:endParaRPr/>
          </a:p>
          <a:p>
            <a:pPr indent="-342900" lvl="0" marL="342900" rtl="0" algn="l">
              <a:spcBef>
                <a:spcPts val="480"/>
              </a:spcBef>
              <a:spcAft>
                <a:spcPts val="0"/>
              </a:spcAft>
              <a:buClr>
                <a:schemeClr val="dk1"/>
              </a:buClr>
              <a:buSzPts val="2400"/>
              <a:buChar char="•"/>
            </a:pPr>
            <a:r>
              <a:rPr lang="en-IN" sz="2400"/>
              <a:t>Consider </a:t>
            </a:r>
            <a:r>
              <a:rPr i="1" lang="en-IN" sz="2400"/>
              <a:t>gmwm…</a:t>
            </a:r>
            <a:r>
              <a:rPr lang="en-IN" sz="2400"/>
              <a:t>we get stuck</a:t>
            </a:r>
            <a:endParaRPr/>
          </a:p>
          <a:p>
            <a:pPr indent="-342900" lvl="0" marL="342900" rtl="0" algn="l">
              <a:spcBef>
                <a:spcPts val="480"/>
              </a:spcBef>
              <a:spcAft>
                <a:spcPts val="0"/>
              </a:spcAft>
              <a:buClr>
                <a:schemeClr val="dk1"/>
              </a:buClr>
              <a:buSzPts val="2400"/>
              <a:buChar char="•"/>
            </a:pPr>
            <a:r>
              <a:rPr lang="en-IN" sz="2400"/>
              <a:t>with nowhere to go.</a:t>
            </a:r>
            <a:endParaRPr/>
          </a:p>
          <a:p>
            <a:pPr indent="-190500" lvl="0" marL="342900" rtl="0" algn="l">
              <a:spcBef>
                <a:spcPts val="480"/>
              </a:spcBef>
              <a:spcAft>
                <a:spcPts val="0"/>
              </a:spcAft>
              <a:buClr>
                <a:schemeClr val="dk1"/>
              </a:buClr>
              <a:buSzPts val="2400"/>
              <a:buNone/>
            </a:pPr>
            <a:r>
              <a:t/>
            </a:r>
            <a:endParaRPr sz="2400"/>
          </a:p>
        </p:txBody>
      </p:sp>
      <p:sp>
        <p:nvSpPr>
          <p:cNvPr id="439" name="Google Shape;439;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440" name="Google Shape;440;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441" name="Google Shape;44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id="442" name="Google Shape;442;p37"/>
          <p:cNvPicPr preferRelativeResize="0"/>
          <p:nvPr/>
        </p:nvPicPr>
        <p:blipFill rotWithShape="1">
          <a:blip r:embed="rId3">
            <a:alphaModFix/>
          </a:blip>
          <a:srcRect b="0" l="0" r="0" t="0"/>
          <a:stretch/>
        </p:blipFill>
        <p:spPr>
          <a:xfrm>
            <a:off x="1403649" y="2749047"/>
            <a:ext cx="5184576" cy="3603356"/>
          </a:xfrm>
          <a:prstGeom prst="rect">
            <a:avLst/>
          </a:prstGeom>
          <a:noFill/>
          <a:ln>
            <a:noFill/>
          </a:ln>
        </p:spPr>
      </p:pic>
      <p:sp>
        <p:nvSpPr>
          <p:cNvPr id="443" name="Google Shape;443;p37"/>
          <p:cNvSpPr txBox="1"/>
          <p:nvPr>
            <p:ph type="title"/>
          </p:nvPr>
        </p:nvSpPr>
        <p:spPr>
          <a:xfrm>
            <a:off x="457201" y="188640"/>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Wolf, Goat, and Cabbage problem</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8"/>
          <p:cNvSpPr txBox="1"/>
          <p:nvPr>
            <p:ph idx="1" type="body"/>
          </p:nvPr>
        </p:nvSpPr>
        <p:spPr>
          <a:xfrm>
            <a:off x="457201" y="836712"/>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On many strings that are not solutions, the previous diagram gets stuck</a:t>
            </a:r>
            <a:endParaRPr/>
          </a:p>
          <a:p>
            <a:pPr indent="-342900" lvl="0" marL="342900" rtl="0" algn="l">
              <a:spcBef>
                <a:spcPts val="480"/>
              </a:spcBef>
              <a:spcAft>
                <a:spcPts val="0"/>
              </a:spcAft>
              <a:buClr>
                <a:schemeClr val="dk1"/>
              </a:buClr>
              <a:buSzPts val="2400"/>
              <a:buChar char="•"/>
            </a:pPr>
            <a:r>
              <a:rPr lang="en-IN" sz="2400"/>
              <a:t>Automata that never get stuck are easier to work with</a:t>
            </a:r>
            <a:endParaRPr/>
          </a:p>
          <a:p>
            <a:pPr indent="-342900" lvl="0" marL="342900" rtl="0" algn="l">
              <a:spcBef>
                <a:spcPts val="480"/>
              </a:spcBef>
              <a:spcAft>
                <a:spcPts val="0"/>
              </a:spcAft>
              <a:buClr>
                <a:schemeClr val="dk1"/>
              </a:buClr>
              <a:buSzPts val="2400"/>
              <a:buChar char="•"/>
            </a:pPr>
            <a:r>
              <a:rPr lang="en-IN" sz="2400"/>
              <a:t>We'll need one additional state to use when an error has been found in a solution</a:t>
            </a:r>
            <a:endParaRPr/>
          </a:p>
        </p:txBody>
      </p:sp>
      <p:sp>
        <p:nvSpPr>
          <p:cNvPr id="449" name="Google Shape;44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450" name="Google Shape;45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451" name="Google Shape;45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452" name="Google Shape;452;p38"/>
          <p:cNvSpPr txBox="1"/>
          <p:nvPr>
            <p:ph type="title"/>
          </p:nvPr>
        </p:nvSpPr>
        <p:spPr>
          <a:xfrm>
            <a:off x="457201" y="188640"/>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Wolf, Goat, and Cabbage problem</a:t>
            </a:r>
            <a:endParaRPr/>
          </a:p>
        </p:txBody>
      </p:sp>
      <p:pic>
        <p:nvPicPr>
          <p:cNvPr id="453" name="Google Shape;453;p38"/>
          <p:cNvPicPr preferRelativeResize="0"/>
          <p:nvPr/>
        </p:nvPicPr>
        <p:blipFill rotWithShape="1">
          <a:blip r:embed="rId3">
            <a:alphaModFix/>
          </a:blip>
          <a:srcRect b="0" l="0" r="0" t="0"/>
          <a:stretch/>
        </p:blipFill>
        <p:spPr>
          <a:xfrm>
            <a:off x="2987824" y="3501008"/>
            <a:ext cx="2466975" cy="12954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9"/>
          <p:cNvSpPr txBox="1"/>
          <p:nvPr>
            <p:ph idx="1" type="body"/>
          </p:nvPr>
        </p:nvSpPr>
        <p:spPr>
          <a:xfrm>
            <a:off x="417823" y="764704"/>
            <a:ext cx="8219255" cy="423793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Here n=m</a:t>
            </a:r>
            <a:endParaRPr/>
          </a:p>
        </p:txBody>
      </p:sp>
      <p:sp>
        <p:nvSpPr>
          <p:cNvPr id="459" name="Google Shape;459;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460" name="Google Shape;460;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461" name="Google Shape;461;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462" name="Google Shape;462;p39"/>
          <p:cNvSpPr txBox="1"/>
          <p:nvPr>
            <p:ph type="title"/>
          </p:nvPr>
        </p:nvSpPr>
        <p:spPr>
          <a:xfrm>
            <a:off x="457201" y="188640"/>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Wolf, Goat, and Cabbage problem</a:t>
            </a:r>
            <a:endParaRPr/>
          </a:p>
        </p:txBody>
      </p:sp>
      <p:pic>
        <p:nvPicPr>
          <p:cNvPr id="463" name="Google Shape;463;p39"/>
          <p:cNvPicPr preferRelativeResize="0"/>
          <p:nvPr/>
        </p:nvPicPr>
        <p:blipFill rotWithShape="1">
          <a:blip r:embed="rId3">
            <a:alphaModFix/>
          </a:blip>
          <a:srcRect b="0" l="0" r="0" t="0"/>
          <a:stretch/>
        </p:blipFill>
        <p:spPr>
          <a:xfrm>
            <a:off x="1475656" y="1196752"/>
            <a:ext cx="6103590" cy="503472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Set</a:t>
            </a:r>
            <a:endParaRPr/>
          </a:p>
        </p:txBody>
      </p:sp>
      <p:sp>
        <p:nvSpPr>
          <p:cNvPr id="469" name="Google Shape;469;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600"/>
              <a:buChar char="•"/>
            </a:pPr>
            <a:r>
              <a:rPr lang="en-IN" sz="2600"/>
              <a:t>A group of objects represented as a unit</a:t>
            </a:r>
            <a:endParaRPr/>
          </a:p>
          <a:p>
            <a:pPr indent="-342900" lvl="0" marL="342900" rtl="0" algn="l">
              <a:spcBef>
                <a:spcPts val="520"/>
              </a:spcBef>
              <a:spcAft>
                <a:spcPts val="0"/>
              </a:spcAft>
              <a:buClr>
                <a:schemeClr val="dk1"/>
              </a:buClr>
              <a:buSzPts val="2600"/>
              <a:buChar char="•"/>
            </a:pPr>
            <a:r>
              <a:rPr lang="en-IN" sz="2600"/>
              <a:t>Set may contain any type of object-numbers/symbols/other sets</a:t>
            </a:r>
            <a:endParaRPr/>
          </a:p>
          <a:p>
            <a:pPr indent="0" lvl="0" marL="0" rtl="0" algn="r">
              <a:spcBef>
                <a:spcPts val="520"/>
              </a:spcBef>
              <a:spcAft>
                <a:spcPts val="0"/>
              </a:spcAft>
              <a:buClr>
                <a:schemeClr val="dk1"/>
              </a:buClr>
              <a:buSzPts val="2600"/>
              <a:buNone/>
            </a:pPr>
            <a:r>
              <a:rPr lang="en-IN" sz="2600"/>
              <a:t>-Michael Sipser</a:t>
            </a:r>
            <a:endParaRPr sz="2600"/>
          </a:p>
          <a:p>
            <a:pPr indent="-177800" lvl="0" marL="342900" rtl="0" algn="l">
              <a:spcBef>
                <a:spcPts val="520"/>
              </a:spcBef>
              <a:spcAft>
                <a:spcPts val="0"/>
              </a:spcAft>
              <a:buClr>
                <a:schemeClr val="dk1"/>
              </a:buClr>
              <a:buSzPts val="2600"/>
              <a:buNone/>
            </a:pPr>
            <a:r>
              <a:t/>
            </a:r>
            <a:endParaRPr sz="2600"/>
          </a:p>
        </p:txBody>
      </p:sp>
      <p:sp>
        <p:nvSpPr>
          <p:cNvPr id="470" name="Google Shape;470;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471" name="Google Shape;471;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472" name="Google Shape;472;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Set</a:t>
            </a:r>
            <a:endParaRPr/>
          </a:p>
        </p:txBody>
      </p:sp>
      <p:sp>
        <p:nvSpPr>
          <p:cNvPr id="478" name="Google Shape;478;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2600"/>
              <a:buChar char="•"/>
            </a:pPr>
            <a:r>
              <a:rPr lang="en-IN" sz="2600"/>
              <a:t>Well defined Collection of Objects and denoted as-</a:t>
            </a:r>
            <a:endParaRPr/>
          </a:p>
          <a:p>
            <a:pPr indent="-457200" lvl="1" marL="914400" rtl="0" algn="l">
              <a:spcBef>
                <a:spcPts val="520"/>
              </a:spcBef>
              <a:spcAft>
                <a:spcPts val="0"/>
              </a:spcAft>
              <a:buClr>
                <a:schemeClr val="dk1"/>
              </a:buClr>
              <a:buSzPts val="2600"/>
              <a:buFont typeface="Calibri"/>
              <a:buAutoNum type="arabicParenR"/>
            </a:pPr>
            <a:r>
              <a:rPr lang="en-IN" sz="2600"/>
              <a:t>Enumerating the member within { and }</a:t>
            </a:r>
            <a:endParaRPr/>
          </a:p>
          <a:p>
            <a:pPr indent="0" lvl="1" marL="457200" rtl="0" algn="l">
              <a:spcBef>
                <a:spcPts val="520"/>
              </a:spcBef>
              <a:spcAft>
                <a:spcPts val="0"/>
              </a:spcAft>
              <a:buClr>
                <a:schemeClr val="dk1"/>
              </a:buClr>
              <a:buSzPts val="2600"/>
              <a:buNone/>
            </a:pPr>
            <a:r>
              <a:rPr lang="en-IN" sz="2600"/>
              <a:t>	Eg-A={0,1,2}</a:t>
            </a:r>
            <a:endParaRPr/>
          </a:p>
          <a:p>
            <a:pPr indent="0" lvl="1" marL="457200" rtl="0" algn="l">
              <a:spcBef>
                <a:spcPts val="520"/>
              </a:spcBef>
              <a:spcAft>
                <a:spcPts val="0"/>
              </a:spcAft>
              <a:buClr>
                <a:schemeClr val="dk1"/>
              </a:buClr>
              <a:buSzPts val="2600"/>
              <a:buNone/>
            </a:pPr>
            <a:r>
              <a:rPr lang="en-IN" sz="2600"/>
              <a:t>2) Using a set builder notation  as:</a:t>
            </a:r>
            <a:endParaRPr/>
          </a:p>
          <a:p>
            <a:pPr indent="0" lvl="1" marL="457200" rtl="0" algn="l">
              <a:spcBef>
                <a:spcPts val="520"/>
              </a:spcBef>
              <a:spcAft>
                <a:spcPts val="0"/>
              </a:spcAft>
              <a:buClr>
                <a:schemeClr val="dk1"/>
              </a:buClr>
              <a:buSzPts val="2600"/>
              <a:buNone/>
            </a:pPr>
            <a:r>
              <a:rPr lang="en-IN" sz="2600"/>
              <a:t>	A={x| p(x)}</a:t>
            </a:r>
            <a:endParaRPr/>
          </a:p>
          <a:p>
            <a:pPr indent="0" lvl="1" marL="457200" rtl="0" algn="l">
              <a:spcBef>
                <a:spcPts val="520"/>
              </a:spcBef>
              <a:spcAft>
                <a:spcPts val="0"/>
              </a:spcAft>
              <a:buClr>
                <a:schemeClr val="dk1"/>
              </a:buClr>
              <a:buSzPts val="2600"/>
              <a:buNone/>
            </a:pPr>
            <a:r>
              <a:rPr lang="en-IN" sz="2600"/>
              <a:t>	A is set of all those x for which the predicate p(x) is true</a:t>
            </a:r>
            <a:endParaRPr/>
          </a:p>
          <a:p>
            <a:pPr indent="0" lvl="1" marL="457200" rtl="0" algn="l">
              <a:spcBef>
                <a:spcPts val="520"/>
              </a:spcBef>
              <a:spcAft>
                <a:spcPts val="0"/>
              </a:spcAft>
              <a:buClr>
                <a:schemeClr val="dk1"/>
              </a:buClr>
              <a:buSzPts val="2600"/>
              <a:buNone/>
            </a:pPr>
            <a:r>
              <a:rPr lang="en-IN" sz="2600"/>
              <a:t>	Eg- A set of all integers divisible by 3</a:t>
            </a:r>
            <a:endParaRPr/>
          </a:p>
          <a:p>
            <a:pPr indent="0" lvl="1" marL="457200" rtl="0" algn="l">
              <a:spcBef>
                <a:spcPts val="520"/>
              </a:spcBef>
              <a:spcAft>
                <a:spcPts val="0"/>
              </a:spcAft>
              <a:buClr>
                <a:schemeClr val="dk1"/>
              </a:buClr>
              <a:buSzPts val="2600"/>
              <a:buNone/>
            </a:pPr>
            <a:r>
              <a:rPr lang="en-IN" sz="2600"/>
              <a:t>	A={x| x is an integer and xmod3=0}</a:t>
            </a:r>
            <a:endParaRPr sz="2600"/>
          </a:p>
          <a:p>
            <a:pPr indent="0" lvl="1" marL="457200" rtl="0" algn="r">
              <a:spcBef>
                <a:spcPts val="520"/>
              </a:spcBef>
              <a:spcAft>
                <a:spcPts val="0"/>
              </a:spcAft>
              <a:buClr>
                <a:schemeClr val="dk1"/>
              </a:buClr>
              <a:buSzPts val="2600"/>
              <a:buNone/>
            </a:pPr>
            <a:r>
              <a:rPr lang="en-IN" sz="2600"/>
              <a:t>-Dr O.J Kakde</a:t>
            </a:r>
            <a:endParaRPr sz="2600"/>
          </a:p>
          <a:p>
            <a:pPr indent="-139700" lvl="0" marL="342900" rtl="0" algn="l">
              <a:spcBef>
                <a:spcPts val="640"/>
              </a:spcBef>
              <a:spcAft>
                <a:spcPts val="0"/>
              </a:spcAft>
              <a:buClr>
                <a:schemeClr val="dk1"/>
              </a:buClr>
              <a:buSzPts val="3200"/>
              <a:buNone/>
            </a:pPr>
            <a:r>
              <a:t/>
            </a:r>
            <a:endParaRPr/>
          </a:p>
        </p:txBody>
      </p:sp>
      <p:sp>
        <p:nvSpPr>
          <p:cNvPr id="479" name="Google Shape;479;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480" name="Google Shape;480;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481" name="Google Shape;481;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Alphabets</a:t>
            </a:r>
            <a:endParaRPr/>
          </a:p>
        </p:txBody>
      </p:sp>
      <p:sp>
        <p:nvSpPr>
          <p:cNvPr id="487" name="Google Shape;487;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An alphabet is a finite, non empty set of symbols</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Symbol  for Alphabet=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∑={0, 1} , the </a:t>
            </a:r>
            <a:r>
              <a:rPr b="1" lang="en-IN" sz="2400"/>
              <a:t>binary alphabet</a:t>
            </a:r>
            <a:r>
              <a:rPr lang="en-IN" sz="2400"/>
              <a:t>, probably the most important alphabet in computer science.</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∑={a, b, c, ..., z}, The set of all lowercase letters</a:t>
            </a:r>
            <a:endParaRPr/>
          </a:p>
          <a:p>
            <a:pPr indent="-190500" lvl="0" marL="342900" rtl="0" algn="l">
              <a:spcBef>
                <a:spcPts val="480"/>
              </a:spcBef>
              <a:spcAft>
                <a:spcPts val="0"/>
              </a:spcAft>
              <a:buClr>
                <a:schemeClr val="dk1"/>
              </a:buClr>
              <a:buSzPts val="2400"/>
              <a:buNone/>
            </a:pPr>
            <a:r>
              <a:t/>
            </a:r>
            <a:endParaRPr sz="2400"/>
          </a:p>
          <a:p>
            <a:pPr indent="0" lvl="0" marL="0" rtl="0" algn="r">
              <a:spcBef>
                <a:spcPts val="480"/>
              </a:spcBef>
              <a:spcAft>
                <a:spcPts val="0"/>
              </a:spcAft>
              <a:buClr>
                <a:schemeClr val="dk1"/>
              </a:buClr>
              <a:buSzPts val="2400"/>
              <a:buNone/>
            </a:pPr>
            <a:r>
              <a:rPr lang="en-IN" sz="2400"/>
              <a:t>-Hopcraft</a:t>
            </a:r>
            <a:endParaRPr sz="2400"/>
          </a:p>
        </p:txBody>
      </p:sp>
      <p:sp>
        <p:nvSpPr>
          <p:cNvPr id="488" name="Google Shape;488;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489" name="Google Shape;489;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490" name="Google Shape;490;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Strings</a:t>
            </a:r>
            <a:endParaRPr/>
          </a:p>
        </p:txBody>
      </p:sp>
      <p:sp>
        <p:nvSpPr>
          <p:cNvPr id="496" name="Google Shape;496;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IN" sz="2400" u="sng"/>
              <a:t>Strings-</a:t>
            </a:r>
            <a:endParaRPr/>
          </a:p>
          <a:p>
            <a:pPr indent="-342900" lvl="0" marL="342900" rtl="0" algn="l">
              <a:spcBef>
                <a:spcPts val="480"/>
              </a:spcBef>
              <a:spcAft>
                <a:spcPts val="0"/>
              </a:spcAft>
              <a:buClr>
                <a:schemeClr val="dk1"/>
              </a:buClr>
              <a:buSzPts val="2400"/>
              <a:buChar char="•"/>
            </a:pPr>
            <a:r>
              <a:rPr lang="en-IN" sz="2400"/>
              <a:t>A finite sequence of symbols chosen from some Alphabet</a:t>
            </a:r>
            <a:endParaRPr/>
          </a:p>
          <a:p>
            <a:pPr indent="-342900" lvl="0" marL="342900" rtl="0" algn="l">
              <a:spcBef>
                <a:spcPts val="480"/>
              </a:spcBef>
              <a:spcAft>
                <a:spcPts val="0"/>
              </a:spcAft>
              <a:buClr>
                <a:schemeClr val="dk1"/>
              </a:buClr>
              <a:buSzPts val="2400"/>
              <a:buChar char="•"/>
            </a:pPr>
            <a:r>
              <a:rPr lang="en-IN" sz="2400"/>
              <a:t>Eg- 01101 is a string from ∑={0, 1} , the binary alphabet</a:t>
            </a:r>
            <a:endParaRPr sz="2400"/>
          </a:p>
          <a:p>
            <a:pPr indent="-190500" lvl="0" marL="34290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b="1" lang="en-IN" sz="2400" u="sng"/>
              <a:t>Empty String-</a:t>
            </a:r>
            <a:endParaRPr/>
          </a:p>
          <a:p>
            <a:pPr indent="-342900" lvl="0" marL="342900" rtl="0" algn="l">
              <a:spcBef>
                <a:spcPts val="480"/>
              </a:spcBef>
              <a:spcAft>
                <a:spcPts val="0"/>
              </a:spcAft>
              <a:buClr>
                <a:schemeClr val="dk1"/>
              </a:buClr>
              <a:buSzPts val="2400"/>
              <a:buChar char="•"/>
            </a:pPr>
            <a:r>
              <a:rPr lang="en-IN" sz="2400"/>
              <a:t>String with zero occurrences of symbols </a:t>
            </a:r>
            <a:endParaRPr sz="2400"/>
          </a:p>
          <a:p>
            <a:pPr indent="-342900" lvl="0" marL="342900" rtl="0" algn="l">
              <a:spcBef>
                <a:spcPts val="480"/>
              </a:spcBef>
              <a:spcAft>
                <a:spcPts val="0"/>
              </a:spcAft>
              <a:buClr>
                <a:schemeClr val="dk1"/>
              </a:buClr>
              <a:buSzPts val="2400"/>
              <a:buChar char="•"/>
            </a:pPr>
            <a:r>
              <a:rPr lang="en-IN" sz="2400"/>
              <a:t>Denoted by ε</a:t>
            </a:r>
            <a:endParaRPr sz="2400"/>
          </a:p>
          <a:p>
            <a:pPr indent="-342900" lvl="0" marL="342900" rtl="0" algn="l">
              <a:spcBef>
                <a:spcPts val="480"/>
              </a:spcBef>
              <a:spcAft>
                <a:spcPts val="0"/>
              </a:spcAft>
              <a:buClr>
                <a:schemeClr val="dk1"/>
              </a:buClr>
              <a:buSzPts val="2400"/>
              <a:buChar char="•"/>
            </a:pPr>
            <a:r>
              <a:rPr lang="en-IN" sz="2400"/>
              <a:t>A string that may be chosen from any alphabet whatsoever.</a:t>
            </a:r>
            <a:endParaRPr/>
          </a:p>
          <a:p>
            <a:pPr indent="0" lvl="0" marL="0" rtl="0" algn="l">
              <a:spcBef>
                <a:spcPts val="480"/>
              </a:spcBef>
              <a:spcAft>
                <a:spcPts val="0"/>
              </a:spcAft>
              <a:buClr>
                <a:schemeClr val="dk1"/>
              </a:buClr>
              <a:buSzPts val="2400"/>
              <a:buNone/>
            </a:pPr>
            <a:r>
              <a:t/>
            </a:r>
            <a:endParaRPr sz="2400"/>
          </a:p>
          <a:p>
            <a:pPr indent="0" lvl="0" marL="0" rtl="0" algn="r">
              <a:spcBef>
                <a:spcPts val="480"/>
              </a:spcBef>
              <a:spcAft>
                <a:spcPts val="0"/>
              </a:spcAft>
              <a:buClr>
                <a:schemeClr val="dk1"/>
              </a:buClr>
              <a:buSzPts val="2400"/>
              <a:buNone/>
            </a:pPr>
            <a:r>
              <a:rPr lang="en-IN" sz="2400"/>
              <a:t>-Hopcraft</a:t>
            </a:r>
            <a:endParaRPr sz="2400"/>
          </a:p>
          <a:p>
            <a:pPr indent="0" lvl="0" marL="0" rtl="0" algn="l">
              <a:spcBef>
                <a:spcPts val="480"/>
              </a:spcBef>
              <a:spcAft>
                <a:spcPts val="0"/>
              </a:spcAft>
              <a:buClr>
                <a:schemeClr val="dk1"/>
              </a:buClr>
              <a:buSzPts val="2400"/>
              <a:buNone/>
            </a:pPr>
            <a:r>
              <a:t/>
            </a:r>
            <a:endParaRPr sz="2400"/>
          </a:p>
        </p:txBody>
      </p:sp>
      <p:sp>
        <p:nvSpPr>
          <p:cNvPr id="497" name="Google Shape;497;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498" name="Google Shape;498;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499" name="Google Shape;499;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Strings</a:t>
            </a:r>
            <a:endParaRPr/>
          </a:p>
        </p:txBody>
      </p:sp>
      <p:sp>
        <p:nvSpPr>
          <p:cNvPr id="505" name="Google Shape;505;p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IN" sz="2400" u="sng"/>
              <a:t>Length of a String-</a:t>
            </a:r>
            <a:endParaRPr/>
          </a:p>
          <a:p>
            <a:pPr indent="-342900" lvl="0" marL="342900" rtl="0" algn="l">
              <a:spcBef>
                <a:spcPts val="480"/>
              </a:spcBef>
              <a:spcAft>
                <a:spcPts val="0"/>
              </a:spcAft>
              <a:buClr>
                <a:schemeClr val="dk1"/>
              </a:buClr>
              <a:buSzPts val="2400"/>
              <a:buChar char="•"/>
            </a:pPr>
            <a:r>
              <a:rPr lang="en-IN" sz="2400"/>
              <a:t>Number of positions of symbols </a:t>
            </a:r>
            <a:endParaRPr sz="2400"/>
          </a:p>
          <a:p>
            <a:pPr indent="0" lvl="0" marL="0" rtl="0" algn="l">
              <a:spcBef>
                <a:spcPts val="480"/>
              </a:spcBef>
              <a:spcAft>
                <a:spcPts val="0"/>
              </a:spcAft>
              <a:buClr>
                <a:schemeClr val="dk1"/>
              </a:buClr>
              <a:buSzPts val="2400"/>
              <a:buNone/>
            </a:pPr>
            <a:r>
              <a:rPr lang="en-IN" sz="2400"/>
              <a:t>Eg- 01101 has length 5, </a:t>
            </a:r>
            <a:endParaRPr/>
          </a:p>
          <a:p>
            <a:pPr indent="0" lvl="0" marL="0" rtl="0" algn="l">
              <a:spcBef>
                <a:spcPts val="480"/>
              </a:spcBef>
              <a:spcAft>
                <a:spcPts val="0"/>
              </a:spcAft>
              <a:buClr>
                <a:schemeClr val="dk1"/>
              </a:buClr>
              <a:buSzPts val="2400"/>
              <a:buNone/>
            </a:pPr>
            <a:r>
              <a:rPr lang="en-IN" sz="2400"/>
              <a:t>5 positions for symbols </a:t>
            </a:r>
            <a:endParaRPr/>
          </a:p>
          <a:p>
            <a:pPr indent="0" lvl="0" marL="0" rtl="0" algn="l">
              <a:spcBef>
                <a:spcPts val="480"/>
              </a:spcBef>
              <a:spcAft>
                <a:spcPts val="0"/>
              </a:spcAft>
              <a:buClr>
                <a:schemeClr val="dk1"/>
              </a:buClr>
              <a:buSzPts val="2400"/>
              <a:buNone/>
            </a:pPr>
            <a:r>
              <a:rPr lang="en-IN" sz="2400"/>
              <a:t>But no of symbols are only 2, i.e. 0 and 1</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Denoted as |w|</a:t>
            </a:r>
            <a:endParaRPr/>
          </a:p>
          <a:p>
            <a:pPr indent="-342900" lvl="0" marL="342900" rtl="0" algn="l">
              <a:spcBef>
                <a:spcPts val="480"/>
              </a:spcBef>
              <a:spcAft>
                <a:spcPts val="0"/>
              </a:spcAft>
              <a:buClr>
                <a:schemeClr val="dk1"/>
              </a:buClr>
              <a:buSzPts val="2400"/>
              <a:buChar char="•"/>
            </a:pPr>
            <a:r>
              <a:rPr lang="en-IN" sz="2400"/>
              <a:t>|011|=3</a:t>
            </a:r>
            <a:endParaRPr/>
          </a:p>
          <a:p>
            <a:pPr indent="-342900" lvl="0" marL="342900" rtl="0" algn="l">
              <a:spcBef>
                <a:spcPts val="480"/>
              </a:spcBef>
              <a:spcAft>
                <a:spcPts val="0"/>
              </a:spcAft>
              <a:buClr>
                <a:schemeClr val="dk1"/>
              </a:buClr>
              <a:buSzPts val="2400"/>
              <a:buChar char="•"/>
            </a:pPr>
            <a:r>
              <a:rPr lang="en-IN" sz="2400"/>
              <a:t>| ε|=0</a:t>
            </a:r>
            <a:endParaRPr/>
          </a:p>
          <a:p>
            <a:pPr indent="0" lvl="0" marL="0" rtl="0" algn="r">
              <a:spcBef>
                <a:spcPts val="480"/>
              </a:spcBef>
              <a:spcAft>
                <a:spcPts val="0"/>
              </a:spcAft>
              <a:buClr>
                <a:schemeClr val="dk1"/>
              </a:buClr>
              <a:buSzPts val="2400"/>
              <a:buNone/>
            </a:pPr>
            <a:r>
              <a:rPr lang="en-IN" sz="2400"/>
              <a:t>-Hopcraft</a:t>
            </a:r>
            <a:endParaRPr sz="2400"/>
          </a:p>
          <a:p>
            <a:pPr indent="0" lvl="0" marL="0" rtl="0" algn="l">
              <a:spcBef>
                <a:spcPts val="480"/>
              </a:spcBef>
              <a:spcAft>
                <a:spcPts val="0"/>
              </a:spcAft>
              <a:buClr>
                <a:schemeClr val="dk1"/>
              </a:buClr>
              <a:buSzPts val="2400"/>
              <a:buNone/>
            </a:pPr>
            <a:r>
              <a:t/>
            </a:r>
            <a:endParaRPr sz="2400"/>
          </a:p>
        </p:txBody>
      </p:sp>
      <p:sp>
        <p:nvSpPr>
          <p:cNvPr id="506" name="Google Shape;506;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507" name="Google Shape;507;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508" name="Google Shape;508;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Strings</a:t>
            </a:r>
            <a:endParaRPr/>
          </a:p>
        </p:txBody>
      </p:sp>
      <p:sp>
        <p:nvSpPr>
          <p:cNvPr id="514" name="Google Shape;514;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IN" sz="2400" u="sng"/>
              <a:t>Concatenation of Strings-</a:t>
            </a:r>
            <a:endParaRPr/>
          </a:p>
          <a:p>
            <a:pPr indent="-342900" lvl="0" marL="342900" rtl="0" algn="l">
              <a:spcBef>
                <a:spcPts val="480"/>
              </a:spcBef>
              <a:spcAft>
                <a:spcPts val="0"/>
              </a:spcAft>
              <a:buClr>
                <a:schemeClr val="dk1"/>
              </a:buClr>
              <a:buSzPts val="2400"/>
              <a:buChar char="•"/>
            </a:pPr>
            <a:r>
              <a:rPr lang="en-IN" sz="2400"/>
              <a:t>Let x and y be strings</a:t>
            </a:r>
            <a:endParaRPr/>
          </a:p>
          <a:p>
            <a:pPr indent="-342900" lvl="0" marL="342900" rtl="0" algn="l">
              <a:spcBef>
                <a:spcPts val="480"/>
              </a:spcBef>
              <a:spcAft>
                <a:spcPts val="0"/>
              </a:spcAft>
              <a:buClr>
                <a:schemeClr val="dk1"/>
              </a:buClr>
              <a:buSzPts val="2400"/>
              <a:buChar char="•"/>
            </a:pPr>
            <a:r>
              <a:rPr lang="en-IN" sz="2400"/>
              <a:t>xy =Concatenation of x and y</a:t>
            </a:r>
            <a:endParaRPr/>
          </a:p>
          <a:p>
            <a:pPr indent="-342900" lvl="0" marL="342900" rtl="0" algn="l">
              <a:spcBef>
                <a:spcPts val="480"/>
              </a:spcBef>
              <a:spcAft>
                <a:spcPts val="0"/>
              </a:spcAft>
              <a:buClr>
                <a:schemeClr val="dk1"/>
              </a:buClr>
              <a:buSzPts val="2400"/>
              <a:buChar char="•"/>
            </a:pPr>
            <a:r>
              <a:rPr lang="en-IN" sz="2400"/>
              <a:t>String formed by copy of x and following it by a copy of y</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If x=a1a2……ai</a:t>
            </a:r>
            <a:endParaRPr sz="2400"/>
          </a:p>
          <a:p>
            <a:pPr indent="-342900" lvl="0" marL="342900" rtl="0" algn="l">
              <a:spcBef>
                <a:spcPts val="480"/>
              </a:spcBef>
              <a:spcAft>
                <a:spcPts val="0"/>
              </a:spcAft>
              <a:buClr>
                <a:schemeClr val="dk1"/>
              </a:buClr>
              <a:buSzPts val="2400"/>
              <a:buChar char="•"/>
            </a:pPr>
            <a:r>
              <a:rPr lang="en-IN" sz="2400"/>
              <a:t>If y=b1b2…..bj</a:t>
            </a:r>
            <a:endParaRPr sz="2400"/>
          </a:p>
          <a:p>
            <a:pPr indent="-342900" lvl="0" marL="342900" rtl="0" algn="l">
              <a:spcBef>
                <a:spcPts val="480"/>
              </a:spcBef>
              <a:spcAft>
                <a:spcPts val="0"/>
              </a:spcAft>
              <a:buClr>
                <a:schemeClr val="dk1"/>
              </a:buClr>
              <a:buSzPts val="2400"/>
              <a:buChar char="•"/>
            </a:pPr>
            <a:r>
              <a:rPr lang="en-IN" sz="2400"/>
              <a:t>xy=a1a2….aib1b2….bj where length of string is i+j</a:t>
            </a:r>
            <a:endParaRPr sz="2400"/>
          </a:p>
          <a:p>
            <a:pPr indent="0" lvl="0" marL="0" rtl="0" algn="r">
              <a:spcBef>
                <a:spcPts val="480"/>
              </a:spcBef>
              <a:spcAft>
                <a:spcPts val="0"/>
              </a:spcAft>
              <a:buClr>
                <a:schemeClr val="dk1"/>
              </a:buClr>
              <a:buSzPts val="2400"/>
              <a:buNone/>
            </a:pPr>
            <a:r>
              <a:t/>
            </a:r>
            <a:endParaRPr sz="2400"/>
          </a:p>
          <a:p>
            <a:pPr indent="0" lvl="0" marL="0" rtl="0" algn="r">
              <a:spcBef>
                <a:spcPts val="480"/>
              </a:spcBef>
              <a:spcAft>
                <a:spcPts val="0"/>
              </a:spcAft>
              <a:buClr>
                <a:schemeClr val="dk1"/>
              </a:buClr>
              <a:buSzPts val="2400"/>
              <a:buNone/>
            </a:pPr>
            <a:r>
              <a:rPr lang="en-IN" sz="2400"/>
              <a:t>-Hopcraft</a:t>
            </a:r>
            <a:endParaRPr sz="2400"/>
          </a:p>
          <a:p>
            <a:pPr indent="-190500" lvl="0" marL="342900" rtl="0" algn="l">
              <a:spcBef>
                <a:spcPts val="480"/>
              </a:spcBef>
              <a:spcAft>
                <a:spcPts val="0"/>
              </a:spcAft>
              <a:buClr>
                <a:schemeClr val="dk1"/>
              </a:buClr>
              <a:buSzPts val="2400"/>
              <a:buNone/>
            </a:pPr>
            <a:r>
              <a:t/>
            </a:r>
            <a:endParaRPr sz="2400" u="sng"/>
          </a:p>
          <a:p>
            <a:pPr indent="0" lvl="0" marL="0" rtl="0" algn="l">
              <a:spcBef>
                <a:spcPts val="480"/>
              </a:spcBef>
              <a:spcAft>
                <a:spcPts val="0"/>
              </a:spcAft>
              <a:buClr>
                <a:schemeClr val="dk1"/>
              </a:buClr>
              <a:buSzPts val="2400"/>
              <a:buNone/>
            </a:pPr>
            <a:r>
              <a:t/>
            </a:r>
            <a:endParaRPr sz="2400"/>
          </a:p>
        </p:txBody>
      </p:sp>
      <p:sp>
        <p:nvSpPr>
          <p:cNvPr id="515" name="Google Shape;515;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516" name="Google Shape;516;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517" name="Google Shape;517;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Strings</a:t>
            </a:r>
            <a:endParaRPr/>
          </a:p>
        </p:txBody>
      </p:sp>
      <p:sp>
        <p:nvSpPr>
          <p:cNvPr id="523" name="Google Shape;523;p46"/>
          <p:cNvSpPr txBox="1"/>
          <p:nvPr>
            <p:ph idx="1" type="body"/>
          </p:nvPr>
        </p:nvSpPr>
        <p:spPr>
          <a:xfrm>
            <a:off x="457200" y="1412776"/>
            <a:ext cx="8229600" cy="496855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800"/>
              <a:buNone/>
            </a:pPr>
            <a:r>
              <a:rPr b="1" lang="en-IN" sz="2800" u="sng"/>
              <a:t>Powers of an alphabet: </a:t>
            </a:r>
            <a:endParaRPr b="1" sz="2800" u="sng"/>
          </a:p>
          <a:p>
            <a:pPr indent="-342900" lvl="0" marL="342900" rtl="0" algn="l">
              <a:spcBef>
                <a:spcPts val="480"/>
              </a:spcBef>
              <a:spcAft>
                <a:spcPts val="0"/>
              </a:spcAft>
              <a:buClr>
                <a:schemeClr val="dk1"/>
              </a:buClr>
              <a:buSzPts val="2400"/>
              <a:buChar char="•"/>
            </a:pPr>
            <a:r>
              <a:rPr lang="en-IN" sz="2400"/>
              <a:t>∑  is an alphabet , </a:t>
            </a:r>
            <a:endParaRPr/>
          </a:p>
          <a:p>
            <a:pPr indent="-342900" lvl="0" marL="342900" rtl="0" algn="l">
              <a:spcBef>
                <a:spcPts val="480"/>
              </a:spcBef>
              <a:spcAft>
                <a:spcPts val="0"/>
              </a:spcAft>
              <a:buClr>
                <a:schemeClr val="dk1"/>
              </a:buClr>
              <a:buSzPts val="2400"/>
              <a:buChar char="•"/>
            </a:pPr>
            <a:r>
              <a:rPr lang="en-IN" sz="2400"/>
              <a:t>We can express the set of all strings of a certain length from that alphabet by using an exponential notation</a:t>
            </a:r>
            <a:endParaRPr/>
          </a:p>
          <a:p>
            <a:pPr indent="-342900" lvl="0" marL="342900" rtl="0" algn="l">
              <a:spcBef>
                <a:spcPts val="480"/>
              </a:spcBef>
              <a:spcAft>
                <a:spcPts val="0"/>
              </a:spcAft>
              <a:buClr>
                <a:schemeClr val="dk1"/>
              </a:buClr>
              <a:buSzPts val="2400"/>
              <a:buChar char="•"/>
            </a:pPr>
            <a:r>
              <a:rPr lang="en-IN" sz="2400"/>
              <a:t>∑</a:t>
            </a:r>
            <a:r>
              <a:rPr baseline="30000" lang="en-IN" sz="2400"/>
              <a:t>k</a:t>
            </a:r>
            <a:r>
              <a:rPr lang="en-IN" sz="2400"/>
              <a:t>=set of strings of length k, each of whose symbol is in ∑</a:t>
            </a:r>
            <a:endParaRPr/>
          </a:p>
          <a:p>
            <a:pPr indent="-342900" lvl="0" marL="342900" rtl="0" algn="l">
              <a:spcBef>
                <a:spcPts val="480"/>
              </a:spcBef>
              <a:spcAft>
                <a:spcPts val="0"/>
              </a:spcAft>
              <a:buClr>
                <a:schemeClr val="dk1"/>
              </a:buClr>
              <a:buSzPts val="2400"/>
              <a:buChar char="•"/>
            </a:pPr>
            <a:r>
              <a:rPr lang="en-IN" sz="2400"/>
              <a:t>∑</a:t>
            </a:r>
            <a:r>
              <a:rPr baseline="30000" lang="en-IN" sz="2400"/>
              <a:t>0</a:t>
            </a:r>
            <a:r>
              <a:rPr lang="en-IN" sz="2400"/>
              <a:t>= ε, no matter what alphabet is in it, ε is the only string of length 0</a:t>
            </a:r>
            <a:endParaRPr/>
          </a:p>
          <a:p>
            <a:pPr indent="-165100" lvl="0" marL="342900" rtl="0" algn="l">
              <a:spcBef>
                <a:spcPts val="560"/>
              </a:spcBef>
              <a:spcAft>
                <a:spcPts val="0"/>
              </a:spcAft>
              <a:buClr>
                <a:schemeClr val="dk1"/>
              </a:buClr>
              <a:buSzPts val="2800"/>
              <a:buNone/>
            </a:pPr>
            <a:r>
              <a:t/>
            </a:r>
            <a:endParaRPr sz="2800"/>
          </a:p>
          <a:p>
            <a:pPr indent="0" lvl="0" marL="0" rtl="0" algn="r">
              <a:spcBef>
                <a:spcPts val="560"/>
              </a:spcBef>
              <a:spcAft>
                <a:spcPts val="0"/>
              </a:spcAft>
              <a:buClr>
                <a:schemeClr val="dk1"/>
              </a:buClr>
              <a:buSzPts val="2800"/>
              <a:buNone/>
            </a:pPr>
            <a:r>
              <a:rPr lang="en-IN" sz="2800"/>
              <a:t>-Hopcraft</a:t>
            </a:r>
            <a:endParaRPr sz="2800"/>
          </a:p>
          <a:p>
            <a:pPr indent="-165100" lvl="0" marL="342900" rtl="0" algn="l">
              <a:spcBef>
                <a:spcPts val="560"/>
              </a:spcBef>
              <a:spcAft>
                <a:spcPts val="0"/>
              </a:spcAft>
              <a:buClr>
                <a:schemeClr val="dk1"/>
              </a:buClr>
              <a:buSzPts val="2800"/>
              <a:buNone/>
            </a:pPr>
            <a:r>
              <a:t/>
            </a:r>
            <a:endParaRPr sz="2800" u="sng"/>
          </a:p>
          <a:p>
            <a:pPr indent="0" lvl="0" marL="0" rtl="0" algn="l">
              <a:spcBef>
                <a:spcPts val="480"/>
              </a:spcBef>
              <a:spcAft>
                <a:spcPts val="0"/>
              </a:spcAft>
              <a:buClr>
                <a:schemeClr val="dk1"/>
              </a:buClr>
              <a:buSzPts val="2400"/>
              <a:buNone/>
            </a:pPr>
            <a:r>
              <a:t/>
            </a:r>
            <a:endParaRPr sz="2400"/>
          </a:p>
        </p:txBody>
      </p:sp>
      <p:sp>
        <p:nvSpPr>
          <p:cNvPr id="524" name="Google Shape;524;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525" name="Google Shape;525;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526" name="Google Shape;526;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Strings</a:t>
            </a:r>
            <a:endParaRPr/>
          </a:p>
        </p:txBody>
      </p:sp>
      <p:sp>
        <p:nvSpPr>
          <p:cNvPr id="532" name="Google Shape;532;p47"/>
          <p:cNvSpPr txBox="1"/>
          <p:nvPr>
            <p:ph idx="1" type="body"/>
          </p:nvPr>
        </p:nvSpPr>
        <p:spPr>
          <a:xfrm>
            <a:off x="457200" y="1412776"/>
            <a:ext cx="8229600" cy="496855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IN" sz="2400" u="sng"/>
              <a:t>Powers of an alphabet: </a:t>
            </a:r>
            <a:endParaRPr b="1" sz="2400" u="sng"/>
          </a:p>
          <a:p>
            <a:pPr indent="-342900" lvl="0" marL="342900" rtl="0" algn="l">
              <a:spcBef>
                <a:spcPts val="480"/>
              </a:spcBef>
              <a:spcAft>
                <a:spcPts val="0"/>
              </a:spcAft>
              <a:buClr>
                <a:schemeClr val="dk1"/>
              </a:buClr>
              <a:buSzPts val="2400"/>
              <a:buChar char="•"/>
            </a:pPr>
            <a:r>
              <a:rPr lang="en-IN" sz="2400"/>
              <a:t>If ∑={a,b,c} then </a:t>
            </a:r>
            <a:endParaRPr/>
          </a:p>
          <a:p>
            <a:pPr indent="-342900" lvl="0" marL="342900" rtl="0" algn="l">
              <a:spcBef>
                <a:spcPts val="480"/>
              </a:spcBef>
              <a:spcAft>
                <a:spcPts val="0"/>
              </a:spcAft>
              <a:buClr>
                <a:schemeClr val="dk1"/>
              </a:buClr>
              <a:buSzPts val="2400"/>
              <a:buChar char="•"/>
            </a:pPr>
            <a:r>
              <a:rPr lang="en-IN" sz="2400"/>
              <a:t>∑</a:t>
            </a:r>
            <a:r>
              <a:rPr baseline="30000" lang="en-IN" sz="2400"/>
              <a:t>1</a:t>
            </a:r>
            <a:r>
              <a:rPr lang="en-IN" sz="2400"/>
              <a:t>={a,b,c}</a:t>
            </a:r>
            <a:endParaRPr/>
          </a:p>
          <a:p>
            <a:pPr indent="-342900" lvl="0" marL="342900" rtl="0" algn="l">
              <a:spcBef>
                <a:spcPts val="480"/>
              </a:spcBef>
              <a:spcAft>
                <a:spcPts val="0"/>
              </a:spcAft>
              <a:buClr>
                <a:schemeClr val="dk1"/>
              </a:buClr>
              <a:buSzPts val="2400"/>
              <a:buChar char="•"/>
            </a:pPr>
            <a:r>
              <a:rPr lang="en-IN" sz="2400"/>
              <a:t>∑</a:t>
            </a:r>
            <a:r>
              <a:rPr baseline="30000" lang="en-IN" sz="2400"/>
              <a:t>2</a:t>
            </a:r>
            <a:r>
              <a:rPr lang="en-IN" sz="2400"/>
              <a:t>={aa,ab,ac,ba,bb,bc,ca,cb,cc} and so on</a:t>
            </a:r>
            <a:endParaRPr/>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lang="en-IN" sz="2400"/>
              <a:t>Difference between ∑and ∑</a:t>
            </a:r>
            <a:r>
              <a:rPr baseline="30000" lang="en-IN" sz="2400"/>
              <a:t>1</a:t>
            </a:r>
            <a:endParaRPr/>
          </a:p>
          <a:p>
            <a:pPr indent="-342900" lvl="0" marL="342900" rtl="0" algn="l">
              <a:spcBef>
                <a:spcPts val="480"/>
              </a:spcBef>
              <a:spcAft>
                <a:spcPts val="0"/>
              </a:spcAft>
              <a:buClr>
                <a:schemeClr val="dk1"/>
              </a:buClr>
              <a:buSzPts val="2400"/>
              <a:buChar char="•"/>
            </a:pPr>
            <a:r>
              <a:rPr lang="en-IN" sz="2400"/>
              <a:t>∑=alphabet with members a,b,c as symbols</a:t>
            </a:r>
            <a:endParaRPr/>
          </a:p>
          <a:p>
            <a:pPr indent="-342900" lvl="0" marL="342900" rtl="0" algn="l">
              <a:spcBef>
                <a:spcPts val="480"/>
              </a:spcBef>
              <a:spcAft>
                <a:spcPts val="0"/>
              </a:spcAft>
              <a:buClr>
                <a:schemeClr val="dk1"/>
              </a:buClr>
              <a:buSzPts val="2400"/>
              <a:buChar char="•"/>
            </a:pPr>
            <a:r>
              <a:rPr lang="en-IN" sz="2400"/>
              <a:t>∑</a:t>
            </a:r>
            <a:r>
              <a:rPr baseline="30000" lang="en-IN" sz="2400"/>
              <a:t>1</a:t>
            </a:r>
            <a:r>
              <a:rPr lang="en-IN" sz="2400"/>
              <a:t>=set of strings with members as the strings a,b and c of length 1</a:t>
            </a:r>
            <a:endParaRPr sz="2400"/>
          </a:p>
          <a:p>
            <a:pPr indent="0" lvl="0" marL="0" rtl="0" algn="r">
              <a:spcBef>
                <a:spcPts val="480"/>
              </a:spcBef>
              <a:spcAft>
                <a:spcPts val="0"/>
              </a:spcAft>
              <a:buClr>
                <a:schemeClr val="dk1"/>
              </a:buClr>
              <a:buSzPts val="2400"/>
              <a:buNone/>
            </a:pPr>
            <a:r>
              <a:rPr lang="en-IN" sz="2400"/>
              <a:t>-Hopcraft</a:t>
            </a:r>
            <a:endParaRPr sz="2400"/>
          </a:p>
          <a:p>
            <a:pPr indent="-165100" lvl="0" marL="342900" rtl="0" algn="l">
              <a:spcBef>
                <a:spcPts val="560"/>
              </a:spcBef>
              <a:spcAft>
                <a:spcPts val="0"/>
              </a:spcAft>
              <a:buClr>
                <a:schemeClr val="dk1"/>
              </a:buClr>
              <a:buSzPts val="2800"/>
              <a:buNone/>
            </a:pPr>
            <a:r>
              <a:t/>
            </a:r>
            <a:endParaRPr sz="2800" u="sng"/>
          </a:p>
          <a:p>
            <a:pPr indent="0" lvl="0" marL="0" rtl="0" algn="l">
              <a:spcBef>
                <a:spcPts val="480"/>
              </a:spcBef>
              <a:spcAft>
                <a:spcPts val="0"/>
              </a:spcAft>
              <a:buClr>
                <a:schemeClr val="dk1"/>
              </a:buClr>
              <a:buSzPts val="2400"/>
              <a:buNone/>
            </a:pPr>
            <a:r>
              <a:t/>
            </a:r>
            <a:endParaRPr sz="2400"/>
          </a:p>
        </p:txBody>
      </p:sp>
      <p:sp>
        <p:nvSpPr>
          <p:cNvPr id="533" name="Google Shape;533;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534" name="Google Shape;534;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535" name="Google Shape;535;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Strings</a:t>
            </a:r>
            <a:endParaRPr/>
          </a:p>
        </p:txBody>
      </p:sp>
      <p:sp>
        <p:nvSpPr>
          <p:cNvPr id="541" name="Google Shape;541;p48"/>
          <p:cNvSpPr txBox="1"/>
          <p:nvPr>
            <p:ph idx="1" type="body"/>
          </p:nvPr>
        </p:nvSpPr>
        <p:spPr>
          <a:xfrm>
            <a:off x="457200" y="1412776"/>
            <a:ext cx="8229600" cy="496855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IN" sz="2400" u="sng"/>
              <a:t>Powers of an alphabet:</a:t>
            </a:r>
            <a:endParaRPr/>
          </a:p>
          <a:p>
            <a:pPr indent="0" lvl="0" marL="0" rtl="0" algn="l">
              <a:spcBef>
                <a:spcPts val="480"/>
              </a:spcBef>
              <a:spcAft>
                <a:spcPts val="0"/>
              </a:spcAft>
              <a:buClr>
                <a:schemeClr val="dk1"/>
              </a:buClr>
              <a:buSzPts val="2400"/>
              <a:buNone/>
            </a:pPr>
            <a:r>
              <a:rPr lang="en-IN" sz="2400"/>
              <a:t>∑* =Set of all strings over an alphabet ∑</a:t>
            </a:r>
            <a:endParaRPr/>
          </a:p>
          <a:p>
            <a:pPr indent="0" lvl="0" marL="0" rtl="0" algn="l">
              <a:spcBef>
                <a:spcPts val="480"/>
              </a:spcBef>
              <a:spcAft>
                <a:spcPts val="0"/>
              </a:spcAft>
              <a:buClr>
                <a:schemeClr val="dk1"/>
              </a:buClr>
              <a:buSzPts val="2400"/>
              <a:buNone/>
            </a:pPr>
            <a:r>
              <a:rPr lang="en-IN" sz="2400"/>
              <a:t>∑* = Σ</a:t>
            </a:r>
            <a:r>
              <a:rPr baseline="30000" lang="en-IN" sz="2400"/>
              <a:t>0</a:t>
            </a:r>
            <a:r>
              <a:rPr lang="en-IN" sz="2400"/>
              <a:t> U Σ</a:t>
            </a:r>
            <a:r>
              <a:rPr baseline="30000" lang="en-IN" sz="2400"/>
              <a:t>1</a:t>
            </a:r>
            <a:r>
              <a:rPr lang="en-IN" sz="2400"/>
              <a:t> U Σ</a:t>
            </a:r>
            <a:r>
              <a:rPr baseline="30000" lang="en-IN" sz="2400"/>
              <a:t>2</a:t>
            </a:r>
            <a:r>
              <a:rPr lang="en-IN" sz="2400"/>
              <a:t> U ….</a:t>
            </a:r>
            <a:endParaRPr/>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lang="en-IN" sz="2400"/>
              <a:t>Excluding Empty String ε, as Σ</a:t>
            </a:r>
            <a:r>
              <a:rPr baseline="30000" lang="en-IN" sz="2400"/>
              <a:t>0</a:t>
            </a:r>
            <a:r>
              <a:rPr lang="en-IN" sz="2400"/>
              <a:t>= ε</a:t>
            </a:r>
            <a:endParaRPr sz="2400"/>
          </a:p>
          <a:p>
            <a:pPr indent="0" lvl="0" marL="0" rtl="0" algn="l">
              <a:spcBef>
                <a:spcPts val="480"/>
              </a:spcBef>
              <a:spcAft>
                <a:spcPts val="0"/>
              </a:spcAft>
              <a:buClr>
                <a:schemeClr val="dk1"/>
              </a:buClr>
              <a:buSzPts val="2400"/>
              <a:buNone/>
            </a:pPr>
            <a:r>
              <a:rPr lang="en-IN" sz="2400"/>
              <a:t>∑</a:t>
            </a:r>
            <a:r>
              <a:rPr baseline="30000" lang="en-IN" sz="2400"/>
              <a:t>+</a:t>
            </a:r>
            <a:r>
              <a:rPr lang="en-IN" sz="2400"/>
              <a:t> = Σ</a:t>
            </a:r>
            <a:r>
              <a:rPr baseline="30000" lang="en-IN" sz="2400"/>
              <a:t>1</a:t>
            </a:r>
            <a:r>
              <a:rPr lang="en-IN" sz="2400"/>
              <a:t> U Σ</a:t>
            </a:r>
            <a:r>
              <a:rPr baseline="30000" lang="en-IN" sz="2400"/>
              <a:t>2</a:t>
            </a:r>
            <a:r>
              <a:rPr lang="en-IN" sz="2400"/>
              <a:t> U Σ</a:t>
            </a:r>
            <a:r>
              <a:rPr baseline="30000" lang="en-IN" sz="2400"/>
              <a:t>3</a:t>
            </a:r>
            <a:r>
              <a:rPr lang="en-IN" sz="2400"/>
              <a:t> U ….</a:t>
            </a:r>
            <a:endParaRPr sz="2400"/>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lang="en-IN" sz="2400"/>
              <a:t>∑* = Σ+ U {ε}</a:t>
            </a:r>
            <a:endParaRPr/>
          </a:p>
          <a:p>
            <a:pPr indent="0" lvl="0" marL="0" rtl="0" algn="r">
              <a:spcBef>
                <a:spcPts val="480"/>
              </a:spcBef>
              <a:spcAft>
                <a:spcPts val="0"/>
              </a:spcAft>
              <a:buClr>
                <a:schemeClr val="dk1"/>
              </a:buClr>
              <a:buSzPts val="2400"/>
              <a:buNone/>
            </a:pPr>
            <a:r>
              <a:rPr lang="en-IN" sz="2400"/>
              <a:t>-Hopcraft</a:t>
            </a:r>
            <a:endParaRPr sz="2400"/>
          </a:p>
          <a:p>
            <a:pPr indent="-165100" lvl="0" marL="342900" rtl="0" algn="l">
              <a:spcBef>
                <a:spcPts val="560"/>
              </a:spcBef>
              <a:spcAft>
                <a:spcPts val="0"/>
              </a:spcAft>
              <a:buClr>
                <a:schemeClr val="dk1"/>
              </a:buClr>
              <a:buSzPts val="2800"/>
              <a:buNone/>
            </a:pPr>
            <a:r>
              <a:t/>
            </a:r>
            <a:endParaRPr sz="2800" u="sng"/>
          </a:p>
          <a:p>
            <a:pPr indent="0" lvl="0" marL="0" rtl="0" algn="l">
              <a:spcBef>
                <a:spcPts val="480"/>
              </a:spcBef>
              <a:spcAft>
                <a:spcPts val="0"/>
              </a:spcAft>
              <a:buClr>
                <a:schemeClr val="dk1"/>
              </a:buClr>
              <a:buSzPts val="2400"/>
              <a:buNone/>
            </a:pPr>
            <a:r>
              <a:t/>
            </a:r>
            <a:endParaRPr sz="2400"/>
          </a:p>
        </p:txBody>
      </p:sp>
      <p:sp>
        <p:nvSpPr>
          <p:cNvPr id="542" name="Google Shape;54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543" name="Google Shape;54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544" name="Google Shape;54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Language</a:t>
            </a:r>
            <a:endParaRPr/>
          </a:p>
        </p:txBody>
      </p:sp>
      <p:sp>
        <p:nvSpPr>
          <p:cNvPr id="550" name="Google Shape;550;p49"/>
          <p:cNvSpPr txBox="1"/>
          <p:nvPr>
            <p:ph idx="1" type="body"/>
          </p:nvPr>
        </p:nvSpPr>
        <p:spPr>
          <a:xfrm>
            <a:off x="457200" y="1412776"/>
            <a:ext cx="8229600" cy="496855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b="1" lang="en-IN" sz="2400" u="sng"/>
              <a:t>Set of string formed by using the symbols belonging to some particularly chosen alphabet</a:t>
            </a:r>
            <a:endParaRPr/>
          </a:p>
          <a:p>
            <a:pPr indent="-190500" lvl="0" marL="342900" rtl="0" algn="l">
              <a:spcBef>
                <a:spcPts val="480"/>
              </a:spcBef>
              <a:spcAft>
                <a:spcPts val="0"/>
              </a:spcAft>
              <a:buClr>
                <a:schemeClr val="dk1"/>
              </a:buClr>
              <a:buSzPts val="2400"/>
              <a:buNone/>
            </a:pPr>
            <a:r>
              <a:t/>
            </a:r>
            <a:endParaRPr b="1" sz="2400" u="sng"/>
          </a:p>
          <a:p>
            <a:pPr indent="-342900" lvl="0" marL="342900" rtl="0" algn="l">
              <a:spcBef>
                <a:spcPts val="480"/>
              </a:spcBef>
              <a:spcAft>
                <a:spcPts val="0"/>
              </a:spcAft>
              <a:buClr>
                <a:schemeClr val="dk1"/>
              </a:buClr>
              <a:buSzPts val="2400"/>
              <a:buChar char="•"/>
            </a:pPr>
            <a:r>
              <a:rPr b="1" lang="en-IN" sz="2400" u="sng"/>
              <a:t>Common languages can be viewed as a set of strings</a:t>
            </a:r>
            <a:endParaRPr/>
          </a:p>
          <a:p>
            <a:pPr indent="-190500" lvl="0" marL="342900" rtl="0" algn="l">
              <a:spcBef>
                <a:spcPts val="480"/>
              </a:spcBef>
              <a:spcAft>
                <a:spcPts val="0"/>
              </a:spcAft>
              <a:buClr>
                <a:schemeClr val="dk1"/>
              </a:buClr>
              <a:buSzPts val="2400"/>
              <a:buNone/>
            </a:pPr>
            <a:r>
              <a:t/>
            </a:r>
            <a:endParaRPr b="1" sz="2400" u="sng"/>
          </a:p>
          <a:p>
            <a:pPr indent="-190500" lvl="0" marL="342900" rtl="0" algn="l">
              <a:spcBef>
                <a:spcPts val="480"/>
              </a:spcBef>
              <a:spcAft>
                <a:spcPts val="0"/>
              </a:spcAft>
              <a:buClr>
                <a:schemeClr val="dk1"/>
              </a:buClr>
              <a:buSzPts val="2400"/>
              <a:buNone/>
            </a:pPr>
            <a:r>
              <a:t/>
            </a:r>
            <a:endParaRPr b="1" sz="2400" u="sng"/>
          </a:p>
          <a:p>
            <a:pPr indent="-342900" lvl="0" marL="342900" rtl="0" algn="r">
              <a:spcBef>
                <a:spcPts val="480"/>
              </a:spcBef>
              <a:spcAft>
                <a:spcPts val="0"/>
              </a:spcAft>
              <a:buClr>
                <a:schemeClr val="dk1"/>
              </a:buClr>
              <a:buSzPts val="2400"/>
              <a:buChar char="•"/>
            </a:pPr>
            <a:r>
              <a:rPr lang="en-IN" sz="2400"/>
              <a:t>-Hopcraft</a:t>
            </a:r>
            <a:endParaRPr sz="2400"/>
          </a:p>
          <a:p>
            <a:pPr indent="-165100" lvl="0" marL="342900" rtl="0" algn="l">
              <a:spcBef>
                <a:spcPts val="560"/>
              </a:spcBef>
              <a:spcAft>
                <a:spcPts val="0"/>
              </a:spcAft>
              <a:buClr>
                <a:schemeClr val="dk1"/>
              </a:buClr>
              <a:buSzPts val="2800"/>
              <a:buNone/>
            </a:pPr>
            <a:r>
              <a:t/>
            </a:r>
            <a:endParaRPr sz="2800" u="sng"/>
          </a:p>
          <a:p>
            <a:pPr indent="0" lvl="0" marL="0" rtl="0" algn="l">
              <a:spcBef>
                <a:spcPts val="480"/>
              </a:spcBef>
              <a:spcAft>
                <a:spcPts val="0"/>
              </a:spcAft>
              <a:buClr>
                <a:schemeClr val="dk1"/>
              </a:buClr>
              <a:buSzPts val="2400"/>
              <a:buNone/>
            </a:pPr>
            <a:r>
              <a:t/>
            </a:r>
            <a:endParaRPr sz="2400"/>
          </a:p>
        </p:txBody>
      </p:sp>
      <p:sp>
        <p:nvSpPr>
          <p:cNvPr id="551" name="Google Shape;551;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552" name="Google Shape;552;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553" name="Google Shape;553;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Language</a:t>
            </a:r>
            <a:endParaRPr/>
          </a:p>
        </p:txBody>
      </p:sp>
      <p:sp>
        <p:nvSpPr>
          <p:cNvPr id="559" name="Google Shape;559;p50"/>
          <p:cNvSpPr txBox="1"/>
          <p:nvPr>
            <p:ph idx="1" type="body"/>
          </p:nvPr>
        </p:nvSpPr>
        <p:spPr>
          <a:xfrm>
            <a:off x="457200" y="1412776"/>
            <a:ext cx="8229600" cy="496855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b="1" lang="en-IN" sz="2400" u="sng"/>
              <a:t>English Language , the collection of legal English words is a set of strings over the alphabet that consists of all the letters</a:t>
            </a:r>
            <a:endParaRPr/>
          </a:p>
          <a:p>
            <a:pPr indent="-190500" lvl="0" marL="342900" rtl="0" algn="l">
              <a:spcBef>
                <a:spcPts val="480"/>
              </a:spcBef>
              <a:spcAft>
                <a:spcPts val="0"/>
              </a:spcAft>
              <a:buClr>
                <a:schemeClr val="dk1"/>
              </a:buClr>
              <a:buSzPts val="2400"/>
              <a:buNone/>
            </a:pPr>
            <a:r>
              <a:t/>
            </a:r>
            <a:endParaRPr b="1" sz="2400" u="sng"/>
          </a:p>
          <a:p>
            <a:pPr indent="-342900" lvl="0" marL="342900" rtl="0" algn="l">
              <a:spcBef>
                <a:spcPts val="480"/>
              </a:spcBef>
              <a:spcAft>
                <a:spcPts val="0"/>
              </a:spcAft>
              <a:buClr>
                <a:schemeClr val="dk1"/>
              </a:buClr>
              <a:buSzPts val="2400"/>
              <a:buChar char="•"/>
            </a:pPr>
            <a:r>
              <a:rPr b="1" lang="en-IN" sz="2400" u="sng"/>
              <a:t>C or any other programming Language, where the legal programs are a subset of the possible strings that can be formed from the alphabet of the language. </a:t>
            </a:r>
            <a:endParaRPr/>
          </a:p>
          <a:p>
            <a:pPr indent="-285750" lvl="1" marL="742950" rtl="0" algn="l">
              <a:spcBef>
                <a:spcPts val="400"/>
              </a:spcBef>
              <a:spcAft>
                <a:spcPts val="0"/>
              </a:spcAft>
              <a:buClr>
                <a:schemeClr val="dk1"/>
              </a:buClr>
              <a:buSzPts val="2000"/>
              <a:buChar char="–"/>
            </a:pPr>
            <a:r>
              <a:rPr b="1" lang="en-IN" sz="2000" u="sng"/>
              <a:t>The alphabet is a subset of the ASCII characters-generally uppercase lower case letters,digits,punctuation and mathematical symbols.</a:t>
            </a:r>
            <a:endParaRPr b="1" sz="2000" u="sng"/>
          </a:p>
          <a:p>
            <a:pPr indent="-342900" lvl="0" marL="342900" rtl="0" algn="r">
              <a:spcBef>
                <a:spcPts val="480"/>
              </a:spcBef>
              <a:spcAft>
                <a:spcPts val="0"/>
              </a:spcAft>
              <a:buClr>
                <a:schemeClr val="dk1"/>
              </a:buClr>
              <a:buSzPts val="2400"/>
              <a:buChar char="•"/>
            </a:pPr>
            <a:r>
              <a:rPr lang="en-IN" sz="2400"/>
              <a:t>-Hopcraft</a:t>
            </a:r>
            <a:endParaRPr sz="2400"/>
          </a:p>
          <a:p>
            <a:pPr indent="-165100" lvl="0" marL="342900" rtl="0" algn="l">
              <a:spcBef>
                <a:spcPts val="560"/>
              </a:spcBef>
              <a:spcAft>
                <a:spcPts val="0"/>
              </a:spcAft>
              <a:buClr>
                <a:schemeClr val="dk1"/>
              </a:buClr>
              <a:buSzPts val="2800"/>
              <a:buNone/>
            </a:pPr>
            <a:r>
              <a:t/>
            </a:r>
            <a:endParaRPr sz="2800" u="sng"/>
          </a:p>
          <a:p>
            <a:pPr indent="0" lvl="0" marL="0" rtl="0" algn="l">
              <a:spcBef>
                <a:spcPts val="480"/>
              </a:spcBef>
              <a:spcAft>
                <a:spcPts val="0"/>
              </a:spcAft>
              <a:buClr>
                <a:schemeClr val="dk1"/>
              </a:buClr>
              <a:buSzPts val="2400"/>
              <a:buNone/>
            </a:pPr>
            <a:r>
              <a:t/>
            </a:r>
            <a:endParaRPr sz="2400"/>
          </a:p>
        </p:txBody>
      </p:sp>
      <p:sp>
        <p:nvSpPr>
          <p:cNvPr id="560" name="Google Shape;560;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561" name="Google Shape;561;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562" name="Google Shape;562;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Language</a:t>
            </a:r>
            <a:endParaRPr/>
          </a:p>
        </p:txBody>
      </p:sp>
      <p:sp>
        <p:nvSpPr>
          <p:cNvPr id="568" name="Google Shape;568;p51"/>
          <p:cNvSpPr txBox="1"/>
          <p:nvPr>
            <p:ph idx="1" type="body"/>
          </p:nvPr>
        </p:nvSpPr>
        <p:spPr>
          <a:xfrm>
            <a:off x="457200" y="1412776"/>
            <a:ext cx="8229600" cy="4968552"/>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Clr>
                <a:schemeClr val="dk1"/>
              </a:buClr>
              <a:buSzPct val="100000"/>
              <a:buNone/>
            </a:pPr>
            <a:r>
              <a:rPr b="1" lang="en-IN" sz="2600"/>
              <a:t>Some abstract examples-</a:t>
            </a:r>
            <a:endParaRPr/>
          </a:p>
          <a:p>
            <a:pPr indent="-342900" lvl="0" marL="342900" rtl="0" algn="l">
              <a:spcBef>
                <a:spcPts val="481"/>
              </a:spcBef>
              <a:spcAft>
                <a:spcPts val="0"/>
              </a:spcAft>
              <a:buClr>
                <a:schemeClr val="dk1"/>
              </a:buClr>
              <a:buSzPct val="100000"/>
              <a:buChar char="•"/>
            </a:pPr>
            <a:r>
              <a:rPr lang="en-IN" sz="2600"/>
              <a:t>The set of strings of 0s and 1s with an equal no of each-</a:t>
            </a:r>
            <a:endParaRPr/>
          </a:p>
          <a:p>
            <a:pPr indent="0" lvl="0" marL="0" rtl="0" algn="l">
              <a:spcBef>
                <a:spcPts val="481"/>
              </a:spcBef>
              <a:spcAft>
                <a:spcPts val="0"/>
              </a:spcAft>
              <a:buClr>
                <a:schemeClr val="dk1"/>
              </a:buClr>
              <a:buSzPct val="100000"/>
              <a:buNone/>
            </a:pPr>
            <a:r>
              <a:rPr lang="en-IN" sz="2600"/>
              <a:t>{ε,01,10,0011,0101,1001,…..}</a:t>
            </a:r>
            <a:endParaRPr/>
          </a:p>
          <a:p>
            <a:pPr indent="-190182" lvl="0" marL="342900" rtl="0" algn="l">
              <a:spcBef>
                <a:spcPts val="481"/>
              </a:spcBef>
              <a:spcAft>
                <a:spcPts val="0"/>
              </a:spcAft>
              <a:buClr>
                <a:schemeClr val="dk1"/>
              </a:buClr>
              <a:buSzPct val="100000"/>
              <a:buNone/>
            </a:pPr>
            <a:r>
              <a:t/>
            </a:r>
            <a:endParaRPr sz="2600"/>
          </a:p>
          <a:p>
            <a:pPr indent="-342900" lvl="0" marL="342900" rtl="0" algn="l">
              <a:spcBef>
                <a:spcPts val="481"/>
              </a:spcBef>
              <a:spcAft>
                <a:spcPts val="0"/>
              </a:spcAft>
              <a:buClr>
                <a:schemeClr val="dk1"/>
              </a:buClr>
              <a:buSzPct val="100000"/>
              <a:buChar char="•"/>
            </a:pPr>
            <a:r>
              <a:rPr lang="en-IN" sz="2600"/>
              <a:t>The set of binary numbers whose value is prime:</a:t>
            </a:r>
            <a:endParaRPr/>
          </a:p>
          <a:p>
            <a:pPr indent="0" lvl="0" marL="0" rtl="0" algn="l">
              <a:spcBef>
                <a:spcPts val="481"/>
              </a:spcBef>
              <a:spcAft>
                <a:spcPts val="0"/>
              </a:spcAft>
              <a:buClr>
                <a:schemeClr val="dk1"/>
              </a:buClr>
              <a:buSzPct val="100000"/>
              <a:buNone/>
            </a:pPr>
            <a:r>
              <a:rPr lang="en-IN" sz="2600"/>
              <a:t>{10,11,101,111,1011,…..}</a:t>
            </a:r>
            <a:endParaRPr/>
          </a:p>
          <a:p>
            <a:pPr indent="-190182" lvl="0" marL="342900" rtl="0" algn="l">
              <a:spcBef>
                <a:spcPts val="481"/>
              </a:spcBef>
              <a:spcAft>
                <a:spcPts val="0"/>
              </a:spcAft>
              <a:buClr>
                <a:schemeClr val="dk1"/>
              </a:buClr>
              <a:buSzPct val="100000"/>
              <a:buNone/>
            </a:pPr>
            <a:r>
              <a:t/>
            </a:r>
            <a:endParaRPr b="1" sz="2600" u="sng"/>
          </a:p>
          <a:p>
            <a:pPr indent="0" lvl="0" marL="0" rtl="0" algn="l">
              <a:spcBef>
                <a:spcPts val="481"/>
              </a:spcBef>
              <a:spcAft>
                <a:spcPts val="0"/>
              </a:spcAft>
              <a:buClr>
                <a:schemeClr val="dk1"/>
              </a:buClr>
              <a:buSzPct val="100000"/>
              <a:buNone/>
            </a:pPr>
            <a:r>
              <a:rPr b="1" lang="en-IN" sz="2600"/>
              <a:t>Set Former Notation-</a:t>
            </a:r>
            <a:endParaRPr/>
          </a:p>
          <a:p>
            <a:pPr indent="-342900" lvl="0" marL="342900" rtl="0" algn="l">
              <a:spcBef>
                <a:spcPts val="481"/>
              </a:spcBef>
              <a:spcAft>
                <a:spcPts val="0"/>
              </a:spcAft>
              <a:buClr>
                <a:schemeClr val="dk1"/>
              </a:buClr>
              <a:buSzPct val="100000"/>
              <a:buChar char="•"/>
            </a:pPr>
            <a:r>
              <a:rPr lang="en-IN" sz="2600"/>
              <a:t>{w|w consists of an equal number of 0s and 1s}</a:t>
            </a:r>
            <a:endParaRPr/>
          </a:p>
          <a:p>
            <a:pPr indent="-190182" lvl="0" marL="342900" rtl="0" algn="l">
              <a:spcBef>
                <a:spcPts val="481"/>
              </a:spcBef>
              <a:spcAft>
                <a:spcPts val="0"/>
              </a:spcAft>
              <a:buClr>
                <a:schemeClr val="dk1"/>
              </a:buClr>
              <a:buSzPct val="100000"/>
              <a:buNone/>
            </a:pPr>
            <a:r>
              <a:t/>
            </a:r>
            <a:endParaRPr sz="2600"/>
          </a:p>
          <a:p>
            <a:pPr indent="-342900" lvl="0" marL="342900" rtl="0" algn="l">
              <a:spcBef>
                <a:spcPts val="481"/>
              </a:spcBef>
              <a:spcAft>
                <a:spcPts val="0"/>
              </a:spcAft>
              <a:buClr>
                <a:schemeClr val="dk1"/>
              </a:buClr>
              <a:buSzPct val="100000"/>
              <a:buChar char="•"/>
            </a:pPr>
            <a:r>
              <a:rPr lang="en-IN" sz="2600" u="sng"/>
              <a:t>{w|w is a binary integer that is prime}</a:t>
            </a:r>
            <a:endParaRPr sz="2600" u="sng"/>
          </a:p>
          <a:p>
            <a:pPr indent="-201930" lvl="0" marL="342900" rtl="0" algn="l">
              <a:spcBef>
                <a:spcPts val="444"/>
              </a:spcBef>
              <a:spcAft>
                <a:spcPts val="0"/>
              </a:spcAft>
              <a:buClr>
                <a:schemeClr val="dk1"/>
              </a:buClr>
              <a:buSzPct val="100000"/>
              <a:buNone/>
            </a:pPr>
            <a:r>
              <a:t/>
            </a:r>
            <a:endParaRPr b="1" sz="2400" u="sng"/>
          </a:p>
          <a:p>
            <a:pPr indent="-342900" lvl="0" marL="342900" rtl="0" algn="r">
              <a:spcBef>
                <a:spcPts val="444"/>
              </a:spcBef>
              <a:spcAft>
                <a:spcPts val="0"/>
              </a:spcAft>
              <a:buClr>
                <a:schemeClr val="dk1"/>
              </a:buClr>
              <a:buSzPct val="100000"/>
              <a:buChar char="•"/>
            </a:pPr>
            <a:r>
              <a:rPr lang="en-IN" sz="2400"/>
              <a:t>-Hopcraft</a:t>
            </a:r>
            <a:endParaRPr sz="2400"/>
          </a:p>
          <a:p>
            <a:pPr indent="-178435" lvl="0" marL="342900" rtl="0" algn="l">
              <a:spcBef>
                <a:spcPts val="518"/>
              </a:spcBef>
              <a:spcAft>
                <a:spcPts val="0"/>
              </a:spcAft>
              <a:buClr>
                <a:schemeClr val="dk1"/>
              </a:buClr>
              <a:buSzPct val="100000"/>
              <a:buNone/>
            </a:pPr>
            <a:r>
              <a:t/>
            </a:r>
            <a:endParaRPr sz="2800" u="sng"/>
          </a:p>
          <a:p>
            <a:pPr indent="0" lvl="0" marL="0" rtl="0" algn="l">
              <a:spcBef>
                <a:spcPts val="444"/>
              </a:spcBef>
              <a:spcAft>
                <a:spcPts val="0"/>
              </a:spcAft>
              <a:buClr>
                <a:schemeClr val="dk1"/>
              </a:buClr>
              <a:buSzPct val="100000"/>
              <a:buNone/>
            </a:pPr>
            <a:r>
              <a:t/>
            </a:r>
            <a:endParaRPr sz="2400"/>
          </a:p>
        </p:txBody>
      </p:sp>
      <p:sp>
        <p:nvSpPr>
          <p:cNvPr id="569" name="Google Shape;569;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570" name="Google Shape;570;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571" name="Google Shape;571;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52"/>
          <p:cNvSpPr txBox="1"/>
          <p:nvPr>
            <p:ph type="title"/>
          </p:nvPr>
        </p:nvSpPr>
        <p:spPr>
          <a:xfrm>
            <a:off x="457200" y="274638"/>
            <a:ext cx="8229600" cy="41805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Operation on Languages</a:t>
            </a:r>
            <a:endParaRPr/>
          </a:p>
        </p:txBody>
      </p:sp>
      <p:sp>
        <p:nvSpPr>
          <p:cNvPr id="577" name="Google Shape;577;p52"/>
          <p:cNvSpPr txBox="1"/>
          <p:nvPr>
            <p:ph idx="1" type="body"/>
          </p:nvPr>
        </p:nvSpPr>
        <p:spPr>
          <a:xfrm>
            <a:off x="457200" y="1412776"/>
            <a:ext cx="8229600" cy="496855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IN" sz="2400"/>
              <a:t>Union-</a:t>
            </a:r>
            <a:endParaRPr/>
          </a:p>
          <a:p>
            <a:pPr indent="-342900" lvl="0" marL="342900" rtl="0" algn="l">
              <a:spcBef>
                <a:spcPts val="480"/>
              </a:spcBef>
              <a:spcAft>
                <a:spcPts val="0"/>
              </a:spcAft>
              <a:buClr>
                <a:schemeClr val="dk1"/>
              </a:buClr>
              <a:buSzPts val="2400"/>
              <a:buChar char="•"/>
            </a:pPr>
            <a:r>
              <a:rPr lang="en-IN" sz="2400"/>
              <a:t>Union of Two Languages L &amp; M, </a:t>
            </a:r>
            <a:endParaRPr/>
          </a:p>
          <a:p>
            <a:pPr indent="-342900" lvl="0" marL="342900" rtl="0" algn="l">
              <a:spcBef>
                <a:spcPts val="480"/>
              </a:spcBef>
              <a:spcAft>
                <a:spcPts val="0"/>
              </a:spcAft>
              <a:buClr>
                <a:schemeClr val="dk1"/>
              </a:buClr>
              <a:buSzPts val="2400"/>
              <a:buChar char="•"/>
            </a:pPr>
            <a:r>
              <a:rPr lang="en-IN" sz="2400"/>
              <a:t>Denoted as L U M</a:t>
            </a:r>
            <a:endParaRPr/>
          </a:p>
          <a:p>
            <a:pPr indent="-342900" lvl="0" marL="342900" rtl="0" algn="l">
              <a:spcBef>
                <a:spcPts val="480"/>
              </a:spcBef>
              <a:spcAft>
                <a:spcPts val="0"/>
              </a:spcAft>
              <a:buClr>
                <a:schemeClr val="dk1"/>
              </a:buClr>
              <a:buSzPts val="2400"/>
              <a:buChar char="•"/>
            </a:pPr>
            <a:r>
              <a:rPr lang="en-IN" sz="2400"/>
              <a:t>The set of strings that are either L or M or both</a:t>
            </a:r>
            <a:endParaRPr/>
          </a:p>
          <a:p>
            <a:pPr indent="-342900" lvl="0" marL="342900" rtl="0" algn="l">
              <a:spcBef>
                <a:spcPts val="480"/>
              </a:spcBef>
              <a:spcAft>
                <a:spcPts val="0"/>
              </a:spcAft>
              <a:buClr>
                <a:schemeClr val="dk1"/>
              </a:buClr>
              <a:buSzPts val="2400"/>
              <a:buChar char="•"/>
            </a:pPr>
            <a:r>
              <a:rPr lang="en-IN" sz="2400"/>
              <a:t>Eg-If L={001,10,111}, M={ε,001}</a:t>
            </a:r>
            <a:endParaRPr/>
          </a:p>
          <a:p>
            <a:pPr indent="-342900" lvl="0" marL="342900" rtl="0" algn="l">
              <a:spcBef>
                <a:spcPts val="480"/>
              </a:spcBef>
              <a:spcAft>
                <a:spcPts val="0"/>
              </a:spcAft>
              <a:buClr>
                <a:schemeClr val="dk1"/>
              </a:buClr>
              <a:buSzPts val="2400"/>
              <a:buChar char="•"/>
            </a:pPr>
            <a:r>
              <a:rPr lang="en-IN" sz="2400"/>
              <a:t>L U M  ={ε,10,001,111}</a:t>
            </a:r>
            <a:endParaRPr sz="2400"/>
          </a:p>
          <a:p>
            <a:pPr indent="0" lvl="0" marL="0" rtl="0" algn="r">
              <a:spcBef>
                <a:spcPts val="480"/>
              </a:spcBef>
              <a:spcAft>
                <a:spcPts val="0"/>
              </a:spcAft>
              <a:buClr>
                <a:schemeClr val="dk1"/>
              </a:buClr>
              <a:buSzPts val="2400"/>
              <a:buNone/>
            </a:pPr>
            <a:r>
              <a:rPr lang="en-IN" sz="2400"/>
              <a:t>-Hopcraft</a:t>
            </a:r>
            <a:endParaRPr sz="2400"/>
          </a:p>
          <a:p>
            <a:pPr indent="-165100" lvl="0" marL="342900" rtl="0" algn="l">
              <a:spcBef>
                <a:spcPts val="560"/>
              </a:spcBef>
              <a:spcAft>
                <a:spcPts val="0"/>
              </a:spcAft>
              <a:buClr>
                <a:schemeClr val="dk1"/>
              </a:buClr>
              <a:buSzPts val="2800"/>
              <a:buNone/>
            </a:pPr>
            <a:r>
              <a:t/>
            </a:r>
            <a:endParaRPr sz="2800" u="sng"/>
          </a:p>
          <a:p>
            <a:pPr indent="0" lvl="0" marL="0" rtl="0" algn="l">
              <a:spcBef>
                <a:spcPts val="480"/>
              </a:spcBef>
              <a:spcAft>
                <a:spcPts val="0"/>
              </a:spcAft>
              <a:buClr>
                <a:schemeClr val="dk1"/>
              </a:buClr>
              <a:buSzPts val="2400"/>
              <a:buNone/>
            </a:pPr>
            <a:r>
              <a:t/>
            </a:r>
            <a:endParaRPr sz="2400"/>
          </a:p>
        </p:txBody>
      </p:sp>
      <p:sp>
        <p:nvSpPr>
          <p:cNvPr id="578" name="Google Shape;578;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579" name="Google Shape;579;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580" name="Google Shape;580;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53"/>
          <p:cNvSpPr txBox="1"/>
          <p:nvPr>
            <p:ph type="title"/>
          </p:nvPr>
        </p:nvSpPr>
        <p:spPr>
          <a:xfrm>
            <a:off x="457200" y="274638"/>
            <a:ext cx="8229600" cy="41805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Operation on Languages</a:t>
            </a:r>
            <a:endParaRPr/>
          </a:p>
        </p:txBody>
      </p:sp>
      <p:sp>
        <p:nvSpPr>
          <p:cNvPr id="586" name="Google Shape;586;p53"/>
          <p:cNvSpPr txBox="1"/>
          <p:nvPr>
            <p:ph idx="1" type="body"/>
          </p:nvPr>
        </p:nvSpPr>
        <p:spPr>
          <a:xfrm>
            <a:off x="457200" y="1412776"/>
            <a:ext cx="8229600" cy="496855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IN" sz="2400"/>
              <a:t>Concatenation-</a:t>
            </a:r>
            <a:endParaRPr/>
          </a:p>
          <a:p>
            <a:pPr indent="-342900" lvl="0" marL="342900" rtl="0" algn="l">
              <a:spcBef>
                <a:spcPts val="480"/>
              </a:spcBef>
              <a:spcAft>
                <a:spcPts val="0"/>
              </a:spcAft>
              <a:buClr>
                <a:schemeClr val="dk1"/>
              </a:buClr>
              <a:buSzPts val="2400"/>
              <a:buChar char="•"/>
            </a:pPr>
            <a:r>
              <a:rPr lang="en-IN" sz="2400"/>
              <a:t>Concatenation of Languages L and M</a:t>
            </a:r>
            <a:endParaRPr/>
          </a:p>
          <a:p>
            <a:pPr indent="-342900" lvl="0" marL="342900" rtl="0" algn="l">
              <a:spcBef>
                <a:spcPts val="480"/>
              </a:spcBef>
              <a:spcAft>
                <a:spcPts val="0"/>
              </a:spcAft>
              <a:buClr>
                <a:schemeClr val="dk1"/>
              </a:buClr>
              <a:buSzPts val="2400"/>
              <a:buChar char="•"/>
            </a:pPr>
            <a:r>
              <a:rPr lang="en-IN" sz="2400"/>
              <a:t>The set of strings that can be formed by taking any string in L and concatenating it with any string in M</a:t>
            </a:r>
            <a:endParaRPr/>
          </a:p>
          <a:p>
            <a:pPr indent="-342900" lvl="0" marL="342900" rtl="0" algn="l">
              <a:spcBef>
                <a:spcPts val="480"/>
              </a:spcBef>
              <a:spcAft>
                <a:spcPts val="0"/>
              </a:spcAft>
              <a:buClr>
                <a:schemeClr val="dk1"/>
              </a:buClr>
              <a:buSzPts val="2400"/>
              <a:buChar char="•"/>
            </a:pPr>
            <a:r>
              <a:rPr lang="en-IN" sz="2400"/>
              <a:t>Eg-If L={001,10,111}, M={ε,001}</a:t>
            </a:r>
            <a:endParaRPr/>
          </a:p>
          <a:p>
            <a:pPr indent="-342900" lvl="0" marL="342900" rtl="0" algn="l">
              <a:spcBef>
                <a:spcPts val="480"/>
              </a:spcBef>
              <a:spcAft>
                <a:spcPts val="0"/>
              </a:spcAft>
              <a:buClr>
                <a:schemeClr val="dk1"/>
              </a:buClr>
              <a:buSzPts val="2400"/>
              <a:buChar char="•"/>
            </a:pPr>
            <a:r>
              <a:rPr lang="en-IN" sz="2400"/>
              <a:t>L.M=LM={001,10,111,001001,10001,111001}</a:t>
            </a:r>
            <a:endParaRPr/>
          </a:p>
          <a:p>
            <a:pPr indent="0" lvl="0" marL="0" rtl="0" algn="r">
              <a:spcBef>
                <a:spcPts val="480"/>
              </a:spcBef>
              <a:spcAft>
                <a:spcPts val="0"/>
              </a:spcAft>
              <a:buClr>
                <a:schemeClr val="dk1"/>
              </a:buClr>
              <a:buSzPts val="2400"/>
              <a:buNone/>
            </a:pPr>
            <a:r>
              <a:rPr lang="en-IN" sz="2400"/>
              <a:t>-Hopcraft</a:t>
            </a:r>
            <a:endParaRPr sz="2400"/>
          </a:p>
          <a:p>
            <a:pPr indent="-165100" lvl="0" marL="342900" rtl="0" algn="l">
              <a:spcBef>
                <a:spcPts val="560"/>
              </a:spcBef>
              <a:spcAft>
                <a:spcPts val="0"/>
              </a:spcAft>
              <a:buClr>
                <a:schemeClr val="dk1"/>
              </a:buClr>
              <a:buSzPts val="2800"/>
              <a:buNone/>
            </a:pPr>
            <a:r>
              <a:t/>
            </a:r>
            <a:endParaRPr sz="2800" u="sng"/>
          </a:p>
          <a:p>
            <a:pPr indent="0" lvl="0" marL="0" rtl="0" algn="l">
              <a:spcBef>
                <a:spcPts val="480"/>
              </a:spcBef>
              <a:spcAft>
                <a:spcPts val="0"/>
              </a:spcAft>
              <a:buClr>
                <a:schemeClr val="dk1"/>
              </a:buClr>
              <a:buSzPts val="2400"/>
              <a:buNone/>
            </a:pPr>
            <a:r>
              <a:t/>
            </a:r>
            <a:endParaRPr sz="2400"/>
          </a:p>
        </p:txBody>
      </p:sp>
      <p:sp>
        <p:nvSpPr>
          <p:cNvPr id="587" name="Google Shape;587;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588" name="Google Shape;588;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589" name="Google Shape;589;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54"/>
          <p:cNvSpPr txBox="1"/>
          <p:nvPr>
            <p:ph type="title"/>
          </p:nvPr>
        </p:nvSpPr>
        <p:spPr>
          <a:xfrm>
            <a:off x="457200" y="274638"/>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u="sng"/>
              <a:t>Finite Automata:</a:t>
            </a:r>
            <a:endParaRPr/>
          </a:p>
        </p:txBody>
      </p:sp>
      <p:sp>
        <p:nvSpPr>
          <p:cNvPr id="595" name="Google Shape;595;p54"/>
          <p:cNvSpPr txBox="1"/>
          <p:nvPr>
            <p:ph idx="1" type="body"/>
          </p:nvPr>
        </p:nvSpPr>
        <p:spPr>
          <a:xfrm>
            <a:off x="457201" y="836712"/>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FA is the mathematical model (or formalism) of an FSM</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The finite automaton is a mathematical model of a system, with discrete inputs and outputs.</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Mathematical Models are abstractions and simplifications of how certain machines actually work</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Help us understand specific properties of these machines</a:t>
            </a:r>
            <a:endParaRPr/>
          </a:p>
          <a:p>
            <a:pPr indent="-190500" lvl="0" marL="342900" rtl="0" algn="l">
              <a:spcBef>
                <a:spcPts val="480"/>
              </a:spcBef>
              <a:spcAft>
                <a:spcPts val="0"/>
              </a:spcAft>
              <a:buClr>
                <a:schemeClr val="dk1"/>
              </a:buClr>
              <a:buSzPts val="2400"/>
              <a:buNone/>
            </a:pPr>
            <a:r>
              <a:t/>
            </a:r>
            <a:endParaRPr sz="2400"/>
          </a:p>
        </p:txBody>
      </p:sp>
      <p:sp>
        <p:nvSpPr>
          <p:cNvPr id="596" name="Google Shape;596;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597" name="Google Shape;597;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598" name="Google Shape;598;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55"/>
          <p:cNvSpPr txBox="1"/>
          <p:nvPr>
            <p:ph type="title"/>
          </p:nvPr>
        </p:nvSpPr>
        <p:spPr>
          <a:xfrm>
            <a:off x="457200" y="274638"/>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u="sng"/>
              <a:t>Finite Automata:</a:t>
            </a:r>
            <a:endParaRPr/>
          </a:p>
        </p:txBody>
      </p:sp>
      <p:sp>
        <p:nvSpPr>
          <p:cNvPr id="604" name="Google Shape;604;p55"/>
          <p:cNvSpPr txBox="1"/>
          <p:nvPr>
            <p:ph idx="1" type="body"/>
          </p:nvPr>
        </p:nvSpPr>
        <p:spPr>
          <a:xfrm>
            <a:off x="457201" y="836712"/>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The system can be in any one of a finite number of internal configurations or "states".</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The state of the system summarizes the information concerning past inputs that is needed to determine the behaviour of the system on subsequent inputs</a:t>
            </a:r>
            <a:endParaRPr/>
          </a:p>
        </p:txBody>
      </p:sp>
      <p:sp>
        <p:nvSpPr>
          <p:cNvPr id="605" name="Google Shape;605;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606" name="Google Shape;606;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607" name="Google Shape;607;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56"/>
          <p:cNvSpPr txBox="1"/>
          <p:nvPr>
            <p:ph type="title"/>
          </p:nvPr>
        </p:nvSpPr>
        <p:spPr>
          <a:xfrm>
            <a:off x="457200" y="274638"/>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u="sng"/>
              <a:t>Finite Automata: Formal Definition</a:t>
            </a:r>
            <a:endParaRPr/>
          </a:p>
        </p:txBody>
      </p:sp>
      <p:sp>
        <p:nvSpPr>
          <p:cNvPr id="613" name="Google Shape;613;p56"/>
          <p:cNvSpPr txBox="1"/>
          <p:nvPr>
            <p:ph idx="1" type="body"/>
          </p:nvPr>
        </p:nvSpPr>
        <p:spPr>
          <a:xfrm>
            <a:off x="457201" y="1196752"/>
            <a:ext cx="8229600" cy="416592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A list of five elements is called a 5-tuple,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A finite automaton can be defined as a 5-tuple</a:t>
            </a:r>
            <a:endParaRPr/>
          </a:p>
        </p:txBody>
      </p:sp>
      <p:sp>
        <p:nvSpPr>
          <p:cNvPr id="614" name="Google Shape;614;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615" name="Google Shape;615;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616" name="Google Shape;616;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57"/>
          <p:cNvSpPr txBox="1"/>
          <p:nvPr>
            <p:ph type="title"/>
          </p:nvPr>
        </p:nvSpPr>
        <p:spPr>
          <a:xfrm>
            <a:off x="457200" y="274638"/>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u="sng"/>
              <a:t>Finite Automata: Formal Definition</a:t>
            </a:r>
            <a:endParaRPr/>
          </a:p>
        </p:txBody>
      </p:sp>
      <p:sp>
        <p:nvSpPr>
          <p:cNvPr id="622" name="Google Shape;622;p57"/>
          <p:cNvSpPr txBox="1"/>
          <p:nvPr>
            <p:ph idx="1" type="body"/>
          </p:nvPr>
        </p:nvSpPr>
        <p:spPr>
          <a:xfrm>
            <a:off x="467544" y="1196752"/>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FA is denoted by  5 Tuple:</a:t>
            </a:r>
            <a:endParaRPr/>
          </a:p>
        </p:txBody>
      </p:sp>
      <p:sp>
        <p:nvSpPr>
          <p:cNvPr id="623" name="Google Shape;623;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624" name="Google Shape;624;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625" name="Google Shape;625;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58"/>
          <p:cNvSpPr txBox="1"/>
          <p:nvPr>
            <p:ph type="title"/>
          </p:nvPr>
        </p:nvSpPr>
        <p:spPr>
          <a:xfrm>
            <a:off x="457200" y="274638"/>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u="sng"/>
              <a:t>Finite Automata: Formal Definition</a:t>
            </a:r>
            <a:endParaRPr/>
          </a:p>
        </p:txBody>
      </p:sp>
      <p:sp>
        <p:nvSpPr>
          <p:cNvPr id="631" name="Google Shape;631;p58"/>
          <p:cNvSpPr txBox="1"/>
          <p:nvPr>
            <p:ph idx="1" type="body"/>
          </p:nvPr>
        </p:nvSpPr>
        <p:spPr>
          <a:xfrm>
            <a:off x="467544" y="1196752"/>
            <a:ext cx="8229600" cy="4525963"/>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2400"/>
              <a:buNone/>
            </a:pPr>
            <a:r>
              <a:rPr lang="en-IN" sz="2400"/>
              <a:t>FA is denoted by  5 Tuple: M=(Q, ∑, δ, q</a:t>
            </a:r>
            <a:r>
              <a:rPr baseline="-25000" lang="en-IN" sz="2400"/>
              <a:t>0</a:t>
            </a:r>
            <a:r>
              <a:rPr lang="en-IN" sz="2400"/>
              <a:t>, F) where </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Q:Finite set of states</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∑:Finite input alphabet</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δ:Q X ∑ -&gt;Q      State Transition function(STF)</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q</a:t>
            </a:r>
            <a:r>
              <a:rPr baseline="-25000" lang="en-IN" sz="2400"/>
              <a:t>0</a:t>
            </a:r>
            <a:r>
              <a:rPr lang="en-IN" sz="2400"/>
              <a:t>: Initial/Start state of FA, q0 ∈ Q</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F: Set of Final States/ Accept State, F ⊆ Q</a:t>
            </a:r>
            <a:endParaRPr sz="2400"/>
          </a:p>
        </p:txBody>
      </p:sp>
      <p:sp>
        <p:nvSpPr>
          <p:cNvPr id="632" name="Google Shape;632;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633" name="Google Shape;633;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634" name="Google Shape;634;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59"/>
          <p:cNvSpPr txBox="1"/>
          <p:nvPr>
            <p:ph type="title"/>
          </p:nvPr>
        </p:nvSpPr>
        <p:spPr>
          <a:xfrm>
            <a:off x="457200" y="274638"/>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u="sng"/>
              <a:t>Finite Automata: Formal Definition</a:t>
            </a:r>
            <a:endParaRPr/>
          </a:p>
        </p:txBody>
      </p:sp>
      <p:sp>
        <p:nvSpPr>
          <p:cNvPr id="640" name="Google Shape;640;p59"/>
          <p:cNvSpPr txBox="1"/>
          <p:nvPr>
            <p:ph idx="1" type="body"/>
          </p:nvPr>
        </p:nvSpPr>
        <p:spPr>
          <a:xfrm>
            <a:off x="467544" y="1196752"/>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FA is denoted by  5 Tuple: M=(Q, ∑, δ, q</a:t>
            </a:r>
            <a:r>
              <a:rPr baseline="-25000" lang="en-IN" sz="2400"/>
              <a:t>0</a:t>
            </a:r>
            <a:r>
              <a:rPr lang="en-IN" sz="2400"/>
              <a:t>, F) where </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This definition  is for Deterministic FA or DFA</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The Transition Function for Non- Deterministic FA or NDFA is different </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NDFA will be discussed later</a:t>
            </a:r>
            <a:endParaRPr/>
          </a:p>
        </p:txBody>
      </p:sp>
      <p:sp>
        <p:nvSpPr>
          <p:cNvPr id="641" name="Google Shape;641;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642" name="Google Shape;642;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643" name="Google Shape;643;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60"/>
          <p:cNvSpPr txBox="1"/>
          <p:nvPr>
            <p:ph type="title"/>
          </p:nvPr>
        </p:nvSpPr>
        <p:spPr>
          <a:xfrm>
            <a:off x="457200" y="274638"/>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u="sng"/>
              <a:t>State Transition function(STF)</a:t>
            </a:r>
            <a:endParaRPr/>
          </a:p>
        </p:txBody>
      </p:sp>
      <p:sp>
        <p:nvSpPr>
          <p:cNvPr id="649" name="Google Shape;649;p60"/>
          <p:cNvSpPr txBox="1"/>
          <p:nvPr>
            <p:ph idx="1" type="body"/>
          </p:nvPr>
        </p:nvSpPr>
        <p:spPr>
          <a:xfrm>
            <a:off x="395536" y="1052736"/>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Denoted by δ </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Define rules of moving</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We can denote the transition rules by a function called the transition function,</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δ : States × Alphabet → States</a:t>
            </a:r>
            <a:endParaRPr sz="2400"/>
          </a:p>
          <a:p>
            <a:pPr indent="-190500" lvl="0" marL="342900" rtl="0" algn="l">
              <a:spcBef>
                <a:spcPts val="480"/>
              </a:spcBef>
              <a:spcAft>
                <a:spcPts val="0"/>
              </a:spcAft>
              <a:buClr>
                <a:schemeClr val="dk1"/>
              </a:buClr>
              <a:buSzPts val="2400"/>
              <a:buNone/>
            </a:pPr>
            <a:r>
              <a:t/>
            </a:r>
            <a:endParaRPr sz="2400"/>
          </a:p>
        </p:txBody>
      </p:sp>
      <p:sp>
        <p:nvSpPr>
          <p:cNvPr id="650" name="Google Shape;650;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651" name="Google Shape;651;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652" name="Google Shape;652;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61"/>
          <p:cNvSpPr txBox="1"/>
          <p:nvPr>
            <p:ph type="title"/>
          </p:nvPr>
        </p:nvSpPr>
        <p:spPr>
          <a:xfrm>
            <a:off x="457200" y="274638"/>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u="sng"/>
              <a:t>State Transition function(STF)</a:t>
            </a:r>
            <a:endParaRPr/>
          </a:p>
        </p:txBody>
      </p:sp>
      <p:sp>
        <p:nvSpPr>
          <p:cNvPr id="658" name="Google Shape;658;p61"/>
          <p:cNvSpPr txBox="1"/>
          <p:nvPr>
            <p:ph idx="1" type="body"/>
          </p:nvPr>
        </p:nvSpPr>
        <p:spPr>
          <a:xfrm>
            <a:off x="395536" y="1052736"/>
            <a:ext cx="8229600" cy="4525963"/>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If the FA has an arrow from a state x to state y labelled with input symbol 1</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If Automaton is in state x, when it reads 1, it then moves to state y</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δ(x,1)=y</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Example: δ(q0, x) = q1</a:t>
            </a:r>
            <a:endParaRPr sz="2400"/>
          </a:p>
        </p:txBody>
      </p:sp>
      <p:sp>
        <p:nvSpPr>
          <p:cNvPr id="659" name="Google Shape;659;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660" name="Google Shape;660;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661" name="Google Shape;661;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62"/>
          <p:cNvSpPr txBox="1"/>
          <p:nvPr>
            <p:ph type="title"/>
          </p:nvPr>
        </p:nvSpPr>
        <p:spPr>
          <a:xfrm>
            <a:off x="457200" y="274638"/>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u="sng"/>
              <a:t>Machine M1</a:t>
            </a:r>
            <a:endParaRPr b="1" u="sng"/>
          </a:p>
        </p:txBody>
      </p:sp>
      <p:sp>
        <p:nvSpPr>
          <p:cNvPr id="667" name="Google Shape;667;p62"/>
          <p:cNvSpPr txBox="1"/>
          <p:nvPr>
            <p:ph idx="1" type="body"/>
          </p:nvPr>
        </p:nvSpPr>
        <p:spPr>
          <a:xfrm>
            <a:off x="395536" y="1052736"/>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A FSM M1, that has 3 states, defined by the transition diagram in the figure 1</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668" name="Google Shape;668;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669" name="Google Shape;669;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670" name="Google Shape;670;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id="671" name="Google Shape;671;p62"/>
          <p:cNvPicPr preferRelativeResize="0"/>
          <p:nvPr/>
        </p:nvPicPr>
        <p:blipFill rotWithShape="1">
          <a:blip r:embed="rId3">
            <a:alphaModFix/>
          </a:blip>
          <a:srcRect b="27976" l="42948" r="27490" t="48215"/>
          <a:stretch/>
        </p:blipFill>
        <p:spPr>
          <a:xfrm>
            <a:off x="1763688" y="2276872"/>
            <a:ext cx="5406599" cy="2448272"/>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63"/>
          <p:cNvSpPr txBox="1"/>
          <p:nvPr>
            <p:ph type="title"/>
          </p:nvPr>
        </p:nvSpPr>
        <p:spPr>
          <a:xfrm>
            <a:off x="457200" y="274638"/>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u="sng"/>
              <a:t>Machine M1</a:t>
            </a:r>
            <a:endParaRPr b="1" u="sng"/>
          </a:p>
        </p:txBody>
      </p:sp>
      <p:sp>
        <p:nvSpPr>
          <p:cNvPr id="677" name="Google Shape;677;p63"/>
          <p:cNvSpPr txBox="1"/>
          <p:nvPr>
            <p:ph idx="1" type="body"/>
          </p:nvPr>
        </p:nvSpPr>
        <p:spPr>
          <a:xfrm>
            <a:off x="395536" y="1052736"/>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b="1" lang="en-IN" sz="2400"/>
              <a:t>5 Tuple:-</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678" name="Google Shape;678;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679" name="Google Shape;679;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680" name="Google Shape;680;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id="681" name="Google Shape;681;p63"/>
          <p:cNvPicPr preferRelativeResize="0"/>
          <p:nvPr/>
        </p:nvPicPr>
        <p:blipFill rotWithShape="1">
          <a:blip r:embed="rId3">
            <a:alphaModFix/>
          </a:blip>
          <a:srcRect b="27976" l="42948" r="27490" t="48215"/>
          <a:stretch/>
        </p:blipFill>
        <p:spPr>
          <a:xfrm>
            <a:off x="3563888" y="908720"/>
            <a:ext cx="5406599" cy="244827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64"/>
          <p:cNvSpPr txBox="1"/>
          <p:nvPr>
            <p:ph type="title"/>
          </p:nvPr>
        </p:nvSpPr>
        <p:spPr>
          <a:xfrm>
            <a:off x="457200" y="274638"/>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Formalizing </a:t>
            </a:r>
            <a:r>
              <a:rPr lang="en-IN"/>
              <a:t>M1</a:t>
            </a:r>
            <a:endParaRPr b="1" u="sng"/>
          </a:p>
        </p:txBody>
      </p:sp>
      <p:sp>
        <p:nvSpPr>
          <p:cNvPr id="687" name="Google Shape;687;p64"/>
          <p:cNvSpPr txBox="1"/>
          <p:nvPr>
            <p:ph idx="1" type="body"/>
          </p:nvPr>
        </p:nvSpPr>
        <p:spPr>
          <a:xfrm>
            <a:off x="395536" y="908720"/>
            <a:ext cx="8229600" cy="5256584"/>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2400"/>
              <a:buNone/>
            </a:pPr>
            <a:r>
              <a:rPr lang="en-IN" sz="2400"/>
              <a:t>M1 = (Q, ∑, δ, q1, F) where</a:t>
            </a:r>
            <a:endParaRPr/>
          </a:p>
          <a:p>
            <a:pPr indent="0" lvl="0" marL="0" rtl="0" algn="l">
              <a:spcBef>
                <a:spcPts val="480"/>
              </a:spcBef>
              <a:spcAft>
                <a:spcPts val="0"/>
              </a:spcAft>
              <a:buClr>
                <a:schemeClr val="dk1"/>
              </a:buClr>
              <a:buSzPts val="2400"/>
              <a:buNone/>
            </a:pPr>
            <a:r>
              <a:rPr lang="en-IN" sz="2400"/>
              <a:t>1. Q = {q1, q2, q3}</a:t>
            </a:r>
            <a:endParaRPr/>
          </a:p>
          <a:p>
            <a:pPr indent="0" lvl="0" marL="0" rtl="0" algn="l">
              <a:spcBef>
                <a:spcPts val="480"/>
              </a:spcBef>
              <a:spcAft>
                <a:spcPts val="0"/>
              </a:spcAft>
              <a:buClr>
                <a:schemeClr val="dk1"/>
              </a:buClr>
              <a:buSzPts val="2400"/>
              <a:buNone/>
            </a:pPr>
            <a:r>
              <a:rPr lang="en-IN" sz="2400"/>
              <a:t>2. ∑ = {0, 1}</a:t>
            </a:r>
            <a:endParaRPr/>
          </a:p>
          <a:p>
            <a:pPr indent="0" lvl="0" marL="0" rtl="0" algn="l">
              <a:spcBef>
                <a:spcPts val="480"/>
              </a:spcBef>
              <a:spcAft>
                <a:spcPts val="0"/>
              </a:spcAft>
              <a:buClr>
                <a:schemeClr val="dk1"/>
              </a:buClr>
              <a:buSzPts val="2400"/>
              <a:buNone/>
            </a:pPr>
            <a:r>
              <a:rPr lang="en-IN" sz="2400"/>
              <a:t>3. δ is described by the table:</a:t>
            </a:r>
            <a:endParaRPr/>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lang="en-IN" sz="2400"/>
              <a:t>4. q1 is the start state, </a:t>
            </a:r>
            <a:endParaRPr sz="2400"/>
          </a:p>
          <a:p>
            <a:pPr indent="0" lvl="0" marL="0" rtl="0" algn="l">
              <a:spcBef>
                <a:spcPts val="480"/>
              </a:spcBef>
              <a:spcAft>
                <a:spcPts val="0"/>
              </a:spcAft>
              <a:buClr>
                <a:schemeClr val="dk1"/>
              </a:buClr>
              <a:buSzPts val="2400"/>
              <a:buNone/>
            </a:pPr>
            <a:r>
              <a:rPr lang="en-IN" sz="2400"/>
              <a:t>5. F = {q2}</a:t>
            </a:r>
            <a:endParaRPr sz="2400"/>
          </a:p>
          <a:p>
            <a:pPr indent="-190500" lvl="0" marL="342900" rtl="0" algn="l">
              <a:spcBef>
                <a:spcPts val="480"/>
              </a:spcBef>
              <a:spcAft>
                <a:spcPts val="0"/>
              </a:spcAft>
              <a:buClr>
                <a:schemeClr val="dk1"/>
              </a:buClr>
              <a:buSzPts val="2400"/>
              <a:buNone/>
            </a:pPr>
            <a:r>
              <a:t/>
            </a:r>
            <a:endParaRPr sz="2400"/>
          </a:p>
        </p:txBody>
      </p:sp>
      <p:sp>
        <p:nvSpPr>
          <p:cNvPr id="688" name="Google Shape;688;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689" name="Google Shape;689;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690" name="Google Shape;690;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id="691" name="Google Shape;691;p64"/>
          <p:cNvPicPr preferRelativeResize="0"/>
          <p:nvPr/>
        </p:nvPicPr>
        <p:blipFill rotWithShape="1">
          <a:blip r:embed="rId3">
            <a:alphaModFix/>
          </a:blip>
          <a:srcRect b="27976" l="42948" r="27490" t="48215"/>
          <a:stretch/>
        </p:blipFill>
        <p:spPr>
          <a:xfrm>
            <a:off x="4355976" y="2780928"/>
            <a:ext cx="4611511" cy="2088232"/>
          </a:xfrm>
          <a:prstGeom prst="rect">
            <a:avLst/>
          </a:prstGeom>
          <a:noFill/>
          <a:ln>
            <a:noFill/>
          </a:ln>
        </p:spPr>
      </p:pic>
      <p:pic>
        <p:nvPicPr>
          <p:cNvPr id="692" name="Google Shape;692;p64"/>
          <p:cNvPicPr preferRelativeResize="0"/>
          <p:nvPr/>
        </p:nvPicPr>
        <p:blipFill rotWithShape="1">
          <a:blip r:embed="rId4">
            <a:alphaModFix/>
          </a:blip>
          <a:srcRect b="23214" l="52541" r="37308" t="58531"/>
          <a:stretch/>
        </p:blipFill>
        <p:spPr>
          <a:xfrm>
            <a:off x="1763688" y="2876274"/>
            <a:ext cx="2304256" cy="2329577"/>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65"/>
          <p:cNvSpPr txBox="1"/>
          <p:nvPr>
            <p:ph type="title"/>
          </p:nvPr>
        </p:nvSpPr>
        <p:spPr>
          <a:xfrm>
            <a:off x="457200" y="274638"/>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Acceptor/Rejector</a:t>
            </a:r>
            <a:endParaRPr b="1" u="sng"/>
          </a:p>
        </p:txBody>
      </p:sp>
      <p:sp>
        <p:nvSpPr>
          <p:cNvPr id="698" name="Google Shape;698;p65"/>
          <p:cNvSpPr txBox="1"/>
          <p:nvPr>
            <p:ph idx="1" type="body"/>
          </p:nvPr>
        </p:nvSpPr>
        <p:spPr>
          <a:xfrm>
            <a:off x="395536" y="908720"/>
            <a:ext cx="8229600" cy="5256584"/>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Upon reading the entire input string, </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If the machine resides in any of the final states  then the input string is “Accepted” by the Machine</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If the machine resides in any of the non-final states then the input string is “Rejected” by the Machine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FA acts as an Input Acceptor or Rejector</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699" name="Google Shape;699;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700" name="Google Shape;700;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701" name="Google Shape;701;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66"/>
          <p:cNvSpPr txBox="1"/>
          <p:nvPr>
            <p:ph type="title"/>
          </p:nvPr>
        </p:nvSpPr>
        <p:spPr>
          <a:xfrm>
            <a:off x="457200" y="274638"/>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Language of a DFA</a:t>
            </a:r>
            <a:endParaRPr b="1" u="sng"/>
          </a:p>
        </p:txBody>
      </p:sp>
      <p:sp>
        <p:nvSpPr>
          <p:cNvPr id="707" name="Google Shape;707;p66"/>
          <p:cNvSpPr txBox="1"/>
          <p:nvPr>
            <p:ph idx="1" type="body"/>
          </p:nvPr>
        </p:nvSpPr>
        <p:spPr>
          <a:xfrm>
            <a:off x="395536" y="908720"/>
            <a:ext cx="8229600" cy="5256584"/>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If A is the set of all strings that a machine M accepts,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We say that A is the language of the machine M and write L(M) = A.</a:t>
            </a:r>
            <a:endParaRPr sz="2400"/>
          </a:p>
        </p:txBody>
      </p:sp>
      <p:sp>
        <p:nvSpPr>
          <p:cNvPr id="708" name="Google Shape;708;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709" name="Google Shape;709;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710" name="Google Shape;710;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67"/>
          <p:cNvSpPr txBox="1"/>
          <p:nvPr>
            <p:ph type="title"/>
          </p:nvPr>
        </p:nvSpPr>
        <p:spPr>
          <a:xfrm>
            <a:off x="457200" y="274638"/>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Terminology</a:t>
            </a:r>
            <a:endParaRPr b="1" u="sng"/>
          </a:p>
        </p:txBody>
      </p:sp>
      <p:sp>
        <p:nvSpPr>
          <p:cNvPr id="716" name="Google Shape;716;p67"/>
          <p:cNvSpPr txBox="1"/>
          <p:nvPr>
            <p:ph idx="1" type="body"/>
          </p:nvPr>
        </p:nvSpPr>
        <p:spPr>
          <a:xfrm>
            <a:off x="395536" y="908720"/>
            <a:ext cx="8229600" cy="5256584"/>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In order to avoid confusion:</a:t>
            </a:r>
            <a:endParaRPr/>
          </a:p>
          <a:p>
            <a:pPr indent="-342900" lvl="0" marL="342900" rtl="0" algn="l">
              <a:spcBef>
                <a:spcPts val="480"/>
              </a:spcBef>
              <a:spcAft>
                <a:spcPts val="0"/>
              </a:spcAft>
              <a:buClr>
                <a:schemeClr val="dk1"/>
              </a:buClr>
              <a:buSzPts val="2400"/>
              <a:buChar char="•"/>
            </a:pPr>
            <a:r>
              <a:rPr lang="en-IN" sz="2400"/>
              <a:t>Use accept when we refer to strings</a:t>
            </a:r>
            <a:endParaRPr/>
          </a:p>
          <a:p>
            <a:pPr indent="-342900" lvl="0" marL="342900" rtl="0" algn="l">
              <a:spcBef>
                <a:spcPts val="480"/>
              </a:spcBef>
              <a:spcAft>
                <a:spcPts val="0"/>
              </a:spcAft>
              <a:buClr>
                <a:schemeClr val="dk1"/>
              </a:buClr>
              <a:buSzPts val="2400"/>
              <a:buChar char="•"/>
            </a:pPr>
            <a:r>
              <a:rPr lang="en-IN" sz="2400"/>
              <a:t>Use recognize when we refer to languages</a:t>
            </a:r>
            <a:endParaRPr sz="2400"/>
          </a:p>
        </p:txBody>
      </p:sp>
      <p:sp>
        <p:nvSpPr>
          <p:cNvPr id="717" name="Google Shape;717;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718" name="Google Shape;718;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719" name="Google Shape;719;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68"/>
          <p:cNvSpPr txBox="1"/>
          <p:nvPr>
            <p:ph type="title"/>
          </p:nvPr>
        </p:nvSpPr>
        <p:spPr>
          <a:xfrm>
            <a:off x="457200" y="274638"/>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IN"/>
              <a:t>Language of a DFA</a:t>
            </a:r>
            <a:endParaRPr b="1" u="sng"/>
          </a:p>
        </p:txBody>
      </p:sp>
      <p:sp>
        <p:nvSpPr>
          <p:cNvPr id="725" name="Google Shape;725;p68"/>
          <p:cNvSpPr txBox="1"/>
          <p:nvPr>
            <p:ph idx="1" type="body"/>
          </p:nvPr>
        </p:nvSpPr>
        <p:spPr>
          <a:xfrm>
            <a:off x="395536" y="908720"/>
            <a:ext cx="8229600" cy="525658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A machine may accept several strings, but it always recognizes only one language</a:t>
            </a:r>
            <a:endParaRPr/>
          </a:p>
          <a:p>
            <a:pPr indent="-342900" lvl="0" marL="342900" rtl="0" algn="l">
              <a:spcBef>
                <a:spcPts val="480"/>
              </a:spcBef>
              <a:spcAft>
                <a:spcPts val="0"/>
              </a:spcAft>
              <a:buClr>
                <a:schemeClr val="dk1"/>
              </a:buClr>
              <a:buSzPts val="2400"/>
              <a:buChar char="•"/>
            </a:pPr>
            <a:r>
              <a:rPr lang="en-IN" sz="2400"/>
              <a:t>If a machine accepts no strings, it still recognizes one language, namely the empty language ∅</a:t>
            </a:r>
            <a:endParaRPr sz="2400"/>
          </a:p>
        </p:txBody>
      </p:sp>
      <p:sp>
        <p:nvSpPr>
          <p:cNvPr id="726" name="Google Shape;726;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727" name="Google Shape;727;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728" name="Google Shape;728;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69"/>
          <p:cNvSpPr txBox="1"/>
          <p:nvPr>
            <p:ph type="title"/>
          </p:nvPr>
        </p:nvSpPr>
        <p:spPr>
          <a:xfrm>
            <a:off x="467544" y="116632"/>
            <a:ext cx="8229600" cy="346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Machine M2</a:t>
            </a:r>
            <a:endParaRPr/>
          </a:p>
        </p:txBody>
      </p:sp>
      <p:sp>
        <p:nvSpPr>
          <p:cNvPr id="734" name="Google Shape;734;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735" name="Google Shape;735;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736" name="Google Shape;736;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737" name="Google Shape;737;p69"/>
          <p:cNvPicPr preferRelativeResize="0"/>
          <p:nvPr>
            <p:ph idx="1" type="body"/>
          </p:nvPr>
        </p:nvPicPr>
        <p:blipFill rotWithShape="1">
          <a:blip r:embed="rId3">
            <a:alphaModFix/>
          </a:blip>
          <a:srcRect b="41991" l="50172" r="34682" t="45458"/>
          <a:stretch/>
        </p:blipFill>
        <p:spPr>
          <a:xfrm>
            <a:off x="1979712" y="1711548"/>
            <a:ext cx="3537311" cy="1648064"/>
          </a:xfrm>
          <a:prstGeom prst="rect">
            <a:avLst/>
          </a:prstGeom>
          <a:noFill/>
          <a:ln>
            <a:noFill/>
          </a:ln>
        </p:spPr>
      </p:pic>
      <p:sp>
        <p:nvSpPr>
          <p:cNvPr id="738" name="Google Shape;738;p69"/>
          <p:cNvSpPr/>
          <p:nvPr/>
        </p:nvSpPr>
        <p:spPr>
          <a:xfrm>
            <a:off x="611560" y="1196752"/>
            <a:ext cx="7488832"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2400" u="none" cap="none" strike="noStrike">
                <a:solidFill>
                  <a:schemeClr val="dk1"/>
                </a:solidFill>
                <a:latin typeface="Calibri"/>
                <a:ea typeface="Calibri"/>
                <a:cs typeface="Calibri"/>
                <a:sym typeface="Calibri"/>
              </a:rPr>
              <a:t>The state diagram in Figure 2 describes a machine M2</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IN" sz="2400">
                <a:solidFill>
                  <a:schemeClr val="dk1"/>
                </a:solidFill>
                <a:latin typeface="Calibri"/>
                <a:ea typeface="Calibri"/>
                <a:cs typeface="Calibri"/>
                <a:sym typeface="Calibri"/>
              </a:rPr>
              <a:t>Write the 5 Tuple representation</a:t>
            </a:r>
            <a:endParaRPr/>
          </a:p>
          <a:p>
            <a:pPr indent="0" lvl="0" marL="0" marR="0" rtl="0" algn="l">
              <a:spcBef>
                <a:spcPts val="0"/>
              </a:spcBef>
              <a:spcAft>
                <a:spcPts val="0"/>
              </a:spcAft>
              <a:buNone/>
            </a:pPr>
            <a:r>
              <a:rPr lang="en-IN" sz="2400">
                <a:solidFill>
                  <a:schemeClr val="dk1"/>
                </a:solidFill>
                <a:latin typeface="Calibri"/>
                <a:ea typeface="Calibri"/>
                <a:cs typeface="Calibri"/>
                <a:sym typeface="Calibri"/>
              </a:rPr>
              <a:t>Try finding the language of the string</a:t>
            </a:r>
            <a:endParaRPr sz="2400">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7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Machine M2</a:t>
            </a:r>
            <a:endParaRPr/>
          </a:p>
        </p:txBody>
      </p:sp>
      <p:sp>
        <p:nvSpPr>
          <p:cNvPr id="744" name="Google Shape;744;p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745" name="Google Shape;745;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746" name="Google Shape;746;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747" name="Google Shape;747;p70"/>
          <p:cNvPicPr preferRelativeResize="0"/>
          <p:nvPr>
            <p:ph idx="1" type="body"/>
          </p:nvPr>
        </p:nvPicPr>
        <p:blipFill rotWithShape="1">
          <a:blip r:embed="rId3">
            <a:alphaModFix/>
          </a:blip>
          <a:srcRect b="41991" l="50172" r="34682" t="45458"/>
          <a:stretch/>
        </p:blipFill>
        <p:spPr>
          <a:xfrm>
            <a:off x="2051720" y="2924944"/>
            <a:ext cx="3537311" cy="1648064"/>
          </a:xfrm>
          <a:prstGeom prst="rect">
            <a:avLst/>
          </a:prstGeom>
          <a:noFill/>
          <a:ln>
            <a:noFill/>
          </a:ln>
        </p:spPr>
      </p:pic>
      <p:sp>
        <p:nvSpPr>
          <p:cNvPr id="748" name="Google Shape;748;p70"/>
          <p:cNvSpPr/>
          <p:nvPr/>
        </p:nvSpPr>
        <p:spPr>
          <a:xfrm>
            <a:off x="755576" y="1916832"/>
            <a:ext cx="7488832"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chemeClr val="dk1"/>
                </a:solidFill>
                <a:latin typeface="Calibri"/>
                <a:ea typeface="Calibri"/>
                <a:cs typeface="Calibri"/>
                <a:sym typeface="Calibri"/>
              </a:rPr>
              <a:t>5-Tuple Representation</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IN" sz="2400">
                <a:solidFill>
                  <a:schemeClr val="dk1"/>
                </a:solidFill>
                <a:latin typeface="Calibri"/>
                <a:ea typeface="Calibri"/>
                <a:cs typeface="Calibri"/>
                <a:sym typeface="Calibri"/>
              </a:rPr>
              <a:t>M2 = ({q1, q2}, {0, 1}, δ, q1, {q2}) where</a:t>
            </a:r>
            <a:endParaRPr/>
          </a:p>
          <a:p>
            <a:pPr indent="0" lvl="0" marL="0" marR="0" rtl="0" algn="l">
              <a:spcBef>
                <a:spcPts val="0"/>
              </a:spcBef>
              <a:spcAft>
                <a:spcPts val="0"/>
              </a:spcAft>
              <a:buNone/>
            </a:pPr>
            <a:r>
              <a:rPr lang="en-IN" sz="2400">
                <a:solidFill>
                  <a:schemeClr val="dk1"/>
                </a:solidFill>
                <a:latin typeface="Calibri"/>
                <a:ea typeface="Calibri"/>
                <a:cs typeface="Calibri"/>
                <a:sym typeface="Calibri"/>
              </a:rPr>
              <a:t>δ(q1, 0) = q1, δ(q1, 1) = q2, δ(q2, 0) = q1, δ(q2, 1) = q2</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71"/>
          <p:cNvSpPr txBox="1"/>
          <p:nvPr>
            <p:ph type="title"/>
          </p:nvPr>
        </p:nvSpPr>
        <p:spPr>
          <a:xfrm>
            <a:off x="467544" y="332656"/>
            <a:ext cx="8229600" cy="346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Machine M2-Acceptor/Rejector</a:t>
            </a:r>
            <a:endParaRPr/>
          </a:p>
        </p:txBody>
      </p:sp>
      <p:sp>
        <p:nvSpPr>
          <p:cNvPr id="754" name="Google Shape;754;p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755" name="Google Shape;755;p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756" name="Google Shape;756;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757" name="Google Shape;757;p71"/>
          <p:cNvSpPr/>
          <p:nvPr/>
        </p:nvSpPr>
        <p:spPr>
          <a:xfrm>
            <a:off x="665133" y="1340768"/>
            <a:ext cx="7488832" cy="378565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A good way of understanding any machine is to try it on some sample input string</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72"/>
          <p:cNvSpPr txBox="1"/>
          <p:nvPr>
            <p:ph type="title"/>
          </p:nvPr>
        </p:nvSpPr>
        <p:spPr>
          <a:xfrm>
            <a:off x="467544" y="260648"/>
            <a:ext cx="8229600" cy="346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Machine M2-Acceptor/Rejector</a:t>
            </a:r>
            <a:endParaRPr/>
          </a:p>
        </p:txBody>
      </p:sp>
      <p:sp>
        <p:nvSpPr>
          <p:cNvPr id="763" name="Google Shape;763;p7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764" name="Google Shape;764;p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765" name="Google Shape;765;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766" name="Google Shape;766;p72"/>
          <p:cNvPicPr preferRelativeResize="0"/>
          <p:nvPr>
            <p:ph idx="1" type="body"/>
          </p:nvPr>
        </p:nvPicPr>
        <p:blipFill rotWithShape="1">
          <a:blip r:embed="rId3">
            <a:alphaModFix/>
          </a:blip>
          <a:srcRect b="41991" l="50172" r="34682" t="45458"/>
          <a:stretch/>
        </p:blipFill>
        <p:spPr>
          <a:xfrm>
            <a:off x="2339752" y="836712"/>
            <a:ext cx="3537311" cy="1648064"/>
          </a:xfrm>
          <a:prstGeom prst="rect">
            <a:avLst/>
          </a:prstGeom>
          <a:noFill/>
          <a:ln>
            <a:noFill/>
          </a:ln>
        </p:spPr>
      </p:pic>
      <p:sp>
        <p:nvSpPr>
          <p:cNvPr id="767" name="Google Shape;767;p72"/>
          <p:cNvSpPr/>
          <p:nvPr/>
        </p:nvSpPr>
        <p:spPr>
          <a:xfrm>
            <a:off x="683568" y="2204864"/>
            <a:ext cx="7488832" cy="1569660"/>
          </a:xfrm>
          <a:prstGeom prst="rect">
            <a:avLst/>
          </a:prstGeom>
          <a:noFill/>
          <a:ln>
            <a:noFill/>
          </a:ln>
        </p:spPr>
        <p:txBody>
          <a:bodyPr anchorCtr="0" anchor="t" bIns="45700" lIns="91425" spcFirstLastPara="1" rIns="91425" wrap="square" tIns="45700">
            <a:spAutoFit/>
          </a:bodyPr>
          <a:lstStyle/>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IN" sz="2400">
                <a:solidFill>
                  <a:schemeClr val="dk1"/>
                </a:solidFill>
                <a:latin typeface="Calibri"/>
                <a:ea typeface="Calibri"/>
                <a:cs typeface="Calibri"/>
                <a:sym typeface="Calibri"/>
              </a:rPr>
              <a:t>String “1101”-Accepted/Rejected?</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73"/>
          <p:cNvSpPr txBox="1"/>
          <p:nvPr>
            <p:ph type="title"/>
          </p:nvPr>
        </p:nvSpPr>
        <p:spPr>
          <a:xfrm>
            <a:off x="467544" y="260648"/>
            <a:ext cx="8229600" cy="346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Machine M2-Acceptor/Rejector</a:t>
            </a:r>
            <a:endParaRPr/>
          </a:p>
        </p:txBody>
      </p:sp>
      <p:sp>
        <p:nvSpPr>
          <p:cNvPr id="773" name="Google Shape;773;p7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774" name="Google Shape;774;p7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775" name="Google Shape;775;p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776" name="Google Shape;776;p73"/>
          <p:cNvPicPr preferRelativeResize="0"/>
          <p:nvPr>
            <p:ph idx="1" type="body"/>
          </p:nvPr>
        </p:nvPicPr>
        <p:blipFill rotWithShape="1">
          <a:blip r:embed="rId3">
            <a:alphaModFix/>
          </a:blip>
          <a:srcRect b="41991" l="50172" r="34682" t="45458"/>
          <a:stretch/>
        </p:blipFill>
        <p:spPr>
          <a:xfrm>
            <a:off x="2339752" y="836712"/>
            <a:ext cx="3537311" cy="1648064"/>
          </a:xfrm>
          <a:prstGeom prst="rect">
            <a:avLst/>
          </a:prstGeom>
          <a:noFill/>
          <a:ln>
            <a:noFill/>
          </a:ln>
        </p:spPr>
      </p:pic>
      <p:sp>
        <p:nvSpPr>
          <p:cNvPr id="777" name="Google Shape;777;p73"/>
          <p:cNvSpPr/>
          <p:nvPr/>
        </p:nvSpPr>
        <p:spPr>
          <a:xfrm>
            <a:off x="683568" y="2204864"/>
            <a:ext cx="7488832" cy="4524315"/>
          </a:xfrm>
          <a:prstGeom prst="rect">
            <a:avLst/>
          </a:prstGeom>
          <a:noFill/>
          <a:ln>
            <a:noFill/>
          </a:ln>
        </p:spPr>
        <p:txBody>
          <a:bodyPr anchorCtr="0" anchor="t" bIns="45700" lIns="91425" spcFirstLastPara="1" rIns="91425" wrap="square" tIns="45700">
            <a:spAutoFit/>
          </a:bodyPr>
          <a:lstStyle/>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IN" sz="2400">
                <a:solidFill>
                  <a:schemeClr val="dk1"/>
                </a:solidFill>
                <a:latin typeface="Calibri"/>
                <a:ea typeface="Calibri"/>
                <a:cs typeface="Calibri"/>
                <a:sym typeface="Calibri"/>
              </a:rPr>
              <a:t>String “1101”</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Machine M2 starts in q1 </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From q1,reads 1=&gt;q2</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From q2 reads 1=&gt;q2</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From q2 reads 0=&gt;q1</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From q1 reads 1=&gt;q2 </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String ends here and q2 is Final state </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String is Accepted</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74"/>
          <p:cNvSpPr txBox="1"/>
          <p:nvPr>
            <p:ph type="title"/>
          </p:nvPr>
        </p:nvSpPr>
        <p:spPr>
          <a:xfrm>
            <a:off x="467544" y="188640"/>
            <a:ext cx="8229600" cy="346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Machine M2-Acceptor/Rejector</a:t>
            </a:r>
            <a:endParaRPr/>
          </a:p>
        </p:txBody>
      </p:sp>
      <p:sp>
        <p:nvSpPr>
          <p:cNvPr id="783" name="Google Shape;783;p7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784" name="Google Shape;784;p7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785" name="Google Shape;785;p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786" name="Google Shape;786;p74"/>
          <p:cNvPicPr preferRelativeResize="0"/>
          <p:nvPr>
            <p:ph idx="1" type="body"/>
          </p:nvPr>
        </p:nvPicPr>
        <p:blipFill rotWithShape="1">
          <a:blip r:embed="rId3">
            <a:alphaModFix/>
          </a:blip>
          <a:srcRect b="41991" l="50172" r="34682" t="45458"/>
          <a:stretch/>
        </p:blipFill>
        <p:spPr>
          <a:xfrm>
            <a:off x="2339752" y="836712"/>
            <a:ext cx="3537311" cy="1648064"/>
          </a:xfrm>
          <a:prstGeom prst="rect">
            <a:avLst/>
          </a:prstGeom>
          <a:noFill/>
          <a:ln>
            <a:noFill/>
          </a:ln>
        </p:spPr>
      </p:pic>
      <p:sp>
        <p:nvSpPr>
          <p:cNvPr id="787" name="Google Shape;787;p74"/>
          <p:cNvSpPr/>
          <p:nvPr/>
        </p:nvSpPr>
        <p:spPr>
          <a:xfrm>
            <a:off x="683568" y="2204864"/>
            <a:ext cx="7488832" cy="2677656"/>
          </a:xfrm>
          <a:prstGeom prst="rect">
            <a:avLst/>
          </a:prstGeom>
          <a:noFill/>
          <a:ln>
            <a:noFill/>
          </a:ln>
        </p:spPr>
        <p:txBody>
          <a:bodyPr anchorCtr="0" anchor="t" bIns="45700" lIns="91425" spcFirstLastPara="1" rIns="91425" wrap="square" tIns="45700">
            <a:spAutoFit/>
          </a:bodyPr>
          <a:lstStyle/>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IN" sz="2400">
                <a:solidFill>
                  <a:schemeClr val="dk1"/>
                </a:solidFill>
                <a:latin typeface="Calibri"/>
                <a:ea typeface="Calibri"/>
                <a:cs typeface="Calibri"/>
                <a:sym typeface="Calibri"/>
              </a:rPr>
              <a:t>String “110”-Accepted/Rejected?</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75"/>
          <p:cNvSpPr txBox="1"/>
          <p:nvPr>
            <p:ph type="title"/>
          </p:nvPr>
        </p:nvSpPr>
        <p:spPr>
          <a:xfrm>
            <a:off x="467544" y="188640"/>
            <a:ext cx="8229600" cy="346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Machine M2-Acceptor/Rejector</a:t>
            </a:r>
            <a:endParaRPr/>
          </a:p>
        </p:txBody>
      </p:sp>
      <p:sp>
        <p:nvSpPr>
          <p:cNvPr id="793" name="Google Shape;793;p7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794" name="Google Shape;794;p7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795" name="Google Shape;795;p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796" name="Google Shape;796;p75"/>
          <p:cNvPicPr preferRelativeResize="0"/>
          <p:nvPr>
            <p:ph idx="1" type="body"/>
          </p:nvPr>
        </p:nvPicPr>
        <p:blipFill rotWithShape="1">
          <a:blip r:embed="rId3">
            <a:alphaModFix/>
          </a:blip>
          <a:srcRect b="41991" l="50172" r="34682" t="45458"/>
          <a:stretch/>
        </p:blipFill>
        <p:spPr>
          <a:xfrm>
            <a:off x="2339752" y="836712"/>
            <a:ext cx="3537311" cy="1648064"/>
          </a:xfrm>
          <a:prstGeom prst="rect">
            <a:avLst/>
          </a:prstGeom>
          <a:noFill/>
          <a:ln>
            <a:noFill/>
          </a:ln>
        </p:spPr>
      </p:pic>
      <p:sp>
        <p:nvSpPr>
          <p:cNvPr id="797" name="Google Shape;797;p75"/>
          <p:cNvSpPr/>
          <p:nvPr/>
        </p:nvSpPr>
        <p:spPr>
          <a:xfrm>
            <a:off x="683568" y="2204864"/>
            <a:ext cx="7488832" cy="4524315"/>
          </a:xfrm>
          <a:prstGeom prst="rect">
            <a:avLst/>
          </a:prstGeom>
          <a:noFill/>
          <a:ln>
            <a:noFill/>
          </a:ln>
        </p:spPr>
        <p:txBody>
          <a:bodyPr anchorCtr="0" anchor="t" bIns="45700" lIns="91425" spcFirstLastPara="1" rIns="91425" wrap="square" tIns="45700">
            <a:spAutoFit/>
          </a:bodyPr>
          <a:lstStyle/>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IN" sz="2400">
                <a:solidFill>
                  <a:schemeClr val="dk1"/>
                </a:solidFill>
                <a:latin typeface="Calibri"/>
                <a:ea typeface="Calibri"/>
                <a:cs typeface="Calibri"/>
                <a:sym typeface="Calibri"/>
              </a:rPr>
              <a:t>String “110”</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Machine M2 starts in q1 </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From q1,reads 1=&gt;q2</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From q2 reads 1=&gt;q2</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From q2 reads 0=&gt;q1</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String ends here and q1 is Non-Final state </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String is Rejected</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76"/>
          <p:cNvSpPr txBox="1"/>
          <p:nvPr>
            <p:ph type="title"/>
          </p:nvPr>
        </p:nvSpPr>
        <p:spPr>
          <a:xfrm>
            <a:off x="395536" y="404664"/>
            <a:ext cx="8229600" cy="346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Language of DFA M2</a:t>
            </a:r>
            <a:endParaRPr/>
          </a:p>
        </p:txBody>
      </p:sp>
      <p:sp>
        <p:nvSpPr>
          <p:cNvPr id="803" name="Google Shape;803;p7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804" name="Google Shape;804;p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805" name="Google Shape;805;p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806" name="Google Shape;806;p76"/>
          <p:cNvPicPr preferRelativeResize="0"/>
          <p:nvPr>
            <p:ph idx="1" type="body"/>
          </p:nvPr>
        </p:nvPicPr>
        <p:blipFill rotWithShape="1">
          <a:blip r:embed="rId3">
            <a:alphaModFix/>
          </a:blip>
          <a:srcRect b="41991" l="50172" r="34682" t="45458"/>
          <a:stretch/>
        </p:blipFill>
        <p:spPr>
          <a:xfrm>
            <a:off x="2339752" y="836712"/>
            <a:ext cx="3537311" cy="1648064"/>
          </a:xfrm>
          <a:prstGeom prst="rect">
            <a:avLst/>
          </a:prstGeom>
          <a:noFill/>
          <a:ln>
            <a:noFill/>
          </a:ln>
        </p:spPr>
      </p:pic>
      <p:sp>
        <p:nvSpPr>
          <p:cNvPr id="807" name="Google Shape;807;p76"/>
          <p:cNvSpPr/>
          <p:nvPr/>
        </p:nvSpPr>
        <p:spPr>
          <a:xfrm>
            <a:off x="683568" y="3501008"/>
            <a:ext cx="7488832" cy="2308324"/>
          </a:xfrm>
          <a:prstGeom prst="rect">
            <a:avLst/>
          </a:prstGeom>
          <a:noFill/>
          <a:ln>
            <a:noFill/>
          </a:ln>
        </p:spPr>
        <p:txBody>
          <a:bodyPr anchorCtr="0" anchor="t" bIns="45700" lIns="91425" spcFirstLastPara="1" rIns="91425" wrap="square" tIns="45700">
            <a:spAutoFit/>
          </a:bodyPr>
          <a:lstStyle/>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L(M2) = {w| w ends in a 1}</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M2 accepts all strings that end in a 1</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7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Machine M3</a:t>
            </a:r>
            <a:endParaRPr/>
          </a:p>
        </p:txBody>
      </p:sp>
      <p:sp>
        <p:nvSpPr>
          <p:cNvPr id="813" name="Google Shape;813;p7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814" name="Google Shape;814;p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815" name="Google Shape;815;p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816" name="Google Shape;816;p77"/>
          <p:cNvSpPr/>
          <p:nvPr/>
        </p:nvSpPr>
        <p:spPr>
          <a:xfrm>
            <a:off x="827584" y="1412776"/>
            <a:ext cx="7488832" cy="67403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chemeClr val="dk1"/>
                </a:solidFill>
                <a:latin typeface="Calibri"/>
                <a:ea typeface="Calibri"/>
                <a:cs typeface="Calibri"/>
                <a:sym typeface="Calibri"/>
              </a:rPr>
              <a:t>Consider the finite automaton M3 in Figure 3</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M3 is similar to M2, except for the location of the accept state</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Start state is also an accept state</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pic>
        <p:nvPicPr>
          <p:cNvPr id="817" name="Google Shape;817;p77"/>
          <p:cNvPicPr preferRelativeResize="0"/>
          <p:nvPr/>
        </p:nvPicPr>
        <p:blipFill rotWithShape="1">
          <a:blip r:embed="rId3">
            <a:alphaModFix/>
          </a:blip>
          <a:srcRect b="32143" l="23648" r="36083" t="43254"/>
          <a:stretch/>
        </p:blipFill>
        <p:spPr>
          <a:xfrm>
            <a:off x="1359260" y="1916832"/>
            <a:ext cx="6425480" cy="2207204"/>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7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Machine M3-Acceptor/Rejector</a:t>
            </a:r>
            <a:endParaRPr/>
          </a:p>
        </p:txBody>
      </p:sp>
      <p:sp>
        <p:nvSpPr>
          <p:cNvPr id="823" name="Google Shape;823;p7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824" name="Google Shape;824;p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825" name="Google Shape;825;p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826" name="Google Shape;826;p78"/>
          <p:cNvSpPr/>
          <p:nvPr/>
        </p:nvSpPr>
        <p:spPr>
          <a:xfrm>
            <a:off x="827584" y="1412776"/>
            <a:ext cx="7488832"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As usual, M3 accepts all strings that leave it in an accept state when it has consumed the input.</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M3 also accepts the empty string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As soon as M3 begins the reading of       it is at the end,</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So if Start state is an Accept state, it accepts it</a:t>
            </a:r>
            <a:endParaRPr/>
          </a:p>
        </p:txBody>
      </p:sp>
      <p:pic>
        <p:nvPicPr>
          <p:cNvPr id="827" name="Google Shape;827;p78"/>
          <p:cNvPicPr preferRelativeResize="0"/>
          <p:nvPr/>
        </p:nvPicPr>
        <p:blipFill rotWithShape="1">
          <a:blip r:embed="rId3">
            <a:alphaModFix/>
          </a:blip>
          <a:srcRect b="34717" l="33624" r="36083" t="43254"/>
          <a:stretch/>
        </p:blipFill>
        <p:spPr>
          <a:xfrm>
            <a:off x="2195736" y="1394701"/>
            <a:ext cx="5121754" cy="2094059"/>
          </a:xfrm>
          <a:prstGeom prst="rect">
            <a:avLst/>
          </a:prstGeom>
          <a:noFill/>
          <a:ln>
            <a:noFill/>
          </a:ln>
        </p:spPr>
      </p:pic>
      <p:pic>
        <p:nvPicPr>
          <p:cNvPr id="828" name="Google Shape;828;p78"/>
          <p:cNvPicPr preferRelativeResize="0"/>
          <p:nvPr/>
        </p:nvPicPr>
        <p:blipFill rotWithShape="1">
          <a:blip r:embed="rId4">
            <a:alphaModFix/>
          </a:blip>
          <a:srcRect b="23886" l="47968" r="48685" t="69446"/>
          <a:stretch/>
        </p:blipFill>
        <p:spPr>
          <a:xfrm>
            <a:off x="5441360" y="4697236"/>
            <a:ext cx="435429" cy="487759"/>
          </a:xfrm>
          <a:prstGeom prst="rect">
            <a:avLst/>
          </a:prstGeom>
          <a:noFill/>
          <a:ln>
            <a:noFill/>
          </a:ln>
        </p:spPr>
      </p:pic>
      <p:pic>
        <p:nvPicPr>
          <p:cNvPr id="829" name="Google Shape;829;p78"/>
          <p:cNvPicPr preferRelativeResize="0"/>
          <p:nvPr/>
        </p:nvPicPr>
        <p:blipFill rotWithShape="1">
          <a:blip r:embed="rId4">
            <a:alphaModFix/>
          </a:blip>
          <a:srcRect b="23886" l="47968" r="48685" t="69446"/>
          <a:stretch/>
        </p:blipFill>
        <p:spPr>
          <a:xfrm>
            <a:off x="5795537" y="5119483"/>
            <a:ext cx="335961" cy="376337"/>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7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Language of DFA M3</a:t>
            </a:r>
            <a:endParaRPr/>
          </a:p>
        </p:txBody>
      </p:sp>
      <p:sp>
        <p:nvSpPr>
          <p:cNvPr id="835" name="Google Shape;835;p7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836" name="Google Shape;836;p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837" name="Google Shape;837;p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838" name="Google Shape;838;p79"/>
          <p:cNvSpPr/>
          <p:nvPr/>
        </p:nvSpPr>
        <p:spPr>
          <a:xfrm>
            <a:off x="827584" y="1412776"/>
            <a:ext cx="7488832"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M3 also accepts any string ending with a Zero</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L(M3) = {w|w is the empty string or ends in 0}</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pic>
        <p:nvPicPr>
          <p:cNvPr id="839" name="Google Shape;839;p79"/>
          <p:cNvPicPr preferRelativeResize="0"/>
          <p:nvPr/>
        </p:nvPicPr>
        <p:blipFill rotWithShape="1">
          <a:blip r:embed="rId3">
            <a:alphaModFix/>
          </a:blip>
          <a:srcRect b="34717" l="33624" r="36083" t="43254"/>
          <a:stretch/>
        </p:blipFill>
        <p:spPr>
          <a:xfrm>
            <a:off x="2483768" y="1394701"/>
            <a:ext cx="4833722" cy="1976295"/>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8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Machine M4</a:t>
            </a:r>
            <a:endParaRPr/>
          </a:p>
        </p:txBody>
      </p:sp>
      <p:sp>
        <p:nvSpPr>
          <p:cNvPr id="845" name="Google Shape;845;p8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846" name="Google Shape;846;p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847" name="Google Shape;847;p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848" name="Google Shape;848;p80"/>
          <p:cNvSpPr/>
          <p:nvPr/>
        </p:nvSpPr>
        <p:spPr>
          <a:xfrm>
            <a:off x="827584" y="1412776"/>
            <a:ext cx="7488832"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chemeClr val="dk1"/>
                </a:solidFill>
                <a:latin typeface="Calibri"/>
                <a:ea typeface="Calibri"/>
                <a:cs typeface="Calibri"/>
                <a:sym typeface="Calibri"/>
              </a:rPr>
              <a:t>Consider the five-state machine M4, Figure 4</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pic>
        <p:nvPicPr>
          <p:cNvPr id="849" name="Google Shape;849;p80"/>
          <p:cNvPicPr preferRelativeResize="0"/>
          <p:nvPr/>
        </p:nvPicPr>
        <p:blipFill rotWithShape="1">
          <a:blip r:embed="rId3">
            <a:alphaModFix/>
          </a:blip>
          <a:srcRect b="13789" l="30342" r="44334" t="43105"/>
          <a:stretch/>
        </p:blipFill>
        <p:spPr>
          <a:xfrm>
            <a:off x="2300514" y="1927240"/>
            <a:ext cx="4575742" cy="4379183"/>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8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Machine M4-Acceptor/Rejector</a:t>
            </a:r>
            <a:endParaRPr/>
          </a:p>
        </p:txBody>
      </p:sp>
      <p:sp>
        <p:nvSpPr>
          <p:cNvPr id="855" name="Google Shape;855;p8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856" name="Google Shape;856;p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857" name="Google Shape;857;p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858" name="Google Shape;858;p81"/>
          <p:cNvSpPr/>
          <p:nvPr/>
        </p:nvSpPr>
        <p:spPr>
          <a:xfrm>
            <a:off x="179512" y="1196752"/>
            <a:ext cx="5760640" cy="4893647"/>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M4 has two accept states, q1 and r1</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M4 operates over the alphabet ∑ = {a, b}</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pic>
        <p:nvPicPr>
          <p:cNvPr id="859" name="Google Shape;859;p81"/>
          <p:cNvPicPr preferRelativeResize="0"/>
          <p:nvPr/>
        </p:nvPicPr>
        <p:blipFill rotWithShape="1">
          <a:blip r:embed="rId3">
            <a:alphaModFix/>
          </a:blip>
          <a:srcRect b="13789" l="30342" r="44334" t="43105"/>
          <a:stretch/>
        </p:blipFill>
        <p:spPr>
          <a:xfrm>
            <a:off x="5940152" y="1340768"/>
            <a:ext cx="3096344" cy="449715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8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Language of DFA M4</a:t>
            </a:r>
            <a:endParaRPr/>
          </a:p>
        </p:txBody>
      </p:sp>
      <p:sp>
        <p:nvSpPr>
          <p:cNvPr id="865" name="Google Shape;865;p8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866" name="Google Shape;866;p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867" name="Google Shape;867;p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868" name="Google Shape;868;p82"/>
          <p:cNvSpPr/>
          <p:nvPr/>
        </p:nvSpPr>
        <p:spPr>
          <a:xfrm>
            <a:off x="179512" y="1196752"/>
            <a:ext cx="5760640" cy="63709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M4 begins in state s and after it reads the first symbol in the input it </a:t>
            </a:r>
            <a:r>
              <a:rPr b="1" lang="en-IN" sz="2400">
                <a:solidFill>
                  <a:schemeClr val="dk1"/>
                </a:solidFill>
                <a:latin typeface="Calibri"/>
                <a:ea typeface="Calibri"/>
                <a:cs typeface="Calibri"/>
                <a:sym typeface="Calibri"/>
              </a:rPr>
              <a:t>either goes to the left to q states or to the right to r states</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Once M4 goes to the left or to the right,</a:t>
            </a:r>
            <a:r>
              <a:rPr b="1" lang="en-IN" sz="2400">
                <a:solidFill>
                  <a:schemeClr val="dk1"/>
                </a:solidFill>
                <a:latin typeface="Calibri"/>
                <a:ea typeface="Calibri"/>
                <a:cs typeface="Calibri"/>
                <a:sym typeface="Calibri"/>
              </a:rPr>
              <a:t>it can never return to the start state</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pic>
        <p:nvPicPr>
          <p:cNvPr id="869" name="Google Shape;869;p82"/>
          <p:cNvPicPr preferRelativeResize="0"/>
          <p:nvPr/>
        </p:nvPicPr>
        <p:blipFill rotWithShape="1">
          <a:blip r:embed="rId3">
            <a:alphaModFix/>
          </a:blip>
          <a:srcRect b="13789" l="30342" r="44334" t="43105"/>
          <a:stretch/>
        </p:blipFill>
        <p:spPr>
          <a:xfrm>
            <a:off x="5940152" y="1340768"/>
            <a:ext cx="3096344" cy="4497155"/>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83"/>
          <p:cNvSpPr txBox="1"/>
          <p:nvPr>
            <p:ph type="title"/>
          </p:nvPr>
        </p:nvSpPr>
        <p:spPr>
          <a:xfrm>
            <a:off x="467544" y="197768"/>
            <a:ext cx="8229600" cy="56693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Language of DFA M4</a:t>
            </a:r>
            <a:endParaRPr/>
          </a:p>
        </p:txBody>
      </p:sp>
      <p:sp>
        <p:nvSpPr>
          <p:cNvPr id="875" name="Google Shape;875;p8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876" name="Google Shape;876;p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877" name="Google Shape;877;p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878" name="Google Shape;878;p83"/>
          <p:cNvSpPr/>
          <p:nvPr/>
        </p:nvSpPr>
        <p:spPr>
          <a:xfrm>
            <a:off x="179512" y="1196752"/>
            <a:ext cx="5760640"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chemeClr val="dk1"/>
                </a:solidFill>
                <a:latin typeface="Calibri"/>
                <a:ea typeface="Calibri"/>
                <a:cs typeface="Calibri"/>
                <a:sym typeface="Calibri"/>
              </a:rPr>
              <a:t>Strings-</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a?</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aa?</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ab ?</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aba ?</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abbab ?</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b?</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bb?</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ba?</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bab?</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baaa?</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baabb?</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pic>
        <p:nvPicPr>
          <p:cNvPr id="879" name="Google Shape;879;p83"/>
          <p:cNvPicPr preferRelativeResize="0"/>
          <p:nvPr/>
        </p:nvPicPr>
        <p:blipFill rotWithShape="1">
          <a:blip r:embed="rId3">
            <a:alphaModFix/>
          </a:blip>
          <a:srcRect b="13789" l="30342" r="44334" t="43105"/>
          <a:stretch/>
        </p:blipFill>
        <p:spPr>
          <a:xfrm>
            <a:off x="5940152" y="1340768"/>
            <a:ext cx="3096344" cy="4497155"/>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84"/>
          <p:cNvSpPr txBox="1"/>
          <p:nvPr>
            <p:ph type="title"/>
          </p:nvPr>
        </p:nvSpPr>
        <p:spPr>
          <a:xfrm>
            <a:off x="467544" y="197768"/>
            <a:ext cx="8229600" cy="56693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Language of DFA M4</a:t>
            </a:r>
            <a:endParaRPr/>
          </a:p>
        </p:txBody>
      </p:sp>
      <p:sp>
        <p:nvSpPr>
          <p:cNvPr id="885" name="Google Shape;885;p8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886" name="Google Shape;886;p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887" name="Google Shape;887;p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888" name="Google Shape;888;p84"/>
          <p:cNvSpPr/>
          <p:nvPr/>
        </p:nvSpPr>
        <p:spPr>
          <a:xfrm>
            <a:off x="179512" y="836712"/>
            <a:ext cx="5760640" cy="3046988"/>
          </a:xfrm>
          <a:prstGeom prst="rect">
            <a:avLst/>
          </a:prstGeom>
          <a:noFill/>
          <a:ln>
            <a:noFill/>
          </a:ln>
        </p:spPr>
        <p:txBody>
          <a:bodyPr anchorCtr="0" anchor="t" bIns="45700" lIns="91425" spcFirstLastPara="1" rIns="91425" wrap="square" tIns="45700">
            <a:spAutoFit/>
          </a:bodyPr>
          <a:lstStyle/>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Some experimentation with M4 shows that -</a:t>
            </a:r>
            <a:endParaRPr/>
          </a:p>
          <a:p>
            <a:pPr indent="-342900" lvl="1" marL="800100" marR="0" rtl="0" algn="l">
              <a:spcBef>
                <a:spcPts val="0"/>
              </a:spcBef>
              <a:spcAft>
                <a:spcPts val="0"/>
              </a:spcAft>
              <a:buClr>
                <a:schemeClr val="dk1"/>
              </a:buClr>
              <a:buSzPts val="2400"/>
              <a:buFont typeface="Arial"/>
              <a:buChar char="•"/>
            </a:pPr>
            <a:r>
              <a:rPr b="0" i="0" lang="en-IN" sz="2400" u="none" cap="none" strike="noStrike">
                <a:solidFill>
                  <a:schemeClr val="dk1"/>
                </a:solidFill>
                <a:latin typeface="Calibri"/>
                <a:ea typeface="Calibri"/>
                <a:cs typeface="Calibri"/>
                <a:sym typeface="Calibri"/>
              </a:rPr>
              <a:t>Accepts strings as a, b, aa, bb, bab  </a:t>
            </a:r>
            <a:endParaRPr/>
          </a:p>
          <a:p>
            <a:pPr indent="-342900" lvl="1" marL="800100" marR="0" rtl="0" algn="l">
              <a:spcBef>
                <a:spcPts val="0"/>
              </a:spcBef>
              <a:spcAft>
                <a:spcPts val="0"/>
              </a:spcAft>
              <a:buClr>
                <a:schemeClr val="dk1"/>
              </a:buClr>
              <a:buSzPts val="2400"/>
              <a:buFont typeface="Arial"/>
              <a:buChar char="•"/>
            </a:pPr>
            <a:r>
              <a:rPr b="0" i="0" lang="en-IN" sz="2400" u="none" cap="none" strike="noStrike">
                <a:solidFill>
                  <a:schemeClr val="dk1"/>
                </a:solidFill>
                <a:latin typeface="Calibri"/>
                <a:ea typeface="Calibri"/>
                <a:cs typeface="Calibri"/>
                <a:sym typeface="Calibri"/>
              </a:rPr>
              <a:t>Does not accept strings as ab, ba, bbba</a:t>
            </a:r>
            <a:endParaRPr b="0" i="0" sz="2400" u="none" cap="none" strike="noStrike">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pic>
        <p:nvPicPr>
          <p:cNvPr id="889" name="Google Shape;889;p84"/>
          <p:cNvPicPr preferRelativeResize="0"/>
          <p:nvPr/>
        </p:nvPicPr>
        <p:blipFill rotWithShape="1">
          <a:blip r:embed="rId3">
            <a:alphaModFix/>
          </a:blip>
          <a:srcRect b="13789" l="30342" r="44334" t="43105"/>
          <a:stretch/>
        </p:blipFill>
        <p:spPr>
          <a:xfrm>
            <a:off x="5940152" y="1340768"/>
            <a:ext cx="3096344" cy="4497155"/>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8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Language of DFA M4</a:t>
            </a:r>
            <a:endParaRPr/>
          </a:p>
        </p:txBody>
      </p:sp>
      <p:sp>
        <p:nvSpPr>
          <p:cNvPr id="895" name="Google Shape;895;p8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896" name="Google Shape;896;p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897" name="Google Shape;897;p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898" name="Google Shape;898;p85"/>
          <p:cNvSpPr/>
          <p:nvPr/>
        </p:nvSpPr>
        <p:spPr>
          <a:xfrm>
            <a:off x="179512" y="1196752"/>
            <a:ext cx="5760640" cy="5632311"/>
          </a:xfrm>
          <a:prstGeom prst="rect">
            <a:avLst/>
          </a:prstGeom>
          <a:noFill/>
          <a:ln>
            <a:noFill/>
          </a:ln>
        </p:spPr>
        <p:txBody>
          <a:bodyPr anchorCtr="0" anchor="t" bIns="45700" lIns="91425" spcFirstLastPara="1" rIns="91425" wrap="square" tIns="45700">
            <a:spAutoFit/>
          </a:bodyPr>
          <a:lstStyle/>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If the first symbol in the string is a then it goes to the left and accepts when the strings ends with an a</a:t>
            </a:r>
            <a:endParaRPr/>
          </a:p>
          <a:p>
            <a:pPr indent="0" lvl="0" marL="0" marR="0" rtl="0" algn="l">
              <a:spcBef>
                <a:spcPts val="0"/>
              </a:spcBef>
              <a:spcAft>
                <a:spcPts val="0"/>
              </a:spcAft>
              <a:buNone/>
            </a:pPr>
            <a:r>
              <a:rPr lang="en-IN" sz="2400">
                <a:solidFill>
                  <a:schemeClr val="dk1"/>
                </a:solidFill>
                <a:latin typeface="Calibri"/>
                <a:ea typeface="Calibri"/>
                <a:cs typeface="Calibri"/>
                <a:sym typeface="Calibri"/>
              </a:rPr>
              <a:t> </a:t>
            </a:r>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If the first symbol in the string is b then it goes to the right and accept when the strings ends with a b</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pic>
        <p:nvPicPr>
          <p:cNvPr id="899" name="Google Shape;899;p85"/>
          <p:cNvPicPr preferRelativeResize="0"/>
          <p:nvPr/>
        </p:nvPicPr>
        <p:blipFill rotWithShape="1">
          <a:blip r:embed="rId3">
            <a:alphaModFix/>
          </a:blip>
          <a:srcRect b="13789" l="30342" r="44334" t="43105"/>
          <a:stretch/>
        </p:blipFill>
        <p:spPr>
          <a:xfrm>
            <a:off x="5940152" y="1340768"/>
            <a:ext cx="3096344" cy="449715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8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Language of DFA M4</a:t>
            </a:r>
            <a:endParaRPr/>
          </a:p>
        </p:txBody>
      </p:sp>
      <p:sp>
        <p:nvSpPr>
          <p:cNvPr id="905" name="Google Shape;905;p8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906" name="Google Shape;906;p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907" name="Google Shape;907;p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908" name="Google Shape;908;p86"/>
          <p:cNvSpPr/>
          <p:nvPr/>
        </p:nvSpPr>
        <p:spPr>
          <a:xfrm>
            <a:off x="179512" y="1196752"/>
            <a:ext cx="5760640" cy="4893647"/>
          </a:xfrm>
          <a:prstGeom prst="rect">
            <a:avLst/>
          </a:prstGeom>
          <a:noFill/>
          <a:ln>
            <a:noFill/>
          </a:ln>
        </p:spPr>
        <p:txBody>
          <a:bodyPr anchorCtr="0" anchor="t" bIns="45700" lIns="91425" spcFirstLastPara="1" rIns="91425" wrap="square" tIns="45700">
            <a:spAutoFit/>
          </a:bodyPr>
          <a:lstStyle/>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Accepts all strings that start and end with a or that starts and ends in b</a:t>
            </a:r>
            <a:endParaRPr sz="2400">
              <a:solidFill>
                <a:schemeClr val="dk1"/>
              </a:solidFill>
              <a:latin typeface="Calibri"/>
              <a:ea typeface="Calibri"/>
              <a:cs typeface="Calibri"/>
              <a:sym typeface="Calibri"/>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Conclusion: L(M4) = {w|w = axa} ∪ {w|w = byb} for x, y ∈ ∑*</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pic>
        <p:nvPicPr>
          <p:cNvPr id="909" name="Google Shape;909;p86"/>
          <p:cNvPicPr preferRelativeResize="0"/>
          <p:nvPr/>
        </p:nvPicPr>
        <p:blipFill rotWithShape="1">
          <a:blip r:embed="rId3">
            <a:alphaModFix/>
          </a:blip>
          <a:srcRect b="13789" l="30342" r="44334" t="43105"/>
          <a:stretch/>
        </p:blipFill>
        <p:spPr>
          <a:xfrm>
            <a:off x="5940152" y="1340768"/>
            <a:ext cx="3096344" cy="4497155"/>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87"/>
          <p:cNvSpPr txBox="1"/>
          <p:nvPr>
            <p:ph type="title"/>
          </p:nvPr>
        </p:nvSpPr>
        <p:spPr>
          <a:xfrm>
            <a:off x="467544" y="116632"/>
            <a:ext cx="8229600" cy="41805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Exercise1 – Acceptor/Rejector</a:t>
            </a:r>
            <a:endParaRPr sz="2800"/>
          </a:p>
        </p:txBody>
      </p:sp>
      <p:sp>
        <p:nvSpPr>
          <p:cNvPr id="915" name="Google Shape;915;p87"/>
          <p:cNvSpPr txBox="1"/>
          <p:nvPr>
            <p:ph idx="1" type="body"/>
          </p:nvPr>
        </p:nvSpPr>
        <p:spPr>
          <a:xfrm>
            <a:off x="395536" y="692696"/>
            <a:ext cx="8229600" cy="4525963"/>
          </a:xfrm>
          <a:prstGeom prst="rect">
            <a:avLst/>
          </a:prstGeom>
          <a:solidFill>
            <a:srgbClr val="FDE9D8"/>
          </a:solid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Consider the transition table given below and check whether the string ‘110101’ lies in L(M) or not. Given Initial State=q0 and F={q0}.Also write the 5-Tuple representation.</a:t>
            </a:r>
            <a:endParaRPr/>
          </a:p>
          <a:p>
            <a:pPr indent="-139700" lvl="0" marL="342900" rtl="0" algn="l">
              <a:spcBef>
                <a:spcPts val="640"/>
              </a:spcBef>
              <a:spcAft>
                <a:spcPts val="0"/>
              </a:spcAft>
              <a:buClr>
                <a:schemeClr val="dk1"/>
              </a:buClr>
              <a:buSzPts val="3200"/>
              <a:buNone/>
            </a:pPr>
            <a:r>
              <a:t/>
            </a:r>
            <a:endParaRPr/>
          </a:p>
        </p:txBody>
      </p:sp>
      <p:sp>
        <p:nvSpPr>
          <p:cNvPr id="916" name="Google Shape;916;p8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917" name="Google Shape;917;p8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918" name="Google Shape;918;p8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919" name="Google Shape;919;p87"/>
          <p:cNvGraphicFramePr/>
          <p:nvPr/>
        </p:nvGraphicFramePr>
        <p:xfrm>
          <a:off x="2843808" y="1916832"/>
          <a:ext cx="3000000" cy="3000000"/>
        </p:xfrm>
        <a:graphic>
          <a:graphicData uri="http://schemas.openxmlformats.org/drawingml/2006/table">
            <a:tbl>
              <a:tblPr bandRow="1" firstRow="1">
                <a:noFill/>
                <a:tableStyleId>{1DD1F0B8-C0F4-4710-A24E-F3ACE173D476}</a:tableStyleId>
              </a:tblPr>
              <a:tblGrid>
                <a:gridCol w="920000"/>
                <a:gridCol w="920000"/>
                <a:gridCol w="920000"/>
              </a:tblGrid>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88"/>
          <p:cNvSpPr txBox="1"/>
          <p:nvPr>
            <p:ph type="title"/>
          </p:nvPr>
        </p:nvSpPr>
        <p:spPr>
          <a:xfrm>
            <a:off x="467544" y="116632"/>
            <a:ext cx="8229600" cy="41805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Exercise1 – Acceptor/Rejector</a:t>
            </a:r>
            <a:endParaRPr sz="2800"/>
          </a:p>
        </p:txBody>
      </p:sp>
      <p:sp>
        <p:nvSpPr>
          <p:cNvPr id="925" name="Google Shape;925;p88"/>
          <p:cNvSpPr txBox="1"/>
          <p:nvPr>
            <p:ph idx="1" type="body"/>
          </p:nvPr>
        </p:nvSpPr>
        <p:spPr>
          <a:xfrm>
            <a:off x="395536" y="692696"/>
            <a:ext cx="8229600" cy="4525963"/>
          </a:xfrm>
          <a:prstGeom prst="rect">
            <a:avLst/>
          </a:prstGeom>
          <a:solidFill>
            <a:srgbClr val="FDE9D8"/>
          </a:solid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Consider the transition table given below and check whether the string ‘110101’ lies in L(M) or not. Given Initial State=q0 and F={q0}. Also write the 5-Tuple representation.</a:t>
            </a:r>
            <a:endParaRPr/>
          </a:p>
          <a:p>
            <a:pPr indent="0" lvl="0" marL="0" rtl="0" algn="l">
              <a:spcBef>
                <a:spcPts val="480"/>
              </a:spcBef>
              <a:spcAft>
                <a:spcPts val="0"/>
              </a:spcAft>
              <a:buClr>
                <a:schemeClr val="dk1"/>
              </a:buClr>
              <a:buSzPts val="2400"/>
              <a:buNone/>
            </a:pPr>
            <a:r>
              <a:t/>
            </a:r>
            <a:endParaRPr sz="2400"/>
          </a:p>
          <a:p>
            <a:pPr indent="-139700" lvl="0" marL="342900" rtl="0" algn="l">
              <a:spcBef>
                <a:spcPts val="640"/>
              </a:spcBef>
              <a:spcAft>
                <a:spcPts val="0"/>
              </a:spcAft>
              <a:buClr>
                <a:schemeClr val="dk1"/>
              </a:buClr>
              <a:buSzPts val="3200"/>
              <a:buNone/>
            </a:pPr>
            <a:r>
              <a:t/>
            </a:r>
            <a:endParaRPr/>
          </a:p>
        </p:txBody>
      </p:sp>
      <p:sp>
        <p:nvSpPr>
          <p:cNvPr id="926" name="Google Shape;926;p8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927" name="Google Shape;927;p8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928" name="Google Shape;928;p8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929" name="Google Shape;929;p88"/>
          <p:cNvGraphicFramePr/>
          <p:nvPr/>
        </p:nvGraphicFramePr>
        <p:xfrm>
          <a:off x="6084168" y="1844824"/>
          <a:ext cx="3000000" cy="3000000"/>
        </p:xfrm>
        <a:graphic>
          <a:graphicData uri="http://schemas.openxmlformats.org/drawingml/2006/table">
            <a:tbl>
              <a:tblPr bandRow="1" firstRow="1">
                <a:noFill/>
                <a:tableStyleId>{1DD1F0B8-C0F4-4710-A24E-F3ACE173D476}</a:tableStyleId>
              </a:tblPr>
              <a:tblGrid>
                <a:gridCol w="920000"/>
                <a:gridCol w="920000"/>
                <a:gridCol w="920000"/>
              </a:tblGrid>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8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935" name="Google Shape;935;p8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rPr lang="en-IN"/>
              <a:t>Design is a creative process!</a:t>
            </a:r>
            <a:endParaRPr/>
          </a:p>
        </p:txBody>
      </p:sp>
      <p:sp>
        <p:nvSpPr>
          <p:cNvPr id="936" name="Google Shape;936;p8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937" name="Google Shape;937;p8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938" name="Google Shape;938;p8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9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944" name="Google Shape;944;p9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rPr lang="en-IN"/>
              <a:t>Put yourself in the place of the machine you are trying to design.</a:t>
            </a:r>
            <a:endParaRPr/>
          </a:p>
        </p:txBody>
      </p:sp>
      <p:sp>
        <p:nvSpPr>
          <p:cNvPr id="945" name="Google Shape;945;p9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946" name="Google Shape;946;p9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947" name="Google Shape;947;p9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9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953" name="Google Shape;953;p9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954" name="Google Shape;954;p9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955" name="Google Shape;955;p9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956" name="Google Shape;956;p9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957" name="Google Shape;957;p91"/>
          <p:cNvGraphicFramePr/>
          <p:nvPr/>
        </p:nvGraphicFramePr>
        <p:xfrm>
          <a:off x="683568" y="1484784"/>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a:t>
                      </a:r>
                      <a:endParaRPr/>
                    </a:p>
                  </a:txBody>
                  <a:tcPr marT="45725" marB="45725" marR="91450" marL="91450"/>
                </a:tc>
              </a:tr>
              <a:tr h="3086975">
                <a:tc>
                  <a:txBody>
                    <a:bodyPr/>
                    <a:lstStyle/>
                    <a:p>
                      <a:pPr indent="-457200" lvl="0" marL="457200" marR="0" rtl="0" algn="l">
                        <a:spcBef>
                          <a:spcPts val="0"/>
                        </a:spcBef>
                        <a:spcAft>
                          <a:spcPts val="0"/>
                        </a:spcAft>
                        <a:buClr>
                          <a:schemeClr val="dk1"/>
                        </a:buClr>
                        <a:buSzPts val="2400"/>
                        <a:buFont typeface="Calibri"/>
                        <a:buAutoNum type="arabicParenR"/>
                      </a:pPr>
                      <a:r>
                        <a:rPr lang="en-IN" sz="2400"/>
                        <a:t>Suppose that the alphabet is {0,1} and that the language consists of all strings with </a:t>
                      </a:r>
                      <a:r>
                        <a:rPr b="1" lang="en-IN" sz="2400">
                          <a:solidFill>
                            <a:schemeClr val="accent6"/>
                          </a:solidFill>
                        </a:rPr>
                        <a:t>an odd number of 1s.</a:t>
                      </a:r>
                      <a:endParaRPr/>
                    </a:p>
                    <a:p>
                      <a:pPr indent="-304800" lvl="0" marL="457200" marR="0" rtl="0" algn="l">
                        <a:spcBef>
                          <a:spcPts val="0"/>
                        </a:spcBef>
                        <a:spcAft>
                          <a:spcPts val="0"/>
                        </a:spcAft>
                        <a:buClr>
                          <a:schemeClr val="dk1"/>
                        </a:buClr>
                        <a:buSzPts val="2400"/>
                        <a:buFont typeface="Calibri"/>
                        <a:buNone/>
                      </a:pPr>
                      <a:r>
                        <a:t/>
                      </a:r>
                      <a:endParaRPr sz="2400"/>
                    </a:p>
                    <a:p>
                      <a:pPr indent="-457200" lvl="0" marL="457200" marR="0" rtl="0" algn="l">
                        <a:spcBef>
                          <a:spcPts val="0"/>
                        </a:spcBef>
                        <a:spcAft>
                          <a:spcPts val="0"/>
                        </a:spcAft>
                        <a:buClr>
                          <a:schemeClr val="dk1"/>
                        </a:buClr>
                        <a:buSzPts val="2400"/>
                        <a:buFont typeface="Calibri"/>
                        <a:buAutoNum type="arabicParenR"/>
                      </a:pPr>
                      <a:r>
                        <a:rPr lang="en-IN" sz="2400"/>
                        <a:t>You want to construct a finite automaton E1 to recognize this language.</a:t>
                      </a:r>
                      <a:endParaRPr sz="2400"/>
                    </a:p>
                  </a:txBody>
                  <a:tcPr marT="45725" marB="45725" marR="91450" marL="91450"/>
                </a:tc>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9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963" name="Google Shape;963;p9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964" name="Google Shape;964;p9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965" name="Google Shape;965;p9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966" name="Google Shape;966;p9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967" name="Google Shape;967;p92"/>
          <p:cNvGraphicFramePr/>
          <p:nvPr/>
        </p:nvGraphicFramePr>
        <p:xfrm>
          <a:off x="683568" y="1484784"/>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Pretending to be the Automaton E1 recognize the language</a:t>
                      </a:r>
                      <a:endParaRPr/>
                    </a:p>
                    <a:p>
                      <a:pPr indent="-342900" lvl="0" marL="342900" marR="0" rtl="0" algn="l">
                        <a:spcBef>
                          <a:spcPts val="0"/>
                        </a:spcBef>
                        <a:spcAft>
                          <a:spcPts val="0"/>
                        </a:spcAft>
                        <a:buClr>
                          <a:schemeClr val="dk1"/>
                        </a:buClr>
                        <a:buSzPts val="2400"/>
                        <a:buFont typeface="Arial"/>
                        <a:buChar char="•"/>
                      </a:pPr>
                      <a:r>
                        <a:rPr lang="en-IN" sz="2400"/>
                        <a:t>Start reading the input string of 0s and 1s symbol by symbol</a:t>
                      </a:r>
                      <a:endParaRPr/>
                    </a:p>
                    <a:p>
                      <a:pPr indent="-342900" lvl="0" marL="342900" marR="0" rtl="0" algn="l">
                        <a:spcBef>
                          <a:spcPts val="0"/>
                        </a:spcBef>
                        <a:spcAft>
                          <a:spcPts val="0"/>
                        </a:spcAft>
                        <a:buClr>
                          <a:schemeClr val="dk1"/>
                        </a:buClr>
                        <a:buSzPts val="2400"/>
                        <a:buFont typeface="Arial"/>
                        <a:buChar char="•"/>
                      </a:pPr>
                      <a:r>
                        <a:rPr lang="en-IN" sz="2400"/>
                        <a:t>Simply remember whether the no of 1s seen so far is even or odd</a:t>
                      </a:r>
                      <a:endParaRPr/>
                    </a:p>
                    <a:p>
                      <a:pPr indent="-342900" lvl="0" marL="342900" marR="0" rtl="0" algn="l">
                        <a:spcBef>
                          <a:spcPts val="0"/>
                        </a:spcBef>
                        <a:spcAft>
                          <a:spcPts val="0"/>
                        </a:spcAft>
                        <a:buClr>
                          <a:schemeClr val="dk1"/>
                        </a:buClr>
                        <a:buSzPts val="2400"/>
                        <a:buFont typeface="Arial"/>
                        <a:buChar char="•"/>
                      </a:pPr>
                      <a:r>
                        <a:rPr lang="en-IN" sz="2400"/>
                        <a:t>Keep track of this information</a:t>
                      </a:r>
                      <a:endParaRPr/>
                    </a:p>
                    <a:p>
                      <a:pPr indent="-342900" lvl="0" marL="342900" marR="0" rtl="0" algn="l">
                        <a:spcBef>
                          <a:spcPts val="0"/>
                        </a:spcBef>
                        <a:spcAft>
                          <a:spcPts val="0"/>
                        </a:spcAft>
                        <a:buClr>
                          <a:schemeClr val="dk1"/>
                        </a:buClr>
                        <a:buSzPts val="2400"/>
                        <a:buFont typeface="Arial"/>
                        <a:buChar char="•"/>
                      </a:pPr>
                      <a:r>
                        <a:rPr lang="en-IN" sz="2400"/>
                        <a:t>Represent this information as finite set of possibilities</a:t>
                      </a:r>
                      <a:endParaRPr sz="2400"/>
                    </a:p>
                  </a:txBody>
                  <a:tcPr marT="45725" marB="45725" marR="91450" marL="91450"/>
                </a:tc>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9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973" name="Google Shape;973;p93"/>
          <p:cNvSpPr txBox="1"/>
          <p:nvPr>
            <p:ph idx="1" type="body"/>
          </p:nvPr>
        </p:nvSpPr>
        <p:spPr>
          <a:xfrm>
            <a:off x="457200" y="1711349"/>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974" name="Google Shape;974;p9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975" name="Google Shape;975;p9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976" name="Google Shape;976;p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977" name="Google Shape;977;p93"/>
          <p:cNvGraphicFramePr/>
          <p:nvPr/>
        </p:nvGraphicFramePr>
        <p:xfrm>
          <a:off x="683568" y="1484784"/>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Possibilities so far would be-</a:t>
                      </a:r>
                      <a:endParaRPr/>
                    </a:p>
                    <a:p>
                      <a:pPr indent="-457200" lvl="1" marL="914400" marR="0" rtl="0" algn="l">
                        <a:spcBef>
                          <a:spcPts val="0"/>
                        </a:spcBef>
                        <a:spcAft>
                          <a:spcPts val="0"/>
                        </a:spcAft>
                        <a:buClr>
                          <a:schemeClr val="dk1"/>
                        </a:buClr>
                        <a:buSzPts val="2400"/>
                        <a:buFont typeface="Calibri"/>
                        <a:buAutoNum type="arabicParenR"/>
                      </a:pPr>
                      <a:r>
                        <a:rPr lang="en-IN" sz="2400" u="none" cap="none" strike="noStrike"/>
                        <a:t>Even so far</a:t>
                      </a:r>
                      <a:endParaRPr/>
                    </a:p>
                    <a:p>
                      <a:pPr indent="-457200" lvl="1" marL="914400" marR="0" rtl="0" algn="l">
                        <a:spcBef>
                          <a:spcPts val="0"/>
                        </a:spcBef>
                        <a:spcAft>
                          <a:spcPts val="0"/>
                        </a:spcAft>
                        <a:buClr>
                          <a:schemeClr val="dk1"/>
                        </a:buClr>
                        <a:buSzPts val="2400"/>
                        <a:buFont typeface="Calibri"/>
                        <a:buAutoNum type="arabicParenR"/>
                      </a:pPr>
                      <a:r>
                        <a:rPr lang="en-IN" sz="2400" u="none" cap="none" strike="noStrike"/>
                        <a:t>Odd so far</a:t>
                      </a:r>
                      <a:endParaRPr/>
                    </a:p>
                    <a:p>
                      <a:pPr indent="-190500" lvl="0" marL="342900" marR="0" rtl="0" algn="l">
                        <a:spcBef>
                          <a:spcPts val="0"/>
                        </a:spcBef>
                        <a:spcAft>
                          <a:spcPts val="0"/>
                        </a:spcAft>
                        <a:buClr>
                          <a:schemeClr val="dk1"/>
                        </a:buClr>
                        <a:buSzPts val="2400"/>
                        <a:buFont typeface="Arial"/>
                        <a:buNone/>
                      </a:pPr>
                      <a:r>
                        <a:t/>
                      </a:r>
                      <a:endParaRPr sz="2400"/>
                    </a:p>
                    <a:p>
                      <a:pPr indent="-342900" lvl="0" marL="342900" marR="0" rtl="0" algn="l">
                        <a:spcBef>
                          <a:spcPts val="0"/>
                        </a:spcBef>
                        <a:spcAft>
                          <a:spcPts val="0"/>
                        </a:spcAft>
                        <a:buClr>
                          <a:srgbClr val="FF0000"/>
                        </a:buClr>
                        <a:buSzPts val="2400"/>
                        <a:buFont typeface="Arial"/>
                        <a:buChar char="•"/>
                      </a:pPr>
                      <a:r>
                        <a:rPr b="1" lang="en-IN" sz="2400">
                          <a:solidFill>
                            <a:srgbClr val="FF0000"/>
                          </a:solidFill>
                        </a:rPr>
                        <a:t>Assign states to these possibilities</a:t>
                      </a:r>
                      <a:endParaRPr/>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Calibri"/>
                        <a:buNone/>
                      </a:pPr>
                      <a:r>
                        <a:t/>
                      </a:r>
                      <a:endParaRPr sz="2400"/>
                    </a:p>
                  </a:txBody>
                  <a:tcPr marT="45725" marB="45725" marR="91450" marL="91450"/>
                </a:tc>
              </a:tr>
            </a:tbl>
          </a:graphicData>
        </a:graphic>
      </p:graphicFrame>
      <p:pic>
        <p:nvPicPr>
          <p:cNvPr id="978" name="Google Shape;978;p93"/>
          <p:cNvPicPr preferRelativeResize="0"/>
          <p:nvPr/>
        </p:nvPicPr>
        <p:blipFill rotWithShape="1">
          <a:blip r:embed="rId3">
            <a:alphaModFix/>
          </a:blip>
          <a:srcRect b="35913" l="28892" r="44000" t="43651"/>
          <a:stretch/>
        </p:blipFill>
        <p:spPr>
          <a:xfrm>
            <a:off x="2771800" y="4077072"/>
            <a:ext cx="3526971" cy="1494971"/>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9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984" name="Google Shape;984;p9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985" name="Google Shape;985;p9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986" name="Google Shape;986;p9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987" name="Google Shape;987;p9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988" name="Google Shape;988;p94"/>
          <p:cNvGraphicFramePr/>
          <p:nvPr/>
        </p:nvGraphicFramePr>
        <p:xfrm>
          <a:off x="683568" y="1484784"/>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Assign</a:t>
                      </a:r>
                      <a:r>
                        <a:rPr lang="en-IN" sz="2400"/>
                        <a:t> the transitions by seeing how to go from one possibility to another upon reading a symbol</a:t>
                      </a:r>
                      <a:endParaRPr/>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Calibri"/>
                        <a:buNone/>
                      </a:pPr>
                      <a:r>
                        <a:t/>
                      </a:r>
                      <a:endParaRPr sz="2400"/>
                    </a:p>
                  </a:txBody>
                  <a:tcPr marT="45725" marB="45725" marR="91450" marL="91450"/>
                </a:tc>
              </a:tr>
            </a:tbl>
          </a:graphicData>
        </a:graphic>
      </p:graphicFrame>
      <p:pic>
        <p:nvPicPr>
          <p:cNvPr id="989" name="Google Shape;989;p94"/>
          <p:cNvPicPr preferRelativeResize="0"/>
          <p:nvPr/>
        </p:nvPicPr>
        <p:blipFill rotWithShape="1">
          <a:blip r:embed="rId3">
            <a:alphaModFix/>
          </a:blip>
          <a:srcRect b="35913" l="28892" r="44000" t="43651"/>
          <a:stretch/>
        </p:blipFill>
        <p:spPr>
          <a:xfrm>
            <a:off x="2771800" y="4077072"/>
            <a:ext cx="3526971" cy="1494971"/>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9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995" name="Google Shape;995;p9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996" name="Google Shape;996;p9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997" name="Google Shape;997;p9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998" name="Google Shape;998;p9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999" name="Google Shape;999;p95"/>
          <p:cNvGraphicFramePr/>
          <p:nvPr/>
        </p:nvGraphicFramePr>
        <p:xfrm>
          <a:off x="683568" y="1484784"/>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For Assigning</a:t>
                      </a:r>
                      <a:r>
                        <a:rPr lang="en-IN" sz="2400"/>
                        <a:t> the transitions by seeing how to go from one possibility to another upon reading a symbol</a:t>
                      </a:r>
                      <a:endParaRPr/>
                    </a:p>
                    <a:p>
                      <a:pPr indent="-190500" lvl="0" marL="342900" marR="0" rtl="0" algn="l">
                        <a:spcBef>
                          <a:spcPts val="0"/>
                        </a:spcBef>
                        <a:spcAft>
                          <a:spcPts val="0"/>
                        </a:spcAft>
                        <a:buClr>
                          <a:schemeClr val="dk1"/>
                        </a:buClr>
                        <a:buSzPts val="2400"/>
                        <a:buFont typeface="Arial"/>
                        <a:buNone/>
                      </a:pPr>
                      <a:r>
                        <a:t/>
                      </a:r>
                      <a:endParaRPr sz="2400"/>
                    </a:p>
                    <a:p>
                      <a:pPr indent="-342900" lvl="0" marL="342900" marR="0" rtl="0" algn="l">
                        <a:spcBef>
                          <a:spcPts val="0"/>
                        </a:spcBef>
                        <a:spcAft>
                          <a:spcPts val="0"/>
                        </a:spcAft>
                        <a:buClr>
                          <a:schemeClr val="dk1"/>
                        </a:buClr>
                        <a:buSzPts val="2400"/>
                        <a:buFont typeface="Arial"/>
                        <a:buChar char="•"/>
                      </a:pPr>
                      <a:r>
                        <a:rPr lang="en-IN" sz="2400"/>
                        <a:t>Check for strings</a:t>
                      </a:r>
                      <a:endParaRPr/>
                    </a:p>
                    <a:p>
                      <a:pPr indent="-342900" lvl="0" marL="342900" marR="0" rtl="0" algn="l">
                        <a:spcBef>
                          <a:spcPts val="0"/>
                        </a:spcBef>
                        <a:spcAft>
                          <a:spcPts val="0"/>
                        </a:spcAft>
                        <a:buClr>
                          <a:schemeClr val="dk1"/>
                        </a:buClr>
                        <a:buSzPts val="2400"/>
                        <a:buFont typeface="Arial"/>
                        <a:buChar char="•"/>
                      </a:pPr>
                      <a:r>
                        <a:rPr lang="en-IN" sz="2400"/>
                        <a:t>0</a:t>
                      </a:r>
                      <a:endParaRPr/>
                    </a:p>
                    <a:p>
                      <a:pPr indent="-342900" lvl="0" marL="342900" marR="0" rtl="0" algn="l">
                        <a:spcBef>
                          <a:spcPts val="0"/>
                        </a:spcBef>
                        <a:spcAft>
                          <a:spcPts val="0"/>
                        </a:spcAft>
                        <a:buClr>
                          <a:schemeClr val="dk1"/>
                        </a:buClr>
                        <a:buSzPts val="2400"/>
                        <a:buFont typeface="Arial"/>
                        <a:buChar char="•"/>
                      </a:pPr>
                      <a:r>
                        <a:rPr lang="en-IN" sz="2400"/>
                        <a:t>00</a:t>
                      </a:r>
                      <a:endParaRPr/>
                    </a:p>
                    <a:p>
                      <a:pPr indent="-342900" lvl="0" marL="342900" marR="0" rtl="0" algn="l">
                        <a:spcBef>
                          <a:spcPts val="0"/>
                        </a:spcBef>
                        <a:spcAft>
                          <a:spcPts val="0"/>
                        </a:spcAft>
                        <a:buClr>
                          <a:schemeClr val="dk1"/>
                        </a:buClr>
                        <a:buSzPts val="2400"/>
                        <a:buFont typeface="Arial"/>
                        <a:buChar char="•"/>
                      </a:pPr>
                      <a:r>
                        <a:rPr lang="en-IN" sz="2400"/>
                        <a:t>001</a:t>
                      </a:r>
                      <a:endParaRPr/>
                    </a:p>
                    <a:p>
                      <a:pPr indent="-342900" lvl="0" marL="342900" marR="0" rtl="0" algn="l">
                        <a:spcBef>
                          <a:spcPts val="0"/>
                        </a:spcBef>
                        <a:spcAft>
                          <a:spcPts val="0"/>
                        </a:spcAft>
                        <a:buClr>
                          <a:schemeClr val="dk1"/>
                        </a:buClr>
                        <a:buSzPts val="2400"/>
                        <a:buFont typeface="Arial"/>
                        <a:buChar char="•"/>
                      </a:pPr>
                      <a:r>
                        <a:rPr lang="en-IN" sz="2400"/>
                        <a:t>010</a:t>
                      </a:r>
                      <a:endParaRPr/>
                    </a:p>
                    <a:p>
                      <a:pPr indent="-342900" lvl="0" marL="342900" marR="0" rtl="0" algn="l">
                        <a:spcBef>
                          <a:spcPts val="0"/>
                        </a:spcBef>
                        <a:spcAft>
                          <a:spcPts val="0"/>
                        </a:spcAft>
                        <a:buClr>
                          <a:schemeClr val="dk1"/>
                        </a:buClr>
                        <a:buSzPts val="2400"/>
                        <a:buFont typeface="Arial"/>
                        <a:buChar char="•"/>
                      </a:pPr>
                      <a:r>
                        <a:rPr lang="en-IN" sz="2400"/>
                        <a:t>01011</a:t>
                      </a:r>
                      <a:endParaRPr/>
                    </a:p>
                    <a:p>
                      <a:pPr indent="-342900" lvl="0" marL="342900" marR="0" rtl="0" algn="l">
                        <a:spcBef>
                          <a:spcPts val="0"/>
                        </a:spcBef>
                        <a:spcAft>
                          <a:spcPts val="0"/>
                        </a:spcAft>
                        <a:buClr>
                          <a:schemeClr val="dk1"/>
                        </a:buClr>
                        <a:buSzPts val="2400"/>
                        <a:buFont typeface="Arial"/>
                        <a:buChar char="•"/>
                      </a:pPr>
                      <a:r>
                        <a:rPr lang="en-IN" sz="2400"/>
                        <a:t>01011011</a:t>
                      </a:r>
                      <a:endParaRPr sz="2400"/>
                    </a:p>
                  </a:txBody>
                  <a:tcPr marT="45725" marB="45725" marR="91450" marL="91450"/>
                </a:tc>
              </a:tr>
            </a:tbl>
          </a:graphicData>
        </a:graphic>
      </p:graphicFrame>
      <p:pic>
        <p:nvPicPr>
          <p:cNvPr id="1000" name="Google Shape;1000;p95"/>
          <p:cNvPicPr preferRelativeResize="0"/>
          <p:nvPr/>
        </p:nvPicPr>
        <p:blipFill rotWithShape="1">
          <a:blip r:embed="rId3">
            <a:alphaModFix/>
          </a:blip>
          <a:srcRect b="35913" l="28892" r="44000" t="43651"/>
          <a:stretch/>
        </p:blipFill>
        <p:spPr>
          <a:xfrm>
            <a:off x="2771800" y="4077072"/>
            <a:ext cx="3526971" cy="1494971"/>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9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006" name="Google Shape;1006;p9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1007" name="Google Shape;1007;p9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008" name="Google Shape;1008;p9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009" name="Google Shape;1009;p9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010" name="Google Shape;1010;p96"/>
          <p:cNvGraphicFramePr/>
          <p:nvPr/>
        </p:nvGraphicFramePr>
        <p:xfrm>
          <a:off x="683568" y="1484784"/>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Assign</a:t>
                      </a:r>
                      <a:r>
                        <a:rPr lang="en-IN" sz="2400"/>
                        <a:t> the transitions by seeing how to go from one possibility to another upon reading a symbol</a:t>
                      </a:r>
                      <a:endParaRPr/>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Calibri"/>
                        <a:buNone/>
                      </a:pPr>
                      <a:r>
                        <a:t/>
                      </a:r>
                      <a:endParaRPr sz="2400"/>
                    </a:p>
                  </a:txBody>
                  <a:tcPr marT="45725" marB="45725" marR="91450" marL="91450"/>
                </a:tc>
              </a:tr>
            </a:tbl>
          </a:graphicData>
        </a:graphic>
      </p:graphicFrame>
      <p:pic>
        <p:nvPicPr>
          <p:cNvPr id="1011" name="Google Shape;1011;p96"/>
          <p:cNvPicPr preferRelativeResize="0"/>
          <p:nvPr/>
        </p:nvPicPr>
        <p:blipFill rotWithShape="1">
          <a:blip r:embed="rId3">
            <a:alphaModFix/>
          </a:blip>
          <a:srcRect b="0" l="0" r="0" t="0"/>
          <a:stretch/>
        </p:blipFill>
        <p:spPr>
          <a:xfrm>
            <a:off x="2607446" y="3416246"/>
            <a:ext cx="3867150" cy="200025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9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017" name="Google Shape;1017;p9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1018" name="Google Shape;1018;p9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019" name="Google Shape;1019;p9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020" name="Google Shape;1020;p9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021" name="Google Shape;1021;p97"/>
          <p:cNvGraphicFramePr/>
          <p:nvPr/>
        </p:nvGraphicFramePr>
        <p:xfrm>
          <a:off x="683568" y="1484784"/>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Add the start state</a:t>
                      </a:r>
                      <a:endParaRPr/>
                    </a:p>
                    <a:p>
                      <a:pPr indent="-190500" lvl="0" marL="342900" marR="0" rtl="0" algn="l">
                        <a:spcBef>
                          <a:spcPts val="0"/>
                        </a:spcBef>
                        <a:spcAft>
                          <a:spcPts val="0"/>
                        </a:spcAft>
                        <a:buClr>
                          <a:schemeClr val="dk1"/>
                        </a:buClr>
                        <a:buSzPts val="2400"/>
                        <a:buFont typeface="Arial"/>
                        <a:buNone/>
                      </a:pPr>
                      <a:r>
                        <a:t/>
                      </a:r>
                      <a:endParaRPr sz="2400"/>
                    </a:p>
                    <a:p>
                      <a:pPr indent="-342900" lvl="0" marL="342900" marR="0" rtl="0" algn="l">
                        <a:spcBef>
                          <a:spcPts val="0"/>
                        </a:spcBef>
                        <a:spcAft>
                          <a:spcPts val="0"/>
                        </a:spcAft>
                        <a:buClr>
                          <a:schemeClr val="dk1"/>
                        </a:buClr>
                        <a:buSzPts val="2400"/>
                        <a:buFont typeface="Arial"/>
                        <a:buChar char="•"/>
                      </a:pPr>
                      <a:r>
                        <a:rPr lang="en-IN" sz="2400"/>
                        <a:t>Set the start state to be the state corresponding to the possibility associated with having seen 0 symbols (Zero occurrences of 1s) so far (the empty string </a:t>
                      </a:r>
                      <a:r>
                        <a:rPr lang="en-IN" sz="2400"/>
                        <a:t>ε)</a:t>
                      </a:r>
                      <a:endParaRPr/>
                    </a:p>
                    <a:p>
                      <a:pPr indent="-190500" lvl="0" marL="342900" marR="0" rtl="0" algn="l">
                        <a:spcBef>
                          <a:spcPts val="0"/>
                        </a:spcBef>
                        <a:spcAft>
                          <a:spcPts val="0"/>
                        </a:spcAft>
                        <a:buClr>
                          <a:schemeClr val="dk1"/>
                        </a:buClr>
                        <a:buSzPts val="2400"/>
                        <a:buFont typeface="Arial"/>
                        <a:buNone/>
                      </a:pPr>
                      <a:r>
                        <a:t/>
                      </a:r>
                      <a:endParaRPr sz="2400"/>
                    </a:p>
                    <a:p>
                      <a:pPr indent="-342900" lvl="0" marL="342900" marR="0" rtl="0" algn="l">
                        <a:spcBef>
                          <a:spcPts val="0"/>
                        </a:spcBef>
                        <a:spcAft>
                          <a:spcPts val="0"/>
                        </a:spcAft>
                        <a:buClr>
                          <a:schemeClr val="dk1"/>
                        </a:buClr>
                        <a:buSzPts val="2400"/>
                        <a:buFont typeface="Arial"/>
                        <a:buChar char="•"/>
                      </a:pPr>
                      <a:r>
                        <a:rPr lang="en-IN" sz="2400"/>
                        <a:t>As 0 is an even number, Start state corresponds to q</a:t>
                      </a:r>
                      <a:r>
                        <a:rPr baseline="-25000" lang="en-IN" sz="2400"/>
                        <a:t>even</a:t>
                      </a:r>
                      <a:endParaRPr baseline="-25000"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Calibri"/>
                        <a:buNone/>
                      </a:pPr>
                      <a:r>
                        <a:t/>
                      </a:r>
                      <a:endParaRPr sz="2400"/>
                    </a:p>
                  </a:txBody>
                  <a:tcPr marT="45725" marB="45725" marR="91450" marL="91450"/>
                </a:tc>
              </a:tr>
            </a:tbl>
          </a:graphicData>
        </a:graphic>
      </p:graphicFrame>
      <p:pic>
        <p:nvPicPr>
          <p:cNvPr id="1022" name="Google Shape;1022;p97"/>
          <p:cNvPicPr preferRelativeResize="0"/>
          <p:nvPr/>
        </p:nvPicPr>
        <p:blipFill rotWithShape="1">
          <a:blip r:embed="rId3">
            <a:alphaModFix/>
          </a:blip>
          <a:srcRect b="0" l="0" r="0" t="0"/>
          <a:stretch/>
        </p:blipFill>
        <p:spPr>
          <a:xfrm>
            <a:off x="2627784" y="4578602"/>
            <a:ext cx="3638550" cy="186690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9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028" name="Google Shape;1028;p9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1029" name="Google Shape;1029;p9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030" name="Google Shape;1030;p9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031" name="Google Shape;1031;p9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032" name="Google Shape;1032;p98"/>
          <p:cNvGraphicFramePr/>
          <p:nvPr/>
        </p:nvGraphicFramePr>
        <p:xfrm>
          <a:off x="683568" y="1484784"/>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Add the accept state</a:t>
                      </a:r>
                      <a:endParaRPr/>
                    </a:p>
                    <a:p>
                      <a:pPr indent="-342900" lvl="0" marL="342900" marR="0" rtl="0" algn="l">
                        <a:spcBef>
                          <a:spcPts val="0"/>
                        </a:spcBef>
                        <a:spcAft>
                          <a:spcPts val="0"/>
                        </a:spcAft>
                        <a:buClr>
                          <a:schemeClr val="dk1"/>
                        </a:buClr>
                        <a:buSzPts val="2400"/>
                        <a:buFont typeface="Arial"/>
                        <a:buChar char="•"/>
                      </a:pPr>
                      <a:r>
                        <a:rPr lang="en-IN" sz="2400"/>
                        <a:t>Accept state to be those corresponding to possibilities where you want to accept the input string.</a:t>
                      </a:r>
                      <a:endParaRPr/>
                    </a:p>
                    <a:p>
                      <a:pPr indent="-342900" lvl="0" marL="342900" marR="0" rtl="0" algn="l">
                        <a:spcBef>
                          <a:spcPts val="0"/>
                        </a:spcBef>
                        <a:spcAft>
                          <a:spcPts val="0"/>
                        </a:spcAft>
                        <a:buClr>
                          <a:schemeClr val="dk1"/>
                        </a:buClr>
                        <a:buSzPts val="2400"/>
                        <a:buFont typeface="Arial"/>
                        <a:buChar char="•"/>
                      </a:pPr>
                      <a:r>
                        <a:rPr lang="en-IN" sz="2400"/>
                        <a:t>q</a:t>
                      </a:r>
                      <a:r>
                        <a:rPr baseline="-25000" lang="en-IN" sz="2400"/>
                        <a:t>odd</a:t>
                      </a:r>
                      <a:r>
                        <a:rPr lang="en-IN" sz="2400"/>
                        <a:t> is set as an accept state</a:t>
                      </a:r>
                      <a:endParaRPr/>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Calibri"/>
                        <a:buNone/>
                      </a:pPr>
                      <a:r>
                        <a:t/>
                      </a:r>
                      <a:endParaRPr sz="2400"/>
                    </a:p>
                  </a:txBody>
                  <a:tcPr marT="45725" marB="45725" marR="91450" marL="91450"/>
                </a:tc>
              </a:tr>
            </a:tbl>
          </a:graphicData>
        </a:graphic>
      </p:graphicFrame>
      <p:pic>
        <p:nvPicPr>
          <p:cNvPr id="1033" name="Google Shape;1033;p98"/>
          <p:cNvPicPr preferRelativeResize="0"/>
          <p:nvPr/>
        </p:nvPicPr>
        <p:blipFill rotWithShape="1">
          <a:blip r:embed="rId3">
            <a:alphaModFix/>
          </a:blip>
          <a:srcRect b="0" l="0" r="0" t="0"/>
          <a:stretch/>
        </p:blipFill>
        <p:spPr>
          <a:xfrm>
            <a:off x="2843395" y="3789040"/>
            <a:ext cx="3867150" cy="200025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9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039" name="Google Shape;1039;p9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1040" name="Google Shape;1040;p9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041" name="Google Shape;1041;p9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042" name="Google Shape;1042;p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043" name="Google Shape;1043;p99"/>
          <p:cNvGraphicFramePr/>
          <p:nvPr/>
        </p:nvGraphicFramePr>
        <p:xfrm>
          <a:off x="683568" y="1484784"/>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2</a:t>
                      </a:r>
                      <a:endParaRPr/>
                    </a:p>
                  </a:txBody>
                  <a:tcPr marT="45725" marB="45725" marR="91450" marL="91450"/>
                </a:tc>
              </a:tr>
              <a:tr h="3086975">
                <a:tc>
                  <a:txBody>
                    <a:bodyPr/>
                    <a:lstStyle/>
                    <a:p>
                      <a:pPr indent="-457200" lvl="0" marL="457200" marR="0" rtl="0" algn="l">
                        <a:spcBef>
                          <a:spcPts val="0"/>
                        </a:spcBef>
                        <a:spcAft>
                          <a:spcPts val="0"/>
                        </a:spcAft>
                        <a:buClr>
                          <a:schemeClr val="dk1"/>
                        </a:buClr>
                        <a:buSzPts val="2400"/>
                        <a:buFont typeface="Calibri"/>
                        <a:buAutoNum type="arabicParenR"/>
                      </a:pPr>
                      <a:r>
                        <a:rPr lang="en-IN" sz="2400"/>
                        <a:t>Design a finite automaton E2 to recognize all strings that contain the string 001 as a substring.</a:t>
                      </a:r>
                      <a:endParaRPr/>
                    </a:p>
                    <a:p>
                      <a:pPr indent="-304800" lvl="0" marL="457200" marR="0" rtl="0" algn="l">
                        <a:spcBef>
                          <a:spcPts val="0"/>
                        </a:spcBef>
                        <a:spcAft>
                          <a:spcPts val="0"/>
                        </a:spcAft>
                        <a:buClr>
                          <a:schemeClr val="dk1"/>
                        </a:buClr>
                        <a:buSzPts val="2400"/>
                        <a:buFont typeface="Calibri"/>
                        <a:buNone/>
                      </a:pPr>
                      <a:r>
                        <a:t/>
                      </a:r>
                      <a:endParaRPr sz="2400"/>
                    </a:p>
                    <a:p>
                      <a:pPr indent="-457200" lvl="0" marL="457200" marR="0" rtl="0" algn="l">
                        <a:spcBef>
                          <a:spcPts val="0"/>
                        </a:spcBef>
                        <a:spcAft>
                          <a:spcPts val="0"/>
                        </a:spcAft>
                        <a:buClr>
                          <a:schemeClr val="dk1"/>
                        </a:buClr>
                        <a:buSzPts val="2400"/>
                        <a:buFont typeface="Calibri"/>
                        <a:buAutoNum type="arabicParenR"/>
                      </a:pPr>
                      <a:r>
                        <a:rPr lang="en-IN" sz="2400"/>
                        <a:t>For example, 0010, 1001, 001, and 11111110011111</a:t>
                      </a:r>
                      <a:r>
                        <a:rPr lang="en-IN" sz="2400"/>
                        <a:t> </a:t>
                      </a:r>
                      <a:r>
                        <a:rPr lang="en-IN" sz="2400"/>
                        <a:t>are all in the language, but 11 and 0000 are not.</a:t>
                      </a:r>
                      <a:endParaRPr sz="2400"/>
                    </a:p>
                  </a:txBody>
                  <a:tcPr marT="45725" marB="45725" marR="91450" marL="91450"/>
                </a:tc>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10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049" name="Google Shape;1049;p10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1050" name="Google Shape;1050;p10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051" name="Google Shape;1051;p10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052" name="Google Shape;1052;p10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10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1058" name="Google Shape;1058;p10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059" name="Google Shape;1059;p10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060" name="Google Shape;1060;p10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061" name="Google Shape;1061;p101"/>
          <p:cNvGraphicFramePr/>
          <p:nvPr/>
        </p:nvGraphicFramePr>
        <p:xfrm>
          <a:off x="683568" y="2276872"/>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ctr">
                        <a:lnSpc>
                          <a:spcPct val="100000"/>
                        </a:lnSpc>
                        <a:spcBef>
                          <a:spcPts val="0"/>
                        </a:spcBef>
                        <a:spcAft>
                          <a:spcPts val="0"/>
                        </a:spcAft>
                        <a:buClr>
                          <a:schemeClr val="dk1"/>
                        </a:buClr>
                        <a:buSzPts val="2400"/>
                        <a:buFont typeface="Calibri"/>
                        <a:buNone/>
                      </a:pPr>
                      <a:r>
                        <a:rPr lang="en-IN" sz="2400"/>
                        <a:t>DESIGNING FINITE AUTOMATA-</a:t>
                      </a:r>
                      <a:endParaRPr/>
                    </a:p>
                    <a:p>
                      <a:pPr indent="0" lvl="0" marL="0" marR="0" rtl="0" algn="ctr">
                        <a:lnSpc>
                          <a:spcPct val="100000"/>
                        </a:lnSpc>
                        <a:spcBef>
                          <a:spcPts val="0"/>
                        </a:spcBef>
                        <a:spcAft>
                          <a:spcPts val="0"/>
                        </a:spcAft>
                        <a:buClr>
                          <a:schemeClr val="dk1"/>
                        </a:buClr>
                        <a:buSzPts val="2400"/>
                        <a:buFont typeface="Calibri"/>
                        <a:buNone/>
                      </a:pPr>
                      <a:r>
                        <a:t/>
                      </a:r>
                      <a:endParaRPr sz="2400"/>
                    </a:p>
                    <a:p>
                      <a:pPr indent="0" lvl="0" marL="0" marR="0" rtl="0" algn="ctr">
                        <a:lnSpc>
                          <a:spcPct val="100000"/>
                        </a:lnSpc>
                        <a:spcBef>
                          <a:spcPts val="0"/>
                        </a:spcBef>
                        <a:spcAft>
                          <a:spcPts val="0"/>
                        </a:spcAft>
                        <a:buClr>
                          <a:schemeClr val="dk1"/>
                        </a:buClr>
                        <a:buSzPts val="2400"/>
                        <a:buFont typeface="Calibri"/>
                        <a:buNone/>
                      </a:pPr>
                      <a:r>
                        <a:t/>
                      </a:r>
                      <a:endParaRPr sz="2400"/>
                    </a:p>
                    <a:p>
                      <a:pPr indent="0" lvl="0" marL="0" marR="0" rtl="0" algn="ctr">
                        <a:lnSpc>
                          <a:spcPct val="100000"/>
                        </a:lnSpc>
                        <a:spcBef>
                          <a:spcPts val="0"/>
                        </a:spcBef>
                        <a:spcAft>
                          <a:spcPts val="0"/>
                        </a:spcAft>
                        <a:buClr>
                          <a:schemeClr val="dk1"/>
                        </a:buClr>
                        <a:buSzPts val="2400"/>
                        <a:buFont typeface="Calibri"/>
                        <a:buNone/>
                      </a:pPr>
                      <a:br>
                        <a:rPr lang="en-IN" sz="2400"/>
                      </a:br>
                      <a:r>
                        <a:rPr lang="en-IN" sz="2400"/>
                        <a:t>RECOGNIZER FA AS A SEQUENCE DETECTOR</a:t>
                      </a:r>
                      <a:endParaRPr/>
                    </a:p>
                  </a:txBody>
                  <a:tcPr marT="45725" marB="45725" marR="91450" marL="91450"/>
                </a:tc>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10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067" name="Google Shape;1067;p10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1068" name="Google Shape;1068;p10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069" name="Google Shape;1069;p10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070" name="Google Shape;1070;p10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071" name="Google Shape;1071;p102"/>
          <p:cNvGraphicFramePr/>
          <p:nvPr/>
        </p:nvGraphicFramePr>
        <p:xfrm>
          <a:off x="683568" y="1484784"/>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2</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Pretending to be the Automaton E2 recognize the language</a:t>
                      </a:r>
                      <a:endParaRPr/>
                    </a:p>
                    <a:p>
                      <a:pPr indent="-342900" lvl="0" marL="342900" marR="0" rtl="0" algn="l">
                        <a:spcBef>
                          <a:spcPts val="0"/>
                        </a:spcBef>
                        <a:spcAft>
                          <a:spcPts val="0"/>
                        </a:spcAft>
                        <a:buClr>
                          <a:schemeClr val="dk1"/>
                        </a:buClr>
                        <a:buSzPts val="2400"/>
                        <a:buFont typeface="Arial"/>
                        <a:buChar char="•"/>
                      </a:pPr>
                      <a:r>
                        <a:rPr lang="en-IN" sz="2400"/>
                        <a:t>Start reading the input string of 0s and 1s symbol by symbol</a:t>
                      </a:r>
                      <a:endParaRPr/>
                    </a:p>
                    <a:p>
                      <a:pPr indent="-190500" lvl="0" marL="342900" marR="0" rtl="0" algn="l">
                        <a:spcBef>
                          <a:spcPts val="0"/>
                        </a:spcBef>
                        <a:spcAft>
                          <a:spcPts val="0"/>
                        </a:spcAft>
                        <a:buClr>
                          <a:schemeClr val="dk1"/>
                        </a:buClr>
                        <a:buSzPts val="2400"/>
                        <a:buFont typeface="Arial"/>
                        <a:buNone/>
                      </a:pPr>
                      <a:r>
                        <a:t/>
                      </a:r>
                      <a:endParaRPr sz="2400"/>
                    </a:p>
                  </a:txBody>
                  <a:tcPr marT="45725" marB="45725" marR="91450" marL="91450"/>
                </a:tc>
              </a:tr>
            </a:tbl>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p10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077" name="Google Shape;1077;p10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1078" name="Google Shape;1078;p10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079" name="Google Shape;1079;p10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080" name="Google Shape;1080;p10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081" name="Google Shape;1081;p103"/>
          <p:cNvGraphicFramePr/>
          <p:nvPr/>
        </p:nvGraphicFramePr>
        <p:xfrm>
          <a:off x="683568" y="1484784"/>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2-Design a finite automaton E2 to recognize all strings that contain the string 001 as a substring.</a:t>
                      </a:r>
                      <a:endParaRPr/>
                    </a:p>
                    <a:p>
                      <a:pPr indent="0" lvl="0" marL="0" marR="0" rtl="0" algn="l">
                        <a:lnSpc>
                          <a:spcPct val="100000"/>
                        </a:lnSpc>
                        <a:spcBef>
                          <a:spcPts val="0"/>
                        </a:spcBef>
                        <a:spcAft>
                          <a:spcPts val="0"/>
                        </a:spcAft>
                        <a:buClr>
                          <a:schemeClr val="dk1"/>
                        </a:buClr>
                        <a:buSzPts val="2400"/>
                        <a:buFont typeface="Calibri"/>
                        <a:buNone/>
                      </a:pPr>
                      <a:r>
                        <a:t/>
                      </a:r>
                      <a:endParaRPr sz="2400"/>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As symbols come in, you would initially skip over all 1’s</a:t>
                      </a:r>
                      <a:endParaRPr/>
                    </a:p>
                    <a:p>
                      <a:pPr indent="-342900" lvl="0" marL="342900" marR="0" rtl="0" algn="l">
                        <a:spcBef>
                          <a:spcPts val="0"/>
                        </a:spcBef>
                        <a:spcAft>
                          <a:spcPts val="0"/>
                        </a:spcAft>
                        <a:buClr>
                          <a:schemeClr val="dk1"/>
                        </a:buClr>
                        <a:buSzPts val="2400"/>
                        <a:buFont typeface="Arial"/>
                        <a:buChar char="•"/>
                      </a:pPr>
                      <a:r>
                        <a:rPr lang="en-IN" sz="2400"/>
                        <a:t>So the 4 possibilities are-</a:t>
                      </a:r>
                      <a:endParaRPr/>
                    </a:p>
                    <a:p>
                      <a:pPr indent="-342900" lvl="1" marL="800100" marR="0" rtl="0" algn="l">
                        <a:spcBef>
                          <a:spcPts val="0"/>
                        </a:spcBef>
                        <a:spcAft>
                          <a:spcPts val="0"/>
                        </a:spcAft>
                        <a:buClr>
                          <a:schemeClr val="dk1"/>
                        </a:buClr>
                        <a:buSzPts val="2400"/>
                        <a:buFont typeface="Arial"/>
                        <a:buChar char="•"/>
                      </a:pPr>
                      <a:r>
                        <a:rPr lang="en-IN" sz="2400" u="none" cap="none" strike="noStrike"/>
                        <a:t>Haven’t seen any symbols of the pattern=&gt; q state= start state</a:t>
                      </a:r>
                      <a:endParaRPr sz="2400" u="none" cap="none" strike="noStrike"/>
                    </a:p>
                    <a:p>
                      <a:pPr indent="-342900" lvl="1" marL="800100" marR="0" rtl="0" algn="l">
                        <a:spcBef>
                          <a:spcPts val="0"/>
                        </a:spcBef>
                        <a:spcAft>
                          <a:spcPts val="0"/>
                        </a:spcAft>
                        <a:buClr>
                          <a:schemeClr val="dk1"/>
                        </a:buClr>
                        <a:buSzPts val="2400"/>
                        <a:buFont typeface="Arial"/>
                        <a:buChar char="•"/>
                      </a:pPr>
                      <a:r>
                        <a:rPr lang="en-IN" sz="2400" u="none" cap="none" strike="noStrike"/>
                        <a:t>Have just seen a 0=&gt;q</a:t>
                      </a:r>
                      <a:r>
                        <a:rPr baseline="-25000" lang="en-IN" sz="2400" u="none" cap="none" strike="noStrike"/>
                        <a:t>0</a:t>
                      </a:r>
                      <a:r>
                        <a:rPr lang="en-IN" sz="2400" u="none" cap="none" strike="noStrike"/>
                        <a:t> state</a:t>
                      </a:r>
                      <a:endParaRPr/>
                    </a:p>
                    <a:p>
                      <a:pPr indent="-342900" lvl="1" marL="800100" marR="0" rtl="0" algn="l">
                        <a:spcBef>
                          <a:spcPts val="0"/>
                        </a:spcBef>
                        <a:spcAft>
                          <a:spcPts val="0"/>
                        </a:spcAft>
                        <a:buClr>
                          <a:schemeClr val="dk1"/>
                        </a:buClr>
                        <a:buSzPts val="2400"/>
                        <a:buFont typeface="Arial"/>
                        <a:buChar char="•"/>
                      </a:pPr>
                      <a:r>
                        <a:rPr lang="en-IN" sz="2400" u="none" cap="none" strike="noStrike"/>
                        <a:t>Have just seen 00=&gt;q</a:t>
                      </a:r>
                      <a:r>
                        <a:rPr baseline="-25000" lang="en-IN" sz="2400" u="none" cap="none" strike="noStrike"/>
                        <a:t>00</a:t>
                      </a:r>
                      <a:r>
                        <a:rPr lang="en-IN" sz="2400" u="none" cap="none" strike="noStrike"/>
                        <a:t> state</a:t>
                      </a:r>
                      <a:endParaRPr/>
                    </a:p>
                    <a:p>
                      <a:pPr indent="-342900" lvl="1" marL="800100" marR="0" rtl="0" algn="l">
                        <a:spcBef>
                          <a:spcPts val="0"/>
                        </a:spcBef>
                        <a:spcAft>
                          <a:spcPts val="0"/>
                        </a:spcAft>
                        <a:buClr>
                          <a:schemeClr val="dk1"/>
                        </a:buClr>
                        <a:buSzPts val="2400"/>
                        <a:buFont typeface="Arial"/>
                        <a:buChar char="•"/>
                      </a:pPr>
                      <a:r>
                        <a:rPr lang="en-IN" sz="2400" u="none" cap="none" strike="noStrike"/>
                        <a:t>Have seen the entire pattern 001=&gt;q</a:t>
                      </a:r>
                      <a:r>
                        <a:rPr baseline="-25000" lang="en-IN" sz="2400" u="none" cap="none" strike="noStrike"/>
                        <a:t>001</a:t>
                      </a:r>
                      <a:r>
                        <a:rPr lang="en-IN" sz="2400" u="none" cap="none" strike="noStrike"/>
                        <a:t> state</a:t>
                      </a:r>
                      <a:endParaRPr sz="2400" u="none" cap="none" strike="noStrike"/>
                    </a:p>
                    <a:p>
                      <a:pPr indent="-190500" lvl="0" marL="342900" marR="0" rtl="0" algn="l">
                        <a:spcBef>
                          <a:spcPts val="0"/>
                        </a:spcBef>
                        <a:spcAft>
                          <a:spcPts val="0"/>
                        </a:spcAft>
                        <a:buClr>
                          <a:schemeClr val="dk1"/>
                        </a:buClr>
                        <a:buSzPts val="2400"/>
                        <a:buFont typeface="Arial"/>
                        <a:buNone/>
                      </a:pPr>
                      <a:r>
                        <a:t/>
                      </a:r>
                      <a:endParaRPr sz="2400"/>
                    </a:p>
                  </a:txBody>
                  <a:tcPr marT="45725" marB="45725" marR="91450" marL="91450"/>
                </a:tc>
              </a:tr>
            </a:tbl>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10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a:t>
            </a:r>
            <a:endParaRPr/>
          </a:p>
        </p:txBody>
      </p:sp>
      <p:sp>
        <p:nvSpPr>
          <p:cNvPr id="1087" name="Google Shape;1087;p10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1088" name="Google Shape;1088;p10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089" name="Google Shape;1089;p10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090" name="Google Shape;1090;p10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1091" name="Google Shape;1091;p104"/>
          <p:cNvPicPr preferRelativeResize="0"/>
          <p:nvPr/>
        </p:nvPicPr>
        <p:blipFill rotWithShape="1">
          <a:blip r:embed="rId3">
            <a:alphaModFix/>
          </a:blip>
          <a:srcRect b="0" l="0" r="0" t="5503"/>
          <a:stretch/>
        </p:blipFill>
        <p:spPr>
          <a:xfrm>
            <a:off x="2267744" y="2062716"/>
            <a:ext cx="5472608" cy="3741457"/>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105"/>
          <p:cNvSpPr txBox="1"/>
          <p:nvPr>
            <p:ph type="title"/>
          </p:nvPr>
        </p:nvSpPr>
        <p:spPr>
          <a:xfrm>
            <a:off x="457200" y="274638"/>
            <a:ext cx="8229600" cy="346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DESIGNING FINITE AUTOMATA</a:t>
            </a:r>
            <a:endParaRPr/>
          </a:p>
        </p:txBody>
      </p:sp>
      <p:sp>
        <p:nvSpPr>
          <p:cNvPr id="1097" name="Google Shape;1097;p10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1098" name="Google Shape;1098;p10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099" name="Google Shape;1099;p10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100" name="Google Shape;1100;p10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101" name="Google Shape;1101;p105"/>
          <p:cNvGraphicFramePr/>
          <p:nvPr/>
        </p:nvGraphicFramePr>
        <p:xfrm>
          <a:off x="323528" y="764705"/>
          <a:ext cx="3000000" cy="3000000"/>
        </p:xfrm>
        <a:graphic>
          <a:graphicData uri="http://schemas.openxmlformats.org/drawingml/2006/table">
            <a:tbl>
              <a:tblPr bandRow="1" firstRow="1">
                <a:noFill/>
                <a:tableStyleId>{1DD1F0B8-C0F4-4710-A24E-F3ACE173D476}</a:tableStyleId>
              </a:tblPr>
              <a:tblGrid>
                <a:gridCol w="8640950"/>
              </a:tblGrid>
              <a:tr h="377025">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2-Assign transitions</a:t>
                      </a:r>
                      <a:endParaRPr/>
                    </a:p>
                  </a:txBody>
                  <a:tcPr marT="45725" marB="45725" marR="91450" marL="91450"/>
                </a:tc>
              </a:tr>
              <a:tr h="1482950">
                <a:tc>
                  <a:txBody>
                    <a:bodyPr/>
                    <a:lstStyle/>
                    <a:p>
                      <a:pPr indent="-342900" lvl="0" marL="342900" marR="0" rtl="0" algn="l">
                        <a:lnSpc>
                          <a:spcPct val="100000"/>
                        </a:lnSpc>
                        <a:spcBef>
                          <a:spcPts val="0"/>
                        </a:spcBef>
                        <a:spcAft>
                          <a:spcPts val="0"/>
                        </a:spcAft>
                        <a:buClr>
                          <a:schemeClr val="dk1"/>
                        </a:buClr>
                        <a:buSzPts val="2400"/>
                        <a:buFont typeface="Arial"/>
                        <a:buChar char="•"/>
                      </a:pPr>
                      <a:r>
                        <a:rPr lang="en-IN" sz="2400"/>
                        <a:t>FA moves from start state q to q</a:t>
                      </a:r>
                      <a:r>
                        <a:rPr baseline="-25000" lang="en-IN" sz="2400"/>
                        <a:t>0</a:t>
                      </a:r>
                      <a:r>
                        <a:rPr lang="en-IN" sz="2400"/>
                        <a:t>, only if “0” is read, Otherwise remains in the same state</a:t>
                      </a:r>
                      <a:endParaRPr baseline="-25000" sz="2400"/>
                    </a:p>
                    <a:p>
                      <a:pPr indent="-342900" lvl="0" marL="342900" marR="0" rtl="0" algn="l">
                        <a:lnSpc>
                          <a:spcPct val="100000"/>
                        </a:lnSpc>
                        <a:spcBef>
                          <a:spcPts val="0"/>
                        </a:spcBef>
                        <a:spcAft>
                          <a:spcPts val="0"/>
                        </a:spcAft>
                        <a:buClr>
                          <a:schemeClr val="dk1"/>
                        </a:buClr>
                        <a:buSzPts val="2400"/>
                        <a:buFont typeface="Arial"/>
                        <a:buChar char="•"/>
                      </a:pPr>
                      <a:r>
                        <a:rPr lang="en-IN" sz="2400"/>
                        <a:t>q reading a 0, you move to </a:t>
                      </a:r>
                      <a:r>
                        <a:rPr lang="en-IN" sz="2400"/>
                        <a:t>q</a:t>
                      </a:r>
                      <a:r>
                        <a:rPr baseline="-25000" lang="en-IN" sz="2400"/>
                        <a:t>0</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q reading a 1, you stay in q</a:t>
                      </a:r>
                      <a:endParaRPr/>
                    </a:p>
                    <a:p>
                      <a:pPr indent="-190500" lvl="0" marL="342900" marR="0" rtl="0" algn="l">
                        <a:lnSpc>
                          <a:spcPct val="100000"/>
                        </a:lnSpc>
                        <a:spcBef>
                          <a:spcPts val="0"/>
                        </a:spcBef>
                        <a:spcAft>
                          <a:spcPts val="0"/>
                        </a:spcAft>
                        <a:buClr>
                          <a:schemeClr val="dk1"/>
                        </a:buClr>
                        <a:buSzPts val="2400"/>
                        <a:buFont typeface="Arial"/>
                        <a:buNone/>
                      </a:pPr>
                      <a:r>
                        <a:t/>
                      </a:r>
                      <a:endParaRPr baseline="-25000" sz="2400"/>
                    </a:p>
                  </a:txBody>
                  <a:tcPr marT="45725" marB="45725" marR="91450" marL="91450"/>
                </a:tc>
              </a:tr>
              <a:tr h="678650">
                <a:tc>
                  <a:txBody>
                    <a:bodyPr/>
                    <a:lstStyle/>
                    <a:p>
                      <a:pPr indent="-342900" lvl="0" marL="342900" marR="0" rtl="0" algn="l">
                        <a:lnSpc>
                          <a:spcPct val="100000"/>
                        </a:lnSpc>
                        <a:spcBef>
                          <a:spcPts val="0"/>
                        </a:spcBef>
                        <a:spcAft>
                          <a:spcPts val="0"/>
                        </a:spcAft>
                        <a:buClr>
                          <a:schemeClr val="dk1"/>
                        </a:buClr>
                        <a:buSzPts val="2400"/>
                        <a:buFont typeface="Arial"/>
                        <a:buChar char="•"/>
                      </a:pPr>
                      <a:r>
                        <a:rPr lang="en-IN" sz="2400"/>
                        <a:t>q</a:t>
                      </a:r>
                      <a:r>
                        <a:rPr baseline="-25000" lang="en-IN" sz="2400"/>
                        <a:t>0 </a:t>
                      </a:r>
                      <a:r>
                        <a:rPr lang="en-IN" sz="2400"/>
                        <a:t>reading a 1, you return to q</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q</a:t>
                      </a:r>
                      <a:r>
                        <a:rPr baseline="-25000" lang="en-IN" sz="2400"/>
                        <a:t>0</a:t>
                      </a:r>
                      <a:r>
                        <a:rPr lang="en-IN" sz="2400"/>
                        <a:t> reading a 0, you move to </a:t>
                      </a:r>
                      <a:r>
                        <a:rPr lang="en-IN" sz="2400"/>
                        <a:t>q</a:t>
                      </a:r>
                      <a:r>
                        <a:rPr baseline="-25000" lang="en-IN" sz="2400"/>
                        <a:t>00</a:t>
                      </a:r>
                      <a:endParaRPr/>
                    </a:p>
                  </a:txBody>
                  <a:tcPr marT="45725" marB="45725" marR="91450" marL="91450"/>
                </a:tc>
              </a:tr>
              <a:tr h="879725">
                <a:tc>
                  <a:txBody>
                    <a:bodyPr/>
                    <a:lstStyle/>
                    <a:p>
                      <a:pPr indent="-342900" lvl="0" marL="342900" marR="0" rtl="0" algn="l">
                        <a:lnSpc>
                          <a:spcPct val="100000"/>
                        </a:lnSpc>
                        <a:spcBef>
                          <a:spcPts val="0"/>
                        </a:spcBef>
                        <a:spcAft>
                          <a:spcPts val="0"/>
                        </a:spcAft>
                        <a:buClr>
                          <a:schemeClr val="dk1"/>
                        </a:buClr>
                        <a:buSzPts val="2400"/>
                        <a:buFont typeface="Arial"/>
                        <a:buChar char="•"/>
                      </a:pPr>
                      <a:r>
                        <a:rPr lang="en-IN" sz="2400"/>
                        <a:t>q</a:t>
                      </a:r>
                      <a:r>
                        <a:rPr baseline="-25000" lang="en-IN" sz="2400"/>
                        <a:t>00</a:t>
                      </a:r>
                      <a:r>
                        <a:rPr lang="en-IN" sz="2400"/>
                        <a:t> reading a 1, you move to final state</a:t>
                      </a:r>
                      <a:r>
                        <a:rPr lang="en-IN" sz="2400"/>
                        <a:t> q</a:t>
                      </a:r>
                      <a:r>
                        <a:rPr baseline="-25000" lang="en-IN" sz="2400"/>
                        <a:t>001</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q</a:t>
                      </a:r>
                      <a:r>
                        <a:rPr baseline="-25000" lang="en-IN" sz="2400"/>
                        <a:t>00</a:t>
                      </a:r>
                      <a:r>
                        <a:rPr lang="en-IN" sz="2400"/>
                        <a:t> reading a 0, stays in </a:t>
                      </a:r>
                      <a:r>
                        <a:rPr lang="en-IN" sz="2400"/>
                        <a:t>q</a:t>
                      </a:r>
                      <a:r>
                        <a:rPr baseline="-25000" lang="en-IN" sz="2400"/>
                        <a:t>00</a:t>
                      </a:r>
                      <a:endParaRPr/>
                    </a:p>
                    <a:p>
                      <a:pPr indent="0" lvl="0" marL="0" marR="0" rtl="0" algn="l">
                        <a:lnSpc>
                          <a:spcPct val="100000"/>
                        </a:lnSpc>
                        <a:spcBef>
                          <a:spcPts val="0"/>
                        </a:spcBef>
                        <a:spcAft>
                          <a:spcPts val="0"/>
                        </a:spcAft>
                        <a:buClr>
                          <a:schemeClr val="dk1"/>
                        </a:buClr>
                        <a:buSzPts val="2400"/>
                        <a:buFont typeface="Arial"/>
                        <a:buNone/>
                      </a:pPr>
                      <a:r>
                        <a:t/>
                      </a:r>
                      <a:endParaRPr baseline="-25000" sz="2400"/>
                    </a:p>
                  </a:txBody>
                  <a:tcPr marT="45725" marB="45725" marR="91450" marL="91450"/>
                </a:tc>
              </a:tr>
              <a:tr h="1334200">
                <a:tc>
                  <a:txBody>
                    <a:bodyPr/>
                    <a:lstStyle/>
                    <a:p>
                      <a:pPr indent="-342900" lvl="0" marL="342900" marR="0" rtl="0" algn="l">
                        <a:lnSpc>
                          <a:spcPct val="100000"/>
                        </a:lnSpc>
                        <a:spcBef>
                          <a:spcPts val="0"/>
                        </a:spcBef>
                        <a:spcAft>
                          <a:spcPts val="0"/>
                        </a:spcAft>
                        <a:buClr>
                          <a:schemeClr val="dk1"/>
                        </a:buClr>
                        <a:buSzPts val="2400"/>
                        <a:buFont typeface="Arial"/>
                        <a:buChar char="•"/>
                      </a:pPr>
                      <a:r>
                        <a:rPr lang="en-IN" sz="2400"/>
                        <a:t>q</a:t>
                      </a:r>
                      <a:r>
                        <a:rPr baseline="-25000" lang="en-IN" sz="2400"/>
                        <a:t>001</a:t>
                      </a:r>
                      <a:r>
                        <a:rPr lang="en-IN" sz="2400"/>
                        <a:t> reading a 0 or 1, stays in </a:t>
                      </a:r>
                      <a:r>
                        <a:rPr lang="en-IN" sz="2400"/>
                        <a:t>q</a:t>
                      </a:r>
                      <a:r>
                        <a:rPr baseline="-25000" lang="en-IN" sz="2400"/>
                        <a:t>001</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If FA reads any symbol after reaching final state q</a:t>
                      </a:r>
                      <a:r>
                        <a:rPr baseline="-25000" lang="en-IN" sz="2400"/>
                        <a:t>001</a:t>
                      </a:r>
                      <a:r>
                        <a:rPr lang="en-IN" sz="2400"/>
                        <a:t>, it does not make a transition to any other state as it has already recognized the string “001” by then</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txBody>
                  <a:tcPr marT="45725" marB="45725" marR="91450" marL="91450"/>
                </a:tc>
              </a:tr>
            </a:tbl>
          </a:graphicData>
        </a:graphic>
      </p:graphicFrame>
      <p:sp>
        <p:nvSpPr>
          <p:cNvPr descr="How to Draw Stairs - Easy Drawing Art" id="1102" name="Google Shape;1102;p10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103" name="Google Shape;1103;p105"/>
          <p:cNvPicPr preferRelativeResize="0"/>
          <p:nvPr/>
        </p:nvPicPr>
        <p:blipFill rotWithShape="1">
          <a:blip r:embed="rId3">
            <a:alphaModFix/>
          </a:blip>
          <a:srcRect b="0" l="0" r="0" t="0"/>
          <a:stretch/>
        </p:blipFill>
        <p:spPr>
          <a:xfrm>
            <a:off x="5896042" y="1700808"/>
            <a:ext cx="3068446" cy="2219974"/>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106"/>
          <p:cNvSpPr txBox="1"/>
          <p:nvPr>
            <p:ph type="title"/>
          </p:nvPr>
        </p:nvSpPr>
        <p:spPr>
          <a:xfrm>
            <a:off x="457200" y="274638"/>
            <a:ext cx="8229600" cy="346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DESIGNING FINITE AUTOMATA</a:t>
            </a:r>
            <a:endParaRPr/>
          </a:p>
        </p:txBody>
      </p:sp>
      <p:sp>
        <p:nvSpPr>
          <p:cNvPr id="1109" name="Google Shape;1109;p10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1110" name="Google Shape;1110;p10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111" name="Google Shape;1111;p10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112" name="Google Shape;1112;p10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113" name="Google Shape;1113;p106"/>
          <p:cNvGraphicFramePr/>
          <p:nvPr/>
        </p:nvGraphicFramePr>
        <p:xfrm>
          <a:off x="611560" y="836712"/>
          <a:ext cx="3000000" cy="3000000"/>
        </p:xfrm>
        <a:graphic>
          <a:graphicData uri="http://schemas.openxmlformats.org/drawingml/2006/table">
            <a:tbl>
              <a:tblPr bandRow="1" firstRow="1">
                <a:noFill/>
                <a:tableStyleId>{1DD1F0B8-C0F4-4710-A24E-F3ACE173D476}</a:tableStyleId>
              </a:tblPr>
              <a:tblGrid>
                <a:gridCol w="7632850"/>
              </a:tblGrid>
              <a:tr h="503875">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2</a:t>
                      </a:r>
                      <a:endParaRPr/>
                    </a:p>
                  </a:txBody>
                  <a:tcPr marT="45725" marB="45725" marR="91450" marL="91450"/>
                </a:tc>
              </a:tr>
              <a:tr h="4937950">
                <a:tc>
                  <a:txBody>
                    <a:bodyPr/>
                    <a:lstStyle/>
                    <a:p>
                      <a:pPr indent="-342900" lvl="0" marL="342900" marR="0" rtl="0" algn="l">
                        <a:spcBef>
                          <a:spcPts val="0"/>
                        </a:spcBef>
                        <a:spcAft>
                          <a:spcPts val="0"/>
                        </a:spcAft>
                        <a:buClr>
                          <a:schemeClr val="dk1"/>
                        </a:buClr>
                        <a:buSzPts val="2400"/>
                        <a:buFont typeface="Arial"/>
                        <a:buChar char="•"/>
                      </a:pPr>
                      <a:r>
                        <a:rPr lang="en-IN" sz="2400"/>
                        <a:t>Assign transitions</a:t>
                      </a:r>
                      <a:endParaRPr/>
                    </a:p>
                    <a:p>
                      <a:pPr indent="-342900" lvl="0" marL="342900" marR="0" rtl="0" algn="l">
                        <a:spcBef>
                          <a:spcPts val="0"/>
                        </a:spcBef>
                        <a:spcAft>
                          <a:spcPts val="0"/>
                        </a:spcAft>
                        <a:buClr>
                          <a:schemeClr val="dk1"/>
                        </a:buClr>
                        <a:buSzPts val="2400"/>
                        <a:buFont typeface="Arial"/>
                        <a:buChar char="•"/>
                      </a:pPr>
                      <a:r>
                        <a:rPr lang="en-IN" sz="2400"/>
                        <a:t>q reading a 1, you stay in q</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q reading a 0, you move to </a:t>
                      </a:r>
                      <a:r>
                        <a:rPr lang="en-IN" sz="2400"/>
                        <a:t>q</a:t>
                      </a:r>
                      <a:r>
                        <a:rPr baseline="-25000" lang="en-IN" sz="2400"/>
                        <a:t>0</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q</a:t>
                      </a:r>
                      <a:r>
                        <a:rPr baseline="-25000" lang="en-IN" sz="2400"/>
                        <a:t>0 </a:t>
                      </a:r>
                      <a:r>
                        <a:rPr lang="en-IN" sz="2400"/>
                        <a:t>reading a 1 you return to q</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q</a:t>
                      </a:r>
                      <a:r>
                        <a:rPr baseline="-25000" lang="en-IN" sz="2400"/>
                        <a:t>0</a:t>
                      </a:r>
                      <a:r>
                        <a:rPr lang="en-IN" sz="2400"/>
                        <a:t> reading a 0, you move to </a:t>
                      </a:r>
                      <a:r>
                        <a:rPr lang="en-IN" sz="2400"/>
                        <a:t>q</a:t>
                      </a:r>
                      <a:r>
                        <a:rPr baseline="-25000" lang="en-IN" sz="2400"/>
                        <a:t>00</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q</a:t>
                      </a:r>
                      <a:r>
                        <a:rPr baseline="-25000" lang="en-IN" sz="2400"/>
                        <a:t>00</a:t>
                      </a:r>
                      <a:r>
                        <a:rPr lang="en-IN" sz="2400"/>
                        <a:t> reading a 1, you move to </a:t>
                      </a:r>
                      <a:r>
                        <a:rPr lang="en-IN" sz="2400"/>
                        <a:t>q</a:t>
                      </a:r>
                      <a:r>
                        <a:rPr baseline="-25000" lang="en-IN" sz="2400"/>
                        <a:t>001</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q</a:t>
                      </a:r>
                      <a:r>
                        <a:rPr baseline="-25000" lang="en-IN" sz="2400"/>
                        <a:t>00</a:t>
                      </a:r>
                      <a:r>
                        <a:rPr lang="en-IN" sz="2400"/>
                        <a:t> reading a 0, stays in </a:t>
                      </a:r>
                      <a:r>
                        <a:rPr lang="en-IN" sz="2400"/>
                        <a:t>q</a:t>
                      </a:r>
                      <a:r>
                        <a:rPr baseline="-25000" lang="en-IN" sz="2400"/>
                        <a:t>00</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q</a:t>
                      </a:r>
                      <a:r>
                        <a:rPr baseline="-25000" lang="en-IN" sz="2400"/>
                        <a:t>001</a:t>
                      </a:r>
                      <a:r>
                        <a:rPr lang="en-IN" sz="2400"/>
                        <a:t> reading a 0 or 1, stays in </a:t>
                      </a:r>
                      <a:r>
                        <a:rPr lang="en-IN" sz="2400"/>
                        <a:t>q</a:t>
                      </a:r>
                      <a:r>
                        <a:rPr baseline="-25000" lang="en-IN" sz="2400"/>
                        <a:t>001</a:t>
                      </a:r>
                      <a:endParaRPr/>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txBody>
                  <a:tcPr marT="45725" marB="45725" marR="91450" marL="91450"/>
                </a:tc>
              </a:tr>
            </a:tbl>
          </a:graphicData>
        </a:graphic>
      </p:graphicFrame>
      <p:pic>
        <p:nvPicPr>
          <p:cNvPr id="1114" name="Google Shape;1114;p106"/>
          <p:cNvPicPr preferRelativeResize="0"/>
          <p:nvPr/>
        </p:nvPicPr>
        <p:blipFill rotWithShape="1">
          <a:blip r:embed="rId3">
            <a:alphaModFix/>
          </a:blip>
          <a:srcRect b="0" l="0" r="0" t="0"/>
          <a:stretch/>
        </p:blipFill>
        <p:spPr>
          <a:xfrm>
            <a:off x="2123728" y="4797152"/>
            <a:ext cx="5462439" cy="1481795"/>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p10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120" name="Google Shape;1120;p10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121" name="Google Shape;1121;p10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122" name="Google Shape;1122;p10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123" name="Google Shape;1123;p107"/>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2</a:t>
                      </a:r>
                      <a:endParaRPr/>
                    </a:p>
                  </a:txBody>
                  <a:tcPr marT="45725" marB="45725" marR="91450" marL="91450"/>
                </a:tc>
              </a:tr>
              <a:tr h="3086975">
                <a:tc>
                  <a:txBody>
                    <a:bodyPr/>
                    <a:lstStyle/>
                    <a:p>
                      <a:pPr indent="-342900" lvl="0" marL="342900" marR="0" rtl="0" algn="l">
                        <a:lnSpc>
                          <a:spcPct val="100000"/>
                        </a:lnSpc>
                        <a:spcBef>
                          <a:spcPts val="0"/>
                        </a:spcBef>
                        <a:spcAft>
                          <a:spcPts val="0"/>
                        </a:spcAft>
                        <a:buClr>
                          <a:schemeClr val="dk1"/>
                        </a:buClr>
                        <a:buSzPts val="2400"/>
                        <a:buFont typeface="Arial"/>
                        <a:buChar char="•"/>
                      </a:pPr>
                      <a:r>
                        <a:rPr lang="en-IN" sz="2400"/>
                        <a:t>Start state =q</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The only accept state =q</a:t>
                      </a:r>
                      <a:r>
                        <a:rPr baseline="-25000" lang="en-IN" sz="2400"/>
                        <a:t>001</a:t>
                      </a:r>
                      <a:endParaRPr/>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0" lvl="0" marL="0" marR="0" rtl="0" algn="l">
                        <a:lnSpc>
                          <a:spcPct val="100000"/>
                        </a:lnSpc>
                        <a:spcBef>
                          <a:spcPts val="0"/>
                        </a:spcBef>
                        <a:spcAft>
                          <a:spcPts val="0"/>
                        </a:spcAft>
                        <a:buClr>
                          <a:schemeClr val="dk1"/>
                        </a:buClr>
                        <a:buSzPts val="2400"/>
                        <a:buFont typeface="Arial"/>
                        <a:buNone/>
                      </a:pPr>
                      <a:r>
                        <a:t/>
                      </a:r>
                      <a:endParaRPr sz="2400"/>
                    </a:p>
                  </a:txBody>
                  <a:tcPr marT="45725" marB="45725" marR="91450" marL="91450"/>
                </a:tc>
              </a:tr>
            </a:tbl>
          </a:graphicData>
        </a:graphic>
      </p:graphicFrame>
      <p:pic>
        <p:nvPicPr>
          <p:cNvPr id="1124" name="Google Shape;1124;p107"/>
          <p:cNvPicPr preferRelativeResize="0"/>
          <p:nvPr/>
        </p:nvPicPr>
        <p:blipFill rotWithShape="1">
          <a:blip r:embed="rId3">
            <a:alphaModFix/>
          </a:blip>
          <a:srcRect b="0" l="0" r="0" t="0"/>
          <a:stretch/>
        </p:blipFill>
        <p:spPr>
          <a:xfrm>
            <a:off x="861297" y="3501008"/>
            <a:ext cx="7167087" cy="1944216"/>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10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130" name="Google Shape;1130;p10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131" name="Google Shape;1131;p10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132" name="Google Shape;1132;p10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133" name="Google Shape;1133;p108"/>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Exercise</a:t>
                      </a:r>
                      <a:endParaRPr/>
                    </a:p>
                  </a:txBody>
                  <a:tcPr marT="45725" marB="45725" marR="91450" marL="91450"/>
                </a:tc>
              </a:tr>
              <a:tr h="3086975">
                <a:tc>
                  <a:txBody>
                    <a:bodyPr/>
                    <a:lstStyle/>
                    <a:p>
                      <a:pPr indent="-342900" lvl="0" marL="342900" marR="0" rtl="0" algn="l">
                        <a:lnSpc>
                          <a:spcPct val="100000"/>
                        </a:lnSpc>
                        <a:spcBef>
                          <a:spcPts val="0"/>
                        </a:spcBef>
                        <a:spcAft>
                          <a:spcPts val="0"/>
                        </a:spcAft>
                        <a:buClr>
                          <a:schemeClr val="dk1"/>
                        </a:buClr>
                        <a:buSzPts val="2400"/>
                        <a:buFont typeface="Arial"/>
                        <a:buChar char="•"/>
                      </a:pPr>
                      <a:r>
                        <a:rPr lang="en-IN" sz="2400"/>
                        <a:t>Design a DFA with inputs as characters of “CHARIOT” which recognizes the string “CAT” as substring.</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0" lvl="0" marL="0" marR="0" rtl="0" algn="l">
                        <a:lnSpc>
                          <a:spcPct val="100000"/>
                        </a:lnSpc>
                        <a:spcBef>
                          <a:spcPts val="0"/>
                        </a:spcBef>
                        <a:spcAft>
                          <a:spcPts val="0"/>
                        </a:spcAft>
                        <a:buClr>
                          <a:schemeClr val="dk1"/>
                        </a:buClr>
                        <a:buSzPts val="2400"/>
                        <a:buFont typeface="Arial"/>
                        <a:buNone/>
                      </a:pPr>
                      <a:r>
                        <a:t/>
                      </a:r>
                      <a:endParaRPr sz="2400"/>
                    </a:p>
                  </a:txBody>
                  <a:tcPr marT="45725" marB="45725" marR="91450" marL="91450"/>
                </a:tc>
              </a:tr>
            </a:tbl>
          </a:graphicData>
        </a:graphic>
      </p:graphicFrame>
      <p:pic>
        <p:nvPicPr>
          <p:cNvPr id="1134" name="Google Shape;1134;p108"/>
          <p:cNvPicPr preferRelativeResize="0"/>
          <p:nvPr/>
        </p:nvPicPr>
        <p:blipFill rotWithShape="1">
          <a:blip r:embed="rId3">
            <a:alphaModFix/>
          </a:blip>
          <a:srcRect b="0" l="0" r="0" t="0"/>
          <a:stretch/>
        </p:blipFill>
        <p:spPr>
          <a:xfrm>
            <a:off x="5508104" y="2809366"/>
            <a:ext cx="3068446" cy="2219974"/>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10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140" name="Google Shape;1140;p10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141" name="Google Shape;1141;p10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142" name="Google Shape;1142;p10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143" name="Google Shape;1143;p109"/>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502025">
                <a:tc>
                  <a:txBody>
                    <a:bodyPr/>
                    <a:lstStyle/>
                    <a:p>
                      <a:pPr indent="0" lvl="0" marL="0" marR="0" rtl="0" algn="l">
                        <a:lnSpc>
                          <a:spcPct val="100000"/>
                        </a:lnSpc>
                        <a:spcBef>
                          <a:spcPts val="0"/>
                        </a:spcBef>
                        <a:spcAft>
                          <a:spcPts val="0"/>
                        </a:spcAft>
                        <a:buClr>
                          <a:schemeClr val="dk1"/>
                        </a:buClr>
                        <a:buSzPts val="2400"/>
                        <a:buFont typeface="Calibri"/>
                        <a:buNone/>
                      </a:pPr>
                      <a:r>
                        <a:rPr lang="en-IN" sz="2400"/>
                        <a:t>Exercise</a:t>
                      </a:r>
                      <a:endParaRPr/>
                    </a:p>
                  </a:txBody>
                  <a:tcPr marT="45725" marB="45725" marR="91450" marL="91450"/>
                </a:tc>
              </a:tr>
              <a:tr h="4250500">
                <a:tc>
                  <a:txBody>
                    <a:bodyPr/>
                    <a:lstStyle/>
                    <a:p>
                      <a:pPr indent="-342900" lvl="0" marL="342900" marR="0" rtl="0" algn="l">
                        <a:lnSpc>
                          <a:spcPct val="100000"/>
                        </a:lnSpc>
                        <a:spcBef>
                          <a:spcPts val="0"/>
                        </a:spcBef>
                        <a:spcAft>
                          <a:spcPts val="0"/>
                        </a:spcAft>
                        <a:buClr>
                          <a:schemeClr val="dk1"/>
                        </a:buClr>
                        <a:buSzPts val="2400"/>
                        <a:buFont typeface="Arial"/>
                        <a:buChar char="•"/>
                      </a:pPr>
                      <a:r>
                        <a:rPr lang="en-IN" sz="2400"/>
                        <a:t>Design a DFA with inputs as characters of “CHARIOT” which recognizes the string “CAT” as substring.</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0" lvl="0" marL="0" marR="0" rtl="0" algn="l">
                        <a:lnSpc>
                          <a:spcPct val="100000"/>
                        </a:lnSpc>
                        <a:spcBef>
                          <a:spcPts val="0"/>
                        </a:spcBef>
                        <a:spcAft>
                          <a:spcPts val="0"/>
                        </a:spcAft>
                        <a:buClr>
                          <a:schemeClr val="dk1"/>
                        </a:buClr>
                        <a:buSzPts val="2400"/>
                        <a:buFont typeface="Arial"/>
                        <a:buNone/>
                      </a:pPr>
                      <a:r>
                        <a:t/>
                      </a:r>
                      <a:endParaRPr sz="2400"/>
                    </a:p>
                  </a:txBody>
                  <a:tcPr marT="45725" marB="45725" marR="91450" marL="91450"/>
                </a:tc>
              </a:tr>
            </a:tbl>
          </a:graphicData>
        </a:graphic>
      </p:graphicFrame>
      <p:pic>
        <p:nvPicPr>
          <p:cNvPr id="1144" name="Google Shape;1144;p109"/>
          <p:cNvPicPr preferRelativeResize="0"/>
          <p:nvPr/>
        </p:nvPicPr>
        <p:blipFill rotWithShape="1">
          <a:blip r:embed="rId3">
            <a:alphaModFix/>
          </a:blip>
          <a:srcRect b="29904" l="0" r="0" t="0"/>
          <a:stretch/>
        </p:blipFill>
        <p:spPr>
          <a:xfrm>
            <a:off x="1444625" y="2721322"/>
            <a:ext cx="6254750" cy="2723902"/>
          </a:xfrm>
          <a:prstGeom prst="rect">
            <a:avLst/>
          </a:prstGeom>
          <a:noFill/>
          <a:ln>
            <a:noFill/>
          </a:ln>
        </p:spPr>
      </p:pic>
      <p:pic>
        <p:nvPicPr>
          <p:cNvPr id="1145" name="Google Shape;1145;p109"/>
          <p:cNvPicPr preferRelativeResize="0"/>
          <p:nvPr/>
        </p:nvPicPr>
        <p:blipFill rotWithShape="1">
          <a:blip r:embed="rId4">
            <a:alphaModFix/>
          </a:blip>
          <a:srcRect b="0" l="0" r="0" t="0"/>
          <a:stretch/>
        </p:blipFill>
        <p:spPr>
          <a:xfrm>
            <a:off x="6372200" y="4780472"/>
            <a:ext cx="2411760" cy="1744872"/>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1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151" name="Google Shape;1151;p1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1152" name="Google Shape;1152;p1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153" name="Google Shape;1153;p1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154" name="Google Shape;1154;p1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155" name="Google Shape;1155;p110"/>
          <p:cNvGraphicFramePr/>
          <p:nvPr/>
        </p:nvGraphicFramePr>
        <p:xfrm>
          <a:off x="683568" y="1484784"/>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3</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Calibri"/>
                        <a:buNone/>
                      </a:pPr>
                      <a:r>
                        <a:rPr lang="en-IN" sz="2400"/>
                        <a:t>Let us formally specify a DFA that accepts all and</a:t>
                      </a:r>
                      <a:r>
                        <a:rPr lang="en-IN" sz="2400"/>
                        <a:t> </a:t>
                      </a:r>
                      <a:r>
                        <a:rPr lang="en-IN" sz="2400"/>
                        <a:t>only the strings of 0’s and 1’s that have the sequence</a:t>
                      </a:r>
                      <a:r>
                        <a:rPr lang="en-IN" sz="2400"/>
                        <a:t> </a:t>
                      </a:r>
                      <a:r>
                        <a:rPr lang="en-IN" sz="2400"/>
                        <a:t>01 somewhere in the string.</a:t>
                      </a:r>
                      <a:endParaRPr sz="2400"/>
                    </a:p>
                  </a:txBody>
                  <a:tcPr marT="45725" marB="45725" marR="91450" marL="91450"/>
                </a:tc>
              </a:tr>
            </a:tbl>
          </a:graphicData>
        </a:graphic>
      </p:graphicFrame>
      <p:pic>
        <p:nvPicPr>
          <p:cNvPr id="1156" name="Google Shape;1156;p110"/>
          <p:cNvPicPr preferRelativeResize="0"/>
          <p:nvPr/>
        </p:nvPicPr>
        <p:blipFill rotWithShape="1">
          <a:blip r:embed="rId3">
            <a:alphaModFix/>
          </a:blip>
          <a:srcRect b="0" l="0" r="0" t="0"/>
          <a:stretch/>
        </p:blipFill>
        <p:spPr>
          <a:xfrm>
            <a:off x="6372200" y="4653136"/>
            <a:ext cx="2411760" cy="1744872"/>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p1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162" name="Google Shape;1162;p1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1163" name="Google Shape;1163;p1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164" name="Google Shape;1164;p1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165" name="Google Shape;1165;p1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166" name="Google Shape;1166;p111"/>
          <p:cNvGraphicFramePr/>
          <p:nvPr/>
        </p:nvGraphicFramePr>
        <p:xfrm>
          <a:off x="683568" y="1484784"/>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3</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Pretending to be the Automaton E3 recognize the language</a:t>
                      </a:r>
                      <a:endParaRPr/>
                    </a:p>
                    <a:p>
                      <a:pPr indent="-342900" lvl="0" marL="342900" marR="0" rtl="0" algn="l">
                        <a:spcBef>
                          <a:spcPts val="0"/>
                        </a:spcBef>
                        <a:spcAft>
                          <a:spcPts val="0"/>
                        </a:spcAft>
                        <a:buClr>
                          <a:schemeClr val="dk1"/>
                        </a:buClr>
                        <a:buSzPts val="2400"/>
                        <a:buFont typeface="Arial"/>
                        <a:buChar char="•"/>
                      </a:pPr>
                      <a:r>
                        <a:rPr lang="en-IN" sz="2400"/>
                        <a:t>Start reading the input string of 0s and 1s symbol by symbol</a:t>
                      </a:r>
                      <a:endParaRPr/>
                    </a:p>
                    <a:p>
                      <a:pPr indent="-190500" lvl="0" marL="342900" marR="0" rtl="0" algn="l">
                        <a:spcBef>
                          <a:spcPts val="0"/>
                        </a:spcBef>
                        <a:spcAft>
                          <a:spcPts val="0"/>
                        </a:spcAft>
                        <a:buClr>
                          <a:schemeClr val="dk1"/>
                        </a:buClr>
                        <a:buSzPts val="2400"/>
                        <a:buFont typeface="Arial"/>
                        <a:buNone/>
                      </a:pPr>
                      <a:r>
                        <a:t/>
                      </a:r>
                      <a:endParaRPr sz="2400"/>
                    </a:p>
                  </a:txBody>
                  <a:tcPr marT="45725" marB="45725" marR="91450" marL="91450"/>
                </a:tc>
              </a:tr>
            </a:tbl>
          </a:graphicData>
        </a:graphic>
      </p:graphicFrame>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1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172" name="Google Shape;1172;p1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1173" name="Google Shape;1173;p1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174" name="Google Shape;1174;p1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175" name="Google Shape;1175;p1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176" name="Google Shape;1176;p112"/>
          <p:cNvGraphicFramePr/>
          <p:nvPr/>
        </p:nvGraphicFramePr>
        <p:xfrm>
          <a:off x="683568" y="1484784"/>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3</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As symbols come in, you would initially skip over all 1’s</a:t>
                      </a:r>
                      <a:endParaRPr/>
                    </a:p>
                    <a:p>
                      <a:pPr indent="-342900" lvl="0" marL="342900" marR="0" rtl="0" algn="l">
                        <a:spcBef>
                          <a:spcPts val="0"/>
                        </a:spcBef>
                        <a:spcAft>
                          <a:spcPts val="0"/>
                        </a:spcAft>
                        <a:buClr>
                          <a:schemeClr val="dk1"/>
                        </a:buClr>
                        <a:buSzPts val="2400"/>
                        <a:buFont typeface="Arial"/>
                        <a:buChar char="•"/>
                      </a:pPr>
                      <a:r>
                        <a:rPr lang="en-IN" sz="2400"/>
                        <a:t>So the 3 possibilities are-</a:t>
                      </a:r>
                      <a:endParaRPr/>
                    </a:p>
                    <a:p>
                      <a:pPr indent="-342900" lvl="1" marL="800100" marR="0" rtl="0" algn="l">
                        <a:spcBef>
                          <a:spcPts val="0"/>
                        </a:spcBef>
                        <a:spcAft>
                          <a:spcPts val="0"/>
                        </a:spcAft>
                        <a:buClr>
                          <a:schemeClr val="dk1"/>
                        </a:buClr>
                        <a:buSzPts val="2400"/>
                        <a:buFont typeface="Arial"/>
                        <a:buChar char="•"/>
                      </a:pPr>
                      <a:r>
                        <a:rPr lang="en-IN" sz="2400" u="none" cap="none" strike="noStrike"/>
                        <a:t>Haven’t seen any symbols of the pattern=&gt; q state</a:t>
                      </a:r>
                      <a:endParaRPr/>
                    </a:p>
                    <a:p>
                      <a:pPr indent="-342900" lvl="1" marL="800100" marR="0" rtl="0" algn="l">
                        <a:spcBef>
                          <a:spcPts val="0"/>
                        </a:spcBef>
                        <a:spcAft>
                          <a:spcPts val="0"/>
                        </a:spcAft>
                        <a:buClr>
                          <a:schemeClr val="dk1"/>
                        </a:buClr>
                        <a:buSzPts val="2400"/>
                        <a:buFont typeface="Arial"/>
                        <a:buChar char="•"/>
                      </a:pPr>
                      <a:r>
                        <a:rPr lang="en-IN" sz="2400" u="none" cap="none" strike="noStrike"/>
                        <a:t>Have just seen a 0=&gt;q</a:t>
                      </a:r>
                      <a:r>
                        <a:rPr baseline="-25000" lang="en-IN" sz="2400" u="none" cap="none" strike="noStrike"/>
                        <a:t>0</a:t>
                      </a:r>
                      <a:r>
                        <a:rPr lang="en-IN" sz="2400" u="none" cap="none" strike="noStrike"/>
                        <a:t> state</a:t>
                      </a:r>
                      <a:endParaRPr/>
                    </a:p>
                    <a:p>
                      <a:pPr indent="-342900" lvl="1" marL="800100" marR="0" rtl="0" algn="l">
                        <a:spcBef>
                          <a:spcPts val="0"/>
                        </a:spcBef>
                        <a:spcAft>
                          <a:spcPts val="0"/>
                        </a:spcAft>
                        <a:buClr>
                          <a:schemeClr val="dk1"/>
                        </a:buClr>
                        <a:buSzPts val="2400"/>
                        <a:buFont typeface="Arial"/>
                        <a:buChar char="•"/>
                      </a:pPr>
                      <a:r>
                        <a:rPr lang="en-IN" sz="2400" u="none" cap="none" strike="noStrike"/>
                        <a:t>Have seen the entire pattern 01=&gt;q</a:t>
                      </a:r>
                      <a:r>
                        <a:rPr baseline="-25000" lang="en-IN" sz="2400" u="none" cap="none" strike="noStrike"/>
                        <a:t>01</a:t>
                      </a:r>
                      <a:r>
                        <a:rPr lang="en-IN" sz="2400" u="none" cap="none" strike="noStrike"/>
                        <a:t> state</a:t>
                      </a:r>
                      <a:endParaRPr/>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p1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182" name="Google Shape;1182;p1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1183" name="Google Shape;1183;p1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184" name="Google Shape;1184;p1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185" name="Google Shape;1185;p1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186" name="Google Shape;1186;p113"/>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3</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Assign transitions</a:t>
                      </a:r>
                      <a:endParaRPr/>
                    </a:p>
                    <a:p>
                      <a:pPr indent="-342900" lvl="0" marL="342900" marR="0" rtl="0" algn="l">
                        <a:spcBef>
                          <a:spcPts val="0"/>
                        </a:spcBef>
                        <a:spcAft>
                          <a:spcPts val="0"/>
                        </a:spcAft>
                        <a:buClr>
                          <a:schemeClr val="dk1"/>
                        </a:buClr>
                        <a:buSzPts val="2400"/>
                        <a:buFont typeface="Arial"/>
                        <a:buChar char="•"/>
                      </a:pPr>
                      <a:r>
                        <a:rPr lang="en-IN" sz="2400"/>
                        <a:t>q reading a 1, you stay in q</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q reading a 0, you move to </a:t>
                      </a:r>
                      <a:r>
                        <a:rPr lang="en-IN" sz="2400"/>
                        <a:t>q</a:t>
                      </a:r>
                      <a:r>
                        <a:rPr baseline="-25000" lang="en-IN" sz="2400"/>
                        <a:t>0</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q</a:t>
                      </a:r>
                      <a:r>
                        <a:rPr baseline="-25000" lang="en-IN" sz="2400"/>
                        <a:t>0 </a:t>
                      </a:r>
                      <a:r>
                        <a:rPr lang="en-IN" sz="2400"/>
                        <a:t>reading a 0, stays in q</a:t>
                      </a:r>
                      <a:r>
                        <a:rPr baseline="-25000" lang="en-IN" sz="2400"/>
                        <a:t>0</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q</a:t>
                      </a:r>
                      <a:r>
                        <a:rPr baseline="-25000" lang="en-IN" sz="2400"/>
                        <a:t>0</a:t>
                      </a:r>
                      <a:r>
                        <a:rPr lang="en-IN" sz="2400"/>
                        <a:t> reading a 1, you move to </a:t>
                      </a:r>
                      <a:r>
                        <a:rPr lang="en-IN" sz="2400"/>
                        <a:t>q</a:t>
                      </a:r>
                      <a:r>
                        <a:rPr baseline="-25000" lang="en-IN" sz="2400"/>
                        <a:t>01</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q</a:t>
                      </a:r>
                      <a:r>
                        <a:rPr baseline="-25000" lang="en-IN" sz="2400"/>
                        <a:t>01</a:t>
                      </a:r>
                      <a:r>
                        <a:rPr lang="en-IN" sz="2400"/>
                        <a:t> reading a 0 or 1, stays in </a:t>
                      </a:r>
                      <a:r>
                        <a:rPr lang="en-IN" sz="2400"/>
                        <a:t>q</a:t>
                      </a:r>
                      <a:r>
                        <a:rPr baseline="-25000" lang="en-IN" sz="2400"/>
                        <a:t>01</a:t>
                      </a:r>
                      <a:endParaRPr/>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txBody>
                  <a:tcPr marT="45725" marB="45725" marR="91450" marL="91450"/>
                </a:tc>
              </a:tr>
            </a:tbl>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1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192" name="Google Shape;1192;p1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1193" name="Google Shape;1193;p1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194" name="Google Shape;1194;p1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195" name="Google Shape;1195;p1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196" name="Google Shape;1196;p114"/>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3</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Assign transitions</a:t>
                      </a:r>
                      <a:endParaRPr/>
                    </a:p>
                    <a:p>
                      <a:pPr indent="-342900" lvl="0" marL="342900" marR="0" rtl="0" algn="l">
                        <a:spcBef>
                          <a:spcPts val="0"/>
                        </a:spcBef>
                        <a:spcAft>
                          <a:spcPts val="0"/>
                        </a:spcAft>
                        <a:buClr>
                          <a:schemeClr val="dk1"/>
                        </a:buClr>
                        <a:buSzPts val="2400"/>
                        <a:buFont typeface="Arial"/>
                        <a:buChar char="•"/>
                      </a:pPr>
                      <a:r>
                        <a:rPr lang="en-IN" sz="2400"/>
                        <a:t>q reading a 1, you stay in q</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q reading a 0, you move to </a:t>
                      </a:r>
                      <a:r>
                        <a:rPr lang="en-IN" sz="2400"/>
                        <a:t>q</a:t>
                      </a:r>
                      <a:r>
                        <a:rPr baseline="-25000" lang="en-IN" sz="2400"/>
                        <a:t>0</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q</a:t>
                      </a:r>
                      <a:r>
                        <a:rPr baseline="-25000" lang="en-IN" sz="2400"/>
                        <a:t>0 </a:t>
                      </a:r>
                      <a:r>
                        <a:rPr lang="en-IN" sz="2400"/>
                        <a:t>reading a 0, stays in q</a:t>
                      </a:r>
                      <a:r>
                        <a:rPr baseline="-25000" lang="en-IN" sz="2400"/>
                        <a:t>0</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q</a:t>
                      </a:r>
                      <a:r>
                        <a:rPr baseline="-25000" lang="en-IN" sz="2400"/>
                        <a:t>0</a:t>
                      </a:r>
                      <a:r>
                        <a:rPr lang="en-IN" sz="2400"/>
                        <a:t> reading a 1, you move to </a:t>
                      </a:r>
                      <a:r>
                        <a:rPr lang="en-IN" sz="2400"/>
                        <a:t>q</a:t>
                      </a:r>
                      <a:r>
                        <a:rPr baseline="-25000" lang="en-IN" sz="2400"/>
                        <a:t>01</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q</a:t>
                      </a:r>
                      <a:r>
                        <a:rPr baseline="-25000" lang="en-IN" sz="2400"/>
                        <a:t>01</a:t>
                      </a:r>
                      <a:r>
                        <a:rPr lang="en-IN" sz="2400"/>
                        <a:t> reading a 0 or 1, stays in </a:t>
                      </a:r>
                      <a:r>
                        <a:rPr lang="en-IN" sz="2400"/>
                        <a:t>q</a:t>
                      </a:r>
                      <a:r>
                        <a:rPr baseline="-25000" lang="en-IN" sz="2400"/>
                        <a:t>01</a:t>
                      </a:r>
                      <a:endParaRPr/>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txBody>
                  <a:tcPr marT="45725" marB="45725" marR="91450" marL="91450"/>
                </a:tc>
              </a:tr>
            </a:tbl>
          </a:graphicData>
        </a:graphic>
      </p:graphicFrame>
      <p:pic>
        <p:nvPicPr>
          <p:cNvPr id="1197" name="Google Shape;1197;p114"/>
          <p:cNvPicPr preferRelativeResize="0"/>
          <p:nvPr/>
        </p:nvPicPr>
        <p:blipFill rotWithShape="1">
          <a:blip r:embed="rId3">
            <a:alphaModFix/>
          </a:blip>
          <a:srcRect b="0" l="0" r="0" t="0"/>
          <a:stretch/>
        </p:blipFill>
        <p:spPr>
          <a:xfrm>
            <a:off x="899592" y="4221088"/>
            <a:ext cx="7200800" cy="1981572"/>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1" name="Shape 1201"/>
        <p:cNvGrpSpPr/>
        <p:nvPr/>
      </p:nvGrpSpPr>
      <p:grpSpPr>
        <a:xfrm>
          <a:off x="0" y="0"/>
          <a:ext cx="0" cy="0"/>
          <a:chOff x="0" y="0"/>
          <a:chExt cx="0" cy="0"/>
        </a:xfrm>
      </p:grpSpPr>
      <p:sp>
        <p:nvSpPr>
          <p:cNvPr id="1202" name="Google Shape;1202;p1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203" name="Google Shape;1203;p1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204" name="Google Shape;1204;p1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205" name="Google Shape;1205;p1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206" name="Google Shape;1206;p115"/>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3</a:t>
                      </a:r>
                      <a:endParaRPr/>
                    </a:p>
                  </a:txBody>
                  <a:tcPr marT="45725" marB="45725" marR="91450" marL="91450"/>
                </a:tc>
              </a:tr>
              <a:tr h="3086975">
                <a:tc>
                  <a:txBody>
                    <a:bodyPr/>
                    <a:lstStyle/>
                    <a:p>
                      <a:pPr indent="-342900" lvl="0" marL="342900" marR="0" rtl="0" algn="l">
                        <a:lnSpc>
                          <a:spcPct val="100000"/>
                        </a:lnSpc>
                        <a:spcBef>
                          <a:spcPts val="0"/>
                        </a:spcBef>
                        <a:spcAft>
                          <a:spcPts val="0"/>
                        </a:spcAft>
                        <a:buClr>
                          <a:schemeClr val="dk1"/>
                        </a:buClr>
                        <a:buSzPts val="2400"/>
                        <a:buFont typeface="Arial"/>
                        <a:buChar char="•"/>
                      </a:pPr>
                      <a:r>
                        <a:rPr lang="en-IN" sz="2400"/>
                        <a:t>Start state =q</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The only accept state =q</a:t>
                      </a:r>
                      <a:r>
                        <a:rPr baseline="-25000" lang="en-IN" sz="2400"/>
                        <a:t>01</a:t>
                      </a:r>
                      <a:endParaRPr/>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0" lvl="0" marL="0" marR="0" rtl="0" algn="l">
                        <a:lnSpc>
                          <a:spcPct val="100000"/>
                        </a:lnSpc>
                        <a:spcBef>
                          <a:spcPts val="0"/>
                        </a:spcBef>
                        <a:spcAft>
                          <a:spcPts val="0"/>
                        </a:spcAft>
                        <a:buClr>
                          <a:schemeClr val="dk1"/>
                        </a:buClr>
                        <a:buSzPts val="2400"/>
                        <a:buFont typeface="Arial"/>
                        <a:buNone/>
                      </a:pPr>
                      <a:r>
                        <a:t/>
                      </a:r>
                      <a:endParaRPr sz="2400"/>
                    </a:p>
                  </a:txBody>
                  <a:tcPr marT="45725" marB="45725" marR="91450" marL="91450"/>
                </a:tc>
              </a:tr>
            </a:tbl>
          </a:graphicData>
        </a:graphic>
      </p:graphicFrame>
      <p:pic>
        <p:nvPicPr>
          <p:cNvPr id="1207" name="Google Shape;1207;p115"/>
          <p:cNvPicPr preferRelativeResize="0"/>
          <p:nvPr/>
        </p:nvPicPr>
        <p:blipFill rotWithShape="1">
          <a:blip r:embed="rId3">
            <a:alphaModFix/>
          </a:blip>
          <a:srcRect b="0" l="0" r="0" t="0"/>
          <a:stretch/>
        </p:blipFill>
        <p:spPr>
          <a:xfrm>
            <a:off x="827584" y="3501008"/>
            <a:ext cx="7200800" cy="1981572"/>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1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213" name="Google Shape;1213;p1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214" name="Google Shape;1214;p1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215" name="Google Shape;1215;p1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216" name="Google Shape;1216;p116"/>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3</a:t>
                      </a:r>
                      <a:endParaRPr/>
                    </a:p>
                  </a:txBody>
                  <a:tcPr marT="45725" marB="45725" marR="91450" marL="91450"/>
                </a:tc>
              </a:tr>
              <a:tr h="3086975">
                <a:tc>
                  <a:txBody>
                    <a:bodyPr/>
                    <a:lstStyle/>
                    <a:p>
                      <a:pPr indent="-285750" lvl="0" marL="285750" marR="0" rtl="0" algn="l">
                        <a:spcBef>
                          <a:spcPts val="0"/>
                        </a:spcBef>
                        <a:spcAft>
                          <a:spcPts val="0"/>
                        </a:spcAft>
                        <a:buClr>
                          <a:schemeClr val="dk1"/>
                        </a:buClr>
                        <a:buSzPts val="2400"/>
                        <a:buFont typeface="Arial"/>
                        <a:buChar char="•"/>
                      </a:pPr>
                      <a:r>
                        <a:rPr b="0" i="0" lang="en-IN" sz="2400" u="none" strike="noStrike">
                          <a:solidFill>
                            <a:schemeClr val="dk1"/>
                          </a:solidFill>
                          <a:latin typeface="Calibri"/>
                          <a:ea typeface="Calibri"/>
                          <a:cs typeface="Calibri"/>
                          <a:sym typeface="Calibri"/>
                        </a:rPr>
                        <a:t>We can write this language L as:</a:t>
                      </a:r>
                      <a:endParaRPr/>
                    </a:p>
                    <a:p>
                      <a:pPr indent="0" lvl="0" marL="0" marR="0" rtl="0" algn="l">
                        <a:spcBef>
                          <a:spcPts val="0"/>
                        </a:spcBef>
                        <a:spcAft>
                          <a:spcPts val="0"/>
                        </a:spcAft>
                        <a:buClr>
                          <a:schemeClr val="dk1"/>
                        </a:buClr>
                        <a:buSzPts val="2400"/>
                        <a:buFont typeface="Arial"/>
                        <a:buNone/>
                      </a:pPr>
                      <a:r>
                        <a:rPr b="0" i="0" lang="en-IN" sz="2400" u="none" strike="noStrike">
                          <a:solidFill>
                            <a:schemeClr val="dk1"/>
                          </a:solidFill>
                          <a:latin typeface="Calibri"/>
                          <a:ea typeface="Calibri"/>
                          <a:cs typeface="Calibri"/>
                          <a:sym typeface="Calibri"/>
                        </a:rPr>
                        <a:t>{w | w is of the form x01y for some strings x and y consisting of 0’s and 1’s only.}</a:t>
                      </a:r>
                      <a:endParaRPr/>
                    </a:p>
                    <a:p>
                      <a:pPr indent="-133350" lvl="0" marL="285750" marR="0" rtl="0" algn="l">
                        <a:spcBef>
                          <a:spcPts val="0"/>
                        </a:spcBef>
                        <a:spcAft>
                          <a:spcPts val="0"/>
                        </a:spcAft>
                        <a:buClr>
                          <a:schemeClr val="dk1"/>
                        </a:buClr>
                        <a:buSzPts val="2400"/>
                        <a:buFont typeface="Arial"/>
                        <a:buNone/>
                      </a:pPr>
                      <a:r>
                        <a:t/>
                      </a:r>
                      <a:endParaRPr b="0" i="0" sz="2400" u="none" strike="noStrike">
                        <a:solidFill>
                          <a:schemeClr val="dk1"/>
                        </a:solidFill>
                        <a:latin typeface="Calibri"/>
                        <a:ea typeface="Calibri"/>
                        <a:cs typeface="Calibri"/>
                        <a:sym typeface="Calibri"/>
                      </a:endParaRPr>
                    </a:p>
                    <a:p>
                      <a:pPr indent="-133350" lvl="0" marL="285750" marR="0" rtl="0" algn="l">
                        <a:spcBef>
                          <a:spcPts val="0"/>
                        </a:spcBef>
                        <a:spcAft>
                          <a:spcPts val="0"/>
                        </a:spcAft>
                        <a:buClr>
                          <a:schemeClr val="dk1"/>
                        </a:buClr>
                        <a:buSzPts val="2400"/>
                        <a:buFont typeface="Arial"/>
                        <a:buNone/>
                      </a:pPr>
                      <a:r>
                        <a:t/>
                      </a:r>
                      <a:endParaRPr b="0" i="0" sz="2400" u="none" strike="noStrike">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Arial"/>
                        <a:buChar char="•"/>
                      </a:pPr>
                      <a:r>
                        <a:rPr b="0" i="0" lang="en-IN" sz="2400" u="none" strike="noStrike">
                          <a:solidFill>
                            <a:schemeClr val="dk1"/>
                          </a:solidFill>
                          <a:latin typeface="Calibri"/>
                          <a:ea typeface="Calibri"/>
                          <a:cs typeface="Calibri"/>
                          <a:sym typeface="Calibri"/>
                        </a:rPr>
                        <a:t>Another equivalent description, using parameters x and y to the left of the vertical bar, is:</a:t>
                      </a:r>
                      <a:endParaRPr/>
                    </a:p>
                    <a:p>
                      <a:pPr indent="0" lvl="0" marL="0" marR="0" rtl="0" algn="l">
                        <a:spcBef>
                          <a:spcPts val="0"/>
                        </a:spcBef>
                        <a:spcAft>
                          <a:spcPts val="0"/>
                        </a:spcAft>
                        <a:buClr>
                          <a:schemeClr val="dk1"/>
                        </a:buClr>
                        <a:buSzPts val="2400"/>
                        <a:buFont typeface="Arial"/>
                        <a:buNone/>
                      </a:pPr>
                      <a:r>
                        <a:rPr b="0" i="0" lang="en-IN" sz="2400" u="none" strike="noStrike">
                          <a:solidFill>
                            <a:schemeClr val="dk1"/>
                          </a:solidFill>
                          <a:latin typeface="Calibri"/>
                          <a:ea typeface="Calibri"/>
                          <a:cs typeface="Calibri"/>
                          <a:sym typeface="Calibri"/>
                        </a:rPr>
                        <a:t>{x01y | x and y are any strings of 0’s and 1’s}</a:t>
                      </a:r>
                      <a:endParaRPr baseline="-25000" sz="2400"/>
                    </a:p>
                    <a:p>
                      <a:pPr indent="-190500" lvl="0" marL="342900" marR="0" rtl="0" algn="l">
                        <a:lnSpc>
                          <a:spcPct val="100000"/>
                        </a:lnSpc>
                        <a:spcBef>
                          <a:spcPts val="0"/>
                        </a:spcBef>
                        <a:spcAft>
                          <a:spcPts val="0"/>
                        </a:spcAft>
                        <a:buClr>
                          <a:schemeClr val="dk1"/>
                        </a:buClr>
                        <a:buSzPts val="2400"/>
                        <a:buFont typeface="Arial"/>
                        <a:buNone/>
                      </a:pPr>
                      <a:r>
                        <a:t/>
                      </a:r>
                      <a:endParaRPr baseline="-25000" sz="2400"/>
                    </a:p>
                    <a:p>
                      <a:pPr indent="0" lvl="0" marL="0" marR="0" rtl="0" algn="l">
                        <a:lnSpc>
                          <a:spcPct val="100000"/>
                        </a:lnSpc>
                        <a:spcBef>
                          <a:spcPts val="0"/>
                        </a:spcBef>
                        <a:spcAft>
                          <a:spcPts val="0"/>
                        </a:spcAft>
                        <a:buClr>
                          <a:schemeClr val="dk1"/>
                        </a:buClr>
                        <a:buSzPts val="2400"/>
                        <a:buFont typeface="Arial"/>
                        <a:buNone/>
                      </a:pPr>
                      <a:r>
                        <a:t/>
                      </a:r>
                      <a:endParaRPr sz="2400"/>
                    </a:p>
                  </a:txBody>
                  <a:tcPr marT="45725" marB="45725" marR="91450" marL="91450"/>
                </a:tc>
              </a:tr>
            </a:tbl>
          </a:graphicData>
        </a:graphic>
      </p:graphicFrame>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1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222" name="Google Shape;1222;p1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223" name="Google Shape;1223;p1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224" name="Google Shape;1224;p1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225" name="Google Shape;1225;p117"/>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Exercise 1</a:t>
                      </a:r>
                      <a:endParaRPr/>
                    </a:p>
                  </a:txBody>
                  <a:tcPr marT="45725" marB="45725" marR="91450" marL="91450"/>
                </a:tc>
              </a:tr>
              <a:tr h="3086975">
                <a:tc>
                  <a:txBody>
                    <a:bodyPr/>
                    <a:lstStyle/>
                    <a:p>
                      <a:pPr indent="0" lvl="0" marL="0" marR="0" rtl="0" algn="l">
                        <a:lnSpc>
                          <a:spcPct val="100000"/>
                        </a:lnSpc>
                        <a:spcBef>
                          <a:spcPts val="0"/>
                        </a:spcBef>
                        <a:spcAft>
                          <a:spcPts val="0"/>
                        </a:spcAft>
                        <a:buClr>
                          <a:schemeClr val="dk1"/>
                        </a:buClr>
                        <a:buSzPts val="2400"/>
                        <a:buFont typeface="Arial"/>
                        <a:buNone/>
                      </a:pPr>
                      <a:r>
                        <a:rPr lang="en-IN" sz="2400"/>
                        <a:t>Construct a DFA accepting set of string over {a, b} where each string containing ‘a’ as the substring.</a:t>
                      </a:r>
                      <a:endParaRPr/>
                    </a:p>
                    <a:p>
                      <a:pPr indent="0" lvl="0" marL="0" marR="0" rtl="0" algn="l">
                        <a:lnSpc>
                          <a:spcPct val="100000"/>
                        </a:lnSpc>
                        <a:spcBef>
                          <a:spcPts val="0"/>
                        </a:spcBef>
                        <a:spcAft>
                          <a:spcPts val="0"/>
                        </a:spcAft>
                        <a:buClr>
                          <a:schemeClr val="dk1"/>
                        </a:buClr>
                        <a:buSzPts val="2400"/>
                        <a:buFont typeface="Arial"/>
                        <a:buNone/>
                      </a:pPr>
                      <a:r>
                        <a:rPr lang="en-IN" sz="2400"/>
                        <a:t> </a:t>
                      </a:r>
                      <a:endParaRPr sz="2400"/>
                    </a:p>
                  </a:txBody>
                  <a:tcPr marT="45725" marB="45725" marR="91450" marL="91450"/>
                </a:tc>
              </a:tr>
            </a:tbl>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1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231" name="Google Shape;1231;p1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232" name="Google Shape;1232;p1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233" name="Google Shape;1233;p1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234" name="Google Shape;1234;p118"/>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Exercise 1</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As symbols come in, you would initially skip over all b’s</a:t>
                      </a:r>
                      <a:endParaRPr/>
                    </a:p>
                    <a:p>
                      <a:pPr indent="-342900" lvl="0" marL="342900" marR="0" rtl="0" algn="l">
                        <a:spcBef>
                          <a:spcPts val="0"/>
                        </a:spcBef>
                        <a:spcAft>
                          <a:spcPts val="0"/>
                        </a:spcAft>
                        <a:buClr>
                          <a:schemeClr val="dk1"/>
                        </a:buClr>
                        <a:buSzPts val="2400"/>
                        <a:buFont typeface="Arial"/>
                        <a:buChar char="•"/>
                      </a:pPr>
                      <a:r>
                        <a:rPr lang="en-IN" sz="2400"/>
                        <a:t>So the 2 possibilities are-</a:t>
                      </a:r>
                      <a:endParaRPr/>
                    </a:p>
                    <a:p>
                      <a:pPr indent="-342900" lvl="1" marL="800100" marR="0" rtl="0" algn="l">
                        <a:spcBef>
                          <a:spcPts val="0"/>
                        </a:spcBef>
                        <a:spcAft>
                          <a:spcPts val="0"/>
                        </a:spcAft>
                        <a:buClr>
                          <a:schemeClr val="dk1"/>
                        </a:buClr>
                        <a:buSzPts val="2400"/>
                        <a:buFont typeface="Arial"/>
                        <a:buChar char="•"/>
                      </a:pPr>
                      <a:r>
                        <a:rPr lang="en-IN" sz="2400" u="none" cap="none" strike="noStrike"/>
                        <a:t>Haven’t seen any “a” symbol =&gt; q state</a:t>
                      </a:r>
                      <a:endParaRPr/>
                    </a:p>
                    <a:p>
                      <a:pPr indent="-342900" lvl="1" marL="800100" marR="0" rtl="0" algn="l">
                        <a:spcBef>
                          <a:spcPts val="0"/>
                        </a:spcBef>
                        <a:spcAft>
                          <a:spcPts val="0"/>
                        </a:spcAft>
                        <a:buClr>
                          <a:schemeClr val="dk1"/>
                        </a:buClr>
                        <a:buSzPts val="2400"/>
                        <a:buFont typeface="Arial"/>
                        <a:buChar char="•"/>
                      </a:pPr>
                      <a:r>
                        <a:rPr lang="en-IN" sz="2400" u="none" cap="none" strike="noStrike"/>
                        <a:t>Have just seen an “a”=&gt;q</a:t>
                      </a:r>
                      <a:r>
                        <a:rPr baseline="-25000" lang="en-IN" sz="2400" u="none" cap="none" strike="noStrike"/>
                        <a:t>a</a:t>
                      </a:r>
                      <a:r>
                        <a:rPr lang="en-IN" sz="2400" u="none" cap="none" strike="noStrike"/>
                        <a:t> state</a:t>
                      </a:r>
                      <a:endParaRPr/>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pic>
        <p:nvPicPr>
          <p:cNvPr id="1235" name="Google Shape;1235;p118"/>
          <p:cNvPicPr preferRelativeResize="0"/>
          <p:nvPr/>
        </p:nvPicPr>
        <p:blipFill rotWithShape="1">
          <a:blip r:embed="rId3">
            <a:alphaModFix/>
          </a:blip>
          <a:srcRect b="0" l="0" r="0" t="0"/>
          <a:stretch/>
        </p:blipFill>
        <p:spPr>
          <a:xfrm>
            <a:off x="1043608" y="4149080"/>
            <a:ext cx="6759527" cy="1765548"/>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p1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241" name="Google Shape;1241;p1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242" name="Google Shape;1242;p1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243" name="Google Shape;1243;p1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244" name="Google Shape;1244;p119"/>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Exercise 1</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rPr lang="en-IN" sz="2400"/>
                        <a:t>Assign transitions</a:t>
                      </a:r>
                      <a:endParaRPr/>
                    </a:p>
                    <a:p>
                      <a:pPr indent="-342900" lvl="0" marL="342900" marR="0" rtl="0" algn="l">
                        <a:spcBef>
                          <a:spcPts val="0"/>
                        </a:spcBef>
                        <a:spcAft>
                          <a:spcPts val="0"/>
                        </a:spcAft>
                        <a:buClr>
                          <a:schemeClr val="dk1"/>
                        </a:buClr>
                        <a:buSzPts val="2400"/>
                        <a:buFont typeface="Arial"/>
                        <a:buChar char="•"/>
                      </a:pPr>
                      <a:r>
                        <a:rPr lang="en-IN" sz="2400"/>
                        <a:t>q getting</a:t>
                      </a:r>
                      <a:r>
                        <a:rPr lang="en-IN" sz="2400"/>
                        <a:t> “</a:t>
                      </a:r>
                      <a:r>
                        <a:rPr lang="en-IN" sz="2400"/>
                        <a:t>b”, stays in state</a:t>
                      </a:r>
                      <a:r>
                        <a:rPr lang="en-IN" sz="2400"/>
                        <a:t> </a:t>
                      </a:r>
                      <a:r>
                        <a:rPr lang="en-IN" sz="2400"/>
                        <a:t>q itself</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q reading “a”, it transits to the final state </a:t>
                      </a:r>
                      <a:r>
                        <a:rPr lang="en-IN" sz="2400"/>
                        <a:t>q</a:t>
                      </a:r>
                      <a:r>
                        <a:rPr baseline="-25000" lang="en-IN" sz="2400"/>
                        <a:t>a</a:t>
                      </a:r>
                      <a:endParaRPr baseline="-25000" sz="2400"/>
                    </a:p>
                    <a:p>
                      <a:pPr indent="-342900" lvl="0" marL="342900" marR="0" rtl="0" algn="l">
                        <a:lnSpc>
                          <a:spcPct val="100000"/>
                        </a:lnSpc>
                        <a:spcBef>
                          <a:spcPts val="0"/>
                        </a:spcBef>
                        <a:spcAft>
                          <a:spcPts val="0"/>
                        </a:spcAft>
                        <a:buClr>
                          <a:schemeClr val="dk1"/>
                        </a:buClr>
                        <a:buSzPts val="2400"/>
                        <a:buFont typeface="Arial"/>
                        <a:buChar char="•"/>
                      </a:pPr>
                      <a:r>
                        <a:rPr lang="en-IN" sz="2400"/>
                        <a:t>q</a:t>
                      </a:r>
                      <a:r>
                        <a:rPr baseline="-25000" lang="en-IN" sz="2400"/>
                        <a:t>a </a:t>
                      </a:r>
                      <a:r>
                        <a:rPr lang="en-IN" sz="2400"/>
                        <a:t>On reading a or b , stays in the final state q</a:t>
                      </a:r>
                      <a:r>
                        <a:rPr baseline="-25000" lang="en-IN" sz="2400"/>
                        <a:t>a </a:t>
                      </a:r>
                      <a:r>
                        <a:rPr lang="en-IN" sz="2400"/>
                        <a:t>itself.</a:t>
                      </a:r>
                      <a:endParaRPr/>
                    </a:p>
                    <a:p>
                      <a:pPr indent="-190500" lvl="0" marL="342900" marR="0" rtl="0" algn="l">
                        <a:lnSpc>
                          <a:spcPct val="100000"/>
                        </a:lnSpc>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pic>
        <p:nvPicPr>
          <p:cNvPr id="1245" name="Google Shape;1245;p119"/>
          <p:cNvPicPr preferRelativeResize="0"/>
          <p:nvPr/>
        </p:nvPicPr>
        <p:blipFill rotWithShape="1">
          <a:blip r:embed="rId3">
            <a:alphaModFix/>
          </a:blip>
          <a:srcRect b="0" l="0" r="0" t="0"/>
          <a:stretch/>
        </p:blipFill>
        <p:spPr>
          <a:xfrm>
            <a:off x="1131493" y="4005064"/>
            <a:ext cx="6760240" cy="1765734"/>
          </a:xfrm>
          <a:prstGeom prst="rect">
            <a:avLst/>
          </a:prstGeom>
          <a:noFill/>
          <a:ln>
            <a:noFill/>
          </a:ln>
        </p:spPr>
      </p:pic>
      <p:sp>
        <p:nvSpPr>
          <p:cNvPr id="1246" name="Google Shape;1246;p119"/>
          <p:cNvSpPr txBox="1"/>
          <p:nvPr/>
        </p:nvSpPr>
        <p:spPr>
          <a:xfrm>
            <a:off x="7020272" y="3645024"/>
            <a:ext cx="1872208"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000">
                <a:solidFill>
                  <a:schemeClr val="dk1"/>
                </a:solidFill>
                <a:latin typeface="Calibri"/>
                <a:ea typeface="Calibri"/>
                <a:cs typeface="Calibri"/>
                <a:sym typeface="Calibri"/>
              </a:rPr>
              <a:t>Strings</a:t>
            </a:r>
            <a:endParaRPr/>
          </a:p>
          <a:p>
            <a:pPr indent="0" lvl="0" marL="0" marR="0" rtl="0" algn="l">
              <a:spcBef>
                <a:spcPts val="0"/>
              </a:spcBef>
              <a:spcAft>
                <a:spcPts val="0"/>
              </a:spcAft>
              <a:buNone/>
            </a:pPr>
            <a:r>
              <a:rPr b="1" lang="en-IN" sz="2000">
                <a:solidFill>
                  <a:schemeClr val="dk1"/>
                </a:solidFill>
                <a:latin typeface="Calibri"/>
                <a:ea typeface="Calibri"/>
                <a:cs typeface="Calibri"/>
                <a:sym typeface="Calibri"/>
              </a:rPr>
              <a:t>a</a:t>
            </a:r>
            <a:endParaRPr/>
          </a:p>
          <a:p>
            <a:pPr indent="0" lvl="0" marL="0" marR="0" rtl="0" algn="l">
              <a:spcBef>
                <a:spcPts val="0"/>
              </a:spcBef>
              <a:spcAft>
                <a:spcPts val="0"/>
              </a:spcAft>
              <a:buNone/>
            </a:pPr>
            <a:r>
              <a:rPr b="1" lang="en-IN" sz="2000">
                <a:solidFill>
                  <a:schemeClr val="dk1"/>
                </a:solidFill>
                <a:latin typeface="Calibri"/>
                <a:ea typeface="Calibri"/>
                <a:cs typeface="Calibri"/>
                <a:sym typeface="Calibri"/>
              </a:rPr>
              <a:t>aa</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b="1" lang="en-IN" sz="2000">
                <a:solidFill>
                  <a:schemeClr val="dk1"/>
                </a:solidFill>
                <a:latin typeface="Calibri"/>
                <a:ea typeface="Calibri"/>
                <a:cs typeface="Calibri"/>
                <a:sym typeface="Calibri"/>
              </a:rPr>
              <a:t>aab</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b="1" lang="en-IN" sz="2000">
                <a:solidFill>
                  <a:schemeClr val="dk1"/>
                </a:solidFill>
                <a:latin typeface="Calibri"/>
                <a:ea typeface="Calibri"/>
                <a:cs typeface="Calibri"/>
                <a:sym typeface="Calibri"/>
              </a:rPr>
              <a:t>aabb</a:t>
            </a:r>
            <a:endParaRPr b="1" sz="2000">
              <a:solidFill>
                <a:schemeClr val="dk1"/>
              </a:solidFill>
              <a:latin typeface="Calibri"/>
              <a:ea typeface="Calibri"/>
              <a:cs typeface="Calibri"/>
              <a:sym typeface="Calibri"/>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p1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252" name="Google Shape;1252;p1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253" name="Google Shape;1253;p1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254" name="Google Shape;1254;p1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255" name="Google Shape;1255;p120"/>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Exercise 1</a:t>
                      </a:r>
                      <a:endParaRPr/>
                    </a:p>
                  </a:txBody>
                  <a:tcPr marT="45725" marB="45725" marR="91450" marL="91450"/>
                </a:tc>
              </a:tr>
              <a:tr h="3086975">
                <a:tc>
                  <a:txBody>
                    <a:bodyPr/>
                    <a:lstStyle/>
                    <a:p>
                      <a:pPr indent="-342900" lvl="0" marL="342900" marR="0" rtl="0" algn="l">
                        <a:lnSpc>
                          <a:spcPct val="100000"/>
                        </a:lnSpc>
                        <a:spcBef>
                          <a:spcPts val="0"/>
                        </a:spcBef>
                        <a:spcAft>
                          <a:spcPts val="0"/>
                        </a:spcAft>
                        <a:buClr>
                          <a:schemeClr val="dk1"/>
                        </a:buClr>
                        <a:buSzPts val="2400"/>
                        <a:buFont typeface="Arial"/>
                        <a:buChar char="•"/>
                      </a:pPr>
                      <a:r>
                        <a:rPr lang="en-IN" sz="2400"/>
                        <a:t>Start state =q</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The only accept state =q</a:t>
                      </a:r>
                      <a:r>
                        <a:rPr baseline="-25000" lang="en-IN" sz="2400"/>
                        <a:t>a</a:t>
                      </a:r>
                      <a:endParaRPr baseline="-25000"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pic>
        <p:nvPicPr>
          <p:cNvPr id="1256" name="Google Shape;1256;p120"/>
          <p:cNvPicPr preferRelativeResize="0"/>
          <p:nvPr/>
        </p:nvPicPr>
        <p:blipFill rotWithShape="1">
          <a:blip r:embed="rId3">
            <a:alphaModFix/>
          </a:blip>
          <a:srcRect b="0" l="0" r="0" t="0"/>
          <a:stretch/>
        </p:blipFill>
        <p:spPr>
          <a:xfrm>
            <a:off x="1259632" y="3645024"/>
            <a:ext cx="6760240" cy="1765734"/>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1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262" name="Google Shape;1262;p1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263" name="Google Shape;1263;p1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264" name="Google Shape;1264;p1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265" name="Google Shape;1265;p121"/>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Exercise 2</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rPr lang="en-IN" sz="2400"/>
                        <a:t>Construction of a minimal DFA accepting set of string over {a, b} where each string containing ‘ab’ as the substring.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1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271" name="Google Shape;1271;p1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272" name="Google Shape;1272;p1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273" name="Google Shape;1273;p1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274" name="Google Shape;1274;p122"/>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Exercise 2</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rPr lang="en-IN" sz="2400"/>
                        <a:t>Construction of a minimal DFA accepting set of string over {a, b} where each string containing ‘ab’ as the substring. </a:t>
                      </a:r>
                      <a:endParaRPr/>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pic>
        <p:nvPicPr>
          <p:cNvPr id="1275" name="Google Shape;1275;p122"/>
          <p:cNvPicPr preferRelativeResize="0"/>
          <p:nvPr/>
        </p:nvPicPr>
        <p:blipFill rotWithShape="1">
          <a:blip r:embed="rId3">
            <a:alphaModFix/>
          </a:blip>
          <a:srcRect b="0" l="0" r="0" t="0"/>
          <a:stretch/>
        </p:blipFill>
        <p:spPr>
          <a:xfrm>
            <a:off x="1203857" y="4005064"/>
            <a:ext cx="6712972" cy="1746870"/>
          </a:xfrm>
          <a:prstGeom prst="rect">
            <a:avLst/>
          </a:prstGeom>
          <a:noFill/>
          <a:ln>
            <a:noFill/>
          </a:ln>
        </p:spPr>
      </p:pic>
      <p:sp>
        <p:nvSpPr>
          <p:cNvPr id="1276" name="Google Shape;1276;p122"/>
          <p:cNvSpPr/>
          <p:nvPr/>
        </p:nvSpPr>
        <p:spPr>
          <a:xfrm>
            <a:off x="611560" y="6021288"/>
            <a:ext cx="69665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400">
                <a:solidFill>
                  <a:schemeClr val="dk1"/>
                </a:solidFill>
                <a:latin typeface="Calibri"/>
                <a:ea typeface="Calibri"/>
                <a:cs typeface="Calibri"/>
                <a:sym typeface="Calibri"/>
              </a:rPr>
              <a:t>https://www.geeksforgeeks.org/designing-deterministic-finite-automata-set-3/</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p1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282" name="Google Shape;1282;p1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283" name="Google Shape;1283;p1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284" name="Google Shape;1284;p1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285" name="Google Shape;1285;p123"/>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4</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rPr lang="en-IN" sz="2400"/>
                        <a:t>Construction of a DFA to check whether given decimal number is divisible by three</a:t>
                      </a:r>
                      <a:endParaRPr/>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p1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291" name="Google Shape;1291;p1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292" name="Google Shape;1292;p1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293" name="Google Shape;1293;p1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294" name="Google Shape;1294;p124"/>
          <p:cNvGraphicFramePr/>
          <p:nvPr/>
        </p:nvGraphicFramePr>
        <p:xfrm>
          <a:off x="230823" y="1340768"/>
          <a:ext cx="3000000" cy="3000000"/>
        </p:xfrm>
        <a:graphic>
          <a:graphicData uri="http://schemas.openxmlformats.org/drawingml/2006/table">
            <a:tbl>
              <a:tblPr bandRow="1" firstRow="1">
                <a:noFill/>
                <a:tableStyleId>{1DD1F0B8-C0F4-4710-A24E-F3ACE173D476}</a:tableStyleId>
              </a:tblPr>
              <a:tblGrid>
                <a:gridCol w="892900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4</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The possible Remainders =0,1,2</a:t>
                      </a:r>
                      <a:endParaRPr/>
                    </a:p>
                    <a:p>
                      <a:pPr indent="-342900" lvl="0" marL="342900" marR="0" rtl="0" algn="l">
                        <a:spcBef>
                          <a:spcPts val="0"/>
                        </a:spcBef>
                        <a:spcAft>
                          <a:spcPts val="0"/>
                        </a:spcAft>
                        <a:buClr>
                          <a:schemeClr val="dk1"/>
                        </a:buClr>
                        <a:buSzPts val="2400"/>
                        <a:buFont typeface="Arial"/>
                        <a:buChar char="•"/>
                      </a:pPr>
                      <a:r>
                        <a:rPr lang="en-IN" sz="2400"/>
                        <a:t>Remainder 0=&gt;Divisible by 3</a:t>
                      </a:r>
                      <a:endParaRPr/>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342900" lvl="0" marL="342900" marR="0" rtl="0" algn="l">
                        <a:spcBef>
                          <a:spcPts val="0"/>
                        </a:spcBef>
                        <a:spcAft>
                          <a:spcPts val="0"/>
                        </a:spcAft>
                        <a:buClr>
                          <a:schemeClr val="dk1"/>
                        </a:buClr>
                        <a:buSzPts val="2400"/>
                        <a:buFont typeface="Arial"/>
                        <a:buChar char="•"/>
                      </a:pPr>
                      <a:r>
                        <a:rPr lang="en-IN" sz="2400"/>
                        <a:t>Group Digits according to their remainder</a:t>
                      </a:r>
                      <a:endParaRPr/>
                    </a:p>
                    <a:p>
                      <a:pPr indent="-342900" lvl="1" marL="800100" marR="0" rtl="0" algn="l">
                        <a:spcBef>
                          <a:spcPts val="0"/>
                        </a:spcBef>
                        <a:spcAft>
                          <a:spcPts val="0"/>
                        </a:spcAft>
                        <a:buClr>
                          <a:schemeClr val="dk1"/>
                        </a:buClr>
                        <a:buSzPts val="2400"/>
                        <a:buFont typeface="Arial"/>
                        <a:buChar char="•"/>
                      </a:pPr>
                      <a:r>
                        <a:rPr lang="en-IN" sz="2400" u="none" cap="none" strike="noStrike"/>
                        <a:t>Initial State=A</a:t>
                      </a:r>
                      <a:endParaRPr/>
                    </a:p>
                    <a:p>
                      <a:pPr indent="-342900" lvl="1" marL="800100" marR="0" rtl="0" algn="l">
                        <a:spcBef>
                          <a:spcPts val="0"/>
                        </a:spcBef>
                        <a:spcAft>
                          <a:spcPts val="0"/>
                        </a:spcAft>
                        <a:buClr>
                          <a:schemeClr val="dk1"/>
                        </a:buClr>
                        <a:buSzPts val="2400"/>
                        <a:buFont typeface="Arial"/>
                        <a:buChar char="•"/>
                      </a:pPr>
                      <a:r>
                        <a:rPr lang="en-IN" sz="2400" u="none" cap="none" strike="noStrike"/>
                        <a:t>(0,3,6,9,12,15…)mod 3=0, Remainder 0 group S0=&gt;Final State</a:t>
                      </a:r>
                      <a:endParaRPr/>
                    </a:p>
                    <a:p>
                      <a:pPr indent="-342900" lvl="1" marL="800100" marR="0" rtl="0" algn="l">
                        <a:lnSpc>
                          <a:spcPct val="100000"/>
                        </a:lnSpc>
                        <a:spcBef>
                          <a:spcPts val="0"/>
                        </a:spcBef>
                        <a:spcAft>
                          <a:spcPts val="0"/>
                        </a:spcAft>
                        <a:buClr>
                          <a:schemeClr val="dk1"/>
                        </a:buClr>
                        <a:buSzPts val="2400"/>
                        <a:buFont typeface="Arial"/>
                        <a:buChar char="•"/>
                      </a:pPr>
                      <a:r>
                        <a:rPr lang="en-IN" sz="2400" u="none" cap="none" strike="noStrike"/>
                        <a:t>(1,4,7,10,13,16…)mod 3=1, Remainder 1 group S1</a:t>
                      </a:r>
                      <a:endParaRPr/>
                    </a:p>
                    <a:p>
                      <a:pPr indent="-342900" lvl="1" marL="800100" marR="0" rtl="0" algn="l">
                        <a:lnSpc>
                          <a:spcPct val="100000"/>
                        </a:lnSpc>
                        <a:spcBef>
                          <a:spcPts val="0"/>
                        </a:spcBef>
                        <a:spcAft>
                          <a:spcPts val="0"/>
                        </a:spcAft>
                        <a:buClr>
                          <a:schemeClr val="dk1"/>
                        </a:buClr>
                        <a:buSzPts val="2400"/>
                        <a:buFont typeface="Arial"/>
                        <a:buChar char="•"/>
                      </a:pPr>
                      <a:r>
                        <a:rPr lang="en-IN" sz="2400" u="none" cap="none" strike="noStrike"/>
                        <a:t>(2,5,8,11,14,17…)mod 3=2, Remainder 2 group S2</a:t>
                      </a:r>
                      <a:endParaRPr/>
                    </a:p>
                  </a:txBody>
                  <a:tcPr marT="45725" marB="45725" marR="91450" marL="91450"/>
                </a:tc>
              </a:tr>
            </a:tbl>
          </a:graphicData>
        </a:graphic>
      </p:graphicFrame>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1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300" name="Google Shape;1300;p1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301" name="Google Shape;1301;p1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302" name="Google Shape;1302;p1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303" name="Google Shape;1303;p125"/>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840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4</a:t>
                      </a:r>
                      <a:endParaRPr/>
                    </a:p>
                  </a:txBody>
                  <a:tcPr marT="45725" marB="45725" marR="91450" marL="91450"/>
                </a:tc>
              </a:tr>
              <a:tr h="4224475">
                <a:tc>
                  <a:txBody>
                    <a:bodyPr/>
                    <a:lstStyle/>
                    <a:p>
                      <a:pPr indent="0" lvl="0" marL="0" marR="0" rtl="0" algn="l">
                        <a:spcBef>
                          <a:spcPts val="0"/>
                        </a:spcBef>
                        <a:spcAft>
                          <a:spcPts val="0"/>
                        </a:spcAft>
                        <a:buClr>
                          <a:schemeClr val="dk1"/>
                        </a:buClr>
                        <a:buSzPts val="2000"/>
                        <a:buFont typeface="Arial"/>
                        <a:buNone/>
                      </a:pPr>
                      <a:r>
                        <a:rPr b="1" lang="en-IN" sz="2000"/>
                        <a:t>Single Digits</a:t>
                      </a:r>
                      <a:endParaRPr/>
                    </a:p>
                    <a:p>
                      <a:pPr indent="-342900" lvl="0" marL="342900" marR="0" rtl="0" algn="l">
                        <a:spcBef>
                          <a:spcPts val="0"/>
                        </a:spcBef>
                        <a:spcAft>
                          <a:spcPts val="0"/>
                        </a:spcAft>
                        <a:buClr>
                          <a:schemeClr val="dk1"/>
                        </a:buClr>
                        <a:buSzPts val="2000"/>
                        <a:buFont typeface="Arial"/>
                        <a:buChar char="•"/>
                      </a:pPr>
                      <a:r>
                        <a:rPr lang="en-IN" sz="2000"/>
                        <a:t>(0,3,6,9…) mod 3=0, Remainder 0 group S0=&gt;Final State</a:t>
                      </a:r>
                      <a:endParaRPr/>
                    </a:p>
                    <a:p>
                      <a:pPr indent="-342900" lvl="0" marL="342900" marR="0" rtl="0" algn="l">
                        <a:spcBef>
                          <a:spcPts val="0"/>
                        </a:spcBef>
                        <a:spcAft>
                          <a:spcPts val="0"/>
                        </a:spcAft>
                        <a:buClr>
                          <a:schemeClr val="dk1"/>
                        </a:buClr>
                        <a:buSzPts val="2000"/>
                        <a:buFont typeface="Arial"/>
                        <a:buChar char="•"/>
                      </a:pPr>
                      <a:r>
                        <a:rPr lang="en-IN" sz="2000"/>
                        <a:t>(1,4,7) mod 3=1, Remainder 1 group S1</a:t>
                      </a:r>
                      <a:endParaRPr/>
                    </a:p>
                    <a:p>
                      <a:pPr indent="-342900" lvl="0" marL="342900" marR="0" rtl="0" algn="l">
                        <a:spcBef>
                          <a:spcPts val="0"/>
                        </a:spcBef>
                        <a:spcAft>
                          <a:spcPts val="0"/>
                        </a:spcAft>
                        <a:buClr>
                          <a:schemeClr val="dk1"/>
                        </a:buClr>
                        <a:buSzPts val="2000"/>
                        <a:buFont typeface="Arial"/>
                        <a:buChar char="•"/>
                      </a:pPr>
                      <a:r>
                        <a:rPr lang="en-IN" sz="2000"/>
                        <a:t>(2,5,8) mod 3=2, Remainder 2 group S2</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txBody>
                  <a:tcPr marT="45725" marB="45725" marR="91450" marL="91450"/>
                </a:tc>
              </a:tr>
            </a:tbl>
          </a:graphicData>
        </a:graphic>
      </p:graphicFrame>
      <p:sp>
        <p:nvSpPr>
          <p:cNvPr id="1304" name="Google Shape;1304;p125"/>
          <p:cNvSpPr/>
          <p:nvPr/>
        </p:nvSpPr>
        <p:spPr>
          <a:xfrm>
            <a:off x="2501783" y="322299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A</a:t>
            </a:r>
            <a:endParaRPr sz="1800">
              <a:solidFill>
                <a:schemeClr val="lt1"/>
              </a:solidFill>
              <a:latin typeface="Calibri"/>
              <a:ea typeface="Calibri"/>
              <a:cs typeface="Calibri"/>
              <a:sym typeface="Calibri"/>
            </a:endParaRPr>
          </a:p>
        </p:txBody>
      </p:sp>
      <p:grpSp>
        <p:nvGrpSpPr>
          <p:cNvPr id="1305" name="Google Shape;1305;p125"/>
          <p:cNvGrpSpPr/>
          <p:nvPr/>
        </p:nvGrpSpPr>
        <p:grpSpPr>
          <a:xfrm>
            <a:off x="5364088" y="2797874"/>
            <a:ext cx="1224136" cy="1152128"/>
            <a:chOff x="4196413" y="3235749"/>
            <a:chExt cx="1224136" cy="1152128"/>
          </a:xfrm>
        </p:grpSpPr>
        <p:sp>
          <p:nvSpPr>
            <p:cNvPr id="1306" name="Google Shape;1306;p125"/>
            <p:cNvSpPr/>
            <p:nvPr/>
          </p:nvSpPr>
          <p:spPr>
            <a:xfrm>
              <a:off x="4196413" y="3235749"/>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7" name="Google Shape;1307;p125"/>
            <p:cNvSpPr/>
            <p:nvPr/>
          </p:nvSpPr>
          <p:spPr>
            <a:xfrm>
              <a:off x="4340429" y="34517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grpSp>
      <p:sp>
        <p:nvSpPr>
          <p:cNvPr id="1308" name="Google Shape;1308;p125"/>
          <p:cNvSpPr/>
          <p:nvPr/>
        </p:nvSpPr>
        <p:spPr>
          <a:xfrm>
            <a:off x="5652120" y="4972000"/>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
        <p:nvSpPr>
          <p:cNvPr id="1309" name="Google Shape;1309;p125"/>
          <p:cNvSpPr/>
          <p:nvPr/>
        </p:nvSpPr>
        <p:spPr>
          <a:xfrm>
            <a:off x="2627784" y="494116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cxnSp>
        <p:nvCxnSpPr>
          <p:cNvPr id="1310" name="Google Shape;1310;p125"/>
          <p:cNvCxnSpPr/>
          <p:nvPr/>
        </p:nvCxnSpPr>
        <p:spPr>
          <a:xfrm>
            <a:off x="1835696" y="3583035"/>
            <a:ext cx="666087" cy="0"/>
          </a:xfrm>
          <a:prstGeom prst="straightConnector1">
            <a:avLst/>
          </a:prstGeom>
          <a:noFill/>
          <a:ln cap="flat" cmpd="sng" w="9525">
            <a:solidFill>
              <a:srgbClr val="4A7DBA"/>
            </a:solidFill>
            <a:prstDash val="solid"/>
            <a:round/>
            <a:headEnd len="sm" w="sm" type="none"/>
            <a:tailEnd len="med" w="med" type="stealth"/>
          </a:ln>
        </p:spPr>
      </p:cxnSp>
      <p:cxnSp>
        <p:nvCxnSpPr>
          <p:cNvPr id="1311" name="Google Shape;1311;p125"/>
          <p:cNvCxnSpPr/>
          <p:nvPr/>
        </p:nvCxnSpPr>
        <p:spPr>
          <a:xfrm>
            <a:off x="3437886" y="3562609"/>
            <a:ext cx="1926201" cy="0"/>
          </a:xfrm>
          <a:prstGeom prst="straightConnector1">
            <a:avLst/>
          </a:prstGeom>
          <a:noFill/>
          <a:ln cap="flat" cmpd="sng" w="9525">
            <a:solidFill>
              <a:srgbClr val="4A7DBA"/>
            </a:solidFill>
            <a:prstDash val="solid"/>
            <a:round/>
            <a:headEnd len="sm" w="sm" type="none"/>
            <a:tailEnd len="med" w="med" type="stealth"/>
          </a:ln>
        </p:spPr>
      </p:cxnSp>
      <p:sp>
        <p:nvSpPr>
          <p:cNvPr id="1312" name="Google Shape;1312;p125"/>
          <p:cNvSpPr txBox="1"/>
          <p:nvPr/>
        </p:nvSpPr>
        <p:spPr>
          <a:xfrm>
            <a:off x="3759554" y="3189272"/>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0,3,6,9</a:t>
            </a:r>
            <a:endParaRPr sz="1800">
              <a:solidFill>
                <a:schemeClr val="dk1"/>
              </a:solidFill>
              <a:latin typeface="Calibri"/>
              <a:ea typeface="Calibri"/>
              <a:cs typeface="Calibri"/>
              <a:sym typeface="Calibri"/>
            </a:endParaRPr>
          </a:p>
        </p:txBody>
      </p:sp>
      <p:cxnSp>
        <p:nvCxnSpPr>
          <p:cNvPr id="1313" name="Google Shape;1313;p125"/>
          <p:cNvCxnSpPr>
            <a:stCxn id="1304" idx="5"/>
          </p:cNvCxnSpPr>
          <p:nvPr/>
        </p:nvCxnSpPr>
        <p:spPr>
          <a:xfrm>
            <a:off x="3300798" y="3837622"/>
            <a:ext cx="2351400" cy="1319700"/>
          </a:xfrm>
          <a:prstGeom prst="straightConnector1">
            <a:avLst/>
          </a:prstGeom>
          <a:noFill/>
          <a:ln cap="flat" cmpd="sng" w="9525">
            <a:solidFill>
              <a:srgbClr val="4A7DBA"/>
            </a:solidFill>
            <a:prstDash val="solid"/>
            <a:round/>
            <a:headEnd len="sm" w="sm" type="none"/>
            <a:tailEnd len="med" w="med" type="stealth"/>
          </a:ln>
        </p:spPr>
      </p:cxnSp>
      <p:cxnSp>
        <p:nvCxnSpPr>
          <p:cNvPr id="1314" name="Google Shape;1314;p125"/>
          <p:cNvCxnSpPr/>
          <p:nvPr/>
        </p:nvCxnSpPr>
        <p:spPr>
          <a:xfrm>
            <a:off x="2969835"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315" name="Google Shape;1315;p125"/>
          <p:cNvSpPr txBox="1"/>
          <p:nvPr/>
        </p:nvSpPr>
        <p:spPr>
          <a:xfrm>
            <a:off x="4324887" y="4076253"/>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1,4,7</a:t>
            </a:r>
            <a:endParaRPr sz="1800">
              <a:solidFill>
                <a:schemeClr val="dk1"/>
              </a:solidFill>
              <a:latin typeface="Calibri"/>
              <a:ea typeface="Calibri"/>
              <a:cs typeface="Calibri"/>
              <a:sym typeface="Calibri"/>
            </a:endParaRPr>
          </a:p>
        </p:txBody>
      </p:sp>
      <p:sp>
        <p:nvSpPr>
          <p:cNvPr id="1316" name="Google Shape;1316;p125"/>
          <p:cNvSpPr txBox="1"/>
          <p:nvPr/>
        </p:nvSpPr>
        <p:spPr>
          <a:xfrm>
            <a:off x="2915816" y="4355812"/>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2,5,8</a:t>
            </a:r>
            <a:endParaRPr sz="1800">
              <a:solidFill>
                <a:schemeClr val="dk1"/>
              </a:solidFill>
              <a:latin typeface="Calibri"/>
              <a:ea typeface="Calibri"/>
              <a:cs typeface="Calibri"/>
              <a:sym typeface="Calibri"/>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126"/>
          <p:cNvSpPr txBox="1"/>
          <p:nvPr>
            <p:ph type="title"/>
          </p:nvPr>
        </p:nvSpPr>
        <p:spPr>
          <a:xfrm>
            <a:off x="457200" y="274638"/>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DESIGNING FINITE AUTOMATA</a:t>
            </a:r>
            <a:endParaRPr/>
          </a:p>
        </p:txBody>
      </p:sp>
      <p:sp>
        <p:nvSpPr>
          <p:cNvPr id="1322" name="Google Shape;1322;p1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323" name="Google Shape;1323;p1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324" name="Google Shape;1324;p1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325" name="Google Shape;1325;p126"/>
          <p:cNvGraphicFramePr/>
          <p:nvPr/>
        </p:nvGraphicFramePr>
        <p:xfrm>
          <a:off x="584562" y="1033103"/>
          <a:ext cx="3000000" cy="3000000"/>
        </p:xfrm>
        <a:graphic>
          <a:graphicData uri="http://schemas.openxmlformats.org/drawingml/2006/table">
            <a:tbl>
              <a:tblPr bandRow="1" firstRow="1">
                <a:noFill/>
                <a:tableStyleId>{1DD1F0B8-C0F4-4710-A24E-F3ACE173D476}</a:tableStyleId>
              </a:tblPr>
              <a:tblGrid>
                <a:gridCol w="7632850"/>
              </a:tblGrid>
              <a:tr h="3840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4</a:t>
                      </a:r>
                      <a:endParaRPr/>
                    </a:p>
                  </a:txBody>
                  <a:tcPr marT="45725" marB="45725" marR="91450" marL="91450"/>
                </a:tc>
              </a:tr>
              <a:tr h="4224475">
                <a:tc>
                  <a:txBody>
                    <a:bodyPr/>
                    <a:lstStyle/>
                    <a:p>
                      <a:pPr indent="0" lvl="0" marL="0" marR="0" rtl="0" algn="l">
                        <a:lnSpc>
                          <a:spcPct val="100000"/>
                        </a:lnSpc>
                        <a:spcBef>
                          <a:spcPts val="0"/>
                        </a:spcBef>
                        <a:spcAft>
                          <a:spcPts val="0"/>
                        </a:spcAft>
                        <a:buClr>
                          <a:schemeClr val="dk1"/>
                        </a:buClr>
                        <a:buSzPts val="2000"/>
                        <a:buFont typeface="Arial"/>
                        <a:buNone/>
                      </a:pPr>
                      <a:r>
                        <a:rPr b="1" lang="en-IN" sz="2000"/>
                        <a:t>Double Digits</a:t>
                      </a:r>
                      <a:endParaRPr/>
                    </a:p>
                    <a:p>
                      <a:pPr indent="-342900" lvl="0" marL="342900" marR="0" rtl="0" algn="l">
                        <a:lnSpc>
                          <a:spcPct val="100000"/>
                        </a:lnSpc>
                        <a:spcBef>
                          <a:spcPts val="0"/>
                        </a:spcBef>
                        <a:spcAft>
                          <a:spcPts val="0"/>
                        </a:spcAft>
                        <a:buClr>
                          <a:schemeClr val="dk1"/>
                        </a:buClr>
                        <a:buSzPts val="2000"/>
                        <a:buFont typeface="Arial"/>
                        <a:buChar char="•"/>
                      </a:pPr>
                      <a:r>
                        <a:rPr lang="en-IN" sz="2000"/>
                        <a:t>(0,3,6,9…) mod 3=0, Remainder 0 group S0=&gt;Final State</a:t>
                      </a:r>
                      <a:endParaRPr/>
                    </a:p>
                    <a:p>
                      <a:pPr indent="-342900" lvl="0" marL="342900" marR="0" rtl="0" algn="l">
                        <a:spcBef>
                          <a:spcPts val="0"/>
                        </a:spcBef>
                        <a:spcAft>
                          <a:spcPts val="0"/>
                        </a:spcAft>
                        <a:buClr>
                          <a:schemeClr val="dk1"/>
                        </a:buClr>
                        <a:buSzPts val="2000"/>
                        <a:buFont typeface="Arial"/>
                        <a:buChar char="•"/>
                      </a:pPr>
                      <a:r>
                        <a:rPr lang="en-IN" sz="2000"/>
                        <a:t>For 12, Remainder 0</a:t>
                      </a:r>
                      <a:endParaRPr/>
                    </a:p>
                    <a:p>
                      <a:pPr indent="-342900" lvl="0" marL="342900" marR="0" rtl="0" algn="l">
                        <a:spcBef>
                          <a:spcPts val="0"/>
                        </a:spcBef>
                        <a:spcAft>
                          <a:spcPts val="0"/>
                        </a:spcAft>
                        <a:buClr>
                          <a:schemeClr val="dk1"/>
                        </a:buClr>
                        <a:buSzPts val="2000"/>
                        <a:buFont typeface="Arial"/>
                        <a:buChar char="•"/>
                      </a:pPr>
                      <a:r>
                        <a:rPr lang="en-IN" sz="2000"/>
                        <a:t>For 15, Remainder 0</a:t>
                      </a:r>
                      <a:endParaRPr/>
                    </a:p>
                    <a:p>
                      <a:pPr indent="-342900" lvl="0" marL="342900" marR="0" rtl="0" algn="l">
                        <a:lnSpc>
                          <a:spcPct val="100000"/>
                        </a:lnSpc>
                        <a:spcBef>
                          <a:spcPts val="0"/>
                        </a:spcBef>
                        <a:spcAft>
                          <a:spcPts val="0"/>
                        </a:spcAft>
                        <a:buClr>
                          <a:schemeClr val="dk1"/>
                        </a:buClr>
                        <a:buSzPts val="2000"/>
                        <a:buFont typeface="Arial"/>
                        <a:buChar char="•"/>
                      </a:pPr>
                      <a:r>
                        <a:rPr lang="en-IN" sz="2000"/>
                        <a:t>For 18, Remainder 0</a:t>
                      </a:r>
                      <a:endParaRPr/>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txBody>
                  <a:tcPr marT="45725" marB="45725" marR="91450" marL="91450"/>
                </a:tc>
              </a:tr>
            </a:tbl>
          </a:graphicData>
        </a:graphic>
      </p:graphicFrame>
      <p:sp>
        <p:nvSpPr>
          <p:cNvPr id="1326" name="Google Shape;1326;p126"/>
          <p:cNvSpPr/>
          <p:nvPr/>
        </p:nvSpPr>
        <p:spPr>
          <a:xfrm>
            <a:off x="2501783" y="322299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A</a:t>
            </a:r>
            <a:endParaRPr sz="1800">
              <a:solidFill>
                <a:schemeClr val="lt1"/>
              </a:solidFill>
              <a:latin typeface="Calibri"/>
              <a:ea typeface="Calibri"/>
              <a:cs typeface="Calibri"/>
              <a:sym typeface="Calibri"/>
            </a:endParaRPr>
          </a:p>
        </p:txBody>
      </p:sp>
      <p:grpSp>
        <p:nvGrpSpPr>
          <p:cNvPr id="1327" name="Google Shape;1327;p126"/>
          <p:cNvGrpSpPr/>
          <p:nvPr/>
        </p:nvGrpSpPr>
        <p:grpSpPr>
          <a:xfrm>
            <a:off x="5364088" y="2797874"/>
            <a:ext cx="1224136" cy="1152128"/>
            <a:chOff x="4196413" y="3235749"/>
            <a:chExt cx="1224136" cy="1152128"/>
          </a:xfrm>
        </p:grpSpPr>
        <p:sp>
          <p:nvSpPr>
            <p:cNvPr id="1328" name="Google Shape;1328;p126"/>
            <p:cNvSpPr/>
            <p:nvPr/>
          </p:nvSpPr>
          <p:spPr>
            <a:xfrm>
              <a:off x="4196413" y="3235749"/>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9" name="Google Shape;1329;p126"/>
            <p:cNvSpPr/>
            <p:nvPr/>
          </p:nvSpPr>
          <p:spPr>
            <a:xfrm>
              <a:off x="4340429" y="34517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grpSp>
      <p:sp>
        <p:nvSpPr>
          <p:cNvPr id="1330" name="Google Shape;1330;p126"/>
          <p:cNvSpPr/>
          <p:nvPr/>
        </p:nvSpPr>
        <p:spPr>
          <a:xfrm>
            <a:off x="5652120" y="4972000"/>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
        <p:nvSpPr>
          <p:cNvPr id="1331" name="Google Shape;1331;p126"/>
          <p:cNvSpPr/>
          <p:nvPr/>
        </p:nvSpPr>
        <p:spPr>
          <a:xfrm>
            <a:off x="2627784" y="494116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cxnSp>
        <p:nvCxnSpPr>
          <p:cNvPr id="1332" name="Google Shape;1332;p126"/>
          <p:cNvCxnSpPr/>
          <p:nvPr/>
        </p:nvCxnSpPr>
        <p:spPr>
          <a:xfrm>
            <a:off x="1835696" y="3583035"/>
            <a:ext cx="666087" cy="0"/>
          </a:xfrm>
          <a:prstGeom prst="straightConnector1">
            <a:avLst/>
          </a:prstGeom>
          <a:noFill/>
          <a:ln cap="flat" cmpd="sng" w="9525">
            <a:solidFill>
              <a:srgbClr val="4A7DBA"/>
            </a:solidFill>
            <a:prstDash val="solid"/>
            <a:round/>
            <a:headEnd len="sm" w="sm" type="none"/>
            <a:tailEnd len="med" w="med" type="stealth"/>
          </a:ln>
        </p:spPr>
      </p:cxnSp>
      <p:cxnSp>
        <p:nvCxnSpPr>
          <p:cNvPr id="1333" name="Google Shape;1333;p126"/>
          <p:cNvCxnSpPr/>
          <p:nvPr/>
        </p:nvCxnSpPr>
        <p:spPr>
          <a:xfrm>
            <a:off x="3437886" y="3562609"/>
            <a:ext cx="1926201" cy="0"/>
          </a:xfrm>
          <a:prstGeom prst="straightConnector1">
            <a:avLst/>
          </a:prstGeom>
          <a:noFill/>
          <a:ln cap="flat" cmpd="sng" w="9525">
            <a:solidFill>
              <a:srgbClr val="4A7DBA"/>
            </a:solidFill>
            <a:prstDash val="solid"/>
            <a:round/>
            <a:headEnd len="sm" w="sm" type="none"/>
            <a:tailEnd len="med" w="med" type="stealth"/>
          </a:ln>
        </p:spPr>
      </p:cxnSp>
      <p:sp>
        <p:nvSpPr>
          <p:cNvPr id="1334" name="Google Shape;1334;p126"/>
          <p:cNvSpPr txBox="1"/>
          <p:nvPr/>
        </p:nvSpPr>
        <p:spPr>
          <a:xfrm>
            <a:off x="3759554" y="3189272"/>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0,3,6,9</a:t>
            </a:r>
            <a:endParaRPr sz="1800">
              <a:solidFill>
                <a:schemeClr val="dk1"/>
              </a:solidFill>
              <a:latin typeface="Calibri"/>
              <a:ea typeface="Calibri"/>
              <a:cs typeface="Calibri"/>
              <a:sym typeface="Calibri"/>
            </a:endParaRPr>
          </a:p>
        </p:txBody>
      </p:sp>
      <p:cxnSp>
        <p:nvCxnSpPr>
          <p:cNvPr id="1335" name="Google Shape;1335;p126"/>
          <p:cNvCxnSpPr>
            <a:stCxn id="1326" idx="5"/>
          </p:cNvCxnSpPr>
          <p:nvPr/>
        </p:nvCxnSpPr>
        <p:spPr>
          <a:xfrm>
            <a:off x="3300798" y="3837622"/>
            <a:ext cx="2351400" cy="1319700"/>
          </a:xfrm>
          <a:prstGeom prst="straightConnector1">
            <a:avLst/>
          </a:prstGeom>
          <a:noFill/>
          <a:ln cap="flat" cmpd="sng" w="9525">
            <a:solidFill>
              <a:srgbClr val="4A7DBA"/>
            </a:solidFill>
            <a:prstDash val="solid"/>
            <a:round/>
            <a:headEnd len="sm" w="sm" type="none"/>
            <a:tailEnd len="med" w="med" type="stealth"/>
          </a:ln>
        </p:spPr>
      </p:cxnSp>
      <p:cxnSp>
        <p:nvCxnSpPr>
          <p:cNvPr id="1336" name="Google Shape;1336;p126"/>
          <p:cNvCxnSpPr/>
          <p:nvPr/>
        </p:nvCxnSpPr>
        <p:spPr>
          <a:xfrm>
            <a:off x="2969835"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337" name="Google Shape;1337;p126"/>
          <p:cNvSpPr txBox="1"/>
          <p:nvPr/>
        </p:nvSpPr>
        <p:spPr>
          <a:xfrm>
            <a:off x="4324887" y="4076253"/>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1,4,7</a:t>
            </a:r>
            <a:endParaRPr sz="1800">
              <a:solidFill>
                <a:schemeClr val="dk1"/>
              </a:solidFill>
              <a:latin typeface="Calibri"/>
              <a:ea typeface="Calibri"/>
              <a:cs typeface="Calibri"/>
              <a:sym typeface="Calibri"/>
            </a:endParaRPr>
          </a:p>
        </p:txBody>
      </p:sp>
      <p:sp>
        <p:nvSpPr>
          <p:cNvPr id="1338" name="Google Shape;1338;p126"/>
          <p:cNvSpPr txBox="1"/>
          <p:nvPr/>
        </p:nvSpPr>
        <p:spPr>
          <a:xfrm>
            <a:off x="2915816" y="4355812"/>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2,5,8</a:t>
            </a:r>
            <a:endParaRPr sz="1800">
              <a:solidFill>
                <a:schemeClr val="dk1"/>
              </a:solidFill>
              <a:latin typeface="Calibri"/>
              <a:ea typeface="Calibri"/>
              <a:cs typeface="Calibri"/>
              <a:sym typeface="Calibri"/>
            </a:endParaRPr>
          </a:p>
        </p:txBody>
      </p:sp>
      <p:cxnSp>
        <p:nvCxnSpPr>
          <p:cNvPr id="1339" name="Google Shape;1339;p126"/>
          <p:cNvCxnSpPr/>
          <p:nvPr/>
        </p:nvCxnSpPr>
        <p:spPr>
          <a:xfrm rot="10800000">
            <a:off x="6120172"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340" name="Google Shape;1340;p126"/>
          <p:cNvSpPr txBox="1"/>
          <p:nvPr/>
        </p:nvSpPr>
        <p:spPr>
          <a:xfrm>
            <a:off x="6262654" y="4206245"/>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2,5,8</a:t>
            </a:r>
            <a:endParaRPr sz="1800">
              <a:solidFill>
                <a:schemeClr val="dk1"/>
              </a:solidFill>
              <a:latin typeface="Calibri"/>
              <a:ea typeface="Calibri"/>
              <a:cs typeface="Calibri"/>
              <a:sym typeface="Calibri"/>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127"/>
          <p:cNvSpPr txBox="1"/>
          <p:nvPr>
            <p:ph type="title"/>
          </p:nvPr>
        </p:nvSpPr>
        <p:spPr>
          <a:xfrm>
            <a:off x="457200" y="274638"/>
            <a:ext cx="8229600" cy="346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DESIGNING FINITE AUTOMATA</a:t>
            </a:r>
            <a:endParaRPr/>
          </a:p>
        </p:txBody>
      </p:sp>
      <p:sp>
        <p:nvSpPr>
          <p:cNvPr id="1346" name="Google Shape;1346;p1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347" name="Google Shape;1347;p1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348" name="Google Shape;1348;p1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349" name="Google Shape;1349;p127"/>
          <p:cNvGraphicFramePr/>
          <p:nvPr/>
        </p:nvGraphicFramePr>
        <p:xfrm>
          <a:off x="584562" y="876240"/>
          <a:ext cx="3000000" cy="3000000"/>
        </p:xfrm>
        <a:graphic>
          <a:graphicData uri="http://schemas.openxmlformats.org/drawingml/2006/table">
            <a:tbl>
              <a:tblPr bandRow="1" firstRow="1">
                <a:noFill/>
                <a:tableStyleId>{1DD1F0B8-C0F4-4710-A24E-F3ACE173D476}</a:tableStyleId>
              </a:tblPr>
              <a:tblGrid>
                <a:gridCol w="7632850"/>
              </a:tblGrid>
              <a:tr h="3840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4</a:t>
                      </a:r>
                      <a:endParaRPr/>
                    </a:p>
                  </a:txBody>
                  <a:tcPr marT="45725" marB="45725" marR="91450" marL="91450"/>
                </a:tc>
              </a:tr>
              <a:tr h="4224475">
                <a:tc>
                  <a:txBody>
                    <a:bodyPr/>
                    <a:lstStyle/>
                    <a:p>
                      <a:pPr indent="0" lvl="0" marL="0" marR="0" rtl="0" algn="l">
                        <a:lnSpc>
                          <a:spcPct val="100000"/>
                        </a:lnSpc>
                        <a:spcBef>
                          <a:spcPts val="0"/>
                        </a:spcBef>
                        <a:spcAft>
                          <a:spcPts val="0"/>
                        </a:spcAft>
                        <a:buClr>
                          <a:schemeClr val="dk1"/>
                        </a:buClr>
                        <a:buSzPts val="2000"/>
                        <a:buFont typeface="Arial"/>
                        <a:buNone/>
                      </a:pPr>
                      <a:r>
                        <a:rPr b="1" lang="en-IN" sz="2000"/>
                        <a:t>Double Digits</a:t>
                      </a:r>
                      <a:endParaRPr/>
                    </a:p>
                    <a:p>
                      <a:pPr indent="-342900" lvl="0" marL="342900" marR="0" rtl="0" algn="l">
                        <a:lnSpc>
                          <a:spcPct val="100000"/>
                        </a:lnSpc>
                        <a:spcBef>
                          <a:spcPts val="0"/>
                        </a:spcBef>
                        <a:spcAft>
                          <a:spcPts val="0"/>
                        </a:spcAft>
                        <a:buClr>
                          <a:schemeClr val="dk1"/>
                        </a:buClr>
                        <a:buSzPts val="2000"/>
                        <a:buFont typeface="Arial"/>
                        <a:buChar char="•"/>
                      </a:pPr>
                      <a:r>
                        <a:rPr lang="en-IN" sz="2000"/>
                        <a:t>(1,4,7) mod 3=1, Remainder 1 group S1</a:t>
                      </a:r>
                      <a:endParaRPr/>
                    </a:p>
                    <a:p>
                      <a:pPr indent="-342900" lvl="0" marL="342900" marR="0" rtl="0" algn="l">
                        <a:spcBef>
                          <a:spcPts val="0"/>
                        </a:spcBef>
                        <a:spcAft>
                          <a:spcPts val="0"/>
                        </a:spcAft>
                        <a:buClr>
                          <a:schemeClr val="dk1"/>
                        </a:buClr>
                        <a:buSzPts val="2000"/>
                        <a:buFont typeface="Arial"/>
                        <a:buChar char="•"/>
                      </a:pPr>
                      <a:r>
                        <a:rPr lang="en-IN" sz="2000"/>
                        <a:t>For 10, Remainder 1</a:t>
                      </a:r>
                      <a:endParaRPr/>
                    </a:p>
                    <a:p>
                      <a:pPr indent="-342900" lvl="0" marL="342900" marR="0" rtl="0" algn="l">
                        <a:spcBef>
                          <a:spcPts val="0"/>
                        </a:spcBef>
                        <a:spcAft>
                          <a:spcPts val="0"/>
                        </a:spcAft>
                        <a:buClr>
                          <a:schemeClr val="dk1"/>
                        </a:buClr>
                        <a:buSzPts val="2000"/>
                        <a:buFont typeface="Arial"/>
                        <a:buChar char="•"/>
                      </a:pPr>
                      <a:r>
                        <a:rPr lang="en-IN" sz="2000"/>
                        <a:t>For 13, Remainder 1</a:t>
                      </a:r>
                      <a:endParaRPr/>
                    </a:p>
                    <a:p>
                      <a:pPr indent="-342900" lvl="0" marL="342900" marR="0" rtl="0" algn="l">
                        <a:lnSpc>
                          <a:spcPct val="100000"/>
                        </a:lnSpc>
                        <a:spcBef>
                          <a:spcPts val="0"/>
                        </a:spcBef>
                        <a:spcAft>
                          <a:spcPts val="0"/>
                        </a:spcAft>
                        <a:buClr>
                          <a:schemeClr val="dk1"/>
                        </a:buClr>
                        <a:buSzPts val="2000"/>
                        <a:buFont typeface="Arial"/>
                        <a:buChar char="•"/>
                      </a:pPr>
                      <a:r>
                        <a:rPr lang="en-IN" sz="2000"/>
                        <a:t>For 16, Remainder 1</a:t>
                      </a:r>
                      <a:endParaRPr/>
                    </a:p>
                    <a:p>
                      <a:pPr indent="-342900" lvl="0" marL="342900" marR="0" rtl="0" algn="l">
                        <a:lnSpc>
                          <a:spcPct val="100000"/>
                        </a:lnSpc>
                        <a:spcBef>
                          <a:spcPts val="0"/>
                        </a:spcBef>
                        <a:spcAft>
                          <a:spcPts val="0"/>
                        </a:spcAft>
                        <a:buClr>
                          <a:schemeClr val="dk1"/>
                        </a:buClr>
                        <a:buSzPts val="2000"/>
                        <a:buFont typeface="Arial"/>
                        <a:buChar char="•"/>
                      </a:pPr>
                      <a:r>
                        <a:rPr lang="en-IN" sz="2000"/>
                        <a:t>For 19, Remainder 1</a:t>
                      </a:r>
                      <a:endParaRPr/>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txBody>
                  <a:tcPr marT="45725" marB="45725" marR="91450" marL="91450"/>
                </a:tc>
              </a:tr>
            </a:tbl>
          </a:graphicData>
        </a:graphic>
      </p:graphicFrame>
      <p:sp>
        <p:nvSpPr>
          <p:cNvPr id="1350" name="Google Shape;1350;p127"/>
          <p:cNvSpPr/>
          <p:nvPr/>
        </p:nvSpPr>
        <p:spPr>
          <a:xfrm>
            <a:off x="2501783" y="322299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A</a:t>
            </a:r>
            <a:endParaRPr sz="1800">
              <a:solidFill>
                <a:schemeClr val="lt1"/>
              </a:solidFill>
              <a:latin typeface="Calibri"/>
              <a:ea typeface="Calibri"/>
              <a:cs typeface="Calibri"/>
              <a:sym typeface="Calibri"/>
            </a:endParaRPr>
          </a:p>
        </p:txBody>
      </p:sp>
      <p:grpSp>
        <p:nvGrpSpPr>
          <p:cNvPr id="1351" name="Google Shape;1351;p127"/>
          <p:cNvGrpSpPr/>
          <p:nvPr/>
        </p:nvGrpSpPr>
        <p:grpSpPr>
          <a:xfrm>
            <a:off x="5364088" y="2797874"/>
            <a:ext cx="1224136" cy="1152128"/>
            <a:chOff x="4196413" y="3235749"/>
            <a:chExt cx="1224136" cy="1152128"/>
          </a:xfrm>
        </p:grpSpPr>
        <p:sp>
          <p:nvSpPr>
            <p:cNvPr id="1352" name="Google Shape;1352;p127"/>
            <p:cNvSpPr/>
            <p:nvPr/>
          </p:nvSpPr>
          <p:spPr>
            <a:xfrm>
              <a:off x="4196413" y="3235749"/>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3" name="Google Shape;1353;p127"/>
            <p:cNvSpPr/>
            <p:nvPr/>
          </p:nvSpPr>
          <p:spPr>
            <a:xfrm>
              <a:off x="4340429" y="34517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grpSp>
      <p:sp>
        <p:nvSpPr>
          <p:cNvPr id="1354" name="Google Shape;1354;p127"/>
          <p:cNvSpPr/>
          <p:nvPr/>
        </p:nvSpPr>
        <p:spPr>
          <a:xfrm>
            <a:off x="5652120" y="4972000"/>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
        <p:nvSpPr>
          <p:cNvPr id="1355" name="Google Shape;1355;p127"/>
          <p:cNvSpPr/>
          <p:nvPr/>
        </p:nvSpPr>
        <p:spPr>
          <a:xfrm>
            <a:off x="2627784" y="494116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cxnSp>
        <p:nvCxnSpPr>
          <p:cNvPr id="1356" name="Google Shape;1356;p127"/>
          <p:cNvCxnSpPr/>
          <p:nvPr/>
        </p:nvCxnSpPr>
        <p:spPr>
          <a:xfrm>
            <a:off x="1835696" y="3583035"/>
            <a:ext cx="666087" cy="0"/>
          </a:xfrm>
          <a:prstGeom prst="straightConnector1">
            <a:avLst/>
          </a:prstGeom>
          <a:noFill/>
          <a:ln cap="flat" cmpd="sng" w="9525">
            <a:solidFill>
              <a:srgbClr val="4A7DBA"/>
            </a:solidFill>
            <a:prstDash val="solid"/>
            <a:round/>
            <a:headEnd len="sm" w="sm" type="none"/>
            <a:tailEnd len="med" w="med" type="stealth"/>
          </a:ln>
        </p:spPr>
      </p:cxnSp>
      <p:cxnSp>
        <p:nvCxnSpPr>
          <p:cNvPr id="1357" name="Google Shape;1357;p127"/>
          <p:cNvCxnSpPr/>
          <p:nvPr/>
        </p:nvCxnSpPr>
        <p:spPr>
          <a:xfrm>
            <a:off x="3437886" y="3562609"/>
            <a:ext cx="1926201" cy="0"/>
          </a:xfrm>
          <a:prstGeom prst="straightConnector1">
            <a:avLst/>
          </a:prstGeom>
          <a:noFill/>
          <a:ln cap="flat" cmpd="sng" w="9525">
            <a:solidFill>
              <a:srgbClr val="4A7DBA"/>
            </a:solidFill>
            <a:prstDash val="solid"/>
            <a:round/>
            <a:headEnd len="sm" w="sm" type="none"/>
            <a:tailEnd len="med" w="med" type="stealth"/>
          </a:ln>
        </p:spPr>
      </p:cxnSp>
      <p:sp>
        <p:nvSpPr>
          <p:cNvPr id="1358" name="Google Shape;1358;p127"/>
          <p:cNvSpPr txBox="1"/>
          <p:nvPr/>
        </p:nvSpPr>
        <p:spPr>
          <a:xfrm>
            <a:off x="3759554" y="3189272"/>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0,3,6,9</a:t>
            </a:r>
            <a:endParaRPr sz="1800">
              <a:solidFill>
                <a:schemeClr val="dk1"/>
              </a:solidFill>
              <a:latin typeface="Calibri"/>
              <a:ea typeface="Calibri"/>
              <a:cs typeface="Calibri"/>
              <a:sym typeface="Calibri"/>
            </a:endParaRPr>
          </a:p>
        </p:txBody>
      </p:sp>
      <p:cxnSp>
        <p:nvCxnSpPr>
          <p:cNvPr id="1359" name="Google Shape;1359;p127"/>
          <p:cNvCxnSpPr>
            <a:stCxn id="1350" idx="5"/>
          </p:cNvCxnSpPr>
          <p:nvPr/>
        </p:nvCxnSpPr>
        <p:spPr>
          <a:xfrm>
            <a:off x="3300798" y="3837622"/>
            <a:ext cx="2351400" cy="1319700"/>
          </a:xfrm>
          <a:prstGeom prst="straightConnector1">
            <a:avLst/>
          </a:prstGeom>
          <a:noFill/>
          <a:ln cap="flat" cmpd="sng" w="9525">
            <a:solidFill>
              <a:srgbClr val="4A7DBA"/>
            </a:solidFill>
            <a:prstDash val="solid"/>
            <a:round/>
            <a:headEnd len="sm" w="sm" type="none"/>
            <a:tailEnd len="med" w="med" type="stealth"/>
          </a:ln>
        </p:spPr>
      </p:cxnSp>
      <p:cxnSp>
        <p:nvCxnSpPr>
          <p:cNvPr id="1360" name="Google Shape;1360;p127"/>
          <p:cNvCxnSpPr/>
          <p:nvPr/>
        </p:nvCxnSpPr>
        <p:spPr>
          <a:xfrm>
            <a:off x="2969835"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361" name="Google Shape;1361;p127"/>
          <p:cNvSpPr txBox="1"/>
          <p:nvPr/>
        </p:nvSpPr>
        <p:spPr>
          <a:xfrm>
            <a:off x="4324887" y="4076253"/>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1,4,7</a:t>
            </a:r>
            <a:endParaRPr sz="1800">
              <a:solidFill>
                <a:schemeClr val="dk1"/>
              </a:solidFill>
              <a:latin typeface="Calibri"/>
              <a:ea typeface="Calibri"/>
              <a:cs typeface="Calibri"/>
              <a:sym typeface="Calibri"/>
            </a:endParaRPr>
          </a:p>
        </p:txBody>
      </p:sp>
      <p:sp>
        <p:nvSpPr>
          <p:cNvPr id="1362" name="Google Shape;1362;p127"/>
          <p:cNvSpPr txBox="1"/>
          <p:nvPr/>
        </p:nvSpPr>
        <p:spPr>
          <a:xfrm>
            <a:off x="2915816" y="4355812"/>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2,5,8</a:t>
            </a:r>
            <a:endParaRPr sz="1800">
              <a:solidFill>
                <a:schemeClr val="dk1"/>
              </a:solidFill>
              <a:latin typeface="Calibri"/>
              <a:ea typeface="Calibri"/>
              <a:cs typeface="Calibri"/>
              <a:sym typeface="Calibri"/>
            </a:endParaRPr>
          </a:p>
        </p:txBody>
      </p:sp>
      <p:cxnSp>
        <p:nvCxnSpPr>
          <p:cNvPr id="1363" name="Google Shape;1363;p127"/>
          <p:cNvCxnSpPr/>
          <p:nvPr/>
        </p:nvCxnSpPr>
        <p:spPr>
          <a:xfrm rot="10800000">
            <a:off x="6120172"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364" name="Google Shape;1364;p127"/>
          <p:cNvSpPr txBox="1"/>
          <p:nvPr/>
        </p:nvSpPr>
        <p:spPr>
          <a:xfrm>
            <a:off x="6262654" y="4206245"/>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2,5,8</a:t>
            </a:r>
            <a:endParaRPr sz="1800">
              <a:solidFill>
                <a:schemeClr val="dk1"/>
              </a:solidFill>
              <a:latin typeface="Calibri"/>
              <a:ea typeface="Calibri"/>
              <a:cs typeface="Calibri"/>
              <a:sym typeface="Calibri"/>
            </a:endParaRPr>
          </a:p>
        </p:txBody>
      </p:sp>
      <p:sp>
        <p:nvSpPr>
          <p:cNvPr id="1365" name="Google Shape;1365;p127"/>
          <p:cNvSpPr/>
          <p:nvPr/>
        </p:nvSpPr>
        <p:spPr>
          <a:xfrm>
            <a:off x="5868144" y="5661248"/>
            <a:ext cx="720080" cy="720080"/>
          </a:xfrm>
          <a:prstGeom prst="curvedUpArrow">
            <a:avLst>
              <a:gd fmla="val 25000" name="adj1"/>
              <a:gd fmla="val 50000" name="adj2"/>
              <a:gd fmla="val 25000" name="adj3"/>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66" name="Google Shape;1366;p127"/>
          <p:cNvSpPr txBox="1"/>
          <p:nvPr/>
        </p:nvSpPr>
        <p:spPr>
          <a:xfrm>
            <a:off x="6482437" y="6021288"/>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accent6"/>
                </a:solidFill>
                <a:latin typeface="Calibri"/>
                <a:ea typeface="Calibri"/>
                <a:cs typeface="Calibri"/>
                <a:sym typeface="Calibri"/>
              </a:rPr>
              <a:t>0,3,6,9</a:t>
            </a:r>
            <a:endParaRPr b="1" sz="1800">
              <a:solidFill>
                <a:schemeClr val="accent6"/>
              </a:solidFill>
              <a:latin typeface="Calibri"/>
              <a:ea typeface="Calibri"/>
              <a:cs typeface="Calibri"/>
              <a:sym typeface="Calibri"/>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128"/>
          <p:cNvSpPr txBox="1"/>
          <p:nvPr>
            <p:ph type="title"/>
          </p:nvPr>
        </p:nvSpPr>
        <p:spPr>
          <a:xfrm>
            <a:off x="457200" y="274638"/>
            <a:ext cx="8229600" cy="346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DESIGNING FINITE AUTOMATA</a:t>
            </a:r>
            <a:endParaRPr/>
          </a:p>
        </p:txBody>
      </p:sp>
      <p:sp>
        <p:nvSpPr>
          <p:cNvPr id="1372" name="Google Shape;1372;p1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373" name="Google Shape;1373;p1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374" name="Google Shape;1374;p1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375" name="Google Shape;1375;p128"/>
          <p:cNvGraphicFramePr/>
          <p:nvPr/>
        </p:nvGraphicFramePr>
        <p:xfrm>
          <a:off x="584562" y="781352"/>
          <a:ext cx="3000000" cy="3000000"/>
        </p:xfrm>
        <a:graphic>
          <a:graphicData uri="http://schemas.openxmlformats.org/drawingml/2006/table">
            <a:tbl>
              <a:tblPr bandRow="1" firstRow="1">
                <a:noFill/>
                <a:tableStyleId>{1DD1F0B8-C0F4-4710-A24E-F3ACE173D476}</a:tableStyleId>
              </a:tblPr>
              <a:tblGrid>
                <a:gridCol w="7632850"/>
              </a:tblGrid>
              <a:tr h="3840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4</a:t>
                      </a:r>
                      <a:endParaRPr/>
                    </a:p>
                  </a:txBody>
                  <a:tcPr marT="45725" marB="45725" marR="91450" marL="91450"/>
                </a:tc>
              </a:tr>
              <a:tr h="4224475">
                <a:tc>
                  <a:txBody>
                    <a:bodyPr/>
                    <a:lstStyle/>
                    <a:p>
                      <a:pPr indent="0" lvl="0" marL="0" marR="0" rtl="0" algn="l">
                        <a:lnSpc>
                          <a:spcPct val="100000"/>
                        </a:lnSpc>
                        <a:spcBef>
                          <a:spcPts val="0"/>
                        </a:spcBef>
                        <a:spcAft>
                          <a:spcPts val="0"/>
                        </a:spcAft>
                        <a:buClr>
                          <a:schemeClr val="dk1"/>
                        </a:buClr>
                        <a:buSzPts val="2000"/>
                        <a:buFont typeface="Arial"/>
                        <a:buNone/>
                      </a:pPr>
                      <a:r>
                        <a:rPr b="1" lang="en-IN" sz="2000"/>
                        <a:t>Double Digits</a:t>
                      </a:r>
                      <a:endParaRPr/>
                    </a:p>
                    <a:p>
                      <a:pPr indent="-342900" lvl="0" marL="342900" marR="0" rtl="0" algn="l">
                        <a:lnSpc>
                          <a:spcPct val="100000"/>
                        </a:lnSpc>
                        <a:spcBef>
                          <a:spcPts val="0"/>
                        </a:spcBef>
                        <a:spcAft>
                          <a:spcPts val="0"/>
                        </a:spcAft>
                        <a:buClr>
                          <a:schemeClr val="dk1"/>
                        </a:buClr>
                        <a:buSzPts val="2000"/>
                        <a:buFont typeface="Arial"/>
                        <a:buChar char="•"/>
                      </a:pPr>
                      <a:r>
                        <a:rPr lang="en-IN" sz="2000"/>
                        <a:t>(2,5,8,11,14,17…)mod 3=2, Remainder 2 group S2</a:t>
                      </a:r>
                      <a:endParaRPr/>
                    </a:p>
                    <a:p>
                      <a:pPr indent="-342900" lvl="0" marL="342900" marR="0" rtl="0" algn="l">
                        <a:spcBef>
                          <a:spcPts val="0"/>
                        </a:spcBef>
                        <a:spcAft>
                          <a:spcPts val="0"/>
                        </a:spcAft>
                        <a:buClr>
                          <a:schemeClr val="dk1"/>
                        </a:buClr>
                        <a:buSzPts val="2000"/>
                        <a:buFont typeface="Arial"/>
                        <a:buChar char="•"/>
                      </a:pPr>
                      <a:r>
                        <a:rPr lang="en-IN" sz="2000"/>
                        <a:t>For 11, Remainder 2</a:t>
                      </a:r>
                      <a:endParaRPr/>
                    </a:p>
                    <a:p>
                      <a:pPr indent="-342900" lvl="0" marL="342900" marR="0" rtl="0" algn="l">
                        <a:spcBef>
                          <a:spcPts val="0"/>
                        </a:spcBef>
                        <a:spcAft>
                          <a:spcPts val="0"/>
                        </a:spcAft>
                        <a:buClr>
                          <a:schemeClr val="dk1"/>
                        </a:buClr>
                        <a:buSzPts val="2000"/>
                        <a:buFont typeface="Arial"/>
                        <a:buChar char="•"/>
                      </a:pPr>
                      <a:r>
                        <a:rPr lang="en-IN" sz="2000"/>
                        <a:t>For 14, Remainder 2</a:t>
                      </a:r>
                      <a:endParaRPr/>
                    </a:p>
                    <a:p>
                      <a:pPr indent="-342900" lvl="0" marL="342900" marR="0" rtl="0" algn="l">
                        <a:lnSpc>
                          <a:spcPct val="100000"/>
                        </a:lnSpc>
                        <a:spcBef>
                          <a:spcPts val="0"/>
                        </a:spcBef>
                        <a:spcAft>
                          <a:spcPts val="0"/>
                        </a:spcAft>
                        <a:buClr>
                          <a:schemeClr val="dk1"/>
                        </a:buClr>
                        <a:buSzPts val="2000"/>
                        <a:buFont typeface="Arial"/>
                        <a:buChar char="•"/>
                      </a:pPr>
                      <a:r>
                        <a:rPr lang="en-IN" sz="2000"/>
                        <a:t>For 17, Remainder 2</a:t>
                      </a:r>
                      <a:endParaRPr/>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txBody>
                  <a:tcPr marT="45725" marB="45725" marR="91450" marL="91450"/>
                </a:tc>
              </a:tr>
            </a:tbl>
          </a:graphicData>
        </a:graphic>
      </p:graphicFrame>
      <p:sp>
        <p:nvSpPr>
          <p:cNvPr id="1376" name="Google Shape;1376;p128"/>
          <p:cNvSpPr/>
          <p:nvPr/>
        </p:nvSpPr>
        <p:spPr>
          <a:xfrm>
            <a:off x="2501783" y="322299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A</a:t>
            </a:r>
            <a:endParaRPr sz="1800">
              <a:solidFill>
                <a:schemeClr val="lt1"/>
              </a:solidFill>
              <a:latin typeface="Calibri"/>
              <a:ea typeface="Calibri"/>
              <a:cs typeface="Calibri"/>
              <a:sym typeface="Calibri"/>
            </a:endParaRPr>
          </a:p>
        </p:txBody>
      </p:sp>
      <p:grpSp>
        <p:nvGrpSpPr>
          <p:cNvPr id="1377" name="Google Shape;1377;p128"/>
          <p:cNvGrpSpPr/>
          <p:nvPr/>
        </p:nvGrpSpPr>
        <p:grpSpPr>
          <a:xfrm>
            <a:off x="5364088" y="2797874"/>
            <a:ext cx="1224136" cy="1152128"/>
            <a:chOff x="4196413" y="3235749"/>
            <a:chExt cx="1224136" cy="1152128"/>
          </a:xfrm>
        </p:grpSpPr>
        <p:sp>
          <p:nvSpPr>
            <p:cNvPr id="1378" name="Google Shape;1378;p128"/>
            <p:cNvSpPr/>
            <p:nvPr/>
          </p:nvSpPr>
          <p:spPr>
            <a:xfrm>
              <a:off x="4196413" y="3235749"/>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9" name="Google Shape;1379;p128"/>
            <p:cNvSpPr/>
            <p:nvPr/>
          </p:nvSpPr>
          <p:spPr>
            <a:xfrm>
              <a:off x="4340429" y="34517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grpSp>
      <p:sp>
        <p:nvSpPr>
          <p:cNvPr id="1380" name="Google Shape;1380;p128"/>
          <p:cNvSpPr/>
          <p:nvPr/>
        </p:nvSpPr>
        <p:spPr>
          <a:xfrm>
            <a:off x="5652120" y="4972000"/>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
        <p:nvSpPr>
          <p:cNvPr id="1381" name="Google Shape;1381;p128"/>
          <p:cNvSpPr/>
          <p:nvPr/>
        </p:nvSpPr>
        <p:spPr>
          <a:xfrm>
            <a:off x="2627784" y="494116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cxnSp>
        <p:nvCxnSpPr>
          <p:cNvPr id="1382" name="Google Shape;1382;p128"/>
          <p:cNvCxnSpPr/>
          <p:nvPr/>
        </p:nvCxnSpPr>
        <p:spPr>
          <a:xfrm>
            <a:off x="1835696" y="3583035"/>
            <a:ext cx="666087" cy="0"/>
          </a:xfrm>
          <a:prstGeom prst="straightConnector1">
            <a:avLst/>
          </a:prstGeom>
          <a:noFill/>
          <a:ln cap="flat" cmpd="sng" w="9525">
            <a:solidFill>
              <a:srgbClr val="4A7DBA"/>
            </a:solidFill>
            <a:prstDash val="solid"/>
            <a:round/>
            <a:headEnd len="sm" w="sm" type="none"/>
            <a:tailEnd len="med" w="med" type="stealth"/>
          </a:ln>
        </p:spPr>
      </p:cxnSp>
      <p:cxnSp>
        <p:nvCxnSpPr>
          <p:cNvPr id="1383" name="Google Shape;1383;p128"/>
          <p:cNvCxnSpPr/>
          <p:nvPr/>
        </p:nvCxnSpPr>
        <p:spPr>
          <a:xfrm>
            <a:off x="3437886" y="3562609"/>
            <a:ext cx="1926201" cy="0"/>
          </a:xfrm>
          <a:prstGeom prst="straightConnector1">
            <a:avLst/>
          </a:prstGeom>
          <a:noFill/>
          <a:ln cap="flat" cmpd="sng" w="9525">
            <a:solidFill>
              <a:srgbClr val="4A7DBA"/>
            </a:solidFill>
            <a:prstDash val="solid"/>
            <a:round/>
            <a:headEnd len="sm" w="sm" type="none"/>
            <a:tailEnd len="med" w="med" type="stealth"/>
          </a:ln>
        </p:spPr>
      </p:cxnSp>
      <p:sp>
        <p:nvSpPr>
          <p:cNvPr id="1384" name="Google Shape;1384;p128"/>
          <p:cNvSpPr txBox="1"/>
          <p:nvPr/>
        </p:nvSpPr>
        <p:spPr>
          <a:xfrm>
            <a:off x="3759554" y="3189272"/>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0,3,6,9</a:t>
            </a:r>
            <a:endParaRPr sz="1800">
              <a:solidFill>
                <a:schemeClr val="dk1"/>
              </a:solidFill>
              <a:latin typeface="Calibri"/>
              <a:ea typeface="Calibri"/>
              <a:cs typeface="Calibri"/>
              <a:sym typeface="Calibri"/>
            </a:endParaRPr>
          </a:p>
        </p:txBody>
      </p:sp>
      <p:cxnSp>
        <p:nvCxnSpPr>
          <p:cNvPr id="1385" name="Google Shape;1385;p128"/>
          <p:cNvCxnSpPr>
            <a:stCxn id="1376" idx="5"/>
          </p:cNvCxnSpPr>
          <p:nvPr/>
        </p:nvCxnSpPr>
        <p:spPr>
          <a:xfrm>
            <a:off x="3300798" y="3837622"/>
            <a:ext cx="2351400" cy="1319700"/>
          </a:xfrm>
          <a:prstGeom prst="straightConnector1">
            <a:avLst/>
          </a:prstGeom>
          <a:noFill/>
          <a:ln cap="flat" cmpd="sng" w="9525">
            <a:solidFill>
              <a:srgbClr val="4A7DBA"/>
            </a:solidFill>
            <a:prstDash val="solid"/>
            <a:round/>
            <a:headEnd len="sm" w="sm" type="none"/>
            <a:tailEnd len="med" w="med" type="stealth"/>
          </a:ln>
        </p:spPr>
      </p:cxnSp>
      <p:cxnSp>
        <p:nvCxnSpPr>
          <p:cNvPr id="1386" name="Google Shape;1386;p128"/>
          <p:cNvCxnSpPr/>
          <p:nvPr/>
        </p:nvCxnSpPr>
        <p:spPr>
          <a:xfrm>
            <a:off x="2969835"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387" name="Google Shape;1387;p128"/>
          <p:cNvSpPr txBox="1"/>
          <p:nvPr/>
        </p:nvSpPr>
        <p:spPr>
          <a:xfrm>
            <a:off x="4324887" y="4076253"/>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1,4,7</a:t>
            </a:r>
            <a:endParaRPr sz="1800">
              <a:solidFill>
                <a:schemeClr val="dk1"/>
              </a:solidFill>
              <a:latin typeface="Calibri"/>
              <a:ea typeface="Calibri"/>
              <a:cs typeface="Calibri"/>
              <a:sym typeface="Calibri"/>
            </a:endParaRPr>
          </a:p>
        </p:txBody>
      </p:sp>
      <p:sp>
        <p:nvSpPr>
          <p:cNvPr id="1388" name="Google Shape;1388;p128"/>
          <p:cNvSpPr txBox="1"/>
          <p:nvPr/>
        </p:nvSpPr>
        <p:spPr>
          <a:xfrm>
            <a:off x="2915816" y="4355812"/>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2,5,8</a:t>
            </a:r>
            <a:endParaRPr sz="1800">
              <a:solidFill>
                <a:schemeClr val="dk1"/>
              </a:solidFill>
              <a:latin typeface="Calibri"/>
              <a:ea typeface="Calibri"/>
              <a:cs typeface="Calibri"/>
              <a:sym typeface="Calibri"/>
            </a:endParaRPr>
          </a:p>
        </p:txBody>
      </p:sp>
      <p:cxnSp>
        <p:nvCxnSpPr>
          <p:cNvPr id="1389" name="Google Shape;1389;p128"/>
          <p:cNvCxnSpPr/>
          <p:nvPr/>
        </p:nvCxnSpPr>
        <p:spPr>
          <a:xfrm rot="10800000">
            <a:off x="6120172"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390" name="Google Shape;1390;p128"/>
          <p:cNvSpPr txBox="1"/>
          <p:nvPr/>
        </p:nvSpPr>
        <p:spPr>
          <a:xfrm>
            <a:off x="6262654" y="4206245"/>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2,5,8</a:t>
            </a:r>
            <a:endParaRPr sz="1800">
              <a:solidFill>
                <a:schemeClr val="dk1"/>
              </a:solidFill>
              <a:latin typeface="Calibri"/>
              <a:ea typeface="Calibri"/>
              <a:cs typeface="Calibri"/>
              <a:sym typeface="Calibri"/>
            </a:endParaRPr>
          </a:p>
        </p:txBody>
      </p:sp>
      <p:sp>
        <p:nvSpPr>
          <p:cNvPr id="1391" name="Google Shape;1391;p128"/>
          <p:cNvSpPr/>
          <p:nvPr/>
        </p:nvSpPr>
        <p:spPr>
          <a:xfrm>
            <a:off x="5868144" y="5661248"/>
            <a:ext cx="720080" cy="720080"/>
          </a:xfrm>
          <a:prstGeom prst="curvedUpArrow">
            <a:avLst>
              <a:gd fmla="val 25000" name="adj1"/>
              <a:gd fmla="val 50000" name="adj2"/>
              <a:gd fmla="val 25000" name="adj3"/>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92" name="Google Shape;1392;p128"/>
          <p:cNvSpPr txBox="1"/>
          <p:nvPr/>
        </p:nvSpPr>
        <p:spPr>
          <a:xfrm>
            <a:off x="6482437" y="6021288"/>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accent6"/>
                </a:solidFill>
                <a:latin typeface="Calibri"/>
                <a:ea typeface="Calibri"/>
                <a:cs typeface="Calibri"/>
                <a:sym typeface="Calibri"/>
              </a:rPr>
              <a:t>0,3,6,9</a:t>
            </a:r>
            <a:endParaRPr b="1" sz="1800">
              <a:solidFill>
                <a:schemeClr val="accent6"/>
              </a:solidFill>
              <a:latin typeface="Calibri"/>
              <a:ea typeface="Calibri"/>
              <a:cs typeface="Calibri"/>
              <a:sym typeface="Calibri"/>
            </a:endParaRPr>
          </a:p>
        </p:txBody>
      </p:sp>
      <p:cxnSp>
        <p:nvCxnSpPr>
          <p:cNvPr id="1393" name="Google Shape;1393;p128"/>
          <p:cNvCxnSpPr/>
          <p:nvPr/>
        </p:nvCxnSpPr>
        <p:spPr>
          <a:xfrm rot="10800000">
            <a:off x="3566956" y="5332040"/>
            <a:ext cx="2085164" cy="0"/>
          </a:xfrm>
          <a:prstGeom prst="straightConnector1">
            <a:avLst/>
          </a:prstGeom>
          <a:noFill/>
          <a:ln cap="flat" cmpd="sng" w="9525">
            <a:solidFill>
              <a:srgbClr val="4A7DBA"/>
            </a:solidFill>
            <a:prstDash val="solid"/>
            <a:round/>
            <a:headEnd len="sm" w="sm" type="none"/>
            <a:tailEnd len="med" w="med" type="stealth"/>
          </a:ln>
        </p:spPr>
      </p:cxnSp>
      <p:sp>
        <p:nvSpPr>
          <p:cNvPr id="1394" name="Google Shape;1394;p128"/>
          <p:cNvSpPr txBox="1"/>
          <p:nvPr/>
        </p:nvSpPr>
        <p:spPr>
          <a:xfrm>
            <a:off x="4283968" y="5003884"/>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1,4,7</a:t>
            </a:r>
            <a:endParaRPr sz="1800">
              <a:solidFill>
                <a:schemeClr val="dk1"/>
              </a:solidFill>
              <a:latin typeface="Calibri"/>
              <a:ea typeface="Calibri"/>
              <a:cs typeface="Calibri"/>
              <a:sym typeface="Calibri"/>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sp>
        <p:nvSpPr>
          <p:cNvPr id="1399" name="Google Shape;1399;p129"/>
          <p:cNvSpPr txBox="1"/>
          <p:nvPr>
            <p:ph type="title"/>
          </p:nvPr>
        </p:nvSpPr>
        <p:spPr>
          <a:xfrm>
            <a:off x="457200" y="274638"/>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DESIGNING FINITE AUTOMATA</a:t>
            </a:r>
            <a:endParaRPr/>
          </a:p>
        </p:txBody>
      </p:sp>
      <p:sp>
        <p:nvSpPr>
          <p:cNvPr id="1400" name="Google Shape;1400;p1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401" name="Google Shape;1401;p1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402" name="Google Shape;1402;p1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403" name="Google Shape;1403;p129"/>
          <p:cNvGraphicFramePr/>
          <p:nvPr/>
        </p:nvGraphicFramePr>
        <p:xfrm>
          <a:off x="584562" y="1033103"/>
          <a:ext cx="3000000" cy="3000000"/>
        </p:xfrm>
        <a:graphic>
          <a:graphicData uri="http://schemas.openxmlformats.org/drawingml/2006/table">
            <a:tbl>
              <a:tblPr bandRow="1" firstRow="1">
                <a:noFill/>
                <a:tableStyleId>{1DD1F0B8-C0F4-4710-A24E-F3ACE173D476}</a:tableStyleId>
              </a:tblPr>
              <a:tblGrid>
                <a:gridCol w="7632850"/>
              </a:tblGrid>
              <a:tr h="3840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4</a:t>
                      </a:r>
                      <a:endParaRPr/>
                    </a:p>
                  </a:txBody>
                  <a:tcPr marT="45725" marB="45725" marR="91450" marL="91450"/>
                </a:tc>
              </a:tr>
              <a:tr h="4224475">
                <a:tc>
                  <a:txBody>
                    <a:bodyPr/>
                    <a:lstStyle/>
                    <a:p>
                      <a:pPr indent="0" lvl="0" marL="0" marR="0" rtl="0" algn="l">
                        <a:lnSpc>
                          <a:spcPct val="100000"/>
                        </a:lnSpc>
                        <a:spcBef>
                          <a:spcPts val="0"/>
                        </a:spcBef>
                        <a:spcAft>
                          <a:spcPts val="0"/>
                        </a:spcAft>
                        <a:buClr>
                          <a:schemeClr val="dk1"/>
                        </a:buClr>
                        <a:buSzPts val="2000"/>
                        <a:buFont typeface="Arial"/>
                        <a:buNone/>
                      </a:pPr>
                      <a:r>
                        <a:rPr b="1" lang="en-IN" sz="2000"/>
                        <a:t>Double Digits</a:t>
                      </a:r>
                      <a:endParaRPr/>
                    </a:p>
                    <a:p>
                      <a:pPr indent="-342900" lvl="0" marL="342900" marR="0" rtl="0" algn="l">
                        <a:spcBef>
                          <a:spcPts val="0"/>
                        </a:spcBef>
                        <a:spcAft>
                          <a:spcPts val="0"/>
                        </a:spcAft>
                        <a:buClr>
                          <a:schemeClr val="dk1"/>
                        </a:buClr>
                        <a:buSzPts val="2000"/>
                        <a:buFont typeface="Arial"/>
                        <a:buChar char="•"/>
                      </a:pPr>
                      <a:r>
                        <a:rPr lang="en-IN" sz="2000"/>
                        <a:t>For 21, Remainder 0</a:t>
                      </a:r>
                      <a:endParaRPr/>
                    </a:p>
                    <a:p>
                      <a:pPr indent="-342900" lvl="0" marL="342900" marR="0" rtl="0" algn="l">
                        <a:spcBef>
                          <a:spcPts val="0"/>
                        </a:spcBef>
                        <a:spcAft>
                          <a:spcPts val="0"/>
                        </a:spcAft>
                        <a:buClr>
                          <a:schemeClr val="dk1"/>
                        </a:buClr>
                        <a:buSzPts val="2000"/>
                        <a:buFont typeface="Arial"/>
                        <a:buChar char="•"/>
                      </a:pPr>
                      <a:r>
                        <a:rPr lang="en-IN" sz="2000"/>
                        <a:t>For 24, Remainder 0</a:t>
                      </a:r>
                      <a:endParaRPr/>
                    </a:p>
                    <a:p>
                      <a:pPr indent="-342900" lvl="0" marL="342900" marR="0" rtl="0" algn="l">
                        <a:lnSpc>
                          <a:spcPct val="100000"/>
                        </a:lnSpc>
                        <a:spcBef>
                          <a:spcPts val="0"/>
                        </a:spcBef>
                        <a:spcAft>
                          <a:spcPts val="0"/>
                        </a:spcAft>
                        <a:buClr>
                          <a:schemeClr val="dk1"/>
                        </a:buClr>
                        <a:buSzPts val="2000"/>
                        <a:buFont typeface="Arial"/>
                        <a:buChar char="•"/>
                      </a:pPr>
                      <a:r>
                        <a:rPr lang="en-IN" sz="2000"/>
                        <a:t>For 27, Remainder 0</a:t>
                      </a:r>
                      <a:endParaRPr/>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txBody>
                  <a:tcPr marT="45725" marB="45725" marR="91450" marL="91450"/>
                </a:tc>
              </a:tr>
            </a:tbl>
          </a:graphicData>
        </a:graphic>
      </p:graphicFrame>
      <p:sp>
        <p:nvSpPr>
          <p:cNvPr id="1404" name="Google Shape;1404;p129"/>
          <p:cNvSpPr/>
          <p:nvPr/>
        </p:nvSpPr>
        <p:spPr>
          <a:xfrm>
            <a:off x="2501783" y="322299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A</a:t>
            </a:r>
            <a:endParaRPr sz="1800">
              <a:solidFill>
                <a:schemeClr val="lt1"/>
              </a:solidFill>
              <a:latin typeface="Calibri"/>
              <a:ea typeface="Calibri"/>
              <a:cs typeface="Calibri"/>
              <a:sym typeface="Calibri"/>
            </a:endParaRPr>
          </a:p>
        </p:txBody>
      </p:sp>
      <p:grpSp>
        <p:nvGrpSpPr>
          <p:cNvPr id="1405" name="Google Shape;1405;p129"/>
          <p:cNvGrpSpPr/>
          <p:nvPr/>
        </p:nvGrpSpPr>
        <p:grpSpPr>
          <a:xfrm>
            <a:off x="5364088" y="2797874"/>
            <a:ext cx="1224136" cy="1152128"/>
            <a:chOff x="4196413" y="3235749"/>
            <a:chExt cx="1224136" cy="1152128"/>
          </a:xfrm>
        </p:grpSpPr>
        <p:sp>
          <p:nvSpPr>
            <p:cNvPr id="1406" name="Google Shape;1406;p129"/>
            <p:cNvSpPr/>
            <p:nvPr/>
          </p:nvSpPr>
          <p:spPr>
            <a:xfrm>
              <a:off x="4196413" y="3235749"/>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7" name="Google Shape;1407;p129"/>
            <p:cNvSpPr/>
            <p:nvPr/>
          </p:nvSpPr>
          <p:spPr>
            <a:xfrm>
              <a:off x="4340429" y="34517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grpSp>
      <p:sp>
        <p:nvSpPr>
          <p:cNvPr id="1408" name="Google Shape;1408;p129"/>
          <p:cNvSpPr/>
          <p:nvPr/>
        </p:nvSpPr>
        <p:spPr>
          <a:xfrm>
            <a:off x="5652120" y="4972000"/>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
        <p:nvSpPr>
          <p:cNvPr id="1409" name="Google Shape;1409;p129"/>
          <p:cNvSpPr/>
          <p:nvPr/>
        </p:nvSpPr>
        <p:spPr>
          <a:xfrm>
            <a:off x="2627784" y="494116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cxnSp>
        <p:nvCxnSpPr>
          <p:cNvPr id="1410" name="Google Shape;1410;p129"/>
          <p:cNvCxnSpPr/>
          <p:nvPr/>
        </p:nvCxnSpPr>
        <p:spPr>
          <a:xfrm>
            <a:off x="1835696" y="3583035"/>
            <a:ext cx="666087" cy="0"/>
          </a:xfrm>
          <a:prstGeom prst="straightConnector1">
            <a:avLst/>
          </a:prstGeom>
          <a:noFill/>
          <a:ln cap="flat" cmpd="sng" w="9525">
            <a:solidFill>
              <a:srgbClr val="4A7DBA"/>
            </a:solidFill>
            <a:prstDash val="solid"/>
            <a:round/>
            <a:headEnd len="sm" w="sm" type="none"/>
            <a:tailEnd len="med" w="med" type="stealth"/>
          </a:ln>
        </p:spPr>
      </p:cxnSp>
      <p:cxnSp>
        <p:nvCxnSpPr>
          <p:cNvPr id="1411" name="Google Shape;1411;p129"/>
          <p:cNvCxnSpPr/>
          <p:nvPr/>
        </p:nvCxnSpPr>
        <p:spPr>
          <a:xfrm>
            <a:off x="3437886" y="3562609"/>
            <a:ext cx="1926201" cy="0"/>
          </a:xfrm>
          <a:prstGeom prst="straightConnector1">
            <a:avLst/>
          </a:prstGeom>
          <a:noFill/>
          <a:ln cap="flat" cmpd="sng" w="9525">
            <a:solidFill>
              <a:srgbClr val="4A7DBA"/>
            </a:solidFill>
            <a:prstDash val="solid"/>
            <a:round/>
            <a:headEnd len="sm" w="sm" type="none"/>
            <a:tailEnd len="med" w="med" type="stealth"/>
          </a:ln>
        </p:spPr>
      </p:cxnSp>
      <p:sp>
        <p:nvSpPr>
          <p:cNvPr id="1412" name="Google Shape;1412;p129"/>
          <p:cNvSpPr txBox="1"/>
          <p:nvPr/>
        </p:nvSpPr>
        <p:spPr>
          <a:xfrm>
            <a:off x="3759554" y="3189272"/>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0,3,6,9</a:t>
            </a:r>
            <a:endParaRPr b="1" sz="1800">
              <a:solidFill>
                <a:schemeClr val="dk1"/>
              </a:solidFill>
              <a:latin typeface="Calibri"/>
              <a:ea typeface="Calibri"/>
              <a:cs typeface="Calibri"/>
              <a:sym typeface="Calibri"/>
            </a:endParaRPr>
          </a:p>
        </p:txBody>
      </p:sp>
      <p:cxnSp>
        <p:nvCxnSpPr>
          <p:cNvPr id="1413" name="Google Shape;1413;p129"/>
          <p:cNvCxnSpPr>
            <a:stCxn id="1404" idx="5"/>
          </p:cNvCxnSpPr>
          <p:nvPr/>
        </p:nvCxnSpPr>
        <p:spPr>
          <a:xfrm>
            <a:off x="3300798" y="3837622"/>
            <a:ext cx="2351400" cy="1319700"/>
          </a:xfrm>
          <a:prstGeom prst="straightConnector1">
            <a:avLst/>
          </a:prstGeom>
          <a:noFill/>
          <a:ln cap="flat" cmpd="sng" w="9525">
            <a:solidFill>
              <a:srgbClr val="4A7DBA"/>
            </a:solidFill>
            <a:prstDash val="solid"/>
            <a:round/>
            <a:headEnd len="sm" w="sm" type="none"/>
            <a:tailEnd len="med" w="med" type="stealth"/>
          </a:ln>
        </p:spPr>
      </p:cxnSp>
      <p:cxnSp>
        <p:nvCxnSpPr>
          <p:cNvPr id="1414" name="Google Shape;1414;p129"/>
          <p:cNvCxnSpPr/>
          <p:nvPr/>
        </p:nvCxnSpPr>
        <p:spPr>
          <a:xfrm>
            <a:off x="2969835"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415" name="Google Shape;1415;p129"/>
          <p:cNvSpPr txBox="1"/>
          <p:nvPr/>
        </p:nvSpPr>
        <p:spPr>
          <a:xfrm>
            <a:off x="4324887" y="4076253"/>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
        <p:nvSpPr>
          <p:cNvPr id="1416" name="Google Shape;1416;p129"/>
          <p:cNvSpPr txBox="1"/>
          <p:nvPr/>
        </p:nvSpPr>
        <p:spPr>
          <a:xfrm>
            <a:off x="2915816" y="4355812"/>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2,5,8</a:t>
            </a:r>
            <a:endParaRPr b="1" sz="1800">
              <a:solidFill>
                <a:schemeClr val="dk1"/>
              </a:solidFill>
              <a:latin typeface="Calibri"/>
              <a:ea typeface="Calibri"/>
              <a:cs typeface="Calibri"/>
              <a:sym typeface="Calibri"/>
            </a:endParaRPr>
          </a:p>
        </p:txBody>
      </p:sp>
      <p:cxnSp>
        <p:nvCxnSpPr>
          <p:cNvPr id="1417" name="Google Shape;1417;p129"/>
          <p:cNvCxnSpPr/>
          <p:nvPr/>
        </p:nvCxnSpPr>
        <p:spPr>
          <a:xfrm rot="10800000">
            <a:off x="6120172"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418" name="Google Shape;1418;p129"/>
          <p:cNvSpPr txBox="1"/>
          <p:nvPr/>
        </p:nvSpPr>
        <p:spPr>
          <a:xfrm>
            <a:off x="6175990" y="4193535"/>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2,5,8</a:t>
            </a:r>
            <a:endParaRPr b="1" sz="1800">
              <a:solidFill>
                <a:schemeClr val="dk1"/>
              </a:solidFill>
              <a:latin typeface="Calibri"/>
              <a:ea typeface="Calibri"/>
              <a:cs typeface="Calibri"/>
              <a:sym typeface="Calibri"/>
            </a:endParaRPr>
          </a:p>
        </p:txBody>
      </p:sp>
      <p:sp>
        <p:nvSpPr>
          <p:cNvPr id="1419" name="Google Shape;1419;p129"/>
          <p:cNvSpPr txBox="1"/>
          <p:nvPr/>
        </p:nvSpPr>
        <p:spPr>
          <a:xfrm>
            <a:off x="7020272" y="5692080"/>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
        <p:nvSpPr>
          <p:cNvPr id="1420" name="Google Shape;1420;p129"/>
          <p:cNvSpPr/>
          <p:nvPr/>
        </p:nvSpPr>
        <p:spPr>
          <a:xfrm rot="-1914745">
            <a:off x="3253261" y="4251701"/>
            <a:ext cx="4921171" cy="2240936"/>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21" name="Google Shape;1421;p129"/>
          <p:cNvSpPr/>
          <p:nvPr/>
        </p:nvSpPr>
        <p:spPr>
          <a:xfrm>
            <a:off x="5868144" y="5661248"/>
            <a:ext cx="720080" cy="720080"/>
          </a:xfrm>
          <a:prstGeom prst="curvedUpArrow">
            <a:avLst>
              <a:gd fmla="val 25000" name="adj1"/>
              <a:gd fmla="val 50000" name="adj2"/>
              <a:gd fmla="val 25000" name="adj3"/>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22" name="Google Shape;1422;p129"/>
          <p:cNvSpPr txBox="1"/>
          <p:nvPr/>
        </p:nvSpPr>
        <p:spPr>
          <a:xfrm>
            <a:off x="6482437" y="6021288"/>
            <a:ext cx="825867" cy="369332"/>
          </a:xfrm>
          <a:prstGeom prst="rect">
            <a:avLst/>
          </a:prstGeom>
          <a:solidFill>
            <a:schemeClr val="lt1"/>
          </a:solidFill>
          <a:ln cap="flat" cmpd="sng" w="25400">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accent6"/>
                </a:solidFill>
                <a:latin typeface="Calibri"/>
                <a:ea typeface="Calibri"/>
                <a:cs typeface="Calibri"/>
                <a:sym typeface="Calibri"/>
              </a:rPr>
              <a:t>0,3,6,9</a:t>
            </a:r>
            <a:endParaRPr b="1" sz="1800">
              <a:solidFill>
                <a:schemeClr val="accent6"/>
              </a:solidFill>
              <a:latin typeface="Calibri"/>
              <a:ea typeface="Calibri"/>
              <a:cs typeface="Calibri"/>
              <a:sym typeface="Calibri"/>
            </a:endParaRPr>
          </a:p>
        </p:txBody>
      </p:sp>
      <p:cxnSp>
        <p:nvCxnSpPr>
          <p:cNvPr id="1423" name="Google Shape;1423;p129"/>
          <p:cNvCxnSpPr/>
          <p:nvPr/>
        </p:nvCxnSpPr>
        <p:spPr>
          <a:xfrm rot="10800000">
            <a:off x="3566956" y="5332040"/>
            <a:ext cx="2085164" cy="0"/>
          </a:xfrm>
          <a:prstGeom prst="straightConnector1">
            <a:avLst/>
          </a:prstGeom>
          <a:noFill/>
          <a:ln cap="flat" cmpd="sng" w="9525">
            <a:solidFill>
              <a:srgbClr val="4A7DBA"/>
            </a:solidFill>
            <a:prstDash val="solid"/>
            <a:round/>
            <a:headEnd len="sm" w="sm" type="none"/>
            <a:tailEnd len="med" w="med" type="stealth"/>
          </a:ln>
        </p:spPr>
      </p:cxnSp>
      <p:sp>
        <p:nvSpPr>
          <p:cNvPr id="1424" name="Google Shape;1424;p129"/>
          <p:cNvSpPr txBox="1"/>
          <p:nvPr/>
        </p:nvSpPr>
        <p:spPr>
          <a:xfrm>
            <a:off x="4283968" y="5003884"/>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8" name="Shape 1428"/>
        <p:cNvGrpSpPr/>
        <p:nvPr/>
      </p:nvGrpSpPr>
      <p:grpSpPr>
        <a:xfrm>
          <a:off x="0" y="0"/>
          <a:ext cx="0" cy="0"/>
          <a:chOff x="0" y="0"/>
          <a:chExt cx="0" cy="0"/>
        </a:xfrm>
      </p:grpSpPr>
      <p:sp>
        <p:nvSpPr>
          <p:cNvPr id="1429" name="Google Shape;1429;p130"/>
          <p:cNvSpPr txBox="1"/>
          <p:nvPr>
            <p:ph type="title"/>
          </p:nvPr>
        </p:nvSpPr>
        <p:spPr>
          <a:xfrm>
            <a:off x="457200" y="274638"/>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DESIGNING FINITE AUTOMATA</a:t>
            </a:r>
            <a:endParaRPr/>
          </a:p>
        </p:txBody>
      </p:sp>
      <p:sp>
        <p:nvSpPr>
          <p:cNvPr id="1430" name="Google Shape;1430;p1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431" name="Google Shape;1431;p1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432" name="Google Shape;1432;p1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433" name="Google Shape;1433;p130"/>
          <p:cNvGraphicFramePr/>
          <p:nvPr/>
        </p:nvGraphicFramePr>
        <p:xfrm>
          <a:off x="584562" y="1033103"/>
          <a:ext cx="3000000" cy="3000000"/>
        </p:xfrm>
        <a:graphic>
          <a:graphicData uri="http://schemas.openxmlformats.org/drawingml/2006/table">
            <a:tbl>
              <a:tblPr bandRow="1" firstRow="1">
                <a:noFill/>
                <a:tableStyleId>{1DD1F0B8-C0F4-4710-A24E-F3ACE173D476}</a:tableStyleId>
              </a:tblPr>
              <a:tblGrid>
                <a:gridCol w="7632850"/>
              </a:tblGrid>
              <a:tr h="3840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4</a:t>
                      </a:r>
                      <a:endParaRPr/>
                    </a:p>
                  </a:txBody>
                  <a:tcPr marT="45725" marB="45725" marR="91450" marL="91450"/>
                </a:tc>
              </a:tr>
              <a:tr h="4224475">
                <a:tc>
                  <a:txBody>
                    <a:bodyPr/>
                    <a:lstStyle/>
                    <a:p>
                      <a:pPr indent="0" lvl="0" marL="0" marR="0" rtl="0" algn="l">
                        <a:lnSpc>
                          <a:spcPct val="100000"/>
                        </a:lnSpc>
                        <a:spcBef>
                          <a:spcPts val="0"/>
                        </a:spcBef>
                        <a:spcAft>
                          <a:spcPts val="0"/>
                        </a:spcAft>
                        <a:buClr>
                          <a:schemeClr val="dk1"/>
                        </a:buClr>
                        <a:buSzPts val="2000"/>
                        <a:buFont typeface="Arial"/>
                        <a:buNone/>
                      </a:pPr>
                      <a:r>
                        <a:rPr b="1" lang="en-IN" sz="2000"/>
                        <a:t>Double Digits</a:t>
                      </a:r>
                      <a:endParaRPr/>
                    </a:p>
                    <a:p>
                      <a:pPr indent="-342900" lvl="0" marL="342900" marR="0" rtl="0" algn="l">
                        <a:spcBef>
                          <a:spcPts val="0"/>
                        </a:spcBef>
                        <a:spcAft>
                          <a:spcPts val="0"/>
                        </a:spcAft>
                        <a:buClr>
                          <a:schemeClr val="dk1"/>
                        </a:buClr>
                        <a:buSzPts val="2000"/>
                        <a:buFont typeface="Arial"/>
                        <a:buChar char="•"/>
                      </a:pPr>
                      <a:r>
                        <a:rPr lang="en-IN" sz="2000"/>
                        <a:t>For 22, Remainder 1</a:t>
                      </a:r>
                      <a:endParaRPr/>
                    </a:p>
                    <a:p>
                      <a:pPr indent="-342900" lvl="0" marL="342900" marR="0" rtl="0" algn="l">
                        <a:spcBef>
                          <a:spcPts val="0"/>
                        </a:spcBef>
                        <a:spcAft>
                          <a:spcPts val="0"/>
                        </a:spcAft>
                        <a:buClr>
                          <a:schemeClr val="dk1"/>
                        </a:buClr>
                        <a:buSzPts val="2000"/>
                        <a:buFont typeface="Arial"/>
                        <a:buChar char="•"/>
                      </a:pPr>
                      <a:r>
                        <a:rPr lang="en-IN" sz="2000"/>
                        <a:t>For 25, Remainder 1</a:t>
                      </a:r>
                      <a:endParaRPr/>
                    </a:p>
                    <a:p>
                      <a:pPr indent="-342900" lvl="0" marL="342900" marR="0" rtl="0" algn="l">
                        <a:lnSpc>
                          <a:spcPct val="100000"/>
                        </a:lnSpc>
                        <a:spcBef>
                          <a:spcPts val="0"/>
                        </a:spcBef>
                        <a:spcAft>
                          <a:spcPts val="0"/>
                        </a:spcAft>
                        <a:buClr>
                          <a:schemeClr val="dk1"/>
                        </a:buClr>
                        <a:buSzPts val="2000"/>
                        <a:buFont typeface="Arial"/>
                        <a:buChar char="•"/>
                      </a:pPr>
                      <a:r>
                        <a:rPr lang="en-IN" sz="2000"/>
                        <a:t>For 28, Remainder 1</a:t>
                      </a:r>
                      <a:endParaRPr/>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txBody>
                  <a:tcPr marT="45725" marB="45725" marR="91450" marL="91450"/>
                </a:tc>
              </a:tr>
            </a:tbl>
          </a:graphicData>
        </a:graphic>
      </p:graphicFrame>
      <p:sp>
        <p:nvSpPr>
          <p:cNvPr id="1434" name="Google Shape;1434;p130"/>
          <p:cNvSpPr/>
          <p:nvPr/>
        </p:nvSpPr>
        <p:spPr>
          <a:xfrm>
            <a:off x="2501783" y="322299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A</a:t>
            </a:r>
            <a:endParaRPr sz="1800">
              <a:solidFill>
                <a:schemeClr val="lt1"/>
              </a:solidFill>
              <a:latin typeface="Calibri"/>
              <a:ea typeface="Calibri"/>
              <a:cs typeface="Calibri"/>
              <a:sym typeface="Calibri"/>
            </a:endParaRPr>
          </a:p>
        </p:txBody>
      </p:sp>
      <p:grpSp>
        <p:nvGrpSpPr>
          <p:cNvPr id="1435" name="Google Shape;1435;p130"/>
          <p:cNvGrpSpPr/>
          <p:nvPr/>
        </p:nvGrpSpPr>
        <p:grpSpPr>
          <a:xfrm>
            <a:off x="5364088" y="2797874"/>
            <a:ext cx="1224136" cy="1152128"/>
            <a:chOff x="4196413" y="3235749"/>
            <a:chExt cx="1224136" cy="1152128"/>
          </a:xfrm>
        </p:grpSpPr>
        <p:sp>
          <p:nvSpPr>
            <p:cNvPr id="1436" name="Google Shape;1436;p130"/>
            <p:cNvSpPr/>
            <p:nvPr/>
          </p:nvSpPr>
          <p:spPr>
            <a:xfrm>
              <a:off x="4196413" y="3235749"/>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7" name="Google Shape;1437;p130"/>
            <p:cNvSpPr/>
            <p:nvPr/>
          </p:nvSpPr>
          <p:spPr>
            <a:xfrm>
              <a:off x="4340429" y="34517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grpSp>
      <p:sp>
        <p:nvSpPr>
          <p:cNvPr id="1438" name="Google Shape;1438;p130"/>
          <p:cNvSpPr/>
          <p:nvPr/>
        </p:nvSpPr>
        <p:spPr>
          <a:xfrm>
            <a:off x="5652120" y="4972000"/>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
        <p:nvSpPr>
          <p:cNvPr id="1439" name="Google Shape;1439;p130"/>
          <p:cNvSpPr/>
          <p:nvPr/>
        </p:nvSpPr>
        <p:spPr>
          <a:xfrm>
            <a:off x="2627784" y="494116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cxnSp>
        <p:nvCxnSpPr>
          <p:cNvPr id="1440" name="Google Shape;1440;p130"/>
          <p:cNvCxnSpPr/>
          <p:nvPr/>
        </p:nvCxnSpPr>
        <p:spPr>
          <a:xfrm>
            <a:off x="1835696" y="3583035"/>
            <a:ext cx="666087" cy="0"/>
          </a:xfrm>
          <a:prstGeom prst="straightConnector1">
            <a:avLst/>
          </a:prstGeom>
          <a:noFill/>
          <a:ln cap="flat" cmpd="sng" w="9525">
            <a:solidFill>
              <a:srgbClr val="4A7DBA"/>
            </a:solidFill>
            <a:prstDash val="solid"/>
            <a:round/>
            <a:headEnd len="sm" w="sm" type="none"/>
            <a:tailEnd len="med" w="med" type="stealth"/>
          </a:ln>
        </p:spPr>
      </p:cxnSp>
      <p:cxnSp>
        <p:nvCxnSpPr>
          <p:cNvPr id="1441" name="Google Shape;1441;p130"/>
          <p:cNvCxnSpPr/>
          <p:nvPr/>
        </p:nvCxnSpPr>
        <p:spPr>
          <a:xfrm>
            <a:off x="3437886" y="3562609"/>
            <a:ext cx="1926201" cy="0"/>
          </a:xfrm>
          <a:prstGeom prst="straightConnector1">
            <a:avLst/>
          </a:prstGeom>
          <a:noFill/>
          <a:ln cap="flat" cmpd="sng" w="9525">
            <a:solidFill>
              <a:srgbClr val="4A7DBA"/>
            </a:solidFill>
            <a:prstDash val="solid"/>
            <a:round/>
            <a:headEnd len="sm" w="sm" type="none"/>
            <a:tailEnd len="med" w="med" type="stealth"/>
          </a:ln>
        </p:spPr>
      </p:cxnSp>
      <p:sp>
        <p:nvSpPr>
          <p:cNvPr id="1442" name="Google Shape;1442;p130"/>
          <p:cNvSpPr txBox="1"/>
          <p:nvPr/>
        </p:nvSpPr>
        <p:spPr>
          <a:xfrm>
            <a:off x="3759554" y="3189272"/>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0,3,6,9</a:t>
            </a:r>
            <a:endParaRPr b="1" sz="1800">
              <a:solidFill>
                <a:schemeClr val="dk1"/>
              </a:solidFill>
              <a:latin typeface="Calibri"/>
              <a:ea typeface="Calibri"/>
              <a:cs typeface="Calibri"/>
              <a:sym typeface="Calibri"/>
            </a:endParaRPr>
          </a:p>
        </p:txBody>
      </p:sp>
      <p:cxnSp>
        <p:nvCxnSpPr>
          <p:cNvPr id="1443" name="Google Shape;1443;p130"/>
          <p:cNvCxnSpPr>
            <a:stCxn id="1434" idx="5"/>
          </p:cNvCxnSpPr>
          <p:nvPr/>
        </p:nvCxnSpPr>
        <p:spPr>
          <a:xfrm>
            <a:off x="3300798" y="3837622"/>
            <a:ext cx="2351400" cy="1319700"/>
          </a:xfrm>
          <a:prstGeom prst="straightConnector1">
            <a:avLst/>
          </a:prstGeom>
          <a:noFill/>
          <a:ln cap="flat" cmpd="sng" w="9525">
            <a:solidFill>
              <a:srgbClr val="4A7DBA"/>
            </a:solidFill>
            <a:prstDash val="solid"/>
            <a:round/>
            <a:headEnd len="sm" w="sm" type="none"/>
            <a:tailEnd len="med" w="med" type="stealth"/>
          </a:ln>
        </p:spPr>
      </p:cxnSp>
      <p:cxnSp>
        <p:nvCxnSpPr>
          <p:cNvPr id="1444" name="Google Shape;1444;p130"/>
          <p:cNvCxnSpPr/>
          <p:nvPr/>
        </p:nvCxnSpPr>
        <p:spPr>
          <a:xfrm>
            <a:off x="2969835"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445" name="Google Shape;1445;p130"/>
          <p:cNvSpPr txBox="1"/>
          <p:nvPr/>
        </p:nvSpPr>
        <p:spPr>
          <a:xfrm>
            <a:off x="4324887" y="4076253"/>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
        <p:nvSpPr>
          <p:cNvPr id="1446" name="Google Shape;1446;p130"/>
          <p:cNvSpPr txBox="1"/>
          <p:nvPr/>
        </p:nvSpPr>
        <p:spPr>
          <a:xfrm>
            <a:off x="2915816" y="4355812"/>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2,5,8</a:t>
            </a:r>
            <a:endParaRPr b="1" sz="1800">
              <a:solidFill>
                <a:schemeClr val="dk1"/>
              </a:solidFill>
              <a:latin typeface="Calibri"/>
              <a:ea typeface="Calibri"/>
              <a:cs typeface="Calibri"/>
              <a:sym typeface="Calibri"/>
            </a:endParaRPr>
          </a:p>
        </p:txBody>
      </p:sp>
      <p:cxnSp>
        <p:nvCxnSpPr>
          <p:cNvPr id="1447" name="Google Shape;1447;p130"/>
          <p:cNvCxnSpPr/>
          <p:nvPr/>
        </p:nvCxnSpPr>
        <p:spPr>
          <a:xfrm rot="10800000">
            <a:off x="6120172"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448" name="Google Shape;1448;p130"/>
          <p:cNvSpPr txBox="1"/>
          <p:nvPr/>
        </p:nvSpPr>
        <p:spPr>
          <a:xfrm>
            <a:off x="6175990" y="4193535"/>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2,5,8</a:t>
            </a:r>
            <a:endParaRPr b="1" sz="1800">
              <a:solidFill>
                <a:schemeClr val="dk1"/>
              </a:solidFill>
              <a:latin typeface="Calibri"/>
              <a:ea typeface="Calibri"/>
              <a:cs typeface="Calibri"/>
              <a:sym typeface="Calibri"/>
            </a:endParaRPr>
          </a:p>
        </p:txBody>
      </p:sp>
      <p:sp>
        <p:nvSpPr>
          <p:cNvPr id="1449" name="Google Shape;1449;p130"/>
          <p:cNvSpPr txBox="1"/>
          <p:nvPr/>
        </p:nvSpPr>
        <p:spPr>
          <a:xfrm>
            <a:off x="7020272" y="5692080"/>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
        <p:nvSpPr>
          <p:cNvPr id="1450" name="Google Shape;1450;p130"/>
          <p:cNvSpPr/>
          <p:nvPr/>
        </p:nvSpPr>
        <p:spPr>
          <a:xfrm rot="-1914745">
            <a:off x="3253261" y="4251701"/>
            <a:ext cx="4921171" cy="2240936"/>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1451" name="Google Shape;1451;p130"/>
          <p:cNvCxnSpPr/>
          <p:nvPr/>
        </p:nvCxnSpPr>
        <p:spPr>
          <a:xfrm>
            <a:off x="3653911" y="5517232"/>
            <a:ext cx="1926201" cy="0"/>
          </a:xfrm>
          <a:prstGeom prst="straightConnector1">
            <a:avLst/>
          </a:prstGeom>
          <a:noFill/>
          <a:ln cap="flat" cmpd="sng" w="9525">
            <a:solidFill>
              <a:srgbClr val="4A7DBA"/>
            </a:solidFill>
            <a:prstDash val="solid"/>
            <a:round/>
            <a:headEnd len="sm" w="sm" type="none"/>
            <a:tailEnd len="med" w="med" type="stealth"/>
          </a:ln>
        </p:spPr>
      </p:cxnSp>
      <p:sp>
        <p:nvSpPr>
          <p:cNvPr id="1452" name="Google Shape;1452;p130"/>
          <p:cNvSpPr txBox="1"/>
          <p:nvPr/>
        </p:nvSpPr>
        <p:spPr>
          <a:xfrm>
            <a:off x="4136884" y="5435932"/>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2,5,8</a:t>
            </a:r>
            <a:endParaRPr b="1" sz="1800">
              <a:solidFill>
                <a:schemeClr val="dk1"/>
              </a:solidFill>
              <a:latin typeface="Calibri"/>
              <a:ea typeface="Calibri"/>
              <a:cs typeface="Calibri"/>
              <a:sym typeface="Calibri"/>
            </a:endParaRPr>
          </a:p>
        </p:txBody>
      </p:sp>
      <p:cxnSp>
        <p:nvCxnSpPr>
          <p:cNvPr id="1453" name="Google Shape;1453;p130"/>
          <p:cNvCxnSpPr/>
          <p:nvPr/>
        </p:nvCxnSpPr>
        <p:spPr>
          <a:xfrm rot="10800000">
            <a:off x="3566956" y="5332040"/>
            <a:ext cx="2085164" cy="0"/>
          </a:xfrm>
          <a:prstGeom prst="straightConnector1">
            <a:avLst/>
          </a:prstGeom>
          <a:noFill/>
          <a:ln cap="flat" cmpd="sng" w="9525">
            <a:solidFill>
              <a:srgbClr val="4A7DBA"/>
            </a:solidFill>
            <a:prstDash val="solid"/>
            <a:round/>
            <a:headEnd len="sm" w="sm" type="none"/>
            <a:tailEnd len="med" w="med" type="stealth"/>
          </a:ln>
        </p:spPr>
      </p:cxnSp>
      <p:sp>
        <p:nvSpPr>
          <p:cNvPr id="1454" name="Google Shape;1454;p130"/>
          <p:cNvSpPr txBox="1"/>
          <p:nvPr/>
        </p:nvSpPr>
        <p:spPr>
          <a:xfrm>
            <a:off x="4283968" y="5003884"/>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
        <p:nvSpPr>
          <p:cNvPr id="1455" name="Google Shape;1455;p130"/>
          <p:cNvSpPr/>
          <p:nvPr/>
        </p:nvSpPr>
        <p:spPr>
          <a:xfrm>
            <a:off x="5868144" y="5661248"/>
            <a:ext cx="720080" cy="720080"/>
          </a:xfrm>
          <a:prstGeom prst="curvedUpArrow">
            <a:avLst>
              <a:gd fmla="val 25000" name="adj1"/>
              <a:gd fmla="val 50000" name="adj2"/>
              <a:gd fmla="val 25000" name="adj3"/>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56" name="Google Shape;1456;p130"/>
          <p:cNvSpPr txBox="1"/>
          <p:nvPr/>
        </p:nvSpPr>
        <p:spPr>
          <a:xfrm>
            <a:off x="6482437" y="6021288"/>
            <a:ext cx="825867" cy="369332"/>
          </a:xfrm>
          <a:prstGeom prst="rect">
            <a:avLst/>
          </a:prstGeom>
          <a:solidFill>
            <a:schemeClr val="lt1"/>
          </a:solidFill>
          <a:ln cap="flat" cmpd="sng" w="25400">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accent6"/>
                </a:solidFill>
                <a:latin typeface="Calibri"/>
                <a:ea typeface="Calibri"/>
                <a:cs typeface="Calibri"/>
                <a:sym typeface="Calibri"/>
              </a:rPr>
              <a:t>0,3,6,9</a:t>
            </a:r>
            <a:endParaRPr b="1" sz="1800">
              <a:solidFill>
                <a:schemeClr val="accent6"/>
              </a:solidFill>
              <a:latin typeface="Calibri"/>
              <a:ea typeface="Calibri"/>
              <a:cs typeface="Calibri"/>
              <a:sym typeface="Calibri"/>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0" name="Shape 1460"/>
        <p:cNvGrpSpPr/>
        <p:nvPr/>
      </p:nvGrpSpPr>
      <p:grpSpPr>
        <a:xfrm>
          <a:off x="0" y="0"/>
          <a:ext cx="0" cy="0"/>
          <a:chOff x="0" y="0"/>
          <a:chExt cx="0" cy="0"/>
        </a:xfrm>
      </p:grpSpPr>
      <p:sp>
        <p:nvSpPr>
          <p:cNvPr id="1461" name="Google Shape;1461;p131"/>
          <p:cNvSpPr txBox="1"/>
          <p:nvPr>
            <p:ph type="title"/>
          </p:nvPr>
        </p:nvSpPr>
        <p:spPr>
          <a:xfrm>
            <a:off x="457200" y="274638"/>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DESIGNING FINITE AUTOMATA</a:t>
            </a:r>
            <a:endParaRPr/>
          </a:p>
        </p:txBody>
      </p:sp>
      <p:sp>
        <p:nvSpPr>
          <p:cNvPr id="1462" name="Google Shape;1462;p1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463" name="Google Shape;1463;p1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464" name="Google Shape;1464;p1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465" name="Google Shape;1465;p131"/>
          <p:cNvGraphicFramePr/>
          <p:nvPr/>
        </p:nvGraphicFramePr>
        <p:xfrm>
          <a:off x="584562" y="756106"/>
          <a:ext cx="3000000" cy="3000000"/>
        </p:xfrm>
        <a:graphic>
          <a:graphicData uri="http://schemas.openxmlformats.org/drawingml/2006/table">
            <a:tbl>
              <a:tblPr bandRow="1" firstRow="1">
                <a:noFill/>
                <a:tableStyleId>{1DD1F0B8-C0F4-4710-A24E-F3ACE173D476}</a:tableStyleId>
              </a:tblPr>
              <a:tblGrid>
                <a:gridCol w="7632850"/>
              </a:tblGrid>
              <a:tr h="3840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4</a:t>
                      </a:r>
                      <a:endParaRPr/>
                    </a:p>
                  </a:txBody>
                  <a:tcPr marT="45725" marB="45725" marR="91450" marL="91450"/>
                </a:tc>
              </a:tr>
              <a:tr h="4224475">
                <a:tc>
                  <a:txBody>
                    <a:bodyPr/>
                    <a:lstStyle/>
                    <a:p>
                      <a:pPr indent="0" lvl="0" marL="0" marR="0" rtl="0" algn="l">
                        <a:lnSpc>
                          <a:spcPct val="100000"/>
                        </a:lnSpc>
                        <a:spcBef>
                          <a:spcPts val="0"/>
                        </a:spcBef>
                        <a:spcAft>
                          <a:spcPts val="0"/>
                        </a:spcAft>
                        <a:buClr>
                          <a:schemeClr val="dk1"/>
                        </a:buClr>
                        <a:buSzPts val="2000"/>
                        <a:buFont typeface="Arial"/>
                        <a:buNone/>
                      </a:pPr>
                      <a:r>
                        <a:rPr b="1" lang="en-IN" sz="2000"/>
                        <a:t>Double Digits</a:t>
                      </a:r>
                      <a:endParaRPr/>
                    </a:p>
                    <a:p>
                      <a:pPr indent="-342900" lvl="0" marL="342900" marR="0" rtl="0" algn="l">
                        <a:spcBef>
                          <a:spcPts val="0"/>
                        </a:spcBef>
                        <a:spcAft>
                          <a:spcPts val="0"/>
                        </a:spcAft>
                        <a:buClr>
                          <a:schemeClr val="dk1"/>
                        </a:buClr>
                        <a:buSzPts val="2000"/>
                        <a:buFont typeface="Arial"/>
                        <a:buChar char="•"/>
                      </a:pPr>
                      <a:r>
                        <a:rPr lang="en-IN" sz="2000"/>
                        <a:t>For 20, Remainder 2</a:t>
                      </a:r>
                      <a:endParaRPr/>
                    </a:p>
                    <a:p>
                      <a:pPr indent="-342900" lvl="0" marL="342900" marR="0" rtl="0" algn="l">
                        <a:spcBef>
                          <a:spcPts val="0"/>
                        </a:spcBef>
                        <a:spcAft>
                          <a:spcPts val="0"/>
                        </a:spcAft>
                        <a:buClr>
                          <a:schemeClr val="dk1"/>
                        </a:buClr>
                        <a:buSzPts val="2000"/>
                        <a:buFont typeface="Arial"/>
                        <a:buChar char="•"/>
                      </a:pPr>
                      <a:r>
                        <a:rPr lang="en-IN" sz="2000"/>
                        <a:t>For 23, Remainder 2</a:t>
                      </a:r>
                      <a:endParaRPr/>
                    </a:p>
                    <a:p>
                      <a:pPr indent="-342900" lvl="0" marL="342900" marR="0" rtl="0" algn="l">
                        <a:lnSpc>
                          <a:spcPct val="100000"/>
                        </a:lnSpc>
                        <a:spcBef>
                          <a:spcPts val="0"/>
                        </a:spcBef>
                        <a:spcAft>
                          <a:spcPts val="0"/>
                        </a:spcAft>
                        <a:buClr>
                          <a:schemeClr val="dk1"/>
                        </a:buClr>
                        <a:buSzPts val="2000"/>
                        <a:buFont typeface="Arial"/>
                        <a:buChar char="•"/>
                      </a:pPr>
                      <a:r>
                        <a:rPr lang="en-IN" sz="2000"/>
                        <a:t>For 26, Remainder 2</a:t>
                      </a:r>
                      <a:endParaRPr/>
                    </a:p>
                    <a:p>
                      <a:pPr indent="-342900" lvl="0" marL="342900" marR="0" rtl="0" algn="l">
                        <a:lnSpc>
                          <a:spcPct val="100000"/>
                        </a:lnSpc>
                        <a:spcBef>
                          <a:spcPts val="0"/>
                        </a:spcBef>
                        <a:spcAft>
                          <a:spcPts val="0"/>
                        </a:spcAft>
                        <a:buClr>
                          <a:schemeClr val="dk1"/>
                        </a:buClr>
                        <a:buSzPts val="2000"/>
                        <a:buFont typeface="Arial"/>
                        <a:buChar char="•"/>
                      </a:pPr>
                      <a:r>
                        <a:rPr lang="en-IN" sz="2000"/>
                        <a:t>For 29, Remainder 2</a:t>
                      </a:r>
                      <a:endParaRPr/>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txBody>
                  <a:tcPr marT="45725" marB="45725" marR="91450" marL="91450"/>
                </a:tc>
              </a:tr>
            </a:tbl>
          </a:graphicData>
        </a:graphic>
      </p:graphicFrame>
      <p:sp>
        <p:nvSpPr>
          <p:cNvPr id="1466" name="Google Shape;1466;p131"/>
          <p:cNvSpPr/>
          <p:nvPr/>
        </p:nvSpPr>
        <p:spPr>
          <a:xfrm>
            <a:off x="2501783" y="322299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A</a:t>
            </a:r>
            <a:endParaRPr sz="1800">
              <a:solidFill>
                <a:schemeClr val="lt1"/>
              </a:solidFill>
              <a:latin typeface="Calibri"/>
              <a:ea typeface="Calibri"/>
              <a:cs typeface="Calibri"/>
              <a:sym typeface="Calibri"/>
            </a:endParaRPr>
          </a:p>
        </p:txBody>
      </p:sp>
      <p:grpSp>
        <p:nvGrpSpPr>
          <p:cNvPr id="1467" name="Google Shape;1467;p131"/>
          <p:cNvGrpSpPr/>
          <p:nvPr/>
        </p:nvGrpSpPr>
        <p:grpSpPr>
          <a:xfrm>
            <a:off x="5364088" y="2797874"/>
            <a:ext cx="1224136" cy="1152128"/>
            <a:chOff x="4196413" y="3235749"/>
            <a:chExt cx="1224136" cy="1152128"/>
          </a:xfrm>
        </p:grpSpPr>
        <p:sp>
          <p:nvSpPr>
            <p:cNvPr id="1468" name="Google Shape;1468;p131"/>
            <p:cNvSpPr/>
            <p:nvPr/>
          </p:nvSpPr>
          <p:spPr>
            <a:xfrm>
              <a:off x="4196413" y="3235749"/>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9" name="Google Shape;1469;p131"/>
            <p:cNvSpPr/>
            <p:nvPr/>
          </p:nvSpPr>
          <p:spPr>
            <a:xfrm>
              <a:off x="4340429" y="34517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grpSp>
      <p:sp>
        <p:nvSpPr>
          <p:cNvPr id="1470" name="Google Shape;1470;p131"/>
          <p:cNvSpPr/>
          <p:nvPr/>
        </p:nvSpPr>
        <p:spPr>
          <a:xfrm>
            <a:off x="5652120" y="4972000"/>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
        <p:nvSpPr>
          <p:cNvPr id="1471" name="Google Shape;1471;p131"/>
          <p:cNvSpPr/>
          <p:nvPr/>
        </p:nvSpPr>
        <p:spPr>
          <a:xfrm>
            <a:off x="2627784" y="494116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cxnSp>
        <p:nvCxnSpPr>
          <p:cNvPr id="1472" name="Google Shape;1472;p131"/>
          <p:cNvCxnSpPr/>
          <p:nvPr/>
        </p:nvCxnSpPr>
        <p:spPr>
          <a:xfrm>
            <a:off x="1835696" y="3583035"/>
            <a:ext cx="666087" cy="0"/>
          </a:xfrm>
          <a:prstGeom prst="straightConnector1">
            <a:avLst/>
          </a:prstGeom>
          <a:noFill/>
          <a:ln cap="flat" cmpd="sng" w="9525">
            <a:solidFill>
              <a:srgbClr val="4A7DBA"/>
            </a:solidFill>
            <a:prstDash val="solid"/>
            <a:round/>
            <a:headEnd len="sm" w="sm" type="none"/>
            <a:tailEnd len="med" w="med" type="stealth"/>
          </a:ln>
        </p:spPr>
      </p:cxnSp>
      <p:cxnSp>
        <p:nvCxnSpPr>
          <p:cNvPr id="1473" name="Google Shape;1473;p131"/>
          <p:cNvCxnSpPr/>
          <p:nvPr/>
        </p:nvCxnSpPr>
        <p:spPr>
          <a:xfrm>
            <a:off x="3437886" y="3562609"/>
            <a:ext cx="1926201" cy="0"/>
          </a:xfrm>
          <a:prstGeom prst="straightConnector1">
            <a:avLst/>
          </a:prstGeom>
          <a:noFill/>
          <a:ln cap="flat" cmpd="sng" w="9525">
            <a:solidFill>
              <a:srgbClr val="4A7DBA"/>
            </a:solidFill>
            <a:prstDash val="solid"/>
            <a:round/>
            <a:headEnd len="sm" w="sm" type="none"/>
            <a:tailEnd len="med" w="med" type="stealth"/>
          </a:ln>
        </p:spPr>
      </p:cxnSp>
      <p:sp>
        <p:nvSpPr>
          <p:cNvPr id="1474" name="Google Shape;1474;p131"/>
          <p:cNvSpPr txBox="1"/>
          <p:nvPr/>
        </p:nvSpPr>
        <p:spPr>
          <a:xfrm>
            <a:off x="3759554" y="3189272"/>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0,3,6,9</a:t>
            </a:r>
            <a:endParaRPr b="1" sz="1800">
              <a:solidFill>
                <a:schemeClr val="dk1"/>
              </a:solidFill>
              <a:latin typeface="Calibri"/>
              <a:ea typeface="Calibri"/>
              <a:cs typeface="Calibri"/>
              <a:sym typeface="Calibri"/>
            </a:endParaRPr>
          </a:p>
        </p:txBody>
      </p:sp>
      <p:cxnSp>
        <p:nvCxnSpPr>
          <p:cNvPr id="1475" name="Google Shape;1475;p131"/>
          <p:cNvCxnSpPr>
            <a:stCxn id="1466" idx="5"/>
          </p:cNvCxnSpPr>
          <p:nvPr/>
        </p:nvCxnSpPr>
        <p:spPr>
          <a:xfrm>
            <a:off x="3300798" y="3837622"/>
            <a:ext cx="2351400" cy="1319700"/>
          </a:xfrm>
          <a:prstGeom prst="straightConnector1">
            <a:avLst/>
          </a:prstGeom>
          <a:noFill/>
          <a:ln cap="flat" cmpd="sng" w="9525">
            <a:solidFill>
              <a:srgbClr val="4A7DBA"/>
            </a:solidFill>
            <a:prstDash val="solid"/>
            <a:round/>
            <a:headEnd len="sm" w="sm" type="none"/>
            <a:tailEnd len="med" w="med" type="stealth"/>
          </a:ln>
        </p:spPr>
      </p:cxnSp>
      <p:cxnSp>
        <p:nvCxnSpPr>
          <p:cNvPr id="1476" name="Google Shape;1476;p131"/>
          <p:cNvCxnSpPr/>
          <p:nvPr/>
        </p:nvCxnSpPr>
        <p:spPr>
          <a:xfrm>
            <a:off x="2969835"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477" name="Google Shape;1477;p131"/>
          <p:cNvSpPr txBox="1"/>
          <p:nvPr/>
        </p:nvSpPr>
        <p:spPr>
          <a:xfrm>
            <a:off x="4324887" y="4076253"/>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
        <p:nvSpPr>
          <p:cNvPr id="1478" name="Google Shape;1478;p131"/>
          <p:cNvSpPr txBox="1"/>
          <p:nvPr/>
        </p:nvSpPr>
        <p:spPr>
          <a:xfrm>
            <a:off x="2915816" y="4355812"/>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2,5,8</a:t>
            </a:r>
            <a:endParaRPr b="1" sz="1800">
              <a:solidFill>
                <a:schemeClr val="dk1"/>
              </a:solidFill>
              <a:latin typeface="Calibri"/>
              <a:ea typeface="Calibri"/>
              <a:cs typeface="Calibri"/>
              <a:sym typeface="Calibri"/>
            </a:endParaRPr>
          </a:p>
        </p:txBody>
      </p:sp>
      <p:cxnSp>
        <p:nvCxnSpPr>
          <p:cNvPr id="1479" name="Google Shape;1479;p131"/>
          <p:cNvCxnSpPr/>
          <p:nvPr/>
        </p:nvCxnSpPr>
        <p:spPr>
          <a:xfrm rot="10800000">
            <a:off x="6120172"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480" name="Google Shape;1480;p131"/>
          <p:cNvSpPr txBox="1"/>
          <p:nvPr/>
        </p:nvSpPr>
        <p:spPr>
          <a:xfrm>
            <a:off x="6175990" y="4193535"/>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2,5,8</a:t>
            </a:r>
            <a:endParaRPr b="1" sz="1800">
              <a:solidFill>
                <a:schemeClr val="dk1"/>
              </a:solidFill>
              <a:latin typeface="Calibri"/>
              <a:ea typeface="Calibri"/>
              <a:cs typeface="Calibri"/>
              <a:sym typeface="Calibri"/>
            </a:endParaRPr>
          </a:p>
        </p:txBody>
      </p:sp>
      <p:sp>
        <p:nvSpPr>
          <p:cNvPr id="1481" name="Google Shape;1481;p131"/>
          <p:cNvSpPr txBox="1"/>
          <p:nvPr/>
        </p:nvSpPr>
        <p:spPr>
          <a:xfrm>
            <a:off x="7020272" y="5692080"/>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
        <p:nvSpPr>
          <p:cNvPr id="1482" name="Google Shape;1482;p131"/>
          <p:cNvSpPr/>
          <p:nvPr/>
        </p:nvSpPr>
        <p:spPr>
          <a:xfrm rot="-1914745">
            <a:off x="3253261" y="4251701"/>
            <a:ext cx="4921171" cy="2240936"/>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1483" name="Google Shape;1483;p131"/>
          <p:cNvCxnSpPr/>
          <p:nvPr/>
        </p:nvCxnSpPr>
        <p:spPr>
          <a:xfrm>
            <a:off x="3653911" y="5517232"/>
            <a:ext cx="1926201" cy="0"/>
          </a:xfrm>
          <a:prstGeom prst="straightConnector1">
            <a:avLst/>
          </a:prstGeom>
          <a:noFill/>
          <a:ln cap="flat" cmpd="sng" w="9525">
            <a:solidFill>
              <a:srgbClr val="4A7DBA"/>
            </a:solidFill>
            <a:prstDash val="solid"/>
            <a:round/>
            <a:headEnd len="sm" w="sm" type="none"/>
            <a:tailEnd len="med" w="med" type="stealth"/>
          </a:ln>
        </p:spPr>
      </p:cxnSp>
      <p:sp>
        <p:nvSpPr>
          <p:cNvPr id="1484" name="Google Shape;1484;p131"/>
          <p:cNvSpPr txBox="1"/>
          <p:nvPr/>
        </p:nvSpPr>
        <p:spPr>
          <a:xfrm>
            <a:off x="4136884" y="5435932"/>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2,5,8</a:t>
            </a:r>
            <a:endParaRPr b="1" sz="1800">
              <a:solidFill>
                <a:schemeClr val="dk1"/>
              </a:solidFill>
              <a:latin typeface="Calibri"/>
              <a:ea typeface="Calibri"/>
              <a:cs typeface="Calibri"/>
              <a:sym typeface="Calibri"/>
            </a:endParaRPr>
          </a:p>
        </p:txBody>
      </p:sp>
      <p:cxnSp>
        <p:nvCxnSpPr>
          <p:cNvPr id="1485" name="Google Shape;1485;p131"/>
          <p:cNvCxnSpPr/>
          <p:nvPr/>
        </p:nvCxnSpPr>
        <p:spPr>
          <a:xfrm rot="10800000">
            <a:off x="3566956" y="5332040"/>
            <a:ext cx="2085164" cy="0"/>
          </a:xfrm>
          <a:prstGeom prst="straightConnector1">
            <a:avLst/>
          </a:prstGeom>
          <a:noFill/>
          <a:ln cap="flat" cmpd="sng" w="9525">
            <a:solidFill>
              <a:srgbClr val="4A7DBA"/>
            </a:solidFill>
            <a:prstDash val="solid"/>
            <a:round/>
            <a:headEnd len="sm" w="sm" type="none"/>
            <a:tailEnd len="med" w="med" type="stealth"/>
          </a:ln>
        </p:spPr>
      </p:cxnSp>
      <p:sp>
        <p:nvSpPr>
          <p:cNvPr id="1486" name="Google Shape;1486;p131"/>
          <p:cNvSpPr txBox="1"/>
          <p:nvPr/>
        </p:nvSpPr>
        <p:spPr>
          <a:xfrm>
            <a:off x="4283968" y="5003884"/>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
        <p:nvSpPr>
          <p:cNvPr id="1487" name="Google Shape;1487;p131"/>
          <p:cNvSpPr/>
          <p:nvPr/>
        </p:nvSpPr>
        <p:spPr>
          <a:xfrm>
            <a:off x="5868144" y="5661248"/>
            <a:ext cx="720080" cy="720080"/>
          </a:xfrm>
          <a:prstGeom prst="curvedUpArrow">
            <a:avLst>
              <a:gd fmla="val 25000" name="adj1"/>
              <a:gd fmla="val 50000" name="adj2"/>
              <a:gd fmla="val 25000" name="adj3"/>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88" name="Google Shape;1488;p131"/>
          <p:cNvSpPr txBox="1"/>
          <p:nvPr/>
        </p:nvSpPr>
        <p:spPr>
          <a:xfrm>
            <a:off x="6482437" y="6021288"/>
            <a:ext cx="825867" cy="369332"/>
          </a:xfrm>
          <a:prstGeom prst="rect">
            <a:avLst/>
          </a:prstGeom>
          <a:solidFill>
            <a:schemeClr val="lt1"/>
          </a:solidFill>
          <a:ln cap="flat" cmpd="sng" w="25400">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accent6"/>
                </a:solidFill>
                <a:latin typeface="Calibri"/>
                <a:ea typeface="Calibri"/>
                <a:cs typeface="Calibri"/>
                <a:sym typeface="Calibri"/>
              </a:rPr>
              <a:t>0,3,6,9</a:t>
            </a:r>
            <a:endParaRPr b="1" sz="1800">
              <a:solidFill>
                <a:schemeClr val="accent6"/>
              </a:solidFill>
              <a:latin typeface="Calibri"/>
              <a:ea typeface="Calibri"/>
              <a:cs typeface="Calibri"/>
              <a:sym typeface="Calibri"/>
            </a:endParaRPr>
          </a:p>
        </p:txBody>
      </p:sp>
      <p:sp>
        <p:nvSpPr>
          <p:cNvPr id="1489" name="Google Shape;1489;p131"/>
          <p:cNvSpPr/>
          <p:nvPr/>
        </p:nvSpPr>
        <p:spPr>
          <a:xfrm rot="4323941">
            <a:off x="1848091" y="5113405"/>
            <a:ext cx="937363" cy="946752"/>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90" name="Google Shape;1490;p131"/>
          <p:cNvSpPr txBox="1"/>
          <p:nvPr/>
        </p:nvSpPr>
        <p:spPr>
          <a:xfrm>
            <a:off x="937821" y="5291916"/>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0,3,6,9</a:t>
            </a:r>
            <a:endParaRPr b="1" sz="1800">
              <a:solidFill>
                <a:schemeClr val="dk1"/>
              </a:solidFill>
              <a:latin typeface="Calibri"/>
              <a:ea typeface="Calibri"/>
              <a:cs typeface="Calibri"/>
              <a:sym typeface="Calibri"/>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4" name="Shape 1494"/>
        <p:cNvGrpSpPr/>
        <p:nvPr/>
      </p:nvGrpSpPr>
      <p:grpSpPr>
        <a:xfrm>
          <a:off x="0" y="0"/>
          <a:ext cx="0" cy="0"/>
          <a:chOff x="0" y="0"/>
          <a:chExt cx="0" cy="0"/>
        </a:xfrm>
      </p:grpSpPr>
      <p:sp>
        <p:nvSpPr>
          <p:cNvPr id="1495" name="Google Shape;1495;p132"/>
          <p:cNvSpPr txBox="1"/>
          <p:nvPr>
            <p:ph type="title"/>
          </p:nvPr>
        </p:nvSpPr>
        <p:spPr>
          <a:xfrm>
            <a:off x="457200" y="274638"/>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DESIGNING FINITE AUTOMATA</a:t>
            </a:r>
            <a:endParaRPr/>
          </a:p>
        </p:txBody>
      </p:sp>
      <p:sp>
        <p:nvSpPr>
          <p:cNvPr id="1496" name="Google Shape;1496;p1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497" name="Google Shape;1497;p1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498" name="Google Shape;1498;p1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499" name="Google Shape;1499;p132"/>
          <p:cNvGraphicFramePr/>
          <p:nvPr/>
        </p:nvGraphicFramePr>
        <p:xfrm>
          <a:off x="584562" y="756106"/>
          <a:ext cx="3000000" cy="3000000"/>
        </p:xfrm>
        <a:graphic>
          <a:graphicData uri="http://schemas.openxmlformats.org/drawingml/2006/table">
            <a:tbl>
              <a:tblPr bandRow="1" firstRow="1">
                <a:noFill/>
                <a:tableStyleId>{1DD1F0B8-C0F4-4710-A24E-F3ACE173D476}</a:tableStyleId>
              </a:tblPr>
              <a:tblGrid>
                <a:gridCol w="7632850"/>
              </a:tblGrid>
              <a:tr h="3840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4</a:t>
                      </a:r>
                      <a:endParaRPr/>
                    </a:p>
                  </a:txBody>
                  <a:tcPr marT="45725" marB="45725" marR="91450" marL="91450"/>
                </a:tc>
              </a:tr>
              <a:tr h="4224475">
                <a:tc>
                  <a:txBody>
                    <a:bodyPr/>
                    <a:lstStyle/>
                    <a:p>
                      <a:pPr indent="0" lvl="0" marL="0" marR="0" rtl="0" algn="l">
                        <a:lnSpc>
                          <a:spcPct val="100000"/>
                        </a:lnSpc>
                        <a:spcBef>
                          <a:spcPts val="0"/>
                        </a:spcBef>
                        <a:spcAft>
                          <a:spcPts val="0"/>
                        </a:spcAft>
                        <a:buClr>
                          <a:schemeClr val="dk1"/>
                        </a:buClr>
                        <a:buSzPts val="2000"/>
                        <a:buFont typeface="Arial"/>
                        <a:buNone/>
                      </a:pPr>
                      <a:r>
                        <a:rPr b="1" lang="en-IN" sz="2000"/>
                        <a:t>Double Digits</a:t>
                      </a:r>
                      <a:endParaRPr/>
                    </a:p>
                    <a:p>
                      <a:pPr indent="-342900" lvl="0" marL="342900" marR="0" rtl="0" algn="l">
                        <a:spcBef>
                          <a:spcPts val="0"/>
                        </a:spcBef>
                        <a:spcAft>
                          <a:spcPts val="0"/>
                        </a:spcAft>
                        <a:buClr>
                          <a:schemeClr val="dk1"/>
                        </a:buClr>
                        <a:buSzPts val="2000"/>
                        <a:buFont typeface="Arial"/>
                        <a:buChar char="•"/>
                      </a:pPr>
                      <a:r>
                        <a:rPr lang="en-IN" sz="2000"/>
                        <a:t>For 30, Remainder 0</a:t>
                      </a:r>
                      <a:endParaRPr/>
                    </a:p>
                    <a:p>
                      <a:pPr indent="-342900" lvl="0" marL="342900" marR="0" rtl="0" algn="l">
                        <a:spcBef>
                          <a:spcPts val="0"/>
                        </a:spcBef>
                        <a:spcAft>
                          <a:spcPts val="0"/>
                        </a:spcAft>
                        <a:buClr>
                          <a:schemeClr val="dk1"/>
                        </a:buClr>
                        <a:buSzPts val="2000"/>
                        <a:buFont typeface="Arial"/>
                        <a:buChar char="•"/>
                      </a:pPr>
                      <a:r>
                        <a:rPr lang="en-IN" sz="2000"/>
                        <a:t>For 33, Remainder 0</a:t>
                      </a:r>
                      <a:endParaRPr/>
                    </a:p>
                    <a:p>
                      <a:pPr indent="-342900" lvl="0" marL="342900" marR="0" rtl="0" algn="l">
                        <a:lnSpc>
                          <a:spcPct val="100000"/>
                        </a:lnSpc>
                        <a:spcBef>
                          <a:spcPts val="0"/>
                        </a:spcBef>
                        <a:spcAft>
                          <a:spcPts val="0"/>
                        </a:spcAft>
                        <a:buClr>
                          <a:schemeClr val="dk1"/>
                        </a:buClr>
                        <a:buSzPts val="2000"/>
                        <a:buFont typeface="Arial"/>
                        <a:buChar char="•"/>
                      </a:pPr>
                      <a:r>
                        <a:rPr lang="en-IN" sz="2000"/>
                        <a:t>For 36, Remainder 0</a:t>
                      </a:r>
                      <a:endParaRPr/>
                    </a:p>
                    <a:p>
                      <a:pPr indent="-342900" lvl="0" marL="342900" marR="0" rtl="0" algn="l">
                        <a:lnSpc>
                          <a:spcPct val="100000"/>
                        </a:lnSpc>
                        <a:spcBef>
                          <a:spcPts val="0"/>
                        </a:spcBef>
                        <a:spcAft>
                          <a:spcPts val="0"/>
                        </a:spcAft>
                        <a:buClr>
                          <a:schemeClr val="dk1"/>
                        </a:buClr>
                        <a:buSzPts val="2000"/>
                        <a:buFont typeface="Arial"/>
                        <a:buChar char="•"/>
                      </a:pPr>
                      <a:r>
                        <a:rPr lang="en-IN" sz="2000"/>
                        <a:t>For 39, Remainder 0</a:t>
                      </a:r>
                      <a:endParaRPr/>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txBody>
                  <a:tcPr marT="45725" marB="45725" marR="91450" marL="91450"/>
                </a:tc>
              </a:tr>
            </a:tbl>
          </a:graphicData>
        </a:graphic>
      </p:graphicFrame>
      <p:sp>
        <p:nvSpPr>
          <p:cNvPr id="1500" name="Google Shape;1500;p132"/>
          <p:cNvSpPr/>
          <p:nvPr/>
        </p:nvSpPr>
        <p:spPr>
          <a:xfrm>
            <a:off x="2501783" y="322299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A</a:t>
            </a:r>
            <a:endParaRPr sz="1800">
              <a:solidFill>
                <a:schemeClr val="lt1"/>
              </a:solidFill>
              <a:latin typeface="Calibri"/>
              <a:ea typeface="Calibri"/>
              <a:cs typeface="Calibri"/>
              <a:sym typeface="Calibri"/>
            </a:endParaRPr>
          </a:p>
        </p:txBody>
      </p:sp>
      <p:grpSp>
        <p:nvGrpSpPr>
          <p:cNvPr id="1501" name="Google Shape;1501;p132"/>
          <p:cNvGrpSpPr/>
          <p:nvPr/>
        </p:nvGrpSpPr>
        <p:grpSpPr>
          <a:xfrm>
            <a:off x="5364088" y="2797874"/>
            <a:ext cx="1224136" cy="1152128"/>
            <a:chOff x="4196413" y="3235749"/>
            <a:chExt cx="1224136" cy="1152128"/>
          </a:xfrm>
        </p:grpSpPr>
        <p:sp>
          <p:nvSpPr>
            <p:cNvPr id="1502" name="Google Shape;1502;p132"/>
            <p:cNvSpPr/>
            <p:nvPr/>
          </p:nvSpPr>
          <p:spPr>
            <a:xfrm>
              <a:off x="4196413" y="3235749"/>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3" name="Google Shape;1503;p132"/>
            <p:cNvSpPr/>
            <p:nvPr/>
          </p:nvSpPr>
          <p:spPr>
            <a:xfrm>
              <a:off x="4340429" y="34517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grpSp>
      <p:sp>
        <p:nvSpPr>
          <p:cNvPr id="1504" name="Google Shape;1504;p132"/>
          <p:cNvSpPr/>
          <p:nvPr/>
        </p:nvSpPr>
        <p:spPr>
          <a:xfrm>
            <a:off x="5652120" y="4972000"/>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
        <p:nvSpPr>
          <p:cNvPr id="1505" name="Google Shape;1505;p132"/>
          <p:cNvSpPr/>
          <p:nvPr/>
        </p:nvSpPr>
        <p:spPr>
          <a:xfrm>
            <a:off x="2627784" y="494116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cxnSp>
        <p:nvCxnSpPr>
          <p:cNvPr id="1506" name="Google Shape;1506;p132"/>
          <p:cNvCxnSpPr/>
          <p:nvPr/>
        </p:nvCxnSpPr>
        <p:spPr>
          <a:xfrm>
            <a:off x="1835696" y="3583035"/>
            <a:ext cx="666087" cy="0"/>
          </a:xfrm>
          <a:prstGeom prst="straightConnector1">
            <a:avLst/>
          </a:prstGeom>
          <a:noFill/>
          <a:ln cap="flat" cmpd="sng" w="9525">
            <a:solidFill>
              <a:srgbClr val="4A7DBA"/>
            </a:solidFill>
            <a:prstDash val="solid"/>
            <a:round/>
            <a:headEnd len="sm" w="sm" type="none"/>
            <a:tailEnd len="med" w="med" type="stealth"/>
          </a:ln>
        </p:spPr>
      </p:cxnSp>
      <p:cxnSp>
        <p:nvCxnSpPr>
          <p:cNvPr id="1507" name="Google Shape;1507;p132"/>
          <p:cNvCxnSpPr/>
          <p:nvPr/>
        </p:nvCxnSpPr>
        <p:spPr>
          <a:xfrm>
            <a:off x="3437886" y="3562609"/>
            <a:ext cx="1926201" cy="0"/>
          </a:xfrm>
          <a:prstGeom prst="straightConnector1">
            <a:avLst/>
          </a:prstGeom>
          <a:noFill/>
          <a:ln cap="flat" cmpd="sng" w="9525">
            <a:solidFill>
              <a:srgbClr val="4A7DBA"/>
            </a:solidFill>
            <a:prstDash val="solid"/>
            <a:round/>
            <a:headEnd len="sm" w="sm" type="none"/>
            <a:tailEnd len="med" w="med" type="stealth"/>
          </a:ln>
        </p:spPr>
      </p:cxnSp>
      <p:sp>
        <p:nvSpPr>
          <p:cNvPr id="1508" name="Google Shape;1508;p132"/>
          <p:cNvSpPr txBox="1"/>
          <p:nvPr/>
        </p:nvSpPr>
        <p:spPr>
          <a:xfrm>
            <a:off x="3759554" y="3189272"/>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0,3,6,9</a:t>
            </a:r>
            <a:endParaRPr b="1" sz="1800">
              <a:solidFill>
                <a:schemeClr val="dk1"/>
              </a:solidFill>
              <a:latin typeface="Calibri"/>
              <a:ea typeface="Calibri"/>
              <a:cs typeface="Calibri"/>
              <a:sym typeface="Calibri"/>
            </a:endParaRPr>
          </a:p>
        </p:txBody>
      </p:sp>
      <p:cxnSp>
        <p:nvCxnSpPr>
          <p:cNvPr id="1509" name="Google Shape;1509;p132"/>
          <p:cNvCxnSpPr>
            <a:stCxn id="1500" idx="5"/>
          </p:cNvCxnSpPr>
          <p:nvPr/>
        </p:nvCxnSpPr>
        <p:spPr>
          <a:xfrm>
            <a:off x="3300798" y="3837622"/>
            <a:ext cx="2351400" cy="1319700"/>
          </a:xfrm>
          <a:prstGeom prst="straightConnector1">
            <a:avLst/>
          </a:prstGeom>
          <a:noFill/>
          <a:ln cap="flat" cmpd="sng" w="9525">
            <a:solidFill>
              <a:srgbClr val="4A7DBA"/>
            </a:solidFill>
            <a:prstDash val="solid"/>
            <a:round/>
            <a:headEnd len="sm" w="sm" type="none"/>
            <a:tailEnd len="med" w="med" type="stealth"/>
          </a:ln>
        </p:spPr>
      </p:cxnSp>
      <p:cxnSp>
        <p:nvCxnSpPr>
          <p:cNvPr id="1510" name="Google Shape;1510;p132"/>
          <p:cNvCxnSpPr/>
          <p:nvPr/>
        </p:nvCxnSpPr>
        <p:spPr>
          <a:xfrm>
            <a:off x="2969835"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511" name="Google Shape;1511;p132"/>
          <p:cNvSpPr txBox="1"/>
          <p:nvPr/>
        </p:nvSpPr>
        <p:spPr>
          <a:xfrm>
            <a:off x="4324887" y="4076253"/>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
        <p:nvSpPr>
          <p:cNvPr id="1512" name="Google Shape;1512;p132"/>
          <p:cNvSpPr txBox="1"/>
          <p:nvPr/>
        </p:nvSpPr>
        <p:spPr>
          <a:xfrm>
            <a:off x="2915816" y="4355812"/>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2,5,8</a:t>
            </a:r>
            <a:endParaRPr b="1" sz="1800">
              <a:solidFill>
                <a:schemeClr val="dk1"/>
              </a:solidFill>
              <a:latin typeface="Calibri"/>
              <a:ea typeface="Calibri"/>
              <a:cs typeface="Calibri"/>
              <a:sym typeface="Calibri"/>
            </a:endParaRPr>
          </a:p>
        </p:txBody>
      </p:sp>
      <p:cxnSp>
        <p:nvCxnSpPr>
          <p:cNvPr id="1513" name="Google Shape;1513;p132"/>
          <p:cNvCxnSpPr/>
          <p:nvPr/>
        </p:nvCxnSpPr>
        <p:spPr>
          <a:xfrm rot="10800000">
            <a:off x="6120172"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514" name="Google Shape;1514;p132"/>
          <p:cNvSpPr txBox="1"/>
          <p:nvPr/>
        </p:nvSpPr>
        <p:spPr>
          <a:xfrm>
            <a:off x="6175990" y="4193535"/>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2,5,8</a:t>
            </a:r>
            <a:endParaRPr b="1" sz="1800">
              <a:solidFill>
                <a:schemeClr val="dk1"/>
              </a:solidFill>
              <a:latin typeface="Calibri"/>
              <a:ea typeface="Calibri"/>
              <a:cs typeface="Calibri"/>
              <a:sym typeface="Calibri"/>
            </a:endParaRPr>
          </a:p>
        </p:txBody>
      </p:sp>
      <p:sp>
        <p:nvSpPr>
          <p:cNvPr id="1515" name="Google Shape;1515;p132"/>
          <p:cNvSpPr txBox="1"/>
          <p:nvPr/>
        </p:nvSpPr>
        <p:spPr>
          <a:xfrm>
            <a:off x="7020272" y="5692080"/>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
        <p:nvSpPr>
          <p:cNvPr id="1516" name="Google Shape;1516;p132"/>
          <p:cNvSpPr/>
          <p:nvPr/>
        </p:nvSpPr>
        <p:spPr>
          <a:xfrm rot="-1914745">
            <a:off x="3253261" y="4251701"/>
            <a:ext cx="4921171" cy="2240936"/>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1517" name="Google Shape;1517;p132"/>
          <p:cNvCxnSpPr/>
          <p:nvPr/>
        </p:nvCxnSpPr>
        <p:spPr>
          <a:xfrm>
            <a:off x="3653911" y="5517232"/>
            <a:ext cx="1926201" cy="0"/>
          </a:xfrm>
          <a:prstGeom prst="straightConnector1">
            <a:avLst/>
          </a:prstGeom>
          <a:noFill/>
          <a:ln cap="flat" cmpd="sng" w="9525">
            <a:solidFill>
              <a:srgbClr val="4A7DBA"/>
            </a:solidFill>
            <a:prstDash val="solid"/>
            <a:round/>
            <a:headEnd len="sm" w="sm" type="none"/>
            <a:tailEnd len="med" w="med" type="stealth"/>
          </a:ln>
        </p:spPr>
      </p:cxnSp>
      <p:sp>
        <p:nvSpPr>
          <p:cNvPr id="1518" name="Google Shape;1518;p132"/>
          <p:cNvSpPr txBox="1"/>
          <p:nvPr/>
        </p:nvSpPr>
        <p:spPr>
          <a:xfrm>
            <a:off x="4136884" y="5435932"/>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2,5,8</a:t>
            </a:r>
            <a:endParaRPr b="1" sz="1800">
              <a:solidFill>
                <a:schemeClr val="dk1"/>
              </a:solidFill>
              <a:latin typeface="Calibri"/>
              <a:ea typeface="Calibri"/>
              <a:cs typeface="Calibri"/>
              <a:sym typeface="Calibri"/>
            </a:endParaRPr>
          </a:p>
        </p:txBody>
      </p:sp>
      <p:cxnSp>
        <p:nvCxnSpPr>
          <p:cNvPr id="1519" name="Google Shape;1519;p132"/>
          <p:cNvCxnSpPr/>
          <p:nvPr/>
        </p:nvCxnSpPr>
        <p:spPr>
          <a:xfrm rot="10800000">
            <a:off x="3566956" y="5332040"/>
            <a:ext cx="2085164" cy="0"/>
          </a:xfrm>
          <a:prstGeom prst="straightConnector1">
            <a:avLst/>
          </a:prstGeom>
          <a:noFill/>
          <a:ln cap="flat" cmpd="sng" w="9525">
            <a:solidFill>
              <a:srgbClr val="4A7DBA"/>
            </a:solidFill>
            <a:prstDash val="solid"/>
            <a:round/>
            <a:headEnd len="sm" w="sm" type="none"/>
            <a:tailEnd len="med" w="med" type="stealth"/>
          </a:ln>
        </p:spPr>
      </p:cxnSp>
      <p:sp>
        <p:nvSpPr>
          <p:cNvPr id="1520" name="Google Shape;1520;p132"/>
          <p:cNvSpPr txBox="1"/>
          <p:nvPr/>
        </p:nvSpPr>
        <p:spPr>
          <a:xfrm>
            <a:off x="4283968" y="5003884"/>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
        <p:nvSpPr>
          <p:cNvPr id="1521" name="Google Shape;1521;p132"/>
          <p:cNvSpPr/>
          <p:nvPr/>
        </p:nvSpPr>
        <p:spPr>
          <a:xfrm>
            <a:off x="5868144" y="5661248"/>
            <a:ext cx="720080" cy="720080"/>
          </a:xfrm>
          <a:prstGeom prst="curvedUpArrow">
            <a:avLst>
              <a:gd fmla="val 25000" name="adj1"/>
              <a:gd fmla="val 50000" name="adj2"/>
              <a:gd fmla="val 25000" name="adj3"/>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22" name="Google Shape;1522;p132"/>
          <p:cNvSpPr txBox="1"/>
          <p:nvPr/>
        </p:nvSpPr>
        <p:spPr>
          <a:xfrm>
            <a:off x="6482437" y="6021288"/>
            <a:ext cx="825867" cy="369332"/>
          </a:xfrm>
          <a:prstGeom prst="rect">
            <a:avLst/>
          </a:prstGeom>
          <a:solidFill>
            <a:schemeClr val="lt1"/>
          </a:solidFill>
          <a:ln cap="flat" cmpd="sng" w="25400">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accent6"/>
                </a:solidFill>
                <a:latin typeface="Calibri"/>
                <a:ea typeface="Calibri"/>
                <a:cs typeface="Calibri"/>
                <a:sym typeface="Calibri"/>
              </a:rPr>
              <a:t>0,3,6,9</a:t>
            </a:r>
            <a:endParaRPr b="1" sz="1800">
              <a:solidFill>
                <a:schemeClr val="accent6"/>
              </a:solidFill>
              <a:latin typeface="Calibri"/>
              <a:ea typeface="Calibri"/>
              <a:cs typeface="Calibri"/>
              <a:sym typeface="Calibri"/>
            </a:endParaRPr>
          </a:p>
        </p:txBody>
      </p:sp>
      <p:sp>
        <p:nvSpPr>
          <p:cNvPr id="1523" name="Google Shape;1523;p132"/>
          <p:cNvSpPr/>
          <p:nvPr/>
        </p:nvSpPr>
        <p:spPr>
          <a:xfrm rot="4323941">
            <a:off x="1848091" y="5113405"/>
            <a:ext cx="937363" cy="946752"/>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24" name="Google Shape;1524;p132"/>
          <p:cNvSpPr txBox="1"/>
          <p:nvPr/>
        </p:nvSpPr>
        <p:spPr>
          <a:xfrm>
            <a:off x="937821" y="5291916"/>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0,3,6,9</a:t>
            </a:r>
            <a:endParaRPr b="1" sz="1800">
              <a:solidFill>
                <a:schemeClr val="dk1"/>
              </a:solidFill>
              <a:latin typeface="Calibri"/>
              <a:ea typeface="Calibri"/>
              <a:cs typeface="Calibri"/>
              <a:sym typeface="Calibri"/>
            </a:endParaRPr>
          </a:p>
        </p:txBody>
      </p:sp>
      <p:sp>
        <p:nvSpPr>
          <p:cNvPr id="1525" name="Google Shape;1525;p132"/>
          <p:cNvSpPr/>
          <p:nvPr/>
        </p:nvSpPr>
        <p:spPr>
          <a:xfrm>
            <a:off x="5652120" y="2060848"/>
            <a:ext cx="792088" cy="737026"/>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26" name="Google Shape;1526;p132"/>
          <p:cNvSpPr txBox="1"/>
          <p:nvPr/>
        </p:nvSpPr>
        <p:spPr>
          <a:xfrm>
            <a:off x="5580112" y="1691516"/>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0,3,6,9</a:t>
            </a:r>
            <a:endParaRPr b="1" sz="1800">
              <a:solidFill>
                <a:schemeClr val="dk1"/>
              </a:solidFill>
              <a:latin typeface="Calibri"/>
              <a:ea typeface="Calibri"/>
              <a:cs typeface="Calibri"/>
              <a:sym typeface="Calibri"/>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0" name="Shape 1530"/>
        <p:cNvGrpSpPr/>
        <p:nvPr/>
      </p:nvGrpSpPr>
      <p:grpSpPr>
        <a:xfrm>
          <a:off x="0" y="0"/>
          <a:ext cx="0" cy="0"/>
          <a:chOff x="0" y="0"/>
          <a:chExt cx="0" cy="0"/>
        </a:xfrm>
      </p:grpSpPr>
      <p:sp>
        <p:nvSpPr>
          <p:cNvPr id="1531" name="Google Shape;1531;p133"/>
          <p:cNvSpPr txBox="1"/>
          <p:nvPr>
            <p:ph type="title"/>
          </p:nvPr>
        </p:nvSpPr>
        <p:spPr>
          <a:xfrm>
            <a:off x="457200" y="274638"/>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DESIGNING FINITE AUTOMATA</a:t>
            </a:r>
            <a:endParaRPr/>
          </a:p>
        </p:txBody>
      </p:sp>
      <p:sp>
        <p:nvSpPr>
          <p:cNvPr id="1532" name="Google Shape;1532;p1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533" name="Google Shape;1533;p1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534" name="Google Shape;1534;p1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535" name="Google Shape;1535;p133"/>
          <p:cNvGraphicFramePr/>
          <p:nvPr/>
        </p:nvGraphicFramePr>
        <p:xfrm>
          <a:off x="584562" y="756106"/>
          <a:ext cx="3000000" cy="3000000"/>
        </p:xfrm>
        <a:graphic>
          <a:graphicData uri="http://schemas.openxmlformats.org/drawingml/2006/table">
            <a:tbl>
              <a:tblPr bandRow="1" firstRow="1">
                <a:noFill/>
                <a:tableStyleId>{1DD1F0B8-C0F4-4710-A24E-F3ACE173D476}</a:tableStyleId>
              </a:tblPr>
              <a:tblGrid>
                <a:gridCol w="7632850"/>
              </a:tblGrid>
              <a:tr h="3840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4</a:t>
                      </a:r>
                      <a:endParaRPr/>
                    </a:p>
                  </a:txBody>
                  <a:tcPr marT="45725" marB="45725" marR="91450" marL="91450"/>
                </a:tc>
              </a:tr>
              <a:tr h="4224475">
                <a:tc>
                  <a:txBody>
                    <a:bodyPr/>
                    <a:lstStyle/>
                    <a:p>
                      <a:pPr indent="0" lvl="0" marL="0" marR="0" rtl="0" algn="l">
                        <a:lnSpc>
                          <a:spcPct val="100000"/>
                        </a:lnSpc>
                        <a:spcBef>
                          <a:spcPts val="0"/>
                        </a:spcBef>
                        <a:spcAft>
                          <a:spcPts val="0"/>
                        </a:spcAft>
                        <a:buClr>
                          <a:schemeClr val="dk1"/>
                        </a:buClr>
                        <a:buSzPts val="2000"/>
                        <a:buFont typeface="Arial"/>
                        <a:buNone/>
                      </a:pPr>
                      <a:r>
                        <a:rPr b="1" lang="en-IN" sz="2000"/>
                        <a:t>Double Digits</a:t>
                      </a:r>
                      <a:endParaRPr/>
                    </a:p>
                    <a:p>
                      <a:pPr indent="-342900" lvl="0" marL="342900" marR="0" rtl="0" algn="l">
                        <a:spcBef>
                          <a:spcPts val="0"/>
                        </a:spcBef>
                        <a:spcAft>
                          <a:spcPts val="0"/>
                        </a:spcAft>
                        <a:buClr>
                          <a:schemeClr val="dk1"/>
                        </a:buClr>
                        <a:buSzPts val="2000"/>
                        <a:buFont typeface="Arial"/>
                        <a:buChar char="•"/>
                      </a:pPr>
                      <a:r>
                        <a:rPr lang="en-IN" sz="2000"/>
                        <a:t>For 31, Remainder 1</a:t>
                      </a:r>
                      <a:endParaRPr/>
                    </a:p>
                    <a:p>
                      <a:pPr indent="-342900" lvl="0" marL="342900" marR="0" rtl="0" algn="l">
                        <a:spcBef>
                          <a:spcPts val="0"/>
                        </a:spcBef>
                        <a:spcAft>
                          <a:spcPts val="0"/>
                        </a:spcAft>
                        <a:buClr>
                          <a:schemeClr val="dk1"/>
                        </a:buClr>
                        <a:buSzPts val="2000"/>
                        <a:buFont typeface="Arial"/>
                        <a:buChar char="•"/>
                      </a:pPr>
                      <a:r>
                        <a:rPr lang="en-IN" sz="2000"/>
                        <a:t>For 34, Remainder 1</a:t>
                      </a:r>
                      <a:endParaRPr/>
                    </a:p>
                    <a:p>
                      <a:pPr indent="-342900" lvl="0" marL="342900" marR="0" rtl="0" algn="l">
                        <a:lnSpc>
                          <a:spcPct val="100000"/>
                        </a:lnSpc>
                        <a:spcBef>
                          <a:spcPts val="0"/>
                        </a:spcBef>
                        <a:spcAft>
                          <a:spcPts val="0"/>
                        </a:spcAft>
                        <a:buClr>
                          <a:schemeClr val="dk1"/>
                        </a:buClr>
                        <a:buSzPts val="2000"/>
                        <a:buFont typeface="Arial"/>
                        <a:buChar char="•"/>
                      </a:pPr>
                      <a:r>
                        <a:rPr lang="en-IN" sz="2000"/>
                        <a:t>For 37, Remainder 1</a:t>
                      </a:r>
                      <a:endParaRPr/>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txBody>
                  <a:tcPr marT="45725" marB="45725" marR="91450" marL="91450"/>
                </a:tc>
              </a:tr>
            </a:tbl>
          </a:graphicData>
        </a:graphic>
      </p:graphicFrame>
      <p:sp>
        <p:nvSpPr>
          <p:cNvPr id="1536" name="Google Shape;1536;p133"/>
          <p:cNvSpPr/>
          <p:nvPr/>
        </p:nvSpPr>
        <p:spPr>
          <a:xfrm>
            <a:off x="2501783" y="322299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A</a:t>
            </a:r>
            <a:endParaRPr sz="1800">
              <a:solidFill>
                <a:schemeClr val="lt1"/>
              </a:solidFill>
              <a:latin typeface="Calibri"/>
              <a:ea typeface="Calibri"/>
              <a:cs typeface="Calibri"/>
              <a:sym typeface="Calibri"/>
            </a:endParaRPr>
          </a:p>
        </p:txBody>
      </p:sp>
      <p:grpSp>
        <p:nvGrpSpPr>
          <p:cNvPr id="1537" name="Google Shape;1537;p133"/>
          <p:cNvGrpSpPr/>
          <p:nvPr/>
        </p:nvGrpSpPr>
        <p:grpSpPr>
          <a:xfrm>
            <a:off x="5364088" y="2797874"/>
            <a:ext cx="1224136" cy="1152128"/>
            <a:chOff x="4196413" y="3235749"/>
            <a:chExt cx="1224136" cy="1152128"/>
          </a:xfrm>
        </p:grpSpPr>
        <p:sp>
          <p:nvSpPr>
            <p:cNvPr id="1538" name="Google Shape;1538;p133"/>
            <p:cNvSpPr/>
            <p:nvPr/>
          </p:nvSpPr>
          <p:spPr>
            <a:xfrm>
              <a:off x="4196413" y="3235749"/>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9" name="Google Shape;1539;p133"/>
            <p:cNvSpPr/>
            <p:nvPr/>
          </p:nvSpPr>
          <p:spPr>
            <a:xfrm>
              <a:off x="4340429" y="34517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grpSp>
      <p:sp>
        <p:nvSpPr>
          <p:cNvPr id="1540" name="Google Shape;1540;p133"/>
          <p:cNvSpPr/>
          <p:nvPr/>
        </p:nvSpPr>
        <p:spPr>
          <a:xfrm>
            <a:off x="5652120" y="4972000"/>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
        <p:nvSpPr>
          <p:cNvPr id="1541" name="Google Shape;1541;p133"/>
          <p:cNvSpPr/>
          <p:nvPr/>
        </p:nvSpPr>
        <p:spPr>
          <a:xfrm>
            <a:off x="2627784" y="494116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cxnSp>
        <p:nvCxnSpPr>
          <p:cNvPr id="1542" name="Google Shape;1542;p133"/>
          <p:cNvCxnSpPr/>
          <p:nvPr/>
        </p:nvCxnSpPr>
        <p:spPr>
          <a:xfrm>
            <a:off x="1835696" y="3583035"/>
            <a:ext cx="666087" cy="0"/>
          </a:xfrm>
          <a:prstGeom prst="straightConnector1">
            <a:avLst/>
          </a:prstGeom>
          <a:noFill/>
          <a:ln cap="flat" cmpd="sng" w="9525">
            <a:solidFill>
              <a:srgbClr val="4A7DBA"/>
            </a:solidFill>
            <a:prstDash val="solid"/>
            <a:round/>
            <a:headEnd len="sm" w="sm" type="none"/>
            <a:tailEnd len="med" w="med" type="stealth"/>
          </a:ln>
        </p:spPr>
      </p:cxnSp>
      <p:cxnSp>
        <p:nvCxnSpPr>
          <p:cNvPr id="1543" name="Google Shape;1543;p133"/>
          <p:cNvCxnSpPr/>
          <p:nvPr/>
        </p:nvCxnSpPr>
        <p:spPr>
          <a:xfrm>
            <a:off x="3437886" y="3562609"/>
            <a:ext cx="1926201" cy="0"/>
          </a:xfrm>
          <a:prstGeom prst="straightConnector1">
            <a:avLst/>
          </a:prstGeom>
          <a:noFill/>
          <a:ln cap="flat" cmpd="sng" w="9525">
            <a:solidFill>
              <a:srgbClr val="4A7DBA"/>
            </a:solidFill>
            <a:prstDash val="solid"/>
            <a:round/>
            <a:headEnd len="sm" w="sm" type="none"/>
            <a:tailEnd len="med" w="med" type="stealth"/>
          </a:ln>
        </p:spPr>
      </p:cxnSp>
      <p:sp>
        <p:nvSpPr>
          <p:cNvPr id="1544" name="Google Shape;1544;p133"/>
          <p:cNvSpPr txBox="1"/>
          <p:nvPr/>
        </p:nvSpPr>
        <p:spPr>
          <a:xfrm>
            <a:off x="3759554" y="3189272"/>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0,3,6,9</a:t>
            </a:r>
            <a:endParaRPr b="1" sz="1800">
              <a:solidFill>
                <a:schemeClr val="dk1"/>
              </a:solidFill>
              <a:latin typeface="Calibri"/>
              <a:ea typeface="Calibri"/>
              <a:cs typeface="Calibri"/>
              <a:sym typeface="Calibri"/>
            </a:endParaRPr>
          </a:p>
        </p:txBody>
      </p:sp>
      <p:cxnSp>
        <p:nvCxnSpPr>
          <p:cNvPr id="1545" name="Google Shape;1545;p133"/>
          <p:cNvCxnSpPr>
            <a:stCxn id="1536" idx="5"/>
          </p:cNvCxnSpPr>
          <p:nvPr/>
        </p:nvCxnSpPr>
        <p:spPr>
          <a:xfrm>
            <a:off x="3300798" y="3837622"/>
            <a:ext cx="2351400" cy="1319700"/>
          </a:xfrm>
          <a:prstGeom prst="straightConnector1">
            <a:avLst/>
          </a:prstGeom>
          <a:noFill/>
          <a:ln cap="flat" cmpd="sng" w="9525">
            <a:solidFill>
              <a:srgbClr val="4A7DBA"/>
            </a:solidFill>
            <a:prstDash val="solid"/>
            <a:round/>
            <a:headEnd len="sm" w="sm" type="none"/>
            <a:tailEnd len="med" w="med" type="stealth"/>
          </a:ln>
        </p:spPr>
      </p:cxnSp>
      <p:cxnSp>
        <p:nvCxnSpPr>
          <p:cNvPr id="1546" name="Google Shape;1546;p133"/>
          <p:cNvCxnSpPr/>
          <p:nvPr/>
        </p:nvCxnSpPr>
        <p:spPr>
          <a:xfrm>
            <a:off x="2969835"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547" name="Google Shape;1547;p133"/>
          <p:cNvSpPr txBox="1"/>
          <p:nvPr/>
        </p:nvSpPr>
        <p:spPr>
          <a:xfrm>
            <a:off x="4324887" y="4076253"/>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
        <p:nvSpPr>
          <p:cNvPr id="1548" name="Google Shape;1548;p133"/>
          <p:cNvSpPr txBox="1"/>
          <p:nvPr/>
        </p:nvSpPr>
        <p:spPr>
          <a:xfrm>
            <a:off x="2915816" y="4355812"/>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2,5,8</a:t>
            </a:r>
            <a:endParaRPr b="1" sz="1800">
              <a:solidFill>
                <a:schemeClr val="dk1"/>
              </a:solidFill>
              <a:latin typeface="Calibri"/>
              <a:ea typeface="Calibri"/>
              <a:cs typeface="Calibri"/>
              <a:sym typeface="Calibri"/>
            </a:endParaRPr>
          </a:p>
        </p:txBody>
      </p:sp>
      <p:cxnSp>
        <p:nvCxnSpPr>
          <p:cNvPr id="1549" name="Google Shape;1549;p133"/>
          <p:cNvCxnSpPr/>
          <p:nvPr/>
        </p:nvCxnSpPr>
        <p:spPr>
          <a:xfrm rot="10800000">
            <a:off x="6120172"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550" name="Google Shape;1550;p133"/>
          <p:cNvSpPr txBox="1"/>
          <p:nvPr/>
        </p:nvSpPr>
        <p:spPr>
          <a:xfrm>
            <a:off x="6175990" y="4193535"/>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2,5,8</a:t>
            </a:r>
            <a:endParaRPr b="1" sz="1800">
              <a:solidFill>
                <a:schemeClr val="dk1"/>
              </a:solidFill>
              <a:latin typeface="Calibri"/>
              <a:ea typeface="Calibri"/>
              <a:cs typeface="Calibri"/>
              <a:sym typeface="Calibri"/>
            </a:endParaRPr>
          </a:p>
        </p:txBody>
      </p:sp>
      <p:sp>
        <p:nvSpPr>
          <p:cNvPr id="1551" name="Google Shape;1551;p133"/>
          <p:cNvSpPr txBox="1"/>
          <p:nvPr/>
        </p:nvSpPr>
        <p:spPr>
          <a:xfrm>
            <a:off x="7020272" y="5692080"/>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
        <p:nvSpPr>
          <p:cNvPr id="1552" name="Google Shape;1552;p133"/>
          <p:cNvSpPr/>
          <p:nvPr/>
        </p:nvSpPr>
        <p:spPr>
          <a:xfrm rot="-1914745">
            <a:off x="3253261" y="4251701"/>
            <a:ext cx="4921171" cy="2240936"/>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1553" name="Google Shape;1553;p133"/>
          <p:cNvCxnSpPr/>
          <p:nvPr/>
        </p:nvCxnSpPr>
        <p:spPr>
          <a:xfrm>
            <a:off x="3653911" y="5517232"/>
            <a:ext cx="1926201" cy="0"/>
          </a:xfrm>
          <a:prstGeom prst="straightConnector1">
            <a:avLst/>
          </a:prstGeom>
          <a:noFill/>
          <a:ln cap="flat" cmpd="sng" w="9525">
            <a:solidFill>
              <a:srgbClr val="4A7DBA"/>
            </a:solidFill>
            <a:prstDash val="solid"/>
            <a:round/>
            <a:headEnd len="sm" w="sm" type="none"/>
            <a:tailEnd len="med" w="med" type="stealth"/>
          </a:ln>
        </p:spPr>
      </p:cxnSp>
      <p:sp>
        <p:nvSpPr>
          <p:cNvPr id="1554" name="Google Shape;1554;p133"/>
          <p:cNvSpPr txBox="1"/>
          <p:nvPr/>
        </p:nvSpPr>
        <p:spPr>
          <a:xfrm>
            <a:off x="4136884" y="5435932"/>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2,5,8</a:t>
            </a:r>
            <a:endParaRPr b="1" sz="1800">
              <a:solidFill>
                <a:schemeClr val="dk1"/>
              </a:solidFill>
              <a:latin typeface="Calibri"/>
              <a:ea typeface="Calibri"/>
              <a:cs typeface="Calibri"/>
              <a:sym typeface="Calibri"/>
            </a:endParaRPr>
          </a:p>
        </p:txBody>
      </p:sp>
      <p:cxnSp>
        <p:nvCxnSpPr>
          <p:cNvPr id="1555" name="Google Shape;1555;p133"/>
          <p:cNvCxnSpPr/>
          <p:nvPr/>
        </p:nvCxnSpPr>
        <p:spPr>
          <a:xfrm rot="10800000">
            <a:off x="3566956" y="5332040"/>
            <a:ext cx="2085164" cy="0"/>
          </a:xfrm>
          <a:prstGeom prst="straightConnector1">
            <a:avLst/>
          </a:prstGeom>
          <a:noFill/>
          <a:ln cap="flat" cmpd="sng" w="9525">
            <a:solidFill>
              <a:srgbClr val="4A7DBA"/>
            </a:solidFill>
            <a:prstDash val="solid"/>
            <a:round/>
            <a:headEnd len="sm" w="sm" type="none"/>
            <a:tailEnd len="med" w="med" type="stealth"/>
          </a:ln>
        </p:spPr>
      </p:cxnSp>
      <p:sp>
        <p:nvSpPr>
          <p:cNvPr id="1556" name="Google Shape;1556;p133"/>
          <p:cNvSpPr txBox="1"/>
          <p:nvPr/>
        </p:nvSpPr>
        <p:spPr>
          <a:xfrm>
            <a:off x="4283968" y="5003884"/>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
        <p:nvSpPr>
          <p:cNvPr id="1557" name="Google Shape;1557;p133"/>
          <p:cNvSpPr/>
          <p:nvPr/>
        </p:nvSpPr>
        <p:spPr>
          <a:xfrm>
            <a:off x="5868144" y="5661248"/>
            <a:ext cx="720080" cy="720080"/>
          </a:xfrm>
          <a:prstGeom prst="curvedUpArrow">
            <a:avLst>
              <a:gd fmla="val 25000" name="adj1"/>
              <a:gd fmla="val 50000" name="adj2"/>
              <a:gd fmla="val 25000" name="adj3"/>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58" name="Google Shape;1558;p133"/>
          <p:cNvSpPr txBox="1"/>
          <p:nvPr/>
        </p:nvSpPr>
        <p:spPr>
          <a:xfrm>
            <a:off x="6482437" y="6021288"/>
            <a:ext cx="825867" cy="369332"/>
          </a:xfrm>
          <a:prstGeom prst="rect">
            <a:avLst/>
          </a:prstGeom>
          <a:solidFill>
            <a:schemeClr val="lt1"/>
          </a:solidFill>
          <a:ln cap="flat" cmpd="sng" w="25400">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accent6"/>
                </a:solidFill>
                <a:latin typeface="Calibri"/>
                <a:ea typeface="Calibri"/>
                <a:cs typeface="Calibri"/>
                <a:sym typeface="Calibri"/>
              </a:rPr>
              <a:t>0,3,6,9</a:t>
            </a:r>
            <a:endParaRPr b="1" sz="1800">
              <a:solidFill>
                <a:schemeClr val="accent6"/>
              </a:solidFill>
              <a:latin typeface="Calibri"/>
              <a:ea typeface="Calibri"/>
              <a:cs typeface="Calibri"/>
              <a:sym typeface="Calibri"/>
            </a:endParaRPr>
          </a:p>
        </p:txBody>
      </p:sp>
      <p:sp>
        <p:nvSpPr>
          <p:cNvPr id="1559" name="Google Shape;1559;p133"/>
          <p:cNvSpPr/>
          <p:nvPr/>
        </p:nvSpPr>
        <p:spPr>
          <a:xfrm rot="4323941">
            <a:off x="1848091" y="5113405"/>
            <a:ext cx="937363" cy="946752"/>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60" name="Google Shape;1560;p133"/>
          <p:cNvSpPr txBox="1"/>
          <p:nvPr/>
        </p:nvSpPr>
        <p:spPr>
          <a:xfrm>
            <a:off x="937821" y="5291916"/>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0,3,6,9</a:t>
            </a:r>
            <a:endParaRPr b="1" sz="1800">
              <a:solidFill>
                <a:schemeClr val="dk1"/>
              </a:solidFill>
              <a:latin typeface="Calibri"/>
              <a:ea typeface="Calibri"/>
              <a:cs typeface="Calibri"/>
              <a:sym typeface="Calibri"/>
            </a:endParaRPr>
          </a:p>
        </p:txBody>
      </p:sp>
      <p:sp>
        <p:nvSpPr>
          <p:cNvPr id="1561" name="Google Shape;1561;p133"/>
          <p:cNvSpPr/>
          <p:nvPr/>
        </p:nvSpPr>
        <p:spPr>
          <a:xfrm>
            <a:off x="5652120" y="2060848"/>
            <a:ext cx="792088" cy="737026"/>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62" name="Google Shape;1562;p133"/>
          <p:cNvSpPr txBox="1"/>
          <p:nvPr/>
        </p:nvSpPr>
        <p:spPr>
          <a:xfrm>
            <a:off x="5580112" y="1691516"/>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0,3,6,9</a:t>
            </a:r>
            <a:endParaRPr b="1" sz="1800">
              <a:solidFill>
                <a:schemeClr val="dk1"/>
              </a:solidFill>
              <a:latin typeface="Calibri"/>
              <a:ea typeface="Calibri"/>
              <a:cs typeface="Calibri"/>
              <a:sym typeface="Calibri"/>
            </a:endParaRPr>
          </a:p>
        </p:txBody>
      </p:sp>
      <p:cxnSp>
        <p:nvCxnSpPr>
          <p:cNvPr id="1563" name="Google Shape;1563;p133"/>
          <p:cNvCxnSpPr/>
          <p:nvPr/>
        </p:nvCxnSpPr>
        <p:spPr>
          <a:xfrm>
            <a:off x="5868144" y="4005064"/>
            <a:ext cx="0" cy="991166"/>
          </a:xfrm>
          <a:prstGeom prst="straightConnector1">
            <a:avLst/>
          </a:prstGeom>
          <a:noFill/>
          <a:ln cap="flat" cmpd="sng" w="9525">
            <a:solidFill>
              <a:srgbClr val="4A7DBA"/>
            </a:solidFill>
            <a:prstDash val="solid"/>
            <a:round/>
            <a:headEnd len="sm" w="sm" type="none"/>
            <a:tailEnd len="med" w="med" type="stealth"/>
          </a:ln>
        </p:spPr>
      </p:cxnSp>
      <p:sp>
        <p:nvSpPr>
          <p:cNvPr id="1564" name="Google Shape;1564;p133"/>
          <p:cNvSpPr txBox="1"/>
          <p:nvPr/>
        </p:nvSpPr>
        <p:spPr>
          <a:xfrm>
            <a:off x="5217004" y="4228653"/>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8" name="Shape 1568"/>
        <p:cNvGrpSpPr/>
        <p:nvPr/>
      </p:nvGrpSpPr>
      <p:grpSpPr>
        <a:xfrm>
          <a:off x="0" y="0"/>
          <a:ext cx="0" cy="0"/>
          <a:chOff x="0" y="0"/>
          <a:chExt cx="0" cy="0"/>
        </a:xfrm>
      </p:grpSpPr>
      <p:sp>
        <p:nvSpPr>
          <p:cNvPr id="1569" name="Google Shape;1569;p134"/>
          <p:cNvSpPr txBox="1"/>
          <p:nvPr>
            <p:ph type="title"/>
          </p:nvPr>
        </p:nvSpPr>
        <p:spPr>
          <a:xfrm>
            <a:off x="470621" y="22207"/>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DESIGNING FINITE AUTOMATA</a:t>
            </a:r>
            <a:endParaRPr/>
          </a:p>
        </p:txBody>
      </p:sp>
      <p:sp>
        <p:nvSpPr>
          <p:cNvPr id="1570" name="Google Shape;1570;p1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571" name="Google Shape;1571;p1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572" name="Google Shape;1572;p1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573" name="Google Shape;1573;p134"/>
          <p:cNvGraphicFramePr/>
          <p:nvPr/>
        </p:nvGraphicFramePr>
        <p:xfrm>
          <a:off x="584562" y="457039"/>
          <a:ext cx="3000000" cy="3000000"/>
        </p:xfrm>
        <a:graphic>
          <a:graphicData uri="http://schemas.openxmlformats.org/drawingml/2006/table">
            <a:tbl>
              <a:tblPr bandRow="1" firstRow="1">
                <a:noFill/>
                <a:tableStyleId>{1DD1F0B8-C0F4-4710-A24E-F3ACE173D476}</a:tableStyleId>
              </a:tblPr>
              <a:tblGrid>
                <a:gridCol w="7632850"/>
              </a:tblGrid>
              <a:tr h="3840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4</a:t>
                      </a:r>
                      <a:endParaRPr/>
                    </a:p>
                  </a:txBody>
                  <a:tcPr marT="45725" marB="45725" marR="91450" marL="91450"/>
                </a:tc>
              </a:tr>
              <a:tr h="4224475">
                <a:tc>
                  <a:txBody>
                    <a:bodyPr/>
                    <a:lstStyle/>
                    <a:p>
                      <a:pPr indent="0" lvl="0" marL="0" marR="0" rtl="0" algn="l">
                        <a:lnSpc>
                          <a:spcPct val="100000"/>
                        </a:lnSpc>
                        <a:spcBef>
                          <a:spcPts val="0"/>
                        </a:spcBef>
                        <a:spcAft>
                          <a:spcPts val="0"/>
                        </a:spcAft>
                        <a:buClr>
                          <a:schemeClr val="dk1"/>
                        </a:buClr>
                        <a:buSzPts val="2000"/>
                        <a:buFont typeface="Arial"/>
                        <a:buNone/>
                      </a:pPr>
                      <a:r>
                        <a:rPr b="1" lang="en-IN" sz="2000"/>
                        <a:t>Double Digits</a:t>
                      </a:r>
                      <a:endParaRPr/>
                    </a:p>
                    <a:p>
                      <a:pPr indent="-342900" lvl="0" marL="342900" marR="0" rtl="0" algn="l">
                        <a:spcBef>
                          <a:spcPts val="0"/>
                        </a:spcBef>
                        <a:spcAft>
                          <a:spcPts val="0"/>
                        </a:spcAft>
                        <a:buClr>
                          <a:schemeClr val="dk1"/>
                        </a:buClr>
                        <a:buSzPts val="2000"/>
                        <a:buFont typeface="Arial"/>
                        <a:buChar char="•"/>
                      </a:pPr>
                      <a:r>
                        <a:rPr lang="en-IN" sz="2000"/>
                        <a:t>For 32, Remainder 2</a:t>
                      </a:r>
                      <a:endParaRPr/>
                    </a:p>
                    <a:p>
                      <a:pPr indent="-342900" lvl="0" marL="342900" marR="0" rtl="0" algn="l">
                        <a:spcBef>
                          <a:spcPts val="0"/>
                        </a:spcBef>
                        <a:spcAft>
                          <a:spcPts val="0"/>
                        </a:spcAft>
                        <a:buClr>
                          <a:schemeClr val="dk1"/>
                        </a:buClr>
                        <a:buSzPts val="2000"/>
                        <a:buFont typeface="Arial"/>
                        <a:buChar char="•"/>
                      </a:pPr>
                      <a:r>
                        <a:rPr lang="en-IN" sz="2000"/>
                        <a:t>For 35, Remainder 2</a:t>
                      </a:r>
                      <a:endParaRPr/>
                    </a:p>
                    <a:p>
                      <a:pPr indent="-342900" lvl="0" marL="342900" marR="0" rtl="0" algn="l">
                        <a:lnSpc>
                          <a:spcPct val="100000"/>
                        </a:lnSpc>
                        <a:spcBef>
                          <a:spcPts val="0"/>
                        </a:spcBef>
                        <a:spcAft>
                          <a:spcPts val="0"/>
                        </a:spcAft>
                        <a:buClr>
                          <a:schemeClr val="dk1"/>
                        </a:buClr>
                        <a:buSzPts val="2000"/>
                        <a:buFont typeface="Arial"/>
                        <a:buChar char="•"/>
                      </a:pPr>
                      <a:r>
                        <a:rPr lang="en-IN" sz="2000"/>
                        <a:t>For 38, Remainder 2</a:t>
                      </a:r>
                      <a:endParaRPr/>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p>
                      <a:pPr indent="-215900" lvl="0" marL="342900" marR="0" rtl="0" algn="l">
                        <a:spcBef>
                          <a:spcPts val="0"/>
                        </a:spcBef>
                        <a:spcAft>
                          <a:spcPts val="0"/>
                        </a:spcAft>
                        <a:buClr>
                          <a:schemeClr val="dk1"/>
                        </a:buClr>
                        <a:buSzPts val="2000"/>
                        <a:buFont typeface="Arial"/>
                        <a:buNone/>
                      </a:pPr>
                      <a:r>
                        <a:t/>
                      </a:r>
                      <a:endParaRPr sz="2000"/>
                    </a:p>
                  </a:txBody>
                  <a:tcPr marT="45725" marB="45725" marR="91450" marL="91450"/>
                </a:tc>
              </a:tr>
            </a:tbl>
          </a:graphicData>
        </a:graphic>
      </p:graphicFrame>
      <p:sp>
        <p:nvSpPr>
          <p:cNvPr id="1574" name="Google Shape;1574;p134"/>
          <p:cNvSpPr/>
          <p:nvPr/>
        </p:nvSpPr>
        <p:spPr>
          <a:xfrm>
            <a:off x="2501783" y="322299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A</a:t>
            </a:r>
            <a:endParaRPr sz="1800">
              <a:solidFill>
                <a:schemeClr val="lt1"/>
              </a:solidFill>
              <a:latin typeface="Calibri"/>
              <a:ea typeface="Calibri"/>
              <a:cs typeface="Calibri"/>
              <a:sym typeface="Calibri"/>
            </a:endParaRPr>
          </a:p>
        </p:txBody>
      </p:sp>
      <p:grpSp>
        <p:nvGrpSpPr>
          <p:cNvPr id="1575" name="Google Shape;1575;p134"/>
          <p:cNvGrpSpPr/>
          <p:nvPr/>
        </p:nvGrpSpPr>
        <p:grpSpPr>
          <a:xfrm>
            <a:off x="5364088" y="2797874"/>
            <a:ext cx="1224136" cy="1152128"/>
            <a:chOff x="4196413" y="3235749"/>
            <a:chExt cx="1224136" cy="1152128"/>
          </a:xfrm>
        </p:grpSpPr>
        <p:sp>
          <p:nvSpPr>
            <p:cNvPr id="1576" name="Google Shape;1576;p134"/>
            <p:cNvSpPr/>
            <p:nvPr/>
          </p:nvSpPr>
          <p:spPr>
            <a:xfrm>
              <a:off x="4196413" y="3235749"/>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7" name="Google Shape;1577;p134"/>
            <p:cNvSpPr/>
            <p:nvPr/>
          </p:nvSpPr>
          <p:spPr>
            <a:xfrm>
              <a:off x="4340429" y="34517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grpSp>
      <p:sp>
        <p:nvSpPr>
          <p:cNvPr id="1578" name="Google Shape;1578;p134"/>
          <p:cNvSpPr/>
          <p:nvPr/>
        </p:nvSpPr>
        <p:spPr>
          <a:xfrm>
            <a:off x="5652120" y="4972000"/>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
        <p:nvSpPr>
          <p:cNvPr id="1579" name="Google Shape;1579;p134"/>
          <p:cNvSpPr/>
          <p:nvPr/>
        </p:nvSpPr>
        <p:spPr>
          <a:xfrm>
            <a:off x="2627784" y="494116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cxnSp>
        <p:nvCxnSpPr>
          <p:cNvPr id="1580" name="Google Shape;1580;p134"/>
          <p:cNvCxnSpPr/>
          <p:nvPr/>
        </p:nvCxnSpPr>
        <p:spPr>
          <a:xfrm>
            <a:off x="1835696" y="3583035"/>
            <a:ext cx="666087" cy="0"/>
          </a:xfrm>
          <a:prstGeom prst="straightConnector1">
            <a:avLst/>
          </a:prstGeom>
          <a:noFill/>
          <a:ln cap="flat" cmpd="sng" w="9525">
            <a:solidFill>
              <a:srgbClr val="4A7DBA"/>
            </a:solidFill>
            <a:prstDash val="solid"/>
            <a:round/>
            <a:headEnd len="sm" w="sm" type="none"/>
            <a:tailEnd len="med" w="med" type="stealth"/>
          </a:ln>
        </p:spPr>
      </p:cxnSp>
      <p:cxnSp>
        <p:nvCxnSpPr>
          <p:cNvPr id="1581" name="Google Shape;1581;p134"/>
          <p:cNvCxnSpPr/>
          <p:nvPr/>
        </p:nvCxnSpPr>
        <p:spPr>
          <a:xfrm>
            <a:off x="3437886" y="3562609"/>
            <a:ext cx="1926201" cy="0"/>
          </a:xfrm>
          <a:prstGeom prst="straightConnector1">
            <a:avLst/>
          </a:prstGeom>
          <a:noFill/>
          <a:ln cap="flat" cmpd="sng" w="9525">
            <a:solidFill>
              <a:srgbClr val="4A7DBA"/>
            </a:solidFill>
            <a:prstDash val="solid"/>
            <a:round/>
            <a:headEnd len="sm" w="sm" type="none"/>
            <a:tailEnd len="med" w="med" type="stealth"/>
          </a:ln>
        </p:spPr>
      </p:cxnSp>
      <p:sp>
        <p:nvSpPr>
          <p:cNvPr id="1582" name="Google Shape;1582;p134"/>
          <p:cNvSpPr txBox="1"/>
          <p:nvPr/>
        </p:nvSpPr>
        <p:spPr>
          <a:xfrm>
            <a:off x="3759554" y="3189272"/>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0,3,6,9</a:t>
            </a:r>
            <a:endParaRPr b="1" sz="1800">
              <a:solidFill>
                <a:schemeClr val="dk1"/>
              </a:solidFill>
              <a:latin typeface="Calibri"/>
              <a:ea typeface="Calibri"/>
              <a:cs typeface="Calibri"/>
              <a:sym typeface="Calibri"/>
            </a:endParaRPr>
          </a:p>
        </p:txBody>
      </p:sp>
      <p:cxnSp>
        <p:nvCxnSpPr>
          <p:cNvPr id="1583" name="Google Shape;1583;p134"/>
          <p:cNvCxnSpPr>
            <a:stCxn id="1574" idx="5"/>
          </p:cNvCxnSpPr>
          <p:nvPr/>
        </p:nvCxnSpPr>
        <p:spPr>
          <a:xfrm>
            <a:off x="3300798" y="3837622"/>
            <a:ext cx="2351400" cy="1319700"/>
          </a:xfrm>
          <a:prstGeom prst="straightConnector1">
            <a:avLst/>
          </a:prstGeom>
          <a:noFill/>
          <a:ln cap="flat" cmpd="sng" w="9525">
            <a:solidFill>
              <a:srgbClr val="4A7DBA"/>
            </a:solidFill>
            <a:prstDash val="solid"/>
            <a:round/>
            <a:headEnd len="sm" w="sm" type="none"/>
            <a:tailEnd len="med" w="med" type="stealth"/>
          </a:ln>
        </p:spPr>
      </p:cxnSp>
      <p:cxnSp>
        <p:nvCxnSpPr>
          <p:cNvPr id="1584" name="Google Shape;1584;p134"/>
          <p:cNvCxnSpPr/>
          <p:nvPr/>
        </p:nvCxnSpPr>
        <p:spPr>
          <a:xfrm>
            <a:off x="2969835"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585" name="Google Shape;1585;p134"/>
          <p:cNvSpPr txBox="1"/>
          <p:nvPr/>
        </p:nvSpPr>
        <p:spPr>
          <a:xfrm>
            <a:off x="4324887" y="4076253"/>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
        <p:nvSpPr>
          <p:cNvPr id="1586" name="Google Shape;1586;p134"/>
          <p:cNvSpPr txBox="1"/>
          <p:nvPr/>
        </p:nvSpPr>
        <p:spPr>
          <a:xfrm>
            <a:off x="2915816" y="4355812"/>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2,5,8</a:t>
            </a:r>
            <a:endParaRPr b="1" sz="1800">
              <a:solidFill>
                <a:schemeClr val="dk1"/>
              </a:solidFill>
              <a:latin typeface="Calibri"/>
              <a:ea typeface="Calibri"/>
              <a:cs typeface="Calibri"/>
              <a:sym typeface="Calibri"/>
            </a:endParaRPr>
          </a:p>
        </p:txBody>
      </p:sp>
      <p:cxnSp>
        <p:nvCxnSpPr>
          <p:cNvPr id="1587" name="Google Shape;1587;p134"/>
          <p:cNvCxnSpPr/>
          <p:nvPr/>
        </p:nvCxnSpPr>
        <p:spPr>
          <a:xfrm rot="10800000">
            <a:off x="6120172" y="3950002"/>
            <a:ext cx="0" cy="991166"/>
          </a:xfrm>
          <a:prstGeom prst="straightConnector1">
            <a:avLst/>
          </a:prstGeom>
          <a:noFill/>
          <a:ln cap="flat" cmpd="sng" w="9525">
            <a:solidFill>
              <a:srgbClr val="4A7DBA"/>
            </a:solidFill>
            <a:prstDash val="solid"/>
            <a:round/>
            <a:headEnd len="sm" w="sm" type="none"/>
            <a:tailEnd len="med" w="med" type="stealth"/>
          </a:ln>
        </p:spPr>
      </p:cxnSp>
      <p:sp>
        <p:nvSpPr>
          <p:cNvPr id="1588" name="Google Shape;1588;p134"/>
          <p:cNvSpPr txBox="1"/>
          <p:nvPr/>
        </p:nvSpPr>
        <p:spPr>
          <a:xfrm>
            <a:off x="6175990" y="4193535"/>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2,5,8</a:t>
            </a:r>
            <a:endParaRPr b="1" sz="1800">
              <a:solidFill>
                <a:schemeClr val="dk1"/>
              </a:solidFill>
              <a:latin typeface="Calibri"/>
              <a:ea typeface="Calibri"/>
              <a:cs typeface="Calibri"/>
              <a:sym typeface="Calibri"/>
            </a:endParaRPr>
          </a:p>
        </p:txBody>
      </p:sp>
      <p:sp>
        <p:nvSpPr>
          <p:cNvPr id="1589" name="Google Shape;1589;p134"/>
          <p:cNvSpPr txBox="1"/>
          <p:nvPr/>
        </p:nvSpPr>
        <p:spPr>
          <a:xfrm>
            <a:off x="7020272" y="5692080"/>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
        <p:nvSpPr>
          <p:cNvPr id="1590" name="Google Shape;1590;p134"/>
          <p:cNvSpPr/>
          <p:nvPr/>
        </p:nvSpPr>
        <p:spPr>
          <a:xfrm rot="-1914745">
            <a:off x="3253261" y="4251701"/>
            <a:ext cx="4921171" cy="2240936"/>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1591" name="Google Shape;1591;p134"/>
          <p:cNvCxnSpPr/>
          <p:nvPr/>
        </p:nvCxnSpPr>
        <p:spPr>
          <a:xfrm>
            <a:off x="3653911" y="5517232"/>
            <a:ext cx="1926201" cy="0"/>
          </a:xfrm>
          <a:prstGeom prst="straightConnector1">
            <a:avLst/>
          </a:prstGeom>
          <a:noFill/>
          <a:ln cap="flat" cmpd="sng" w="9525">
            <a:solidFill>
              <a:srgbClr val="4A7DBA"/>
            </a:solidFill>
            <a:prstDash val="solid"/>
            <a:round/>
            <a:headEnd len="sm" w="sm" type="none"/>
            <a:tailEnd len="med" w="med" type="stealth"/>
          </a:ln>
        </p:spPr>
      </p:cxnSp>
      <p:sp>
        <p:nvSpPr>
          <p:cNvPr id="1592" name="Google Shape;1592;p134"/>
          <p:cNvSpPr txBox="1"/>
          <p:nvPr/>
        </p:nvSpPr>
        <p:spPr>
          <a:xfrm>
            <a:off x="4136884" y="5435932"/>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2,5,8</a:t>
            </a:r>
            <a:endParaRPr b="1" sz="1800">
              <a:solidFill>
                <a:schemeClr val="dk1"/>
              </a:solidFill>
              <a:latin typeface="Calibri"/>
              <a:ea typeface="Calibri"/>
              <a:cs typeface="Calibri"/>
              <a:sym typeface="Calibri"/>
            </a:endParaRPr>
          </a:p>
        </p:txBody>
      </p:sp>
      <p:cxnSp>
        <p:nvCxnSpPr>
          <p:cNvPr id="1593" name="Google Shape;1593;p134"/>
          <p:cNvCxnSpPr/>
          <p:nvPr/>
        </p:nvCxnSpPr>
        <p:spPr>
          <a:xfrm rot="10800000">
            <a:off x="3566956" y="5332040"/>
            <a:ext cx="2085164" cy="0"/>
          </a:xfrm>
          <a:prstGeom prst="straightConnector1">
            <a:avLst/>
          </a:prstGeom>
          <a:noFill/>
          <a:ln cap="flat" cmpd="sng" w="9525">
            <a:solidFill>
              <a:srgbClr val="4A7DBA"/>
            </a:solidFill>
            <a:prstDash val="solid"/>
            <a:round/>
            <a:headEnd len="sm" w="sm" type="none"/>
            <a:tailEnd len="med" w="med" type="stealth"/>
          </a:ln>
        </p:spPr>
      </p:cxnSp>
      <p:sp>
        <p:nvSpPr>
          <p:cNvPr id="1594" name="Google Shape;1594;p134"/>
          <p:cNvSpPr txBox="1"/>
          <p:nvPr/>
        </p:nvSpPr>
        <p:spPr>
          <a:xfrm>
            <a:off x="4283968" y="5003884"/>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
        <p:nvSpPr>
          <p:cNvPr id="1595" name="Google Shape;1595;p134"/>
          <p:cNvSpPr/>
          <p:nvPr/>
        </p:nvSpPr>
        <p:spPr>
          <a:xfrm>
            <a:off x="5868144" y="5661248"/>
            <a:ext cx="720080" cy="720080"/>
          </a:xfrm>
          <a:prstGeom prst="curvedUpArrow">
            <a:avLst>
              <a:gd fmla="val 25000" name="adj1"/>
              <a:gd fmla="val 50000" name="adj2"/>
              <a:gd fmla="val 25000" name="adj3"/>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96" name="Google Shape;1596;p134"/>
          <p:cNvSpPr txBox="1"/>
          <p:nvPr/>
        </p:nvSpPr>
        <p:spPr>
          <a:xfrm>
            <a:off x="6482437" y="6021288"/>
            <a:ext cx="825867" cy="369332"/>
          </a:xfrm>
          <a:prstGeom prst="rect">
            <a:avLst/>
          </a:prstGeom>
          <a:solidFill>
            <a:schemeClr val="lt1"/>
          </a:solidFill>
          <a:ln cap="flat" cmpd="sng" w="25400">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accent6"/>
                </a:solidFill>
                <a:latin typeface="Calibri"/>
                <a:ea typeface="Calibri"/>
                <a:cs typeface="Calibri"/>
                <a:sym typeface="Calibri"/>
              </a:rPr>
              <a:t>0,3,6,9</a:t>
            </a:r>
            <a:endParaRPr b="1" sz="1800">
              <a:solidFill>
                <a:schemeClr val="accent6"/>
              </a:solidFill>
              <a:latin typeface="Calibri"/>
              <a:ea typeface="Calibri"/>
              <a:cs typeface="Calibri"/>
              <a:sym typeface="Calibri"/>
            </a:endParaRPr>
          </a:p>
        </p:txBody>
      </p:sp>
      <p:sp>
        <p:nvSpPr>
          <p:cNvPr id="1597" name="Google Shape;1597;p134"/>
          <p:cNvSpPr/>
          <p:nvPr/>
        </p:nvSpPr>
        <p:spPr>
          <a:xfrm rot="4323941">
            <a:off x="1848091" y="5113405"/>
            <a:ext cx="937363" cy="946752"/>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98" name="Google Shape;1598;p134"/>
          <p:cNvSpPr txBox="1"/>
          <p:nvPr/>
        </p:nvSpPr>
        <p:spPr>
          <a:xfrm>
            <a:off x="1490905" y="5888462"/>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0,3,6,9</a:t>
            </a:r>
            <a:endParaRPr b="1" sz="1800">
              <a:solidFill>
                <a:schemeClr val="dk1"/>
              </a:solidFill>
              <a:latin typeface="Calibri"/>
              <a:ea typeface="Calibri"/>
              <a:cs typeface="Calibri"/>
              <a:sym typeface="Calibri"/>
            </a:endParaRPr>
          </a:p>
        </p:txBody>
      </p:sp>
      <p:sp>
        <p:nvSpPr>
          <p:cNvPr id="1599" name="Google Shape;1599;p134"/>
          <p:cNvSpPr/>
          <p:nvPr/>
        </p:nvSpPr>
        <p:spPr>
          <a:xfrm>
            <a:off x="5652120" y="2060848"/>
            <a:ext cx="792088" cy="737026"/>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00" name="Google Shape;1600;p134"/>
          <p:cNvSpPr txBox="1"/>
          <p:nvPr/>
        </p:nvSpPr>
        <p:spPr>
          <a:xfrm>
            <a:off x="5580112" y="1691516"/>
            <a:ext cx="8258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0,3,6,9</a:t>
            </a:r>
            <a:endParaRPr b="1" sz="1800">
              <a:solidFill>
                <a:schemeClr val="dk1"/>
              </a:solidFill>
              <a:latin typeface="Calibri"/>
              <a:ea typeface="Calibri"/>
              <a:cs typeface="Calibri"/>
              <a:sym typeface="Calibri"/>
            </a:endParaRPr>
          </a:p>
        </p:txBody>
      </p:sp>
      <p:cxnSp>
        <p:nvCxnSpPr>
          <p:cNvPr id="1601" name="Google Shape;1601;p134"/>
          <p:cNvCxnSpPr/>
          <p:nvPr/>
        </p:nvCxnSpPr>
        <p:spPr>
          <a:xfrm>
            <a:off x="5868144" y="4005064"/>
            <a:ext cx="0" cy="991166"/>
          </a:xfrm>
          <a:prstGeom prst="straightConnector1">
            <a:avLst/>
          </a:prstGeom>
          <a:noFill/>
          <a:ln cap="flat" cmpd="sng" w="9525">
            <a:solidFill>
              <a:srgbClr val="4A7DBA"/>
            </a:solidFill>
            <a:prstDash val="solid"/>
            <a:round/>
            <a:headEnd len="sm" w="sm" type="none"/>
            <a:tailEnd len="med" w="med" type="stealth"/>
          </a:ln>
        </p:spPr>
      </p:cxnSp>
      <p:sp>
        <p:nvSpPr>
          <p:cNvPr id="1602" name="Google Shape;1602;p134"/>
          <p:cNvSpPr txBox="1"/>
          <p:nvPr/>
        </p:nvSpPr>
        <p:spPr>
          <a:xfrm>
            <a:off x="5217004" y="4228653"/>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1,4,7</a:t>
            </a:r>
            <a:endParaRPr b="1" sz="1800">
              <a:solidFill>
                <a:schemeClr val="dk1"/>
              </a:solidFill>
              <a:latin typeface="Calibri"/>
              <a:ea typeface="Calibri"/>
              <a:cs typeface="Calibri"/>
              <a:sym typeface="Calibri"/>
            </a:endParaRPr>
          </a:p>
        </p:txBody>
      </p:sp>
      <p:sp>
        <p:nvSpPr>
          <p:cNvPr id="1603" name="Google Shape;1603;p134"/>
          <p:cNvSpPr/>
          <p:nvPr/>
        </p:nvSpPr>
        <p:spPr>
          <a:xfrm rot="3269351">
            <a:off x="2069519" y="801574"/>
            <a:ext cx="1793965" cy="5315514"/>
          </a:xfrm>
          <a:prstGeom prst="curvedRigh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04" name="Google Shape;1604;p134"/>
          <p:cNvSpPr txBox="1"/>
          <p:nvPr/>
        </p:nvSpPr>
        <p:spPr>
          <a:xfrm>
            <a:off x="1184556" y="2935665"/>
            <a:ext cx="651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2,5,8</a:t>
            </a:r>
            <a:endParaRPr b="1" sz="1800">
              <a:solidFill>
                <a:schemeClr val="dk1"/>
              </a:solidFill>
              <a:latin typeface="Calibri"/>
              <a:ea typeface="Calibri"/>
              <a:cs typeface="Calibri"/>
              <a:sym typeface="Calibri"/>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8" name="Shape 1608"/>
        <p:cNvGrpSpPr/>
        <p:nvPr/>
      </p:nvGrpSpPr>
      <p:grpSpPr>
        <a:xfrm>
          <a:off x="0" y="0"/>
          <a:ext cx="0" cy="0"/>
          <a:chOff x="0" y="0"/>
          <a:chExt cx="0" cy="0"/>
        </a:xfrm>
      </p:grpSpPr>
      <p:sp>
        <p:nvSpPr>
          <p:cNvPr id="1609" name="Google Shape;1609;p1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610" name="Google Shape;1610;p1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611" name="Google Shape;1611;p1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612" name="Google Shape;1612;p1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613" name="Google Shape;1613;p135"/>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4</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Complete DFA</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txBody>
                  <a:tcPr marT="45725" marB="45725" marR="91450" marL="91450"/>
                </a:tc>
              </a:tr>
            </a:tbl>
          </a:graphicData>
        </a:graphic>
      </p:graphicFrame>
      <p:pic>
        <p:nvPicPr>
          <p:cNvPr id="1614" name="Google Shape;1614;p135"/>
          <p:cNvPicPr preferRelativeResize="0"/>
          <p:nvPr/>
        </p:nvPicPr>
        <p:blipFill rotWithShape="1">
          <a:blip r:embed="rId3">
            <a:alphaModFix/>
          </a:blip>
          <a:srcRect b="0" l="0" r="0" t="0"/>
          <a:stretch/>
        </p:blipFill>
        <p:spPr>
          <a:xfrm>
            <a:off x="1331641" y="2549911"/>
            <a:ext cx="5544616" cy="3615393"/>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8" name="Shape 1618"/>
        <p:cNvGrpSpPr/>
        <p:nvPr/>
      </p:nvGrpSpPr>
      <p:grpSpPr>
        <a:xfrm>
          <a:off x="0" y="0"/>
          <a:ext cx="0" cy="0"/>
          <a:chOff x="0" y="0"/>
          <a:chExt cx="0" cy="0"/>
        </a:xfrm>
      </p:grpSpPr>
      <p:sp>
        <p:nvSpPr>
          <p:cNvPr id="1619" name="Google Shape;1619;p136"/>
          <p:cNvSpPr txBox="1"/>
          <p:nvPr>
            <p:ph type="title"/>
          </p:nvPr>
        </p:nvSpPr>
        <p:spPr>
          <a:xfrm>
            <a:off x="467544" y="-2767"/>
            <a:ext cx="8229600" cy="346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DESIGNING FINITE AUTOMATA</a:t>
            </a:r>
            <a:endParaRPr/>
          </a:p>
        </p:txBody>
      </p:sp>
      <p:sp>
        <p:nvSpPr>
          <p:cNvPr id="1620" name="Google Shape;1620;p1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621" name="Google Shape;1621;p1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622" name="Google Shape;1622;p1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623" name="Google Shape;1623;p136"/>
          <p:cNvGraphicFramePr/>
          <p:nvPr/>
        </p:nvGraphicFramePr>
        <p:xfrm>
          <a:off x="568152" y="548680"/>
          <a:ext cx="3000000" cy="3000000"/>
        </p:xfrm>
        <a:graphic>
          <a:graphicData uri="http://schemas.openxmlformats.org/drawingml/2006/table">
            <a:tbl>
              <a:tblPr bandRow="1" firstRow="1">
                <a:noFill/>
                <a:tableStyleId>{1DD1F0B8-C0F4-4710-A24E-F3ACE173D476}</a:tableStyleId>
              </a:tblPr>
              <a:tblGrid>
                <a:gridCol w="7632850"/>
              </a:tblGrid>
              <a:tr h="4691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4</a:t>
                      </a:r>
                      <a:endParaRPr/>
                    </a:p>
                  </a:txBody>
                  <a:tcPr marT="45725" marB="45725" marR="91450" marL="91450"/>
                </a:tc>
              </a:tr>
              <a:tr h="5723550">
                <a:tc>
                  <a:txBody>
                    <a:bodyPr/>
                    <a:lstStyle/>
                    <a:p>
                      <a:pPr indent="-342900" lvl="0" marL="342900" marR="0" rtl="0" algn="l">
                        <a:spcBef>
                          <a:spcPts val="0"/>
                        </a:spcBef>
                        <a:spcAft>
                          <a:spcPts val="0"/>
                        </a:spcAft>
                        <a:buClr>
                          <a:schemeClr val="dk1"/>
                        </a:buClr>
                        <a:buSzPts val="2400"/>
                        <a:buFont typeface="Arial"/>
                        <a:buChar char="•"/>
                      </a:pPr>
                      <a:r>
                        <a:rPr lang="en-IN" sz="2400"/>
                        <a:t>Lets check for 1432,1431</a:t>
                      </a:r>
                      <a:endParaRPr/>
                    </a:p>
                    <a:p>
                      <a:pPr indent="-342900" lvl="0" marL="342900" marR="0" rtl="0" algn="l">
                        <a:spcBef>
                          <a:spcPts val="0"/>
                        </a:spcBef>
                        <a:spcAft>
                          <a:spcPts val="0"/>
                        </a:spcAft>
                        <a:buClr>
                          <a:schemeClr val="dk1"/>
                        </a:buClr>
                        <a:buSzPts val="2400"/>
                        <a:buFont typeface="Arial"/>
                        <a:buChar char="•"/>
                      </a:pPr>
                      <a:r>
                        <a:rPr lang="en-IN" sz="2400"/>
                        <a:t>On traversing for 1432, finally we reach state s1 i.e. Remainder 1,</a:t>
                      </a:r>
                      <a:endParaRPr/>
                    </a:p>
                    <a:p>
                      <a:pPr indent="-342900" lvl="0" marL="342900" marR="0" rtl="0" algn="l">
                        <a:spcBef>
                          <a:spcPts val="0"/>
                        </a:spcBef>
                        <a:spcAft>
                          <a:spcPts val="0"/>
                        </a:spcAft>
                        <a:buClr>
                          <a:schemeClr val="dk1"/>
                        </a:buClr>
                        <a:buSzPts val="2400"/>
                        <a:buFont typeface="Arial"/>
                        <a:buChar char="•"/>
                      </a:pPr>
                      <a:r>
                        <a:rPr lang="en-IN" sz="2400"/>
                        <a:t>On traversing for 1431, finally we reach state s0 i.e. Remainder 0</a:t>
                      </a:r>
                      <a:endParaRPr/>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txBody>
                  <a:tcPr marT="45725" marB="45725" marR="91450" marL="91450"/>
                </a:tc>
              </a:tr>
            </a:tbl>
          </a:graphicData>
        </a:graphic>
      </p:graphicFrame>
      <p:pic>
        <p:nvPicPr>
          <p:cNvPr id="1624" name="Google Shape;1624;p136"/>
          <p:cNvPicPr preferRelativeResize="0"/>
          <p:nvPr/>
        </p:nvPicPr>
        <p:blipFill rotWithShape="1">
          <a:blip r:embed="rId3">
            <a:alphaModFix/>
          </a:blip>
          <a:srcRect b="0" l="0" r="0" t="0"/>
          <a:stretch/>
        </p:blipFill>
        <p:spPr>
          <a:xfrm>
            <a:off x="698135" y="2979020"/>
            <a:ext cx="5544616" cy="3615393"/>
          </a:xfrm>
          <a:prstGeom prst="rect">
            <a:avLst/>
          </a:prstGeom>
          <a:noFill/>
          <a:ln>
            <a:noFill/>
          </a:ln>
        </p:spPr>
      </p:pic>
      <p:pic>
        <p:nvPicPr>
          <p:cNvPr id="1625" name="Google Shape;1625;p136"/>
          <p:cNvPicPr preferRelativeResize="0"/>
          <p:nvPr/>
        </p:nvPicPr>
        <p:blipFill rotWithShape="1">
          <a:blip r:embed="rId4">
            <a:alphaModFix/>
          </a:blip>
          <a:srcRect b="0" l="0" r="0" t="0"/>
          <a:stretch/>
        </p:blipFill>
        <p:spPr>
          <a:xfrm>
            <a:off x="6660232" y="4293096"/>
            <a:ext cx="1540768" cy="2295102"/>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Google Shape;1630;p1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631" name="Google Shape;1631;p1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632" name="Google Shape;1632;p1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633" name="Google Shape;1633;p1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634" name="Google Shape;1634;p137"/>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5</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rPr b="1" lang="en-IN" sz="2400"/>
                        <a:t>Design a DFA which checks whether the given binary number is even</a:t>
                      </a:r>
                      <a:endParaRPr/>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8" name="Shape 1638"/>
        <p:cNvGrpSpPr/>
        <p:nvPr/>
      </p:nvGrpSpPr>
      <p:grpSpPr>
        <a:xfrm>
          <a:off x="0" y="0"/>
          <a:ext cx="0" cy="0"/>
          <a:chOff x="0" y="0"/>
          <a:chExt cx="0" cy="0"/>
        </a:xfrm>
      </p:grpSpPr>
      <p:sp>
        <p:nvSpPr>
          <p:cNvPr id="1639" name="Google Shape;1639;p1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640" name="Google Shape;1640;p1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641" name="Google Shape;1641;p1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642" name="Google Shape;1642;p1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643" name="Google Shape;1643;p138"/>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5</a:t>
                      </a:r>
                      <a:endParaRPr/>
                    </a:p>
                  </a:txBody>
                  <a:tcPr marT="45725" marB="45725" marR="91450" marL="91450"/>
                </a:tc>
              </a:tr>
              <a:tr h="3086975">
                <a:tc>
                  <a:txBody>
                    <a:bodyPr/>
                    <a:lstStyle/>
                    <a:p>
                      <a:pPr indent="-342900" lvl="0" marL="342900" marR="0" rtl="0" algn="l">
                        <a:lnSpc>
                          <a:spcPct val="100000"/>
                        </a:lnSpc>
                        <a:spcBef>
                          <a:spcPts val="0"/>
                        </a:spcBef>
                        <a:spcAft>
                          <a:spcPts val="0"/>
                        </a:spcAft>
                        <a:buClr>
                          <a:schemeClr val="dk1"/>
                        </a:buClr>
                        <a:buSzPts val="2400"/>
                        <a:buFont typeface="Arial"/>
                        <a:buChar char="•"/>
                      </a:pPr>
                      <a:r>
                        <a:rPr lang="en-IN" sz="2400"/>
                        <a:t>Binary number that ends with zero=Even</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Binary number that ends with one=Odd</a:t>
                      </a:r>
                      <a:endParaRPr/>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pic>
        <p:nvPicPr>
          <p:cNvPr id="1644" name="Google Shape;1644;p138"/>
          <p:cNvPicPr preferRelativeResize="0"/>
          <p:nvPr/>
        </p:nvPicPr>
        <p:blipFill rotWithShape="1">
          <a:blip r:embed="rId3">
            <a:alphaModFix/>
          </a:blip>
          <a:srcRect b="0" l="0" r="0" t="0"/>
          <a:stretch/>
        </p:blipFill>
        <p:spPr>
          <a:xfrm>
            <a:off x="2195736" y="2636912"/>
            <a:ext cx="4536504" cy="3937536"/>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8" name="Shape 1648"/>
        <p:cNvGrpSpPr/>
        <p:nvPr/>
      </p:nvGrpSpPr>
      <p:grpSpPr>
        <a:xfrm>
          <a:off x="0" y="0"/>
          <a:ext cx="0" cy="0"/>
          <a:chOff x="0" y="0"/>
          <a:chExt cx="0" cy="0"/>
        </a:xfrm>
      </p:grpSpPr>
      <p:sp>
        <p:nvSpPr>
          <p:cNvPr id="1649" name="Google Shape;1649;p1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650" name="Google Shape;1650;p1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651" name="Google Shape;1651;p1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652" name="Google Shape;1652;p1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653" name="Google Shape;1653;p139"/>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5</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rPr lang="en-IN" sz="2400"/>
                        <a:t>Possibilities:</a:t>
                      </a:r>
                      <a:endParaRPr/>
                    </a:p>
                    <a:p>
                      <a:pPr indent="-342900" lvl="0" marL="342900" marR="0" rtl="0" algn="l">
                        <a:spcBef>
                          <a:spcPts val="0"/>
                        </a:spcBef>
                        <a:spcAft>
                          <a:spcPts val="0"/>
                        </a:spcAft>
                        <a:buClr>
                          <a:schemeClr val="dk1"/>
                        </a:buClr>
                        <a:buSzPts val="2400"/>
                        <a:buFont typeface="Arial"/>
                        <a:buChar char="•"/>
                      </a:pPr>
                      <a:r>
                        <a:rPr lang="en-IN" sz="2400"/>
                        <a:t>Start state=S0</a:t>
                      </a:r>
                      <a:endParaRPr/>
                    </a:p>
                    <a:p>
                      <a:pPr indent="-342900" lvl="0" marL="342900" marR="0" rtl="0" algn="l">
                        <a:lnSpc>
                          <a:spcPct val="100000"/>
                        </a:lnSpc>
                        <a:spcBef>
                          <a:spcPts val="0"/>
                        </a:spcBef>
                        <a:spcAft>
                          <a:spcPts val="0"/>
                        </a:spcAft>
                        <a:buClr>
                          <a:schemeClr val="dk1"/>
                        </a:buClr>
                        <a:buSzPts val="2400"/>
                        <a:buFont typeface="Arial"/>
                        <a:buChar char="•"/>
                      </a:pPr>
                      <a:r>
                        <a:rPr lang="en-IN" sz="2400"/>
                        <a:t>State ending in  1=S1</a:t>
                      </a:r>
                      <a:endParaRPr/>
                    </a:p>
                    <a:p>
                      <a:pPr indent="-342900" lvl="0" marL="342900" marR="0" rtl="0" algn="l">
                        <a:spcBef>
                          <a:spcPts val="0"/>
                        </a:spcBef>
                        <a:spcAft>
                          <a:spcPts val="0"/>
                        </a:spcAft>
                        <a:buClr>
                          <a:schemeClr val="dk1"/>
                        </a:buClr>
                        <a:buSzPts val="2400"/>
                        <a:buFont typeface="Arial"/>
                        <a:buChar char="•"/>
                      </a:pPr>
                      <a:r>
                        <a:rPr lang="en-IN" sz="2400"/>
                        <a:t>State ending in 0=Even numbers=Final state=S2</a:t>
                      </a:r>
                      <a:endParaRPr/>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
        <p:nvSpPr>
          <p:cNvPr id="1654" name="Google Shape;1654;p139"/>
          <p:cNvSpPr/>
          <p:nvPr/>
        </p:nvSpPr>
        <p:spPr>
          <a:xfrm>
            <a:off x="1907704" y="429309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sp>
        <p:nvSpPr>
          <p:cNvPr id="1655" name="Google Shape;1655;p139"/>
          <p:cNvSpPr/>
          <p:nvPr/>
        </p:nvSpPr>
        <p:spPr>
          <a:xfrm>
            <a:off x="4499992" y="3356992"/>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6" name="Google Shape;1656;p139"/>
          <p:cNvSpPr/>
          <p:nvPr/>
        </p:nvSpPr>
        <p:spPr>
          <a:xfrm>
            <a:off x="4644008" y="357301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sp>
        <p:nvSpPr>
          <p:cNvPr id="1657" name="Google Shape;1657;p139"/>
          <p:cNvSpPr/>
          <p:nvPr/>
        </p:nvSpPr>
        <p:spPr>
          <a:xfrm>
            <a:off x="4644008" y="501317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1" name="Shape 1661"/>
        <p:cNvGrpSpPr/>
        <p:nvPr/>
      </p:nvGrpSpPr>
      <p:grpSpPr>
        <a:xfrm>
          <a:off x="0" y="0"/>
          <a:ext cx="0" cy="0"/>
          <a:chOff x="0" y="0"/>
          <a:chExt cx="0" cy="0"/>
        </a:xfrm>
      </p:grpSpPr>
      <p:sp>
        <p:nvSpPr>
          <p:cNvPr id="1662" name="Google Shape;1662;p1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663" name="Google Shape;1663;p1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664" name="Google Shape;1664;p1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665" name="Google Shape;1665;p1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666" name="Google Shape;1666;p140"/>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5400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5</a:t>
                      </a:r>
                      <a:endParaRPr/>
                    </a:p>
                  </a:txBody>
                  <a:tcPr marT="45725" marB="45725" marR="91450" marL="91450"/>
                </a:tc>
              </a:tr>
              <a:tr h="3996450">
                <a:tc>
                  <a:txBody>
                    <a:bodyPr/>
                    <a:lstStyle/>
                    <a:p>
                      <a:pPr indent="0" lvl="0" marL="0" marR="0" rtl="0" algn="l">
                        <a:spcBef>
                          <a:spcPts val="0"/>
                        </a:spcBef>
                        <a:spcAft>
                          <a:spcPts val="0"/>
                        </a:spcAft>
                        <a:buClr>
                          <a:schemeClr val="dk1"/>
                        </a:buClr>
                        <a:buSzPts val="2400"/>
                        <a:buFont typeface="Arial"/>
                        <a:buNone/>
                      </a:pPr>
                      <a:r>
                        <a:rPr lang="en-IN" sz="2400"/>
                        <a:t>String</a:t>
                      </a:r>
                      <a:r>
                        <a:rPr lang="en-IN" sz="2400"/>
                        <a:t> –</a:t>
                      </a:r>
                      <a:endParaRPr/>
                    </a:p>
                    <a:p>
                      <a:pPr indent="0" lvl="0" marL="0" marR="0" rtl="0" algn="l">
                        <a:spcBef>
                          <a:spcPts val="0"/>
                        </a:spcBef>
                        <a:spcAft>
                          <a:spcPts val="0"/>
                        </a:spcAft>
                        <a:buClr>
                          <a:schemeClr val="dk1"/>
                        </a:buClr>
                        <a:buSzPts val="2400"/>
                        <a:buFont typeface="Arial"/>
                        <a:buNone/>
                      </a:pPr>
                      <a:r>
                        <a:rPr lang="en-IN" sz="2400"/>
                        <a:t>Decimal 0=String 0=State ending in 0</a:t>
                      </a:r>
                      <a:endParaRPr/>
                    </a:p>
                    <a:p>
                      <a:pPr indent="0" lvl="0" marL="0" marR="0" rtl="0" algn="l">
                        <a:spcBef>
                          <a:spcPts val="0"/>
                        </a:spcBef>
                        <a:spcAft>
                          <a:spcPts val="0"/>
                        </a:spcAft>
                        <a:buClr>
                          <a:schemeClr val="dk1"/>
                        </a:buClr>
                        <a:buSzPts val="2400"/>
                        <a:buFont typeface="Arial"/>
                        <a:buNone/>
                      </a:pPr>
                      <a:r>
                        <a:rPr lang="en-IN" sz="2400"/>
                        <a:t>Decimal 1=String 1=State ending in 1</a:t>
                      </a:r>
                      <a:endParaRPr/>
                    </a:p>
                  </a:txBody>
                  <a:tcPr marT="45725" marB="45725" marR="91450" marL="91450"/>
                </a:tc>
              </a:tr>
            </a:tbl>
          </a:graphicData>
        </a:graphic>
      </p:graphicFrame>
      <p:sp>
        <p:nvSpPr>
          <p:cNvPr id="1667" name="Google Shape;1667;p140"/>
          <p:cNvSpPr/>
          <p:nvPr/>
        </p:nvSpPr>
        <p:spPr>
          <a:xfrm>
            <a:off x="1907704" y="429309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sp>
        <p:nvSpPr>
          <p:cNvPr id="1668" name="Google Shape;1668;p140"/>
          <p:cNvSpPr/>
          <p:nvPr/>
        </p:nvSpPr>
        <p:spPr>
          <a:xfrm>
            <a:off x="4499992" y="3356992"/>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9" name="Google Shape;1669;p140"/>
          <p:cNvSpPr/>
          <p:nvPr/>
        </p:nvSpPr>
        <p:spPr>
          <a:xfrm>
            <a:off x="4644008" y="357301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sp>
        <p:nvSpPr>
          <p:cNvPr id="1670" name="Google Shape;1670;p140"/>
          <p:cNvSpPr/>
          <p:nvPr/>
        </p:nvSpPr>
        <p:spPr>
          <a:xfrm>
            <a:off x="4644008" y="501317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cxnSp>
        <p:nvCxnSpPr>
          <p:cNvPr id="1671" name="Google Shape;1671;p140"/>
          <p:cNvCxnSpPr/>
          <p:nvPr/>
        </p:nvCxnSpPr>
        <p:spPr>
          <a:xfrm flipH="1" rot="10800000">
            <a:off x="2843808" y="3933056"/>
            <a:ext cx="1656184" cy="576064"/>
          </a:xfrm>
          <a:prstGeom prst="straightConnector1">
            <a:avLst/>
          </a:prstGeom>
          <a:noFill/>
          <a:ln cap="flat" cmpd="sng" w="9525">
            <a:solidFill>
              <a:srgbClr val="4A7DBA"/>
            </a:solidFill>
            <a:prstDash val="solid"/>
            <a:round/>
            <a:headEnd len="sm" w="sm" type="none"/>
            <a:tailEnd len="med" w="med" type="stealth"/>
          </a:ln>
        </p:spPr>
      </p:cxnSp>
      <p:sp>
        <p:nvSpPr>
          <p:cNvPr id="1672" name="Google Shape;1672;p140"/>
          <p:cNvSpPr txBox="1"/>
          <p:nvPr/>
        </p:nvSpPr>
        <p:spPr>
          <a:xfrm>
            <a:off x="3275856" y="393305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673" name="Google Shape;1673;p140"/>
          <p:cNvCxnSpPr>
            <a:stCxn id="1667" idx="5"/>
            <a:endCxn id="1670" idx="2"/>
          </p:cNvCxnSpPr>
          <p:nvPr/>
        </p:nvCxnSpPr>
        <p:spPr>
          <a:xfrm>
            <a:off x="2706719" y="4907723"/>
            <a:ext cx="1937400" cy="465600"/>
          </a:xfrm>
          <a:prstGeom prst="straightConnector1">
            <a:avLst/>
          </a:prstGeom>
          <a:noFill/>
          <a:ln cap="flat" cmpd="sng" w="9525">
            <a:solidFill>
              <a:srgbClr val="4A7DBA"/>
            </a:solidFill>
            <a:prstDash val="solid"/>
            <a:round/>
            <a:headEnd len="sm" w="sm" type="none"/>
            <a:tailEnd len="med" w="med" type="stealth"/>
          </a:ln>
        </p:spPr>
      </p:cxnSp>
      <p:sp>
        <p:nvSpPr>
          <p:cNvPr id="1674" name="Google Shape;1674;p140"/>
          <p:cNvSpPr txBox="1"/>
          <p:nvPr/>
        </p:nvSpPr>
        <p:spPr>
          <a:xfrm>
            <a:off x="3428256" y="521990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8" name="Shape 1678"/>
        <p:cNvGrpSpPr/>
        <p:nvPr/>
      </p:nvGrpSpPr>
      <p:grpSpPr>
        <a:xfrm>
          <a:off x="0" y="0"/>
          <a:ext cx="0" cy="0"/>
          <a:chOff x="0" y="0"/>
          <a:chExt cx="0" cy="0"/>
        </a:xfrm>
      </p:grpSpPr>
      <p:sp>
        <p:nvSpPr>
          <p:cNvPr id="1679" name="Google Shape;1679;p141"/>
          <p:cNvSpPr txBox="1"/>
          <p:nvPr>
            <p:ph type="title"/>
          </p:nvPr>
        </p:nvSpPr>
        <p:spPr>
          <a:xfrm>
            <a:off x="529208" y="116632"/>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DESIGNING FINITE AUTOMATA</a:t>
            </a:r>
            <a:endParaRPr/>
          </a:p>
        </p:txBody>
      </p:sp>
      <p:sp>
        <p:nvSpPr>
          <p:cNvPr id="1680" name="Google Shape;1680;p1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681" name="Google Shape;1681;p1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682" name="Google Shape;1682;p1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683" name="Google Shape;1683;p141"/>
          <p:cNvGraphicFramePr/>
          <p:nvPr/>
        </p:nvGraphicFramePr>
        <p:xfrm>
          <a:off x="611560" y="836712"/>
          <a:ext cx="3000000" cy="3000000"/>
        </p:xfrm>
        <a:graphic>
          <a:graphicData uri="http://schemas.openxmlformats.org/drawingml/2006/table">
            <a:tbl>
              <a:tblPr bandRow="1" firstRow="1">
                <a:noFill/>
                <a:tableStyleId>{1DD1F0B8-C0F4-4710-A24E-F3ACE173D476}</a:tableStyleId>
              </a:tblPr>
              <a:tblGrid>
                <a:gridCol w="7632850"/>
              </a:tblGrid>
              <a:tr h="5972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5</a:t>
                      </a:r>
                      <a:endParaRPr/>
                    </a:p>
                  </a:txBody>
                  <a:tcPr marT="45725" marB="45725" marR="91450" marL="91450"/>
                </a:tc>
              </a:tr>
              <a:tr h="4947375">
                <a:tc>
                  <a:txBody>
                    <a:bodyPr/>
                    <a:lstStyle/>
                    <a:p>
                      <a:pPr indent="0" lvl="0" marL="0" marR="0" rtl="0" algn="l">
                        <a:spcBef>
                          <a:spcPts val="0"/>
                        </a:spcBef>
                        <a:spcAft>
                          <a:spcPts val="0"/>
                        </a:spcAft>
                        <a:buClr>
                          <a:schemeClr val="dk1"/>
                        </a:buClr>
                        <a:buSzPts val="2400"/>
                        <a:buFont typeface="Arial"/>
                        <a:buNone/>
                      </a:pPr>
                      <a:r>
                        <a:rPr lang="en-IN" sz="2400"/>
                        <a:t>String</a:t>
                      </a:r>
                      <a:r>
                        <a:rPr lang="en-IN" sz="2400"/>
                        <a:t> –</a:t>
                      </a:r>
                      <a:endParaRPr/>
                    </a:p>
                    <a:p>
                      <a:pPr indent="0" lvl="0" marL="0" marR="0" rtl="0" algn="l">
                        <a:spcBef>
                          <a:spcPts val="0"/>
                        </a:spcBef>
                        <a:spcAft>
                          <a:spcPts val="0"/>
                        </a:spcAft>
                        <a:buClr>
                          <a:schemeClr val="dk1"/>
                        </a:buClr>
                        <a:buSzPts val="2400"/>
                        <a:buFont typeface="Arial"/>
                        <a:buNone/>
                      </a:pPr>
                      <a:r>
                        <a:rPr lang="en-IN" sz="2400"/>
                        <a:t>Decimal 2=10=State ending in 0</a:t>
                      </a:r>
                      <a:endParaRPr/>
                    </a:p>
                    <a:p>
                      <a:pPr indent="0" lvl="0" marL="0" marR="0" rtl="0" algn="l">
                        <a:spcBef>
                          <a:spcPts val="0"/>
                        </a:spcBef>
                        <a:spcAft>
                          <a:spcPts val="0"/>
                        </a:spcAft>
                        <a:buClr>
                          <a:schemeClr val="dk1"/>
                        </a:buClr>
                        <a:buSzPts val="2400"/>
                        <a:buFont typeface="Arial"/>
                        <a:buNone/>
                      </a:pPr>
                      <a:r>
                        <a:rPr lang="en-IN" sz="2400"/>
                        <a:t>Decimal 3=11=State ending in 1</a:t>
                      </a:r>
                      <a:endParaRPr/>
                    </a:p>
                    <a:p>
                      <a:pPr indent="0" lvl="0" marL="0" marR="0" rtl="0" algn="l">
                        <a:spcBef>
                          <a:spcPts val="0"/>
                        </a:spcBef>
                        <a:spcAft>
                          <a:spcPts val="0"/>
                        </a:spcAft>
                        <a:buClr>
                          <a:schemeClr val="dk1"/>
                        </a:buClr>
                        <a:buSzPts val="2400"/>
                        <a:buFont typeface="Arial"/>
                        <a:buNone/>
                      </a:pPr>
                      <a:r>
                        <a:rPr lang="en-IN" sz="2400"/>
                        <a:t>Decimal 4=100=State ending in 0</a:t>
                      </a:r>
                      <a:endParaRPr/>
                    </a:p>
                    <a:p>
                      <a:pPr indent="0" lvl="0" marL="0" marR="0" rtl="0" algn="l">
                        <a:lnSpc>
                          <a:spcPct val="100000"/>
                        </a:lnSpc>
                        <a:spcBef>
                          <a:spcPts val="0"/>
                        </a:spcBef>
                        <a:spcAft>
                          <a:spcPts val="0"/>
                        </a:spcAft>
                        <a:buClr>
                          <a:schemeClr val="dk1"/>
                        </a:buClr>
                        <a:buSzPts val="2400"/>
                        <a:buFont typeface="Arial"/>
                        <a:buNone/>
                      </a:pPr>
                      <a:r>
                        <a:rPr lang="en-IN" sz="2400"/>
                        <a:t>Decimal 5=101=State ending in 1</a:t>
                      </a:r>
                      <a:endParaRPr/>
                    </a:p>
                    <a:p>
                      <a:pPr indent="0" lvl="0" marL="0" marR="0" rtl="0" algn="l">
                        <a:spcBef>
                          <a:spcPts val="0"/>
                        </a:spcBef>
                        <a:spcAft>
                          <a:spcPts val="0"/>
                        </a:spcAft>
                        <a:buClr>
                          <a:schemeClr val="dk1"/>
                        </a:buClr>
                        <a:buSzPts val="1800"/>
                        <a:buFont typeface="Arial"/>
                        <a:buNone/>
                      </a:pPr>
                      <a:r>
                        <a:t/>
                      </a:r>
                      <a:endParaRPr sz="1800"/>
                    </a:p>
                    <a:p>
                      <a:pPr indent="0" lvl="0" marL="0" marR="0" rtl="0" algn="l">
                        <a:spcBef>
                          <a:spcPts val="0"/>
                        </a:spcBef>
                        <a:spcAft>
                          <a:spcPts val="0"/>
                        </a:spcAft>
                        <a:buClr>
                          <a:schemeClr val="dk1"/>
                        </a:buClr>
                        <a:buSzPts val="1800"/>
                        <a:buFont typeface="Arial"/>
                        <a:buNone/>
                      </a:pPr>
                      <a:r>
                        <a:t/>
                      </a:r>
                      <a:endParaRPr sz="1800"/>
                    </a:p>
                  </a:txBody>
                  <a:tcPr marT="45725" marB="45725" marR="91450" marL="91450"/>
                </a:tc>
              </a:tr>
            </a:tbl>
          </a:graphicData>
        </a:graphic>
      </p:graphicFrame>
      <p:grpSp>
        <p:nvGrpSpPr>
          <p:cNvPr id="1684" name="Google Shape;1684;p141"/>
          <p:cNvGrpSpPr/>
          <p:nvPr/>
        </p:nvGrpSpPr>
        <p:grpSpPr>
          <a:xfrm>
            <a:off x="1907704" y="2852936"/>
            <a:ext cx="3888432" cy="3384376"/>
            <a:chOff x="1907704" y="2852936"/>
            <a:chExt cx="3888432" cy="3384376"/>
          </a:xfrm>
        </p:grpSpPr>
        <p:sp>
          <p:nvSpPr>
            <p:cNvPr id="1685" name="Google Shape;1685;p141"/>
            <p:cNvSpPr/>
            <p:nvPr/>
          </p:nvSpPr>
          <p:spPr>
            <a:xfrm>
              <a:off x="1907704" y="429309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sp>
          <p:nvSpPr>
            <p:cNvPr id="1686" name="Google Shape;1686;p141"/>
            <p:cNvSpPr/>
            <p:nvPr/>
          </p:nvSpPr>
          <p:spPr>
            <a:xfrm>
              <a:off x="4499992" y="3356992"/>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7" name="Google Shape;1687;p141"/>
            <p:cNvSpPr/>
            <p:nvPr/>
          </p:nvSpPr>
          <p:spPr>
            <a:xfrm>
              <a:off x="4644008" y="357301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sp>
          <p:nvSpPr>
            <p:cNvPr id="1688" name="Google Shape;1688;p141"/>
            <p:cNvSpPr/>
            <p:nvPr/>
          </p:nvSpPr>
          <p:spPr>
            <a:xfrm>
              <a:off x="4644008" y="501317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cxnSp>
          <p:nvCxnSpPr>
            <p:cNvPr id="1689" name="Google Shape;1689;p141"/>
            <p:cNvCxnSpPr/>
            <p:nvPr/>
          </p:nvCxnSpPr>
          <p:spPr>
            <a:xfrm flipH="1" rot="10800000">
              <a:off x="2843808" y="3933056"/>
              <a:ext cx="1656184" cy="576064"/>
            </a:xfrm>
            <a:prstGeom prst="straightConnector1">
              <a:avLst/>
            </a:prstGeom>
            <a:noFill/>
            <a:ln cap="flat" cmpd="sng" w="9525">
              <a:solidFill>
                <a:srgbClr val="4A7DBA"/>
              </a:solidFill>
              <a:prstDash val="solid"/>
              <a:round/>
              <a:headEnd len="sm" w="sm" type="none"/>
              <a:tailEnd len="med" w="med" type="stealth"/>
            </a:ln>
          </p:spPr>
        </p:cxnSp>
        <p:sp>
          <p:nvSpPr>
            <p:cNvPr id="1690" name="Google Shape;1690;p141"/>
            <p:cNvSpPr txBox="1"/>
            <p:nvPr/>
          </p:nvSpPr>
          <p:spPr>
            <a:xfrm>
              <a:off x="3275856" y="393305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691" name="Google Shape;1691;p141"/>
            <p:cNvCxnSpPr>
              <a:stCxn id="1685" idx="5"/>
              <a:endCxn id="1688" idx="2"/>
            </p:cNvCxnSpPr>
            <p:nvPr/>
          </p:nvCxnSpPr>
          <p:spPr>
            <a:xfrm>
              <a:off x="2706719" y="4907723"/>
              <a:ext cx="1937400" cy="465600"/>
            </a:xfrm>
            <a:prstGeom prst="straightConnector1">
              <a:avLst/>
            </a:prstGeom>
            <a:noFill/>
            <a:ln cap="flat" cmpd="sng" w="9525">
              <a:solidFill>
                <a:srgbClr val="4A7DBA"/>
              </a:solidFill>
              <a:prstDash val="solid"/>
              <a:round/>
              <a:headEnd len="sm" w="sm" type="none"/>
              <a:tailEnd len="med" w="med" type="stealth"/>
            </a:ln>
          </p:spPr>
        </p:cxnSp>
        <p:sp>
          <p:nvSpPr>
            <p:cNvPr id="1692" name="Google Shape;1692;p141"/>
            <p:cNvSpPr txBox="1"/>
            <p:nvPr/>
          </p:nvSpPr>
          <p:spPr>
            <a:xfrm>
              <a:off x="3428256" y="521990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1693" name="Google Shape;1693;p141"/>
            <p:cNvCxnSpPr/>
            <p:nvPr/>
          </p:nvCxnSpPr>
          <p:spPr>
            <a:xfrm rot="10800000">
              <a:off x="5364088" y="4437112"/>
              <a:ext cx="0" cy="631349"/>
            </a:xfrm>
            <a:prstGeom prst="straightConnector1">
              <a:avLst/>
            </a:prstGeom>
            <a:noFill/>
            <a:ln cap="flat" cmpd="sng" w="9525">
              <a:solidFill>
                <a:srgbClr val="4A7DBA"/>
              </a:solidFill>
              <a:prstDash val="solid"/>
              <a:round/>
              <a:headEnd len="sm" w="sm" type="none"/>
              <a:tailEnd len="med" w="med" type="stealth"/>
            </a:ln>
          </p:spPr>
        </p:cxnSp>
        <p:sp>
          <p:nvSpPr>
            <p:cNvPr id="1694" name="Google Shape;1694;p141"/>
            <p:cNvSpPr txBox="1"/>
            <p:nvPr/>
          </p:nvSpPr>
          <p:spPr>
            <a:xfrm>
              <a:off x="5508104" y="458112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1695" name="Google Shape;1695;p141"/>
            <p:cNvSpPr/>
            <p:nvPr/>
          </p:nvSpPr>
          <p:spPr>
            <a:xfrm>
              <a:off x="4788024" y="5733256"/>
              <a:ext cx="720080" cy="504056"/>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96" name="Google Shape;1696;p141"/>
            <p:cNvSpPr txBox="1"/>
            <p:nvPr/>
          </p:nvSpPr>
          <p:spPr>
            <a:xfrm>
              <a:off x="5508104" y="5795972"/>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1697" name="Google Shape;1697;p141"/>
            <p:cNvSpPr/>
            <p:nvPr/>
          </p:nvSpPr>
          <p:spPr>
            <a:xfrm>
              <a:off x="4788024" y="2852936"/>
              <a:ext cx="720080" cy="504056"/>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98" name="Google Shape;1698;p141"/>
            <p:cNvSpPr txBox="1"/>
            <p:nvPr/>
          </p:nvSpPr>
          <p:spPr>
            <a:xfrm>
              <a:off x="5508104" y="2987660"/>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699" name="Google Shape;1699;p141"/>
            <p:cNvCxnSpPr>
              <a:stCxn id="1686" idx="4"/>
              <a:endCxn id="1688" idx="0"/>
            </p:cNvCxnSpPr>
            <p:nvPr/>
          </p:nvCxnSpPr>
          <p:spPr>
            <a:xfrm>
              <a:off x="5112060" y="4509120"/>
              <a:ext cx="0" cy="504000"/>
            </a:xfrm>
            <a:prstGeom prst="straightConnector1">
              <a:avLst/>
            </a:prstGeom>
            <a:noFill/>
            <a:ln cap="flat" cmpd="sng" w="9525">
              <a:solidFill>
                <a:srgbClr val="4A7DBA"/>
              </a:solidFill>
              <a:prstDash val="solid"/>
              <a:round/>
              <a:headEnd len="sm" w="sm" type="none"/>
              <a:tailEnd len="med" w="med" type="stealth"/>
            </a:ln>
          </p:spPr>
        </p:cxnSp>
        <p:sp>
          <p:nvSpPr>
            <p:cNvPr id="1700" name="Google Shape;1700;p141"/>
            <p:cNvSpPr txBox="1"/>
            <p:nvPr/>
          </p:nvSpPr>
          <p:spPr>
            <a:xfrm>
              <a:off x="4716016" y="457183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gr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4" name="Shape 1704"/>
        <p:cNvGrpSpPr/>
        <p:nvPr/>
      </p:nvGrpSpPr>
      <p:grpSpPr>
        <a:xfrm>
          <a:off x="0" y="0"/>
          <a:ext cx="0" cy="0"/>
          <a:chOff x="0" y="0"/>
          <a:chExt cx="0" cy="0"/>
        </a:xfrm>
      </p:grpSpPr>
      <p:sp>
        <p:nvSpPr>
          <p:cNvPr id="1705" name="Google Shape;1705;p142"/>
          <p:cNvSpPr txBox="1"/>
          <p:nvPr>
            <p:ph type="title"/>
          </p:nvPr>
        </p:nvSpPr>
        <p:spPr>
          <a:xfrm>
            <a:off x="529208" y="116632"/>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DESIGNING FINITE AUTOMATA</a:t>
            </a:r>
            <a:endParaRPr/>
          </a:p>
        </p:txBody>
      </p:sp>
      <p:sp>
        <p:nvSpPr>
          <p:cNvPr id="1706" name="Google Shape;1706;p1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707" name="Google Shape;1707;p1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708" name="Google Shape;1708;p1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709" name="Google Shape;1709;p142"/>
          <p:cNvGraphicFramePr/>
          <p:nvPr/>
        </p:nvGraphicFramePr>
        <p:xfrm>
          <a:off x="611560" y="836712"/>
          <a:ext cx="3000000" cy="3000000"/>
        </p:xfrm>
        <a:graphic>
          <a:graphicData uri="http://schemas.openxmlformats.org/drawingml/2006/table">
            <a:tbl>
              <a:tblPr bandRow="1" firstRow="1">
                <a:noFill/>
                <a:tableStyleId>{1DD1F0B8-C0F4-4710-A24E-F3ACE173D476}</a:tableStyleId>
              </a:tblPr>
              <a:tblGrid>
                <a:gridCol w="7632850"/>
              </a:tblGrid>
              <a:tr h="5972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5</a:t>
                      </a:r>
                      <a:endParaRPr/>
                    </a:p>
                  </a:txBody>
                  <a:tcPr marT="45725" marB="45725" marR="91450" marL="91450"/>
                </a:tc>
              </a:tr>
              <a:tr h="4947375">
                <a:tc>
                  <a:txBody>
                    <a:bodyPr/>
                    <a:lstStyle/>
                    <a:p>
                      <a:pPr indent="0" lvl="0" marL="0" marR="0" rtl="0" algn="l">
                        <a:spcBef>
                          <a:spcPts val="0"/>
                        </a:spcBef>
                        <a:spcAft>
                          <a:spcPts val="0"/>
                        </a:spcAft>
                        <a:buClr>
                          <a:schemeClr val="dk1"/>
                        </a:buClr>
                        <a:buSzPts val="2400"/>
                        <a:buFont typeface="Arial"/>
                        <a:buNone/>
                      </a:pPr>
                      <a:r>
                        <a:rPr lang="en-IN" sz="2400"/>
                        <a:t>Check for bigger numbers</a:t>
                      </a:r>
                      <a:endParaRPr/>
                    </a:p>
                    <a:p>
                      <a:pPr indent="0" lvl="0" marL="0" marR="0" rtl="0" algn="l">
                        <a:spcBef>
                          <a:spcPts val="0"/>
                        </a:spcBef>
                        <a:spcAft>
                          <a:spcPts val="0"/>
                        </a:spcAft>
                        <a:buClr>
                          <a:schemeClr val="dk1"/>
                        </a:buClr>
                        <a:buSzPts val="2400"/>
                        <a:buFont typeface="Arial"/>
                        <a:buNone/>
                      </a:pPr>
                      <a:r>
                        <a:rPr lang="en-IN" sz="2400"/>
                        <a:t>Decimal 64=  1000000=State ending in 0</a:t>
                      </a:r>
                      <a:endParaRPr/>
                    </a:p>
                    <a:p>
                      <a:pPr indent="0" lvl="0" marL="0" marR="0" rtl="0" algn="l">
                        <a:spcBef>
                          <a:spcPts val="0"/>
                        </a:spcBef>
                        <a:spcAft>
                          <a:spcPts val="0"/>
                        </a:spcAft>
                        <a:buClr>
                          <a:schemeClr val="dk1"/>
                        </a:buClr>
                        <a:buSzPts val="2400"/>
                        <a:buFont typeface="Arial"/>
                        <a:buNone/>
                      </a:pPr>
                      <a:r>
                        <a:rPr lang="en-IN" sz="2400"/>
                        <a:t>Decimal 27=11011=State ending in 1</a:t>
                      </a:r>
                      <a:endParaRPr/>
                    </a:p>
                    <a:p>
                      <a:pPr indent="0" lvl="0" marL="0" marR="0" rtl="0" algn="l">
                        <a:spcBef>
                          <a:spcPts val="0"/>
                        </a:spcBef>
                        <a:spcAft>
                          <a:spcPts val="0"/>
                        </a:spcAft>
                        <a:buClr>
                          <a:schemeClr val="dk1"/>
                        </a:buClr>
                        <a:buSzPts val="2400"/>
                        <a:buFont typeface="Arial"/>
                        <a:buNone/>
                      </a:pPr>
                      <a:r>
                        <a:t/>
                      </a:r>
                      <a:endParaRPr sz="2400"/>
                    </a:p>
                  </a:txBody>
                  <a:tcPr marT="45725" marB="45725" marR="91450" marL="91450"/>
                </a:tc>
              </a:tr>
            </a:tbl>
          </a:graphicData>
        </a:graphic>
      </p:graphicFrame>
      <p:grpSp>
        <p:nvGrpSpPr>
          <p:cNvPr id="1710" name="Google Shape;1710;p142"/>
          <p:cNvGrpSpPr/>
          <p:nvPr/>
        </p:nvGrpSpPr>
        <p:grpSpPr>
          <a:xfrm>
            <a:off x="1907704" y="2852936"/>
            <a:ext cx="3888432" cy="3384376"/>
            <a:chOff x="1907704" y="2852936"/>
            <a:chExt cx="3888432" cy="3384376"/>
          </a:xfrm>
        </p:grpSpPr>
        <p:sp>
          <p:nvSpPr>
            <p:cNvPr id="1711" name="Google Shape;1711;p142"/>
            <p:cNvSpPr/>
            <p:nvPr/>
          </p:nvSpPr>
          <p:spPr>
            <a:xfrm>
              <a:off x="1907704" y="429309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sp>
          <p:nvSpPr>
            <p:cNvPr id="1712" name="Google Shape;1712;p142"/>
            <p:cNvSpPr/>
            <p:nvPr/>
          </p:nvSpPr>
          <p:spPr>
            <a:xfrm>
              <a:off x="4499992" y="3356992"/>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3" name="Google Shape;1713;p142"/>
            <p:cNvSpPr/>
            <p:nvPr/>
          </p:nvSpPr>
          <p:spPr>
            <a:xfrm>
              <a:off x="4644008" y="357301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sp>
          <p:nvSpPr>
            <p:cNvPr id="1714" name="Google Shape;1714;p142"/>
            <p:cNvSpPr/>
            <p:nvPr/>
          </p:nvSpPr>
          <p:spPr>
            <a:xfrm>
              <a:off x="4644008" y="501317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cxnSp>
          <p:nvCxnSpPr>
            <p:cNvPr id="1715" name="Google Shape;1715;p142"/>
            <p:cNvCxnSpPr/>
            <p:nvPr/>
          </p:nvCxnSpPr>
          <p:spPr>
            <a:xfrm flipH="1" rot="10800000">
              <a:off x="2843808" y="3933056"/>
              <a:ext cx="1656184" cy="576064"/>
            </a:xfrm>
            <a:prstGeom prst="straightConnector1">
              <a:avLst/>
            </a:prstGeom>
            <a:noFill/>
            <a:ln cap="flat" cmpd="sng" w="9525">
              <a:solidFill>
                <a:srgbClr val="4A7DBA"/>
              </a:solidFill>
              <a:prstDash val="solid"/>
              <a:round/>
              <a:headEnd len="sm" w="sm" type="none"/>
              <a:tailEnd len="med" w="med" type="stealth"/>
            </a:ln>
          </p:spPr>
        </p:cxnSp>
        <p:sp>
          <p:nvSpPr>
            <p:cNvPr id="1716" name="Google Shape;1716;p142"/>
            <p:cNvSpPr txBox="1"/>
            <p:nvPr/>
          </p:nvSpPr>
          <p:spPr>
            <a:xfrm>
              <a:off x="3275856" y="393305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717" name="Google Shape;1717;p142"/>
            <p:cNvCxnSpPr>
              <a:stCxn id="1711" idx="5"/>
              <a:endCxn id="1714" idx="2"/>
            </p:cNvCxnSpPr>
            <p:nvPr/>
          </p:nvCxnSpPr>
          <p:spPr>
            <a:xfrm>
              <a:off x="2706719" y="4907723"/>
              <a:ext cx="1937400" cy="465600"/>
            </a:xfrm>
            <a:prstGeom prst="straightConnector1">
              <a:avLst/>
            </a:prstGeom>
            <a:noFill/>
            <a:ln cap="flat" cmpd="sng" w="9525">
              <a:solidFill>
                <a:srgbClr val="4A7DBA"/>
              </a:solidFill>
              <a:prstDash val="solid"/>
              <a:round/>
              <a:headEnd len="sm" w="sm" type="none"/>
              <a:tailEnd len="med" w="med" type="stealth"/>
            </a:ln>
          </p:spPr>
        </p:cxnSp>
        <p:sp>
          <p:nvSpPr>
            <p:cNvPr id="1718" name="Google Shape;1718;p142"/>
            <p:cNvSpPr txBox="1"/>
            <p:nvPr/>
          </p:nvSpPr>
          <p:spPr>
            <a:xfrm>
              <a:off x="3428256" y="521990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1719" name="Google Shape;1719;p142"/>
            <p:cNvCxnSpPr/>
            <p:nvPr/>
          </p:nvCxnSpPr>
          <p:spPr>
            <a:xfrm rot="10800000">
              <a:off x="5364088" y="4437112"/>
              <a:ext cx="0" cy="631349"/>
            </a:xfrm>
            <a:prstGeom prst="straightConnector1">
              <a:avLst/>
            </a:prstGeom>
            <a:noFill/>
            <a:ln cap="flat" cmpd="sng" w="9525">
              <a:solidFill>
                <a:srgbClr val="4A7DBA"/>
              </a:solidFill>
              <a:prstDash val="solid"/>
              <a:round/>
              <a:headEnd len="sm" w="sm" type="none"/>
              <a:tailEnd len="med" w="med" type="stealth"/>
            </a:ln>
          </p:spPr>
        </p:cxnSp>
        <p:sp>
          <p:nvSpPr>
            <p:cNvPr id="1720" name="Google Shape;1720;p142"/>
            <p:cNvSpPr txBox="1"/>
            <p:nvPr/>
          </p:nvSpPr>
          <p:spPr>
            <a:xfrm>
              <a:off x="5508104" y="458112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1721" name="Google Shape;1721;p142"/>
            <p:cNvSpPr/>
            <p:nvPr/>
          </p:nvSpPr>
          <p:spPr>
            <a:xfrm>
              <a:off x="4788024" y="5733256"/>
              <a:ext cx="720080" cy="504056"/>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22" name="Google Shape;1722;p142"/>
            <p:cNvSpPr txBox="1"/>
            <p:nvPr/>
          </p:nvSpPr>
          <p:spPr>
            <a:xfrm>
              <a:off x="5508104" y="5795972"/>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1723" name="Google Shape;1723;p142"/>
            <p:cNvSpPr/>
            <p:nvPr/>
          </p:nvSpPr>
          <p:spPr>
            <a:xfrm>
              <a:off x="4788024" y="2852936"/>
              <a:ext cx="720080" cy="504056"/>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24" name="Google Shape;1724;p142"/>
            <p:cNvSpPr txBox="1"/>
            <p:nvPr/>
          </p:nvSpPr>
          <p:spPr>
            <a:xfrm>
              <a:off x="5508104" y="2987660"/>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725" name="Google Shape;1725;p142"/>
            <p:cNvCxnSpPr/>
            <p:nvPr/>
          </p:nvCxnSpPr>
          <p:spPr>
            <a:xfrm>
              <a:off x="5112060" y="4509120"/>
              <a:ext cx="0" cy="504056"/>
            </a:xfrm>
            <a:prstGeom prst="straightConnector1">
              <a:avLst/>
            </a:prstGeom>
            <a:noFill/>
            <a:ln cap="flat" cmpd="sng" w="9525">
              <a:solidFill>
                <a:srgbClr val="4A7DBA"/>
              </a:solidFill>
              <a:prstDash val="solid"/>
              <a:round/>
              <a:headEnd len="sm" w="sm" type="none"/>
              <a:tailEnd len="med" w="med" type="stealth"/>
            </a:ln>
          </p:spPr>
        </p:cxnSp>
        <p:sp>
          <p:nvSpPr>
            <p:cNvPr id="1726" name="Google Shape;1726;p142"/>
            <p:cNvSpPr txBox="1"/>
            <p:nvPr/>
          </p:nvSpPr>
          <p:spPr>
            <a:xfrm>
              <a:off x="4716016" y="457183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gr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0" name="Shape 1730"/>
        <p:cNvGrpSpPr/>
        <p:nvPr/>
      </p:nvGrpSpPr>
      <p:grpSpPr>
        <a:xfrm>
          <a:off x="0" y="0"/>
          <a:ext cx="0" cy="0"/>
          <a:chOff x="0" y="0"/>
          <a:chExt cx="0" cy="0"/>
        </a:xfrm>
      </p:grpSpPr>
      <p:sp>
        <p:nvSpPr>
          <p:cNvPr id="1731" name="Google Shape;1731;p1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732" name="Google Shape;1732;p1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733" name="Google Shape;1733;p1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734" name="Google Shape;1734;p1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735" name="Google Shape;1735;p143"/>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6</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rPr b="1" lang="en-IN" sz="2400"/>
                        <a:t>Design a DFA which accepts only</a:t>
                      </a:r>
                      <a:r>
                        <a:rPr b="1" lang="en-IN" sz="2400"/>
                        <a:t> those binary numbers  which start with 1 and ends with 0.</a:t>
                      </a:r>
                      <a:endParaRPr/>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9" name="Shape 1739"/>
        <p:cNvGrpSpPr/>
        <p:nvPr/>
      </p:nvGrpSpPr>
      <p:grpSpPr>
        <a:xfrm>
          <a:off x="0" y="0"/>
          <a:ext cx="0" cy="0"/>
          <a:chOff x="0" y="0"/>
          <a:chExt cx="0" cy="0"/>
        </a:xfrm>
      </p:grpSpPr>
      <p:sp>
        <p:nvSpPr>
          <p:cNvPr id="1740" name="Google Shape;1740;p144"/>
          <p:cNvSpPr txBox="1"/>
          <p:nvPr>
            <p:ph type="title"/>
          </p:nvPr>
        </p:nvSpPr>
        <p:spPr>
          <a:xfrm>
            <a:off x="457200" y="274638"/>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DESIGNING FINITE AUTOMATA</a:t>
            </a:r>
            <a:endParaRPr/>
          </a:p>
        </p:txBody>
      </p:sp>
      <p:sp>
        <p:nvSpPr>
          <p:cNvPr id="1741" name="Google Shape;1741;p1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742" name="Google Shape;1742;p1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743" name="Google Shape;1743;p1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744" name="Google Shape;1744;p144"/>
          <p:cNvGraphicFramePr/>
          <p:nvPr/>
        </p:nvGraphicFramePr>
        <p:xfrm>
          <a:off x="611560" y="764704"/>
          <a:ext cx="3000000" cy="3000000"/>
        </p:xfrm>
        <a:graphic>
          <a:graphicData uri="http://schemas.openxmlformats.org/drawingml/2006/table">
            <a:tbl>
              <a:tblPr bandRow="1" firstRow="1">
                <a:noFill/>
                <a:tableStyleId>{1DD1F0B8-C0F4-4710-A24E-F3ACE173D476}</a:tableStyleId>
              </a:tblPr>
              <a:tblGrid>
                <a:gridCol w="8280925"/>
              </a:tblGrid>
              <a:tr h="5616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6</a:t>
                      </a:r>
                      <a:endParaRPr/>
                    </a:p>
                  </a:txBody>
                  <a:tcPr marT="45725" marB="45725" marR="91450" marL="91450"/>
                </a:tc>
              </a:tr>
              <a:tr h="5054950">
                <a:tc>
                  <a:txBody>
                    <a:bodyPr/>
                    <a:lstStyle/>
                    <a:p>
                      <a:pPr indent="0" lvl="0" marL="0" marR="0" rtl="0" algn="l">
                        <a:spcBef>
                          <a:spcPts val="0"/>
                        </a:spcBef>
                        <a:spcAft>
                          <a:spcPts val="0"/>
                        </a:spcAft>
                        <a:buClr>
                          <a:schemeClr val="dk1"/>
                        </a:buClr>
                        <a:buSzPts val="2400"/>
                        <a:buFont typeface="Arial"/>
                        <a:buNone/>
                      </a:pPr>
                      <a:r>
                        <a:rPr lang="en-IN" sz="2400"/>
                        <a:t>Design a DFA which accepts only</a:t>
                      </a:r>
                      <a:r>
                        <a:rPr lang="en-IN" sz="2400"/>
                        <a:t> those binary numbers  which start with 1 and ends with 0.</a:t>
                      </a:r>
                      <a:endParaRPr/>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rPr lang="en-IN" sz="2400"/>
                        <a:t>Initial state S0</a:t>
                      </a:r>
                      <a:endParaRPr/>
                    </a:p>
                    <a:p>
                      <a:pPr indent="0" lvl="0" marL="0" marR="0" rtl="0" algn="l">
                        <a:spcBef>
                          <a:spcPts val="0"/>
                        </a:spcBef>
                        <a:spcAft>
                          <a:spcPts val="0"/>
                        </a:spcAft>
                        <a:buClr>
                          <a:schemeClr val="dk1"/>
                        </a:buClr>
                        <a:buSzPts val="2400"/>
                        <a:buFont typeface="Arial"/>
                        <a:buNone/>
                      </a:pPr>
                      <a:r>
                        <a:rPr lang="en-IN" sz="2400"/>
                        <a:t>S0 reads 1, moves to S1</a:t>
                      </a:r>
                      <a:endParaRPr/>
                    </a:p>
                    <a:p>
                      <a:pPr indent="0" lvl="0" marL="0" marR="0" rtl="0" algn="l">
                        <a:spcBef>
                          <a:spcPts val="0"/>
                        </a:spcBef>
                        <a:spcAft>
                          <a:spcPts val="0"/>
                        </a:spcAft>
                        <a:buClr>
                          <a:schemeClr val="dk1"/>
                        </a:buClr>
                        <a:buSzPts val="2400"/>
                        <a:buFont typeface="Arial"/>
                        <a:buNone/>
                      </a:pPr>
                      <a:r>
                        <a:rPr lang="en-IN" sz="2400"/>
                        <a:t>String 10</a:t>
                      </a:r>
                      <a:endParaRPr/>
                    </a:p>
                    <a:p>
                      <a:pPr indent="0" lvl="0" marL="0" marR="0" rtl="0" algn="l">
                        <a:spcBef>
                          <a:spcPts val="0"/>
                        </a:spcBef>
                        <a:spcAft>
                          <a:spcPts val="0"/>
                        </a:spcAft>
                        <a:buClr>
                          <a:schemeClr val="dk1"/>
                        </a:buClr>
                        <a:buSzPts val="2400"/>
                        <a:buFont typeface="Arial"/>
                        <a:buNone/>
                      </a:pPr>
                      <a:r>
                        <a:rPr lang="en-IN" sz="2400"/>
                        <a:t>S1 reads 0, moves to S2=Final state</a:t>
                      </a:r>
                      <a:endParaRPr/>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
        <p:nvSpPr>
          <p:cNvPr id="1745" name="Google Shape;1745;p144"/>
          <p:cNvSpPr/>
          <p:nvPr/>
        </p:nvSpPr>
        <p:spPr>
          <a:xfrm>
            <a:off x="1979712" y="42763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sp>
        <p:nvSpPr>
          <p:cNvPr id="1746" name="Google Shape;1746;p144"/>
          <p:cNvSpPr/>
          <p:nvPr/>
        </p:nvSpPr>
        <p:spPr>
          <a:xfrm>
            <a:off x="7090676" y="4108430"/>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7" name="Google Shape;1747;p144"/>
          <p:cNvSpPr/>
          <p:nvPr/>
        </p:nvSpPr>
        <p:spPr>
          <a:xfrm>
            <a:off x="7234692" y="433374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sp>
        <p:nvSpPr>
          <p:cNvPr id="1748" name="Google Shape;1748;p144"/>
          <p:cNvSpPr/>
          <p:nvPr/>
        </p:nvSpPr>
        <p:spPr>
          <a:xfrm>
            <a:off x="4499992" y="42763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cxnSp>
        <p:nvCxnSpPr>
          <p:cNvPr id="1749" name="Google Shape;1749;p144"/>
          <p:cNvCxnSpPr/>
          <p:nvPr/>
        </p:nvCxnSpPr>
        <p:spPr>
          <a:xfrm>
            <a:off x="5436096" y="4636413"/>
            <a:ext cx="1656184" cy="0"/>
          </a:xfrm>
          <a:prstGeom prst="straightConnector1">
            <a:avLst/>
          </a:prstGeom>
          <a:noFill/>
          <a:ln cap="flat" cmpd="sng" w="9525">
            <a:solidFill>
              <a:srgbClr val="4A7DBA"/>
            </a:solidFill>
            <a:prstDash val="solid"/>
            <a:round/>
            <a:headEnd len="sm" w="sm" type="none"/>
            <a:tailEnd len="med" w="med" type="stealth"/>
          </a:ln>
        </p:spPr>
      </p:cxnSp>
      <p:sp>
        <p:nvSpPr>
          <p:cNvPr id="1750" name="Google Shape;1750;p144"/>
          <p:cNvSpPr txBox="1"/>
          <p:nvPr/>
        </p:nvSpPr>
        <p:spPr>
          <a:xfrm>
            <a:off x="6156176" y="4091707"/>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751" name="Google Shape;1751;p144"/>
          <p:cNvCxnSpPr>
            <a:endCxn id="1748" idx="2"/>
          </p:cNvCxnSpPr>
          <p:nvPr/>
        </p:nvCxnSpPr>
        <p:spPr>
          <a:xfrm>
            <a:off x="2915692" y="4636413"/>
            <a:ext cx="1584300" cy="0"/>
          </a:xfrm>
          <a:prstGeom prst="straightConnector1">
            <a:avLst/>
          </a:prstGeom>
          <a:noFill/>
          <a:ln cap="flat" cmpd="sng" w="9525">
            <a:solidFill>
              <a:srgbClr val="4A7DBA"/>
            </a:solidFill>
            <a:prstDash val="solid"/>
            <a:round/>
            <a:headEnd len="sm" w="sm" type="none"/>
            <a:tailEnd len="med" w="med" type="stealth"/>
          </a:ln>
        </p:spPr>
      </p:cxnSp>
      <p:sp>
        <p:nvSpPr>
          <p:cNvPr id="1752" name="Google Shape;1752;p144"/>
          <p:cNvSpPr txBox="1"/>
          <p:nvPr/>
        </p:nvSpPr>
        <p:spPr>
          <a:xfrm>
            <a:off x="3419872" y="4108430"/>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1753" name="Google Shape;1753;p144"/>
          <p:cNvCxnSpPr/>
          <p:nvPr/>
        </p:nvCxnSpPr>
        <p:spPr>
          <a:xfrm>
            <a:off x="971600" y="4636413"/>
            <a:ext cx="1008112" cy="0"/>
          </a:xfrm>
          <a:prstGeom prst="straightConnector1">
            <a:avLst/>
          </a:prstGeom>
          <a:noFill/>
          <a:ln cap="flat" cmpd="sng" w="9525">
            <a:solidFill>
              <a:srgbClr val="4A7DBA"/>
            </a:solidFill>
            <a:prstDash val="solid"/>
            <a:round/>
            <a:headEnd len="sm" w="sm" type="none"/>
            <a:tailEnd len="med" w="med" type="stealth"/>
          </a:ln>
        </p:spPr>
      </p:cxn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7" name="Shape 1757"/>
        <p:cNvGrpSpPr/>
        <p:nvPr/>
      </p:nvGrpSpPr>
      <p:grpSpPr>
        <a:xfrm>
          <a:off x="0" y="0"/>
          <a:ext cx="0" cy="0"/>
          <a:chOff x="0" y="0"/>
          <a:chExt cx="0" cy="0"/>
        </a:xfrm>
      </p:grpSpPr>
      <p:sp>
        <p:nvSpPr>
          <p:cNvPr id="1758" name="Google Shape;1758;p145"/>
          <p:cNvSpPr txBox="1"/>
          <p:nvPr>
            <p:ph type="title"/>
          </p:nvPr>
        </p:nvSpPr>
        <p:spPr>
          <a:xfrm>
            <a:off x="457200" y="274638"/>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DESIGNING FINITE AUTOMATA</a:t>
            </a:r>
            <a:endParaRPr/>
          </a:p>
        </p:txBody>
      </p:sp>
      <p:sp>
        <p:nvSpPr>
          <p:cNvPr id="1759" name="Google Shape;1759;p1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760" name="Google Shape;1760;p1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761" name="Google Shape;1761;p1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762" name="Google Shape;1762;p145"/>
          <p:cNvGraphicFramePr/>
          <p:nvPr/>
        </p:nvGraphicFramePr>
        <p:xfrm>
          <a:off x="359532" y="692696"/>
          <a:ext cx="3000000" cy="3000000"/>
        </p:xfrm>
        <a:graphic>
          <a:graphicData uri="http://schemas.openxmlformats.org/drawingml/2006/table">
            <a:tbl>
              <a:tblPr bandRow="1" firstRow="1">
                <a:noFill/>
                <a:tableStyleId>{1DD1F0B8-C0F4-4710-A24E-F3ACE173D476}</a:tableStyleId>
              </a:tblPr>
              <a:tblGrid>
                <a:gridCol w="8280925"/>
              </a:tblGrid>
              <a:tr h="5616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6</a:t>
                      </a:r>
                      <a:endParaRPr/>
                    </a:p>
                  </a:txBody>
                  <a:tcPr marT="45725" marB="45725" marR="91450" marL="91450"/>
                </a:tc>
              </a:tr>
              <a:tr h="5054950">
                <a:tc>
                  <a:txBody>
                    <a:bodyPr/>
                    <a:lstStyle/>
                    <a:p>
                      <a:pPr indent="0" lvl="0" marL="0" marR="0" rtl="0" algn="l">
                        <a:spcBef>
                          <a:spcPts val="0"/>
                        </a:spcBef>
                        <a:spcAft>
                          <a:spcPts val="0"/>
                        </a:spcAft>
                        <a:buClr>
                          <a:schemeClr val="dk1"/>
                        </a:buClr>
                        <a:buSzPts val="2400"/>
                        <a:buFont typeface="Arial"/>
                        <a:buNone/>
                      </a:pPr>
                      <a:r>
                        <a:rPr lang="en-IN" sz="2400"/>
                        <a:t>String 1010</a:t>
                      </a:r>
                      <a:endParaRPr/>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rPr lang="en-IN" sz="2400"/>
                        <a:t>Also check for strings-</a:t>
                      </a:r>
                      <a:endParaRPr/>
                    </a:p>
                    <a:p>
                      <a:pPr indent="0" lvl="0" marL="0" marR="0" rtl="0" algn="l">
                        <a:spcBef>
                          <a:spcPts val="0"/>
                        </a:spcBef>
                        <a:spcAft>
                          <a:spcPts val="0"/>
                        </a:spcAft>
                        <a:buClr>
                          <a:schemeClr val="dk1"/>
                        </a:buClr>
                        <a:buSzPts val="2400"/>
                        <a:buFont typeface="Arial"/>
                        <a:buNone/>
                      </a:pPr>
                      <a:r>
                        <a:rPr lang="en-IN" sz="2400"/>
                        <a:t>10</a:t>
                      </a:r>
                      <a:endParaRPr/>
                    </a:p>
                    <a:p>
                      <a:pPr indent="0" lvl="0" marL="0" marR="0" rtl="0" algn="l">
                        <a:spcBef>
                          <a:spcPts val="0"/>
                        </a:spcBef>
                        <a:spcAft>
                          <a:spcPts val="0"/>
                        </a:spcAft>
                        <a:buClr>
                          <a:schemeClr val="dk1"/>
                        </a:buClr>
                        <a:buSzPts val="2400"/>
                        <a:buFont typeface="Arial"/>
                        <a:buNone/>
                      </a:pPr>
                      <a:r>
                        <a:rPr lang="en-IN" sz="2400"/>
                        <a:t>110</a:t>
                      </a:r>
                      <a:endParaRPr/>
                    </a:p>
                    <a:p>
                      <a:pPr indent="0" lvl="0" marL="0" marR="0" rtl="0" algn="l">
                        <a:spcBef>
                          <a:spcPts val="0"/>
                        </a:spcBef>
                        <a:spcAft>
                          <a:spcPts val="0"/>
                        </a:spcAft>
                        <a:buClr>
                          <a:schemeClr val="dk1"/>
                        </a:buClr>
                        <a:buSzPts val="2400"/>
                        <a:buFont typeface="Arial"/>
                        <a:buNone/>
                      </a:pPr>
                      <a:r>
                        <a:rPr lang="en-IN" sz="2400"/>
                        <a:t>1110</a:t>
                      </a:r>
                      <a:endParaRPr/>
                    </a:p>
                    <a:p>
                      <a:pPr indent="0" lvl="0" marL="0" marR="0" rtl="0" algn="l">
                        <a:spcBef>
                          <a:spcPts val="0"/>
                        </a:spcBef>
                        <a:spcAft>
                          <a:spcPts val="0"/>
                        </a:spcAft>
                        <a:buClr>
                          <a:schemeClr val="dk1"/>
                        </a:buClr>
                        <a:buSzPts val="2400"/>
                        <a:buFont typeface="Arial"/>
                        <a:buNone/>
                      </a:pPr>
                      <a:r>
                        <a:rPr lang="en-IN" sz="2400"/>
                        <a:t>1010</a:t>
                      </a:r>
                      <a:endParaRPr/>
                    </a:p>
                    <a:p>
                      <a:pPr indent="0" lvl="0" marL="0" marR="0" rtl="0" algn="l">
                        <a:spcBef>
                          <a:spcPts val="0"/>
                        </a:spcBef>
                        <a:spcAft>
                          <a:spcPts val="0"/>
                        </a:spcAft>
                        <a:buClr>
                          <a:schemeClr val="dk1"/>
                        </a:buClr>
                        <a:buSzPts val="2400"/>
                        <a:buFont typeface="Arial"/>
                        <a:buNone/>
                      </a:pPr>
                      <a:r>
                        <a:rPr lang="en-IN" sz="2400"/>
                        <a:t>101010</a:t>
                      </a:r>
                      <a:endParaRPr/>
                    </a:p>
                    <a:p>
                      <a:pPr indent="0" lvl="0" marL="0" marR="0" rtl="0" algn="l">
                        <a:spcBef>
                          <a:spcPts val="0"/>
                        </a:spcBef>
                        <a:spcAft>
                          <a:spcPts val="0"/>
                        </a:spcAft>
                        <a:buClr>
                          <a:schemeClr val="dk1"/>
                        </a:buClr>
                        <a:buSzPts val="2400"/>
                        <a:buFont typeface="Arial"/>
                        <a:buNone/>
                      </a:pPr>
                      <a:r>
                        <a:rPr lang="en-IN" sz="2400"/>
                        <a:t>10101000</a:t>
                      </a:r>
                      <a:endParaRPr sz="2400"/>
                    </a:p>
                    <a:p>
                      <a:pPr indent="0" lvl="1" marL="4572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
        <p:nvSpPr>
          <p:cNvPr id="1763" name="Google Shape;1763;p145"/>
          <p:cNvSpPr/>
          <p:nvPr/>
        </p:nvSpPr>
        <p:spPr>
          <a:xfrm>
            <a:off x="1979712" y="42763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sp>
        <p:nvSpPr>
          <p:cNvPr id="1764" name="Google Shape;1764;p145"/>
          <p:cNvSpPr/>
          <p:nvPr/>
        </p:nvSpPr>
        <p:spPr>
          <a:xfrm>
            <a:off x="7090676" y="4108430"/>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5" name="Google Shape;1765;p145"/>
          <p:cNvSpPr/>
          <p:nvPr/>
        </p:nvSpPr>
        <p:spPr>
          <a:xfrm>
            <a:off x="7234692" y="433374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sp>
        <p:nvSpPr>
          <p:cNvPr id="1766" name="Google Shape;1766;p145"/>
          <p:cNvSpPr/>
          <p:nvPr/>
        </p:nvSpPr>
        <p:spPr>
          <a:xfrm>
            <a:off x="4499992" y="42763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cxnSp>
        <p:nvCxnSpPr>
          <p:cNvPr id="1767" name="Google Shape;1767;p145"/>
          <p:cNvCxnSpPr/>
          <p:nvPr/>
        </p:nvCxnSpPr>
        <p:spPr>
          <a:xfrm>
            <a:off x="5436096" y="4636413"/>
            <a:ext cx="1656184" cy="0"/>
          </a:xfrm>
          <a:prstGeom prst="straightConnector1">
            <a:avLst/>
          </a:prstGeom>
          <a:noFill/>
          <a:ln cap="flat" cmpd="sng" w="9525">
            <a:solidFill>
              <a:srgbClr val="4A7DBA"/>
            </a:solidFill>
            <a:prstDash val="solid"/>
            <a:round/>
            <a:headEnd len="sm" w="sm" type="none"/>
            <a:tailEnd len="med" w="med" type="stealth"/>
          </a:ln>
        </p:spPr>
      </p:cxnSp>
      <p:sp>
        <p:nvSpPr>
          <p:cNvPr id="1768" name="Google Shape;1768;p145"/>
          <p:cNvSpPr txBox="1"/>
          <p:nvPr/>
        </p:nvSpPr>
        <p:spPr>
          <a:xfrm>
            <a:off x="6156176" y="4091707"/>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769" name="Google Shape;1769;p145"/>
          <p:cNvCxnSpPr>
            <a:endCxn id="1766" idx="2"/>
          </p:cNvCxnSpPr>
          <p:nvPr/>
        </p:nvCxnSpPr>
        <p:spPr>
          <a:xfrm>
            <a:off x="2915692" y="4636413"/>
            <a:ext cx="1584300" cy="0"/>
          </a:xfrm>
          <a:prstGeom prst="straightConnector1">
            <a:avLst/>
          </a:prstGeom>
          <a:noFill/>
          <a:ln cap="flat" cmpd="sng" w="9525">
            <a:solidFill>
              <a:srgbClr val="4A7DBA"/>
            </a:solidFill>
            <a:prstDash val="solid"/>
            <a:round/>
            <a:headEnd len="sm" w="sm" type="none"/>
            <a:tailEnd len="med" w="med" type="stealth"/>
          </a:ln>
        </p:spPr>
      </p:cxnSp>
      <p:sp>
        <p:nvSpPr>
          <p:cNvPr id="1770" name="Google Shape;1770;p145"/>
          <p:cNvSpPr txBox="1"/>
          <p:nvPr/>
        </p:nvSpPr>
        <p:spPr>
          <a:xfrm>
            <a:off x="3419872" y="4108430"/>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1771" name="Google Shape;1771;p145"/>
          <p:cNvCxnSpPr/>
          <p:nvPr/>
        </p:nvCxnSpPr>
        <p:spPr>
          <a:xfrm rot="10800000">
            <a:off x="5436096" y="4869160"/>
            <a:ext cx="1656185" cy="0"/>
          </a:xfrm>
          <a:prstGeom prst="straightConnector1">
            <a:avLst/>
          </a:prstGeom>
          <a:noFill/>
          <a:ln cap="flat" cmpd="sng" w="9525">
            <a:solidFill>
              <a:srgbClr val="4A7DBA"/>
            </a:solidFill>
            <a:prstDash val="solid"/>
            <a:round/>
            <a:headEnd len="sm" w="sm" type="none"/>
            <a:tailEnd len="med" w="med" type="stealth"/>
          </a:ln>
        </p:spPr>
      </p:cxnSp>
      <p:sp>
        <p:nvSpPr>
          <p:cNvPr id="1772" name="Google Shape;1772;p145"/>
          <p:cNvSpPr txBox="1"/>
          <p:nvPr/>
        </p:nvSpPr>
        <p:spPr>
          <a:xfrm>
            <a:off x="6178771" y="4996453"/>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1773" name="Google Shape;1773;p145"/>
          <p:cNvCxnSpPr/>
          <p:nvPr/>
        </p:nvCxnSpPr>
        <p:spPr>
          <a:xfrm>
            <a:off x="971600" y="4636413"/>
            <a:ext cx="1008112" cy="0"/>
          </a:xfrm>
          <a:prstGeom prst="straightConnector1">
            <a:avLst/>
          </a:prstGeom>
          <a:noFill/>
          <a:ln cap="flat" cmpd="sng" w="9525">
            <a:solidFill>
              <a:srgbClr val="4A7DBA"/>
            </a:solidFill>
            <a:prstDash val="solid"/>
            <a:round/>
            <a:headEnd len="sm" w="sm" type="none"/>
            <a:tailEnd len="med" w="med" type="stealth"/>
          </a:ln>
        </p:spPr>
      </p:cxn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7" name="Shape 1777"/>
        <p:cNvGrpSpPr/>
        <p:nvPr/>
      </p:nvGrpSpPr>
      <p:grpSpPr>
        <a:xfrm>
          <a:off x="0" y="0"/>
          <a:ext cx="0" cy="0"/>
          <a:chOff x="0" y="0"/>
          <a:chExt cx="0" cy="0"/>
        </a:xfrm>
      </p:grpSpPr>
      <p:sp>
        <p:nvSpPr>
          <p:cNvPr id="1778" name="Google Shape;1778;p146"/>
          <p:cNvSpPr txBox="1"/>
          <p:nvPr>
            <p:ph type="title"/>
          </p:nvPr>
        </p:nvSpPr>
        <p:spPr>
          <a:xfrm>
            <a:off x="457200" y="274638"/>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DESIGNING FINITE AUTOMATA</a:t>
            </a:r>
            <a:endParaRPr/>
          </a:p>
        </p:txBody>
      </p:sp>
      <p:sp>
        <p:nvSpPr>
          <p:cNvPr id="1779" name="Google Shape;1779;p1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780" name="Google Shape;1780;p1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781" name="Google Shape;1781;p1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782" name="Google Shape;1782;p146"/>
          <p:cNvGraphicFramePr/>
          <p:nvPr/>
        </p:nvGraphicFramePr>
        <p:xfrm>
          <a:off x="611560" y="764704"/>
          <a:ext cx="3000000" cy="3000000"/>
        </p:xfrm>
        <a:graphic>
          <a:graphicData uri="http://schemas.openxmlformats.org/drawingml/2006/table">
            <a:tbl>
              <a:tblPr bandRow="1" firstRow="1">
                <a:noFill/>
                <a:tableStyleId>{1DD1F0B8-C0F4-4710-A24E-F3ACE173D476}</a:tableStyleId>
              </a:tblPr>
              <a:tblGrid>
                <a:gridCol w="8280925"/>
              </a:tblGrid>
              <a:tr h="5616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6</a:t>
                      </a:r>
                      <a:endParaRPr/>
                    </a:p>
                  </a:txBody>
                  <a:tcPr marT="45725" marB="45725" marR="91450" marL="91450"/>
                </a:tc>
              </a:tr>
              <a:tr h="5054950">
                <a:tc>
                  <a:txBody>
                    <a:bodyPr/>
                    <a:lstStyle/>
                    <a:p>
                      <a:pPr indent="0" lvl="0" marL="0" marR="0" rtl="0" algn="l">
                        <a:spcBef>
                          <a:spcPts val="0"/>
                        </a:spcBef>
                        <a:spcAft>
                          <a:spcPts val="0"/>
                        </a:spcAft>
                        <a:buClr>
                          <a:schemeClr val="dk1"/>
                        </a:buClr>
                        <a:buSzPts val="2400"/>
                        <a:buFont typeface="Arial"/>
                        <a:buNone/>
                      </a:pPr>
                      <a:r>
                        <a:rPr lang="en-IN" sz="2400"/>
                        <a:t>String 10110</a:t>
                      </a:r>
                      <a:endParaRPr/>
                    </a:p>
                    <a:p>
                      <a:pPr indent="0" lvl="1" marL="4572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
        <p:nvSpPr>
          <p:cNvPr id="1783" name="Google Shape;1783;p146"/>
          <p:cNvSpPr/>
          <p:nvPr/>
        </p:nvSpPr>
        <p:spPr>
          <a:xfrm>
            <a:off x="1979712" y="42763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sp>
        <p:nvSpPr>
          <p:cNvPr id="1784" name="Google Shape;1784;p146"/>
          <p:cNvSpPr/>
          <p:nvPr/>
        </p:nvSpPr>
        <p:spPr>
          <a:xfrm>
            <a:off x="7090676" y="4108430"/>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85" name="Google Shape;1785;p146"/>
          <p:cNvSpPr/>
          <p:nvPr/>
        </p:nvSpPr>
        <p:spPr>
          <a:xfrm>
            <a:off x="7234692" y="433374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sp>
        <p:nvSpPr>
          <p:cNvPr id="1786" name="Google Shape;1786;p146"/>
          <p:cNvSpPr/>
          <p:nvPr/>
        </p:nvSpPr>
        <p:spPr>
          <a:xfrm>
            <a:off x="4499992" y="42763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cxnSp>
        <p:nvCxnSpPr>
          <p:cNvPr id="1787" name="Google Shape;1787;p146"/>
          <p:cNvCxnSpPr/>
          <p:nvPr/>
        </p:nvCxnSpPr>
        <p:spPr>
          <a:xfrm>
            <a:off x="5436096" y="4636413"/>
            <a:ext cx="1656184" cy="0"/>
          </a:xfrm>
          <a:prstGeom prst="straightConnector1">
            <a:avLst/>
          </a:prstGeom>
          <a:noFill/>
          <a:ln cap="flat" cmpd="sng" w="9525">
            <a:solidFill>
              <a:srgbClr val="4A7DBA"/>
            </a:solidFill>
            <a:prstDash val="solid"/>
            <a:round/>
            <a:headEnd len="sm" w="sm" type="none"/>
            <a:tailEnd len="med" w="med" type="stealth"/>
          </a:ln>
        </p:spPr>
      </p:cxnSp>
      <p:sp>
        <p:nvSpPr>
          <p:cNvPr id="1788" name="Google Shape;1788;p146"/>
          <p:cNvSpPr txBox="1"/>
          <p:nvPr/>
        </p:nvSpPr>
        <p:spPr>
          <a:xfrm>
            <a:off x="6156176" y="4091707"/>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789" name="Google Shape;1789;p146"/>
          <p:cNvCxnSpPr>
            <a:endCxn id="1786" idx="2"/>
          </p:cNvCxnSpPr>
          <p:nvPr/>
        </p:nvCxnSpPr>
        <p:spPr>
          <a:xfrm>
            <a:off x="2915692" y="4636413"/>
            <a:ext cx="1584300" cy="0"/>
          </a:xfrm>
          <a:prstGeom prst="straightConnector1">
            <a:avLst/>
          </a:prstGeom>
          <a:noFill/>
          <a:ln cap="flat" cmpd="sng" w="9525">
            <a:solidFill>
              <a:srgbClr val="4A7DBA"/>
            </a:solidFill>
            <a:prstDash val="solid"/>
            <a:round/>
            <a:headEnd len="sm" w="sm" type="none"/>
            <a:tailEnd len="med" w="med" type="stealth"/>
          </a:ln>
        </p:spPr>
      </p:cxnSp>
      <p:sp>
        <p:nvSpPr>
          <p:cNvPr id="1790" name="Google Shape;1790;p146"/>
          <p:cNvSpPr txBox="1"/>
          <p:nvPr/>
        </p:nvSpPr>
        <p:spPr>
          <a:xfrm>
            <a:off x="3419872" y="4108430"/>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1791" name="Google Shape;1791;p146"/>
          <p:cNvCxnSpPr/>
          <p:nvPr/>
        </p:nvCxnSpPr>
        <p:spPr>
          <a:xfrm rot="10800000">
            <a:off x="5436096" y="4869160"/>
            <a:ext cx="1656185" cy="0"/>
          </a:xfrm>
          <a:prstGeom prst="straightConnector1">
            <a:avLst/>
          </a:prstGeom>
          <a:noFill/>
          <a:ln cap="flat" cmpd="sng" w="9525">
            <a:solidFill>
              <a:srgbClr val="4A7DBA"/>
            </a:solidFill>
            <a:prstDash val="solid"/>
            <a:round/>
            <a:headEnd len="sm" w="sm" type="none"/>
            <a:tailEnd len="med" w="med" type="stealth"/>
          </a:ln>
        </p:spPr>
      </p:cxnSp>
      <p:sp>
        <p:nvSpPr>
          <p:cNvPr id="1792" name="Google Shape;1792;p146"/>
          <p:cNvSpPr txBox="1"/>
          <p:nvPr/>
        </p:nvSpPr>
        <p:spPr>
          <a:xfrm>
            <a:off x="6178771" y="4996453"/>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1793" name="Google Shape;1793;p146"/>
          <p:cNvSpPr/>
          <p:nvPr/>
        </p:nvSpPr>
        <p:spPr>
          <a:xfrm>
            <a:off x="4499992" y="4969262"/>
            <a:ext cx="936104" cy="751438"/>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94" name="Google Shape;1794;p146"/>
          <p:cNvSpPr txBox="1"/>
          <p:nvPr/>
        </p:nvSpPr>
        <p:spPr>
          <a:xfrm>
            <a:off x="4788024" y="5795972"/>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1795" name="Google Shape;1795;p146"/>
          <p:cNvCxnSpPr/>
          <p:nvPr/>
        </p:nvCxnSpPr>
        <p:spPr>
          <a:xfrm>
            <a:off x="971600" y="4636413"/>
            <a:ext cx="1008112" cy="0"/>
          </a:xfrm>
          <a:prstGeom prst="straightConnector1">
            <a:avLst/>
          </a:prstGeom>
          <a:noFill/>
          <a:ln cap="flat" cmpd="sng" w="9525">
            <a:solidFill>
              <a:srgbClr val="4A7DBA"/>
            </a:solidFill>
            <a:prstDash val="solid"/>
            <a:round/>
            <a:headEnd len="sm" w="sm" type="none"/>
            <a:tailEnd len="med" w="med" type="stealth"/>
          </a:ln>
        </p:spPr>
      </p:cxn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9" name="Shape 1799"/>
        <p:cNvGrpSpPr/>
        <p:nvPr/>
      </p:nvGrpSpPr>
      <p:grpSpPr>
        <a:xfrm>
          <a:off x="0" y="0"/>
          <a:ext cx="0" cy="0"/>
          <a:chOff x="0" y="0"/>
          <a:chExt cx="0" cy="0"/>
        </a:xfrm>
      </p:grpSpPr>
      <p:sp>
        <p:nvSpPr>
          <p:cNvPr id="1800" name="Google Shape;1800;p147"/>
          <p:cNvSpPr txBox="1"/>
          <p:nvPr>
            <p:ph type="title"/>
          </p:nvPr>
        </p:nvSpPr>
        <p:spPr>
          <a:xfrm>
            <a:off x="457200" y="274638"/>
            <a:ext cx="8229600" cy="2740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DESIGNING FINITE AUTOMATA</a:t>
            </a:r>
            <a:endParaRPr/>
          </a:p>
        </p:txBody>
      </p:sp>
      <p:sp>
        <p:nvSpPr>
          <p:cNvPr id="1801" name="Google Shape;1801;p1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802" name="Google Shape;1802;p1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803" name="Google Shape;1803;p1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804" name="Google Shape;1804;p147"/>
          <p:cNvGraphicFramePr/>
          <p:nvPr/>
        </p:nvGraphicFramePr>
        <p:xfrm>
          <a:off x="611560" y="764704"/>
          <a:ext cx="3000000" cy="3000000"/>
        </p:xfrm>
        <a:graphic>
          <a:graphicData uri="http://schemas.openxmlformats.org/drawingml/2006/table">
            <a:tbl>
              <a:tblPr bandRow="1" firstRow="1">
                <a:noFill/>
                <a:tableStyleId>{1DD1F0B8-C0F4-4710-A24E-F3ACE173D476}</a:tableStyleId>
              </a:tblPr>
              <a:tblGrid>
                <a:gridCol w="8280925"/>
              </a:tblGrid>
              <a:tr h="118860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6</a:t>
                      </a:r>
                      <a:endParaRPr/>
                    </a:p>
                  </a:txBody>
                  <a:tcPr marT="45725" marB="45725" marR="91450" marL="91450"/>
                </a:tc>
              </a:tr>
              <a:tr h="4212000">
                <a:tc>
                  <a:txBody>
                    <a:bodyPr/>
                    <a:lstStyle/>
                    <a:p>
                      <a:pPr indent="0" lvl="0" marL="0" marR="0" rtl="0" algn="l">
                        <a:spcBef>
                          <a:spcPts val="0"/>
                        </a:spcBef>
                        <a:spcAft>
                          <a:spcPts val="0"/>
                        </a:spcAft>
                        <a:buClr>
                          <a:schemeClr val="dk1"/>
                        </a:buClr>
                        <a:buSzPts val="2400"/>
                        <a:buFont typeface="Arial"/>
                        <a:buNone/>
                      </a:pPr>
                      <a:r>
                        <a:rPr lang="en-IN" sz="2400"/>
                        <a:t>String 1000</a:t>
                      </a:r>
                      <a:endParaRPr/>
                    </a:p>
                    <a:p>
                      <a:pPr indent="0" lvl="1" marL="4572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
        <p:nvSpPr>
          <p:cNvPr id="1805" name="Google Shape;1805;p147"/>
          <p:cNvSpPr/>
          <p:nvPr/>
        </p:nvSpPr>
        <p:spPr>
          <a:xfrm>
            <a:off x="1979712" y="42763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sp>
        <p:nvSpPr>
          <p:cNvPr id="1806" name="Google Shape;1806;p147"/>
          <p:cNvSpPr/>
          <p:nvPr/>
        </p:nvSpPr>
        <p:spPr>
          <a:xfrm>
            <a:off x="7090676" y="4108430"/>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7" name="Google Shape;1807;p147"/>
          <p:cNvSpPr/>
          <p:nvPr/>
        </p:nvSpPr>
        <p:spPr>
          <a:xfrm>
            <a:off x="7234692" y="433374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sp>
        <p:nvSpPr>
          <p:cNvPr id="1808" name="Google Shape;1808;p147"/>
          <p:cNvSpPr/>
          <p:nvPr/>
        </p:nvSpPr>
        <p:spPr>
          <a:xfrm>
            <a:off x="4499992" y="42763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cxnSp>
        <p:nvCxnSpPr>
          <p:cNvPr id="1809" name="Google Shape;1809;p147"/>
          <p:cNvCxnSpPr/>
          <p:nvPr/>
        </p:nvCxnSpPr>
        <p:spPr>
          <a:xfrm>
            <a:off x="5436096" y="4636413"/>
            <a:ext cx="1656184" cy="0"/>
          </a:xfrm>
          <a:prstGeom prst="straightConnector1">
            <a:avLst/>
          </a:prstGeom>
          <a:noFill/>
          <a:ln cap="flat" cmpd="sng" w="9525">
            <a:solidFill>
              <a:srgbClr val="4A7DBA"/>
            </a:solidFill>
            <a:prstDash val="solid"/>
            <a:round/>
            <a:headEnd len="sm" w="sm" type="none"/>
            <a:tailEnd len="med" w="med" type="stealth"/>
          </a:ln>
        </p:spPr>
      </p:cxnSp>
      <p:sp>
        <p:nvSpPr>
          <p:cNvPr id="1810" name="Google Shape;1810;p147"/>
          <p:cNvSpPr txBox="1"/>
          <p:nvPr/>
        </p:nvSpPr>
        <p:spPr>
          <a:xfrm>
            <a:off x="6156176" y="4091707"/>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811" name="Google Shape;1811;p147"/>
          <p:cNvCxnSpPr>
            <a:endCxn id="1808" idx="2"/>
          </p:cNvCxnSpPr>
          <p:nvPr/>
        </p:nvCxnSpPr>
        <p:spPr>
          <a:xfrm>
            <a:off x="2915692" y="4636413"/>
            <a:ext cx="1584300" cy="0"/>
          </a:xfrm>
          <a:prstGeom prst="straightConnector1">
            <a:avLst/>
          </a:prstGeom>
          <a:noFill/>
          <a:ln cap="flat" cmpd="sng" w="9525">
            <a:solidFill>
              <a:srgbClr val="4A7DBA"/>
            </a:solidFill>
            <a:prstDash val="solid"/>
            <a:round/>
            <a:headEnd len="sm" w="sm" type="none"/>
            <a:tailEnd len="med" w="med" type="stealth"/>
          </a:ln>
        </p:spPr>
      </p:cxnSp>
      <p:sp>
        <p:nvSpPr>
          <p:cNvPr id="1812" name="Google Shape;1812;p147"/>
          <p:cNvSpPr txBox="1"/>
          <p:nvPr/>
        </p:nvSpPr>
        <p:spPr>
          <a:xfrm>
            <a:off x="3419872" y="4108430"/>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1813" name="Google Shape;1813;p147"/>
          <p:cNvCxnSpPr/>
          <p:nvPr/>
        </p:nvCxnSpPr>
        <p:spPr>
          <a:xfrm rot="10800000">
            <a:off x="5436096" y="4869160"/>
            <a:ext cx="1656185" cy="0"/>
          </a:xfrm>
          <a:prstGeom prst="straightConnector1">
            <a:avLst/>
          </a:prstGeom>
          <a:noFill/>
          <a:ln cap="flat" cmpd="sng" w="9525">
            <a:solidFill>
              <a:srgbClr val="4A7DBA"/>
            </a:solidFill>
            <a:prstDash val="solid"/>
            <a:round/>
            <a:headEnd len="sm" w="sm" type="none"/>
            <a:tailEnd len="med" w="med" type="stealth"/>
          </a:ln>
        </p:spPr>
      </p:cxnSp>
      <p:sp>
        <p:nvSpPr>
          <p:cNvPr id="1814" name="Google Shape;1814;p147"/>
          <p:cNvSpPr txBox="1"/>
          <p:nvPr/>
        </p:nvSpPr>
        <p:spPr>
          <a:xfrm>
            <a:off x="6178771" y="4996453"/>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1815" name="Google Shape;1815;p147"/>
          <p:cNvSpPr/>
          <p:nvPr/>
        </p:nvSpPr>
        <p:spPr>
          <a:xfrm>
            <a:off x="4499992" y="4969262"/>
            <a:ext cx="936104" cy="751438"/>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16" name="Google Shape;1816;p147"/>
          <p:cNvSpPr txBox="1"/>
          <p:nvPr/>
        </p:nvSpPr>
        <p:spPr>
          <a:xfrm>
            <a:off x="4788024" y="5795972"/>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1817" name="Google Shape;1817;p147"/>
          <p:cNvSpPr/>
          <p:nvPr/>
        </p:nvSpPr>
        <p:spPr>
          <a:xfrm>
            <a:off x="7452320" y="3284984"/>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18" name="Google Shape;1818;p147"/>
          <p:cNvSpPr txBox="1"/>
          <p:nvPr/>
        </p:nvSpPr>
        <p:spPr>
          <a:xfrm>
            <a:off x="8100392" y="341970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819" name="Google Shape;1819;p147"/>
          <p:cNvCxnSpPr/>
          <p:nvPr/>
        </p:nvCxnSpPr>
        <p:spPr>
          <a:xfrm>
            <a:off x="971600" y="4636413"/>
            <a:ext cx="1008112" cy="0"/>
          </a:xfrm>
          <a:prstGeom prst="straightConnector1">
            <a:avLst/>
          </a:prstGeom>
          <a:noFill/>
          <a:ln cap="flat" cmpd="sng" w="9525">
            <a:solidFill>
              <a:srgbClr val="4A7DBA"/>
            </a:solidFill>
            <a:prstDash val="solid"/>
            <a:round/>
            <a:headEnd len="sm" w="sm" type="none"/>
            <a:tailEnd len="med" w="med" type="stealth"/>
          </a:ln>
        </p:spPr>
      </p:cxn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4" name="Shape 1824"/>
        <p:cNvGrpSpPr/>
        <p:nvPr/>
      </p:nvGrpSpPr>
      <p:grpSpPr>
        <a:xfrm>
          <a:off x="0" y="0"/>
          <a:ext cx="0" cy="0"/>
          <a:chOff x="0" y="0"/>
          <a:chExt cx="0" cy="0"/>
        </a:xfrm>
      </p:grpSpPr>
      <p:sp>
        <p:nvSpPr>
          <p:cNvPr id="1825" name="Google Shape;1825;p1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826" name="Google Shape;1826;p1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827" name="Google Shape;1827;p1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828" name="Google Shape;1828;p1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829" name="Google Shape;1829;p148"/>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7</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rPr lang="en-IN" sz="2400"/>
                        <a:t>Design a DFA which checks whether a given binary number is divisible by three</a:t>
                      </a:r>
                      <a:endParaRPr/>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4" name="Shape 1834"/>
        <p:cNvGrpSpPr/>
        <p:nvPr/>
      </p:nvGrpSpPr>
      <p:grpSpPr>
        <a:xfrm>
          <a:off x="0" y="0"/>
          <a:ext cx="0" cy="0"/>
          <a:chOff x="0" y="0"/>
          <a:chExt cx="0" cy="0"/>
        </a:xfrm>
      </p:grpSpPr>
      <p:sp>
        <p:nvSpPr>
          <p:cNvPr id="1835" name="Google Shape;1835;p1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836" name="Google Shape;1836;p1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837" name="Google Shape;1837;p1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838" name="Google Shape;1838;p1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839" name="Google Shape;1839;p149"/>
          <p:cNvGraphicFramePr/>
          <p:nvPr/>
        </p:nvGraphicFramePr>
        <p:xfrm>
          <a:off x="568037" y="26064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7</a:t>
                      </a:r>
                      <a:endParaRPr/>
                    </a:p>
                  </a:txBody>
                  <a:tcPr marT="45725" marB="45725" marR="91450" marL="91450"/>
                </a:tc>
              </a:tr>
              <a:tr h="1775050">
                <a:tc>
                  <a:txBody>
                    <a:bodyPr/>
                    <a:lstStyle/>
                    <a:p>
                      <a:pPr indent="-342900" lvl="0" marL="342900" marR="0" rtl="0" algn="l">
                        <a:spcBef>
                          <a:spcPts val="0"/>
                        </a:spcBef>
                        <a:spcAft>
                          <a:spcPts val="0"/>
                        </a:spcAft>
                        <a:buClr>
                          <a:schemeClr val="dk1"/>
                        </a:buClr>
                        <a:buSzPts val="2400"/>
                        <a:buFont typeface="Arial"/>
                        <a:buChar char="•"/>
                      </a:pPr>
                      <a:r>
                        <a:rPr lang="en-IN" sz="2400"/>
                        <a:t>The possible Remainders =0,1,2</a:t>
                      </a:r>
                      <a:endParaRPr/>
                    </a:p>
                    <a:p>
                      <a:pPr indent="-342900" lvl="0" marL="342900" marR="0" rtl="0" algn="l">
                        <a:spcBef>
                          <a:spcPts val="0"/>
                        </a:spcBef>
                        <a:spcAft>
                          <a:spcPts val="0"/>
                        </a:spcAft>
                        <a:buClr>
                          <a:schemeClr val="dk1"/>
                        </a:buClr>
                        <a:buSzPts val="2400"/>
                        <a:buFont typeface="Arial"/>
                        <a:buChar char="•"/>
                      </a:pPr>
                      <a:r>
                        <a:rPr lang="en-IN" sz="2400"/>
                        <a:t>Remainder 0=&gt;Divisible by 3</a:t>
                      </a:r>
                      <a:endParaRPr/>
                    </a:p>
                    <a:p>
                      <a:pPr indent="-190500" lvl="0" marL="342900" marR="0" rtl="0" algn="l">
                        <a:spcBef>
                          <a:spcPts val="0"/>
                        </a:spcBef>
                        <a:spcAft>
                          <a:spcPts val="0"/>
                        </a:spcAft>
                        <a:buClr>
                          <a:schemeClr val="dk1"/>
                        </a:buClr>
                        <a:buSzPts val="2400"/>
                        <a:buFont typeface="Arial"/>
                        <a:buNone/>
                      </a:pPr>
                      <a:r>
                        <a:t/>
                      </a:r>
                      <a:endParaRPr sz="2400"/>
                    </a:p>
                    <a:p>
                      <a:pPr indent="-342900" lvl="0" marL="342900" marR="0" rtl="0" algn="l">
                        <a:spcBef>
                          <a:spcPts val="0"/>
                        </a:spcBef>
                        <a:spcAft>
                          <a:spcPts val="0"/>
                        </a:spcAft>
                        <a:buClr>
                          <a:schemeClr val="dk1"/>
                        </a:buClr>
                        <a:buSzPts val="2400"/>
                        <a:buFont typeface="Arial"/>
                        <a:buChar char="•"/>
                      </a:pPr>
                      <a:r>
                        <a:rPr lang="en-IN" sz="2400"/>
                        <a:t>Group Digits according to their remainder</a:t>
                      </a:r>
                      <a:endParaRPr/>
                    </a:p>
                    <a:p>
                      <a:pPr indent="-342900" lvl="1" marL="800100" marR="0" rtl="0" algn="l">
                        <a:spcBef>
                          <a:spcPts val="0"/>
                        </a:spcBef>
                        <a:spcAft>
                          <a:spcPts val="0"/>
                        </a:spcAft>
                        <a:buClr>
                          <a:schemeClr val="dk1"/>
                        </a:buClr>
                        <a:buSzPts val="2400"/>
                        <a:buFont typeface="Arial"/>
                        <a:buChar char="•"/>
                      </a:pPr>
                      <a:r>
                        <a:rPr lang="en-IN" sz="2400" u="none" cap="none" strike="noStrike"/>
                        <a:t>Initial State=A</a:t>
                      </a:r>
                      <a:endParaRPr/>
                    </a:p>
                    <a:p>
                      <a:pPr indent="-342900" lvl="1" marL="800100" marR="0" rtl="0" algn="l">
                        <a:spcBef>
                          <a:spcPts val="0"/>
                        </a:spcBef>
                        <a:spcAft>
                          <a:spcPts val="0"/>
                        </a:spcAft>
                        <a:buClr>
                          <a:schemeClr val="dk1"/>
                        </a:buClr>
                        <a:buSzPts val="2400"/>
                        <a:buFont typeface="Arial"/>
                        <a:buChar char="•"/>
                      </a:pPr>
                      <a:r>
                        <a:rPr lang="en-IN" sz="2400" u="none" cap="none" strike="noStrike"/>
                        <a:t>Remainder 0 group S0=&gt;Final State</a:t>
                      </a:r>
                      <a:endParaRPr/>
                    </a:p>
                    <a:p>
                      <a:pPr indent="-342900" lvl="1" marL="800100" marR="0" rtl="0" algn="l">
                        <a:lnSpc>
                          <a:spcPct val="100000"/>
                        </a:lnSpc>
                        <a:spcBef>
                          <a:spcPts val="0"/>
                        </a:spcBef>
                        <a:spcAft>
                          <a:spcPts val="0"/>
                        </a:spcAft>
                        <a:buClr>
                          <a:schemeClr val="dk1"/>
                        </a:buClr>
                        <a:buSzPts val="2400"/>
                        <a:buFont typeface="Arial"/>
                        <a:buChar char="•"/>
                      </a:pPr>
                      <a:r>
                        <a:rPr lang="en-IN" sz="2400" u="none" cap="none" strike="noStrike"/>
                        <a:t>Remainder 1 group S1</a:t>
                      </a:r>
                      <a:endParaRPr/>
                    </a:p>
                    <a:p>
                      <a:pPr indent="-342900" lvl="1" marL="800100" marR="0" rtl="0" algn="l">
                        <a:lnSpc>
                          <a:spcPct val="100000"/>
                        </a:lnSpc>
                        <a:spcBef>
                          <a:spcPts val="0"/>
                        </a:spcBef>
                        <a:spcAft>
                          <a:spcPts val="0"/>
                        </a:spcAft>
                        <a:buClr>
                          <a:schemeClr val="dk1"/>
                        </a:buClr>
                        <a:buSzPts val="2400"/>
                        <a:buFont typeface="Arial"/>
                        <a:buChar char="•"/>
                      </a:pPr>
                      <a:r>
                        <a:rPr lang="en-IN" sz="2400" u="none" cap="none" strike="noStrike"/>
                        <a:t>Remainder 2 group S2</a:t>
                      </a:r>
                      <a:endParaRPr/>
                    </a:p>
                  </a:txBody>
                  <a:tcPr marT="45725" marB="45725" marR="91450" marL="91450"/>
                </a:tc>
              </a:tr>
            </a:tbl>
          </a:graphicData>
        </a:graphic>
      </p:graphicFrame>
      <p:sp>
        <p:nvSpPr>
          <p:cNvPr id="1840" name="Google Shape;1840;p149"/>
          <p:cNvSpPr/>
          <p:nvPr/>
        </p:nvSpPr>
        <p:spPr>
          <a:xfrm>
            <a:off x="4829053" y="4300232"/>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A</a:t>
            </a:r>
            <a:endParaRPr sz="1800">
              <a:solidFill>
                <a:schemeClr val="lt1"/>
              </a:solidFill>
              <a:latin typeface="Calibri"/>
              <a:ea typeface="Calibri"/>
              <a:cs typeface="Calibri"/>
              <a:sym typeface="Calibri"/>
            </a:endParaRPr>
          </a:p>
        </p:txBody>
      </p:sp>
      <p:sp>
        <p:nvSpPr>
          <p:cNvPr id="1841" name="Google Shape;1841;p149"/>
          <p:cNvSpPr/>
          <p:nvPr/>
        </p:nvSpPr>
        <p:spPr>
          <a:xfrm>
            <a:off x="6523683" y="4008721"/>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2" name="Google Shape;1842;p149"/>
          <p:cNvSpPr/>
          <p:nvPr/>
        </p:nvSpPr>
        <p:spPr>
          <a:xfrm>
            <a:off x="6667699" y="422474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sp>
        <p:nvSpPr>
          <p:cNvPr id="1843" name="Google Shape;1843;p149"/>
          <p:cNvSpPr/>
          <p:nvPr/>
        </p:nvSpPr>
        <p:spPr>
          <a:xfrm>
            <a:off x="6595361" y="578614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
        <p:nvSpPr>
          <p:cNvPr id="1844" name="Google Shape;1844;p149"/>
          <p:cNvSpPr/>
          <p:nvPr/>
        </p:nvSpPr>
        <p:spPr>
          <a:xfrm>
            <a:off x="8195414" y="573325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9" name="Shape 1849"/>
        <p:cNvGrpSpPr/>
        <p:nvPr/>
      </p:nvGrpSpPr>
      <p:grpSpPr>
        <a:xfrm>
          <a:off x="0" y="0"/>
          <a:ext cx="0" cy="0"/>
          <a:chOff x="0" y="0"/>
          <a:chExt cx="0" cy="0"/>
        </a:xfrm>
      </p:grpSpPr>
      <p:sp>
        <p:nvSpPr>
          <p:cNvPr id="1850" name="Google Shape;1850;p1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851" name="Google Shape;1851;p1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852" name="Google Shape;1852;p1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853" name="Google Shape;1853;p1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854" name="Google Shape;1854;p150"/>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7</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Binary –Decimal =&gt;</a:t>
                      </a:r>
                      <a:endParaRPr/>
                    </a:p>
                    <a:p>
                      <a:pPr indent="-342900" lvl="0" marL="342900" marR="0" rtl="0" algn="l">
                        <a:spcBef>
                          <a:spcPts val="0"/>
                        </a:spcBef>
                        <a:spcAft>
                          <a:spcPts val="0"/>
                        </a:spcAft>
                        <a:buClr>
                          <a:schemeClr val="dk1"/>
                        </a:buClr>
                        <a:buSzPts val="2400"/>
                        <a:buFont typeface="Arial"/>
                        <a:buChar char="•"/>
                      </a:pPr>
                      <a:r>
                        <a:rPr lang="en-IN" sz="2400"/>
                        <a:t>0-0 , Rem=0,State S0</a:t>
                      </a:r>
                      <a:endParaRPr/>
                    </a:p>
                    <a:p>
                      <a:pPr indent="-342900" lvl="0" marL="342900" marR="0" rtl="0" algn="l">
                        <a:spcBef>
                          <a:spcPts val="0"/>
                        </a:spcBef>
                        <a:spcAft>
                          <a:spcPts val="0"/>
                        </a:spcAft>
                        <a:buClr>
                          <a:schemeClr val="dk1"/>
                        </a:buClr>
                        <a:buSzPts val="2400"/>
                        <a:buFont typeface="Arial"/>
                        <a:buChar char="•"/>
                      </a:pPr>
                      <a:r>
                        <a:rPr lang="en-IN" sz="2400"/>
                        <a:t>01-1, Rem=1, State S1</a:t>
                      </a:r>
                      <a:endParaRPr/>
                    </a:p>
                    <a:p>
                      <a:pPr indent="-342900" lvl="0" marL="342900" marR="0" rtl="0" algn="l">
                        <a:spcBef>
                          <a:spcPts val="0"/>
                        </a:spcBef>
                        <a:spcAft>
                          <a:spcPts val="0"/>
                        </a:spcAft>
                        <a:buClr>
                          <a:schemeClr val="dk1"/>
                        </a:buClr>
                        <a:buSzPts val="2400"/>
                        <a:buFont typeface="Arial"/>
                        <a:buChar char="•"/>
                      </a:pPr>
                      <a:r>
                        <a:rPr lang="en-IN" sz="2400"/>
                        <a:t>10-2 , Rem=2, State S2</a:t>
                      </a:r>
                      <a:endParaRPr/>
                    </a:p>
                  </a:txBody>
                  <a:tcPr marT="45725" marB="45725" marR="91450" marL="91450"/>
                </a:tc>
              </a:tr>
            </a:tbl>
          </a:graphicData>
        </a:graphic>
      </p:graphicFrame>
      <p:sp>
        <p:nvSpPr>
          <p:cNvPr id="1855" name="Google Shape;1855;p150"/>
          <p:cNvSpPr/>
          <p:nvPr/>
        </p:nvSpPr>
        <p:spPr>
          <a:xfrm>
            <a:off x="4829053" y="4300232"/>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A</a:t>
            </a:r>
            <a:endParaRPr sz="1800">
              <a:solidFill>
                <a:schemeClr val="lt1"/>
              </a:solidFill>
              <a:latin typeface="Calibri"/>
              <a:ea typeface="Calibri"/>
              <a:cs typeface="Calibri"/>
              <a:sym typeface="Calibri"/>
            </a:endParaRPr>
          </a:p>
        </p:txBody>
      </p:sp>
      <p:sp>
        <p:nvSpPr>
          <p:cNvPr id="1856" name="Google Shape;1856;p150"/>
          <p:cNvSpPr/>
          <p:nvPr/>
        </p:nvSpPr>
        <p:spPr>
          <a:xfrm>
            <a:off x="6523683" y="4008721"/>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7" name="Google Shape;1857;p150"/>
          <p:cNvSpPr/>
          <p:nvPr/>
        </p:nvSpPr>
        <p:spPr>
          <a:xfrm>
            <a:off x="6667699" y="422474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sp>
        <p:nvSpPr>
          <p:cNvPr id="1858" name="Google Shape;1858;p150"/>
          <p:cNvSpPr/>
          <p:nvPr/>
        </p:nvSpPr>
        <p:spPr>
          <a:xfrm>
            <a:off x="6595361" y="578614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
        <p:nvSpPr>
          <p:cNvPr id="1859" name="Google Shape;1859;p150"/>
          <p:cNvSpPr/>
          <p:nvPr/>
        </p:nvSpPr>
        <p:spPr>
          <a:xfrm>
            <a:off x="8195414" y="573325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cxnSp>
        <p:nvCxnSpPr>
          <p:cNvPr id="1860" name="Google Shape;1860;p150"/>
          <p:cNvCxnSpPr/>
          <p:nvPr/>
        </p:nvCxnSpPr>
        <p:spPr>
          <a:xfrm>
            <a:off x="5765157" y="4660272"/>
            <a:ext cx="758526" cy="0"/>
          </a:xfrm>
          <a:prstGeom prst="straightConnector1">
            <a:avLst/>
          </a:prstGeom>
          <a:noFill/>
          <a:ln cap="flat" cmpd="sng" w="9525">
            <a:solidFill>
              <a:srgbClr val="4A7DBA"/>
            </a:solidFill>
            <a:prstDash val="solid"/>
            <a:round/>
            <a:headEnd len="sm" w="sm" type="none"/>
            <a:tailEnd len="med" w="med" type="stealth"/>
          </a:ln>
        </p:spPr>
      </p:cxnSp>
      <p:sp>
        <p:nvSpPr>
          <p:cNvPr id="1861" name="Google Shape;1861;p150"/>
          <p:cNvSpPr txBox="1"/>
          <p:nvPr/>
        </p:nvSpPr>
        <p:spPr>
          <a:xfrm>
            <a:off x="5940152" y="4283804"/>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862" name="Google Shape;1862;p150"/>
          <p:cNvCxnSpPr/>
          <p:nvPr/>
        </p:nvCxnSpPr>
        <p:spPr>
          <a:xfrm>
            <a:off x="5436096" y="5020312"/>
            <a:ext cx="1159265" cy="928968"/>
          </a:xfrm>
          <a:prstGeom prst="straightConnector1">
            <a:avLst/>
          </a:prstGeom>
          <a:noFill/>
          <a:ln cap="flat" cmpd="sng" w="9525">
            <a:solidFill>
              <a:srgbClr val="4A7DBA"/>
            </a:solidFill>
            <a:prstDash val="solid"/>
            <a:round/>
            <a:headEnd len="sm" w="sm" type="none"/>
            <a:tailEnd len="med" w="med" type="stealth"/>
          </a:ln>
        </p:spPr>
      </p:cxnSp>
      <p:sp>
        <p:nvSpPr>
          <p:cNvPr id="1863" name="Google Shape;1863;p150"/>
          <p:cNvSpPr txBox="1"/>
          <p:nvPr/>
        </p:nvSpPr>
        <p:spPr>
          <a:xfrm>
            <a:off x="5508104" y="529191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1864" name="Google Shape;1864;p150"/>
          <p:cNvCxnSpPr>
            <a:stCxn id="1858" idx="6"/>
          </p:cNvCxnSpPr>
          <p:nvPr/>
        </p:nvCxnSpPr>
        <p:spPr>
          <a:xfrm>
            <a:off x="7531465" y="6146188"/>
            <a:ext cx="663900" cy="0"/>
          </a:xfrm>
          <a:prstGeom prst="straightConnector1">
            <a:avLst/>
          </a:prstGeom>
          <a:noFill/>
          <a:ln cap="flat" cmpd="sng" w="9525">
            <a:solidFill>
              <a:srgbClr val="4A7DBA"/>
            </a:solidFill>
            <a:prstDash val="solid"/>
            <a:round/>
            <a:headEnd len="sm" w="sm" type="none"/>
            <a:tailEnd len="med" w="med" type="stealth"/>
          </a:ln>
        </p:spPr>
      </p:cxnSp>
      <p:sp>
        <p:nvSpPr>
          <p:cNvPr id="1865" name="Google Shape;1865;p150"/>
          <p:cNvSpPr txBox="1"/>
          <p:nvPr/>
        </p:nvSpPr>
        <p:spPr>
          <a:xfrm>
            <a:off x="7668344" y="6165304"/>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0" name="Shape 1870"/>
        <p:cNvGrpSpPr/>
        <p:nvPr/>
      </p:nvGrpSpPr>
      <p:grpSpPr>
        <a:xfrm>
          <a:off x="0" y="0"/>
          <a:ext cx="0" cy="0"/>
          <a:chOff x="0" y="0"/>
          <a:chExt cx="0" cy="0"/>
        </a:xfrm>
      </p:grpSpPr>
      <p:sp>
        <p:nvSpPr>
          <p:cNvPr id="1871" name="Google Shape;1871;p1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872" name="Google Shape;1872;p1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873" name="Google Shape;1873;p1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874" name="Google Shape;1874;p1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875" name="Google Shape;1875;p151"/>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7</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Binary –Decimal =&gt;</a:t>
                      </a:r>
                      <a:endParaRPr/>
                    </a:p>
                    <a:p>
                      <a:pPr indent="-342900" lvl="0" marL="342900" marR="0" rtl="0" algn="l">
                        <a:spcBef>
                          <a:spcPts val="0"/>
                        </a:spcBef>
                        <a:spcAft>
                          <a:spcPts val="0"/>
                        </a:spcAft>
                        <a:buClr>
                          <a:schemeClr val="dk1"/>
                        </a:buClr>
                        <a:buSzPts val="2400"/>
                        <a:buFont typeface="Arial"/>
                        <a:buChar char="•"/>
                      </a:pPr>
                      <a:r>
                        <a:rPr lang="en-IN" sz="2400"/>
                        <a:t>11-3 , Rem=0, State S0</a:t>
                      </a:r>
                      <a:endParaRPr/>
                    </a:p>
                  </a:txBody>
                  <a:tcPr marT="45725" marB="45725" marR="91450" marL="91450"/>
                </a:tc>
              </a:tr>
            </a:tbl>
          </a:graphicData>
        </a:graphic>
      </p:graphicFrame>
      <p:sp>
        <p:nvSpPr>
          <p:cNvPr id="1876" name="Google Shape;1876;p151"/>
          <p:cNvSpPr/>
          <p:nvPr/>
        </p:nvSpPr>
        <p:spPr>
          <a:xfrm>
            <a:off x="4829053" y="4300232"/>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A</a:t>
            </a:r>
            <a:endParaRPr sz="1800">
              <a:solidFill>
                <a:schemeClr val="lt1"/>
              </a:solidFill>
              <a:latin typeface="Calibri"/>
              <a:ea typeface="Calibri"/>
              <a:cs typeface="Calibri"/>
              <a:sym typeface="Calibri"/>
            </a:endParaRPr>
          </a:p>
        </p:txBody>
      </p:sp>
      <p:sp>
        <p:nvSpPr>
          <p:cNvPr id="1877" name="Google Shape;1877;p151"/>
          <p:cNvSpPr/>
          <p:nvPr/>
        </p:nvSpPr>
        <p:spPr>
          <a:xfrm>
            <a:off x="6523683" y="4008721"/>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8" name="Google Shape;1878;p151"/>
          <p:cNvSpPr/>
          <p:nvPr/>
        </p:nvSpPr>
        <p:spPr>
          <a:xfrm>
            <a:off x="6667699" y="422474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sp>
        <p:nvSpPr>
          <p:cNvPr id="1879" name="Google Shape;1879;p151"/>
          <p:cNvSpPr/>
          <p:nvPr/>
        </p:nvSpPr>
        <p:spPr>
          <a:xfrm>
            <a:off x="6595361" y="578614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
        <p:nvSpPr>
          <p:cNvPr id="1880" name="Google Shape;1880;p151"/>
          <p:cNvSpPr/>
          <p:nvPr/>
        </p:nvSpPr>
        <p:spPr>
          <a:xfrm>
            <a:off x="8195414" y="573325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cxnSp>
        <p:nvCxnSpPr>
          <p:cNvPr id="1881" name="Google Shape;1881;p151"/>
          <p:cNvCxnSpPr/>
          <p:nvPr/>
        </p:nvCxnSpPr>
        <p:spPr>
          <a:xfrm>
            <a:off x="5765157" y="4660272"/>
            <a:ext cx="758526" cy="0"/>
          </a:xfrm>
          <a:prstGeom prst="straightConnector1">
            <a:avLst/>
          </a:prstGeom>
          <a:noFill/>
          <a:ln cap="flat" cmpd="sng" w="9525">
            <a:solidFill>
              <a:srgbClr val="4A7DBA"/>
            </a:solidFill>
            <a:prstDash val="solid"/>
            <a:round/>
            <a:headEnd len="sm" w="sm" type="none"/>
            <a:tailEnd len="med" w="med" type="stealth"/>
          </a:ln>
        </p:spPr>
      </p:cxnSp>
      <p:sp>
        <p:nvSpPr>
          <p:cNvPr id="1882" name="Google Shape;1882;p151"/>
          <p:cNvSpPr txBox="1"/>
          <p:nvPr/>
        </p:nvSpPr>
        <p:spPr>
          <a:xfrm>
            <a:off x="5940152" y="4283804"/>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883" name="Google Shape;1883;p151"/>
          <p:cNvCxnSpPr/>
          <p:nvPr/>
        </p:nvCxnSpPr>
        <p:spPr>
          <a:xfrm>
            <a:off x="5436096" y="5020312"/>
            <a:ext cx="1159265" cy="928968"/>
          </a:xfrm>
          <a:prstGeom prst="straightConnector1">
            <a:avLst/>
          </a:prstGeom>
          <a:noFill/>
          <a:ln cap="flat" cmpd="sng" w="9525">
            <a:solidFill>
              <a:srgbClr val="4A7DBA"/>
            </a:solidFill>
            <a:prstDash val="solid"/>
            <a:round/>
            <a:headEnd len="sm" w="sm" type="none"/>
            <a:tailEnd len="med" w="med" type="stealth"/>
          </a:ln>
        </p:spPr>
      </p:cxnSp>
      <p:sp>
        <p:nvSpPr>
          <p:cNvPr id="1884" name="Google Shape;1884;p151"/>
          <p:cNvSpPr txBox="1"/>
          <p:nvPr/>
        </p:nvSpPr>
        <p:spPr>
          <a:xfrm>
            <a:off x="5508104" y="529191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1885" name="Google Shape;1885;p151"/>
          <p:cNvCxnSpPr>
            <a:stCxn id="1879" idx="6"/>
          </p:cNvCxnSpPr>
          <p:nvPr/>
        </p:nvCxnSpPr>
        <p:spPr>
          <a:xfrm>
            <a:off x="7531465" y="6146188"/>
            <a:ext cx="663900" cy="0"/>
          </a:xfrm>
          <a:prstGeom prst="straightConnector1">
            <a:avLst/>
          </a:prstGeom>
          <a:noFill/>
          <a:ln cap="flat" cmpd="sng" w="9525">
            <a:solidFill>
              <a:srgbClr val="4A7DBA"/>
            </a:solidFill>
            <a:prstDash val="solid"/>
            <a:round/>
            <a:headEnd len="sm" w="sm" type="none"/>
            <a:tailEnd len="med" w="med" type="stealth"/>
          </a:ln>
        </p:spPr>
      </p:cxnSp>
      <p:sp>
        <p:nvSpPr>
          <p:cNvPr id="1886" name="Google Shape;1886;p151"/>
          <p:cNvSpPr txBox="1"/>
          <p:nvPr/>
        </p:nvSpPr>
        <p:spPr>
          <a:xfrm>
            <a:off x="7668344" y="6165304"/>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887" name="Google Shape;1887;p151"/>
          <p:cNvCxnSpPr>
            <a:stCxn id="1879" idx="0"/>
          </p:cNvCxnSpPr>
          <p:nvPr/>
        </p:nvCxnSpPr>
        <p:spPr>
          <a:xfrm rot="10800000">
            <a:off x="7063413" y="5160948"/>
            <a:ext cx="0" cy="625200"/>
          </a:xfrm>
          <a:prstGeom prst="straightConnector1">
            <a:avLst/>
          </a:prstGeom>
          <a:noFill/>
          <a:ln cap="flat" cmpd="sng" w="9525">
            <a:solidFill>
              <a:srgbClr val="4A7DBA"/>
            </a:solidFill>
            <a:prstDash val="solid"/>
            <a:round/>
            <a:headEnd len="sm" w="sm" type="none"/>
            <a:tailEnd len="med" w="med" type="stealth"/>
          </a:ln>
        </p:spPr>
      </p:cxnSp>
      <p:sp>
        <p:nvSpPr>
          <p:cNvPr id="1888" name="Google Shape;1888;p151"/>
          <p:cNvSpPr txBox="1"/>
          <p:nvPr/>
        </p:nvSpPr>
        <p:spPr>
          <a:xfrm>
            <a:off x="6660232" y="530120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3" name="Shape 1893"/>
        <p:cNvGrpSpPr/>
        <p:nvPr/>
      </p:nvGrpSpPr>
      <p:grpSpPr>
        <a:xfrm>
          <a:off x="0" y="0"/>
          <a:ext cx="0" cy="0"/>
          <a:chOff x="0" y="0"/>
          <a:chExt cx="0" cy="0"/>
        </a:xfrm>
      </p:grpSpPr>
      <p:sp>
        <p:nvSpPr>
          <p:cNvPr id="1894" name="Google Shape;1894;p1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895" name="Google Shape;1895;p1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896" name="Google Shape;1896;p1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897" name="Google Shape;1897;p1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898" name="Google Shape;1898;p152"/>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7</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Binary –Decimal =&gt;</a:t>
                      </a:r>
                      <a:endParaRPr/>
                    </a:p>
                    <a:p>
                      <a:pPr indent="-342900" lvl="0" marL="342900" marR="0" rtl="0" algn="l">
                        <a:spcBef>
                          <a:spcPts val="0"/>
                        </a:spcBef>
                        <a:spcAft>
                          <a:spcPts val="0"/>
                        </a:spcAft>
                        <a:buClr>
                          <a:schemeClr val="dk1"/>
                        </a:buClr>
                        <a:buSzPts val="2400"/>
                        <a:buFont typeface="Arial"/>
                        <a:buChar char="•"/>
                      </a:pPr>
                      <a:r>
                        <a:rPr lang="en-IN" sz="2400"/>
                        <a:t>100-4 , Rem=1, State S1</a:t>
                      </a:r>
                      <a:endParaRPr/>
                    </a:p>
                  </a:txBody>
                  <a:tcPr marT="45725" marB="45725" marR="91450" marL="91450"/>
                </a:tc>
              </a:tr>
            </a:tbl>
          </a:graphicData>
        </a:graphic>
      </p:graphicFrame>
      <p:sp>
        <p:nvSpPr>
          <p:cNvPr id="1899" name="Google Shape;1899;p152"/>
          <p:cNvSpPr/>
          <p:nvPr/>
        </p:nvSpPr>
        <p:spPr>
          <a:xfrm>
            <a:off x="4829053" y="4300232"/>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A</a:t>
            </a:r>
            <a:endParaRPr sz="1800">
              <a:solidFill>
                <a:schemeClr val="lt1"/>
              </a:solidFill>
              <a:latin typeface="Calibri"/>
              <a:ea typeface="Calibri"/>
              <a:cs typeface="Calibri"/>
              <a:sym typeface="Calibri"/>
            </a:endParaRPr>
          </a:p>
        </p:txBody>
      </p:sp>
      <p:sp>
        <p:nvSpPr>
          <p:cNvPr id="1900" name="Google Shape;1900;p152"/>
          <p:cNvSpPr/>
          <p:nvPr/>
        </p:nvSpPr>
        <p:spPr>
          <a:xfrm>
            <a:off x="6523683" y="4008721"/>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1" name="Google Shape;1901;p152"/>
          <p:cNvSpPr/>
          <p:nvPr/>
        </p:nvSpPr>
        <p:spPr>
          <a:xfrm>
            <a:off x="6667699" y="422474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sp>
        <p:nvSpPr>
          <p:cNvPr id="1902" name="Google Shape;1902;p152"/>
          <p:cNvSpPr/>
          <p:nvPr/>
        </p:nvSpPr>
        <p:spPr>
          <a:xfrm>
            <a:off x="6595361" y="578614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
        <p:nvSpPr>
          <p:cNvPr id="1903" name="Google Shape;1903;p152"/>
          <p:cNvSpPr/>
          <p:nvPr/>
        </p:nvSpPr>
        <p:spPr>
          <a:xfrm>
            <a:off x="8195414" y="573325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cxnSp>
        <p:nvCxnSpPr>
          <p:cNvPr id="1904" name="Google Shape;1904;p152"/>
          <p:cNvCxnSpPr/>
          <p:nvPr/>
        </p:nvCxnSpPr>
        <p:spPr>
          <a:xfrm>
            <a:off x="5765157" y="4660272"/>
            <a:ext cx="758526" cy="0"/>
          </a:xfrm>
          <a:prstGeom prst="straightConnector1">
            <a:avLst/>
          </a:prstGeom>
          <a:noFill/>
          <a:ln cap="flat" cmpd="sng" w="9525">
            <a:solidFill>
              <a:srgbClr val="4A7DBA"/>
            </a:solidFill>
            <a:prstDash val="solid"/>
            <a:round/>
            <a:headEnd len="sm" w="sm" type="none"/>
            <a:tailEnd len="med" w="med" type="stealth"/>
          </a:ln>
        </p:spPr>
      </p:cxnSp>
      <p:sp>
        <p:nvSpPr>
          <p:cNvPr id="1905" name="Google Shape;1905;p152"/>
          <p:cNvSpPr txBox="1"/>
          <p:nvPr/>
        </p:nvSpPr>
        <p:spPr>
          <a:xfrm>
            <a:off x="5940152" y="4283804"/>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906" name="Google Shape;1906;p152"/>
          <p:cNvCxnSpPr/>
          <p:nvPr/>
        </p:nvCxnSpPr>
        <p:spPr>
          <a:xfrm>
            <a:off x="5436096" y="5020312"/>
            <a:ext cx="1159265" cy="928968"/>
          </a:xfrm>
          <a:prstGeom prst="straightConnector1">
            <a:avLst/>
          </a:prstGeom>
          <a:noFill/>
          <a:ln cap="flat" cmpd="sng" w="9525">
            <a:solidFill>
              <a:srgbClr val="4A7DBA"/>
            </a:solidFill>
            <a:prstDash val="solid"/>
            <a:round/>
            <a:headEnd len="sm" w="sm" type="none"/>
            <a:tailEnd len="med" w="med" type="stealth"/>
          </a:ln>
        </p:spPr>
      </p:cxnSp>
      <p:sp>
        <p:nvSpPr>
          <p:cNvPr id="1907" name="Google Shape;1907;p152"/>
          <p:cNvSpPr txBox="1"/>
          <p:nvPr/>
        </p:nvSpPr>
        <p:spPr>
          <a:xfrm>
            <a:off x="5508104" y="529191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1908" name="Google Shape;1908;p152"/>
          <p:cNvCxnSpPr>
            <a:stCxn id="1902" idx="6"/>
          </p:cNvCxnSpPr>
          <p:nvPr/>
        </p:nvCxnSpPr>
        <p:spPr>
          <a:xfrm>
            <a:off x="7531465" y="6146188"/>
            <a:ext cx="663900" cy="0"/>
          </a:xfrm>
          <a:prstGeom prst="straightConnector1">
            <a:avLst/>
          </a:prstGeom>
          <a:noFill/>
          <a:ln cap="flat" cmpd="sng" w="9525">
            <a:solidFill>
              <a:srgbClr val="4A7DBA"/>
            </a:solidFill>
            <a:prstDash val="solid"/>
            <a:round/>
            <a:headEnd len="sm" w="sm" type="none"/>
            <a:tailEnd len="med" w="med" type="stealth"/>
          </a:ln>
        </p:spPr>
      </p:cxnSp>
      <p:sp>
        <p:nvSpPr>
          <p:cNvPr id="1909" name="Google Shape;1909;p152"/>
          <p:cNvSpPr txBox="1"/>
          <p:nvPr/>
        </p:nvSpPr>
        <p:spPr>
          <a:xfrm>
            <a:off x="7668344" y="6165304"/>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910" name="Google Shape;1910;p152"/>
          <p:cNvCxnSpPr>
            <a:stCxn id="1902" idx="0"/>
          </p:cNvCxnSpPr>
          <p:nvPr/>
        </p:nvCxnSpPr>
        <p:spPr>
          <a:xfrm rot="10800000">
            <a:off x="7063413" y="5160948"/>
            <a:ext cx="0" cy="625200"/>
          </a:xfrm>
          <a:prstGeom prst="straightConnector1">
            <a:avLst/>
          </a:prstGeom>
          <a:noFill/>
          <a:ln cap="flat" cmpd="sng" w="9525">
            <a:solidFill>
              <a:srgbClr val="4A7DBA"/>
            </a:solidFill>
            <a:prstDash val="solid"/>
            <a:round/>
            <a:headEnd len="sm" w="sm" type="none"/>
            <a:tailEnd len="med" w="med" type="stealth"/>
          </a:ln>
        </p:spPr>
      </p:cxnSp>
      <p:sp>
        <p:nvSpPr>
          <p:cNvPr id="1911" name="Google Shape;1911;p152"/>
          <p:cNvSpPr txBox="1"/>
          <p:nvPr/>
        </p:nvSpPr>
        <p:spPr>
          <a:xfrm>
            <a:off x="6660232" y="530120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1912" name="Google Shape;1912;p152"/>
          <p:cNvCxnSpPr/>
          <p:nvPr/>
        </p:nvCxnSpPr>
        <p:spPr>
          <a:xfrm rot="10800000">
            <a:off x="7531465" y="5949280"/>
            <a:ext cx="663950" cy="0"/>
          </a:xfrm>
          <a:prstGeom prst="straightConnector1">
            <a:avLst/>
          </a:prstGeom>
          <a:noFill/>
          <a:ln cap="flat" cmpd="sng" w="9525">
            <a:solidFill>
              <a:srgbClr val="4A7DBA"/>
            </a:solidFill>
            <a:prstDash val="solid"/>
            <a:round/>
            <a:headEnd len="sm" w="sm" type="none"/>
            <a:tailEnd len="med" w="med" type="stealth"/>
          </a:ln>
        </p:spPr>
      </p:cxnSp>
      <p:sp>
        <p:nvSpPr>
          <p:cNvPr id="1913" name="Google Shape;1913;p152"/>
          <p:cNvSpPr txBox="1"/>
          <p:nvPr/>
        </p:nvSpPr>
        <p:spPr>
          <a:xfrm>
            <a:off x="7668344" y="566124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8" name="Shape 1918"/>
        <p:cNvGrpSpPr/>
        <p:nvPr/>
      </p:nvGrpSpPr>
      <p:grpSpPr>
        <a:xfrm>
          <a:off x="0" y="0"/>
          <a:ext cx="0" cy="0"/>
          <a:chOff x="0" y="0"/>
          <a:chExt cx="0" cy="0"/>
        </a:xfrm>
      </p:grpSpPr>
      <p:sp>
        <p:nvSpPr>
          <p:cNvPr id="1919" name="Google Shape;1919;p1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920" name="Google Shape;1920;p1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921" name="Google Shape;1921;p1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922" name="Google Shape;1922;p1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923" name="Google Shape;1923;p153"/>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7</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Binary –Decimal =&gt;</a:t>
                      </a:r>
                      <a:endParaRPr/>
                    </a:p>
                    <a:p>
                      <a:pPr indent="-342900" lvl="0" marL="342900" marR="0" rtl="0" algn="l">
                        <a:spcBef>
                          <a:spcPts val="0"/>
                        </a:spcBef>
                        <a:spcAft>
                          <a:spcPts val="0"/>
                        </a:spcAft>
                        <a:buClr>
                          <a:schemeClr val="dk1"/>
                        </a:buClr>
                        <a:buSzPts val="2400"/>
                        <a:buFont typeface="Arial"/>
                        <a:buChar char="•"/>
                      </a:pPr>
                      <a:r>
                        <a:rPr lang="en-IN" sz="2400"/>
                        <a:t>101-5 , Rem=2, State S2</a:t>
                      </a:r>
                      <a:endParaRPr/>
                    </a:p>
                  </a:txBody>
                  <a:tcPr marT="45725" marB="45725" marR="91450" marL="91450"/>
                </a:tc>
              </a:tr>
            </a:tbl>
          </a:graphicData>
        </a:graphic>
      </p:graphicFrame>
      <p:sp>
        <p:nvSpPr>
          <p:cNvPr id="1924" name="Google Shape;1924;p153"/>
          <p:cNvSpPr/>
          <p:nvPr/>
        </p:nvSpPr>
        <p:spPr>
          <a:xfrm>
            <a:off x="4829053" y="4300232"/>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A</a:t>
            </a:r>
            <a:endParaRPr sz="1800">
              <a:solidFill>
                <a:schemeClr val="lt1"/>
              </a:solidFill>
              <a:latin typeface="Calibri"/>
              <a:ea typeface="Calibri"/>
              <a:cs typeface="Calibri"/>
              <a:sym typeface="Calibri"/>
            </a:endParaRPr>
          </a:p>
        </p:txBody>
      </p:sp>
      <p:sp>
        <p:nvSpPr>
          <p:cNvPr id="1925" name="Google Shape;1925;p153"/>
          <p:cNvSpPr/>
          <p:nvPr/>
        </p:nvSpPr>
        <p:spPr>
          <a:xfrm>
            <a:off x="6523683" y="4008721"/>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6" name="Google Shape;1926;p153"/>
          <p:cNvSpPr/>
          <p:nvPr/>
        </p:nvSpPr>
        <p:spPr>
          <a:xfrm>
            <a:off x="6667699" y="422474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sp>
        <p:nvSpPr>
          <p:cNvPr id="1927" name="Google Shape;1927;p153"/>
          <p:cNvSpPr/>
          <p:nvPr/>
        </p:nvSpPr>
        <p:spPr>
          <a:xfrm>
            <a:off x="6595361" y="578614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
        <p:nvSpPr>
          <p:cNvPr id="1928" name="Google Shape;1928;p153"/>
          <p:cNvSpPr/>
          <p:nvPr/>
        </p:nvSpPr>
        <p:spPr>
          <a:xfrm>
            <a:off x="8195414" y="573325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cxnSp>
        <p:nvCxnSpPr>
          <p:cNvPr id="1929" name="Google Shape;1929;p153"/>
          <p:cNvCxnSpPr/>
          <p:nvPr/>
        </p:nvCxnSpPr>
        <p:spPr>
          <a:xfrm>
            <a:off x="5765157" y="4660272"/>
            <a:ext cx="758526" cy="0"/>
          </a:xfrm>
          <a:prstGeom prst="straightConnector1">
            <a:avLst/>
          </a:prstGeom>
          <a:noFill/>
          <a:ln cap="flat" cmpd="sng" w="9525">
            <a:solidFill>
              <a:srgbClr val="4A7DBA"/>
            </a:solidFill>
            <a:prstDash val="solid"/>
            <a:round/>
            <a:headEnd len="sm" w="sm" type="none"/>
            <a:tailEnd len="med" w="med" type="stealth"/>
          </a:ln>
        </p:spPr>
      </p:cxnSp>
      <p:sp>
        <p:nvSpPr>
          <p:cNvPr id="1930" name="Google Shape;1930;p153"/>
          <p:cNvSpPr txBox="1"/>
          <p:nvPr/>
        </p:nvSpPr>
        <p:spPr>
          <a:xfrm>
            <a:off x="5940152" y="4283804"/>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931" name="Google Shape;1931;p153"/>
          <p:cNvCxnSpPr/>
          <p:nvPr/>
        </p:nvCxnSpPr>
        <p:spPr>
          <a:xfrm>
            <a:off x="5436096" y="5020312"/>
            <a:ext cx="1159265" cy="928968"/>
          </a:xfrm>
          <a:prstGeom prst="straightConnector1">
            <a:avLst/>
          </a:prstGeom>
          <a:noFill/>
          <a:ln cap="flat" cmpd="sng" w="9525">
            <a:solidFill>
              <a:srgbClr val="4A7DBA"/>
            </a:solidFill>
            <a:prstDash val="solid"/>
            <a:round/>
            <a:headEnd len="sm" w="sm" type="none"/>
            <a:tailEnd len="med" w="med" type="stealth"/>
          </a:ln>
        </p:spPr>
      </p:cxnSp>
      <p:sp>
        <p:nvSpPr>
          <p:cNvPr id="1932" name="Google Shape;1932;p153"/>
          <p:cNvSpPr txBox="1"/>
          <p:nvPr/>
        </p:nvSpPr>
        <p:spPr>
          <a:xfrm>
            <a:off x="5508104" y="529191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1933" name="Google Shape;1933;p153"/>
          <p:cNvCxnSpPr>
            <a:stCxn id="1927" idx="6"/>
          </p:cNvCxnSpPr>
          <p:nvPr/>
        </p:nvCxnSpPr>
        <p:spPr>
          <a:xfrm>
            <a:off x="7531465" y="6146188"/>
            <a:ext cx="663900" cy="0"/>
          </a:xfrm>
          <a:prstGeom prst="straightConnector1">
            <a:avLst/>
          </a:prstGeom>
          <a:noFill/>
          <a:ln cap="flat" cmpd="sng" w="9525">
            <a:solidFill>
              <a:srgbClr val="4A7DBA"/>
            </a:solidFill>
            <a:prstDash val="solid"/>
            <a:round/>
            <a:headEnd len="sm" w="sm" type="none"/>
            <a:tailEnd len="med" w="med" type="stealth"/>
          </a:ln>
        </p:spPr>
      </p:cxnSp>
      <p:sp>
        <p:nvSpPr>
          <p:cNvPr id="1934" name="Google Shape;1934;p153"/>
          <p:cNvSpPr txBox="1"/>
          <p:nvPr/>
        </p:nvSpPr>
        <p:spPr>
          <a:xfrm>
            <a:off x="7668344" y="6165304"/>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935" name="Google Shape;1935;p153"/>
          <p:cNvCxnSpPr>
            <a:stCxn id="1927" idx="0"/>
          </p:cNvCxnSpPr>
          <p:nvPr/>
        </p:nvCxnSpPr>
        <p:spPr>
          <a:xfrm rot="10800000">
            <a:off x="7063413" y="5160948"/>
            <a:ext cx="0" cy="625200"/>
          </a:xfrm>
          <a:prstGeom prst="straightConnector1">
            <a:avLst/>
          </a:prstGeom>
          <a:noFill/>
          <a:ln cap="flat" cmpd="sng" w="9525">
            <a:solidFill>
              <a:srgbClr val="4A7DBA"/>
            </a:solidFill>
            <a:prstDash val="solid"/>
            <a:round/>
            <a:headEnd len="sm" w="sm" type="none"/>
            <a:tailEnd len="med" w="med" type="stealth"/>
          </a:ln>
        </p:spPr>
      </p:cxnSp>
      <p:sp>
        <p:nvSpPr>
          <p:cNvPr id="1936" name="Google Shape;1936;p153"/>
          <p:cNvSpPr txBox="1"/>
          <p:nvPr/>
        </p:nvSpPr>
        <p:spPr>
          <a:xfrm>
            <a:off x="6660232" y="530120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1937" name="Google Shape;1937;p153"/>
          <p:cNvCxnSpPr/>
          <p:nvPr/>
        </p:nvCxnSpPr>
        <p:spPr>
          <a:xfrm rot="10800000">
            <a:off x="7531465" y="5949280"/>
            <a:ext cx="663950" cy="0"/>
          </a:xfrm>
          <a:prstGeom prst="straightConnector1">
            <a:avLst/>
          </a:prstGeom>
          <a:noFill/>
          <a:ln cap="flat" cmpd="sng" w="9525">
            <a:solidFill>
              <a:srgbClr val="4A7DBA"/>
            </a:solidFill>
            <a:prstDash val="solid"/>
            <a:round/>
            <a:headEnd len="sm" w="sm" type="none"/>
            <a:tailEnd len="med" w="med" type="stealth"/>
          </a:ln>
        </p:spPr>
      </p:cxnSp>
      <p:sp>
        <p:nvSpPr>
          <p:cNvPr id="1938" name="Google Shape;1938;p153"/>
          <p:cNvSpPr txBox="1"/>
          <p:nvPr/>
        </p:nvSpPr>
        <p:spPr>
          <a:xfrm>
            <a:off x="7668344" y="566124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1939" name="Google Shape;1939;p153"/>
          <p:cNvSpPr/>
          <p:nvPr/>
        </p:nvSpPr>
        <p:spPr>
          <a:xfrm>
            <a:off x="8388424" y="5160849"/>
            <a:ext cx="648072" cy="572407"/>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40" name="Google Shape;1940;p153"/>
          <p:cNvSpPr txBox="1"/>
          <p:nvPr/>
        </p:nvSpPr>
        <p:spPr>
          <a:xfrm>
            <a:off x="8460432" y="4797152"/>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5" name="Shape 1945"/>
        <p:cNvGrpSpPr/>
        <p:nvPr/>
      </p:nvGrpSpPr>
      <p:grpSpPr>
        <a:xfrm>
          <a:off x="0" y="0"/>
          <a:ext cx="0" cy="0"/>
          <a:chOff x="0" y="0"/>
          <a:chExt cx="0" cy="0"/>
        </a:xfrm>
      </p:grpSpPr>
      <p:sp>
        <p:nvSpPr>
          <p:cNvPr id="1946" name="Google Shape;1946;p1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947" name="Google Shape;1947;p1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948" name="Google Shape;1948;p1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949" name="Google Shape;1949;p1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950" name="Google Shape;1950;p154"/>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7</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Binary –Decimal =&gt;</a:t>
                      </a:r>
                      <a:endParaRPr/>
                    </a:p>
                    <a:p>
                      <a:pPr indent="-342900" lvl="0" marL="342900" marR="0" rtl="0" algn="l">
                        <a:spcBef>
                          <a:spcPts val="0"/>
                        </a:spcBef>
                        <a:spcAft>
                          <a:spcPts val="0"/>
                        </a:spcAft>
                        <a:buClr>
                          <a:schemeClr val="dk1"/>
                        </a:buClr>
                        <a:buSzPts val="2400"/>
                        <a:buFont typeface="Arial"/>
                        <a:buChar char="•"/>
                      </a:pPr>
                      <a:r>
                        <a:rPr lang="en-IN" sz="2400"/>
                        <a:t>110-6 , Rem=0, State S0</a:t>
                      </a:r>
                      <a:endParaRPr/>
                    </a:p>
                  </a:txBody>
                  <a:tcPr marT="45725" marB="45725" marR="91450" marL="91450"/>
                </a:tc>
              </a:tr>
            </a:tbl>
          </a:graphicData>
        </a:graphic>
      </p:graphicFrame>
      <p:sp>
        <p:nvSpPr>
          <p:cNvPr id="1951" name="Google Shape;1951;p154"/>
          <p:cNvSpPr/>
          <p:nvPr/>
        </p:nvSpPr>
        <p:spPr>
          <a:xfrm>
            <a:off x="4829053" y="4300232"/>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A</a:t>
            </a:r>
            <a:endParaRPr sz="1800">
              <a:solidFill>
                <a:schemeClr val="lt1"/>
              </a:solidFill>
              <a:latin typeface="Calibri"/>
              <a:ea typeface="Calibri"/>
              <a:cs typeface="Calibri"/>
              <a:sym typeface="Calibri"/>
            </a:endParaRPr>
          </a:p>
        </p:txBody>
      </p:sp>
      <p:sp>
        <p:nvSpPr>
          <p:cNvPr id="1952" name="Google Shape;1952;p154"/>
          <p:cNvSpPr/>
          <p:nvPr/>
        </p:nvSpPr>
        <p:spPr>
          <a:xfrm>
            <a:off x="6523683" y="4008721"/>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3" name="Google Shape;1953;p154"/>
          <p:cNvSpPr/>
          <p:nvPr/>
        </p:nvSpPr>
        <p:spPr>
          <a:xfrm>
            <a:off x="6667699" y="422474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sp>
        <p:nvSpPr>
          <p:cNvPr id="1954" name="Google Shape;1954;p154"/>
          <p:cNvSpPr/>
          <p:nvPr/>
        </p:nvSpPr>
        <p:spPr>
          <a:xfrm>
            <a:off x="6595361" y="578614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
        <p:nvSpPr>
          <p:cNvPr id="1955" name="Google Shape;1955;p154"/>
          <p:cNvSpPr/>
          <p:nvPr/>
        </p:nvSpPr>
        <p:spPr>
          <a:xfrm>
            <a:off x="8195414" y="573325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cxnSp>
        <p:nvCxnSpPr>
          <p:cNvPr id="1956" name="Google Shape;1956;p154"/>
          <p:cNvCxnSpPr/>
          <p:nvPr/>
        </p:nvCxnSpPr>
        <p:spPr>
          <a:xfrm>
            <a:off x="5765157" y="4660272"/>
            <a:ext cx="758526" cy="0"/>
          </a:xfrm>
          <a:prstGeom prst="straightConnector1">
            <a:avLst/>
          </a:prstGeom>
          <a:noFill/>
          <a:ln cap="flat" cmpd="sng" w="9525">
            <a:solidFill>
              <a:srgbClr val="4A7DBA"/>
            </a:solidFill>
            <a:prstDash val="solid"/>
            <a:round/>
            <a:headEnd len="sm" w="sm" type="none"/>
            <a:tailEnd len="med" w="med" type="stealth"/>
          </a:ln>
        </p:spPr>
      </p:cxnSp>
      <p:sp>
        <p:nvSpPr>
          <p:cNvPr id="1957" name="Google Shape;1957;p154"/>
          <p:cNvSpPr txBox="1"/>
          <p:nvPr/>
        </p:nvSpPr>
        <p:spPr>
          <a:xfrm>
            <a:off x="5940152" y="4283804"/>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958" name="Google Shape;1958;p154"/>
          <p:cNvCxnSpPr/>
          <p:nvPr/>
        </p:nvCxnSpPr>
        <p:spPr>
          <a:xfrm>
            <a:off x="5436096" y="5020312"/>
            <a:ext cx="1159265" cy="928968"/>
          </a:xfrm>
          <a:prstGeom prst="straightConnector1">
            <a:avLst/>
          </a:prstGeom>
          <a:noFill/>
          <a:ln cap="flat" cmpd="sng" w="9525">
            <a:solidFill>
              <a:srgbClr val="4A7DBA"/>
            </a:solidFill>
            <a:prstDash val="solid"/>
            <a:round/>
            <a:headEnd len="sm" w="sm" type="none"/>
            <a:tailEnd len="med" w="med" type="stealth"/>
          </a:ln>
        </p:spPr>
      </p:cxnSp>
      <p:sp>
        <p:nvSpPr>
          <p:cNvPr id="1959" name="Google Shape;1959;p154"/>
          <p:cNvSpPr txBox="1"/>
          <p:nvPr/>
        </p:nvSpPr>
        <p:spPr>
          <a:xfrm>
            <a:off x="5508104" y="529191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1960" name="Google Shape;1960;p154"/>
          <p:cNvCxnSpPr>
            <a:stCxn id="1954" idx="6"/>
          </p:cNvCxnSpPr>
          <p:nvPr/>
        </p:nvCxnSpPr>
        <p:spPr>
          <a:xfrm>
            <a:off x="7531465" y="6146188"/>
            <a:ext cx="663900" cy="0"/>
          </a:xfrm>
          <a:prstGeom prst="straightConnector1">
            <a:avLst/>
          </a:prstGeom>
          <a:noFill/>
          <a:ln cap="flat" cmpd="sng" w="9525">
            <a:solidFill>
              <a:srgbClr val="4A7DBA"/>
            </a:solidFill>
            <a:prstDash val="solid"/>
            <a:round/>
            <a:headEnd len="sm" w="sm" type="none"/>
            <a:tailEnd len="med" w="med" type="stealth"/>
          </a:ln>
        </p:spPr>
      </p:cxnSp>
      <p:sp>
        <p:nvSpPr>
          <p:cNvPr id="1961" name="Google Shape;1961;p154"/>
          <p:cNvSpPr txBox="1"/>
          <p:nvPr/>
        </p:nvSpPr>
        <p:spPr>
          <a:xfrm>
            <a:off x="7668344" y="6165304"/>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962" name="Google Shape;1962;p154"/>
          <p:cNvCxnSpPr>
            <a:stCxn id="1954" idx="0"/>
          </p:cNvCxnSpPr>
          <p:nvPr/>
        </p:nvCxnSpPr>
        <p:spPr>
          <a:xfrm rot="10800000">
            <a:off x="7063413" y="5160948"/>
            <a:ext cx="0" cy="625200"/>
          </a:xfrm>
          <a:prstGeom prst="straightConnector1">
            <a:avLst/>
          </a:prstGeom>
          <a:noFill/>
          <a:ln cap="flat" cmpd="sng" w="9525">
            <a:solidFill>
              <a:srgbClr val="4A7DBA"/>
            </a:solidFill>
            <a:prstDash val="solid"/>
            <a:round/>
            <a:headEnd len="sm" w="sm" type="none"/>
            <a:tailEnd len="med" w="med" type="stealth"/>
          </a:ln>
        </p:spPr>
      </p:cxnSp>
      <p:sp>
        <p:nvSpPr>
          <p:cNvPr id="1963" name="Google Shape;1963;p154"/>
          <p:cNvSpPr txBox="1"/>
          <p:nvPr/>
        </p:nvSpPr>
        <p:spPr>
          <a:xfrm>
            <a:off x="6660232" y="530120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1964" name="Google Shape;1964;p154"/>
          <p:cNvCxnSpPr/>
          <p:nvPr/>
        </p:nvCxnSpPr>
        <p:spPr>
          <a:xfrm rot="10800000">
            <a:off x="7531465" y="5949280"/>
            <a:ext cx="663950" cy="0"/>
          </a:xfrm>
          <a:prstGeom prst="straightConnector1">
            <a:avLst/>
          </a:prstGeom>
          <a:noFill/>
          <a:ln cap="flat" cmpd="sng" w="9525">
            <a:solidFill>
              <a:srgbClr val="4A7DBA"/>
            </a:solidFill>
            <a:prstDash val="solid"/>
            <a:round/>
            <a:headEnd len="sm" w="sm" type="none"/>
            <a:tailEnd len="med" w="med" type="stealth"/>
          </a:ln>
        </p:spPr>
      </p:cxnSp>
      <p:sp>
        <p:nvSpPr>
          <p:cNvPr id="1965" name="Google Shape;1965;p154"/>
          <p:cNvSpPr txBox="1"/>
          <p:nvPr/>
        </p:nvSpPr>
        <p:spPr>
          <a:xfrm>
            <a:off x="7668344" y="566124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1966" name="Google Shape;1966;p154"/>
          <p:cNvSpPr/>
          <p:nvPr/>
        </p:nvSpPr>
        <p:spPr>
          <a:xfrm>
            <a:off x="8388424" y="5160849"/>
            <a:ext cx="648072" cy="572407"/>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67" name="Google Shape;1967;p154"/>
          <p:cNvSpPr txBox="1"/>
          <p:nvPr/>
        </p:nvSpPr>
        <p:spPr>
          <a:xfrm>
            <a:off x="8460432" y="4797152"/>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1968" name="Google Shape;1968;p154"/>
          <p:cNvSpPr/>
          <p:nvPr/>
        </p:nvSpPr>
        <p:spPr>
          <a:xfrm>
            <a:off x="6804248" y="3432657"/>
            <a:ext cx="648072" cy="572407"/>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69" name="Google Shape;1969;p154"/>
          <p:cNvSpPr txBox="1"/>
          <p:nvPr/>
        </p:nvSpPr>
        <p:spPr>
          <a:xfrm>
            <a:off x="7380312" y="349171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4" name="Shape 1974"/>
        <p:cNvGrpSpPr/>
        <p:nvPr/>
      </p:nvGrpSpPr>
      <p:grpSpPr>
        <a:xfrm>
          <a:off x="0" y="0"/>
          <a:ext cx="0" cy="0"/>
          <a:chOff x="0" y="0"/>
          <a:chExt cx="0" cy="0"/>
        </a:xfrm>
      </p:grpSpPr>
      <p:sp>
        <p:nvSpPr>
          <p:cNvPr id="1975" name="Google Shape;1975;p1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1976" name="Google Shape;1976;p1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1977" name="Google Shape;1977;p1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1978" name="Google Shape;1978;p1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979" name="Google Shape;1979;p155"/>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7</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Binary –Decimal =&gt;</a:t>
                      </a:r>
                      <a:endParaRPr/>
                    </a:p>
                    <a:p>
                      <a:pPr indent="-342900" lvl="0" marL="342900" marR="0" rtl="0" algn="l">
                        <a:spcBef>
                          <a:spcPts val="0"/>
                        </a:spcBef>
                        <a:spcAft>
                          <a:spcPts val="0"/>
                        </a:spcAft>
                        <a:buClr>
                          <a:schemeClr val="dk1"/>
                        </a:buClr>
                        <a:buSzPts val="2400"/>
                        <a:buFont typeface="Arial"/>
                        <a:buChar char="•"/>
                      </a:pPr>
                      <a:r>
                        <a:rPr lang="en-IN" sz="2400"/>
                        <a:t>111-7 , Rem=1, State S1</a:t>
                      </a:r>
                      <a:endParaRPr/>
                    </a:p>
                  </a:txBody>
                  <a:tcPr marT="45725" marB="45725" marR="91450" marL="91450"/>
                </a:tc>
              </a:tr>
            </a:tbl>
          </a:graphicData>
        </a:graphic>
      </p:graphicFrame>
      <p:sp>
        <p:nvSpPr>
          <p:cNvPr id="1980" name="Google Shape;1980;p155"/>
          <p:cNvSpPr/>
          <p:nvPr/>
        </p:nvSpPr>
        <p:spPr>
          <a:xfrm>
            <a:off x="4829053" y="4300232"/>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A</a:t>
            </a:r>
            <a:endParaRPr sz="1800">
              <a:solidFill>
                <a:schemeClr val="lt1"/>
              </a:solidFill>
              <a:latin typeface="Calibri"/>
              <a:ea typeface="Calibri"/>
              <a:cs typeface="Calibri"/>
              <a:sym typeface="Calibri"/>
            </a:endParaRPr>
          </a:p>
        </p:txBody>
      </p:sp>
      <p:sp>
        <p:nvSpPr>
          <p:cNvPr id="1981" name="Google Shape;1981;p155"/>
          <p:cNvSpPr/>
          <p:nvPr/>
        </p:nvSpPr>
        <p:spPr>
          <a:xfrm>
            <a:off x="6523683" y="4008721"/>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2" name="Google Shape;1982;p155"/>
          <p:cNvSpPr/>
          <p:nvPr/>
        </p:nvSpPr>
        <p:spPr>
          <a:xfrm>
            <a:off x="6667699" y="422474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sp>
        <p:nvSpPr>
          <p:cNvPr id="1983" name="Google Shape;1983;p155"/>
          <p:cNvSpPr/>
          <p:nvPr/>
        </p:nvSpPr>
        <p:spPr>
          <a:xfrm>
            <a:off x="6595361" y="578614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
        <p:nvSpPr>
          <p:cNvPr id="1984" name="Google Shape;1984;p155"/>
          <p:cNvSpPr/>
          <p:nvPr/>
        </p:nvSpPr>
        <p:spPr>
          <a:xfrm>
            <a:off x="8195414" y="573325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cxnSp>
        <p:nvCxnSpPr>
          <p:cNvPr id="1985" name="Google Shape;1985;p155"/>
          <p:cNvCxnSpPr/>
          <p:nvPr/>
        </p:nvCxnSpPr>
        <p:spPr>
          <a:xfrm>
            <a:off x="5765157" y="4660272"/>
            <a:ext cx="758526" cy="0"/>
          </a:xfrm>
          <a:prstGeom prst="straightConnector1">
            <a:avLst/>
          </a:prstGeom>
          <a:noFill/>
          <a:ln cap="flat" cmpd="sng" w="9525">
            <a:solidFill>
              <a:srgbClr val="4A7DBA"/>
            </a:solidFill>
            <a:prstDash val="solid"/>
            <a:round/>
            <a:headEnd len="sm" w="sm" type="none"/>
            <a:tailEnd len="med" w="med" type="stealth"/>
          </a:ln>
        </p:spPr>
      </p:cxnSp>
      <p:sp>
        <p:nvSpPr>
          <p:cNvPr id="1986" name="Google Shape;1986;p155"/>
          <p:cNvSpPr txBox="1"/>
          <p:nvPr/>
        </p:nvSpPr>
        <p:spPr>
          <a:xfrm>
            <a:off x="5940152" y="4283804"/>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987" name="Google Shape;1987;p155"/>
          <p:cNvCxnSpPr/>
          <p:nvPr/>
        </p:nvCxnSpPr>
        <p:spPr>
          <a:xfrm>
            <a:off x="5436096" y="5020312"/>
            <a:ext cx="1159265" cy="928968"/>
          </a:xfrm>
          <a:prstGeom prst="straightConnector1">
            <a:avLst/>
          </a:prstGeom>
          <a:noFill/>
          <a:ln cap="flat" cmpd="sng" w="9525">
            <a:solidFill>
              <a:srgbClr val="4A7DBA"/>
            </a:solidFill>
            <a:prstDash val="solid"/>
            <a:round/>
            <a:headEnd len="sm" w="sm" type="none"/>
            <a:tailEnd len="med" w="med" type="stealth"/>
          </a:ln>
        </p:spPr>
      </p:cxnSp>
      <p:sp>
        <p:nvSpPr>
          <p:cNvPr id="1988" name="Google Shape;1988;p155"/>
          <p:cNvSpPr txBox="1"/>
          <p:nvPr/>
        </p:nvSpPr>
        <p:spPr>
          <a:xfrm>
            <a:off x="5508104" y="529191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1989" name="Google Shape;1989;p155"/>
          <p:cNvCxnSpPr>
            <a:stCxn id="1983" idx="6"/>
          </p:cNvCxnSpPr>
          <p:nvPr/>
        </p:nvCxnSpPr>
        <p:spPr>
          <a:xfrm>
            <a:off x="7531465" y="6146188"/>
            <a:ext cx="663900" cy="0"/>
          </a:xfrm>
          <a:prstGeom prst="straightConnector1">
            <a:avLst/>
          </a:prstGeom>
          <a:noFill/>
          <a:ln cap="flat" cmpd="sng" w="9525">
            <a:solidFill>
              <a:srgbClr val="4A7DBA"/>
            </a:solidFill>
            <a:prstDash val="solid"/>
            <a:round/>
            <a:headEnd len="sm" w="sm" type="none"/>
            <a:tailEnd len="med" w="med" type="stealth"/>
          </a:ln>
        </p:spPr>
      </p:cxnSp>
      <p:sp>
        <p:nvSpPr>
          <p:cNvPr id="1990" name="Google Shape;1990;p155"/>
          <p:cNvSpPr txBox="1"/>
          <p:nvPr/>
        </p:nvSpPr>
        <p:spPr>
          <a:xfrm>
            <a:off x="7668344" y="6165304"/>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991" name="Google Shape;1991;p155"/>
          <p:cNvCxnSpPr>
            <a:stCxn id="1983" idx="0"/>
          </p:cNvCxnSpPr>
          <p:nvPr/>
        </p:nvCxnSpPr>
        <p:spPr>
          <a:xfrm rot="10800000">
            <a:off x="7063413" y="5160948"/>
            <a:ext cx="0" cy="625200"/>
          </a:xfrm>
          <a:prstGeom prst="straightConnector1">
            <a:avLst/>
          </a:prstGeom>
          <a:noFill/>
          <a:ln cap="flat" cmpd="sng" w="9525">
            <a:solidFill>
              <a:srgbClr val="4A7DBA"/>
            </a:solidFill>
            <a:prstDash val="solid"/>
            <a:round/>
            <a:headEnd len="sm" w="sm" type="none"/>
            <a:tailEnd len="med" w="med" type="stealth"/>
          </a:ln>
        </p:spPr>
      </p:cxnSp>
      <p:sp>
        <p:nvSpPr>
          <p:cNvPr id="1992" name="Google Shape;1992;p155"/>
          <p:cNvSpPr txBox="1"/>
          <p:nvPr/>
        </p:nvSpPr>
        <p:spPr>
          <a:xfrm>
            <a:off x="6660232" y="530120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1993" name="Google Shape;1993;p155"/>
          <p:cNvCxnSpPr/>
          <p:nvPr/>
        </p:nvCxnSpPr>
        <p:spPr>
          <a:xfrm rot="10800000">
            <a:off x="7531465" y="5949280"/>
            <a:ext cx="663950" cy="0"/>
          </a:xfrm>
          <a:prstGeom prst="straightConnector1">
            <a:avLst/>
          </a:prstGeom>
          <a:noFill/>
          <a:ln cap="flat" cmpd="sng" w="9525">
            <a:solidFill>
              <a:srgbClr val="4A7DBA"/>
            </a:solidFill>
            <a:prstDash val="solid"/>
            <a:round/>
            <a:headEnd len="sm" w="sm" type="none"/>
            <a:tailEnd len="med" w="med" type="stealth"/>
          </a:ln>
        </p:spPr>
      </p:cxnSp>
      <p:sp>
        <p:nvSpPr>
          <p:cNvPr id="1994" name="Google Shape;1994;p155"/>
          <p:cNvSpPr txBox="1"/>
          <p:nvPr/>
        </p:nvSpPr>
        <p:spPr>
          <a:xfrm>
            <a:off x="7668344" y="566124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1995" name="Google Shape;1995;p155"/>
          <p:cNvSpPr/>
          <p:nvPr/>
        </p:nvSpPr>
        <p:spPr>
          <a:xfrm>
            <a:off x="8388424" y="5160849"/>
            <a:ext cx="648072" cy="572407"/>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96" name="Google Shape;1996;p155"/>
          <p:cNvSpPr txBox="1"/>
          <p:nvPr/>
        </p:nvSpPr>
        <p:spPr>
          <a:xfrm>
            <a:off x="8460432" y="4797152"/>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1997" name="Google Shape;1997;p155"/>
          <p:cNvSpPr/>
          <p:nvPr/>
        </p:nvSpPr>
        <p:spPr>
          <a:xfrm>
            <a:off x="6804248" y="3432657"/>
            <a:ext cx="648072" cy="572407"/>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98" name="Google Shape;1998;p155"/>
          <p:cNvSpPr txBox="1"/>
          <p:nvPr/>
        </p:nvSpPr>
        <p:spPr>
          <a:xfrm>
            <a:off x="7380312" y="349171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1999" name="Google Shape;1999;p155"/>
          <p:cNvCxnSpPr/>
          <p:nvPr/>
        </p:nvCxnSpPr>
        <p:spPr>
          <a:xfrm>
            <a:off x="7236296" y="5160849"/>
            <a:ext cx="0" cy="625299"/>
          </a:xfrm>
          <a:prstGeom prst="straightConnector1">
            <a:avLst/>
          </a:prstGeom>
          <a:noFill/>
          <a:ln cap="flat" cmpd="sng" w="9525">
            <a:solidFill>
              <a:srgbClr val="4A7DBA"/>
            </a:solidFill>
            <a:prstDash val="solid"/>
            <a:round/>
            <a:headEnd len="sm" w="sm" type="none"/>
            <a:tailEnd len="med" w="med" type="stealth"/>
          </a:ln>
        </p:spPr>
      </p:cxnSp>
      <p:sp>
        <p:nvSpPr>
          <p:cNvPr id="2000" name="Google Shape;2000;p155"/>
          <p:cNvSpPr txBox="1"/>
          <p:nvPr/>
        </p:nvSpPr>
        <p:spPr>
          <a:xfrm>
            <a:off x="7308304" y="530120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5" name="Shape 2005"/>
        <p:cNvGrpSpPr/>
        <p:nvPr/>
      </p:nvGrpSpPr>
      <p:grpSpPr>
        <a:xfrm>
          <a:off x="0" y="0"/>
          <a:ext cx="0" cy="0"/>
          <a:chOff x="0" y="0"/>
          <a:chExt cx="0" cy="0"/>
        </a:xfrm>
      </p:grpSpPr>
      <p:sp>
        <p:nvSpPr>
          <p:cNvPr id="2006" name="Google Shape;2006;p1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007" name="Google Shape;2007;p1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008" name="Google Shape;2008;p1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009" name="Google Shape;2009;p1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010" name="Google Shape;2010;p156"/>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7</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For any Bigger Number</a:t>
                      </a:r>
                      <a:endParaRPr/>
                    </a:p>
                    <a:p>
                      <a:pPr indent="-342900" lvl="0" marL="342900" marR="0" rtl="0" algn="l">
                        <a:spcBef>
                          <a:spcPts val="0"/>
                        </a:spcBef>
                        <a:spcAft>
                          <a:spcPts val="0"/>
                        </a:spcAft>
                        <a:buClr>
                          <a:schemeClr val="dk1"/>
                        </a:buClr>
                        <a:buSzPts val="2400"/>
                        <a:buFont typeface="Arial"/>
                        <a:buChar char="•"/>
                      </a:pPr>
                      <a:r>
                        <a:rPr lang="en-IN" sz="2400"/>
                        <a:t>Binary –Decimal =&gt;</a:t>
                      </a:r>
                      <a:endParaRPr/>
                    </a:p>
                    <a:p>
                      <a:pPr indent="-342900" lvl="0" marL="342900" marR="0" rtl="0" algn="l">
                        <a:spcBef>
                          <a:spcPts val="0"/>
                        </a:spcBef>
                        <a:spcAft>
                          <a:spcPts val="0"/>
                        </a:spcAft>
                        <a:buClr>
                          <a:schemeClr val="dk1"/>
                        </a:buClr>
                        <a:buSzPts val="2400"/>
                        <a:buFont typeface="Arial"/>
                        <a:buChar char="•"/>
                      </a:pPr>
                      <a:r>
                        <a:rPr lang="en-IN" sz="2400"/>
                        <a:t>10111-23 , Rem=2, State S2</a:t>
                      </a:r>
                      <a:endParaRPr/>
                    </a:p>
                    <a:p>
                      <a:pPr indent="-342900" lvl="0" marL="342900" marR="0" rtl="0" algn="l">
                        <a:spcBef>
                          <a:spcPts val="0"/>
                        </a:spcBef>
                        <a:spcAft>
                          <a:spcPts val="0"/>
                        </a:spcAft>
                        <a:buClr>
                          <a:schemeClr val="dk1"/>
                        </a:buClr>
                        <a:buSzPts val="2400"/>
                        <a:buFont typeface="Arial"/>
                        <a:buChar char="•"/>
                      </a:pPr>
                      <a:r>
                        <a:rPr lang="en-IN" sz="2400"/>
                        <a:t>Yes, Satisfied</a:t>
                      </a:r>
                      <a:endParaRPr/>
                    </a:p>
                  </a:txBody>
                  <a:tcPr marT="45725" marB="45725" marR="91450" marL="91450"/>
                </a:tc>
              </a:tr>
            </a:tbl>
          </a:graphicData>
        </a:graphic>
      </p:graphicFrame>
      <p:sp>
        <p:nvSpPr>
          <p:cNvPr id="2011" name="Google Shape;2011;p156"/>
          <p:cNvSpPr/>
          <p:nvPr/>
        </p:nvSpPr>
        <p:spPr>
          <a:xfrm>
            <a:off x="4829053" y="4300232"/>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A</a:t>
            </a:r>
            <a:endParaRPr sz="1800">
              <a:solidFill>
                <a:schemeClr val="lt1"/>
              </a:solidFill>
              <a:latin typeface="Calibri"/>
              <a:ea typeface="Calibri"/>
              <a:cs typeface="Calibri"/>
              <a:sym typeface="Calibri"/>
            </a:endParaRPr>
          </a:p>
        </p:txBody>
      </p:sp>
      <p:sp>
        <p:nvSpPr>
          <p:cNvPr id="2012" name="Google Shape;2012;p156"/>
          <p:cNvSpPr/>
          <p:nvPr/>
        </p:nvSpPr>
        <p:spPr>
          <a:xfrm>
            <a:off x="6523683" y="4008721"/>
            <a:ext cx="1224136" cy="1152128"/>
          </a:xfrm>
          <a:prstGeom prst="ellipse">
            <a:avLst/>
          </a:prstGeom>
          <a:solidFill>
            <a:srgbClr val="FFC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3" name="Google Shape;2013;p156"/>
          <p:cNvSpPr/>
          <p:nvPr/>
        </p:nvSpPr>
        <p:spPr>
          <a:xfrm>
            <a:off x="6667699" y="422474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sp>
        <p:nvSpPr>
          <p:cNvPr id="2014" name="Google Shape;2014;p156"/>
          <p:cNvSpPr/>
          <p:nvPr/>
        </p:nvSpPr>
        <p:spPr>
          <a:xfrm>
            <a:off x="6595361" y="578614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sp>
        <p:nvSpPr>
          <p:cNvPr id="2015" name="Google Shape;2015;p156"/>
          <p:cNvSpPr/>
          <p:nvPr/>
        </p:nvSpPr>
        <p:spPr>
          <a:xfrm>
            <a:off x="8195414" y="573325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cxnSp>
        <p:nvCxnSpPr>
          <p:cNvPr id="2016" name="Google Shape;2016;p156"/>
          <p:cNvCxnSpPr/>
          <p:nvPr/>
        </p:nvCxnSpPr>
        <p:spPr>
          <a:xfrm>
            <a:off x="5765157" y="4660272"/>
            <a:ext cx="758526" cy="0"/>
          </a:xfrm>
          <a:prstGeom prst="straightConnector1">
            <a:avLst/>
          </a:prstGeom>
          <a:noFill/>
          <a:ln cap="flat" cmpd="sng" w="9525">
            <a:solidFill>
              <a:srgbClr val="4A7DBA"/>
            </a:solidFill>
            <a:prstDash val="solid"/>
            <a:round/>
            <a:headEnd len="sm" w="sm" type="none"/>
            <a:tailEnd len="med" w="med" type="stealth"/>
          </a:ln>
        </p:spPr>
      </p:cxnSp>
      <p:sp>
        <p:nvSpPr>
          <p:cNvPr id="2017" name="Google Shape;2017;p156"/>
          <p:cNvSpPr txBox="1"/>
          <p:nvPr/>
        </p:nvSpPr>
        <p:spPr>
          <a:xfrm>
            <a:off x="5940152" y="4283804"/>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2018" name="Google Shape;2018;p156"/>
          <p:cNvCxnSpPr/>
          <p:nvPr/>
        </p:nvCxnSpPr>
        <p:spPr>
          <a:xfrm>
            <a:off x="5436096" y="5020312"/>
            <a:ext cx="1159265" cy="928968"/>
          </a:xfrm>
          <a:prstGeom prst="straightConnector1">
            <a:avLst/>
          </a:prstGeom>
          <a:noFill/>
          <a:ln cap="flat" cmpd="sng" w="9525">
            <a:solidFill>
              <a:srgbClr val="4A7DBA"/>
            </a:solidFill>
            <a:prstDash val="solid"/>
            <a:round/>
            <a:headEnd len="sm" w="sm" type="none"/>
            <a:tailEnd len="med" w="med" type="stealth"/>
          </a:ln>
        </p:spPr>
      </p:cxnSp>
      <p:sp>
        <p:nvSpPr>
          <p:cNvPr id="2019" name="Google Shape;2019;p156"/>
          <p:cNvSpPr txBox="1"/>
          <p:nvPr/>
        </p:nvSpPr>
        <p:spPr>
          <a:xfrm>
            <a:off x="5508104" y="529191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2020" name="Google Shape;2020;p156"/>
          <p:cNvCxnSpPr>
            <a:stCxn id="2014" idx="6"/>
          </p:cNvCxnSpPr>
          <p:nvPr/>
        </p:nvCxnSpPr>
        <p:spPr>
          <a:xfrm>
            <a:off x="7531465" y="6146188"/>
            <a:ext cx="663900" cy="0"/>
          </a:xfrm>
          <a:prstGeom prst="straightConnector1">
            <a:avLst/>
          </a:prstGeom>
          <a:noFill/>
          <a:ln cap="flat" cmpd="sng" w="9525">
            <a:solidFill>
              <a:srgbClr val="4A7DBA"/>
            </a:solidFill>
            <a:prstDash val="solid"/>
            <a:round/>
            <a:headEnd len="sm" w="sm" type="none"/>
            <a:tailEnd len="med" w="med" type="stealth"/>
          </a:ln>
        </p:spPr>
      </p:cxnSp>
      <p:sp>
        <p:nvSpPr>
          <p:cNvPr id="2021" name="Google Shape;2021;p156"/>
          <p:cNvSpPr txBox="1"/>
          <p:nvPr/>
        </p:nvSpPr>
        <p:spPr>
          <a:xfrm>
            <a:off x="7668344" y="6165304"/>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2022" name="Google Shape;2022;p156"/>
          <p:cNvCxnSpPr>
            <a:stCxn id="2014" idx="0"/>
          </p:cNvCxnSpPr>
          <p:nvPr/>
        </p:nvCxnSpPr>
        <p:spPr>
          <a:xfrm rot="10800000">
            <a:off x="7063413" y="5160948"/>
            <a:ext cx="0" cy="625200"/>
          </a:xfrm>
          <a:prstGeom prst="straightConnector1">
            <a:avLst/>
          </a:prstGeom>
          <a:noFill/>
          <a:ln cap="flat" cmpd="sng" w="9525">
            <a:solidFill>
              <a:srgbClr val="4A7DBA"/>
            </a:solidFill>
            <a:prstDash val="solid"/>
            <a:round/>
            <a:headEnd len="sm" w="sm" type="none"/>
            <a:tailEnd len="med" w="med" type="stealth"/>
          </a:ln>
        </p:spPr>
      </p:cxnSp>
      <p:sp>
        <p:nvSpPr>
          <p:cNvPr id="2023" name="Google Shape;2023;p156"/>
          <p:cNvSpPr txBox="1"/>
          <p:nvPr/>
        </p:nvSpPr>
        <p:spPr>
          <a:xfrm>
            <a:off x="6660232" y="530120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2024" name="Google Shape;2024;p156"/>
          <p:cNvCxnSpPr/>
          <p:nvPr/>
        </p:nvCxnSpPr>
        <p:spPr>
          <a:xfrm rot="10800000">
            <a:off x="7531465" y="5949280"/>
            <a:ext cx="663950" cy="0"/>
          </a:xfrm>
          <a:prstGeom prst="straightConnector1">
            <a:avLst/>
          </a:prstGeom>
          <a:noFill/>
          <a:ln cap="flat" cmpd="sng" w="9525">
            <a:solidFill>
              <a:srgbClr val="4A7DBA"/>
            </a:solidFill>
            <a:prstDash val="solid"/>
            <a:round/>
            <a:headEnd len="sm" w="sm" type="none"/>
            <a:tailEnd len="med" w="med" type="stealth"/>
          </a:ln>
        </p:spPr>
      </p:cxnSp>
      <p:sp>
        <p:nvSpPr>
          <p:cNvPr id="2025" name="Google Shape;2025;p156"/>
          <p:cNvSpPr txBox="1"/>
          <p:nvPr/>
        </p:nvSpPr>
        <p:spPr>
          <a:xfrm>
            <a:off x="7668344" y="566124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2026" name="Google Shape;2026;p156"/>
          <p:cNvSpPr/>
          <p:nvPr/>
        </p:nvSpPr>
        <p:spPr>
          <a:xfrm>
            <a:off x="8388424" y="5160849"/>
            <a:ext cx="648072" cy="572407"/>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27" name="Google Shape;2027;p156"/>
          <p:cNvSpPr txBox="1"/>
          <p:nvPr/>
        </p:nvSpPr>
        <p:spPr>
          <a:xfrm>
            <a:off x="8460432" y="4797152"/>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2028" name="Google Shape;2028;p156"/>
          <p:cNvSpPr/>
          <p:nvPr/>
        </p:nvSpPr>
        <p:spPr>
          <a:xfrm>
            <a:off x="6804248" y="3432657"/>
            <a:ext cx="648072" cy="572407"/>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29" name="Google Shape;2029;p156"/>
          <p:cNvSpPr txBox="1"/>
          <p:nvPr/>
        </p:nvSpPr>
        <p:spPr>
          <a:xfrm>
            <a:off x="7380312" y="349171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2030" name="Google Shape;2030;p156"/>
          <p:cNvCxnSpPr/>
          <p:nvPr/>
        </p:nvCxnSpPr>
        <p:spPr>
          <a:xfrm>
            <a:off x="7236296" y="5160849"/>
            <a:ext cx="0" cy="625299"/>
          </a:xfrm>
          <a:prstGeom prst="straightConnector1">
            <a:avLst/>
          </a:prstGeom>
          <a:noFill/>
          <a:ln cap="flat" cmpd="sng" w="9525">
            <a:solidFill>
              <a:srgbClr val="4A7DBA"/>
            </a:solidFill>
            <a:prstDash val="solid"/>
            <a:round/>
            <a:headEnd len="sm" w="sm" type="none"/>
            <a:tailEnd len="med" w="med" type="stealth"/>
          </a:ln>
        </p:spPr>
      </p:cxnSp>
      <p:sp>
        <p:nvSpPr>
          <p:cNvPr id="2031" name="Google Shape;2031;p156"/>
          <p:cNvSpPr txBox="1"/>
          <p:nvPr/>
        </p:nvSpPr>
        <p:spPr>
          <a:xfrm>
            <a:off x="7308304" y="530120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6" name="Shape 2036"/>
        <p:cNvGrpSpPr/>
        <p:nvPr/>
      </p:nvGrpSpPr>
      <p:grpSpPr>
        <a:xfrm>
          <a:off x="0" y="0"/>
          <a:ext cx="0" cy="0"/>
          <a:chOff x="0" y="0"/>
          <a:chExt cx="0" cy="0"/>
        </a:xfrm>
      </p:grpSpPr>
      <p:sp>
        <p:nvSpPr>
          <p:cNvPr id="2037" name="Google Shape;2037;p1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038" name="Google Shape;2038;p1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039" name="Google Shape;2039;p1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040" name="Google Shape;2040;p1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041" name="Google Shape;2041;p157"/>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8</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rPr lang="en-IN" sz="2400"/>
                        <a:t>Design a DFA to accept a Language L where all strings in L are such that total number of a’s in them are divisible by 3</a:t>
                      </a:r>
                      <a:endParaRPr/>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6" name="Shape 2046"/>
        <p:cNvGrpSpPr/>
        <p:nvPr/>
      </p:nvGrpSpPr>
      <p:grpSpPr>
        <a:xfrm>
          <a:off x="0" y="0"/>
          <a:ext cx="0" cy="0"/>
          <a:chOff x="0" y="0"/>
          <a:chExt cx="0" cy="0"/>
        </a:xfrm>
      </p:grpSpPr>
      <p:sp>
        <p:nvSpPr>
          <p:cNvPr id="2047" name="Google Shape;2047;p1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048" name="Google Shape;2048;p1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049" name="Google Shape;2049;p1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050" name="Google Shape;2050;p1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051" name="Google Shape;2051;p158"/>
          <p:cNvGraphicFramePr/>
          <p:nvPr/>
        </p:nvGraphicFramePr>
        <p:xfrm>
          <a:off x="611560" y="1556792"/>
          <a:ext cx="3000000" cy="3000000"/>
        </p:xfrm>
        <a:graphic>
          <a:graphicData uri="http://schemas.openxmlformats.org/drawingml/2006/table">
            <a:tbl>
              <a:tblPr bandRow="1" firstRow="1">
                <a:noFill/>
                <a:tableStyleId>{1DD1F0B8-C0F4-4710-A24E-F3ACE173D476}</a:tableStyleId>
              </a:tblPr>
              <a:tblGrid>
                <a:gridCol w="7632850"/>
              </a:tblGrid>
              <a:tr h="660075">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8</a:t>
                      </a:r>
                      <a:endParaRPr/>
                    </a:p>
                  </a:txBody>
                  <a:tcPr marT="45725" marB="45725" marR="91450" marL="91450"/>
                </a:tc>
              </a:tr>
              <a:tr h="3300375">
                <a:tc>
                  <a:txBody>
                    <a:bodyPr/>
                    <a:lstStyle/>
                    <a:p>
                      <a:pPr indent="-342900" lvl="0" marL="342900" marR="0" rtl="0" algn="l">
                        <a:spcBef>
                          <a:spcPts val="0"/>
                        </a:spcBef>
                        <a:spcAft>
                          <a:spcPts val="0"/>
                        </a:spcAft>
                        <a:buClr>
                          <a:schemeClr val="dk1"/>
                        </a:buClr>
                        <a:buSzPts val="2400"/>
                        <a:buFont typeface="Arial"/>
                        <a:buChar char="•"/>
                      </a:pPr>
                      <a:r>
                        <a:rPr lang="en-IN" sz="2400"/>
                        <a:t>There is no condition that a should be in clumps</a:t>
                      </a:r>
                      <a:endParaRPr/>
                    </a:p>
                    <a:p>
                      <a:pPr indent="-342900" lvl="0" marL="342900" marR="0" rtl="0" algn="l">
                        <a:spcBef>
                          <a:spcPts val="0"/>
                        </a:spcBef>
                        <a:spcAft>
                          <a:spcPts val="0"/>
                        </a:spcAft>
                        <a:buClr>
                          <a:schemeClr val="dk1"/>
                        </a:buClr>
                        <a:buSzPts val="2400"/>
                        <a:buFont typeface="Arial"/>
                        <a:buChar char="•"/>
                      </a:pPr>
                      <a:r>
                        <a:rPr lang="en-IN" sz="2400"/>
                        <a:t>But Total number of a’s should be divisible by 3</a:t>
                      </a:r>
                      <a:endParaRPr/>
                    </a:p>
                    <a:p>
                      <a:pPr indent="-342900" lvl="0" marL="342900" marR="0" rtl="0" algn="l">
                        <a:spcBef>
                          <a:spcPts val="0"/>
                        </a:spcBef>
                        <a:spcAft>
                          <a:spcPts val="0"/>
                        </a:spcAft>
                        <a:buClr>
                          <a:schemeClr val="dk1"/>
                        </a:buClr>
                        <a:buSzPts val="2400"/>
                        <a:buFont typeface="Arial"/>
                        <a:buChar char="•"/>
                      </a:pPr>
                      <a:r>
                        <a:rPr lang="en-IN" sz="2400"/>
                        <a:t>No conditions on b’s</a:t>
                      </a:r>
                      <a:endParaRPr/>
                    </a:p>
                    <a:p>
                      <a:pPr indent="-342900" lvl="0" marL="342900" marR="0" rtl="0" algn="l">
                        <a:spcBef>
                          <a:spcPts val="0"/>
                        </a:spcBef>
                        <a:spcAft>
                          <a:spcPts val="0"/>
                        </a:spcAft>
                        <a:buClr>
                          <a:schemeClr val="dk1"/>
                        </a:buClr>
                        <a:buSzPts val="2400"/>
                        <a:buFont typeface="Arial"/>
                        <a:buChar char="•"/>
                      </a:pPr>
                      <a:r>
                        <a:rPr lang="en-IN" sz="2400"/>
                        <a:t>b’s are allowed in between</a:t>
                      </a:r>
                      <a:endParaRPr/>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6" name="Shape 2056"/>
        <p:cNvGrpSpPr/>
        <p:nvPr/>
      </p:nvGrpSpPr>
      <p:grpSpPr>
        <a:xfrm>
          <a:off x="0" y="0"/>
          <a:ext cx="0" cy="0"/>
          <a:chOff x="0" y="0"/>
          <a:chExt cx="0" cy="0"/>
        </a:xfrm>
      </p:grpSpPr>
      <p:sp>
        <p:nvSpPr>
          <p:cNvPr id="2057" name="Google Shape;2057;p1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058" name="Google Shape;2058;p1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059" name="Google Shape;2059;p1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graphicFrame>
        <p:nvGraphicFramePr>
          <p:cNvPr id="2060" name="Google Shape;2060;p159"/>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8</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Total no of a’s should be multiples of 3 i.e </a:t>
                      </a:r>
                      <a:endParaRPr/>
                    </a:p>
                    <a:p>
                      <a:pPr indent="-342900" lvl="0" marL="342900" marR="0" rtl="0" algn="l">
                        <a:spcBef>
                          <a:spcPts val="0"/>
                        </a:spcBef>
                        <a:spcAft>
                          <a:spcPts val="0"/>
                        </a:spcAft>
                        <a:buClr>
                          <a:srgbClr val="0070C0"/>
                        </a:buClr>
                        <a:buSzPts val="2400"/>
                        <a:buFont typeface="Arial"/>
                        <a:buChar char="•"/>
                      </a:pPr>
                      <a:r>
                        <a:rPr lang="en-IN" sz="2400">
                          <a:solidFill>
                            <a:srgbClr val="0070C0"/>
                          </a:solidFill>
                        </a:rPr>
                        <a:t>Total no of a’s can be 0=&gt;Initial state can be final state</a:t>
                      </a:r>
                      <a:endParaRPr/>
                    </a:p>
                    <a:p>
                      <a:pPr indent="-190500" lvl="0" marL="342900" marR="0" rtl="0" algn="l">
                        <a:spcBef>
                          <a:spcPts val="0"/>
                        </a:spcBef>
                        <a:spcAft>
                          <a:spcPts val="0"/>
                        </a:spcAft>
                        <a:buClr>
                          <a:schemeClr val="dk1"/>
                        </a:buClr>
                        <a:buSzPts val="2400"/>
                        <a:buFont typeface="Arial"/>
                        <a:buNone/>
                      </a:pPr>
                      <a:r>
                        <a:t/>
                      </a:r>
                      <a:endParaRPr sz="2400"/>
                    </a:p>
                    <a:p>
                      <a:pPr indent="-342900" lvl="0" marL="342900" marR="0" rtl="0" algn="l">
                        <a:spcBef>
                          <a:spcPts val="0"/>
                        </a:spcBef>
                        <a:spcAft>
                          <a:spcPts val="0"/>
                        </a:spcAft>
                        <a:buClr>
                          <a:schemeClr val="dk1"/>
                        </a:buClr>
                        <a:buSzPts val="2400"/>
                        <a:buFont typeface="Arial"/>
                        <a:buChar char="•"/>
                      </a:pPr>
                      <a:r>
                        <a:rPr lang="en-IN" sz="2400"/>
                        <a:t>Total no of a’s can be 3</a:t>
                      </a:r>
                      <a:endParaRPr/>
                    </a:p>
                    <a:p>
                      <a:pPr indent="-342900" lvl="0" marL="342900" marR="0" rtl="0" algn="l">
                        <a:spcBef>
                          <a:spcPts val="0"/>
                        </a:spcBef>
                        <a:spcAft>
                          <a:spcPts val="0"/>
                        </a:spcAft>
                        <a:buClr>
                          <a:schemeClr val="dk1"/>
                        </a:buClr>
                        <a:buSzPts val="2400"/>
                        <a:buFont typeface="Arial"/>
                        <a:buChar char="•"/>
                      </a:pPr>
                      <a:r>
                        <a:rPr lang="en-IN" sz="2400"/>
                        <a:t>Total no of a’s can be 6</a:t>
                      </a:r>
                      <a:endParaRPr/>
                    </a:p>
                    <a:p>
                      <a:pPr indent="-342900" lvl="0" marL="342900" marR="0" rtl="0" algn="l">
                        <a:spcBef>
                          <a:spcPts val="0"/>
                        </a:spcBef>
                        <a:spcAft>
                          <a:spcPts val="0"/>
                        </a:spcAft>
                        <a:buClr>
                          <a:schemeClr val="dk1"/>
                        </a:buClr>
                        <a:buSzPts val="2400"/>
                        <a:buFont typeface="Arial"/>
                        <a:buChar char="•"/>
                      </a:pPr>
                      <a:r>
                        <a:rPr lang="en-IN" sz="2400"/>
                        <a:t>Total no of a’s can be 9</a:t>
                      </a:r>
                      <a:endParaRPr/>
                    </a:p>
                    <a:p>
                      <a:pPr indent="-342900" lvl="0" marL="342900" marR="0" rtl="0" algn="l">
                        <a:spcBef>
                          <a:spcPts val="0"/>
                        </a:spcBef>
                        <a:spcAft>
                          <a:spcPts val="0"/>
                        </a:spcAft>
                        <a:buClr>
                          <a:schemeClr val="dk1"/>
                        </a:buClr>
                        <a:buSzPts val="2400"/>
                        <a:buFont typeface="Arial"/>
                        <a:buChar char="•"/>
                      </a:pPr>
                      <a:r>
                        <a:rPr lang="en-IN" sz="2400"/>
                        <a:t>and so on…</a:t>
                      </a:r>
                      <a:endParaRPr/>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342900" lvl="0" marL="342900" marR="0" rtl="0" algn="l">
                        <a:spcBef>
                          <a:spcPts val="0"/>
                        </a:spcBef>
                        <a:spcAft>
                          <a:spcPts val="0"/>
                        </a:spcAft>
                        <a:buClr>
                          <a:srgbClr val="0070C0"/>
                        </a:buClr>
                        <a:buSzPts val="2400"/>
                        <a:buFont typeface="Arial"/>
                        <a:buChar char="•"/>
                      </a:pPr>
                      <a:r>
                        <a:rPr lang="en-IN" sz="2400">
                          <a:solidFill>
                            <a:srgbClr val="0070C0"/>
                          </a:solidFill>
                        </a:rPr>
                        <a:t>And whenever count of no of a’s is 0/3/6/9/12/15…so on</a:t>
                      </a:r>
                      <a:endParaRPr/>
                    </a:p>
                    <a:p>
                      <a:pPr indent="-342900" lvl="0" marL="342900" marR="0" rtl="0" algn="l">
                        <a:spcBef>
                          <a:spcPts val="0"/>
                        </a:spcBef>
                        <a:spcAft>
                          <a:spcPts val="0"/>
                        </a:spcAft>
                        <a:buClr>
                          <a:srgbClr val="0070C0"/>
                        </a:buClr>
                        <a:buSzPts val="2400"/>
                        <a:buFont typeface="Arial"/>
                        <a:buChar char="•"/>
                      </a:pPr>
                      <a:r>
                        <a:rPr lang="en-IN" sz="2400">
                          <a:solidFill>
                            <a:srgbClr val="0070C0"/>
                          </a:solidFill>
                        </a:rPr>
                        <a:t>The string should be accepted i.e. it should be final state</a:t>
                      </a:r>
                      <a:endParaRPr/>
                    </a:p>
                  </a:txBody>
                  <a:tcPr marT="45725" marB="45725" marR="91450" marL="91450"/>
                </a:tc>
              </a:tr>
            </a:tbl>
          </a:graphicData>
        </a:graphic>
      </p:graphicFrame>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5" name="Shape 2065"/>
        <p:cNvGrpSpPr/>
        <p:nvPr/>
      </p:nvGrpSpPr>
      <p:grpSpPr>
        <a:xfrm>
          <a:off x="0" y="0"/>
          <a:ext cx="0" cy="0"/>
          <a:chOff x="0" y="0"/>
          <a:chExt cx="0" cy="0"/>
        </a:xfrm>
      </p:grpSpPr>
      <p:sp>
        <p:nvSpPr>
          <p:cNvPr id="2066" name="Google Shape;2066;p1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067" name="Google Shape;2067;p1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068" name="Google Shape;2068;p1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069" name="Google Shape;2069;p1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070" name="Google Shape;2070;p160"/>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1714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8</a:t>
                      </a:r>
                      <a:endParaRPr/>
                    </a:p>
                  </a:txBody>
                  <a:tcPr marT="45725" marB="45725" marR="91450" marL="91450"/>
                </a:tc>
              </a:tr>
              <a:tr h="1268700">
                <a:tc>
                  <a:txBody>
                    <a:bodyPr/>
                    <a:lstStyle/>
                    <a:p>
                      <a:pPr indent="0" lvl="0" marL="0" marR="0" rtl="0" algn="l">
                        <a:spcBef>
                          <a:spcPts val="0"/>
                        </a:spcBef>
                        <a:spcAft>
                          <a:spcPts val="0"/>
                        </a:spcAft>
                        <a:buClr>
                          <a:schemeClr val="dk1"/>
                        </a:buClr>
                        <a:buSzPts val="2400"/>
                        <a:buFont typeface="Arial"/>
                        <a:buNone/>
                      </a:pPr>
                      <a:r>
                        <a:rPr lang="en-IN" sz="2400"/>
                        <a:t>Design a DFA to accept a Language L where all strings in L are such that total number of a’s in them are divisible by 3</a:t>
                      </a:r>
                      <a:endParaRPr/>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
        <p:nvSpPr>
          <p:cNvPr id="2071" name="Google Shape;2071;p160"/>
          <p:cNvSpPr/>
          <p:nvPr/>
        </p:nvSpPr>
        <p:spPr>
          <a:xfrm>
            <a:off x="7234692" y="433374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S2</a:t>
            </a:r>
            <a:endParaRPr sz="1800">
              <a:solidFill>
                <a:schemeClr val="lt1"/>
              </a:solidFill>
              <a:latin typeface="Calibri"/>
              <a:ea typeface="Calibri"/>
              <a:cs typeface="Calibri"/>
              <a:sym typeface="Calibri"/>
            </a:endParaRPr>
          </a:p>
        </p:txBody>
      </p:sp>
      <p:sp>
        <p:nvSpPr>
          <p:cNvPr id="2072" name="Google Shape;2072;p160"/>
          <p:cNvSpPr/>
          <p:nvPr/>
        </p:nvSpPr>
        <p:spPr>
          <a:xfrm>
            <a:off x="4499992" y="427637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cxnSp>
        <p:nvCxnSpPr>
          <p:cNvPr id="2073" name="Google Shape;2073;p160"/>
          <p:cNvCxnSpPr/>
          <p:nvPr/>
        </p:nvCxnSpPr>
        <p:spPr>
          <a:xfrm>
            <a:off x="5436096" y="4636413"/>
            <a:ext cx="1656184" cy="0"/>
          </a:xfrm>
          <a:prstGeom prst="straightConnector1">
            <a:avLst/>
          </a:prstGeom>
          <a:noFill/>
          <a:ln cap="flat" cmpd="sng" w="9525">
            <a:solidFill>
              <a:srgbClr val="4A7DBA"/>
            </a:solidFill>
            <a:prstDash val="solid"/>
            <a:round/>
            <a:headEnd len="sm" w="sm" type="none"/>
            <a:tailEnd len="med" w="med" type="stealth"/>
          </a:ln>
        </p:spPr>
      </p:cxnSp>
      <p:cxnSp>
        <p:nvCxnSpPr>
          <p:cNvPr id="2074" name="Google Shape;2074;p160"/>
          <p:cNvCxnSpPr>
            <a:endCxn id="2072" idx="2"/>
          </p:cNvCxnSpPr>
          <p:nvPr/>
        </p:nvCxnSpPr>
        <p:spPr>
          <a:xfrm>
            <a:off x="2915692" y="4636413"/>
            <a:ext cx="1584300" cy="0"/>
          </a:xfrm>
          <a:prstGeom prst="straightConnector1">
            <a:avLst/>
          </a:prstGeom>
          <a:noFill/>
          <a:ln cap="flat" cmpd="sng" w="9525">
            <a:solidFill>
              <a:srgbClr val="4A7DBA"/>
            </a:solidFill>
            <a:prstDash val="solid"/>
            <a:round/>
            <a:headEnd len="sm" w="sm" type="none"/>
            <a:tailEnd len="med" w="med" type="stealth"/>
          </a:ln>
        </p:spPr>
      </p:cxnSp>
      <p:sp>
        <p:nvSpPr>
          <p:cNvPr id="2075" name="Google Shape;2075;p160"/>
          <p:cNvSpPr/>
          <p:nvPr/>
        </p:nvSpPr>
        <p:spPr>
          <a:xfrm>
            <a:off x="7380312" y="3501008"/>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076" name="Google Shape;2076;p160"/>
          <p:cNvCxnSpPr/>
          <p:nvPr/>
        </p:nvCxnSpPr>
        <p:spPr>
          <a:xfrm>
            <a:off x="971600" y="4636413"/>
            <a:ext cx="1008112" cy="0"/>
          </a:xfrm>
          <a:prstGeom prst="straightConnector1">
            <a:avLst/>
          </a:prstGeom>
          <a:noFill/>
          <a:ln cap="flat" cmpd="sng" w="9525">
            <a:solidFill>
              <a:srgbClr val="4A7DBA"/>
            </a:solidFill>
            <a:prstDash val="solid"/>
            <a:round/>
            <a:headEnd len="sm" w="sm" type="none"/>
            <a:tailEnd len="med" w="med" type="stealth"/>
          </a:ln>
        </p:spPr>
      </p:cxnSp>
      <p:sp>
        <p:nvSpPr>
          <p:cNvPr id="2077" name="Google Shape;2077;p160"/>
          <p:cNvSpPr txBox="1"/>
          <p:nvPr/>
        </p:nvSpPr>
        <p:spPr>
          <a:xfrm>
            <a:off x="3419872" y="4252446"/>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2078" name="Google Shape;2078;p160"/>
          <p:cNvSpPr txBox="1"/>
          <p:nvPr/>
        </p:nvSpPr>
        <p:spPr>
          <a:xfrm>
            <a:off x="6004918" y="4293096"/>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2079" name="Google Shape;2079;p160"/>
          <p:cNvSpPr/>
          <p:nvPr/>
        </p:nvSpPr>
        <p:spPr>
          <a:xfrm>
            <a:off x="1979712" y="4307731"/>
            <a:ext cx="936104" cy="792088"/>
          </a:xfrm>
          <a:prstGeom prst="ellipse">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80" name="Google Shape;2080;p160"/>
          <p:cNvSpPr txBox="1"/>
          <p:nvPr/>
        </p:nvSpPr>
        <p:spPr>
          <a:xfrm>
            <a:off x="4996806" y="5723964"/>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2081" name="Google Shape;2081;p160"/>
          <p:cNvSpPr/>
          <p:nvPr/>
        </p:nvSpPr>
        <p:spPr>
          <a:xfrm>
            <a:off x="4644008" y="3486373"/>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82" name="Google Shape;2082;p160"/>
          <p:cNvSpPr/>
          <p:nvPr/>
        </p:nvSpPr>
        <p:spPr>
          <a:xfrm>
            <a:off x="2051720" y="3486373"/>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83" name="Google Shape;2083;p160"/>
          <p:cNvSpPr/>
          <p:nvPr/>
        </p:nvSpPr>
        <p:spPr>
          <a:xfrm rot="5400000">
            <a:off x="4448385" y="2952586"/>
            <a:ext cx="1096842" cy="5328592"/>
          </a:xfrm>
          <a:prstGeom prst="curvedLef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84" name="Google Shape;2084;p160"/>
          <p:cNvSpPr/>
          <p:nvPr/>
        </p:nvSpPr>
        <p:spPr>
          <a:xfrm>
            <a:off x="2195736" y="4451747"/>
            <a:ext cx="574460"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sp>
        <p:nvSpPr>
          <p:cNvPr id="2085" name="Google Shape;2085;p160"/>
          <p:cNvSpPr txBox="1"/>
          <p:nvPr/>
        </p:nvSpPr>
        <p:spPr>
          <a:xfrm>
            <a:off x="2188494" y="3059668"/>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a:p>
        </p:txBody>
      </p:sp>
      <p:sp>
        <p:nvSpPr>
          <p:cNvPr id="2086" name="Google Shape;2086;p160"/>
          <p:cNvSpPr txBox="1"/>
          <p:nvPr/>
        </p:nvSpPr>
        <p:spPr>
          <a:xfrm>
            <a:off x="4841570" y="3140968"/>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a:p>
        </p:txBody>
      </p:sp>
      <p:sp>
        <p:nvSpPr>
          <p:cNvPr id="2087" name="Google Shape;2087;p160"/>
          <p:cNvSpPr txBox="1"/>
          <p:nvPr/>
        </p:nvSpPr>
        <p:spPr>
          <a:xfrm>
            <a:off x="7577874" y="3140968"/>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2" name="Shape 2092"/>
        <p:cNvGrpSpPr/>
        <p:nvPr/>
      </p:nvGrpSpPr>
      <p:grpSpPr>
        <a:xfrm>
          <a:off x="0" y="0"/>
          <a:ext cx="0" cy="0"/>
          <a:chOff x="0" y="0"/>
          <a:chExt cx="0" cy="0"/>
        </a:xfrm>
      </p:grpSpPr>
      <p:sp>
        <p:nvSpPr>
          <p:cNvPr id="2093" name="Google Shape;2093;p1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094" name="Google Shape;2094;p1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095" name="Google Shape;2095;p1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096" name="Google Shape;2096;p1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097" name="Google Shape;2097;p161"/>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9</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rPr lang="en-IN" sz="2400"/>
                        <a:t>Design a DFA to</a:t>
                      </a:r>
                      <a:r>
                        <a:rPr lang="en-IN" sz="2400"/>
                        <a:t> accept the language </a:t>
                      </a:r>
                      <a:r>
                        <a:rPr lang="en-IN" sz="2400"/>
                        <a:t>L(M) = {w | w ε {0, 1}*} and W is a string that does not contain three consecutive 1's.</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2" name="Shape 2102"/>
        <p:cNvGrpSpPr/>
        <p:nvPr/>
      </p:nvGrpSpPr>
      <p:grpSpPr>
        <a:xfrm>
          <a:off x="0" y="0"/>
          <a:ext cx="0" cy="0"/>
          <a:chOff x="0" y="0"/>
          <a:chExt cx="0" cy="0"/>
        </a:xfrm>
      </p:grpSpPr>
      <p:sp>
        <p:nvSpPr>
          <p:cNvPr id="2103" name="Google Shape;2103;p1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104" name="Google Shape;2104;p1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105" name="Google Shape;2105;p1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106" name="Google Shape;2106;p1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107" name="Google Shape;2107;p162"/>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9</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When three consecutive 1's occur the DFA will be:</a:t>
                      </a:r>
                      <a:endParaRPr/>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0" marL="342900" marR="0" rtl="0" algn="l">
                        <a:spcBef>
                          <a:spcPts val="0"/>
                        </a:spcBef>
                        <a:spcAft>
                          <a:spcPts val="0"/>
                        </a:spcAft>
                        <a:buClr>
                          <a:schemeClr val="dk1"/>
                        </a:buClr>
                        <a:buSzPts val="2400"/>
                        <a:buFont typeface="Arial"/>
                        <a:buNone/>
                      </a:pPr>
                      <a:r>
                        <a:t/>
                      </a:r>
                      <a:endParaRPr sz="2400"/>
                    </a:p>
                    <a:p>
                      <a:pPr indent="-342900" lvl="0" marL="342900" marR="0" rtl="0" algn="l">
                        <a:spcBef>
                          <a:spcPts val="0"/>
                        </a:spcBef>
                        <a:spcAft>
                          <a:spcPts val="0"/>
                        </a:spcAft>
                        <a:buClr>
                          <a:schemeClr val="dk1"/>
                        </a:buClr>
                        <a:buSzPts val="2400"/>
                        <a:buFont typeface="Arial"/>
                        <a:buChar char="•"/>
                      </a:pPr>
                      <a:r>
                        <a:rPr lang="en-IN" sz="2400"/>
                        <a:t>Here two consecutive 1's or single 1 is acceptable, hence</a:t>
                      </a:r>
                      <a:endParaRPr/>
                    </a:p>
                    <a:p>
                      <a:pPr indent="-190500" lvl="0" marL="342900" marR="0" rtl="0" algn="l">
                        <a:spcBef>
                          <a:spcPts val="0"/>
                        </a:spcBef>
                        <a:spcAft>
                          <a:spcPts val="0"/>
                        </a:spcAft>
                        <a:buClr>
                          <a:schemeClr val="dk1"/>
                        </a:buClr>
                        <a:buSzPts val="2400"/>
                        <a:buFont typeface="Arial"/>
                        <a:buNone/>
                      </a:pPr>
                      <a:r>
                        <a:t/>
                      </a:r>
                      <a:endParaRPr sz="2400"/>
                    </a:p>
                    <a:p>
                      <a:pPr indent="-190500" lvl="0" marL="342900" marR="0" rtl="0" algn="l">
                        <a:spcBef>
                          <a:spcPts val="0"/>
                        </a:spcBef>
                        <a:spcAft>
                          <a:spcPts val="0"/>
                        </a:spcAft>
                        <a:buClr>
                          <a:schemeClr val="dk1"/>
                        </a:buClr>
                        <a:buSzPts val="2400"/>
                        <a:buFont typeface="Arial"/>
                        <a:buNone/>
                      </a:pPr>
                      <a:r>
                        <a:t/>
                      </a:r>
                      <a:endParaRPr sz="2400"/>
                    </a:p>
                    <a:p>
                      <a:pPr indent="-342900" lvl="0" marL="342900" marR="0" rtl="0" algn="l">
                        <a:spcBef>
                          <a:spcPts val="0"/>
                        </a:spcBef>
                        <a:spcAft>
                          <a:spcPts val="0"/>
                        </a:spcAft>
                        <a:buClr>
                          <a:schemeClr val="dk1"/>
                        </a:buClr>
                        <a:buSzPts val="2400"/>
                        <a:buFont typeface="Arial"/>
                        <a:buChar char="•"/>
                      </a:pPr>
                      <a:r>
                        <a:rPr lang="en-IN" sz="2400"/>
                        <a:t>The stages q0, q1, q2 are the final states.</a:t>
                      </a:r>
                      <a:endParaRPr/>
                    </a:p>
                    <a:p>
                      <a:pPr indent="-190500" lvl="0" marL="342900" marR="0" rtl="0" algn="l">
                        <a:spcBef>
                          <a:spcPts val="0"/>
                        </a:spcBef>
                        <a:spcAft>
                          <a:spcPts val="0"/>
                        </a:spcAft>
                        <a:buClr>
                          <a:schemeClr val="dk1"/>
                        </a:buClr>
                        <a:buSzPts val="2400"/>
                        <a:buFont typeface="Arial"/>
                        <a:buNone/>
                      </a:pPr>
                      <a:r>
                        <a:t/>
                      </a:r>
                      <a:endParaRPr sz="2400"/>
                    </a:p>
                  </a:txBody>
                  <a:tcPr marT="45725" marB="45725" marR="91450" marL="91450"/>
                </a:tc>
              </a:tr>
            </a:tbl>
          </a:graphicData>
        </a:graphic>
      </p:graphicFrame>
      <p:pic>
        <p:nvPicPr>
          <p:cNvPr id="2108" name="Google Shape;2108;p162"/>
          <p:cNvPicPr preferRelativeResize="0"/>
          <p:nvPr/>
        </p:nvPicPr>
        <p:blipFill rotWithShape="1">
          <a:blip r:embed="rId3">
            <a:alphaModFix/>
          </a:blip>
          <a:srcRect b="0" l="0" r="0" t="0"/>
          <a:stretch/>
        </p:blipFill>
        <p:spPr>
          <a:xfrm>
            <a:off x="827584" y="2686050"/>
            <a:ext cx="7210425" cy="495300"/>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3" name="Shape 2113"/>
        <p:cNvGrpSpPr/>
        <p:nvPr/>
      </p:nvGrpSpPr>
      <p:grpSpPr>
        <a:xfrm>
          <a:off x="0" y="0"/>
          <a:ext cx="0" cy="0"/>
          <a:chOff x="0" y="0"/>
          <a:chExt cx="0" cy="0"/>
        </a:xfrm>
      </p:grpSpPr>
      <p:sp>
        <p:nvSpPr>
          <p:cNvPr id="2114" name="Google Shape;2114;p1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115" name="Google Shape;2115;p1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116" name="Google Shape;2116;p1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117" name="Google Shape;2117;p1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118" name="Google Shape;2118;p163"/>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9</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pic>
        <p:nvPicPr>
          <p:cNvPr descr="Examples of Deterministic finite automata" id="2119" name="Google Shape;2119;p163"/>
          <p:cNvPicPr preferRelativeResize="0"/>
          <p:nvPr/>
        </p:nvPicPr>
        <p:blipFill rotWithShape="1">
          <a:blip r:embed="rId3">
            <a:alphaModFix/>
          </a:blip>
          <a:srcRect b="0" l="0" r="0" t="0"/>
          <a:stretch/>
        </p:blipFill>
        <p:spPr>
          <a:xfrm>
            <a:off x="971600" y="2348880"/>
            <a:ext cx="7210425" cy="971551"/>
          </a:xfrm>
          <a:prstGeom prst="rect">
            <a:avLst/>
          </a:prstGeom>
          <a:noFill/>
          <a:ln>
            <a:noFill/>
          </a:ln>
        </p:spPr>
      </p:pic>
      <p:sp>
        <p:nvSpPr>
          <p:cNvPr id="2120" name="Google Shape;2120;p163"/>
          <p:cNvSpPr txBox="1"/>
          <p:nvPr/>
        </p:nvSpPr>
        <p:spPr>
          <a:xfrm>
            <a:off x="944781" y="3645024"/>
            <a:ext cx="7237243" cy="156966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String 111 will be in q3 state=Non final state=Rejected</a:t>
            </a:r>
            <a:endParaRPr/>
          </a:p>
          <a:p>
            <a:pPr indent="-133350" lvl="0" marL="28575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String 10110111 will be in q3 state=Non final state=Rejected</a:t>
            </a:r>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5" name="Shape 2125"/>
        <p:cNvGrpSpPr/>
        <p:nvPr/>
      </p:nvGrpSpPr>
      <p:grpSpPr>
        <a:xfrm>
          <a:off x="0" y="0"/>
          <a:ext cx="0" cy="0"/>
          <a:chOff x="0" y="0"/>
          <a:chExt cx="0" cy="0"/>
        </a:xfrm>
      </p:grpSpPr>
      <p:sp>
        <p:nvSpPr>
          <p:cNvPr id="2126" name="Google Shape;2126;p1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127" name="Google Shape;2127;p1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128" name="Google Shape;2128;p1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129" name="Google Shape;2129;p1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130" name="Google Shape;2130;p164"/>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9</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pic>
        <p:nvPicPr>
          <p:cNvPr descr="Examples of Deterministic finite automata" id="2131" name="Google Shape;2131;p164"/>
          <p:cNvPicPr preferRelativeResize="0"/>
          <p:nvPr/>
        </p:nvPicPr>
        <p:blipFill rotWithShape="1">
          <a:blip r:embed="rId3">
            <a:alphaModFix/>
          </a:blip>
          <a:srcRect b="0" l="0" r="0" t="0"/>
          <a:stretch/>
        </p:blipFill>
        <p:spPr>
          <a:xfrm>
            <a:off x="971600" y="2348880"/>
            <a:ext cx="7210425" cy="971551"/>
          </a:xfrm>
          <a:prstGeom prst="rect">
            <a:avLst/>
          </a:prstGeom>
          <a:noFill/>
          <a:ln>
            <a:noFill/>
          </a:ln>
        </p:spPr>
      </p:pic>
      <p:sp>
        <p:nvSpPr>
          <p:cNvPr id="2132" name="Google Shape;2132;p164"/>
          <p:cNvSpPr txBox="1"/>
          <p:nvPr/>
        </p:nvSpPr>
        <p:spPr>
          <a:xfrm>
            <a:off x="944781" y="3645024"/>
            <a:ext cx="7237243" cy="120032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String 0110 accepted</a:t>
            </a:r>
            <a:endParaRPr/>
          </a:p>
          <a:p>
            <a:pPr indent="-285750" lvl="0" marL="28575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Strings 1011101 rejected</a:t>
            </a:r>
            <a:endParaRPr/>
          </a:p>
          <a:p>
            <a:pPr indent="-285750" lvl="0" marL="28575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Correct till now……</a:t>
            </a:r>
            <a:endParaRPr sz="2400">
              <a:solidFill>
                <a:schemeClr val="dk1"/>
              </a:solidFill>
              <a:latin typeface="Calibri"/>
              <a:ea typeface="Calibri"/>
              <a:cs typeface="Calibri"/>
              <a:sym typeface="Calibri"/>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7" name="Shape 2137"/>
        <p:cNvGrpSpPr/>
        <p:nvPr/>
      </p:nvGrpSpPr>
      <p:grpSpPr>
        <a:xfrm>
          <a:off x="0" y="0"/>
          <a:ext cx="0" cy="0"/>
          <a:chOff x="0" y="0"/>
          <a:chExt cx="0" cy="0"/>
        </a:xfrm>
      </p:grpSpPr>
      <p:sp>
        <p:nvSpPr>
          <p:cNvPr id="2138" name="Google Shape;2138;p1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139" name="Google Shape;2139;p1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140" name="Google Shape;2140;p1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141" name="Google Shape;2141;p1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142" name="Google Shape;2142;p165"/>
          <p:cNvGraphicFramePr/>
          <p:nvPr/>
        </p:nvGraphicFramePr>
        <p:xfrm>
          <a:off x="549177" y="1124744"/>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9</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pic>
        <p:nvPicPr>
          <p:cNvPr descr="Examples of Deterministic finite automata" id="2143" name="Google Shape;2143;p165"/>
          <p:cNvPicPr preferRelativeResize="0"/>
          <p:nvPr/>
        </p:nvPicPr>
        <p:blipFill rotWithShape="1">
          <a:blip r:embed="rId3">
            <a:alphaModFix/>
          </a:blip>
          <a:srcRect b="0" l="0" r="0" t="0"/>
          <a:stretch/>
        </p:blipFill>
        <p:spPr>
          <a:xfrm>
            <a:off x="971600" y="1700808"/>
            <a:ext cx="7210425" cy="971551"/>
          </a:xfrm>
          <a:prstGeom prst="rect">
            <a:avLst/>
          </a:prstGeom>
          <a:noFill/>
          <a:ln>
            <a:noFill/>
          </a:ln>
        </p:spPr>
      </p:pic>
      <p:sp>
        <p:nvSpPr>
          <p:cNvPr id="2144" name="Google Shape;2144;p165"/>
          <p:cNvSpPr txBox="1"/>
          <p:nvPr/>
        </p:nvSpPr>
        <p:spPr>
          <a:xfrm>
            <a:off x="909578" y="2780928"/>
            <a:ext cx="7237243" cy="341632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FF0000"/>
              </a:buClr>
              <a:buSzPts val="2400"/>
              <a:buFont typeface="Arial"/>
              <a:buChar char="•"/>
            </a:pPr>
            <a:r>
              <a:rPr lang="en-IN" sz="2400">
                <a:solidFill>
                  <a:srgbClr val="FF0000"/>
                </a:solidFill>
                <a:latin typeface="Calibri"/>
                <a:ea typeface="Calibri"/>
                <a:cs typeface="Calibri"/>
                <a:sym typeface="Calibri"/>
              </a:rPr>
              <a:t>Exactly three 1’s but not consecutive giving Error-</a:t>
            </a:r>
            <a:endParaRPr/>
          </a:p>
          <a:p>
            <a:pPr indent="-285750" lvl="0" marL="285750" marR="0" rtl="0" algn="l">
              <a:spcBef>
                <a:spcPts val="0"/>
              </a:spcBef>
              <a:spcAft>
                <a:spcPts val="0"/>
              </a:spcAft>
              <a:buClr>
                <a:srgbClr val="FF0000"/>
              </a:buClr>
              <a:buSzPts val="2400"/>
              <a:buFont typeface="Arial"/>
              <a:buChar char="•"/>
            </a:pPr>
            <a:r>
              <a:rPr lang="en-IN" sz="2400">
                <a:solidFill>
                  <a:srgbClr val="FF0000"/>
                </a:solidFill>
                <a:latin typeface="Calibri"/>
                <a:ea typeface="Calibri"/>
                <a:cs typeface="Calibri"/>
                <a:sym typeface="Calibri"/>
              </a:rPr>
              <a:t>String 1101 rejected</a:t>
            </a:r>
            <a:endParaRPr/>
          </a:p>
          <a:p>
            <a:pPr indent="-285750" lvl="0" marL="285750" marR="0" rtl="0" algn="l">
              <a:spcBef>
                <a:spcPts val="0"/>
              </a:spcBef>
              <a:spcAft>
                <a:spcPts val="0"/>
              </a:spcAft>
              <a:buClr>
                <a:srgbClr val="FF0000"/>
              </a:buClr>
              <a:buSzPts val="2400"/>
              <a:buFont typeface="Arial"/>
              <a:buChar char="•"/>
            </a:pPr>
            <a:r>
              <a:rPr lang="en-IN" sz="2400">
                <a:solidFill>
                  <a:srgbClr val="FF0000"/>
                </a:solidFill>
                <a:latin typeface="Calibri"/>
                <a:ea typeface="Calibri"/>
                <a:cs typeface="Calibri"/>
                <a:sym typeface="Calibri"/>
              </a:rPr>
              <a:t>String 11010 rejected</a:t>
            </a:r>
            <a:endParaRPr/>
          </a:p>
          <a:p>
            <a:pPr indent="-285750" lvl="0" marL="285750" marR="0" rtl="0" algn="l">
              <a:spcBef>
                <a:spcPts val="0"/>
              </a:spcBef>
              <a:spcAft>
                <a:spcPts val="0"/>
              </a:spcAft>
              <a:buClr>
                <a:srgbClr val="FF0000"/>
              </a:buClr>
              <a:buSzPts val="2400"/>
              <a:buFont typeface="Arial"/>
              <a:buChar char="•"/>
            </a:pPr>
            <a:r>
              <a:rPr lang="en-IN" sz="2400">
                <a:solidFill>
                  <a:srgbClr val="FF0000"/>
                </a:solidFill>
                <a:latin typeface="Calibri"/>
                <a:ea typeface="Calibri"/>
                <a:cs typeface="Calibri"/>
                <a:sym typeface="Calibri"/>
              </a:rPr>
              <a:t>String 10110 rejected</a:t>
            </a:r>
            <a:endParaRPr/>
          </a:p>
          <a:p>
            <a:pPr indent="-285750" lvl="0" marL="285750" marR="0" rtl="0" algn="l">
              <a:spcBef>
                <a:spcPts val="0"/>
              </a:spcBef>
              <a:spcAft>
                <a:spcPts val="0"/>
              </a:spcAft>
              <a:buClr>
                <a:srgbClr val="FF0000"/>
              </a:buClr>
              <a:buSzPts val="2400"/>
              <a:buFont typeface="Arial"/>
              <a:buChar char="•"/>
            </a:pPr>
            <a:r>
              <a:rPr lang="en-IN" sz="2400">
                <a:solidFill>
                  <a:srgbClr val="FF0000"/>
                </a:solidFill>
                <a:latin typeface="Calibri"/>
                <a:ea typeface="Calibri"/>
                <a:cs typeface="Calibri"/>
                <a:sym typeface="Calibri"/>
              </a:rPr>
              <a:t>String 1011 rejected</a:t>
            </a:r>
            <a:endParaRPr/>
          </a:p>
          <a:p>
            <a:pPr indent="-285750" lvl="0" marL="285750" marR="0" rtl="0" algn="l">
              <a:spcBef>
                <a:spcPts val="0"/>
              </a:spcBef>
              <a:spcAft>
                <a:spcPts val="0"/>
              </a:spcAft>
              <a:buClr>
                <a:srgbClr val="FF0000"/>
              </a:buClr>
              <a:buSzPts val="2400"/>
              <a:buFont typeface="Arial"/>
              <a:buChar char="•"/>
            </a:pPr>
            <a:r>
              <a:rPr lang="en-IN" sz="2400">
                <a:solidFill>
                  <a:srgbClr val="FF0000"/>
                </a:solidFill>
                <a:latin typeface="Calibri"/>
                <a:ea typeface="Calibri"/>
                <a:cs typeface="Calibri"/>
                <a:sym typeface="Calibri"/>
              </a:rPr>
              <a:t>The above strings should be accepted as the 1’s are not consecutive</a:t>
            </a:r>
            <a:endParaRPr/>
          </a:p>
          <a:p>
            <a:pPr indent="-285750" lvl="0" marL="28575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Strings 110110 rejected-No of 1’s increases to 4=&gt;Works perfectly</a:t>
            </a:r>
            <a:endParaRPr sz="2400">
              <a:solidFill>
                <a:schemeClr val="dk1"/>
              </a:solidFill>
              <a:latin typeface="Calibri"/>
              <a:ea typeface="Calibri"/>
              <a:cs typeface="Calibri"/>
              <a:sym typeface="Calibri"/>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9" name="Shape 2149"/>
        <p:cNvGrpSpPr/>
        <p:nvPr/>
      </p:nvGrpSpPr>
      <p:grpSpPr>
        <a:xfrm>
          <a:off x="0" y="0"/>
          <a:ext cx="0" cy="0"/>
          <a:chOff x="0" y="0"/>
          <a:chExt cx="0" cy="0"/>
        </a:xfrm>
      </p:grpSpPr>
      <p:sp>
        <p:nvSpPr>
          <p:cNvPr id="2150" name="Google Shape;2150;p1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151" name="Google Shape;2151;p1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152" name="Google Shape;2152;p1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153" name="Google Shape;2153;p1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154" name="Google Shape;2154;p166"/>
          <p:cNvGraphicFramePr/>
          <p:nvPr/>
        </p:nvGraphicFramePr>
        <p:xfrm>
          <a:off x="549177" y="1124744"/>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9</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pic>
        <p:nvPicPr>
          <p:cNvPr descr="Examples of Deterministic finite automata" id="2155" name="Google Shape;2155;p166"/>
          <p:cNvPicPr preferRelativeResize="0"/>
          <p:nvPr/>
        </p:nvPicPr>
        <p:blipFill rotWithShape="1">
          <a:blip r:embed="rId3">
            <a:alphaModFix/>
          </a:blip>
          <a:srcRect b="0" l="0" r="0" t="0"/>
          <a:stretch/>
        </p:blipFill>
        <p:spPr>
          <a:xfrm>
            <a:off x="971600" y="1700808"/>
            <a:ext cx="7210425" cy="971551"/>
          </a:xfrm>
          <a:prstGeom prst="rect">
            <a:avLst/>
          </a:prstGeom>
          <a:noFill/>
          <a:ln>
            <a:noFill/>
          </a:ln>
        </p:spPr>
      </p:pic>
      <p:sp>
        <p:nvSpPr>
          <p:cNvPr id="2156" name="Google Shape;2156;p166"/>
          <p:cNvSpPr txBox="1"/>
          <p:nvPr/>
        </p:nvSpPr>
        <p:spPr>
          <a:xfrm>
            <a:off x="909578" y="2780928"/>
            <a:ext cx="7237243" cy="1200329"/>
          </a:xfrm>
          <a:prstGeom prst="rect">
            <a:avLst/>
          </a:prstGeom>
          <a:noFill/>
          <a:ln>
            <a:noFill/>
          </a:ln>
        </p:spPr>
        <p:txBody>
          <a:bodyPr anchorCtr="0" anchor="t" bIns="45700" lIns="91425" spcFirstLastPara="1" rIns="91425" wrap="square" tIns="45700">
            <a:spAutoFit/>
          </a:bodyPr>
          <a:lstStyle/>
          <a:p>
            <a:pPr indent="-133350" lvl="0" marL="285750" marR="0" rtl="0" algn="l">
              <a:spcBef>
                <a:spcPts val="0"/>
              </a:spcBef>
              <a:spcAft>
                <a:spcPts val="0"/>
              </a:spcAft>
              <a:buClr>
                <a:schemeClr val="dk1"/>
              </a:buClr>
              <a:buSzPts val="2400"/>
              <a:buFont typeface="Arial"/>
              <a:buNone/>
            </a:pPr>
            <a:r>
              <a:t/>
            </a:r>
            <a:endParaRPr sz="2400">
              <a:solidFill>
                <a:srgbClr val="FF0000"/>
              </a:solidFill>
              <a:latin typeface="Calibri"/>
              <a:ea typeface="Calibri"/>
              <a:cs typeface="Calibri"/>
              <a:sym typeface="Calibri"/>
            </a:endParaRPr>
          </a:p>
          <a:p>
            <a:pPr indent="-285750" lvl="0" marL="285750" marR="0" rtl="0" algn="l">
              <a:spcBef>
                <a:spcPts val="0"/>
              </a:spcBef>
              <a:spcAft>
                <a:spcPts val="0"/>
              </a:spcAft>
              <a:buClr>
                <a:srgbClr val="FF0000"/>
              </a:buClr>
              <a:buSzPts val="2400"/>
              <a:buFont typeface="Arial"/>
              <a:buChar char="•"/>
            </a:pPr>
            <a:r>
              <a:rPr lang="en-IN" sz="2400">
                <a:solidFill>
                  <a:srgbClr val="FF0000"/>
                </a:solidFill>
                <a:latin typeface="Calibri"/>
                <a:ea typeface="Calibri"/>
                <a:cs typeface="Calibri"/>
                <a:sym typeface="Calibri"/>
              </a:rPr>
              <a:t>Change to be done-</a:t>
            </a:r>
            <a:endParaRPr/>
          </a:p>
          <a:p>
            <a:pPr indent="-285750" lvl="0" marL="28575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Change Outgoing transition from q1 and q2</a:t>
            </a:r>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1" name="Shape 2161"/>
        <p:cNvGrpSpPr/>
        <p:nvPr/>
      </p:nvGrpSpPr>
      <p:grpSpPr>
        <a:xfrm>
          <a:off x="0" y="0"/>
          <a:ext cx="0" cy="0"/>
          <a:chOff x="0" y="0"/>
          <a:chExt cx="0" cy="0"/>
        </a:xfrm>
      </p:grpSpPr>
      <p:sp>
        <p:nvSpPr>
          <p:cNvPr id="2162" name="Google Shape;2162;p1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163" name="Google Shape;2163;p1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164" name="Google Shape;2164;p1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165" name="Google Shape;2165;p1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166" name="Google Shape;2166;p167"/>
          <p:cNvGraphicFramePr/>
          <p:nvPr/>
        </p:nvGraphicFramePr>
        <p:xfrm>
          <a:off x="549177" y="1124744"/>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9</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pic>
        <p:nvPicPr>
          <p:cNvPr descr="Examples of Deterministic finite automata" id="2167" name="Google Shape;2167;p167"/>
          <p:cNvPicPr preferRelativeResize="0"/>
          <p:nvPr/>
        </p:nvPicPr>
        <p:blipFill rotWithShape="1">
          <a:blip r:embed="rId3">
            <a:alphaModFix/>
          </a:blip>
          <a:srcRect b="0" l="0" r="0" t="0"/>
          <a:stretch/>
        </p:blipFill>
        <p:spPr>
          <a:xfrm>
            <a:off x="971600" y="1700808"/>
            <a:ext cx="7210425" cy="971551"/>
          </a:xfrm>
          <a:prstGeom prst="rect">
            <a:avLst/>
          </a:prstGeom>
          <a:noFill/>
          <a:ln>
            <a:noFill/>
          </a:ln>
        </p:spPr>
      </p:pic>
      <p:sp>
        <p:nvSpPr>
          <p:cNvPr id="2168" name="Google Shape;2168;p167"/>
          <p:cNvSpPr txBox="1"/>
          <p:nvPr/>
        </p:nvSpPr>
        <p:spPr>
          <a:xfrm>
            <a:off x="909578" y="2780928"/>
            <a:ext cx="7237243" cy="3046988"/>
          </a:xfrm>
          <a:prstGeom prst="rect">
            <a:avLst/>
          </a:prstGeom>
          <a:noFill/>
          <a:ln>
            <a:noFill/>
          </a:ln>
        </p:spPr>
        <p:txBody>
          <a:bodyPr anchorCtr="0" anchor="t" bIns="45700" lIns="91425" spcFirstLastPara="1" rIns="91425" wrap="square" tIns="45700">
            <a:spAutoFit/>
          </a:bodyPr>
          <a:lstStyle/>
          <a:p>
            <a:pPr indent="-133350" lvl="0" marL="285750" marR="0" rtl="0" algn="l">
              <a:spcBef>
                <a:spcPts val="0"/>
              </a:spcBef>
              <a:spcAft>
                <a:spcPts val="0"/>
              </a:spcAft>
              <a:buClr>
                <a:schemeClr val="dk1"/>
              </a:buClr>
              <a:buSzPts val="2400"/>
              <a:buFont typeface="Arial"/>
              <a:buNone/>
            </a:pPr>
            <a:r>
              <a:t/>
            </a:r>
            <a:endParaRPr sz="2400">
              <a:solidFill>
                <a:srgbClr val="FF0000"/>
              </a:solidFill>
              <a:latin typeface="Calibri"/>
              <a:ea typeface="Calibri"/>
              <a:cs typeface="Calibri"/>
              <a:sym typeface="Calibri"/>
            </a:endParaRPr>
          </a:p>
          <a:p>
            <a:pPr indent="-133350" lvl="0" marL="285750" marR="0" rtl="0" algn="l">
              <a:spcBef>
                <a:spcPts val="0"/>
              </a:spcBef>
              <a:spcAft>
                <a:spcPts val="0"/>
              </a:spcAft>
              <a:buClr>
                <a:schemeClr val="dk1"/>
              </a:buClr>
              <a:buSzPts val="2400"/>
              <a:buFont typeface="Arial"/>
              <a:buNone/>
            </a:pPr>
            <a:r>
              <a:t/>
            </a:r>
            <a:endParaRPr sz="2400">
              <a:solidFill>
                <a:srgbClr val="FF0000"/>
              </a:solidFill>
              <a:latin typeface="Calibri"/>
              <a:ea typeface="Calibri"/>
              <a:cs typeface="Calibri"/>
              <a:sym typeface="Calibri"/>
            </a:endParaRPr>
          </a:p>
          <a:p>
            <a:pPr indent="-285750" lvl="0" marL="285750" marR="0" rtl="0" algn="l">
              <a:spcBef>
                <a:spcPts val="0"/>
              </a:spcBef>
              <a:spcAft>
                <a:spcPts val="0"/>
              </a:spcAft>
              <a:buClr>
                <a:srgbClr val="FF0000"/>
              </a:buClr>
              <a:buSzPts val="2400"/>
              <a:buFont typeface="Arial"/>
              <a:buChar char="•"/>
            </a:pPr>
            <a:r>
              <a:rPr lang="en-IN" sz="2400">
                <a:solidFill>
                  <a:srgbClr val="FF0000"/>
                </a:solidFill>
                <a:latin typeface="Calibri"/>
                <a:ea typeface="Calibri"/>
                <a:cs typeface="Calibri"/>
                <a:sym typeface="Calibri"/>
              </a:rPr>
              <a:t>Change to be done-</a:t>
            </a:r>
            <a:endParaRPr/>
          </a:p>
          <a:p>
            <a:pPr indent="-285750" lvl="0" marL="28575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Change Outgoing transition from q1 and q2</a:t>
            </a:r>
            <a:endParaRPr/>
          </a:p>
          <a:p>
            <a:pPr indent="-285750" lvl="0" marL="285750" marR="0" rtl="0" algn="l">
              <a:spcBef>
                <a:spcPts val="0"/>
              </a:spcBef>
              <a:spcAft>
                <a:spcPts val="0"/>
              </a:spcAft>
              <a:buClr>
                <a:srgbClr val="FF0000"/>
              </a:buClr>
              <a:buSzPts val="2400"/>
              <a:buFont typeface="Arial"/>
              <a:buChar char="•"/>
            </a:pPr>
            <a:r>
              <a:rPr lang="en-IN" sz="2400">
                <a:solidFill>
                  <a:srgbClr val="FF0000"/>
                </a:solidFill>
                <a:latin typeface="Calibri"/>
                <a:ea typeface="Calibri"/>
                <a:cs typeface="Calibri"/>
                <a:sym typeface="Calibri"/>
              </a:rPr>
              <a:t>For Strings 1101,11010 –</a:t>
            </a:r>
            <a:endParaRPr/>
          </a:p>
          <a:p>
            <a:pPr indent="-285750" lvl="0" marL="285750" marR="0" rtl="0" algn="l">
              <a:spcBef>
                <a:spcPts val="0"/>
              </a:spcBef>
              <a:spcAft>
                <a:spcPts val="0"/>
              </a:spcAft>
              <a:buClr>
                <a:srgbClr val="FF0000"/>
              </a:buClr>
              <a:buSzPts val="2400"/>
              <a:buFont typeface="Arial"/>
              <a:buChar char="•"/>
            </a:pPr>
            <a:r>
              <a:rPr lang="en-IN" sz="2400">
                <a:solidFill>
                  <a:srgbClr val="FF0000"/>
                </a:solidFill>
                <a:latin typeface="Calibri"/>
                <a:ea typeface="Calibri"/>
                <a:cs typeface="Calibri"/>
                <a:sym typeface="Calibri"/>
              </a:rPr>
              <a:t>Outgoing transition for 0 from q2 should go to q1</a:t>
            </a:r>
            <a:endParaRPr/>
          </a:p>
          <a:p>
            <a:pPr indent="-285750" lvl="0" marL="285750" marR="0" rtl="0" algn="l">
              <a:spcBef>
                <a:spcPts val="0"/>
              </a:spcBef>
              <a:spcAft>
                <a:spcPts val="0"/>
              </a:spcAft>
              <a:buClr>
                <a:srgbClr val="FF0000"/>
              </a:buClr>
              <a:buSzPts val="2400"/>
              <a:buFont typeface="Arial"/>
              <a:buChar char="•"/>
            </a:pPr>
            <a:r>
              <a:rPr lang="en-IN" sz="2400">
                <a:solidFill>
                  <a:srgbClr val="FF0000"/>
                </a:solidFill>
                <a:latin typeface="Calibri"/>
                <a:ea typeface="Calibri"/>
                <a:cs typeface="Calibri"/>
                <a:sym typeface="Calibri"/>
              </a:rPr>
              <a:t>so that strings like 11011 should be rejected</a:t>
            </a:r>
            <a:endParaRPr sz="2400">
              <a:solidFill>
                <a:srgbClr val="FF0000"/>
              </a:solidFill>
              <a:latin typeface="Calibri"/>
              <a:ea typeface="Calibri"/>
              <a:cs typeface="Calibri"/>
              <a:sym typeface="Calibri"/>
            </a:endParaRPr>
          </a:p>
          <a:p>
            <a:pPr indent="-133350" lvl="0" marL="285750" marR="0" rtl="0" algn="l">
              <a:spcBef>
                <a:spcPts val="0"/>
              </a:spcBef>
              <a:spcAft>
                <a:spcPts val="0"/>
              </a:spcAft>
              <a:buClr>
                <a:schemeClr val="dk1"/>
              </a:buClr>
              <a:buSzPts val="2400"/>
              <a:buFont typeface="Arial"/>
              <a:buNone/>
            </a:pPr>
            <a:r>
              <a:t/>
            </a:r>
            <a:endParaRPr sz="2400">
              <a:solidFill>
                <a:srgbClr val="FF0000"/>
              </a:solidFill>
              <a:latin typeface="Calibri"/>
              <a:ea typeface="Calibri"/>
              <a:cs typeface="Calibri"/>
              <a:sym typeface="Calibri"/>
            </a:endParaRPr>
          </a:p>
        </p:txBody>
      </p:sp>
      <p:sp>
        <p:nvSpPr>
          <p:cNvPr id="2169" name="Google Shape;2169;p167"/>
          <p:cNvSpPr/>
          <p:nvPr/>
        </p:nvSpPr>
        <p:spPr>
          <a:xfrm rot="5400000">
            <a:off x="4283143" y="1862269"/>
            <a:ext cx="828092" cy="2448272"/>
          </a:xfrm>
          <a:prstGeom prst="curvedLef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70" name="Google Shape;2170;p167"/>
          <p:cNvSpPr txBox="1"/>
          <p:nvPr/>
        </p:nvSpPr>
        <p:spPr>
          <a:xfrm>
            <a:off x="3503854" y="1680642"/>
            <a:ext cx="5948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rgbClr val="FF0000"/>
                </a:solidFill>
                <a:latin typeface="Calibri"/>
                <a:ea typeface="Calibri"/>
                <a:cs typeface="Calibri"/>
                <a:sym typeface="Calibri"/>
              </a:rPr>
              <a:t>X</a:t>
            </a:r>
            <a:endParaRPr sz="1800">
              <a:solidFill>
                <a:srgbClr val="FF0000"/>
              </a:solidFill>
              <a:latin typeface="Calibri"/>
              <a:ea typeface="Calibri"/>
              <a:cs typeface="Calibri"/>
              <a:sym typeface="Calibri"/>
            </a:endParaRPr>
          </a:p>
        </p:txBody>
      </p:sp>
      <p:sp>
        <p:nvSpPr>
          <p:cNvPr id="2171" name="Google Shape;2171;p167"/>
          <p:cNvSpPr txBox="1"/>
          <p:nvPr/>
        </p:nvSpPr>
        <p:spPr>
          <a:xfrm>
            <a:off x="5561285" y="1700808"/>
            <a:ext cx="5948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rgbClr val="FF0000"/>
                </a:solidFill>
                <a:latin typeface="Calibri"/>
                <a:ea typeface="Calibri"/>
                <a:cs typeface="Calibri"/>
                <a:sym typeface="Calibri"/>
              </a:rPr>
              <a:t>X</a:t>
            </a:r>
            <a:endParaRPr sz="1800">
              <a:solidFill>
                <a:srgbClr val="FF0000"/>
              </a:solidFill>
              <a:latin typeface="Calibri"/>
              <a:ea typeface="Calibri"/>
              <a:cs typeface="Calibri"/>
              <a:sym typeface="Calibri"/>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6" name="Shape 2176"/>
        <p:cNvGrpSpPr/>
        <p:nvPr/>
      </p:nvGrpSpPr>
      <p:grpSpPr>
        <a:xfrm>
          <a:off x="0" y="0"/>
          <a:ext cx="0" cy="0"/>
          <a:chOff x="0" y="0"/>
          <a:chExt cx="0" cy="0"/>
        </a:xfrm>
      </p:grpSpPr>
      <p:sp>
        <p:nvSpPr>
          <p:cNvPr id="2177" name="Google Shape;2177;p1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178" name="Google Shape;2178;p1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179" name="Google Shape;2179;p1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180" name="Google Shape;2180;p1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181" name="Google Shape;2181;p168"/>
          <p:cNvGraphicFramePr/>
          <p:nvPr/>
        </p:nvGraphicFramePr>
        <p:xfrm>
          <a:off x="549177" y="1124744"/>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9</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p>
                      <a:pPr indent="0" lvl="1" marL="4572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pic>
        <p:nvPicPr>
          <p:cNvPr descr="Examples of Deterministic finite automata" id="2182" name="Google Shape;2182;p168"/>
          <p:cNvPicPr preferRelativeResize="0"/>
          <p:nvPr/>
        </p:nvPicPr>
        <p:blipFill rotWithShape="1">
          <a:blip r:embed="rId3">
            <a:alphaModFix/>
          </a:blip>
          <a:srcRect b="0" l="0" r="0" t="0"/>
          <a:stretch/>
        </p:blipFill>
        <p:spPr>
          <a:xfrm>
            <a:off x="971600" y="1700808"/>
            <a:ext cx="7210425" cy="971551"/>
          </a:xfrm>
          <a:prstGeom prst="rect">
            <a:avLst/>
          </a:prstGeom>
          <a:noFill/>
          <a:ln>
            <a:noFill/>
          </a:ln>
        </p:spPr>
      </p:pic>
      <p:sp>
        <p:nvSpPr>
          <p:cNvPr id="2183" name="Google Shape;2183;p168"/>
          <p:cNvSpPr txBox="1"/>
          <p:nvPr/>
        </p:nvSpPr>
        <p:spPr>
          <a:xfrm>
            <a:off x="909578" y="2780928"/>
            <a:ext cx="7237243" cy="3416320"/>
          </a:xfrm>
          <a:prstGeom prst="rect">
            <a:avLst/>
          </a:prstGeom>
          <a:noFill/>
          <a:ln>
            <a:noFill/>
          </a:ln>
        </p:spPr>
        <p:txBody>
          <a:bodyPr anchorCtr="0" anchor="t" bIns="45700" lIns="91425" spcFirstLastPara="1" rIns="91425" wrap="square" tIns="45700">
            <a:spAutoFit/>
          </a:bodyPr>
          <a:lstStyle/>
          <a:p>
            <a:pPr indent="-133350" lvl="0" marL="285750" marR="0" rtl="0" algn="l">
              <a:spcBef>
                <a:spcPts val="0"/>
              </a:spcBef>
              <a:spcAft>
                <a:spcPts val="0"/>
              </a:spcAft>
              <a:buClr>
                <a:schemeClr val="dk1"/>
              </a:buClr>
              <a:buSzPts val="2400"/>
              <a:buFont typeface="Arial"/>
              <a:buNone/>
            </a:pPr>
            <a:r>
              <a:t/>
            </a:r>
            <a:endParaRPr sz="2400">
              <a:solidFill>
                <a:srgbClr val="FF0000"/>
              </a:solidFill>
              <a:latin typeface="Calibri"/>
              <a:ea typeface="Calibri"/>
              <a:cs typeface="Calibri"/>
              <a:sym typeface="Calibri"/>
            </a:endParaRPr>
          </a:p>
          <a:p>
            <a:pPr indent="-133350" lvl="0" marL="285750" marR="0" rtl="0" algn="l">
              <a:spcBef>
                <a:spcPts val="0"/>
              </a:spcBef>
              <a:spcAft>
                <a:spcPts val="0"/>
              </a:spcAft>
              <a:buClr>
                <a:schemeClr val="dk1"/>
              </a:buClr>
              <a:buSzPts val="2400"/>
              <a:buFont typeface="Arial"/>
              <a:buNone/>
            </a:pPr>
            <a:r>
              <a:t/>
            </a:r>
            <a:endParaRPr sz="2400">
              <a:solidFill>
                <a:srgbClr val="FF0000"/>
              </a:solidFill>
              <a:latin typeface="Calibri"/>
              <a:ea typeface="Calibri"/>
              <a:cs typeface="Calibri"/>
              <a:sym typeface="Calibri"/>
            </a:endParaRPr>
          </a:p>
          <a:p>
            <a:pPr indent="-133350" lvl="0" marL="285750" marR="0" rtl="0" algn="l">
              <a:spcBef>
                <a:spcPts val="0"/>
              </a:spcBef>
              <a:spcAft>
                <a:spcPts val="0"/>
              </a:spcAft>
              <a:buClr>
                <a:schemeClr val="dk1"/>
              </a:buClr>
              <a:buSzPts val="2400"/>
              <a:buFont typeface="Arial"/>
              <a:buNone/>
            </a:pPr>
            <a:r>
              <a:t/>
            </a:r>
            <a:endParaRPr sz="2400">
              <a:solidFill>
                <a:srgbClr val="FF0000"/>
              </a:solidFill>
              <a:latin typeface="Calibri"/>
              <a:ea typeface="Calibri"/>
              <a:cs typeface="Calibri"/>
              <a:sym typeface="Calibri"/>
            </a:endParaRPr>
          </a:p>
          <a:p>
            <a:pPr indent="-285750" lvl="0" marL="285750" marR="0" rtl="0" algn="l">
              <a:spcBef>
                <a:spcPts val="0"/>
              </a:spcBef>
              <a:spcAft>
                <a:spcPts val="0"/>
              </a:spcAft>
              <a:buClr>
                <a:srgbClr val="FF0000"/>
              </a:buClr>
              <a:buSzPts val="2400"/>
              <a:buFont typeface="Arial"/>
              <a:buChar char="•"/>
            </a:pPr>
            <a:r>
              <a:rPr lang="en-IN" sz="2400">
                <a:solidFill>
                  <a:srgbClr val="FF0000"/>
                </a:solidFill>
                <a:latin typeface="Calibri"/>
                <a:ea typeface="Calibri"/>
                <a:cs typeface="Calibri"/>
                <a:sym typeface="Calibri"/>
              </a:rPr>
              <a:t>Change to be done-</a:t>
            </a:r>
            <a:endParaRPr/>
          </a:p>
          <a:p>
            <a:pPr indent="-285750" lvl="0" marL="28575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Change Outgoing transition from q1 and q2</a:t>
            </a:r>
            <a:endParaRPr/>
          </a:p>
          <a:p>
            <a:pPr indent="-285750" lvl="0" marL="285750" marR="0" rtl="0" algn="l">
              <a:spcBef>
                <a:spcPts val="0"/>
              </a:spcBef>
              <a:spcAft>
                <a:spcPts val="0"/>
              </a:spcAft>
              <a:buClr>
                <a:srgbClr val="FF0000"/>
              </a:buClr>
              <a:buSzPts val="2400"/>
              <a:buFont typeface="Arial"/>
              <a:buChar char="•"/>
            </a:pPr>
            <a:r>
              <a:rPr lang="en-IN" sz="2400">
                <a:solidFill>
                  <a:srgbClr val="FF0000"/>
                </a:solidFill>
                <a:latin typeface="Calibri"/>
                <a:ea typeface="Calibri"/>
                <a:cs typeface="Calibri"/>
                <a:sym typeface="Calibri"/>
              </a:rPr>
              <a:t>For Strings like 10110, 1011</a:t>
            </a:r>
            <a:endParaRPr/>
          </a:p>
          <a:p>
            <a:pPr indent="-285750" lvl="0" marL="285750" marR="0" rtl="0" algn="l">
              <a:spcBef>
                <a:spcPts val="0"/>
              </a:spcBef>
              <a:spcAft>
                <a:spcPts val="0"/>
              </a:spcAft>
              <a:buClr>
                <a:srgbClr val="FF0000"/>
              </a:buClr>
              <a:buSzPts val="2400"/>
              <a:buFont typeface="Arial"/>
              <a:buChar char="•"/>
            </a:pPr>
            <a:r>
              <a:rPr lang="en-IN" sz="2400">
                <a:solidFill>
                  <a:srgbClr val="FF0000"/>
                </a:solidFill>
                <a:latin typeface="Calibri"/>
                <a:ea typeface="Calibri"/>
                <a:cs typeface="Calibri"/>
                <a:sym typeface="Calibri"/>
              </a:rPr>
              <a:t>Outgoing transition for 0 from q1 should go to q0</a:t>
            </a:r>
            <a:endParaRPr/>
          </a:p>
          <a:p>
            <a:pPr indent="-285750" lvl="0" marL="285750" marR="0" rtl="0" algn="l">
              <a:spcBef>
                <a:spcPts val="0"/>
              </a:spcBef>
              <a:spcAft>
                <a:spcPts val="0"/>
              </a:spcAft>
              <a:buClr>
                <a:srgbClr val="FF0000"/>
              </a:buClr>
              <a:buSzPts val="2400"/>
              <a:buFont typeface="Arial"/>
              <a:buChar char="•"/>
            </a:pPr>
            <a:r>
              <a:rPr lang="en-IN" sz="2400">
                <a:solidFill>
                  <a:srgbClr val="FF0000"/>
                </a:solidFill>
                <a:latin typeface="Calibri"/>
                <a:ea typeface="Calibri"/>
                <a:cs typeface="Calibri"/>
                <a:sym typeface="Calibri"/>
              </a:rPr>
              <a:t>so that strings like 101101 should be rejected</a:t>
            </a:r>
            <a:endParaRPr sz="2400">
              <a:solidFill>
                <a:srgbClr val="FF0000"/>
              </a:solidFill>
              <a:latin typeface="Calibri"/>
              <a:ea typeface="Calibri"/>
              <a:cs typeface="Calibri"/>
              <a:sym typeface="Calibri"/>
            </a:endParaRPr>
          </a:p>
          <a:p>
            <a:pPr indent="-133350" lvl="0" marL="285750" marR="0" rtl="0" algn="l">
              <a:spcBef>
                <a:spcPts val="0"/>
              </a:spcBef>
              <a:spcAft>
                <a:spcPts val="0"/>
              </a:spcAft>
              <a:buClr>
                <a:schemeClr val="dk1"/>
              </a:buClr>
              <a:buSzPts val="2400"/>
              <a:buFont typeface="Arial"/>
              <a:buNone/>
            </a:pPr>
            <a:r>
              <a:t/>
            </a:r>
            <a:endParaRPr sz="2400">
              <a:solidFill>
                <a:srgbClr val="FF0000"/>
              </a:solidFill>
              <a:latin typeface="Calibri"/>
              <a:ea typeface="Calibri"/>
              <a:cs typeface="Calibri"/>
              <a:sym typeface="Calibri"/>
            </a:endParaRPr>
          </a:p>
        </p:txBody>
      </p:sp>
      <p:sp>
        <p:nvSpPr>
          <p:cNvPr id="2184" name="Google Shape;2184;p168"/>
          <p:cNvSpPr/>
          <p:nvPr/>
        </p:nvSpPr>
        <p:spPr>
          <a:xfrm rot="5400000">
            <a:off x="4400568" y="1979694"/>
            <a:ext cx="828092" cy="2213421"/>
          </a:xfrm>
          <a:prstGeom prst="curvedLef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85" name="Google Shape;2185;p168"/>
          <p:cNvSpPr/>
          <p:nvPr/>
        </p:nvSpPr>
        <p:spPr>
          <a:xfrm rot="5400000">
            <a:off x="1988301" y="2081812"/>
            <a:ext cx="828092" cy="2141413"/>
          </a:xfrm>
          <a:prstGeom prst="curvedLef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86" name="Google Shape;2186;p168"/>
          <p:cNvSpPr txBox="1"/>
          <p:nvPr/>
        </p:nvSpPr>
        <p:spPr>
          <a:xfrm>
            <a:off x="2376591" y="301482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2187" name="Google Shape;2187;p168"/>
          <p:cNvSpPr txBox="1"/>
          <p:nvPr/>
        </p:nvSpPr>
        <p:spPr>
          <a:xfrm>
            <a:off x="4663771" y="298766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2188" name="Google Shape;2188;p168"/>
          <p:cNvSpPr txBox="1"/>
          <p:nvPr/>
        </p:nvSpPr>
        <p:spPr>
          <a:xfrm>
            <a:off x="3503854" y="1680642"/>
            <a:ext cx="5948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rgbClr val="FF0000"/>
                </a:solidFill>
                <a:latin typeface="Calibri"/>
                <a:ea typeface="Calibri"/>
                <a:cs typeface="Calibri"/>
                <a:sym typeface="Calibri"/>
              </a:rPr>
              <a:t>X</a:t>
            </a:r>
            <a:endParaRPr sz="1800">
              <a:solidFill>
                <a:srgbClr val="FF0000"/>
              </a:solidFill>
              <a:latin typeface="Calibri"/>
              <a:ea typeface="Calibri"/>
              <a:cs typeface="Calibri"/>
              <a:sym typeface="Calibri"/>
            </a:endParaRPr>
          </a:p>
        </p:txBody>
      </p:sp>
      <p:sp>
        <p:nvSpPr>
          <p:cNvPr id="2189" name="Google Shape;2189;p168"/>
          <p:cNvSpPr txBox="1"/>
          <p:nvPr/>
        </p:nvSpPr>
        <p:spPr>
          <a:xfrm>
            <a:off x="5561285" y="1700808"/>
            <a:ext cx="5948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rgbClr val="FF0000"/>
                </a:solidFill>
                <a:latin typeface="Calibri"/>
                <a:ea typeface="Calibri"/>
                <a:cs typeface="Calibri"/>
                <a:sym typeface="Calibri"/>
              </a:rPr>
              <a:t>X</a:t>
            </a:r>
            <a:endParaRPr sz="1800">
              <a:solidFill>
                <a:srgbClr val="FF0000"/>
              </a:solidFill>
              <a:latin typeface="Calibri"/>
              <a:ea typeface="Calibri"/>
              <a:cs typeface="Calibri"/>
              <a:sym typeface="Calibri"/>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4" name="Shape 2194"/>
        <p:cNvGrpSpPr/>
        <p:nvPr/>
      </p:nvGrpSpPr>
      <p:grpSpPr>
        <a:xfrm>
          <a:off x="0" y="0"/>
          <a:ext cx="0" cy="0"/>
          <a:chOff x="0" y="0"/>
          <a:chExt cx="0" cy="0"/>
        </a:xfrm>
      </p:grpSpPr>
      <p:sp>
        <p:nvSpPr>
          <p:cNvPr id="2195" name="Google Shape;2195;p16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196" name="Google Shape;2196;p1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197" name="Google Shape;2197;p1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198" name="Google Shape;2198;p1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199" name="Google Shape;2199;p169"/>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10</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rPr lang="en-IN" sz="2400"/>
                        <a:t>Design a DFA to</a:t>
                      </a:r>
                      <a:r>
                        <a:rPr lang="en-IN" sz="2400"/>
                        <a:t> accept the language </a:t>
                      </a:r>
                      <a:r>
                        <a:rPr lang="en-IN" sz="2400"/>
                        <a:t>L(M) = {0</a:t>
                      </a:r>
                      <a:r>
                        <a:rPr baseline="30000" lang="en-IN" sz="2400"/>
                        <a:t>m</a:t>
                      </a:r>
                      <a:r>
                        <a:rPr lang="en-IN" sz="2400"/>
                        <a:t>1</a:t>
                      </a:r>
                      <a:r>
                        <a:rPr baseline="30000" lang="en-IN" sz="2400"/>
                        <a:t>n</a:t>
                      </a:r>
                      <a:r>
                        <a:rPr lang="en-IN" sz="2400"/>
                        <a:t> | m&gt;=0 and n&gt;=1 }</a:t>
                      </a:r>
                      <a:endParaRPr/>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4" name="Shape 2204"/>
        <p:cNvGrpSpPr/>
        <p:nvPr/>
      </p:nvGrpSpPr>
      <p:grpSpPr>
        <a:xfrm>
          <a:off x="0" y="0"/>
          <a:ext cx="0" cy="0"/>
          <a:chOff x="0" y="0"/>
          <a:chExt cx="0" cy="0"/>
        </a:xfrm>
      </p:grpSpPr>
      <p:sp>
        <p:nvSpPr>
          <p:cNvPr id="2205" name="Google Shape;2205;p17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206" name="Google Shape;2206;p1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207" name="Google Shape;2207;p1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208" name="Google Shape;2208;p1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209" name="Google Shape;2209;p170"/>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10-Design a DFA to</a:t>
                      </a:r>
                      <a:r>
                        <a:rPr lang="en-IN" sz="2400"/>
                        <a:t> accept the language </a:t>
                      </a:r>
                      <a:r>
                        <a:rPr lang="en-IN" sz="2400"/>
                        <a:t>L(M) = {0</a:t>
                      </a:r>
                      <a:r>
                        <a:rPr baseline="30000" lang="en-IN" sz="2400"/>
                        <a:t>m</a:t>
                      </a:r>
                      <a:r>
                        <a:rPr lang="en-IN" sz="2400"/>
                        <a:t>1</a:t>
                      </a:r>
                      <a:r>
                        <a:rPr baseline="30000" lang="en-IN" sz="2400"/>
                        <a:t>n</a:t>
                      </a:r>
                      <a:r>
                        <a:rPr lang="en-IN" sz="2400"/>
                        <a:t> | m&gt;=0 and n&gt;=1 }</a:t>
                      </a:r>
                      <a:endParaRPr/>
                    </a:p>
                  </a:txBody>
                  <a:tcPr marT="45725" marB="45725" marR="91450" marL="91450"/>
                </a:tc>
              </a:tr>
              <a:tr h="3086975">
                <a:tc>
                  <a:txBody>
                    <a:bodyPr/>
                    <a:lstStyle/>
                    <a:p>
                      <a:pPr indent="-342900" lvl="0" marL="342900" marR="0" rtl="0" algn="l">
                        <a:spcBef>
                          <a:spcPts val="0"/>
                        </a:spcBef>
                        <a:spcAft>
                          <a:spcPts val="0"/>
                        </a:spcAft>
                        <a:buClr>
                          <a:schemeClr val="dk1"/>
                        </a:buClr>
                        <a:buSzPts val="2400"/>
                        <a:buFont typeface="Arial"/>
                        <a:buChar char="•"/>
                      </a:pPr>
                      <a:r>
                        <a:rPr lang="en-IN" sz="2400"/>
                        <a:t>All 0s are followed by 1s</a:t>
                      </a:r>
                      <a:endParaRPr/>
                    </a:p>
                    <a:p>
                      <a:pPr indent="-190500" lvl="0" marL="342900" marR="0" rtl="0" algn="l">
                        <a:spcBef>
                          <a:spcPts val="0"/>
                        </a:spcBef>
                        <a:spcAft>
                          <a:spcPts val="0"/>
                        </a:spcAft>
                        <a:buClr>
                          <a:schemeClr val="dk1"/>
                        </a:buClr>
                        <a:buSzPts val="2400"/>
                        <a:buFont typeface="Arial"/>
                        <a:buNone/>
                      </a:pPr>
                      <a:r>
                        <a:t/>
                      </a:r>
                      <a:endParaRPr sz="2400"/>
                    </a:p>
                    <a:p>
                      <a:pPr indent="-342900" lvl="0" marL="342900" marR="0" rtl="0" algn="l">
                        <a:spcBef>
                          <a:spcPts val="0"/>
                        </a:spcBef>
                        <a:spcAft>
                          <a:spcPts val="0"/>
                        </a:spcAft>
                        <a:buClr>
                          <a:schemeClr val="dk1"/>
                        </a:buClr>
                        <a:buSzPts val="2400"/>
                        <a:buFont typeface="Arial"/>
                        <a:buChar char="•"/>
                      </a:pPr>
                      <a:r>
                        <a:rPr lang="en-IN" sz="2400"/>
                        <a:t>No of zeros can be 0</a:t>
                      </a:r>
                      <a:endParaRPr/>
                    </a:p>
                    <a:p>
                      <a:pPr indent="-190500" lvl="0" marL="342900" marR="0" rtl="0" algn="l">
                        <a:spcBef>
                          <a:spcPts val="0"/>
                        </a:spcBef>
                        <a:spcAft>
                          <a:spcPts val="0"/>
                        </a:spcAft>
                        <a:buClr>
                          <a:schemeClr val="dk1"/>
                        </a:buClr>
                        <a:buSzPts val="2400"/>
                        <a:buFont typeface="Arial"/>
                        <a:buNone/>
                      </a:pPr>
                      <a:r>
                        <a:t/>
                      </a:r>
                      <a:endParaRPr sz="2400"/>
                    </a:p>
                    <a:p>
                      <a:pPr indent="-342900" lvl="0" marL="342900" marR="0" rtl="0" algn="l">
                        <a:spcBef>
                          <a:spcPts val="0"/>
                        </a:spcBef>
                        <a:spcAft>
                          <a:spcPts val="0"/>
                        </a:spcAft>
                        <a:buClr>
                          <a:schemeClr val="dk1"/>
                        </a:buClr>
                        <a:buSzPts val="2400"/>
                        <a:buFont typeface="Arial"/>
                        <a:buChar char="•"/>
                      </a:pPr>
                      <a:r>
                        <a:rPr lang="en-IN" sz="2400"/>
                        <a:t>No of  ones has to be minimum 1, so one transition for 1 has to be there</a:t>
                      </a:r>
                      <a:endParaRPr/>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4" name="Shape 2214"/>
        <p:cNvGrpSpPr/>
        <p:nvPr/>
      </p:nvGrpSpPr>
      <p:grpSpPr>
        <a:xfrm>
          <a:off x="0" y="0"/>
          <a:ext cx="0" cy="0"/>
          <a:chOff x="0" y="0"/>
          <a:chExt cx="0" cy="0"/>
        </a:xfrm>
      </p:grpSpPr>
      <p:sp>
        <p:nvSpPr>
          <p:cNvPr id="2215" name="Google Shape;2215;p1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216" name="Google Shape;2216;p1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217" name="Google Shape;2217;p1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218" name="Google Shape;2218;p1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219" name="Google Shape;2219;p171"/>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9851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10-Design a DFA to</a:t>
                      </a:r>
                      <a:r>
                        <a:rPr lang="en-IN" sz="2400"/>
                        <a:t> accept the language </a:t>
                      </a:r>
                      <a:r>
                        <a:rPr lang="en-IN" sz="2400"/>
                        <a:t>L(M) = {0</a:t>
                      </a:r>
                      <a:r>
                        <a:rPr baseline="30000" lang="en-IN" sz="2400"/>
                        <a:t>m</a:t>
                      </a:r>
                      <a:r>
                        <a:rPr lang="en-IN" sz="2400"/>
                        <a:t>1</a:t>
                      </a:r>
                      <a:r>
                        <a:rPr baseline="30000" lang="en-IN" sz="2400"/>
                        <a:t>n</a:t>
                      </a:r>
                      <a:r>
                        <a:rPr lang="en-IN" sz="2400"/>
                        <a:t> | m&gt;=0 and n&gt;=1 }</a:t>
                      </a:r>
                      <a:endParaRPr/>
                    </a:p>
                  </a:txBody>
                  <a:tcPr marT="45725" marB="45725" marR="91450" marL="91450"/>
                </a:tc>
              </a:tr>
              <a:tr h="3695375">
                <a:tc>
                  <a:txBody>
                    <a:bodyPr/>
                    <a:lstStyle/>
                    <a:p>
                      <a:pPr indent="-342900" lvl="0" marL="342900" marR="0" rtl="0" algn="l">
                        <a:spcBef>
                          <a:spcPts val="0"/>
                        </a:spcBef>
                        <a:spcAft>
                          <a:spcPts val="0"/>
                        </a:spcAft>
                        <a:buClr>
                          <a:schemeClr val="dk1"/>
                        </a:buClr>
                        <a:buSzPts val="2400"/>
                        <a:buFont typeface="Arial"/>
                        <a:buChar char="•"/>
                      </a:pPr>
                      <a:r>
                        <a:rPr lang="en-IN" sz="2400"/>
                        <a:t>No of zeros can be 0=&gt;can be associated with start state</a:t>
                      </a:r>
                      <a:endParaRPr/>
                    </a:p>
                    <a:p>
                      <a:pPr indent="-190500" lvl="0" marL="342900" marR="0" rtl="0" algn="l">
                        <a:spcBef>
                          <a:spcPts val="0"/>
                        </a:spcBef>
                        <a:spcAft>
                          <a:spcPts val="0"/>
                        </a:spcAft>
                        <a:buClr>
                          <a:schemeClr val="dk1"/>
                        </a:buClr>
                        <a:buSzPts val="2400"/>
                        <a:buFont typeface="Arial"/>
                        <a:buNone/>
                      </a:pPr>
                      <a:r>
                        <a:t/>
                      </a:r>
                      <a:endParaRPr sz="2400"/>
                    </a:p>
                    <a:p>
                      <a:pPr indent="-342900" lvl="0" marL="342900" marR="0" rtl="0" algn="l">
                        <a:spcBef>
                          <a:spcPts val="0"/>
                        </a:spcBef>
                        <a:spcAft>
                          <a:spcPts val="0"/>
                        </a:spcAft>
                        <a:buClr>
                          <a:schemeClr val="dk1"/>
                        </a:buClr>
                        <a:buSzPts val="2400"/>
                        <a:buFont typeface="Arial"/>
                        <a:buChar char="•"/>
                      </a:pPr>
                      <a:r>
                        <a:rPr lang="en-IN" sz="2400"/>
                        <a:t>No of  ones has to be minimum 1, so one transition for 1 has to be there=&gt;final state</a:t>
                      </a:r>
                      <a:endParaRPr/>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
        <p:nvSpPr>
          <p:cNvPr id="2220" name="Google Shape;2220;p171"/>
          <p:cNvSpPr/>
          <p:nvPr/>
        </p:nvSpPr>
        <p:spPr>
          <a:xfrm>
            <a:off x="2771800" y="4909810"/>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S0</a:t>
            </a:r>
            <a:endParaRPr sz="1800">
              <a:solidFill>
                <a:schemeClr val="lt1"/>
              </a:solidFill>
              <a:latin typeface="Calibri"/>
              <a:ea typeface="Calibri"/>
              <a:cs typeface="Calibri"/>
              <a:sym typeface="Calibri"/>
            </a:endParaRPr>
          </a:p>
        </p:txBody>
      </p:sp>
      <p:cxnSp>
        <p:nvCxnSpPr>
          <p:cNvPr id="2221" name="Google Shape;2221;p171"/>
          <p:cNvCxnSpPr/>
          <p:nvPr/>
        </p:nvCxnSpPr>
        <p:spPr>
          <a:xfrm>
            <a:off x="3707904" y="5301208"/>
            <a:ext cx="1584176" cy="0"/>
          </a:xfrm>
          <a:prstGeom prst="straightConnector1">
            <a:avLst/>
          </a:prstGeom>
          <a:noFill/>
          <a:ln cap="flat" cmpd="sng" w="9525">
            <a:solidFill>
              <a:srgbClr val="4A7DBA"/>
            </a:solidFill>
            <a:prstDash val="solid"/>
            <a:round/>
            <a:headEnd len="sm" w="sm" type="none"/>
            <a:tailEnd len="med" w="med" type="stealth"/>
          </a:ln>
        </p:spPr>
      </p:cxnSp>
      <p:cxnSp>
        <p:nvCxnSpPr>
          <p:cNvPr id="2222" name="Google Shape;2222;p171"/>
          <p:cNvCxnSpPr/>
          <p:nvPr/>
        </p:nvCxnSpPr>
        <p:spPr>
          <a:xfrm>
            <a:off x="1763688" y="5269850"/>
            <a:ext cx="1008112" cy="0"/>
          </a:xfrm>
          <a:prstGeom prst="straightConnector1">
            <a:avLst/>
          </a:prstGeom>
          <a:noFill/>
          <a:ln cap="flat" cmpd="sng" w="9525">
            <a:solidFill>
              <a:srgbClr val="4A7DBA"/>
            </a:solidFill>
            <a:prstDash val="solid"/>
            <a:round/>
            <a:headEnd len="sm" w="sm" type="none"/>
            <a:tailEnd len="med" w="med" type="stealth"/>
          </a:ln>
        </p:spPr>
      </p:cxnSp>
      <p:sp>
        <p:nvSpPr>
          <p:cNvPr id="2223" name="Google Shape;2223;p171"/>
          <p:cNvSpPr txBox="1"/>
          <p:nvPr/>
        </p:nvSpPr>
        <p:spPr>
          <a:xfrm>
            <a:off x="4211960" y="4931876"/>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2224" name="Google Shape;2224;p171"/>
          <p:cNvSpPr/>
          <p:nvPr/>
        </p:nvSpPr>
        <p:spPr>
          <a:xfrm>
            <a:off x="5436096" y="4119810"/>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25" name="Google Shape;2225;p171"/>
          <p:cNvSpPr/>
          <p:nvPr/>
        </p:nvSpPr>
        <p:spPr>
          <a:xfrm>
            <a:off x="2843808" y="4119810"/>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2226" name="Google Shape;2226;p171"/>
          <p:cNvGrpSpPr/>
          <p:nvPr/>
        </p:nvGrpSpPr>
        <p:grpSpPr>
          <a:xfrm>
            <a:off x="5315985" y="4912844"/>
            <a:ext cx="936104" cy="792088"/>
            <a:chOff x="2771800" y="4941168"/>
            <a:chExt cx="936104" cy="792088"/>
          </a:xfrm>
        </p:grpSpPr>
        <p:sp>
          <p:nvSpPr>
            <p:cNvPr id="2227" name="Google Shape;2227;p171"/>
            <p:cNvSpPr/>
            <p:nvPr/>
          </p:nvSpPr>
          <p:spPr>
            <a:xfrm>
              <a:off x="2771800" y="4941168"/>
              <a:ext cx="936104" cy="792088"/>
            </a:xfrm>
            <a:prstGeom prst="ellipse">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8" name="Google Shape;2228;p171"/>
            <p:cNvSpPr/>
            <p:nvPr/>
          </p:nvSpPr>
          <p:spPr>
            <a:xfrm>
              <a:off x="2987824" y="5085184"/>
              <a:ext cx="574460"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S1</a:t>
              </a:r>
              <a:endParaRPr sz="1800">
                <a:solidFill>
                  <a:schemeClr val="lt1"/>
                </a:solidFill>
                <a:latin typeface="Calibri"/>
                <a:ea typeface="Calibri"/>
                <a:cs typeface="Calibri"/>
                <a:sym typeface="Calibri"/>
              </a:endParaRPr>
            </a:p>
          </p:txBody>
        </p:sp>
      </p:grpSp>
      <p:sp>
        <p:nvSpPr>
          <p:cNvPr id="2229" name="Google Shape;2229;p171"/>
          <p:cNvSpPr txBox="1"/>
          <p:nvPr/>
        </p:nvSpPr>
        <p:spPr>
          <a:xfrm>
            <a:off x="3484638" y="4211796"/>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2230" name="Google Shape;2230;p171"/>
          <p:cNvSpPr txBox="1"/>
          <p:nvPr/>
        </p:nvSpPr>
        <p:spPr>
          <a:xfrm>
            <a:off x="6084168" y="422108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5" name="Shape 2235"/>
        <p:cNvGrpSpPr/>
        <p:nvPr/>
      </p:nvGrpSpPr>
      <p:grpSpPr>
        <a:xfrm>
          <a:off x="0" y="0"/>
          <a:ext cx="0" cy="0"/>
          <a:chOff x="0" y="0"/>
          <a:chExt cx="0" cy="0"/>
        </a:xfrm>
      </p:grpSpPr>
      <p:sp>
        <p:nvSpPr>
          <p:cNvPr id="2236" name="Google Shape;2236;p17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237" name="Google Shape;2237;p17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238" name="Google Shape;2238;p1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239" name="Google Shape;2239;p1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240" name="Google Shape;2240;p172"/>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11</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rPr lang="en-IN" sz="2400"/>
                        <a:t>Design a DFA which accepts all the strings not having more than 2 a’s over ∑={a,b}</a:t>
                      </a:r>
                      <a:endParaRPr/>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5" name="Shape 2245"/>
        <p:cNvGrpSpPr/>
        <p:nvPr/>
      </p:nvGrpSpPr>
      <p:grpSpPr>
        <a:xfrm>
          <a:off x="0" y="0"/>
          <a:ext cx="0" cy="0"/>
          <a:chOff x="0" y="0"/>
          <a:chExt cx="0" cy="0"/>
        </a:xfrm>
      </p:grpSpPr>
      <p:sp>
        <p:nvSpPr>
          <p:cNvPr id="2246" name="Google Shape;2246;p17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247" name="Google Shape;2247;p17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248" name="Google Shape;2248;p17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249" name="Google Shape;2249;p1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250" name="Google Shape;2250;p173"/>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11</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rPr lang="en-IN" sz="2400"/>
                        <a:t>Design a DFA which accepts all the strings not having more than 2 a’s over ∑={a,b}</a:t>
                      </a:r>
                      <a:endParaRPr/>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
        <p:nvSpPr>
          <p:cNvPr id="2251" name="Google Shape;2251;p173"/>
          <p:cNvSpPr/>
          <p:nvPr/>
        </p:nvSpPr>
        <p:spPr>
          <a:xfrm>
            <a:off x="7090676" y="494116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q3</a:t>
            </a:r>
            <a:endParaRPr sz="1800">
              <a:solidFill>
                <a:schemeClr val="lt1"/>
              </a:solidFill>
              <a:latin typeface="Calibri"/>
              <a:ea typeface="Calibri"/>
              <a:cs typeface="Calibri"/>
              <a:sym typeface="Calibri"/>
            </a:endParaRPr>
          </a:p>
        </p:txBody>
      </p:sp>
      <p:cxnSp>
        <p:nvCxnSpPr>
          <p:cNvPr id="2252" name="Google Shape;2252;p173"/>
          <p:cNvCxnSpPr/>
          <p:nvPr/>
        </p:nvCxnSpPr>
        <p:spPr>
          <a:xfrm flipH="1" rot="10800000">
            <a:off x="6240719" y="5257230"/>
            <a:ext cx="849957" cy="26015"/>
          </a:xfrm>
          <a:prstGeom prst="straightConnector1">
            <a:avLst/>
          </a:prstGeom>
          <a:noFill/>
          <a:ln cap="flat" cmpd="sng" w="9525">
            <a:solidFill>
              <a:srgbClr val="4A7DBA"/>
            </a:solidFill>
            <a:prstDash val="solid"/>
            <a:round/>
            <a:headEnd len="sm" w="sm" type="none"/>
            <a:tailEnd len="med" w="med" type="stealth"/>
          </a:ln>
        </p:spPr>
      </p:cxnSp>
      <p:cxnSp>
        <p:nvCxnSpPr>
          <p:cNvPr id="2253" name="Google Shape;2253;p173"/>
          <p:cNvCxnSpPr/>
          <p:nvPr/>
        </p:nvCxnSpPr>
        <p:spPr>
          <a:xfrm flipH="1" rot="10800000">
            <a:off x="2771800" y="5301208"/>
            <a:ext cx="657303" cy="16067"/>
          </a:xfrm>
          <a:prstGeom prst="straightConnector1">
            <a:avLst/>
          </a:prstGeom>
          <a:noFill/>
          <a:ln cap="flat" cmpd="sng" w="9525">
            <a:solidFill>
              <a:srgbClr val="4A7DBA"/>
            </a:solidFill>
            <a:prstDash val="solid"/>
            <a:round/>
            <a:headEnd len="sm" w="sm" type="none"/>
            <a:tailEnd len="med" w="med" type="stealth"/>
          </a:ln>
        </p:spPr>
      </p:cxnSp>
      <p:sp>
        <p:nvSpPr>
          <p:cNvPr id="2254" name="Google Shape;2254;p173"/>
          <p:cNvSpPr/>
          <p:nvPr/>
        </p:nvSpPr>
        <p:spPr>
          <a:xfrm>
            <a:off x="7236296" y="4108430"/>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255" name="Google Shape;2255;p173"/>
          <p:cNvCxnSpPr/>
          <p:nvPr/>
        </p:nvCxnSpPr>
        <p:spPr>
          <a:xfrm>
            <a:off x="827584" y="5243835"/>
            <a:ext cx="1008112" cy="0"/>
          </a:xfrm>
          <a:prstGeom prst="straightConnector1">
            <a:avLst/>
          </a:prstGeom>
          <a:noFill/>
          <a:ln cap="flat" cmpd="sng" w="9525">
            <a:solidFill>
              <a:srgbClr val="4A7DBA"/>
            </a:solidFill>
            <a:prstDash val="solid"/>
            <a:round/>
            <a:headEnd len="sm" w="sm" type="none"/>
            <a:tailEnd len="med" w="med" type="stealth"/>
          </a:ln>
        </p:spPr>
      </p:cxnSp>
      <p:sp>
        <p:nvSpPr>
          <p:cNvPr id="2256" name="Google Shape;2256;p173"/>
          <p:cNvSpPr txBox="1"/>
          <p:nvPr/>
        </p:nvSpPr>
        <p:spPr>
          <a:xfrm>
            <a:off x="2877700" y="4900906"/>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a:p>
        </p:txBody>
      </p:sp>
      <p:sp>
        <p:nvSpPr>
          <p:cNvPr id="2257" name="Google Shape;2257;p173"/>
          <p:cNvSpPr txBox="1"/>
          <p:nvPr/>
        </p:nvSpPr>
        <p:spPr>
          <a:xfrm>
            <a:off x="6428292" y="4860256"/>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2258" name="Google Shape;2258;p173"/>
          <p:cNvSpPr/>
          <p:nvPr/>
        </p:nvSpPr>
        <p:spPr>
          <a:xfrm>
            <a:off x="2016518" y="4134445"/>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2259" name="Google Shape;2259;p173"/>
          <p:cNvGrpSpPr/>
          <p:nvPr/>
        </p:nvGrpSpPr>
        <p:grpSpPr>
          <a:xfrm>
            <a:off x="3456232" y="4900906"/>
            <a:ext cx="936104" cy="792088"/>
            <a:chOff x="1979712" y="4307731"/>
            <a:chExt cx="936104" cy="792088"/>
          </a:xfrm>
        </p:grpSpPr>
        <p:sp>
          <p:nvSpPr>
            <p:cNvPr id="2260" name="Google Shape;2260;p173"/>
            <p:cNvSpPr/>
            <p:nvPr/>
          </p:nvSpPr>
          <p:spPr>
            <a:xfrm>
              <a:off x="1979712" y="4307731"/>
              <a:ext cx="936104" cy="792088"/>
            </a:xfrm>
            <a:prstGeom prst="ellipse">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1" name="Google Shape;2261;p173"/>
            <p:cNvSpPr/>
            <p:nvPr/>
          </p:nvSpPr>
          <p:spPr>
            <a:xfrm>
              <a:off x="2195736" y="4451747"/>
              <a:ext cx="648072"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q1</a:t>
              </a:r>
              <a:endParaRPr sz="1800">
                <a:solidFill>
                  <a:schemeClr val="lt1"/>
                </a:solidFill>
                <a:latin typeface="Calibri"/>
                <a:ea typeface="Calibri"/>
                <a:cs typeface="Calibri"/>
                <a:sym typeface="Calibri"/>
              </a:endParaRPr>
            </a:p>
          </p:txBody>
        </p:sp>
      </p:grpSp>
      <p:sp>
        <p:nvSpPr>
          <p:cNvPr id="2262" name="Google Shape;2262;p173"/>
          <p:cNvSpPr txBox="1"/>
          <p:nvPr/>
        </p:nvSpPr>
        <p:spPr>
          <a:xfrm>
            <a:off x="7913614" y="4243154"/>
            <a:ext cx="4748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a,b</a:t>
            </a:r>
            <a:endParaRPr sz="1800">
              <a:solidFill>
                <a:schemeClr val="dk1"/>
              </a:solidFill>
              <a:latin typeface="Calibri"/>
              <a:ea typeface="Calibri"/>
              <a:cs typeface="Calibri"/>
              <a:sym typeface="Calibri"/>
            </a:endParaRPr>
          </a:p>
        </p:txBody>
      </p:sp>
      <p:sp>
        <p:nvSpPr>
          <p:cNvPr id="2263" name="Google Shape;2263;p173"/>
          <p:cNvSpPr txBox="1"/>
          <p:nvPr/>
        </p:nvSpPr>
        <p:spPr>
          <a:xfrm>
            <a:off x="2123728" y="3676382"/>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a:p>
        </p:txBody>
      </p:sp>
      <p:grpSp>
        <p:nvGrpSpPr>
          <p:cNvPr id="2264" name="Google Shape;2264;p173"/>
          <p:cNvGrpSpPr/>
          <p:nvPr/>
        </p:nvGrpSpPr>
        <p:grpSpPr>
          <a:xfrm>
            <a:off x="1835696" y="4869160"/>
            <a:ext cx="936104" cy="792088"/>
            <a:chOff x="1979712" y="4307731"/>
            <a:chExt cx="936104" cy="792088"/>
          </a:xfrm>
        </p:grpSpPr>
        <p:sp>
          <p:nvSpPr>
            <p:cNvPr id="2265" name="Google Shape;2265;p173"/>
            <p:cNvSpPr/>
            <p:nvPr/>
          </p:nvSpPr>
          <p:spPr>
            <a:xfrm>
              <a:off x="1979712" y="4307731"/>
              <a:ext cx="936104" cy="792088"/>
            </a:xfrm>
            <a:prstGeom prst="ellipse">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6" name="Google Shape;2266;p173"/>
            <p:cNvSpPr/>
            <p:nvPr/>
          </p:nvSpPr>
          <p:spPr>
            <a:xfrm>
              <a:off x="2195736" y="4451747"/>
              <a:ext cx="648072"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q0</a:t>
              </a:r>
              <a:endParaRPr sz="1800">
                <a:solidFill>
                  <a:schemeClr val="lt1"/>
                </a:solidFill>
                <a:latin typeface="Calibri"/>
                <a:ea typeface="Calibri"/>
                <a:cs typeface="Calibri"/>
                <a:sym typeface="Calibri"/>
              </a:endParaRPr>
            </a:p>
          </p:txBody>
        </p:sp>
      </p:grpSp>
      <p:grpSp>
        <p:nvGrpSpPr>
          <p:cNvPr id="2267" name="Google Shape;2267;p173"/>
          <p:cNvGrpSpPr/>
          <p:nvPr/>
        </p:nvGrpSpPr>
        <p:grpSpPr>
          <a:xfrm>
            <a:off x="5292080" y="4847791"/>
            <a:ext cx="936104" cy="792088"/>
            <a:chOff x="1979712" y="4307731"/>
            <a:chExt cx="936104" cy="792088"/>
          </a:xfrm>
        </p:grpSpPr>
        <p:sp>
          <p:nvSpPr>
            <p:cNvPr id="2268" name="Google Shape;2268;p173"/>
            <p:cNvSpPr/>
            <p:nvPr/>
          </p:nvSpPr>
          <p:spPr>
            <a:xfrm>
              <a:off x="1979712" y="4307731"/>
              <a:ext cx="936104" cy="792088"/>
            </a:xfrm>
            <a:prstGeom prst="ellipse">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9" name="Google Shape;2269;p173"/>
            <p:cNvSpPr/>
            <p:nvPr/>
          </p:nvSpPr>
          <p:spPr>
            <a:xfrm>
              <a:off x="2195736" y="4451747"/>
              <a:ext cx="648072"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q2</a:t>
              </a:r>
              <a:endParaRPr sz="1800">
                <a:solidFill>
                  <a:schemeClr val="lt1"/>
                </a:solidFill>
                <a:latin typeface="Calibri"/>
                <a:ea typeface="Calibri"/>
                <a:cs typeface="Calibri"/>
                <a:sym typeface="Calibri"/>
              </a:endParaRPr>
            </a:p>
          </p:txBody>
        </p:sp>
      </p:grpSp>
      <p:cxnSp>
        <p:nvCxnSpPr>
          <p:cNvPr id="2270" name="Google Shape;2270;p173"/>
          <p:cNvCxnSpPr>
            <a:stCxn id="2260" idx="6"/>
          </p:cNvCxnSpPr>
          <p:nvPr/>
        </p:nvCxnSpPr>
        <p:spPr>
          <a:xfrm>
            <a:off x="4392336" y="5296950"/>
            <a:ext cx="899700" cy="4200"/>
          </a:xfrm>
          <a:prstGeom prst="straightConnector1">
            <a:avLst/>
          </a:prstGeom>
          <a:noFill/>
          <a:ln cap="flat" cmpd="sng" w="9525">
            <a:solidFill>
              <a:srgbClr val="4A7DBA"/>
            </a:solidFill>
            <a:prstDash val="solid"/>
            <a:round/>
            <a:headEnd len="sm" w="sm" type="none"/>
            <a:tailEnd len="med" w="med" type="stealth"/>
          </a:ln>
        </p:spPr>
      </p:cxnSp>
      <p:sp>
        <p:nvSpPr>
          <p:cNvPr id="2271" name="Google Shape;2271;p173"/>
          <p:cNvSpPr txBox="1"/>
          <p:nvPr/>
        </p:nvSpPr>
        <p:spPr>
          <a:xfrm>
            <a:off x="4564758" y="4941168"/>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a:p>
        </p:txBody>
      </p:sp>
      <p:sp>
        <p:nvSpPr>
          <p:cNvPr id="2272" name="Google Shape;2272;p173"/>
          <p:cNvSpPr/>
          <p:nvPr/>
        </p:nvSpPr>
        <p:spPr>
          <a:xfrm>
            <a:off x="3563888" y="4134445"/>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73" name="Google Shape;2273;p173"/>
          <p:cNvSpPr/>
          <p:nvPr/>
        </p:nvSpPr>
        <p:spPr>
          <a:xfrm>
            <a:off x="5436096" y="4077072"/>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74" name="Google Shape;2274;p173"/>
          <p:cNvSpPr txBox="1"/>
          <p:nvPr/>
        </p:nvSpPr>
        <p:spPr>
          <a:xfrm>
            <a:off x="3707904" y="3717032"/>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a:p>
        </p:txBody>
      </p:sp>
      <p:sp>
        <p:nvSpPr>
          <p:cNvPr id="2275" name="Google Shape;2275;p173"/>
          <p:cNvSpPr txBox="1"/>
          <p:nvPr/>
        </p:nvSpPr>
        <p:spPr>
          <a:xfrm>
            <a:off x="5561650" y="3717032"/>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0" name="Shape 2280"/>
        <p:cNvGrpSpPr/>
        <p:nvPr/>
      </p:nvGrpSpPr>
      <p:grpSpPr>
        <a:xfrm>
          <a:off x="0" y="0"/>
          <a:ext cx="0" cy="0"/>
          <a:chOff x="0" y="0"/>
          <a:chExt cx="0" cy="0"/>
        </a:xfrm>
      </p:grpSpPr>
      <p:sp>
        <p:nvSpPr>
          <p:cNvPr id="2281" name="Google Shape;2281;p17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282" name="Google Shape;2282;p17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283" name="Google Shape;2283;p17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284" name="Google Shape;2284;p1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285" name="Google Shape;2285;p174"/>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11</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rPr lang="en-IN" sz="2400"/>
                        <a:t>String aaba-Rejected</a:t>
                      </a:r>
                      <a:endParaRPr/>
                    </a:p>
                    <a:p>
                      <a:pPr indent="0" lvl="0" marL="0" marR="0" rtl="0" algn="l">
                        <a:spcBef>
                          <a:spcPts val="0"/>
                        </a:spcBef>
                        <a:spcAft>
                          <a:spcPts val="0"/>
                        </a:spcAft>
                        <a:buClr>
                          <a:schemeClr val="dk1"/>
                        </a:buClr>
                        <a:buSzPts val="2400"/>
                        <a:buFont typeface="Arial"/>
                        <a:buNone/>
                      </a:pPr>
                      <a:r>
                        <a:rPr lang="en-IN" sz="2400"/>
                        <a:t>String bba-Accepted</a:t>
                      </a:r>
                      <a:endParaRPr/>
                    </a:p>
                    <a:p>
                      <a:pPr indent="0" lvl="0" marL="0" marR="0" rtl="0" algn="l">
                        <a:spcBef>
                          <a:spcPts val="0"/>
                        </a:spcBef>
                        <a:spcAft>
                          <a:spcPts val="0"/>
                        </a:spcAft>
                        <a:buClr>
                          <a:schemeClr val="dk1"/>
                        </a:buClr>
                        <a:buSzPts val="2400"/>
                        <a:buFont typeface="Arial"/>
                        <a:buNone/>
                      </a:pPr>
                      <a:r>
                        <a:rPr lang="en-IN" sz="2400"/>
                        <a:t>String baba –Accepted</a:t>
                      </a:r>
                      <a:endParaRPr/>
                    </a:p>
                    <a:p>
                      <a:pPr indent="0" lvl="0" marL="0" marR="0" rtl="0" algn="l">
                        <a:spcBef>
                          <a:spcPts val="0"/>
                        </a:spcBef>
                        <a:spcAft>
                          <a:spcPts val="0"/>
                        </a:spcAft>
                        <a:buClr>
                          <a:schemeClr val="dk1"/>
                        </a:buClr>
                        <a:buSzPts val="2400"/>
                        <a:buFont typeface="Arial"/>
                        <a:buNone/>
                      </a:pPr>
                      <a:r>
                        <a:rPr lang="en-IN" sz="2400"/>
                        <a:t>String aabbab-Rejected</a:t>
                      </a:r>
                      <a:endParaRPr/>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
        <p:nvSpPr>
          <p:cNvPr id="2286" name="Google Shape;2286;p174"/>
          <p:cNvSpPr/>
          <p:nvPr/>
        </p:nvSpPr>
        <p:spPr>
          <a:xfrm>
            <a:off x="7090676" y="494116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q3</a:t>
            </a:r>
            <a:endParaRPr sz="1800">
              <a:solidFill>
                <a:schemeClr val="lt1"/>
              </a:solidFill>
              <a:latin typeface="Calibri"/>
              <a:ea typeface="Calibri"/>
              <a:cs typeface="Calibri"/>
              <a:sym typeface="Calibri"/>
            </a:endParaRPr>
          </a:p>
        </p:txBody>
      </p:sp>
      <p:cxnSp>
        <p:nvCxnSpPr>
          <p:cNvPr id="2287" name="Google Shape;2287;p174"/>
          <p:cNvCxnSpPr/>
          <p:nvPr/>
        </p:nvCxnSpPr>
        <p:spPr>
          <a:xfrm flipH="1" rot="10800000">
            <a:off x="6240719" y="5257230"/>
            <a:ext cx="849957" cy="26015"/>
          </a:xfrm>
          <a:prstGeom prst="straightConnector1">
            <a:avLst/>
          </a:prstGeom>
          <a:noFill/>
          <a:ln cap="flat" cmpd="sng" w="9525">
            <a:solidFill>
              <a:srgbClr val="4A7DBA"/>
            </a:solidFill>
            <a:prstDash val="solid"/>
            <a:round/>
            <a:headEnd len="sm" w="sm" type="none"/>
            <a:tailEnd len="med" w="med" type="stealth"/>
          </a:ln>
        </p:spPr>
      </p:cxnSp>
      <p:cxnSp>
        <p:nvCxnSpPr>
          <p:cNvPr id="2288" name="Google Shape;2288;p174"/>
          <p:cNvCxnSpPr/>
          <p:nvPr/>
        </p:nvCxnSpPr>
        <p:spPr>
          <a:xfrm flipH="1" rot="10800000">
            <a:off x="2771800" y="5301208"/>
            <a:ext cx="657303" cy="16067"/>
          </a:xfrm>
          <a:prstGeom prst="straightConnector1">
            <a:avLst/>
          </a:prstGeom>
          <a:noFill/>
          <a:ln cap="flat" cmpd="sng" w="9525">
            <a:solidFill>
              <a:srgbClr val="4A7DBA"/>
            </a:solidFill>
            <a:prstDash val="solid"/>
            <a:round/>
            <a:headEnd len="sm" w="sm" type="none"/>
            <a:tailEnd len="med" w="med" type="stealth"/>
          </a:ln>
        </p:spPr>
      </p:cxnSp>
      <p:sp>
        <p:nvSpPr>
          <p:cNvPr id="2289" name="Google Shape;2289;p174"/>
          <p:cNvSpPr/>
          <p:nvPr/>
        </p:nvSpPr>
        <p:spPr>
          <a:xfrm>
            <a:off x="7236296" y="4108430"/>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290" name="Google Shape;2290;p174"/>
          <p:cNvCxnSpPr/>
          <p:nvPr/>
        </p:nvCxnSpPr>
        <p:spPr>
          <a:xfrm>
            <a:off x="827584" y="5243835"/>
            <a:ext cx="1008112" cy="0"/>
          </a:xfrm>
          <a:prstGeom prst="straightConnector1">
            <a:avLst/>
          </a:prstGeom>
          <a:noFill/>
          <a:ln cap="flat" cmpd="sng" w="9525">
            <a:solidFill>
              <a:srgbClr val="4A7DBA"/>
            </a:solidFill>
            <a:prstDash val="solid"/>
            <a:round/>
            <a:headEnd len="sm" w="sm" type="none"/>
            <a:tailEnd len="med" w="med" type="stealth"/>
          </a:ln>
        </p:spPr>
      </p:cxnSp>
      <p:sp>
        <p:nvSpPr>
          <p:cNvPr id="2291" name="Google Shape;2291;p174"/>
          <p:cNvSpPr txBox="1"/>
          <p:nvPr/>
        </p:nvSpPr>
        <p:spPr>
          <a:xfrm>
            <a:off x="2877700" y="4900906"/>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a:p>
        </p:txBody>
      </p:sp>
      <p:sp>
        <p:nvSpPr>
          <p:cNvPr id="2292" name="Google Shape;2292;p174"/>
          <p:cNvSpPr txBox="1"/>
          <p:nvPr/>
        </p:nvSpPr>
        <p:spPr>
          <a:xfrm>
            <a:off x="6428292" y="4860256"/>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2293" name="Google Shape;2293;p174"/>
          <p:cNvSpPr/>
          <p:nvPr/>
        </p:nvSpPr>
        <p:spPr>
          <a:xfrm>
            <a:off x="2016518" y="4134445"/>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2294" name="Google Shape;2294;p174"/>
          <p:cNvGrpSpPr/>
          <p:nvPr/>
        </p:nvGrpSpPr>
        <p:grpSpPr>
          <a:xfrm>
            <a:off x="3456232" y="4900906"/>
            <a:ext cx="936104" cy="792088"/>
            <a:chOff x="1979712" y="4307731"/>
            <a:chExt cx="936104" cy="792088"/>
          </a:xfrm>
        </p:grpSpPr>
        <p:sp>
          <p:nvSpPr>
            <p:cNvPr id="2295" name="Google Shape;2295;p174"/>
            <p:cNvSpPr/>
            <p:nvPr/>
          </p:nvSpPr>
          <p:spPr>
            <a:xfrm>
              <a:off x="1979712" y="4307731"/>
              <a:ext cx="936104" cy="792088"/>
            </a:xfrm>
            <a:prstGeom prst="ellipse">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96" name="Google Shape;2296;p174"/>
            <p:cNvSpPr/>
            <p:nvPr/>
          </p:nvSpPr>
          <p:spPr>
            <a:xfrm>
              <a:off x="2195736" y="4451747"/>
              <a:ext cx="648072"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q1</a:t>
              </a:r>
              <a:endParaRPr sz="1800">
                <a:solidFill>
                  <a:schemeClr val="lt1"/>
                </a:solidFill>
                <a:latin typeface="Calibri"/>
                <a:ea typeface="Calibri"/>
                <a:cs typeface="Calibri"/>
                <a:sym typeface="Calibri"/>
              </a:endParaRPr>
            </a:p>
          </p:txBody>
        </p:sp>
      </p:grpSp>
      <p:sp>
        <p:nvSpPr>
          <p:cNvPr id="2297" name="Google Shape;2297;p174"/>
          <p:cNvSpPr txBox="1"/>
          <p:nvPr/>
        </p:nvSpPr>
        <p:spPr>
          <a:xfrm>
            <a:off x="7913614" y="4243154"/>
            <a:ext cx="4748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a,b</a:t>
            </a:r>
            <a:endParaRPr sz="1800">
              <a:solidFill>
                <a:schemeClr val="dk1"/>
              </a:solidFill>
              <a:latin typeface="Calibri"/>
              <a:ea typeface="Calibri"/>
              <a:cs typeface="Calibri"/>
              <a:sym typeface="Calibri"/>
            </a:endParaRPr>
          </a:p>
        </p:txBody>
      </p:sp>
      <p:sp>
        <p:nvSpPr>
          <p:cNvPr id="2298" name="Google Shape;2298;p174"/>
          <p:cNvSpPr txBox="1"/>
          <p:nvPr/>
        </p:nvSpPr>
        <p:spPr>
          <a:xfrm>
            <a:off x="2123728" y="3676382"/>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a:p>
        </p:txBody>
      </p:sp>
      <p:grpSp>
        <p:nvGrpSpPr>
          <p:cNvPr id="2299" name="Google Shape;2299;p174"/>
          <p:cNvGrpSpPr/>
          <p:nvPr/>
        </p:nvGrpSpPr>
        <p:grpSpPr>
          <a:xfrm>
            <a:off x="1835696" y="4869160"/>
            <a:ext cx="936104" cy="792088"/>
            <a:chOff x="1979712" y="4307731"/>
            <a:chExt cx="936104" cy="792088"/>
          </a:xfrm>
        </p:grpSpPr>
        <p:sp>
          <p:nvSpPr>
            <p:cNvPr id="2300" name="Google Shape;2300;p174"/>
            <p:cNvSpPr/>
            <p:nvPr/>
          </p:nvSpPr>
          <p:spPr>
            <a:xfrm>
              <a:off x="1979712" y="4307731"/>
              <a:ext cx="936104" cy="792088"/>
            </a:xfrm>
            <a:prstGeom prst="ellipse">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1" name="Google Shape;2301;p174"/>
            <p:cNvSpPr/>
            <p:nvPr/>
          </p:nvSpPr>
          <p:spPr>
            <a:xfrm>
              <a:off x="2195736" y="4451747"/>
              <a:ext cx="648072"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q0</a:t>
              </a:r>
              <a:endParaRPr sz="1800">
                <a:solidFill>
                  <a:schemeClr val="lt1"/>
                </a:solidFill>
                <a:latin typeface="Calibri"/>
                <a:ea typeface="Calibri"/>
                <a:cs typeface="Calibri"/>
                <a:sym typeface="Calibri"/>
              </a:endParaRPr>
            </a:p>
          </p:txBody>
        </p:sp>
      </p:grpSp>
      <p:grpSp>
        <p:nvGrpSpPr>
          <p:cNvPr id="2302" name="Google Shape;2302;p174"/>
          <p:cNvGrpSpPr/>
          <p:nvPr/>
        </p:nvGrpSpPr>
        <p:grpSpPr>
          <a:xfrm>
            <a:off x="5292080" y="4847791"/>
            <a:ext cx="936104" cy="792088"/>
            <a:chOff x="1979712" y="4307731"/>
            <a:chExt cx="936104" cy="792088"/>
          </a:xfrm>
        </p:grpSpPr>
        <p:sp>
          <p:nvSpPr>
            <p:cNvPr id="2303" name="Google Shape;2303;p174"/>
            <p:cNvSpPr/>
            <p:nvPr/>
          </p:nvSpPr>
          <p:spPr>
            <a:xfrm>
              <a:off x="1979712" y="4307731"/>
              <a:ext cx="936104" cy="792088"/>
            </a:xfrm>
            <a:prstGeom prst="ellipse">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4" name="Google Shape;2304;p174"/>
            <p:cNvSpPr/>
            <p:nvPr/>
          </p:nvSpPr>
          <p:spPr>
            <a:xfrm>
              <a:off x="2195736" y="4451747"/>
              <a:ext cx="648072"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q2</a:t>
              </a:r>
              <a:endParaRPr sz="1800">
                <a:solidFill>
                  <a:schemeClr val="lt1"/>
                </a:solidFill>
                <a:latin typeface="Calibri"/>
                <a:ea typeface="Calibri"/>
                <a:cs typeface="Calibri"/>
                <a:sym typeface="Calibri"/>
              </a:endParaRPr>
            </a:p>
          </p:txBody>
        </p:sp>
      </p:grpSp>
      <p:cxnSp>
        <p:nvCxnSpPr>
          <p:cNvPr id="2305" name="Google Shape;2305;p174"/>
          <p:cNvCxnSpPr>
            <a:stCxn id="2295" idx="6"/>
          </p:cNvCxnSpPr>
          <p:nvPr/>
        </p:nvCxnSpPr>
        <p:spPr>
          <a:xfrm>
            <a:off x="4392336" y="5296950"/>
            <a:ext cx="899700" cy="4200"/>
          </a:xfrm>
          <a:prstGeom prst="straightConnector1">
            <a:avLst/>
          </a:prstGeom>
          <a:noFill/>
          <a:ln cap="flat" cmpd="sng" w="9525">
            <a:solidFill>
              <a:srgbClr val="4A7DBA"/>
            </a:solidFill>
            <a:prstDash val="solid"/>
            <a:round/>
            <a:headEnd len="sm" w="sm" type="none"/>
            <a:tailEnd len="med" w="med" type="stealth"/>
          </a:ln>
        </p:spPr>
      </p:cxnSp>
      <p:sp>
        <p:nvSpPr>
          <p:cNvPr id="2306" name="Google Shape;2306;p174"/>
          <p:cNvSpPr txBox="1"/>
          <p:nvPr/>
        </p:nvSpPr>
        <p:spPr>
          <a:xfrm>
            <a:off x="4564758" y="4941168"/>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a:p>
        </p:txBody>
      </p:sp>
      <p:sp>
        <p:nvSpPr>
          <p:cNvPr id="2307" name="Google Shape;2307;p174"/>
          <p:cNvSpPr/>
          <p:nvPr/>
        </p:nvSpPr>
        <p:spPr>
          <a:xfrm>
            <a:off x="3563888" y="4134445"/>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08" name="Google Shape;2308;p174"/>
          <p:cNvSpPr/>
          <p:nvPr/>
        </p:nvSpPr>
        <p:spPr>
          <a:xfrm>
            <a:off x="5436096" y="4077072"/>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09" name="Google Shape;2309;p174"/>
          <p:cNvSpPr txBox="1"/>
          <p:nvPr/>
        </p:nvSpPr>
        <p:spPr>
          <a:xfrm>
            <a:off x="3707904" y="3717032"/>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a:p>
        </p:txBody>
      </p:sp>
      <p:sp>
        <p:nvSpPr>
          <p:cNvPr id="2310" name="Google Shape;2310;p174"/>
          <p:cNvSpPr txBox="1"/>
          <p:nvPr/>
        </p:nvSpPr>
        <p:spPr>
          <a:xfrm>
            <a:off x="5561650" y="3717032"/>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5" name="Shape 2315"/>
        <p:cNvGrpSpPr/>
        <p:nvPr/>
      </p:nvGrpSpPr>
      <p:grpSpPr>
        <a:xfrm>
          <a:off x="0" y="0"/>
          <a:ext cx="0" cy="0"/>
          <a:chOff x="0" y="0"/>
          <a:chExt cx="0" cy="0"/>
        </a:xfrm>
      </p:grpSpPr>
      <p:sp>
        <p:nvSpPr>
          <p:cNvPr id="2316" name="Google Shape;2316;p17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317" name="Google Shape;2317;p17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318" name="Google Shape;2318;p17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319" name="Google Shape;2319;p1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320" name="Google Shape;2320;p175"/>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8208900"/>
              </a:tblGrid>
              <a:tr h="55720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12</a:t>
                      </a:r>
                      <a:endParaRPr/>
                    </a:p>
                  </a:txBody>
                  <a:tcPr marT="45725" marB="45725" marR="91450" marL="91450"/>
                </a:tc>
              </a:tr>
              <a:tr h="4123325">
                <a:tc>
                  <a:txBody>
                    <a:bodyPr/>
                    <a:lstStyle/>
                    <a:p>
                      <a:pPr indent="0" lvl="0" marL="0" marR="0" rtl="0" algn="l">
                        <a:spcBef>
                          <a:spcPts val="0"/>
                        </a:spcBef>
                        <a:spcAft>
                          <a:spcPts val="0"/>
                        </a:spcAft>
                        <a:buClr>
                          <a:schemeClr val="dk1"/>
                        </a:buClr>
                        <a:buSzPts val="2400"/>
                        <a:buFont typeface="Arial"/>
                        <a:buNone/>
                      </a:pPr>
                      <a:r>
                        <a:rPr lang="en-IN" sz="2400"/>
                        <a:t>Recognize</a:t>
                      </a:r>
                      <a:r>
                        <a:rPr lang="en-IN" sz="2400"/>
                        <a:t> the language given by following DFA</a:t>
                      </a:r>
                      <a:endParaRPr sz="2400"/>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
        <p:nvSpPr>
          <p:cNvPr id="2321" name="Google Shape;2321;p175"/>
          <p:cNvSpPr/>
          <p:nvPr/>
        </p:nvSpPr>
        <p:spPr>
          <a:xfrm>
            <a:off x="7234692" y="433374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q2</a:t>
            </a:r>
            <a:endParaRPr sz="1800">
              <a:solidFill>
                <a:schemeClr val="lt1"/>
              </a:solidFill>
              <a:latin typeface="Calibri"/>
              <a:ea typeface="Calibri"/>
              <a:cs typeface="Calibri"/>
              <a:sym typeface="Calibri"/>
            </a:endParaRPr>
          </a:p>
        </p:txBody>
      </p:sp>
      <p:sp>
        <p:nvSpPr>
          <p:cNvPr id="2322" name="Google Shape;2322;p175"/>
          <p:cNvSpPr/>
          <p:nvPr/>
        </p:nvSpPr>
        <p:spPr>
          <a:xfrm>
            <a:off x="2051720" y="425244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q0</a:t>
            </a:r>
            <a:endParaRPr sz="1800">
              <a:solidFill>
                <a:schemeClr val="lt1"/>
              </a:solidFill>
              <a:latin typeface="Calibri"/>
              <a:ea typeface="Calibri"/>
              <a:cs typeface="Calibri"/>
              <a:sym typeface="Calibri"/>
            </a:endParaRPr>
          </a:p>
        </p:txBody>
      </p:sp>
      <p:cxnSp>
        <p:nvCxnSpPr>
          <p:cNvPr id="2323" name="Google Shape;2323;p175"/>
          <p:cNvCxnSpPr/>
          <p:nvPr/>
        </p:nvCxnSpPr>
        <p:spPr>
          <a:xfrm>
            <a:off x="5436096" y="4636413"/>
            <a:ext cx="1656184" cy="0"/>
          </a:xfrm>
          <a:prstGeom prst="straightConnector1">
            <a:avLst/>
          </a:prstGeom>
          <a:noFill/>
          <a:ln cap="flat" cmpd="sng" w="9525">
            <a:solidFill>
              <a:srgbClr val="4A7DBA"/>
            </a:solidFill>
            <a:prstDash val="solid"/>
            <a:round/>
            <a:headEnd len="sm" w="sm" type="none"/>
            <a:tailEnd len="med" w="med" type="stealth"/>
          </a:ln>
        </p:spPr>
      </p:cxnSp>
      <p:cxnSp>
        <p:nvCxnSpPr>
          <p:cNvPr id="2324" name="Google Shape;2324;p175"/>
          <p:cNvCxnSpPr/>
          <p:nvPr/>
        </p:nvCxnSpPr>
        <p:spPr>
          <a:xfrm>
            <a:off x="2987824" y="4693786"/>
            <a:ext cx="1584176" cy="0"/>
          </a:xfrm>
          <a:prstGeom prst="straightConnector1">
            <a:avLst/>
          </a:prstGeom>
          <a:noFill/>
          <a:ln cap="flat" cmpd="sng" w="9525">
            <a:solidFill>
              <a:srgbClr val="4A7DBA"/>
            </a:solidFill>
            <a:prstDash val="solid"/>
            <a:round/>
            <a:headEnd len="sm" w="sm" type="none"/>
            <a:tailEnd len="med" w="med" type="stealth"/>
          </a:ln>
        </p:spPr>
      </p:cxnSp>
      <p:sp>
        <p:nvSpPr>
          <p:cNvPr id="2325" name="Google Shape;2325;p175"/>
          <p:cNvSpPr/>
          <p:nvPr/>
        </p:nvSpPr>
        <p:spPr>
          <a:xfrm>
            <a:off x="7380312" y="3501008"/>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326" name="Google Shape;2326;p175"/>
          <p:cNvCxnSpPr/>
          <p:nvPr/>
        </p:nvCxnSpPr>
        <p:spPr>
          <a:xfrm>
            <a:off x="971600" y="4636413"/>
            <a:ext cx="1008112" cy="0"/>
          </a:xfrm>
          <a:prstGeom prst="straightConnector1">
            <a:avLst/>
          </a:prstGeom>
          <a:noFill/>
          <a:ln cap="flat" cmpd="sng" w="9525">
            <a:solidFill>
              <a:srgbClr val="4A7DBA"/>
            </a:solidFill>
            <a:prstDash val="solid"/>
            <a:round/>
            <a:headEnd len="sm" w="sm" type="none"/>
            <a:tailEnd len="med" w="med" type="stealth"/>
          </a:ln>
        </p:spPr>
      </p:cxnSp>
      <p:sp>
        <p:nvSpPr>
          <p:cNvPr id="2327" name="Google Shape;2327;p175"/>
          <p:cNvSpPr txBox="1"/>
          <p:nvPr/>
        </p:nvSpPr>
        <p:spPr>
          <a:xfrm>
            <a:off x="3419872" y="4252446"/>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2328" name="Google Shape;2328;p175"/>
          <p:cNvSpPr txBox="1"/>
          <p:nvPr/>
        </p:nvSpPr>
        <p:spPr>
          <a:xfrm>
            <a:off x="6004918" y="4293096"/>
            <a:ext cx="4748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a,b</a:t>
            </a:r>
            <a:endParaRPr sz="1800">
              <a:solidFill>
                <a:schemeClr val="dk1"/>
              </a:solidFill>
              <a:latin typeface="Calibri"/>
              <a:ea typeface="Calibri"/>
              <a:cs typeface="Calibri"/>
              <a:sym typeface="Calibri"/>
            </a:endParaRPr>
          </a:p>
        </p:txBody>
      </p:sp>
      <p:sp>
        <p:nvSpPr>
          <p:cNvPr id="2329" name="Google Shape;2329;p175"/>
          <p:cNvSpPr/>
          <p:nvPr/>
        </p:nvSpPr>
        <p:spPr>
          <a:xfrm>
            <a:off x="2160534" y="3527023"/>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2330" name="Google Shape;2330;p175"/>
          <p:cNvGrpSpPr/>
          <p:nvPr/>
        </p:nvGrpSpPr>
        <p:grpSpPr>
          <a:xfrm>
            <a:off x="4572000" y="4252446"/>
            <a:ext cx="936104" cy="792088"/>
            <a:chOff x="1979712" y="4307731"/>
            <a:chExt cx="936104" cy="792088"/>
          </a:xfrm>
        </p:grpSpPr>
        <p:sp>
          <p:nvSpPr>
            <p:cNvPr id="2331" name="Google Shape;2331;p175"/>
            <p:cNvSpPr/>
            <p:nvPr/>
          </p:nvSpPr>
          <p:spPr>
            <a:xfrm>
              <a:off x="1979712" y="4307731"/>
              <a:ext cx="936104" cy="792088"/>
            </a:xfrm>
            <a:prstGeom prst="ellipse">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32" name="Google Shape;2332;p175"/>
            <p:cNvSpPr/>
            <p:nvPr/>
          </p:nvSpPr>
          <p:spPr>
            <a:xfrm>
              <a:off x="2195736" y="4451747"/>
              <a:ext cx="648072"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q1</a:t>
              </a:r>
              <a:endParaRPr sz="1800">
                <a:solidFill>
                  <a:schemeClr val="lt1"/>
                </a:solidFill>
                <a:latin typeface="Calibri"/>
                <a:ea typeface="Calibri"/>
                <a:cs typeface="Calibri"/>
                <a:sym typeface="Calibri"/>
              </a:endParaRPr>
            </a:p>
          </p:txBody>
        </p:sp>
      </p:grpSp>
      <p:sp>
        <p:nvSpPr>
          <p:cNvPr id="2333" name="Google Shape;2333;p175"/>
          <p:cNvSpPr txBox="1"/>
          <p:nvPr/>
        </p:nvSpPr>
        <p:spPr>
          <a:xfrm>
            <a:off x="8057630" y="3635732"/>
            <a:ext cx="4748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a,b</a:t>
            </a:r>
            <a:endParaRPr sz="1800">
              <a:solidFill>
                <a:schemeClr val="dk1"/>
              </a:solidFill>
              <a:latin typeface="Calibri"/>
              <a:ea typeface="Calibri"/>
              <a:cs typeface="Calibri"/>
              <a:sym typeface="Calibri"/>
            </a:endParaRPr>
          </a:p>
        </p:txBody>
      </p:sp>
      <p:sp>
        <p:nvSpPr>
          <p:cNvPr id="2334" name="Google Shape;2334;p175"/>
          <p:cNvSpPr txBox="1"/>
          <p:nvPr/>
        </p:nvSpPr>
        <p:spPr>
          <a:xfrm>
            <a:off x="2267744" y="3068960"/>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9" name="Shape 2339"/>
        <p:cNvGrpSpPr/>
        <p:nvPr/>
      </p:nvGrpSpPr>
      <p:grpSpPr>
        <a:xfrm>
          <a:off x="0" y="0"/>
          <a:ext cx="0" cy="0"/>
          <a:chOff x="0" y="0"/>
          <a:chExt cx="0" cy="0"/>
        </a:xfrm>
      </p:grpSpPr>
      <p:sp>
        <p:nvSpPr>
          <p:cNvPr id="2340" name="Google Shape;2340;p17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341" name="Google Shape;2341;p17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342" name="Google Shape;2342;p1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343" name="Google Shape;2343;p1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344" name="Google Shape;2344;p176"/>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8208900"/>
              </a:tblGrid>
              <a:tr h="55720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12-Recognize</a:t>
                      </a:r>
                      <a:r>
                        <a:rPr lang="en-IN" sz="2400"/>
                        <a:t> the language given by following DFA</a:t>
                      </a:r>
                      <a:endParaRPr sz="2400"/>
                    </a:p>
                  </a:txBody>
                  <a:tcPr marT="45725" marB="45725" marR="91450" marL="91450"/>
                </a:tc>
              </a:tr>
              <a:tr h="4123325">
                <a:tc>
                  <a:txBody>
                    <a:bodyPr/>
                    <a:lstStyle/>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grpSp>
        <p:nvGrpSpPr>
          <p:cNvPr id="2345" name="Google Shape;2345;p176"/>
          <p:cNvGrpSpPr/>
          <p:nvPr/>
        </p:nvGrpSpPr>
        <p:grpSpPr>
          <a:xfrm>
            <a:off x="971600" y="4180438"/>
            <a:ext cx="7560840" cy="1984866"/>
            <a:chOff x="971600" y="3068960"/>
            <a:chExt cx="7560840" cy="1984866"/>
          </a:xfrm>
        </p:grpSpPr>
        <p:sp>
          <p:nvSpPr>
            <p:cNvPr id="2346" name="Google Shape;2346;p176"/>
            <p:cNvSpPr/>
            <p:nvPr/>
          </p:nvSpPr>
          <p:spPr>
            <a:xfrm>
              <a:off x="7234692" y="433374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q2</a:t>
              </a:r>
              <a:endParaRPr sz="1800">
                <a:solidFill>
                  <a:schemeClr val="lt1"/>
                </a:solidFill>
                <a:latin typeface="Calibri"/>
                <a:ea typeface="Calibri"/>
                <a:cs typeface="Calibri"/>
                <a:sym typeface="Calibri"/>
              </a:endParaRPr>
            </a:p>
          </p:txBody>
        </p:sp>
        <p:sp>
          <p:nvSpPr>
            <p:cNvPr id="2347" name="Google Shape;2347;p176"/>
            <p:cNvSpPr/>
            <p:nvPr/>
          </p:nvSpPr>
          <p:spPr>
            <a:xfrm>
              <a:off x="2051720" y="425244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q0</a:t>
              </a:r>
              <a:endParaRPr sz="1800">
                <a:solidFill>
                  <a:schemeClr val="lt1"/>
                </a:solidFill>
                <a:latin typeface="Calibri"/>
                <a:ea typeface="Calibri"/>
                <a:cs typeface="Calibri"/>
                <a:sym typeface="Calibri"/>
              </a:endParaRPr>
            </a:p>
          </p:txBody>
        </p:sp>
        <p:cxnSp>
          <p:nvCxnSpPr>
            <p:cNvPr id="2348" name="Google Shape;2348;p176"/>
            <p:cNvCxnSpPr/>
            <p:nvPr/>
          </p:nvCxnSpPr>
          <p:spPr>
            <a:xfrm>
              <a:off x="5436096" y="4636413"/>
              <a:ext cx="1656184" cy="0"/>
            </a:xfrm>
            <a:prstGeom prst="straightConnector1">
              <a:avLst/>
            </a:prstGeom>
            <a:noFill/>
            <a:ln cap="flat" cmpd="sng" w="9525">
              <a:solidFill>
                <a:srgbClr val="4A7DBA"/>
              </a:solidFill>
              <a:prstDash val="solid"/>
              <a:round/>
              <a:headEnd len="sm" w="sm" type="none"/>
              <a:tailEnd len="med" w="med" type="stealth"/>
            </a:ln>
          </p:spPr>
        </p:cxnSp>
        <p:cxnSp>
          <p:nvCxnSpPr>
            <p:cNvPr id="2349" name="Google Shape;2349;p176"/>
            <p:cNvCxnSpPr/>
            <p:nvPr/>
          </p:nvCxnSpPr>
          <p:spPr>
            <a:xfrm>
              <a:off x="2987824" y="4693786"/>
              <a:ext cx="1584176" cy="0"/>
            </a:xfrm>
            <a:prstGeom prst="straightConnector1">
              <a:avLst/>
            </a:prstGeom>
            <a:noFill/>
            <a:ln cap="flat" cmpd="sng" w="9525">
              <a:solidFill>
                <a:srgbClr val="4A7DBA"/>
              </a:solidFill>
              <a:prstDash val="solid"/>
              <a:round/>
              <a:headEnd len="sm" w="sm" type="none"/>
              <a:tailEnd len="med" w="med" type="stealth"/>
            </a:ln>
          </p:spPr>
        </p:cxnSp>
        <p:sp>
          <p:nvSpPr>
            <p:cNvPr id="2350" name="Google Shape;2350;p176"/>
            <p:cNvSpPr/>
            <p:nvPr/>
          </p:nvSpPr>
          <p:spPr>
            <a:xfrm>
              <a:off x="7380312" y="3501008"/>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351" name="Google Shape;2351;p176"/>
            <p:cNvCxnSpPr/>
            <p:nvPr/>
          </p:nvCxnSpPr>
          <p:spPr>
            <a:xfrm>
              <a:off x="971600" y="4636413"/>
              <a:ext cx="1008112" cy="0"/>
            </a:xfrm>
            <a:prstGeom prst="straightConnector1">
              <a:avLst/>
            </a:prstGeom>
            <a:noFill/>
            <a:ln cap="flat" cmpd="sng" w="9525">
              <a:solidFill>
                <a:srgbClr val="4A7DBA"/>
              </a:solidFill>
              <a:prstDash val="solid"/>
              <a:round/>
              <a:headEnd len="sm" w="sm" type="none"/>
              <a:tailEnd len="med" w="med" type="stealth"/>
            </a:ln>
          </p:spPr>
        </p:cxnSp>
        <p:sp>
          <p:nvSpPr>
            <p:cNvPr id="2352" name="Google Shape;2352;p176"/>
            <p:cNvSpPr txBox="1"/>
            <p:nvPr/>
          </p:nvSpPr>
          <p:spPr>
            <a:xfrm>
              <a:off x="3419872" y="4252446"/>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2353" name="Google Shape;2353;p176"/>
            <p:cNvSpPr txBox="1"/>
            <p:nvPr/>
          </p:nvSpPr>
          <p:spPr>
            <a:xfrm>
              <a:off x="6004918" y="4293096"/>
              <a:ext cx="4748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a,b</a:t>
              </a:r>
              <a:endParaRPr sz="1800">
                <a:solidFill>
                  <a:schemeClr val="dk1"/>
                </a:solidFill>
                <a:latin typeface="Calibri"/>
                <a:ea typeface="Calibri"/>
                <a:cs typeface="Calibri"/>
                <a:sym typeface="Calibri"/>
              </a:endParaRPr>
            </a:p>
          </p:txBody>
        </p:sp>
        <p:sp>
          <p:nvSpPr>
            <p:cNvPr id="2354" name="Google Shape;2354;p176"/>
            <p:cNvSpPr/>
            <p:nvPr/>
          </p:nvSpPr>
          <p:spPr>
            <a:xfrm>
              <a:off x="2160534" y="3527023"/>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2355" name="Google Shape;2355;p176"/>
            <p:cNvGrpSpPr/>
            <p:nvPr/>
          </p:nvGrpSpPr>
          <p:grpSpPr>
            <a:xfrm>
              <a:off x="4572000" y="4252446"/>
              <a:ext cx="936104" cy="792088"/>
              <a:chOff x="1979712" y="4307731"/>
              <a:chExt cx="936104" cy="792088"/>
            </a:xfrm>
          </p:grpSpPr>
          <p:sp>
            <p:nvSpPr>
              <p:cNvPr id="2356" name="Google Shape;2356;p176"/>
              <p:cNvSpPr/>
              <p:nvPr/>
            </p:nvSpPr>
            <p:spPr>
              <a:xfrm>
                <a:off x="1979712" y="4307731"/>
                <a:ext cx="936104" cy="792088"/>
              </a:xfrm>
              <a:prstGeom prst="ellipse">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7" name="Google Shape;2357;p176"/>
              <p:cNvSpPr/>
              <p:nvPr/>
            </p:nvSpPr>
            <p:spPr>
              <a:xfrm>
                <a:off x="2195736" y="4451747"/>
                <a:ext cx="648072"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q1</a:t>
                </a:r>
                <a:endParaRPr sz="1800">
                  <a:solidFill>
                    <a:schemeClr val="lt1"/>
                  </a:solidFill>
                  <a:latin typeface="Calibri"/>
                  <a:ea typeface="Calibri"/>
                  <a:cs typeface="Calibri"/>
                  <a:sym typeface="Calibri"/>
                </a:endParaRPr>
              </a:p>
            </p:txBody>
          </p:sp>
        </p:grpSp>
        <p:sp>
          <p:nvSpPr>
            <p:cNvPr id="2358" name="Google Shape;2358;p176"/>
            <p:cNvSpPr txBox="1"/>
            <p:nvPr/>
          </p:nvSpPr>
          <p:spPr>
            <a:xfrm>
              <a:off x="8057630" y="3635732"/>
              <a:ext cx="4748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a,b</a:t>
              </a:r>
              <a:endParaRPr sz="1800">
                <a:solidFill>
                  <a:schemeClr val="dk1"/>
                </a:solidFill>
                <a:latin typeface="Calibri"/>
                <a:ea typeface="Calibri"/>
                <a:cs typeface="Calibri"/>
                <a:sym typeface="Calibri"/>
              </a:endParaRPr>
            </a:p>
          </p:txBody>
        </p:sp>
        <p:sp>
          <p:nvSpPr>
            <p:cNvPr id="2359" name="Google Shape;2359;p176"/>
            <p:cNvSpPr txBox="1"/>
            <p:nvPr/>
          </p:nvSpPr>
          <p:spPr>
            <a:xfrm>
              <a:off x="2267744" y="3068960"/>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gr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4" name="Shape 2364"/>
        <p:cNvGrpSpPr/>
        <p:nvPr/>
      </p:nvGrpSpPr>
      <p:grpSpPr>
        <a:xfrm>
          <a:off x="0" y="0"/>
          <a:ext cx="0" cy="0"/>
          <a:chOff x="0" y="0"/>
          <a:chExt cx="0" cy="0"/>
        </a:xfrm>
      </p:grpSpPr>
      <p:sp>
        <p:nvSpPr>
          <p:cNvPr id="2365" name="Google Shape;2365;p17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366" name="Google Shape;2366;p17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367" name="Google Shape;2367;p1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368" name="Google Shape;2368;p1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369" name="Google Shape;2369;p177"/>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13</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rPr lang="en-IN" sz="2400"/>
                        <a:t>Design a DFA over ∑={a,b} for</a:t>
                      </a:r>
                      <a:r>
                        <a:rPr lang="en-IN" sz="2400"/>
                        <a:t> (ab)</a:t>
                      </a:r>
                      <a:r>
                        <a:rPr baseline="30000" lang="en-IN" sz="2400"/>
                        <a:t>n </a:t>
                      </a:r>
                      <a:r>
                        <a:rPr lang="en-IN" sz="2400"/>
                        <a:t> for n&gt;=0</a:t>
                      </a:r>
                      <a:endParaRPr/>
                    </a:p>
                    <a:p>
                      <a:pPr indent="0" lvl="0" marL="0" marR="0" rtl="0" algn="l">
                        <a:spcBef>
                          <a:spcPts val="0"/>
                        </a:spcBef>
                        <a:spcAft>
                          <a:spcPts val="0"/>
                        </a:spcAft>
                        <a:buClr>
                          <a:schemeClr val="dk1"/>
                        </a:buClr>
                        <a:buSzPts val="2400"/>
                        <a:buFont typeface="Calibri"/>
                        <a:buNone/>
                      </a:pPr>
                      <a:r>
                        <a:t/>
                      </a:r>
                      <a:endParaRPr sz="2400"/>
                    </a:p>
                    <a:p>
                      <a:pPr indent="-361950" lvl="0" marL="514350" marR="0" rtl="0" algn="l">
                        <a:spcBef>
                          <a:spcPts val="0"/>
                        </a:spcBef>
                        <a:spcAft>
                          <a:spcPts val="0"/>
                        </a:spcAft>
                        <a:buClr>
                          <a:schemeClr val="dk1"/>
                        </a:buClr>
                        <a:buSzPts val="2400"/>
                        <a:buFont typeface="Calibri"/>
                        <a:buNone/>
                      </a:pPr>
                      <a:r>
                        <a:t/>
                      </a:r>
                      <a:endParaRPr baseline="30000" sz="2400"/>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4" name="Shape 2374"/>
        <p:cNvGrpSpPr/>
        <p:nvPr/>
      </p:nvGrpSpPr>
      <p:grpSpPr>
        <a:xfrm>
          <a:off x="0" y="0"/>
          <a:ext cx="0" cy="0"/>
          <a:chOff x="0" y="0"/>
          <a:chExt cx="0" cy="0"/>
        </a:xfrm>
      </p:grpSpPr>
      <p:sp>
        <p:nvSpPr>
          <p:cNvPr id="2375" name="Google Shape;2375;p17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376" name="Google Shape;2376;p17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377" name="Google Shape;2377;p1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378" name="Google Shape;2378;p1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379" name="Google Shape;2379;p178"/>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14</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rPr lang="en-IN" sz="2400"/>
                        <a:t>Design a DFA over ∑={a,b} for</a:t>
                      </a:r>
                      <a:r>
                        <a:rPr lang="en-IN" sz="2400"/>
                        <a:t> (ab)</a:t>
                      </a:r>
                      <a:r>
                        <a:rPr baseline="30000" lang="en-IN" sz="2400"/>
                        <a:t>n </a:t>
                      </a:r>
                      <a:r>
                        <a:rPr lang="en-IN" sz="2400"/>
                        <a:t> for n&gt;=1</a:t>
                      </a:r>
                      <a:endParaRPr/>
                    </a:p>
                    <a:p>
                      <a:pPr indent="-361950" lvl="0" marL="514350" marR="0" rtl="0" algn="l">
                        <a:spcBef>
                          <a:spcPts val="0"/>
                        </a:spcBef>
                        <a:spcAft>
                          <a:spcPts val="0"/>
                        </a:spcAft>
                        <a:buClr>
                          <a:schemeClr val="dk1"/>
                        </a:buClr>
                        <a:buSzPts val="2400"/>
                        <a:buFont typeface="Calibri"/>
                        <a:buNone/>
                      </a:pPr>
                      <a:r>
                        <a:t/>
                      </a:r>
                      <a:endParaRPr sz="2400"/>
                    </a:p>
                    <a:p>
                      <a:pPr indent="-361950" lvl="0" marL="514350" marR="0" rtl="0" algn="l">
                        <a:spcBef>
                          <a:spcPts val="0"/>
                        </a:spcBef>
                        <a:spcAft>
                          <a:spcPts val="0"/>
                        </a:spcAft>
                        <a:buClr>
                          <a:schemeClr val="dk1"/>
                        </a:buClr>
                        <a:buSzPts val="2400"/>
                        <a:buFont typeface="Calibri"/>
                        <a:buNone/>
                      </a:pPr>
                      <a:r>
                        <a:t/>
                      </a:r>
                      <a:endParaRPr baseline="30000" sz="2400"/>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4" name="Shape 2384"/>
        <p:cNvGrpSpPr/>
        <p:nvPr/>
      </p:nvGrpSpPr>
      <p:grpSpPr>
        <a:xfrm>
          <a:off x="0" y="0"/>
          <a:ext cx="0" cy="0"/>
          <a:chOff x="0" y="0"/>
          <a:chExt cx="0" cy="0"/>
        </a:xfrm>
      </p:grpSpPr>
      <p:sp>
        <p:nvSpPr>
          <p:cNvPr id="2385" name="Google Shape;2385;p17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DESIGNING FINITE AUTOMATA</a:t>
            </a:r>
            <a:endParaRPr/>
          </a:p>
        </p:txBody>
      </p:sp>
      <p:sp>
        <p:nvSpPr>
          <p:cNvPr id="2386" name="Google Shape;2386;p17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387" name="Google Shape;2387;p1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388" name="Google Shape;2388;p1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389" name="Google Shape;2389;p179"/>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15</a:t>
                      </a:r>
                      <a:endParaRPr/>
                    </a:p>
                  </a:txBody>
                  <a:tcPr marT="45725" marB="45725" marR="91450" marL="91450"/>
                </a:tc>
              </a:tr>
              <a:tr h="3086975">
                <a:tc>
                  <a:txBody>
                    <a:bodyPr/>
                    <a:lstStyle/>
                    <a:p>
                      <a:pPr indent="0" lvl="0" marL="0" marR="0" rtl="0" algn="l">
                        <a:spcBef>
                          <a:spcPts val="0"/>
                        </a:spcBef>
                        <a:spcAft>
                          <a:spcPts val="0"/>
                        </a:spcAft>
                        <a:buClr>
                          <a:schemeClr val="dk1"/>
                        </a:buClr>
                        <a:buSzPts val="2400"/>
                        <a:buFont typeface="Arial"/>
                        <a:buNone/>
                      </a:pPr>
                      <a:r>
                        <a:rPr lang="en-IN" sz="2400"/>
                        <a:t>Design a FA with ∑ = {0, 1} accepts the only input 101.</a:t>
                      </a:r>
                      <a:endParaRPr sz="2400"/>
                    </a:p>
                    <a:p>
                      <a:pPr indent="-361950" lvl="0" marL="514350" marR="0" rtl="0" algn="l">
                        <a:spcBef>
                          <a:spcPts val="0"/>
                        </a:spcBef>
                        <a:spcAft>
                          <a:spcPts val="0"/>
                        </a:spcAft>
                        <a:buClr>
                          <a:schemeClr val="dk1"/>
                        </a:buClr>
                        <a:buSzPts val="2400"/>
                        <a:buFont typeface="Calibri"/>
                        <a:buNone/>
                      </a:pPr>
                      <a:r>
                        <a:t/>
                      </a:r>
                      <a:endParaRPr baseline="30000" sz="2400"/>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0" lvl="0" marL="0" marR="0" rtl="0" algn="l">
                        <a:spcBef>
                          <a:spcPts val="0"/>
                        </a:spcBef>
                        <a:spcAft>
                          <a:spcPts val="0"/>
                        </a:spcAft>
                        <a:buClr>
                          <a:schemeClr val="dk1"/>
                        </a:buClr>
                        <a:buSzPts val="2400"/>
                        <a:buFont typeface="Arial"/>
                        <a:buNone/>
                      </a:pPr>
                      <a:r>
                        <a:t/>
                      </a:r>
                      <a:endParaRPr sz="2400"/>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p>
                      <a:pPr indent="-190500" lvl="1" marL="800100" marR="0" rtl="0" algn="l">
                        <a:spcBef>
                          <a:spcPts val="0"/>
                        </a:spcBef>
                        <a:spcAft>
                          <a:spcPts val="0"/>
                        </a:spcAft>
                        <a:buClr>
                          <a:schemeClr val="dk1"/>
                        </a:buClr>
                        <a:buSzPts val="2400"/>
                        <a:buFont typeface="Arial"/>
                        <a:buNone/>
                      </a:pPr>
                      <a:r>
                        <a:t/>
                      </a:r>
                      <a:endParaRPr sz="2400" u="none" cap="none" strike="noStrike"/>
                    </a:p>
                  </a:txBody>
                  <a:tcPr marT="45725" marB="45725" marR="91450" marL="91450"/>
                </a:tc>
              </a:tr>
            </a:tbl>
          </a:graphicData>
        </a:graphic>
      </p:graphicFrame>
      <p:pic>
        <p:nvPicPr>
          <p:cNvPr id="2390" name="Google Shape;2390;p179"/>
          <p:cNvPicPr preferRelativeResize="0"/>
          <p:nvPr/>
        </p:nvPicPr>
        <p:blipFill rotWithShape="1">
          <a:blip r:embed="rId3">
            <a:alphaModFix/>
          </a:blip>
          <a:srcRect b="0" l="0" r="0" t="0"/>
          <a:stretch/>
        </p:blipFill>
        <p:spPr>
          <a:xfrm>
            <a:off x="683568" y="3005138"/>
            <a:ext cx="7258050" cy="847725"/>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4" name="Shape 2394"/>
        <p:cNvGrpSpPr/>
        <p:nvPr/>
      </p:nvGrpSpPr>
      <p:grpSpPr>
        <a:xfrm>
          <a:off x="0" y="0"/>
          <a:ext cx="0" cy="0"/>
          <a:chOff x="0" y="0"/>
          <a:chExt cx="0" cy="0"/>
        </a:xfrm>
      </p:grpSpPr>
      <p:sp>
        <p:nvSpPr>
          <p:cNvPr id="2395" name="Google Shape;2395;p180"/>
          <p:cNvSpPr txBox="1"/>
          <p:nvPr>
            <p:ph type="title"/>
          </p:nvPr>
        </p:nvSpPr>
        <p:spPr>
          <a:xfrm>
            <a:off x="457200" y="274638"/>
            <a:ext cx="8229600" cy="1143000"/>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lang="en-IN">
                <a:solidFill>
                  <a:schemeClr val="lt1"/>
                </a:solidFill>
                <a:latin typeface="Calibri"/>
                <a:ea typeface="Calibri"/>
                <a:cs typeface="Calibri"/>
                <a:sym typeface="Calibri"/>
              </a:rPr>
              <a:t>NDFA</a:t>
            </a:r>
            <a:endParaRPr/>
          </a:p>
        </p:txBody>
      </p:sp>
      <p:sp>
        <p:nvSpPr>
          <p:cNvPr id="2396" name="Google Shape;2396;p18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2397" name="Google Shape;2397;p18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398" name="Google Shape;2398;p1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399" name="Google Shape;2399;p1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3" name="Shape 2403"/>
        <p:cNvGrpSpPr/>
        <p:nvPr/>
      </p:nvGrpSpPr>
      <p:grpSpPr>
        <a:xfrm>
          <a:off x="0" y="0"/>
          <a:ext cx="0" cy="0"/>
          <a:chOff x="0" y="0"/>
          <a:chExt cx="0" cy="0"/>
        </a:xfrm>
      </p:grpSpPr>
      <p:sp>
        <p:nvSpPr>
          <p:cNvPr id="2404" name="Google Shape;2404;p18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NDFA</a:t>
            </a:r>
            <a:endParaRPr/>
          </a:p>
        </p:txBody>
      </p:sp>
      <p:sp>
        <p:nvSpPr>
          <p:cNvPr id="2405" name="Google Shape;2405;p18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Non Deterministic Automata</a:t>
            </a:r>
            <a:endParaRPr/>
          </a:p>
          <a:p>
            <a:pPr indent="-342900" lvl="0" marL="342900" rtl="0" algn="l">
              <a:spcBef>
                <a:spcPts val="480"/>
              </a:spcBef>
              <a:spcAft>
                <a:spcPts val="0"/>
              </a:spcAft>
              <a:buClr>
                <a:schemeClr val="dk1"/>
              </a:buClr>
              <a:buSzPts val="2400"/>
              <a:buChar char="•"/>
            </a:pPr>
            <a:r>
              <a:rPr lang="en-IN" sz="2400"/>
              <a:t>DFA vs NDFA</a:t>
            </a:r>
            <a:endParaRPr/>
          </a:p>
          <a:p>
            <a:pPr indent="-342900" lvl="0" marL="342900" rtl="0" algn="l">
              <a:spcBef>
                <a:spcPts val="480"/>
              </a:spcBef>
              <a:spcAft>
                <a:spcPts val="0"/>
              </a:spcAft>
              <a:buClr>
                <a:schemeClr val="dk1"/>
              </a:buClr>
              <a:buSzPts val="2400"/>
              <a:buChar char="•"/>
            </a:pPr>
            <a:r>
              <a:rPr lang="en-IN" sz="2400"/>
              <a:t>The Difference is in the type of transition function</a:t>
            </a:r>
            <a:endParaRPr/>
          </a:p>
          <a:p>
            <a:pPr indent="-139700" lvl="0" marL="342900" rtl="0" algn="l">
              <a:spcBef>
                <a:spcPts val="640"/>
              </a:spcBef>
              <a:spcAft>
                <a:spcPts val="0"/>
              </a:spcAft>
              <a:buClr>
                <a:schemeClr val="dk1"/>
              </a:buClr>
              <a:buSzPts val="3200"/>
              <a:buNone/>
            </a:pPr>
            <a:r>
              <a:t/>
            </a:r>
            <a:endParaRPr/>
          </a:p>
        </p:txBody>
      </p:sp>
      <p:sp>
        <p:nvSpPr>
          <p:cNvPr id="2406" name="Google Shape;2406;p18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407" name="Google Shape;2407;p1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408" name="Google Shape;2408;p1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2" name="Shape 2412"/>
        <p:cNvGrpSpPr/>
        <p:nvPr/>
      </p:nvGrpSpPr>
      <p:grpSpPr>
        <a:xfrm>
          <a:off x="0" y="0"/>
          <a:ext cx="0" cy="0"/>
          <a:chOff x="0" y="0"/>
          <a:chExt cx="0" cy="0"/>
        </a:xfrm>
      </p:grpSpPr>
      <p:sp>
        <p:nvSpPr>
          <p:cNvPr id="2413" name="Google Shape;2413;p182"/>
          <p:cNvSpPr txBox="1"/>
          <p:nvPr>
            <p:ph type="title"/>
          </p:nvPr>
        </p:nvSpPr>
        <p:spPr>
          <a:xfrm>
            <a:off x="457200" y="274638"/>
            <a:ext cx="8229600" cy="41805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NDFA</a:t>
            </a:r>
            <a:endParaRPr/>
          </a:p>
        </p:txBody>
      </p:sp>
      <p:sp>
        <p:nvSpPr>
          <p:cNvPr id="2414" name="Google Shape;2414;p182"/>
          <p:cNvSpPr txBox="1"/>
          <p:nvPr>
            <p:ph idx="1" type="body"/>
          </p:nvPr>
        </p:nvSpPr>
        <p:spPr>
          <a:xfrm>
            <a:off x="457200" y="980728"/>
            <a:ext cx="8229600" cy="514543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IN" sz="2000"/>
              <a:t>Let a non-deterministic finite automaton be →</a:t>
            </a:r>
            <a:endParaRPr/>
          </a:p>
          <a:p>
            <a:pPr indent="-342900" lvl="0" marL="342900" rtl="0" algn="l">
              <a:spcBef>
                <a:spcPts val="400"/>
              </a:spcBef>
              <a:spcAft>
                <a:spcPts val="0"/>
              </a:spcAft>
              <a:buClr>
                <a:schemeClr val="dk1"/>
              </a:buClr>
              <a:buSzPts val="2000"/>
              <a:buChar char="•"/>
            </a:pPr>
            <a:r>
              <a:rPr lang="en-IN" sz="2000"/>
              <a:t>Q = {a, b, c}</a:t>
            </a:r>
            <a:endParaRPr/>
          </a:p>
          <a:p>
            <a:pPr indent="-342900" lvl="0" marL="342900" rtl="0" algn="l">
              <a:spcBef>
                <a:spcPts val="400"/>
              </a:spcBef>
              <a:spcAft>
                <a:spcPts val="0"/>
              </a:spcAft>
              <a:buClr>
                <a:schemeClr val="dk1"/>
              </a:buClr>
              <a:buSzPts val="2000"/>
              <a:buChar char="•"/>
            </a:pPr>
            <a:r>
              <a:rPr lang="en-IN" sz="2000"/>
              <a:t>∑ = {0, 1}</a:t>
            </a:r>
            <a:endParaRPr/>
          </a:p>
          <a:p>
            <a:pPr indent="-342900" lvl="0" marL="342900" rtl="0" algn="l">
              <a:spcBef>
                <a:spcPts val="400"/>
              </a:spcBef>
              <a:spcAft>
                <a:spcPts val="0"/>
              </a:spcAft>
              <a:buClr>
                <a:schemeClr val="dk1"/>
              </a:buClr>
              <a:buSzPts val="2000"/>
              <a:buChar char="•"/>
            </a:pPr>
            <a:r>
              <a:rPr lang="en-IN" sz="2000"/>
              <a:t>q</a:t>
            </a:r>
            <a:r>
              <a:rPr baseline="-25000" lang="en-IN" sz="2000"/>
              <a:t>0</a:t>
            </a:r>
            <a:r>
              <a:rPr lang="en-IN" sz="2000"/>
              <a:t> = {a}</a:t>
            </a:r>
            <a:endParaRPr/>
          </a:p>
          <a:p>
            <a:pPr indent="-342900" lvl="0" marL="342900" rtl="0" algn="l">
              <a:spcBef>
                <a:spcPts val="400"/>
              </a:spcBef>
              <a:spcAft>
                <a:spcPts val="0"/>
              </a:spcAft>
              <a:buClr>
                <a:schemeClr val="dk1"/>
              </a:buClr>
              <a:buSzPts val="2000"/>
              <a:buChar char="•"/>
            </a:pPr>
            <a:r>
              <a:rPr lang="en-IN" sz="2000"/>
              <a:t>F = {c}</a:t>
            </a:r>
            <a:endParaRPr/>
          </a:p>
          <a:p>
            <a:pPr indent="-215900" lvl="0" marL="342900" rtl="0" algn="l">
              <a:spcBef>
                <a:spcPts val="400"/>
              </a:spcBef>
              <a:spcAft>
                <a:spcPts val="0"/>
              </a:spcAft>
              <a:buClr>
                <a:schemeClr val="dk1"/>
              </a:buClr>
              <a:buSzPts val="2000"/>
              <a:buNone/>
            </a:pPr>
            <a:r>
              <a:t/>
            </a:r>
            <a:endParaRPr sz="2000"/>
          </a:p>
        </p:txBody>
      </p:sp>
      <p:sp>
        <p:nvSpPr>
          <p:cNvPr id="2415" name="Google Shape;2415;p18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416" name="Google Shape;2416;p1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417" name="Google Shape;2417;p1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descr="NDFA Graphical Representation" id="2418" name="Google Shape;2418;p182"/>
          <p:cNvPicPr preferRelativeResize="0"/>
          <p:nvPr/>
        </p:nvPicPr>
        <p:blipFill rotWithShape="1">
          <a:blip r:embed="rId3">
            <a:alphaModFix/>
          </a:blip>
          <a:srcRect b="0" l="0" r="0" t="0"/>
          <a:stretch/>
        </p:blipFill>
        <p:spPr>
          <a:xfrm>
            <a:off x="1947489" y="2780928"/>
            <a:ext cx="4781550" cy="1419226"/>
          </a:xfrm>
          <a:prstGeom prst="rect">
            <a:avLst/>
          </a:prstGeom>
          <a:noFill/>
          <a:ln>
            <a:noFill/>
          </a:ln>
        </p:spPr>
      </p:pic>
      <p:pic>
        <p:nvPicPr>
          <p:cNvPr id="2419" name="Google Shape;2419;p182"/>
          <p:cNvPicPr preferRelativeResize="0"/>
          <p:nvPr/>
        </p:nvPicPr>
        <p:blipFill rotWithShape="1">
          <a:blip r:embed="rId4">
            <a:alphaModFix/>
          </a:blip>
          <a:srcRect b="0" l="0" r="0" t="0"/>
          <a:stretch/>
        </p:blipFill>
        <p:spPr>
          <a:xfrm>
            <a:off x="496980" y="4200154"/>
            <a:ext cx="8251484" cy="2109166"/>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3" name="Shape 2423"/>
        <p:cNvGrpSpPr/>
        <p:nvPr/>
      </p:nvGrpSpPr>
      <p:grpSpPr>
        <a:xfrm>
          <a:off x="0" y="0"/>
          <a:ext cx="0" cy="0"/>
          <a:chOff x="0" y="0"/>
          <a:chExt cx="0" cy="0"/>
        </a:xfrm>
      </p:grpSpPr>
      <p:sp>
        <p:nvSpPr>
          <p:cNvPr id="2424" name="Google Shape;2424;p1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NDFA</a:t>
            </a:r>
            <a:endParaRPr/>
          </a:p>
        </p:txBody>
      </p:sp>
      <p:sp>
        <p:nvSpPr>
          <p:cNvPr id="2425" name="Google Shape;2425;p18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2426" name="Google Shape;2426;p18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427" name="Google Shape;2427;p1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428" name="Google Shape;2428;p1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429" name="Google Shape;2429;p183"/>
          <p:cNvGraphicFramePr/>
          <p:nvPr/>
        </p:nvGraphicFramePr>
        <p:xfrm>
          <a:off x="467544" y="1628800"/>
          <a:ext cx="3000000" cy="3000000"/>
        </p:xfrm>
        <a:graphic>
          <a:graphicData uri="http://schemas.openxmlformats.org/drawingml/2006/table">
            <a:tbl>
              <a:tblPr bandRow="1" firstRow="1">
                <a:noFill/>
                <a:tableStyleId>{1DD1F0B8-C0F4-4710-A24E-F3ACE173D476}</a:tableStyleId>
              </a:tblPr>
              <a:tblGrid>
                <a:gridCol w="3996450"/>
                <a:gridCol w="3996450"/>
              </a:tblGrid>
              <a:tr h="998300">
                <a:tc>
                  <a:txBody>
                    <a:bodyPr/>
                    <a:lstStyle/>
                    <a:p>
                      <a:pPr indent="0" lvl="0" marL="0" marR="0" rtl="0" algn="l">
                        <a:spcBef>
                          <a:spcPts val="0"/>
                        </a:spcBef>
                        <a:spcAft>
                          <a:spcPts val="0"/>
                        </a:spcAft>
                        <a:buNone/>
                      </a:pPr>
                      <a:r>
                        <a:rPr lang="en-IN" sz="2400"/>
                        <a:t>DFA</a:t>
                      </a:r>
                      <a:endParaRPr sz="2400"/>
                    </a:p>
                  </a:txBody>
                  <a:tcPr marT="45725" marB="45725" marR="91450" marL="91450"/>
                </a:tc>
                <a:tc>
                  <a:txBody>
                    <a:bodyPr/>
                    <a:lstStyle/>
                    <a:p>
                      <a:pPr indent="0" lvl="0" marL="0" marR="0" rtl="0" algn="l">
                        <a:spcBef>
                          <a:spcPts val="0"/>
                        </a:spcBef>
                        <a:spcAft>
                          <a:spcPts val="0"/>
                        </a:spcAft>
                        <a:buNone/>
                      </a:pPr>
                      <a:r>
                        <a:rPr lang="en-IN" sz="2400"/>
                        <a:t>NDFA</a:t>
                      </a:r>
                      <a:endParaRPr sz="2400"/>
                    </a:p>
                  </a:txBody>
                  <a:tcPr marT="45725" marB="45725" marR="91450" marL="91450"/>
                </a:tc>
              </a:tr>
              <a:tr h="3394200">
                <a:tc>
                  <a:txBody>
                    <a:bodyPr/>
                    <a:lstStyle/>
                    <a:p>
                      <a:pPr indent="0" lvl="0" marL="0" marR="0" rtl="0" algn="l">
                        <a:spcBef>
                          <a:spcPts val="0"/>
                        </a:spcBef>
                        <a:spcAft>
                          <a:spcPts val="0"/>
                        </a:spcAft>
                        <a:buNone/>
                      </a:pPr>
                      <a:r>
                        <a:rPr lang="en-IN" sz="2400"/>
                        <a:t>Transition function takes a state and an</a:t>
                      </a:r>
                      <a:r>
                        <a:rPr lang="en-IN" sz="2400"/>
                        <a:t> input symbol and produces the next state</a:t>
                      </a:r>
                      <a:endParaRPr sz="2400"/>
                    </a:p>
                  </a:txBody>
                  <a:tcPr marT="45725" marB="45725" marR="91450" marL="91450"/>
                </a:tc>
                <a:tc>
                  <a:txBody>
                    <a:bodyPr/>
                    <a:lstStyle/>
                    <a:p>
                      <a:pPr indent="0" lvl="0" marL="0" marR="0" rtl="0" algn="l">
                        <a:spcBef>
                          <a:spcPts val="0"/>
                        </a:spcBef>
                        <a:spcAft>
                          <a:spcPts val="0"/>
                        </a:spcAft>
                        <a:buNone/>
                      </a:pPr>
                      <a:r>
                        <a:rPr lang="en-IN" sz="2400"/>
                        <a:t>Transition function takes a state and an</a:t>
                      </a:r>
                      <a:r>
                        <a:rPr lang="en-IN" sz="2400"/>
                        <a:t> input symbol or the empty string and produces the set of possible next states</a:t>
                      </a:r>
                      <a:endParaRPr sz="2400"/>
                    </a:p>
                  </a:txBody>
                  <a:tcPr marT="45725" marB="45725" marR="91450" marL="91450"/>
                </a:tc>
              </a:tr>
            </a:tbl>
          </a:graphicData>
        </a:graphic>
      </p:graphicFrame>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3" name="Shape 2433"/>
        <p:cNvGrpSpPr/>
        <p:nvPr/>
      </p:nvGrpSpPr>
      <p:grpSpPr>
        <a:xfrm>
          <a:off x="0" y="0"/>
          <a:ext cx="0" cy="0"/>
          <a:chOff x="0" y="0"/>
          <a:chExt cx="0" cy="0"/>
        </a:xfrm>
      </p:grpSpPr>
      <p:sp>
        <p:nvSpPr>
          <p:cNvPr id="2434" name="Google Shape;2434;p18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NDFA</a:t>
            </a:r>
            <a:endParaRPr/>
          </a:p>
        </p:txBody>
      </p:sp>
      <p:sp>
        <p:nvSpPr>
          <p:cNvPr id="2435" name="Google Shape;2435;p18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Non Deterministic Automata</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Similar to DFA</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Both have states, ∑, δ , start state, accept states</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Difference lies in δ</a:t>
            </a:r>
            <a:endParaRPr sz="2400"/>
          </a:p>
        </p:txBody>
      </p:sp>
      <p:sp>
        <p:nvSpPr>
          <p:cNvPr id="2436" name="Google Shape;2436;p18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437" name="Google Shape;2437;p1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438" name="Google Shape;2438;p1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2" name="Shape 2442"/>
        <p:cNvGrpSpPr/>
        <p:nvPr/>
      </p:nvGrpSpPr>
      <p:grpSpPr>
        <a:xfrm>
          <a:off x="0" y="0"/>
          <a:ext cx="0" cy="0"/>
          <a:chOff x="0" y="0"/>
          <a:chExt cx="0" cy="0"/>
        </a:xfrm>
      </p:grpSpPr>
      <p:sp>
        <p:nvSpPr>
          <p:cNvPr id="2443" name="Google Shape;2443;p185"/>
          <p:cNvSpPr txBox="1"/>
          <p:nvPr>
            <p:ph type="title"/>
          </p:nvPr>
        </p:nvSpPr>
        <p:spPr>
          <a:xfrm>
            <a:off x="457200" y="274638"/>
            <a:ext cx="8229600" cy="346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Formal Definition of NDFA</a:t>
            </a:r>
            <a:endParaRPr/>
          </a:p>
        </p:txBody>
      </p:sp>
      <p:sp>
        <p:nvSpPr>
          <p:cNvPr id="2444" name="Google Shape;2444;p185"/>
          <p:cNvSpPr txBox="1"/>
          <p:nvPr>
            <p:ph idx="1" type="body"/>
          </p:nvPr>
        </p:nvSpPr>
        <p:spPr>
          <a:xfrm>
            <a:off x="457200" y="1268760"/>
            <a:ext cx="8229600" cy="485740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lang="en-IN" sz="2400"/>
              <a:t>A NDFA is 5 tuple Machine</a:t>
            </a:r>
            <a:endParaRPr/>
          </a:p>
          <a:p>
            <a:pPr indent="-213359" lvl="0" marL="342900" rtl="0" algn="l">
              <a:spcBef>
                <a:spcPts val="408"/>
              </a:spcBef>
              <a:spcAft>
                <a:spcPts val="0"/>
              </a:spcAft>
              <a:buClr>
                <a:schemeClr val="dk1"/>
              </a:buClr>
              <a:buSzPct val="100000"/>
              <a:buNone/>
            </a:pPr>
            <a:r>
              <a:t/>
            </a:r>
            <a:endParaRPr sz="2400"/>
          </a:p>
          <a:p>
            <a:pPr indent="0" lvl="0" marL="0" rtl="0" algn="l">
              <a:spcBef>
                <a:spcPts val="408"/>
              </a:spcBef>
              <a:spcAft>
                <a:spcPts val="0"/>
              </a:spcAft>
              <a:buClr>
                <a:schemeClr val="dk1"/>
              </a:buClr>
              <a:buSzPct val="100000"/>
              <a:buNone/>
            </a:pPr>
            <a:r>
              <a:rPr lang="en-IN" sz="2400"/>
              <a:t>M=(Q, ∑, δ, q</a:t>
            </a:r>
            <a:r>
              <a:rPr baseline="-25000" lang="en-IN" sz="2400"/>
              <a:t>0</a:t>
            </a:r>
            <a:r>
              <a:rPr lang="en-IN" sz="2400"/>
              <a:t>, F) where </a:t>
            </a:r>
            <a:endParaRPr/>
          </a:p>
          <a:p>
            <a:pPr indent="-213359" lvl="0" marL="342900" rtl="0" algn="l">
              <a:spcBef>
                <a:spcPts val="408"/>
              </a:spcBef>
              <a:spcAft>
                <a:spcPts val="0"/>
              </a:spcAft>
              <a:buClr>
                <a:schemeClr val="dk1"/>
              </a:buClr>
              <a:buSzPct val="100000"/>
              <a:buNone/>
            </a:pPr>
            <a:r>
              <a:t/>
            </a:r>
            <a:endParaRPr sz="2400"/>
          </a:p>
          <a:p>
            <a:pPr indent="-342900" lvl="0" marL="342900" rtl="0" algn="l">
              <a:spcBef>
                <a:spcPts val="408"/>
              </a:spcBef>
              <a:spcAft>
                <a:spcPts val="0"/>
              </a:spcAft>
              <a:buClr>
                <a:schemeClr val="dk1"/>
              </a:buClr>
              <a:buSzPct val="100000"/>
              <a:buChar char="•"/>
            </a:pPr>
            <a:r>
              <a:rPr lang="en-IN" sz="2400"/>
              <a:t>Q:Finite set of states</a:t>
            </a:r>
            <a:endParaRPr/>
          </a:p>
          <a:p>
            <a:pPr indent="-213359" lvl="0" marL="342900" rtl="0" algn="l">
              <a:spcBef>
                <a:spcPts val="408"/>
              </a:spcBef>
              <a:spcAft>
                <a:spcPts val="0"/>
              </a:spcAft>
              <a:buClr>
                <a:schemeClr val="dk1"/>
              </a:buClr>
              <a:buSzPct val="100000"/>
              <a:buNone/>
            </a:pPr>
            <a:r>
              <a:t/>
            </a:r>
            <a:endParaRPr sz="2400"/>
          </a:p>
          <a:p>
            <a:pPr indent="-342900" lvl="0" marL="342900" rtl="0" algn="l">
              <a:spcBef>
                <a:spcPts val="408"/>
              </a:spcBef>
              <a:spcAft>
                <a:spcPts val="0"/>
              </a:spcAft>
              <a:buClr>
                <a:schemeClr val="dk1"/>
              </a:buClr>
              <a:buSzPct val="100000"/>
              <a:buChar char="•"/>
            </a:pPr>
            <a:r>
              <a:rPr lang="en-IN" sz="2400"/>
              <a:t>∑:Finite input alphabet</a:t>
            </a:r>
            <a:endParaRPr/>
          </a:p>
          <a:p>
            <a:pPr indent="-213359" lvl="0" marL="342900" rtl="0" algn="l">
              <a:spcBef>
                <a:spcPts val="408"/>
              </a:spcBef>
              <a:spcAft>
                <a:spcPts val="0"/>
              </a:spcAft>
              <a:buClr>
                <a:schemeClr val="dk1"/>
              </a:buClr>
              <a:buSzPct val="100000"/>
              <a:buNone/>
            </a:pPr>
            <a:r>
              <a:t/>
            </a:r>
            <a:endParaRPr sz="2400"/>
          </a:p>
          <a:p>
            <a:pPr indent="-342900" lvl="0" marL="342900" rtl="0" algn="l">
              <a:spcBef>
                <a:spcPts val="408"/>
              </a:spcBef>
              <a:spcAft>
                <a:spcPts val="0"/>
              </a:spcAft>
              <a:buClr>
                <a:schemeClr val="dk1"/>
              </a:buClr>
              <a:buSzPct val="100000"/>
              <a:buChar char="•"/>
            </a:pPr>
            <a:r>
              <a:rPr lang="en-IN" sz="2400"/>
              <a:t>δ:Q X ∑</a:t>
            </a:r>
            <a:r>
              <a:rPr baseline="-25000" lang="en-IN" sz="2400"/>
              <a:t>∈</a:t>
            </a:r>
            <a:r>
              <a:rPr lang="en-IN" sz="2400"/>
              <a:t> -&gt;P(Q) State Transition function(STF)</a:t>
            </a:r>
            <a:endParaRPr/>
          </a:p>
          <a:p>
            <a:pPr indent="-213359" lvl="0" marL="342900" rtl="0" algn="l">
              <a:spcBef>
                <a:spcPts val="408"/>
              </a:spcBef>
              <a:spcAft>
                <a:spcPts val="0"/>
              </a:spcAft>
              <a:buClr>
                <a:schemeClr val="dk1"/>
              </a:buClr>
              <a:buSzPct val="100000"/>
              <a:buNone/>
            </a:pPr>
            <a:r>
              <a:t/>
            </a:r>
            <a:endParaRPr sz="2400"/>
          </a:p>
          <a:p>
            <a:pPr indent="-342900" lvl="0" marL="342900" rtl="0" algn="l">
              <a:spcBef>
                <a:spcPts val="408"/>
              </a:spcBef>
              <a:spcAft>
                <a:spcPts val="0"/>
              </a:spcAft>
              <a:buClr>
                <a:schemeClr val="dk1"/>
              </a:buClr>
              <a:buSzPct val="100000"/>
              <a:buChar char="•"/>
            </a:pPr>
            <a:r>
              <a:rPr lang="en-IN" sz="2400"/>
              <a:t>q</a:t>
            </a:r>
            <a:r>
              <a:rPr baseline="-25000" lang="en-IN" sz="2400"/>
              <a:t>0</a:t>
            </a:r>
            <a:r>
              <a:rPr lang="en-IN" sz="2400"/>
              <a:t>: Initial/Start state of FA, q</a:t>
            </a:r>
            <a:r>
              <a:rPr baseline="-25000" lang="en-IN" sz="2400"/>
              <a:t>0</a:t>
            </a:r>
            <a:r>
              <a:rPr lang="en-IN" sz="2400"/>
              <a:t> ∈ Q</a:t>
            </a:r>
            <a:endParaRPr/>
          </a:p>
          <a:p>
            <a:pPr indent="-213359" lvl="0" marL="342900" rtl="0" algn="l">
              <a:spcBef>
                <a:spcPts val="408"/>
              </a:spcBef>
              <a:spcAft>
                <a:spcPts val="0"/>
              </a:spcAft>
              <a:buClr>
                <a:schemeClr val="dk1"/>
              </a:buClr>
              <a:buSzPct val="100000"/>
              <a:buNone/>
            </a:pPr>
            <a:r>
              <a:t/>
            </a:r>
            <a:endParaRPr sz="2400"/>
          </a:p>
          <a:p>
            <a:pPr indent="-342900" lvl="0" marL="342900" rtl="0" algn="l">
              <a:spcBef>
                <a:spcPts val="408"/>
              </a:spcBef>
              <a:spcAft>
                <a:spcPts val="0"/>
              </a:spcAft>
              <a:buClr>
                <a:schemeClr val="dk1"/>
              </a:buClr>
              <a:buSzPct val="100000"/>
              <a:buChar char="•"/>
            </a:pPr>
            <a:r>
              <a:rPr lang="en-IN" sz="2400"/>
              <a:t>F: Set of Final States/ Accept State, F ⊆ Q</a:t>
            </a:r>
            <a:endParaRPr/>
          </a:p>
          <a:p>
            <a:pPr indent="-213359" lvl="0" marL="342900" rtl="0" algn="l">
              <a:spcBef>
                <a:spcPts val="408"/>
              </a:spcBef>
              <a:spcAft>
                <a:spcPts val="0"/>
              </a:spcAft>
              <a:buClr>
                <a:schemeClr val="dk1"/>
              </a:buClr>
              <a:buSzPct val="100000"/>
              <a:buNone/>
            </a:pPr>
            <a:r>
              <a:t/>
            </a:r>
            <a:endParaRPr sz="2400"/>
          </a:p>
          <a:p>
            <a:pPr indent="-342900" lvl="0" marL="342900" rtl="0" algn="l">
              <a:spcBef>
                <a:spcPts val="408"/>
              </a:spcBef>
              <a:spcAft>
                <a:spcPts val="0"/>
              </a:spcAft>
              <a:buClr>
                <a:schemeClr val="dk1"/>
              </a:buClr>
              <a:buSzPct val="100000"/>
              <a:buChar char="•"/>
            </a:pPr>
            <a:r>
              <a:rPr lang="en-IN" sz="2400"/>
              <a:t>P(Q)=Power Set of Q=2</a:t>
            </a:r>
            <a:r>
              <a:rPr baseline="30000" lang="en-IN" sz="2400"/>
              <a:t>Q</a:t>
            </a:r>
            <a:r>
              <a:rPr lang="en-IN" sz="2400"/>
              <a:t> states, the set of all subsets of Q</a:t>
            </a:r>
            <a:endParaRPr sz="2400"/>
          </a:p>
          <a:p>
            <a:pPr indent="-213359" lvl="0" marL="342900" rtl="0" algn="l">
              <a:spcBef>
                <a:spcPts val="408"/>
              </a:spcBef>
              <a:spcAft>
                <a:spcPts val="0"/>
              </a:spcAft>
              <a:buClr>
                <a:schemeClr val="dk1"/>
              </a:buClr>
              <a:buSzPct val="100000"/>
              <a:buNone/>
            </a:pPr>
            <a:r>
              <a:t/>
            </a:r>
            <a:endParaRPr sz="2400"/>
          </a:p>
          <a:p>
            <a:pPr indent="-213359" lvl="0" marL="342900" rtl="0" algn="l">
              <a:spcBef>
                <a:spcPts val="408"/>
              </a:spcBef>
              <a:spcAft>
                <a:spcPts val="0"/>
              </a:spcAft>
              <a:buClr>
                <a:schemeClr val="dk1"/>
              </a:buClr>
              <a:buSzPct val="100000"/>
              <a:buNone/>
            </a:pPr>
            <a:r>
              <a:t/>
            </a:r>
            <a:endParaRPr sz="2400"/>
          </a:p>
        </p:txBody>
      </p:sp>
      <p:sp>
        <p:nvSpPr>
          <p:cNvPr id="2445" name="Google Shape;2445;p18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446" name="Google Shape;2446;p1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447" name="Google Shape;2447;p1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1" name="Shape 2451"/>
        <p:cNvGrpSpPr/>
        <p:nvPr/>
      </p:nvGrpSpPr>
      <p:grpSpPr>
        <a:xfrm>
          <a:off x="0" y="0"/>
          <a:ext cx="0" cy="0"/>
          <a:chOff x="0" y="0"/>
          <a:chExt cx="0" cy="0"/>
        </a:xfrm>
      </p:grpSpPr>
      <p:sp>
        <p:nvSpPr>
          <p:cNvPr id="2452" name="Google Shape;2452;p186"/>
          <p:cNvSpPr txBox="1"/>
          <p:nvPr>
            <p:ph type="title"/>
          </p:nvPr>
        </p:nvSpPr>
        <p:spPr>
          <a:xfrm>
            <a:off x="457200" y="274638"/>
            <a:ext cx="8229600" cy="346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Formal Definition of NDFA</a:t>
            </a:r>
            <a:endParaRPr/>
          </a:p>
        </p:txBody>
      </p:sp>
      <p:sp>
        <p:nvSpPr>
          <p:cNvPr id="2453" name="Google Shape;2453;p186"/>
          <p:cNvSpPr txBox="1"/>
          <p:nvPr>
            <p:ph idx="1" type="body"/>
          </p:nvPr>
        </p:nvSpPr>
        <p:spPr>
          <a:xfrm>
            <a:off x="457200" y="1268760"/>
            <a:ext cx="8229600" cy="485740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Need not construct δ for all these 2</a:t>
            </a:r>
            <a:r>
              <a:rPr baseline="30000" lang="en-IN" sz="2400"/>
              <a:t>Q</a:t>
            </a:r>
            <a:r>
              <a:rPr lang="en-IN" sz="2400"/>
              <a:t> states , </a:t>
            </a:r>
            <a:r>
              <a:rPr lang="en-IN" sz="2400">
                <a:solidFill>
                  <a:srgbClr val="FF0000"/>
                </a:solidFill>
              </a:rPr>
              <a:t>But for all states reachable from q0</a:t>
            </a:r>
            <a:endParaRPr sz="2400">
              <a:solidFill>
                <a:srgbClr val="FF0000"/>
              </a:solidFill>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We continue construction of δ by considering only states appearing earlier under input columns </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We halt when no more new state appear under the input column</a:t>
            </a:r>
            <a:endParaRPr/>
          </a:p>
          <a:p>
            <a:pPr indent="-190500" lvl="0" marL="342900" rtl="0" algn="l">
              <a:spcBef>
                <a:spcPts val="480"/>
              </a:spcBef>
              <a:spcAft>
                <a:spcPts val="0"/>
              </a:spcAft>
              <a:buClr>
                <a:schemeClr val="dk1"/>
              </a:buClr>
              <a:buSzPts val="2400"/>
              <a:buNone/>
            </a:pPr>
            <a:r>
              <a:t/>
            </a:r>
            <a:endParaRPr sz="2400"/>
          </a:p>
        </p:txBody>
      </p:sp>
      <p:sp>
        <p:nvSpPr>
          <p:cNvPr id="2454" name="Google Shape;2454;p18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455" name="Google Shape;2455;p1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456" name="Google Shape;2456;p1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0" name="Shape 2460"/>
        <p:cNvGrpSpPr/>
        <p:nvPr/>
      </p:nvGrpSpPr>
      <p:grpSpPr>
        <a:xfrm>
          <a:off x="0" y="0"/>
          <a:ext cx="0" cy="0"/>
          <a:chOff x="0" y="0"/>
          <a:chExt cx="0" cy="0"/>
        </a:xfrm>
      </p:grpSpPr>
      <p:sp>
        <p:nvSpPr>
          <p:cNvPr id="2461" name="Google Shape;2461;p187"/>
          <p:cNvSpPr txBox="1"/>
          <p:nvPr>
            <p:ph type="title"/>
          </p:nvPr>
        </p:nvSpPr>
        <p:spPr>
          <a:xfrm>
            <a:off x="457200" y="274638"/>
            <a:ext cx="8229600" cy="346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Example 1</a:t>
            </a:r>
            <a:endParaRPr/>
          </a:p>
        </p:txBody>
      </p:sp>
      <p:sp>
        <p:nvSpPr>
          <p:cNvPr id="2462" name="Google Shape;2462;p187"/>
          <p:cNvSpPr txBox="1"/>
          <p:nvPr>
            <p:ph idx="1" type="body"/>
          </p:nvPr>
        </p:nvSpPr>
        <p:spPr>
          <a:xfrm>
            <a:off x="457200" y="1268760"/>
            <a:ext cx="8229600" cy="485740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Construct a Deterministic automaton equivalent to M1=({qo,q1},{0,1},δ,q0,{q0}) where δ is given by the following table</a:t>
            </a:r>
            <a:endParaRPr/>
          </a:p>
        </p:txBody>
      </p:sp>
      <p:sp>
        <p:nvSpPr>
          <p:cNvPr id="2463" name="Google Shape;2463;p18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464" name="Google Shape;2464;p18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465" name="Google Shape;2465;p18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466" name="Google Shape;2466;p187"/>
          <p:cNvGraphicFramePr/>
          <p:nvPr/>
        </p:nvGraphicFramePr>
        <p:xfrm>
          <a:off x="1999278" y="2492896"/>
          <a:ext cx="3000000" cy="3000000"/>
        </p:xfrm>
        <a:graphic>
          <a:graphicData uri="http://schemas.openxmlformats.org/drawingml/2006/table">
            <a:tbl>
              <a:tblPr bandRow="1" firstRow="1">
                <a:noFill/>
                <a:tableStyleId>{67F6A887-4D8F-49DA-B730-5EAACEBB6B1F}</a:tableStyleId>
              </a:tblPr>
              <a:tblGrid>
                <a:gridCol w="2032000"/>
                <a:gridCol w="2032000"/>
                <a:gridCol w="20320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bl>
          </a:graphicData>
        </a:graphic>
      </p:graphicFrame>
      <p:cxnSp>
        <p:nvCxnSpPr>
          <p:cNvPr id="2467" name="Google Shape;2467;p187"/>
          <p:cNvCxnSpPr/>
          <p:nvPr/>
        </p:nvCxnSpPr>
        <p:spPr>
          <a:xfrm flipH="1" rot="10800000">
            <a:off x="1135182" y="3049160"/>
            <a:ext cx="864000" cy="19800"/>
          </a:xfrm>
          <a:prstGeom prst="straightConnector1">
            <a:avLst/>
          </a:prstGeom>
          <a:noFill/>
          <a:ln cap="flat" cmpd="sng" w="9525">
            <a:solidFill>
              <a:srgbClr val="4A7DBA"/>
            </a:solidFill>
            <a:prstDash val="solid"/>
            <a:round/>
            <a:headEnd len="sm" w="sm" type="none"/>
            <a:tailEnd len="med" w="med" type="stealth"/>
          </a:ln>
        </p:spPr>
      </p:cxnSp>
      <p:sp>
        <p:nvSpPr>
          <p:cNvPr id="2468" name="Google Shape;2468;p187"/>
          <p:cNvSpPr/>
          <p:nvPr/>
        </p:nvSpPr>
        <p:spPr>
          <a:xfrm>
            <a:off x="1999278" y="2924944"/>
            <a:ext cx="484490" cy="288032"/>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2" name="Shape 2472"/>
        <p:cNvGrpSpPr/>
        <p:nvPr/>
      </p:nvGrpSpPr>
      <p:grpSpPr>
        <a:xfrm>
          <a:off x="0" y="0"/>
          <a:ext cx="0" cy="0"/>
          <a:chOff x="0" y="0"/>
          <a:chExt cx="0" cy="0"/>
        </a:xfrm>
      </p:grpSpPr>
      <p:sp>
        <p:nvSpPr>
          <p:cNvPr id="2473" name="Google Shape;2473;p188"/>
          <p:cNvSpPr txBox="1"/>
          <p:nvPr>
            <p:ph type="title"/>
          </p:nvPr>
        </p:nvSpPr>
        <p:spPr>
          <a:xfrm>
            <a:off x="457200" y="274638"/>
            <a:ext cx="8229600" cy="346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Example 1</a:t>
            </a:r>
            <a:endParaRPr/>
          </a:p>
        </p:txBody>
      </p:sp>
      <p:sp>
        <p:nvSpPr>
          <p:cNvPr id="2474" name="Google Shape;2474;p188"/>
          <p:cNvSpPr txBox="1"/>
          <p:nvPr>
            <p:ph idx="1" type="body"/>
          </p:nvPr>
        </p:nvSpPr>
        <p:spPr>
          <a:xfrm>
            <a:off x="457200" y="1268760"/>
            <a:ext cx="8229600" cy="485740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Construct a Deterministic automaton equivalent to M1=({qo,q1},{0,1},δ,q0,{q0}) where δ is given by the following table</a:t>
            </a:r>
            <a:endParaRPr/>
          </a:p>
        </p:txBody>
      </p:sp>
      <p:sp>
        <p:nvSpPr>
          <p:cNvPr id="2475" name="Google Shape;2475;p18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476" name="Google Shape;2476;p18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477" name="Google Shape;2477;p18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478" name="Google Shape;2478;p188"/>
          <p:cNvGraphicFramePr/>
          <p:nvPr/>
        </p:nvGraphicFramePr>
        <p:xfrm>
          <a:off x="1999278" y="2492896"/>
          <a:ext cx="3000000" cy="3000000"/>
        </p:xfrm>
        <a:graphic>
          <a:graphicData uri="http://schemas.openxmlformats.org/drawingml/2006/table">
            <a:tbl>
              <a:tblPr bandRow="1" firstRow="1">
                <a:noFill/>
                <a:tableStyleId>{67F6A887-4D8F-49DA-B730-5EAACEBB6B1F}</a:tableStyleId>
              </a:tblPr>
              <a:tblGrid>
                <a:gridCol w="2032000"/>
                <a:gridCol w="2032000"/>
                <a:gridCol w="20320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bl>
          </a:graphicData>
        </a:graphic>
      </p:graphicFrame>
      <p:cxnSp>
        <p:nvCxnSpPr>
          <p:cNvPr id="2479" name="Google Shape;2479;p188"/>
          <p:cNvCxnSpPr/>
          <p:nvPr/>
        </p:nvCxnSpPr>
        <p:spPr>
          <a:xfrm flipH="1" rot="10800000">
            <a:off x="1135182" y="3049160"/>
            <a:ext cx="864000" cy="19800"/>
          </a:xfrm>
          <a:prstGeom prst="straightConnector1">
            <a:avLst/>
          </a:prstGeom>
          <a:noFill/>
          <a:ln cap="flat" cmpd="sng" w="9525">
            <a:solidFill>
              <a:srgbClr val="4A7DBA"/>
            </a:solidFill>
            <a:prstDash val="solid"/>
            <a:round/>
            <a:headEnd len="sm" w="sm" type="none"/>
            <a:tailEnd len="med" w="med" type="stealth"/>
          </a:ln>
        </p:spPr>
      </p:cxnSp>
      <p:sp>
        <p:nvSpPr>
          <p:cNvPr id="2480" name="Google Shape;2480;p188"/>
          <p:cNvSpPr/>
          <p:nvPr/>
        </p:nvSpPr>
        <p:spPr>
          <a:xfrm>
            <a:off x="1999278" y="2924944"/>
            <a:ext cx="484490" cy="288032"/>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4" name="Shape 2484"/>
        <p:cNvGrpSpPr/>
        <p:nvPr/>
      </p:nvGrpSpPr>
      <p:grpSpPr>
        <a:xfrm>
          <a:off x="0" y="0"/>
          <a:ext cx="0" cy="0"/>
          <a:chOff x="0" y="0"/>
          <a:chExt cx="0" cy="0"/>
        </a:xfrm>
      </p:grpSpPr>
      <p:sp>
        <p:nvSpPr>
          <p:cNvPr id="2485" name="Google Shape;2485;p189"/>
          <p:cNvSpPr txBox="1"/>
          <p:nvPr>
            <p:ph type="title"/>
          </p:nvPr>
        </p:nvSpPr>
        <p:spPr>
          <a:xfrm>
            <a:off x="457200" y="274638"/>
            <a:ext cx="8229600" cy="346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Example 1</a:t>
            </a:r>
            <a:endParaRPr/>
          </a:p>
        </p:txBody>
      </p:sp>
      <p:sp>
        <p:nvSpPr>
          <p:cNvPr id="2486" name="Google Shape;2486;p189"/>
          <p:cNvSpPr txBox="1"/>
          <p:nvPr>
            <p:ph idx="1" type="body"/>
          </p:nvPr>
        </p:nvSpPr>
        <p:spPr>
          <a:xfrm>
            <a:off x="457200" y="1268760"/>
            <a:ext cx="8229600" cy="485740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NDFA M1</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DFA M1</a:t>
            </a:r>
            <a:endParaRPr/>
          </a:p>
        </p:txBody>
      </p:sp>
      <p:sp>
        <p:nvSpPr>
          <p:cNvPr id="2487" name="Google Shape;2487;p18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488" name="Google Shape;2488;p18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489" name="Google Shape;2489;p18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490" name="Google Shape;2490;p189"/>
          <p:cNvGraphicFramePr/>
          <p:nvPr/>
        </p:nvGraphicFramePr>
        <p:xfrm>
          <a:off x="1403648" y="1844824"/>
          <a:ext cx="3000000" cy="3000000"/>
        </p:xfrm>
        <a:graphic>
          <a:graphicData uri="http://schemas.openxmlformats.org/drawingml/2006/table">
            <a:tbl>
              <a:tblPr bandRow="1" firstRow="1">
                <a:noFill/>
                <a:tableStyleId>{67F6A887-4D8F-49DA-B730-5EAACEBB6B1F}</a:tableStyleId>
              </a:tblPr>
              <a:tblGrid>
                <a:gridCol w="2032000"/>
                <a:gridCol w="2032000"/>
                <a:gridCol w="20320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bl>
          </a:graphicData>
        </a:graphic>
      </p:graphicFrame>
      <p:cxnSp>
        <p:nvCxnSpPr>
          <p:cNvPr id="2491" name="Google Shape;2491;p189"/>
          <p:cNvCxnSpPr/>
          <p:nvPr/>
        </p:nvCxnSpPr>
        <p:spPr>
          <a:xfrm flipH="1" rot="10800000">
            <a:off x="539552" y="2401088"/>
            <a:ext cx="864000" cy="19800"/>
          </a:xfrm>
          <a:prstGeom prst="straightConnector1">
            <a:avLst/>
          </a:prstGeom>
          <a:noFill/>
          <a:ln cap="flat" cmpd="sng" w="9525">
            <a:solidFill>
              <a:srgbClr val="4A7DBA"/>
            </a:solidFill>
            <a:prstDash val="solid"/>
            <a:round/>
            <a:headEnd len="sm" w="sm" type="none"/>
            <a:tailEnd len="med" w="med" type="stealth"/>
          </a:ln>
        </p:spPr>
      </p:cxnSp>
      <p:graphicFrame>
        <p:nvGraphicFramePr>
          <p:cNvPr id="2492" name="Google Shape;2492;p189"/>
          <p:cNvGraphicFramePr/>
          <p:nvPr/>
        </p:nvGraphicFramePr>
        <p:xfrm>
          <a:off x="1475656" y="4005064"/>
          <a:ext cx="3000000" cy="3000000"/>
        </p:xfrm>
        <a:graphic>
          <a:graphicData uri="http://schemas.openxmlformats.org/drawingml/2006/table">
            <a:tbl>
              <a:tblPr bandRow="1" firstRow="1">
                <a:noFill/>
                <a:tableStyleId>{67F6A887-4D8F-49DA-B730-5EAACEBB6B1F}</a:tableStyleId>
              </a:tblPr>
              <a:tblGrid>
                <a:gridCol w="2032000"/>
                <a:gridCol w="2032000"/>
                <a:gridCol w="20320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800"/>
                        <a:buFont typeface="Calibri"/>
                        <a:buNone/>
                      </a:pPr>
                      <a:r>
                        <a:rPr lang="en-IN" sz="1800"/>
                        <a:t>[q0,q1]</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IN" sz="1800"/>
                        <a:t>[q0,q1]</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IN" sz="1800"/>
                        <a:t>[q0,q1]</a:t>
                      </a:r>
                      <a:endParaRPr/>
                    </a:p>
                  </a:txBody>
                  <a:tcPr marT="45725" marB="45725" marR="91450" marL="91450"/>
                </a:tc>
              </a:tr>
            </a:tbl>
          </a:graphicData>
        </a:graphic>
      </p:graphicFrame>
      <p:cxnSp>
        <p:nvCxnSpPr>
          <p:cNvPr id="2493" name="Google Shape;2493;p189"/>
          <p:cNvCxnSpPr/>
          <p:nvPr/>
        </p:nvCxnSpPr>
        <p:spPr>
          <a:xfrm>
            <a:off x="611560" y="4581128"/>
            <a:ext cx="864000" cy="165600"/>
          </a:xfrm>
          <a:prstGeom prst="straightConnector1">
            <a:avLst/>
          </a:prstGeom>
          <a:noFill/>
          <a:ln cap="flat" cmpd="sng" w="9525">
            <a:solidFill>
              <a:srgbClr val="4A7DBA"/>
            </a:solidFill>
            <a:prstDash val="solid"/>
            <a:round/>
            <a:headEnd len="sm" w="sm" type="none"/>
            <a:tailEnd len="med" w="med" type="stealth"/>
          </a:ln>
        </p:spPr>
      </p:cxnSp>
      <p:sp>
        <p:nvSpPr>
          <p:cNvPr id="2494" name="Google Shape;2494;p189"/>
          <p:cNvSpPr/>
          <p:nvPr/>
        </p:nvSpPr>
        <p:spPr>
          <a:xfrm>
            <a:off x="1403648" y="2276872"/>
            <a:ext cx="484490" cy="288032"/>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95" name="Google Shape;2495;p189"/>
          <p:cNvSpPr/>
          <p:nvPr/>
        </p:nvSpPr>
        <p:spPr>
          <a:xfrm>
            <a:off x="1495222" y="4365104"/>
            <a:ext cx="556498" cy="36004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96" name="Google Shape;2496;p189"/>
          <p:cNvSpPr/>
          <p:nvPr/>
        </p:nvSpPr>
        <p:spPr>
          <a:xfrm>
            <a:off x="1403648" y="5085184"/>
            <a:ext cx="1080120" cy="504056"/>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0" name="Shape 2500"/>
        <p:cNvGrpSpPr/>
        <p:nvPr/>
      </p:nvGrpSpPr>
      <p:grpSpPr>
        <a:xfrm>
          <a:off x="0" y="0"/>
          <a:ext cx="0" cy="0"/>
          <a:chOff x="0" y="0"/>
          <a:chExt cx="0" cy="0"/>
        </a:xfrm>
      </p:grpSpPr>
      <p:sp>
        <p:nvSpPr>
          <p:cNvPr id="2501" name="Google Shape;2501;p190"/>
          <p:cNvSpPr txBox="1"/>
          <p:nvPr>
            <p:ph type="title"/>
          </p:nvPr>
        </p:nvSpPr>
        <p:spPr>
          <a:xfrm>
            <a:off x="457200" y="274638"/>
            <a:ext cx="8229600" cy="3460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Formal Definition of NDFA</a:t>
            </a:r>
            <a:endParaRPr/>
          </a:p>
        </p:txBody>
      </p:sp>
      <p:sp>
        <p:nvSpPr>
          <p:cNvPr id="2502" name="Google Shape;2502;p190"/>
          <p:cNvSpPr txBox="1"/>
          <p:nvPr>
            <p:ph idx="1" type="body"/>
          </p:nvPr>
        </p:nvSpPr>
        <p:spPr>
          <a:xfrm>
            <a:off x="457200" y="1268760"/>
            <a:ext cx="8229600" cy="485740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Formal Definition-</a:t>
            </a:r>
            <a:endParaRPr/>
          </a:p>
          <a:p>
            <a:pPr indent="-342900" lvl="0" marL="342900" rtl="0" algn="l">
              <a:spcBef>
                <a:spcPts val="480"/>
              </a:spcBef>
              <a:spcAft>
                <a:spcPts val="0"/>
              </a:spcAft>
              <a:buClr>
                <a:schemeClr val="dk1"/>
              </a:buClr>
              <a:buSzPts val="2400"/>
              <a:buChar char="•"/>
            </a:pPr>
            <a:r>
              <a:rPr lang="en-IN" sz="2400"/>
              <a:t>M={ { q0, q1, [q0,q1] } , {0,1} , {q0} , { [q0] , [q0q1] }  }</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Set of States= { q0, q1, [q0,q1] } </a:t>
            </a:r>
            <a:endParaRPr sz="2400"/>
          </a:p>
          <a:p>
            <a:pPr indent="-342900" lvl="0" marL="342900" rtl="0" algn="l">
              <a:spcBef>
                <a:spcPts val="480"/>
              </a:spcBef>
              <a:spcAft>
                <a:spcPts val="0"/>
              </a:spcAft>
              <a:buClr>
                <a:schemeClr val="dk1"/>
              </a:buClr>
              <a:buSzPts val="2400"/>
              <a:buChar char="•"/>
            </a:pPr>
            <a:r>
              <a:rPr lang="en-IN" sz="2400"/>
              <a:t>Input alphabet= {0,1} </a:t>
            </a:r>
            <a:endParaRPr sz="2400"/>
          </a:p>
          <a:p>
            <a:pPr indent="-342900" lvl="0" marL="342900" rtl="0" algn="l">
              <a:spcBef>
                <a:spcPts val="480"/>
              </a:spcBef>
              <a:spcAft>
                <a:spcPts val="0"/>
              </a:spcAft>
              <a:buClr>
                <a:schemeClr val="dk1"/>
              </a:buClr>
              <a:buSzPts val="2400"/>
              <a:buChar char="•"/>
            </a:pPr>
            <a:r>
              <a:rPr lang="en-IN" sz="2400"/>
              <a:t>Start State= {q0} </a:t>
            </a:r>
            <a:endParaRPr sz="2400"/>
          </a:p>
          <a:p>
            <a:pPr indent="-342900" lvl="0" marL="342900" rtl="0" algn="l">
              <a:spcBef>
                <a:spcPts val="480"/>
              </a:spcBef>
              <a:spcAft>
                <a:spcPts val="0"/>
              </a:spcAft>
              <a:buClr>
                <a:schemeClr val="dk1"/>
              </a:buClr>
              <a:buSzPts val="2400"/>
              <a:buChar char="•"/>
            </a:pPr>
            <a:r>
              <a:rPr lang="en-IN" sz="2400"/>
              <a:t>Final States= { [q0] , [q0q1] }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2503" name="Google Shape;2503;p19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504" name="Google Shape;2504;p19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8" name="Shape 2508"/>
        <p:cNvGrpSpPr/>
        <p:nvPr/>
      </p:nvGrpSpPr>
      <p:grpSpPr>
        <a:xfrm>
          <a:off x="0" y="0"/>
          <a:ext cx="0" cy="0"/>
          <a:chOff x="0" y="0"/>
          <a:chExt cx="0" cy="0"/>
        </a:xfrm>
      </p:grpSpPr>
      <p:sp>
        <p:nvSpPr>
          <p:cNvPr id="2509" name="Google Shape;2509;p19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510" name="Google Shape;2510;p191"/>
          <p:cNvSpPr txBox="1"/>
          <p:nvPr>
            <p:ph idx="1" type="body"/>
          </p:nvPr>
        </p:nvSpPr>
        <p:spPr>
          <a:xfrm>
            <a:off x="457200" y="1422692"/>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NDFA M1</a:t>
            </a:r>
            <a:endParaRPr/>
          </a:p>
          <a:p>
            <a:pPr indent="-139700" lvl="0" marL="342900" rtl="0" algn="l">
              <a:spcBef>
                <a:spcPts val="640"/>
              </a:spcBef>
              <a:spcAft>
                <a:spcPts val="0"/>
              </a:spcAft>
              <a:buClr>
                <a:schemeClr val="dk1"/>
              </a:buClr>
              <a:buSzPts val="3200"/>
              <a:buNone/>
            </a:pPr>
            <a:r>
              <a:t/>
            </a:r>
            <a:endParaRPr/>
          </a:p>
        </p:txBody>
      </p:sp>
      <p:sp>
        <p:nvSpPr>
          <p:cNvPr id="2511" name="Google Shape;2511;p19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512" name="Google Shape;2512;p19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513" name="Google Shape;2513;p19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514" name="Google Shape;2514;p191"/>
          <p:cNvSpPr txBox="1"/>
          <p:nvPr/>
        </p:nvSpPr>
        <p:spPr>
          <a:xfrm>
            <a:off x="6553200" y="6365642"/>
            <a:ext cx="2133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IN"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2515" name="Google Shape;2515;p191"/>
          <p:cNvSpPr/>
          <p:nvPr/>
        </p:nvSpPr>
        <p:spPr>
          <a:xfrm>
            <a:off x="4499992" y="471771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q1</a:t>
            </a:r>
            <a:endParaRPr sz="1800">
              <a:solidFill>
                <a:schemeClr val="lt1"/>
              </a:solidFill>
              <a:latin typeface="Calibri"/>
              <a:ea typeface="Calibri"/>
              <a:cs typeface="Calibri"/>
              <a:sym typeface="Calibri"/>
            </a:endParaRPr>
          </a:p>
        </p:txBody>
      </p:sp>
      <p:cxnSp>
        <p:nvCxnSpPr>
          <p:cNvPr id="2516" name="Google Shape;2516;p191"/>
          <p:cNvCxnSpPr>
            <a:endCxn id="2517" idx="5"/>
          </p:cNvCxnSpPr>
          <p:nvPr/>
        </p:nvCxnSpPr>
        <p:spPr>
          <a:xfrm rot="10800000">
            <a:off x="2633821" y="5255701"/>
            <a:ext cx="1866300" cy="0"/>
          </a:xfrm>
          <a:prstGeom prst="straightConnector1">
            <a:avLst/>
          </a:prstGeom>
          <a:noFill/>
          <a:ln cap="flat" cmpd="sng" w="9525">
            <a:solidFill>
              <a:srgbClr val="4A7DBA"/>
            </a:solidFill>
            <a:prstDash val="solid"/>
            <a:round/>
            <a:headEnd len="sm" w="sm" type="none"/>
            <a:tailEnd len="med" w="med" type="stealth"/>
          </a:ln>
        </p:spPr>
      </p:cxnSp>
      <p:cxnSp>
        <p:nvCxnSpPr>
          <p:cNvPr id="2518" name="Google Shape;2518;p191"/>
          <p:cNvCxnSpPr>
            <a:stCxn id="2517" idx="6"/>
            <a:endCxn id="2515" idx="2"/>
          </p:cNvCxnSpPr>
          <p:nvPr/>
        </p:nvCxnSpPr>
        <p:spPr>
          <a:xfrm>
            <a:off x="2739274" y="5063118"/>
            <a:ext cx="1760700" cy="14700"/>
          </a:xfrm>
          <a:prstGeom prst="straightConnector1">
            <a:avLst/>
          </a:prstGeom>
          <a:noFill/>
          <a:ln cap="flat" cmpd="sng" w="9525">
            <a:solidFill>
              <a:srgbClr val="4A7DBA"/>
            </a:solidFill>
            <a:prstDash val="solid"/>
            <a:round/>
            <a:headEnd len="sm" w="sm" type="none"/>
            <a:tailEnd len="med" w="med" type="stealth"/>
          </a:ln>
        </p:spPr>
      </p:cxnSp>
      <p:sp>
        <p:nvSpPr>
          <p:cNvPr id="2519" name="Google Shape;2519;p191"/>
          <p:cNvSpPr txBox="1"/>
          <p:nvPr/>
        </p:nvSpPr>
        <p:spPr>
          <a:xfrm>
            <a:off x="3419872" y="4693786"/>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2520" name="Google Shape;2520;p191"/>
          <p:cNvSpPr txBox="1"/>
          <p:nvPr/>
        </p:nvSpPr>
        <p:spPr>
          <a:xfrm>
            <a:off x="3419872" y="534185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a:p>
        </p:txBody>
      </p:sp>
      <p:sp>
        <p:nvSpPr>
          <p:cNvPr id="2521" name="Google Shape;2521;p191"/>
          <p:cNvSpPr/>
          <p:nvPr/>
        </p:nvSpPr>
        <p:spPr>
          <a:xfrm>
            <a:off x="4644008" y="3927713"/>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22" name="Google Shape;2522;p191"/>
          <p:cNvSpPr/>
          <p:nvPr/>
        </p:nvSpPr>
        <p:spPr>
          <a:xfrm>
            <a:off x="2051720" y="3927713"/>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23" name="Google Shape;2523;p191"/>
          <p:cNvSpPr txBox="1"/>
          <p:nvPr/>
        </p:nvSpPr>
        <p:spPr>
          <a:xfrm>
            <a:off x="2188494" y="350100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2524" name="Google Shape;2524;p191"/>
          <p:cNvSpPr txBox="1"/>
          <p:nvPr/>
        </p:nvSpPr>
        <p:spPr>
          <a:xfrm>
            <a:off x="4841570" y="3582308"/>
            <a:ext cx="5293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0,1 </a:t>
            </a:r>
            <a:endParaRPr sz="1800">
              <a:solidFill>
                <a:schemeClr val="dk1"/>
              </a:solidFill>
              <a:latin typeface="Calibri"/>
              <a:ea typeface="Calibri"/>
              <a:cs typeface="Calibri"/>
              <a:sym typeface="Calibri"/>
            </a:endParaRPr>
          </a:p>
        </p:txBody>
      </p:sp>
      <p:sp>
        <p:nvSpPr>
          <p:cNvPr id="2517" name="Google Shape;2517;p191"/>
          <p:cNvSpPr/>
          <p:nvPr/>
        </p:nvSpPr>
        <p:spPr>
          <a:xfrm>
            <a:off x="2019194" y="4790765"/>
            <a:ext cx="720080"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q0</a:t>
            </a:r>
            <a:endParaRPr sz="1800">
              <a:solidFill>
                <a:schemeClr val="lt1"/>
              </a:solidFill>
              <a:latin typeface="Calibri"/>
              <a:ea typeface="Calibri"/>
              <a:cs typeface="Calibri"/>
              <a:sym typeface="Calibri"/>
            </a:endParaRPr>
          </a:p>
        </p:txBody>
      </p:sp>
      <p:cxnSp>
        <p:nvCxnSpPr>
          <p:cNvPr id="2525" name="Google Shape;2525;p191"/>
          <p:cNvCxnSpPr/>
          <p:nvPr/>
        </p:nvCxnSpPr>
        <p:spPr>
          <a:xfrm>
            <a:off x="1115616" y="5085184"/>
            <a:ext cx="864096" cy="0"/>
          </a:xfrm>
          <a:prstGeom prst="straightConnector1">
            <a:avLst/>
          </a:prstGeom>
          <a:noFill/>
          <a:ln cap="flat" cmpd="sng" w="9525">
            <a:solidFill>
              <a:srgbClr val="4A7DBA"/>
            </a:solidFill>
            <a:prstDash val="solid"/>
            <a:round/>
            <a:headEnd len="sm" w="sm" type="none"/>
            <a:tailEnd len="med" w="med" type="stealth"/>
          </a:ln>
        </p:spPr>
      </p:cxnSp>
      <p:graphicFrame>
        <p:nvGraphicFramePr>
          <p:cNvPr id="2526" name="Google Shape;2526;p191"/>
          <p:cNvGraphicFramePr/>
          <p:nvPr/>
        </p:nvGraphicFramePr>
        <p:xfrm>
          <a:off x="1403648" y="1844824"/>
          <a:ext cx="3000000" cy="3000000"/>
        </p:xfrm>
        <a:graphic>
          <a:graphicData uri="http://schemas.openxmlformats.org/drawingml/2006/table">
            <a:tbl>
              <a:tblPr bandRow="1" firstRow="1">
                <a:noFill/>
                <a:tableStyleId>{67F6A887-4D8F-49DA-B730-5EAACEBB6B1F}</a:tableStyleId>
              </a:tblPr>
              <a:tblGrid>
                <a:gridCol w="2032000"/>
                <a:gridCol w="2032000"/>
                <a:gridCol w="20320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bl>
          </a:graphicData>
        </a:graphic>
      </p:graphicFrame>
      <p:cxnSp>
        <p:nvCxnSpPr>
          <p:cNvPr id="2527" name="Google Shape;2527;p191"/>
          <p:cNvCxnSpPr/>
          <p:nvPr/>
        </p:nvCxnSpPr>
        <p:spPr>
          <a:xfrm flipH="1" rot="10800000">
            <a:off x="539552" y="2401088"/>
            <a:ext cx="864000" cy="19800"/>
          </a:xfrm>
          <a:prstGeom prst="straightConnector1">
            <a:avLst/>
          </a:prstGeom>
          <a:noFill/>
          <a:ln cap="flat" cmpd="sng" w="9525">
            <a:solidFill>
              <a:srgbClr val="4A7DBA"/>
            </a:solidFill>
            <a:prstDash val="solid"/>
            <a:round/>
            <a:headEnd len="sm" w="sm" type="none"/>
            <a:tailEnd len="med" w="med" type="stealth"/>
          </a:ln>
        </p:spPr>
      </p:cxn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1" name="Shape 2531"/>
        <p:cNvGrpSpPr/>
        <p:nvPr/>
      </p:nvGrpSpPr>
      <p:grpSpPr>
        <a:xfrm>
          <a:off x="0" y="0"/>
          <a:ext cx="0" cy="0"/>
          <a:chOff x="0" y="0"/>
          <a:chExt cx="0" cy="0"/>
        </a:xfrm>
      </p:grpSpPr>
      <p:sp>
        <p:nvSpPr>
          <p:cNvPr id="2532" name="Google Shape;2532;p19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NDFA converted to DFA</a:t>
            </a:r>
            <a:endParaRPr/>
          </a:p>
        </p:txBody>
      </p:sp>
      <p:sp>
        <p:nvSpPr>
          <p:cNvPr id="2533" name="Google Shape;2533;p192"/>
          <p:cNvSpPr txBox="1"/>
          <p:nvPr>
            <p:ph idx="1" type="body"/>
          </p:nvPr>
        </p:nvSpPr>
        <p:spPr>
          <a:xfrm>
            <a:off x="457200" y="1422692"/>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DFA M1</a:t>
            </a:r>
            <a:endParaRPr/>
          </a:p>
          <a:p>
            <a:pPr indent="-139700" lvl="0" marL="342900" rtl="0" algn="l">
              <a:spcBef>
                <a:spcPts val="640"/>
              </a:spcBef>
              <a:spcAft>
                <a:spcPts val="0"/>
              </a:spcAft>
              <a:buClr>
                <a:schemeClr val="dk1"/>
              </a:buClr>
              <a:buSzPts val="3200"/>
              <a:buNone/>
            </a:pPr>
            <a:r>
              <a:t/>
            </a:r>
            <a:endParaRPr/>
          </a:p>
        </p:txBody>
      </p:sp>
      <p:sp>
        <p:nvSpPr>
          <p:cNvPr id="2534" name="Google Shape;2534;p19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535" name="Google Shape;2535;p19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536" name="Google Shape;2536;p19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537" name="Google Shape;2537;p192"/>
          <p:cNvSpPr txBox="1"/>
          <p:nvPr/>
        </p:nvSpPr>
        <p:spPr>
          <a:xfrm>
            <a:off x="6553200" y="6365642"/>
            <a:ext cx="2133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IN"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2538" name="Google Shape;2538;p192"/>
          <p:cNvSpPr/>
          <p:nvPr/>
        </p:nvSpPr>
        <p:spPr>
          <a:xfrm>
            <a:off x="4499992" y="4717713"/>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q1</a:t>
            </a:r>
            <a:endParaRPr sz="1800">
              <a:solidFill>
                <a:schemeClr val="lt1"/>
              </a:solidFill>
              <a:latin typeface="Calibri"/>
              <a:ea typeface="Calibri"/>
              <a:cs typeface="Calibri"/>
              <a:sym typeface="Calibri"/>
            </a:endParaRPr>
          </a:p>
        </p:txBody>
      </p:sp>
      <p:cxnSp>
        <p:nvCxnSpPr>
          <p:cNvPr id="2539" name="Google Shape;2539;p192"/>
          <p:cNvCxnSpPr/>
          <p:nvPr/>
        </p:nvCxnSpPr>
        <p:spPr>
          <a:xfrm>
            <a:off x="5436096" y="5077753"/>
            <a:ext cx="1656184" cy="0"/>
          </a:xfrm>
          <a:prstGeom prst="straightConnector1">
            <a:avLst/>
          </a:prstGeom>
          <a:noFill/>
          <a:ln cap="flat" cmpd="sng" w="9525">
            <a:solidFill>
              <a:srgbClr val="4A7DBA"/>
            </a:solidFill>
            <a:prstDash val="solid"/>
            <a:round/>
            <a:headEnd len="sm" w="sm" type="none"/>
            <a:tailEnd len="med" w="med" type="stealth"/>
          </a:ln>
        </p:spPr>
      </p:cxnSp>
      <p:cxnSp>
        <p:nvCxnSpPr>
          <p:cNvPr id="2540" name="Google Shape;2540;p192"/>
          <p:cNvCxnSpPr>
            <a:endCxn id="2538" idx="2"/>
          </p:cNvCxnSpPr>
          <p:nvPr/>
        </p:nvCxnSpPr>
        <p:spPr>
          <a:xfrm>
            <a:off x="2915692" y="5077753"/>
            <a:ext cx="1584300" cy="0"/>
          </a:xfrm>
          <a:prstGeom prst="straightConnector1">
            <a:avLst/>
          </a:prstGeom>
          <a:noFill/>
          <a:ln cap="flat" cmpd="sng" w="9525">
            <a:solidFill>
              <a:srgbClr val="4A7DBA"/>
            </a:solidFill>
            <a:prstDash val="solid"/>
            <a:round/>
            <a:headEnd len="sm" w="sm" type="none"/>
            <a:tailEnd len="med" w="med" type="stealth"/>
          </a:ln>
        </p:spPr>
      </p:cxnSp>
      <p:sp>
        <p:nvSpPr>
          <p:cNvPr id="2541" name="Google Shape;2541;p192"/>
          <p:cNvSpPr/>
          <p:nvPr/>
        </p:nvSpPr>
        <p:spPr>
          <a:xfrm>
            <a:off x="7380312" y="3942348"/>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42" name="Google Shape;2542;p192"/>
          <p:cNvSpPr txBox="1"/>
          <p:nvPr/>
        </p:nvSpPr>
        <p:spPr>
          <a:xfrm>
            <a:off x="3419872" y="4693786"/>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a:p>
        </p:txBody>
      </p:sp>
      <p:sp>
        <p:nvSpPr>
          <p:cNvPr id="2543" name="Google Shape;2543;p192"/>
          <p:cNvSpPr txBox="1"/>
          <p:nvPr/>
        </p:nvSpPr>
        <p:spPr>
          <a:xfrm>
            <a:off x="6004918" y="4734436"/>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a:p>
        </p:txBody>
      </p:sp>
      <p:sp>
        <p:nvSpPr>
          <p:cNvPr id="2544" name="Google Shape;2544;p192"/>
          <p:cNvSpPr txBox="1"/>
          <p:nvPr/>
        </p:nvSpPr>
        <p:spPr>
          <a:xfrm>
            <a:off x="8194068" y="5795972"/>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2545" name="Google Shape;2545;p192"/>
          <p:cNvSpPr/>
          <p:nvPr/>
        </p:nvSpPr>
        <p:spPr>
          <a:xfrm>
            <a:off x="4644008" y="3927713"/>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46" name="Google Shape;2546;p192"/>
          <p:cNvSpPr/>
          <p:nvPr/>
        </p:nvSpPr>
        <p:spPr>
          <a:xfrm>
            <a:off x="2051720" y="3927713"/>
            <a:ext cx="718476" cy="806723"/>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47" name="Google Shape;2547;p192"/>
          <p:cNvSpPr txBox="1"/>
          <p:nvPr/>
        </p:nvSpPr>
        <p:spPr>
          <a:xfrm>
            <a:off x="2188494" y="350100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2548" name="Google Shape;2548;p192"/>
          <p:cNvSpPr txBox="1"/>
          <p:nvPr/>
        </p:nvSpPr>
        <p:spPr>
          <a:xfrm>
            <a:off x="4841570" y="358230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a:p>
        </p:txBody>
      </p:sp>
      <p:sp>
        <p:nvSpPr>
          <p:cNvPr id="2549" name="Google Shape;2549;p192"/>
          <p:cNvSpPr txBox="1"/>
          <p:nvPr/>
        </p:nvSpPr>
        <p:spPr>
          <a:xfrm>
            <a:off x="7577874" y="358230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a:p>
        </p:txBody>
      </p:sp>
      <p:grpSp>
        <p:nvGrpSpPr>
          <p:cNvPr id="2550" name="Google Shape;2550;p192"/>
          <p:cNvGrpSpPr/>
          <p:nvPr/>
        </p:nvGrpSpPr>
        <p:grpSpPr>
          <a:xfrm>
            <a:off x="7092280" y="4734436"/>
            <a:ext cx="1368152" cy="792088"/>
            <a:chOff x="2771800" y="4941168"/>
            <a:chExt cx="936104" cy="792088"/>
          </a:xfrm>
        </p:grpSpPr>
        <p:sp>
          <p:nvSpPr>
            <p:cNvPr id="2551" name="Google Shape;2551;p192"/>
            <p:cNvSpPr/>
            <p:nvPr/>
          </p:nvSpPr>
          <p:spPr>
            <a:xfrm>
              <a:off x="2771800" y="4941168"/>
              <a:ext cx="936104" cy="792088"/>
            </a:xfrm>
            <a:prstGeom prst="ellipse">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52" name="Google Shape;2552;p192"/>
            <p:cNvSpPr/>
            <p:nvPr/>
          </p:nvSpPr>
          <p:spPr>
            <a:xfrm>
              <a:off x="2870337" y="5085184"/>
              <a:ext cx="739029"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1600">
                  <a:solidFill>
                    <a:schemeClr val="lt1"/>
                  </a:solidFill>
                  <a:latin typeface="Calibri"/>
                  <a:ea typeface="Calibri"/>
                  <a:cs typeface="Calibri"/>
                  <a:sym typeface="Calibri"/>
                </a:rPr>
                <a:t>[q0q1]</a:t>
              </a:r>
              <a:endParaRPr b="1" sz="1800">
                <a:solidFill>
                  <a:schemeClr val="lt1"/>
                </a:solidFill>
                <a:latin typeface="Calibri"/>
                <a:ea typeface="Calibri"/>
                <a:cs typeface="Calibri"/>
                <a:sym typeface="Calibri"/>
              </a:endParaRPr>
            </a:p>
          </p:txBody>
        </p:sp>
      </p:grpSp>
      <p:grpSp>
        <p:nvGrpSpPr>
          <p:cNvPr id="2553" name="Google Shape;2553;p192"/>
          <p:cNvGrpSpPr/>
          <p:nvPr/>
        </p:nvGrpSpPr>
        <p:grpSpPr>
          <a:xfrm>
            <a:off x="1942906" y="4707724"/>
            <a:ext cx="936104" cy="792088"/>
            <a:chOff x="2771800" y="4941168"/>
            <a:chExt cx="936104" cy="792088"/>
          </a:xfrm>
        </p:grpSpPr>
        <p:sp>
          <p:nvSpPr>
            <p:cNvPr id="2554" name="Google Shape;2554;p192"/>
            <p:cNvSpPr/>
            <p:nvPr/>
          </p:nvSpPr>
          <p:spPr>
            <a:xfrm>
              <a:off x="2771800" y="4941168"/>
              <a:ext cx="936104" cy="792088"/>
            </a:xfrm>
            <a:prstGeom prst="ellipse">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55" name="Google Shape;2555;p192"/>
            <p:cNvSpPr/>
            <p:nvPr/>
          </p:nvSpPr>
          <p:spPr>
            <a:xfrm>
              <a:off x="2987824" y="5085184"/>
              <a:ext cx="720080"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q0</a:t>
              </a:r>
              <a:endParaRPr sz="1800">
                <a:solidFill>
                  <a:schemeClr val="lt1"/>
                </a:solidFill>
                <a:latin typeface="Calibri"/>
                <a:ea typeface="Calibri"/>
                <a:cs typeface="Calibri"/>
                <a:sym typeface="Calibri"/>
              </a:endParaRPr>
            </a:p>
          </p:txBody>
        </p:sp>
      </p:grpSp>
      <p:sp>
        <p:nvSpPr>
          <p:cNvPr id="2556" name="Google Shape;2556;p192"/>
          <p:cNvSpPr/>
          <p:nvPr/>
        </p:nvSpPr>
        <p:spPr>
          <a:xfrm rot="5400000">
            <a:off x="7119121" y="5617684"/>
            <a:ext cx="1096842" cy="862492"/>
          </a:xfrm>
          <a:prstGeom prst="curvedLef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2557" name="Google Shape;2557;p192"/>
          <p:cNvGraphicFramePr/>
          <p:nvPr/>
        </p:nvGraphicFramePr>
        <p:xfrm>
          <a:off x="1475656" y="1916832"/>
          <a:ext cx="3000000" cy="3000000"/>
        </p:xfrm>
        <a:graphic>
          <a:graphicData uri="http://schemas.openxmlformats.org/drawingml/2006/table">
            <a:tbl>
              <a:tblPr bandRow="1" firstRow="1">
                <a:noFill/>
                <a:tableStyleId>{67F6A887-4D8F-49DA-B730-5EAACEBB6B1F}</a:tableStyleId>
              </a:tblPr>
              <a:tblGrid>
                <a:gridCol w="2032000"/>
                <a:gridCol w="2032000"/>
                <a:gridCol w="20320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800"/>
                        <a:buFont typeface="Calibri"/>
                        <a:buNone/>
                      </a:pPr>
                      <a:r>
                        <a:rPr lang="en-IN" sz="1800"/>
                        <a:t>[q0,q1]</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IN" sz="1800"/>
                        <a:t>[q0,q1]</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IN" sz="1800"/>
                        <a:t>[q0,q1]</a:t>
                      </a:r>
                      <a:endParaRPr/>
                    </a:p>
                  </a:txBody>
                  <a:tcPr marT="45725" marB="45725" marR="91450" marL="91450"/>
                </a:tc>
              </a:tr>
            </a:tbl>
          </a:graphicData>
        </a:graphic>
      </p:graphicFrame>
      <p:cxnSp>
        <p:nvCxnSpPr>
          <p:cNvPr id="2558" name="Google Shape;2558;p192"/>
          <p:cNvCxnSpPr/>
          <p:nvPr/>
        </p:nvCxnSpPr>
        <p:spPr>
          <a:xfrm>
            <a:off x="611560" y="2492896"/>
            <a:ext cx="864096" cy="0"/>
          </a:xfrm>
          <a:prstGeom prst="straightConnector1">
            <a:avLst/>
          </a:prstGeom>
          <a:noFill/>
          <a:ln cap="flat" cmpd="sng" w="9525">
            <a:solidFill>
              <a:srgbClr val="4A7DBA"/>
            </a:solidFill>
            <a:prstDash val="solid"/>
            <a:round/>
            <a:headEnd len="sm" w="sm" type="none"/>
            <a:tailEnd len="med" w="med" type="stealth"/>
          </a:ln>
        </p:spPr>
      </p:cxnSp>
      <p:cxnSp>
        <p:nvCxnSpPr>
          <p:cNvPr id="2559" name="Google Shape;2559;p192"/>
          <p:cNvCxnSpPr/>
          <p:nvPr/>
        </p:nvCxnSpPr>
        <p:spPr>
          <a:xfrm>
            <a:off x="1115616" y="5085184"/>
            <a:ext cx="864096" cy="0"/>
          </a:xfrm>
          <a:prstGeom prst="straightConnector1">
            <a:avLst/>
          </a:prstGeom>
          <a:noFill/>
          <a:ln cap="flat" cmpd="sng" w="9525">
            <a:solidFill>
              <a:srgbClr val="4A7DBA"/>
            </a:solidFill>
            <a:prstDash val="solid"/>
            <a:round/>
            <a:headEnd len="sm" w="sm" type="none"/>
            <a:tailEnd len="med" w="med" type="stealth"/>
          </a:ln>
        </p:spPr>
      </p:cxn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4" name="Shape 2564"/>
        <p:cNvGrpSpPr/>
        <p:nvPr/>
      </p:nvGrpSpPr>
      <p:grpSpPr>
        <a:xfrm>
          <a:off x="0" y="0"/>
          <a:ext cx="0" cy="0"/>
          <a:chOff x="0" y="0"/>
          <a:chExt cx="0" cy="0"/>
        </a:xfrm>
      </p:grpSpPr>
      <p:sp>
        <p:nvSpPr>
          <p:cNvPr id="2565" name="Google Shape;2565;p19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566" name="Google Shape;2566;p19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567" name="Google Shape;2567;p19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568" name="Google Shape;2568;p1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2569" name="Google Shape;2569;p193"/>
          <p:cNvPicPr preferRelativeResize="0"/>
          <p:nvPr>
            <p:ph idx="1" type="body"/>
          </p:nvPr>
        </p:nvPicPr>
        <p:blipFill rotWithShape="1">
          <a:blip r:embed="rId3">
            <a:alphaModFix/>
          </a:blip>
          <a:srcRect b="51990" l="27798" r="28658" t="29540"/>
          <a:stretch/>
        </p:blipFill>
        <p:spPr>
          <a:xfrm>
            <a:off x="603623" y="1988841"/>
            <a:ext cx="8216849" cy="1959704"/>
          </a:xfrm>
          <a:prstGeom prst="rect">
            <a:avLst/>
          </a:prstGeom>
          <a:noFill/>
          <a:ln>
            <a:noFill/>
          </a:ln>
        </p:spPr>
      </p:pic>
      <p:pic>
        <p:nvPicPr>
          <p:cNvPr id="2570" name="Google Shape;2570;p193"/>
          <p:cNvPicPr preferRelativeResize="0"/>
          <p:nvPr/>
        </p:nvPicPr>
        <p:blipFill rotWithShape="1">
          <a:blip r:embed="rId3">
            <a:alphaModFix/>
          </a:blip>
          <a:srcRect b="36788" l="27798" r="28658" t="51459"/>
          <a:stretch/>
        </p:blipFill>
        <p:spPr>
          <a:xfrm>
            <a:off x="611560" y="3906949"/>
            <a:ext cx="8216849" cy="1246974"/>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4" name="Shape 2574"/>
        <p:cNvGrpSpPr/>
        <p:nvPr/>
      </p:nvGrpSpPr>
      <p:grpSpPr>
        <a:xfrm>
          <a:off x="0" y="0"/>
          <a:ext cx="0" cy="0"/>
          <a:chOff x="0" y="0"/>
          <a:chExt cx="0" cy="0"/>
        </a:xfrm>
      </p:grpSpPr>
      <p:sp>
        <p:nvSpPr>
          <p:cNvPr id="2575" name="Google Shape;2575;p19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Non-Determinism?</a:t>
            </a:r>
            <a:endParaRPr/>
          </a:p>
        </p:txBody>
      </p:sp>
      <p:sp>
        <p:nvSpPr>
          <p:cNvPr id="2576" name="Google Shape;2576;p19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Determinism-</a:t>
            </a:r>
            <a:endParaRPr/>
          </a:p>
          <a:p>
            <a:pPr indent="-342900" lvl="0" marL="342900" rtl="0" algn="l">
              <a:spcBef>
                <a:spcPts val="480"/>
              </a:spcBef>
              <a:spcAft>
                <a:spcPts val="0"/>
              </a:spcAft>
              <a:buClr>
                <a:schemeClr val="dk1"/>
              </a:buClr>
              <a:buSzPts val="2400"/>
              <a:buChar char="•"/>
            </a:pPr>
            <a:r>
              <a:rPr lang="en-IN" sz="2400"/>
              <a:t>When the machine is in a given state and reads the next input symbol, we know what the next state will be-It is determined</a:t>
            </a:r>
            <a:endParaRPr/>
          </a:p>
          <a:p>
            <a:pPr indent="-342900" lvl="0" marL="342900" rtl="0" algn="l">
              <a:spcBef>
                <a:spcPts val="480"/>
              </a:spcBef>
              <a:spcAft>
                <a:spcPts val="0"/>
              </a:spcAft>
              <a:buClr>
                <a:schemeClr val="dk1"/>
              </a:buClr>
              <a:buSzPts val="2400"/>
              <a:buChar char="•"/>
            </a:pPr>
            <a:r>
              <a:rPr lang="en-IN" sz="2400"/>
              <a:t>Called as Determined computation</a:t>
            </a:r>
            <a:endParaRPr/>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lang="en-IN" sz="2400"/>
              <a:t>Non-Determinism-</a:t>
            </a:r>
            <a:endParaRPr/>
          </a:p>
          <a:p>
            <a:pPr indent="-342900" lvl="0" marL="342900" rtl="0" algn="l">
              <a:spcBef>
                <a:spcPts val="480"/>
              </a:spcBef>
              <a:spcAft>
                <a:spcPts val="0"/>
              </a:spcAft>
              <a:buClr>
                <a:schemeClr val="dk1"/>
              </a:buClr>
              <a:buSzPts val="2400"/>
              <a:buChar char="•"/>
            </a:pPr>
            <a:r>
              <a:rPr lang="en-IN" sz="2400"/>
              <a:t>Several choices may exist for the next state at any point</a:t>
            </a:r>
            <a:endParaRPr sz="2400"/>
          </a:p>
        </p:txBody>
      </p:sp>
      <p:sp>
        <p:nvSpPr>
          <p:cNvPr id="2577" name="Google Shape;2577;p19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578" name="Google Shape;2578;p19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579" name="Google Shape;2579;p19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3" name="Shape 2583"/>
        <p:cNvGrpSpPr/>
        <p:nvPr/>
      </p:nvGrpSpPr>
      <p:grpSpPr>
        <a:xfrm>
          <a:off x="0" y="0"/>
          <a:ext cx="0" cy="0"/>
          <a:chOff x="0" y="0"/>
          <a:chExt cx="0" cy="0"/>
        </a:xfrm>
      </p:grpSpPr>
      <p:sp>
        <p:nvSpPr>
          <p:cNvPr id="2584" name="Google Shape;2584;p19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Conversion of NDFA to DFA/Equivalence of DFA and NDFA</a:t>
            </a:r>
            <a:endParaRPr sz="3200"/>
          </a:p>
        </p:txBody>
      </p:sp>
      <p:sp>
        <p:nvSpPr>
          <p:cNvPr id="2585" name="Google Shape;2585;p19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DFA can do whatever NFA’s can do </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Converting a NDFA N to DFA D such that L(N)=L(D)</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Involves Subset Construction</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Involves constructing all subsets of the set of states of the NDFA</a:t>
            </a:r>
            <a:endParaRPr/>
          </a:p>
        </p:txBody>
      </p:sp>
      <p:sp>
        <p:nvSpPr>
          <p:cNvPr id="2586" name="Google Shape;2586;p19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587" name="Google Shape;2587;p19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588" name="Google Shape;2588;p19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2" name="Shape 2592"/>
        <p:cNvGrpSpPr/>
        <p:nvPr/>
      </p:nvGrpSpPr>
      <p:grpSpPr>
        <a:xfrm>
          <a:off x="0" y="0"/>
          <a:ext cx="0" cy="0"/>
          <a:chOff x="0" y="0"/>
          <a:chExt cx="0" cy="0"/>
        </a:xfrm>
      </p:grpSpPr>
      <p:sp>
        <p:nvSpPr>
          <p:cNvPr id="2593" name="Google Shape;2593;p19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Conversion of NDFA to DFA/Equivalence of DFA and NDFA</a:t>
            </a:r>
            <a:endParaRPr sz="3200"/>
          </a:p>
        </p:txBody>
      </p:sp>
      <p:sp>
        <p:nvSpPr>
          <p:cNvPr id="2594" name="Google Shape;2594;p19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2400"/>
              <a:buChar char="•"/>
            </a:pPr>
            <a:r>
              <a:rPr lang="en-IN" sz="2400"/>
              <a:t>δ:Q X ∑</a:t>
            </a:r>
            <a:r>
              <a:rPr baseline="-25000" lang="en-IN" sz="2400"/>
              <a:t>∈</a:t>
            </a:r>
            <a:r>
              <a:rPr lang="en-IN" sz="2400"/>
              <a:t> -&gt;P(Q)</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P(Q)=Power set of Q =2</a:t>
            </a:r>
            <a:r>
              <a:rPr baseline="30000" lang="en-IN" sz="2400"/>
              <a:t>Q </a:t>
            </a:r>
            <a:r>
              <a:rPr lang="en-IN" sz="2400"/>
              <a:t>states</a:t>
            </a:r>
            <a:endParaRPr/>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lang="en-IN" sz="2400"/>
              <a:t>Eg-</a:t>
            </a:r>
            <a:endParaRPr/>
          </a:p>
          <a:p>
            <a:pPr indent="0" lvl="0" marL="0" rtl="0" algn="l">
              <a:spcBef>
                <a:spcPts val="480"/>
              </a:spcBef>
              <a:spcAft>
                <a:spcPts val="0"/>
              </a:spcAft>
              <a:buClr>
                <a:schemeClr val="dk1"/>
              </a:buClr>
              <a:buSzPts val="2400"/>
              <a:buNone/>
            </a:pPr>
            <a:r>
              <a:rPr lang="en-IN" sz="2400"/>
              <a:t>Q = {q1,q2,q3}</a:t>
            </a:r>
            <a:endParaRPr/>
          </a:p>
          <a:p>
            <a:pPr indent="0" lvl="0" marL="0" rtl="0" algn="l">
              <a:spcBef>
                <a:spcPts val="480"/>
              </a:spcBef>
              <a:spcAft>
                <a:spcPts val="0"/>
              </a:spcAft>
              <a:buClr>
                <a:schemeClr val="dk1"/>
              </a:buClr>
              <a:buSzPts val="2400"/>
              <a:buNone/>
            </a:pPr>
            <a:r>
              <a:rPr lang="en-IN" sz="2400"/>
              <a:t>P(Q) = {ø} , {q1} , {q2}, {q3}, {q1,q2},  {q1,q3}, {q2,q3}, {q1,q2,q3}</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Not all states are accessible from start state</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Inaccessible states can be thrown away</a:t>
            </a:r>
            <a:endParaRPr sz="2400"/>
          </a:p>
        </p:txBody>
      </p:sp>
      <p:sp>
        <p:nvSpPr>
          <p:cNvPr id="2595" name="Google Shape;2595;p19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596" name="Google Shape;2596;p19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597" name="Google Shape;2597;p19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1" name="Shape 2601"/>
        <p:cNvGrpSpPr/>
        <p:nvPr/>
      </p:nvGrpSpPr>
      <p:grpSpPr>
        <a:xfrm>
          <a:off x="0" y="0"/>
          <a:ext cx="0" cy="0"/>
          <a:chOff x="0" y="0"/>
          <a:chExt cx="0" cy="0"/>
        </a:xfrm>
      </p:grpSpPr>
      <p:sp>
        <p:nvSpPr>
          <p:cNvPr id="2602" name="Google Shape;2602;p19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Conversion of NDFA to DFA/Equivalence of DFA and NDFA</a:t>
            </a:r>
            <a:endParaRPr sz="3200"/>
          </a:p>
        </p:txBody>
      </p:sp>
      <p:sp>
        <p:nvSpPr>
          <p:cNvPr id="2603" name="Google Shape;2603;p19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Start states are same</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Input alphabet is same</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Final State of DFA is sets of all states that include atleast one accepting state of NDFA</a:t>
            </a:r>
            <a:endParaRPr sz="2400"/>
          </a:p>
        </p:txBody>
      </p:sp>
      <p:sp>
        <p:nvSpPr>
          <p:cNvPr id="2604" name="Google Shape;2604;p19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605" name="Google Shape;2605;p19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606" name="Google Shape;2606;p19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0" name="Shape 2610"/>
        <p:cNvGrpSpPr/>
        <p:nvPr/>
      </p:nvGrpSpPr>
      <p:grpSpPr>
        <a:xfrm>
          <a:off x="0" y="0"/>
          <a:ext cx="0" cy="0"/>
          <a:chOff x="0" y="0"/>
          <a:chExt cx="0" cy="0"/>
        </a:xfrm>
      </p:grpSpPr>
      <p:sp>
        <p:nvSpPr>
          <p:cNvPr id="2611" name="Google Shape;2611;p198"/>
          <p:cNvSpPr txBox="1"/>
          <p:nvPr>
            <p:ph type="title"/>
          </p:nvPr>
        </p:nvSpPr>
        <p:spPr>
          <a:xfrm>
            <a:off x="457200" y="274638"/>
            <a:ext cx="8229600" cy="41805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Example 2</a:t>
            </a:r>
            <a:endParaRPr/>
          </a:p>
        </p:txBody>
      </p:sp>
      <p:sp>
        <p:nvSpPr>
          <p:cNvPr id="2612" name="Google Shape;2612;p198"/>
          <p:cNvSpPr txBox="1"/>
          <p:nvPr>
            <p:ph idx="1" type="body"/>
          </p:nvPr>
        </p:nvSpPr>
        <p:spPr>
          <a:xfrm>
            <a:off x="457200" y="1196752"/>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Consider The automaton M given in the figure that accepts all strings which have the symbol 1 in the second last position. Convert to DFA</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Transition Table is -</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2613" name="Google Shape;2613;p19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614" name="Google Shape;2614;p19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615" name="Google Shape;2615;p19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2616" name="Google Shape;2616;p198"/>
          <p:cNvPicPr preferRelativeResize="0"/>
          <p:nvPr/>
        </p:nvPicPr>
        <p:blipFill rotWithShape="1">
          <a:blip r:embed="rId3">
            <a:alphaModFix/>
          </a:blip>
          <a:srcRect b="23737" l="14265" r="50898" t="23939"/>
          <a:stretch/>
        </p:blipFill>
        <p:spPr>
          <a:xfrm rot="-5400000">
            <a:off x="2537882" y="998622"/>
            <a:ext cx="1789444" cy="4777992"/>
          </a:xfrm>
          <a:prstGeom prst="rect">
            <a:avLst/>
          </a:prstGeom>
          <a:noFill/>
          <a:ln>
            <a:noFill/>
          </a:ln>
        </p:spPr>
      </p:pic>
      <p:pic>
        <p:nvPicPr>
          <p:cNvPr id="2617" name="Google Shape;2617;p198"/>
          <p:cNvPicPr preferRelativeResize="0"/>
          <p:nvPr/>
        </p:nvPicPr>
        <p:blipFill rotWithShape="1">
          <a:blip r:embed="rId4">
            <a:alphaModFix/>
          </a:blip>
          <a:srcRect b="28788" l="21806" r="39097" t="38889"/>
          <a:stretch/>
        </p:blipFill>
        <p:spPr>
          <a:xfrm rot="-5400000">
            <a:off x="3867870" y="3945036"/>
            <a:ext cx="1853042" cy="2723574"/>
          </a:xfrm>
          <a:prstGeom prst="rect">
            <a:avLst/>
          </a:prstGeom>
          <a:noFill/>
          <a:ln>
            <a:noFill/>
          </a:ln>
        </p:spPr>
      </p:pic>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1" name="Shape 2621"/>
        <p:cNvGrpSpPr/>
        <p:nvPr/>
      </p:nvGrpSpPr>
      <p:grpSpPr>
        <a:xfrm>
          <a:off x="0" y="0"/>
          <a:ext cx="0" cy="0"/>
          <a:chOff x="0" y="0"/>
          <a:chExt cx="0" cy="0"/>
        </a:xfrm>
      </p:grpSpPr>
      <p:sp>
        <p:nvSpPr>
          <p:cNvPr id="2622" name="Google Shape;2622;p199"/>
          <p:cNvSpPr txBox="1"/>
          <p:nvPr>
            <p:ph idx="1" type="body"/>
          </p:nvPr>
        </p:nvSpPr>
        <p:spPr>
          <a:xfrm>
            <a:off x="457200" y="692696"/>
            <a:ext cx="8229600" cy="5433467"/>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q0 is the start state of the NDFA and DFA both</a:t>
            </a:r>
            <a:endParaRPr/>
          </a:p>
          <a:p>
            <a:pPr indent="-342900" lvl="0" marL="342900" rtl="0" algn="l">
              <a:spcBef>
                <a:spcPts val="480"/>
              </a:spcBef>
              <a:spcAft>
                <a:spcPts val="0"/>
              </a:spcAft>
              <a:buClr>
                <a:schemeClr val="dk1"/>
              </a:buClr>
              <a:buSzPts val="2400"/>
              <a:buChar char="•"/>
            </a:pPr>
            <a:r>
              <a:rPr lang="en-IN" sz="2400"/>
              <a:t>δ({q0},0)={q0}</a:t>
            </a:r>
            <a:endParaRPr/>
          </a:p>
          <a:p>
            <a:pPr indent="-342900" lvl="0" marL="342900" rtl="0" algn="l">
              <a:spcBef>
                <a:spcPts val="480"/>
              </a:spcBef>
              <a:spcAft>
                <a:spcPts val="0"/>
              </a:spcAft>
              <a:buClr>
                <a:schemeClr val="dk1"/>
              </a:buClr>
              <a:buSzPts val="2400"/>
              <a:buChar char="•"/>
            </a:pPr>
            <a:r>
              <a:rPr lang="en-IN" sz="2400"/>
              <a:t>δ({q0},1)={q0,q1}, For input 1, there are arcs to both q0 and q1</a:t>
            </a:r>
            <a:endParaRPr/>
          </a:p>
          <a:p>
            <a:pPr indent="-342900" lvl="0" marL="342900" rtl="0" algn="l">
              <a:spcBef>
                <a:spcPts val="480"/>
              </a:spcBef>
              <a:spcAft>
                <a:spcPts val="0"/>
              </a:spcAft>
              <a:buClr>
                <a:schemeClr val="dk1"/>
              </a:buClr>
              <a:buSzPts val="2400"/>
              <a:buChar char="•"/>
            </a:pPr>
            <a:r>
              <a:rPr lang="en-IN" sz="2400"/>
              <a:t>We get one row of the transition table-</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2623" name="Google Shape;2623;p19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624" name="Google Shape;2624;p19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625" name="Google Shape;2625;p1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2626" name="Google Shape;2626;p199"/>
          <p:cNvPicPr preferRelativeResize="0"/>
          <p:nvPr/>
        </p:nvPicPr>
        <p:blipFill rotWithShape="1">
          <a:blip r:embed="rId3">
            <a:alphaModFix/>
          </a:blip>
          <a:srcRect b="23737" l="14265" r="50898" t="23939"/>
          <a:stretch/>
        </p:blipFill>
        <p:spPr>
          <a:xfrm rot="-5400000">
            <a:off x="2393866" y="-945594"/>
            <a:ext cx="1789444" cy="4777992"/>
          </a:xfrm>
          <a:prstGeom prst="rect">
            <a:avLst/>
          </a:prstGeom>
          <a:noFill/>
          <a:ln>
            <a:noFill/>
          </a:ln>
        </p:spPr>
      </p:pic>
      <p:graphicFrame>
        <p:nvGraphicFramePr>
          <p:cNvPr id="2627" name="Google Shape;2627;p199"/>
          <p:cNvGraphicFramePr/>
          <p:nvPr/>
        </p:nvGraphicFramePr>
        <p:xfrm>
          <a:off x="899591" y="5013176"/>
          <a:ext cx="3000000" cy="3000000"/>
        </p:xfrm>
        <a:graphic>
          <a:graphicData uri="http://schemas.openxmlformats.org/drawingml/2006/table">
            <a:tbl>
              <a:tblPr bandRow="1" firstRow="1">
                <a:noFill/>
                <a:tableStyleId>{07B78194-B2C8-4966-9A5C-DB386C4496CD}</a:tableStyleId>
              </a:tblPr>
              <a:tblGrid>
                <a:gridCol w="2032000"/>
                <a:gridCol w="2032000"/>
                <a:gridCol w="2032000"/>
              </a:tblGrid>
              <a:tr h="370850">
                <a:tc>
                  <a:txBody>
                    <a:bodyPr/>
                    <a:lstStyle/>
                    <a:p>
                      <a:pPr indent="0" lvl="0" marL="0" marR="0" rtl="0" algn="l">
                        <a:spcBef>
                          <a:spcPts val="0"/>
                        </a:spcBef>
                        <a:spcAft>
                          <a:spcPts val="0"/>
                        </a:spcAft>
                        <a:buNone/>
                      </a:pPr>
                      <a:r>
                        <a:rPr b="1" lang="en-IN" sz="1800"/>
                        <a:t>States</a:t>
                      </a:r>
                      <a:endParaRPr b="1" sz="1800"/>
                    </a:p>
                  </a:txBody>
                  <a:tcPr marT="45725" marB="45725" marR="91450" marL="91450"/>
                </a:tc>
                <a:tc>
                  <a:txBody>
                    <a:bodyPr/>
                    <a:lstStyle/>
                    <a:p>
                      <a:pPr indent="0" lvl="0" marL="0" marR="0" rtl="0" algn="l">
                        <a:spcBef>
                          <a:spcPts val="0"/>
                        </a:spcBef>
                        <a:spcAft>
                          <a:spcPts val="0"/>
                        </a:spcAft>
                        <a:buNone/>
                      </a:pPr>
                      <a:r>
                        <a:rPr b="1" lang="en-IN" sz="1800"/>
                        <a:t>0</a:t>
                      </a:r>
                      <a:endParaRPr b="1" sz="1800"/>
                    </a:p>
                  </a:txBody>
                  <a:tcPr marT="45725" marB="45725" marR="91450" marL="91450"/>
                </a:tc>
                <a:tc>
                  <a:txBody>
                    <a:bodyPr/>
                    <a:lstStyle/>
                    <a:p>
                      <a:pPr indent="0" lvl="0" marL="0" marR="0" rtl="0" algn="l">
                        <a:spcBef>
                          <a:spcPts val="0"/>
                        </a:spcBef>
                        <a:spcAft>
                          <a:spcPts val="0"/>
                        </a:spcAft>
                        <a:buNone/>
                      </a:pPr>
                      <a:r>
                        <a:rPr b="1" lang="en-IN" sz="1800"/>
                        <a:t>1</a:t>
                      </a:r>
                      <a:endParaRPr b="1"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bl>
          </a:graphicData>
        </a:graphic>
      </p:graphicFrame>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1" name="Shape 2631"/>
        <p:cNvGrpSpPr/>
        <p:nvPr/>
      </p:nvGrpSpPr>
      <p:grpSpPr>
        <a:xfrm>
          <a:off x="0" y="0"/>
          <a:ext cx="0" cy="0"/>
          <a:chOff x="0" y="0"/>
          <a:chExt cx="0" cy="0"/>
        </a:xfrm>
      </p:grpSpPr>
      <p:sp>
        <p:nvSpPr>
          <p:cNvPr id="2632" name="Google Shape;2632;p200"/>
          <p:cNvSpPr txBox="1"/>
          <p:nvPr>
            <p:ph idx="1" type="body"/>
          </p:nvPr>
        </p:nvSpPr>
        <p:spPr>
          <a:xfrm>
            <a:off x="457200" y="692696"/>
            <a:ext cx="8229600" cy="5433467"/>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One of the sets we compute is old {q0}, already computed</a:t>
            </a:r>
            <a:endParaRPr/>
          </a:p>
          <a:p>
            <a:pPr indent="-342900" lvl="0" marL="342900" rtl="0" algn="l">
              <a:spcBef>
                <a:spcPts val="480"/>
              </a:spcBef>
              <a:spcAft>
                <a:spcPts val="0"/>
              </a:spcAft>
              <a:buClr>
                <a:schemeClr val="dk1"/>
              </a:buClr>
              <a:buSzPts val="2400"/>
              <a:buChar char="•"/>
            </a:pPr>
            <a:r>
              <a:rPr lang="en-IN" sz="2400"/>
              <a:t>{q0,q1} is new and its transitions must be computed</a:t>
            </a:r>
            <a:endParaRPr/>
          </a:p>
          <a:p>
            <a:pPr indent="-342900" lvl="0" marL="342900" rtl="0" algn="l">
              <a:spcBef>
                <a:spcPts val="480"/>
              </a:spcBef>
              <a:spcAft>
                <a:spcPts val="0"/>
              </a:spcAft>
              <a:buClr>
                <a:schemeClr val="dk1"/>
              </a:buClr>
              <a:buSzPts val="2400"/>
              <a:buChar char="•"/>
            </a:pPr>
            <a:r>
              <a:rPr lang="en-IN" sz="2400"/>
              <a:t>δD({q0,q1},0)= δN(q0,0) U δN(q1,0) ={qo} U {q2}={q0,q2}</a:t>
            </a:r>
            <a:endParaRPr sz="2400"/>
          </a:p>
          <a:p>
            <a:pPr indent="-342900" lvl="0" marL="342900" rtl="0" algn="l">
              <a:spcBef>
                <a:spcPts val="480"/>
              </a:spcBef>
              <a:spcAft>
                <a:spcPts val="0"/>
              </a:spcAft>
              <a:buClr>
                <a:schemeClr val="dk1"/>
              </a:buClr>
              <a:buSzPts val="2400"/>
              <a:buChar char="•"/>
            </a:pPr>
            <a:r>
              <a:rPr lang="en-IN" sz="2400"/>
              <a:t>δD({q0,q1},1)= δN(q0,1) U δN(q1,1) ={qo,q1} U {q2} ={q0,q1,q2}</a:t>
            </a:r>
            <a:endParaRPr/>
          </a:p>
          <a:p>
            <a:pPr indent="-342900" lvl="0" marL="342900" rtl="0" algn="l">
              <a:spcBef>
                <a:spcPts val="480"/>
              </a:spcBef>
              <a:spcAft>
                <a:spcPts val="0"/>
              </a:spcAft>
              <a:buClr>
                <a:schemeClr val="dk1"/>
              </a:buClr>
              <a:buSzPts val="2400"/>
              <a:buChar char="•"/>
            </a:pPr>
            <a:r>
              <a:rPr lang="en-IN" sz="2400"/>
              <a:t>We get second row of the transition table-</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2633" name="Google Shape;2633;p20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634" name="Google Shape;2634;p20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635" name="Google Shape;2635;p20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2636" name="Google Shape;2636;p200"/>
          <p:cNvPicPr preferRelativeResize="0"/>
          <p:nvPr/>
        </p:nvPicPr>
        <p:blipFill rotWithShape="1">
          <a:blip r:embed="rId3">
            <a:alphaModFix/>
          </a:blip>
          <a:srcRect b="23737" l="14265" r="50898" t="23939"/>
          <a:stretch/>
        </p:blipFill>
        <p:spPr>
          <a:xfrm rot="-5400000">
            <a:off x="2393866" y="-945594"/>
            <a:ext cx="1789444" cy="4777992"/>
          </a:xfrm>
          <a:prstGeom prst="rect">
            <a:avLst/>
          </a:prstGeom>
          <a:noFill/>
          <a:ln>
            <a:noFill/>
          </a:ln>
        </p:spPr>
      </p:pic>
      <p:graphicFrame>
        <p:nvGraphicFramePr>
          <p:cNvPr id="2637" name="Google Shape;2637;p200"/>
          <p:cNvGraphicFramePr/>
          <p:nvPr/>
        </p:nvGraphicFramePr>
        <p:xfrm>
          <a:off x="899591" y="5013176"/>
          <a:ext cx="3000000" cy="3000000"/>
        </p:xfrm>
        <a:graphic>
          <a:graphicData uri="http://schemas.openxmlformats.org/drawingml/2006/table">
            <a:tbl>
              <a:tblPr bandRow="1" firstRow="1">
                <a:noFill/>
                <a:tableStyleId>{07B78194-B2C8-4966-9A5C-DB386C4496CD}</a:tableStyleId>
              </a:tblPr>
              <a:tblGrid>
                <a:gridCol w="2032000"/>
                <a:gridCol w="2032000"/>
                <a:gridCol w="2032000"/>
              </a:tblGrid>
              <a:tr h="370850">
                <a:tc>
                  <a:txBody>
                    <a:bodyPr/>
                    <a:lstStyle/>
                    <a:p>
                      <a:pPr indent="0" lvl="0" marL="0" marR="0" rtl="0" algn="l">
                        <a:spcBef>
                          <a:spcPts val="0"/>
                        </a:spcBef>
                        <a:spcAft>
                          <a:spcPts val="0"/>
                        </a:spcAft>
                        <a:buNone/>
                      </a:pPr>
                      <a:r>
                        <a:rPr b="1" lang="en-IN" sz="1800"/>
                        <a:t>States</a:t>
                      </a:r>
                      <a:endParaRPr b="1" sz="1800"/>
                    </a:p>
                  </a:txBody>
                  <a:tcPr marT="45725" marB="45725" marR="91450" marL="91450"/>
                </a:tc>
                <a:tc>
                  <a:txBody>
                    <a:bodyPr/>
                    <a:lstStyle/>
                    <a:p>
                      <a:pPr indent="0" lvl="0" marL="0" marR="0" rtl="0" algn="l">
                        <a:spcBef>
                          <a:spcPts val="0"/>
                        </a:spcBef>
                        <a:spcAft>
                          <a:spcPts val="0"/>
                        </a:spcAft>
                        <a:buNone/>
                      </a:pPr>
                      <a:r>
                        <a:rPr b="1" lang="en-IN" sz="1800"/>
                        <a:t>0</a:t>
                      </a:r>
                      <a:endParaRPr b="1" sz="1800"/>
                    </a:p>
                  </a:txBody>
                  <a:tcPr marT="45725" marB="45725" marR="91450" marL="91450"/>
                </a:tc>
                <a:tc>
                  <a:txBody>
                    <a:bodyPr/>
                    <a:lstStyle/>
                    <a:p>
                      <a:pPr indent="0" lvl="0" marL="0" marR="0" rtl="0" algn="l">
                        <a:spcBef>
                          <a:spcPts val="0"/>
                        </a:spcBef>
                        <a:spcAft>
                          <a:spcPts val="0"/>
                        </a:spcAft>
                        <a:buNone/>
                      </a:pPr>
                      <a:r>
                        <a:rPr b="1" lang="en-IN" sz="1800"/>
                        <a:t>1</a:t>
                      </a:r>
                      <a:endParaRPr b="1"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r h="370850">
                <a:tc>
                  <a:txBody>
                    <a:bodyPr/>
                    <a:lstStyle/>
                    <a:p>
                      <a:pPr indent="0" lvl="0" marL="0" marR="0" rtl="0" algn="l">
                        <a:spcBef>
                          <a:spcPts val="0"/>
                        </a:spcBef>
                        <a:spcAft>
                          <a:spcPts val="0"/>
                        </a:spcAft>
                        <a:buNone/>
                      </a:pPr>
                      <a:r>
                        <a:rPr lang="en-IN" sz="1800"/>
                        <a:t>{q0,q1}</a:t>
                      </a:r>
                      <a:endParaRPr sz="1800"/>
                    </a:p>
                  </a:txBody>
                  <a:tcPr marT="45725" marB="45725" marR="91450" marL="91450"/>
                </a:tc>
                <a:tc>
                  <a:txBody>
                    <a:bodyPr/>
                    <a:lstStyle/>
                    <a:p>
                      <a:pPr indent="0" lvl="0" marL="0" marR="0" rtl="0" algn="l">
                        <a:spcBef>
                          <a:spcPts val="0"/>
                        </a:spcBef>
                        <a:spcAft>
                          <a:spcPts val="0"/>
                        </a:spcAft>
                        <a:buNone/>
                      </a:pPr>
                      <a:r>
                        <a:rPr lang="en-IN" sz="1800"/>
                        <a:t>{q0,q2}</a:t>
                      </a:r>
                      <a:endParaRPr sz="1800"/>
                    </a:p>
                  </a:txBody>
                  <a:tcPr marT="45725" marB="45725" marR="91450" marL="91450"/>
                </a:tc>
                <a:tc>
                  <a:txBody>
                    <a:bodyPr/>
                    <a:lstStyle/>
                    <a:p>
                      <a:pPr indent="0" lvl="0" marL="0" marR="0" rtl="0" algn="l">
                        <a:spcBef>
                          <a:spcPts val="0"/>
                        </a:spcBef>
                        <a:spcAft>
                          <a:spcPts val="0"/>
                        </a:spcAft>
                        <a:buNone/>
                      </a:pPr>
                      <a:r>
                        <a:rPr lang="en-IN" sz="1800"/>
                        <a:t>{q0,q1,q2}</a:t>
                      </a:r>
                      <a:endParaRPr sz="1800"/>
                    </a:p>
                  </a:txBody>
                  <a:tcPr marT="45725" marB="45725" marR="91450" marL="91450"/>
                </a:tc>
              </a:tr>
            </a:tbl>
          </a:graphicData>
        </a:graphic>
      </p:graphicFrame>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1" name="Shape 2641"/>
        <p:cNvGrpSpPr/>
        <p:nvPr/>
      </p:nvGrpSpPr>
      <p:grpSpPr>
        <a:xfrm>
          <a:off x="0" y="0"/>
          <a:ext cx="0" cy="0"/>
          <a:chOff x="0" y="0"/>
          <a:chExt cx="0" cy="0"/>
        </a:xfrm>
      </p:grpSpPr>
      <p:sp>
        <p:nvSpPr>
          <p:cNvPr id="2642" name="Google Shape;2642;p201"/>
          <p:cNvSpPr txBox="1"/>
          <p:nvPr>
            <p:ph idx="1" type="body"/>
          </p:nvPr>
        </p:nvSpPr>
        <p:spPr>
          <a:xfrm>
            <a:off x="457200" y="692696"/>
            <a:ext cx="8229600" cy="5433467"/>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{q0,q2} is new and its transitions must be computed</a:t>
            </a:r>
            <a:endParaRPr/>
          </a:p>
          <a:p>
            <a:pPr indent="-342900" lvl="0" marL="342900" rtl="0" algn="l">
              <a:spcBef>
                <a:spcPts val="480"/>
              </a:spcBef>
              <a:spcAft>
                <a:spcPts val="0"/>
              </a:spcAft>
              <a:buClr>
                <a:schemeClr val="dk1"/>
              </a:buClr>
              <a:buSzPts val="2400"/>
              <a:buChar char="•"/>
            </a:pPr>
            <a:r>
              <a:rPr lang="en-IN" sz="2400"/>
              <a:t>δD({q0,q2},0)= δN(q0,0) U δN(q2,0) ={q0} U ø ={q0}</a:t>
            </a:r>
            <a:endParaRPr sz="2400"/>
          </a:p>
          <a:p>
            <a:pPr indent="-342900" lvl="0" marL="342900" rtl="0" algn="l">
              <a:spcBef>
                <a:spcPts val="480"/>
              </a:spcBef>
              <a:spcAft>
                <a:spcPts val="0"/>
              </a:spcAft>
              <a:buClr>
                <a:schemeClr val="dk1"/>
              </a:buClr>
              <a:buSzPts val="2400"/>
              <a:buChar char="•"/>
            </a:pPr>
            <a:r>
              <a:rPr lang="en-IN" sz="2400"/>
              <a:t>δD({q0,q2},1)= δN(q0,1) U δN(q2,1) ={q0,q1} U ø={q0,q1}</a:t>
            </a:r>
            <a:endParaRPr/>
          </a:p>
          <a:p>
            <a:pPr indent="-342900" lvl="0" marL="342900" rtl="0" algn="l">
              <a:spcBef>
                <a:spcPts val="480"/>
              </a:spcBef>
              <a:spcAft>
                <a:spcPts val="0"/>
              </a:spcAft>
              <a:buClr>
                <a:schemeClr val="dk1"/>
              </a:buClr>
              <a:buSzPts val="2400"/>
              <a:buChar char="•"/>
            </a:pPr>
            <a:r>
              <a:rPr lang="en-IN" sz="2400"/>
              <a:t>We get third row of the transition table-</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2643" name="Google Shape;2643;p20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644" name="Google Shape;2644;p20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645" name="Google Shape;2645;p20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2646" name="Google Shape;2646;p201"/>
          <p:cNvPicPr preferRelativeResize="0"/>
          <p:nvPr/>
        </p:nvPicPr>
        <p:blipFill rotWithShape="1">
          <a:blip r:embed="rId3">
            <a:alphaModFix/>
          </a:blip>
          <a:srcRect b="23737" l="14265" r="50898" t="23939"/>
          <a:stretch/>
        </p:blipFill>
        <p:spPr>
          <a:xfrm rot="-5400000">
            <a:off x="2393866" y="-945594"/>
            <a:ext cx="1789444" cy="4777992"/>
          </a:xfrm>
          <a:prstGeom prst="rect">
            <a:avLst/>
          </a:prstGeom>
          <a:noFill/>
          <a:ln>
            <a:noFill/>
          </a:ln>
        </p:spPr>
      </p:pic>
      <p:graphicFrame>
        <p:nvGraphicFramePr>
          <p:cNvPr id="2647" name="Google Shape;2647;p201"/>
          <p:cNvGraphicFramePr/>
          <p:nvPr/>
        </p:nvGraphicFramePr>
        <p:xfrm>
          <a:off x="899591" y="4293096"/>
          <a:ext cx="3000000" cy="3000000"/>
        </p:xfrm>
        <a:graphic>
          <a:graphicData uri="http://schemas.openxmlformats.org/drawingml/2006/table">
            <a:tbl>
              <a:tblPr bandRow="1" firstRow="1">
                <a:noFill/>
                <a:tableStyleId>{07B78194-B2C8-4966-9A5C-DB386C4496CD}</a:tableStyleId>
              </a:tblPr>
              <a:tblGrid>
                <a:gridCol w="2032000"/>
                <a:gridCol w="2032000"/>
                <a:gridCol w="2032000"/>
              </a:tblGrid>
              <a:tr h="370850">
                <a:tc>
                  <a:txBody>
                    <a:bodyPr/>
                    <a:lstStyle/>
                    <a:p>
                      <a:pPr indent="0" lvl="0" marL="0" marR="0" rtl="0" algn="l">
                        <a:spcBef>
                          <a:spcPts val="0"/>
                        </a:spcBef>
                        <a:spcAft>
                          <a:spcPts val="0"/>
                        </a:spcAft>
                        <a:buNone/>
                      </a:pPr>
                      <a:r>
                        <a:rPr b="1" lang="en-IN" sz="1800"/>
                        <a:t>States</a:t>
                      </a:r>
                      <a:endParaRPr b="1" sz="1800"/>
                    </a:p>
                  </a:txBody>
                  <a:tcPr marT="45725" marB="45725" marR="91450" marL="91450"/>
                </a:tc>
                <a:tc>
                  <a:txBody>
                    <a:bodyPr/>
                    <a:lstStyle/>
                    <a:p>
                      <a:pPr indent="0" lvl="0" marL="0" marR="0" rtl="0" algn="l">
                        <a:spcBef>
                          <a:spcPts val="0"/>
                        </a:spcBef>
                        <a:spcAft>
                          <a:spcPts val="0"/>
                        </a:spcAft>
                        <a:buNone/>
                      </a:pPr>
                      <a:r>
                        <a:rPr b="1" lang="en-IN" sz="1800"/>
                        <a:t>0</a:t>
                      </a:r>
                      <a:endParaRPr b="1" sz="1800"/>
                    </a:p>
                  </a:txBody>
                  <a:tcPr marT="45725" marB="45725" marR="91450" marL="91450"/>
                </a:tc>
                <a:tc>
                  <a:txBody>
                    <a:bodyPr/>
                    <a:lstStyle/>
                    <a:p>
                      <a:pPr indent="0" lvl="0" marL="0" marR="0" rtl="0" algn="l">
                        <a:spcBef>
                          <a:spcPts val="0"/>
                        </a:spcBef>
                        <a:spcAft>
                          <a:spcPts val="0"/>
                        </a:spcAft>
                        <a:buNone/>
                      </a:pPr>
                      <a:r>
                        <a:rPr b="1" lang="en-IN" sz="1800"/>
                        <a:t>1</a:t>
                      </a:r>
                      <a:endParaRPr b="1"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r h="370850">
                <a:tc>
                  <a:txBody>
                    <a:bodyPr/>
                    <a:lstStyle/>
                    <a:p>
                      <a:pPr indent="0" lvl="0" marL="0" marR="0" rtl="0" algn="l">
                        <a:spcBef>
                          <a:spcPts val="0"/>
                        </a:spcBef>
                        <a:spcAft>
                          <a:spcPts val="0"/>
                        </a:spcAft>
                        <a:buNone/>
                      </a:pPr>
                      <a:r>
                        <a:rPr lang="en-IN" sz="1800"/>
                        <a:t>{q0,q1}</a:t>
                      </a:r>
                      <a:endParaRPr sz="1800"/>
                    </a:p>
                  </a:txBody>
                  <a:tcPr marT="45725" marB="45725" marR="91450" marL="91450"/>
                </a:tc>
                <a:tc>
                  <a:txBody>
                    <a:bodyPr/>
                    <a:lstStyle/>
                    <a:p>
                      <a:pPr indent="0" lvl="0" marL="0" marR="0" rtl="0" algn="l">
                        <a:spcBef>
                          <a:spcPts val="0"/>
                        </a:spcBef>
                        <a:spcAft>
                          <a:spcPts val="0"/>
                        </a:spcAft>
                        <a:buNone/>
                      </a:pPr>
                      <a:r>
                        <a:rPr lang="en-IN" sz="1800"/>
                        <a:t>{q0,q2}</a:t>
                      </a:r>
                      <a:endParaRPr sz="1800"/>
                    </a:p>
                  </a:txBody>
                  <a:tcPr marT="45725" marB="45725" marR="91450" marL="91450"/>
                </a:tc>
                <a:tc>
                  <a:txBody>
                    <a:bodyPr/>
                    <a:lstStyle/>
                    <a:p>
                      <a:pPr indent="0" lvl="0" marL="0" marR="0" rtl="0" algn="l">
                        <a:spcBef>
                          <a:spcPts val="0"/>
                        </a:spcBef>
                        <a:spcAft>
                          <a:spcPts val="0"/>
                        </a:spcAft>
                        <a:buNone/>
                      </a:pPr>
                      <a:r>
                        <a:rPr lang="en-IN" sz="1800"/>
                        <a:t>{q0,q1,q2}</a:t>
                      </a:r>
                      <a:endParaRPr sz="1800"/>
                    </a:p>
                  </a:txBody>
                  <a:tcPr marT="45725" marB="45725" marR="91450" marL="91450"/>
                </a:tc>
              </a:tr>
              <a:tr h="370850">
                <a:tc>
                  <a:txBody>
                    <a:bodyPr/>
                    <a:lstStyle/>
                    <a:p>
                      <a:pPr indent="0" lvl="0" marL="0" marR="0" rtl="0" algn="l">
                        <a:spcBef>
                          <a:spcPts val="0"/>
                        </a:spcBef>
                        <a:spcAft>
                          <a:spcPts val="0"/>
                        </a:spcAft>
                        <a:buNone/>
                      </a:pPr>
                      <a:r>
                        <a:rPr lang="en-IN" sz="1800"/>
                        <a:t>{q0,q2}</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bl>
          </a:graphicData>
        </a:graphic>
      </p:graphicFrame>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1" name="Shape 2651"/>
        <p:cNvGrpSpPr/>
        <p:nvPr/>
      </p:nvGrpSpPr>
      <p:grpSpPr>
        <a:xfrm>
          <a:off x="0" y="0"/>
          <a:ext cx="0" cy="0"/>
          <a:chOff x="0" y="0"/>
          <a:chExt cx="0" cy="0"/>
        </a:xfrm>
      </p:grpSpPr>
      <p:sp>
        <p:nvSpPr>
          <p:cNvPr id="2652" name="Google Shape;2652;p202"/>
          <p:cNvSpPr txBox="1"/>
          <p:nvPr>
            <p:ph idx="1" type="body"/>
          </p:nvPr>
        </p:nvSpPr>
        <p:spPr>
          <a:xfrm>
            <a:off x="457200" y="692696"/>
            <a:ext cx="8229600" cy="5433467"/>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{q0,q1,q2} is new and its transitions must be computed</a:t>
            </a:r>
            <a:endParaRPr/>
          </a:p>
          <a:p>
            <a:pPr indent="-342900" lvl="0" marL="342900" rtl="0" algn="l">
              <a:spcBef>
                <a:spcPts val="480"/>
              </a:spcBef>
              <a:spcAft>
                <a:spcPts val="0"/>
              </a:spcAft>
              <a:buClr>
                <a:schemeClr val="dk1"/>
              </a:buClr>
              <a:buSzPts val="2400"/>
              <a:buChar char="•"/>
            </a:pPr>
            <a:r>
              <a:rPr lang="en-IN" sz="2400"/>
              <a:t>δD({q0,q1,q2},0)= δN(q0,0) U δN(q1,0) U δN(q2,0) ={q0} U {q2} U ø={q0,q2}</a:t>
            </a:r>
            <a:endParaRPr sz="2400"/>
          </a:p>
          <a:p>
            <a:pPr indent="-342900" lvl="0" marL="342900" rtl="0" algn="l">
              <a:spcBef>
                <a:spcPts val="480"/>
              </a:spcBef>
              <a:spcAft>
                <a:spcPts val="0"/>
              </a:spcAft>
              <a:buClr>
                <a:schemeClr val="dk1"/>
              </a:buClr>
              <a:buSzPts val="2400"/>
              <a:buChar char="•"/>
            </a:pPr>
            <a:r>
              <a:rPr lang="en-IN" sz="2400"/>
              <a:t>δD({q0,q1,q2},1)= δN(q0,1) U δN(q1,1) U δN(q2,1) ={qo,q1} U {q2} U ø={q0,q1,q2}</a:t>
            </a:r>
            <a:endParaRPr/>
          </a:p>
          <a:p>
            <a:pPr indent="-342900" lvl="0" marL="342900" rtl="0" algn="l">
              <a:spcBef>
                <a:spcPts val="480"/>
              </a:spcBef>
              <a:spcAft>
                <a:spcPts val="0"/>
              </a:spcAft>
              <a:buClr>
                <a:schemeClr val="dk1"/>
              </a:buClr>
              <a:buSzPts val="2400"/>
              <a:buChar char="•"/>
            </a:pPr>
            <a:r>
              <a:rPr lang="en-IN" sz="2400"/>
              <a:t>We get fourth row of the transition table-</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2653" name="Google Shape;2653;p20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654" name="Google Shape;2654;p20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655" name="Google Shape;2655;p20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2656" name="Google Shape;2656;p202"/>
          <p:cNvPicPr preferRelativeResize="0"/>
          <p:nvPr/>
        </p:nvPicPr>
        <p:blipFill rotWithShape="1">
          <a:blip r:embed="rId3">
            <a:alphaModFix/>
          </a:blip>
          <a:srcRect b="23737" l="14265" r="50898" t="23939"/>
          <a:stretch/>
        </p:blipFill>
        <p:spPr>
          <a:xfrm rot="-5400000">
            <a:off x="2393865" y="-1377642"/>
            <a:ext cx="1789444" cy="4777992"/>
          </a:xfrm>
          <a:prstGeom prst="rect">
            <a:avLst/>
          </a:prstGeom>
          <a:noFill/>
          <a:ln>
            <a:noFill/>
          </a:ln>
        </p:spPr>
      </p:pic>
      <p:graphicFrame>
        <p:nvGraphicFramePr>
          <p:cNvPr id="2657" name="Google Shape;2657;p202"/>
          <p:cNvGraphicFramePr/>
          <p:nvPr/>
        </p:nvGraphicFramePr>
        <p:xfrm>
          <a:off x="899590" y="4509120"/>
          <a:ext cx="3000000" cy="3000000"/>
        </p:xfrm>
        <a:graphic>
          <a:graphicData uri="http://schemas.openxmlformats.org/drawingml/2006/table">
            <a:tbl>
              <a:tblPr bandRow="1" firstRow="1">
                <a:noFill/>
                <a:tableStyleId>{07B78194-B2C8-4966-9A5C-DB386C4496CD}</a:tableStyleId>
              </a:tblPr>
              <a:tblGrid>
                <a:gridCol w="2032000"/>
                <a:gridCol w="2032000"/>
                <a:gridCol w="2032000"/>
              </a:tblGrid>
              <a:tr h="370850">
                <a:tc>
                  <a:txBody>
                    <a:bodyPr/>
                    <a:lstStyle/>
                    <a:p>
                      <a:pPr indent="0" lvl="0" marL="0" marR="0" rtl="0" algn="l">
                        <a:spcBef>
                          <a:spcPts val="0"/>
                        </a:spcBef>
                        <a:spcAft>
                          <a:spcPts val="0"/>
                        </a:spcAft>
                        <a:buNone/>
                      </a:pPr>
                      <a:r>
                        <a:rPr b="1" lang="en-IN" sz="1800"/>
                        <a:t>States</a:t>
                      </a:r>
                      <a:endParaRPr b="1" sz="1800"/>
                    </a:p>
                  </a:txBody>
                  <a:tcPr marT="45725" marB="45725" marR="91450" marL="91450"/>
                </a:tc>
                <a:tc>
                  <a:txBody>
                    <a:bodyPr/>
                    <a:lstStyle/>
                    <a:p>
                      <a:pPr indent="0" lvl="0" marL="0" marR="0" rtl="0" algn="l">
                        <a:spcBef>
                          <a:spcPts val="0"/>
                        </a:spcBef>
                        <a:spcAft>
                          <a:spcPts val="0"/>
                        </a:spcAft>
                        <a:buNone/>
                      </a:pPr>
                      <a:r>
                        <a:rPr b="1" lang="en-IN" sz="1800"/>
                        <a:t>0</a:t>
                      </a:r>
                      <a:endParaRPr b="1" sz="1800"/>
                    </a:p>
                  </a:txBody>
                  <a:tcPr marT="45725" marB="45725" marR="91450" marL="91450"/>
                </a:tc>
                <a:tc>
                  <a:txBody>
                    <a:bodyPr/>
                    <a:lstStyle/>
                    <a:p>
                      <a:pPr indent="0" lvl="0" marL="0" marR="0" rtl="0" algn="l">
                        <a:spcBef>
                          <a:spcPts val="0"/>
                        </a:spcBef>
                        <a:spcAft>
                          <a:spcPts val="0"/>
                        </a:spcAft>
                        <a:buNone/>
                      </a:pPr>
                      <a:r>
                        <a:rPr b="1" lang="en-IN" sz="1800"/>
                        <a:t>1</a:t>
                      </a:r>
                      <a:endParaRPr b="1"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r h="370850">
                <a:tc>
                  <a:txBody>
                    <a:bodyPr/>
                    <a:lstStyle/>
                    <a:p>
                      <a:pPr indent="0" lvl="0" marL="0" marR="0" rtl="0" algn="l">
                        <a:spcBef>
                          <a:spcPts val="0"/>
                        </a:spcBef>
                        <a:spcAft>
                          <a:spcPts val="0"/>
                        </a:spcAft>
                        <a:buNone/>
                      </a:pPr>
                      <a:r>
                        <a:rPr lang="en-IN" sz="1800"/>
                        <a:t>{q0,q1}</a:t>
                      </a:r>
                      <a:endParaRPr sz="1800"/>
                    </a:p>
                  </a:txBody>
                  <a:tcPr marT="45725" marB="45725" marR="91450" marL="91450"/>
                </a:tc>
                <a:tc>
                  <a:txBody>
                    <a:bodyPr/>
                    <a:lstStyle/>
                    <a:p>
                      <a:pPr indent="0" lvl="0" marL="0" marR="0" rtl="0" algn="l">
                        <a:spcBef>
                          <a:spcPts val="0"/>
                        </a:spcBef>
                        <a:spcAft>
                          <a:spcPts val="0"/>
                        </a:spcAft>
                        <a:buNone/>
                      </a:pPr>
                      <a:r>
                        <a:rPr lang="en-IN" sz="1800"/>
                        <a:t>{q0,q2}</a:t>
                      </a:r>
                      <a:endParaRPr sz="1800"/>
                    </a:p>
                  </a:txBody>
                  <a:tcPr marT="45725" marB="45725" marR="91450" marL="91450"/>
                </a:tc>
                <a:tc>
                  <a:txBody>
                    <a:bodyPr/>
                    <a:lstStyle/>
                    <a:p>
                      <a:pPr indent="0" lvl="0" marL="0" marR="0" rtl="0" algn="l">
                        <a:spcBef>
                          <a:spcPts val="0"/>
                        </a:spcBef>
                        <a:spcAft>
                          <a:spcPts val="0"/>
                        </a:spcAft>
                        <a:buNone/>
                      </a:pPr>
                      <a:r>
                        <a:rPr lang="en-IN" sz="1800"/>
                        <a:t>{q0,q1,q2}</a:t>
                      </a:r>
                      <a:endParaRPr sz="1800"/>
                    </a:p>
                  </a:txBody>
                  <a:tcPr marT="45725" marB="45725" marR="91450" marL="91450"/>
                </a:tc>
              </a:tr>
              <a:tr h="370850">
                <a:tc>
                  <a:txBody>
                    <a:bodyPr/>
                    <a:lstStyle/>
                    <a:p>
                      <a:pPr indent="0" lvl="0" marL="0" marR="0" rtl="0" algn="l">
                        <a:spcBef>
                          <a:spcPts val="0"/>
                        </a:spcBef>
                        <a:spcAft>
                          <a:spcPts val="0"/>
                        </a:spcAft>
                        <a:buNone/>
                      </a:pPr>
                      <a:r>
                        <a:rPr lang="en-IN" sz="1800"/>
                        <a:t>{q0,q2}</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r h="370850">
                <a:tc>
                  <a:txBody>
                    <a:bodyPr/>
                    <a:lstStyle/>
                    <a:p>
                      <a:pPr indent="0" lvl="0" marL="0" marR="0" rtl="0" algn="l">
                        <a:spcBef>
                          <a:spcPts val="0"/>
                        </a:spcBef>
                        <a:spcAft>
                          <a:spcPts val="0"/>
                        </a:spcAft>
                        <a:buNone/>
                      </a:pPr>
                      <a:r>
                        <a:rPr lang="en-IN" sz="1800"/>
                        <a:t>{q0,q1,q2}</a:t>
                      </a:r>
                      <a:endParaRPr sz="1800"/>
                    </a:p>
                  </a:txBody>
                  <a:tcPr marT="45725" marB="45725" marR="91450" marL="91450"/>
                </a:tc>
                <a:tc>
                  <a:txBody>
                    <a:bodyPr/>
                    <a:lstStyle/>
                    <a:p>
                      <a:pPr indent="0" lvl="0" marL="0" marR="0" rtl="0" algn="l">
                        <a:spcBef>
                          <a:spcPts val="0"/>
                        </a:spcBef>
                        <a:spcAft>
                          <a:spcPts val="0"/>
                        </a:spcAft>
                        <a:buNone/>
                      </a:pPr>
                      <a:r>
                        <a:rPr lang="en-IN" sz="1800"/>
                        <a:t>{q0,q2}</a:t>
                      </a:r>
                      <a:endParaRPr sz="1800"/>
                    </a:p>
                  </a:txBody>
                  <a:tcPr marT="45725" marB="45725" marR="91450" marL="91450"/>
                </a:tc>
                <a:tc>
                  <a:txBody>
                    <a:bodyPr/>
                    <a:lstStyle/>
                    <a:p>
                      <a:pPr indent="0" lvl="0" marL="0" marR="0" rtl="0" algn="l">
                        <a:spcBef>
                          <a:spcPts val="0"/>
                        </a:spcBef>
                        <a:spcAft>
                          <a:spcPts val="0"/>
                        </a:spcAft>
                        <a:buNone/>
                      </a:pPr>
                      <a:r>
                        <a:rPr lang="en-IN" sz="1800"/>
                        <a:t>{q0, q1,q2}</a:t>
                      </a:r>
                      <a:endParaRPr sz="1800"/>
                    </a:p>
                  </a:txBody>
                  <a:tcPr marT="45725" marB="45725" marR="91450" marL="91450"/>
                </a:tc>
              </a:tr>
            </a:tbl>
          </a:graphicData>
        </a:graphic>
      </p:graphicFrame>
      <p:sp>
        <p:nvSpPr>
          <p:cNvPr id="2658" name="Google Shape;2658;p202"/>
          <p:cNvSpPr/>
          <p:nvPr/>
        </p:nvSpPr>
        <p:spPr>
          <a:xfrm>
            <a:off x="899590" y="5661248"/>
            <a:ext cx="900100" cy="36004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59" name="Google Shape;2659;p202"/>
          <p:cNvSpPr/>
          <p:nvPr/>
        </p:nvSpPr>
        <p:spPr>
          <a:xfrm>
            <a:off x="899590" y="6021288"/>
            <a:ext cx="1368154" cy="36004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3" name="Shape 2663"/>
        <p:cNvGrpSpPr/>
        <p:nvPr/>
      </p:nvGrpSpPr>
      <p:grpSpPr>
        <a:xfrm>
          <a:off x="0" y="0"/>
          <a:ext cx="0" cy="0"/>
          <a:chOff x="0" y="0"/>
          <a:chExt cx="0" cy="0"/>
        </a:xfrm>
      </p:grpSpPr>
      <p:sp>
        <p:nvSpPr>
          <p:cNvPr id="2664" name="Google Shape;2664;p20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665" name="Google Shape;2665;p20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Transition Table</a:t>
            </a:r>
            <a:endParaRPr sz="2400"/>
          </a:p>
        </p:txBody>
      </p:sp>
      <p:sp>
        <p:nvSpPr>
          <p:cNvPr id="2666" name="Google Shape;2666;p20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667" name="Google Shape;2667;p20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668" name="Google Shape;2668;p20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669" name="Google Shape;2669;p203"/>
          <p:cNvSpPr/>
          <p:nvPr/>
        </p:nvSpPr>
        <p:spPr>
          <a:xfrm>
            <a:off x="1979712" y="4770440"/>
            <a:ext cx="1440160"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{q0,q1}</a:t>
            </a:r>
            <a:endParaRPr sz="1800">
              <a:solidFill>
                <a:schemeClr val="lt1"/>
              </a:solidFill>
              <a:latin typeface="Calibri"/>
              <a:ea typeface="Calibri"/>
              <a:cs typeface="Calibri"/>
              <a:sym typeface="Calibri"/>
            </a:endParaRPr>
          </a:p>
        </p:txBody>
      </p:sp>
      <p:cxnSp>
        <p:nvCxnSpPr>
          <p:cNvPr id="2670" name="Google Shape;2670;p203"/>
          <p:cNvCxnSpPr/>
          <p:nvPr/>
        </p:nvCxnSpPr>
        <p:spPr>
          <a:xfrm>
            <a:off x="3419872" y="5085184"/>
            <a:ext cx="864096" cy="0"/>
          </a:xfrm>
          <a:prstGeom prst="straightConnector1">
            <a:avLst/>
          </a:prstGeom>
          <a:noFill/>
          <a:ln cap="flat" cmpd="sng" w="9525">
            <a:solidFill>
              <a:srgbClr val="4A7DBA"/>
            </a:solidFill>
            <a:prstDash val="solid"/>
            <a:round/>
            <a:headEnd len="sm" w="sm" type="none"/>
            <a:tailEnd len="med" w="med" type="stealth"/>
          </a:ln>
        </p:spPr>
      </p:cxnSp>
      <p:grpSp>
        <p:nvGrpSpPr>
          <p:cNvPr id="2671" name="Google Shape;2671;p203"/>
          <p:cNvGrpSpPr/>
          <p:nvPr/>
        </p:nvGrpSpPr>
        <p:grpSpPr>
          <a:xfrm>
            <a:off x="7092280" y="4734436"/>
            <a:ext cx="2051720" cy="792088"/>
            <a:chOff x="2771800" y="4941168"/>
            <a:chExt cx="936104" cy="792088"/>
          </a:xfrm>
        </p:grpSpPr>
        <p:sp>
          <p:nvSpPr>
            <p:cNvPr id="2672" name="Google Shape;2672;p203"/>
            <p:cNvSpPr/>
            <p:nvPr/>
          </p:nvSpPr>
          <p:spPr>
            <a:xfrm>
              <a:off x="2771800" y="4941168"/>
              <a:ext cx="936104" cy="792088"/>
            </a:xfrm>
            <a:prstGeom prst="ellipse">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3" name="Google Shape;2673;p203"/>
            <p:cNvSpPr/>
            <p:nvPr/>
          </p:nvSpPr>
          <p:spPr>
            <a:xfrm>
              <a:off x="2870337" y="5085184"/>
              <a:ext cx="759559"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1600">
                  <a:solidFill>
                    <a:schemeClr val="lt1"/>
                  </a:solidFill>
                  <a:latin typeface="Calibri"/>
                  <a:ea typeface="Calibri"/>
                  <a:cs typeface="Calibri"/>
                  <a:sym typeface="Calibri"/>
                </a:rPr>
                <a:t>{q0,q1,q2}</a:t>
              </a:r>
              <a:endParaRPr b="1" sz="1800">
                <a:solidFill>
                  <a:schemeClr val="lt1"/>
                </a:solidFill>
                <a:latin typeface="Calibri"/>
                <a:ea typeface="Calibri"/>
                <a:cs typeface="Calibri"/>
                <a:sym typeface="Calibri"/>
              </a:endParaRPr>
            </a:p>
          </p:txBody>
        </p:sp>
      </p:grpSp>
      <p:grpSp>
        <p:nvGrpSpPr>
          <p:cNvPr id="2674" name="Google Shape;2674;p203"/>
          <p:cNvGrpSpPr/>
          <p:nvPr/>
        </p:nvGrpSpPr>
        <p:grpSpPr>
          <a:xfrm>
            <a:off x="4283968" y="4709287"/>
            <a:ext cx="1758657" cy="792088"/>
            <a:chOff x="1942906" y="4707724"/>
            <a:chExt cx="1260942" cy="792088"/>
          </a:xfrm>
        </p:grpSpPr>
        <p:sp>
          <p:nvSpPr>
            <p:cNvPr id="2675" name="Google Shape;2675;p203"/>
            <p:cNvSpPr/>
            <p:nvPr/>
          </p:nvSpPr>
          <p:spPr>
            <a:xfrm>
              <a:off x="1942906" y="4707724"/>
              <a:ext cx="1260942" cy="792088"/>
            </a:xfrm>
            <a:prstGeom prst="ellipse">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6" name="Google Shape;2676;p203"/>
            <p:cNvSpPr/>
            <p:nvPr/>
          </p:nvSpPr>
          <p:spPr>
            <a:xfrm>
              <a:off x="2088399" y="4831415"/>
              <a:ext cx="969955"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{q0,q2}</a:t>
              </a:r>
              <a:endParaRPr sz="1800">
                <a:solidFill>
                  <a:schemeClr val="lt1"/>
                </a:solidFill>
                <a:latin typeface="Calibri"/>
                <a:ea typeface="Calibri"/>
                <a:cs typeface="Calibri"/>
                <a:sym typeface="Calibri"/>
              </a:endParaRPr>
            </a:p>
          </p:txBody>
        </p:sp>
      </p:grpSp>
      <p:cxnSp>
        <p:nvCxnSpPr>
          <p:cNvPr id="2677" name="Google Shape;2677;p203"/>
          <p:cNvCxnSpPr/>
          <p:nvPr/>
        </p:nvCxnSpPr>
        <p:spPr>
          <a:xfrm>
            <a:off x="1115616" y="5085184"/>
            <a:ext cx="864096" cy="0"/>
          </a:xfrm>
          <a:prstGeom prst="straightConnector1">
            <a:avLst/>
          </a:prstGeom>
          <a:noFill/>
          <a:ln cap="flat" cmpd="sng" w="9525">
            <a:solidFill>
              <a:srgbClr val="4A7DBA"/>
            </a:solidFill>
            <a:prstDash val="solid"/>
            <a:round/>
            <a:headEnd len="sm" w="sm" type="none"/>
            <a:tailEnd len="med" w="med" type="stealth"/>
          </a:ln>
        </p:spPr>
      </p:cxnSp>
      <p:graphicFrame>
        <p:nvGraphicFramePr>
          <p:cNvPr id="2678" name="Google Shape;2678;p203"/>
          <p:cNvGraphicFramePr/>
          <p:nvPr/>
        </p:nvGraphicFramePr>
        <p:xfrm>
          <a:off x="827584" y="2132856"/>
          <a:ext cx="3000000" cy="3000000"/>
        </p:xfrm>
        <a:graphic>
          <a:graphicData uri="http://schemas.openxmlformats.org/drawingml/2006/table">
            <a:tbl>
              <a:tblPr bandRow="1" firstRow="1">
                <a:noFill/>
                <a:tableStyleId>{07B78194-B2C8-4966-9A5C-DB386C4496CD}</a:tableStyleId>
              </a:tblPr>
              <a:tblGrid>
                <a:gridCol w="2032000"/>
                <a:gridCol w="2032000"/>
                <a:gridCol w="2032000"/>
              </a:tblGrid>
              <a:tr h="370850">
                <a:tc>
                  <a:txBody>
                    <a:bodyPr/>
                    <a:lstStyle/>
                    <a:p>
                      <a:pPr indent="0" lvl="0" marL="0" marR="0" rtl="0" algn="l">
                        <a:spcBef>
                          <a:spcPts val="0"/>
                        </a:spcBef>
                        <a:spcAft>
                          <a:spcPts val="0"/>
                        </a:spcAft>
                        <a:buNone/>
                      </a:pPr>
                      <a:r>
                        <a:rPr b="1" lang="en-IN" sz="1800"/>
                        <a:t>States</a:t>
                      </a:r>
                      <a:endParaRPr b="1" sz="1800"/>
                    </a:p>
                  </a:txBody>
                  <a:tcPr marT="45725" marB="45725" marR="91450" marL="91450"/>
                </a:tc>
                <a:tc>
                  <a:txBody>
                    <a:bodyPr/>
                    <a:lstStyle/>
                    <a:p>
                      <a:pPr indent="0" lvl="0" marL="0" marR="0" rtl="0" algn="l">
                        <a:spcBef>
                          <a:spcPts val="0"/>
                        </a:spcBef>
                        <a:spcAft>
                          <a:spcPts val="0"/>
                        </a:spcAft>
                        <a:buNone/>
                      </a:pPr>
                      <a:r>
                        <a:rPr b="1" lang="en-IN" sz="1800"/>
                        <a:t>0</a:t>
                      </a:r>
                      <a:endParaRPr b="1" sz="1800"/>
                    </a:p>
                  </a:txBody>
                  <a:tcPr marT="45725" marB="45725" marR="91450" marL="91450"/>
                </a:tc>
                <a:tc>
                  <a:txBody>
                    <a:bodyPr/>
                    <a:lstStyle/>
                    <a:p>
                      <a:pPr indent="0" lvl="0" marL="0" marR="0" rtl="0" algn="l">
                        <a:spcBef>
                          <a:spcPts val="0"/>
                        </a:spcBef>
                        <a:spcAft>
                          <a:spcPts val="0"/>
                        </a:spcAft>
                        <a:buNone/>
                      </a:pPr>
                      <a:r>
                        <a:rPr b="1" lang="en-IN" sz="1800"/>
                        <a:t>1</a:t>
                      </a:r>
                      <a:endParaRPr b="1"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r h="370850">
                <a:tc>
                  <a:txBody>
                    <a:bodyPr/>
                    <a:lstStyle/>
                    <a:p>
                      <a:pPr indent="0" lvl="0" marL="0" marR="0" rtl="0" algn="l">
                        <a:spcBef>
                          <a:spcPts val="0"/>
                        </a:spcBef>
                        <a:spcAft>
                          <a:spcPts val="0"/>
                        </a:spcAft>
                        <a:buNone/>
                      </a:pPr>
                      <a:r>
                        <a:rPr lang="en-IN" sz="1800"/>
                        <a:t>{q0,q1}</a:t>
                      </a:r>
                      <a:endParaRPr sz="1800"/>
                    </a:p>
                  </a:txBody>
                  <a:tcPr marT="45725" marB="45725" marR="91450" marL="91450"/>
                </a:tc>
                <a:tc>
                  <a:txBody>
                    <a:bodyPr/>
                    <a:lstStyle/>
                    <a:p>
                      <a:pPr indent="0" lvl="0" marL="0" marR="0" rtl="0" algn="l">
                        <a:spcBef>
                          <a:spcPts val="0"/>
                        </a:spcBef>
                        <a:spcAft>
                          <a:spcPts val="0"/>
                        </a:spcAft>
                        <a:buNone/>
                      </a:pPr>
                      <a:r>
                        <a:rPr lang="en-IN" sz="1800"/>
                        <a:t>{q0,q2}</a:t>
                      </a:r>
                      <a:endParaRPr sz="1800"/>
                    </a:p>
                  </a:txBody>
                  <a:tcPr marT="45725" marB="45725" marR="91450" marL="91450"/>
                </a:tc>
                <a:tc>
                  <a:txBody>
                    <a:bodyPr/>
                    <a:lstStyle/>
                    <a:p>
                      <a:pPr indent="0" lvl="0" marL="0" marR="0" rtl="0" algn="l">
                        <a:spcBef>
                          <a:spcPts val="0"/>
                        </a:spcBef>
                        <a:spcAft>
                          <a:spcPts val="0"/>
                        </a:spcAft>
                        <a:buNone/>
                      </a:pPr>
                      <a:r>
                        <a:rPr lang="en-IN" sz="1800"/>
                        <a:t>{q0,q1,q2}</a:t>
                      </a:r>
                      <a:endParaRPr sz="1800"/>
                    </a:p>
                  </a:txBody>
                  <a:tcPr marT="45725" marB="45725" marR="91450" marL="91450"/>
                </a:tc>
              </a:tr>
              <a:tr h="370850">
                <a:tc>
                  <a:txBody>
                    <a:bodyPr/>
                    <a:lstStyle/>
                    <a:p>
                      <a:pPr indent="0" lvl="0" marL="0" marR="0" rtl="0" algn="l">
                        <a:spcBef>
                          <a:spcPts val="0"/>
                        </a:spcBef>
                        <a:spcAft>
                          <a:spcPts val="0"/>
                        </a:spcAft>
                        <a:buNone/>
                      </a:pPr>
                      <a:r>
                        <a:rPr lang="en-IN" sz="1800"/>
                        <a:t>{q0,q2}</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r h="370850">
                <a:tc>
                  <a:txBody>
                    <a:bodyPr/>
                    <a:lstStyle/>
                    <a:p>
                      <a:pPr indent="0" lvl="0" marL="0" marR="0" rtl="0" algn="l">
                        <a:spcBef>
                          <a:spcPts val="0"/>
                        </a:spcBef>
                        <a:spcAft>
                          <a:spcPts val="0"/>
                        </a:spcAft>
                        <a:buNone/>
                      </a:pPr>
                      <a:r>
                        <a:rPr lang="en-IN" sz="1800"/>
                        <a:t>{q0,q1,q2}</a:t>
                      </a:r>
                      <a:endParaRPr sz="1800"/>
                    </a:p>
                  </a:txBody>
                  <a:tcPr marT="45725" marB="45725" marR="91450" marL="91450"/>
                </a:tc>
                <a:tc>
                  <a:txBody>
                    <a:bodyPr/>
                    <a:lstStyle/>
                    <a:p>
                      <a:pPr indent="0" lvl="0" marL="0" marR="0" rtl="0" algn="l">
                        <a:spcBef>
                          <a:spcPts val="0"/>
                        </a:spcBef>
                        <a:spcAft>
                          <a:spcPts val="0"/>
                        </a:spcAft>
                        <a:buNone/>
                      </a:pPr>
                      <a:r>
                        <a:rPr lang="en-IN" sz="1800"/>
                        <a:t>{q0,q2}</a:t>
                      </a:r>
                      <a:endParaRPr sz="1800"/>
                    </a:p>
                  </a:txBody>
                  <a:tcPr marT="45725" marB="45725" marR="91450" marL="91450"/>
                </a:tc>
                <a:tc>
                  <a:txBody>
                    <a:bodyPr/>
                    <a:lstStyle/>
                    <a:p>
                      <a:pPr indent="0" lvl="0" marL="0" marR="0" rtl="0" algn="l">
                        <a:spcBef>
                          <a:spcPts val="0"/>
                        </a:spcBef>
                        <a:spcAft>
                          <a:spcPts val="0"/>
                        </a:spcAft>
                        <a:buNone/>
                      </a:pPr>
                      <a:r>
                        <a:rPr lang="en-IN" sz="1800"/>
                        <a:t>{q0, q1,q2}</a:t>
                      </a:r>
                      <a:endParaRPr sz="1800"/>
                    </a:p>
                  </a:txBody>
                  <a:tcPr marT="45725" marB="45725" marR="91450" marL="91450"/>
                </a:tc>
              </a:tr>
            </a:tbl>
          </a:graphicData>
        </a:graphic>
      </p:graphicFrame>
      <p:sp>
        <p:nvSpPr>
          <p:cNvPr id="2679" name="Google Shape;2679;p203"/>
          <p:cNvSpPr/>
          <p:nvPr/>
        </p:nvSpPr>
        <p:spPr>
          <a:xfrm>
            <a:off x="791580" y="3284984"/>
            <a:ext cx="900100" cy="36004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0" name="Google Shape;2680;p203"/>
          <p:cNvSpPr/>
          <p:nvPr/>
        </p:nvSpPr>
        <p:spPr>
          <a:xfrm>
            <a:off x="791580" y="3645024"/>
            <a:ext cx="1367350" cy="36004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1" name="Google Shape;2681;p203"/>
          <p:cNvSpPr/>
          <p:nvPr/>
        </p:nvSpPr>
        <p:spPr>
          <a:xfrm>
            <a:off x="184207" y="470307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{q0}</a:t>
            </a:r>
            <a:endParaRPr sz="1800">
              <a:solidFill>
                <a:schemeClr val="lt1"/>
              </a:solidFill>
              <a:latin typeface="Calibri"/>
              <a:ea typeface="Calibri"/>
              <a:cs typeface="Calibri"/>
              <a:sym typeface="Calibri"/>
            </a:endParaRPr>
          </a:p>
        </p:txBody>
      </p:sp>
      <p:sp>
        <p:nvSpPr>
          <p:cNvPr id="2682" name="Google Shape;2682;p203"/>
          <p:cNvSpPr txBox="1"/>
          <p:nvPr/>
        </p:nvSpPr>
        <p:spPr>
          <a:xfrm>
            <a:off x="1475255" y="4642103"/>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a:p>
        </p:txBody>
      </p:sp>
      <p:sp>
        <p:nvSpPr>
          <p:cNvPr id="2683" name="Google Shape;2683;p203"/>
          <p:cNvSpPr txBox="1"/>
          <p:nvPr/>
        </p:nvSpPr>
        <p:spPr>
          <a:xfrm>
            <a:off x="795139" y="5733256"/>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2684" name="Google Shape;2684;p203"/>
          <p:cNvSpPr/>
          <p:nvPr/>
        </p:nvSpPr>
        <p:spPr>
          <a:xfrm>
            <a:off x="395536" y="5371475"/>
            <a:ext cx="550446" cy="546447"/>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85" name="Google Shape;2685;p203"/>
          <p:cNvSpPr txBox="1"/>
          <p:nvPr/>
        </p:nvSpPr>
        <p:spPr>
          <a:xfrm>
            <a:off x="3701077" y="5238492"/>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2686" name="Google Shape;2686;p203"/>
          <p:cNvSpPr txBox="1"/>
          <p:nvPr/>
        </p:nvSpPr>
        <p:spPr>
          <a:xfrm>
            <a:off x="5056086" y="6054614"/>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a:p>
        </p:txBody>
      </p:sp>
      <p:sp>
        <p:nvSpPr>
          <p:cNvPr id="2687" name="Google Shape;2687;p203"/>
          <p:cNvSpPr/>
          <p:nvPr/>
        </p:nvSpPr>
        <p:spPr>
          <a:xfrm>
            <a:off x="2424568" y="5460032"/>
            <a:ext cx="5315783" cy="546447"/>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688" name="Google Shape;2688;p203"/>
          <p:cNvCxnSpPr/>
          <p:nvPr/>
        </p:nvCxnSpPr>
        <p:spPr>
          <a:xfrm rot="10800000">
            <a:off x="3314418" y="4938609"/>
            <a:ext cx="1075003" cy="2559"/>
          </a:xfrm>
          <a:prstGeom prst="straightConnector1">
            <a:avLst/>
          </a:prstGeom>
          <a:noFill/>
          <a:ln cap="flat" cmpd="sng" w="9525">
            <a:solidFill>
              <a:srgbClr val="4A7DBA"/>
            </a:solidFill>
            <a:prstDash val="solid"/>
            <a:round/>
            <a:headEnd len="sm" w="sm" type="none"/>
            <a:tailEnd len="med" w="med" type="stealth"/>
          </a:ln>
        </p:spPr>
      </p:cxnSp>
      <p:sp>
        <p:nvSpPr>
          <p:cNvPr id="2689" name="Google Shape;2689;p203"/>
          <p:cNvSpPr txBox="1"/>
          <p:nvPr/>
        </p:nvSpPr>
        <p:spPr>
          <a:xfrm>
            <a:off x="3694250" y="4571836"/>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a:p>
        </p:txBody>
      </p:sp>
      <p:sp>
        <p:nvSpPr>
          <p:cNvPr id="2690" name="Google Shape;2690;p203"/>
          <p:cNvSpPr/>
          <p:nvPr/>
        </p:nvSpPr>
        <p:spPr>
          <a:xfrm rot="5400000">
            <a:off x="2541149" y="2615536"/>
            <a:ext cx="405334" cy="3904473"/>
          </a:xfrm>
          <a:prstGeom prst="curvedRigh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91" name="Google Shape;2691;p203"/>
          <p:cNvSpPr txBox="1"/>
          <p:nvPr/>
        </p:nvSpPr>
        <p:spPr>
          <a:xfrm>
            <a:off x="2592973" y="4005064"/>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2692" name="Google Shape;2692;p203"/>
          <p:cNvCxnSpPr>
            <a:stCxn id="2672" idx="2"/>
          </p:cNvCxnSpPr>
          <p:nvPr/>
        </p:nvCxnSpPr>
        <p:spPr>
          <a:xfrm rot="10800000">
            <a:off x="6042580" y="5085180"/>
            <a:ext cx="1049700" cy="45300"/>
          </a:xfrm>
          <a:prstGeom prst="straightConnector1">
            <a:avLst/>
          </a:prstGeom>
          <a:noFill/>
          <a:ln cap="flat" cmpd="sng" w="9525">
            <a:solidFill>
              <a:srgbClr val="4A7DBA"/>
            </a:solidFill>
            <a:prstDash val="solid"/>
            <a:round/>
            <a:headEnd len="sm" w="sm" type="none"/>
            <a:tailEnd len="med" w="med" type="stealth"/>
          </a:ln>
        </p:spPr>
      </p:cxnSp>
      <p:sp>
        <p:nvSpPr>
          <p:cNvPr id="2693" name="Google Shape;2693;p203"/>
          <p:cNvSpPr/>
          <p:nvPr/>
        </p:nvSpPr>
        <p:spPr>
          <a:xfrm>
            <a:off x="7956376" y="5556141"/>
            <a:ext cx="550446" cy="546447"/>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94" name="Google Shape;2694;p203"/>
          <p:cNvSpPr txBox="1"/>
          <p:nvPr/>
        </p:nvSpPr>
        <p:spPr>
          <a:xfrm>
            <a:off x="7975325" y="610258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a:p>
        </p:txBody>
      </p:sp>
      <p:sp>
        <p:nvSpPr>
          <p:cNvPr id="2695" name="Google Shape;2695;p203"/>
          <p:cNvSpPr txBox="1"/>
          <p:nvPr/>
        </p:nvSpPr>
        <p:spPr>
          <a:xfrm>
            <a:off x="6416609" y="5186809"/>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cxnSp>
        <p:nvCxnSpPr>
          <p:cNvPr id="2696" name="Google Shape;2696;p203"/>
          <p:cNvCxnSpPr/>
          <p:nvPr/>
        </p:nvCxnSpPr>
        <p:spPr>
          <a:xfrm>
            <a:off x="-134986" y="5011435"/>
            <a:ext cx="355171" cy="0"/>
          </a:xfrm>
          <a:prstGeom prst="straightConnector1">
            <a:avLst/>
          </a:prstGeom>
          <a:noFill/>
          <a:ln cap="flat" cmpd="sng" w="9525">
            <a:solidFill>
              <a:srgbClr val="4A7DBA"/>
            </a:solidFill>
            <a:prstDash val="solid"/>
            <a:round/>
            <a:headEnd len="sm" w="sm" type="none"/>
            <a:tailEnd len="med" w="med" type="stealth"/>
          </a:ln>
        </p:spPr>
      </p:cxn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1" name="Shape 2701"/>
        <p:cNvGrpSpPr/>
        <p:nvPr/>
      </p:nvGrpSpPr>
      <p:grpSpPr>
        <a:xfrm>
          <a:off x="0" y="0"/>
          <a:ext cx="0" cy="0"/>
          <a:chOff x="0" y="0"/>
          <a:chExt cx="0" cy="0"/>
        </a:xfrm>
      </p:grpSpPr>
      <p:sp>
        <p:nvSpPr>
          <p:cNvPr id="2702" name="Google Shape;2702;p20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NDFA</a:t>
            </a:r>
            <a:endParaRPr/>
          </a:p>
        </p:txBody>
      </p:sp>
      <p:sp>
        <p:nvSpPr>
          <p:cNvPr id="2703" name="Google Shape;2703;p20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704" name="Google Shape;2704;p20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705" name="Google Shape;2705;p20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706" name="Google Shape;2706;p204"/>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3</a:t>
                      </a:r>
                      <a:endParaRPr/>
                    </a:p>
                  </a:txBody>
                  <a:tcPr marT="45725" marB="45725" marR="91450" marL="91450"/>
                </a:tc>
              </a:tr>
              <a:tr h="3086975">
                <a:tc>
                  <a:txBody>
                    <a:bodyPr/>
                    <a:lstStyle/>
                    <a:p>
                      <a:pPr indent="0" lvl="0" marL="0" marR="0" rtl="0" algn="l">
                        <a:spcBef>
                          <a:spcPts val="0"/>
                        </a:spcBef>
                        <a:spcAft>
                          <a:spcPts val="0"/>
                        </a:spcAft>
                        <a:buNone/>
                      </a:pPr>
                      <a:r>
                        <a:rPr lang="en-IN" sz="2400"/>
                        <a:t>Find a determinant acceptor equivalent to M=({qo,q1,q2},{a,b}, δ,q0,{q2})</a:t>
                      </a:r>
                      <a:endParaRPr/>
                    </a:p>
                    <a:p>
                      <a:pPr indent="0" lvl="0" marL="0" marR="0" rtl="0" algn="l">
                        <a:spcBef>
                          <a:spcPts val="0"/>
                        </a:spcBef>
                        <a:spcAft>
                          <a:spcPts val="0"/>
                        </a:spcAft>
                        <a:buNone/>
                      </a:pPr>
                      <a:r>
                        <a:t/>
                      </a:r>
                      <a:endParaRPr sz="2400"/>
                    </a:p>
                    <a:p>
                      <a:pPr indent="0" lvl="0" marL="0" marR="0" rtl="0" algn="l">
                        <a:spcBef>
                          <a:spcPts val="0"/>
                        </a:spcBef>
                        <a:spcAft>
                          <a:spcPts val="0"/>
                        </a:spcAft>
                        <a:buNone/>
                      </a:pPr>
                      <a:r>
                        <a:rPr lang="en-IN" sz="2400"/>
                        <a:t>Transition Table-</a:t>
                      </a:r>
                      <a:endParaRPr/>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txBody>
                  <a:tcPr marT="45725" marB="45725" marR="91450" marL="91450"/>
                </a:tc>
              </a:tr>
            </a:tbl>
          </a:graphicData>
        </a:graphic>
      </p:graphicFrame>
      <p:graphicFrame>
        <p:nvGraphicFramePr>
          <p:cNvPr id="2707" name="Google Shape;2707;p204"/>
          <p:cNvGraphicFramePr/>
          <p:nvPr/>
        </p:nvGraphicFramePr>
        <p:xfrm>
          <a:off x="755576" y="3573016"/>
          <a:ext cx="3000000" cy="3000000"/>
        </p:xfrm>
        <a:graphic>
          <a:graphicData uri="http://schemas.openxmlformats.org/drawingml/2006/table">
            <a:tbl>
              <a:tblPr bandRow="1" firstRow="1">
                <a:noFill/>
                <a:tableStyleId>{1DD1F0B8-C0F4-4710-A24E-F3ACE173D476}</a:tableStyleId>
              </a:tblPr>
              <a:tblGrid>
                <a:gridCol w="2032000"/>
                <a:gridCol w="2032000"/>
                <a:gridCol w="20320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a</a:t>
                      </a:r>
                      <a:endParaRPr sz="1800"/>
                    </a:p>
                  </a:txBody>
                  <a:tcPr marT="45725" marB="45725" marR="91450" marL="91450"/>
                </a:tc>
                <a:tc>
                  <a:txBody>
                    <a:bodyPr/>
                    <a:lstStyle/>
                    <a:p>
                      <a:pPr indent="0" lvl="0" marL="0" marR="0" rtl="0" algn="l">
                        <a:spcBef>
                          <a:spcPts val="0"/>
                        </a:spcBef>
                        <a:spcAft>
                          <a:spcPts val="0"/>
                        </a:spcAft>
                        <a:buNone/>
                      </a:pPr>
                      <a:r>
                        <a:rPr lang="en-IN" sz="1800"/>
                        <a:t>b</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bl>
          </a:graphicData>
        </a:graphic>
      </p:graphicFrame>
      <p:cxnSp>
        <p:nvCxnSpPr>
          <p:cNvPr id="2708" name="Google Shape;2708;p204"/>
          <p:cNvCxnSpPr/>
          <p:nvPr/>
        </p:nvCxnSpPr>
        <p:spPr>
          <a:xfrm>
            <a:off x="395536" y="4077072"/>
            <a:ext cx="360040" cy="0"/>
          </a:xfrm>
          <a:prstGeom prst="straightConnector1">
            <a:avLst/>
          </a:prstGeom>
          <a:noFill/>
          <a:ln cap="flat" cmpd="sng" w="9525">
            <a:solidFill>
              <a:srgbClr val="4A7DBA"/>
            </a:solidFill>
            <a:prstDash val="solid"/>
            <a:round/>
            <a:headEnd len="sm" w="sm" type="none"/>
            <a:tailEnd len="med" w="med" type="stealth"/>
          </a:ln>
        </p:spPr>
      </p:cxnSp>
      <p:sp>
        <p:nvSpPr>
          <p:cNvPr id="2709" name="Google Shape;2709;p204"/>
          <p:cNvSpPr/>
          <p:nvPr/>
        </p:nvSpPr>
        <p:spPr>
          <a:xfrm>
            <a:off x="575556" y="4725144"/>
            <a:ext cx="900100" cy="36004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4" name="Shape 2714"/>
        <p:cNvGrpSpPr/>
        <p:nvPr/>
      </p:nvGrpSpPr>
      <p:grpSpPr>
        <a:xfrm>
          <a:off x="0" y="0"/>
          <a:ext cx="0" cy="0"/>
          <a:chOff x="0" y="0"/>
          <a:chExt cx="0" cy="0"/>
        </a:xfrm>
      </p:grpSpPr>
      <p:sp>
        <p:nvSpPr>
          <p:cNvPr id="2715" name="Google Shape;2715;p205"/>
          <p:cNvSpPr txBox="1"/>
          <p:nvPr>
            <p:ph type="title"/>
          </p:nvPr>
        </p:nvSpPr>
        <p:spPr>
          <a:xfrm>
            <a:off x="467544" y="0"/>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NDFA</a:t>
            </a:r>
            <a:endParaRPr/>
          </a:p>
        </p:txBody>
      </p:sp>
      <p:sp>
        <p:nvSpPr>
          <p:cNvPr id="2716" name="Google Shape;2716;p20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717" name="Google Shape;2717;p20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718" name="Google Shape;2718;p20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719" name="Google Shape;2719;p205"/>
          <p:cNvGraphicFramePr/>
          <p:nvPr/>
        </p:nvGraphicFramePr>
        <p:xfrm>
          <a:off x="611560" y="548680"/>
          <a:ext cx="3000000" cy="3000000"/>
        </p:xfrm>
        <a:graphic>
          <a:graphicData uri="http://schemas.openxmlformats.org/drawingml/2006/table">
            <a:tbl>
              <a:tblPr bandRow="1" firstRow="1">
                <a:noFill/>
                <a:tableStyleId>{1DD1F0B8-C0F4-4710-A24E-F3ACE173D476}</a:tableStyleId>
              </a:tblPr>
              <a:tblGrid>
                <a:gridCol w="7632850"/>
              </a:tblGrid>
              <a:tr h="5305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3</a:t>
                      </a:r>
                      <a:endParaRPr/>
                    </a:p>
                  </a:txBody>
                  <a:tcPr marT="45725" marB="45725" marR="91450" marL="91450"/>
                </a:tc>
              </a:tr>
              <a:tr h="5199300">
                <a:tc>
                  <a:txBody>
                    <a:bodyPr/>
                    <a:lstStyle/>
                    <a:p>
                      <a:pPr indent="0" lvl="0" marL="0" marR="0" rtl="0" algn="l">
                        <a:spcBef>
                          <a:spcPts val="0"/>
                        </a:spcBef>
                        <a:spcAft>
                          <a:spcPts val="0"/>
                        </a:spcAft>
                        <a:buNone/>
                      </a:pPr>
                      <a:r>
                        <a:rPr lang="en-IN" sz="2400"/>
                        <a:t>Transition Table of NDFA-</a:t>
                      </a:r>
                      <a:endParaRPr/>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lnSpc>
                          <a:spcPct val="100000"/>
                        </a:lnSpc>
                        <a:spcBef>
                          <a:spcPts val="0"/>
                        </a:spcBef>
                        <a:spcAft>
                          <a:spcPts val="0"/>
                        </a:spcAft>
                        <a:buClr>
                          <a:schemeClr val="dk1"/>
                        </a:buClr>
                        <a:buSzPts val="2400"/>
                        <a:buFont typeface="Calibri"/>
                        <a:buNone/>
                      </a:pPr>
                      <a:r>
                        <a:t/>
                      </a:r>
                      <a:endParaRPr sz="2400"/>
                    </a:p>
                    <a:p>
                      <a:pPr indent="0" lvl="0" marL="0" marR="0" rtl="0" algn="l">
                        <a:lnSpc>
                          <a:spcPct val="100000"/>
                        </a:lnSpc>
                        <a:spcBef>
                          <a:spcPts val="0"/>
                        </a:spcBef>
                        <a:spcAft>
                          <a:spcPts val="0"/>
                        </a:spcAft>
                        <a:buClr>
                          <a:schemeClr val="dk1"/>
                        </a:buClr>
                        <a:buSzPts val="2400"/>
                        <a:buFont typeface="Calibri"/>
                        <a:buNone/>
                      </a:pPr>
                      <a:r>
                        <a:rPr lang="en-IN" sz="2400"/>
                        <a:t>Transition Table of DFA-</a:t>
                      </a:r>
                      <a:endParaRPr/>
                    </a:p>
                    <a:p>
                      <a:pPr indent="0" lvl="0" marL="0" marR="0" rtl="0" algn="l">
                        <a:lnSpc>
                          <a:spcPct val="100000"/>
                        </a:lnSpc>
                        <a:spcBef>
                          <a:spcPts val="0"/>
                        </a:spcBef>
                        <a:spcAft>
                          <a:spcPts val="0"/>
                        </a:spcAft>
                        <a:buClr>
                          <a:schemeClr val="dk1"/>
                        </a:buClr>
                        <a:buSzPts val="2400"/>
                        <a:buFont typeface="Calibri"/>
                        <a:buNone/>
                      </a:pPr>
                      <a:r>
                        <a:rPr lang="en-IN" sz="2400"/>
                        <a:t>Need not construct δ for all these 2</a:t>
                      </a:r>
                      <a:r>
                        <a:rPr baseline="30000" lang="en-IN" sz="2400"/>
                        <a:t>Q</a:t>
                      </a:r>
                      <a:r>
                        <a:rPr lang="en-IN" sz="2400"/>
                        <a:t> states , </a:t>
                      </a:r>
                      <a:r>
                        <a:rPr lang="en-IN" sz="2400">
                          <a:solidFill>
                            <a:srgbClr val="FF0000"/>
                          </a:solidFill>
                        </a:rPr>
                        <a:t>But for all states reachable from q0</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rgbClr val="FF0000"/>
                        </a:solidFill>
                      </a:endParaRPr>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txBody>
                  <a:tcPr marT="45725" marB="45725" marR="91450" marL="91450"/>
                </a:tc>
              </a:tr>
            </a:tbl>
          </a:graphicData>
        </a:graphic>
      </p:graphicFrame>
      <p:graphicFrame>
        <p:nvGraphicFramePr>
          <p:cNvPr id="2720" name="Google Shape;2720;p205"/>
          <p:cNvGraphicFramePr/>
          <p:nvPr/>
        </p:nvGraphicFramePr>
        <p:xfrm>
          <a:off x="899592" y="1628800"/>
          <a:ext cx="3000000" cy="3000000"/>
        </p:xfrm>
        <a:graphic>
          <a:graphicData uri="http://schemas.openxmlformats.org/drawingml/2006/table">
            <a:tbl>
              <a:tblPr bandRow="1" firstRow="1">
                <a:noFill/>
                <a:tableStyleId>{1DD1F0B8-C0F4-4710-A24E-F3ACE173D476}</a:tableStyleId>
              </a:tblPr>
              <a:tblGrid>
                <a:gridCol w="1984000"/>
                <a:gridCol w="1984000"/>
                <a:gridCol w="1984000"/>
              </a:tblGrid>
              <a:tr h="252025">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a</a:t>
                      </a:r>
                      <a:endParaRPr sz="1800"/>
                    </a:p>
                  </a:txBody>
                  <a:tcPr marT="45725" marB="45725" marR="91450" marL="91450"/>
                </a:tc>
                <a:tc>
                  <a:txBody>
                    <a:bodyPr/>
                    <a:lstStyle/>
                    <a:p>
                      <a:pPr indent="0" lvl="0" marL="0" marR="0" rtl="0" algn="l">
                        <a:spcBef>
                          <a:spcPts val="0"/>
                        </a:spcBef>
                        <a:spcAft>
                          <a:spcPts val="0"/>
                        </a:spcAft>
                        <a:buNone/>
                      </a:pPr>
                      <a:r>
                        <a:rPr lang="en-IN" sz="1800"/>
                        <a:t>b</a:t>
                      </a:r>
                      <a:endParaRPr sz="1800"/>
                    </a:p>
                  </a:txBody>
                  <a:tcPr marT="45725" marB="45725" marR="91450" marL="91450"/>
                </a:tc>
              </a:tr>
              <a:tr h="252025">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r>
              <a:tr h="252025">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r>
              <a:tr h="252025">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bl>
          </a:graphicData>
        </a:graphic>
      </p:graphicFrame>
      <p:cxnSp>
        <p:nvCxnSpPr>
          <p:cNvPr id="2721" name="Google Shape;2721;p205"/>
          <p:cNvCxnSpPr/>
          <p:nvPr/>
        </p:nvCxnSpPr>
        <p:spPr>
          <a:xfrm>
            <a:off x="539552" y="2204864"/>
            <a:ext cx="360040" cy="0"/>
          </a:xfrm>
          <a:prstGeom prst="straightConnector1">
            <a:avLst/>
          </a:prstGeom>
          <a:noFill/>
          <a:ln cap="flat" cmpd="sng" w="9525">
            <a:solidFill>
              <a:srgbClr val="4A7DBA"/>
            </a:solidFill>
            <a:prstDash val="solid"/>
            <a:round/>
            <a:headEnd len="sm" w="sm" type="none"/>
            <a:tailEnd len="med" w="med" type="stealth"/>
          </a:ln>
        </p:spPr>
      </p:cxnSp>
      <p:sp>
        <p:nvSpPr>
          <p:cNvPr id="2722" name="Google Shape;2722;p205"/>
          <p:cNvSpPr/>
          <p:nvPr/>
        </p:nvSpPr>
        <p:spPr>
          <a:xfrm>
            <a:off x="647564" y="2708920"/>
            <a:ext cx="900100" cy="36004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7" name="Shape 2727"/>
        <p:cNvGrpSpPr/>
        <p:nvPr/>
      </p:nvGrpSpPr>
      <p:grpSpPr>
        <a:xfrm>
          <a:off x="0" y="0"/>
          <a:ext cx="0" cy="0"/>
          <a:chOff x="0" y="0"/>
          <a:chExt cx="0" cy="0"/>
        </a:xfrm>
      </p:grpSpPr>
      <p:sp>
        <p:nvSpPr>
          <p:cNvPr id="2728" name="Google Shape;2728;p206"/>
          <p:cNvSpPr txBox="1"/>
          <p:nvPr>
            <p:ph type="title"/>
          </p:nvPr>
        </p:nvSpPr>
        <p:spPr>
          <a:xfrm>
            <a:off x="467544" y="0"/>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NDFA</a:t>
            </a:r>
            <a:endParaRPr/>
          </a:p>
        </p:txBody>
      </p:sp>
      <p:sp>
        <p:nvSpPr>
          <p:cNvPr id="2729" name="Google Shape;2729;p20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730" name="Google Shape;2730;p20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731" name="Google Shape;2731;p20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732" name="Google Shape;2732;p206"/>
          <p:cNvGraphicFramePr/>
          <p:nvPr/>
        </p:nvGraphicFramePr>
        <p:xfrm>
          <a:off x="611560" y="548680"/>
          <a:ext cx="3000000" cy="3000000"/>
        </p:xfrm>
        <a:graphic>
          <a:graphicData uri="http://schemas.openxmlformats.org/drawingml/2006/table">
            <a:tbl>
              <a:tblPr bandRow="1" firstRow="1">
                <a:noFill/>
                <a:tableStyleId>{1DD1F0B8-C0F4-4710-A24E-F3ACE173D476}</a:tableStyleId>
              </a:tblPr>
              <a:tblGrid>
                <a:gridCol w="7632850"/>
              </a:tblGrid>
              <a:tr h="5305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3</a:t>
                      </a:r>
                      <a:endParaRPr/>
                    </a:p>
                  </a:txBody>
                  <a:tcPr marT="45725" marB="45725" marR="91450" marL="91450"/>
                </a:tc>
              </a:tr>
              <a:tr h="5199300">
                <a:tc>
                  <a:txBody>
                    <a:bodyPr/>
                    <a:lstStyle/>
                    <a:p>
                      <a:pPr indent="0" lvl="0" marL="0" marR="0" rtl="0" algn="l">
                        <a:spcBef>
                          <a:spcPts val="0"/>
                        </a:spcBef>
                        <a:spcAft>
                          <a:spcPts val="0"/>
                        </a:spcAft>
                        <a:buNone/>
                      </a:pPr>
                      <a:r>
                        <a:rPr lang="en-IN" sz="2400"/>
                        <a:t>Transition Table of NDFA-</a:t>
                      </a:r>
                      <a:endParaRPr/>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lnSpc>
                          <a:spcPct val="100000"/>
                        </a:lnSpc>
                        <a:spcBef>
                          <a:spcPts val="0"/>
                        </a:spcBef>
                        <a:spcAft>
                          <a:spcPts val="0"/>
                        </a:spcAft>
                        <a:buClr>
                          <a:schemeClr val="dk1"/>
                        </a:buClr>
                        <a:buSzPts val="2400"/>
                        <a:buFont typeface="Calibri"/>
                        <a:buNone/>
                      </a:pPr>
                      <a:r>
                        <a:t/>
                      </a:r>
                      <a:endParaRPr sz="2400"/>
                    </a:p>
                    <a:p>
                      <a:pPr indent="0" lvl="0" marL="0" marR="0" rtl="0" algn="l">
                        <a:lnSpc>
                          <a:spcPct val="100000"/>
                        </a:lnSpc>
                        <a:spcBef>
                          <a:spcPts val="0"/>
                        </a:spcBef>
                        <a:spcAft>
                          <a:spcPts val="0"/>
                        </a:spcAft>
                        <a:buClr>
                          <a:schemeClr val="dk1"/>
                        </a:buClr>
                        <a:buSzPts val="2400"/>
                        <a:buFont typeface="Calibri"/>
                        <a:buNone/>
                      </a:pPr>
                      <a:r>
                        <a:rPr lang="en-IN" sz="2400"/>
                        <a:t>Transition Table of DFA-</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rgbClr val="FF0000"/>
                        </a:solidFill>
                      </a:endParaRPr>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txBody>
                  <a:tcPr marT="45725" marB="45725" marR="91450" marL="91450"/>
                </a:tc>
              </a:tr>
            </a:tbl>
          </a:graphicData>
        </a:graphic>
      </p:graphicFrame>
      <p:graphicFrame>
        <p:nvGraphicFramePr>
          <p:cNvPr id="2733" name="Google Shape;2733;p206"/>
          <p:cNvGraphicFramePr/>
          <p:nvPr/>
        </p:nvGraphicFramePr>
        <p:xfrm>
          <a:off x="899591" y="1484784"/>
          <a:ext cx="3000000" cy="3000000"/>
        </p:xfrm>
        <a:graphic>
          <a:graphicData uri="http://schemas.openxmlformats.org/drawingml/2006/table">
            <a:tbl>
              <a:tblPr bandRow="1" firstRow="1">
                <a:noFill/>
                <a:tableStyleId>{1DD1F0B8-C0F4-4710-A24E-F3ACE173D476}</a:tableStyleId>
              </a:tblPr>
              <a:tblGrid>
                <a:gridCol w="1984000"/>
                <a:gridCol w="1984000"/>
                <a:gridCol w="1984000"/>
              </a:tblGrid>
              <a:tr h="252025">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a</a:t>
                      </a:r>
                      <a:endParaRPr sz="1800"/>
                    </a:p>
                  </a:txBody>
                  <a:tcPr marT="45725" marB="45725" marR="91450" marL="91450"/>
                </a:tc>
                <a:tc>
                  <a:txBody>
                    <a:bodyPr/>
                    <a:lstStyle/>
                    <a:p>
                      <a:pPr indent="0" lvl="0" marL="0" marR="0" rtl="0" algn="l">
                        <a:spcBef>
                          <a:spcPts val="0"/>
                        </a:spcBef>
                        <a:spcAft>
                          <a:spcPts val="0"/>
                        </a:spcAft>
                        <a:buNone/>
                      </a:pPr>
                      <a:r>
                        <a:rPr lang="en-IN" sz="1800"/>
                        <a:t>b</a:t>
                      </a:r>
                      <a:endParaRPr sz="1800"/>
                    </a:p>
                  </a:txBody>
                  <a:tcPr marT="45725" marB="45725" marR="91450" marL="91450"/>
                </a:tc>
              </a:tr>
              <a:tr h="252025">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r>
              <a:tr h="252025">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r>
              <a:tr h="252025">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bl>
          </a:graphicData>
        </a:graphic>
      </p:graphicFrame>
      <p:graphicFrame>
        <p:nvGraphicFramePr>
          <p:cNvPr id="2734" name="Google Shape;2734;p206"/>
          <p:cNvGraphicFramePr/>
          <p:nvPr/>
        </p:nvGraphicFramePr>
        <p:xfrm>
          <a:off x="827584" y="3789040"/>
          <a:ext cx="3000000" cy="3000000"/>
        </p:xfrm>
        <a:graphic>
          <a:graphicData uri="http://schemas.openxmlformats.org/drawingml/2006/table">
            <a:tbl>
              <a:tblPr bandRow="1" firstRow="1">
                <a:noFill/>
                <a:tableStyleId>{1DD1F0B8-C0F4-4710-A24E-F3ACE173D476}</a:tableStyleId>
              </a:tblPr>
              <a:tblGrid>
                <a:gridCol w="2032000"/>
                <a:gridCol w="2032000"/>
                <a:gridCol w="20320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a</a:t>
                      </a:r>
                      <a:endParaRPr sz="1800"/>
                    </a:p>
                  </a:txBody>
                  <a:tcPr marT="45725" marB="45725" marR="91450" marL="91450"/>
                </a:tc>
                <a:tc>
                  <a:txBody>
                    <a:bodyPr/>
                    <a:lstStyle/>
                    <a:p>
                      <a:pPr indent="0" lvl="0" marL="0" marR="0" rtl="0" algn="l">
                        <a:spcBef>
                          <a:spcPts val="0"/>
                        </a:spcBef>
                        <a:spcAft>
                          <a:spcPts val="0"/>
                        </a:spcAft>
                        <a:buNone/>
                      </a:pPr>
                      <a:r>
                        <a:rPr lang="en-IN" sz="1800"/>
                        <a:t>b</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r>
              <a:tr h="370850">
                <a:tc>
                  <a:txBody>
                    <a:bodyPr/>
                    <a:lstStyle/>
                    <a:p>
                      <a:pPr indent="0" lvl="0" marL="0" marR="0" rtl="0" algn="l">
                        <a:spcBef>
                          <a:spcPts val="0"/>
                        </a:spcBef>
                        <a:spcAft>
                          <a:spcPts val="0"/>
                        </a:spcAft>
                        <a:buNone/>
                      </a:pPr>
                      <a:r>
                        <a:rPr lang="en-IN" sz="1800"/>
                        <a:t>{q0,q1}</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c>
                  <a:txBody>
                    <a:bodyPr/>
                    <a:lstStyle/>
                    <a:p>
                      <a:pPr indent="0" lvl="0" marL="0" marR="0" rtl="0" algn="l">
                        <a:spcBef>
                          <a:spcPts val="0"/>
                        </a:spcBef>
                        <a:spcAft>
                          <a:spcPts val="0"/>
                        </a:spcAft>
                        <a:buNone/>
                      </a:pPr>
                      <a:r>
                        <a:rPr lang="en-IN" sz="1800"/>
                        <a:t>{q1,q2}</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ø</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r h="370850">
                <a:tc>
                  <a:txBody>
                    <a:bodyPr/>
                    <a:lstStyle/>
                    <a:p>
                      <a:pPr indent="0" lvl="0" marL="0" marR="0" rtl="0" algn="l">
                        <a:spcBef>
                          <a:spcPts val="0"/>
                        </a:spcBef>
                        <a:spcAft>
                          <a:spcPts val="0"/>
                        </a:spcAft>
                        <a:buNone/>
                      </a:pPr>
                      <a:r>
                        <a:rPr lang="en-IN" sz="1800"/>
                        <a:t>{q1,q2}</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bl>
          </a:graphicData>
        </a:graphic>
      </p:graphicFrame>
      <p:cxnSp>
        <p:nvCxnSpPr>
          <p:cNvPr id="2735" name="Google Shape;2735;p206"/>
          <p:cNvCxnSpPr/>
          <p:nvPr/>
        </p:nvCxnSpPr>
        <p:spPr>
          <a:xfrm>
            <a:off x="395536" y="4365104"/>
            <a:ext cx="360040" cy="0"/>
          </a:xfrm>
          <a:prstGeom prst="straightConnector1">
            <a:avLst/>
          </a:prstGeom>
          <a:noFill/>
          <a:ln cap="flat" cmpd="sng" w="9525">
            <a:solidFill>
              <a:srgbClr val="4A7DBA"/>
            </a:solidFill>
            <a:prstDash val="solid"/>
            <a:round/>
            <a:headEnd len="sm" w="sm" type="none"/>
            <a:tailEnd len="med" w="med" type="stealth"/>
          </a:ln>
        </p:spPr>
      </p:cxnSp>
      <p:cxnSp>
        <p:nvCxnSpPr>
          <p:cNvPr id="2736" name="Google Shape;2736;p206"/>
          <p:cNvCxnSpPr/>
          <p:nvPr/>
        </p:nvCxnSpPr>
        <p:spPr>
          <a:xfrm>
            <a:off x="539552" y="2060848"/>
            <a:ext cx="360040" cy="0"/>
          </a:xfrm>
          <a:prstGeom prst="straightConnector1">
            <a:avLst/>
          </a:prstGeom>
          <a:noFill/>
          <a:ln cap="flat" cmpd="sng" w="9525">
            <a:solidFill>
              <a:srgbClr val="4A7DBA"/>
            </a:solidFill>
            <a:prstDash val="solid"/>
            <a:round/>
            <a:headEnd len="sm" w="sm" type="none"/>
            <a:tailEnd len="med" w="med" type="stealth"/>
          </a:ln>
        </p:spPr>
      </p:cxnSp>
      <p:sp>
        <p:nvSpPr>
          <p:cNvPr id="2737" name="Google Shape;2737;p206"/>
          <p:cNvSpPr/>
          <p:nvPr/>
        </p:nvSpPr>
        <p:spPr>
          <a:xfrm>
            <a:off x="719572" y="2636912"/>
            <a:ext cx="900100" cy="36004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8" name="Google Shape;2738;p206"/>
          <p:cNvSpPr/>
          <p:nvPr/>
        </p:nvSpPr>
        <p:spPr>
          <a:xfrm>
            <a:off x="647564" y="4869160"/>
            <a:ext cx="900100" cy="36004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9" name="Google Shape;2739;p206"/>
          <p:cNvSpPr/>
          <p:nvPr/>
        </p:nvSpPr>
        <p:spPr>
          <a:xfrm>
            <a:off x="719572" y="5301208"/>
            <a:ext cx="900100" cy="36004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4" name="Shape 2744"/>
        <p:cNvGrpSpPr/>
        <p:nvPr/>
      </p:nvGrpSpPr>
      <p:grpSpPr>
        <a:xfrm>
          <a:off x="0" y="0"/>
          <a:ext cx="0" cy="0"/>
          <a:chOff x="0" y="0"/>
          <a:chExt cx="0" cy="0"/>
        </a:xfrm>
      </p:grpSpPr>
      <p:sp>
        <p:nvSpPr>
          <p:cNvPr id="2745" name="Google Shape;2745;p207"/>
          <p:cNvSpPr txBox="1"/>
          <p:nvPr>
            <p:ph type="title"/>
          </p:nvPr>
        </p:nvSpPr>
        <p:spPr>
          <a:xfrm>
            <a:off x="467544" y="0"/>
            <a:ext cx="8229600" cy="4900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NDFA</a:t>
            </a:r>
            <a:endParaRPr/>
          </a:p>
        </p:txBody>
      </p:sp>
      <p:sp>
        <p:nvSpPr>
          <p:cNvPr id="2746" name="Google Shape;2746;p20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747" name="Google Shape;2747;p20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748" name="Google Shape;2748;p20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749" name="Google Shape;2749;p207"/>
          <p:cNvGraphicFramePr/>
          <p:nvPr/>
        </p:nvGraphicFramePr>
        <p:xfrm>
          <a:off x="611560" y="548680"/>
          <a:ext cx="3000000" cy="3000000"/>
        </p:xfrm>
        <a:graphic>
          <a:graphicData uri="http://schemas.openxmlformats.org/drawingml/2006/table">
            <a:tbl>
              <a:tblPr bandRow="1" firstRow="1">
                <a:noFill/>
                <a:tableStyleId>{1DD1F0B8-C0F4-4710-A24E-F3ACE173D476}</a:tableStyleId>
              </a:tblPr>
              <a:tblGrid>
                <a:gridCol w="7632850"/>
              </a:tblGrid>
              <a:tr h="5305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3</a:t>
                      </a:r>
                      <a:endParaRPr/>
                    </a:p>
                  </a:txBody>
                  <a:tcPr marT="45725" marB="45725" marR="91450" marL="91450"/>
                </a:tc>
              </a:tr>
              <a:tr h="5199300">
                <a:tc>
                  <a:txBody>
                    <a:bodyPr/>
                    <a:lstStyle/>
                    <a:p>
                      <a:pPr indent="0" lvl="0" marL="0" marR="0" rtl="0" algn="l">
                        <a:lnSpc>
                          <a:spcPct val="100000"/>
                        </a:lnSpc>
                        <a:spcBef>
                          <a:spcPts val="0"/>
                        </a:spcBef>
                        <a:spcAft>
                          <a:spcPts val="0"/>
                        </a:spcAft>
                        <a:buClr>
                          <a:schemeClr val="dk1"/>
                        </a:buClr>
                        <a:buSzPts val="2400"/>
                        <a:buFont typeface="Calibri"/>
                        <a:buNone/>
                      </a:pPr>
                      <a:r>
                        <a:rPr lang="en-IN" sz="2400"/>
                        <a:t>Transition Table of DFA-</a:t>
                      </a:r>
                      <a:endParaRPr/>
                    </a:p>
                    <a:p>
                      <a:pPr indent="0" lvl="0" marL="0" marR="0" rtl="0" algn="l">
                        <a:lnSpc>
                          <a:spcPct val="100000"/>
                        </a:lnSpc>
                        <a:spcBef>
                          <a:spcPts val="0"/>
                        </a:spcBef>
                        <a:spcAft>
                          <a:spcPts val="0"/>
                        </a:spcAft>
                        <a:buClr>
                          <a:schemeClr val="dk1"/>
                        </a:buClr>
                        <a:buSzPts val="2400"/>
                        <a:buFont typeface="Calibri"/>
                        <a:buNone/>
                      </a:pPr>
                      <a:r>
                        <a:t/>
                      </a:r>
                      <a:endParaRPr sz="2400">
                        <a:solidFill>
                          <a:srgbClr val="FF0000"/>
                        </a:solidFill>
                      </a:endParaRPr>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txBody>
                  <a:tcPr marT="45725" marB="45725" marR="91450" marL="91450"/>
                </a:tc>
              </a:tr>
            </a:tbl>
          </a:graphicData>
        </a:graphic>
      </p:graphicFrame>
      <p:graphicFrame>
        <p:nvGraphicFramePr>
          <p:cNvPr id="2750" name="Google Shape;2750;p207"/>
          <p:cNvGraphicFramePr/>
          <p:nvPr/>
        </p:nvGraphicFramePr>
        <p:xfrm>
          <a:off x="770143" y="1556792"/>
          <a:ext cx="3000000" cy="3000000"/>
        </p:xfrm>
        <a:graphic>
          <a:graphicData uri="http://schemas.openxmlformats.org/drawingml/2006/table">
            <a:tbl>
              <a:tblPr bandRow="1" firstRow="1">
                <a:noFill/>
                <a:tableStyleId>{1DD1F0B8-C0F4-4710-A24E-F3ACE173D476}</a:tableStyleId>
              </a:tblPr>
              <a:tblGrid>
                <a:gridCol w="2032000"/>
                <a:gridCol w="2032000"/>
                <a:gridCol w="20320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a</a:t>
                      </a:r>
                      <a:endParaRPr sz="1800"/>
                    </a:p>
                  </a:txBody>
                  <a:tcPr marT="45725" marB="45725" marR="91450" marL="91450"/>
                </a:tc>
                <a:tc>
                  <a:txBody>
                    <a:bodyPr/>
                    <a:lstStyle/>
                    <a:p>
                      <a:pPr indent="0" lvl="0" marL="0" marR="0" rtl="0" algn="l">
                        <a:spcBef>
                          <a:spcPts val="0"/>
                        </a:spcBef>
                        <a:spcAft>
                          <a:spcPts val="0"/>
                        </a:spcAft>
                        <a:buNone/>
                      </a:pPr>
                      <a:r>
                        <a:rPr lang="en-IN" sz="1800"/>
                        <a:t>b</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r>
              <a:tr h="370850">
                <a:tc>
                  <a:txBody>
                    <a:bodyPr/>
                    <a:lstStyle/>
                    <a:p>
                      <a:pPr indent="0" lvl="0" marL="0" marR="0" rtl="0" algn="l">
                        <a:spcBef>
                          <a:spcPts val="0"/>
                        </a:spcBef>
                        <a:spcAft>
                          <a:spcPts val="0"/>
                        </a:spcAft>
                        <a:buNone/>
                      </a:pPr>
                      <a:r>
                        <a:rPr lang="en-IN" sz="1800"/>
                        <a:t>{q0,q1}</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c>
                  <a:txBody>
                    <a:bodyPr/>
                    <a:lstStyle/>
                    <a:p>
                      <a:pPr indent="0" lvl="0" marL="0" marR="0" rtl="0" algn="l">
                        <a:spcBef>
                          <a:spcPts val="0"/>
                        </a:spcBef>
                        <a:spcAft>
                          <a:spcPts val="0"/>
                        </a:spcAft>
                        <a:buNone/>
                      </a:pPr>
                      <a:r>
                        <a:rPr lang="en-IN" sz="1800"/>
                        <a:t>{q1,q2}</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ø</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r h="370850">
                <a:tc>
                  <a:txBody>
                    <a:bodyPr/>
                    <a:lstStyle/>
                    <a:p>
                      <a:pPr indent="0" lvl="0" marL="0" marR="0" rtl="0" algn="l">
                        <a:spcBef>
                          <a:spcPts val="0"/>
                        </a:spcBef>
                        <a:spcAft>
                          <a:spcPts val="0"/>
                        </a:spcAft>
                        <a:buNone/>
                      </a:pPr>
                      <a:r>
                        <a:rPr lang="en-IN" sz="1800"/>
                        <a:t>{q1,q2}</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r>
            </a:tbl>
          </a:graphicData>
        </a:graphic>
      </p:graphicFrame>
      <p:grpSp>
        <p:nvGrpSpPr>
          <p:cNvPr id="2751" name="Google Shape;2751;p207"/>
          <p:cNvGrpSpPr/>
          <p:nvPr/>
        </p:nvGrpSpPr>
        <p:grpSpPr>
          <a:xfrm>
            <a:off x="485546" y="2132856"/>
            <a:ext cx="1224136" cy="1296144"/>
            <a:chOff x="395536" y="4365104"/>
            <a:chExt cx="1224136" cy="1296144"/>
          </a:xfrm>
        </p:grpSpPr>
        <p:cxnSp>
          <p:nvCxnSpPr>
            <p:cNvPr id="2752" name="Google Shape;2752;p207"/>
            <p:cNvCxnSpPr/>
            <p:nvPr/>
          </p:nvCxnSpPr>
          <p:spPr>
            <a:xfrm>
              <a:off x="395536" y="4365104"/>
              <a:ext cx="360040" cy="0"/>
            </a:xfrm>
            <a:prstGeom prst="straightConnector1">
              <a:avLst/>
            </a:prstGeom>
            <a:noFill/>
            <a:ln cap="flat" cmpd="sng" w="9525">
              <a:solidFill>
                <a:srgbClr val="4A7DBA"/>
              </a:solidFill>
              <a:prstDash val="solid"/>
              <a:round/>
              <a:headEnd len="sm" w="sm" type="none"/>
              <a:tailEnd len="med" w="med" type="stealth"/>
            </a:ln>
          </p:spPr>
        </p:cxnSp>
        <p:sp>
          <p:nvSpPr>
            <p:cNvPr id="2753" name="Google Shape;2753;p207"/>
            <p:cNvSpPr/>
            <p:nvPr/>
          </p:nvSpPr>
          <p:spPr>
            <a:xfrm>
              <a:off x="647564" y="4869160"/>
              <a:ext cx="900100" cy="36004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54" name="Google Shape;2754;p207"/>
            <p:cNvSpPr/>
            <p:nvPr/>
          </p:nvSpPr>
          <p:spPr>
            <a:xfrm>
              <a:off x="719572" y="5301208"/>
              <a:ext cx="900100" cy="36004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755" name="Google Shape;2755;p207"/>
          <p:cNvSpPr/>
          <p:nvPr/>
        </p:nvSpPr>
        <p:spPr>
          <a:xfrm>
            <a:off x="1979712" y="4770440"/>
            <a:ext cx="1440160"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{q0,q1}</a:t>
            </a:r>
            <a:endParaRPr sz="1800">
              <a:solidFill>
                <a:schemeClr val="lt1"/>
              </a:solidFill>
              <a:latin typeface="Calibri"/>
              <a:ea typeface="Calibri"/>
              <a:cs typeface="Calibri"/>
              <a:sym typeface="Calibri"/>
            </a:endParaRPr>
          </a:p>
        </p:txBody>
      </p:sp>
      <p:grpSp>
        <p:nvGrpSpPr>
          <p:cNvPr id="2756" name="Google Shape;2756;p207"/>
          <p:cNvGrpSpPr/>
          <p:nvPr/>
        </p:nvGrpSpPr>
        <p:grpSpPr>
          <a:xfrm>
            <a:off x="6948264" y="4754761"/>
            <a:ext cx="1642514" cy="792088"/>
            <a:chOff x="2771800" y="4941168"/>
            <a:chExt cx="936104" cy="792088"/>
          </a:xfrm>
        </p:grpSpPr>
        <p:sp>
          <p:nvSpPr>
            <p:cNvPr id="2757" name="Google Shape;2757;p207"/>
            <p:cNvSpPr/>
            <p:nvPr/>
          </p:nvSpPr>
          <p:spPr>
            <a:xfrm>
              <a:off x="2771800" y="4941168"/>
              <a:ext cx="936104" cy="792088"/>
            </a:xfrm>
            <a:prstGeom prst="ellipse">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58" name="Google Shape;2758;p207"/>
            <p:cNvSpPr/>
            <p:nvPr/>
          </p:nvSpPr>
          <p:spPr>
            <a:xfrm>
              <a:off x="2870337" y="5085184"/>
              <a:ext cx="759559"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1600">
                  <a:solidFill>
                    <a:schemeClr val="lt1"/>
                  </a:solidFill>
                  <a:latin typeface="Calibri"/>
                  <a:ea typeface="Calibri"/>
                  <a:cs typeface="Calibri"/>
                  <a:sym typeface="Calibri"/>
                </a:rPr>
                <a:t>{q1,q2}</a:t>
              </a:r>
              <a:endParaRPr b="1" sz="1800">
                <a:solidFill>
                  <a:schemeClr val="lt1"/>
                </a:solidFill>
                <a:latin typeface="Calibri"/>
                <a:ea typeface="Calibri"/>
                <a:cs typeface="Calibri"/>
                <a:sym typeface="Calibri"/>
              </a:endParaRPr>
            </a:p>
          </p:txBody>
        </p:sp>
      </p:grpSp>
      <p:grpSp>
        <p:nvGrpSpPr>
          <p:cNvPr id="2759" name="Google Shape;2759;p207"/>
          <p:cNvGrpSpPr/>
          <p:nvPr/>
        </p:nvGrpSpPr>
        <p:grpSpPr>
          <a:xfrm>
            <a:off x="4696053" y="4709287"/>
            <a:ext cx="1346572" cy="792088"/>
            <a:chOff x="1942906" y="4707724"/>
            <a:chExt cx="1260942" cy="792088"/>
          </a:xfrm>
        </p:grpSpPr>
        <p:sp>
          <p:nvSpPr>
            <p:cNvPr id="2760" name="Google Shape;2760;p207"/>
            <p:cNvSpPr/>
            <p:nvPr/>
          </p:nvSpPr>
          <p:spPr>
            <a:xfrm>
              <a:off x="1942906" y="4707724"/>
              <a:ext cx="1260942" cy="792088"/>
            </a:xfrm>
            <a:prstGeom prst="ellipse">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1" name="Google Shape;2761;p207"/>
            <p:cNvSpPr/>
            <p:nvPr/>
          </p:nvSpPr>
          <p:spPr>
            <a:xfrm>
              <a:off x="2163887" y="4831415"/>
              <a:ext cx="894469"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{q2}</a:t>
              </a:r>
              <a:endParaRPr sz="1800">
                <a:solidFill>
                  <a:schemeClr val="lt1"/>
                </a:solidFill>
                <a:latin typeface="Calibri"/>
                <a:ea typeface="Calibri"/>
                <a:cs typeface="Calibri"/>
                <a:sym typeface="Calibri"/>
              </a:endParaRPr>
            </a:p>
          </p:txBody>
        </p:sp>
      </p:grpSp>
      <p:cxnSp>
        <p:nvCxnSpPr>
          <p:cNvPr id="2762" name="Google Shape;2762;p207"/>
          <p:cNvCxnSpPr/>
          <p:nvPr/>
        </p:nvCxnSpPr>
        <p:spPr>
          <a:xfrm>
            <a:off x="1115616" y="5085184"/>
            <a:ext cx="864096" cy="0"/>
          </a:xfrm>
          <a:prstGeom prst="straightConnector1">
            <a:avLst/>
          </a:prstGeom>
          <a:noFill/>
          <a:ln cap="flat" cmpd="sng" w="9525">
            <a:solidFill>
              <a:srgbClr val="4A7DBA"/>
            </a:solidFill>
            <a:prstDash val="solid"/>
            <a:round/>
            <a:headEnd len="sm" w="sm" type="none"/>
            <a:tailEnd len="med" w="med" type="stealth"/>
          </a:ln>
        </p:spPr>
      </p:cxnSp>
      <p:sp>
        <p:nvSpPr>
          <p:cNvPr id="2763" name="Google Shape;2763;p207"/>
          <p:cNvSpPr/>
          <p:nvPr/>
        </p:nvSpPr>
        <p:spPr>
          <a:xfrm>
            <a:off x="184207" y="470307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{q0}</a:t>
            </a:r>
            <a:endParaRPr sz="1800">
              <a:solidFill>
                <a:schemeClr val="lt1"/>
              </a:solidFill>
              <a:latin typeface="Calibri"/>
              <a:ea typeface="Calibri"/>
              <a:cs typeface="Calibri"/>
              <a:sym typeface="Calibri"/>
            </a:endParaRPr>
          </a:p>
        </p:txBody>
      </p:sp>
      <p:sp>
        <p:nvSpPr>
          <p:cNvPr id="2764" name="Google Shape;2764;p207"/>
          <p:cNvSpPr txBox="1"/>
          <p:nvPr/>
        </p:nvSpPr>
        <p:spPr>
          <a:xfrm>
            <a:off x="1475255" y="4642103"/>
            <a:ext cx="2984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a</a:t>
            </a:r>
            <a:endParaRPr b="1" sz="1800">
              <a:solidFill>
                <a:schemeClr val="dk1"/>
              </a:solidFill>
              <a:latin typeface="Calibri"/>
              <a:ea typeface="Calibri"/>
              <a:cs typeface="Calibri"/>
              <a:sym typeface="Calibri"/>
            </a:endParaRPr>
          </a:p>
        </p:txBody>
      </p:sp>
      <p:sp>
        <p:nvSpPr>
          <p:cNvPr id="2765" name="Google Shape;2765;p207"/>
          <p:cNvSpPr txBox="1"/>
          <p:nvPr/>
        </p:nvSpPr>
        <p:spPr>
          <a:xfrm>
            <a:off x="2552155" y="6015287"/>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a:p>
        </p:txBody>
      </p:sp>
      <p:sp>
        <p:nvSpPr>
          <p:cNvPr id="2766" name="Google Shape;2766;p207"/>
          <p:cNvSpPr/>
          <p:nvPr/>
        </p:nvSpPr>
        <p:spPr>
          <a:xfrm>
            <a:off x="2424569" y="5460032"/>
            <a:ext cx="628887" cy="546447"/>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767" name="Google Shape;2767;p207"/>
          <p:cNvCxnSpPr/>
          <p:nvPr/>
        </p:nvCxnSpPr>
        <p:spPr>
          <a:xfrm>
            <a:off x="-134986" y="5011435"/>
            <a:ext cx="355171" cy="0"/>
          </a:xfrm>
          <a:prstGeom prst="straightConnector1">
            <a:avLst/>
          </a:prstGeom>
          <a:noFill/>
          <a:ln cap="flat" cmpd="sng" w="9525">
            <a:solidFill>
              <a:srgbClr val="4A7DBA"/>
            </a:solidFill>
            <a:prstDash val="solid"/>
            <a:round/>
            <a:headEnd len="sm" w="sm" type="none"/>
            <a:tailEnd len="med" w="med" type="stealth"/>
          </a:ln>
        </p:spPr>
      </p:cxnSp>
      <p:sp>
        <p:nvSpPr>
          <p:cNvPr id="2768" name="Google Shape;2768;p207"/>
          <p:cNvSpPr/>
          <p:nvPr/>
        </p:nvSpPr>
        <p:spPr>
          <a:xfrm>
            <a:off x="737574" y="4221088"/>
            <a:ext cx="4631765" cy="481990"/>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69" name="Google Shape;2769;p207"/>
          <p:cNvSpPr txBox="1"/>
          <p:nvPr/>
        </p:nvSpPr>
        <p:spPr>
          <a:xfrm>
            <a:off x="2903423" y="4234216"/>
            <a:ext cx="3080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b</a:t>
            </a:r>
            <a:endParaRPr b="1" sz="1800">
              <a:solidFill>
                <a:schemeClr val="dk1"/>
              </a:solidFill>
              <a:latin typeface="Calibri"/>
              <a:ea typeface="Calibri"/>
              <a:cs typeface="Calibri"/>
              <a:sym typeface="Calibri"/>
            </a:endParaRPr>
          </a:p>
        </p:txBody>
      </p:sp>
      <p:sp>
        <p:nvSpPr>
          <p:cNvPr id="2770" name="Google Shape;2770;p207"/>
          <p:cNvSpPr/>
          <p:nvPr/>
        </p:nvSpPr>
        <p:spPr>
          <a:xfrm>
            <a:off x="3053457" y="5490520"/>
            <a:ext cx="4458852" cy="780354"/>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71" name="Google Shape;2771;p207"/>
          <p:cNvSpPr txBox="1"/>
          <p:nvPr/>
        </p:nvSpPr>
        <p:spPr>
          <a:xfrm>
            <a:off x="5734528" y="6270874"/>
            <a:ext cx="3080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b</a:t>
            </a:r>
            <a:endParaRPr b="1" sz="1800">
              <a:solidFill>
                <a:schemeClr val="dk1"/>
              </a:solidFill>
              <a:latin typeface="Calibri"/>
              <a:ea typeface="Calibri"/>
              <a:cs typeface="Calibri"/>
              <a:sym typeface="Calibri"/>
            </a:endParaRPr>
          </a:p>
        </p:txBody>
      </p:sp>
      <p:cxnSp>
        <p:nvCxnSpPr>
          <p:cNvPr id="2772" name="Google Shape;2772;p207"/>
          <p:cNvCxnSpPr/>
          <p:nvPr/>
        </p:nvCxnSpPr>
        <p:spPr>
          <a:xfrm rot="10800000">
            <a:off x="3419872" y="5085184"/>
            <a:ext cx="1276182" cy="0"/>
          </a:xfrm>
          <a:prstGeom prst="straightConnector1">
            <a:avLst/>
          </a:prstGeom>
          <a:noFill/>
          <a:ln cap="flat" cmpd="sng" w="9525">
            <a:solidFill>
              <a:srgbClr val="4A7DBA"/>
            </a:solidFill>
            <a:prstDash val="solid"/>
            <a:round/>
            <a:headEnd len="sm" w="sm" type="none"/>
            <a:tailEnd len="med" w="med" type="stealth"/>
          </a:ln>
        </p:spPr>
      </p:cxnSp>
      <p:sp>
        <p:nvSpPr>
          <p:cNvPr id="2773" name="Google Shape;2773;p207"/>
          <p:cNvSpPr txBox="1"/>
          <p:nvPr/>
        </p:nvSpPr>
        <p:spPr>
          <a:xfrm>
            <a:off x="4025689" y="5170429"/>
            <a:ext cx="3080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b</a:t>
            </a:r>
            <a:endParaRPr b="1" sz="1800">
              <a:solidFill>
                <a:schemeClr val="dk1"/>
              </a:solidFill>
              <a:latin typeface="Calibri"/>
              <a:ea typeface="Calibri"/>
              <a:cs typeface="Calibri"/>
              <a:sym typeface="Calibri"/>
            </a:endParaRPr>
          </a:p>
        </p:txBody>
      </p:sp>
      <p:sp>
        <p:nvSpPr>
          <p:cNvPr id="2774" name="Google Shape;2774;p207"/>
          <p:cNvSpPr/>
          <p:nvPr/>
        </p:nvSpPr>
        <p:spPr>
          <a:xfrm rot="5400000">
            <a:off x="3740697" y="207298"/>
            <a:ext cx="1006652" cy="8119632"/>
          </a:xfrm>
          <a:prstGeom prst="curvedRigh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75" name="Google Shape;2775;p207"/>
          <p:cNvSpPr txBox="1"/>
          <p:nvPr/>
        </p:nvSpPr>
        <p:spPr>
          <a:xfrm>
            <a:off x="3395770" y="3394456"/>
            <a:ext cx="2984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a</a:t>
            </a:r>
            <a:endParaRPr b="1" sz="1800">
              <a:solidFill>
                <a:schemeClr val="dk1"/>
              </a:solidFill>
              <a:latin typeface="Calibri"/>
              <a:ea typeface="Calibri"/>
              <a:cs typeface="Calibri"/>
              <a:sym typeface="Calibri"/>
            </a:endParaRPr>
          </a:p>
        </p:txBody>
      </p:sp>
      <p:sp>
        <p:nvSpPr>
          <p:cNvPr id="2776" name="Google Shape;2776;p207"/>
          <p:cNvSpPr/>
          <p:nvPr/>
        </p:nvSpPr>
        <p:spPr>
          <a:xfrm rot="5400000">
            <a:off x="5425382" y="1891983"/>
            <a:ext cx="655724" cy="5405989"/>
          </a:xfrm>
          <a:prstGeom prst="curvedRigh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77" name="Google Shape;2777;p207"/>
          <p:cNvSpPr txBox="1"/>
          <p:nvPr/>
        </p:nvSpPr>
        <p:spPr>
          <a:xfrm>
            <a:off x="6042626" y="4267115"/>
            <a:ext cx="3080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b</a:t>
            </a:r>
            <a:endParaRPr b="1" sz="1800">
              <a:solidFill>
                <a:schemeClr val="dk1"/>
              </a:solidFill>
              <a:latin typeface="Calibri"/>
              <a:ea typeface="Calibri"/>
              <a:cs typeface="Calibri"/>
              <a:sym typeface="Calibri"/>
            </a:endParaRPr>
          </a:p>
        </p:txBody>
      </p:sp>
      <p:sp>
        <p:nvSpPr>
          <p:cNvPr id="2778" name="Google Shape;2778;p207"/>
          <p:cNvSpPr/>
          <p:nvPr/>
        </p:nvSpPr>
        <p:spPr>
          <a:xfrm>
            <a:off x="4443825" y="5644698"/>
            <a:ext cx="504457" cy="529383"/>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Calibri"/>
                <a:ea typeface="Calibri"/>
                <a:cs typeface="Calibri"/>
                <a:sym typeface="Calibri"/>
              </a:rPr>
              <a:t>ø</a:t>
            </a:r>
            <a:endParaRPr/>
          </a:p>
        </p:txBody>
      </p:sp>
      <p:cxnSp>
        <p:nvCxnSpPr>
          <p:cNvPr id="2779" name="Google Shape;2779;p207"/>
          <p:cNvCxnSpPr/>
          <p:nvPr/>
        </p:nvCxnSpPr>
        <p:spPr>
          <a:xfrm flipH="1">
            <a:off x="4948282" y="5460032"/>
            <a:ext cx="586464" cy="379322"/>
          </a:xfrm>
          <a:prstGeom prst="straightConnector1">
            <a:avLst/>
          </a:prstGeom>
          <a:noFill/>
          <a:ln cap="flat" cmpd="sng" w="9525">
            <a:solidFill>
              <a:srgbClr val="4A7DBA"/>
            </a:solidFill>
            <a:prstDash val="solid"/>
            <a:round/>
            <a:headEnd len="sm" w="sm" type="none"/>
            <a:tailEnd len="med" w="med" type="stealth"/>
          </a:ln>
        </p:spPr>
      </p:cxnSp>
      <p:sp>
        <p:nvSpPr>
          <p:cNvPr id="2780" name="Google Shape;2780;p207"/>
          <p:cNvSpPr txBox="1"/>
          <p:nvPr/>
        </p:nvSpPr>
        <p:spPr>
          <a:xfrm>
            <a:off x="5232221" y="5654688"/>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5" name="Shape 2785"/>
        <p:cNvGrpSpPr/>
        <p:nvPr/>
      </p:nvGrpSpPr>
      <p:grpSpPr>
        <a:xfrm>
          <a:off x="0" y="0"/>
          <a:ext cx="0" cy="0"/>
          <a:chOff x="0" y="0"/>
          <a:chExt cx="0" cy="0"/>
        </a:xfrm>
      </p:grpSpPr>
      <p:sp>
        <p:nvSpPr>
          <p:cNvPr id="2786" name="Google Shape;2786;p20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NDFA</a:t>
            </a:r>
            <a:endParaRPr/>
          </a:p>
        </p:txBody>
      </p:sp>
      <p:sp>
        <p:nvSpPr>
          <p:cNvPr id="2787" name="Google Shape;2787;p20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788" name="Google Shape;2788;p20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789" name="Google Shape;2789;p20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790" name="Google Shape;2790;p208"/>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4</a:t>
                      </a:r>
                      <a:endParaRPr/>
                    </a:p>
                  </a:txBody>
                  <a:tcPr marT="45725" marB="45725" marR="91450" marL="91450"/>
                </a:tc>
              </a:tr>
              <a:tr h="3086975">
                <a:tc>
                  <a:txBody>
                    <a:bodyPr/>
                    <a:lstStyle/>
                    <a:p>
                      <a:pPr indent="0" lvl="0" marL="0" marR="0" rtl="0" algn="l">
                        <a:spcBef>
                          <a:spcPts val="0"/>
                        </a:spcBef>
                        <a:spcAft>
                          <a:spcPts val="0"/>
                        </a:spcAft>
                        <a:buNone/>
                      </a:pPr>
                      <a:r>
                        <a:rPr lang="en-IN" sz="2400"/>
                        <a:t>Find a determinant acceptor equivalent to M=({qo,q1,q2,q3},{a,b}, δ,q0,{q3})</a:t>
                      </a:r>
                      <a:endParaRPr/>
                    </a:p>
                    <a:p>
                      <a:pPr indent="0" lvl="0" marL="0" marR="0" rtl="0" algn="l">
                        <a:spcBef>
                          <a:spcPts val="0"/>
                        </a:spcBef>
                        <a:spcAft>
                          <a:spcPts val="0"/>
                        </a:spcAft>
                        <a:buNone/>
                      </a:pPr>
                      <a:r>
                        <a:t/>
                      </a:r>
                      <a:endParaRPr sz="2400"/>
                    </a:p>
                    <a:p>
                      <a:pPr indent="0" lvl="0" marL="0" marR="0" rtl="0" algn="l">
                        <a:spcBef>
                          <a:spcPts val="0"/>
                        </a:spcBef>
                        <a:spcAft>
                          <a:spcPts val="0"/>
                        </a:spcAft>
                        <a:buNone/>
                      </a:pPr>
                      <a:r>
                        <a:rPr lang="en-IN" sz="2400"/>
                        <a:t>Transition Table-</a:t>
                      </a:r>
                      <a:endParaRPr/>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txBody>
                  <a:tcPr marT="45725" marB="45725" marR="91450" marL="91450"/>
                </a:tc>
              </a:tr>
            </a:tbl>
          </a:graphicData>
        </a:graphic>
      </p:graphicFrame>
      <p:graphicFrame>
        <p:nvGraphicFramePr>
          <p:cNvPr id="2791" name="Google Shape;2791;p208"/>
          <p:cNvGraphicFramePr/>
          <p:nvPr/>
        </p:nvGraphicFramePr>
        <p:xfrm>
          <a:off x="755576" y="3573016"/>
          <a:ext cx="3000000" cy="3000000"/>
        </p:xfrm>
        <a:graphic>
          <a:graphicData uri="http://schemas.openxmlformats.org/drawingml/2006/table">
            <a:tbl>
              <a:tblPr bandRow="1" firstRow="1">
                <a:noFill/>
                <a:tableStyleId>{1DD1F0B8-C0F4-4710-A24E-F3ACE173D476}</a:tableStyleId>
              </a:tblPr>
              <a:tblGrid>
                <a:gridCol w="2032000"/>
                <a:gridCol w="2032000"/>
                <a:gridCol w="20320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a</a:t>
                      </a:r>
                      <a:endParaRPr sz="1800"/>
                    </a:p>
                  </a:txBody>
                  <a:tcPr marT="45725" marB="45725" marR="91450" marL="91450"/>
                </a:tc>
                <a:tc>
                  <a:txBody>
                    <a:bodyPr/>
                    <a:lstStyle/>
                    <a:p>
                      <a:pPr indent="0" lvl="0" marL="0" marR="0" rtl="0" algn="l">
                        <a:spcBef>
                          <a:spcPts val="0"/>
                        </a:spcBef>
                        <a:spcAft>
                          <a:spcPts val="0"/>
                        </a:spcAft>
                        <a:buNone/>
                      </a:pPr>
                      <a:r>
                        <a:rPr lang="en-IN" sz="1800"/>
                        <a:t>b</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r>
            </a:tbl>
          </a:graphicData>
        </a:graphic>
      </p:graphicFrame>
      <p:cxnSp>
        <p:nvCxnSpPr>
          <p:cNvPr id="2792" name="Google Shape;2792;p208"/>
          <p:cNvCxnSpPr/>
          <p:nvPr/>
        </p:nvCxnSpPr>
        <p:spPr>
          <a:xfrm>
            <a:off x="395536" y="4077072"/>
            <a:ext cx="360040" cy="0"/>
          </a:xfrm>
          <a:prstGeom prst="straightConnector1">
            <a:avLst/>
          </a:prstGeom>
          <a:noFill/>
          <a:ln cap="flat" cmpd="sng" w="9525">
            <a:solidFill>
              <a:srgbClr val="4A7DBA"/>
            </a:solidFill>
            <a:prstDash val="solid"/>
            <a:round/>
            <a:headEnd len="sm" w="sm" type="none"/>
            <a:tailEnd len="med" w="med" type="stealth"/>
          </a:ln>
        </p:spPr>
      </p:cxnSp>
      <p:sp>
        <p:nvSpPr>
          <p:cNvPr id="2793" name="Google Shape;2793;p208"/>
          <p:cNvSpPr/>
          <p:nvPr/>
        </p:nvSpPr>
        <p:spPr>
          <a:xfrm>
            <a:off x="563305" y="5085184"/>
            <a:ext cx="900100" cy="36004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8" name="Shape 2798"/>
        <p:cNvGrpSpPr/>
        <p:nvPr/>
      </p:nvGrpSpPr>
      <p:grpSpPr>
        <a:xfrm>
          <a:off x="0" y="0"/>
          <a:ext cx="0" cy="0"/>
          <a:chOff x="0" y="0"/>
          <a:chExt cx="0" cy="0"/>
        </a:xfrm>
      </p:grpSpPr>
      <p:sp>
        <p:nvSpPr>
          <p:cNvPr id="2799" name="Google Shape;2799;p20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800" name="Google Shape;2800;p20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801" name="Google Shape;2801;p20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802" name="Google Shape;2802;p209"/>
          <p:cNvGraphicFramePr/>
          <p:nvPr/>
        </p:nvGraphicFramePr>
        <p:xfrm>
          <a:off x="223036" y="44624"/>
          <a:ext cx="3000000" cy="3000000"/>
        </p:xfrm>
        <a:graphic>
          <a:graphicData uri="http://schemas.openxmlformats.org/drawingml/2006/table">
            <a:tbl>
              <a:tblPr bandRow="1" firstRow="1">
                <a:noFill/>
                <a:tableStyleId>{1DD1F0B8-C0F4-4710-A24E-F3ACE173D476}</a:tableStyleId>
              </a:tblPr>
              <a:tblGrid>
                <a:gridCol w="7632850"/>
              </a:tblGrid>
              <a:tr h="43150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4-Transition Table</a:t>
                      </a:r>
                      <a:endParaRPr/>
                    </a:p>
                  </a:txBody>
                  <a:tcPr marT="45725" marB="45725" marR="91450" marL="91450"/>
                </a:tc>
              </a:tr>
              <a:tr h="1992800">
                <a:tc>
                  <a:txBody>
                    <a:bodyPr/>
                    <a:lstStyle/>
                    <a:p>
                      <a:pPr indent="0" lvl="0" marL="0" marR="0" rtl="0" algn="l">
                        <a:spcBef>
                          <a:spcPts val="0"/>
                        </a:spcBef>
                        <a:spcAft>
                          <a:spcPts val="0"/>
                        </a:spcAft>
                        <a:buNone/>
                      </a:pPr>
                      <a:r>
                        <a:t/>
                      </a:r>
                      <a:endParaRPr sz="2400"/>
                    </a:p>
                  </a:txBody>
                  <a:tcPr marT="45725" marB="45725" marR="91450" marL="91450"/>
                </a:tc>
              </a:tr>
            </a:tbl>
          </a:graphicData>
        </a:graphic>
      </p:graphicFrame>
      <p:graphicFrame>
        <p:nvGraphicFramePr>
          <p:cNvPr id="2803" name="Google Shape;2803;p209"/>
          <p:cNvGraphicFramePr/>
          <p:nvPr/>
        </p:nvGraphicFramePr>
        <p:xfrm>
          <a:off x="559528" y="629692"/>
          <a:ext cx="3000000" cy="3000000"/>
        </p:xfrm>
        <a:graphic>
          <a:graphicData uri="http://schemas.openxmlformats.org/drawingml/2006/table">
            <a:tbl>
              <a:tblPr bandRow="1" firstRow="1">
                <a:noFill/>
                <a:tableStyleId>{1DD1F0B8-C0F4-4710-A24E-F3ACE173D476}</a:tableStyleId>
              </a:tblPr>
              <a:tblGrid>
                <a:gridCol w="2032000"/>
                <a:gridCol w="2032000"/>
                <a:gridCol w="20320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a</a:t>
                      </a:r>
                      <a:endParaRPr sz="1800"/>
                    </a:p>
                  </a:txBody>
                  <a:tcPr marT="45725" marB="45725" marR="91450" marL="91450"/>
                </a:tc>
                <a:tc>
                  <a:txBody>
                    <a:bodyPr/>
                    <a:lstStyle/>
                    <a:p>
                      <a:pPr indent="0" lvl="0" marL="0" marR="0" rtl="0" algn="l">
                        <a:spcBef>
                          <a:spcPts val="0"/>
                        </a:spcBef>
                        <a:spcAft>
                          <a:spcPts val="0"/>
                        </a:spcAft>
                        <a:buNone/>
                      </a:pPr>
                      <a:r>
                        <a:rPr lang="en-IN" sz="1800"/>
                        <a:t>b</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q0,q1</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r>
            </a:tbl>
          </a:graphicData>
        </a:graphic>
      </p:graphicFrame>
      <p:cxnSp>
        <p:nvCxnSpPr>
          <p:cNvPr id="2804" name="Google Shape;2804;p209"/>
          <p:cNvCxnSpPr/>
          <p:nvPr/>
        </p:nvCxnSpPr>
        <p:spPr>
          <a:xfrm>
            <a:off x="210456" y="1196752"/>
            <a:ext cx="360040" cy="0"/>
          </a:xfrm>
          <a:prstGeom prst="straightConnector1">
            <a:avLst/>
          </a:prstGeom>
          <a:noFill/>
          <a:ln cap="flat" cmpd="sng" w="9525">
            <a:solidFill>
              <a:srgbClr val="4A7DBA"/>
            </a:solidFill>
            <a:prstDash val="solid"/>
            <a:round/>
            <a:headEnd len="sm" w="sm" type="none"/>
            <a:tailEnd len="med" w="med" type="stealth"/>
          </a:ln>
        </p:spPr>
      </p:cxnSp>
      <p:sp>
        <p:nvSpPr>
          <p:cNvPr id="2805" name="Google Shape;2805;p209"/>
          <p:cNvSpPr/>
          <p:nvPr/>
        </p:nvSpPr>
        <p:spPr>
          <a:xfrm>
            <a:off x="403056" y="2165113"/>
            <a:ext cx="900100" cy="36004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806" name="Google Shape;2806;p209"/>
          <p:cNvPicPr preferRelativeResize="0"/>
          <p:nvPr/>
        </p:nvPicPr>
        <p:blipFill rotWithShape="1">
          <a:blip r:embed="rId3">
            <a:alphaModFix/>
          </a:blip>
          <a:srcRect b="0" l="0" r="0" t="0"/>
          <a:stretch/>
        </p:blipFill>
        <p:spPr>
          <a:xfrm>
            <a:off x="403056" y="3284984"/>
            <a:ext cx="7683500" cy="3335660"/>
          </a:xfrm>
          <a:prstGeom prst="rect">
            <a:avLst/>
          </a:prstGeom>
          <a:noFill/>
          <a:ln>
            <a:noFill/>
          </a:ln>
        </p:spPr>
      </p:pic>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1" name="Shape 2811"/>
        <p:cNvGrpSpPr/>
        <p:nvPr/>
      </p:nvGrpSpPr>
      <p:grpSpPr>
        <a:xfrm>
          <a:off x="0" y="0"/>
          <a:ext cx="0" cy="0"/>
          <a:chOff x="0" y="0"/>
          <a:chExt cx="0" cy="0"/>
        </a:xfrm>
      </p:grpSpPr>
      <p:sp>
        <p:nvSpPr>
          <p:cNvPr id="2812" name="Google Shape;2812;p2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NDFA</a:t>
            </a:r>
            <a:endParaRPr/>
          </a:p>
        </p:txBody>
      </p:sp>
      <p:sp>
        <p:nvSpPr>
          <p:cNvPr id="2813" name="Google Shape;2813;p2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814" name="Google Shape;2814;p2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815" name="Google Shape;2815;p2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816" name="Google Shape;2816;p210"/>
          <p:cNvGraphicFramePr/>
          <p:nvPr/>
        </p:nvGraphicFramePr>
        <p:xfrm>
          <a:off x="611560" y="1340768"/>
          <a:ext cx="3000000" cy="3000000"/>
        </p:xfrm>
        <a:graphic>
          <a:graphicData uri="http://schemas.openxmlformats.org/drawingml/2006/table">
            <a:tbl>
              <a:tblPr bandRow="1" firstRow="1">
                <a:noFill/>
                <a:tableStyleId>{1DD1F0B8-C0F4-4710-A24E-F3ACE173D476}</a:tableStyleId>
              </a:tblPr>
              <a:tblGrid>
                <a:gridCol w="7632850"/>
              </a:tblGrid>
              <a:tr h="37085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5</a:t>
                      </a:r>
                      <a:endParaRPr/>
                    </a:p>
                  </a:txBody>
                  <a:tcPr marT="45725" marB="45725" marR="91450" marL="91450"/>
                </a:tc>
              </a:tr>
              <a:tr h="3086975">
                <a:tc>
                  <a:txBody>
                    <a:bodyPr/>
                    <a:lstStyle/>
                    <a:p>
                      <a:pPr indent="0" lvl="0" marL="0" marR="0" rtl="0" algn="l">
                        <a:spcBef>
                          <a:spcPts val="0"/>
                        </a:spcBef>
                        <a:spcAft>
                          <a:spcPts val="0"/>
                        </a:spcAft>
                        <a:buNone/>
                      </a:pPr>
                      <a:r>
                        <a:rPr lang="en-IN" sz="2400"/>
                        <a:t>Find a determinant acceptor equivalent to Automaton</a:t>
                      </a:r>
                      <a:r>
                        <a:rPr lang="en-IN" sz="2400"/>
                        <a:t> with Transition Table-</a:t>
                      </a:r>
                      <a:endParaRPr/>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txBody>
                  <a:tcPr marT="45725" marB="45725" marR="91450" marL="91450"/>
                </a:tc>
              </a:tr>
            </a:tbl>
          </a:graphicData>
        </a:graphic>
      </p:graphicFrame>
      <p:graphicFrame>
        <p:nvGraphicFramePr>
          <p:cNvPr id="2817" name="Google Shape;2817;p210"/>
          <p:cNvGraphicFramePr/>
          <p:nvPr/>
        </p:nvGraphicFramePr>
        <p:xfrm>
          <a:off x="755576" y="2708920"/>
          <a:ext cx="3000000" cy="3000000"/>
        </p:xfrm>
        <a:graphic>
          <a:graphicData uri="http://schemas.openxmlformats.org/drawingml/2006/table">
            <a:tbl>
              <a:tblPr bandRow="1" firstRow="1">
                <a:noFill/>
                <a:tableStyleId>{1DD1F0B8-C0F4-4710-A24E-F3ACE173D476}</a:tableStyleId>
              </a:tblPr>
              <a:tblGrid>
                <a:gridCol w="1524000"/>
                <a:gridCol w="1524000"/>
                <a:gridCol w="1524000"/>
                <a:gridCol w="15240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q1,q4</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q2,q3</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c>
                  <a:txBody>
                    <a:bodyPr/>
                    <a:lstStyle/>
                    <a:p>
                      <a:pPr indent="0" lvl="0" marL="0" marR="0" rtl="0" algn="l">
                        <a:spcBef>
                          <a:spcPts val="0"/>
                        </a:spcBef>
                        <a:spcAft>
                          <a:spcPts val="0"/>
                        </a:spcAft>
                        <a:buNone/>
                      </a:pPr>
                      <a:r>
                        <a:rPr lang="en-IN" sz="1800"/>
                        <a:t>q2,q3</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r>
              <a:tr h="370850">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r>
            </a:tbl>
          </a:graphicData>
        </a:graphic>
      </p:graphicFrame>
      <p:cxnSp>
        <p:nvCxnSpPr>
          <p:cNvPr id="2818" name="Google Shape;2818;p210"/>
          <p:cNvCxnSpPr/>
          <p:nvPr/>
        </p:nvCxnSpPr>
        <p:spPr>
          <a:xfrm>
            <a:off x="383285" y="3284984"/>
            <a:ext cx="360040" cy="0"/>
          </a:xfrm>
          <a:prstGeom prst="straightConnector1">
            <a:avLst/>
          </a:prstGeom>
          <a:noFill/>
          <a:ln cap="flat" cmpd="sng" w="9525">
            <a:solidFill>
              <a:srgbClr val="4A7DBA"/>
            </a:solidFill>
            <a:prstDash val="solid"/>
            <a:round/>
            <a:headEnd len="sm" w="sm" type="none"/>
            <a:tailEnd len="med" w="med" type="stealth"/>
          </a:ln>
        </p:spPr>
      </p:cxnSp>
      <p:sp>
        <p:nvSpPr>
          <p:cNvPr id="2819" name="Google Shape;2819;p210"/>
          <p:cNvSpPr/>
          <p:nvPr/>
        </p:nvSpPr>
        <p:spPr>
          <a:xfrm>
            <a:off x="563305" y="4221088"/>
            <a:ext cx="900100" cy="36004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4" name="Shape 2824"/>
        <p:cNvGrpSpPr/>
        <p:nvPr/>
      </p:nvGrpSpPr>
      <p:grpSpPr>
        <a:xfrm>
          <a:off x="0" y="0"/>
          <a:ext cx="0" cy="0"/>
          <a:chOff x="0" y="0"/>
          <a:chExt cx="0" cy="0"/>
        </a:xfrm>
      </p:grpSpPr>
      <p:sp>
        <p:nvSpPr>
          <p:cNvPr id="2825" name="Google Shape;2825;p2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826" name="Google Shape;2826;p2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827" name="Google Shape;2827;p2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2828" name="Google Shape;2828;p211"/>
          <p:cNvGraphicFramePr/>
          <p:nvPr/>
        </p:nvGraphicFramePr>
        <p:xfrm>
          <a:off x="397852" y="116632"/>
          <a:ext cx="3000000" cy="3000000"/>
        </p:xfrm>
        <a:graphic>
          <a:graphicData uri="http://schemas.openxmlformats.org/drawingml/2006/table">
            <a:tbl>
              <a:tblPr bandRow="1" firstRow="1">
                <a:noFill/>
                <a:tableStyleId>{1DD1F0B8-C0F4-4710-A24E-F3ACE173D476}</a:tableStyleId>
              </a:tblPr>
              <a:tblGrid>
                <a:gridCol w="7632850"/>
              </a:tblGrid>
              <a:tr h="430900">
                <a:tc>
                  <a:txBody>
                    <a:bodyPr/>
                    <a:lstStyle/>
                    <a:p>
                      <a:pPr indent="0" lvl="0" marL="0" marR="0" rtl="0" algn="l">
                        <a:lnSpc>
                          <a:spcPct val="100000"/>
                        </a:lnSpc>
                        <a:spcBef>
                          <a:spcPts val="0"/>
                        </a:spcBef>
                        <a:spcAft>
                          <a:spcPts val="0"/>
                        </a:spcAft>
                        <a:buClr>
                          <a:schemeClr val="dk1"/>
                        </a:buClr>
                        <a:buSzPts val="2400"/>
                        <a:buFont typeface="Calibri"/>
                        <a:buNone/>
                      </a:pPr>
                      <a:r>
                        <a:rPr lang="en-IN" sz="2400"/>
                        <a:t>Example 5-</a:t>
                      </a:r>
                      <a:r>
                        <a:rPr lang="en-IN" sz="2400"/>
                        <a:t>Transition Table of NDFA-</a:t>
                      </a:r>
                      <a:endParaRPr/>
                    </a:p>
                  </a:txBody>
                  <a:tcPr marT="45725" marB="45725" marR="91450" marL="91450"/>
                </a:tc>
              </a:tr>
              <a:tr h="2305400">
                <a:tc>
                  <a:txBody>
                    <a:bodyPr/>
                    <a:lstStyle/>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p>
                      <a:pPr indent="0" lvl="0" marL="0" marR="0" rtl="0" algn="l">
                        <a:spcBef>
                          <a:spcPts val="0"/>
                        </a:spcBef>
                        <a:spcAft>
                          <a:spcPts val="0"/>
                        </a:spcAft>
                        <a:buNone/>
                      </a:pPr>
                      <a:r>
                        <a:t/>
                      </a:r>
                      <a:endParaRPr sz="2400"/>
                    </a:p>
                  </a:txBody>
                  <a:tcPr marT="45725" marB="45725" marR="91450" marL="91450"/>
                </a:tc>
              </a:tr>
            </a:tbl>
          </a:graphicData>
        </a:graphic>
      </p:graphicFrame>
      <p:graphicFrame>
        <p:nvGraphicFramePr>
          <p:cNvPr id="2829" name="Google Shape;2829;p211"/>
          <p:cNvGraphicFramePr/>
          <p:nvPr/>
        </p:nvGraphicFramePr>
        <p:xfrm>
          <a:off x="582986" y="620688"/>
          <a:ext cx="3000000" cy="3000000"/>
        </p:xfrm>
        <a:graphic>
          <a:graphicData uri="http://schemas.openxmlformats.org/drawingml/2006/table">
            <a:tbl>
              <a:tblPr bandRow="1" firstRow="1">
                <a:noFill/>
                <a:tableStyleId>{1DD1F0B8-C0F4-4710-A24E-F3ACE173D476}</a:tableStyleId>
              </a:tblPr>
              <a:tblGrid>
                <a:gridCol w="799825"/>
                <a:gridCol w="771975"/>
                <a:gridCol w="421075"/>
                <a:gridCol w="771975"/>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q1,q4</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q2,q3</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c>
                  <a:txBody>
                    <a:bodyPr/>
                    <a:lstStyle/>
                    <a:p>
                      <a:pPr indent="0" lvl="0" marL="0" marR="0" rtl="0" algn="l">
                        <a:spcBef>
                          <a:spcPts val="0"/>
                        </a:spcBef>
                        <a:spcAft>
                          <a:spcPts val="0"/>
                        </a:spcAft>
                        <a:buNone/>
                      </a:pPr>
                      <a:r>
                        <a:rPr lang="en-IN" sz="1800"/>
                        <a:t>q2,q3</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r>
              <a:tr h="370850">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c>
                  <a:txBody>
                    <a:bodyPr/>
                    <a:lstStyle/>
                    <a:p>
                      <a:pPr indent="0" lvl="0" marL="0" marR="0" rtl="0" algn="l">
                        <a:spcBef>
                          <a:spcPts val="0"/>
                        </a:spcBef>
                        <a:spcAft>
                          <a:spcPts val="0"/>
                        </a:spcAft>
                        <a:buNone/>
                      </a:pPr>
                      <a:r>
                        <a:rPr lang="en-IN" sz="1800"/>
                        <a:t>-</a:t>
                      </a:r>
                      <a:endParaRPr sz="1800"/>
                    </a:p>
                  </a:txBody>
                  <a:tcPr marT="45725" marB="45725" marR="91450" marL="91450"/>
                </a:tc>
              </a:tr>
            </a:tbl>
          </a:graphicData>
        </a:graphic>
      </p:graphicFrame>
      <p:cxnSp>
        <p:nvCxnSpPr>
          <p:cNvPr id="2830" name="Google Shape;2830;p211"/>
          <p:cNvCxnSpPr/>
          <p:nvPr/>
        </p:nvCxnSpPr>
        <p:spPr>
          <a:xfrm>
            <a:off x="198534" y="1196752"/>
            <a:ext cx="360040" cy="0"/>
          </a:xfrm>
          <a:prstGeom prst="straightConnector1">
            <a:avLst/>
          </a:prstGeom>
          <a:noFill/>
          <a:ln cap="flat" cmpd="sng" w="9525">
            <a:solidFill>
              <a:srgbClr val="4A7DBA"/>
            </a:solidFill>
            <a:prstDash val="solid"/>
            <a:round/>
            <a:headEnd len="sm" w="sm" type="none"/>
            <a:tailEnd len="med" w="med" type="stealth"/>
          </a:ln>
        </p:spPr>
      </p:cxnSp>
      <p:sp>
        <p:nvSpPr>
          <p:cNvPr id="2831" name="Google Shape;2831;p211"/>
          <p:cNvSpPr/>
          <p:nvPr/>
        </p:nvSpPr>
        <p:spPr>
          <a:xfrm>
            <a:off x="378554" y="2132856"/>
            <a:ext cx="900100" cy="36004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2832" name="Google Shape;2832;p211"/>
          <p:cNvGraphicFramePr/>
          <p:nvPr/>
        </p:nvGraphicFramePr>
        <p:xfrm>
          <a:off x="467544" y="3429000"/>
          <a:ext cx="3000000" cy="3000000"/>
        </p:xfrm>
        <a:graphic>
          <a:graphicData uri="http://schemas.openxmlformats.org/drawingml/2006/table">
            <a:tbl>
              <a:tblPr bandRow="1" firstRow="1">
                <a:noFill/>
                <a:tableStyleId>{1DD1F0B8-C0F4-4710-A24E-F3ACE173D476}</a:tableStyleId>
              </a:tblPr>
              <a:tblGrid>
                <a:gridCol w="1936000"/>
                <a:gridCol w="2106150"/>
                <a:gridCol w="1880850"/>
                <a:gridCol w="170985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{q1,q4}</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{q2,q3}</a:t>
                      </a:r>
                      <a:endParaRPr sz="1800"/>
                    </a:p>
                  </a:txBody>
                  <a:tcPr marT="45725" marB="45725" marR="91450" marL="91450"/>
                </a:tc>
              </a:tr>
              <a:tr h="370850">
                <a:tc>
                  <a:txBody>
                    <a:bodyPr/>
                    <a:lstStyle/>
                    <a:p>
                      <a:pPr indent="0" lvl="0" marL="0" marR="0" rtl="0" algn="l">
                        <a:spcBef>
                          <a:spcPts val="0"/>
                        </a:spcBef>
                        <a:spcAft>
                          <a:spcPts val="0"/>
                        </a:spcAft>
                        <a:buNone/>
                      </a:pPr>
                      <a:r>
                        <a:rPr lang="en-IN" sz="1800"/>
                        <a:t>{q1,q4}</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IN" sz="1800"/>
                        <a:t>ø</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IN" sz="1800"/>
                        <a:t>Ø</a:t>
                      </a:r>
                      <a:endParaRPr sz="1800"/>
                    </a:p>
                  </a:txBody>
                  <a:tcPr marT="45725" marB="45725" marR="91450" marL="91450"/>
                </a:tc>
              </a:tr>
              <a:tr h="370850">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IN" sz="1800"/>
                        <a:t>ø</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IN" sz="1800"/>
                        <a:t>ø</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IN" sz="1800"/>
                        <a:t>Ø</a:t>
                      </a:r>
                      <a:endParaRPr sz="1800"/>
                    </a:p>
                  </a:txBody>
                  <a:tcPr marT="45725" marB="45725" marR="91450" marL="91450"/>
                </a:tc>
              </a:tr>
              <a:tr h="370850">
                <a:tc>
                  <a:txBody>
                    <a:bodyPr/>
                    <a:lstStyle/>
                    <a:p>
                      <a:pPr indent="0" lvl="0" marL="0" marR="0" rtl="0" algn="l">
                        <a:spcBef>
                          <a:spcPts val="0"/>
                        </a:spcBef>
                        <a:spcAft>
                          <a:spcPts val="0"/>
                        </a:spcAft>
                        <a:buNone/>
                      </a:pPr>
                      <a:r>
                        <a:rPr lang="en-IN" sz="1800"/>
                        <a:t>{q2,q3}</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IN" sz="1800"/>
                        <a:t>ø</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{q2,q3}</a:t>
                      </a:r>
                      <a:endParaRPr sz="1800"/>
                    </a:p>
                  </a:txBody>
                  <a:tcPr marT="45725" marB="45725" marR="91450" marL="91450"/>
                </a:tc>
              </a:tr>
            </a:tbl>
          </a:graphicData>
        </a:graphic>
      </p:graphicFrame>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6" name="Shape 2836"/>
        <p:cNvGrpSpPr/>
        <p:nvPr/>
      </p:nvGrpSpPr>
      <p:grpSpPr>
        <a:xfrm>
          <a:off x="0" y="0"/>
          <a:ext cx="0" cy="0"/>
          <a:chOff x="0" y="0"/>
          <a:chExt cx="0" cy="0"/>
        </a:xfrm>
      </p:grpSpPr>
      <p:sp>
        <p:nvSpPr>
          <p:cNvPr id="2837" name="Google Shape;2837;p2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Convert the NDFA to DFA</a:t>
            </a:r>
            <a:endParaRPr/>
          </a:p>
        </p:txBody>
      </p:sp>
      <p:sp>
        <p:nvSpPr>
          <p:cNvPr id="2838" name="Google Shape;2838;p2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2839" name="Google Shape;2839;p2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840" name="Google Shape;2840;p2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841" name="Google Shape;2841;p2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2842" name="Google Shape;2842;p212"/>
          <p:cNvPicPr preferRelativeResize="0"/>
          <p:nvPr/>
        </p:nvPicPr>
        <p:blipFill rotWithShape="1">
          <a:blip r:embed="rId3">
            <a:alphaModFix/>
          </a:blip>
          <a:srcRect b="0" l="0" r="0" t="0"/>
          <a:stretch/>
        </p:blipFill>
        <p:spPr>
          <a:xfrm>
            <a:off x="2333625" y="1587500"/>
            <a:ext cx="4476750" cy="3683000"/>
          </a:xfrm>
          <a:prstGeom prst="rect">
            <a:avLst/>
          </a:prstGeom>
          <a:noFill/>
          <a:ln>
            <a:noFill/>
          </a:ln>
        </p:spPr>
      </p:pic>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6" name="Shape 2846"/>
        <p:cNvGrpSpPr/>
        <p:nvPr/>
      </p:nvGrpSpPr>
      <p:grpSpPr>
        <a:xfrm>
          <a:off x="0" y="0"/>
          <a:ext cx="0" cy="0"/>
          <a:chOff x="0" y="0"/>
          <a:chExt cx="0" cy="0"/>
        </a:xfrm>
      </p:grpSpPr>
      <p:sp>
        <p:nvSpPr>
          <p:cNvPr id="2847" name="Google Shape;2847;p2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Convert the NDFA to DFA</a:t>
            </a:r>
            <a:endParaRPr/>
          </a:p>
        </p:txBody>
      </p:sp>
      <p:sp>
        <p:nvSpPr>
          <p:cNvPr id="2848" name="Google Shape;2848;p2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849" name="Google Shape;2849;p2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850" name="Google Shape;2850;p2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2851" name="Google Shape;2851;p213"/>
          <p:cNvPicPr preferRelativeResize="0"/>
          <p:nvPr/>
        </p:nvPicPr>
        <p:blipFill rotWithShape="1">
          <a:blip r:embed="rId3">
            <a:alphaModFix/>
          </a:blip>
          <a:srcRect b="0" l="0" r="0" t="0"/>
          <a:stretch/>
        </p:blipFill>
        <p:spPr>
          <a:xfrm>
            <a:off x="323528" y="1844824"/>
            <a:ext cx="4464496" cy="3683000"/>
          </a:xfrm>
          <a:prstGeom prst="rect">
            <a:avLst/>
          </a:prstGeom>
          <a:noFill/>
          <a:ln>
            <a:noFill/>
          </a:ln>
        </p:spPr>
      </p:pic>
      <p:pic>
        <p:nvPicPr>
          <p:cNvPr id="2852" name="Google Shape;2852;p213"/>
          <p:cNvPicPr preferRelativeResize="0"/>
          <p:nvPr>
            <p:ph idx="1" type="body"/>
          </p:nvPr>
        </p:nvPicPr>
        <p:blipFill rotWithShape="1">
          <a:blip r:embed="rId4">
            <a:alphaModFix/>
          </a:blip>
          <a:srcRect b="0" l="0" r="0" t="0"/>
          <a:stretch/>
        </p:blipFill>
        <p:spPr>
          <a:xfrm rot="5400000">
            <a:off x="4991460" y="1785404"/>
            <a:ext cx="3886400" cy="3861224"/>
          </a:xfrm>
          <a:prstGeom prst="rect">
            <a:avLst/>
          </a:prstGeom>
          <a:noFill/>
          <a:ln>
            <a:noFill/>
          </a:ln>
        </p:spPr>
      </p:pic>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6" name="Shape 2856"/>
        <p:cNvGrpSpPr/>
        <p:nvPr/>
      </p:nvGrpSpPr>
      <p:grpSpPr>
        <a:xfrm>
          <a:off x="0" y="0"/>
          <a:ext cx="0" cy="0"/>
          <a:chOff x="0" y="0"/>
          <a:chExt cx="0" cy="0"/>
        </a:xfrm>
      </p:grpSpPr>
      <p:sp>
        <p:nvSpPr>
          <p:cNvPr id="2857" name="Google Shape;2857;p2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DFA Minimization</a:t>
            </a:r>
            <a:endParaRPr/>
          </a:p>
        </p:txBody>
      </p:sp>
      <p:sp>
        <p:nvSpPr>
          <p:cNvPr id="2858" name="Google Shape;2858;p2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Partitioning Method</a:t>
            </a:r>
            <a:endParaRPr/>
          </a:p>
          <a:p>
            <a:pPr indent="-342900" lvl="0" marL="342900" rtl="0" algn="l">
              <a:spcBef>
                <a:spcPts val="480"/>
              </a:spcBef>
              <a:spcAft>
                <a:spcPts val="0"/>
              </a:spcAft>
              <a:buClr>
                <a:schemeClr val="dk1"/>
              </a:buClr>
              <a:buSzPts val="2400"/>
              <a:buChar char="•"/>
            </a:pPr>
            <a:r>
              <a:rPr lang="en-IN" sz="2400"/>
              <a:t>Box Method/Myhill Nerode Theorem</a:t>
            </a:r>
            <a:endParaRPr sz="2400"/>
          </a:p>
        </p:txBody>
      </p:sp>
      <p:sp>
        <p:nvSpPr>
          <p:cNvPr id="2859" name="Google Shape;2859;p2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860" name="Google Shape;2860;p2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861" name="Google Shape;2861;p2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5" name="Shape 2865"/>
        <p:cNvGrpSpPr/>
        <p:nvPr/>
      </p:nvGrpSpPr>
      <p:grpSpPr>
        <a:xfrm>
          <a:off x="0" y="0"/>
          <a:ext cx="0" cy="0"/>
          <a:chOff x="0" y="0"/>
          <a:chExt cx="0" cy="0"/>
        </a:xfrm>
      </p:grpSpPr>
      <p:sp>
        <p:nvSpPr>
          <p:cNvPr id="2866" name="Google Shape;2866;p2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Myhill Nerode Theorem/Box State</a:t>
            </a:r>
            <a:endParaRPr/>
          </a:p>
        </p:txBody>
      </p:sp>
      <p:sp>
        <p:nvSpPr>
          <p:cNvPr id="2867" name="Google Shape;2867;p215"/>
          <p:cNvSpPr txBox="1"/>
          <p:nvPr>
            <p:ph idx="1" type="body"/>
          </p:nvPr>
        </p:nvSpPr>
        <p:spPr>
          <a:xfrm>
            <a:off x="457200" y="1600200"/>
            <a:ext cx="8229600" cy="4525963"/>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lang="en-IN" sz="2400">
                <a:solidFill>
                  <a:schemeClr val="dk1"/>
                </a:solidFill>
                <a:latin typeface="Calibri"/>
                <a:ea typeface="Calibri"/>
                <a:cs typeface="Calibri"/>
                <a:sym typeface="Calibri"/>
              </a:rPr>
              <a:t>Step 1- Remove all states which are not reachable from the start state</a:t>
            </a:r>
            <a:endParaRPr/>
          </a:p>
          <a:p>
            <a:pPr indent="0" lvl="0" marL="0" rtl="0" algn="l">
              <a:spcBef>
                <a:spcPts val="480"/>
              </a:spcBef>
              <a:spcAft>
                <a:spcPts val="0"/>
              </a:spcAft>
              <a:buClr>
                <a:schemeClr val="dk1"/>
              </a:buClr>
              <a:buSzPts val="2400"/>
              <a:buNone/>
            </a:pPr>
            <a:r>
              <a:rPr lang="en-IN" sz="2400">
                <a:solidFill>
                  <a:schemeClr val="dk1"/>
                </a:solidFill>
                <a:latin typeface="Calibri"/>
                <a:ea typeface="Calibri"/>
                <a:cs typeface="Calibri"/>
                <a:sym typeface="Calibri"/>
              </a:rPr>
              <a:t>Step 2- Create a box table such that rows and columns are identified by state names</a:t>
            </a:r>
            <a:endParaRPr/>
          </a:p>
          <a:p>
            <a:pPr indent="-342900" lvl="0" marL="342900" rtl="0" algn="l">
              <a:spcBef>
                <a:spcPts val="480"/>
              </a:spcBef>
              <a:spcAft>
                <a:spcPts val="0"/>
              </a:spcAft>
              <a:buClr>
                <a:schemeClr val="dk1"/>
              </a:buClr>
              <a:buSzPts val="2400"/>
              <a:buChar char="•"/>
            </a:pPr>
            <a:r>
              <a:rPr lang="en-IN" sz="2400">
                <a:solidFill>
                  <a:schemeClr val="dk1"/>
                </a:solidFill>
                <a:latin typeface="Calibri"/>
                <a:ea typeface="Calibri"/>
                <a:cs typeface="Calibri"/>
                <a:sym typeface="Calibri"/>
              </a:rPr>
              <a:t>X Axis is comprised of first to second last state</a:t>
            </a:r>
            <a:endParaRPr/>
          </a:p>
          <a:p>
            <a:pPr indent="-342900" lvl="0" marL="342900" rtl="0" algn="l">
              <a:spcBef>
                <a:spcPts val="480"/>
              </a:spcBef>
              <a:spcAft>
                <a:spcPts val="0"/>
              </a:spcAft>
              <a:buClr>
                <a:schemeClr val="dk1"/>
              </a:buClr>
              <a:buSzPts val="2400"/>
              <a:buChar char="•"/>
            </a:pPr>
            <a:r>
              <a:rPr lang="en-IN" sz="2400">
                <a:solidFill>
                  <a:schemeClr val="dk1"/>
                </a:solidFill>
                <a:latin typeface="Calibri"/>
                <a:ea typeface="Calibri"/>
                <a:cs typeface="Calibri"/>
                <a:sym typeface="Calibri"/>
              </a:rPr>
              <a:t>Y Axis is comprised of second to last state</a:t>
            </a:r>
            <a:endParaRPr/>
          </a:p>
          <a:p>
            <a:pPr indent="0" lvl="0" marL="0" rtl="0" algn="l">
              <a:spcBef>
                <a:spcPts val="480"/>
              </a:spcBef>
              <a:spcAft>
                <a:spcPts val="0"/>
              </a:spcAft>
              <a:buClr>
                <a:schemeClr val="dk1"/>
              </a:buClr>
              <a:buSzPts val="2400"/>
              <a:buNone/>
            </a:pPr>
            <a:r>
              <a:rPr lang="en-IN" sz="2400">
                <a:solidFill>
                  <a:schemeClr val="dk1"/>
                </a:solidFill>
                <a:latin typeface="Calibri"/>
                <a:ea typeface="Calibri"/>
                <a:cs typeface="Calibri"/>
                <a:sym typeface="Calibri"/>
              </a:rPr>
              <a:t>Step 3-All the cells in which one state is final and the other is non-final are marked with “X”</a:t>
            </a:r>
            <a:endParaRPr/>
          </a:p>
        </p:txBody>
      </p:sp>
      <p:sp>
        <p:nvSpPr>
          <p:cNvPr id="2868" name="Google Shape;2868;p2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869" name="Google Shape;2869;p2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870" name="Google Shape;2870;p2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4" name="Shape 2874"/>
        <p:cNvGrpSpPr/>
        <p:nvPr/>
      </p:nvGrpSpPr>
      <p:grpSpPr>
        <a:xfrm>
          <a:off x="0" y="0"/>
          <a:ext cx="0" cy="0"/>
          <a:chOff x="0" y="0"/>
          <a:chExt cx="0" cy="0"/>
        </a:xfrm>
      </p:grpSpPr>
      <p:sp>
        <p:nvSpPr>
          <p:cNvPr id="2875" name="Google Shape;2875;p2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Myhill Nerode Theorem</a:t>
            </a:r>
            <a:endParaRPr/>
          </a:p>
        </p:txBody>
      </p:sp>
      <p:sp>
        <p:nvSpPr>
          <p:cNvPr id="2876" name="Google Shape;2876;p216"/>
          <p:cNvSpPr txBox="1"/>
          <p:nvPr>
            <p:ph idx="1" type="body"/>
          </p:nvPr>
        </p:nvSpPr>
        <p:spPr>
          <a:xfrm>
            <a:off x="457200" y="1600200"/>
            <a:ext cx="8229600" cy="4525963"/>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lang="en-IN" sz="2400">
                <a:solidFill>
                  <a:schemeClr val="dk1"/>
                </a:solidFill>
                <a:latin typeface="Calibri"/>
                <a:ea typeface="Calibri"/>
                <a:cs typeface="Calibri"/>
                <a:sym typeface="Calibri"/>
              </a:rPr>
              <a:t>Step 4-If there are some unmarked cells then check whether they can be marked as follows-</a:t>
            </a:r>
            <a:endParaRPr/>
          </a:p>
          <a:p>
            <a:pPr indent="0" lvl="0" marL="0" rtl="0" algn="l">
              <a:spcBef>
                <a:spcPts val="480"/>
              </a:spcBef>
              <a:spcAft>
                <a:spcPts val="0"/>
              </a:spcAft>
              <a:buClr>
                <a:schemeClr val="dk1"/>
              </a:buClr>
              <a:buSzPts val="2400"/>
              <a:buNone/>
            </a:pPr>
            <a:r>
              <a:rPr lang="en-IN" sz="2400">
                <a:solidFill>
                  <a:schemeClr val="dk1"/>
                </a:solidFill>
                <a:latin typeface="Calibri"/>
                <a:ea typeface="Calibri"/>
                <a:cs typeface="Calibri"/>
                <a:sym typeface="Calibri"/>
              </a:rPr>
              <a:t>Let (p,q) be an unmarked cell and let “a” be some input symbol</a:t>
            </a:r>
            <a:endParaRPr/>
          </a:p>
          <a:p>
            <a:pPr indent="-285750" lvl="1" marL="742950" rtl="0" algn="l">
              <a:spcBef>
                <a:spcPts val="480"/>
              </a:spcBef>
              <a:spcAft>
                <a:spcPts val="0"/>
              </a:spcAft>
              <a:buClr>
                <a:schemeClr val="dk1"/>
              </a:buClr>
              <a:buSzPts val="2400"/>
              <a:buChar char="–"/>
            </a:pPr>
            <a:r>
              <a:rPr lang="en-IN" sz="2400">
                <a:solidFill>
                  <a:schemeClr val="dk1"/>
                </a:solidFill>
                <a:latin typeface="Calibri"/>
                <a:ea typeface="Calibri"/>
                <a:cs typeface="Calibri"/>
                <a:sym typeface="Calibri"/>
              </a:rPr>
              <a:t>If δ(p,a)=r and δ(q,a)=r  then No Decision can be taken wrt this input</a:t>
            </a:r>
            <a:endParaRPr/>
          </a:p>
          <a:p>
            <a:pPr indent="-285750" lvl="1" marL="742950" rtl="0" algn="l">
              <a:spcBef>
                <a:spcPts val="480"/>
              </a:spcBef>
              <a:spcAft>
                <a:spcPts val="0"/>
              </a:spcAft>
              <a:buClr>
                <a:schemeClr val="dk1"/>
              </a:buClr>
              <a:buSzPts val="2400"/>
              <a:buChar char="–"/>
            </a:pPr>
            <a:r>
              <a:rPr lang="en-IN" sz="2400">
                <a:solidFill>
                  <a:schemeClr val="dk1"/>
                </a:solidFill>
                <a:latin typeface="Calibri"/>
                <a:ea typeface="Calibri"/>
                <a:cs typeface="Calibri"/>
                <a:sym typeface="Calibri"/>
              </a:rPr>
              <a:t>If δ(p,a)=r  and δ(q,a)=s then mark cell (p,q) with “X” if cell(r,s) is marked with “X”</a:t>
            </a:r>
            <a:endParaRPr/>
          </a:p>
          <a:p>
            <a:pPr indent="-285750" lvl="1" marL="742950" rtl="0" algn="l">
              <a:spcBef>
                <a:spcPts val="480"/>
              </a:spcBef>
              <a:spcAft>
                <a:spcPts val="0"/>
              </a:spcAft>
              <a:buClr>
                <a:schemeClr val="dk1"/>
              </a:buClr>
              <a:buSzPts val="2400"/>
              <a:buChar char="–"/>
            </a:pPr>
            <a:r>
              <a:rPr lang="en-IN" sz="2400">
                <a:solidFill>
                  <a:schemeClr val="dk1"/>
                </a:solidFill>
                <a:latin typeface="Calibri"/>
                <a:ea typeface="Calibri"/>
                <a:cs typeface="Calibri"/>
                <a:sym typeface="Calibri"/>
              </a:rPr>
              <a:t>If cell(p,q) is unmarked wrt input “a” then repeat step 4 with another input available</a:t>
            </a:r>
            <a:endParaRPr/>
          </a:p>
        </p:txBody>
      </p:sp>
      <p:sp>
        <p:nvSpPr>
          <p:cNvPr id="2877" name="Google Shape;2877;p2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878" name="Google Shape;2878;p2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879" name="Google Shape;2879;p2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3" name="Shape 2883"/>
        <p:cNvGrpSpPr/>
        <p:nvPr/>
      </p:nvGrpSpPr>
      <p:grpSpPr>
        <a:xfrm>
          <a:off x="0" y="0"/>
          <a:ext cx="0" cy="0"/>
          <a:chOff x="0" y="0"/>
          <a:chExt cx="0" cy="0"/>
        </a:xfrm>
      </p:grpSpPr>
      <p:sp>
        <p:nvSpPr>
          <p:cNvPr id="2884" name="Google Shape;2884;p2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Myhill Nerode Theorem</a:t>
            </a:r>
            <a:endParaRPr/>
          </a:p>
        </p:txBody>
      </p:sp>
      <p:sp>
        <p:nvSpPr>
          <p:cNvPr id="2885" name="Google Shape;2885;p217"/>
          <p:cNvSpPr txBox="1"/>
          <p:nvPr>
            <p:ph idx="1" type="body"/>
          </p:nvPr>
        </p:nvSpPr>
        <p:spPr>
          <a:xfrm>
            <a:off x="457200" y="1600200"/>
            <a:ext cx="8229600" cy="4525963"/>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lang="en-IN" sz="2400">
                <a:solidFill>
                  <a:schemeClr val="dk1"/>
                </a:solidFill>
                <a:latin typeface="Calibri"/>
                <a:ea typeface="Calibri"/>
                <a:cs typeface="Calibri"/>
                <a:sym typeface="Calibri"/>
              </a:rPr>
              <a:t>Step 5- All those cells which are unmarked can be merged into single state respectively</a:t>
            </a:r>
            <a:endParaRPr/>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lang="en-IN" sz="2400">
                <a:solidFill>
                  <a:schemeClr val="dk1"/>
                </a:solidFill>
                <a:latin typeface="Calibri"/>
                <a:ea typeface="Calibri"/>
                <a:cs typeface="Calibri"/>
                <a:sym typeface="Calibri"/>
              </a:rPr>
              <a:t>These states are equivalent states</a:t>
            </a:r>
            <a:endParaRPr/>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lang="en-IN" sz="2400">
                <a:solidFill>
                  <a:schemeClr val="dk1"/>
                </a:solidFill>
                <a:latin typeface="Calibri"/>
                <a:ea typeface="Calibri"/>
                <a:cs typeface="Calibri"/>
                <a:sym typeface="Calibri"/>
              </a:rPr>
              <a:t>The equivalent states have identical transitions on input values</a:t>
            </a:r>
            <a:endParaRPr/>
          </a:p>
          <a:p>
            <a:pPr indent="0" lvl="0" marL="0" rtl="0" algn="l">
              <a:spcBef>
                <a:spcPts val="480"/>
              </a:spcBef>
              <a:spcAft>
                <a:spcPts val="0"/>
              </a:spcAft>
              <a:buClr>
                <a:schemeClr val="dk1"/>
              </a:buClr>
              <a:buSzPts val="2400"/>
              <a:buNone/>
            </a:pPr>
            <a:r>
              <a:t/>
            </a:r>
            <a:endParaRPr sz="2400"/>
          </a:p>
        </p:txBody>
      </p:sp>
      <p:sp>
        <p:nvSpPr>
          <p:cNvPr id="2886" name="Google Shape;2886;p2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887" name="Google Shape;2887;p2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888" name="Google Shape;2888;p2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889" name="Google Shape;2889;p217"/>
          <p:cNvSpPr/>
          <p:nvPr/>
        </p:nvSpPr>
        <p:spPr>
          <a:xfrm>
            <a:off x="323528" y="3645024"/>
            <a:ext cx="8424936" cy="720080"/>
          </a:xfrm>
          <a:prstGeom prst="frame">
            <a:avLst>
              <a:gd fmla="val 12500" name="adj1"/>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3" name="Shape 2893"/>
        <p:cNvGrpSpPr/>
        <p:nvPr/>
      </p:nvGrpSpPr>
      <p:grpSpPr>
        <a:xfrm>
          <a:off x="0" y="0"/>
          <a:ext cx="0" cy="0"/>
          <a:chOff x="0" y="0"/>
          <a:chExt cx="0" cy="0"/>
        </a:xfrm>
      </p:grpSpPr>
      <p:sp>
        <p:nvSpPr>
          <p:cNvPr id="2894" name="Google Shape;2894;p2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Myhill Nerode Theorem</a:t>
            </a:r>
            <a:endParaRPr/>
          </a:p>
        </p:txBody>
      </p:sp>
      <p:sp>
        <p:nvSpPr>
          <p:cNvPr id="2895" name="Google Shape;2895;p218"/>
          <p:cNvSpPr txBox="1"/>
          <p:nvPr>
            <p:ph idx="1" type="body"/>
          </p:nvPr>
        </p:nvSpPr>
        <p:spPr>
          <a:xfrm>
            <a:off x="457200" y="1600200"/>
            <a:ext cx="8229600" cy="4525963"/>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IN" sz="2400">
                <a:solidFill>
                  <a:schemeClr val="dk1"/>
                </a:solidFill>
                <a:latin typeface="Calibri"/>
                <a:ea typeface="Calibri"/>
                <a:cs typeface="Calibri"/>
                <a:sym typeface="Calibri"/>
              </a:rPr>
              <a:t>Set of accepting states of Minimized DFA is the set of states containing accepting states of DFA</a:t>
            </a:r>
            <a:endParaRPr/>
          </a:p>
          <a:p>
            <a:pPr indent="-342900" lvl="0" marL="342900" rtl="0" algn="l">
              <a:spcBef>
                <a:spcPts val="480"/>
              </a:spcBef>
              <a:spcAft>
                <a:spcPts val="0"/>
              </a:spcAft>
              <a:buClr>
                <a:schemeClr val="dk1"/>
              </a:buClr>
              <a:buSzPts val="2400"/>
              <a:buChar char="•"/>
            </a:pPr>
            <a:r>
              <a:rPr lang="en-IN" sz="2400">
                <a:solidFill>
                  <a:schemeClr val="dk1"/>
                </a:solidFill>
                <a:latin typeface="Calibri"/>
                <a:ea typeface="Calibri"/>
                <a:cs typeface="Calibri"/>
                <a:sym typeface="Calibri"/>
              </a:rPr>
              <a:t>If one state of a set is accepting, then all the states of that set must be accepting.</a:t>
            </a:r>
            <a:endParaRPr/>
          </a:p>
          <a:p>
            <a:pPr indent="-342900" lvl="0" marL="342900" rtl="0" algn="l">
              <a:spcBef>
                <a:spcPts val="480"/>
              </a:spcBef>
              <a:spcAft>
                <a:spcPts val="0"/>
              </a:spcAft>
              <a:buClr>
                <a:schemeClr val="dk1"/>
              </a:buClr>
              <a:buSzPts val="2400"/>
              <a:buChar char="•"/>
            </a:pPr>
            <a:r>
              <a:rPr lang="en-IN" sz="2400">
                <a:solidFill>
                  <a:schemeClr val="dk1"/>
                </a:solidFill>
                <a:latin typeface="Calibri"/>
                <a:ea typeface="Calibri"/>
                <a:cs typeface="Calibri"/>
                <a:sym typeface="Calibri"/>
              </a:rPr>
              <a:t>Any accepting state is distinguishable from non-accepting state so you cant have both accepting and non accepting states in one set.</a:t>
            </a:r>
            <a:endParaRPr sz="2400"/>
          </a:p>
          <a:p>
            <a:pPr indent="0" lvl="0" marL="0" rtl="0" algn="l">
              <a:spcBef>
                <a:spcPts val="480"/>
              </a:spcBef>
              <a:spcAft>
                <a:spcPts val="0"/>
              </a:spcAft>
              <a:buClr>
                <a:schemeClr val="dk1"/>
              </a:buClr>
              <a:buSzPts val="2400"/>
              <a:buNone/>
            </a:pPr>
            <a:r>
              <a:t/>
            </a:r>
            <a:endParaRPr sz="2400"/>
          </a:p>
        </p:txBody>
      </p:sp>
      <p:sp>
        <p:nvSpPr>
          <p:cNvPr id="2896" name="Google Shape;2896;p2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897" name="Google Shape;2897;p2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898" name="Google Shape;2898;p2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2" name="Shape 2902"/>
        <p:cNvGrpSpPr/>
        <p:nvPr/>
      </p:nvGrpSpPr>
      <p:grpSpPr>
        <a:xfrm>
          <a:off x="0" y="0"/>
          <a:ext cx="0" cy="0"/>
          <a:chOff x="0" y="0"/>
          <a:chExt cx="0" cy="0"/>
        </a:xfrm>
      </p:grpSpPr>
      <p:sp>
        <p:nvSpPr>
          <p:cNvPr id="2903" name="Google Shape;2903;p219"/>
          <p:cNvSpPr txBox="1"/>
          <p:nvPr>
            <p:ph type="title"/>
          </p:nvPr>
        </p:nvSpPr>
        <p:spPr>
          <a:xfrm>
            <a:off x="457200" y="274638"/>
            <a:ext cx="8229600" cy="202034"/>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Calibri"/>
              <a:buNone/>
            </a:pPr>
            <a:r>
              <a:rPr b="1" lang="en-IN" sz="2000"/>
              <a:t>DFA Minimization-Example 1</a:t>
            </a:r>
            <a:endParaRPr b="1" sz="2000"/>
          </a:p>
        </p:txBody>
      </p:sp>
      <p:sp>
        <p:nvSpPr>
          <p:cNvPr id="2904" name="Google Shape;2904;p2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905" name="Google Shape;2905;p2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906" name="Google Shape;2906;p2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0" name="Shape 2910"/>
        <p:cNvGrpSpPr/>
        <p:nvPr/>
      </p:nvGrpSpPr>
      <p:grpSpPr>
        <a:xfrm>
          <a:off x="0" y="0"/>
          <a:ext cx="0" cy="0"/>
          <a:chOff x="0" y="0"/>
          <a:chExt cx="0" cy="0"/>
        </a:xfrm>
      </p:grpSpPr>
      <p:sp>
        <p:nvSpPr>
          <p:cNvPr id="2911" name="Google Shape;2911;p220"/>
          <p:cNvSpPr txBox="1"/>
          <p:nvPr>
            <p:ph type="title"/>
          </p:nvPr>
        </p:nvSpPr>
        <p:spPr>
          <a:xfrm>
            <a:off x="457200" y="274638"/>
            <a:ext cx="8229600" cy="202034"/>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Calibri"/>
              <a:buNone/>
            </a:pPr>
            <a:r>
              <a:rPr b="1" lang="en-IN" sz="2000"/>
              <a:t>DFA Minimization-Example 1</a:t>
            </a:r>
            <a:endParaRPr b="1" sz="2000"/>
          </a:p>
        </p:txBody>
      </p:sp>
      <p:sp>
        <p:nvSpPr>
          <p:cNvPr id="2912" name="Google Shape;2912;p2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913" name="Google Shape;2913;p2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914" name="Google Shape;2914;p2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8" name="Shape 2918"/>
        <p:cNvGrpSpPr/>
        <p:nvPr/>
      </p:nvGrpSpPr>
      <p:grpSpPr>
        <a:xfrm>
          <a:off x="0" y="0"/>
          <a:ext cx="0" cy="0"/>
          <a:chOff x="0" y="0"/>
          <a:chExt cx="0" cy="0"/>
        </a:xfrm>
      </p:grpSpPr>
      <p:sp>
        <p:nvSpPr>
          <p:cNvPr id="2919" name="Google Shape;2919;p221"/>
          <p:cNvSpPr txBox="1"/>
          <p:nvPr>
            <p:ph type="title"/>
          </p:nvPr>
        </p:nvSpPr>
        <p:spPr>
          <a:xfrm>
            <a:off x="457200" y="274638"/>
            <a:ext cx="8229600" cy="202034"/>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Calibri"/>
              <a:buNone/>
            </a:pPr>
            <a:r>
              <a:rPr b="1" lang="en-IN" sz="2000"/>
              <a:t>DFA Minimization-Example 1</a:t>
            </a:r>
            <a:endParaRPr b="1" sz="2000"/>
          </a:p>
        </p:txBody>
      </p:sp>
      <p:sp>
        <p:nvSpPr>
          <p:cNvPr id="2920" name="Google Shape;2920;p2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921" name="Google Shape;2921;p2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922" name="Google Shape;2922;p2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6" name="Shape 2926"/>
        <p:cNvGrpSpPr/>
        <p:nvPr/>
      </p:nvGrpSpPr>
      <p:grpSpPr>
        <a:xfrm>
          <a:off x="0" y="0"/>
          <a:ext cx="0" cy="0"/>
          <a:chOff x="0" y="0"/>
          <a:chExt cx="0" cy="0"/>
        </a:xfrm>
      </p:grpSpPr>
      <p:sp>
        <p:nvSpPr>
          <p:cNvPr id="2927" name="Google Shape;2927;p222"/>
          <p:cNvSpPr txBox="1"/>
          <p:nvPr>
            <p:ph type="title"/>
          </p:nvPr>
        </p:nvSpPr>
        <p:spPr>
          <a:xfrm>
            <a:off x="457200" y="274638"/>
            <a:ext cx="8229600" cy="202034"/>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Calibri"/>
              <a:buNone/>
            </a:pPr>
            <a:r>
              <a:rPr b="1" lang="en-IN" sz="2000"/>
              <a:t>DFA Minimization-Example 1</a:t>
            </a:r>
            <a:endParaRPr b="1" sz="2000"/>
          </a:p>
        </p:txBody>
      </p:sp>
      <p:sp>
        <p:nvSpPr>
          <p:cNvPr id="2928" name="Google Shape;2928;p2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929" name="Google Shape;2929;p2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930" name="Google Shape;2930;p2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4" name="Shape 2934"/>
        <p:cNvGrpSpPr/>
        <p:nvPr/>
      </p:nvGrpSpPr>
      <p:grpSpPr>
        <a:xfrm>
          <a:off x="0" y="0"/>
          <a:ext cx="0" cy="0"/>
          <a:chOff x="0" y="0"/>
          <a:chExt cx="0" cy="0"/>
        </a:xfrm>
      </p:grpSpPr>
      <p:sp>
        <p:nvSpPr>
          <p:cNvPr id="2935" name="Google Shape;2935;p223"/>
          <p:cNvSpPr txBox="1"/>
          <p:nvPr>
            <p:ph type="title"/>
          </p:nvPr>
        </p:nvSpPr>
        <p:spPr>
          <a:xfrm>
            <a:off x="457200" y="274638"/>
            <a:ext cx="8229600" cy="202034"/>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Calibri"/>
              <a:buNone/>
            </a:pPr>
            <a:r>
              <a:rPr b="1" lang="en-IN" sz="2000"/>
              <a:t>DFA Minimization-Example 1</a:t>
            </a:r>
            <a:endParaRPr b="1" sz="2000"/>
          </a:p>
        </p:txBody>
      </p:sp>
      <p:sp>
        <p:nvSpPr>
          <p:cNvPr id="2936" name="Google Shape;2936;p2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937" name="Google Shape;2937;p2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938" name="Google Shape;2938;p2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3" name="Shape 2943"/>
        <p:cNvGrpSpPr/>
        <p:nvPr/>
      </p:nvGrpSpPr>
      <p:grpSpPr>
        <a:xfrm>
          <a:off x="0" y="0"/>
          <a:ext cx="0" cy="0"/>
          <a:chOff x="0" y="0"/>
          <a:chExt cx="0" cy="0"/>
        </a:xfrm>
      </p:grpSpPr>
      <p:sp>
        <p:nvSpPr>
          <p:cNvPr id="2944" name="Google Shape;2944;p2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Example2 </a:t>
            </a:r>
            <a:br>
              <a:rPr lang="en-IN" sz="3200"/>
            </a:br>
            <a:r>
              <a:rPr lang="en-IN" sz="3200"/>
              <a:t>DFA Minimization Using Box Method</a:t>
            </a:r>
            <a:endParaRPr sz="3200"/>
          </a:p>
        </p:txBody>
      </p:sp>
      <p:pic>
        <p:nvPicPr>
          <p:cNvPr id="2945" name="Google Shape;2945;p224"/>
          <p:cNvPicPr preferRelativeResize="0"/>
          <p:nvPr/>
        </p:nvPicPr>
        <p:blipFill rotWithShape="1">
          <a:blip r:embed="rId3">
            <a:alphaModFix/>
          </a:blip>
          <a:srcRect b="41382" l="21888" r="46912" t="31724"/>
          <a:stretch/>
        </p:blipFill>
        <p:spPr>
          <a:xfrm>
            <a:off x="126269" y="1556792"/>
            <a:ext cx="8766212" cy="4248472"/>
          </a:xfrm>
          <a:prstGeom prst="rect">
            <a:avLst/>
          </a:prstGeom>
          <a:noFill/>
          <a:ln>
            <a:noFill/>
          </a:ln>
        </p:spPr>
      </p:pic>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9" name="Shape 2949"/>
        <p:cNvGrpSpPr/>
        <p:nvPr/>
      </p:nvGrpSpPr>
      <p:grpSpPr>
        <a:xfrm>
          <a:off x="0" y="0"/>
          <a:ext cx="0" cy="0"/>
          <a:chOff x="0" y="0"/>
          <a:chExt cx="0" cy="0"/>
        </a:xfrm>
      </p:grpSpPr>
      <p:sp>
        <p:nvSpPr>
          <p:cNvPr id="2950" name="Google Shape;2950;p226"/>
          <p:cNvSpPr txBox="1"/>
          <p:nvPr>
            <p:ph type="title"/>
          </p:nvPr>
        </p:nvSpPr>
        <p:spPr>
          <a:xfrm>
            <a:off x="457200" y="274638"/>
            <a:ext cx="8229600" cy="99412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Calibri"/>
              <a:buNone/>
            </a:pPr>
            <a:r>
              <a:rPr b="1" lang="en-IN" sz="2000"/>
              <a:t>DFA Minimization-Example 2- To be solved by students</a:t>
            </a:r>
            <a:br>
              <a:rPr b="1" lang="en-IN" sz="2000"/>
            </a:br>
            <a:br>
              <a:rPr b="1" lang="en-IN" sz="2000"/>
            </a:br>
            <a:r>
              <a:rPr b="1" lang="en-IN" sz="2000"/>
              <a:t>Construct the Minimized DFA for the following DFA-</a:t>
            </a:r>
            <a:endParaRPr b="1" sz="2000"/>
          </a:p>
        </p:txBody>
      </p:sp>
      <p:sp>
        <p:nvSpPr>
          <p:cNvPr id="2951" name="Google Shape;2951;p2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952" name="Google Shape;2952;p2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953" name="Google Shape;2953;p2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954" name="Google Shape;2954;p226"/>
          <p:cNvSpPr txBox="1"/>
          <p:nvPr/>
        </p:nvSpPr>
        <p:spPr>
          <a:xfrm>
            <a:off x="3131840" y="1288092"/>
            <a:ext cx="4320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2955" name="Google Shape;2955;p226"/>
          <p:cNvSpPr txBox="1"/>
          <p:nvPr/>
        </p:nvSpPr>
        <p:spPr>
          <a:xfrm>
            <a:off x="5012076" y="2920022"/>
            <a:ext cx="2160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rgbClr val="FF0000"/>
                </a:solidFill>
                <a:latin typeface="Calibri"/>
                <a:ea typeface="Calibri"/>
                <a:cs typeface="Calibri"/>
                <a:sym typeface="Calibri"/>
              </a:rPr>
              <a:t>X</a:t>
            </a:r>
            <a:endParaRPr sz="1800">
              <a:solidFill>
                <a:srgbClr val="FF0000"/>
              </a:solidFill>
              <a:latin typeface="Calibri"/>
              <a:ea typeface="Calibri"/>
              <a:cs typeface="Calibri"/>
              <a:sym typeface="Calibri"/>
            </a:endParaRPr>
          </a:p>
        </p:txBody>
      </p:sp>
      <p:pic>
        <p:nvPicPr>
          <p:cNvPr id="2956" name="Google Shape;2956;p226"/>
          <p:cNvPicPr preferRelativeResize="0"/>
          <p:nvPr/>
        </p:nvPicPr>
        <p:blipFill rotWithShape="1">
          <a:blip r:embed="rId3">
            <a:alphaModFix/>
          </a:blip>
          <a:srcRect b="0" l="0" r="0" t="0"/>
          <a:stretch/>
        </p:blipFill>
        <p:spPr>
          <a:xfrm>
            <a:off x="1043608" y="1797050"/>
            <a:ext cx="5607050" cy="3263900"/>
          </a:xfrm>
          <a:prstGeom prst="rect">
            <a:avLst/>
          </a:prstGeom>
          <a:noFill/>
          <a:ln>
            <a:noFill/>
          </a:ln>
        </p:spPr>
      </p:pic>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1" name="Shape 2961"/>
        <p:cNvGrpSpPr/>
        <p:nvPr/>
      </p:nvGrpSpPr>
      <p:grpSpPr>
        <a:xfrm>
          <a:off x="0" y="0"/>
          <a:ext cx="0" cy="0"/>
          <a:chOff x="0" y="0"/>
          <a:chExt cx="0" cy="0"/>
        </a:xfrm>
      </p:grpSpPr>
      <p:sp>
        <p:nvSpPr>
          <p:cNvPr id="2962" name="Google Shape;2962;p2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Q1 DFA Minimization Using Box Method            10 Mrks</a:t>
            </a:r>
            <a:endParaRPr sz="3200"/>
          </a:p>
        </p:txBody>
      </p:sp>
      <p:sp>
        <p:nvSpPr>
          <p:cNvPr id="2963" name="Google Shape;2963;p225"/>
          <p:cNvSpPr/>
          <p:nvPr/>
        </p:nvSpPr>
        <p:spPr>
          <a:xfrm>
            <a:off x="611560" y="5949280"/>
            <a:ext cx="754258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https://www.geeksforgeeks.org/minimization-of-dfa-using-myhill-nerode-theorem/</a:t>
            </a:r>
            <a:endParaRPr/>
          </a:p>
        </p:txBody>
      </p:sp>
      <p:pic>
        <p:nvPicPr>
          <p:cNvPr id="2964" name="Google Shape;2964;p225"/>
          <p:cNvPicPr preferRelativeResize="0"/>
          <p:nvPr/>
        </p:nvPicPr>
        <p:blipFill rotWithShape="1">
          <a:blip r:embed="rId3">
            <a:alphaModFix/>
          </a:blip>
          <a:srcRect b="41382" l="21888" r="46912" t="31724"/>
          <a:stretch/>
        </p:blipFill>
        <p:spPr>
          <a:xfrm>
            <a:off x="3692185" y="1556792"/>
            <a:ext cx="5200295" cy="2520280"/>
          </a:xfrm>
          <a:prstGeom prst="rect">
            <a:avLst/>
          </a:prstGeom>
          <a:noFill/>
          <a:ln>
            <a:noFill/>
          </a:ln>
        </p:spPr>
      </p:pic>
      <p:pic>
        <p:nvPicPr>
          <p:cNvPr id="2965" name="Google Shape;2965;p225"/>
          <p:cNvPicPr preferRelativeResize="0"/>
          <p:nvPr>
            <p:ph idx="1" type="body"/>
          </p:nvPr>
        </p:nvPicPr>
        <p:blipFill rotWithShape="1">
          <a:blip r:embed="rId4">
            <a:alphaModFix/>
          </a:blip>
          <a:srcRect b="0" l="0" r="0" t="0"/>
          <a:stretch/>
        </p:blipFill>
        <p:spPr>
          <a:xfrm>
            <a:off x="971600" y="5157192"/>
            <a:ext cx="4886325" cy="676275"/>
          </a:xfrm>
          <a:prstGeom prst="rect">
            <a:avLst/>
          </a:prstGeom>
          <a:noFill/>
          <a:ln>
            <a:noFill/>
          </a:ln>
        </p:spPr>
      </p:pic>
      <p:pic>
        <p:nvPicPr>
          <p:cNvPr id="2966" name="Google Shape;2966;p225"/>
          <p:cNvPicPr preferRelativeResize="0"/>
          <p:nvPr/>
        </p:nvPicPr>
        <p:blipFill rotWithShape="1">
          <a:blip r:embed="rId5">
            <a:alphaModFix/>
          </a:blip>
          <a:srcRect b="0" l="0" r="0" t="0"/>
          <a:stretch/>
        </p:blipFill>
        <p:spPr>
          <a:xfrm>
            <a:off x="899592" y="1772816"/>
            <a:ext cx="2676525" cy="2590800"/>
          </a:xfrm>
          <a:prstGeom prst="rect">
            <a:avLst/>
          </a:prstGeom>
          <a:noFill/>
          <a:ln>
            <a:noFill/>
          </a:ln>
        </p:spPr>
      </p:pic>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0" name="Shape 2970"/>
        <p:cNvGrpSpPr/>
        <p:nvPr/>
      </p:nvGrpSpPr>
      <p:grpSpPr>
        <a:xfrm>
          <a:off x="0" y="0"/>
          <a:ext cx="0" cy="0"/>
          <a:chOff x="0" y="0"/>
          <a:chExt cx="0" cy="0"/>
        </a:xfrm>
      </p:grpSpPr>
      <p:sp>
        <p:nvSpPr>
          <p:cNvPr id="2971" name="Google Shape;2971;p2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lang="en-IN" sz="3200"/>
              <a:t>Lecture 1/2/2022</a:t>
            </a:r>
            <a:endParaRPr sz="3200"/>
          </a:p>
        </p:txBody>
      </p:sp>
      <p:sp>
        <p:nvSpPr>
          <p:cNvPr id="2972" name="Google Shape;2972;p2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2973" name="Google Shape;2973;p2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974" name="Google Shape;2974;p2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975" name="Google Shape;2975;p2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9" name="Shape 2979"/>
        <p:cNvGrpSpPr/>
        <p:nvPr/>
      </p:nvGrpSpPr>
      <p:grpSpPr>
        <a:xfrm>
          <a:off x="0" y="0"/>
          <a:ext cx="0" cy="0"/>
          <a:chOff x="0" y="0"/>
          <a:chExt cx="0" cy="0"/>
        </a:xfrm>
      </p:grpSpPr>
      <p:sp>
        <p:nvSpPr>
          <p:cNvPr id="2980" name="Google Shape;2980;p2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Minimization of DFA-Successive Partitioning Method</a:t>
            </a:r>
            <a:endParaRPr sz="3200"/>
          </a:p>
        </p:txBody>
      </p:sp>
      <p:sp>
        <p:nvSpPr>
          <p:cNvPr id="2981" name="Google Shape;2981;p2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Method of Successive Partitioning</a:t>
            </a:r>
            <a:endParaRPr/>
          </a:p>
          <a:p>
            <a:pPr indent="-342900" lvl="0" marL="342900" rtl="0" algn="l">
              <a:spcBef>
                <a:spcPts val="480"/>
              </a:spcBef>
              <a:spcAft>
                <a:spcPts val="0"/>
              </a:spcAft>
              <a:buClr>
                <a:schemeClr val="dk1"/>
              </a:buClr>
              <a:buSzPts val="2400"/>
              <a:buChar char="•"/>
            </a:pPr>
            <a:r>
              <a:rPr lang="en-IN" sz="2400"/>
              <a:t>Also called Equivalence Partitioning</a:t>
            </a:r>
            <a:endParaRPr/>
          </a:p>
          <a:p>
            <a:pPr indent="-342900" lvl="0" marL="342900" rtl="0" algn="l">
              <a:spcBef>
                <a:spcPts val="480"/>
              </a:spcBef>
              <a:spcAft>
                <a:spcPts val="0"/>
              </a:spcAft>
              <a:buClr>
                <a:schemeClr val="dk1"/>
              </a:buClr>
              <a:buSzPts val="2400"/>
              <a:buChar char="•"/>
            </a:pPr>
            <a:r>
              <a:rPr lang="en-IN" sz="2400"/>
              <a:t>To find Distinguishable/Non-Distinguishable states</a:t>
            </a:r>
            <a:endParaRPr sz="2400"/>
          </a:p>
        </p:txBody>
      </p:sp>
      <p:sp>
        <p:nvSpPr>
          <p:cNvPr id="2982" name="Google Shape;2982;p2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983" name="Google Shape;2983;p2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984" name="Google Shape;2984;p2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8" name="Shape 2988"/>
        <p:cNvGrpSpPr/>
        <p:nvPr/>
      </p:nvGrpSpPr>
      <p:grpSpPr>
        <a:xfrm>
          <a:off x="0" y="0"/>
          <a:ext cx="0" cy="0"/>
          <a:chOff x="0" y="0"/>
          <a:chExt cx="0" cy="0"/>
        </a:xfrm>
      </p:grpSpPr>
      <p:sp>
        <p:nvSpPr>
          <p:cNvPr id="2989" name="Google Shape;2989;p2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Minimization of DFA-Successive Partitioning Method</a:t>
            </a:r>
            <a:endParaRPr/>
          </a:p>
        </p:txBody>
      </p:sp>
      <p:sp>
        <p:nvSpPr>
          <p:cNvPr id="2990" name="Google Shape;2990;p2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Step 1-</a:t>
            </a:r>
            <a:endParaRPr/>
          </a:p>
          <a:p>
            <a:pPr indent="-342900" lvl="0" marL="342900" rtl="0" algn="l">
              <a:spcBef>
                <a:spcPts val="480"/>
              </a:spcBef>
              <a:spcAft>
                <a:spcPts val="0"/>
              </a:spcAft>
              <a:buClr>
                <a:schemeClr val="dk1"/>
              </a:buClr>
              <a:buSzPts val="2400"/>
              <a:buChar char="•"/>
            </a:pPr>
            <a:r>
              <a:rPr lang="en-IN" sz="2400"/>
              <a:t>Divide P, The set of states into two sets</a:t>
            </a:r>
            <a:endParaRPr/>
          </a:p>
          <a:p>
            <a:pPr indent="-342900" lvl="0" marL="342900" rtl="0" algn="l">
              <a:spcBef>
                <a:spcPts val="480"/>
              </a:spcBef>
              <a:spcAft>
                <a:spcPts val="0"/>
              </a:spcAft>
              <a:buClr>
                <a:schemeClr val="dk1"/>
              </a:buClr>
              <a:buSzPts val="2400"/>
              <a:buChar char="•"/>
            </a:pPr>
            <a:r>
              <a:rPr lang="en-IN" sz="2400"/>
              <a:t>One set will contain final states of DFA </a:t>
            </a:r>
            <a:endParaRPr/>
          </a:p>
          <a:p>
            <a:pPr indent="-342900" lvl="0" marL="342900" rtl="0" algn="l">
              <a:spcBef>
                <a:spcPts val="480"/>
              </a:spcBef>
              <a:spcAft>
                <a:spcPts val="0"/>
              </a:spcAft>
              <a:buClr>
                <a:schemeClr val="dk1"/>
              </a:buClr>
              <a:buSzPts val="2400"/>
              <a:buChar char="•"/>
            </a:pPr>
            <a:r>
              <a:rPr lang="en-IN" sz="2400"/>
              <a:t>Another set will contain remaining non-final states. </a:t>
            </a:r>
            <a:endParaRPr/>
          </a:p>
          <a:p>
            <a:pPr indent="-342900" lvl="0" marL="342900" rtl="0" algn="l">
              <a:spcBef>
                <a:spcPts val="480"/>
              </a:spcBef>
              <a:spcAft>
                <a:spcPts val="0"/>
              </a:spcAft>
              <a:buClr>
                <a:schemeClr val="dk1"/>
              </a:buClr>
              <a:buSzPts val="2400"/>
              <a:buChar char="•"/>
            </a:pPr>
            <a:r>
              <a:rPr lang="en-IN" sz="2400"/>
              <a:t>This Partition is called P0</a:t>
            </a:r>
            <a:endParaRPr/>
          </a:p>
          <a:p>
            <a:pPr indent="-342900" lvl="0" marL="342900" rtl="0" algn="l">
              <a:spcBef>
                <a:spcPts val="480"/>
              </a:spcBef>
              <a:spcAft>
                <a:spcPts val="0"/>
              </a:spcAft>
              <a:buClr>
                <a:schemeClr val="dk1"/>
              </a:buClr>
              <a:buSzPts val="2400"/>
              <a:buChar char="•"/>
            </a:pPr>
            <a:r>
              <a:rPr lang="en-IN" sz="2400"/>
              <a:t>As every final state is distinguishable from a non-final state</a:t>
            </a:r>
            <a:endParaRPr/>
          </a:p>
          <a:p>
            <a:pPr indent="-190500" lvl="0" marL="34290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lang="en-IN" sz="2400"/>
              <a:t>Step 2-</a:t>
            </a:r>
            <a:endParaRPr/>
          </a:p>
          <a:p>
            <a:pPr indent="-342900" lvl="0" marL="342900" rtl="0" algn="l">
              <a:spcBef>
                <a:spcPts val="480"/>
              </a:spcBef>
              <a:spcAft>
                <a:spcPts val="0"/>
              </a:spcAft>
              <a:buClr>
                <a:schemeClr val="dk1"/>
              </a:buClr>
              <a:buSzPts val="2400"/>
              <a:buChar char="•"/>
            </a:pPr>
            <a:r>
              <a:rPr lang="en-IN" sz="2400"/>
              <a:t>We find transitions from members of each partition on every input symbol</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2991" name="Google Shape;2991;p2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2992" name="Google Shape;2992;p2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2993" name="Google Shape;2993;p2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7" name="Shape 2997"/>
        <p:cNvGrpSpPr/>
        <p:nvPr/>
      </p:nvGrpSpPr>
      <p:grpSpPr>
        <a:xfrm>
          <a:off x="0" y="0"/>
          <a:ext cx="0" cy="0"/>
          <a:chOff x="0" y="0"/>
          <a:chExt cx="0" cy="0"/>
        </a:xfrm>
      </p:grpSpPr>
      <p:sp>
        <p:nvSpPr>
          <p:cNvPr id="2998" name="Google Shape;2998;p2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Step 3-</a:t>
            </a:r>
            <a:endParaRPr/>
          </a:p>
          <a:p>
            <a:pPr indent="-342900" lvl="0" marL="342900" rtl="0" algn="l">
              <a:spcBef>
                <a:spcPts val="480"/>
              </a:spcBef>
              <a:spcAft>
                <a:spcPts val="0"/>
              </a:spcAft>
              <a:buClr>
                <a:schemeClr val="dk1"/>
              </a:buClr>
              <a:buSzPts val="2400"/>
              <a:buChar char="•"/>
            </a:pPr>
            <a:r>
              <a:rPr lang="en-IN" sz="2400"/>
              <a:t>If for an input symbol, the transitions from some members of the partition  goes to one  partition whereas transitions from other members of a partition goes to some other partition=&gt; These members are distinguishable</a:t>
            </a:r>
            <a:endParaRPr/>
          </a:p>
          <a:p>
            <a:pPr indent="-342900" lvl="0" marL="342900" rtl="0" algn="l">
              <a:spcBef>
                <a:spcPts val="480"/>
              </a:spcBef>
              <a:spcAft>
                <a:spcPts val="0"/>
              </a:spcAft>
              <a:buClr>
                <a:schemeClr val="dk1"/>
              </a:buClr>
              <a:buSzPts val="2400"/>
              <a:buChar char="•"/>
            </a:pPr>
            <a:r>
              <a:rPr lang="en-IN" sz="2400"/>
              <a:t>We do partitioning, to get P1 set</a:t>
            </a:r>
            <a:endParaRPr/>
          </a:p>
          <a:p>
            <a:pPr indent="-342900" lvl="0" marL="342900" rtl="0" algn="l">
              <a:spcBef>
                <a:spcPts val="480"/>
              </a:spcBef>
              <a:spcAft>
                <a:spcPts val="0"/>
              </a:spcAft>
              <a:buClr>
                <a:schemeClr val="dk1"/>
              </a:buClr>
              <a:buSzPts val="2400"/>
              <a:buChar char="•"/>
            </a:pPr>
            <a:r>
              <a:rPr lang="en-IN" sz="2400"/>
              <a:t>We continue partitioning, till no further partitioning is possible</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2999" name="Google Shape;2999;p2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000" name="Google Shape;3000;p2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001" name="Google Shape;3001;p2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002" name="Google Shape;3002;p2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Minimization of DFA-Successive Partitioning Method</a:t>
            </a:r>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6" name="Shape 3006"/>
        <p:cNvGrpSpPr/>
        <p:nvPr/>
      </p:nvGrpSpPr>
      <p:grpSpPr>
        <a:xfrm>
          <a:off x="0" y="0"/>
          <a:ext cx="0" cy="0"/>
          <a:chOff x="0" y="0"/>
          <a:chExt cx="0" cy="0"/>
        </a:xfrm>
      </p:grpSpPr>
      <p:sp>
        <p:nvSpPr>
          <p:cNvPr id="3007" name="Google Shape;3007;p2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Step 4-</a:t>
            </a:r>
            <a:endParaRPr/>
          </a:p>
          <a:p>
            <a:pPr indent="-342900" lvl="0" marL="342900" rtl="0" algn="l">
              <a:spcBef>
                <a:spcPts val="480"/>
              </a:spcBef>
              <a:spcAft>
                <a:spcPts val="0"/>
              </a:spcAft>
              <a:buClr>
                <a:schemeClr val="dk1"/>
              </a:buClr>
              <a:buSzPts val="2400"/>
              <a:buChar char="•"/>
            </a:pPr>
            <a:r>
              <a:rPr lang="en-IN" sz="2400"/>
              <a:t>In the end, If we get a partition with more than one state, i.e. they are not distinguishable, We merge all the states of this partition into a single state</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008" name="Google Shape;3008;p2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009" name="Google Shape;3009;p2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010" name="Google Shape;3010;p2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011" name="Google Shape;3011;p2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Minimization of DFA-Successive Partitioning Method</a:t>
            </a:r>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5" name="Shape 3015"/>
        <p:cNvGrpSpPr/>
        <p:nvPr/>
      </p:nvGrpSpPr>
      <p:grpSpPr>
        <a:xfrm>
          <a:off x="0" y="0"/>
          <a:ext cx="0" cy="0"/>
          <a:chOff x="0" y="0"/>
          <a:chExt cx="0" cy="0"/>
        </a:xfrm>
      </p:grpSpPr>
      <p:sp>
        <p:nvSpPr>
          <p:cNvPr id="3016" name="Google Shape;3016;p2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Note-</a:t>
            </a:r>
            <a:endParaRPr/>
          </a:p>
          <a:p>
            <a:pPr indent="-342900" lvl="0" marL="342900" rtl="0" algn="l">
              <a:spcBef>
                <a:spcPts val="480"/>
              </a:spcBef>
              <a:spcAft>
                <a:spcPts val="0"/>
              </a:spcAft>
              <a:buClr>
                <a:schemeClr val="dk1"/>
              </a:buClr>
              <a:buSzPts val="2400"/>
              <a:buChar char="•"/>
            </a:pPr>
            <a:r>
              <a:rPr lang="en-IN" sz="2400"/>
              <a:t>For an input symbol a</a:t>
            </a:r>
            <a:endParaRPr/>
          </a:p>
          <a:p>
            <a:pPr indent="-342900" lvl="0" marL="342900" rtl="0" algn="l">
              <a:spcBef>
                <a:spcPts val="480"/>
              </a:spcBef>
              <a:spcAft>
                <a:spcPts val="0"/>
              </a:spcAft>
              <a:buClr>
                <a:schemeClr val="dk1"/>
              </a:buClr>
              <a:buSzPts val="2400"/>
              <a:buChar char="•"/>
            </a:pPr>
            <a:r>
              <a:rPr lang="en-IN" sz="2400"/>
              <a:t>If δ(qi,a) and δ(qj,a) are in different sets in P then (qi,qj) pair is distinguishable </a:t>
            </a:r>
            <a:endParaRPr/>
          </a:p>
          <a:p>
            <a:pPr indent="-342900" lvl="0" marL="342900" rtl="0" algn="l">
              <a:spcBef>
                <a:spcPts val="480"/>
              </a:spcBef>
              <a:spcAft>
                <a:spcPts val="0"/>
              </a:spcAft>
              <a:buClr>
                <a:schemeClr val="dk1"/>
              </a:buClr>
              <a:buSzPts val="2400"/>
              <a:buChar char="•"/>
            </a:pPr>
            <a:r>
              <a:rPr lang="en-IN" sz="2400"/>
              <a:t>If distinguishable , we will split the sets into different sets</a:t>
            </a:r>
            <a:endParaRPr sz="2400"/>
          </a:p>
        </p:txBody>
      </p:sp>
      <p:sp>
        <p:nvSpPr>
          <p:cNvPr id="3017" name="Google Shape;3017;p2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018" name="Google Shape;3018;p2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019" name="Google Shape;3019;p2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020" name="Google Shape;3020;p232"/>
          <p:cNvSpPr txBox="1"/>
          <p:nvPr>
            <p:ph type="title"/>
          </p:nvPr>
        </p:nvSpPr>
        <p:spPr>
          <a:xfrm>
            <a:off x="457200" y="19776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Minimization of DFA-Successive Partitioning Method</a:t>
            </a:r>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4" name="Shape 3024"/>
        <p:cNvGrpSpPr/>
        <p:nvPr/>
      </p:nvGrpSpPr>
      <p:grpSpPr>
        <a:xfrm>
          <a:off x="0" y="0"/>
          <a:ext cx="0" cy="0"/>
          <a:chOff x="0" y="0"/>
          <a:chExt cx="0" cy="0"/>
        </a:xfrm>
      </p:grpSpPr>
      <p:sp>
        <p:nvSpPr>
          <p:cNvPr id="3025" name="Google Shape;3025;p2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IN"/>
              <a:t>Perform DFA Minimization using Successive Partitioning Method</a:t>
            </a:r>
            <a:endParaRPr/>
          </a:p>
        </p:txBody>
      </p:sp>
      <p:sp>
        <p:nvSpPr>
          <p:cNvPr id="3026" name="Google Shape;3026;p2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027" name="Google Shape;3027;p2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028" name="Google Shape;3028;p2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3029" name="Google Shape;3029;p233"/>
          <p:cNvPicPr preferRelativeResize="0"/>
          <p:nvPr/>
        </p:nvPicPr>
        <p:blipFill rotWithShape="1">
          <a:blip r:embed="rId3">
            <a:alphaModFix/>
          </a:blip>
          <a:srcRect b="0" l="0" r="0" t="0"/>
          <a:stretch/>
        </p:blipFill>
        <p:spPr>
          <a:xfrm>
            <a:off x="1547664" y="2924944"/>
            <a:ext cx="4470400" cy="2165350"/>
          </a:xfrm>
          <a:prstGeom prst="rect">
            <a:avLst/>
          </a:prstGeom>
          <a:noFill/>
          <a:ln>
            <a:noFill/>
          </a:ln>
        </p:spPr>
      </p:pic>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3" name="Shape 3033"/>
        <p:cNvGrpSpPr/>
        <p:nvPr/>
      </p:nvGrpSpPr>
      <p:grpSpPr>
        <a:xfrm>
          <a:off x="0" y="0"/>
          <a:ext cx="0" cy="0"/>
          <a:chOff x="0" y="0"/>
          <a:chExt cx="0" cy="0"/>
        </a:xfrm>
      </p:grpSpPr>
      <p:sp>
        <p:nvSpPr>
          <p:cNvPr id="3034" name="Google Shape;3034;p2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v</a:t>
            </a:r>
            <a:endParaRPr/>
          </a:p>
        </p:txBody>
      </p:sp>
      <p:sp>
        <p:nvSpPr>
          <p:cNvPr id="3035" name="Google Shape;3035;p2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036" name="Google Shape;3036;p2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037" name="Google Shape;3037;p2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038" name="Google Shape;3038;p2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2" name="Shape 3042"/>
        <p:cNvGrpSpPr/>
        <p:nvPr/>
      </p:nvGrpSpPr>
      <p:grpSpPr>
        <a:xfrm>
          <a:off x="0" y="0"/>
          <a:ext cx="0" cy="0"/>
          <a:chOff x="0" y="0"/>
          <a:chExt cx="0" cy="0"/>
        </a:xfrm>
      </p:grpSpPr>
      <p:sp>
        <p:nvSpPr>
          <p:cNvPr id="3043" name="Google Shape;3043;p2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044" name="Google Shape;3044;p2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045" name="Google Shape;3045;p2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046" name="Google Shape;3046;p2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047" name="Google Shape;3047;p2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1" name="Shape 3051"/>
        <p:cNvGrpSpPr/>
        <p:nvPr/>
      </p:nvGrpSpPr>
      <p:grpSpPr>
        <a:xfrm>
          <a:off x="0" y="0"/>
          <a:ext cx="0" cy="0"/>
          <a:chOff x="0" y="0"/>
          <a:chExt cx="0" cy="0"/>
        </a:xfrm>
      </p:grpSpPr>
      <p:sp>
        <p:nvSpPr>
          <p:cNvPr id="3052" name="Google Shape;3052;p2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Perform DFA Minimization using Successive Partitioning Method</a:t>
            </a:r>
            <a:endParaRPr/>
          </a:p>
        </p:txBody>
      </p:sp>
      <p:sp>
        <p:nvSpPr>
          <p:cNvPr id="3053" name="Google Shape;3053;p2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054" name="Google Shape;3054;p2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055" name="Google Shape;3055;p2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056" name="Google Shape;3056;p2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3057" name="Google Shape;3057;p236"/>
          <p:cNvPicPr preferRelativeResize="0"/>
          <p:nvPr/>
        </p:nvPicPr>
        <p:blipFill rotWithShape="1">
          <a:blip r:embed="rId3">
            <a:alphaModFix/>
          </a:blip>
          <a:srcRect b="0" l="0" r="0" t="0"/>
          <a:stretch/>
        </p:blipFill>
        <p:spPr>
          <a:xfrm>
            <a:off x="1644650" y="1949450"/>
            <a:ext cx="5854700" cy="2959100"/>
          </a:xfrm>
          <a:prstGeom prst="rect">
            <a:avLst/>
          </a:prstGeom>
          <a:noFill/>
          <a:ln>
            <a:noFill/>
          </a:ln>
        </p:spPr>
      </p:pic>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1" name="Shape 3061"/>
        <p:cNvGrpSpPr/>
        <p:nvPr/>
      </p:nvGrpSpPr>
      <p:grpSpPr>
        <a:xfrm>
          <a:off x="0" y="0"/>
          <a:ext cx="0" cy="0"/>
          <a:chOff x="0" y="0"/>
          <a:chExt cx="0" cy="0"/>
        </a:xfrm>
      </p:grpSpPr>
      <p:sp>
        <p:nvSpPr>
          <p:cNvPr id="3062" name="Google Shape;3062;p2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063" name="Google Shape;3063;p2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064" name="Google Shape;3064;p2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065" name="Google Shape;3065;p2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066" name="Google Shape;3066;p2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0" name="Shape 3070"/>
        <p:cNvGrpSpPr/>
        <p:nvPr/>
      </p:nvGrpSpPr>
      <p:grpSpPr>
        <a:xfrm>
          <a:off x="0" y="0"/>
          <a:ext cx="0" cy="0"/>
          <a:chOff x="0" y="0"/>
          <a:chExt cx="0" cy="0"/>
        </a:xfrm>
      </p:grpSpPr>
      <p:sp>
        <p:nvSpPr>
          <p:cNvPr id="3071" name="Google Shape;3071;p2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072" name="Google Shape;3072;p2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073" name="Google Shape;3073;p2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074" name="Google Shape;3074;p2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075" name="Google Shape;3075;p2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9" name="Shape 3079"/>
        <p:cNvGrpSpPr/>
        <p:nvPr/>
      </p:nvGrpSpPr>
      <p:grpSpPr>
        <a:xfrm>
          <a:off x="0" y="0"/>
          <a:ext cx="0" cy="0"/>
          <a:chOff x="0" y="0"/>
          <a:chExt cx="0" cy="0"/>
        </a:xfrm>
      </p:grpSpPr>
      <p:sp>
        <p:nvSpPr>
          <p:cNvPr id="3080" name="Google Shape;3080;p2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Minimize the DFA using succesive partition method</a:t>
            </a:r>
            <a:endParaRPr/>
          </a:p>
        </p:txBody>
      </p:sp>
      <p:sp>
        <p:nvSpPr>
          <p:cNvPr id="3081" name="Google Shape;3081;p2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082" name="Google Shape;3082;p2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083" name="Google Shape;3083;p2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084" name="Google Shape;3084;p2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3085" name="Google Shape;3085;p239"/>
          <p:cNvPicPr preferRelativeResize="0"/>
          <p:nvPr/>
        </p:nvPicPr>
        <p:blipFill rotWithShape="1">
          <a:blip r:embed="rId3">
            <a:alphaModFix/>
          </a:blip>
          <a:srcRect b="0" l="0" r="0" t="0"/>
          <a:stretch/>
        </p:blipFill>
        <p:spPr>
          <a:xfrm>
            <a:off x="899592" y="1844824"/>
            <a:ext cx="5461000" cy="3740150"/>
          </a:xfrm>
          <a:prstGeom prst="rect">
            <a:avLst/>
          </a:prstGeom>
          <a:noFill/>
          <a:ln>
            <a:noFill/>
          </a:ln>
        </p:spPr>
      </p:pic>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9" name="Shape 3089"/>
        <p:cNvGrpSpPr/>
        <p:nvPr/>
      </p:nvGrpSpPr>
      <p:grpSpPr>
        <a:xfrm>
          <a:off x="0" y="0"/>
          <a:ext cx="0" cy="0"/>
          <a:chOff x="0" y="0"/>
          <a:chExt cx="0" cy="0"/>
        </a:xfrm>
      </p:grpSpPr>
      <p:sp>
        <p:nvSpPr>
          <p:cNvPr id="3090" name="Google Shape;3090;p2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091" name="Google Shape;3091;p2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092" name="Google Shape;3092;p2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093" name="Google Shape;3093;p2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094" name="Google Shape;3094;p2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8" name="Shape 3098"/>
        <p:cNvGrpSpPr/>
        <p:nvPr/>
      </p:nvGrpSpPr>
      <p:grpSpPr>
        <a:xfrm>
          <a:off x="0" y="0"/>
          <a:ext cx="0" cy="0"/>
          <a:chOff x="0" y="0"/>
          <a:chExt cx="0" cy="0"/>
        </a:xfrm>
      </p:grpSpPr>
      <p:sp>
        <p:nvSpPr>
          <p:cNvPr id="3099" name="Google Shape;3099;p2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Finite Automata with Output</a:t>
            </a:r>
            <a:endParaRPr/>
          </a:p>
        </p:txBody>
      </p:sp>
      <p:sp>
        <p:nvSpPr>
          <p:cNvPr id="3100" name="Google Shape;3100;p2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Moore Machine</a:t>
            </a:r>
            <a:endParaRPr/>
          </a:p>
          <a:p>
            <a:pPr indent="-342900" lvl="0" marL="342900" rtl="0" algn="l">
              <a:spcBef>
                <a:spcPts val="480"/>
              </a:spcBef>
              <a:spcAft>
                <a:spcPts val="0"/>
              </a:spcAft>
              <a:buClr>
                <a:schemeClr val="dk1"/>
              </a:buClr>
              <a:buSzPts val="2400"/>
              <a:buChar char="•"/>
            </a:pPr>
            <a:r>
              <a:rPr lang="en-IN" sz="2400"/>
              <a:t>Mealey Machine</a:t>
            </a:r>
            <a:endParaRPr sz="2400"/>
          </a:p>
        </p:txBody>
      </p:sp>
      <p:sp>
        <p:nvSpPr>
          <p:cNvPr id="3101" name="Google Shape;3101;p2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102" name="Google Shape;3102;p2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103" name="Google Shape;3103;p2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7" name="Shape 3107"/>
        <p:cNvGrpSpPr/>
        <p:nvPr/>
      </p:nvGrpSpPr>
      <p:grpSpPr>
        <a:xfrm>
          <a:off x="0" y="0"/>
          <a:ext cx="0" cy="0"/>
          <a:chOff x="0" y="0"/>
          <a:chExt cx="0" cy="0"/>
        </a:xfrm>
      </p:grpSpPr>
      <p:sp>
        <p:nvSpPr>
          <p:cNvPr id="3108" name="Google Shape;3108;p2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Moore Machine</a:t>
            </a:r>
            <a:endParaRPr/>
          </a:p>
        </p:txBody>
      </p:sp>
      <p:sp>
        <p:nvSpPr>
          <p:cNvPr id="3109" name="Google Shape;3109;p2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Named after Edward f.  Moore who presented the concept in a 1956 paper “Gedanken experiments” on Sequential machine</a:t>
            </a:r>
            <a:endParaRPr sz="2400"/>
          </a:p>
        </p:txBody>
      </p:sp>
      <p:sp>
        <p:nvSpPr>
          <p:cNvPr id="3110" name="Google Shape;3110;p2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111" name="Google Shape;3111;p2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112" name="Google Shape;3112;p2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6" name="Shape 3116"/>
        <p:cNvGrpSpPr/>
        <p:nvPr/>
      </p:nvGrpSpPr>
      <p:grpSpPr>
        <a:xfrm>
          <a:off x="0" y="0"/>
          <a:ext cx="0" cy="0"/>
          <a:chOff x="0" y="0"/>
          <a:chExt cx="0" cy="0"/>
        </a:xfrm>
      </p:grpSpPr>
      <p:sp>
        <p:nvSpPr>
          <p:cNvPr id="3117" name="Google Shape;3117;p2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Moore Machine</a:t>
            </a:r>
            <a:endParaRPr/>
          </a:p>
        </p:txBody>
      </p:sp>
      <p:sp>
        <p:nvSpPr>
          <p:cNvPr id="3118" name="Google Shape;3118;p2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Machine with Finite number of states for which the Output symbol/values at a given time depends only upon the present state of a machine</a:t>
            </a:r>
            <a:endParaRPr/>
          </a:p>
          <a:p>
            <a:pPr indent="-342900" lvl="0" marL="342900" rtl="0" algn="l">
              <a:spcBef>
                <a:spcPts val="480"/>
              </a:spcBef>
              <a:spcAft>
                <a:spcPts val="0"/>
              </a:spcAft>
              <a:buClr>
                <a:schemeClr val="dk1"/>
              </a:buClr>
              <a:buSzPts val="2400"/>
              <a:buChar char="•"/>
            </a:pPr>
            <a:r>
              <a:rPr lang="en-IN" sz="2400"/>
              <a:t>Moore machine is a finite state machine in which the next state is decided by the current state and current input symbol. </a:t>
            </a:r>
            <a:endParaRPr sz="2400"/>
          </a:p>
        </p:txBody>
      </p:sp>
      <p:sp>
        <p:nvSpPr>
          <p:cNvPr id="3119" name="Google Shape;3119;p2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120" name="Google Shape;3120;p2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121" name="Google Shape;3121;p2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5" name="Shape 3125"/>
        <p:cNvGrpSpPr/>
        <p:nvPr/>
      </p:nvGrpSpPr>
      <p:grpSpPr>
        <a:xfrm>
          <a:off x="0" y="0"/>
          <a:ext cx="0" cy="0"/>
          <a:chOff x="0" y="0"/>
          <a:chExt cx="0" cy="0"/>
        </a:xfrm>
      </p:grpSpPr>
      <p:sp>
        <p:nvSpPr>
          <p:cNvPr id="3126" name="Google Shape;3126;p2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Moore Machine-Formal Definition</a:t>
            </a:r>
            <a:endParaRPr/>
          </a:p>
        </p:txBody>
      </p:sp>
      <p:sp>
        <p:nvSpPr>
          <p:cNvPr id="3127" name="Google Shape;3127;p2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6 tuple representation</a:t>
            </a:r>
            <a:endParaRPr/>
          </a:p>
          <a:p>
            <a:pPr indent="-342900" lvl="0" marL="342900" rtl="0" algn="l">
              <a:spcBef>
                <a:spcPts val="480"/>
              </a:spcBef>
              <a:spcAft>
                <a:spcPts val="0"/>
              </a:spcAft>
              <a:buClr>
                <a:schemeClr val="dk1"/>
              </a:buClr>
              <a:buSzPts val="2400"/>
              <a:buChar char="•"/>
            </a:pPr>
            <a:r>
              <a:rPr lang="en-IN" sz="2400"/>
              <a:t>Moore Machine is denoted by  6 Tuple: M=(Q, ∑, Δ,δ, λ, q</a:t>
            </a:r>
            <a:r>
              <a:rPr baseline="-25000" lang="en-IN" sz="2400"/>
              <a:t>0</a:t>
            </a:r>
            <a:r>
              <a:rPr lang="en-IN" sz="2400"/>
              <a:t>) where </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128" name="Google Shape;3128;p2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129" name="Google Shape;3129;p2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130" name="Google Shape;3130;p2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4" name="Shape 3134"/>
        <p:cNvGrpSpPr/>
        <p:nvPr/>
      </p:nvGrpSpPr>
      <p:grpSpPr>
        <a:xfrm>
          <a:off x="0" y="0"/>
          <a:ext cx="0" cy="0"/>
          <a:chOff x="0" y="0"/>
          <a:chExt cx="0" cy="0"/>
        </a:xfrm>
      </p:grpSpPr>
      <p:sp>
        <p:nvSpPr>
          <p:cNvPr id="3135" name="Google Shape;3135;p2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Moore Machine-Formal Definition</a:t>
            </a:r>
            <a:endParaRPr/>
          </a:p>
        </p:txBody>
      </p:sp>
      <p:sp>
        <p:nvSpPr>
          <p:cNvPr id="3136" name="Google Shape;3136;p2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Clr>
                <a:schemeClr val="dk1"/>
              </a:buClr>
              <a:buSzPct val="100000"/>
              <a:buChar char="•"/>
            </a:pPr>
            <a:r>
              <a:rPr lang="en-IN" sz="2400"/>
              <a:t>6 tuple representation</a:t>
            </a:r>
            <a:endParaRPr/>
          </a:p>
          <a:p>
            <a:pPr indent="-342900" lvl="0" marL="342900" rtl="0" algn="l">
              <a:spcBef>
                <a:spcPts val="444"/>
              </a:spcBef>
              <a:spcAft>
                <a:spcPts val="0"/>
              </a:spcAft>
              <a:buClr>
                <a:schemeClr val="dk1"/>
              </a:buClr>
              <a:buSzPct val="100000"/>
              <a:buChar char="•"/>
            </a:pPr>
            <a:r>
              <a:rPr lang="en-IN" sz="2400"/>
              <a:t>Moore Machine is denoted by  6 Tuple: M=(Q, ∑, Δ,δ, λ, q</a:t>
            </a:r>
            <a:r>
              <a:rPr baseline="-25000" lang="en-IN" sz="2400"/>
              <a:t>0</a:t>
            </a:r>
            <a:r>
              <a:rPr lang="en-IN" sz="2400"/>
              <a:t>) where </a:t>
            </a:r>
            <a:endParaRPr/>
          </a:p>
          <a:p>
            <a:pPr indent="-201930" lvl="0" marL="342900" rtl="0" algn="l">
              <a:spcBef>
                <a:spcPts val="444"/>
              </a:spcBef>
              <a:spcAft>
                <a:spcPts val="0"/>
              </a:spcAft>
              <a:buClr>
                <a:schemeClr val="dk1"/>
              </a:buClr>
              <a:buSzPct val="100000"/>
              <a:buNone/>
            </a:pPr>
            <a:r>
              <a:t/>
            </a:r>
            <a:endParaRPr sz="2400"/>
          </a:p>
          <a:p>
            <a:pPr indent="-342900" lvl="0" marL="342900" rtl="0" algn="l">
              <a:spcBef>
                <a:spcPts val="444"/>
              </a:spcBef>
              <a:spcAft>
                <a:spcPts val="0"/>
              </a:spcAft>
              <a:buClr>
                <a:schemeClr val="dk1"/>
              </a:buClr>
              <a:buSzPct val="100000"/>
              <a:buChar char="•"/>
            </a:pPr>
            <a:r>
              <a:rPr lang="en-IN" sz="2400"/>
              <a:t>Q:Finite set of states</a:t>
            </a:r>
            <a:endParaRPr/>
          </a:p>
          <a:p>
            <a:pPr indent="-342900" lvl="0" marL="342900" rtl="0" algn="l">
              <a:spcBef>
                <a:spcPts val="444"/>
              </a:spcBef>
              <a:spcAft>
                <a:spcPts val="0"/>
              </a:spcAft>
              <a:buClr>
                <a:schemeClr val="dk1"/>
              </a:buClr>
              <a:buSzPct val="100000"/>
              <a:buChar char="•"/>
            </a:pPr>
            <a:r>
              <a:rPr lang="en-IN" sz="2400"/>
              <a:t>∑:Finite input alphabet</a:t>
            </a:r>
            <a:endParaRPr/>
          </a:p>
          <a:p>
            <a:pPr indent="-342900" lvl="0" marL="342900" rtl="0" algn="l">
              <a:spcBef>
                <a:spcPts val="444"/>
              </a:spcBef>
              <a:spcAft>
                <a:spcPts val="0"/>
              </a:spcAft>
              <a:buClr>
                <a:schemeClr val="dk1"/>
              </a:buClr>
              <a:buSzPct val="100000"/>
              <a:buChar char="•"/>
            </a:pPr>
            <a:r>
              <a:rPr lang="en-IN" sz="2400"/>
              <a:t>Δ or O:Finite set of Output alphabet</a:t>
            </a:r>
            <a:endParaRPr sz="2400"/>
          </a:p>
          <a:p>
            <a:pPr indent="-342900" lvl="0" marL="342900" rtl="0" algn="l">
              <a:spcBef>
                <a:spcPts val="444"/>
              </a:spcBef>
              <a:spcAft>
                <a:spcPts val="0"/>
              </a:spcAft>
              <a:buClr>
                <a:schemeClr val="dk1"/>
              </a:buClr>
              <a:buSzPct val="100000"/>
              <a:buChar char="•"/>
            </a:pPr>
            <a:r>
              <a:rPr lang="en-IN" sz="2400"/>
              <a:t>δ:Q X ∑ -&gt;Q State Transition function(STF)</a:t>
            </a:r>
            <a:endParaRPr/>
          </a:p>
          <a:p>
            <a:pPr indent="0" lvl="0" marL="0" rtl="0" algn="l">
              <a:spcBef>
                <a:spcPts val="444"/>
              </a:spcBef>
              <a:spcAft>
                <a:spcPts val="0"/>
              </a:spcAft>
              <a:buClr>
                <a:schemeClr val="dk1"/>
              </a:buClr>
              <a:buSzPct val="100000"/>
              <a:buNone/>
            </a:pPr>
            <a:r>
              <a:rPr lang="en-IN" sz="2400"/>
              <a:t>Mapping State and input alphabet to the next state</a:t>
            </a:r>
            <a:endParaRPr/>
          </a:p>
          <a:p>
            <a:pPr indent="-342900" lvl="0" marL="342900" rtl="0" algn="l">
              <a:spcBef>
                <a:spcPts val="444"/>
              </a:spcBef>
              <a:spcAft>
                <a:spcPts val="0"/>
              </a:spcAft>
              <a:buClr>
                <a:schemeClr val="dk1"/>
              </a:buClr>
              <a:buSzPct val="100000"/>
              <a:buChar char="•"/>
            </a:pPr>
            <a:r>
              <a:rPr lang="en-IN" sz="2400"/>
              <a:t>λ:Q-&gt;Δ or O Machine Function/Output function</a:t>
            </a:r>
            <a:endParaRPr/>
          </a:p>
          <a:p>
            <a:pPr indent="0" lvl="0" marL="0" rtl="0" algn="l">
              <a:spcBef>
                <a:spcPts val="444"/>
              </a:spcBef>
              <a:spcAft>
                <a:spcPts val="0"/>
              </a:spcAft>
              <a:buClr>
                <a:schemeClr val="dk1"/>
              </a:buClr>
              <a:buSzPct val="100000"/>
              <a:buNone/>
            </a:pPr>
            <a:r>
              <a:rPr lang="en-IN" sz="2400"/>
              <a:t>Mapping each state to the Output alphabet</a:t>
            </a:r>
            <a:endParaRPr/>
          </a:p>
          <a:p>
            <a:pPr indent="-342900" lvl="0" marL="342900" rtl="0" algn="l">
              <a:spcBef>
                <a:spcPts val="444"/>
              </a:spcBef>
              <a:spcAft>
                <a:spcPts val="0"/>
              </a:spcAft>
              <a:buClr>
                <a:schemeClr val="dk1"/>
              </a:buClr>
              <a:buSzPct val="100000"/>
              <a:buChar char="•"/>
            </a:pPr>
            <a:r>
              <a:rPr lang="en-IN" sz="2400"/>
              <a:t>q</a:t>
            </a:r>
            <a:r>
              <a:rPr baseline="-25000" lang="en-IN" sz="2400"/>
              <a:t>0</a:t>
            </a:r>
            <a:r>
              <a:rPr lang="en-IN" sz="2400"/>
              <a:t>: Initial/Start state of FA, q0 ∈ Q</a:t>
            </a:r>
            <a:endParaRPr/>
          </a:p>
          <a:p>
            <a:pPr indent="-201930" lvl="0" marL="342900" rtl="0" algn="l">
              <a:spcBef>
                <a:spcPts val="444"/>
              </a:spcBef>
              <a:spcAft>
                <a:spcPts val="0"/>
              </a:spcAft>
              <a:buClr>
                <a:schemeClr val="dk1"/>
              </a:buClr>
              <a:buSzPct val="100000"/>
              <a:buNone/>
            </a:pPr>
            <a:r>
              <a:t/>
            </a:r>
            <a:endParaRPr sz="2400"/>
          </a:p>
          <a:p>
            <a:pPr indent="-201930" lvl="0" marL="342900" rtl="0" algn="l">
              <a:spcBef>
                <a:spcPts val="444"/>
              </a:spcBef>
              <a:spcAft>
                <a:spcPts val="0"/>
              </a:spcAft>
              <a:buClr>
                <a:schemeClr val="dk1"/>
              </a:buClr>
              <a:buSzPct val="100000"/>
              <a:buNone/>
            </a:pPr>
            <a:r>
              <a:t/>
            </a:r>
            <a:endParaRPr sz="2400"/>
          </a:p>
        </p:txBody>
      </p:sp>
      <p:sp>
        <p:nvSpPr>
          <p:cNvPr id="3137" name="Google Shape;3137;p2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138" name="Google Shape;3138;p2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139" name="Google Shape;3139;p2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3" name="Shape 3143"/>
        <p:cNvGrpSpPr/>
        <p:nvPr/>
      </p:nvGrpSpPr>
      <p:grpSpPr>
        <a:xfrm>
          <a:off x="0" y="0"/>
          <a:ext cx="0" cy="0"/>
          <a:chOff x="0" y="0"/>
          <a:chExt cx="0" cy="0"/>
        </a:xfrm>
      </p:grpSpPr>
      <p:sp>
        <p:nvSpPr>
          <p:cNvPr id="3144" name="Google Shape;3144;p2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Moore Machine-Formal Definition</a:t>
            </a:r>
            <a:endParaRPr/>
          </a:p>
        </p:txBody>
      </p:sp>
      <p:sp>
        <p:nvSpPr>
          <p:cNvPr id="3145" name="Google Shape;3145;p2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In Moore Machine, there is no final state</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Output is associated with a state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State produces  output irrespective of what input/transition is made</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146" name="Google Shape;3146;p2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147" name="Google Shape;3147;p2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148" name="Google Shape;3148;p2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2" name="Shape 3152"/>
        <p:cNvGrpSpPr/>
        <p:nvPr/>
      </p:nvGrpSpPr>
      <p:grpSpPr>
        <a:xfrm>
          <a:off x="0" y="0"/>
          <a:ext cx="0" cy="0"/>
          <a:chOff x="0" y="0"/>
          <a:chExt cx="0" cy="0"/>
        </a:xfrm>
      </p:grpSpPr>
      <p:sp>
        <p:nvSpPr>
          <p:cNvPr id="3153" name="Google Shape;3153;p247"/>
          <p:cNvSpPr txBox="1"/>
          <p:nvPr>
            <p:ph idx="1" type="body"/>
          </p:nvPr>
        </p:nvSpPr>
        <p:spPr>
          <a:xfrm>
            <a:off x="457200" y="1052736"/>
            <a:ext cx="8229600" cy="503001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Draw the state diagram for the Moore Machine given below:-</a:t>
            </a:r>
            <a:endParaRPr/>
          </a:p>
          <a:p>
            <a:pPr indent="-342900" lvl="0" marL="342900" rtl="0" algn="l">
              <a:spcBef>
                <a:spcPts val="480"/>
              </a:spcBef>
              <a:spcAft>
                <a:spcPts val="0"/>
              </a:spcAft>
              <a:buClr>
                <a:schemeClr val="dk1"/>
              </a:buClr>
              <a:buSzPts val="2400"/>
              <a:buChar char="•"/>
            </a:pPr>
            <a:r>
              <a:rPr lang="en-IN" sz="2400"/>
              <a:t>State or Transition Function</a:t>
            </a:r>
            <a:endParaRPr/>
          </a:p>
          <a:p>
            <a:pPr indent="-342900" lvl="0" marL="342900" rtl="0" algn="l">
              <a:spcBef>
                <a:spcPts val="480"/>
              </a:spcBef>
              <a:spcAft>
                <a:spcPts val="0"/>
              </a:spcAft>
              <a:buClr>
                <a:schemeClr val="dk1"/>
              </a:buClr>
              <a:buSzPts val="2400"/>
              <a:buChar char="•"/>
            </a:pPr>
            <a:r>
              <a:rPr lang="en-IN" sz="2400"/>
              <a:t>δ:Q X ∑ -&gt;Q State Transition function(STF)</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λ:Q-&gt;Δ or O Machine Function/Output function</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154" name="Google Shape;3154;p2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155" name="Google Shape;3155;p2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156" name="Google Shape;3156;p2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157" name="Google Shape;3157;p247"/>
          <p:cNvGraphicFramePr/>
          <p:nvPr/>
        </p:nvGraphicFramePr>
        <p:xfrm>
          <a:off x="827584" y="2924944"/>
          <a:ext cx="3000000" cy="3000000"/>
        </p:xfrm>
        <a:graphic>
          <a:graphicData uri="http://schemas.openxmlformats.org/drawingml/2006/table">
            <a:tbl>
              <a:tblPr bandRow="1" firstRow="1">
                <a:noFill/>
                <a:tableStyleId>{67F6A887-4D8F-49DA-B730-5EAACEBB6B1F}</a:tableStyleId>
              </a:tblPr>
              <a:tblGrid>
                <a:gridCol w="944000"/>
                <a:gridCol w="944000"/>
                <a:gridCol w="9440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a</a:t>
                      </a:r>
                      <a:endParaRPr sz="1800"/>
                    </a:p>
                  </a:txBody>
                  <a:tcPr marT="45725" marB="45725" marR="91450" marL="91450"/>
                </a:tc>
                <a:tc>
                  <a:txBody>
                    <a:bodyPr/>
                    <a:lstStyle/>
                    <a:p>
                      <a:pPr indent="0" lvl="0" marL="0" marR="0" rtl="0" algn="l">
                        <a:spcBef>
                          <a:spcPts val="0"/>
                        </a:spcBef>
                        <a:spcAft>
                          <a:spcPts val="0"/>
                        </a:spcAft>
                        <a:buNone/>
                      </a:pPr>
                      <a:r>
                        <a:rPr lang="en-IN" sz="1800"/>
                        <a:t>b</a:t>
                      </a:r>
                      <a:endParaRPr sz="1800"/>
                    </a:p>
                  </a:txBody>
                  <a:tcPr marT="45725" marB="45725" marR="91450" marL="91450"/>
                </a:tc>
              </a:tr>
              <a:tr h="370850">
                <a:tc>
                  <a:txBody>
                    <a:bodyPr/>
                    <a:lstStyle/>
                    <a:p>
                      <a:pPr indent="0" lvl="0" marL="0" marR="0" rtl="0" algn="l">
                        <a:spcBef>
                          <a:spcPts val="0"/>
                        </a:spcBef>
                        <a:spcAft>
                          <a:spcPts val="0"/>
                        </a:spcAft>
                        <a:buNone/>
                      </a:pPr>
                      <a:r>
                        <a:rPr lang="en-IN" sz="1800"/>
                        <a:t>qo</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r>
            </a:tbl>
          </a:graphicData>
        </a:graphic>
      </p:graphicFrame>
      <p:cxnSp>
        <p:nvCxnSpPr>
          <p:cNvPr id="3158" name="Google Shape;3158;p247"/>
          <p:cNvCxnSpPr/>
          <p:nvPr/>
        </p:nvCxnSpPr>
        <p:spPr>
          <a:xfrm>
            <a:off x="251520" y="3429000"/>
            <a:ext cx="504056" cy="0"/>
          </a:xfrm>
          <a:prstGeom prst="straightConnector1">
            <a:avLst/>
          </a:prstGeom>
          <a:noFill/>
          <a:ln cap="flat" cmpd="sng" w="9525">
            <a:solidFill>
              <a:srgbClr val="4A7DBA"/>
            </a:solidFill>
            <a:prstDash val="solid"/>
            <a:round/>
            <a:headEnd len="sm" w="sm" type="none"/>
            <a:tailEnd len="med" w="med" type="stealth"/>
          </a:ln>
        </p:spPr>
      </p:cxnSp>
      <p:graphicFrame>
        <p:nvGraphicFramePr>
          <p:cNvPr id="3159" name="Google Shape;3159;p247"/>
          <p:cNvGraphicFramePr/>
          <p:nvPr/>
        </p:nvGraphicFramePr>
        <p:xfrm>
          <a:off x="6876256" y="4077072"/>
          <a:ext cx="3000000" cy="3000000"/>
        </p:xfrm>
        <a:graphic>
          <a:graphicData uri="http://schemas.openxmlformats.org/drawingml/2006/table">
            <a:tbl>
              <a:tblPr bandRow="1" firstRow="1">
                <a:noFill/>
                <a:tableStyleId>{67F6A887-4D8F-49DA-B730-5EAACEBB6B1F}</a:tableStyleId>
              </a:tblPr>
              <a:tblGrid>
                <a:gridCol w="792100"/>
                <a:gridCol w="7921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Δ/O</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sp>
        <p:nvSpPr>
          <p:cNvPr id="3160" name="Google Shape;3160;p247"/>
          <p:cNvSpPr txBox="1"/>
          <p:nvPr/>
        </p:nvSpPr>
        <p:spPr>
          <a:xfrm>
            <a:off x="457200" y="274638"/>
            <a:ext cx="8229600" cy="418058"/>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200"/>
              <a:buFont typeface="Calibri"/>
              <a:buNone/>
            </a:pPr>
            <a:r>
              <a:rPr lang="en-IN" sz="3200">
                <a:solidFill>
                  <a:schemeClr val="dk1"/>
                </a:solidFill>
                <a:latin typeface="Calibri"/>
                <a:ea typeface="Calibri"/>
                <a:cs typeface="Calibri"/>
                <a:sym typeface="Calibri"/>
              </a:rPr>
              <a:t>Moore Machine-State Diagram</a:t>
            </a:r>
            <a:endParaRPr sz="3200">
              <a:solidFill>
                <a:schemeClr val="dk1"/>
              </a:solidFill>
              <a:latin typeface="Calibri"/>
              <a:ea typeface="Calibri"/>
              <a:cs typeface="Calibri"/>
              <a:sym typeface="Calibri"/>
            </a:endParaRPr>
          </a:p>
        </p:txBody>
      </p:sp>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4" name="Shape 3164"/>
        <p:cNvGrpSpPr/>
        <p:nvPr/>
      </p:nvGrpSpPr>
      <p:grpSpPr>
        <a:xfrm>
          <a:off x="0" y="0"/>
          <a:ext cx="0" cy="0"/>
          <a:chOff x="0" y="0"/>
          <a:chExt cx="0" cy="0"/>
        </a:xfrm>
      </p:grpSpPr>
      <p:sp>
        <p:nvSpPr>
          <p:cNvPr id="3165" name="Google Shape;3165;p248"/>
          <p:cNvSpPr txBox="1"/>
          <p:nvPr>
            <p:ph idx="1" type="body"/>
          </p:nvPr>
        </p:nvSpPr>
        <p:spPr>
          <a:xfrm>
            <a:off x="457200" y="1052736"/>
            <a:ext cx="8229600" cy="5030019"/>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166" name="Google Shape;3166;p2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167" name="Google Shape;3167;p2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168" name="Google Shape;3168;p2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169" name="Google Shape;3169;p248"/>
          <p:cNvGraphicFramePr/>
          <p:nvPr/>
        </p:nvGraphicFramePr>
        <p:xfrm>
          <a:off x="827584" y="782712"/>
          <a:ext cx="3000000" cy="3000000"/>
        </p:xfrm>
        <a:graphic>
          <a:graphicData uri="http://schemas.openxmlformats.org/drawingml/2006/table">
            <a:tbl>
              <a:tblPr bandRow="1" firstRow="1">
                <a:noFill/>
                <a:tableStyleId>{67F6A887-4D8F-49DA-B730-5EAACEBB6B1F}</a:tableStyleId>
              </a:tblPr>
              <a:tblGrid>
                <a:gridCol w="944000"/>
                <a:gridCol w="944000"/>
                <a:gridCol w="9440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a</a:t>
                      </a:r>
                      <a:endParaRPr sz="1800"/>
                    </a:p>
                  </a:txBody>
                  <a:tcPr marT="45725" marB="45725" marR="91450" marL="91450"/>
                </a:tc>
                <a:tc>
                  <a:txBody>
                    <a:bodyPr/>
                    <a:lstStyle/>
                    <a:p>
                      <a:pPr indent="0" lvl="0" marL="0" marR="0" rtl="0" algn="l">
                        <a:spcBef>
                          <a:spcPts val="0"/>
                        </a:spcBef>
                        <a:spcAft>
                          <a:spcPts val="0"/>
                        </a:spcAft>
                        <a:buNone/>
                      </a:pPr>
                      <a:r>
                        <a:rPr lang="en-IN" sz="1800"/>
                        <a:t>b</a:t>
                      </a:r>
                      <a:endParaRPr sz="1800"/>
                    </a:p>
                  </a:txBody>
                  <a:tcPr marT="45725" marB="45725" marR="91450" marL="91450"/>
                </a:tc>
              </a:tr>
              <a:tr h="370850">
                <a:tc>
                  <a:txBody>
                    <a:bodyPr/>
                    <a:lstStyle/>
                    <a:p>
                      <a:pPr indent="0" lvl="0" marL="0" marR="0" rtl="0" algn="l">
                        <a:spcBef>
                          <a:spcPts val="0"/>
                        </a:spcBef>
                        <a:spcAft>
                          <a:spcPts val="0"/>
                        </a:spcAft>
                        <a:buNone/>
                      </a:pPr>
                      <a:r>
                        <a:rPr lang="en-IN" sz="1800"/>
                        <a:t>qo</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r>
            </a:tbl>
          </a:graphicData>
        </a:graphic>
      </p:graphicFrame>
      <p:cxnSp>
        <p:nvCxnSpPr>
          <p:cNvPr id="3170" name="Google Shape;3170;p248"/>
          <p:cNvCxnSpPr/>
          <p:nvPr/>
        </p:nvCxnSpPr>
        <p:spPr>
          <a:xfrm>
            <a:off x="251520" y="1286768"/>
            <a:ext cx="504056" cy="0"/>
          </a:xfrm>
          <a:prstGeom prst="straightConnector1">
            <a:avLst/>
          </a:prstGeom>
          <a:noFill/>
          <a:ln cap="flat" cmpd="sng" w="9525">
            <a:solidFill>
              <a:srgbClr val="4A7DBA"/>
            </a:solidFill>
            <a:prstDash val="solid"/>
            <a:round/>
            <a:headEnd len="sm" w="sm" type="none"/>
            <a:tailEnd len="med" w="med" type="stealth"/>
          </a:ln>
        </p:spPr>
      </p:cxnSp>
      <p:graphicFrame>
        <p:nvGraphicFramePr>
          <p:cNvPr id="3171" name="Google Shape;3171;p248"/>
          <p:cNvGraphicFramePr/>
          <p:nvPr/>
        </p:nvGraphicFramePr>
        <p:xfrm>
          <a:off x="3779912" y="764704"/>
          <a:ext cx="3000000" cy="3000000"/>
        </p:xfrm>
        <a:graphic>
          <a:graphicData uri="http://schemas.openxmlformats.org/drawingml/2006/table">
            <a:tbl>
              <a:tblPr bandRow="1" firstRow="1">
                <a:noFill/>
                <a:tableStyleId>{67F6A887-4D8F-49DA-B730-5EAACEBB6B1F}</a:tableStyleId>
              </a:tblPr>
              <a:tblGrid>
                <a:gridCol w="792100"/>
                <a:gridCol w="7921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Δ/O</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sp>
        <p:nvSpPr>
          <p:cNvPr id="3172" name="Google Shape;3172;p248"/>
          <p:cNvSpPr txBox="1"/>
          <p:nvPr/>
        </p:nvSpPr>
        <p:spPr>
          <a:xfrm>
            <a:off x="457200" y="274638"/>
            <a:ext cx="8229600" cy="418058"/>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200"/>
              <a:buFont typeface="Calibri"/>
              <a:buNone/>
            </a:pPr>
            <a:r>
              <a:rPr lang="en-IN" sz="3200">
                <a:solidFill>
                  <a:schemeClr val="dk1"/>
                </a:solidFill>
                <a:latin typeface="Calibri"/>
                <a:ea typeface="Calibri"/>
                <a:cs typeface="Calibri"/>
                <a:sym typeface="Calibri"/>
              </a:rPr>
              <a:t>Moore Machine-State Diagram</a:t>
            </a:r>
            <a:endParaRPr sz="3200">
              <a:solidFill>
                <a:schemeClr val="dk1"/>
              </a:solidFill>
              <a:latin typeface="Calibri"/>
              <a:ea typeface="Calibri"/>
              <a:cs typeface="Calibri"/>
              <a:sym typeface="Calibri"/>
            </a:endParaRPr>
          </a:p>
        </p:txBody>
      </p:sp>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6" name="Shape 3176"/>
        <p:cNvGrpSpPr/>
        <p:nvPr/>
      </p:nvGrpSpPr>
      <p:grpSpPr>
        <a:xfrm>
          <a:off x="0" y="0"/>
          <a:ext cx="0" cy="0"/>
          <a:chOff x="0" y="0"/>
          <a:chExt cx="0" cy="0"/>
        </a:xfrm>
      </p:grpSpPr>
      <p:sp>
        <p:nvSpPr>
          <p:cNvPr id="3177" name="Google Shape;3177;p249"/>
          <p:cNvSpPr txBox="1"/>
          <p:nvPr>
            <p:ph type="title"/>
          </p:nvPr>
        </p:nvSpPr>
        <p:spPr>
          <a:xfrm>
            <a:off x="457200" y="274638"/>
            <a:ext cx="8229600" cy="418058"/>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solidFill>
                  <a:schemeClr val="dk1"/>
                </a:solidFill>
                <a:latin typeface="Calibri"/>
                <a:ea typeface="Calibri"/>
                <a:cs typeface="Calibri"/>
                <a:sym typeface="Calibri"/>
              </a:rPr>
              <a:t>Moore Machine-State Diagram</a:t>
            </a:r>
            <a:endParaRPr/>
          </a:p>
        </p:txBody>
      </p:sp>
      <p:sp>
        <p:nvSpPr>
          <p:cNvPr id="3178" name="Google Shape;3178;p249"/>
          <p:cNvSpPr txBox="1"/>
          <p:nvPr>
            <p:ph idx="1" type="body"/>
          </p:nvPr>
        </p:nvSpPr>
        <p:spPr>
          <a:xfrm>
            <a:off x="503548" y="836712"/>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State or Transition Function</a:t>
            </a:r>
            <a:endParaRPr/>
          </a:p>
          <a:p>
            <a:pPr indent="-342900" lvl="0" marL="342900" rtl="0" algn="l">
              <a:spcBef>
                <a:spcPts val="480"/>
              </a:spcBef>
              <a:spcAft>
                <a:spcPts val="0"/>
              </a:spcAft>
              <a:buClr>
                <a:schemeClr val="dk1"/>
              </a:buClr>
              <a:buSzPts val="2400"/>
              <a:buChar char="•"/>
            </a:pPr>
            <a:r>
              <a:rPr lang="en-IN" sz="2400"/>
              <a:t>δ:Q X ∑ -&gt;Q State Transition function(STF)</a:t>
            </a:r>
            <a:endParaRPr/>
          </a:p>
          <a:p>
            <a:pPr indent="-342900" lvl="0" marL="342900" rtl="0" algn="l">
              <a:spcBef>
                <a:spcPts val="480"/>
              </a:spcBef>
              <a:spcAft>
                <a:spcPts val="0"/>
              </a:spcAft>
              <a:buClr>
                <a:schemeClr val="dk1"/>
              </a:buClr>
              <a:buSzPts val="2400"/>
              <a:buChar char="•"/>
            </a:pPr>
            <a:r>
              <a:rPr lang="en-IN" sz="2400"/>
              <a:t>λ:Q-&gt;Δ or O Machine Function/Output function</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179" name="Google Shape;3179;p2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180" name="Google Shape;3180;p2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181" name="Google Shape;3181;p2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182" name="Google Shape;3182;p249"/>
          <p:cNvGraphicFramePr/>
          <p:nvPr/>
        </p:nvGraphicFramePr>
        <p:xfrm>
          <a:off x="827584" y="2132856"/>
          <a:ext cx="3000000" cy="3000000"/>
        </p:xfrm>
        <a:graphic>
          <a:graphicData uri="http://schemas.openxmlformats.org/drawingml/2006/table">
            <a:tbl>
              <a:tblPr bandRow="1" firstRow="1">
                <a:noFill/>
                <a:tableStyleId>{67F6A887-4D8F-49DA-B730-5EAACEBB6B1F}</a:tableStyleId>
              </a:tblPr>
              <a:tblGrid>
                <a:gridCol w="944000"/>
                <a:gridCol w="944000"/>
                <a:gridCol w="9440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a</a:t>
                      </a:r>
                      <a:endParaRPr sz="1800"/>
                    </a:p>
                  </a:txBody>
                  <a:tcPr marT="45725" marB="45725" marR="91450" marL="91450"/>
                </a:tc>
                <a:tc>
                  <a:txBody>
                    <a:bodyPr/>
                    <a:lstStyle/>
                    <a:p>
                      <a:pPr indent="0" lvl="0" marL="0" marR="0" rtl="0" algn="l">
                        <a:spcBef>
                          <a:spcPts val="0"/>
                        </a:spcBef>
                        <a:spcAft>
                          <a:spcPts val="0"/>
                        </a:spcAft>
                        <a:buNone/>
                      </a:pPr>
                      <a:r>
                        <a:rPr lang="en-IN" sz="1800"/>
                        <a:t>b</a:t>
                      </a:r>
                      <a:endParaRPr sz="1800"/>
                    </a:p>
                  </a:txBody>
                  <a:tcPr marT="45725" marB="45725" marR="91450" marL="91450"/>
                </a:tc>
              </a:tr>
              <a:tr h="370850">
                <a:tc>
                  <a:txBody>
                    <a:bodyPr/>
                    <a:lstStyle/>
                    <a:p>
                      <a:pPr indent="0" lvl="0" marL="0" marR="0" rtl="0" algn="l">
                        <a:spcBef>
                          <a:spcPts val="0"/>
                        </a:spcBef>
                        <a:spcAft>
                          <a:spcPts val="0"/>
                        </a:spcAft>
                        <a:buNone/>
                      </a:pPr>
                      <a:r>
                        <a:rPr lang="en-IN" sz="1800"/>
                        <a:t>qo</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r>
            </a:tbl>
          </a:graphicData>
        </a:graphic>
      </p:graphicFrame>
      <p:cxnSp>
        <p:nvCxnSpPr>
          <p:cNvPr id="3183" name="Google Shape;3183;p249"/>
          <p:cNvCxnSpPr/>
          <p:nvPr/>
        </p:nvCxnSpPr>
        <p:spPr>
          <a:xfrm>
            <a:off x="251520" y="2636912"/>
            <a:ext cx="504056" cy="0"/>
          </a:xfrm>
          <a:prstGeom prst="straightConnector1">
            <a:avLst/>
          </a:prstGeom>
          <a:noFill/>
          <a:ln cap="flat" cmpd="sng" w="9525">
            <a:solidFill>
              <a:srgbClr val="4A7DBA"/>
            </a:solidFill>
            <a:prstDash val="solid"/>
            <a:round/>
            <a:headEnd len="sm" w="sm" type="none"/>
            <a:tailEnd len="med" w="med" type="stealth"/>
          </a:ln>
        </p:spPr>
      </p:cxnSp>
      <p:graphicFrame>
        <p:nvGraphicFramePr>
          <p:cNvPr id="3184" name="Google Shape;3184;p249"/>
          <p:cNvGraphicFramePr/>
          <p:nvPr/>
        </p:nvGraphicFramePr>
        <p:xfrm>
          <a:off x="4067944" y="2132856"/>
          <a:ext cx="3000000" cy="3000000"/>
        </p:xfrm>
        <a:graphic>
          <a:graphicData uri="http://schemas.openxmlformats.org/drawingml/2006/table">
            <a:tbl>
              <a:tblPr bandRow="1" firstRow="1">
                <a:noFill/>
                <a:tableStyleId>{67F6A887-4D8F-49DA-B730-5EAACEBB6B1F}</a:tableStyleId>
              </a:tblPr>
              <a:tblGrid>
                <a:gridCol w="792100"/>
                <a:gridCol w="7921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Δ/O</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sp>
        <p:nvSpPr>
          <p:cNvPr id="3185" name="Google Shape;3185;p249"/>
          <p:cNvSpPr/>
          <p:nvPr/>
        </p:nvSpPr>
        <p:spPr>
          <a:xfrm>
            <a:off x="5781391" y="5070631"/>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q2/0</a:t>
            </a:r>
            <a:endParaRPr sz="1800">
              <a:solidFill>
                <a:schemeClr val="lt1"/>
              </a:solidFill>
              <a:latin typeface="Calibri"/>
              <a:ea typeface="Calibri"/>
              <a:cs typeface="Calibri"/>
              <a:sym typeface="Calibri"/>
            </a:endParaRPr>
          </a:p>
        </p:txBody>
      </p:sp>
      <p:sp>
        <p:nvSpPr>
          <p:cNvPr id="3186" name="Google Shape;3186;p249"/>
          <p:cNvSpPr/>
          <p:nvPr/>
        </p:nvSpPr>
        <p:spPr>
          <a:xfrm>
            <a:off x="1835696" y="5507940"/>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q0/0</a:t>
            </a:r>
            <a:endParaRPr sz="1800">
              <a:solidFill>
                <a:schemeClr val="lt1"/>
              </a:solidFill>
              <a:latin typeface="Calibri"/>
              <a:ea typeface="Calibri"/>
              <a:cs typeface="Calibri"/>
              <a:sym typeface="Calibri"/>
            </a:endParaRPr>
          </a:p>
        </p:txBody>
      </p:sp>
      <p:cxnSp>
        <p:nvCxnSpPr>
          <p:cNvPr id="3187" name="Google Shape;3187;p249"/>
          <p:cNvCxnSpPr/>
          <p:nvPr/>
        </p:nvCxnSpPr>
        <p:spPr>
          <a:xfrm flipH="1" rot="10800000">
            <a:off x="2556979" y="4693786"/>
            <a:ext cx="1366949" cy="814154"/>
          </a:xfrm>
          <a:prstGeom prst="straightConnector1">
            <a:avLst/>
          </a:prstGeom>
          <a:noFill/>
          <a:ln cap="flat" cmpd="sng" w="9525">
            <a:solidFill>
              <a:srgbClr val="4A7DBA"/>
            </a:solidFill>
            <a:prstDash val="solid"/>
            <a:round/>
            <a:headEnd len="sm" w="sm" type="none"/>
            <a:tailEnd len="med" w="med" type="stealth"/>
          </a:ln>
        </p:spPr>
      </p:cxnSp>
      <p:cxnSp>
        <p:nvCxnSpPr>
          <p:cNvPr id="3188" name="Google Shape;3188;p249"/>
          <p:cNvCxnSpPr/>
          <p:nvPr/>
        </p:nvCxnSpPr>
        <p:spPr>
          <a:xfrm>
            <a:off x="971600" y="5891907"/>
            <a:ext cx="864096" cy="19030"/>
          </a:xfrm>
          <a:prstGeom prst="straightConnector1">
            <a:avLst/>
          </a:prstGeom>
          <a:noFill/>
          <a:ln cap="flat" cmpd="sng" w="9525">
            <a:solidFill>
              <a:srgbClr val="4A7DBA"/>
            </a:solidFill>
            <a:prstDash val="solid"/>
            <a:round/>
            <a:headEnd len="sm" w="sm" type="none"/>
            <a:tailEnd len="med" w="med" type="stealth"/>
          </a:ln>
        </p:spPr>
      </p:cxnSp>
      <p:sp>
        <p:nvSpPr>
          <p:cNvPr id="3189" name="Google Shape;3189;p249"/>
          <p:cNvSpPr txBox="1"/>
          <p:nvPr/>
        </p:nvSpPr>
        <p:spPr>
          <a:xfrm>
            <a:off x="3557911" y="5161062"/>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3190" name="Google Shape;3190;p249"/>
          <p:cNvSpPr/>
          <p:nvPr/>
        </p:nvSpPr>
        <p:spPr>
          <a:xfrm>
            <a:off x="3923928" y="4324454"/>
            <a:ext cx="1080120"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q3/0</a:t>
            </a:r>
            <a:endParaRPr sz="1800">
              <a:solidFill>
                <a:schemeClr val="lt1"/>
              </a:solidFill>
              <a:latin typeface="Calibri"/>
              <a:ea typeface="Calibri"/>
              <a:cs typeface="Calibri"/>
              <a:sym typeface="Calibri"/>
            </a:endParaRPr>
          </a:p>
        </p:txBody>
      </p:sp>
      <p:sp>
        <p:nvSpPr>
          <p:cNvPr id="3191" name="Google Shape;3191;p249"/>
          <p:cNvSpPr txBox="1"/>
          <p:nvPr/>
        </p:nvSpPr>
        <p:spPr>
          <a:xfrm>
            <a:off x="2945179" y="4742481"/>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cxnSp>
        <p:nvCxnSpPr>
          <p:cNvPr id="3192" name="Google Shape;3192;p249"/>
          <p:cNvCxnSpPr/>
          <p:nvPr/>
        </p:nvCxnSpPr>
        <p:spPr>
          <a:xfrm flipH="1">
            <a:off x="2771800" y="4869160"/>
            <a:ext cx="1152128" cy="720080"/>
          </a:xfrm>
          <a:prstGeom prst="straightConnector1">
            <a:avLst/>
          </a:prstGeom>
          <a:noFill/>
          <a:ln cap="flat" cmpd="sng" w="9525">
            <a:solidFill>
              <a:srgbClr val="4A7DBA"/>
            </a:solidFill>
            <a:prstDash val="solid"/>
            <a:round/>
            <a:headEnd len="sm" w="sm" type="none"/>
            <a:tailEnd len="med" w="med" type="stealth"/>
          </a:ln>
        </p:spPr>
      </p:cxnSp>
      <p:cxnSp>
        <p:nvCxnSpPr>
          <p:cNvPr id="3193" name="Google Shape;3193;p249"/>
          <p:cNvCxnSpPr/>
          <p:nvPr/>
        </p:nvCxnSpPr>
        <p:spPr>
          <a:xfrm>
            <a:off x="2829864" y="5891907"/>
            <a:ext cx="1238080" cy="489421"/>
          </a:xfrm>
          <a:prstGeom prst="straightConnector1">
            <a:avLst/>
          </a:prstGeom>
          <a:noFill/>
          <a:ln cap="flat" cmpd="sng" w="9525">
            <a:solidFill>
              <a:srgbClr val="4A7DBA"/>
            </a:solidFill>
            <a:prstDash val="solid"/>
            <a:round/>
            <a:headEnd len="sm" w="sm" type="none"/>
            <a:tailEnd len="med" w="med" type="stealth"/>
          </a:ln>
        </p:spPr>
      </p:cxnSp>
      <p:sp>
        <p:nvSpPr>
          <p:cNvPr id="3194" name="Google Shape;3194;p249"/>
          <p:cNvSpPr/>
          <p:nvPr/>
        </p:nvSpPr>
        <p:spPr>
          <a:xfrm>
            <a:off x="4067944" y="5891907"/>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q1/1</a:t>
            </a:r>
            <a:endParaRPr sz="1800">
              <a:solidFill>
                <a:schemeClr val="lt1"/>
              </a:solidFill>
              <a:latin typeface="Calibri"/>
              <a:ea typeface="Calibri"/>
              <a:cs typeface="Calibri"/>
              <a:sym typeface="Calibri"/>
            </a:endParaRPr>
          </a:p>
        </p:txBody>
      </p:sp>
      <p:cxnSp>
        <p:nvCxnSpPr>
          <p:cNvPr id="3195" name="Google Shape;3195;p249"/>
          <p:cNvCxnSpPr/>
          <p:nvPr/>
        </p:nvCxnSpPr>
        <p:spPr>
          <a:xfrm rot="10800000">
            <a:off x="4932040" y="4869160"/>
            <a:ext cx="864096" cy="360040"/>
          </a:xfrm>
          <a:prstGeom prst="straightConnector1">
            <a:avLst/>
          </a:prstGeom>
          <a:noFill/>
          <a:ln cap="flat" cmpd="sng" w="9525">
            <a:solidFill>
              <a:srgbClr val="4A7DBA"/>
            </a:solidFill>
            <a:prstDash val="solid"/>
            <a:round/>
            <a:headEnd len="sm" w="sm" type="none"/>
            <a:tailEnd len="med" w="med" type="stealth"/>
          </a:ln>
        </p:spPr>
      </p:cxnSp>
      <p:cxnSp>
        <p:nvCxnSpPr>
          <p:cNvPr id="3196" name="Google Shape;3196;p249"/>
          <p:cNvCxnSpPr/>
          <p:nvPr/>
        </p:nvCxnSpPr>
        <p:spPr>
          <a:xfrm flipH="1" rot="10800000">
            <a:off x="4932040" y="5685258"/>
            <a:ext cx="914432" cy="451359"/>
          </a:xfrm>
          <a:prstGeom prst="straightConnector1">
            <a:avLst/>
          </a:prstGeom>
          <a:noFill/>
          <a:ln cap="flat" cmpd="sng" w="9525">
            <a:solidFill>
              <a:srgbClr val="4A7DBA"/>
            </a:solidFill>
            <a:prstDash val="solid"/>
            <a:round/>
            <a:headEnd len="sm" w="sm" type="none"/>
            <a:tailEnd len="med" w="med" type="stealth"/>
          </a:ln>
        </p:spPr>
      </p:cxnSp>
      <p:sp>
        <p:nvSpPr>
          <p:cNvPr id="3197" name="Google Shape;3197;p249"/>
          <p:cNvSpPr txBox="1"/>
          <p:nvPr/>
        </p:nvSpPr>
        <p:spPr>
          <a:xfrm>
            <a:off x="5148064" y="5085184"/>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3198" name="Google Shape;3198;p249"/>
          <p:cNvSpPr txBox="1"/>
          <p:nvPr/>
        </p:nvSpPr>
        <p:spPr>
          <a:xfrm>
            <a:off x="3545426" y="5867980"/>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3199" name="Google Shape;3199;p249"/>
          <p:cNvSpPr txBox="1"/>
          <p:nvPr/>
        </p:nvSpPr>
        <p:spPr>
          <a:xfrm>
            <a:off x="5004048" y="5661248"/>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3200" name="Google Shape;3200;p249"/>
          <p:cNvSpPr/>
          <p:nvPr/>
        </p:nvSpPr>
        <p:spPr>
          <a:xfrm>
            <a:off x="4355976" y="4005064"/>
            <a:ext cx="432048" cy="288032"/>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01" name="Google Shape;3201;p249"/>
          <p:cNvSpPr txBox="1"/>
          <p:nvPr/>
        </p:nvSpPr>
        <p:spPr>
          <a:xfrm>
            <a:off x="4893928" y="4005064"/>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3202" name="Google Shape;3202;p249"/>
          <p:cNvSpPr txBox="1"/>
          <p:nvPr/>
        </p:nvSpPr>
        <p:spPr>
          <a:xfrm>
            <a:off x="5046328" y="6156012"/>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3203" name="Google Shape;3203;p249"/>
          <p:cNvSpPr/>
          <p:nvPr/>
        </p:nvSpPr>
        <p:spPr>
          <a:xfrm>
            <a:off x="4283968" y="6611987"/>
            <a:ext cx="609960" cy="201389"/>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04" name="Google Shape;3204;p249"/>
          <p:cNvSpPr/>
          <p:nvPr/>
        </p:nvSpPr>
        <p:spPr>
          <a:xfrm>
            <a:off x="6717495" y="5049180"/>
            <a:ext cx="374785" cy="405336"/>
          </a:xfrm>
          <a:prstGeom prst="curvedLef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05" name="Google Shape;3205;p249"/>
          <p:cNvSpPr txBox="1"/>
          <p:nvPr/>
        </p:nvSpPr>
        <p:spPr>
          <a:xfrm>
            <a:off x="6804248" y="5373216"/>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9" name="Shape 3209"/>
        <p:cNvGrpSpPr/>
        <p:nvPr/>
      </p:nvGrpSpPr>
      <p:grpSpPr>
        <a:xfrm>
          <a:off x="0" y="0"/>
          <a:ext cx="0" cy="0"/>
          <a:chOff x="0" y="0"/>
          <a:chExt cx="0" cy="0"/>
        </a:xfrm>
      </p:grpSpPr>
      <p:sp>
        <p:nvSpPr>
          <p:cNvPr id="3210" name="Google Shape;3210;p250"/>
          <p:cNvSpPr txBox="1"/>
          <p:nvPr>
            <p:ph type="title"/>
          </p:nvPr>
        </p:nvSpPr>
        <p:spPr>
          <a:xfrm>
            <a:off x="421196" y="0"/>
            <a:ext cx="8229600" cy="418058"/>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solidFill>
                  <a:schemeClr val="dk1"/>
                </a:solidFill>
                <a:latin typeface="Calibri"/>
                <a:ea typeface="Calibri"/>
                <a:cs typeface="Calibri"/>
                <a:sym typeface="Calibri"/>
              </a:rPr>
              <a:t>Moore Machine-State Diagram</a:t>
            </a:r>
            <a:endParaRPr/>
          </a:p>
        </p:txBody>
      </p:sp>
      <p:sp>
        <p:nvSpPr>
          <p:cNvPr id="3211" name="Google Shape;3211;p250"/>
          <p:cNvSpPr txBox="1"/>
          <p:nvPr>
            <p:ph idx="1" type="body"/>
          </p:nvPr>
        </p:nvSpPr>
        <p:spPr>
          <a:xfrm>
            <a:off x="349188" y="401184"/>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In Moore Machine, if the length of the input sequence is “n”, then the length of output is n+1</a:t>
            </a:r>
            <a:endParaRPr/>
          </a:p>
          <a:p>
            <a:pPr indent="-342900" lvl="0" marL="342900" rtl="0" algn="l">
              <a:spcBef>
                <a:spcPts val="480"/>
              </a:spcBef>
              <a:spcAft>
                <a:spcPts val="0"/>
              </a:spcAft>
              <a:buClr>
                <a:schemeClr val="dk1"/>
              </a:buClr>
              <a:buSzPts val="2400"/>
              <a:buChar char="•"/>
            </a:pPr>
            <a:r>
              <a:rPr lang="en-IN" sz="2400"/>
              <a:t>Input=“abba”</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212" name="Google Shape;3212;p2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213" name="Google Shape;3213;p2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214" name="Google Shape;3214;p2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215" name="Google Shape;3215;p250"/>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200">
                <a:solidFill>
                  <a:srgbClr val="888888"/>
                </a:solidFill>
                <a:latin typeface="Calibri"/>
                <a:ea typeface="Calibri"/>
                <a:cs typeface="Calibri"/>
                <a:sym typeface="Calibri"/>
              </a:rPr>
              <a:t>Ms. Shweta Dhawan Chachra</a:t>
            </a:r>
            <a:endParaRPr sz="1200">
              <a:solidFill>
                <a:srgbClr val="888888"/>
              </a:solidFill>
              <a:latin typeface="Calibri"/>
              <a:ea typeface="Calibri"/>
              <a:cs typeface="Calibri"/>
              <a:sym typeface="Calibri"/>
            </a:endParaRPr>
          </a:p>
        </p:txBody>
      </p:sp>
      <p:sp>
        <p:nvSpPr>
          <p:cNvPr id="3216" name="Google Shape;3216;p250"/>
          <p:cNvSpPr/>
          <p:nvPr/>
        </p:nvSpPr>
        <p:spPr>
          <a:xfrm>
            <a:off x="5781391" y="5070631"/>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q2/0</a:t>
            </a:r>
            <a:endParaRPr sz="1800">
              <a:solidFill>
                <a:schemeClr val="lt1"/>
              </a:solidFill>
              <a:latin typeface="Calibri"/>
              <a:ea typeface="Calibri"/>
              <a:cs typeface="Calibri"/>
              <a:sym typeface="Calibri"/>
            </a:endParaRPr>
          </a:p>
        </p:txBody>
      </p:sp>
      <p:sp>
        <p:nvSpPr>
          <p:cNvPr id="3217" name="Google Shape;3217;p250"/>
          <p:cNvSpPr/>
          <p:nvPr/>
        </p:nvSpPr>
        <p:spPr>
          <a:xfrm>
            <a:off x="1835696" y="5507940"/>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q0/0</a:t>
            </a:r>
            <a:endParaRPr sz="1800">
              <a:solidFill>
                <a:schemeClr val="lt1"/>
              </a:solidFill>
              <a:latin typeface="Calibri"/>
              <a:ea typeface="Calibri"/>
              <a:cs typeface="Calibri"/>
              <a:sym typeface="Calibri"/>
            </a:endParaRPr>
          </a:p>
        </p:txBody>
      </p:sp>
      <p:cxnSp>
        <p:nvCxnSpPr>
          <p:cNvPr id="3218" name="Google Shape;3218;p250"/>
          <p:cNvCxnSpPr/>
          <p:nvPr/>
        </p:nvCxnSpPr>
        <p:spPr>
          <a:xfrm flipH="1" rot="10800000">
            <a:off x="2556979" y="4693786"/>
            <a:ext cx="1366949" cy="814154"/>
          </a:xfrm>
          <a:prstGeom prst="straightConnector1">
            <a:avLst/>
          </a:prstGeom>
          <a:noFill/>
          <a:ln cap="flat" cmpd="sng" w="9525">
            <a:solidFill>
              <a:srgbClr val="4A7DBA"/>
            </a:solidFill>
            <a:prstDash val="solid"/>
            <a:round/>
            <a:headEnd len="sm" w="sm" type="none"/>
            <a:tailEnd len="med" w="med" type="stealth"/>
          </a:ln>
        </p:spPr>
      </p:cxnSp>
      <p:cxnSp>
        <p:nvCxnSpPr>
          <p:cNvPr id="3219" name="Google Shape;3219;p250"/>
          <p:cNvCxnSpPr/>
          <p:nvPr/>
        </p:nvCxnSpPr>
        <p:spPr>
          <a:xfrm>
            <a:off x="971600" y="5891907"/>
            <a:ext cx="864096" cy="19030"/>
          </a:xfrm>
          <a:prstGeom prst="straightConnector1">
            <a:avLst/>
          </a:prstGeom>
          <a:noFill/>
          <a:ln cap="flat" cmpd="sng" w="9525">
            <a:solidFill>
              <a:srgbClr val="4A7DBA"/>
            </a:solidFill>
            <a:prstDash val="solid"/>
            <a:round/>
            <a:headEnd len="sm" w="sm" type="none"/>
            <a:tailEnd len="med" w="med" type="stealth"/>
          </a:ln>
        </p:spPr>
      </p:cxnSp>
      <p:sp>
        <p:nvSpPr>
          <p:cNvPr id="3220" name="Google Shape;3220;p250"/>
          <p:cNvSpPr txBox="1"/>
          <p:nvPr/>
        </p:nvSpPr>
        <p:spPr>
          <a:xfrm>
            <a:off x="3557911" y="5161062"/>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3221" name="Google Shape;3221;p250"/>
          <p:cNvSpPr/>
          <p:nvPr/>
        </p:nvSpPr>
        <p:spPr>
          <a:xfrm>
            <a:off x="3923928" y="4324454"/>
            <a:ext cx="1080120"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q3/0</a:t>
            </a:r>
            <a:endParaRPr sz="1800">
              <a:solidFill>
                <a:schemeClr val="lt1"/>
              </a:solidFill>
              <a:latin typeface="Calibri"/>
              <a:ea typeface="Calibri"/>
              <a:cs typeface="Calibri"/>
              <a:sym typeface="Calibri"/>
            </a:endParaRPr>
          </a:p>
        </p:txBody>
      </p:sp>
      <p:sp>
        <p:nvSpPr>
          <p:cNvPr id="3222" name="Google Shape;3222;p250"/>
          <p:cNvSpPr txBox="1"/>
          <p:nvPr/>
        </p:nvSpPr>
        <p:spPr>
          <a:xfrm>
            <a:off x="2945179" y="4742481"/>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cxnSp>
        <p:nvCxnSpPr>
          <p:cNvPr id="3223" name="Google Shape;3223;p250"/>
          <p:cNvCxnSpPr/>
          <p:nvPr/>
        </p:nvCxnSpPr>
        <p:spPr>
          <a:xfrm flipH="1">
            <a:off x="2771800" y="4869160"/>
            <a:ext cx="1152128" cy="720080"/>
          </a:xfrm>
          <a:prstGeom prst="straightConnector1">
            <a:avLst/>
          </a:prstGeom>
          <a:noFill/>
          <a:ln cap="flat" cmpd="sng" w="9525">
            <a:solidFill>
              <a:srgbClr val="4A7DBA"/>
            </a:solidFill>
            <a:prstDash val="solid"/>
            <a:round/>
            <a:headEnd len="sm" w="sm" type="none"/>
            <a:tailEnd len="med" w="med" type="stealth"/>
          </a:ln>
        </p:spPr>
      </p:cxnSp>
      <p:cxnSp>
        <p:nvCxnSpPr>
          <p:cNvPr id="3224" name="Google Shape;3224;p250"/>
          <p:cNvCxnSpPr/>
          <p:nvPr/>
        </p:nvCxnSpPr>
        <p:spPr>
          <a:xfrm>
            <a:off x="2829864" y="5891907"/>
            <a:ext cx="1238080" cy="489421"/>
          </a:xfrm>
          <a:prstGeom prst="straightConnector1">
            <a:avLst/>
          </a:prstGeom>
          <a:noFill/>
          <a:ln cap="flat" cmpd="sng" w="9525">
            <a:solidFill>
              <a:srgbClr val="4A7DBA"/>
            </a:solidFill>
            <a:prstDash val="solid"/>
            <a:round/>
            <a:headEnd len="sm" w="sm" type="none"/>
            <a:tailEnd len="med" w="med" type="stealth"/>
          </a:ln>
        </p:spPr>
      </p:cxnSp>
      <p:sp>
        <p:nvSpPr>
          <p:cNvPr id="3225" name="Google Shape;3225;p250"/>
          <p:cNvSpPr/>
          <p:nvPr/>
        </p:nvSpPr>
        <p:spPr>
          <a:xfrm>
            <a:off x="4067944" y="5891907"/>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q1/1</a:t>
            </a:r>
            <a:endParaRPr sz="1800">
              <a:solidFill>
                <a:schemeClr val="lt1"/>
              </a:solidFill>
              <a:latin typeface="Calibri"/>
              <a:ea typeface="Calibri"/>
              <a:cs typeface="Calibri"/>
              <a:sym typeface="Calibri"/>
            </a:endParaRPr>
          </a:p>
        </p:txBody>
      </p:sp>
      <p:cxnSp>
        <p:nvCxnSpPr>
          <p:cNvPr id="3226" name="Google Shape;3226;p250"/>
          <p:cNvCxnSpPr/>
          <p:nvPr/>
        </p:nvCxnSpPr>
        <p:spPr>
          <a:xfrm rot="10800000">
            <a:off x="4932040" y="4869160"/>
            <a:ext cx="864096" cy="360040"/>
          </a:xfrm>
          <a:prstGeom prst="straightConnector1">
            <a:avLst/>
          </a:prstGeom>
          <a:noFill/>
          <a:ln cap="flat" cmpd="sng" w="9525">
            <a:solidFill>
              <a:srgbClr val="4A7DBA"/>
            </a:solidFill>
            <a:prstDash val="solid"/>
            <a:round/>
            <a:headEnd len="sm" w="sm" type="none"/>
            <a:tailEnd len="med" w="med" type="stealth"/>
          </a:ln>
        </p:spPr>
      </p:cxnSp>
      <p:cxnSp>
        <p:nvCxnSpPr>
          <p:cNvPr id="3227" name="Google Shape;3227;p250"/>
          <p:cNvCxnSpPr/>
          <p:nvPr/>
        </p:nvCxnSpPr>
        <p:spPr>
          <a:xfrm flipH="1" rot="10800000">
            <a:off x="4932040" y="5685258"/>
            <a:ext cx="914432" cy="451359"/>
          </a:xfrm>
          <a:prstGeom prst="straightConnector1">
            <a:avLst/>
          </a:prstGeom>
          <a:noFill/>
          <a:ln cap="flat" cmpd="sng" w="9525">
            <a:solidFill>
              <a:srgbClr val="4A7DBA"/>
            </a:solidFill>
            <a:prstDash val="solid"/>
            <a:round/>
            <a:headEnd len="sm" w="sm" type="none"/>
            <a:tailEnd len="med" w="med" type="stealth"/>
          </a:ln>
        </p:spPr>
      </p:cxnSp>
      <p:sp>
        <p:nvSpPr>
          <p:cNvPr id="3228" name="Google Shape;3228;p250"/>
          <p:cNvSpPr txBox="1"/>
          <p:nvPr/>
        </p:nvSpPr>
        <p:spPr>
          <a:xfrm>
            <a:off x="5148064" y="5085184"/>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3229" name="Google Shape;3229;p250"/>
          <p:cNvSpPr txBox="1"/>
          <p:nvPr/>
        </p:nvSpPr>
        <p:spPr>
          <a:xfrm>
            <a:off x="3545426" y="5867980"/>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3230" name="Google Shape;3230;p250"/>
          <p:cNvSpPr txBox="1"/>
          <p:nvPr/>
        </p:nvSpPr>
        <p:spPr>
          <a:xfrm>
            <a:off x="5004048" y="5661248"/>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3231" name="Google Shape;3231;p250"/>
          <p:cNvSpPr txBox="1"/>
          <p:nvPr/>
        </p:nvSpPr>
        <p:spPr>
          <a:xfrm>
            <a:off x="5046328" y="6156012"/>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3232" name="Google Shape;3232;p250"/>
          <p:cNvSpPr/>
          <p:nvPr/>
        </p:nvSpPr>
        <p:spPr>
          <a:xfrm>
            <a:off x="4283968" y="6611987"/>
            <a:ext cx="609960" cy="201389"/>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33" name="Google Shape;3233;p250"/>
          <p:cNvSpPr/>
          <p:nvPr/>
        </p:nvSpPr>
        <p:spPr>
          <a:xfrm>
            <a:off x="6710253" y="5183904"/>
            <a:ext cx="374785" cy="405336"/>
          </a:xfrm>
          <a:prstGeom prst="curvedLef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34" name="Google Shape;3234;p250"/>
          <p:cNvSpPr txBox="1"/>
          <p:nvPr/>
        </p:nvSpPr>
        <p:spPr>
          <a:xfrm>
            <a:off x="6797006" y="5507940"/>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3235" name="Google Shape;3235;p250"/>
          <p:cNvSpPr/>
          <p:nvPr/>
        </p:nvSpPr>
        <p:spPr>
          <a:xfrm>
            <a:off x="4355976" y="4005064"/>
            <a:ext cx="432048" cy="288032"/>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3236" name="Google Shape;3236;p250"/>
          <p:cNvPicPr preferRelativeResize="0"/>
          <p:nvPr/>
        </p:nvPicPr>
        <p:blipFill rotWithShape="1">
          <a:blip r:embed="rId3">
            <a:alphaModFix/>
          </a:blip>
          <a:srcRect b="0" l="0" r="0" t="0"/>
          <a:stretch/>
        </p:blipFill>
        <p:spPr>
          <a:xfrm>
            <a:off x="4870976" y="3990629"/>
            <a:ext cx="396875" cy="493713"/>
          </a:xfrm>
          <a:prstGeom prst="rect">
            <a:avLst/>
          </a:prstGeom>
          <a:noFill/>
          <a:ln>
            <a:noFill/>
          </a:ln>
        </p:spPr>
      </p:pic>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0" name="Shape 3240"/>
        <p:cNvGrpSpPr/>
        <p:nvPr/>
      </p:nvGrpSpPr>
      <p:grpSpPr>
        <a:xfrm>
          <a:off x="0" y="0"/>
          <a:ext cx="0" cy="0"/>
          <a:chOff x="0" y="0"/>
          <a:chExt cx="0" cy="0"/>
        </a:xfrm>
      </p:grpSpPr>
      <p:sp>
        <p:nvSpPr>
          <p:cNvPr id="3241" name="Google Shape;3241;p251"/>
          <p:cNvSpPr txBox="1"/>
          <p:nvPr>
            <p:ph type="title"/>
          </p:nvPr>
        </p:nvSpPr>
        <p:spPr>
          <a:xfrm>
            <a:off x="421196" y="0"/>
            <a:ext cx="8229600" cy="418058"/>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solidFill>
                  <a:schemeClr val="dk1"/>
                </a:solidFill>
                <a:latin typeface="Calibri"/>
                <a:ea typeface="Calibri"/>
                <a:cs typeface="Calibri"/>
                <a:sym typeface="Calibri"/>
              </a:rPr>
              <a:t>Moore Machine-State Diagram</a:t>
            </a:r>
            <a:endParaRPr/>
          </a:p>
        </p:txBody>
      </p:sp>
      <p:sp>
        <p:nvSpPr>
          <p:cNvPr id="3242" name="Google Shape;3242;p251"/>
          <p:cNvSpPr txBox="1"/>
          <p:nvPr>
            <p:ph idx="1" type="body"/>
          </p:nvPr>
        </p:nvSpPr>
        <p:spPr>
          <a:xfrm>
            <a:off x="349188" y="401184"/>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In Moore Machine, if the length of the input sequence is “n”, then the length of output is n+1</a:t>
            </a:r>
            <a:endParaRPr/>
          </a:p>
          <a:p>
            <a:pPr indent="-342900" lvl="0" marL="342900" rtl="0" algn="l">
              <a:spcBef>
                <a:spcPts val="480"/>
              </a:spcBef>
              <a:spcAft>
                <a:spcPts val="0"/>
              </a:spcAft>
              <a:buClr>
                <a:schemeClr val="dk1"/>
              </a:buClr>
              <a:buSzPts val="2400"/>
              <a:buChar char="•"/>
            </a:pPr>
            <a:r>
              <a:rPr lang="en-IN" sz="2400"/>
              <a:t>Input=“abba”</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243" name="Google Shape;3243;p2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244" name="Google Shape;3244;p2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245" name="Google Shape;3245;p2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246" name="Google Shape;3246;p251"/>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200">
                <a:solidFill>
                  <a:srgbClr val="888888"/>
                </a:solidFill>
                <a:latin typeface="Calibri"/>
                <a:ea typeface="Calibri"/>
                <a:cs typeface="Calibri"/>
                <a:sym typeface="Calibri"/>
              </a:rPr>
              <a:t>Ms. Shweta Dhawan Chachra</a:t>
            </a:r>
            <a:endParaRPr sz="1200">
              <a:solidFill>
                <a:srgbClr val="888888"/>
              </a:solidFill>
              <a:latin typeface="Calibri"/>
              <a:ea typeface="Calibri"/>
              <a:cs typeface="Calibri"/>
              <a:sym typeface="Calibri"/>
            </a:endParaRPr>
          </a:p>
        </p:txBody>
      </p:sp>
      <p:sp>
        <p:nvSpPr>
          <p:cNvPr id="3247" name="Google Shape;3247;p251"/>
          <p:cNvSpPr/>
          <p:nvPr/>
        </p:nvSpPr>
        <p:spPr>
          <a:xfrm>
            <a:off x="5781391" y="5070631"/>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q2/0</a:t>
            </a:r>
            <a:endParaRPr sz="1800">
              <a:solidFill>
                <a:schemeClr val="lt1"/>
              </a:solidFill>
              <a:latin typeface="Calibri"/>
              <a:ea typeface="Calibri"/>
              <a:cs typeface="Calibri"/>
              <a:sym typeface="Calibri"/>
            </a:endParaRPr>
          </a:p>
        </p:txBody>
      </p:sp>
      <p:sp>
        <p:nvSpPr>
          <p:cNvPr id="3248" name="Google Shape;3248;p251"/>
          <p:cNvSpPr/>
          <p:nvPr/>
        </p:nvSpPr>
        <p:spPr>
          <a:xfrm>
            <a:off x="1835696" y="5507940"/>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q0/0</a:t>
            </a:r>
            <a:endParaRPr sz="1800">
              <a:solidFill>
                <a:schemeClr val="lt1"/>
              </a:solidFill>
              <a:latin typeface="Calibri"/>
              <a:ea typeface="Calibri"/>
              <a:cs typeface="Calibri"/>
              <a:sym typeface="Calibri"/>
            </a:endParaRPr>
          </a:p>
        </p:txBody>
      </p:sp>
      <p:cxnSp>
        <p:nvCxnSpPr>
          <p:cNvPr id="3249" name="Google Shape;3249;p251"/>
          <p:cNvCxnSpPr/>
          <p:nvPr/>
        </p:nvCxnSpPr>
        <p:spPr>
          <a:xfrm flipH="1" rot="10800000">
            <a:off x="2556979" y="4693786"/>
            <a:ext cx="1366949" cy="814154"/>
          </a:xfrm>
          <a:prstGeom prst="straightConnector1">
            <a:avLst/>
          </a:prstGeom>
          <a:noFill/>
          <a:ln cap="flat" cmpd="sng" w="9525">
            <a:solidFill>
              <a:srgbClr val="4A7DBA"/>
            </a:solidFill>
            <a:prstDash val="solid"/>
            <a:round/>
            <a:headEnd len="sm" w="sm" type="none"/>
            <a:tailEnd len="med" w="med" type="stealth"/>
          </a:ln>
        </p:spPr>
      </p:cxnSp>
      <p:cxnSp>
        <p:nvCxnSpPr>
          <p:cNvPr id="3250" name="Google Shape;3250;p251"/>
          <p:cNvCxnSpPr/>
          <p:nvPr/>
        </p:nvCxnSpPr>
        <p:spPr>
          <a:xfrm>
            <a:off x="971600" y="5891907"/>
            <a:ext cx="864096" cy="19030"/>
          </a:xfrm>
          <a:prstGeom prst="straightConnector1">
            <a:avLst/>
          </a:prstGeom>
          <a:noFill/>
          <a:ln cap="flat" cmpd="sng" w="9525">
            <a:solidFill>
              <a:srgbClr val="4A7DBA"/>
            </a:solidFill>
            <a:prstDash val="solid"/>
            <a:round/>
            <a:headEnd len="sm" w="sm" type="none"/>
            <a:tailEnd len="med" w="med" type="stealth"/>
          </a:ln>
        </p:spPr>
      </p:cxnSp>
      <p:sp>
        <p:nvSpPr>
          <p:cNvPr id="3251" name="Google Shape;3251;p251"/>
          <p:cNvSpPr txBox="1"/>
          <p:nvPr/>
        </p:nvSpPr>
        <p:spPr>
          <a:xfrm>
            <a:off x="3557911" y="5161062"/>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3252" name="Google Shape;3252;p251"/>
          <p:cNvSpPr/>
          <p:nvPr/>
        </p:nvSpPr>
        <p:spPr>
          <a:xfrm>
            <a:off x="3923928" y="4324454"/>
            <a:ext cx="1080120"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q3/0</a:t>
            </a:r>
            <a:endParaRPr sz="1800">
              <a:solidFill>
                <a:schemeClr val="lt1"/>
              </a:solidFill>
              <a:latin typeface="Calibri"/>
              <a:ea typeface="Calibri"/>
              <a:cs typeface="Calibri"/>
              <a:sym typeface="Calibri"/>
            </a:endParaRPr>
          </a:p>
        </p:txBody>
      </p:sp>
      <p:sp>
        <p:nvSpPr>
          <p:cNvPr id="3253" name="Google Shape;3253;p251"/>
          <p:cNvSpPr txBox="1"/>
          <p:nvPr/>
        </p:nvSpPr>
        <p:spPr>
          <a:xfrm>
            <a:off x="2945179" y="4742481"/>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cxnSp>
        <p:nvCxnSpPr>
          <p:cNvPr id="3254" name="Google Shape;3254;p251"/>
          <p:cNvCxnSpPr/>
          <p:nvPr/>
        </p:nvCxnSpPr>
        <p:spPr>
          <a:xfrm flipH="1">
            <a:off x="2771800" y="4869160"/>
            <a:ext cx="1152128" cy="720080"/>
          </a:xfrm>
          <a:prstGeom prst="straightConnector1">
            <a:avLst/>
          </a:prstGeom>
          <a:noFill/>
          <a:ln cap="flat" cmpd="sng" w="9525">
            <a:solidFill>
              <a:srgbClr val="4A7DBA"/>
            </a:solidFill>
            <a:prstDash val="solid"/>
            <a:round/>
            <a:headEnd len="sm" w="sm" type="none"/>
            <a:tailEnd len="med" w="med" type="stealth"/>
          </a:ln>
        </p:spPr>
      </p:cxnSp>
      <p:cxnSp>
        <p:nvCxnSpPr>
          <p:cNvPr id="3255" name="Google Shape;3255;p251"/>
          <p:cNvCxnSpPr/>
          <p:nvPr/>
        </p:nvCxnSpPr>
        <p:spPr>
          <a:xfrm>
            <a:off x="2829864" y="5891907"/>
            <a:ext cx="1238080" cy="489421"/>
          </a:xfrm>
          <a:prstGeom prst="straightConnector1">
            <a:avLst/>
          </a:prstGeom>
          <a:noFill/>
          <a:ln cap="flat" cmpd="sng" w="9525">
            <a:solidFill>
              <a:srgbClr val="4A7DBA"/>
            </a:solidFill>
            <a:prstDash val="solid"/>
            <a:round/>
            <a:headEnd len="sm" w="sm" type="none"/>
            <a:tailEnd len="med" w="med" type="stealth"/>
          </a:ln>
        </p:spPr>
      </p:cxnSp>
      <p:sp>
        <p:nvSpPr>
          <p:cNvPr id="3256" name="Google Shape;3256;p251"/>
          <p:cNvSpPr/>
          <p:nvPr/>
        </p:nvSpPr>
        <p:spPr>
          <a:xfrm>
            <a:off x="4067944" y="5891907"/>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q1/1</a:t>
            </a:r>
            <a:endParaRPr sz="1800">
              <a:solidFill>
                <a:schemeClr val="lt1"/>
              </a:solidFill>
              <a:latin typeface="Calibri"/>
              <a:ea typeface="Calibri"/>
              <a:cs typeface="Calibri"/>
              <a:sym typeface="Calibri"/>
            </a:endParaRPr>
          </a:p>
        </p:txBody>
      </p:sp>
      <p:cxnSp>
        <p:nvCxnSpPr>
          <p:cNvPr id="3257" name="Google Shape;3257;p251"/>
          <p:cNvCxnSpPr/>
          <p:nvPr/>
        </p:nvCxnSpPr>
        <p:spPr>
          <a:xfrm rot="10800000">
            <a:off x="4932040" y="4869160"/>
            <a:ext cx="864096" cy="360040"/>
          </a:xfrm>
          <a:prstGeom prst="straightConnector1">
            <a:avLst/>
          </a:prstGeom>
          <a:noFill/>
          <a:ln cap="flat" cmpd="sng" w="9525">
            <a:solidFill>
              <a:srgbClr val="4A7DBA"/>
            </a:solidFill>
            <a:prstDash val="solid"/>
            <a:round/>
            <a:headEnd len="sm" w="sm" type="none"/>
            <a:tailEnd len="med" w="med" type="stealth"/>
          </a:ln>
        </p:spPr>
      </p:cxnSp>
      <p:cxnSp>
        <p:nvCxnSpPr>
          <p:cNvPr id="3258" name="Google Shape;3258;p251"/>
          <p:cNvCxnSpPr/>
          <p:nvPr/>
        </p:nvCxnSpPr>
        <p:spPr>
          <a:xfrm flipH="1" rot="10800000">
            <a:off x="4932040" y="5685258"/>
            <a:ext cx="914432" cy="451359"/>
          </a:xfrm>
          <a:prstGeom prst="straightConnector1">
            <a:avLst/>
          </a:prstGeom>
          <a:noFill/>
          <a:ln cap="flat" cmpd="sng" w="9525">
            <a:solidFill>
              <a:srgbClr val="4A7DBA"/>
            </a:solidFill>
            <a:prstDash val="solid"/>
            <a:round/>
            <a:headEnd len="sm" w="sm" type="none"/>
            <a:tailEnd len="med" w="med" type="stealth"/>
          </a:ln>
        </p:spPr>
      </p:cxnSp>
      <p:sp>
        <p:nvSpPr>
          <p:cNvPr id="3259" name="Google Shape;3259;p251"/>
          <p:cNvSpPr txBox="1"/>
          <p:nvPr/>
        </p:nvSpPr>
        <p:spPr>
          <a:xfrm>
            <a:off x="5148064" y="5085184"/>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3260" name="Google Shape;3260;p251"/>
          <p:cNvSpPr txBox="1"/>
          <p:nvPr/>
        </p:nvSpPr>
        <p:spPr>
          <a:xfrm>
            <a:off x="3545426" y="5867980"/>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3261" name="Google Shape;3261;p251"/>
          <p:cNvSpPr txBox="1"/>
          <p:nvPr/>
        </p:nvSpPr>
        <p:spPr>
          <a:xfrm>
            <a:off x="5004048" y="5661248"/>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3262" name="Google Shape;3262;p251"/>
          <p:cNvSpPr txBox="1"/>
          <p:nvPr/>
        </p:nvSpPr>
        <p:spPr>
          <a:xfrm>
            <a:off x="5046328" y="6156012"/>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3263" name="Google Shape;3263;p251"/>
          <p:cNvSpPr/>
          <p:nvPr/>
        </p:nvSpPr>
        <p:spPr>
          <a:xfrm>
            <a:off x="4283968" y="6611987"/>
            <a:ext cx="609960" cy="201389"/>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64" name="Google Shape;3264;p251"/>
          <p:cNvSpPr/>
          <p:nvPr/>
        </p:nvSpPr>
        <p:spPr>
          <a:xfrm>
            <a:off x="6710253" y="5183904"/>
            <a:ext cx="374785" cy="405336"/>
          </a:xfrm>
          <a:prstGeom prst="curvedLef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65" name="Google Shape;3265;p251"/>
          <p:cNvSpPr txBox="1"/>
          <p:nvPr/>
        </p:nvSpPr>
        <p:spPr>
          <a:xfrm>
            <a:off x="6797006" y="5507940"/>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3266" name="Google Shape;3266;p251"/>
          <p:cNvSpPr/>
          <p:nvPr/>
        </p:nvSpPr>
        <p:spPr>
          <a:xfrm>
            <a:off x="4355976" y="4005064"/>
            <a:ext cx="432048" cy="288032"/>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3267" name="Google Shape;3267;p251"/>
          <p:cNvPicPr preferRelativeResize="0"/>
          <p:nvPr/>
        </p:nvPicPr>
        <p:blipFill rotWithShape="1">
          <a:blip r:embed="rId3">
            <a:alphaModFix/>
          </a:blip>
          <a:srcRect b="0" l="0" r="0" t="0"/>
          <a:stretch/>
        </p:blipFill>
        <p:spPr>
          <a:xfrm>
            <a:off x="4870976" y="3990629"/>
            <a:ext cx="396875" cy="493713"/>
          </a:xfrm>
          <a:prstGeom prst="rect">
            <a:avLst/>
          </a:prstGeom>
          <a:noFill/>
          <a:ln>
            <a:noFill/>
          </a:ln>
        </p:spPr>
      </p:pic>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1" name="Shape 3271"/>
        <p:cNvGrpSpPr/>
        <p:nvPr/>
      </p:nvGrpSpPr>
      <p:grpSpPr>
        <a:xfrm>
          <a:off x="0" y="0"/>
          <a:ext cx="0" cy="0"/>
          <a:chOff x="0" y="0"/>
          <a:chExt cx="0" cy="0"/>
        </a:xfrm>
      </p:grpSpPr>
      <p:sp>
        <p:nvSpPr>
          <p:cNvPr id="3272" name="Google Shape;3272;p2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400"/>
              <a:buFont typeface="Calibri"/>
              <a:buNone/>
            </a:pPr>
            <a:r>
              <a:rPr b="1" lang="en-IN" sz="2400"/>
              <a:t>Draw the state diagram for the Moore Machine given below,</a:t>
            </a:r>
            <a:br>
              <a:rPr b="1" lang="en-IN" sz="2400"/>
            </a:br>
            <a:r>
              <a:rPr b="1" lang="en-IN" sz="2400"/>
              <a:t>qo is the start state</a:t>
            </a:r>
            <a:endParaRPr b="1" sz="2400"/>
          </a:p>
        </p:txBody>
      </p:sp>
      <p:sp>
        <p:nvSpPr>
          <p:cNvPr id="3273" name="Google Shape;3273;p2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274" name="Google Shape;3274;p2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275" name="Google Shape;3275;p2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3276" name="Google Shape;3276;p252"/>
          <p:cNvPicPr preferRelativeResize="0"/>
          <p:nvPr>
            <p:ph idx="1" type="body"/>
          </p:nvPr>
        </p:nvPicPr>
        <p:blipFill rotWithShape="1">
          <a:blip r:embed="rId3">
            <a:alphaModFix/>
          </a:blip>
          <a:srcRect b="0" l="0" r="0" t="0"/>
          <a:stretch/>
        </p:blipFill>
        <p:spPr>
          <a:xfrm>
            <a:off x="539552" y="1412776"/>
            <a:ext cx="4438878" cy="2438525"/>
          </a:xfrm>
          <a:prstGeom prst="rect">
            <a:avLst/>
          </a:prstGeom>
          <a:noFill/>
          <a:ln>
            <a:noFill/>
          </a:ln>
        </p:spPr>
      </p:pic>
    </p:spTree>
  </p:cSld>
  <p:clrMapOvr>
    <a:masterClrMapping/>
  </p:clrMapOvr>
</p:sld>
</file>

<file path=ppt/slides/slide2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0" name="Shape 3280"/>
        <p:cNvGrpSpPr/>
        <p:nvPr/>
      </p:nvGrpSpPr>
      <p:grpSpPr>
        <a:xfrm>
          <a:off x="0" y="0"/>
          <a:ext cx="0" cy="0"/>
          <a:chOff x="0" y="0"/>
          <a:chExt cx="0" cy="0"/>
        </a:xfrm>
      </p:grpSpPr>
      <p:sp>
        <p:nvSpPr>
          <p:cNvPr id="3281" name="Google Shape;3281;p2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400"/>
              <a:buFont typeface="Calibri"/>
              <a:buNone/>
            </a:pPr>
            <a:r>
              <a:rPr b="1" lang="en-IN" sz="2400"/>
              <a:t>Draw the state diagram for the Moore Machine given below</a:t>
            </a:r>
            <a:endParaRPr/>
          </a:p>
        </p:txBody>
      </p:sp>
      <p:sp>
        <p:nvSpPr>
          <p:cNvPr id="3282" name="Google Shape;3282;p2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283" name="Google Shape;3283;p2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284" name="Google Shape;3284;p2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3285" name="Google Shape;3285;p253"/>
          <p:cNvPicPr preferRelativeResize="0"/>
          <p:nvPr>
            <p:ph idx="1" type="body"/>
          </p:nvPr>
        </p:nvPicPr>
        <p:blipFill rotWithShape="1">
          <a:blip r:embed="rId3">
            <a:alphaModFix/>
          </a:blip>
          <a:srcRect b="0" l="0" r="0" t="0"/>
          <a:stretch/>
        </p:blipFill>
        <p:spPr>
          <a:xfrm>
            <a:off x="539552" y="1412776"/>
            <a:ext cx="4438878" cy="2438525"/>
          </a:xfrm>
          <a:prstGeom prst="rect">
            <a:avLst/>
          </a:prstGeom>
          <a:noFill/>
          <a:ln>
            <a:noFill/>
          </a:ln>
        </p:spPr>
      </p:pic>
      <p:sp>
        <p:nvSpPr>
          <p:cNvPr descr="Moore Machine" id="3286" name="Google Shape;3286;p25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287" name="Google Shape;3287;p253"/>
          <p:cNvPicPr preferRelativeResize="0"/>
          <p:nvPr/>
        </p:nvPicPr>
        <p:blipFill rotWithShape="1">
          <a:blip r:embed="rId4">
            <a:alphaModFix/>
          </a:blip>
          <a:srcRect b="0" l="0" r="0" t="0"/>
          <a:stretch/>
        </p:blipFill>
        <p:spPr>
          <a:xfrm>
            <a:off x="5298256" y="3422228"/>
            <a:ext cx="3378200" cy="2959100"/>
          </a:xfrm>
          <a:prstGeom prst="rect">
            <a:avLst/>
          </a:prstGeom>
          <a:noFill/>
          <a:ln>
            <a:noFill/>
          </a:ln>
        </p:spPr>
      </p:pic>
    </p:spTree>
  </p:cSld>
  <p:clrMapOvr>
    <a:masterClrMapping/>
  </p:clrMapOvr>
</p:sld>
</file>

<file path=ppt/slides/slide2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1" name="Shape 3291"/>
        <p:cNvGrpSpPr/>
        <p:nvPr/>
      </p:nvGrpSpPr>
      <p:grpSpPr>
        <a:xfrm>
          <a:off x="0" y="0"/>
          <a:ext cx="0" cy="0"/>
          <a:chOff x="0" y="0"/>
          <a:chExt cx="0" cy="0"/>
        </a:xfrm>
      </p:grpSpPr>
      <p:sp>
        <p:nvSpPr>
          <p:cNvPr id="3292" name="Google Shape;3292;p254"/>
          <p:cNvSpPr txBox="1"/>
          <p:nvPr>
            <p:ph type="title"/>
          </p:nvPr>
        </p:nvSpPr>
        <p:spPr>
          <a:xfrm>
            <a:off x="421196" y="0"/>
            <a:ext cx="8229600" cy="41805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Moore Machine-Example 1</a:t>
            </a:r>
            <a:endParaRPr sz="3200"/>
          </a:p>
        </p:txBody>
      </p:sp>
      <p:sp>
        <p:nvSpPr>
          <p:cNvPr id="3293" name="Google Shape;3293;p254"/>
          <p:cNvSpPr txBox="1"/>
          <p:nvPr>
            <p:ph idx="1" type="body"/>
          </p:nvPr>
        </p:nvSpPr>
        <p:spPr>
          <a:xfrm>
            <a:off x="107504" y="332656"/>
            <a:ext cx="889248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IN" sz="2000"/>
              <a:t>Design Moore Machine to get 1’s complement of a given number</a:t>
            </a:r>
            <a:endParaRPr/>
          </a:p>
          <a:p>
            <a:pPr indent="-342900" lvl="0" marL="342900" rtl="0" algn="l">
              <a:spcBef>
                <a:spcPts val="400"/>
              </a:spcBef>
              <a:spcAft>
                <a:spcPts val="0"/>
              </a:spcAft>
              <a:buClr>
                <a:schemeClr val="dk1"/>
              </a:buClr>
              <a:buSzPts val="2000"/>
              <a:buChar char="•"/>
            </a:pPr>
            <a:r>
              <a:rPr lang="en-IN" sz="2000"/>
              <a:t>That means there are three states. </a:t>
            </a:r>
            <a:endParaRPr sz="2000"/>
          </a:p>
          <a:p>
            <a:pPr indent="-342900" lvl="0" marL="342900" rtl="0" algn="l">
              <a:spcBef>
                <a:spcPts val="400"/>
              </a:spcBef>
              <a:spcAft>
                <a:spcPts val="0"/>
              </a:spcAft>
              <a:buClr>
                <a:schemeClr val="dk1"/>
              </a:buClr>
              <a:buSzPts val="2000"/>
              <a:buChar char="•"/>
            </a:pPr>
            <a:r>
              <a:rPr lang="en-IN" sz="2000"/>
              <a:t>One state is start state. </a:t>
            </a:r>
            <a:endParaRPr sz="2000"/>
          </a:p>
          <a:p>
            <a:pPr indent="-342900" lvl="0" marL="342900" rtl="0" algn="l">
              <a:spcBef>
                <a:spcPts val="400"/>
              </a:spcBef>
              <a:spcAft>
                <a:spcPts val="0"/>
              </a:spcAft>
              <a:buClr>
                <a:schemeClr val="dk1"/>
              </a:buClr>
              <a:buSzPts val="2000"/>
              <a:buChar char="•"/>
            </a:pPr>
            <a:r>
              <a:rPr lang="en-IN" sz="2000"/>
              <a:t>The second state is for taking 0's as input and produces output as 1. </a:t>
            </a:r>
            <a:endParaRPr sz="2000"/>
          </a:p>
          <a:p>
            <a:pPr indent="-342900" lvl="0" marL="342900" rtl="0" algn="l">
              <a:spcBef>
                <a:spcPts val="400"/>
              </a:spcBef>
              <a:spcAft>
                <a:spcPts val="0"/>
              </a:spcAft>
              <a:buClr>
                <a:schemeClr val="dk1"/>
              </a:buClr>
              <a:buSzPts val="2000"/>
              <a:buChar char="•"/>
            </a:pPr>
            <a:r>
              <a:rPr lang="en-IN" sz="2000"/>
              <a:t>The third state is for taking 1's as input and producing output as 0.</a:t>
            </a:r>
            <a:endParaRPr sz="2000"/>
          </a:p>
          <a:p>
            <a:pPr indent="-215900" lvl="0" marL="342900" rtl="0" algn="l">
              <a:spcBef>
                <a:spcPts val="400"/>
              </a:spcBef>
              <a:spcAft>
                <a:spcPts val="0"/>
              </a:spcAft>
              <a:buClr>
                <a:schemeClr val="dk1"/>
              </a:buClr>
              <a:buSzPts val="2000"/>
              <a:buNone/>
            </a:pPr>
            <a:r>
              <a:t/>
            </a:r>
            <a:endParaRPr sz="2000"/>
          </a:p>
          <a:p>
            <a:pPr indent="-215900" lvl="0" marL="342900" rtl="0" algn="l">
              <a:spcBef>
                <a:spcPts val="400"/>
              </a:spcBef>
              <a:spcAft>
                <a:spcPts val="0"/>
              </a:spcAft>
              <a:buClr>
                <a:schemeClr val="dk1"/>
              </a:buClr>
              <a:buSzPts val="2000"/>
              <a:buNone/>
            </a:pPr>
            <a:r>
              <a:t/>
            </a:r>
            <a:endParaRPr sz="20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294" name="Google Shape;3294;p2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295" name="Google Shape;3295;p2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9" name="Shape 3299"/>
        <p:cNvGrpSpPr/>
        <p:nvPr/>
      </p:nvGrpSpPr>
      <p:grpSpPr>
        <a:xfrm>
          <a:off x="0" y="0"/>
          <a:ext cx="0" cy="0"/>
          <a:chOff x="0" y="0"/>
          <a:chExt cx="0" cy="0"/>
        </a:xfrm>
      </p:grpSpPr>
      <p:sp>
        <p:nvSpPr>
          <p:cNvPr id="3300" name="Google Shape;3300;p255"/>
          <p:cNvSpPr txBox="1"/>
          <p:nvPr>
            <p:ph type="title"/>
          </p:nvPr>
        </p:nvSpPr>
        <p:spPr>
          <a:xfrm>
            <a:off x="421196" y="0"/>
            <a:ext cx="8229600" cy="41805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Moore Machine-Example 1</a:t>
            </a:r>
            <a:endParaRPr sz="3200"/>
          </a:p>
        </p:txBody>
      </p:sp>
      <p:sp>
        <p:nvSpPr>
          <p:cNvPr id="3301" name="Google Shape;3301;p255"/>
          <p:cNvSpPr txBox="1"/>
          <p:nvPr>
            <p:ph idx="1" type="body"/>
          </p:nvPr>
        </p:nvSpPr>
        <p:spPr>
          <a:xfrm>
            <a:off x="349188" y="401184"/>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Design Moore Machine to get 1’s complement of a given number</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302" name="Google Shape;3302;p2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303" name="Google Shape;3303;p2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7" name="Shape 3307"/>
        <p:cNvGrpSpPr/>
        <p:nvPr/>
      </p:nvGrpSpPr>
      <p:grpSpPr>
        <a:xfrm>
          <a:off x="0" y="0"/>
          <a:ext cx="0" cy="0"/>
          <a:chOff x="0" y="0"/>
          <a:chExt cx="0" cy="0"/>
        </a:xfrm>
      </p:grpSpPr>
      <p:sp>
        <p:nvSpPr>
          <p:cNvPr id="3308" name="Google Shape;3308;p256"/>
          <p:cNvSpPr txBox="1"/>
          <p:nvPr>
            <p:ph type="title"/>
          </p:nvPr>
        </p:nvSpPr>
        <p:spPr>
          <a:xfrm>
            <a:off x="421196" y="0"/>
            <a:ext cx="8229600" cy="41805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Moore Machine-Example 1</a:t>
            </a:r>
            <a:endParaRPr sz="3200"/>
          </a:p>
        </p:txBody>
      </p:sp>
      <p:sp>
        <p:nvSpPr>
          <p:cNvPr id="3309" name="Google Shape;3309;p256"/>
          <p:cNvSpPr txBox="1"/>
          <p:nvPr>
            <p:ph idx="1" type="body"/>
          </p:nvPr>
        </p:nvSpPr>
        <p:spPr>
          <a:xfrm>
            <a:off x="349188" y="401185"/>
            <a:ext cx="8229600" cy="252376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Design Moore Machine to get 1’s complement of a given number</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310" name="Google Shape;3310;p2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311" name="Google Shape;3311;p2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312" name="Google Shape;3312;p2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313" name="Google Shape;3313;p256"/>
          <p:cNvSpPr/>
          <p:nvPr/>
        </p:nvSpPr>
        <p:spPr>
          <a:xfrm>
            <a:off x="1828381" y="5171827"/>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q0/0</a:t>
            </a:r>
            <a:endParaRPr sz="1800">
              <a:solidFill>
                <a:schemeClr val="lt1"/>
              </a:solidFill>
              <a:latin typeface="Calibri"/>
              <a:ea typeface="Calibri"/>
              <a:cs typeface="Calibri"/>
              <a:sym typeface="Calibri"/>
            </a:endParaRPr>
          </a:p>
        </p:txBody>
      </p:sp>
      <p:cxnSp>
        <p:nvCxnSpPr>
          <p:cNvPr id="3314" name="Google Shape;3314;p256"/>
          <p:cNvCxnSpPr/>
          <p:nvPr/>
        </p:nvCxnSpPr>
        <p:spPr>
          <a:xfrm>
            <a:off x="899592" y="5510750"/>
            <a:ext cx="864096" cy="19030"/>
          </a:xfrm>
          <a:prstGeom prst="straightConnector1">
            <a:avLst/>
          </a:prstGeom>
          <a:noFill/>
          <a:ln cap="flat" cmpd="sng" w="9525">
            <a:solidFill>
              <a:srgbClr val="4A7DBA"/>
            </a:solidFill>
            <a:prstDash val="solid"/>
            <a:round/>
            <a:headEnd len="sm" w="sm" type="none"/>
            <a:tailEnd len="med" w="med" type="stealth"/>
          </a:ln>
        </p:spPr>
      </p:cxnSp>
      <p:sp>
        <p:nvSpPr>
          <p:cNvPr id="3315" name="Google Shape;3315;p256"/>
          <p:cNvSpPr txBox="1"/>
          <p:nvPr/>
        </p:nvSpPr>
        <p:spPr>
          <a:xfrm>
            <a:off x="3553647" y="4137667"/>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a:p>
        </p:txBody>
      </p:sp>
      <p:sp>
        <p:nvSpPr>
          <p:cNvPr id="3316" name="Google Shape;3316;p256"/>
          <p:cNvSpPr txBox="1"/>
          <p:nvPr/>
        </p:nvSpPr>
        <p:spPr>
          <a:xfrm>
            <a:off x="3567575" y="6011996"/>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3317" name="Google Shape;3317;p256"/>
          <p:cNvCxnSpPr>
            <a:stCxn id="3313" idx="7"/>
          </p:cNvCxnSpPr>
          <p:nvPr/>
        </p:nvCxnSpPr>
        <p:spPr>
          <a:xfrm flipH="1" rot="10800000">
            <a:off x="2627396" y="4076980"/>
            <a:ext cx="2331600" cy="1200300"/>
          </a:xfrm>
          <a:prstGeom prst="straightConnector1">
            <a:avLst/>
          </a:prstGeom>
          <a:noFill/>
          <a:ln cap="flat" cmpd="sng" w="9525">
            <a:solidFill>
              <a:srgbClr val="4A7DBA"/>
            </a:solidFill>
            <a:prstDash val="solid"/>
            <a:round/>
            <a:headEnd len="sm" w="sm" type="none"/>
            <a:tailEnd len="med" w="med" type="stealth"/>
          </a:ln>
        </p:spPr>
      </p:cxnSp>
      <p:sp>
        <p:nvSpPr>
          <p:cNvPr id="3318" name="Google Shape;3318;p256"/>
          <p:cNvSpPr/>
          <p:nvPr/>
        </p:nvSpPr>
        <p:spPr>
          <a:xfrm>
            <a:off x="4959036" y="350100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q1/1</a:t>
            </a:r>
            <a:endParaRPr sz="1800">
              <a:solidFill>
                <a:schemeClr val="lt1"/>
              </a:solidFill>
              <a:latin typeface="Calibri"/>
              <a:ea typeface="Calibri"/>
              <a:cs typeface="Calibri"/>
              <a:sym typeface="Calibri"/>
            </a:endParaRPr>
          </a:p>
        </p:txBody>
      </p:sp>
      <p:sp>
        <p:nvSpPr>
          <p:cNvPr id="3319" name="Google Shape;3319;p256"/>
          <p:cNvSpPr/>
          <p:nvPr/>
        </p:nvSpPr>
        <p:spPr>
          <a:xfrm rot="2075340">
            <a:off x="5788923" y="3189295"/>
            <a:ext cx="504056" cy="579934"/>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20" name="Google Shape;3320;p256"/>
          <p:cNvSpPr/>
          <p:nvPr/>
        </p:nvSpPr>
        <p:spPr>
          <a:xfrm rot="3400199">
            <a:off x="5999845" y="5536794"/>
            <a:ext cx="504056" cy="579934"/>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21" name="Google Shape;3321;p256"/>
          <p:cNvSpPr txBox="1"/>
          <p:nvPr/>
        </p:nvSpPr>
        <p:spPr>
          <a:xfrm>
            <a:off x="6362925" y="310993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a:p>
        </p:txBody>
      </p:sp>
      <p:sp>
        <p:nvSpPr>
          <p:cNvPr id="3322" name="Google Shape;3322;p256"/>
          <p:cNvSpPr txBox="1"/>
          <p:nvPr/>
        </p:nvSpPr>
        <p:spPr>
          <a:xfrm>
            <a:off x="6513768" y="5707241"/>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graphicFrame>
        <p:nvGraphicFramePr>
          <p:cNvPr id="3323" name="Google Shape;3323;p256"/>
          <p:cNvGraphicFramePr/>
          <p:nvPr/>
        </p:nvGraphicFramePr>
        <p:xfrm>
          <a:off x="827584" y="1225560"/>
          <a:ext cx="3000000" cy="3000000"/>
        </p:xfrm>
        <a:graphic>
          <a:graphicData uri="http://schemas.openxmlformats.org/drawingml/2006/table">
            <a:tbl>
              <a:tblPr bandRow="1" firstRow="1">
                <a:noFill/>
                <a:tableStyleId>{67F6A887-4D8F-49DA-B730-5EAACEBB6B1F}</a:tableStyleId>
              </a:tblPr>
              <a:tblGrid>
                <a:gridCol w="944000"/>
                <a:gridCol w="944000"/>
                <a:gridCol w="9440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qo</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r>
            </a:tbl>
          </a:graphicData>
        </a:graphic>
      </p:graphicFrame>
      <p:cxnSp>
        <p:nvCxnSpPr>
          <p:cNvPr id="3324" name="Google Shape;3324;p256"/>
          <p:cNvCxnSpPr/>
          <p:nvPr/>
        </p:nvCxnSpPr>
        <p:spPr>
          <a:xfrm>
            <a:off x="251520" y="1729616"/>
            <a:ext cx="504056" cy="0"/>
          </a:xfrm>
          <a:prstGeom prst="straightConnector1">
            <a:avLst/>
          </a:prstGeom>
          <a:noFill/>
          <a:ln cap="flat" cmpd="sng" w="9525">
            <a:solidFill>
              <a:srgbClr val="4A7DBA"/>
            </a:solidFill>
            <a:prstDash val="solid"/>
            <a:round/>
            <a:headEnd len="sm" w="sm" type="none"/>
            <a:tailEnd len="med" w="med" type="stealth"/>
          </a:ln>
        </p:spPr>
      </p:cxnSp>
      <p:graphicFrame>
        <p:nvGraphicFramePr>
          <p:cNvPr id="3325" name="Google Shape;3325;p256"/>
          <p:cNvGraphicFramePr/>
          <p:nvPr/>
        </p:nvGraphicFramePr>
        <p:xfrm>
          <a:off x="4101273" y="1340768"/>
          <a:ext cx="3000000" cy="3000000"/>
        </p:xfrm>
        <a:graphic>
          <a:graphicData uri="http://schemas.openxmlformats.org/drawingml/2006/table">
            <a:tbl>
              <a:tblPr bandRow="1" firstRow="1">
                <a:noFill/>
                <a:tableStyleId>{67F6A887-4D8F-49DA-B730-5EAACEBB6B1F}</a:tableStyleId>
              </a:tblPr>
              <a:tblGrid>
                <a:gridCol w="792100"/>
                <a:gridCol w="792100"/>
              </a:tblGrid>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Δ/O</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sp>
        <p:nvSpPr>
          <p:cNvPr id="3326" name="Google Shape;3326;p256"/>
          <p:cNvSpPr/>
          <p:nvPr/>
        </p:nvSpPr>
        <p:spPr>
          <a:xfrm>
            <a:off x="5124934" y="5697252"/>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q2/0</a:t>
            </a:r>
            <a:endParaRPr sz="1800">
              <a:solidFill>
                <a:schemeClr val="lt1"/>
              </a:solidFill>
              <a:latin typeface="Calibri"/>
              <a:ea typeface="Calibri"/>
              <a:cs typeface="Calibri"/>
              <a:sym typeface="Calibri"/>
            </a:endParaRPr>
          </a:p>
        </p:txBody>
      </p:sp>
      <p:cxnSp>
        <p:nvCxnSpPr>
          <p:cNvPr id="3327" name="Google Shape;3327;p256"/>
          <p:cNvCxnSpPr>
            <a:stCxn id="3313" idx="5"/>
          </p:cNvCxnSpPr>
          <p:nvPr/>
        </p:nvCxnSpPr>
        <p:spPr>
          <a:xfrm>
            <a:off x="2627396" y="5786454"/>
            <a:ext cx="2497500" cy="474900"/>
          </a:xfrm>
          <a:prstGeom prst="straightConnector1">
            <a:avLst/>
          </a:prstGeom>
          <a:noFill/>
          <a:ln cap="flat" cmpd="sng" w="9525">
            <a:solidFill>
              <a:srgbClr val="4A7DBA"/>
            </a:solidFill>
            <a:prstDash val="solid"/>
            <a:round/>
            <a:headEnd len="sm" w="sm" type="none"/>
            <a:tailEnd len="med" w="med" type="stealth"/>
          </a:ln>
        </p:spPr>
      </p:cxnSp>
      <p:cxnSp>
        <p:nvCxnSpPr>
          <p:cNvPr id="3328" name="Google Shape;3328;p256"/>
          <p:cNvCxnSpPr>
            <a:stCxn id="3326" idx="0"/>
          </p:cNvCxnSpPr>
          <p:nvPr/>
        </p:nvCxnSpPr>
        <p:spPr>
          <a:xfrm rot="10800000">
            <a:off x="5592986" y="4220952"/>
            <a:ext cx="0" cy="1476300"/>
          </a:xfrm>
          <a:prstGeom prst="straightConnector1">
            <a:avLst/>
          </a:prstGeom>
          <a:noFill/>
          <a:ln cap="flat" cmpd="sng" w="9525">
            <a:solidFill>
              <a:srgbClr val="4A7DBA"/>
            </a:solidFill>
            <a:prstDash val="solid"/>
            <a:round/>
            <a:headEnd len="sm" w="sm" type="none"/>
            <a:tailEnd len="med" w="med" type="stealth"/>
          </a:ln>
        </p:spPr>
      </p:cxnSp>
      <p:cxnSp>
        <p:nvCxnSpPr>
          <p:cNvPr id="3329" name="Google Shape;3329;p256"/>
          <p:cNvCxnSpPr/>
          <p:nvPr/>
        </p:nvCxnSpPr>
        <p:spPr>
          <a:xfrm>
            <a:off x="5427088" y="4322333"/>
            <a:ext cx="0" cy="1374919"/>
          </a:xfrm>
          <a:prstGeom prst="straightConnector1">
            <a:avLst/>
          </a:prstGeom>
          <a:noFill/>
          <a:ln cap="flat" cmpd="sng" w="9525">
            <a:solidFill>
              <a:srgbClr val="4A7DBA"/>
            </a:solidFill>
            <a:prstDash val="solid"/>
            <a:round/>
            <a:headEnd len="sm" w="sm" type="none"/>
            <a:tailEnd len="med" w="med" type="stealth"/>
          </a:ln>
        </p:spPr>
      </p:cxnSp>
      <p:sp>
        <p:nvSpPr>
          <p:cNvPr id="3330" name="Google Shape;3330;p256"/>
          <p:cNvSpPr txBox="1"/>
          <p:nvPr/>
        </p:nvSpPr>
        <p:spPr>
          <a:xfrm>
            <a:off x="5652120" y="4571836"/>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a:p>
        </p:txBody>
      </p:sp>
      <p:sp>
        <p:nvSpPr>
          <p:cNvPr id="3331" name="Google Shape;3331;p256"/>
          <p:cNvSpPr txBox="1"/>
          <p:nvPr/>
        </p:nvSpPr>
        <p:spPr>
          <a:xfrm>
            <a:off x="5076056" y="458112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Tree>
  </p:cSld>
  <p:clrMapOvr>
    <a:masterClrMapping/>
  </p:clrMapOvr>
</p:sld>
</file>

<file path=ppt/slides/slide2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5" name="Shape 3335"/>
        <p:cNvGrpSpPr/>
        <p:nvPr/>
      </p:nvGrpSpPr>
      <p:grpSpPr>
        <a:xfrm>
          <a:off x="0" y="0"/>
          <a:ext cx="0" cy="0"/>
          <a:chOff x="0" y="0"/>
          <a:chExt cx="0" cy="0"/>
        </a:xfrm>
      </p:grpSpPr>
      <p:sp>
        <p:nvSpPr>
          <p:cNvPr id="3336" name="Google Shape;3336;p257"/>
          <p:cNvSpPr txBox="1"/>
          <p:nvPr>
            <p:ph type="title"/>
          </p:nvPr>
        </p:nvSpPr>
        <p:spPr>
          <a:xfrm>
            <a:off x="467544" y="98072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400"/>
              <a:buFont typeface="Calibri"/>
              <a:buNone/>
            </a:pPr>
            <a:r>
              <a:rPr b="1" lang="en-IN" sz="2400"/>
              <a:t>Construct a Moore machine that determines whether an input string contains an even or odd number of 1's. </a:t>
            </a:r>
            <a:br>
              <a:rPr b="1" lang="en-IN" sz="2400"/>
            </a:br>
            <a:r>
              <a:rPr b="1" lang="en-IN" sz="2400"/>
              <a:t>The machine should give 1 as output if an even number of 1's are in the string and 0 otherwise.</a:t>
            </a:r>
            <a:endParaRPr b="1" sz="2400"/>
          </a:p>
        </p:txBody>
      </p:sp>
      <p:sp>
        <p:nvSpPr>
          <p:cNvPr id="3337" name="Google Shape;3337;p2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338" name="Google Shape;3338;p2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339" name="Google Shape;3339;p2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340" name="Google Shape;3340;p257"/>
          <p:cNvSpPr txBox="1"/>
          <p:nvPr/>
        </p:nvSpPr>
        <p:spPr>
          <a:xfrm>
            <a:off x="421196" y="0"/>
            <a:ext cx="8229600" cy="41805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200"/>
              <a:buFont typeface="Calibri"/>
              <a:buNone/>
            </a:pPr>
            <a:r>
              <a:rPr lang="en-IN" sz="3200">
                <a:solidFill>
                  <a:schemeClr val="dk1"/>
                </a:solidFill>
                <a:latin typeface="Calibri"/>
                <a:ea typeface="Calibri"/>
                <a:cs typeface="Calibri"/>
                <a:sym typeface="Calibri"/>
              </a:rPr>
              <a:t>Moore Machine-Example 2</a:t>
            </a:r>
            <a:endParaRPr sz="3200">
              <a:solidFill>
                <a:schemeClr val="dk1"/>
              </a:solidFill>
              <a:latin typeface="Calibri"/>
              <a:ea typeface="Calibri"/>
              <a:cs typeface="Calibri"/>
              <a:sym typeface="Calibri"/>
            </a:endParaRPr>
          </a:p>
        </p:txBody>
      </p:sp>
    </p:spTree>
  </p:cSld>
  <p:clrMapOvr>
    <a:masterClrMapping/>
  </p:clrMapOvr>
</p:sld>
</file>

<file path=ppt/slides/slide2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4" name="Shape 3344"/>
        <p:cNvGrpSpPr/>
        <p:nvPr/>
      </p:nvGrpSpPr>
      <p:grpSpPr>
        <a:xfrm>
          <a:off x="0" y="0"/>
          <a:ext cx="0" cy="0"/>
          <a:chOff x="0" y="0"/>
          <a:chExt cx="0" cy="0"/>
        </a:xfrm>
      </p:grpSpPr>
      <p:sp>
        <p:nvSpPr>
          <p:cNvPr id="3345" name="Google Shape;3345;p258"/>
          <p:cNvSpPr txBox="1"/>
          <p:nvPr>
            <p:ph type="title"/>
          </p:nvPr>
        </p:nvSpPr>
        <p:spPr>
          <a:xfrm>
            <a:off x="457200" y="62068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400"/>
              <a:buFont typeface="Calibri"/>
              <a:buNone/>
            </a:pPr>
            <a:r>
              <a:rPr b="1" lang="en-IN" sz="2400"/>
              <a:t>Construct a Moore machine that determines whether an input string contains an even or odd number of 1's. The machine should give 1 as output if an even number of 1's are in the string and 0 otherwise.</a:t>
            </a:r>
            <a:endParaRPr b="1" sz="2400"/>
          </a:p>
        </p:txBody>
      </p:sp>
      <p:sp>
        <p:nvSpPr>
          <p:cNvPr id="3346" name="Google Shape;3346;p258"/>
          <p:cNvSpPr txBox="1"/>
          <p:nvPr>
            <p:ph idx="1" type="body"/>
          </p:nvPr>
        </p:nvSpPr>
        <p:spPr>
          <a:xfrm>
            <a:off x="457200" y="1855365"/>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State q1 accepts an odd number of 1's </a:t>
            </a:r>
            <a:endParaRPr sz="2400"/>
          </a:p>
          <a:p>
            <a:pPr indent="-342900" lvl="0" marL="342900" rtl="0" algn="l">
              <a:spcBef>
                <a:spcPts val="480"/>
              </a:spcBef>
              <a:spcAft>
                <a:spcPts val="0"/>
              </a:spcAft>
              <a:buClr>
                <a:schemeClr val="dk1"/>
              </a:buClr>
              <a:buSzPts val="2400"/>
              <a:buChar char="•"/>
            </a:pPr>
            <a:r>
              <a:rPr lang="en-IN" sz="2400"/>
              <a:t>State q0 accepts even number of 1's. </a:t>
            </a:r>
            <a:endParaRPr sz="2400"/>
          </a:p>
          <a:p>
            <a:pPr indent="-342900" lvl="0" marL="342900" rtl="0" algn="l">
              <a:spcBef>
                <a:spcPts val="480"/>
              </a:spcBef>
              <a:spcAft>
                <a:spcPts val="0"/>
              </a:spcAft>
              <a:buClr>
                <a:schemeClr val="dk1"/>
              </a:buClr>
              <a:buSzPts val="2400"/>
              <a:buChar char="•"/>
            </a:pPr>
            <a:r>
              <a:rPr lang="en-IN" sz="2400"/>
              <a:t>There is no restriction on a number of zeros. Hence for 0 input, self-loop can be applied on both the states.</a:t>
            </a:r>
            <a:endParaRPr sz="2400"/>
          </a:p>
        </p:txBody>
      </p:sp>
      <p:sp>
        <p:nvSpPr>
          <p:cNvPr id="3347" name="Google Shape;3347;p2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348" name="Google Shape;3348;p2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349" name="Google Shape;3349;p2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3350" name="Google Shape;3350;p258"/>
          <p:cNvPicPr preferRelativeResize="0"/>
          <p:nvPr/>
        </p:nvPicPr>
        <p:blipFill rotWithShape="1">
          <a:blip r:embed="rId3">
            <a:alphaModFix/>
          </a:blip>
          <a:srcRect b="0" l="0" r="0" t="0"/>
          <a:stretch/>
        </p:blipFill>
        <p:spPr>
          <a:xfrm>
            <a:off x="4788024" y="4365104"/>
            <a:ext cx="3625850" cy="1758950"/>
          </a:xfrm>
          <a:prstGeom prst="rect">
            <a:avLst/>
          </a:prstGeom>
          <a:noFill/>
          <a:ln>
            <a:noFill/>
          </a:ln>
        </p:spPr>
      </p:pic>
      <p:sp>
        <p:nvSpPr>
          <p:cNvPr id="3351" name="Google Shape;3351;p258"/>
          <p:cNvSpPr txBox="1"/>
          <p:nvPr/>
        </p:nvSpPr>
        <p:spPr>
          <a:xfrm>
            <a:off x="421196" y="0"/>
            <a:ext cx="8229600" cy="41805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200"/>
              <a:buFont typeface="Calibri"/>
              <a:buNone/>
            </a:pPr>
            <a:r>
              <a:rPr lang="en-IN" sz="3200">
                <a:solidFill>
                  <a:schemeClr val="dk1"/>
                </a:solidFill>
                <a:latin typeface="Calibri"/>
                <a:ea typeface="Calibri"/>
                <a:cs typeface="Calibri"/>
                <a:sym typeface="Calibri"/>
              </a:rPr>
              <a:t>Moore Machine-Example 1</a:t>
            </a:r>
            <a:endParaRPr sz="3200">
              <a:solidFill>
                <a:schemeClr val="dk1"/>
              </a:solidFill>
              <a:latin typeface="Calibri"/>
              <a:ea typeface="Calibri"/>
              <a:cs typeface="Calibri"/>
              <a:sym typeface="Calibri"/>
            </a:endParaRPr>
          </a:p>
        </p:txBody>
      </p:sp>
    </p:spTree>
  </p:cSld>
  <p:clrMapOvr>
    <a:masterClrMapping/>
  </p:clrMapOvr>
</p:sld>
</file>

<file path=ppt/slides/slide2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5" name="Shape 3355"/>
        <p:cNvGrpSpPr/>
        <p:nvPr/>
      </p:nvGrpSpPr>
      <p:grpSpPr>
        <a:xfrm>
          <a:off x="0" y="0"/>
          <a:ext cx="0" cy="0"/>
          <a:chOff x="0" y="0"/>
          <a:chExt cx="0" cy="0"/>
        </a:xfrm>
      </p:grpSpPr>
      <p:sp>
        <p:nvSpPr>
          <p:cNvPr id="3356" name="Google Shape;3356;p259"/>
          <p:cNvSpPr txBox="1"/>
          <p:nvPr>
            <p:ph type="title"/>
          </p:nvPr>
        </p:nvSpPr>
        <p:spPr>
          <a:xfrm>
            <a:off x="421196" y="0"/>
            <a:ext cx="8229600" cy="41805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Moore Machine-Example 3</a:t>
            </a:r>
            <a:endParaRPr sz="3200"/>
          </a:p>
        </p:txBody>
      </p:sp>
      <p:sp>
        <p:nvSpPr>
          <p:cNvPr id="3357" name="Google Shape;3357;p259"/>
          <p:cNvSpPr txBox="1"/>
          <p:nvPr>
            <p:ph idx="1" type="body"/>
          </p:nvPr>
        </p:nvSpPr>
        <p:spPr>
          <a:xfrm>
            <a:off x="349188" y="401184"/>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Design Moore Machine to find remainder after division by 3 for ∑={0,1} </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358" name="Google Shape;3358;p2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359" name="Google Shape;3359;p2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3" name="Shape 3363"/>
        <p:cNvGrpSpPr/>
        <p:nvPr/>
      </p:nvGrpSpPr>
      <p:grpSpPr>
        <a:xfrm>
          <a:off x="0" y="0"/>
          <a:ext cx="0" cy="0"/>
          <a:chOff x="0" y="0"/>
          <a:chExt cx="0" cy="0"/>
        </a:xfrm>
      </p:grpSpPr>
      <p:sp>
        <p:nvSpPr>
          <p:cNvPr id="3364" name="Google Shape;3364;p260"/>
          <p:cNvSpPr txBox="1"/>
          <p:nvPr>
            <p:ph type="title"/>
          </p:nvPr>
        </p:nvSpPr>
        <p:spPr>
          <a:xfrm>
            <a:off x="421196" y="0"/>
            <a:ext cx="8229600" cy="41805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Moore Machine-Example 2</a:t>
            </a:r>
            <a:endParaRPr sz="3200"/>
          </a:p>
        </p:txBody>
      </p:sp>
      <p:sp>
        <p:nvSpPr>
          <p:cNvPr id="3365" name="Google Shape;3365;p260"/>
          <p:cNvSpPr txBox="1"/>
          <p:nvPr>
            <p:ph idx="1" type="body"/>
          </p:nvPr>
        </p:nvSpPr>
        <p:spPr>
          <a:xfrm>
            <a:off x="349188" y="401184"/>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Design Moore Machine to convert each occurrence of 100 by 101 over ∑={0,1}</a:t>
            </a:r>
            <a:endParaRPr/>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366" name="Google Shape;3366;p2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367" name="Google Shape;3367;p2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1" name="Shape 3371"/>
        <p:cNvGrpSpPr/>
        <p:nvPr/>
      </p:nvGrpSpPr>
      <p:grpSpPr>
        <a:xfrm>
          <a:off x="0" y="0"/>
          <a:ext cx="0" cy="0"/>
          <a:chOff x="0" y="0"/>
          <a:chExt cx="0" cy="0"/>
        </a:xfrm>
      </p:grpSpPr>
      <p:sp>
        <p:nvSpPr>
          <p:cNvPr id="3372" name="Google Shape;3372;p261"/>
          <p:cNvSpPr txBox="1"/>
          <p:nvPr>
            <p:ph type="title"/>
          </p:nvPr>
        </p:nvSpPr>
        <p:spPr>
          <a:xfrm>
            <a:off x="421196" y="0"/>
            <a:ext cx="8229600" cy="41805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Moore Machine-Example 2</a:t>
            </a:r>
            <a:endParaRPr sz="3200"/>
          </a:p>
        </p:txBody>
      </p:sp>
      <p:sp>
        <p:nvSpPr>
          <p:cNvPr id="3373" name="Google Shape;3373;p261"/>
          <p:cNvSpPr txBox="1"/>
          <p:nvPr>
            <p:ph idx="1" type="body"/>
          </p:nvPr>
        </p:nvSpPr>
        <p:spPr>
          <a:xfrm>
            <a:off x="349188" y="401184"/>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Design Moore Machine to get 2’s complement of a given number</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374" name="Google Shape;3374;p2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375" name="Google Shape;3375;p2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9" name="Shape 3379"/>
        <p:cNvGrpSpPr/>
        <p:nvPr/>
      </p:nvGrpSpPr>
      <p:grpSpPr>
        <a:xfrm>
          <a:off x="0" y="0"/>
          <a:ext cx="0" cy="0"/>
          <a:chOff x="0" y="0"/>
          <a:chExt cx="0" cy="0"/>
        </a:xfrm>
      </p:grpSpPr>
      <p:sp>
        <p:nvSpPr>
          <p:cNvPr id="3380" name="Google Shape;3380;p262"/>
          <p:cNvSpPr txBox="1"/>
          <p:nvPr>
            <p:ph type="title"/>
          </p:nvPr>
        </p:nvSpPr>
        <p:spPr>
          <a:xfrm>
            <a:off x="421196" y="0"/>
            <a:ext cx="8229600" cy="41805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Moore Machine-Example 2</a:t>
            </a:r>
            <a:endParaRPr sz="3200"/>
          </a:p>
        </p:txBody>
      </p:sp>
      <p:sp>
        <p:nvSpPr>
          <p:cNvPr id="3381" name="Google Shape;3381;p262"/>
          <p:cNvSpPr txBox="1"/>
          <p:nvPr>
            <p:ph idx="1" type="body"/>
          </p:nvPr>
        </p:nvSpPr>
        <p:spPr>
          <a:xfrm>
            <a:off x="349188" y="401184"/>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Design Moore Machine to convert each occurrence of 100 by 101 over ∑={0,1}</a:t>
            </a:r>
            <a:endParaRPr/>
          </a:p>
          <a:p>
            <a:pPr indent="0" lvl="0" marL="0" rtl="0" algn="l">
              <a:spcBef>
                <a:spcPts val="480"/>
              </a:spcBef>
              <a:spcAft>
                <a:spcPts val="0"/>
              </a:spcAft>
              <a:buClr>
                <a:schemeClr val="dk1"/>
              </a:buClr>
              <a:buSzPts val="2400"/>
              <a:buNone/>
            </a:pPr>
            <a:r>
              <a:rPr lang="en-IN" sz="2400"/>
              <a:t>Strings=10100</a:t>
            </a:r>
            <a:endParaRPr/>
          </a:p>
          <a:p>
            <a:pPr indent="0" lvl="0" marL="0" rtl="0" algn="l">
              <a:spcBef>
                <a:spcPts val="480"/>
              </a:spcBef>
              <a:spcAft>
                <a:spcPts val="0"/>
              </a:spcAft>
              <a:buClr>
                <a:schemeClr val="dk1"/>
              </a:buClr>
              <a:buSzPts val="2400"/>
              <a:buNone/>
            </a:pPr>
            <a:r>
              <a:rPr lang="en-IN" sz="2400"/>
              <a:t>100</a:t>
            </a:r>
            <a:endParaRPr/>
          </a:p>
          <a:p>
            <a:pPr indent="0" lvl="0" marL="0" rtl="0" algn="l">
              <a:spcBef>
                <a:spcPts val="480"/>
              </a:spcBef>
              <a:spcAft>
                <a:spcPts val="0"/>
              </a:spcAft>
              <a:buClr>
                <a:schemeClr val="dk1"/>
              </a:buClr>
              <a:buSzPts val="2400"/>
              <a:buNone/>
            </a:pPr>
            <a:r>
              <a:rPr lang="en-IN" sz="2400"/>
              <a:t>100100</a:t>
            </a:r>
            <a:endParaRPr/>
          </a:p>
          <a:p>
            <a:pPr indent="0" lvl="0" marL="0" rtl="0" algn="l">
              <a:spcBef>
                <a:spcPts val="480"/>
              </a:spcBef>
              <a:spcAft>
                <a:spcPts val="0"/>
              </a:spcAft>
              <a:buClr>
                <a:schemeClr val="dk1"/>
              </a:buClr>
              <a:buSzPts val="2400"/>
              <a:buNone/>
            </a:pPr>
            <a:r>
              <a:rPr lang="en-IN" sz="2400"/>
              <a:t>100000100</a:t>
            </a:r>
            <a:endParaRPr sz="2400"/>
          </a:p>
          <a:p>
            <a:pPr indent="0" lvl="0" marL="0" rtl="0" algn="l">
              <a:spcBef>
                <a:spcPts val="480"/>
              </a:spcBef>
              <a:spcAft>
                <a:spcPts val="0"/>
              </a:spcAft>
              <a:buClr>
                <a:schemeClr val="dk1"/>
              </a:buClr>
              <a:buSzPts val="2400"/>
              <a:buNone/>
            </a:pPr>
            <a:r>
              <a:rPr lang="en-IN" sz="2400"/>
              <a:t>Skeleton-</a:t>
            </a:r>
            <a:endParaRPr/>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382" name="Google Shape;3382;p2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383" name="Google Shape;3383;p2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384" name="Google Shape;3384;p262"/>
          <p:cNvSpPr/>
          <p:nvPr/>
        </p:nvSpPr>
        <p:spPr>
          <a:xfrm>
            <a:off x="1887047" y="3401909"/>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q0/0</a:t>
            </a:r>
            <a:endParaRPr sz="1800">
              <a:solidFill>
                <a:schemeClr val="lt1"/>
              </a:solidFill>
              <a:latin typeface="Calibri"/>
              <a:ea typeface="Calibri"/>
              <a:cs typeface="Calibri"/>
              <a:sym typeface="Calibri"/>
            </a:endParaRPr>
          </a:p>
        </p:txBody>
      </p:sp>
      <p:sp>
        <p:nvSpPr>
          <p:cNvPr id="3385" name="Google Shape;3385;p262"/>
          <p:cNvSpPr txBox="1"/>
          <p:nvPr/>
        </p:nvSpPr>
        <p:spPr>
          <a:xfrm>
            <a:off x="3482342" y="377974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3386" name="Google Shape;3386;p262"/>
          <p:cNvSpPr/>
          <p:nvPr/>
        </p:nvSpPr>
        <p:spPr>
          <a:xfrm>
            <a:off x="3851920" y="3343784"/>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q1/1</a:t>
            </a:r>
            <a:endParaRPr sz="1800">
              <a:solidFill>
                <a:schemeClr val="lt1"/>
              </a:solidFill>
              <a:latin typeface="Calibri"/>
              <a:ea typeface="Calibri"/>
              <a:cs typeface="Calibri"/>
              <a:sym typeface="Calibri"/>
            </a:endParaRPr>
          </a:p>
        </p:txBody>
      </p:sp>
      <p:sp>
        <p:nvSpPr>
          <p:cNvPr id="3387" name="Google Shape;3387;p262"/>
          <p:cNvSpPr/>
          <p:nvPr/>
        </p:nvSpPr>
        <p:spPr>
          <a:xfrm rot="189793">
            <a:off x="2108111" y="2824411"/>
            <a:ext cx="504056" cy="579934"/>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88" name="Google Shape;3388;p262"/>
          <p:cNvSpPr txBox="1"/>
          <p:nvPr/>
        </p:nvSpPr>
        <p:spPr>
          <a:xfrm>
            <a:off x="5138013" y="3296406"/>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3389" name="Google Shape;3389;p262"/>
          <p:cNvSpPr/>
          <p:nvPr/>
        </p:nvSpPr>
        <p:spPr>
          <a:xfrm>
            <a:off x="5827516" y="3244334"/>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q2/0</a:t>
            </a:r>
            <a:endParaRPr sz="1800">
              <a:solidFill>
                <a:schemeClr val="lt1"/>
              </a:solidFill>
              <a:latin typeface="Calibri"/>
              <a:ea typeface="Calibri"/>
              <a:cs typeface="Calibri"/>
              <a:sym typeface="Calibri"/>
            </a:endParaRPr>
          </a:p>
        </p:txBody>
      </p:sp>
      <p:cxnSp>
        <p:nvCxnSpPr>
          <p:cNvPr id="3390" name="Google Shape;3390;p262"/>
          <p:cNvCxnSpPr/>
          <p:nvPr/>
        </p:nvCxnSpPr>
        <p:spPr>
          <a:xfrm flipH="1" rot="10800000">
            <a:off x="2823151" y="3703824"/>
            <a:ext cx="960877" cy="15483"/>
          </a:xfrm>
          <a:prstGeom prst="straightConnector1">
            <a:avLst/>
          </a:prstGeom>
          <a:noFill/>
          <a:ln cap="flat" cmpd="sng" w="9525">
            <a:solidFill>
              <a:srgbClr val="4A7DBA"/>
            </a:solidFill>
            <a:prstDash val="solid"/>
            <a:round/>
            <a:headEnd len="sm" w="sm" type="none"/>
            <a:tailEnd len="med" w="med" type="stealth"/>
          </a:ln>
        </p:spPr>
      </p:cxnSp>
      <p:cxnSp>
        <p:nvCxnSpPr>
          <p:cNvPr id="3391" name="Google Shape;3391;p262"/>
          <p:cNvCxnSpPr/>
          <p:nvPr/>
        </p:nvCxnSpPr>
        <p:spPr>
          <a:xfrm flipH="1" rot="10800000">
            <a:off x="4882138" y="3718170"/>
            <a:ext cx="913998" cy="15483"/>
          </a:xfrm>
          <a:prstGeom prst="straightConnector1">
            <a:avLst/>
          </a:prstGeom>
          <a:noFill/>
          <a:ln cap="flat" cmpd="sng" w="9525">
            <a:solidFill>
              <a:srgbClr val="4A7DBA"/>
            </a:solidFill>
            <a:prstDash val="solid"/>
            <a:round/>
            <a:headEnd len="sm" w="sm" type="none"/>
            <a:tailEnd len="med" w="med" type="stealth"/>
          </a:ln>
        </p:spPr>
      </p:cxnSp>
      <p:sp>
        <p:nvSpPr>
          <p:cNvPr id="3392" name="Google Shape;3392;p262"/>
          <p:cNvSpPr/>
          <p:nvPr/>
        </p:nvSpPr>
        <p:spPr>
          <a:xfrm rot="189793">
            <a:off x="4093101" y="2750385"/>
            <a:ext cx="504056" cy="579934"/>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3393" name="Google Shape;3393;p262"/>
          <p:cNvCxnSpPr/>
          <p:nvPr/>
        </p:nvCxnSpPr>
        <p:spPr>
          <a:xfrm flipH="1" rot="10800000">
            <a:off x="827584" y="3717033"/>
            <a:ext cx="1022254" cy="2274"/>
          </a:xfrm>
          <a:prstGeom prst="straightConnector1">
            <a:avLst/>
          </a:prstGeom>
          <a:noFill/>
          <a:ln cap="flat" cmpd="sng" w="9525">
            <a:solidFill>
              <a:srgbClr val="4A7DBA"/>
            </a:solidFill>
            <a:prstDash val="solid"/>
            <a:round/>
            <a:headEnd len="sm" w="sm" type="none"/>
            <a:tailEnd len="med" w="med" type="stealth"/>
          </a:ln>
        </p:spPr>
      </p:cxnSp>
      <p:sp>
        <p:nvSpPr>
          <p:cNvPr id="3394" name="Google Shape;3394;p262"/>
          <p:cNvSpPr/>
          <p:nvPr/>
        </p:nvSpPr>
        <p:spPr>
          <a:xfrm>
            <a:off x="7740352" y="3313440"/>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q3/1</a:t>
            </a:r>
            <a:endParaRPr sz="1800">
              <a:solidFill>
                <a:schemeClr val="lt1"/>
              </a:solidFill>
              <a:latin typeface="Calibri"/>
              <a:ea typeface="Calibri"/>
              <a:cs typeface="Calibri"/>
              <a:sym typeface="Calibri"/>
            </a:endParaRPr>
          </a:p>
        </p:txBody>
      </p:sp>
      <p:cxnSp>
        <p:nvCxnSpPr>
          <p:cNvPr id="3395" name="Google Shape;3395;p262"/>
          <p:cNvCxnSpPr/>
          <p:nvPr/>
        </p:nvCxnSpPr>
        <p:spPr>
          <a:xfrm flipH="1" rot="10800000">
            <a:off x="6826354" y="3665738"/>
            <a:ext cx="913998" cy="15483"/>
          </a:xfrm>
          <a:prstGeom prst="straightConnector1">
            <a:avLst/>
          </a:prstGeom>
          <a:noFill/>
          <a:ln cap="flat" cmpd="sng" w="9525">
            <a:solidFill>
              <a:srgbClr val="4A7DBA"/>
            </a:solidFill>
            <a:prstDash val="solid"/>
            <a:round/>
            <a:headEnd len="sm" w="sm" type="none"/>
            <a:tailEnd len="med" w="med" type="stealth"/>
          </a:ln>
        </p:spPr>
      </p:cxnSp>
      <p:sp>
        <p:nvSpPr>
          <p:cNvPr id="3396" name="Google Shape;3396;p262"/>
          <p:cNvSpPr txBox="1"/>
          <p:nvPr/>
        </p:nvSpPr>
        <p:spPr>
          <a:xfrm>
            <a:off x="7132510" y="3761949"/>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3397" name="Google Shape;3397;p262"/>
          <p:cNvSpPr txBox="1"/>
          <p:nvPr/>
        </p:nvSpPr>
        <p:spPr>
          <a:xfrm>
            <a:off x="4194286" y="232995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3398" name="Google Shape;3398;p262"/>
          <p:cNvSpPr/>
          <p:nvPr/>
        </p:nvSpPr>
        <p:spPr>
          <a:xfrm rot="5400000">
            <a:off x="5825598" y="2432552"/>
            <a:ext cx="931513" cy="4194138"/>
          </a:xfrm>
          <a:prstGeom prst="curvedLef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99" name="Google Shape;3399;p262"/>
          <p:cNvSpPr txBox="1"/>
          <p:nvPr/>
        </p:nvSpPr>
        <p:spPr>
          <a:xfrm>
            <a:off x="5339137" y="5157192"/>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3400" name="Google Shape;3400;p262"/>
          <p:cNvCxnSpPr/>
          <p:nvPr/>
        </p:nvCxnSpPr>
        <p:spPr>
          <a:xfrm rot="10800000">
            <a:off x="4788024" y="3946615"/>
            <a:ext cx="1039492" cy="0"/>
          </a:xfrm>
          <a:prstGeom prst="straightConnector1">
            <a:avLst/>
          </a:prstGeom>
          <a:noFill/>
          <a:ln cap="flat" cmpd="sng" w="9525">
            <a:solidFill>
              <a:srgbClr val="4A7DBA"/>
            </a:solidFill>
            <a:prstDash val="solid"/>
            <a:round/>
            <a:headEnd len="sm" w="sm" type="none"/>
            <a:tailEnd len="med" w="med" type="stealth"/>
          </a:ln>
        </p:spPr>
      </p:cxnSp>
      <p:sp>
        <p:nvSpPr>
          <p:cNvPr id="3401" name="Google Shape;3401;p262"/>
          <p:cNvSpPr txBox="1"/>
          <p:nvPr/>
        </p:nvSpPr>
        <p:spPr>
          <a:xfrm>
            <a:off x="5195454" y="4009279"/>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3402" name="Google Shape;3402;p262"/>
          <p:cNvSpPr/>
          <p:nvPr/>
        </p:nvSpPr>
        <p:spPr>
          <a:xfrm rot="5629290">
            <a:off x="4257500" y="2132714"/>
            <a:ext cx="1998107" cy="6789407"/>
          </a:xfrm>
          <a:prstGeom prst="curvedLef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03" name="Google Shape;3403;p262"/>
          <p:cNvSpPr txBox="1"/>
          <p:nvPr/>
        </p:nvSpPr>
        <p:spPr>
          <a:xfrm>
            <a:off x="5304655" y="6093296"/>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3404" name="Google Shape;3404;p262"/>
          <p:cNvSpPr txBox="1"/>
          <p:nvPr/>
        </p:nvSpPr>
        <p:spPr>
          <a:xfrm>
            <a:off x="2204256" y="2383294"/>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Tree>
  </p:cSld>
  <p:clrMapOvr>
    <a:masterClrMapping/>
  </p:clrMapOvr>
</p:sld>
</file>

<file path=ppt/slides/slide2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8" name="Shape 3408"/>
        <p:cNvGrpSpPr/>
        <p:nvPr/>
      </p:nvGrpSpPr>
      <p:grpSpPr>
        <a:xfrm>
          <a:off x="0" y="0"/>
          <a:ext cx="0" cy="0"/>
          <a:chOff x="0" y="0"/>
          <a:chExt cx="0" cy="0"/>
        </a:xfrm>
      </p:grpSpPr>
      <p:sp>
        <p:nvSpPr>
          <p:cNvPr id="3409" name="Google Shape;3409;p263"/>
          <p:cNvSpPr txBox="1"/>
          <p:nvPr>
            <p:ph type="title"/>
          </p:nvPr>
        </p:nvSpPr>
        <p:spPr>
          <a:xfrm>
            <a:off x="421196" y="0"/>
            <a:ext cx="8229600" cy="41805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Moore Machine-Example 2</a:t>
            </a:r>
            <a:endParaRPr sz="3200"/>
          </a:p>
        </p:txBody>
      </p:sp>
      <p:sp>
        <p:nvSpPr>
          <p:cNvPr id="3410" name="Google Shape;3410;p263"/>
          <p:cNvSpPr txBox="1"/>
          <p:nvPr>
            <p:ph idx="1" type="body"/>
          </p:nvPr>
        </p:nvSpPr>
        <p:spPr>
          <a:xfrm>
            <a:off x="349188" y="401184"/>
            <a:ext cx="8229600" cy="45259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lang="en-IN" sz="2400"/>
              <a:t>Design Moore Machine to get 2’s complement of a given binary number</a:t>
            </a:r>
            <a:endParaRPr/>
          </a:p>
          <a:p>
            <a:pPr indent="-190500" lvl="0" marL="34290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lang="en-IN" sz="2400"/>
              <a:t>Steps-</a:t>
            </a:r>
            <a:endParaRPr/>
          </a:p>
          <a:p>
            <a:pPr indent="-457200" lvl="0" marL="457200" rtl="0" algn="l">
              <a:spcBef>
                <a:spcPts val="480"/>
              </a:spcBef>
              <a:spcAft>
                <a:spcPts val="0"/>
              </a:spcAft>
              <a:buClr>
                <a:schemeClr val="dk1"/>
              </a:buClr>
              <a:buSzPts val="2400"/>
              <a:buFont typeface="Calibri"/>
              <a:buAutoNum type="arabicParenR"/>
            </a:pPr>
            <a:r>
              <a:rPr lang="en-IN" sz="2400"/>
              <a:t>Read the string bit by bit from LSB</a:t>
            </a:r>
            <a:endParaRPr/>
          </a:p>
          <a:p>
            <a:pPr indent="-457200" lvl="0" marL="457200" rtl="0" algn="l">
              <a:spcBef>
                <a:spcPts val="480"/>
              </a:spcBef>
              <a:spcAft>
                <a:spcPts val="0"/>
              </a:spcAft>
              <a:buClr>
                <a:schemeClr val="dk1"/>
              </a:buClr>
              <a:buSzPts val="2400"/>
              <a:buFont typeface="Calibri"/>
              <a:buAutoNum type="arabicParenR"/>
            </a:pPr>
            <a:r>
              <a:rPr lang="en-IN" sz="2400"/>
              <a:t>Keep the bits unchanged till you get first ‘1’, Do not replace the first ‘1’ by ‘0’, Keep it unchanged</a:t>
            </a:r>
            <a:endParaRPr/>
          </a:p>
          <a:p>
            <a:pPr indent="-457200" lvl="0" marL="457200" rtl="0" algn="l">
              <a:spcBef>
                <a:spcPts val="480"/>
              </a:spcBef>
              <a:spcAft>
                <a:spcPts val="0"/>
              </a:spcAft>
              <a:buClr>
                <a:schemeClr val="dk1"/>
              </a:buClr>
              <a:buSzPts val="2400"/>
              <a:buFont typeface="Calibri"/>
              <a:buAutoNum type="arabicParenR"/>
            </a:pPr>
            <a:r>
              <a:rPr lang="en-IN" sz="2400"/>
              <a:t>Remaining bits are changed from 0 to 1 and 1 to 0</a:t>
            </a:r>
            <a:endParaRPr sz="2400"/>
          </a:p>
          <a:p>
            <a:pPr indent="-190500" lvl="0" marL="34290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lang="en-IN" sz="2400"/>
              <a:t>Eg-</a:t>
            </a:r>
            <a:endParaRPr/>
          </a:p>
          <a:p>
            <a:pPr indent="0" lvl="0" marL="0" rtl="0" algn="l">
              <a:spcBef>
                <a:spcPts val="480"/>
              </a:spcBef>
              <a:spcAft>
                <a:spcPts val="0"/>
              </a:spcAft>
              <a:buClr>
                <a:schemeClr val="dk1"/>
              </a:buClr>
              <a:buSzPts val="2400"/>
              <a:buNone/>
            </a:pPr>
            <a:r>
              <a:rPr lang="en-IN" sz="2400"/>
              <a:t>Binary Number    1  0  1  1  0</a:t>
            </a:r>
            <a:endParaRPr/>
          </a:p>
          <a:p>
            <a:pPr indent="0" lvl="0" marL="0" rtl="0" algn="l">
              <a:spcBef>
                <a:spcPts val="480"/>
              </a:spcBef>
              <a:spcAft>
                <a:spcPts val="0"/>
              </a:spcAft>
              <a:buClr>
                <a:schemeClr val="dk1"/>
              </a:buClr>
              <a:buSzPts val="2400"/>
              <a:buNone/>
            </a:pPr>
            <a:r>
              <a:rPr lang="en-IN" sz="2400"/>
              <a:t>1’s Complement   0  1  0  0  1</a:t>
            </a:r>
            <a:endParaRPr/>
          </a:p>
          <a:p>
            <a:pPr indent="0" lvl="0" marL="0" rtl="0" algn="l">
              <a:spcBef>
                <a:spcPts val="480"/>
              </a:spcBef>
              <a:spcAft>
                <a:spcPts val="0"/>
              </a:spcAft>
              <a:buClr>
                <a:schemeClr val="dk1"/>
              </a:buClr>
              <a:buSzPts val="2400"/>
              <a:buNone/>
            </a:pPr>
            <a:r>
              <a:rPr lang="en-IN" sz="2400"/>
              <a:t>                                             + 1</a:t>
            </a:r>
            <a:endParaRPr/>
          </a:p>
          <a:p>
            <a:pPr indent="0" lvl="0" marL="0" rtl="0" algn="l">
              <a:spcBef>
                <a:spcPts val="480"/>
              </a:spcBef>
              <a:spcAft>
                <a:spcPts val="0"/>
              </a:spcAft>
              <a:buClr>
                <a:schemeClr val="dk1"/>
              </a:buClr>
              <a:buSzPts val="2400"/>
              <a:buNone/>
            </a:pPr>
            <a:r>
              <a:rPr lang="en-IN" sz="2400"/>
              <a:t>________________________</a:t>
            </a:r>
            <a:endParaRPr sz="2400"/>
          </a:p>
          <a:p>
            <a:pPr indent="0" lvl="0" marL="0" rtl="0" algn="l">
              <a:spcBef>
                <a:spcPts val="480"/>
              </a:spcBef>
              <a:spcAft>
                <a:spcPts val="0"/>
              </a:spcAft>
              <a:buClr>
                <a:schemeClr val="dk1"/>
              </a:buClr>
              <a:buSzPts val="2400"/>
              <a:buNone/>
            </a:pPr>
            <a:r>
              <a:rPr lang="en-IN" sz="2400"/>
              <a:t>2’s Complement   0  1  0  1  0</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411" name="Google Shape;3411;p2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412" name="Google Shape;3412;p2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cxnSp>
        <p:nvCxnSpPr>
          <p:cNvPr id="3413" name="Google Shape;3413;p263"/>
          <p:cNvCxnSpPr/>
          <p:nvPr/>
        </p:nvCxnSpPr>
        <p:spPr>
          <a:xfrm>
            <a:off x="3419872" y="3933056"/>
            <a:ext cx="0" cy="2736304"/>
          </a:xfrm>
          <a:prstGeom prst="straightConnector1">
            <a:avLst/>
          </a:prstGeom>
          <a:noFill/>
          <a:ln cap="flat" cmpd="sng" w="38100">
            <a:solidFill>
              <a:schemeClr val="accent6"/>
            </a:solidFill>
            <a:prstDash val="solid"/>
            <a:round/>
            <a:headEnd len="sm" w="sm" type="none"/>
            <a:tailEnd len="sm" w="sm" type="none"/>
          </a:ln>
          <a:effectLst>
            <a:outerShdw blurRad="40000" rotWithShape="0" dir="5400000" dist="23000">
              <a:srgbClr val="000000">
                <a:alpha val="34901"/>
              </a:srgbClr>
            </a:outerShdw>
          </a:effectLst>
        </p:spPr>
      </p:cxnSp>
    </p:spTree>
  </p:cSld>
  <p:clrMapOvr>
    <a:masterClrMapping/>
  </p:clrMapOvr>
</p:sld>
</file>

<file path=ppt/slides/slide2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7" name="Shape 3417"/>
        <p:cNvGrpSpPr/>
        <p:nvPr/>
      </p:nvGrpSpPr>
      <p:grpSpPr>
        <a:xfrm>
          <a:off x="0" y="0"/>
          <a:ext cx="0" cy="0"/>
          <a:chOff x="0" y="0"/>
          <a:chExt cx="0" cy="0"/>
        </a:xfrm>
      </p:grpSpPr>
      <p:sp>
        <p:nvSpPr>
          <p:cNvPr id="3418" name="Google Shape;3418;p264"/>
          <p:cNvSpPr txBox="1"/>
          <p:nvPr>
            <p:ph type="title"/>
          </p:nvPr>
        </p:nvSpPr>
        <p:spPr>
          <a:xfrm>
            <a:off x="421196" y="0"/>
            <a:ext cx="8229600" cy="41805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Moore Machine-Example 2</a:t>
            </a:r>
            <a:endParaRPr sz="3200"/>
          </a:p>
        </p:txBody>
      </p:sp>
      <p:sp>
        <p:nvSpPr>
          <p:cNvPr id="3419" name="Google Shape;3419;p264"/>
          <p:cNvSpPr txBox="1"/>
          <p:nvPr>
            <p:ph idx="1" type="body"/>
          </p:nvPr>
        </p:nvSpPr>
        <p:spPr>
          <a:xfrm>
            <a:off x="349188" y="401184"/>
            <a:ext cx="8229600" cy="583612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Design Moore Machine to get 2’s complement of a given number</a:t>
            </a:r>
            <a:endParaRPr/>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lang="en-IN" sz="2400"/>
              <a:t>string “110”</a:t>
            </a:r>
            <a:endParaRPr/>
          </a:p>
          <a:p>
            <a:pPr indent="0" lvl="0" marL="0" rtl="0" algn="l">
              <a:spcBef>
                <a:spcPts val="480"/>
              </a:spcBef>
              <a:spcAft>
                <a:spcPts val="0"/>
              </a:spcAft>
              <a:buClr>
                <a:schemeClr val="dk1"/>
              </a:buClr>
              <a:buSzPts val="2400"/>
              <a:buNone/>
            </a:pPr>
            <a:r>
              <a:rPr lang="en-IN" sz="2400"/>
              <a:t>Read from LSB</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420" name="Google Shape;3420;p2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421" name="Google Shape;3421;p2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422" name="Google Shape;3422;p264"/>
          <p:cNvSpPr/>
          <p:nvPr/>
        </p:nvSpPr>
        <p:spPr>
          <a:xfrm>
            <a:off x="1887047" y="2950646"/>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q0/0</a:t>
            </a:r>
            <a:endParaRPr sz="1800">
              <a:solidFill>
                <a:schemeClr val="lt1"/>
              </a:solidFill>
              <a:latin typeface="Calibri"/>
              <a:ea typeface="Calibri"/>
              <a:cs typeface="Calibri"/>
              <a:sym typeface="Calibri"/>
            </a:endParaRPr>
          </a:p>
        </p:txBody>
      </p:sp>
      <p:sp>
        <p:nvSpPr>
          <p:cNvPr id="3423" name="Google Shape;3423;p264"/>
          <p:cNvSpPr txBox="1"/>
          <p:nvPr/>
        </p:nvSpPr>
        <p:spPr>
          <a:xfrm>
            <a:off x="2204256" y="1967459"/>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a:p>
        </p:txBody>
      </p:sp>
      <p:sp>
        <p:nvSpPr>
          <p:cNvPr id="3424" name="Google Shape;3424;p264"/>
          <p:cNvSpPr txBox="1"/>
          <p:nvPr/>
        </p:nvSpPr>
        <p:spPr>
          <a:xfrm>
            <a:off x="3482342" y="3328485"/>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3425" name="Google Shape;3425;p264"/>
          <p:cNvSpPr/>
          <p:nvPr/>
        </p:nvSpPr>
        <p:spPr>
          <a:xfrm>
            <a:off x="4349461" y="2793071"/>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q1/1</a:t>
            </a:r>
            <a:endParaRPr sz="1800">
              <a:solidFill>
                <a:schemeClr val="lt1"/>
              </a:solidFill>
              <a:latin typeface="Calibri"/>
              <a:ea typeface="Calibri"/>
              <a:cs typeface="Calibri"/>
              <a:sym typeface="Calibri"/>
            </a:endParaRPr>
          </a:p>
        </p:txBody>
      </p:sp>
      <p:sp>
        <p:nvSpPr>
          <p:cNvPr id="3426" name="Google Shape;3426;p264"/>
          <p:cNvSpPr/>
          <p:nvPr/>
        </p:nvSpPr>
        <p:spPr>
          <a:xfrm rot="189793">
            <a:off x="2108111" y="2373148"/>
            <a:ext cx="504056" cy="579934"/>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27" name="Google Shape;3427;p264"/>
          <p:cNvSpPr txBox="1"/>
          <p:nvPr/>
        </p:nvSpPr>
        <p:spPr>
          <a:xfrm>
            <a:off x="5960122" y="3328485"/>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3428" name="Google Shape;3428;p264"/>
          <p:cNvSpPr/>
          <p:nvPr/>
        </p:nvSpPr>
        <p:spPr>
          <a:xfrm>
            <a:off x="6874120" y="2737989"/>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q2/0</a:t>
            </a:r>
            <a:endParaRPr sz="1800">
              <a:solidFill>
                <a:schemeClr val="lt1"/>
              </a:solidFill>
              <a:latin typeface="Calibri"/>
              <a:ea typeface="Calibri"/>
              <a:cs typeface="Calibri"/>
              <a:sym typeface="Calibri"/>
            </a:endParaRPr>
          </a:p>
        </p:txBody>
      </p:sp>
      <p:cxnSp>
        <p:nvCxnSpPr>
          <p:cNvPr id="3429" name="Google Shape;3429;p264"/>
          <p:cNvCxnSpPr/>
          <p:nvPr/>
        </p:nvCxnSpPr>
        <p:spPr>
          <a:xfrm>
            <a:off x="2823151" y="3268044"/>
            <a:ext cx="1526310" cy="0"/>
          </a:xfrm>
          <a:prstGeom prst="straightConnector1">
            <a:avLst/>
          </a:prstGeom>
          <a:noFill/>
          <a:ln cap="flat" cmpd="sng" w="9525">
            <a:solidFill>
              <a:srgbClr val="4A7DBA"/>
            </a:solidFill>
            <a:prstDash val="solid"/>
            <a:round/>
            <a:headEnd len="sm" w="sm" type="none"/>
            <a:tailEnd len="med" w="med" type="stealth"/>
          </a:ln>
        </p:spPr>
      </p:cxnSp>
      <p:cxnSp>
        <p:nvCxnSpPr>
          <p:cNvPr id="3430" name="Google Shape;3430;p264"/>
          <p:cNvCxnSpPr/>
          <p:nvPr/>
        </p:nvCxnSpPr>
        <p:spPr>
          <a:xfrm>
            <a:off x="5347810" y="3252561"/>
            <a:ext cx="1526310" cy="0"/>
          </a:xfrm>
          <a:prstGeom prst="straightConnector1">
            <a:avLst/>
          </a:prstGeom>
          <a:noFill/>
          <a:ln cap="flat" cmpd="sng" w="9525">
            <a:solidFill>
              <a:srgbClr val="4A7DBA"/>
            </a:solidFill>
            <a:prstDash val="solid"/>
            <a:round/>
            <a:headEnd len="sm" w="sm" type="none"/>
            <a:tailEnd len="med" w="med" type="stealth"/>
          </a:ln>
        </p:spPr>
      </p:cxnSp>
      <p:sp>
        <p:nvSpPr>
          <p:cNvPr id="3431" name="Google Shape;3431;p264"/>
          <p:cNvSpPr txBox="1"/>
          <p:nvPr/>
        </p:nvSpPr>
        <p:spPr>
          <a:xfrm>
            <a:off x="4666258" y="1853847"/>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a:p>
        </p:txBody>
      </p:sp>
      <p:sp>
        <p:nvSpPr>
          <p:cNvPr id="3432" name="Google Shape;3432;p264"/>
          <p:cNvSpPr/>
          <p:nvPr/>
        </p:nvSpPr>
        <p:spPr>
          <a:xfrm rot="189793">
            <a:off x="4628391" y="2259536"/>
            <a:ext cx="504056" cy="579934"/>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33" name="Google Shape;3433;p264"/>
          <p:cNvSpPr/>
          <p:nvPr/>
        </p:nvSpPr>
        <p:spPr>
          <a:xfrm rot="189793">
            <a:off x="7090143" y="2165590"/>
            <a:ext cx="504056" cy="579934"/>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34" name="Google Shape;3434;p264"/>
          <p:cNvSpPr txBox="1"/>
          <p:nvPr/>
        </p:nvSpPr>
        <p:spPr>
          <a:xfrm>
            <a:off x="7191329" y="1782793"/>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3435" name="Google Shape;3435;p264"/>
          <p:cNvCxnSpPr/>
          <p:nvPr/>
        </p:nvCxnSpPr>
        <p:spPr>
          <a:xfrm rot="10800000">
            <a:off x="5436408" y="3098029"/>
            <a:ext cx="1286869" cy="0"/>
          </a:xfrm>
          <a:prstGeom prst="straightConnector1">
            <a:avLst/>
          </a:prstGeom>
          <a:noFill/>
          <a:ln cap="flat" cmpd="sng" w="9525">
            <a:solidFill>
              <a:srgbClr val="4A7DBA"/>
            </a:solidFill>
            <a:prstDash val="solid"/>
            <a:round/>
            <a:headEnd len="sm" w="sm" type="none"/>
            <a:tailEnd len="med" w="med" type="stealth"/>
          </a:ln>
        </p:spPr>
      </p:cxnSp>
      <p:sp>
        <p:nvSpPr>
          <p:cNvPr id="3436" name="Google Shape;3436;p264"/>
          <p:cNvSpPr txBox="1"/>
          <p:nvPr/>
        </p:nvSpPr>
        <p:spPr>
          <a:xfrm>
            <a:off x="5928999" y="2728697"/>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a:p>
        </p:txBody>
      </p:sp>
      <p:cxnSp>
        <p:nvCxnSpPr>
          <p:cNvPr id="3437" name="Google Shape;3437;p264"/>
          <p:cNvCxnSpPr/>
          <p:nvPr/>
        </p:nvCxnSpPr>
        <p:spPr>
          <a:xfrm>
            <a:off x="1280289" y="3310686"/>
            <a:ext cx="555407" cy="0"/>
          </a:xfrm>
          <a:prstGeom prst="straightConnector1">
            <a:avLst/>
          </a:prstGeom>
          <a:noFill/>
          <a:ln cap="flat" cmpd="sng" w="9525">
            <a:solidFill>
              <a:srgbClr val="4A7DBA"/>
            </a:solidFill>
            <a:prstDash val="solid"/>
            <a:round/>
            <a:headEnd len="sm" w="sm" type="none"/>
            <a:tailEnd len="med" w="med" type="stealth"/>
          </a:ln>
        </p:spPr>
      </p:cxnSp>
    </p:spTree>
  </p:cSld>
  <p:clrMapOvr>
    <a:masterClrMapping/>
  </p:clrMapOvr>
</p:sld>
</file>

<file path=ppt/slides/slide2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1" name="Shape 3441"/>
        <p:cNvGrpSpPr/>
        <p:nvPr/>
      </p:nvGrpSpPr>
      <p:grpSpPr>
        <a:xfrm>
          <a:off x="0" y="0"/>
          <a:ext cx="0" cy="0"/>
          <a:chOff x="0" y="0"/>
          <a:chExt cx="0" cy="0"/>
        </a:xfrm>
      </p:grpSpPr>
      <p:sp>
        <p:nvSpPr>
          <p:cNvPr id="3442" name="Google Shape;3442;p2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Mealey Machine-Formal Definition</a:t>
            </a:r>
            <a:endParaRPr/>
          </a:p>
        </p:txBody>
      </p:sp>
      <p:sp>
        <p:nvSpPr>
          <p:cNvPr id="3443" name="Google Shape;3443;p26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Clr>
                <a:schemeClr val="dk1"/>
              </a:buClr>
              <a:buSzPct val="100000"/>
              <a:buChar char="•"/>
            </a:pPr>
            <a:r>
              <a:rPr lang="en-IN" sz="2400"/>
              <a:t>6 tuple representation</a:t>
            </a:r>
            <a:endParaRPr/>
          </a:p>
          <a:p>
            <a:pPr indent="-342900" lvl="0" marL="342900" rtl="0" algn="l">
              <a:spcBef>
                <a:spcPts val="444"/>
              </a:spcBef>
              <a:spcAft>
                <a:spcPts val="0"/>
              </a:spcAft>
              <a:buClr>
                <a:schemeClr val="dk1"/>
              </a:buClr>
              <a:buSzPct val="100000"/>
              <a:buChar char="•"/>
            </a:pPr>
            <a:r>
              <a:rPr lang="en-IN" sz="2400"/>
              <a:t>Moore Machine is denoted by  6 Tuple: M=(Q, ∑, Δ,δ, λ, q</a:t>
            </a:r>
            <a:r>
              <a:rPr baseline="-25000" lang="en-IN" sz="2400"/>
              <a:t>0</a:t>
            </a:r>
            <a:r>
              <a:rPr lang="en-IN" sz="2400"/>
              <a:t>) where </a:t>
            </a:r>
            <a:endParaRPr/>
          </a:p>
          <a:p>
            <a:pPr indent="-201930" lvl="0" marL="342900" rtl="0" algn="l">
              <a:spcBef>
                <a:spcPts val="444"/>
              </a:spcBef>
              <a:spcAft>
                <a:spcPts val="0"/>
              </a:spcAft>
              <a:buClr>
                <a:schemeClr val="dk1"/>
              </a:buClr>
              <a:buSzPct val="100000"/>
              <a:buNone/>
            </a:pPr>
            <a:r>
              <a:t/>
            </a:r>
            <a:endParaRPr sz="2400"/>
          </a:p>
          <a:p>
            <a:pPr indent="-342900" lvl="0" marL="342900" rtl="0" algn="l">
              <a:spcBef>
                <a:spcPts val="444"/>
              </a:spcBef>
              <a:spcAft>
                <a:spcPts val="0"/>
              </a:spcAft>
              <a:buClr>
                <a:schemeClr val="dk1"/>
              </a:buClr>
              <a:buSzPct val="100000"/>
              <a:buChar char="•"/>
            </a:pPr>
            <a:r>
              <a:rPr lang="en-IN" sz="2400"/>
              <a:t>Q:Finite set of states</a:t>
            </a:r>
            <a:endParaRPr/>
          </a:p>
          <a:p>
            <a:pPr indent="-342900" lvl="0" marL="342900" rtl="0" algn="l">
              <a:spcBef>
                <a:spcPts val="444"/>
              </a:spcBef>
              <a:spcAft>
                <a:spcPts val="0"/>
              </a:spcAft>
              <a:buClr>
                <a:schemeClr val="dk1"/>
              </a:buClr>
              <a:buSzPct val="100000"/>
              <a:buChar char="•"/>
            </a:pPr>
            <a:r>
              <a:rPr lang="en-IN" sz="2400"/>
              <a:t>∑:Finite input alphabet</a:t>
            </a:r>
            <a:endParaRPr/>
          </a:p>
          <a:p>
            <a:pPr indent="-342900" lvl="0" marL="342900" rtl="0" algn="l">
              <a:spcBef>
                <a:spcPts val="444"/>
              </a:spcBef>
              <a:spcAft>
                <a:spcPts val="0"/>
              </a:spcAft>
              <a:buClr>
                <a:schemeClr val="dk1"/>
              </a:buClr>
              <a:buSzPct val="100000"/>
              <a:buChar char="•"/>
            </a:pPr>
            <a:r>
              <a:rPr lang="en-IN" sz="2400"/>
              <a:t>Δ or O:Finite set of Output alphabet</a:t>
            </a:r>
            <a:endParaRPr sz="2400"/>
          </a:p>
          <a:p>
            <a:pPr indent="-342900" lvl="0" marL="342900" rtl="0" algn="l">
              <a:spcBef>
                <a:spcPts val="444"/>
              </a:spcBef>
              <a:spcAft>
                <a:spcPts val="0"/>
              </a:spcAft>
              <a:buClr>
                <a:schemeClr val="dk1"/>
              </a:buClr>
              <a:buSzPct val="100000"/>
              <a:buChar char="•"/>
            </a:pPr>
            <a:r>
              <a:rPr lang="en-IN" sz="2400"/>
              <a:t>δ:Q X ∑ -&gt;Q State Transition function(STF)</a:t>
            </a:r>
            <a:endParaRPr/>
          </a:p>
          <a:p>
            <a:pPr indent="0" lvl="0" marL="0" rtl="0" algn="l">
              <a:spcBef>
                <a:spcPts val="444"/>
              </a:spcBef>
              <a:spcAft>
                <a:spcPts val="0"/>
              </a:spcAft>
              <a:buClr>
                <a:schemeClr val="dk1"/>
              </a:buClr>
              <a:buSzPct val="100000"/>
              <a:buNone/>
            </a:pPr>
            <a:r>
              <a:rPr lang="en-IN" sz="2400"/>
              <a:t>Mapping State and input alphabet to the next state</a:t>
            </a:r>
            <a:endParaRPr/>
          </a:p>
          <a:p>
            <a:pPr indent="-342900" lvl="0" marL="342900" rtl="0" algn="l">
              <a:spcBef>
                <a:spcPts val="444"/>
              </a:spcBef>
              <a:spcAft>
                <a:spcPts val="0"/>
              </a:spcAft>
              <a:buClr>
                <a:srgbClr val="FF0000"/>
              </a:buClr>
              <a:buSzPct val="100000"/>
              <a:buChar char="•"/>
            </a:pPr>
            <a:r>
              <a:rPr b="1" lang="en-IN" sz="2400">
                <a:solidFill>
                  <a:srgbClr val="FF0000"/>
                </a:solidFill>
              </a:rPr>
              <a:t>λ:Q X ∑ -&gt;Δ or O Machine Function/Output function</a:t>
            </a:r>
            <a:endParaRPr/>
          </a:p>
          <a:p>
            <a:pPr indent="0" lvl="0" marL="0" rtl="0" algn="l">
              <a:spcBef>
                <a:spcPts val="444"/>
              </a:spcBef>
              <a:spcAft>
                <a:spcPts val="0"/>
              </a:spcAft>
              <a:buClr>
                <a:srgbClr val="FF0000"/>
              </a:buClr>
              <a:buSzPct val="100000"/>
              <a:buNone/>
            </a:pPr>
            <a:r>
              <a:rPr b="1" lang="en-IN" sz="2400">
                <a:solidFill>
                  <a:srgbClr val="FF0000"/>
                </a:solidFill>
              </a:rPr>
              <a:t>Mapping each state to the Output alphabet</a:t>
            </a:r>
            <a:endParaRPr/>
          </a:p>
          <a:p>
            <a:pPr indent="-342900" lvl="0" marL="342900" rtl="0" algn="l">
              <a:spcBef>
                <a:spcPts val="444"/>
              </a:spcBef>
              <a:spcAft>
                <a:spcPts val="0"/>
              </a:spcAft>
              <a:buClr>
                <a:schemeClr val="dk1"/>
              </a:buClr>
              <a:buSzPct val="100000"/>
              <a:buChar char="•"/>
            </a:pPr>
            <a:r>
              <a:rPr lang="en-IN" sz="2400"/>
              <a:t>q</a:t>
            </a:r>
            <a:r>
              <a:rPr baseline="-25000" lang="en-IN" sz="2400"/>
              <a:t>0</a:t>
            </a:r>
            <a:r>
              <a:rPr lang="en-IN" sz="2400"/>
              <a:t>: Initial/Start state of FA, q0 ∈ Q</a:t>
            </a:r>
            <a:endParaRPr/>
          </a:p>
          <a:p>
            <a:pPr indent="-201930" lvl="0" marL="342900" rtl="0" algn="l">
              <a:spcBef>
                <a:spcPts val="444"/>
              </a:spcBef>
              <a:spcAft>
                <a:spcPts val="0"/>
              </a:spcAft>
              <a:buClr>
                <a:schemeClr val="dk1"/>
              </a:buClr>
              <a:buSzPct val="100000"/>
              <a:buNone/>
            </a:pPr>
            <a:r>
              <a:t/>
            </a:r>
            <a:endParaRPr sz="2400"/>
          </a:p>
          <a:p>
            <a:pPr indent="-201930" lvl="0" marL="342900" rtl="0" algn="l">
              <a:spcBef>
                <a:spcPts val="444"/>
              </a:spcBef>
              <a:spcAft>
                <a:spcPts val="0"/>
              </a:spcAft>
              <a:buClr>
                <a:schemeClr val="dk1"/>
              </a:buClr>
              <a:buSzPct val="100000"/>
              <a:buNone/>
            </a:pPr>
            <a:r>
              <a:t/>
            </a:r>
            <a:endParaRPr sz="2400"/>
          </a:p>
        </p:txBody>
      </p:sp>
      <p:sp>
        <p:nvSpPr>
          <p:cNvPr id="3444" name="Google Shape;3444;p2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445" name="Google Shape;3445;p2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446" name="Google Shape;3446;p2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0" name="Shape 3450"/>
        <p:cNvGrpSpPr/>
        <p:nvPr/>
      </p:nvGrpSpPr>
      <p:grpSpPr>
        <a:xfrm>
          <a:off x="0" y="0"/>
          <a:ext cx="0" cy="0"/>
          <a:chOff x="0" y="0"/>
          <a:chExt cx="0" cy="0"/>
        </a:xfrm>
      </p:grpSpPr>
      <p:sp>
        <p:nvSpPr>
          <p:cNvPr id="3451" name="Google Shape;3451;p2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Mealey Machine-Formal Definition</a:t>
            </a:r>
            <a:endParaRPr/>
          </a:p>
        </p:txBody>
      </p:sp>
      <p:sp>
        <p:nvSpPr>
          <p:cNvPr id="3452" name="Google Shape;3452;p26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Machine with finite number of states and for which the output symbol at a given time depends on the present input symbol as well as the present state of the machine</a:t>
            </a:r>
            <a:endParaRPr sz="2400"/>
          </a:p>
          <a:p>
            <a:pPr indent="-190500" lvl="0" marL="342900" rtl="0" algn="l">
              <a:spcBef>
                <a:spcPts val="480"/>
              </a:spcBef>
              <a:spcAft>
                <a:spcPts val="0"/>
              </a:spcAft>
              <a:buClr>
                <a:schemeClr val="dk1"/>
              </a:buClr>
              <a:buSzPts val="2400"/>
              <a:buNone/>
            </a:pPr>
            <a:r>
              <a:t/>
            </a:r>
            <a:endParaRPr sz="2400"/>
          </a:p>
        </p:txBody>
      </p:sp>
      <p:sp>
        <p:nvSpPr>
          <p:cNvPr id="3453" name="Google Shape;3453;p2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454" name="Google Shape;3454;p2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455" name="Google Shape;3455;p2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9" name="Shape 3459"/>
        <p:cNvGrpSpPr/>
        <p:nvPr/>
      </p:nvGrpSpPr>
      <p:grpSpPr>
        <a:xfrm>
          <a:off x="0" y="0"/>
          <a:ext cx="0" cy="0"/>
          <a:chOff x="0" y="0"/>
          <a:chExt cx="0" cy="0"/>
        </a:xfrm>
      </p:grpSpPr>
      <p:sp>
        <p:nvSpPr>
          <p:cNvPr id="3460" name="Google Shape;3460;p267"/>
          <p:cNvSpPr txBox="1"/>
          <p:nvPr>
            <p:ph type="title"/>
          </p:nvPr>
        </p:nvSpPr>
        <p:spPr>
          <a:xfrm>
            <a:off x="457200" y="116632"/>
            <a:ext cx="8229600" cy="490066"/>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sz="3200">
                <a:solidFill>
                  <a:schemeClr val="dk1"/>
                </a:solidFill>
                <a:latin typeface="Calibri"/>
                <a:ea typeface="Calibri"/>
                <a:cs typeface="Calibri"/>
                <a:sym typeface="Calibri"/>
              </a:rPr>
              <a:t>Mealey Machine-State Diagram</a:t>
            </a:r>
            <a:endParaRPr sz="3200"/>
          </a:p>
        </p:txBody>
      </p:sp>
      <p:sp>
        <p:nvSpPr>
          <p:cNvPr id="3461" name="Google Shape;3461;p267"/>
          <p:cNvSpPr txBox="1"/>
          <p:nvPr>
            <p:ph idx="1" type="body"/>
          </p:nvPr>
        </p:nvSpPr>
        <p:spPr>
          <a:xfrm>
            <a:off x="503548" y="90872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Draw the state diagram for the Mealey Machine given below:-</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δ:Q X ∑ -&gt;Q State Transition function(STF)</a:t>
            </a:r>
            <a:endParaRPr/>
          </a:p>
          <a:p>
            <a:pPr indent="-342900" lvl="0" marL="342900" rtl="0" algn="l">
              <a:spcBef>
                <a:spcPts val="480"/>
              </a:spcBef>
              <a:spcAft>
                <a:spcPts val="0"/>
              </a:spcAft>
              <a:buClr>
                <a:schemeClr val="dk1"/>
              </a:buClr>
              <a:buSzPts val="2400"/>
              <a:buChar char="•"/>
            </a:pPr>
            <a:r>
              <a:rPr lang="en-IN" sz="2400"/>
              <a:t>λ:Q X ∑ -&gt;Δ or O Machine Function/Output function</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462" name="Google Shape;3462;p2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463" name="Google Shape;3463;p2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464" name="Google Shape;3464;p2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465" name="Google Shape;3465;p267"/>
          <p:cNvGraphicFramePr/>
          <p:nvPr/>
        </p:nvGraphicFramePr>
        <p:xfrm>
          <a:off x="787268" y="3429000"/>
          <a:ext cx="3000000" cy="3000000"/>
        </p:xfrm>
        <a:graphic>
          <a:graphicData uri="http://schemas.openxmlformats.org/drawingml/2006/table">
            <a:tbl>
              <a:tblPr bandRow="1" firstRow="1">
                <a:noFill/>
                <a:tableStyleId>{67F6A887-4D8F-49DA-B730-5EAACEBB6B1F}</a:tableStyleId>
              </a:tblPr>
              <a:tblGrid>
                <a:gridCol w="828100"/>
                <a:gridCol w="568875"/>
                <a:gridCol w="698475"/>
                <a:gridCol w="698475"/>
                <a:gridCol w="698475"/>
              </a:tblGrid>
              <a:tr h="370850">
                <a:tc>
                  <a:txBody>
                    <a:bodyPr/>
                    <a:lstStyle/>
                    <a:p>
                      <a:pPr indent="0" lvl="0" marL="0" marR="0" rtl="0" algn="l">
                        <a:spcBef>
                          <a:spcPts val="0"/>
                        </a:spcBef>
                        <a:spcAft>
                          <a:spcPts val="0"/>
                        </a:spcAft>
                        <a:buNone/>
                      </a:pPr>
                      <a:r>
                        <a:t/>
                      </a:r>
                      <a:endParaRPr sz="1800"/>
                    </a:p>
                  </a:txBody>
                  <a:tcPr marT="45725" marB="45725" marR="91450" marL="91450"/>
                </a:tc>
                <a:tc gridSpan="4">
                  <a:txBody>
                    <a:bodyPr/>
                    <a:lstStyle/>
                    <a:p>
                      <a:pPr indent="0" lvl="0" marL="0" marR="0" rtl="0" algn="l">
                        <a:spcBef>
                          <a:spcPts val="0"/>
                        </a:spcBef>
                        <a:spcAft>
                          <a:spcPts val="0"/>
                        </a:spcAft>
                        <a:buNone/>
                      </a:pPr>
                      <a:r>
                        <a:rPr lang="en-IN" sz="1800"/>
                        <a:t>Inputs</a:t>
                      </a:r>
                      <a:endParaRPr sz="1800"/>
                    </a:p>
                  </a:txBody>
                  <a:tcPr marT="45725" marB="45725" marR="91450" marL="91450"/>
                </a:tc>
                <a:tc hMerge="1"/>
                <a:tc hMerge="1"/>
                <a:tc hMerge="1"/>
              </a:tr>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en-IN" sz="1800"/>
                        <a:t>0</a:t>
                      </a:r>
                      <a:endParaRPr sz="1800"/>
                    </a:p>
                  </a:txBody>
                  <a:tcPr marT="45725" marB="45725" marR="91450" marL="91450"/>
                </a:tc>
                <a:tc hMerge="1"/>
                <a:tc gridSpan="2">
                  <a:txBody>
                    <a:bodyPr/>
                    <a:lstStyle/>
                    <a:p>
                      <a:pPr indent="0" lvl="0" marL="0" marR="0" rtl="0" algn="ctr">
                        <a:spcBef>
                          <a:spcPts val="0"/>
                        </a:spcBef>
                        <a:spcAft>
                          <a:spcPts val="0"/>
                        </a:spcAft>
                        <a:buNone/>
                      </a:pPr>
                      <a:r>
                        <a:rPr lang="en-IN" sz="1800"/>
                        <a:t>1</a:t>
                      </a:r>
                      <a:endParaRPr sz="1800"/>
                    </a:p>
                  </a:txBody>
                  <a:tcPr marT="45725" marB="45725" marR="91450" marL="91450"/>
                </a:tc>
                <a:tc hMerge="1"/>
              </a:tr>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cxnSp>
        <p:nvCxnSpPr>
          <p:cNvPr id="3466" name="Google Shape;3466;p267"/>
          <p:cNvCxnSpPr/>
          <p:nvPr/>
        </p:nvCxnSpPr>
        <p:spPr>
          <a:xfrm>
            <a:off x="251520" y="4653136"/>
            <a:ext cx="504056" cy="0"/>
          </a:xfrm>
          <a:prstGeom prst="straightConnector1">
            <a:avLst/>
          </a:prstGeom>
          <a:noFill/>
          <a:ln cap="flat" cmpd="sng" w="9525">
            <a:solidFill>
              <a:srgbClr val="4A7DBA"/>
            </a:solidFill>
            <a:prstDash val="solid"/>
            <a:round/>
            <a:headEnd len="sm" w="sm" type="none"/>
            <a:tailEnd len="med" w="med" type="stealth"/>
          </a:ln>
        </p:spPr>
      </p:cxnSp>
    </p:spTree>
  </p:cSld>
  <p:clrMapOvr>
    <a:masterClrMapping/>
  </p:clrMapOvr>
</p:sld>
</file>

<file path=ppt/slides/slide2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0" name="Shape 3470"/>
        <p:cNvGrpSpPr/>
        <p:nvPr/>
      </p:nvGrpSpPr>
      <p:grpSpPr>
        <a:xfrm>
          <a:off x="0" y="0"/>
          <a:ext cx="0" cy="0"/>
          <a:chOff x="0" y="0"/>
          <a:chExt cx="0" cy="0"/>
        </a:xfrm>
      </p:grpSpPr>
      <p:sp>
        <p:nvSpPr>
          <p:cNvPr id="3471" name="Google Shape;3471;p268"/>
          <p:cNvSpPr txBox="1"/>
          <p:nvPr>
            <p:ph idx="1" type="body"/>
          </p:nvPr>
        </p:nvSpPr>
        <p:spPr>
          <a:xfrm>
            <a:off x="279585" y="692696"/>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Draw the state diagram for the Mealey Machine given below:-</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472" name="Google Shape;3472;p2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473" name="Google Shape;3473;p2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474" name="Google Shape;3474;p2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475" name="Google Shape;3475;p268"/>
          <p:cNvGraphicFramePr/>
          <p:nvPr/>
        </p:nvGraphicFramePr>
        <p:xfrm>
          <a:off x="787268" y="1124744"/>
          <a:ext cx="3000000" cy="3000000"/>
        </p:xfrm>
        <a:graphic>
          <a:graphicData uri="http://schemas.openxmlformats.org/drawingml/2006/table">
            <a:tbl>
              <a:tblPr bandRow="1" firstRow="1">
                <a:noFill/>
                <a:tableStyleId>{67F6A887-4D8F-49DA-B730-5EAACEBB6B1F}</a:tableStyleId>
              </a:tblPr>
              <a:tblGrid>
                <a:gridCol w="828100"/>
                <a:gridCol w="568875"/>
                <a:gridCol w="698475"/>
                <a:gridCol w="698475"/>
                <a:gridCol w="698475"/>
              </a:tblGrid>
              <a:tr h="370850">
                <a:tc>
                  <a:txBody>
                    <a:bodyPr/>
                    <a:lstStyle/>
                    <a:p>
                      <a:pPr indent="0" lvl="0" marL="0" marR="0" rtl="0" algn="l">
                        <a:spcBef>
                          <a:spcPts val="0"/>
                        </a:spcBef>
                        <a:spcAft>
                          <a:spcPts val="0"/>
                        </a:spcAft>
                        <a:buNone/>
                      </a:pPr>
                      <a:r>
                        <a:t/>
                      </a:r>
                      <a:endParaRPr sz="1800"/>
                    </a:p>
                  </a:txBody>
                  <a:tcPr marT="45725" marB="45725" marR="91450" marL="91450"/>
                </a:tc>
                <a:tc gridSpan="4">
                  <a:txBody>
                    <a:bodyPr/>
                    <a:lstStyle/>
                    <a:p>
                      <a:pPr indent="0" lvl="0" marL="0" marR="0" rtl="0" algn="l">
                        <a:spcBef>
                          <a:spcPts val="0"/>
                        </a:spcBef>
                        <a:spcAft>
                          <a:spcPts val="0"/>
                        </a:spcAft>
                        <a:buNone/>
                      </a:pPr>
                      <a:r>
                        <a:rPr lang="en-IN" sz="1800"/>
                        <a:t>Inputs</a:t>
                      </a:r>
                      <a:endParaRPr sz="1800"/>
                    </a:p>
                  </a:txBody>
                  <a:tcPr marT="45725" marB="45725" marR="91450" marL="91450"/>
                </a:tc>
                <a:tc hMerge="1"/>
                <a:tc hMerge="1"/>
                <a:tc hMerge="1"/>
              </a:tr>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en-IN" sz="1800"/>
                        <a:t>0</a:t>
                      </a:r>
                      <a:endParaRPr sz="1800"/>
                    </a:p>
                  </a:txBody>
                  <a:tcPr marT="45725" marB="45725" marR="91450" marL="91450"/>
                </a:tc>
                <a:tc hMerge="1"/>
                <a:tc gridSpan="2">
                  <a:txBody>
                    <a:bodyPr/>
                    <a:lstStyle/>
                    <a:p>
                      <a:pPr indent="0" lvl="0" marL="0" marR="0" rtl="0" algn="ctr">
                        <a:spcBef>
                          <a:spcPts val="0"/>
                        </a:spcBef>
                        <a:spcAft>
                          <a:spcPts val="0"/>
                        </a:spcAft>
                        <a:buNone/>
                      </a:pPr>
                      <a:r>
                        <a:rPr lang="en-IN" sz="1800"/>
                        <a:t>1</a:t>
                      </a:r>
                      <a:endParaRPr sz="1800"/>
                    </a:p>
                  </a:txBody>
                  <a:tcPr marT="45725" marB="45725" marR="91450" marL="91450"/>
                </a:tc>
                <a:tc hMerge="1"/>
              </a:tr>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cxnSp>
        <p:nvCxnSpPr>
          <p:cNvPr id="3476" name="Google Shape;3476;p268"/>
          <p:cNvCxnSpPr/>
          <p:nvPr/>
        </p:nvCxnSpPr>
        <p:spPr>
          <a:xfrm>
            <a:off x="251520" y="2348880"/>
            <a:ext cx="504056" cy="0"/>
          </a:xfrm>
          <a:prstGeom prst="straightConnector1">
            <a:avLst/>
          </a:prstGeom>
          <a:noFill/>
          <a:ln cap="flat" cmpd="sng" w="9525">
            <a:solidFill>
              <a:srgbClr val="4A7DBA"/>
            </a:solidFill>
            <a:prstDash val="solid"/>
            <a:round/>
            <a:headEnd len="sm" w="sm" type="none"/>
            <a:tailEnd len="med" w="med" type="stealth"/>
          </a:ln>
        </p:spPr>
      </p:cxnSp>
      <p:sp>
        <p:nvSpPr>
          <p:cNvPr id="3477" name="Google Shape;3477;p268"/>
          <p:cNvSpPr/>
          <p:nvPr/>
        </p:nvSpPr>
        <p:spPr>
          <a:xfrm>
            <a:off x="5781391" y="4823249"/>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q4</a:t>
            </a:r>
            <a:endParaRPr sz="1800">
              <a:solidFill>
                <a:schemeClr val="lt1"/>
              </a:solidFill>
              <a:latin typeface="Calibri"/>
              <a:ea typeface="Calibri"/>
              <a:cs typeface="Calibri"/>
              <a:sym typeface="Calibri"/>
            </a:endParaRPr>
          </a:p>
        </p:txBody>
      </p:sp>
      <p:sp>
        <p:nvSpPr>
          <p:cNvPr id="3478" name="Google Shape;3478;p268"/>
          <p:cNvSpPr/>
          <p:nvPr/>
        </p:nvSpPr>
        <p:spPr>
          <a:xfrm>
            <a:off x="1835696" y="526055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q1</a:t>
            </a:r>
            <a:endParaRPr sz="1800">
              <a:solidFill>
                <a:schemeClr val="lt1"/>
              </a:solidFill>
              <a:latin typeface="Calibri"/>
              <a:ea typeface="Calibri"/>
              <a:cs typeface="Calibri"/>
              <a:sym typeface="Calibri"/>
            </a:endParaRPr>
          </a:p>
        </p:txBody>
      </p:sp>
      <p:cxnSp>
        <p:nvCxnSpPr>
          <p:cNvPr id="3479" name="Google Shape;3479;p268"/>
          <p:cNvCxnSpPr/>
          <p:nvPr/>
        </p:nvCxnSpPr>
        <p:spPr>
          <a:xfrm flipH="1" rot="10800000">
            <a:off x="2556979" y="4446404"/>
            <a:ext cx="1366949" cy="814154"/>
          </a:xfrm>
          <a:prstGeom prst="straightConnector1">
            <a:avLst/>
          </a:prstGeom>
          <a:noFill/>
          <a:ln cap="flat" cmpd="sng" w="9525">
            <a:solidFill>
              <a:srgbClr val="4A7DBA"/>
            </a:solidFill>
            <a:prstDash val="solid"/>
            <a:round/>
            <a:headEnd len="sm" w="sm" type="none"/>
            <a:tailEnd len="med" w="med" type="stealth"/>
          </a:ln>
        </p:spPr>
      </p:cxnSp>
      <p:cxnSp>
        <p:nvCxnSpPr>
          <p:cNvPr id="3480" name="Google Shape;3480;p268"/>
          <p:cNvCxnSpPr/>
          <p:nvPr/>
        </p:nvCxnSpPr>
        <p:spPr>
          <a:xfrm>
            <a:off x="971600" y="5644525"/>
            <a:ext cx="864096" cy="19030"/>
          </a:xfrm>
          <a:prstGeom prst="straightConnector1">
            <a:avLst/>
          </a:prstGeom>
          <a:noFill/>
          <a:ln cap="flat" cmpd="sng" w="9525">
            <a:solidFill>
              <a:srgbClr val="4A7DBA"/>
            </a:solidFill>
            <a:prstDash val="solid"/>
            <a:round/>
            <a:headEnd len="sm" w="sm" type="none"/>
            <a:tailEnd len="med" w="med" type="stealth"/>
          </a:ln>
        </p:spPr>
      </p:cxnSp>
      <p:sp>
        <p:nvSpPr>
          <p:cNvPr id="3481" name="Google Shape;3481;p268"/>
          <p:cNvSpPr txBox="1"/>
          <p:nvPr/>
        </p:nvSpPr>
        <p:spPr>
          <a:xfrm>
            <a:off x="3557911" y="4913680"/>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1/1</a:t>
            </a:r>
            <a:endParaRPr sz="1800">
              <a:solidFill>
                <a:schemeClr val="dk1"/>
              </a:solidFill>
              <a:latin typeface="Calibri"/>
              <a:ea typeface="Calibri"/>
              <a:cs typeface="Calibri"/>
              <a:sym typeface="Calibri"/>
            </a:endParaRPr>
          </a:p>
        </p:txBody>
      </p:sp>
      <p:sp>
        <p:nvSpPr>
          <p:cNvPr id="3482" name="Google Shape;3482;p268"/>
          <p:cNvSpPr/>
          <p:nvPr/>
        </p:nvSpPr>
        <p:spPr>
          <a:xfrm>
            <a:off x="3923928" y="4077072"/>
            <a:ext cx="1080120"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q3</a:t>
            </a:r>
            <a:endParaRPr sz="1800">
              <a:solidFill>
                <a:schemeClr val="lt1"/>
              </a:solidFill>
              <a:latin typeface="Calibri"/>
              <a:ea typeface="Calibri"/>
              <a:cs typeface="Calibri"/>
              <a:sym typeface="Calibri"/>
            </a:endParaRPr>
          </a:p>
        </p:txBody>
      </p:sp>
      <p:sp>
        <p:nvSpPr>
          <p:cNvPr id="3483" name="Google Shape;3483;p268"/>
          <p:cNvSpPr txBox="1"/>
          <p:nvPr/>
        </p:nvSpPr>
        <p:spPr>
          <a:xfrm>
            <a:off x="2869917" y="4552562"/>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0/0</a:t>
            </a:r>
            <a:endParaRPr sz="1800">
              <a:solidFill>
                <a:schemeClr val="dk1"/>
              </a:solidFill>
              <a:latin typeface="Calibri"/>
              <a:ea typeface="Calibri"/>
              <a:cs typeface="Calibri"/>
              <a:sym typeface="Calibri"/>
            </a:endParaRPr>
          </a:p>
        </p:txBody>
      </p:sp>
      <p:cxnSp>
        <p:nvCxnSpPr>
          <p:cNvPr id="3484" name="Google Shape;3484;p268"/>
          <p:cNvCxnSpPr/>
          <p:nvPr/>
        </p:nvCxnSpPr>
        <p:spPr>
          <a:xfrm flipH="1">
            <a:off x="2771800" y="4621778"/>
            <a:ext cx="1152128" cy="720080"/>
          </a:xfrm>
          <a:prstGeom prst="straightConnector1">
            <a:avLst/>
          </a:prstGeom>
          <a:noFill/>
          <a:ln cap="flat" cmpd="sng" w="9525">
            <a:solidFill>
              <a:srgbClr val="4A7DBA"/>
            </a:solidFill>
            <a:prstDash val="solid"/>
            <a:round/>
            <a:headEnd len="sm" w="sm" type="none"/>
            <a:tailEnd len="med" w="med" type="stealth"/>
          </a:ln>
        </p:spPr>
      </p:cxnSp>
      <p:cxnSp>
        <p:nvCxnSpPr>
          <p:cNvPr id="3485" name="Google Shape;3485;p268"/>
          <p:cNvCxnSpPr/>
          <p:nvPr/>
        </p:nvCxnSpPr>
        <p:spPr>
          <a:xfrm>
            <a:off x="2829864" y="5644525"/>
            <a:ext cx="1238080" cy="489421"/>
          </a:xfrm>
          <a:prstGeom prst="straightConnector1">
            <a:avLst/>
          </a:prstGeom>
          <a:noFill/>
          <a:ln cap="flat" cmpd="sng" w="9525">
            <a:solidFill>
              <a:srgbClr val="4A7DBA"/>
            </a:solidFill>
            <a:prstDash val="solid"/>
            <a:round/>
            <a:headEnd len="sm" w="sm" type="none"/>
            <a:tailEnd len="med" w="med" type="stealth"/>
          </a:ln>
        </p:spPr>
      </p:cxnSp>
      <p:sp>
        <p:nvSpPr>
          <p:cNvPr id="3486" name="Google Shape;3486;p268"/>
          <p:cNvSpPr/>
          <p:nvPr/>
        </p:nvSpPr>
        <p:spPr>
          <a:xfrm>
            <a:off x="4067944" y="564452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q2</a:t>
            </a:r>
            <a:endParaRPr sz="1800">
              <a:solidFill>
                <a:schemeClr val="lt1"/>
              </a:solidFill>
              <a:latin typeface="Calibri"/>
              <a:ea typeface="Calibri"/>
              <a:cs typeface="Calibri"/>
              <a:sym typeface="Calibri"/>
            </a:endParaRPr>
          </a:p>
        </p:txBody>
      </p:sp>
      <p:cxnSp>
        <p:nvCxnSpPr>
          <p:cNvPr id="3487" name="Google Shape;3487;p268"/>
          <p:cNvCxnSpPr/>
          <p:nvPr/>
        </p:nvCxnSpPr>
        <p:spPr>
          <a:xfrm rot="10800000">
            <a:off x="4932040" y="4621778"/>
            <a:ext cx="864096" cy="360040"/>
          </a:xfrm>
          <a:prstGeom prst="straightConnector1">
            <a:avLst/>
          </a:prstGeom>
          <a:noFill/>
          <a:ln cap="flat" cmpd="sng" w="9525">
            <a:solidFill>
              <a:srgbClr val="4A7DBA"/>
            </a:solidFill>
            <a:prstDash val="solid"/>
            <a:round/>
            <a:headEnd len="sm" w="sm" type="none"/>
            <a:tailEnd len="med" w="med" type="stealth"/>
          </a:ln>
        </p:spPr>
      </p:cxnSp>
      <p:cxnSp>
        <p:nvCxnSpPr>
          <p:cNvPr id="3488" name="Google Shape;3488;p268"/>
          <p:cNvCxnSpPr/>
          <p:nvPr/>
        </p:nvCxnSpPr>
        <p:spPr>
          <a:xfrm flipH="1" rot="10800000">
            <a:off x="4932040" y="5437876"/>
            <a:ext cx="914432" cy="451359"/>
          </a:xfrm>
          <a:prstGeom prst="straightConnector1">
            <a:avLst/>
          </a:prstGeom>
          <a:noFill/>
          <a:ln cap="flat" cmpd="sng" w="9525">
            <a:solidFill>
              <a:srgbClr val="4A7DBA"/>
            </a:solidFill>
            <a:prstDash val="solid"/>
            <a:round/>
            <a:headEnd len="sm" w="sm" type="none"/>
            <a:tailEnd len="med" w="med" type="stealth"/>
          </a:ln>
        </p:spPr>
      </p:cxnSp>
      <p:sp>
        <p:nvSpPr>
          <p:cNvPr id="3489" name="Google Shape;3489;p268"/>
          <p:cNvSpPr txBox="1"/>
          <p:nvPr/>
        </p:nvSpPr>
        <p:spPr>
          <a:xfrm>
            <a:off x="5220072" y="4509120"/>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1/0</a:t>
            </a:r>
            <a:endParaRPr sz="1800">
              <a:solidFill>
                <a:schemeClr val="dk1"/>
              </a:solidFill>
              <a:latin typeface="Calibri"/>
              <a:ea typeface="Calibri"/>
              <a:cs typeface="Calibri"/>
              <a:sym typeface="Calibri"/>
            </a:endParaRPr>
          </a:p>
        </p:txBody>
      </p:sp>
      <p:cxnSp>
        <p:nvCxnSpPr>
          <p:cNvPr id="3490" name="Google Shape;3490;p268"/>
          <p:cNvCxnSpPr/>
          <p:nvPr/>
        </p:nvCxnSpPr>
        <p:spPr>
          <a:xfrm>
            <a:off x="4463988" y="4667689"/>
            <a:ext cx="0" cy="921551"/>
          </a:xfrm>
          <a:prstGeom prst="straightConnector1">
            <a:avLst/>
          </a:prstGeom>
          <a:noFill/>
          <a:ln cap="flat" cmpd="sng" w="9525">
            <a:solidFill>
              <a:srgbClr val="4A7DBA"/>
            </a:solidFill>
            <a:prstDash val="solid"/>
            <a:round/>
            <a:headEnd len="sm" w="sm" type="none"/>
            <a:tailEnd len="med" w="med" type="stealth"/>
          </a:ln>
        </p:spPr>
      </p:cxnSp>
      <p:sp>
        <p:nvSpPr>
          <p:cNvPr id="3491" name="Google Shape;3491;p268"/>
          <p:cNvSpPr txBox="1"/>
          <p:nvPr/>
        </p:nvSpPr>
        <p:spPr>
          <a:xfrm>
            <a:off x="4427984" y="5003884"/>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0/1</a:t>
            </a:r>
            <a:endParaRPr sz="1800">
              <a:solidFill>
                <a:schemeClr val="dk1"/>
              </a:solidFill>
              <a:latin typeface="Calibri"/>
              <a:ea typeface="Calibri"/>
              <a:cs typeface="Calibri"/>
              <a:sym typeface="Calibri"/>
            </a:endParaRPr>
          </a:p>
        </p:txBody>
      </p:sp>
      <p:sp>
        <p:nvSpPr>
          <p:cNvPr id="3492" name="Google Shape;3492;p268"/>
          <p:cNvSpPr txBox="1"/>
          <p:nvPr/>
        </p:nvSpPr>
        <p:spPr>
          <a:xfrm>
            <a:off x="2915816" y="5867980"/>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1/0</a:t>
            </a:r>
            <a:endParaRPr sz="1800">
              <a:solidFill>
                <a:schemeClr val="dk1"/>
              </a:solidFill>
              <a:latin typeface="Calibri"/>
              <a:ea typeface="Calibri"/>
              <a:cs typeface="Calibri"/>
              <a:sym typeface="Calibri"/>
            </a:endParaRPr>
          </a:p>
        </p:txBody>
      </p:sp>
      <p:sp>
        <p:nvSpPr>
          <p:cNvPr id="3493" name="Google Shape;3493;p268"/>
          <p:cNvSpPr txBox="1"/>
          <p:nvPr/>
        </p:nvSpPr>
        <p:spPr>
          <a:xfrm>
            <a:off x="3240453" y="5425236"/>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0/1</a:t>
            </a:r>
            <a:endParaRPr sz="1800">
              <a:solidFill>
                <a:schemeClr val="dk1"/>
              </a:solidFill>
              <a:latin typeface="Calibri"/>
              <a:ea typeface="Calibri"/>
              <a:cs typeface="Calibri"/>
              <a:sym typeface="Calibri"/>
            </a:endParaRPr>
          </a:p>
        </p:txBody>
      </p:sp>
      <p:sp>
        <p:nvSpPr>
          <p:cNvPr id="3494" name="Google Shape;3494;p268"/>
          <p:cNvSpPr txBox="1"/>
          <p:nvPr/>
        </p:nvSpPr>
        <p:spPr>
          <a:xfrm>
            <a:off x="5272918" y="5644525"/>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1/0</a:t>
            </a:r>
            <a:endParaRPr sz="1800">
              <a:solidFill>
                <a:schemeClr val="dk1"/>
              </a:solidFill>
              <a:latin typeface="Calibri"/>
              <a:ea typeface="Calibri"/>
              <a:cs typeface="Calibri"/>
              <a:sym typeface="Calibri"/>
            </a:endParaRPr>
          </a:p>
        </p:txBody>
      </p:sp>
      <p:sp>
        <p:nvSpPr>
          <p:cNvPr id="3495" name="Google Shape;3495;p268"/>
          <p:cNvSpPr txBox="1"/>
          <p:nvPr/>
        </p:nvSpPr>
        <p:spPr>
          <a:xfrm>
            <a:off x="6876256" y="5161196"/>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0/1</a:t>
            </a:r>
            <a:endParaRPr sz="1800">
              <a:solidFill>
                <a:schemeClr val="dk1"/>
              </a:solidFill>
              <a:latin typeface="Calibri"/>
              <a:ea typeface="Calibri"/>
              <a:cs typeface="Calibri"/>
              <a:sym typeface="Calibri"/>
            </a:endParaRPr>
          </a:p>
        </p:txBody>
      </p:sp>
      <p:sp>
        <p:nvSpPr>
          <p:cNvPr id="3496" name="Google Shape;3496;p268"/>
          <p:cNvSpPr/>
          <p:nvPr/>
        </p:nvSpPr>
        <p:spPr>
          <a:xfrm rot="-1187487">
            <a:off x="6717495" y="4615412"/>
            <a:ext cx="1080120" cy="545784"/>
          </a:xfrm>
          <a:prstGeom prst="curvedLef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3497" name="Google Shape;3497;p268"/>
          <p:cNvCxnSpPr/>
          <p:nvPr/>
        </p:nvCxnSpPr>
        <p:spPr>
          <a:xfrm rot="10800000">
            <a:off x="2915816" y="5517232"/>
            <a:ext cx="1008112" cy="372003"/>
          </a:xfrm>
          <a:prstGeom prst="straightConnector1">
            <a:avLst/>
          </a:prstGeom>
          <a:noFill/>
          <a:ln cap="flat" cmpd="sng" w="9525">
            <a:solidFill>
              <a:srgbClr val="4A7DBA"/>
            </a:solidFill>
            <a:prstDash val="solid"/>
            <a:round/>
            <a:headEnd len="sm" w="sm" type="none"/>
            <a:tailEnd len="med" w="med" type="stealth"/>
          </a:ln>
        </p:spPr>
      </p:cxnSp>
      <p:sp>
        <p:nvSpPr>
          <p:cNvPr id="3498" name="Google Shape;3498;p268"/>
          <p:cNvSpPr txBox="1"/>
          <p:nvPr/>
        </p:nvSpPr>
        <p:spPr>
          <a:xfrm>
            <a:off x="5389256" y="1628800"/>
            <a:ext cx="3071176" cy="1107996"/>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Output is associated with the transition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9" name="Google Shape;3499;p268"/>
          <p:cNvSpPr txBox="1"/>
          <p:nvPr/>
        </p:nvSpPr>
        <p:spPr>
          <a:xfrm>
            <a:off x="457200" y="116632"/>
            <a:ext cx="8229600" cy="490066"/>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rmAutofit fontScale="90000" lnSpcReduction="10000"/>
          </a:bodyPr>
          <a:lstStyle/>
          <a:p>
            <a:pPr indent="0" lvl="0" marL="0" marR="0" rtl="0" algn="ctr">
              <a:spcBef>
                <a:spcPts val="0"/>
              </a:spcBef>
              <a:spcAft>
                <a:spcPts val="0"/>
              </a:spcAft>
              <a:buClr>
                <a:schemeClr val="dk1"/>
              </a:buClr>
              <a:buSzPct val="100000"/>
              <a:buFont typeface="Calibri"/>
              <a:buNone/>
            </a:pPr>
            <a:r>
              <a:rPr lang="en-IN" sz="3200">
                <a:solidFill>
                  <a:schemeClr val="dk1"/>
                </a:solidFill>
                <a:latin typeface="Calibri"/>
                <a:ea typeface="Calibri"/>
                <a:cs typeface="Calibri"/>
                <a:sym typeface="Calibri"/>
              </a:rPr>
              <a:t>Mealey Machine-State Diagram</a:t>
            </a:r>
            <a:endParaRPr sz="3200">
              <a:solidFill>
                <a:schemeClr val="dk1"/>
              </a:solidFill>
              <a:latin typeface="Calibri"/>
              <a:ea typeface="Calibri"/>
              <a:cs typeface="Calibri"/>
              <a:sym typeface="Calibri"/>
            </a:endParaRPr>
          </a:p>
        </p:txBody>
      </p:sp>
    </p:spTree>
  </p:cSld>
  <p:clrMapOvr>
    <a:masterClrMapping/>
  </p:clrMapOvr>
</p:sld>
</file>

<file path=ppt/slides/slide2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3" name="Shape 3503"/>
        <p:cNvGrpSpPr/>
        <p:nvPr/>
      </p:nvGrpSpPr>
      <p:grpSpPr>
        <a:xfrm>
          <a:off x="0" y="0"/>
          <a:ext cx="0" cy="0"/>
          <a:chOff x="0" y="0"/>
          <a:chExt cx="0" cy="0"/>
        </a:xfrm>
      </p:grpSpPr>
      <p:sp>
        <p:nvSpPr>
          <p:cNvPr id="3504" name="Google Shape;3504;p269"/>
          <p:cNvSpPr txBox="1"/>
          <p:nvPr>
            <p:ph idx="1" type="body"/>
          </p:nvPr>
        </p:nvSpPr>
        <p:spPr>
          <a:xfrm>
            <a:off x="279585" y="692696"/>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In Mealey Machine, if the length of the input sequence is “n”, then the length of output is also “n”</a:t>
            </a:r>
            <a:endParaRPr sz="2400"/>
          </a:p>
          <a:p>
            <a:pPr indent="-342900" lvl="0" marL="342900" rtl="0" algn="l">
              <a:spcBef>
                <a:spcPts val="480"/>
              </a:spcBef>
              <a:spcAft>
                <a:spcPts val="0"/>
              </a:spcAft>
              <a:buClr>
                <a:schemeClr val="dk1"/>
              </a:buClr>
              <a:buSzPts val="2400"/>
              <a:buChar char="•"/>
            </a:pPr>
            <a:r>
              <a:rPr lang="en-IN" sz="2400"/>
              <a:t>Input=0101</a:t>
            </a:r>
            <a:endParaRPr/>
          </a:p>
          <a:p>
            <a:pPr indent="-342900" lvl="0" marL="342900" rtl="0" algn="l">
              <a:spcBef>
                <a:spcPts val="480"/>
              </a:spcBef>
              <a:spcAft>
                <a:spcPts val="0"/>
              </a:spcAft>
              <a:buClr>
                <a:schemeClr val="dk1"/>
              </a:buClr>
              <a:buSzPts val="2400"/>
              <a:buChar char="•"/>
            </a:pPr>
            <a:r>
              <a:rPr lang="en-IN" sz="2400"/>
              <a:t>Input=1100</a:t>
            </a:r>
            <a:endParaRPr sz="2400"/>
          </a:p>
          <a:p>
            <a:pPr indent="-342900" lvl="0" marL="342900" rtl="0" algn="l">
              <a:spcBef>
                <a:spcPts val="480"/>
              </a:spcBef>
              <a:spcAft>
                <a:spcPts val="0"/>
              </a:spcAft>
              <a:buClr>
                <a:schemeClr val="dk1"/>
              </a:buClr>
              <a:buSzPts val="2400"/>
              <a:buChar char="•"/>
            </a:pPr>
            <a:r>
              <a:rPr lang="en-IN" sz="2400"/>
              <a:t>O/P=??</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505" name="Google Shape;3505;p2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506" name="Google Shape;3506;p2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507" name="Google Shape;3507;p2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508" name="Google Shape;3508;p269"/>
          <p:cNvSpPr/>
          <p:nvPr/>
        </p:nvSpPr>
        <p:spPr>
          <a:xfrm>
            <a:off x="5781391" y="4823249"/>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q4</a:t>
            </a:r>
            <a:endParaRPr sz="1800">
              <a:solidFill>
                <a:schemeClr val="lt1"/>
              </a:solidFill>
              <a:latin typeface="Calibri"/>
              <a:ea typeface="Calibri"/>
              <a:cs typeface="Calibri"/>
              <a:sym typeface="Calibri"/>
            </a:endParaRPr>
          </a:p>
        </p:txBody>
      </p:sp>
      <p:sp>
        <p:nvSpPr>
          <p:cNvPr id="3509" name="Google Shape;3509;p269"/>
          <p:cNvSpPr/>
          <p:nvPr/>
        </p:nvSpPr>
        <p:spPr>
          <a:xfrm>
            <a:off x="1835696" y="526055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q1</a:t>
            </a:r>
            <a:endParaRPr sz="1800">
              <a:solidFill>
                <a:schemeClr val="lt1"/>
              </a:solidFill>
              <a:latin typeface="Calibri"/>
              <a:ea typeface="Calibri"/>
              <a:cs typeface="Calibri"/>
              <a:sym typeface="Calibri"/>
            </a:endParaRPr>
          </a:p>
        </p:txBody>
      </p:sp>
      <p:cxnSp>
        <p:nvCxnSpPr>
          <p:cNvPr id="3510" name="Google Shape;3510;p269"/>
          <p:cNvCxnSpPr/>
          <p:nvPr/>
        </p:nvCxnSpPr>
        <p:spPr>
          <a:xfrm flipH="1" rot="10800000">
            <a:off x="2556979" y="4446404"/>
            <a:ext cx="1366949" cy="814154"/>
          </a:xfrm>
          <a:prstGeom prst="straightConnector1">
            <a:avLst/>
          </a:prstGeom>
          <a:noFill/>
          <a:ln cap="flat" cmpd="sng" w="9525">
            <a:solidFill>
              <a:srgbClr val="4A7DBA"/>
            </a:solidFill>
            <a:prstDash val="solid"/>
            <a:round/>
            <a:headEnd len="sm" w="sm" type="none"/>
            <a:tailEnd len="med" w="med" type="stealth"/>
          </a:ln>
        </p:spPr>
      </p:cxnSp>
      <p:cxnSp>
        <p:nvCxnSpPr>
          <p:cNvPr id="3511" name="Google Shape;3511;p269"/>
          <p:cNvCxnSpPr/>
          <p:nvPr/>
        </p:nvCxnSpPr>
        <p:spPr>
          <a:xfrm>
            <a:off x="971600" y="5644525"/>
            <a:ext cx="864096" cy="19030"/>
          </a:xfrm>
          <a:prstGeom prst="straightConnector1">
            <a:avLst/>
          </a:prstGeom>
          <a:noFill/>
          <a:ln cap="flat" cmpd="sng" w="9525">
            <a:solidFill>
              <a:srgbClr val="4A7DBA"/>
            </a:solidFill>
            <a:prstDash val="solid"/>
            <a:round/>
            <a:headEnd len="sm" w="sm" type="none"/>
            <a:tailEnd len="med" w="med" type="stealth"/>
          </a:ln>
        </p:spPr>
      </p:cxnSp>
      <p:sp>
        <p:nvSpPr>
          <p:cNvPr id="3512" name="Google Shape;3512;p269"/>
          <p:cNvSpPr txBox="1"/>
          <p:nvPr/>
        </p:nvSpPr>
        <p:spPr>
          <a:xfrm>
            <a:off x="3557911" y="4913680"/>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1/1</a:t>
            </a:r>
            <a:endParaRPr sz="1800">
              <a:solidFill>
                <a:schemeClr val="dk1"/>
              </a:solidFill>
              <a:latin typeface="Calibri"/>
              <a:ea typeface="Calibri"/>
              <a:cs typeface="Calibri"/>
              <a:sym typeface="Calibri"/>
            </a:endParaRPr>
          </a:p>
        </p:txBody>
      </p:sp>
      <p:sp>
        <p:nvSpPr>
          <p:cNvPr id="3513" name="Google Shape;3513;p269"/>
          <p:cNvSpPr/>
          <p:nvPr/>
        </p:nvSpPr>
        <p:spPr>
          <a:xfrm>
            <a:off x="3923928" y="4077072"/>
            <a:ext cx="1080120"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q3</a:t>
            </a:r>
            <a:endParaRPr sz="1800">
              <a:solidFill>
                <a:schemeClr val="lt1"/>
              </a:solidFill>
              <a:latin typeface="Calibri"/>
              <a:ea typeface="Calibri"/>
              <a:cs typeface="Calibri"/>
              <a:sym typeface="Calibri"/>
            </a:endParaRPr>
          </a:p>
        </p:txBody>
      </p:sp>
      <p:sp>
        <p:nvSpPr>
          <p:cNvPr id="3514" name="Google Shape;3514;p269"/>
          <p:cNvSpPr txBox="1"/>
          <p:nvPr/>
        </p:nvSpPr>
        <p:spPr>
          <a:xfrm>
            <a:off x="2869917" y="4552562"/>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0/0</a:t>
            </a:r>
            <a:endParaRPr sz="1800">
              <a:solidFill>
                <a:schemeClr val="dk1"/>
              </a:solidFill>
              <a:latin typeface="Calibri"/>
              <a:ea typeface="Calibri"/>
              <a:cs typeface="Calibri"/>
              <a:sym typeface="Calibri"/>
            </a:endParaRPr>
          </a:p>
        </p:txBody>
      </p:sp>
      <p:cxnSp>
        <p:nvCxnSpPr>
          <p:cNvPr id="3515" name="Google Shape;3515;p269"/>
          <p:cNvCxnSpPr/>
          <p:nvPr/>
        </p:nvCxnSpPr>
        <p:spPr>
          <a:xfrm flipH="1">
            <a:off x="2771800" y="4621778"/>
            <a:ext cx="1152128" cy="720080"/>
          </a:xfrm>
          <a:prstGeom prst="straightConnector1">
            <a:avLst/>
          </a:prstGeom>
          <a:noFill/>
          <a:ln cap="flat" cmpd="sng" w="9525">
            <a:solidFill>
              <a:srgbClr val="4A7DBA"/>
            </a:solidFill>
            <a:prstDash val="solid"/>
            <a:round/>
            <a:headEnd len="sm" w="sm" type="none"/>
            <a:tailEnd len="med" w="med" type="stealth"/>
          </a:ln>
        </p:spPr>
      </p:cxnSp>
      <p:cxnSp>
        <p:nvCxnSpPr>
          <p:cNvPr id="3516" name="Google Shape;3516;p269"/>
          <p:cNvCxnSpPr/>
          <p:nvPr/>
        </p:nvCxnSpPr>
        <p:spPr>
          <a:xfrm>
            <a:off x="2829864" y="5644525"/>
            <a:ext cx="1238080" cy="489421"/>
          </a:xfrm>
          <a:prstGeom prst="straightConnector1">
            <a:avLst/>
          </a:prstGeom>
          <a:noFill/>
          <a:ln cap="flat" cmpd="sng" w="9525">
            <a:solidFill>
              <a:srgbClr val="4A7DBA"/>
            </a:solidFill>
            <a:prstDash val="solid"/>
            <a:round/>
            <a:headEnd len="sm" w="sm" type="none"/>
            <a:tailEnd len="med" w="med" type="stealth"/>
          </a:ln>
        </p:spPr>
      </p:cxnSp>
      <p:sp>
        <p:nvSpPr>
          <p:cNvPr id="3517" name="Google Shape;3517;p269"/>
          <p:cNvSpPr/>
          <p:nvPr/>
        </p:nvSpPr>
        <p:spPr>
          <a:xfrm>
            <a:off x="4067944" y="564452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q2</a:t>
            </a:r>
            <a:endParaRPr sz="1800">
              <a:solidFill>
                <a:schemeClr val="lt1"/>
              </a:solidFill>
              <a:latin typeface="Calibri"/>
              <a:ea typeface="Calibri"/>
              <a:cs typeface="Calibri"/>
              <a:sym typeface="Calibri"/>
            </a:endParaRPr>
          </a:p>
        </p:txBody>
      </p:sp>
      <p:cxnSp>
        <p:nvCxnSpPr>
          <p:cNvPr id="3518" name="Google Shape;3518;p269"/>
          <p:cNvCxnSpPr/>
          <p:nvPr/>
        </p:nvCxnSpPr>
        <p:spPr>
          <a:xfrm rot="10800000">
            <a:off x="4932040" y="4621778"/>
            <a:ext cx="864096" cy="360040"/>
          </a:xfrm>
          <a:prstGeom prst="straightConnector1">
            <a:avLst/>
          </a:prstGeom>
          <a:noFill/>
          <a:ln cap="flat" cmpd="sng" w="9525">
            <a:solidFill>
              <a:srgbClr val="4A7DBA"/>
            </a:solidFill>
            <a:prstDash val="solid"/>
            <a:round/>
            <a:headEnd len="sm" w="sm" type="none"/>
            <a:tailEnd len="med" w="med" type="stealth"/>
          </a:ln>
        </p:spPr>
      </p:cxnSp>
      <p:cxnSp>
        <p:nvCxnSpPr>
          <p:cNvPr id="3519" name="Google Shape;3519;p269"/>
          <p:cNvCxnSpPr/>
          <p:nvPr/>
        </p:nvCxnSpPr>
        <p:spPr>
          <a:xfrm flipH="1" rot="10800000">
            <a:off x="4932040" y="5437876"/>
            <a:ext cx="914432" cy="451359"/>
          </a:xfrm>
          <a:prstGeom prst="straightConnector1">
            <a:avLst/>
          </a:prstGeom>
          <a:noFill/>
          <a:ln cap="flat" cmpd="sng" w="9525">
            <a:solidFill>
              <a:srgbClr val="4A7DBA"/>
            </a:solidFill>
            <a:prstDash val="solid"/>
            <a:round/>
            <a:headEnd len="sm" w="sm" type="none"/>
            <a:tailEnd len="med" w="med" type="stealth"/>
          </a:ln>
        </p:spPr>
      </p:cxnSp>
      <p:sp>
        <p:nvSpPr>
          <p:cNvPr id="3520" name="Google Shape;3520;p269"/>
          <p:cNvSpPr txBox="1"/>
          <p:nvPr/>
        </p:nvSpPr>
        <p:spPr>
          <a:xfrm>
            <a:off x="5220072" y="4509120"/>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1/0</a:t>
            </a:r>
            <a:endParaRPr sz="1800">
              <a:solidFill>
                <a:schemeClr val="dk1"/>
              </a:solidFill>
              <a:latin typeface="Calibri"/>
              <a:ea typeface="Calibri"/>
              <a:cs typeface="Calibri"/>
              <a:sym typeface="Calibri"/>
            </a:endParaRPr>
          </a:p>
        </p:txBody>
      </p:sp>
      <p:cxnSp>
        <p:nvCxnSpPr>
          <p:cNvPr id="3521" name="Google Shape;3521;p269"/>
          <p:cNvCxnSpPr/>
          <p:nvPr/>
        </p:nvCxnSpPr>
        <p:spPr>
          <a:xfrm>
            <a:off x="4463988" y="4667689"/>
            <a:ext cx="0" cy="921551"/>
          </a:xfrm>
          <a:prstGeom prst="straightConnector1">
            <a:avLst/>
          </a:prstGeom>
          <a:noFill/>
          <a:ln cap="flat" cmpd="sng" w="9525">
            <a:solidFill>
              <a:srgbClr val="4A7DBA"/>
            </a:solidFill>
            <a:prstDash val="solid"/>
            <a:round/>
            <a:headEnd len="sm" w="sm" type="none"/>
            <a:tailEnd len="med" w="med" type="stealth"/>
          </a:ln>
        </p:spPr>
      </p:cxnSp>
      <p:sp>
        <p:nvSpPr>
          <p:cNvPr id="3522" name="Google Shape;3522;p269"/>
          <p:cNvSpPr txBox="1"/>
          <p:nvPr/>
        </p:nvSpPr>
        <p:spPr>
          <a:xfrm>
            <a:off x="4427984" y="5003884"/>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0/1</a:t>
            </a:r>
            <a:endParaRPr sz="1800">
              <a:solidFill>
                <a:schemeClr val="dk1"/>
              </a:solidFill>
              <a:latin typeface="Calibri"/>
              <a:ea typeface="Calibri"/>
              <a:cs typeface="Calibri"/>
              <a:sym typeface="Calibri"/>
            </a:endParaRPr>
          </a:p>
        </p:txBody>
      </p:sp>
      <p:sp>
        <p:nvSpPr>
          <p:cNvPr id="3523" name="Google Shape;3523;p269"/>
          <p:cNvSpPr txBox="1"/>
          <p:nvPr/>
        </p:nvSpPr>
        <p:spPr>
          <a:xfrm>
            <a:off x="2915816" y="5867980"/>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1/0</a:t>
            </a:r>
            <a:endParaRPr sz="1800">
              <a:solidFill>
                <a:schemeClr val="dk1"/>
              </a:solidFill>
              <a:latin typeface="Calibri"/>
              <a:ea typeface="Calibri"/>
              <a:cs typeface="Calibri"/>
              <a:sym typeface="Calibri"/>
            </a:endParaRPr>
          </a:p>
        </p:txBody>
      </p:sp>
      <p:sp>
        <p:nvSpPr>
          <p:cNvPr id="3524" name="Google Shape;3524;p269"/>
          <p:cNvSpPr txBox="1"/>
          <p:nvPr/>
        </p:nvSpPr>
        <p:spPr>
          <a:xfrm>
            <a:off x="3240453" y="5425236"/>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0/1</a:t>
            </a:r>
            <a:endParaRPr sz="1800">
              <a:solidFill>
                <a:schemeClr val="dk1"/>
              </a:solidFill>
              <a:latin typeface="Calibri"/>
              <a:ea typeface="Calibri"/>
              <a:cs typeface="Calibri"/>
              <a:sym typeface="Calibri"/>
            </a:endParaRPr>
          </a:p>
        </p:txBody>
      </p:sp>
      <p:sp>
        <p:nvSpPr>
          <p:cNvPr id="3525" name="Google Shape;3525;p269"/>
          <p:cNvSpPr txBox="1"/>
          <p:nvPr/>
        </p:nvSpPr>
        <p:spPr>
          <a:xfrm>
            <a:off x="5272918" y="5644525"/>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1/0</a:t>
            </a:r>
            <a:endParaRPr sz="1800">
              <a:solidFill>
                <a:schemeClr val="dk1"/>
              </a:solidFill>
              <a:latin typeface="Calibri"/>
              <a:ea typeface="Calibri"/>
              <a:cs typeface="Calibri"/>
              <a:sym typeface="Calibri"/>
            </a:endParaRPr>
          </a:p>
        </p:txBody>
      </p:sp>
      <p:sp>
        <p:nvSpPr>
          <p:cNvPr id="3526" name="Google Shape;3526;p269"/>
          <p:cNvSpPr txBox="1"/>
          <p:nvPr/>
        </p:nvSpPr>
        <p:spPr>
          <a:xfrm>
            <a:off x="6876256" y="5161196"/>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0/1</a:t>
            </a:r>
            <a:endParaRPr sz="1800">
              <a:solidFill>
                <a:schemeClr val="dk1"/>
              </a:solidFill>
              <a:latin typeface="Calibri"/>
              <a:ea typeface="Calibri"/>
              <a:cs typeface="Calibri"/>
              <a:sym typeface="Calibri"/>
            </a:endParaRPr>
          </a:p>
        </p:txBody>
      </p:sp>
      <p:sp>
        <p:nvSpPr>
          <p:cNvPr id="3527" name="Google Shape;3527;p269"/>
          <p:cNvSpPr/>
          <p:nvPr/>
        </p:nvSpPr>
        <p:spPr>
          <a:xfrm rot="-1187487">
            <a:off x="6717495" y="4615412"/>
            <a:ext cx="1080120" cy="545784"/>
          </a:xfrm>
          <a:prstGeom prst="curvedLef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3528" name="Google Shape;3528;p269"/>
          <p:cNvCxnSpPr/>
          <p:nvPr/>
        </p:nvCxnSpPr>
        <p:spPr>
          <a:xfrm rot="10800000">
            <a:off x="2915816" y="5517232"/>
            <a:ext cx="1008112" cy="372003"/>
          </a:xfrm>
          <a:prstGeom prst="straightConnector1">
            <a:avLst/>
          </a:prstGeom>
          <a:noFill/>
          <a:ln cap="flat" cmpd="sng" w="9525">
            <a:solidFill>
              <a:srgbClr val="4A7DBA"/>
            </a:solidFill>
            <a:prstDash val="solid"/>
            <a:round/>
            <a:headEnd len="sm" w="sm" type="none"/>
            <a:tailEnd len="med" w="med" type="stealth"/>
          </a:ln>
        </p:spPr>
      </p:cxnSp>
      <p:sp>
        <p:nvSpPr>
          <p:cNvPr id="3529" name="Google Shape;3529;p269"/>
          <p:cNvSpPr txBox="1"/>
          <p:nvPr/>
        </p:nvSpPr>
        <p:spPr>
          <a:xfrm>
            <a:off x="457200" y="116632"/>
            <a:ext cx="8229600" cy="490066"/>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rmAutofit fontScale="90000" lnSpcReduction="10000"/>
          </a:bodyPr>
          <a:lstStyle/>
          <a:p>
            <a:pPr indent="0" lvl="0" marL="0" marR="0" rtl="0" algn="ctr">
              <a:spcBef>
                <a:spcPts val="0"/>
              </a:spcBef>
              <a:spcAft>
                <a:spcPts val="0"/>
              </a:spcAft>
              <a:buClr>
                <a:schemeClr val="dk1"/>
              </a:buClr>
              <a:buSzPct val="100000"/>
              <a:buFont typeface="Calibri"/>
              <a:buNone/>
            </a:pPr>
            <a:r>
              <a:rPr lang="en-IN" sz="3200">
                <a:solidFill>
                  <a:schemeClr val="dk1"/>
                </a:solidFill>
                <a:latin typeface="Calibri"/>
                <a:ea typeface="Calibri"/>
                <a:cs typeface="Calibri"/>
                <a:sym typeface="Calibri"/>
              </a:rPr>
              <a:t>Mealey Machine-State Diagram</a:t>
            </a:r>
            <a:endParaRPr sz="3200">
              <a:solidFill>
                <a:schemeClr val="dk1"/>
              </a:solidFill>
              <a:latin typeface="Calibri"/>
              <a:ea typeface="Calibri"/>
              <a:cs typeface="Calibri"/>
              <a:sym typeface="Calibri"/>
            </a:endParaRPr>
          </a:p>
        </p:txBody>
      </p:sp>
    </p:spTree>
  </p:cSld>
  <p:clrMapOvr>
    <a:masterClrMapping/>
  </p:clrMapOvr>
</p:sld>
</file>

<file path=ppt/slides/slide2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3" name="Shape 3533"/>
        <p:cNvGrpSpPr/>
        <p:nvPr/>
      </p:nvGrpSpPr>
      <p:grpSpPr>
        <a:xfrm>
          <a:off x="0" y="0"/>
          <a:ext cx="0" cy="0"/>
          <a:chOff x="0" y="0"/>
          <a:chExt cx="0" cy="0"/>
        </a:xfrm>
      </p:grpSpPr>
      <p:sp>
        <p:nvSpPr>
          <p:cNvPr id="3534" name="Google Shape;3534;p270"/>
          <p:cNvSpPr txBox="1"/>
          <p:nvPr>
            <p:ph idx="1" type="body"/>
          </p:nvPr>
        </p:nvSpPr>
        <p:spPr>
          <a:xfrm>
            <a:off x="279585" y="692696"/>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In Mealey Machine, if the length of the input sequence is “n”, then the length of output is also “n”</a:t>
            </a:r>
            <a:endParaRPr sz="2400"/>
          </a:p>
          <a:p>
            <a:pPr indent="-342900" lvl="0" marL="342900" rtl="0" algn="l">
              <a:spcBef>
                <a:spcPts val="480"/>
              </a:spcBef>
              <a:spcAft>
                <a:spcPts val="0"/>
              </a:spcAft>
              <a:buClr>
                <a:schemeClr val="dk1"/>
              </a:buClr>
              <a:buSzPts val="2400"/>
              <a:buChar char="•"/>
            </a:pPr>
            <a:r>
              <a:rPr lang="en-IN" sz="2400"/>
              <a:t>Input=0101</a:t>
            </a:r>
            <a:endParaRPr/>
          </a:p>
          <a:p>
            <a:pPr indent="-342900" lvl="0" marL="342900" rtl="0" algn="l">
              <a:spcBef>
                <a:spcPts val="480"/>
              </a:spcBef>
              <a:spcAft>
                <a:spcPts val="0"/>
              </a:spcAft>
              <a:buClr>
                <a:schemeClr val="dk1"/>
              </a:buClr>
              <a:buSzPts val="2400"/>
              <a:buChar char="•"/>
            </a:pPr>
            <a:r>
              <a:rPr lang="en-IN" sz="2400"/>
              <a:t>O/P=0101</a:t>
            </a:r>
            <a:endParaRPr sz="2400"/>
          </a:p>
          <a:p>
            <a:pPr indent="-342900" lvl="0" marL="342900" rtl="0" algn="l">
              <a:spcBef>
                <a:spcPts val="480"/>
              </a:spcBef>
              <a:spcAft>
                <a:spcPts val="0"/>
              </a:spcAft>
              <a:buClr>
                <a:schemeClr val="dk1"/>
              </a:buClr>
              <a:buSzPts val="2400"/>
              <a:buChar char="•"/>
            </a:pPr>
            <a:r>
              <a:rPr lang="en-IN" sz="2400"/>
              <a:t>Input=1100</a:t>
            </a:r>
            <a:endParaRPr sz="2400"/>
          </a:p>
          <a:p>
            <a:pPr indent="-342900" lvl="0" marL="342900" rtl="0" algn="l">
              <a:spcBef>
                <a:spcPts val="480"/>
              </a:spcBef>
              <a:spcAft>
                <a:spcPts val="0"/>
              </a:spcAft>
              <a:buClr>
                <a:schemeClr val="dk1"/>
              </a:buClr>
              <a:buSzPts val="2400"/>
              <a:buChar char="•"/>
            </a:pPr>
            <a:r>
              <a:rPr lang="en-IN" sz="2400"/>
              <a:t>O/P=0011</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535" name="Google Shape;3535;p2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536" name="Google Shape;3536;p2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537" name="Google Shape;3537;p2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538" name="Google Shape;3538;p270"/>
          <p:cNvSpPr/>
          <p:nvPr/>
        </p:nvSpPr>
        <p:spPr>
          <a:xfrm>
            <a:off x="5781391" y="4823249"/>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q4</a:t>
            </a:r>
            <a:endParaRPr sz="1800">
              <a:solidFill>
                <a:schemeClr val="lt1"/>
              </a:solidFill>
              <a:latin typeface="Calibri"/>
              <a:ea typeface="Calibri"/>
              <a:cs typeface="Calibri"/>
              <a:sym typeface="Calibri"/>
            </a:endParaRPr>
          </a:p>
        </p:txBody>
      </p:sp>
      <p:sp>
        <p:nvSpPr>
          <p:cNvPr id="3539" name="Google Shape;3539;p270"/>
          <p:cNvSpPr/>
          <p:nvPr/>
        </p:nvSpPr>
        <p:spPr>
          <a:xfrm>
            <a:off x="1835696" y="5260558"/>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q1</a:t>
            </a:r>
            <a:endParaRPr sz="1800">
              <a:solidFill>
                <a:schemeClr val="lt1"/>
              </a:solidFill>
              <a:latin typeface="Calibri"/>
              <a:ea typeface="Calibri"/>
              <a:cs typeface="Calibri"/>
              <a:sym typeface="Calibri"/>
            </a:endParaRPr>
          </a:p>
        </p:txBody>
      </p:sp>
      <p:cxnSp>
        <p:nvCxnSpPr>
          <p:cNvPr id="3540" name="Google Shape;3540;p270"/>
          <p:cNvCxnSpPr/>
          <p:nvPr/>
        </p:nvCxnSpPr>
        <p:spPr>
          <a:xfrm flipH="1" rot="10800000">
            <a:off x="2556979" y="4446404"/>
            <a:ext cx="1366949" cy="814154"/>
          </a:xfrm>
          <a:prstGeom prst="straightConnector1">
            <a:avLst/>
          </a:prstGeom>
          <a:noFill/>
          <a:ln cap="flat" cmpd="sng" w="9525">
            <a:solidFill>
              <a:srgbClr val="4A7DBA"/>
            </a:solidFill>
            <a:prstDash val="solid"/>
            <a:round/>
            <a:headEnd len="sm" w="sm" type="none"/>
            <a:tailEnd len="med" w="med" type="stealth"/>
          </a:ln>
        </p:spPr>
      </p:cxnSp>
      <p:cxnSp>
        <p:nvCxnSpPr>
          <p:cNvPr id="3541" name="Google Shape;3541;p270"/>
          <p:cNvCxnSpPr/>
          <p:nvPr/>
        </p:nvCxnSpPr>
        <p:spPr>
          <a:xfrm>
            <a:off x="971600" y="5644525"/>
            <a:ext cx="864096" cy="19030"/>
          </a:xfrm>
          <a:prstGeom prst="straightConnector1">
            <a:avLst/>
          </a:prstGeom>
          <a:noFill/>
          <a:ln cap="flat" cmpd="sng" w="9525">
            <a:solidFill>
              <a:srgbClr val="4A7DBA"/>
            </a:solidFill>
            <a:prstDash val="solid"/>
            <a:round/>
            <a:headEnd len="sm" w="sm" type="none"/>
            <a:tailEnd len="med" w="med" type="stealth"/>
          </a:ln>
        </p:spPr>
      </p:cxnSp>
      <p:sp>
        <p:nvSpPr>
          <p:cNvPr id="3542" name="Google Shape;3542;p270"/>
          <p:cNvSpPr txBox="1"/>
          <p:nvPr/>
        </p:nvSpPr>
        <p:spPr>
          <a:xfrm>
            <a:off x="3557911" y="4913680"/>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1/1</a:t>
            </a:r>
            <a:endParaRPr sz="1800">
              <a:solidFill>
                <a:schemeClr val="dk1"/>
              </a:solidFill>
              <a:latin typeface="Calibri"/>
              <a:ea typeface="Calibri"/>
              <a:cs typeface="Calibri"/>
              <a:sym typeface="Calibri"/>
            </a:endParaRPr>
          </a:p>
        </p:txBody>
      </p:sp>
      <p:sp>
        <p:nvSpPr>
          <p:cNvPr id="3543" name="Google Shape;3543;p270"/>
          <p:cNvSpPr/>
          <p:nvPr/>
        </p:nvSpPr>
        <p:spPr>
          <a:xfrm>
            <a:off x="3923928" y="4077072"/>
            <a:ext cx="1080120" cy="544706"/>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q3</a:t>
            </a:r>
            <a:endParaRPr sz="1800">
              <a:solidFill>
                <a:schemeClr val="lt1"/>
              </a:solidFill>
              <a:latin typeface="Calibri"/>
              <a:ea typeface="Calibri"/>
              <a:cs typeface="Calibri"/>
              <a:sym typeface="Calibri"/>
            </a:endParaRPr>
          </a:p>
        </p:txBody>
      </p:sp>
      <p:sp>
        <p:nvSpPr>
          <p:cNvPr id="3544" name="Google Shape;3544;p270"/>
          <p:cNvSpPr txBox="1"/>
          <p:nvPr/>
        </p:nvSpPr>
        <p:spPr>
          <a:xfrm>
            <a:off x="2869917" y="4552562"/>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0/0</a:t>
            </a:r>
            <a:endParaRPr sz="1800">
              <a:solidFill>
                <a:schemeClr val="dk1"/>
              </a:solidFill>
              <a:latin typeface="Calibri"/>
              <a:ea typeface="Calibri"/>
              <a:cs typeface="Calibri"/>
              <a:sym typeface="Calibri"/>
            </a:endParaRPr>
          </a:p>
        </p:txBody>
      </p:sp>
      <p:cxnSp>
        <p:nvCxnSpPr>
          <p:cNvPr id="3545" name="Google Shape;3545;p270"/>
          <p:cNvCxnSpPr/>
          <p:nvPr/>
        </p:nvCxnSpPr>
        <p:spPr>
          <a:xfrm flipH="1">
            <a:off x="2771800" y="4621778"/>
            <a:ext cx="1152128" cy="720080"/>
          </a:xfrm>
          <a:prstGeom prst="straightConnector1">
            <a:avLst/>
          </a:prstGeom>
          <a:noFill/>
          <a:ln cap="flat" cmpd="sng" w="9525">
            <a:solidFill>
              <a:srgbClr val="4A7DBA"/>
            </a:solidFill>
            <a:prstDash val="solid"/>
            <a:round/>
            <a:headEnd len="sm" w="sm" type="none"/>
            <a:tailEnd len="med" w="med" type="stealth"/>
          </a:ln>
        </p:spPr>
      </p:cxnSp>
      <p:cxnSp>
        <p:nvCxnSpPr>
          <p:cNvPr id="3546" name="Google Shape;3546;p270"/>
          <p:cNvCxnSpPr/>
          <p:nvPr/>
        </p:nvCxnSpPr>
        <p:spPr>
          <a:xfrm>
            <a:off x="2829864" y="5644525"/>
            <a:ext cx="1238080" cy="489421"/>
          </a:xfrm>
          <a:prstGeom prst="straightConnector1">
            <a:avLst/>
          </a:prstGeom>
          <a:noFill/>
          <a:ln cap="flat" cmpd="sng" w="9525">
            <a:solidFill>
              <a:srgbClr val="4A7DBA"/>
            </a:solidFill>
            <a:prstDash val="solid"/>
            <a:round/>
            <a:headEnd len="sm" w="sm" type="none"/>
            <a:tailEnd len="med" w="med" type="stealth"/>
          </a:ln>
        </p:spPr>
      </p:cxnSp>
      <p:sp>
        <p:nvSpPr>
          <p:cNvPr id="3547" name="Google Shape;3547;p270"/>
          <p:cNvSpPr/>
          <p:nvPr/>
        </p:nvSpPr>
        <p:spPr>
          <a:xfrm>
            <a:off x="4067944" y="5644525"/>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q2</a:t>
            </a:r>
            <a:endParaRPr sz="1800">
              <a:solidFill>
                <a:schemeClr val="lt1"/>
              </a:solidFill>
              <a:latin typeface="Calibri"/>
              <a:ea typeface="Calibri"/>
              <a:cs typeface="Calibri"/>
              <a:sym typeface="Calibri"/>
            </a:endParaRPr>
          </a:p>
        </p:txBody>
      </p:sp>
      <p:cxnSp>
        <p:nvCxnSpPr>
          <p:cNvPr id="3548" name="Google Shape;3548;p270"/>
          <p:cNvCxnSpPr/>
          <p:nvPr/>
        </p:nvCxnSpPr>
        <p:spPr>
          <a:xfrm rot="10800000">
            <a:off x="4932040" y="4621778"/>
            <a:ext cx="864096" cy="360040"/>
          </a:xfrm>
          <a:prstGeom prst="straightConnector1">
            <a:avLst/>
          </a:prstGeom>
          <a:noFill/>
          <a:ln cap="flat" cmpd="sng" w="9525">
            <a:solidFill>
              <a:srgbClr val="4A7DBA"/>
            </a:solidFill>
            <a:prstDash val="solid"/>
            <a:round/>
            <a:headEnd len="sm" w="sm" type="none"/>
            <a:tailEnd len="med" w="med" type="stealth"/>
          </a:ln>
        </p:spPr>
      </p:cxnSp>
      <p:cxnSp>
        <p:nvCxnSpPr>
          <p:cNvPr id="3549" name="Google Shape;3549;p270"/>
          <p:cNvCxnSpPr/>
          <p:nvPr/>
        </p:nvCxnSpPr>
        <p:spPr>
          <a:xfrm flipH="1" rot="10800000">
            <a:off x="4932040" y="5437876"/>
            <a:ext cx="914432" cy="451359"/>
          </a:xfrm>
          <a:prstGeom prst="straightConnector1">
            <a:avLst/>
          </a:prstGeom>
          <a:noFill/>
          <a:ln cap="flat" cmpd="sng" w="9525">
            <a:solidFill>
              <a:srgbClr val="4A7DBA"/>
            </a:solidFill>
            <a:prstDash val="solid"/>
            <a:round/>
            <a:headEnd len="sm" w="sm" type="none"/>
            <a:tailEnd len="med" w="med" type="stealth"/>
          </a:ln>
        </p:spPr>
      </p:cxnSp>
      <p:sp>
        <p:nvSpPr>
          <p:cNvPr id="3550" name="Google Shape;3550;p270"/>
          <p:cNvSpPr txBox="1"/>
          <p:nvPr/>
        </p:nvSpPr>
        <p:spPr>
          <a:xfrm>
            <a:off x="5220072" y="4509120"/>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1/0</a:t>
            </a:r>
            <a:endParaRPr sz="1800">
              <a:solidFill>
                <a:schemeClr val="dk1"/>
              </a:solidFill>
              <a:latin typeface="Calibri"/>
              <a:ea typeface="Calibri"/>
              <a:cs typeface="Calibri"/>
              <a:sym typeface="Calibri"/>
            </a:endParaRPr>
          </a:p>
        </p:txBody>
      </p:sp>
      <p:cxnSp>
        <p:nvCxnSpPr>
          <p:cNvPr id="3551" name="Google Shape;3551;p270"/>
          <p:cNvCxnSpPr/>
          <p:nvPr/>
        </p:nvCxnSpPr>
        <p:spPr>
          <a:xfrm>
            <a:off x="4463988" y="4667689"/>
            <a:ext cx="0" cy="921551"/>
          </a:xfrm>
          <a:prstGeom prst="straightConnector1">
            <a:avLst/>
          </a:prstGeom>
          <a:noFill/>
          <a:ln cap="flat" cmpd="sng" w="9525">
            <a:solidFill>
              <a:srgbClr val="4A7DBA"/>
            </a:solidFill>
            <a:prstDash val="solid"/>
            <a:round/>
            <a:headEnd len="sm" w="sm" type="none"/>
            <a:tailEnd len="med" w="med" type="stealth"/>
          </a:ln>
        </p:spPr>
      </p:cxnSp>
      <p:sp>
        <p:nvSpPr>
          <p:cNvPr id="3552" name="Google Shape;3552;p270"/>
          <p:cNvSpPr txBox="1"/>
          <p:nvPr/>
        </p:nvSpPr>
        <p:spPr>
          <a:xfrm>
            <a:off x="4427984" y="5003884"/>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0/1</a:t>
            </a:r>
            <a:endParaRPr sz="1800">
              <a:solidFill>
                <a:schemeClr val="dk1"/>
              </a:solidFill>
              <a:latin typeface="Calibri"/>
              <a:ea typeface="Calibri"/>
              <a:cs typeface="Calibri"/>
              <a:sym typeface="Calibri"/>
            </a:endParaRPr>
          </a:p>
        </p:txBody>
      </p:sp>
      <p:sp>
        <p:nvSpPr>
          <p:cNvPr id="3553" name="Google Shape;3553;p270"/>
          <p:cNvSpPr txBox="1"/>
          <p:nvPr/>
        </p:nvSpPr>
        <p:spPr>
          <a:xfrm>
            <a:off x="2915816" y="5867980"/>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1/0</a:t>
            </a:r>
            <a:endParaRPr sz="1800">
              <a:solidFill>
                <a:schemeClr val="dk1"/>
              </a:solidFill>
              <a:latin typeface="Calibri"/>
              <a:ea typeface="Calibri"/>
              <a:cs typeface="Calibri"/>
              <a:sym typeface="Calibri"/>
            </a:endParaRPr>
          </a:p>
        </p:txBody>
      </p:sp>
      <p:sp>
        <p:nvSpPr>
          <p:cNvPr id="3554" name="Google Shape;3554;p270"/>
          <p:cNvSpPr txBox="1"/>
          <p:nvPr/>
        </p:nvSpPr>
        <p:spPr>
          <a:xfrm>
            <a:off x="3240453" y="5425236"/>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0/1</a:t>
            </a:r>
            <a:endParaRPr sz="1800">
              <a:solidFill>
                <a:schemeClr val="dk1"/>
              </a:solidFill>
              <a:latin typeface="Calibri"/>
              <a:ea typeface="Calibri"/>
              <a:cs typeface="Calibri"/>
              <a:sym typeface="Calibri"/>
            </a:endParaRPr>
          </a:p>
        </p:txBody>
      </p:sp>
      <p:sp>
        <p:nvSpPr>
          <p:cNvPr id="3555" name="Google Shape;3555;p270"/>
          <p:cNvSpPr txBox="1"/>
          <p:nvPr/>
        </p:nvSpPr>
        <p:spPr>
          <a:xfrm>
            <a:off x="5272918" y="5644525"/>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1/0</a:t>
            </a:r>
            <a:endParaRPr sz="1800">
              <a:solidFill>
                <a:schemeClr val="dk1"/>
              </a:solidFill>
              <a:latin typeface="Calibri"/>
              <a:ea typeface="Calibri"/>
              <a:cs typeface="Calibri"/>
              <a:sym typeface="Calibri"/>
            </a:endParaRPr>
          </a:p>
        </p:txBody>
      </p:sp>
      <p:sp>
        <p:nvSpPr>
          <p:cNvPr id="3556" name="Google Shape;3556;p270"/>
          <p:cNvSpPr txBox="1"/>
          <p:nvPr/>
        </p:nvSpPr>
        <p:spPr>
          <a:xfrm>
            <a:off x="6876256" y="5161196"/>
            <a:ext cx="508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0/1</a:t>
            </a:r>
            <a:endParaRPr sz="1800">
              <a:solidFill>
                <a:schemeClr val="dk1"/>
              </a:solidFill>
              <a:latin typeface="Calibri"/>
              <a:ea typeface="Calibri"/>
              <a:cs typeface="Calibri"/>
              <a:sym typeface="Calibri"/>
            </a:endParaRPr>
          </a:p>
        </p:txBody>
      </p:sp>
      <p:sp>
        <p:nvSpPr>
          <p:cNvPr id="3557" name="Google Shape;3557;p270"/>
          <p:cNvSpPr/>
          <p:nvPr/>
        </p:nvSpPr>
        <p:spPr>
          <a:xfrm rot="-1187487">
            <a:off x="6717495" y="4615412"/>
            <a:ext cx="1080120" cy="545784"/>
          </a:xfrm>
          <a:prstGeom prst="curvedLef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3558" name="Google Shape;3558;p270"/>
          <p:cNvCxnSpPr/>
          <p:nvPr/>
        </p:nvCxnSpPr>
        <p:spPr>
          <a:xfrm rot="10800000">
            <a:off x="2915816" y="5517232"/>
            <a:ext cx="1008112" cy="372003"/>
          </a:xfrm>
          <a:prstGeom prst="straightConnector1">
            <a:avLst/>
          </a:prstGeom>
          <a:noFill/>
          <a:ln cap="flat" cmpd="sng" w="9525">
            <a:solidFill>
              <a:srgbClr val="4A7DBA"/>
            </a:solidFill>
            <a:prstDash val="solid"/>
            <a:round/>
            <a:headEnd len="sm" w="sm" type="none"/>
            <a:tailEnd len="med" w="med" type="stealth"/>
          </a:ln>
        </p:spPr>
      </p:cxnSp>
      <p:sp>
        <p:nvSpPr>
          <p:cNvPr id="3559" name="Google Shape;3559;p270"/>
          <p:cNvSpPr txBox="1"/>
          <p:nvPr/>
        </p:nvSpPr>
        <p:spPr>
          <a:xfrm>
            <a:off x="457200" y="116632"/>
            <a:ext cx="8229600" cy="490066"/>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rmAutofit fontScale="90000" lnSpcReduction="10000"/>
          </a:bodyPr>
          <a:lstStyle/>
          <a:p>
            <a:pPr indent="0" lvl="0" marL="0" marR="0" rtl="0" algn="ctr">
              <a:spcBef>
                <a:spcPts val="0"/>
              </a:spcBef>
              <a:spcAft>
                <a:spcPts val="0"/>
              </a:spcAft>
              <a:buClr>
                <a:schemeClr val="dk1"/>
              </a:buClr>
              <a:buSzPct val="100000"/>
              <a:buFont typeface="Calibri"/>
              <a:buNone/>
            </a:pPr>
            <a:r>
              <a:rPr lang="en-IN" sz="3200">
                <a:solidFill>
                  <a:schemeClr val="dk1"/>
                </a:solidFill>
                <a:latin typeface="Calibri"/>
                <a:ea typeface="Calibri"/>
                <a:cs typeface="Calibri"/>
                <a:sym typeface="Calibri"/>
              </a:rPr>
              <a:t>Mealey Machine-State Diagram</a:t>
            </a:r>
            <a:endParaRPr sz="3200">
              <a:solidFill>
                <a:schemeClr val="dk1"/>
              </a:solidFill>
              <a:latin typeface="Calibri"/>
              <a:ea typeface="Calibri"/>
              <a:cs typeface="Calibri"/>
              <a:sym typeface="Calibri"/>
            </a:endParaRPr>
          </a:p>
        </p:txBody>
      </p:sp>
    </p:spTree>
  </p:cSld>
  <p:clrMapOvr>
    <a:masterClrMapping/>
  </p:clrMapOvr>
</p:sld>
</file>

<file path=ppt/slides/slide2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3" name="Shape 3563"/>
        <p:cNvGrpSpPr/>
        <p:nvPr/>
      </p:nvGrpSpPr>
      <p:grpSpPr>
        <a:xfrm>
          <a:off x="0" y="0"/>
          <a:ext cx="0" cy="0"/>
          <a:chOff x="0" y="0"/>
          <a:chExt cx="0" cy="0"/>
        </a:xfrm>
      </p:grpSpPr>
      <p:sp>
        <p:nvSpPr>
          <p:cNvPr id="3564" name="Google Shape;3564;p271"/>
          <p:cNvSpPr txBox="1"/>
          <p:nvPr>
            <p:ph type="title"/>
          </p:nvPr>
        </p:nvSpPr>
        <p:spPr>
          <a:xfrm>
            <a:off x="421196" y="0"/>
            <a:ext cx="8229600" cy="418058"/>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solidFill>
                  <a:schemeClr val="dk1"/>
                </a:solidFill>
                <a:latin typeface="Calibri"/>
                <a:ea typeface="Calibri"/>
                <a:cs typeface="Calibri"/>
                <a:sym typeface="Calibri"/>
              </a:rPr>
              <a:t>Mealey Machine-Example 1</a:t>
            </a:r>
            <a:endParaRPr sz="3200"/>
          </a:p>
        </p:txBody>
      </p:sp>
      <p:sp>
        <p:nvSpPr>
          <p:cNvPr id="3565" name="Google Shape;3565;p271"/>
          <p:cNvSpPr txBox="1"/>
          <p:nvPr>
            <p:ph idx="1" type="body"/>
          </p:nvPr>
        </p:nvSpPr>
        <p:spPr>
          <a:xfrm>
            <a:off x="349188" y="401184"/>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Design Mealey Machine that will read sequences made up of letters a,e,i,o,u and will give as o/p the same characters except when ‘i’ is followed by ‘e’ , it will be changed to ‘u’</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566" name="Google Shape;3566;p2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567" name="Google Shape;3567;p2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568" name="Google Shape;3568;p2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2" name="Shape 3572"/>
        <p:cNvGrpSpPr/>
        <p:nvPr/>
      </p:nvGrpSpPr>
      <p:grpSpPr>
        <a:xfrm>
          <a:off x="0" y="0"/>
          <a:ext cx="0" cy="0"/>
          <a:chOff x="0" y="0"/>
          <a:chExt cx="0" cy="0"/>
        </a:xfrm>
      </p:grpSpPr>
      <p:sp>
        <p:nvSpPr>
          <p:cNvPr id="3573" name="Google Shape;3573;p272"/>
          <p:cNvSpPr txBox="1"/>
          <p:nvPr>
            <p:ph type="title"/>
          </p:nvPr>
        </p:nvSpPr>
        <p:spPr>
          <a:xfrm>
            <a:off x="421196" y="0"/>
            <a:ext cx="8229600" cy="41805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Mealey Machine-Example 1</a:t>
            </a:r>
            <a:endParaRPr sz="3200"/>
          </a:p>
        </p:txBody>
      </p:sp>
      <p:sp>
        <p:nvSpPr>
          <p:cNvPr id="3574" name="Google Shape;3574;p272"/>
          <p:cNvSpPr txBox="1"/>
          <p:nvPr>
            <p:ph idx="1" type="body"/>
          </p:nvPr>
        </p:nvSpPr>
        <p:spPr>
          <a:xfrm>
            <a:off x="349188" y="401184"/>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Design Mealey Machine that will read sequences made up of letters a,e,i,o,u and will give as o/p the same characters except when ‘I’ is followed by ‘e’ , ‘e’ will be changed to ‘u’</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575" name="Google Shape;3575;p27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576" name="Google Shape;3576;p2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577" name="Google Shape;3577;p2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578" name="Google Shape;3578;p272"/>
          <p:cNvSpPr/>
          <p:nvPr/>
        </p:nvSpPr>
        <p:spPr>
          <a:xfrm>
            <a:off x="1828381" y="4557321"/>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1800">
                <a:solidFill>
                  <a:schemeClr val="lt1"/>
                </a:solidFill>
                <a:latin typeface="Calibri"/>
                <a:ea typeface="Calibri"/>
                <a:cs typeface="Calibri"/>
                <a:sym typeface="Calibri"/>
              </a:rPr>
              <a:t>q0</a:t>
            </a:r>
            <a:endParaRPr b="1" sz="1800">
              <a:solidFill>
                <a:schemeClr val="lt1"/>
              </a:solidFill>
              <a:latin typeface="Calibri"/>
              <a:ea typeface="Calibri"/>
              <a:cs typeface="Calibri"/>
              <a:sym typeface="Calibri"/>
            </a:endParaRPr>
          </a:p>
        </p:txBody>
      </p:sp>
      <p:cxnSp>
        <p:nvCxnSpPr>
          <p:cNvPr id="3579" name="Google Shape;3579;p272"/>
          <p:cNvCxnSpPr/>
          <p:nvPr/>
        </p:nvCxnSpPr>
        <p:spPr>
          <a:xfrm>
            <a:off x="899592" y="4896244"/>
            <a:ext cx="864096" cy="19030"/>
          </a:xfrm>
          <a:prstGeom prst="straightConnector1">
            <a:avLst/>
          </a:prstGeom>
          <a:noFill/>
          <a:ln cap="flat" cmpd="sng" w="9525">
            <a:solidFill>
              <a:srgbClr val="4A7DBA"/>
            </a:solidFill>
            <a:prstDash val="solid"/>
            <a:round/>
            <a:headEnd len="sm" w="sm" type="none"/>
            <a:tailEnd len="med" w="med" type="stealth"/>
          </a:ln>
        </p:spPr>
      </p:cxnSp>
      <p:sp>
        <p:nvSpPr>
          <p:cNvPr id="3580" name="Google Shape;3580;p272"/>
          <p:cNvSpPr txBox="1"/>
          <p:nvPr/>
        </p:nvSpPr>
        <p:spPr>
          <a:xfrm>
            <a:off x="3557911" y="4546556"/>
            <a:ext cx="3962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i/i</a:t>
            </a:r>
            <a:endParaRPr b="1" sz="1800">
              <a:solidFill>
                <a:schemeClr val="dk1"/>
              </a:solidFill>
              <a:latin typeface="Calibri"/>
              <a:ea typeface="Calibri"/>
              <a:cs typeface="Calibri"/>
              <a:sym typeface="Calibri"/>
            </a:endParaRPr>
          </a:p>
        </p:txBody>
      </p:sp>
      <p:sp>
        <p:nvSpPr>
          <p:cNvPr id="3581" name="Google Shape;3581;p272"/>
          <p:cNvSpPr txBox="1"/>
          <p:nvPr/>
        </p:nvSpPr>
        <p:spPr>
          <a:xfrm>
            <a:off x="3567575" y="5277401"/>
            <a:ext cx="530915"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e/u</a:t>
            </a:r>
            <a:endParaRPr/>
          </a:p>
          <a:p>
            <a:pPr indent="0" lvl="0" marL="0" marR="0" rtl="0" algn="l">
              <a:spcBef>
                <a:spcPts val="0"/>
              </a:spcBef>
              <a:spcAft>
                <a:spcPts val="0"/>
              </a:spcAft>
              <a:buNone/>
            </a:pPr>
            <a:r>
              <a:rPr b="1" lang="en-IN" sz="1800">
                <a:solidFill>
                  <a:schemeClr val="dk1"/>
                </a:solidFill>
                <a:latin typeface="Calibri"/>
                <a:ea typeface="Calibri"/>
                <a:cs typeface="Calibri"/>
                <a:sym typeface="Calibri"/>
              </a:rPr>
              <a:t>a/a</a:t>
            </a:r>
            <a:endParaRPr/>
          </a:p>
          <a:p>
            <a:pPr indent="0" lvl="0" marL="0" marR="0" rtl="0" algn="l">
              <a:spcBef>
                <a:spcPts val="0"/>
              </a:spcBef>
              <a:spcAft>
                <a:spcPts val="0"/>
              </a:spcAft>
              <a:buNone/>
            </a:pPr>
            <a:r>
              <a:rPr b="1" lang="en-IN" sz="1800">
                <a:solidFill>
                  <a:schemeClr val="dk1"/>
                </a:solidFill>
                <a:latin typeface="Calibri"/>
                <a:ea typeface="Calibri"/>
                <a:cs typeface="Calibri"/>
                <a:sym typeface="Calibri"/>
              </a:rPr>
              <a:t>o/o</a:t>
            </a:r>
            <a:endParaRPr/>
          </a:p>
          <a:p>
            <a:pPr indent="0" lvl="0" marL="0" marR="0" rtl="0" algn="l">
              <a:spcBef>
                <a:spcPts val="0"/>
              </a:spcBef>
              <a:spcAft>
                <a:spcPts val="0"/>
              </a:spcAft>
              <a:buNone/>
            </a:pPr>
            <a:r>
              <a:rPr b="1" lang="en-IN" sz="1800">
                <a:solidFill>
                  <a:schemeClr val="dk1"/>
                </a:solidFill>
                <a:latin typeface="Calibri"/>
                <a:ea typeface="Calibri"/>
                <a:cs typeface="Calibri"/>
                <a:sym typeface="Calibri"/>
              </a:rPr>
              <a:t>u/u</a:t>
            </a:r>
            <a:endParaRPr b="1" sz="1800">
              <a:solidFill>
                <a:schemeClr val="dk1"/>
              </a:solidFill>
              <a:latin typeface="Calibri"/>
              <a:ea typeface="Calibri"/>
              <a:cs typeface="Calibri"/>
              <a:sym typeface="Calibri"/>
            </a:endParaRPr>
          </a:p>
        </p:txBody>
      </p:sp>
      <p:cxnSp>
        <p:nvCxnSpPr>
          <p:cNvPr id="3582" name="Google Shape;3582;p272"/>
          <p:cNvCxnSpPr/>
          <p:nvPr/>
        </p:nvCxnSpPr>
        <p:spPr>
          <a:xfrm>
            <a:off x="2829864" y="4896244"/>
            <a:ext cx="2678240" cy="40147"/>
          </a:xfrm>
          <a:prstGeom prst="straightConnector1">
            <a:avLst/>
          </a:prstGeom>
          <a:noFill/>
          <a:ln cap="flat" cmpd="sng" w="9525">
            <a:solidFill>
              <a:srgbClr val="4A7DBA"/>
            </a:solidFill>
            <a:prstDash val="solid"/>
            <a:round/>
            <a:headEnd len="sm" w="sm" type="none"/>
            <a:tailEnd len="med" w="med" type="stealth"/>
          </a:ln>
        </p:spPr>
      </p:cxnSp>
      <p:sp>
        <p:nvSpPr>
          <p:cNvPr id="3583" name="Google Shape;3583;p272"/>
          <p:cNvSpPr/>
          <p:nvPr/>
        </p:nvSpPr>
        <p:spPr>
          <a:xfrm>
            <a:off x="5652120" y="4576351"/>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1800">
                <a:solidFill>
                  <a:schemeClr val="lt1"/>
                </a:solidFill>
                <a:latin typeface="Calibri"/>
                <a:ea typeface="Calibri"/>
                <a:cs typeface="Calibri"/>
                <a:sym typeface="Calibri"/>
              </a:rPr>
              <a:t>q1</a:t>
            </a:r>
            <a:endParaRPr b="1" sz="1800">
              <a:solidFill>
                <a:schemeClr val="lt1"/>
              </a:solidFill>
              <a:latin typeface="Calibri"/>
              <a:ea typeface="Calibri"/>
              <a:cs typeface="Calibri"/>
              <a:sym typeface="Calibri"/>
            </a:endParaRPr>
          </a:p>
        </p:txBody>
      </p:sp>
      <p:cxnSp>
        <p:nvCxnSpPr>
          <p:cNvPr id="3584" name="Google Shape;3584;p272"/>
          <p:cNvCxnSpPr/>
          <p:nvPr/>
        </p:nvCxnSpPr>
        <p:spPr>
          <a:xfrm rot="10800000">
            <a:off x="2829864" y="5046742"/>
            <a:ext cx="2822256" cy="72008"/>
          </a:xfrm>
          <a:prstGeom prst="straightConnector1">
            <a:avLst/>
          </a:prstGeom>
          <a:noFill/>
          <a:ln cap="flat" cmpd="sng" w="9525">
            <a:solidFill>
              <a:srgbClr val="4A7DBA"/>
            </a:solidFill>
            <a:prstDash val="solid"/>
            <a:round/>
            <a:headEnd len="sm" w="sm" type="none"/>
            <a:tailEnd len="med" w="med" type="stealth"/>
          </a:ln>
        </p:spPr>
      </p:cxnSp>
      <p:sp>
        <p:nvSpPr>
          <p:cNvPr id="3585" name="Google Shape;3585;p272"/>
          <p:cNvSpPr/>
          <p:nvPr/>
        </p:nvSpPr>
        <p:spPr>
          <a:xfrm>
            <a:off x="5940152" y="3966622"/>
            <a:ext cx="504056" cy="579934"/>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dk1"/>
              </a:solidFill>
              <a:latin typeface="Calibri"/>
              <a:ea typeface="Calibri"/>
              <a:cs typeface="Calibri"/>
              <a:sym typeface="Calibri"/>
            </a:endParaRPr>
          </a:p>
        </p:txBody>
      </p:sp>
      <p:sp>
        <p:nvSpPr>
          <p:cNvPr id="3586" name="Google Shape;3586;p272"/>
          <p:cNvSpPr/>
          <p:nvPr/>
        </p:nvSpPr>
        <p:spPr>
          <a:xfrm>
            <a:off x="2051720" y="3966622"/>
            <a:ext cx="504056" cy="579934"/>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dk1"/>
              </a:solidFill>
              <a:latin typeface="Calibri"/>
              <a:ea typeface="Calibri"/>
              <a:cs typeface="Calibri"/>
              <a:sym typeface="Calibri"/>
            </a:endParaRPr>
          </a:p>
        </p:txBody>
      </p:sp>
      <p:sp>
        <p:nvSpPr>
          <p:cNvPr id="3587" name="Google Shape;3587;p272"/>
          <p:cNvSpPr txBox="1"/>
          <p:nvPr/>
        </p:nvSpPr>
        <p:spPr>
          <a:xfrm>
            <a:off x="6444208" y="3966622"/>
            <a:ext cx="3962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i/i</a:t>
            </a:r>
            <a:endParaRPr b="1" sz="1800">
              <a:solidFill>
                <a:schemeClr val="dk1"/>
              </a:solidFill>
              <a:latin typeface="Calibri"/>
              <a:ea typeface="Calibri"/>
              <a:cs typeface="Calibri"/>
              <a:sym typeface="Calibri"/>
            </a:endParaRPr>
          </a:p>
        </p:txBody>
      </p:sp>
      <p:sp>
        <p:nvSpPr>
          <p:cNvPr id="3588" name="Google Shape;3588;p272"/>
          <p:cNvSpPr txBox="1"/>
          <p:nvPr/>
        </p:nvSpPr>
        <p:spPr>
          <a:xfrm>
            <a:off x="1267989" y="3717032"/>
            <a:ext cx="530915"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a/a</a:t>
            </a:r>
            <a:endParaRPr/>
          </a:p>
          <a:p>
            <a:pPr indent="0" lvl="0" marL="0" marR="0" rtl="0" algn="l">
              <a:spcBef>
                <a:spcPts val="0"/>
              </a:spcBef>
              <a:spcAft>
                <a:spcPts val="0"/>
              </a:spcAft>
              <a:buNone/>
            </a:pPr>
            <a:r>
              <a:rPr b="1" lang="en-IN" sz="1800">
                <a:solidFill>
                  <a:schemeClr val="dk1"/>
                </a:solidFill>
                <a:latin typeface="Calibri"/>
                <a:ea typeface="Calibri"/>
                <a:cs typeface="Calibri"/>
                <a:sym typeface="Calibri"/>
              </a:rPr>
              <a:t>e/e</a:t>
            </a:r>
            <a:endParaRPr/>
          </a:p>
          <a:p>
            <a:pPr indent="0" lvl="0" marL="0" marR="0" rtl="0" algn="l">
              <a:spcBef>
                <a:spcPts val="0"/>
              </a:spcBef>
              <a:spcAft>
                <a:spcPts val="0"/>
              </a:spcAft>
              <a:buNone/>
            </a:pPr>
            <a:r>
              <a:rPr b="1" lang="en-IN" sz="1800">
                <a:solidFill>
                  <a:schemeClr val="dk1"/>
                </a:solidFill>
                <a:latin typeface="Calibri"/>
                <a:ea typeface="Calibri"/>
                <a:cs typeface="Calibri"/>
                <a:sym typeface="Calibri"/>
              </a:rPr>
              <a:t>o/o</a:t>
            </a:r>
            <a:endParaRPr/>
          </a:p>
          <a:p>
            <a:pPr indent="0" lvl="0" marL="0" marR="0" rtl="0" algn="l">
              <a:spcBef>
                <a:spcPts val="0"/>
              </a:spcBef>
              <a:spcAft>
                <a:spcPts val="0"/>
              </a:spcAft>
              <a:buNone/>
            </a:pPr>
            <a:r>
              <a:rPr b="1" lang="en-IN" sz="1800">
                <a:solidFill>
                  <a:schemeClr val="dk1"/>
                </a:solidFill>
                <a:latin typeface="Calibri"/>
                <a:ea typeface="Calibri"/>
                <a:cs typeface="Calibri"/>
                <a:sym typeface="Calibri"/>
              </a:rPr>
              <a:t>u/u</a:t>
            </a:r>
            <a:endParaRPr/>
          </a:p>
        </p:txBody>
      </p:sp>
      <p:graphicFrame>
        <p:nvGraphicFramePr>
          <p:cNvPr id="3589" name="Google Shape;3589;p272"/>
          <p:cNvGraphicFramePr/>
          <p:nvPr/>
        </p:nvGraphicFramePr>
        <p:xfrm>
          <a:off x="787268" y="1697216"/>
          <a:ext cx="3000000" cy="3000000"/>
        </p:xfrm>
        <a:graphic>
          <a:graphicData uri="http://schemas.openxmlformats.org/drawingml/2006/table">
            <a:tbl>
              <a:tblPr bandRow="1" firstRow="1">
                <a:noFill/>
                <a:tableStyleId>{67F6A887-4D8F-49DA-B730-5EAACEBB6B1F}</a:tableStyleId>
              </a:tblPr>
              <a:tblGrid>
                <a:gridCol w="757150"/>
                <a:gridCol w="520125"/>
                <a:gridCol w="638650"/>
                <a:gridCol w="638650"/>
                <a:gridCol w="638650"/>
                <a:gridCol w="638650"/>
                <a:gridCol w="638650"/>
                <a:gridCol w="638650"/>
                <a:gridCol w="638650"/>
                <a:gridCol w="638650"/>
                <a:gridCol w="638650"/>
              </a:tblGrid>
              <a:tr h="370850">
                <a:tc>
                  <a:txBody>
                    <a:bodyPr/>
                    <a:lstStyle/>
                    <a:p>
                      <a:pPr indent="0" lvl="0" marL="0" marR="0" rtl="0" algn="l">
                        <a:spcBef>
                          <a:spcPts val="0"/>
                        </a:spcBef>
                        <a:spcAft>
                          <a:spcPts val="0"/>
                        </a:spcAft>
                        <a:buNone/>
                      </a:pPr>
                      <a:r>
                        <a:t/>
                      </a:r>
                      <a:endParaRPr sz="1800"/>
                    </a:p>
                  </a:txBody>
                  <a:tcPr marT="45725" marB="45725" marR="91450" marL="91450"/>
                </a:tc>
                <a:tc gridSpan="10">
                  <a:txBody>
                    <a:bodyPr/>
                    <a:lstStyle/>
                    <a:p>
                      <a:pPr indent="0" lvl="0" marL="0" marR="0" rtl="0" algn="l">
                        <a:spcBef>
                          <a:spcPts val="0"/>
                        </a:spcBef>
                        <a:spcAft>
                          <a:spcPts val="0"/>
                        </a:spcAft>
                        <a:buNone/>
                      </a:pPr>
                      <a:r>
                        <a:rPr lang="en-IN" sz="1800"/>
                        <a:t>Inputs</a:t>
                      </a:r>
                      <a:endParaRPr sz="1800"/>
                    </a:p>
                  </a:txBody>
                  <a:tcPr marT="45725" marB="45725" marR="91450" marL="91450"/>
                </a:tc>
                <a:tc hMerge="1"/>
                <a:tc hMerge="1"/>
                <a:tc hMerge="1"/>
                <a:tc hMerge="1"/>
                <a:tc hMerge="1"/>
                <a:tc hMerge="1"/>
                <a:tc hMerge="1"/>
                <a:tc hMerge="1"/>
                <a:tc hMerge="1"/>
              </a:tr>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en-IN" sz="1800"/>
                        <a:t>a</a:t>
                      </a:r>
                      <a:endParaRPr sz="1800"/>
                    </a:p>
                  </a:txBody>
                  <a:tcPr marT="45725" marB="45725" marR="91450" marL="91450"/>
                </a:tc>
                <a:tc hMerge="1"/>
                <a:tc gridSpan="2">
                  <a:txBody>
                    <a:bodyPr/>
                    <a:lstStyle/>
                    <a:p>
                      <a:pPr indent="0" lvl="0" marL="0" marR="0" rtl="0" algn="ctr">
                        <a:spcBef>
                          <a:spcPts val="0"/>
                        </a:spcBef>
                        <a:spcAft>
                          <a:spcPts val="0"/>
                        </a:spcAft>
                        <a:buNone/>
                      </a:pPr>
                      <a:r>
                        <a:rPr lang="en-IN" sz="1800"/>
                        <a:t>e</a:t>
                      </a:r>
                      <a:endParaRPr sz="1800"/>
                    </a:p>
                  </a:txBody>
                  <a:tcPr marT="45725" marB="45725" marR="91450" marL="91450"/>
                </a:tc>
                <a:tc hMerge="1"/>
                <a:tc gridSpan="2">
                  <a:txBody>
                    <a:bodyPr/>
                    <a:lstStyle/>
                    <a:p>
                      <a:pPr indent="0" lvl="0" marL="0" marR="0" rtl="0" algn="ctr">
                        <a:spcBef>
                          <a:spcPts val="0"/>
                        </a:spcBef>
                        <a:spcAft>
                          <a:spcPts val="0"/>
                        </a:spcAft>
                        <a:buNone/>
                      </a:pPr>
                      <a:r>
                        <a:rPr lang="en-IN" sz="1800"/>
                        <a:t>i</a:t>
                      </a:r>
                      <a:endParaRPr sz="1800"/>
                    </a:p>
                  </a:txBody>
                  <a:tcPr marT="45725" marB="45725" marR="91450" marL="91450"/>
                </a:tc>
                <a:tc hMerge="1"/>
                <a:tc gridSpan="2">
                  <a:txBody>
                    <a:bodyPr/>
                    <a:lstStyle/>
                    <a:p>
                      <a:pPr indent="0" lvl="0" marL="0" marR="0" rtl="0" algn="ctr">
                        <a:spcBef>
                          <a:spcPts val="0"/>
                        </a:spcBef>
                        <a:spcAft>
                          <a:spcPts val="0"/>
                        </a:spcAft>
                        <a:buNone/>
                      </a:pPr>
                      <a:r>
                        <a:rPr lang="en-IN" sz="1800"/>
                        <a:t>o</a:t>
                      </a:r>
                      <a:endParaRPr sz="1800"/>
                    </a:p>
                  </a:txBody>
                  <a:tcPr marT="45725" marB="45725" marR="91450" marL="91450"/>
                </a:tc>
                <a:tc hMerge="1"/>
                <a:tc gridSpan="2">
                  <a:txBody>
                    <a:bodyPr/>
                    <a:lstStyle/>
                    <a:p>
                      <a:pPr indent="0" lvl="0" marL="0" marR="0" rtl="0" algn="ctr">
                        <a:spcBef>
                          <a:spcPts val="0"/>
                        </a:spcBef>
                        <a:spcAft>
                          <a:spcPts val="0"/>
                        </a:spcAft>
                        <a:buNone/>
                      </a:pPr>
                      <a:r>
                        <a:rPr lang="en-IN" sz="1800"/>
                        <a:t>u</a:t>
                      </a:r>
                      <a:endParaRPr sz="1800"/>
                    </a:p>
                  </a:txBody>
                  <a:tcPr marT="45725" marB="45725" marR="91450" marL="91450"/>
                </a:tc>
                <a:tc hMerge="1"/>
              </a:tr>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IN" sz="1800"/>
                        <a:t>Δ</a:t>
                      </a:r>
                      <a:endParaRPr sz="1800"/>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IN" sz="1800"/>
                        <a:t>Δ</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a</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e</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i</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o</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u</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a</a:t>
                      </a:r>
                      <a:endParaRPr sz="1800"/>
                    </a:p>
                  </a:txBody>
                  <a:tcPr marT="45725" marB="45725" marR="91450" marL="91450"/>
                </a:tc>
                <a:tc>
                  <a:txBody>
                    <a:bodyPr/>
                    <a:lstStyle/>
                    <a:p>
                      <a:pPr indent="0" lvl="0" marL="0" marR="0" rtl="0" algn="l">
                        <a:spcBef>
                          <a:spcPts val="0"/>
                        </a:spcBef>
                        <a:spcAft>
                          <a:spcPts val="0"/>
                        </a:spcAft>
                        <a:buNone/>
                      </a:pPr>
                      <a:r>
                        <a:rPr lang="en-IN" sz="1800"/>
                        <a:t>qo</a:t>
                      </a:r>
                      <a:endParaRPr sz="1800"/>
                    </a:p>
                  </a:txBody>
                  <a:tcPr marT="45725" marB="45725" marR="91450" marL="91450"/>
                </a:tc>
                <a:tc>
                  <a:txBody>
                    <a:bodyPr/>
                    <a:lstStyle/>
                    <a:p>
                      <a:pPr indent="0" lvl="0" marL="0" marR="0" rtl="0" algn="l">
                        <a:spcBef>
                          <a:spcPts val="0"/>
                        </a:spcBef>
                        <a:spcAft>
                          <a:spcPts val="0"/>
                        </a:spcAft>
                        <a:buNone/>
                      </a:pPr>
                      <a:r>
                        <a:rPr lang="en-IN" sz="1800"/>
                        <a:t>u</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i</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o</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u</a:t>
                      </a:r>
                      <a:endParaRPr sz="1800"/>
                    </a:p>
                  </a:txBody>
                  <a:tcPr marT="45725" marB="45725" marR="91450" marL="91450"/>
                </a:tc>
              </a:tr>
            </a:tbl>
          </a:graphicData>
        </a:graphic>
      </p:graphicFrame>
      <p:cxnSp>
        <p:nvCxnSpPr>
          <p:cNvPr id="3590" name="Google Shape;3590;p272"/>
          <p:cNvCxnSpPr/>
          <p:nvPr/>
        </p:nvCxnSpPr>
        <p:spPr>
          <a:xfrm>
            <a:off x="251520" y="2921352"/>
            <a:ext cx="504056" cy="0"/>
          </a:xfrm>
          <a:prstGeom prst="straightConnector1">
            <a:avLst/>
          </a:prstGeom>
          <a:noFill/>
          <a:ln cap="flat" cmpd="sng" w="9525">
            <a:solidFill>
              <a:srgbClr val="4A7DBA"/>
            </a:solidFill>
            <a:prstDash val="solid"/>
            <a:round/>
            <a:headEnd len="sm" w="sm" type="none"/>
            <a:tailEnd len="med" w="med" type="stealth"/>
          </a:ln>
        </p:spPr>
      </p:cxnSp>
    </p:spTree>
  </p:cSld>
  <p:clrMapOvr>
    <a:masterClrMapping/>
  </p:clrMapOvr>
</p:sld>
</file>

<file path=ppt/slides/slide2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4" name="Shape 3594"/>
        <p:cNvGrpSpPr/>
        <p:nvPr/>
      </p:nvGrpSpPr>
      <p:grpSpPr>
        <a:xfrm>
          <a:off x="0" y="0"/>
          <a:ext cx="0" cy="0"/>
          <a:chOff x="0" y="0"/>
          <a:chExt cx="0" cy="0"/>
        </a:xfrm>
      </p:grpSpPr>
      <p:sp>
        <p:nvSpPr>
          <p:cNvPr id="3595" name="Google Shape;3595;p273"/>
          <p:cNvSpPr txBox="1"/>
          <p:nvPr>
            <p:ph type="title"/>
          </p:nvPr>
        </p:nvSpPr>
        <p:spPr>
          <a:xfrm>
            <a:off x="421196" y="0"/>
            <a:ext cx="8229600" cy="41805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Mealey Machine-Example 2</a:t>
            </a:r>
            <a:endParaRPr sz="3200"/>
          </a:p>
        </p:txBody>
      </p:sp>
      <p:sp>
        <p:nvSpPr>
          <p:cNvPr id="3596" name="Google Shape;3596;p273"/>
          <p:cNvSpPr txBox="1"/>
          <p:nvPr>
            <p:ph idx="1" type="body"/>
          </p:nvPr>
        </p:nvSpPr>
        <p:spPr>
          <a:xfrm>
            <a:off x="349188" y="401184"/>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Design Mealey Machine to get 1’s complement of a given number</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597" name="Google Shape;3597;p27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598" name="Google Shape;3598;p2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2" name="Shape 3602"/>
        <p:cNvGrpSpPr/>
        <p:nvPr/>
      </p:nvGrpSpPr>
      <p:grpSpPr>
        <a:xfrm>
          <a:off x="0" y="0"/>
          <a:ext cx="0" cy="0"/>
          <a:chOff x="0" y="0"/>
          <a:chExt cx="0" cy="0"/>
        </a:xfrm>
      </p:grpSpPr>
      <p:sp>
        <p:nvSpPr>
          <p:cNvPr id="3603" name="Google Shape;3603;p274"/>
          <p:cNvSpPr txBox="1"/>
          <p:nvPr>
            <p:ph type="title"/>
          </p:nvPr>
        </p:nvSpPr>
        <p:spPr>
          <a:xfrm>
            <a:off x="421196" y="0"/>
            <a:ext cx="8229600" cy="41805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Mealey Machine-Example 2</a:t>
            </a:r>
            <a:endParaRPr sz="3200"/>
          </a:p>
        </p:txBody>
      </p:sp>
      <p:sp>
        <p:nvSpPr>
          <p:cNvPr id="3604" name="Google Shape;3604;p274"/>
          <p:cNvSpPr txBox="1"/>
          <p:nvPr>
            <p:ph idx="1" type="body"/>
          </p:nvPr>
        </p:nvSpPr>
        <p:spPr>
          <a:xfrm>
            <a:off x="349188" y="401184"/>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Design Mealey Machine to get 1’s complement of a given number</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Example-</a:t>
            </a:r>
            <a:endParaRPr/>
          </a:p>
          <a:p>
            <a:pPr indent="-190500" lvl="0" marL="342900" rtl="0" algn="l">
              <a:spcBef>
                <a:spcPts val="480"/>
              </a:spcBef>
              <a:spcAft>
                <a:spcPts val="0"/>
              </a:spcAft>
              <a:buClr>
                <a:schemeClr val="dk1"/>
              </a:buClr>
              <a:buSzPts val="2400"/>
              <a:buNone/>
            </a:pPr>
            <a:r>
              <a:t/>
            </a:r>
            <a:endParaRPr sz="2400"/>
          </a:p>
        </p:txBody>
      </p:sp>
      <p:sp>
        <p:nvSpPr>
          <p:cNvPr id="3605" name="Google Shape;3605;p27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606" name="Google Shape;3606;p2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607" name="Google Shape;3607;p274"/>
          <p:cNvSpPr/>
          <p:nvPr/>
        </p:nvSpPr>
        <p:spPr>
          <a:xfrm>
            <a:off x="1828381" y="2204864"/>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1800">
                <a:solidFill>
                  <a:schemeClr val="lt1"/>
                </a:solidFill>
                <a:latin typeface="Calibri"/>
                <a:ea typeface="Calibri"/>
                <a:cs typeface="Calibri"/>
                <a:sym typeface="Calibri"/>
              </a:rPr>
              <a:t>q0</a:t>
            </a:r>
            <a:endParaRPr b="1" sz="1800">
              <a:solidFill>
                <a:schemeClr val="lt1"/>
              </a:solidFill>
              <a:latin typeface="Calibri"/>
              <a:ea typeface="Calibri"/>
              <a:cs typeface="Calibri"/>
              <a:sym typeface="Calibri"/>
            </a:endParaRPr>
          </a:p>
        </p:txBody>
      </p:sp>
      <p:cxnSp>
        <p:nvCxnSpPr>
          <p:cNvPr id="3608" name="Google Shape;3608;p274"/>
          <p:cNvCxnSpPr/>
          <p:nvPr/>
        </p:nvCxnSpPr>
        <p:spPr>
          <a:xfrm>
            <a:off x="899592" y="2543787"/>
            <a:ext cx="864096" cy="19030"/>
          </a:xfrm>
          <a:prstGeom prst="straightConnector1">
            <a:avLst/>
          </a:prstGeom>
          <a:noFill/>
          <a:ln cap="flat" cmpd="sng" w="9525">
            <a:solidFill>
              <a:srgbClr val="4A7DBA"/>
            </a:solidFill>
            <a:prstDash val="solid"/>
            <a:round/>
            <a:headEnd len="sm" w="sm" type="none"/>
            <a:tailEnd len="med" w="med" type="stealth"/>
          </a:ln>
        </p:spPr>
      </p:cxnSp>
      <p:sp>
        <p:nvSpPr>
          <p:cNvPr id="3609" name="Google Shape;3609;p274"/>
          <p:cNvSpPr/>
          <p:nvPr/>
        </p:nvSpPr>
        <p:spPr>
          <a:xfrm>
            <a:off x="2051720" y="1614165"/>
            <a:ext cx="504056" cy="579934"/>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dk1"/>
              </a:solidFill>
              <a:latin typeface="Calibri"/>
              <a:ea typeface="Calibri"/>
              <a:cs typeface="Calibri"/>
              <a:sym typeface="Calibri"/>
            </a:endParaRPr>
          </a:p>
        </p:txBody>
      </p:sp>
      <p:sp>
        <p:nvSpPr>
          <p:cNvPr id="3610" name="Google Shape;3610;p274"/>
          <p:cNvSpPr txBox="1"/>
          <p:nvPr/>
        </p:nvSpPr>
        <p:spPr>
          <a:xfrm>
            <a:off x="2411760" y="1547500"/>
            <a:ext cx="5180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0/1</a:t>
            </a:r>
            <a:endParaRPr b="1" sz="1800">
              <a:solidFill>
                <a:schemeClr val="dk1"/>
              </a:solidFill>
              <a:latin typeface="Calibri"/>
              <a:ea typeface="Calibri"/>
              <a:cs typeface="Calibri"/>
              <a:sym typeface="Calibri"/>
            </a:endParaRPr>
          </a:p>
        </p:txBody>
      </p:sp>
      <p:sp>
        <p:nvSpPr>
          <p:cNvPr id="3611" name="Google Shape;3611;p274"/>
          <p:cNvSpPr/>
          <p:nvPr/>
        </p:nvSpPr>
        <p:spPr>
          <a:xfrm>
            <a:off x="2051720" y="2924944"/>
            <a:ext cx="504056" cy="792088"/>
          </a:xfrm>
          <a:prstGeom prst="curvedUp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12" name="Google Shape;3612;p274"/>
          <p:cNvSpPr txBox="1"/>
          <p:nvPr/>
        </p:nvSpPr>
        <p:spPr>
          <a:xfrm>
            <a:off x="2411760" y="3429000"/>
            <a:ext cx="5180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1/0</a:t>
            </a:r>
            <a:endParaRPr b="1" sz="1800">
              <a:solidFill>
                <a:schemeClr val="dk1"/>
              </a:solidFill>
              <a:latin typeface="Calibri"/>
              <a:ea typeface="Calibri"/>
              <a:cs typeface="Calibri"/>
              <a:sym typeface="Calibri"/>
            </a:endParaRPr>
          </a:p>
        </p:txBody>
      </p:sp>
      <p:graphicFrame>
        <p:nvGraphicFramePr>
          <p:cNvPr id="3613" name="Google Shape;3613;p274"/>
          <p:cNvGraphicFramePr/>
          <p:nvPr/>
        </p:nvGraphicFramePr>
        <p:xfrm>
          <a:off x="4391983" y="1268760"/>
          <a:ext cx="3000000" cy="3000000"/>
        </p:xfrm>
        <a:graphic>
          <a:graphicData uri="http://schemas.openxmlformats.org/drawingml/2006/table">
            <a:tbl>
              <a:tblPr bandRow="1" firstRow="1">
                <a:noFill/>
                <a:tableStyleId>{67F6A887-4D8F-49DA-B730-5EAACEBB6B1F}</a:tableStyleId>
              </a:tblPr>
              <a:tblGrid>
                <a:gridCol w="828100"/>
                <a:gridCol w="568875"/>
                <a:gridCol w="698475"/>
                <a:gridCol w="698475"/>
                <a:gridCol w="698475"/>
              </a:tblGrid>
              <a:tr h="370850">
                <a:tc>
                  <a:txBody>
                    <a:bodyPr/>
                    <a:lstStyle/>
                    <a:p>
                      <a:pPr indent="0" lvl="0" marL="0" marR="0" rtl="0" algn="l">
                        <a:spcBef>
                          <a:spcPts val="0"/>
                        </a:spcBef>
                        <a:spcAft>
                          <a:spcPts val="0"/>
                        </a:spcAft>
                        <a:buNone/>
                      </a:pPr>
                      <a:r>
                        <a:t/>
                      </a:r>
                      <a:endParaRPr sz="1800"/>
                    </a:p>
                  </a:txBody>
                  <a:tcPr marT="45725" marB="45725" marR="91450" marL="91450"/>
                </a:tc>
                <a:tc gridSpan="4">
                  <a:txBody>
                    <a:bodyPr/>
                    <a:lstStyle/>
                    <a:p>
                      <a:pPr indent="0" lvl="0" marL="0" marR="0" rtl="0" algn="l">
                        <a:spcBef>
                          <a:spcPts val="0"/>
                        </a:spcBef>
                        <a:spcAft>
                          <a:spcPts val="0"/>
                        </a:spcAft>
                        <a:buNone/>
                      </a:pPr>
                      <a:r>
                        <a:rPr lang="en-IN" sz="1800"/>
                        <a:t>Inputs</a:t>
                      </a:r>
                      <a:endParaRPr sz="1800"/>
                    </a:p>
                  </a:txBody>
                  <a:tcPr marT="45725" marB="45725" marR="91450" marL="91450"/>
                </a:tc>
                <a:tc hMerge="1"/>
                <a:tc hMerge="1"/>
                <a:tc hMerge="1"/>
              </a:tr>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en-IN" sz="1800"/>
                        <a:t>0</a:t>
                      </a:r>
                      <a:endParaRPr sz="1800"/>
                    </a:p>
                  </a:txBody>
                  <a:tcPr marT="45725" marB="45725" marR="91450" marL="91450"/>
                </a:tc>
                <a:tc hMerge="1"/>
                <a:tc gridSpan="2">
                  <a:txBody>
                    <a:bodyPr/>
                    <a:lstStyle/>
                    <a:p>
                      <a:pPr indent="0" lvl="0" marL="0" marR="0" rtl="0" algn="ctr">
                        <a:spcBef>
                          <a:spcPts val="0"/>
                        </a:spcBef>
                        <a:spcAft>
                          <a:spcPts val="0"/>
                        </a:spcAft>
                        <a:buNone/>
                      </a:pPr>
                      <a:r>
                        <a:rPr lang="en-IN" sz="1800"/>
                        <a:t>1</a:t>
                      </a:r>
                      <a:endParaRPr sz="1800"/>
                    </a:p>
                  </a:txBody>
                  <a:tcPr marT="45725" marB="45725" marR="91450" marL="91450"/>
                </a:tc>
                <a:tc hMerge="1"/>
              </a:tr>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spTree>
  </p:cSld>
  <p:clrMapOvr>
    <a:masterClrMapping/>
  </p:clrMapOvr>
</p:sld>
</file>

<file path=ppt/slides/slide2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7" name="Shape 3617"/>
        <p:cNvGrpSpPr/>
        <p:nvPr/>
      </p:nvGrpSpPr>
      <p:grpSpPr>
        <a:xfrm>
          <a:off x="0" y="0"/>
          <a:ext cx="0" cy="0"/>
          <a:chOff x="0" y="0"/>
          <a:chExt cx="0" cy="0"/>
        </a:xfrm>
      </p:grpSpPr>
      <p:sp>
        <p:nvSpPr>
          <p:cNvPr id="3618" name="Google Shape;3618;p275"/>
          <p:cNvSpPr txBox="1"/>
          <p:nvPr>
            <p:ph type="title"/>
          </p:nvPr>
        </p:nvSpPr>
        <p:spPr>
          <a:xfrm>
            <a:off x="421196" y="0"/>
            <a:ext cx="8229600" cy="41805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Mealey Machine-Example 3</a:t>
            </a:r>
            <a:endParaRPr sz="3200"/>
          </a:p>
        </p:txBody>
      </p:sp>
      <p:sp>
        <p:nvSpPr>
          <p:cNvPr id="3619" name="Google Shape;3619;p275"/>
          <p:cNvSpPr txBox="1"/>
          <p:nvPr>
            <p:ph idx="1" type="body"/>
          </p:nvPr>
        </p:nvSpPr>
        <p:spPr>
          <a:xfrm>
            <a:off x="349188" y="401184"/>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Design Mealey Machine to get 2’s complement of a given number</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620" name="Google Shape;3620;p27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621" name="Google Shape;3621;p2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5" name="Shape 3625"/>
        <p:cNvGrpSpPr/>
        <p:nvPr/>
      </p:nvGrpSpPr>
      <p:grpSpPr>
        <a:xfrm>
          <a:off x="0" y="0"/>
          <a:ext cx="0" cy="0"/>
          <a:chOff x="0" y="0"/>
          <a:chExt cx="0" cy="0"/>
        </a:xfrm>
      </p:grpSpPr>
      <p:sp>
        <p:nvSpPr>
          <p:cNvPr id="3626" name="Google Shape;3626;p276"/>
          <p:cNvSpPr txBox="1"/>
          <p:nvPr>
            <p:ph type="title"/>
          </p:nvPr>
        </p:nvSpPr>
        <p:spPr>
          <a:xfrm>
            <a:off x="421196" y="0"/>
            <a:ext cx="8229600" cy="41805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IN" sz="3200"/>
              <a:t>Mealey Machine-Example 3</a:t>
            </a:r>
            <a:endParaRPr sz="3200"/>
          </a:p>
        </p:txBody>
      </p:sp>
      <p:sp>
        <p:nvSpPr>
          <p:cNvPr id="3627" name="Google Shape;3627;p276"/>
          <p:cNvSpPr txBox="1"/>
          <p:nvPr>
            <p:ph idx="1" type="body"/>
          </p:nvPr>
        </p:nvSpPr>
        <p:spPr>
          <a:xfrm>
            <a:off x="349188" y="401185"/>
            <a:ext cx="8229600" cy="281179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Design Mealey Machine to get 2’s complement of a given number</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628" name="Google Shape;3628;p27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629" name="Google Shape;3629;p2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630" name="Google Shape;3630;p2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631" name="Google Shape;3631;p276"/>
          <p:cNvSpPr/>
          <p:nvPr/>
        </p:nvSpPr>
        <p:spPr>
          <a:xfrm>
            <a:off x="1828381" y="5171827"/>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q0/0</a:t>
            </a:r>
            <a:endParaRPr sz="1800">
              <a:solidFill>
                <a:schemeClr val="lt1"/>
              </a:solidFill>
              <a:latin typeface="Calibri"/>
              <a:ea typeface="Calibri"/>
              <a:cs typeface="Calibri"/>
              <a:sym typeface="Calibri"/>
            </a:endParaRPr>
          </a:p>
        </p:txBody>
      </p:sp>
      <p:cxnSp>
        <p:nvCxnSpPr>
          <p:cNvPr id="3632" name="Google Shape;3632;p276"/>
          <p:cNvCxnSpPr/>
          <p:nvPr/>
        </p:nvCxnSpPr>
        <p:spPr>
          <a:xfrm>
            <a:off x="899592" y="5510750"/>
            <a:ext cx="864096" cy="19030"/>
          </a:xfrm>
          <a:prstGeom prst="straightConnector1">
            <a:avLst/>
          </a:prstGeom>
          <a:noFill/>
          <a:ln cap="flat" cmpd="sng" w="9525">
            <a:solidFill>
              <a:srgbClr val="4A7DBA"/>
            </a:solidFill>
            <a:prstDash val="solid"/>
            <a:round/>
            <a:headEnd len="sm" w="sm" type="none"/>
            <a:tailEnd len="med" w="med" type="stealth"/>
          </a:ln>
        </p:spPr>
      </p:cxnSp>
      <p:sp>
        <p:nvSpPr>
          <p:cNvPr id="3633" name="Google Shape;3633;p276"/>
          <p:cNvSpPr txBox="1"/>
          <p:nvPr/>
        </p:nvSpPr>
        <p:spPr>
          <a:xfrm>
            <a:off x="3557911" y="5161062"/>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a:p>
        </p:txBody>
      </p:sp>
      <p:sp>
        <p:nvSpPr>
          <p:cNvPr id="3634" name="Google Shape;3634;p276"/>
          <p:cNvSpPr txBox="1"/>
          <p:nvPr/>
        </p:nvSpPr>
        <p:spPr>
          <a:xfrm>
            <a:off x="3567575" y="5891907"/>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cxnSp>
        <p:nvCxnSpPr>
          <p:cNvPr id="3635" name="Google Shape;3635;p276"/>
          <p:cNvCxnSpPr/>
          <p:nvPr/>
        </p:nvCxnSpPr>
        <p:spPr>
          <a:xfrm>
            <a:off x="2829864" y="5510750"/>
            <a:ext cx="2678240" cy="40147"/>
          </a:xfrm>
          <a:prstGeom prst="straightConnector1">
            <a:avLst/>
          </a:prstGeom>
          <a:noFill/>
          <a:ln cap="flat" cmpd="sng" w="9525">
            <a:solidFill>
              <a:srgbClr val="4A7DBA"/>
            </a:solidFill>
            <a:prstDash val="solid"/>
            <a:round/>
            <a:headEnd len="sm" w="sm" type="none"/>
            <a:tailEnd len="med" w="med" type="stealth"/>
          </a:ln>
        </p:spPr>
      </p:cxnSp>
      <p:sp>
        <p:nvSpPr>
          <p:cNvPr id="3636" name="Google Shape;3636;p276"/>
          <p:cNvSpPr/>
          <p:nvPr/>
        </p:nvSpPr>
        <p:spPr>
          <a:xfrm>
            <a:off x="5652120" y="5190857"/>
            <a:ext cx="936104" cy="72008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q1/1</a:t>
            </a:r>
            <a:endParaRPr sz="1800">
              <a:solidFill>
                <a:schemeClr val="lt1"/>
              </a:solidFill>
              <a:latin typeface="Calibri"/>
              <a:ea typeface="Calibri"/>
              <a:cs typeface="Calibri"/>
              <a:sym typeface="Calibri"/>
            </a:endParaRPr>
          </a:p>
        </p:txBody>
      </p:sp>
      <p:cxnSp>
        <p:nvCxnSpPr>
          <p:cNvPr id="3637" name="Google Shape;3637;p276"/>
          <p:cNvCxnSpPr/>
          <p:nvPr/>
        </p:nvCxnSpPr>
        <p:spPr>
          <a:xfrm rot="10800000">
            <a:off x="2829864" y="5661248"/>
            <a:ext cx="2822256" cy="72008"/>
          </a:xfrm>
          <a:prstGeom prst="straightConnector1">
            <a:avLst/>
          </a:prstGeom>
          <a:noFill/>
          <a:ln cap="flat" cmpd="sng" w="9525">
            <a:solidFill>
              <a:srgbClr val="4A7DBA"/>
            </a:solidFill>
            <a:prstDash val="solid"/>
            <a:round/>
            <a:headEnd len="sm" w="sm" type="none"/>
            <a:tailEnd len="med" w="med" type="stealth"/>
          </a:ln>
        </p:spPr>
      </p:cxnSp>
      <p:sp>
        <p:nvSpPr>
          <p:cNvPr id="3638" name="Google Shape;3638;p276"/>
          <p:cNvSpPr/>
          <p:nvPr/>
        </p:nvSpPr>
        <p:spPr>
          <a:xfrm>
            <a:off x="5940152" y="4581128"/>
            <a:ext cx="504056" cy="579934"/>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39" name="Google Shape;3639;p276"/>
          <p:cNvSpPr/>
          <p:nvPr/>
        </p:nvSpPr>
        <p:spPr>
          <a:xfrm>
            <a:off x="2051720" y="4581128"/>
            <a:ext cx="504056" cy="579934"/>
          </a:xfrm>
          <a:prstGeom prst="curvedDown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40" name="Google Shape;3640;p276"/>
          <p:cNvSpPr txBox="1"/>
          <p:nvPr/>
        </p:nvSpPr>
        <p:spPr>
          <a:xfrm>
            <a:off x="6444208" y="458112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0</a:t>
            </a:r>
            <a:endParaRPr/>
          </a:p>
        </p:txBody>
      </p:sp>
      <p:sp>
        <p:nvSpPr>
          <p:cNvPr id="3641" name="Google Shape;3641;p276"/>
          <p:cNvSpPr txBox="1"/>
          <p:nvPr/>
        </p:nvSpPr>
        <p:spPr>
          <a:xfrm>
            <a:off x="1750034" y="449982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Tree>
  </p:cSld>
  <p:clrMapOvr>
    <a:masterClrMapping/>
  </p:clrMapOvr>
</p:sld>
</file>

<file path=ppt/slides/slide2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5" name="Shape 3645"/>
        <p:cNvGrpSpPr/>
        <p:nvPr/>
      </p:nvGrpSpPr>
      <p:grpSpPr>
        <a:xfrm>
          <a:off x="0" y="0"/>
          <a:ext cx="0" cy="0"/>
          <a:chOff x="0" y="0"/>
          <a:chExt cx="0" cy="0"/>
        </a:xfrm>
      </p:grpSpPr>
      <p:sp>
        <p:nvSpPr>
          <p:cNvPr id="3646" name="Google Shape;3646;p277"/>
          <p:cNvSpPr txBox="1"/>
          <p:nvPr>
            <p:ph type="title"/>
          </p:nvPr>
        </p:nvSpPr>
        <p:spPr>
          <a:xfrm>
            <a:off x="457200" y="908720"/>
            <a:ext cx="8229600" cy="4752528"/>
          </a:xfrm>
          <a:prstGeom prst="rect">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IN" sz="3200">
                <a:solidFill>
                  <a:schemeClr val="lt1"/>
                </a:solidFill>
                <a:latin typeface="Calibri"/>
                <a:ea typeface="Calibri"/>
                <a:cs typeface="Calibri"/>
                <a:sym typeface="Calibri"/>
              </a:rPr>
              <a:t>Lecture 4.2.2022</a:t>
            </a:r>
            <a:br>
              <a:rPr b="1" lang="en-IN" sz="3200">
                <a:solidFill>
                  <a:schemeClr val="lt1"/>
                </a:solidFill>
                <a:latin typeface="Calibri"/>
                <a:ea typeface="Calibri"/>
                <a:cs typeface="Calibri"/>
                <a:sym typeface="Calibri"/>
              </a:rPr>
            </a:br>
            <a:br>
              <a:rPr b="1" lang="en-IN" sz="3200">
                <a:solidFill>
                  <a:schemeClr val="lt1"/>
                </a:solidFill>
                <a:latin typeface="Calibri"/>
                <a:ea typeface="Calibri"/>
                <a:cs typeface="Calibri"/>
                <a:sym typeface="Calibri"/>
              </a:rPr>
            </a:br>
            <a:r>
              <a:rPr b="1" lang="en-IN" sz="3200">
                <a:solidFill>
                  <a:schemeClr val="lt1"/>
                </a:solidFill>
                <a:latin typeface="Calibri"/>
                <a:ea typeface="Calibri"/>
                <a:cs typeface="Calibri"/>
                <a:sym typeface="Calibri"/>
              </a:rPr>
              <a:t>Conversion of Mealy to Moore Machine</a:t>
            </a:r>
            <a:br>
              <a:rPr b="1" lang="en-IN" sz="3200">
                <a:solidFill>
                  <a:schemeClr val="lt1"/>
                </a:solidFill>
                <a:latin typeface="Calibri"/>
                <a:ea typeface="Calibri"/>
                <a:cs typeface="Calibri"/>
                <a:sym typeface="Calibri"/>
              </a:rPr>
            </a:br>
            <a:r>
              <a:rPr b="1" lang="en-IN" sz="3200">
                <a:solidFill>
                  <a:schemeClr val="lt1"/>
                </a:solidFill>
                <a:latin typeface="Calibri"/>
                <a:ea typeface="Calibri"/>
                <a:cs typeface="Calibri"/>
                <a:sym typeface="Calibri"/>
              </a:rPr>
              <a:t>Conversion of Moore to Mealy Machine</a:t>
            </a:r>
            <a:endParaRPr/>
          </a:p>
        </p:txBody>
      </p:sp>
      <p:sp>
        <p:nvSpPr>
          <p:cNvPr id="3647" name="Google Shape;3647;p27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648" name="Google Shape;3648;p2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649" name="Google Shape;3649;p2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3" name="Shape 3653"/>
        <p:cNvGrpSpPr/>
        <p:nvPr/>
      </p:nvGrpSpPr>
      <p:grpSpPr>
        <a:xfrm>
          <a:off x="0" y="0"/>
          <a:ext cx="0" cy="0"/>
          <a:chOff x="0" y="0"/>
          <a:chExt cx="0" cy="0"/>
        </a:xfrm>
      </p:grpSpPr>
      <p:sp>
        <p:nvSpPr>
          <p:cNvPr id="3654" name="Google Shape;3654;p278"/>
          <p:cNvSpPr txBox="1"/>
          <p:nvPr>
            <p:ph type="title"/>
          </p:nvPr>
        </p:nvSpPr>
        <p:spPr>
          <a:xfrm>
            <a:off x="395536" y="980728"/>
            <a:ext cx="8229600" cy="4900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Conversion of Mealy Machine to Moore Machine</a:t>
            </a:r>
            <a:endParaRPr sz="2800"/>
          </a:p>
        </p:txBody>
      </p:sp>
      <p:sp>
        <p:nvSpPr>
          <p:cNvPr id="3655" name="Google Shape;3655;p27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656" name="Google Shape;3656;p2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657" name="Google Shape;3657;p2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658" name="Google Shape;3658;p27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2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2" name="Shape 3662"/>
        <p:cNvGrpSpPr/>
        <p:nvPr/>
      </p:nvGrpSpPr>
      <p:grpSpPr>
        <a:xfrm>
          <a:off x="0" y="0"/>
          <a:ext cx="0" cy="0"/>
          <a:chOff x="0" y="0"/>
          <a:chExt cx="0" cy="0"/>
        </a:xfrm>
      </p:grpSpPr>
      <p:sp>
        <p:nvSpPr>
          <p:cNvPr id="3663" name="Google Shape;3663;p279"/>
          <p:cNvSpPr txBox="1"/>
          <p:nvPr>
            <p:ph type="title"/>
          </p:nvPr>
        </p:nvSpPr>
        <p:spPr>
          <a:xfrm>
            <a:off x="467544" y="30413"/>
            <a:ext cx="8229600" cy="4900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Conversion of Mealy Machine to Moore Machine-Eg1</a:t>
            </a:r>
            <a:endParaRPr sz="2800"/>
          </a:p>
        </p:txBody>
      </p:sp>
      <p:sp>
        <p:nvSpPr>
          <p:cNvPr id="3664" name="Google Shape;3664;p279"/>
          <p:cNvSpPr txBox="1"/>
          <p:nvPr>
            <p:ph idx="1" type="body"/>
          </p:nvPr>
        </p:nvSpPr>
        <p:spPr>
          <a:xfrm>
            <a:off x="457200" y="1600200"/>
            <a:ext cx="8229600" cy="4709120"/>
          </a:xfrm>
          <a:prstGeom prst="rect">
            <a:avLst/>
          </a:prstGeom>
          <a:noFill/>
          <a:ln>
            <a:noFill/>
          </a:ln>
        </p:spPr>
        <p:txBody>
          <a:bodyPr anchorCtr="0" anchor="t" bIns="45700" lIns="91425" spcFirstLastPara="1" rIns="91425" wrap="square" tIns="45700">
            <a:normAutofit lnSpcReduction="10000"/>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0" lvl="0" marL="0" rtl="0" algn="l">
              <a:spcBef>
                <a:spcPts val="480"/>
              </a:spcBef>
              <a:spcAft>
                <a:spcPts val="0"/>
              </a:spcAft>
              <a:buClr>
                <a:srgbClr val="00B0F0"/>
              </a:buClr>
              <a:buSzPts val="2400"/>
              <a:buNone/>
            </a:pPr>
            <a:r>
              <a:rPr b="1" lang="en-IN" sz="2400">
                <a:solidFill>
                  <a:srgbClr val="00B0F0"/>
                </a:solidFill>
              </a:rPr>
              <a:t>Check Association-</a:t>
            </a:r>
            <a:endParaRPr/>
          </a:p>
          <a:p>
            <a:pPr indent="-342900" lvl="0" marL="342900" rtl="0" algn="l">
              <a:spcBef>
                <a:spcPts val="480"/>
              </a:spcBef>
              <a:spcAft>
                <a:spcPts val="0"/>
              </a:spcAft>
              <a:buClr>
                <a:schemeClr val="dk1"/>
              </a:buClr>
              <a:buSzPts val="2400"/>
              <a:buChar char="•"/>
            </a:pPr>
            <a:r>
              <a:rPr lang="en-IN" sz="2400"/>
              <a:t>We look into the next state column for any state say qi and </a:t>
            </a:r>
            <a:r>
              <a:rPr b="1" lang="en-IN" sz="2400"/>
              <a:t>determine the number of different outputs associated with qi</a:t>
            </a:r>
            <a:r>
              <a:rPr lang="en-IN" sz="2400"/>
              <a:t> in that column</a:t>
            </a:r>
            <a:endParaRPr/>
          </a:p>
          <a:p>
            <a:pPr indent="-342900" lvl="0" marL="342900" rtl="0" algn="l">
              <a:spcBef>
                <a:spcPts val="480"/>
              </a:spcBef>
              <a:spcAft>
                <a:spcPts val="0"/>
              </a:spcAft>
              <a:buClr>
                <a:schemeClr val="dk1"/>
              </a:buClr>
              <a:buSzPts val="2400"/>
              <a:buChar char="•"/>
            </a:pPr>
            <a:r>
              <a:rPr lang="en-IN" sz="2400"/>
              <a:t>We split qi into several different states, </a:t>
            </a:r>
            <a:endParaRPr/>
          </a:p>
          <a:p>
            <a:pPr indent="-342900" lvl="0" marL="342900" rtl="0" algn="l">
              <a:spcBef>
                <a:spcPts val="480"/>
              </a:spcBef>
              <a:spcAft>
                <a:spcPts val="0"/>
              </a:spcAft>
              <a:buClr>
                <a:schemeClr val="dk1"/>
              </a:buClr>
              <a:buSzPts val="2400"/>
              <a:buChar char="•"/>
            </a:pPr>
            <a:r>
              <a:rPr b="1" lang="en-IN" sz="2400"/>
              <a:t>The number of such states being equal to the number of different outputs associated with qi</a:t>
            </a:r>
            <a:endParaRPr b="1" sz="2400"/>
          </a:p>
        </p:txBody>
      </p:sp>
      <p:sp>
        <p:nvSpPr>
          <p:cNvPr id="3665" name="Google Shape;3665;p27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666" name="Google Shape;3666;p2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667" name="Google Shape;3667;p2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668" name="Google Shape;3668;p279"/>
          <p:cNvGraphicFramePr/>
          <p:nvPr/>
        </p:nvGraphicFramePr>
        <p:xfrm>
          <a:off x="755576" y="764704"/>
          <a:ext cx="3000000" cy="3000000"/>
        </p:xfrm>
        <a:graphic>
          <a:graphicData uri="http://schemas.openxmlformats.org/drawingml/2006/table">
            <a:tbl>
              <a:tblPr bandRow="1" firstRow="1">
                <a:noFill/>
                <a:tableStyleId>{67F6A887-4D8F-49DA-B730-5EAACEBB6B1F}</a:tableStyleId>
              </a:tblPr>
              <a:tblGrid>
                <a:gridCol w="828100"/>
                <a:gridCol w="568875"/>
                <a:gridCol w="698475"/>
                <a:gridCol w="698475"/>
                <a:gridCol w="698475"/>
              </a:tblGrid>
              <a:tr h="370850">
                <a:tc>
                  <a:txBody>
                    <a:bodyPr/>
                    <a:lstStyle/>
                    <a:p>
                      <a:pPr indent="0" lvl="0" marL="0" marR="0" rtl="0" algn="l">
                        <a:spcBef>
                          <a:spcPts val="0"/>
                        </a:spcBef>
                        <a:spcAft>
                          <a:spcPts val="0"/>
                        </a:spcAft>
                        <a:buNone/>
                      </a:pPr>
                      <a:r>
                        <a:t/>
                      </a:r>
                      <a:endParaRPr sz="1800"/>
                    </a:p>
                  </a:txBody>
                  <a:tcPr marT="45725" marB="45725" marR="91450" marL="91450"/>
                </a:tc>
                <a:tc gridSpan="4">
                  <a:txBody>
                    <a:bodyPr/>
                    <a:lstStyle/>
                    <a:p>
                      <a:pPr indent="0" lvl="0" marL="0" marR="0" rtl="0" algn="l">
                        <a:spcBef>
                          <a:spcPts val="0"/>
                        </a:spcBef>
                        <a:spcAft>
                          <a:spcPts val="0"/>
                        </a:spcAft>
                        <a:buNone/>
                      </a:pPr>
                      <a:r>
                        <a:rPr lang="en-IN" sz="1800"/>
                        <a:t>Inputs</a:t>
                      </a:r>
                      <a:endParaRPr sz="1800"/>
                    </a:p>
                  </a:txBody>
                  <a:tcPr marT="45725" marB="45725" marR="91450" marL="91450"/>
                </a:tc>
                <a:tc hMerge="1"/>
                <a:tc hMerge="1"/>
                <a:tc hMerge="1"/>
              </a:tr>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en-IN" sz="1800"/>
                        <a:t>0</a:t>
                      </a:r>
                      <a:endParaRPr sz="1800"/>
                    </a:p>
                  </a:txBody>
                  <a:tcPr marT="45725" marB="45725" marR="91450" marL="91450"/>
                </a:tc>
                <a:tc hMerge="1"/>
                <a:tc gridSpan="2">
                  <a:txBody>
                    <a:bodyPr/>
                    <a:lstStyle/>
                    <a:p>
                      <a:pPr indent="0" lvl="0" marL="0" marR="0" rtl="0" algn="ctr">
                        <a:spcBef>
                          <a:spcPts val="0"/>
                        </a:spcBef>
                        <a:spcAft>
                          <a:spcPts val="0"/>
                        </a:spcAft>
                        <a:buNone/>
                      </a:pPr>
                      <a:r>
                        <a:rPr lang="en-IN" sz="1800"/>
                        <a:t>1</a:t>
                      </a:r>
                      <a:endParaRPr sz="1800"/>
                    </a:p>
                  </a:txBody>
                  <a:tcPr marT="45725" marB="45725" marR="91450" marL="91450"/>
                </a:tc>
                <a:tc hMerge="1"/>
              </a:tr>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sp>
        <p:nvSpPr>
          <p:cNvPr id="3669" name="Google Shape;3669;p279"/>
          <p:cNvSpPr txBox="1"/>
          <p:nvPr/>
        </p:nvSpPr>
        <p:spPr>
          <a:xfrm>
            <a:off x="2774584" y="6516052"/>
            <a:ext cx="62646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Theory of Computer Science-KLP Mishra,N Chandrasekharan</a:t>
            </a:r>
            <a:endParaRPr sz="1800">
              <a:solidFill>
                <a:schemeClr val="dk1"/>
              </a:solidFill>
              <a:latin typeface="Calibri"/>
              <a:ea typeface="Calibri"/>
              <a:cs typeface="Calibri"/>
              <a:sym typeface="Calibri"/>
            </a:endParaRPr>
          </a:p>
        </p:txBody>
      </p:sp>
    </p:spTree>
  </p:cSld>
  <p:clrMapOvr>
    <a:masterClrMapping/>
  </p:clrMapOvr>
</p:sld>
</file>

<file path=ppt/slides/slide2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3" name="Shape 3673"/>
        <p:cNvGrpSpPr/>
        <p:nvPr/>
      </p:nvGrpSpPr>
      <p:grpSpPr>
        <a:xfrm>
          <a:off x="0" y="0"/>
          <a:ext cx="0" cy="0"/>
          <a:chOff x="0" y="0"/>
          <a:chExt cx="0" cy="0"/>
        </a:xfrm>
      </p:grpSpPr>
      <p:sp>
        <p:nvSpPr>
          <p:cNvPr id="3674" name="Google Shape;3674;p280"/>
          <p:cNvSpPr txBox="1"/>
          <p:nvPr>
            <p:ph type="title"/>
          </p:nvPr>
        </p:nvSpPr>
        <p:spPr>
          <a:xfrm>
            <a:off x="467544" y="30413"/>
            <a:ext cx="8229600" cy="4900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Conversion of Mealy Machine to Moore Machine-Eg1</a:t>
            </a:r>
            <a:endParaRPr sz="2800"/>
          </a:p>
        </p:txBody>
      </p:sp>
      <p:sp>
        <p:nvSpPr>
          <p:cNvPr id="3675" name="Google Shape;3675;p28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676" name="Google Shape;3676;p28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677" name="Google Shape;3677;p2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678" name="Google Shape;3678;p2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679" name="Google Shape;3679;p280"/>
          <p:cNvGraphicFramePr/>
          <p:nvPr/>
        </p:nvGraphicFramePr>
        <p:xfrm>
          <a:off x="35496" y="476672"/>
          <a:ext cx="3000000" cy="3000000"/>
        </p:xfrm>
        <a:graphic>
          <a:graphicData uri="http://schemas.openxmlformats.org/drawingml/2006/table">
            <a:tbl>
              <a:tblPr bandRow="1" firstRow="1">
                <a:noFill/>
                <a:tableStyleId>{67F6A887-4D8F-49DA-B730-5EAACEBB6B1F}</a:tableStyleId>
              </a:tblPr>
              <a:tblGrid>
                <a:gridCol w="828100"/>
                <a:gridCol w="568875"/>
                <a:gridCol w="698475"/>
                <a:gridCol w="698475"/>
                <a:gridCol w="698475"/>
              </a:tblGrid>
              <a:tr h="370850">
                <a:tc>
                  <a:txBody>
                    <a:bodyPr/>
                    <a:lstStyle/>
                    <a:p>
                      <a:pPr indent="0" lvl="0" marL="0" marR="0" rtl="0" algn="l">
                        <a:spcBef>
                          <a:spcPts val="0"/>
                        </a:spcBef>
                        <a:spcAft>
                          <a:spcPts val="0"/>
                        </a:spcAft>
                        <a:buNone/>
                      </a:pPr>
                      <a:r>
                        <a:t/>
                      </a:r>
                      <a:endParaRPr sz="1800"/>
                    </a:p>
                  </a:txBody>
                  <a:tcPr marT="45725" marB="45725" marR="91450" marL="91450"/>
                </a:tc>
                <a:tc gridSpan="4">
                  <a:txBody>
                    <a:bodyPr/>
                    <a:lstStyle/>
                    <a:p>
                      <a:pPr indent="0" lvl="0" marL="0" marR="0" rtl="0" algn="l">
                        <a:spcBef>
                          <a:spcPts val="0"/>
                        </a:spcBef>
                        <a:spcAft>
                          <a:spcPts val="0"/>
                        </a:spcAft>
                        <a:buNone/>
                      </a:pPr>
                      <a:r>
                        <a:rPr lang="en-IN" sz="1800"/>
                        <a:t>Inputs</a:t>
                      </a:r>
                      <a:endParaRPr sz="1800"/>
                    </a:p>
                  </a:txBody>
                  <a:tcPr marT="45725" marB="45725" marR="91450" marL="91450"/>
                </a:tc>
                <a:tc hMerge="1"/>
                <a:tc hMerge="1"/>
                <a:tc hMerge="1"/>
              </a:tr>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en-IN" sz="1800"/>
                        <a:t>0</a:t>
                      </a:r>
                      <a:endParaRPr sz="1800"/>
                    </a:p>
                  </a:txBody>
                  <a:tcPr marT="45725" marB="45725" marR="91450" marL="91450"/>
                </a:tc>
                <a:tc hMerge="1"/>
                <a:tc gridSpan="2">
                  <a:txBody>
                    <a:bodyPr/>
                    <a:lstStyle/>
                    <a:p>
                      <a:pPr indent="0" lvl="0" marL="0" marR="0" rtl="0" algn="ctr">
                        <a:spcBef>
                          <a:spcPts val="0"/>
                        </a:spcBef>
                        <a:spcAft>
                          <a:spcPts val="0"/>
                        </a:spcAft>
                        <a:buNone/>
                      </a:pPr>
                      <a:r>
                        <a:rPr lang="en-IN" sz="1800"/>
                        <a:t>1</a:t>
                      </a:r>
                      <a:endParaRPr sz="1800"/>
                    </a:p>
                  </a:txBody>
                  <a:tcPr marT="45725" marB="45725" marR="91450" marL="91450"/>
                </a:tc>
                <a:tc hMerge="1"/>
              </a:tr>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sp>
        <p:nvSpPr>
          <p:cNvPr id="3680" name="Google Shape;3680;p280"/>
          <p:cNvSpPr txBox="1"/>
          <p:nvPr/>
        </p:nvSpPr>
        <p:spPr>
          <a:xfrm>
            <a:off x="2774584" y="6516052"/>
            <a:ext cx="62646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Theory of Computer Science-KLP Mishra,N Chandrasekharan</a:t>
            </a:r>
            <a:endParaRPr sz="1800">
              <a:solidFill>
                <a:schemeClr val="dk1"/>
              </a:solidFill>
              <a:latin typeface="Calibri"/>
              <a:ea typeface="Calibri"/>
              <a:cs typeface="Calibri"/>
              <a:sym typeface="Calibri"/>
            </a:endParaRPr>
          </a:p>
        </p:txBody>
      </p:sp>
    </p:spTree>
  </p:cSld>
  <p:clrMapOvr>
    <a:masterClrMapping/>
  </p:clrMapOvr>
</p:sld>
</file>

<file path=ppt/slides/slide2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4" name="Shape 3684"/>
        <p:cNvGrpSpPr/>
        <p:nvPr/>
      </p:nvGrpSpPr>
      <p:grpSpPr>
        <a:xfrm>
          <a:off x="0" y="0"/>
          <a:ext cx="0" cy="0"/>
          <a:chOff x="0" y="0"/>
          <a:chExt cx="0" cy="0"/>
        </a:xfrm>
      </p:grpSpPr>
      <p:sp>
        <p:nvSpPr>
          <p:cNvPr id="3685" name="Google Shape;3685;p281"/>
          <p:cNvSpPr txBox="1"/>
          <p:nvPr>
            <p:ph type="title"/>
          </p:nvPr>
        </p:nvSpPr>
        <p:spPr>
          <a:xfrm>
            <a:off x="467544" y="30413"/>
            <a:ext cx="8229600" cy="4900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Conversion of Mealy Machine to Moore Machine-Eg1</a:t>
            </a:r>
            <a:endParaRPr sz="2800"/>
          </a:p>
        </p:txBody>
      </p:sp>
      <p:sp>
        <p:nvSpPr>
          <p:cNvPr id="3686" name="Google Shape;3686;p28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687" name="Google Shape;3687;p28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688" name="Google Shape;3688;p2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689" name="Google Shape;3689;p2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690" name="Google Shape;3690;p281"/>
          <p:cNvGraphicFramePr/>
          <p:nvPr/>
        </p:nvGraphicFramePr>
        <p:xfrm>
          <a:off x="20929" y="476672"/>
          <a:ext cx="3000000" cy="3000000"/>
        </p:xfrm>
        <a:graphic>
          <a:graphicData uri="http://schemas.openxmlformats.org/drawingml/2006/table">
            <a:tbl>
              <a:tblPr bandRow="1" firstRow="1">
                <a:noFill/>
                <a:tableStyleId>{67F6A887-4D8F-49DA-B730-5EAACEBB6B1F}</a:tableStyleId>
              </a:tblPr>
              <a:tblGrid>
                <a:gridCol w="828100"/>
                <a:gridCol w="568875"/>
                <a:gridCol w="698475"/>
                <a:gridCol w="698475"/>
                <a:gridCol w="698475"/>
              </a:tblGrid>
              <a:tr h="370850">
                <a:tc>
                  <a:txBody>
                    <a:bodyPr/>
                    <a:lstStyle/>
                    <a:p>
                      <a:pPr indent="0" lvl="0" marL="0" marR="0" rtl="0" algn="l">
                        <a:spcBef>
                          <a:spcPts val="0"/>
                        </a:spcBef>
                        <a:spcAft>
                          <a:spcPts val="0"/>
                        </a:spcAft>
                        <a:buNone/>
                      </a:pPr>
                      <a:r>
                        <a:t/>
                      </a:r>
                      <a:endParaRPr sz="1800"/>
                    </a:p>
                  </a:txBody>
                  <a:tcPr marT="45725" marB="45725" marR="91450" marL="91450"/>
                </a:tc>
                <a:tc gridSpan="4">
                  <a:txBody>
                    <a:bodyPr/>
                    <a:lstStyle/>
                    <a:p>
                      <a:pPr indent="0" lvl="0" marL="0" marR="0" rtl="0" algn="l">
                        <a:spcBef>
                          <a:spcPts val="0"/>
                        </a:spcBef>
                        <a:spcAft>
                          <a:spcPts val="0"/>
                        </a:spcAft>
                        <a:buNone/>
                      </a:pPr>
                      <a:r>
                        <a:rPr lang="en-IN" sz="1800"/>
                        <a:t>Inputs</a:t>
                      </a:r>
                      <a:endParaRPr sz="1800"/>
                    </a:p>
                  </a:txBody>
                  <a:tcPr marT="45725" marB="45725" marR="91450" marL="91450"/>
                </a:tc>
                <a:tc hMerge="1"/>
                <a:tc hMerge="1"/>
                <a:tc hMerge="1"/>
              </a:tr>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en-IN" sz="1800"/>
                        <a:t>0</a:t>
                      </a:r>
                      <a:endParaRPr sz="1800"/>
                    </a:p>
                  </a:txBody>
                  <a:tcPr marT="45725" marB="45725" marR="91450" marL="91450"/>
                </a:tc>
                <a:tc hMerge="1"/>
                <a:tc gridSpan="2">
                  <a:txBody>
                    <a:bodyPr/>
                    <a:lstStyle/>
                    <a:p>
                      <a:pPr indent="0" lvl="0" marL="0" marR="0" rtl="0" algn="ctr">
                        <a:spcBef>
                          <a:spcPts val="0"/>
                        </a:spcBef>
                        <a:spcAft>
                          <a:spcPts val="0"/>
                        </a:spcAft>
                        <a:buNone/>
                      </a:pPr>
                      <a:r>
                        <a:rPr lang="en-IN" sz="1800"/>
                        <a:t>1</a:t>
                      </a:r>
                      <a:endParaRPr sz="1800"/>
                    </a:p>
                  </a:txBody>
                  <a:tcPr marT="45725" marB="45725" marR="91450" marL="91450"/>
                </a:tc>
                <a:tc hMerge="1"/>
              </a:tr>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sp>
        <p:nvSpPr>
          <p:cNvPr id="3691" name="Google Shape;3691;p281"/>
          <p:cNvSpPr txBox="1"/>
          <p:nvPr/>
        </p:nvSpPr>
        <p:spPr>
          <a:xfrm>
            <a:off x="2774584" y="6525344"/>
            <a:ext cx="62646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Theory of Computer Science-KLP Mishra,N Chandrasekharan</a:t>
            </a:r>
            <a:endParaRPr sz="1800">
              <a:solidFill>
                <a:schemeClr val="dk1"/>
              </a:solidFill>
              <a:latin typeface="Calibri"/>
              <a:ea typeface="Calibri"/>
              <a:cs typeface="Calibri"/>
              <a:sym typeface="Calibri"/>
            </a:endParaRPr>
          </a:p>
        </p:txBody>
      </p:sp>
    </p:spTree>
  </p:cSld>
  <p:clrMapOvr>
    <a:masterClrMapping/>
  </p:clrMapOvr>
</p:sld>
</file>

<file path=ppt/slides/slide2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5" name="Shape 3695"/>
        <p:cNvGrpSpPr/>
        <p:nvPr/>
      </p:nvGrpSpPr>
      <p:grpSpPr>
        <a:xfrm>
          <a:off x="0" y="0"/>
          <a:ext cx="0" cy="0"/>
          <a:chOff x="0" y="0"/>
          <a:chExt cx="0" cy="0"/>
        </a:xfrm>
      </p:grpSpPr>
      <p:sp>
        <p:nvSpPr>
          <p:cNvPr id="3696" name="Google Shape;3696;p282"/>
          <p:cNvSpPr txBox="1"/>
          <p:nvPr>
            <p:ph type="title"/>
          </p:nvPr>
        </p:nvSpPr>
        <p:spPr>
          <a:xfrm>
            <a:off x="467544" y="30413"/>
            <a:ext cx="8229600" cy="4900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Conversion of Mealy Machine to Moore Machine-Eg1</a:t>
            </a:r>
            <a:endParaRPr sz="2800"/>
          </a:p>
        </p:txBody>
      </p:sp>
      <p:sp>
        <p:nvSpPr>
          <p:cNvPr id="3697" name="Google Shape;3697;p28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698" name="Google Shape;3698;p28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699" name="Google Shape;3699;p2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700" name="Google Shape;3700;p2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701" name="Google Shape;3701;p282"/>
          <p:cNvGraphicFramePr/>
          <p:nvPr/>
        </p:nvGraphicFramePr>
        <p:xfrm>
          <a:off x="20929" y="476672"/>
          <a:ext cx="3000000" cy="3000000"/>
        </p:xfrm>
        <a:graphic>
          <a:graphicData uri="http://schemas.openxmlformats.org/drawingml/2006/table">
            <a:tbl>
              <a:tblPr bandRow="1" firstRow="1">
                <a:noFill/>
                <a:tableStyleId>{67F6A887-4D8F-49DA-B730-5EAACEBB6B1F}</a:tableStyleId>
              </a:tblPr>
              <a:tblGrid>
                <a:gridCol w="828100"/>
                <a:gridCol w="568875"/>
                <a:gridCol w="698475"/>
                <a:gridCol w="698475"/>
                <a:gridCol w="698475"/>
              </a:tblGrid>
              <a:tr h="370850">
                <a:tc>
                  <a:txBody>
                    <a:bodyPr/>
                    <a:lstStyle/>
                    <a:p>
                      <a:pPr indent="0" lvl="0" marL="0" marR="0" rtl="0" algn="l">
                        <a:spcBef>
                          <a:spcPts val="0"/>
                        </a:spcBef>
                        <a:spcAft>
                          <a:spcPts val="0"/>
                        </a:spcAft>
                        <a:buNone/>
                      </a:pPr>
                      <a:r>
                        <a:t/>
                      </a:r>
                      <a:endParaRPr sz="1800"/>
                    </a:p>
                  </a:txBody>
                  <a:tcPr marT="45725" marB="45725" marR="91450" marL="91450"/>
                </a:tc>
                <a:tc gridSpan="4">
                  <a:txBody>
                    <a:bodyPr/>
                    <a:lstStyle/>
                    <a:p>
                      <a:pPr indent="0" lvl="0" marL="0" marR="0" rtl="0" algn="l">
                        <a:spcBef>
                          <a:spcPts val="0"/>
                        </a:spcBef>
                        <a:spcAft>
                          <a:spcPts val="0"/>
                        </a:spcAft>
                        <a:buNone/>
                      </a:pPr>
                      <a:r>
                        <a:rPr lang="en-IN" sz="1800"/>
                        <a:t>Inputs</a:t>
                      </a:r>
                      <a:endParaRPr sz="1800"/>
                    </a:p>
                  </a:txBody>
                  <a:tcPr marT="45725" marB="45725" marR="91450" marL="91450"/>
                </a:tc>
                <a:tc hMerge="1"/>
                <a:tc hMerge="1"/>
                <a:tc hMerge="1"/>
              </a:tr>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en-IN" sz="1800"/>
                        <a:t>0</a:t>
                      </a:r>
                      <a:endParaRPr sz="1800"/>
                    </a:p>
                  </a:txBody>
                  <a:tcPr marT="45725" marB="45725" marR="91450" marL="91450"/>
                </a:tc>
                <a:tc hMerge="1"/>
                <a:tc gridSpan="2">
                  <a:txBody>
                    <a:bodyPr/>
                    <a:lstStyle/>
                    <a:p>
                      <a:pPr indent="0" lvl="0" marL="0" marR="0" rtl="0" algn="ctr">
                        <a:spcBef>
                          <a:spcPts val="0"/>
                        </a:spcBef>
                        <a:spcAft>
                          <a:spcPts val="0"/>
                        </a:spcAft>
                        <a:buNone/>
                      </a:pPr>
                      <a:r>
                        <a:rPr lang="en-IN" sz="1800"/>
                        <a:t>1</a:t>
                      </a:r>
                      <a:endParaRPr sz="1800"/>
                    </a:p>
                  </a:txBody>
                  <a:tcPr marT="45725" marB="45725" marR="91450" marL="91450"/>
                </a:tc>
                <a:tc hMerge="1"/>
              </a:tr>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sp>
        <p:nvSpPr>
          <p:cNvPr id="3702" name="Google Shape;3702;p282"/>
          <p:cNvSpPr txBox="1"/>
          <p:nvPr/>
        </p:nvSpPr>
        <p:spPr>
          <a:xfrm>
            <a:off x="2774584" y="6516052"/>
            <a:ext cx="62646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Theory of Computer Science-KLP Mishra,N Chandrasekharan</a:t>
            </a:r>
            <a:endParaRPr sz="1800">
              <a:solidFill>
                <a:schemeClr val="dk1"/>
              </a:solidFill>
              <a:latin typeface="Calibri"/>
              <a:ea typeface="Calibri"/>
              <a:cs typeface="Calibri"/>
              <a:sym typeface="Calibri"/>
            </a:endParaRPr>
          </a:p>
        </p:txBody>
      </p:sp>
    </p:spTree>
  </p:cSld>
  <p:clrMapOvr>
    <a:masterClrMapping/>
  </p:clrMapOvr>
</p:sld>
</file>

<file path=ppt/slides/slide2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6" name="Shape 3706"/>
        <p:cNvGrpSpPr/>
        <p:nvPr/>
      </p:nvGrpSpPr>
      <p:grpSpPr>
        <a:xfrm>
          <a:off x="0" y="0"/>
          <a:ext cx="0" cy="0"/>
          <a:chOff x="0" y="0"/>
          <a:chExt cx="0" cy="0"/>
        </a:xfrm>
      </p:grpSpPr>
      <p:sp>
        <p:nvSpPr>
          <p:cNvPr id="3707" name="Google Shape;3707;p283"/>
          <p:cNvSpPr txBox="1"/>
          <p:nvPr>
            <p:ph type="title"/>
          </p:nvPr>
        </p:nvSpPr>
        <p:spPr>
          <a:xfrm>
            <a:off x="467544" y="30413"/>
            <a:ext cx="8229600" cy="4900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Conversion of Mealy Machine to Moore Machine-Eg1</a:t>
            </a:r>
            <a:endParaRPr sz="2800"/>
          </a:p>
        </p:txBody>
      </p:sp>
      <p:sp>
        <p:nvSpPr>
          <p:cNvPr id="3708" name="Google Shape;3708;p28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709" name="Google Shape;3709;p28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710" name="Google Shape;3710;p2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711" name="Google Shape;3711;p2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712" name="Google Shape;3712;p283"/>
          <p:cNvGraphicFramePr/>
          <p:nvPr/>
        </p:nvGraphicFramePr>
        <p:xfrm>
          <a:off x="20929" y="476672"/>
          <a:ext cx="3000000" cy="3000000"/>
        </p:xfrm>
        <a:graphic>
          <a:graphicData uri="http://schemas.openxmlformats.org/drawingml/2006/table">
            <a:tbl>
              <a:tblPr bandRow="1" firstRow="1">
                <a:noFill/>
                <a:tableStyleId>{67F6A887-4D8F-49DA-B730-5EAACEBB6B1F}</a:tableStyleId>
              </a:tblPr>
              <a:tblGrid>
                <a:gridCol w="828100"/>
                <a:gridCol w="568875"/>
                <a:gridCol w="698475"/>
                <a:gridCol w="698475"/>
                <a:gridCol w="698475"/>
              </a:tblGrid>
              <a:tr h="370850">
                <a:tc>
                  <a:txBody>
                    <a:bodyPr/>
                    <a:lstStyle/>
                    <a:p>
                      <a:pPr indent="0" lvl="0" marL="0" marR="0" rtl="0" algn="l">
                        <a:spcBef>
                          <a:spcPts val="0"/>
                        </a:spcBef>
                        <a:spcAft>
                          <a:spcPts val="0"/>
                        </a:spcAft>
                        <a:buNone/>
                      </a:pPr>
                      <a:r>
                        <a:t/>
                      </a:r>
                      <a:endParaRPr sz="1800"/>
                    </a:p>
                  </a:txBody>
                  <a:tcPr marT="45725" marB="45725" marR="91450" marL="91450"/>
                </a:tc>
                <a:tc gridSpan="4">
                  <a:txBody>
                    <a:bodyPr/>
                    <a:lstStyle/>
                    <a:p>
                      <a:pPr indent="0" lvl="0" marL="0" marR="0" rtl="0" algn="l">
                        <a:spcBef>
                          <a:spcPts val="0"/>
                        </a:spcBef>
                        <a:spcAft>
                          <a:spcPts val="0"/>
                        </a:spcAft>
                        <a:buNone/>
                      </a:pPr>
                      <a:r>
                        <a:rPr lang="en-IN" sz="1800"/>
                        <a:t>Inputs</a:t>
                      </a:r>
                      <a:endParaRPr sz="1800"/>
                    </a:p>
                  </a:txBody>
                  <a:tcPr marT="45725" marB="45725" marR="91450" marL="91450"/>
                </a:tc>
                <a:tc hMerge="1"/>
                <a:tc hMerge="1"/>
                <a:tc hMerge="1"/>
              </a:tr>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en-IN" sz="1800"/>
                        <a:t>0</a:t>
                      </a:r>
                      <a:endParaRPr sz="1800"/>
                    </a:p>
                  </a:txBody>
                  <a:tcPr marT="45725" marB="45725" marR="91450" marL="91450"/>
                </a:tc>
                <a:tc hMerge="1"/>
                <a:tc gridSpan="2">
                  <a:txBody>
                    <a:bodyPr/>
                    <a:lstStyle/>
                    <a:p>
                      <a:pPr indent="0" lvl="0" marL="0" marR="0" rtl="0" algn="ctr">
                        <a:spcBef>
                          <a:spcPts val="0"/>
                        </a:spcBef>
                        <a:spcAft>
                          <a:spcPts val="0"/>
                        </a:spcAft>
                        <a:buNone/>
                      </a:pPr>
                      <a:r>
                        <a:rPr lang="en-IN" sz="1800"/>
                        <a:t>1</a:t>
                      </a:r>
                      <a:endParaRPr sz="1800"/>
                    </a:p>
                  </a:txBody>
                  <a:tcPr marT="45725" marB="45725" marR="91450" marL="91450"/>
                </a:tc>
                <a:tc hMerge="1"/>
              </a:tr>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sp>
        <p:nvSpPr>
          <p:cNvPr id="3713" name="Google Shape;3713;p283"/>
          <p:cNvSpPr txBox="1"/>
          <p:nvPr/>
        </p:nvSpPr>
        <p:spPr>
          <a:xfrm>
            <a:off x="2774584" y="6525344"/>
            <a:ext cx="62646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Theory of Computer Science-KLP Mishra,N Chandrasekharan</a:t>
            </a:r>
            <a:endParaRPr sz="1800">
              <a:solidFill>
                <a:schemeClr val="dk1"/>
              </a:solidFill>
              <a:latin typeface="Calibri"/>
              <a:ea typeface="Calibri"/>
              <a:cs typeface="Calibri"/>
              <a:sym typeface="Calibri"/>
            </a:endParaRPr>
          </a:p>
        </p:txBody>
      </p:sp>
    </p:spTree>
  </p:cSld>
  <p:clrMapOvr>
    <a:masterClrMapping/>
  </p:clrMapOvr>
</p:sld>
</file>

<file path=ppt/slides/slide2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7" name="Shape 3717"/>
        <p:cNvGrpSpPr/>
        <p:nvPr/>
      </p:nvGrpSpPr>
      <p:grpSpPr>
        <a:xfrm>
          <a:off x="0" y="0"/>
          <a:ext cx="0" cy="0"/>
          <a:chOff x="0" y="0"/>
          <a:chExt cx="0" cy="0"/>
        </a:xfrm>
      </p:grpSpPr>
      <p:sp>
        <p:nvSpPr>
          <p:cNvPr id="3718" name="Google Shape;3718;p284"/>
          <p:cNvSpPr txBox="1"/>
          <p:nvPr>
            <p:ph type="title"/>
          </p:nvPr>
        </p:nvSpPr>
        <p:spPr>
          <a:xfrm>
            <a:off x="467544" y="30413"/>
            <a:ext cx="8229600" cy="4900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Conversion of Mealy Machine to Moore Machine-Eg1</a:t>
            </a:r>
            <a:endParaRPr sz="2800"/>
          </a:p>
        </p:txBody>
      </p:sp>
      <p:sp>
        <p:nvSpPr>
          <p:cNvPr id="3719" name="Google Shape;3719;p28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720" name="Google Shape;3720;p28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721" name="Google Shape;3721;p2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722" name="Google Shape;3722;p2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723" name="Google Shape;3723;p284"/>
          <p:cNvGraphicFramePr/>
          <p:nvPr/>
        </p:nvGraphicFramePr>
        <p:xfrm>
          <a:off x="20929" y="476672"/>
          <a:ext cx="3000000" cy="3000000"/>
        </p:xfrm>
        <a:graphic>
          <a:graphicData uri="http://schemas.openxmlformats.org/drawingml/2006/table">
            <a:tbl>
              <a:tblPr bandRow="1" firstRow="1">
                <a:noFill/>
                <a:tableStyleId>{67F6A887-4D8F-49DA-B730-5EAACEBB6B1F}</a:tableStyleId>
              </a:tblPr>
              <a:tblGrid>
                <a:gridCol w="828100"/>
                <a:gridCol w="568875"/>
                <a:gridCol w="698475"/>
                <a:gridCol w="698475"/>
                <a:gridCol w="698475"/>
              </a:tblGrid>
              <a:tr h="370850">
                <a:tc>
                  <a:txBody>
                    <a:bodyPr/>
                    <a:lstStyle/>
                    <a:p>
                      <a:pPr indent="0" lvl="0" marL="0" marR="0" rtl="0" algn="l">
                        <a:spcBef>
                          <a:spcPts val="0"/>
                        </a:spcBef>
                        <a:spcAft>
                          <a:spcPts val="0"/>
                        </a:spcAft>
                        <a:buNone/>
                      </a:pPr>
                      <a:r>
                        <a:t/>
                      </a:r>
                      <a:endParaRPr sz="1800"/>
                    </a:p>
                  </a:txBody>
                  <a:tcPr marT="45725" marB="45725" marR="91450" marL="91450"/>
                </a:tc>
                <a:tc gridSpan="4">
                  <a:txBody>
                    <a:bodyPr/>
                    <a:lstStyle/>
                    <a:p>
                      <a:pPr indent="0" lvl="0" marL="0" marR="0" rtl="0" algn="l">
                        <a:spcBef>
                          <a:spcPts val="0"/>
                        </a:spcBef>
                        <a:spcAft>
                          <a:spcPts val="0"/>
                        </a:spcAft>
                        <a:buNone/>
                      </a:pPr>
                      <a:r>
                        <a:rPr lang="en-IN" sz="1800"/>
                        <a:t>Inputs</a:t>
                      </a:r>
                      <a:endParaRPr sz="1800"/>
                    </a:p>
                  </a:txBody>
                  <a:tcPr marT="45725" marB="45725" marR="91450" marL="91450"/>
                </a:tc>
                <a:tc hMerge="1"/>
                <a:tc hMerge="1"/>
                <a:tc hMerge="1"/>
              </a:tr>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en-IN" sz="1800"/>
                        <a:t>0</a:t>
                      </a:r>
                      <a:endParaRPr sz="1800"/>
                    </a:p>
                  </a:txBody>
                  <a:tcPr marT="45725" marB="45725" marR="91450" marL="91450"/>
                </a:tc>
                <a:tc hMerge="1"/>
                <a:tc gridSpan="2">
                  <a:txBody>
                    <a:bodyPr/>
                    <a:lstStyle/>
                    <a:p>
                      <a:pPr indent="0" lvl="0" marL="0" marR="0" rtl="0" algn="ctr">
                        <a:spcBef>
                          <a:spcPts val="0"/>
                        </a:spcBef>
                        <a:spcAft>
                          <a:spcPts val="0"/>
                        </a:spcAft>
                        <a:buNone/>
                      </a:pPr>
                      <a:r>
                        <a:rPr lang="en-IN" sz="1800"/>
                        <a:t>1</a:t>
                      </a:r>
                      <a:endParaRPr sz="1800"/>
                    </a:p>
                  </a:txBody>
                  <a:tcPr marT="45725" marB="45725" marR="91450" marL="91450"/>
                </a:tc>
                <a:tc hMerge="1"/>
              </a:tr>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sp>
        <p:nvSpPr>
          <p:cNvPr id="3724" name="Google Shape;3724;p284"/>
          <p:cNvSpPr txBox="1"/>
          <p:nvPr/>
        </p:nvSpPr>
        <p:spPr>
          <a:xfrm>
            <a:off x="2774584" y="6525344"/>
            <a:ext cx="62646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Theory of Computer Science-KLP Mishra,N Chandrasekharan</a:t>
            </a:r>
            <a:endParaRPr sz="1800">
              <a:solidFill>
                <a:schemeClr val="dk1"/>
              </a:solidFill>
              <a:latin typeface="Calibri"/>
              <a:ea typeface="Calibri"/>
              <a:cs typeface="Calibri"/>
              <a:sym typeface="Calibri"/>
            </a:endParaRPr>
          </a:p>
        </p:txBody>
      </p:sp>
    </p:spTree>
  </p:cSld>
  <p:clrMapOvr>
    <a:masterClrMapping/>
  </p:clrMapOvr>
</p:sld>
</file>

<file path=ppt/slides/slide2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8" name="Shape 3728"/>
        <p:cNvGrpSpPr/>
        <p:nvPr/>
      </p:nvGrpSpPr>
      <p:grpSpPr>
        <a:xfrm>
          <a:off x="0" y="0"/>
          <a:ext cx="0" cy="0"/>
          <a:chOff x="0" y="0"/>
          <a:chExt cx="0" cy="0"/>
        </a:xfrm>
      </p:grpSpPr>
      <p:sp>
        <p:nvSpPr>
          <p:cNvPr id="3729" name="Google Shape;3729;p285"/>
          <p:cNvSpPr txBox="1"/>
          <p:nvPr>
            <p:ph type="title"/>
          </p:nvPr>
        </p:nvSpPr>
        <p:spPr>
          <a:xfrm>
            <a:off x="467544" y="30413"/>
            <a:ext cx="8229600" cy="4900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Conversion of Mealy Machine to Moore Machine-Eg1</a:t>
            </a:r>
            <a:endParaRPr sz="2800"/>
          </a:p>
        </p:txBody>
      </p:sp>
      <p:sp>
        <p:nvSpPr>
          <p:cNvPr id="3730" name="Google Shape;3730;p28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q1 is associated with 1</a:t>
            </a:r>
            <a:endParaRPr/>
          </a:p>
          <a:p>
            <a:pPr indent="-342900" lvl="0" marL="342900" rtl="0" algn="l">
              <a:spcBef>
                <a:spcPts val="480"/>
              </a:spcBef>
              <a:spcAft>
                <a:spcPts val="0"/>
              </a:spcAft>
              <a:buClr>
                <a:schemeClr val="dk1"/>
              </a:buClr>
              <a:buSzPts val="2400"/>
              <a:buChar char="•"/>
            </a:pPr>
            <a:r>
              <a:rPr lang="en-IN" sz="2400"/>
              <a:t>q2 is associated with 0 and 1 both so split q2 into q20 and q21</a:t>
            </a:r>
            <a:endParaRPr/>
          </a:p>
          <a:p>
            <a:pPr indent="-342900" lvl="0" marL="342900" rtl="0" algn="l">
              <a:spcBef>
                <a:spcPts val="480"/>
              </a:spcBef>
              <a:spcAft>
                <a:spcPts val="0"/>
              </a:spcAft>
              <a:buClr>
                <a:schemeClr val="dk1"/>
              </a:buClr>
              <a:buSzPts val="2400"/>
              <a:buChar char="•"/>
            </a:pPr>
            <a:r>
              <a:rPr lang="en-IN" sz="2400"/>
              <a:t>q3 is associated with 0</a:t>
            </a:r>
            <a:endParaRPr/>
          </a:p>
          <a:p>
            <a:pPr indent="-342900" lvl="0" marL="342900" rtl="0" algn="l">
              <a:spcBef>
                <a:spcPts val="480"/>
              </a:spcBef>
              <a:spcAft>
                <a:spcPts val="0"/>
              </a:spcAft>
              <a:buClr>
                <a:schemeClr val="dk1"/>
              </a:buClr>
              <a:buSzPts val="2400"/>
              <a:buChar char="•"/>
            </a:pPr>
            <a:r>
              <a:rPr lang="en-IN" sz="2400"/>
              <a:t>q4 is associated with 0 and 1 both so split into q40 qnd q41</a:t>
            </a:r>
            <a:endParaRPr/>
          </a:p>
        </p:txBody>
      </p:sp>
      <p:sp>
        <p:nvSpPr>
          <p:cNvPr id="3731" name="Google Shape;3731;p28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732" name="Google Shape;3732;p2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733" name="Google Shape;3733;p2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734" name="Google Shape;3734;p285"/>
          <p:cNvGraphicFramePr/>
          <p:nvPr/>
        </p:nvGraphicFramePr>
        <p:xfrm>
          <a:off x="755576" y="764704"/>
          <a:ext cx="3000000" cy="3000000"/>
        </p:xfrm>
        <a:graphic>
          <a:graphicData uri="http://schemas.openxmlformats.org/drawingml/2006/table">
            <a:tbl>
              <a:tblPr bandRow="1" firstRow="1">
                <a:noFill/>
                <a:tableStyleId>{67F6A887-4D8F-49DA-B730-5EAACEBB6B1F}</a:tableStyleId>
              </a:tblPr>
              <a:tblGrid>
                <a:gridCol w="828100"/>
                <a:gridCol w="568875"/>
                <a:gridCol w="698475"/>
                <a:gridCol w="698475"/>
                <a:gridCol w="698475"/>
              </a:tblGrid>
              <a:tr h="370850">
                <a:tc>
                  <a:txBody>
                    <a:bodyPr/>
                    <a:lstStyle/>
                    <a:p>
                      <a:pPr indent="0" lvl="0" marL="0" marR="0" rtl="0" algn="l">
                        <a:spcBef>
                          <a:spcPts val="0"/>
                        </a:spcBef>
                        <a:spcAft>
                          <a:spcPts val="0"/>
                        </a:spcAft>
                        <a:buNone/>
                      </a:pPr>
                      <a:r>
                        <a:t/>
                      </a:r>
                      <a:endParaRPr sz="1800"/>
                    </a:p>
                  </a:txBody>
                  <a:tcPr marT="45725" marB="45725" marR="91450" marL="91450"/>
                </a:tc>
                <a:tc gridSpan="4">
                  <a:txBody>
                    <a:bodyPr/>
                    <a:lstStyle/>
                    <a:p>
                      <a:pPr indent="0" lvl="0" marL="0" marR="0" rtl="0" algn="l">
                        <a:spcBef>
                          <a:spcPts val="0"/>
                        </a:spcBef>
                        <a:spcAft>
                          <a:spcPts val="0"/>
                        </a:spcAft>
                        <a:buNone/>
                      </a:pPr>
                      <a:r>
                        <a:rPr lang="en-IN" sz="1800"/>
                        <a:t>Inputs</a:t>
                      </a:r>
                      <a:endParaRPr sz="1800"/>
                    </a:p>
                  </a:txBody>
                  <a:tcPr marT="45725" marB="45725" marR="91450" marL="91450"/>
                </a:tc>
                <a:tc hMerge="1"/>
                <a:tc hMerge="1"/>
                <a:tc hMerge="1"/>
              </a:tr>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en-IN" sz="1800"/>
                        <a:t>0</a:t>
                      </a:r>
                      <a:endParaRPr sz="1800"/>
                    </a:p>
                  </a:txBody>
                  <a:tcPr marT="45725" marB="45725" marR="91450" marL="91450"/>
                </a:tc>
                <a:tc hMerge="1"/>
                <a:tc gridSpan="2">
                  <a:txBody>
                    <a:bodyPr/>
                    <a:lstStyle/>
                    <a:p>
                      <a:pPr indent="0" lvl="0" marL="0" marR="0" rtl="0" algn="ctr">
                        <a:spcBef>
                          <a:spcPts val="0"/>
                        </a:spcBef>
                        <a:spcAft>
                          <a:spcPts val="0"/>
                        </a:spcAft>
                        <a:buNone/>
                      </a:pPr>
                      <a:r>
                        <a:rPr lang="en-IN" sz="1800"/>
                        <a:t>1</a:t>
                      </a:r>
                      <a:endParaRPr sz="1800"/>
                    </a:p>
                  </a:txBody>
                  <a:tcPr marT="45725" marB="45725" marR="91450" marL="91450"/>
                </a:tc>
                <a:tc hMerge="1"/>
              </a:tr>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sp>
        <p:nvSpPr>
          <p:cNvPr id="3735" name="Google Shape;3735;p285"/>
          <p:cNvSpPr txBox="1"/>
          <p:nvPr/>
        </p:nvSpPr>
        <p:spPr>
          <a:xfrm>
            <a:off x="2774584" y="6516052"/>
            <a:ext cx="62646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Theory of Computer Science-KLP Mishra,N Chandrasekharan</a:t>
            </a:r>
            <a:endParaRPr sz="1800">
              <a:solidFill>
                <a:schemeClr val="dk1"/>
              </a:solidFill>
              <a:latin typeface="Calibri"/>
              <a:ea typeface="Calibri"/>
              <a:cs typeface="Calibri"/>
              <a:sym typeface="Calibri"/>
            </a:endParaRPr>
          </a:p>
        </p:txBody>
      </p:sp>
    </p:spTree>
  </p:cSld>
  <p:clrMapOvr>
    <a:masterClrMapping/>
  </p:clrMapOvr>
</p:sld>
</file>

<file path=ppt/slides/slide2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9" name="Shape 3739"/>
        <p:cNvGrpSpPr/>
        <p:nvPr/>
      </p:nvGrpSpPr>
      <p:grpSpPr>
        <a:xfrm>
          <a:off x="0" y="0"/>
          <a:ext cx="0" cy="0"/>
          <a:chOff x="0" y="0"/>
          <a:chExt cx="0" cy="0"/>
        </a:xfrm>
      </p:grpSpPr>
      <p:sp>
        <p:nvSpPr>
          <p:cNvPr id="3740" name="Google Shape;3740;p286"/>
          <p:cNvSpPr txBox="1"/>
          <p:nvPr>
            <p:ph type="title"/>
          </p:nvPr>
        </p:nvSpPr>
        <p:spPr>
          <a:xfrm>
            <a:off x="467544" y="30413"/>
            <a:ext cx="8229600" cy="4900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Conversion of Mealy Machine to Moore Machine-Eg1</a:t>
            </a:r>
            <a:endParaRPr sz="2800"/>
          </a:p>
        </p:txBody>
      </p:sp>
      <p:sp>
        <p:nvSpPr>
          <p:cNvPr id="3741" name="Google Shape;3741;p28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0" lvl="0" marL="0" rtl="0" algn="l">
              <a:spcBef>
                <a:spcPts val="480"/>
              </a:spcBef>
              <a:spcAft>
                <a:spcPts val="0"/>
              </a:spcAft>
              <a:buClr>
                <a:srgbClr val="00B0F0"/>
              </a:buClr>
              <a:buSzPts val="2400"/>
              <a:buNone/>
            </a:pPr>
            <a:r>
              <a:rPr b="1" lang="en-IN" sz="2400">
                <a:solidFill>
                  <a:srgbClr val="00B0F0"/>
                </a:solidFill>
              </a:rPr>
              <a:t>Reconstruct the table</a:t>
            </a:r>
            <a:endParaRPr/>
          </a:p>
          <a:p>
            <a:pPr indent="-342900" lvl="0" marL="342900" rtl="0" algn="l">
              <a:spcBef>
                <a:spcPts val="480"/>
              </a:spcBef>
              <a:spcAft>
                <a:spcPts val="0"/>
              </a:spcAft>
              <a:buClr>
                <a:schemeClr val="dk1"/>
              </a:buClr>
              <a:buSzPts val="2400"/>
              <a:buChar char="•"/>
            </a:pPr>
            <a:r>
              <a:rPr lang="en-IN" sz="2400"/>
              <a:t>BY adding rows for each newly created state after splitting</a:t>
            </a:r>
            <a:endParaRPr sz="2400"/>
          </a:p>
        </p:txBody>
      </p:sp>
      <p:sp>
        <p:nvSpPr>
          <p:cNvPr id="3742" name="Google Shape;3742;p28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743" name="Google Shape;3743;p2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744" name="Google Shape;3744;p2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745" name="Google Shape;3745;p286"/>
          <p:cNvGraphicFramePr/>
          <p:nvPr/>
        </p:nvGraphicFramePr>
        <p:xfrm>
          <a:off x="755576" y="764704"/>
          <a:ext cx="3000000" cy="3000000"/>
        </p:xfrm>
        <a:graphic>
          <a:graphicData uri="http://schemas.openxmlformats.org/drawingml/2006/table">
            <a:tbl>
              <a:tblPr bandRow="1" firstRow="1">
                <a:noFill/>
                <a:tableStyleId>{67F6A887-4D8F-49DA-B730-5EAACEBB6B1F}</a:tableStyleId>
              </a:tblPr>
              <a:tblGrid>
                <a:gridCol w="828100"/>
                <a:gridCol w="568875"/>
                <a:gridCol w="698475"/>
                <a:gridCol w="698475"/>
                <a:gridCol w="698475"/>
              </a:tblGrid>
              <a:tr h="370850">
                <a:tc>
                  <a:txBody>
                    <a:bodyPr/>
                    <a:lstStyle/>
                    <a:p>
                      <a:pPr indent="0" lvl="0" marL="0" marR="0" rtl="0" algn="l">
                        <a:spcBef>
                          <a:spcPts val="0"/>
                        </a:spcBef>
                        <a:spcAft>
                          <a:spcPts val="0"/>
                        </a:spcAft>
                        <a:buNone/>
                      </a:pPr>
                      <a:r>
                        <a:t/>
                      </a:r>
                      <a:endParaRPr sz="1800"/>
                    </a:p>
                  </a:txBody>
                  <a:tcPr marT="45725" marB="45725" marR="91450" marL="91450"/>
                </a:tc>
                <a:tc gridSpan="4">
                  <a:txBody>
                    <a:bodyPr/>
                    <a:lstStyle/>
                    <a:p>
                      <a:pPr indent="0" lvl="0" marL="0" marR="0" rtl="0" algn="l">
                        <a:spcBef>
                          <a:spcPts val="0"/>
                        </a:spcBef>
                        <a:spcAft>
                          <a:spcPts val="0"/>
                        </a:spcAft>
                        <a:buNone/>
                      </a:pPr>
                      <a:r>
                        <a:rPr lang="en-IN" sz="1800"/>
                        <a:t>Inputs</a:t>
                      </a:r>
                      <a:endParaRPr sz="1800"/>
                    </a:p>
                  </a:txBody>
                  <a:tcPr marT="45725" marB="45725" marR="91450" marL="91450"/>
                </a:tc>
                <a:tc hMerge="1"/>
                <a:tc hMerge="1"/>
                <a:tc hMerge="1"/>
              </a:tr>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en-IN" sz="1800"/>
                        <a:t>0</a:t>
                      </a:r>
                      <a:endParaRPr sz="1800"/>
                    </a:p>
                  </a:txBody>
                  <a:tcPr marT="45725" marB="45725" marR="91450" marL="91450"/>
                </a:tc>
                <a:tc hMerge="1"/>
                <a:tc gridSpan="2">
                  <a:txBody>
                    <a:bodyPr/>
                    <a:lstStyle/>
                    <a:p>
                      <a:pPr indent="0" lvl="0" marL="0" marR="0" rtl="0" algn="ctr">
                        <a:spcBef>
                          <a:spcPts val="0"/>
                        </a:spcBef>
                        <a:spcAft>
                          <a:spcPts val="0"/>
                        </a:spcAft>
                        <a:buNone/>
                      </a:pPr>
                      <a:r>
                        <a:rPr lang="en-IN" sz="1800"/>
                        <a:t>1</a:t>
                      </a:r>
                      <a:endParaRPr sz="1800"/>
                    </a:p>
                  </a:txBody>
                  <a:tcPr marT="45725" marB="45725" marR="91450" marL="91450"/>
                </a:tc>
                <a:tc hMerge="1"/>
              </a:tr>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q4</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spTree>
  </p:cSld>
  <p:clrMapOvr>
    <a:masterClrMapping/>
  </p:clrMapOvr>
</p:sld>
</file>

<file path=ppt/slides/slide2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9" name="Shape 3749"/>
        <p:cNvGrpSpPr/>
        <p:nvPr/>
      </p:nvGrpSpPr>
      <p:grpSpPr>
        <a:xfrm>
          <a:off x="0" y="0"/>
          <a:ext cx="0" cy="0"/>
          <a:chOff x="0" y="0"/>
          <a:chExt cx="0" cy="0"/>
        </a:xfrm>
      </p:grpSpPr>
      <p:sp>
        <p:nvSpPr>
          <p:cNvPr id="3750" name="Google Shape;3750;p287"/>
          <p:cNvSpPr txBox="1"/>
          <p:nvPr>
            <p:ph type="title"/>
          </p:nvPr>
        </p:nvSpPr>
        <p:spPr>
          <a:xfrm>
            <a:off x="467544" y="30413"/>
            <a:ext cx="8229600" cy="4900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Conversion of Mealy Machine to Moore Machine-Eg1</a:t>
            </a:r>
            <a:endParaRPr sz="2800"/>
          </a:p>
        </p:txBody>
      </p:sp>
      <p:sp>
        <p:nvSpPr>
          <p:cNvPr id="3751" name="Google Shape;3751;p28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Reconstructed Table</a:t>
            </a:r>
            <a:endParaRPr sz="2400"/>
          </a:p>
        </p:txBody>
      </p:sp>
      <p:sp>
        <p:nvSpPr>
          <p:cNvPr id="3752" name="Google Shape;3752;p28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753" name="Google Shape;3753;p28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754" name="Google Shape;3754;p28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755" name="Google Shape;3755;p287"/>
          <p:cNvGraphicFramePr/>
          <p:nvPr/>
        </p:nvGraphicFramePr>
        <p:xfrm>
          <a:off x="683568" y="764704"/>
          <a:ext cx="3000000" cy="3000000"/>
        </p:xfrm>
        <a:graphic>
          <a:graphicData uri="http://schemas.openxmlformats.org/drawingml/2006/table">
            <a:tbl>
              <a:tblPr bandRow="1" firstRow="1">
                <a:noFill/>
                <a:tableStyleId>{67F6A887-4D8F-49DA-B730-5EAACEBB6B1F}</a:tableStyleId>
              </a:tblPr>
              <a:tblGrid>
                <a:gridCol w="828100"/>
                <a:gridCol w="568875"/>
                <a:gridCol w="698475"/>
                <a:gridCol w="698475"/>
                <a:gridCol w="698475"/>
              </a:tblGrid>
              <a:tr h="370850">
                <a:tc>
                  <a:txBody>
                    <a:bodyPr/>
                    <a:lstStyle/>
                    <a:p>
                      <a:pPr indent="0" lvl="0" marL="0" marR="0" rtl="0" algn="l">
                        <a:spcBef>
                          <a:spcPts val="0"/>
                        </a:spcBef>
                        <a:spcAft>
                          <a:spcPts val="0"/>
                        </a:spcAft>
                        <a:buNone/>
                      </a:pPr>
                      <a:r>
                        <a:t/>
                      </a:r>
                      <a:endParaRPr sz="1800"/>
                    </a:p>
                  </a:txBody>
                  <a:tcPr marT="45725" marB="45725" marR="91450" marL="91450"/>
                </a:tc>
                <a:tc gridSpan="4">
                  <a:txBody>
                    <a:bodyPr/>
                    <a:lstStyle/>
                    <a:p>
                      <a:pPr indent="0" lvl="0" marL="0" marR="0" rtl="0" algn="l">
                        <a:spcBef>
                          <a:spcPts val="0"/>
                        </a:spcBef>
                        <a:spcAft>
                          <a:spcPts val="0"/>
                        </a:spcAft>
                        <a:buNone/>
                      </a:pPr>
                      <a:r>
                        <a:rPr lang="en-IN" sz="1800"/>
                        <a:t>Inputs</a:t>
                      </a:r>
                      <a:endParaRPr sz="1800"/>
                    </a:p>
                  </a:txBody>
                  <a:tcPr marT="45725" marB="45725" marR="91450" marL="91450"/>
                </a:tc>
                <a:tc hMerge="1"/>
                <a:tc hMerge="1"/>
                <a:tc hMerge="1"/>
              </a:tr>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en-IN" sz="1800"/>
                        <a:t>0</a:t>
                      </a:r>
                      <a:endParaRPr sz="1800"/>
                    </a:p>
                  </a:txBody>
                  <a:tcPr marT="45725" marB="45725" marR="91450" marL="91450"/>
                </a:tc>
                <a:tc hMerge="1"/>
                <a:tc gridSpan="2">
                  <a:txBody>
                    <a:bodyPr/>
                    <a:lstStyle/>
                    <a:p>
                      <a:pPr indent="0" lvl="0" marL="0" marR="0" rtl="0" algn="ctr">
                        <a:spcBef>
                          <a:spcPts val="0"/>
                        </a:spcBef>
                        <a:spcAft>
                          <a:spcPts val="0"/>
                        </a:spcAft>
                        <a:buNone/>
                      </a:pPr>
                      <a:r>
                        <a:rPr lang="en-IN" sz="1800"/>
                        <a:t>1</a:t>
                      </a:r>
                      <a:endParaRPr sz="1800"/>
                    </a:p>
                  </a:txBody>
                  <a:tcPr marT="45725" marB="45725" marR="91450" marL="91450"/>
                </a:tc>
                <a:tc hMerge="1"/>
              </a:tr>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q20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q20</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q40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q21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q40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q21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q40</a:t>
                      </a:r>
                      <a:endParaRPr sz="1800"/>
                    </a:p>
                  </a:txBody>
                  <a:tcPr marT="45725" marB="45725" marR="91450" marL="91450"/>
                </a:tc>
                <a:tc>
                  <a:txBody>
                    <a:bodyPr/>
                    <a:lstStyle/>
                    <a:p>
                      <a:pPr indent="0" lvl="0" marL="0" marR="0" rtl="0" algn="l">
                        <a:spcBef>
                          <a:spcPts val="0"/>
                        </a:spcBef>
                        <a:spcAft>
                          <a:spcPts val="0"/>
                        </a:spcAft>
                        <a:buNone/>
                      </a:pPr>
                      <a:r>
                        <a:rPr lang="en-IN" sz="1800"/>
                        <a:t>q41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q41</a:t>
                      </a:r>
                      <a:endParaRPr sz="1800"/>
                    </a:p>
                  </a:txBody>
                  <a:tcPr marT="45725" marB="45725" marR="91450" marL="91450"/>
                </a:tc>
                <a:tc>
                  <a:txBody>
                    <a:bodyPr/>
                    <a:lstStyle/>
                    <a:p>
                      <a:pPr indent="0" lvl="0" marL="0" marR="0" rtl="0" algn="l">
                        <a:spcBef>
                          <a:spcPts val="0"/>
                        </a:spcBef>
                        <a:spcAft>
                          <a:spcPts val="0"/>
                        </a:spcAft>
                        <a:buNone/>
                      </a:pPr>
                      <a:r>
                        <a:rPr lang="en-IN" sz="1800"/>
                        <a:t>q41 </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spTree>
  </p:cSld>
  <p:clrMapOvr>
    <a:masterClrMapping/>
  </p:clrMapOvr>
</p:sld>
</file>

<file path=ppt/slides/slide2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9" name="Shape 3759"/>
        <p:cNvGrpSpPr/>
        <p:nvPr/>
      </p:nvGrpSpPr>
      <p:grpSpPr>
        <a:xfrm>
          <a:off x="0" y="0"/>
          <a:ext cx="0" cy="0"/>
          <a:chOff x="0" y="0"/>
          <a:chExt cx="0" cy="0"/>
        </a:xfrm>
      </p:grpSpPr>
      <p:sp>
        <p:nvSpPr>
          <p:cNvPr id="3760" name="Google Shape;3760;p288"/>
          <p:cNvSpPr txBox="1"/>
          <p:nvPr>
            <p:ph type="title"/>
          </p:nvPr>
        </p:nvSpPr>
        <p:spPr>
          <a:xfrm>
            <a:off x="467544" y="30413"/>
            <a:ext cx="8229600" cy="4900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Conversion of Mealy Machine to Moore Machine-Eg1</a:t>
            </a:r>
            <a:endParaRPr sz="2800"/>
          </a:p>
        </p:txBody>
      </p:sp>
      <p:sp>
        <p:nvSpPr>
          <p:cNvPr id="3761" name="Google Shape;3761;p28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0" lvl="0" marL="0" rtl="0" algn="l">
              <a:spcBef>
                <a:spcPts val="480"/>
              </a:spcBef>
              <a:spcAft>
                <a:spcPts val="0"/>
              </a:spcAft>
              <a:buClr>
                <a:srgbClr val="00B0F0"/>
              </a:buClr>
              <a:buSzPts val="2400"/>
              <a:buNone/>
            </a:pPr>
            <a:r>
              <a:rPr b="1" lang="en-IN" sz="2400">
                <a:solidFill>
                  <a:srgbClr val="00B0F0"/>
                </a:solidFill>
              </a:rPr>
              <a:t>Rearrange the table</a:t>
            </a:r>
            <a:endParaRPr/>
          </a:p>
          <a:p>
            <a:pPr indent="-342900" lvl="0" marL="342900" rtl="0" algn="l">
              <a:spcBef>
                <a:spcPts val="480"/>
              </a:spcBef>
              <a:spcAft>
                <a:spcPts val="0"/>
              </a:spcAft>
              <a:buClr>
                <a:schemeClr val="dk1"/>
              </a:buClr>
              <a:buSzPts val="2400"/>
              <a:buChar char="•"/>
            </a:pPr>
            <a:r>
              <a:rPr lang="en-IN" sz="2400"/>
              <a:t>Pair of states and outputs in the next state column can be rearranged</a:t>
            </a:r>
            <a:endParaRPr sz="2400"/>
          </a:p>
        </p:txBody>
      </p:sp>
      <p:sp>
        <p:nvSpPr>
          <p:cNvPr id="3762" name="Google Shape;3762;p28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763" name="Google Shape;3763;p28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764" name="Google Shape;3764;p28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765" name="Google Shape;3765;p288"/>
          <p:cNvGraphicFramePr/>
          <p:nvPr/>
        </p:nvGraphicFramePr>
        <p:xfrm>
          <a:off x="755576" y="836712"/>
          <a:ext cx="3000000" cy="3000000"/>
        </p:xfrm>
        <a:graphic>
          <a:graphicData uri="http://schemas.openxmlformats.org/drawingml/2006/table">
            <a:tbl>
              <a:tblPr bandRow="1" firstRow="1">
                <a:noFill/>
                <a:tableStyleId>{67F6A887-4D8F-49DA-B730-5EAACEBB6B1F}</a:tableStyleId>
              </a:tblPr>
              <a:tblGrid>
                <a:gridCol w="828100"/>
                <a:gridCol w="568875"/>
                <a:gridCol w="698475"/>
                <a:gridCol w="698475"/>
                <a:gridCol w="698475"/>
              </a:tblGrid>
              <a:tr h="370850">
                <a:tc>
                  <a:txBody>
                    <a:bodyPr/>
                    <a:lstStyle/>
                    <a:p>
                      <a:pPr indent="0" lvl="0" marL="0" marR="0" rtl="0" algn="l">
                        <a:spcBef>
                          <a:spcPts val="0"/>
                        </a:spcBef>
                        <a:spcAft>
                          <a:spcPts val="0"/>
                        </a:spcAft>
                        <a:buNone/>
                      </a:pPr>
                      <a:r>
                        <a:t/>
                      </a:r>
                      <a:endParaRPr sz="1800"/>
                    </a:p>
                  </a:txBody>
                  <a:tcPr marT="45725" marB="45725" marR="91450" marL="91450"/>
                </a:tc>
                <a:tc gridSpan="4">
                  <a:txBody>
                    <a:bodyPr/>
                    <a:lstStyle/>
                    <a:p>
                      <a:pPr indent="0" lvl="0" marL="0" marR="0" rtl="0" algn="l">
                        <a:spcBef>
                          <a:spcPts val="0"/>
                        </a:spcBef>
                        <a:spcAft>
                          <a:spcPts val="0"/>
                        </a:spcAft>
                        <a:buNone/>
                      </a:pPr>
                      <a:r>
                        <a:rPr lang="en-IN" sz="1800"/>
                        <a:t>Inputs</a:t>
                      </a:r>
                      <a:endParaRPr sz="1800"/>
                    </a:p>
                  </a:txBody>
                  <a:tcPr marT="45725" marB="45725" marR="91450" marL="91450"/>
                </a:tc>
                <a:tc hMerge="1"/>
                <a:tc hMerge="1"/>
                <a:tc hMerge="1"/>
              </a:tr>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en-IN" sz="1800"/>
                        <a:t>0</a:t>
                      </a:r>
                      <a:endParaRPr sz="1800"/>
                    </a:p>
                  </a:txBody>
                  <a:tcPr marT="45725" marB="45725" marR="91450" marL="91450"/>
                </a:tc>
                <a:tc hMerge="1"/>
                <a:tc gridSpan="2">
                  <a:txBody>
                    <a:bodyPr/>
                    <a:lstStyle/>
                    <a:p>
                      <a:pPr indent="0" lvl="0" marL="0" marR="0" rtl="0" algn="ctr">
                        <a:spcBef>
                          <a:spcPts val="0"/>
                        </a:spcBef>
                        <a:spcAft>
                          <a:spcPts val="0"/>
                        </a:spcAft>
                        <a:buNone/>
                      </a:pPr>
                      <a:r>
                        <a:rPr lang="en-IN" sz="1800"/>
                        <a:t>1</a:t>
                      </a:r>
                      <a:endParaRPr sz="1800"/>
                    </a:p>
                  </a:txBody>
                  <a:tcPr marT="45725" marB="45725" marR="91450" marL="91450"/>
                </a:tc>
                <a:tc hMerge="1"/>
              </a:tr>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q20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q20</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q40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q21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q40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q21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q40</a:t>
                      </a:r>
                      <a:endParaRPr sz="1800"/>
                    </a:p>
                  </a:txBody>
                  <a:tcPr marT="45725" marB="45725" marR="91450" marL="91450"/>
                </a:tc>
                <a:tc>
                  <a:txBody>
                    <a:bodyPr/>
                    <a:lstStyle/>
                    <a:p>
                      <a:pPr indent="0" lvl="0" marL="0" marR="0" rtl="0" algn="l">
                        <a:spcBef>
                          <a:spcPts val="0"/>
                        </a:spcBef>
                        <a:spcAft>
                          <a:spcPts val="0"/>
                        </a:spcAft>
                        <a:buNone/>
                      </a:pPr>
                      <a:r>
                        <a:rPr lang="en-IN" sz="1800"/>
                        <a:t>q41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q41</a:t>
                      </a:r>
                      <a:endParaRPr sz="1800"/>
                    </a:p>
                  </a:txBody>
                  <a:tcPr marT="45725" marB="45725" marR="91450" marL="91450"/>
                </a:tc>
                <a:tc>
                  <a:txBody>
                    <a:bodyPr/>
                    <a:lstStyle/>
                    <a:p>
                      <a:pPr indent="0" lvl="0" marL="0" marR="0" rtl="0" algn="l">
                        <a:spcBef>
                          <a:spcPts val="0"/>
                        </a:spcBef>
                        <a:spcAft>
                          <a:spcPts val="0"/>
                        </a:spcAft>
                        <a:buNone/>
                      </a:pPr>
                      <a:r>
                        <a:rPr lang="en-IN" sz="1800"/>
                        <a:t>q41 </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graphicFrame>
        <p:nvGraphicFramePr>
          <p:cNvPr id="3766" name="Google Shape;3766;p288"/>
          <p:cNvGraphicFramePr/>
          <p:nvPr/>
        </p:nvGraphicFramePr>
        <p:xfrm>
          <a:off x="4860032" y="908720"/>
          <a:ext cx="3000000" cy="3000000"/>
        </p:xfrm>
        <a:graphic>
          <a:graphicData uri="http://schemas.openxmlformats.org/drawingml/2006/table">
            <a:tbl>
              <a:tblPr bandRow="1" firstRow="1">
                <a:noFill/>
                <a:tableStyleId>{67F6A887-4D8F-49DA-B730-5EAACEBB6B1F}</a:tableStyleId>
              </a:tblPr>
              <a:tblGrid>
                <a:gridCol w="960425"/>
                <a:gridCol w="659775"/>
                <a:gridCol w="612075"/>
                <a:gridCol w="1008100"/>
              </a:tblGrid>
              <a:tr h="370850">
                <a:tc>
                  <a:txBody>
                    <a:bodyPr/>
                    <a:lstStyle/>
                    <a:p>
                      <a:pPr indent="0" lvl="0" marL="0" marR="0" rtl="0" algn="l">
                        <a:spcBef>
                          <a:spcPts val="0"/>
                        </a:spcBef>
                        <a:spcAft>
                          <a:spcPts val="0"/>
                        </a:spcAft>
                        <a:buNone/>
                      </a:pPr>
                      <a:r>
                        <a:t/>
                      </a:r>
                      <a:endParaRPr sz="1800"/>
                    </a:p>
                  </a:txBody>
                  <a:tcPr marT="45725" marB="45725" marR="91450" marL="91450"/>
                </a:tc>
                <a:tc gridSpan="3">
                  <a:txBody>
                    <a:bodyPr/>
                    <a:lstStyle/>
                    <a:p>
                      <a:pPr indent="0" lvl="0" marL="0" marR="0" rtl="0" algn="l">
                        <a:spcBef>
                          <a:spcPts val="0"/>
                        </a:spcBef>
                        <a:spcAft>
                          <a:spcPts val="0"/>
                        </a:spcAft>
                        <a:buNone/>
                      </a:pPr>
                      <a:r>
                        <a:rPr lang="en-IN" sz="1800"/>
                        <a:t>Inputs</a:t>
                      </a:r>
                      <a:endParaRPr sz="1800"/>
                    </a:p>
                  </a:txBody>
                  <a:tcPr marT="45725" marB="45725" marR="91450" marL="91450"/>
                </a:tc>
                <a:tc hMerge="1"/>
                <a:tc hMerge="1"/>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spcBef>
                          <a:spcPts val="0"/>
                        </a:spcBef>
                        <a:spcAft>
                          <a:spcPts val="0"/>
                        </a:spcAft>
                        <a:buNone/>
                      </a:pPr>
                      <a:r>
                        <a:rPr lang="en-IN" sz="1800"/>
                        <a:t>a=0</a:t>
                      </a:r>
                      <a:endParaRPr sz="1800"/>
                    </a:p>
                  </a:txBody>
                  <a:tcPr marT="45725" marB="45725" marR="91450" marL="91450"/>
                </a:tc>
                <a:tc>
                  <a:txBody>
                    <a:bodyPr/>
                    <a:lstStyle/>
                    <a:p>
                      <a:pPr indent="0" lvl="0" marL="0" marR="0" rtl="0" algn="ctr">
                        <a:spcBef>
                          <a:spcPts val="0"/>
                        </a:spcBef>
                        <a:spcAft>
                          <a:spcPts val="0"/>
                        </a:spcAft>
                        <a:buNone/>
                      </a:pPr>
                      <a:r>
                        <a:rPr lang="en-IN" sz="1800"/>
                        <a:t>a=1</a:t>
                      </a:r>
                      <a:endParaRPr sz="1800"/>
                    </a:p>
                  </a:txBody>
                  <a:tcPr marT="45725" marB="45725" marR="91450" marL="91450"/>
                </a:tc>
                <a:tc>
                  <a:txBody>
                    <a:bodyPr/>
                    <a:lstStyle/>
                    <a:p>
                      <a:pPr indent="0" lvl="0" marL="0" marR="0" rtl="0" algn="ctr">
                        <a:spcBef>
                          <a:spcPts val="0"/>
                        </a:spcBef>
                        <a:spcAft>
                          <a:spcPts val="0"/>
                        </a:spcAft>
                        <a:buNone/>
                      </a:pPr>
                      <a:r>
                        <a:rPr lang="en-IN" sz="1800"/>
                        <a:t>Output</a:t>
                      </a:r>
                      <a:endParaRPr sz="1800"/>
                    </a:p>
                  </a:txBody>
                  <a:tcPr marT="45725" marB="45725" marR="91450" marL="91450"/>
                </a:tc>
              </a:tr>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q20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q20</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q40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q21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q40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q21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q40</a:t>
                      </a:r>
                      <a:endParaRPr sz="1800"/>
                    </a:p>
                  </a:txBody>
                  <a:tcPr marT="45725" marB="45725" marR="91450" marL="91450"/>
                </a:tc>
                <a:tc>
                  <a:txBody>
                    <a:bodyPr/>
                    <a:lstStyle/>
                    <a:p>
                      <a:pPr indent="0" lvl="0" marL="0" marR="0" rtl="0" algn="l">
                        <a:spcBef>
                          <a:spcPts val="0"/>
                        </a:spcBef>
                        <a:spcAft>
                          <a:spcPts val="0"/>
                        </a:spcAft>
                        <a:buNone/>
                      </a:pPr>
                      <a:r>
                        <a:rPr lang="en-IN" sz="1800"/>
                        <a:t>q41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q41</a:t>
                      </a:r>
                      <a:endParaRPr sz="1800"/>
                    </a:p>
                  </a:txBody>
                  <a:tcPr marT="45725" marB="45725" marR="91450" marL="91450"/>
                </a:tc>
                <a:tc>
                  <a:txBody>
                    <a:bodyPr/>
                    <a:lstStyle/>
                    <a:p>
                      <a:pPr indent="0" lvl="0" marL="0" marR="0" rtl="0" algn="l">
                        <a:spcBef>
                          <a:spcPts val="0"/>
                        </a:spcBef>
                        <a:spcAft>
                          <a:spcPts val="0"/>
                        </a:spcAft>
                        <a:buNone/>
                      </a:pPr>
                      <a:r>
                        <a:rPr lang="en-IN" sz="1800"/>
                        <a:t>q41 </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bl>
          </a:graphicData>
        </a:graphic>
      </p:graphicFrame>
    </p:spTree>
  </p:cSld>
  <p:clrMapOvr>
    <a:masterClrMapping/>
  </p:clrMapOvr>
</p:sld>
</file>

<file path=ppt/slides/slide2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0" name="Shape 3770"/>
        <p:cNvGrpSpPr/>
        <p:nvPr/>
      </p:nvGrpSpPr>
      <p:grpSpPr>
        <a:xfrm>
          <a:off x="0" y="0"/>
          <a:ext cx="0" cy="0"/>
          <a:chOff x="0" y="0"/>
          <a:chExt cx="0" cy="0"/>
        </a:xfrm>
      </p:grpSpPr>
      <p:sp>
        <p:nvSpPr>
          <p:cNvPr id="3771" name="Google Shape;3771;p289"/>
          <p:cNvSpPr txBox="1"/>
          <p:nvPr>
            <p:ph type="title"/>
          </p:nvPr>
        </p:nvSpPr>
        <p:spPr>
          <a:xfrm>
            <a:off x="467544" y="30413"/>
            <a:ext cx="8229600" cy="4900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Conversion of Mealy Machine to Moore Machine-Eg1</a:t>
            </a:r>
            <a:endParaRPr sz="2800"/>
          </a:p>
        </p:txBody>
      </p:sp>
      <p:sp>
        <p:nvSpPr>
          <p:cNvPr id="3772" name="Google Shape;3772;p289"/>
          <p:cNvSpPr txBox="1"/>
          <p:nvPr>
            <p:ph idx="1" type="body"/>
          </p:nvPr>
        </p:nvSpPr>
        <p:spPr>
          <a:xfrm>
            <a:off x="4211960" y="548680"/>
            <a:ext cx="4474840" cy="557748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B0F0"/>
              </a:buClr>
              <a:buSzPts val="2400"/>
              <a:buNone/>
            </a:pPr>
            <a:r>
              <a:rPr b="1" lang="en-IN" sz="2400">
                <a:solidFill>
                  <a:srgbClr val="00B0F0"/>
                </a:solidFill>
              </a:rPr>
              <a:t>Initial state Check</a:t>
            </a:r>
            <a:endParaRPr/>
          </a:p>
          <a:p>
            <a:pPr indent="-342900" lvl="0" marL="342900" rtl="0" algn="l">
              <a:spcBef>
                <a:spcPts val="480"/>
              </a:spcBef>
              <a:spcAft>
                <a:spcPts val="0"/>
              </a:spcAft>
              <a:buClr>
                <a:schemeClr val="dk1"/>
              </a:buClr>
              <a:buSzPts val="2400"/>
              <a:buChar char="•"/>
            </a:pPr>
            <a:r>
              <a:rPr lang="en-IN" sz="2400"/>
              <a:t>q1 is the initial state &amp; output is 1</a:t>
            </a:r>
            <a:endParaRPr/>
          </a:p>
          <a:p>
            <a:pPr indent="-342900" lvl="0" marL="342900" rtl="0" algn="l">
              <a:spcBef>
                <a:spcPts val="480"/>
              </a:spcBef>
              <a:spcAft>
                <a:spcPts val="0"/>
              </a:spcAft>
              <a:buClr>
                <a:schemeClr val="dk1"/>
              </a:buClr>
              <a:buSzPts val="2400"/>
              <a:buChar char="•"/>
            </a:pPr>
            <a:r>
              <a:rPr lang="en-IN" sz="2400"/>
              <a:t>If someone provides nothing to the FSM, O/P is 1 but this should not take place</a:t>
            </a:r>
            <a:endParaRPr/>
          </a:p>
          <a:p>
            <a:pPr indent="-342900" lvl="0" marL="342900" rtl="0" algn="l">
              <a:spcBef>
                <a:spcPts val="480"/>
              </a:spcBef>
              <a:spcAft>
                <a:spcPts val="0"/>
              </a:spcAft>
              <a:buClr>
                <a:schemeClr val="dk1"/>
              </a:buClr>
              <a:buSzPts val="2400"/>
              <a:buChar char="•"/>
            </a:pPr>
            <a:r>
              <a:rPr lang="en-IN" sz="2400"/>
              <a:t>So, we insert one more state say q0 which becomes the initial state with output=0 &amp; the next state values of state q1 are copied in it also</a:t>
            </a:r>
            <a:endParaRPr/>
          </a:p>
          <a:p>
            <a:pPr indent="-342900" lvl="0" marL="342900" rtl="0" algn="l">
              <a:spcBef>
                <a:spcPts val="480"/>
              </a:spcBef>
              <a:spcAft>
                <a:spcPts val="0"/>
              </a:spcAft>
              <a:buClr>
                <a:schemeClr val="dk1"/>
              </a:buClr>
              <a:buSzPts val="2400"/>
              <a:buChar char="•"/>
            </a:pPr>
            <a:r>
              <a:rPr lang="en-IN" sz="2400"/>
              <a:t>Else if q1 was having O/P=0 then there was need of inserting any new state</a:t>
            </a:r>
            <a:endParaRPr sz="2400"/>
          </a:p>
        </p:txBody>
      </p:sp>
      <p:sp>
        <p:nvSpPr>
          <p:cNvPr id="3773" name="Google Shape;3773;p28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774" name="Google Shape;3774;p28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775" name="Google Shape;3775;p28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776" name="Google Shape;3776;p289"/>
          <p:cNvGraphicFramePr/>
          <p:nvPr/>
        </p:nvGraphicFramePr>
        <p:xfrm>
          <a:off x="467544" y="1484784"/>
          <a:ext cx="3000000" cy="3000000"/>
        </p:xfrm>
        <a:graphic>
          <a:graphicData uri="http://schemas.openxmlformats.org/drawingml/2006/table">
            <a:tbl>
              <a:tblPr bandRow="1" firstRow="1">
                <a:noFill/>
                <a:tableStyleId>{67F6A887-4D8F-49DA-B730-5EAACEBB6B1F}</a:tableStyleId>
              </a:tblPr>
              <a:tblGrid>
                <a:gridCol w="960425"/>
                <a:gridCol w="659775"/>
                <a:gridCol w="612075"/>
                <a:gridCol w="1008100"/>
              </a:tblGrid>
              <a:tr h="370850">
                <a:tc>
                  <a:txBody>
                    <a:bodyPr/>
                    <a:lstStyle/>
                    <a:p>
                      <a:pPr indent="0" lvl="0" marL="0" marR="0" rtl="0" algn="l">
                        <a:spcBef>
                          <a:spcPts val="0"/>
                        </a:spcBef>
                        <a:spcAft>
                          <a:spcPts val="0"/>
                        </a:spcAft>
                        <a:buNone/>
                      </a:pPr>
                      <a:r>
                        <a:t/>
                      </a:r>
                      <a:endParaRPr sz="1800"/>
                    </a:p>
                  </a:txBody>
                  <a:tcPr marT="45725" marB="45725" marR="91450" marL="91450"/>
                </a:tc>
                <a:tc gridSpan="3">
                  <a:txBody>
                    <a:bodyPr/>
                    <a:lstStyle/>
                    <a:p>
                      <a:pPr indent="0" lvl="0" marL="0" marR="0" rtl="0" algn="l">
                        <a:spcBef>
                          <a:spcPts val="0"/>
                        </a:spcBef>
                        <a:spcAft>
                          <a:spcPts val="0"/>
                        </a:spcAft>
                        <a:buNone/>
                      </a:pPr>
                      <a:r>
                        <a:rPr lang="en-IN" sz="1800"/>
                        <a:t>Inputs</a:t>
                      </a:r>
                      <a:endParaRPr sz="1800"/>
                    </a:p>
                  </a:txBody>
                  <a:tcPr marT="45725" marB="45725" marR="91450" marL="91450"/>
                </a:tc>
                <a:tc hMerge="1"/>
                <a:tc hMerge="1"/>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spcBef>
                          <a:spcPts val="0"/>
                        </a:spcBef>
                        <a:spcAft>
                          <a:spcPts val="0"/>
                        </a:spcAft>
                        <a:buNone/>
                      </a:pPr>
                      <a:r>
                        <a:rPr lang="en-IN" sz="1800"/>
                        <a:t>a=0</a:t>
                      </a:r>
                      <a:endParaRPr sz="1800"/>
                    </a:p>
                  </a:txBody>
                  <a:tcPr marT="45725" marB="45725" marR="91450" marL="91450"/>
                </a:tc>
                <a:tc>
                  <a:txBody>
                    <a:bodyPr/>
                    <a:lstStyle/>
                    <a:p>
                      <a:pPr indent="0" lvl="0" marL="0" marR="0" rtl="0" algn="ctr">
                        <a:spcBef>
                          <a:spcPts val="0"/>
                        </a:spcBef>
                        <a:spcAft>
                          <a:spcPts val="0"/>
                        </a:spcAft>
                        <a:buNone/>
                      </a:pPr>
                      <a:r>
                        <a:rPr lang="en-IN" sz="1800"/>
                        <a:t>a=1</a:t>
                      </a:r>
                      <a:endParaRPr sz="1800"/>
                    </a:p>
                  </a:txBody>
                  <a:tcPr marT="45725" marB="45725" marR="91450" marL="91450"/>
                </a:tc>
                <a:tc>
                  <a:txBody>
                    <a:bodyPr/>
                    <a:lstStyle/>
                    <a:p>
                      <a:pPr indent="0" lvl="0" marL="0" marR="0" rtl="0" algn="ctr">
                        <a:spcBef>
                          <a:spcPts val="0"/>
                        </a:spcBef>
                        <a:spcAft>
                          <a:spcPts val="0"/>
                        </a:spcAft>
                        <a:buNone/>
                      </a:pPr>
                      <a:r>
                        <a:rPr lang="en-IN" sz="1800"/>
                        <a:t>Output</a:t>
                      </a:r>
                      <a:endParaRPr sz="1800"/>
                    </a:p>
                  </a:txBody>
                  <a:tcPr marT="45725" marB="45725" marR="91450" marL="91450"/>
                </a:tc>
              </a:tr>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Q</a:t>
                      </a:r>
                      <a:endParaRPr sz="1800"/>
                    </a:p>
                  </a:txBody>
                  <a:tcPr marT="45725" marB="45725" marR="91450" marL="91450"/>
                </a:tc>
                <a:tc>
                  <a:txBody>
                    <a:bodyPr/>
                    <a:lstStyle/>
                    <a:p>
                      <a:pPr indent="0" lvl="0" marL="0" marR="0" rtl="0" algn="l">
                        <a:spcBef>
                          <a:spcPts val="0"/>
                        </a:spcBef>
                        <a:spcAft>
                          <a:spcPts val="0"/>
                        </a:spcAft>
                        <a:buNone/>
                      </a:pPr>
                      <a:r>
                        <a:rPr lang="en-IN" sz="1800"/>
                        <a:t>Δ</a:t>
                      </a:r>
                      <a:endParaRPr sz="1800"/>
                    </a:p>
                  </a:txBody>
                  <a:tcPr marT="45725" marB="45725" marR="91450" marL="91450"/>
                </a:tc>
              </a:tr>
              <a:tr h="370850">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q20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q20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q20</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q40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q21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q40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q21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q40</a:t>
                      </a:r>
                      <a:endParaRPr sz="1800"/>
                    </a:p>
                  </a:txBody>
                  <a:tcPr marT="45725" marB="45725" marR="91450" marL="91450"/>
                </a:tc>
                <a:tc>
                  <a:txBody>
                    <a:bodyPr/>
                    <a:lstStyle/>
                    <a:p>
                      <a:pPr indent="0" lvl="0" marL="0" marR="0" rtl="0" algn="l">
                        <a:spcBef>
                          <a:spcPts val="0"/>
                        </a:spcBef>
                        <a:spcAft>
                          <a:spcPts val="0"/>
                        </a:spcAft>
                        <a:buNone/>
                      </a:pPr>
                      <a:r>
                        <a:rPr lang="en-IN" sz="1800"/>
                        <a:t>q41</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q41</a:t>
                      </a:r>
                      <a:endParaRPr sz="1800"/>
                    </a:p>
                  </a:txBody>
                  <a:tcPr marT="45725" marB="45725" marR="91450" marL="91450"/>
                </a:tc>
                <a:tc>
                  <a:txBody>
                    <a:bodyPr/>
                    <a:lstStyle/>
                    <a:p>
                      <a:pPr indent="0" lvl="0" marL="0" marR="0" rtl="0" algn="l">
                        <a:spcBef>
                          <a:spcPts val="0"/>
                        </a:spcBef>
                        <a:spcAft>
                          <a:spcPts val="0"/>
                        </a:spcAft>
                        <a:buNone/>
                      </a:pPr>
                      <a:r>
                        <a:rPr lang="en-IN" sz="1800"/>
                        <a:t>q41 </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bl>
          </a:graphicData>
        </a:graphic>
      </p:graphicFrame>
    </p:spTree>
  </p:cSld>
  <p:clrMapOvr>
    <a:masterClrMapping/>
  </p:clrMapOvr>
</p:sld>
</file>

<file path=ppt/slides/slide2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0" name="Shape 3780"/>
        <p:cNvGrpSpPr/>
        <p:nvPr/>
      </p:nvGrpSpPr>
      <p:grpSpPr>
        <a:xfrm>
          <a:off x="0" y="0"/>
          <a:ext cx="0" cy="0"/>
          <a:chOff x="0" y="0"/>
          <a:chExt cx="0" cy="0"/>
        </a:xfrm>
      </p:grpSpPr>
      <p:sp>
        <p:nvSpPr>
          <p:cNvPr id="3781" name="Google Shape;3781;p290"/>
          <p:cNvSpPr txBox="1"/>
          <p:nvPr>
            <p:ph type="title"/>
          </p:nvPr>
        </p:nvSpPr>
        <p:spPr>
          <a:xfrm>
            <a:off x="395536" y="980728"/>
            <a:ext cx="8229600" cy="4900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Conversion of Moore Machine to Mealy Machine</a:t>
            </a:r>
            <a:endParaRPr sz="2800"/>
          </a:p>
        </p:txBody>
      </p:sp>
      <p:sp>
        <p:nvSpPr>
          <p:cNvPr id="3782" name="Google Shape;3782;p29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783" name="Google Shape;3783;p29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784" name="Google Shape;3784;p29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785" name="Google Shape;3785;p29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2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9" name="Shape 3789"/>
        <p:cNvGrpSpPr/>
        <p:nvPr/>
      </p:nvGrpSpPr>
      <p:grpSpPr>
        <a:xfrm>
          <a:off x="0" y="0"/>
          <a:ext cx="0" cy="0"/>
          <a:chOff x="0" y="0"/>
          <a:chExt cx="0" cy="0"/>
        </a:xfrm>
      </p:grpSpPr>
      <p:sp>
        <p:nvSpPr>
          <p:cNvPr id="3790" name="Google Shape;3790;p291"/>
          <p:cNvSpPr txBox="1"/>
          <p:nvPr>
            <p:ph type="title"/>
          </p:nvPr>
        </p:nvSpPr>
        <p:spPr>
          <a:xfrm>
            <a:off x="467544" y="30413"/>
            <a:ext cx="8229600" cy="4900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Conversion of Moore Machine to Mealy Machine-Eg1</a:t>
            </a:r>
            <a:endParaRPr sz="2800"/>
          </a:p>
        </p:txBody>
      </p:sp>
      <p:sp>
        <p:nvSpPr>
          <p:cNvPr id="3791" name="Google Shape;3791;p29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792" name="Google Shape;3792;p29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793" name="Google Shape;3793;p29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794" name="Google Shape;3794;p291"/>
          <p:cNvGraphicFramePr/>
          <p:nvPr/>
        </p:nvGraphicFramePr>
        <p:xfrm>
          <a:off x="827584" y="1124744"/>
          <a:ext cx="3000000" cy="3000000"/>
        </p:xfrm>
        <a:graphic>
          <a:graphicData uri="http://schemas.openxmlformats.org/drawingml/2006/table">
            <a:tbl>
              <a:tblPr bandRow="1" firstRow="1">
                <a:noFill/>
                <a:tableStyleId>{67F6A887-4D8F-49DA-B730-5EAACEBB6B1F}</a:tableStyleId>
              </a:tblPr>
              <a:tblGrid>
                <a:gridCol w="936100"/>
                <a:gridCol w="936100"/>
                <a:gridCol w="936100"/>
                <a:gridCol w="936100"/>
              </a:tblGrid>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l">
                        <a:spcBef>
                          <a:spcPts val="0"/>
                        </a:spcBef>
                        <a:spcAft>
                          <a:spcPts val="0"/>
                        </a:spcAft>
                        <a:buNone/>
                      </a:pPr>
                      <a:r>
                        <a:rPr lang="en-IN" sz="1800"/>
                        <a:t>Next state</a:t>
                      </a:r>
                      <a:endParaRPr sz="1800"/>
                    </a:p>
                  </a:txBody>
                  <a:tcPr marT="45725" marB="45725" marR="91450" marL="91450"/>
                </a:tc>
                <a:tc hMerge="1"/>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a</a:t>
                      </a:r>
                      <a:endParaRPr sz="1800"/>
                    </a:p>
                  </a:txBody>
                  <a:tcPr marT="45725" marB="45725" marR="91450" marL="91450"/>
                </a:tc>
                <a:tc>
                  <a:txBody>
                    <a:bodyPr/>
                    <a:lstStyle/>
                    <a:p>
                      <a:pPr indent="0" lvl="0" marL="0" marR="0" rtl="0" algn="l">
                        <a:spcBef>
                          <a:spcPts val="0"/>
                        </a:spcBef>
                        <a:spcAft>
                          <a:spcPts val="0"/>
                        </a:spcAft>
                        <a:buNone/>
                      </a:pPr>
                      <a:r>
                        <a:rPr lang="en-IN" sz="1800"/>
                        <a:t>b</a:t>
                      </a:r>
                      <a:endParaRPr sz="1800"/>
                    </a:p>
                  </a:txBody>
                  <a:tcPr marT="45725" marB="45725" marR="91450" marL="91450"/>
                </a:tc>
                <a:tc>
                  <a:txBody>
                    <a:bodyPr/>
                    <a:lstStyle/>
                    <a:p>
                      <a:pPr indent="0" lvl="0" marL="0" marR="0" rtl="0" algn="l">
                        <a:spcBef>
                          <a:spcPts val="0"/>
                        </a:spcBef>
                        <a:spcAft>
                          <a:spcPts val="0"/>
                        </a:spcAft>
                        <a:buNone/>
                      </a:pPr>
                      <a:r>
                        <a:rPr lang="en-IN" sz="1800"/>
                        <a:t>Output</a:t>
                      </a:r>
                      <a:endParaRPr sz="1800"/>
                    </a:p>
                  </a:txBody>
                  <a:tcPr marT="45725" marB="45725" marR="91450" marL="91450"/>
                </a:tc>
              </a:tr>
              <a:tr h="370850">
                <a:tc>
                  <a:txBody>
                    <a:bodyPr/>
                    <a:lstStyle/>
                    <a:p>
                      <a:pPr indent="0" lvl="0" marL="0" marR="0" rtl="0" algn="l">
                        <a:spcBef>
                          <a:spcPts val="0"/>
                        </a:spcBef>
                        <a:spcAft>
                          <a:spcPts val="0"/>
                        </a:spcAft>
                        <a:buNone/>
                      </a:pPr>
                      <a:r>
                        <a:rPr lang="en-IN" sz="1800"/>
                        <a:t>qo</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cxnSp>
        <p:nvCxnSpPr>
          <p:cNvPr id="3795" name="Google Shape;3795;p291"/>
          <p:cNvCxnSpPr/>
          <p:nvPr/>
        </p:nvCxnSpPr>
        <p:spPr>
          <a:xfrm>
            <a:off x="251520" y="1628800"/>
            <a:ext cx="504056" cy="0"/>
          </a:xfrm>
          <a:prstGeom prst="straightConnector1">
            <a:avLst/>
          </a:prstGeom>
          <a:noFill/>
          <a:ln cap="flat" cmpd="sng" w="9525">
            <a:solidFill>
              <a:srgbClr val="4A7DBA"/>
            </a:solidFill>
            <a:prstDash val="solid"/>
            <a:round/>
            <a:headEnd len="sm" w="sm" type="none"/>
            <a:tailEnd len="med" w="med" type="stealth"/>
          </a:ln>
        </p:spPr>
      </p:cxnSp>
      <p:sp>
        <p:nvSpPr>
          <p:cNvPr id="3796" name="Google Shape;3796;p291"/>
          <p:cNvSpPr txBox="1"/>
          <p:nvPr/>
        </p:nvSpPr>
        <p:spPr>
          <a:xfrm>
            <a:off x="2774584" y="6516052"/>
            <a:ext cx="62646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Theory of Computer Science-KLP Mishra,N Chandrasekharan</a:t>
            </a:r>
            <a:endParaRPr sz="1800">
              <a:solidFill>
                <a:schemeClr val="dk1"/>
              </a:solidFill>
              <a:latin typeface="Calibri"/>
              <a:ea typeface="Calibri"/>
              <a:cs typeface="Calibri"/>
              <a:sym typeface="Calibri"/>
            </a:endParaRPr>
          </a:p>
        </p:txBody>
      </p:sp>
    </p:spTree>
  </p:cSld>
  <p:clrMapOvr>
    <a:masterClrMapping/>
  </p:clrMapOvr>
</p:sld>
</file>

<file path=ppt/slides/slide2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0" name="Shape 3800"/>
        <p:cNvGrpSpPr/>
        <p:nvPr/>
      </p:nvGrpSpPr>
      <p:grpSpPr>
        <a:xfrm>
          <a:off x="0" y="0"/>
          <a:ext cx="0" cy="0"/>
          <a:chOff x="0" y="0"/>
          <a:chExt cx="0" cy="0"/>
        </a:xfrm>
      </p:grpSpPr>
      <p:sp>
        <p:nvSpPr>
          <p:cNvPr id="3801" name="Google Shape;3801;p292"/>
          <p:cNvSpPr txBox="1"/>
          <p:nvPr>
            <p:ph type="title"/>
          </p:nvPr>
        </p:nvSpPr>
        <p:spPr>
          <a:xfrm>
            <a:off x="467544" y="30413"/>
            <a:ext cx="8229600" cy="4900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Conversion of Moore Machine to Mealy Machine-Eg1</a:t>
            </a:r>
            <a:endParaRPr sz="2800"/>
          </a:p>
        </p:txBody>
      </p:sp>
      <p:sp>
        <p:nvSpPr>
          <p:cNvPr id="3802" name="Google Shape;3802;p292"/>
          <p:cNvSpPr txBox="1"/>
          <p:nvPr>
            <p:ph idx="1" type="body"/>
          </p:nvPr>
        </p:nvSpPr>
        <p:spPr>
          <a:xfrm>
            <a:off x="457200" y="1600200"/>
            <a:ext cx="8229600" cy="4925144"/>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rgbClr val="00B0F0"/>
              </a:buClr>
              <a:buSzPts val="2400"/>
              <a:buNone/>
            </a:pPr>
            <a:r>
              <a:rPr b="1" lang="en-IN" sz="2400">
                <a:solidFill>
                  <a:srgbClr val="00B0F0"/>
                </a:solidFill>
              </a:rPr>
              <a:t>Reconstruct the Table</a:t>
            </a:r>
            <a:endParaRPr/>
          </a:p>
          <a:p>
            <a:pPr indent="-342900" lvl="0" marL="342900" rtl="0" algn="l">
              <a:spcBef>
                <a:spcPts val="480"/>
              </a:spcBef>
              <a:spcAft>
                <a:spcPts val="0"/>
              </a:spcAft>
              <a:buClr>
                <a:schemeClr val="dk1"/>
              </a:buClr>
              <a:buSzPts val="2400"/>
              <a:buChar char="•"/>
            </a:pPr>
            <a:r>
              <a:rPr lang="en-IN" sz="2400"/>
              <a:t>For every input symbol, we form the pair consisting of the next state and the corresponding output and reconstruct the table for Mealy Machine </a:t>
            </a:r>
            <a:endParaRPr/>
          </a:p>
          <a:p>
            <a:pPr indent="-342900" lvl="0" marL="342900" rtl="0" algn="l">
              <a:spcBef>
                <a:spcPts val="480"/>
              </a:spcBef>
              <a:spcAft>
                <a:spcPts val="0"/>
              </a:spcAft>
              <a:buClr>
                <a:schemeClr val="dk1"/>
              </a:buClr>
              <a:buSzPts val="2400"/>
              <a:buChar char="•"/>
            </a:pPr>
            <a:r>
              <a:rPr lang="en-IN" sz="2400"/>
              <a:t>Check present state q3 is associated with which output? i.e. 0</a:t>
            </a:r>
            <a:endParaRPr/>
          </a:p>
          <a:p>
            <a:pPr indent="-342900" lvl="0" marL="342900" rtl="0" algn="l">
              <a:spcBef>
                <a:spcPts val="480"/>
              </a:spcBef>
              <a:spcAft>
                <a:spcPts val="0"/>
              </a:spcAft>
              <a:buClr>
                <a:schemeClr val="dk1"/>
              </a:buClr>
              <a:buSzPts val="2400"/>
              <a:buChar char="•"/>
            </a:pPr>
            <a:r>
              <a:rPr lang="en-IN" sz="2400"/>
              <a:t>Check present state q1 is associated with which output? i.e. </a:t>
            </a:r>
            <a:endParaRPr/>
          </a:p>
          <a:p>
            <a:pPr indent="-190500" lvl="0" marL="342900" rtl="0" algn="l">
              <a:spcBef>
                <a:spcPts val="480"/>
              </a:spcBef>
              <a:spcAft>
                <a:spcPts val="0"/>
              </a:spcAft>
              <a:buClr>
                <a:schemeClr val="dk1"/>
              </a:buClr>
              <a:buSzPts val="2400"/>
              <a:buNone/>
            </a:pPr>
            <a:r>
              <a:t/>
            </a:r>
            <a:endParaRPr sz="2400"/>
          </a:p>
        </p:txBody>
      </p:sp>
      <p:sp>
        <p:nvSpPr>
          <p:cNvPr id="3803" name="Google Shape;3803;p29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804" name="Google Shape;3804;p29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805" name="Google Shape;3805;p29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806" name="Google Shape;3806;p292"/>
          <p:cNvGraphicFramePr/>
          <p:nvPr/>
        </p:nvGraphicFramePr>
        <p:xfrm>
          <a:off x="827584" y="1124744"/>
          <a:ext cx="3000000" cy="3000000"/>
        </p:xfrm>
        <a:graphic>
          <a:graphicData uri="http://schemas.openxmlformats.org/drawingml/2006/table">
            <a:tbl>
              <a:tblPr bandRow="1" firstRow="1">
                <a:noFill/>
                <a:tableStyleId>{67F6A887-4D8F-49DA-B730-5EAACEBB6B1F}</a:tableStyleId>
              </a:tblPr>
              <a:tblGrid>
                <a:gridCol w="936100"/>
                <a:gridCol w="936100"/>
                <a:gridCol w="936100"/>
                <a:gridCol w="936100"/>
              </a:tblGrid>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l">
                        <a:spcBef>
                          <a:spcPts val="0"/>
                        </a:spcBef>
                        <a:spcAft>
                          <a:spcPts val="0"/>
                        </a:spcAft>
                        <a:buNone/>
                      </a:pPr>
                      <a:r>
                        <a:rPr lang="en-IN" sz="1800"/>
                        <a:t>Next state</a:t>
                      </a:r>
                      <a:endParaRPr sz="1800"/>
                    </a:p>
                  </a:txBody>
                  <a:tcPr marT="45725" marB="45725" marR="91450" marL="91450"/>
                </a:tc>
                <a:tc hMerge="1"/>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en-IN" sz="1800"/>
                        <a:t>States</a:t>
                      </a:r>
                      <a:endParaRPr sz="1800"/>
                    </a:p>
                  </a:txBody>
                  <a:tcPr marT="45725" marB="45725" marR="91450" marL="91450"/>
                </a:tc>
                <a:tc>
                  <a:txBody>
                    <a:bodyPr/>
                    <a:lstStyle/>
                    <a:p>
                      <a:pPr indent="0" lvl="0" marL="0" marR="0" rtl="0" algn="l">
                        <a:spcBef>
                          <a:spcPts val="0"/>
                        </a:spcBef>
                        <a:spcAft>
                          <a:spcPts val="0"/>
                        </a:spcAft>
                        <a:buNone/>
                      </a:pPr>
                      <a:r>
                        <a:rPr lang="en-IN" sz="1800"/>
                        <a:t>a</a:t>
                      </a:r>
                      <a:endParaRPr sz="1800"/>
                    </a:p>
                  </a:txBody>
                  <a:tcPr marT="45725" marB="45725" marR="91450" marL="91450"/>
                </a:tc>
                <a:tc>
                  <a:txBody>
                    <a:bodyPr/>
                    <a:lstStyle/>
                    <a:p>
                      <a:pPr indent="0" lvl="0" marL="0" marR="0" rtl="0" algn="l">
                        <a:spcBef>
                          <a:spcPts val="0"/>
                        </a:spcBef>
                        <a:spcAft>
                          <a:spcPts val="0"/>
                        </a:spcAft>
                        <a:buNone/>
                      </a:pPr>
                      <a:r>
                        <a:rPr lang="en-IN" sz="1800"/>
                        <a:t>b</a:t>
                      </a:r>
                      <a:endParaRPr sz="1800"/>
                    </a:p>
                  </a:txBody>
                  <a:tcPr marT="45725" marB="45725" marR="91450" marL="91450"/>
                </a:tc>
                <a:tc>
                  <a:txBody>
                    <a:bodyPr/>
                    <a:lstStyle/>
                    <a:p>
                      <a:pPr indent="0" lvl="0" marL="0" marR="0" rtl="0" algn="l">
                        <a:spcBef>
                          <a:spcPts val="0"/>
                        </a:spcBef>
                        <a:spcAft>
                          <a:spcPts val="0"/>
                        </a:spcAft>
                        <a:buNone/>
                      </a:pPr>
                      <a:r>
                        <a:rPr lang="en-IN" sz="1800"/>
                        <a:t>Output</a:t>
                      </a:r>
                      <a:endParaRPr sz="1800"/>
                    </a:p>
                  </a:txBody>
                  <a:tcPr marT="45725" marB="45725" marR="91450" marL="91450"/>
                </a:tc>
              </a:tr>
              <a:tr h="370850">
                <a:tc>
                  <a:txBody>
                    <a:bodyPr/>
                    <a:lstStyle/>
                    <a:p>
                      <a:pPr indent="0" lvl="0" marL="0" marR="0" rtl="0" algn="l">
                        <a:spcBef>
                          <a:spcPts val="0"/>
                        </a:spcBef>
                        <a:spcAft>
                          <a:spcPts val="0"/>
                        </a:spcAft>
                        <a:buNone/>
                      </a:pPr>
                      <a:r>
                        <a:rPr lang="en-IN" sz="1800"/>
                        <a:t>qo</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cxnSp>
        <p:nvCxnSpPr>
          <p:cNvPr id="3807" name="Google Shape;3807;p292"/>
          <p:cNvCxnSpPr/>
          <p:nvPr/>
        </p:nvCxnSpPr>
        <p:spPr>
          <a:xfrm>
            <a:off x="251520" y="1628800"/>
            <a:ext cx="504056" cy="0"/>
          </a:xfrm>
          <a:prstGeom prst="straightConnector1">
            <a:avLst/>
          </a:prstGeom>
          <a:noFill/>
          <a:ln cap="flat" cmpd="sng" w="9525">
            <a:solidFill>
              <a:srgbClr val="4A7DBA"/>
            </a:solidFill>
            <a:prstDash val="solid"/>
            <a:round/>
            <a:headEnd len="sm" w="sm" type="none"/>
            <a:tailEnd len="med" w="med" type="stealth"/>
          </a:ln>
        </p:spPr>
      </p:cxnSp>
      <p:sp>
        <p:nvSpPr>
          <p:cNvPr id="3808" name="Google Shape;3808;p292"/>
          <p:cNvSpPr txBox="1"/>
          <p:nvPr/>
        </p:nvSpPr>
        <p:spPr>
          <a:xfrm>
            <a:off x="2774584" y="6516052"/>
            <a:ext cx="62646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Theory of Computer Science-KLP Mishra,N Chandrasekharan</a:t>
            </a:r>
            <a:endParaRPr sz="1800">
              <a:solidFill>
                <a:schemeClr val="dk1"/>
              </a:solidFill>
              <a:latin typeface="Calibri"/>
              <a:ea typeface="Calibri"/>
              <a:cs typeface="Calibri"/>
              <a:sym typeface="Calibri"/>
            </a:endParaRPr>
          </a:p>
        </p:txBody>
      </p:sp>
    </p:spTree>
  </p:cSld>
  <p:clrMapOvr>
    <a:masterClrMapping/>
  </p:clrMapOvr>
</p:sld>
</file>

<file path=ppt/slides/slide2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2" name="Shape 3812"/>
        <p:cNvGrpSpPr/>
        <p:nvPr/>
      </p:nvGrpSpPr>
      <p:grpSpPr>
        <a:xfrm>
          <a:off x="0" y="0"/>
          <a:ext cx="0" cy="0"/>
          <a:chOff x="0" y="0"/>
          <a:chExt cx="0" cy="0"/>
        </a:xfrm>
      </p:grpSpPr>
      <p:sp>
        <p:nvSpPr>
          <p:cNvPr id="3813" name="Google Shape;3813;p293"/>
          <p:cNvSpPr txBox="1"/>
          <p:nvPr>
            <p:ph type="title"/>
          </p:nvPr>
        </p:nvSpPr>
        <p:spPr>
          <a:xfrm>
            <a:off x="467544" y="30413"/>
            <a:ext cx="8229600" cy="4900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Conversion of Moore Machine to Mealy Machine-Eg1</a:t>
            </a:r>
            <a:endParaRPr sz="2800"/>
          </a:p>
        </p:txBody>
      </p:sp>
      <p:sp>
        <p:nvSpPr>
          <p:cNvPr id="3814" name="Google Shape;3814;p29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3815" name="Google Shape;3815;p29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816" name="Google Shape;3816;p29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817" name="Google Shape;3817;p2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818" name="Google Shape;3818;p293"/>
          <p:cNvGraphicFramePr/>
          <p:nvPr/>
        </p:nvGraphicFramePr>
        <p:xfrm>
          <a:off x="754088" y="692696"/>
          <a:ext cx="3000000" cy="3000000"/>
        </p:xfrm>
        <a:graphic>
          <a:graphicData uri="http://schemas.openxmlformats.org/drawingml/2006/table">
            <a:tbl>
              <a:tblPr bandRow="1" firstRow="1">
                <a:noFill/>
                <a:tableStyleId>{67F6A887-4D8F-49DA-B730-5EAACEBB6B1F}</a:tableStyleId>
              </a:tblPr>
              <a:tblGrid>
                <a:gridCol w="979600"/>
                <a:gridCol w="979600"/>
                <a:gridCol w="979600"/>
                <a:gridCol w="979600"/>
                <a:gridCol w="979600"/>
              </a:tblGrid>
              <a:tr h="370850">
                <a:tc>
                  <a:txBody>
                    <a:bodyPr/>
                    <a:lstStyle/>
                    <a:p>
                      <a:pPr indent="0" lvl="0" marL="0" marR="0" rtl="0" algn="l">
                        <a:spcBef>
                          <a:spcPts val="0"/>
                        </a:spcBef>
                        <a:spcAft>
                          <a:spcPts val="0"/>
                        </a:spcAft>
                        <a:buNone/>
                      </a:pPr>
                      <a:r>
                        <a:t/>
                      </a:r>
                      <a:endParaRPr sz="1800"/>
                    </a:p>
                  </a:txBody>
                  <a:tcPr marT="45725" marB="45725" marR="91450" marL="91450"/>
                </a:tc>
                <a:tc gridSpan="4">
                  <a:txBody>
                    <a:bodyPr/>
                    <a:lstStyle/>
                    <a:p>
                      <a:pPr indent="0" lvl="0" marL="0" marR="0" rtl="0" algn="l">
                        <a:spcBef>
                          <a:spcPts val="0"/>
                        </a:spcBef>
                        <a:spcAft>
                          <a:spcPts val="0"/>
                        </a:spcAft>
                        <a:buNone/>
                      </a:pPr>
                      <a:r>
                        <a:rPr lang="en-IN" sz="1800"/>
                        <a:t>Next state</a:t>
                      </a:r>
                      <a:endParaRPr sz="1800"/>
                    </a:p>
                  </a:txBody>
                  <a:tcPr marT="45725" marB="45725" marR="91450" marL="91450"/>
                </a:tc>
                <a:tc hMerge="1"/>
                <a:tc hMerge="1"/>
                <a:tc hMerge="1"/>
              </a:tr>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l">
                        <a:spcBef>
                          <a:spcPts val="0"/>
                        </a:spcBef>
                        <a:spcAft>
                          <a:spcPts val="0"/>
                        </a:spcAft>
                        <a:buNone/>
                      </a:pPr>
                      <a:r>
                        <a:rPr lang="en-IN" sz="1800"/>
                        <a:t>a=0</a:t>
                      </a:r>
                      <a:endParaRPr sz="1800"/>
                    </a:p>
                  </a:txBody>
                  <a:tcPr marT="45725" marB="45725" marR="91450" marL="91450"/>
                </a:tc>
                <a:tc hMerge="1"/>
                <a:tc gridSpan="2">
                  <a:txBody>
                    <a:bodyPr/>
                    <a:lstStyle/>
                    <a:p>
                      <a:pPr indent="0" lvl="0" marL="0" marR="0" rtl="0" algn="l">
                        <a:spcBef>
                          <a:spcPts val="0"/>
                        </a:spcBef>
                        <a:spcAft>
                          <a:spcPts val="0"/>
                        </a:spcAft>
                        <a:buNone/>
                      </a:pPr>
                      <a:r>
                        <a:rPr lang="en-IN" sz="1800"/>
                        <a:t>a=1</a:t>
                      </a:r>
                      <a:endParaRPr sz="1800"/>
                    </a:p>
                  </a:txBody>
                  <a:tcPr marT="45725" marB="45725" marR="91450" marL="91450"/>
                </a:tc>
                <a:tc hMerge="1"/>
              </a:tr>
              <a:tr h="370850">
                <a:tc>
                  <a:txBody>
                    <a:bodyPr/>
                    <a:lstStyle/>
                    <a:p>
                      <a:pPr indent="0" lvl="0" marL="0" marR="0" rtl="0" algn="l">
                        <a:spcBef>
                          <a:spcPts val="0"/>
                        </a:spcBef>
                        <a:spcAft>
                          <a:spcPts val="0"/>
                        </a:spcAft>
                        <a:buNone/>
                      </a:pPr>
                      <a:r>
                        <a:rPr lang="en-IN" sz="1800"/>
                        <a:t>Present States</a:t>
                      </a:r>
                      <a:endParaRPr sz="1800"/>
                    </a:p>
                  </a:txBody>
                  <a:tcPr marT="45725" marB="45725" marR="91450" marL="91450"/>
                </a:tc>
                <a:tc>
                  <a:txBody>
                    <a:bodyPr/>
                    <a:lstStyle/>
                    <a:p>
                      <a:pPr indent="0" lvl="0" marL="0" marR="0" rtl="0" algn="l">
                        <a:spcBef>
                          <a:spcPts val="0"/>
                        </a:spcBef>
                        <a:spcAft>
                          <a:spcPts val="0"/>
                        </a:spcAft>
                        <a:buNone/>
                      </a:pPr>
                      <a:r>
                        <a:rPr lang="en-IN" sz="1800"/>
                        <a:t>State</a:t>
                      </a:r>
                      <a:endParaRPr sz="1800"/>
                    </a:p>
                  </a:txBody>
                  <a:tcPr marT="45725" marB="45725" marR="91450" marL="91450"/>
                </a:tc>
                <a:tc>
                  <a:txBody>
                    <a:bodyPr/>
                    <a:lstStyle/>
                    <a:p>
                      <a:pPr indent="0" lvl="0" marL="0" marR="0" rtl="0" algn="l">
                        <a:spcBef>
                          <a:spcPts val="0"/>
                        </a:spcBef>
                        <a:spcAft>
                          <a:spcPts val="0"/>
                        </a:spcAft>
                        <a:buNone/>
                      </a:pPr>
                      <a:r>
                        <a:rPr lang="en-IN" sz="1800"/>
                        <a:t>Output</a:t>
                      </a:r>
                      <a:endParaRPr sz="1800"/>
                    </a:p>
                  </a:txBody>
                  <a:tcPr marT="45725" marB="45725" marR="91450" marL="91450"/>
                </a:tc>
                <a:tc>
                  <a:txBody>
                    <a:bodyPr/>
                    <a:lstStyle/>
                    <a:p>
                      <a:pPr indent="0" lvl="0" marL="0" marR="0" rtl="0" algn="l">
                        <a:spcBef>
                          <a:spcPts val="0"/>
                        </a:spcBef>
                        <a:spcAft>
                          <a:spcPts val="0"/>
                        </a:spcAft>
                        <a:buNone/>
                      </a:pPr>
                      <a:r>
                        <a:rPr lang="en-IN" sz="1800"/>
                        <a:t>State</a:t>
                      </a:r>
                      <a:endParaRPr sz="1800"/>
                    </a:p>
                  </a:txBody>
                  <a:tcPr marT="45725" marB="45725" marR="91450" marL="91450"/>
                </a:tc>
                <a:tc>
                  <a:txBody>
                    <a:bodyPr/>
                    <a:lstStyle/>
                    <a:p>
                      <a:pPr indent="0" lvl="0" marL="0" marR="0" rtl="0" algn="l">
                        <a:spcBef>
                          <a:spcPts val="0"/>
                        </a:spcBef>
                        <a:spcAft>
                          <a:spcPts val="0"/>
                        </a:spcAft>
                        <a:buNone/>
                      </a:pPr>
                      <a:r>
                        <a:rPr lang="en-IN" sz="1800"/>
                        <a:t>Output</a:t>
                      </a:r>
                      <a:endParaRPr sz="1800"/>
                    </a:p>
                  </a:txBody>
                  <a:tcPr marT="45725" marB="45725" marR="91450" marL="91450"/>
                </a:tc>
              </a:tr>
              <a:tr h="370850">
                <a:tc>
                  <a:txBody>
                    <a:bodyPr/>
                    <a:lstStyle/>
                    <a:p>
                      <a:pPr indent="0" lvl="0" marL="0" marR="0" rtl="0" algn="l">
                        <a:spcBef>
                          <a:spcPts val="0"/>
                        </a:spcBef>
                        <a:spcAft>
                          <a:spcPts val="0"/>
                        </a:spcAft>
                        <a:buNone/>
                      </a:pPr>
                      <a:r>
                        <a:rPr lang="en-IN" sz="1800"/>
                        <a:t>qo</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r h="370850">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q1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q2</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r h="370850">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q3</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q0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cxnSp>
        <p:nvCxnSpPr>
          <p:cNvPr id="3819" name="Google Shape;3819;p293"/>
          <p:cNvCxnSpPr/>
          <p:nvPr/>
        </p:nvCxnSpPr>
        <p:spPr>
          <a:xfrm>
            <a:off x="251520" y="1628800"/>
            <a:ext cx="504056" cy="0"/>
          </a:xfrm>
          <a:prstGeom prst="straightConnector1">
            <a:avLst/>
          </a:prstGeom>
          <a:noFill/>
          <a:ln cap="flat" cmpd="sng" w="9525">
            <a:solidFill>
              <a:srgbClr val="4A7DBA"/>
            </a:solidFill>
            <a:prstDash val="solid"/>
            <a:round/>
            <a:headEnd len="sm" w="sm" type="none"/>
            <a:tailEnd len="med" w="med" type="stealth"/>
          </a:ln>
        </p:spPr>
      </p:cxnSp>
      <p:sp>
        <p:nvSpPr>
          <p:cNvPr id="3820" name="Google Shape;3820;p293"/>
          <p:cNvSpPr txBox="1"/>
          <p:nvPr/>
        </p:nvSpPr>
        <p:spPr>
          <a:xfrm>
            <a:off x="609600" y="3573016"/>
            <a:ext cx="8229600" cy="270554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B0F0"/>
              </a:buClr>
              <a:buSzPts val="2400"/>
              <a:buFont typeface="Arial"/>
              <a:buNone/>
            </a:pPr>
            <a:r>
              <a:rPr b="1" lang="en-IN" sz="2400">
                <a:solidFill>
                  <a:srgbClr val="00B0F0"/>
                </a:solidFill>
                <a:latin typeface="Calibri"/>
                <a:ea typeface="Calibri"/>
                <a:cs typeface="Calibri"/>
                <a:sym typeface="Calibri"/>
              </a:rPr>
              <a:t>Identical transition check</a:t>
            </a:r>
            <a:endParaRPr/>
          </a:p>
          <a:p>
            <a:pPr indent="-342900" lvl="0" marL="342900" marR="0" rtl="0" algn="l">
              <a:spcBef>
                <a:spcPts val="48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We reduce the number of states in any model by considering states with identical transitions.</a:t>
            </a:r>
            <a:endParaRPr/>
          </a:p>
          <a:p>
            <a:pPr indent="-342900" lvl="0" marL="342900" marR="0" rtl="0" algn="l">
              <a:spcBef>
                <a:spcPts val="48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If two states have identical transitions then we can delete one of them</a:t>
            </a:r>
            <a:endParaRPr/>
          </a:p>
        </p:txBody>
      </p:sp>
      <p:sp>
        <p:nvSpPr>
          <p:cNvPr id="3821" name="Google Shape;3821;p293"/>
          <p:cNvSpPr txBox="1"/>
          <p:nvPr/>
        </p:nvSpPr>
        <p:spPr>
          <a:xfrm>
            <a:off x="2774584" y="6516052"/>
            <a:ext cx="62646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Theory of Computer Science-KLP Mishra,N Chandrasekharan</a:t>
            </a:r>
            <a:endParaRPr sz="1800">
              <a:solidFill>
                <a:schemeClr val="dk1"/>
              </a:solidFill>
              <a:latin typeface="Calibri"/>
              <a:ea typeface="Calibri"/>
              <a:cs typeface="Calibri"/>
              <a:sym typeface="Calibri"/>
            </a:endParaRPr>
          </a:p>
        </p:txBody>
      </p:sp>
    </p:spTree>
  </p:cSld>
  <p:clrMapOvr>
    <a:masterClrMapping/>
  </p:clrMapOvr>
</p:sld>
</file>

<file path=ppt/slides/slide2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5" name="Shape 3825"/>
        <p:cNvGrpSpPr/>
        <p:nvPr/>
      </p:nvGrpSpPr>
      <p:grpSpPr>
        <a:xfrm>
          <a:off x="0" y="0"/>
          <a:ext cx="0" cy="0"/>
          <a:chOff x="0" y="0"/>
          <a:chExt cx="0" cy="0"/>
        </a:xfrm>
      </p:grpSpPr>
      <p:sp>
        <p:nvSpPr>
          <p:cNvPr id="3826" name="Google Shape;3826;p294"/>
          <p:cNvSpPr txBox="1"/>
          <p:nvPr>
            <p:ph type="title"/>
          </p:nvPr>
        </p:nvSpPr>
        <p:spPr>
          <a:xfrm>
            <a:off x="467544" y="30413"/>
            <a:ext cx="8229600" cy="49006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IN" sz="2800"/>
              <a:t>Conversion of Moore Machine to Mealy Machine-Eg2</a:t>
            </a:r>
            <a:endParaRPr sz="2800"/>
          </a:p>
        </p:txBody>
      </p:sp>
      <p:sp>
        <p:nvSpPr>
          <p:cNvPr id="3827" name="Google Shape;3827;p294"/>
          <p:cNvSpPr txBox="1"/>
          <p:nvPr>
            <p:ph idx="1" type="body"/>
          </p:nvPr>
        </p:nvSpPr>
        <p:spPr>
          <a:xfrm>
            <a:off x="457200" y="1600200"/>
            <a:ext cx="8229600" cy="4925144"/>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p:txBody>
      </p:sp>
      <p:sp>
        <p:nvSpPr>
          <p:cNvPr id="3828" name="Google Shape;3828;p29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829" name="Google Shape;3829;p29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830" name="Google Shape;3830;p29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3831" name="Google Shape;3831;p294"/>
          <p:cNvGraphicFramePr/>
          <p:nvPr/>
        </p:nvGraphicFramePr>
        <p:xfrm>
          <a:off x="827584" y="1124744"/>
          <a:ext cx="3000000" cy="3000000"/>
        </p:xfrm>
        <a:graphic>
          <a:graphicData uri="http://schemas.openxmlformats.org/drawingml/2006/table">
            <a:tbl>
              <a:tblPr bandRow="1" firstRow="1">
                <a:noFill/>
                <a:tableStyleId>{67F6A887-4D8F-49DA-B730-5EAACEBB6B1F}</a:tableStyleId>
              </a:tblPr>
              <a:tblGrid>
                <a:gridCol w="936100"/>
                <a:gridCol w="936100"/>
                <a:gridCol w="936100"/>
                <a:gridCol w="936100"/>
              </a:tblGrid>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l">
                        <a:spcBef>
                          <a:spcPts val="0"/>
                        </a:spcBef>
                        <a:spcAft>
                          <a:spcPts val="0"/>
                        </a:spcAft>
                        <a:buNone/>
                      </a:pPr>
                      <a:r>
                        <a:rPr lang="en-IN" sz="1800"/>
                        <a:t>Next state</a:t>
                      </a:r>
                      <a:endParaRPr sz="1800"/>
                    </a:p>
                  </a:txBody>
                  <a:tcPr marT="45725" marB="45725" marR="91450" marL="91450"/>
                </a:tc>
                <a:tc hMerge="1"/>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b="1" lang="en-IN" sz="1800"/>
                        <a:t>States</a:t>
                      </a:r>
                      <a:endParaRPr b="1" sz="1800"/>
                    </a:p>
                  </a:txBody>
                  <a:tcPr marT="45725" marB="45725" marR="91450" marL="91450"/>
                </a:tc>
                <a:tc>
                  <a:txBody>
                    <a:bodyPr/>
                    <a:lstStyle/>
                    <a:p>
                      <a:pPr indent="0" lvl="0" marL="0" marR="0" rtl="0" algn="l">
                        <a:spcBef>
                          <a:spcPts val="0"/>
                        </a:spcBef>
                        <a:spcAft>
                          <a:spcPts val="0"/>
                        </a:spcAft>
                        <a:buNone/>
                      </a:pPr>
                      <a:r>
                        <a:rPr b="1" lang="en-IN" sz="1800"/>
                        <a:t>a</a:t>
                      </a:r>
                      <a:endParaRPr b="1" sz="1800"/>
                    </a:p>
                  </a:txBody>
                  <a:tcPr marT="45725" marB="45725" marR="91450" marL="91450"/>
                </a:tc>
                <a:tc>
                  <a:txBody>
                    <a:bodyPr/>
                    <a:lstStyle/>
                    <a:p>
                      <a:pPr indent="0" lvl="0" marL="0" marR="0" rtl="0" algn="l">
                        <a:spcBef>
                          <a:spcPts val="0"/>
                        </a:spcBef>
                        <a:spcAft>
                          <a:spcPts val="0"/>
                        </a:spcAft>
                        <a:buNone/>
                      </a:pPr>
                      <a:r>
                        <a:rPr b="1" lang="en-IN" sz="1800"/>
                        <a:t>b</a:t>
                      </a:r>
                      <a:endParaRPr b="1" sz="1800"/>
                    </a:p>
                  </a:txBody>
                  <a:tcPr marT="45725" marB="45725" marR="91450" marL="91450"/>
                </a:tc>
                <a:tc>
                  <a:txBody>
                    <a:bodyPr/>
                    <a:lstStyle/>
                    <a:p>
                      <a:pPr indent="0" lvl="0" marL="0" marR="0" rtl="0" algn="l">
                        <a:spcBef>
                          <a:spcPts val="0"/>
                        </a:spcBef>
                        <a:spcAft>
                          <a:spcPts val="0"/>
                        </a:spcAft>
                        <a:buNone/>
                      </a:pPr>
                      <a:r>
                        <a:rPr b="1" lang="en-IN" sz="1800"/>
                        <a:t>Output</a:t>
                      </a:r>
                      <a:endParaRPr b="1" sz="1800"/>
                    </a:p>
                  </a:txBody>
                  <a:tcPr marT="45725" marB="45725" marR="91450" marL="91450"/>
                </a:tc>
              </a:tr>
              <a:tr h="370850">
                <a:tc>
                  <a:txBody>
                    <a:bodyPr/>
                    <a:lstStyle/>
                    <a:p>
                      <a:pPr indent="0" lvl="0" marL="0" marR="0" rtl="0" algn="l">
                        <a:spcBef>
                          <a:spcPts val="0"/>
                        </a:spcBef>
                        <a:spcAft>
                          <a:spcPts val="0"/>
                        </a:spcAft>
                        <a:buNone/>
                      </a:pPr>
                      <a:r>
                        <a:rPr b="1" lang="en-IN" sz="1800"/>
                        <a:t>q1</a:t>
                      </a:r>
                      <a:endParaRPr b="1" sz="1800"/>
                    </a:p>
                  </a:txBody>
                  <a:tcPr marT="45725" marB="45725" marR="91450" marL="91450"/>
                </a:tc>
                <a:tc>
                  <a:txBody>
                    <a:bodyPr/>
                    <a:lstStyle/>
                    <a:p>
                      <a:pPr indent="0" lvl="0" marL="0" marR="0" rtl="0" algn="l">
                        <a:spcBef>
                          <a:spcPts val="0"/>
                        </a:spcBef>
                        <a:spcAft>
                          <a:spcPts val="0"/>
                        </a:spcAft>
                        <a:buNone/>
                      </a:pPr>
                      <a:r>
                        <a:rPr b="1" lang="en-IN" sz="1800"/>
                        <a:t>q1</a:t>
                      </a:r>
                      <a:endParaRPr b="1" sz="1800"/>
                    </a:p>
                  </a:txBody>
                  <a:tcPr marT="45725" marB="45725" marR="91450" marL="91450"/>
                </a:tc>
                <a:tc>
                  <a:txBody>
                    <a:bodyPr/>
                    <a:lstStyle/>
                    <a:p>
                      <a:pPr indent="0" lvl="0" marL="0" marR="0" rtl="0" algn="l">
                        <a:spcBef>
                          <a:spcPts val="0"/>
                        </a:spcBef>
                        <a:spcAft>
                          <a:spcPts val="0"/>
                        </a:spcAft>
                        <a:buNone/>
                      </a:pPr>
                      <a:r>
                        <a:rPr b="1" lang="en-IN" sz="1800"/>
                        <a:t>q2</a:t>
                      </a:r>
                      <a:endParaRPr b="1" sz="1800"/>
                    </a:p>
                  </a:txBody>
                  <a:tcPr marT="45725" marB="45725" marR="91450" marL="91450"/>
                </a:tc>
                <a:tc>
                  <a:txBody>
                    <a:bodyPr/>
                    <a:lstStyle/>
                    <a:p>
                      <a:pPr indent="0" lvl="0" marL="0" marR="0" rtl="0" algn="l">
                        <a:spcBef>
                          <a:spcPts val="0"/>
                        </a:spcBef>
                        <a:spcAft>
                          <a:spcPts val="0"/>
                        </a:spcAft>
                        <a:buNone/>
                      </a:pPr>
                      <a:r>
                        <a:rPr b="1" lang="en-IN" sz="1800"/>
                        <a:t>0</a:t>
                      </a:r>
                      <a:endParaRPr b="1" sz="1800"/>
                    </a:p>
                  </a:txBody>
                  <a:tcPr marT="45725" marB="45725" marR="91450" marL="91450"/>
                </a:tc>
              </a:tr>
              <a:tr h="370850">
                <a:tc>
                  <a:txBody>
                    <a:bodyPr/>
                    <a:lstStyle/>
                    <a:p>
                      <a:pPr indent="0" lvl="0" marL="0" marR="0" rtl="0" algn="l">
                        <a:spcBef>
                          <a:spcPts val="0"/>
                        </a:spcBef>
                        <a:spcAft>
                          <a:spcPts val="0"/>
                        </a:spcAft>
                        <a:buNone/>
                      </a:pPr>
                      <a:r>
                        <a:rPr b="1" lang="en-IN" sz="1800"/>
                        <a:t>q2</a:t>
                      </a:r>
                      <a:endParaRPr b="1" sz="1800"/>
                    </a:p>
                  </a:txBody>
                  <a:tcPr marT="45725" marB="45725" marR="91450" marL="91450"/>
                </a:tc>
                <a:tc>
                  <a:txBody>
                    <a:bodyPr/>
                    <a:lstStyle/>
                    <a:p>
                      <a:pPr indent="0" lvl="0" marL="0" marR="0" rtl="0" algn="l">
                        <a:spcBef>
                          <a:spcPts val="0"/>
                        </a:spcBef>
                        <a:spcAft>
                          <a:spcPts val="0"/>
                        </a:spcAft>
                        <a:buNone/>
                      </a:pPr>
                      <a:r>
                        <a:rPr b="1" lang="en-IN" sz="1800"/>
                        <a:t>q1</a:t>
                      </a:r>
                      <a:endParaRPr b="1" sz="1800"/>
                    </a:p>
                  </a:txBody>
                  <a:tcPr marT="45725" marB="45725" marR="91450" marL="91450"/>
                </a:tc>
                <a:tc>
                  <a:txBody>
                    <a:bodyPr/>
                    <a:lstStyle/>
                    <a:p>
                      <a:pPr indent="0" lvl="0" marL="0" marR="0" rtl="0" algn="l">
                        <a:spcBef>
                          <a:spcPts val="0"/>
                        </a:spcBef>
                        <a:spcAft>
                          <a:spcPts val="0"/>
                        </a:spcAft>
                        <a:buNone/>
                      </a:pPr>
                      <a:r>
                        <a:rPr b="1" lang="en-IN" sz="1800"/>
                        <a:t>q3</a:t>
                      </a:r>
                      <a:endParaRPr b="1" sz="1800"/>
                    </a:p>
                  </a:txBody>
                  <a:tcPr marT="45725" marB="45725" marR="91450" marL="91450"/>
                </a:tc>
                <a:tc>
                  <a:txBody>
                    <a:bodyPr/>
                    <a:lstStyle/>
                    <a:p>
                      <a:pPr indent="0" lvl="0" marL="0" marR="0" rtl="0" algn="l">
                        <a:spcBef>
                          <a:spcPts val="0"/>
                        </a:spcBef>
                        <a:spcAft>
                          <a:spcPts val="0"/>
                        </a:spcAft>
                        <a:buNone/>
                      </a:pPr>
                      <a:r>
                        <a:rPr b="1" lang="en-IN" sz="1800"/>
                        <a:t>0</a:t>
                      </a:r>
                      <a:endParaRPr b="1" sz="1800"/>
                    </a:p>
                  </a:txBody>
                  <a:tcPr marT="45725" marB="45725" marR="91450" marL="91450"/>
                </a:tc>
              </a:tr>
              <a:tr h="370850">
                <a:tc>
                  <a:txBody>
                    <a:bodyPr/>
                    <a:lstStyle/>
                    <a:p>
                      <a:pPr indent="0" lvl="0" marL="0" marR="0" rtl="0" algn="l">
                        <a:spcBef>
                          <a:spcPts val="0"/>
                        </a:spcBef>
                        <a:spcAft>
                          <a:spcPts val="0"/>
                        </a:spcAft>
                        <a:buNone/>
                      </a:pPr>
                      <a:r>
                        <a:rPr b="1" lang="en-IN" sz="1800"/>
                        <a:t>q3</a:t>
                      </a:r>
                      <a:endParaRPr b="1" sz="1800"/>
                    </a:p>
                  </a:txBody>
                  <a:tcPr marT="45725" marB="45725" marR="91450" marL="91450"/>
                </a:tc>
                <a:tc>
                  <a:txBody>
                    <a:bodyPr/>
                    <a:lstStyle/>
                    <a:p>
                      <a:pPr indent="0" lvl="0" marL="0" marR="0" rtl="0" algn="l">
                        <a:spcBef>
                          <a:spcPts val="0"/>
                        </a:spcBef>
                        <a:spcAft>
                          <a:spcPts val="0"/>
                        </a:spcAft>
                        <a:buNone/>
                      </a:pPr>
                      <a:r>
                        <a:rPr b="1" lang="en-IN" sz="1800"/>
                        <a:t>q1</a:t>
                      </a:r>
                      <a:endParaRPr b="1" sz="1800"/>
                    </a:p>
                  </a:txBody>
                  <a:tcPr marT="45725" marB="45725" marR="91450" marL="91450"/>
                </a:tc>
                <a:tc>
                  <a:txBody>
                    <a:bodyPr/>
                    <a:lstStyle/>
                    <a:p>
                      <a:pPr indent="0" lvl="0" marL="0" marR="0" rtl="0" algn="l">
                        <a:spcBef>
                          <a:spcPts val="0"/>
                        </a:spcBef>
                        <a:spcAft>
                          <a:spcPts val="0"/>
                        </a:spcAft>
                        <a:buNone/>
                      </a:pPr>
                      <a:r>
                        <a:rPr b="1" lang="en-IN" sz="1800"/>
                        <a:t>q3</a:t>
                      </a:r>
                      <a:endParaRPr b="1" sz="1800"/>
                    </a:p>
                  </a:txBody>
                  <a:tcPr marT="45725" marB="45725" marR="91450" marL="91450"/>
                </a:tc>
                <a:tc>
                  <a:txBody>
                    <a:bodyPr/>
                    <a:lstStyle/>
                    <a:p>
                      <a:pPr indent="0" lvl="0" marL="0" marR="0" rtl="0" algn="l">
                        <a:spcBef>
                          <a:spcPts val="0"/>
                        </a:spcBef>
                        <a:spcAft>
                          <a:spcPts val="0"/>
                        </a:spcAft>
                        <a:buNone/>
                      </a:pPr>
                      <a:r>
                        <a:rPr b="1" lang="en-IN" sz="1800"/>
                        <a:t>1</a:t>
                      </a:r>
                      <a:endParaRPr b="1" sz="1800"/>
                    </a:p>
                  </a:txBody>
                  <a:tcPr marT="45725" marB="45725" marR="91450" marL="91450"/>
                </a:tc>
              </a:tr>
            </a:tbl>
          </a:graphicData>
        </a:graphic>
      </p:graphicFrame>
      <p:cxnSp>
        <p:nvCxnSpPr>
          <p:cNvPr id="3832" name="Google Shape;3832;p294"/>
          <p:cNvCxnSpPr/>
          <p:nvPr/>
        </p:nvCxnSpPr>
        <p:spPr>
          <a:xfrm>
            <a:off x="251520" y="1628800"/>
            <a:ext cx="504056" cy="0"/>
          </a:xfrm>
          <a:prstGeom prst="straightConnector1">
            <a:avLst/>
          </a:prstGeom>
          <a:noFill/>
          <a:ln cap="flat" cmpd="sng" w="9525">
            <a:solidFill>
              <a:srgbClr val="4A7DBA"/>
            </a:solidFill>
            <a:prstDash val="solid"/>
            <a:round/>
            <a:headEnd len="sm" w="sm" type="none"/>
            <a:tailEnd len="med" w="med" type="stealth"/>
          </a:ln>
        </p:spPr>
      </p:cxnSp>
      <p:sp>
        <p:nvSpPr>
          <p:cNvPr id="3833" name="Google Shape;3833;p294"/>
          <p:cNvSpPr txBox="1"/>
          <p:nvPr/>
        </p:nvSpPr>
        <p:spPr>
          <a:xfrm>
            <a:off x="609600" y="3573016"/>
            <a:ext cx="8229600" cy="270554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B0F0"/>
              </a:buClr>
              <a:buSzPts val="2400"/>
              <a:buFont typeface="Arial"/>
              <a:buNone/>
            </a:pPr>
            <a:r>
              <a:rPr b="1" lang="en-IN" sz="2400">
                <a:solidFill>
                  <a:srgbClr val="00B0F0"/>
                </a:solidFill>
                <a:latin typeface="Calibri"/>
                <a:ea typeface="Calibri"/>
                <a:cs typeface="Calibri"/>
                <a:sym typeface="Calibri"/>
              </a:rPr>
              <a:t>Consider the Moore Machine described by the transition table given. Construct the corresponding Mealy Machine</a:t>
            </a:r>
            <a:endParaRPr sz="2400">
              <a:solidFill>
                <a:schemeClr val="dk1"/>
              </a:solidFill>
              <a:latin typeface="Calibri"/>
              <a:ea typeface="Calibri"/>
              <a:cs typeface="Calibri"/>
              <a:sym typeface="Calibri"/>
            </a:endParaRPr>
          </a:p>
        </p:txBody>
      </p:sp>
    </p:spTree>
  </p:cSld>
  <p:clrMapOvr>
    <a:masterClrMapping/>
  </p:clrMapOvr>
</p:sld>
</file>

<file path=ppt/slides/slide2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7" name="Shape 3837"/>
        <p:cNvGrpSpPr/>
        <p:nvPr/>
      </p:nvGrpSpPr>
      <p:grpSpPr>
        <a:xfrm>
          <a:off x="0" y="0"/>
          <a:ext cx="0" cy="0"/>
          <a:chOff x="0" y="0"/>
          <a:chExt cx="0" cy="0"/>
        </a:xfrm>
      </p:grpSpPr>
      <p:sp>
        <p:nvSpPr>
          <p:cNvPr id="3838" name="Google Shape;3838;p29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839" name="Google Shape;3839;p29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840" name="Google Shape;3840;p29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3841" name="Google Shape;3841;p295"/>
          <p:cNvPicPr preferRelativeResize="0"/>
          <p:nvPr/>
        </p:nvPicPr>
        <p:blipFill rotWithShape="1">
          <a:blip r:embed="rId3">
            <a:alphaModFix/>
          </a:blip>
          <a:srcRect b="0" l="0" r="0" t="0"/>
          <a:stretch/>
        </p:blipFill>
        <p:spPr>
          <a:xfrm>
            <a:off x="98425" y="116632"/>
            <a:ext cx="8947150" cy="5616624"/>
          </a:xfrm>
          <a:prstGeom prst="rect">
            <a:avLst/>
          </a:prstGeom>
          <a:noFill/>
          <a:ln>
            <a:noFill/>
          </a:ln>
        </p:spPr>
      </p:pic>
    </p:spTree>
  </p:cSld>
  <p:clrMapOvr>
    <a:masterClrMapping/>
  </p:clrMapOvr>
</p:sld>
</file>

<file path=ppt/slides/slide2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5" name="Shape 3845"/>
        <p:cNvGrpSpPr/>
        <p:nvPr/>
      </p:nvGrpSpPr>
      <p:grpSpPr>
        <a:xfrm>
          <a:off x="0" y="0"/>
          <a:ext cx="0" cy="0"/>
          <a:chOff x="0" y="0"/>
          <a:chExt cx="0" cy="0"/>
        </a:xfrm>
      </p:grpSpPr>
      <p:sp>
        <p:nvSpPr>
          <p:cNvPr id="3846" name="Google Shape;3846;p29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Regular Expression</a:t>
            </a:r>
            <a:endParaRPr/>
          </a:p>
        </p:txBody>
      </p:sp>
      <p:sp>
        <p:nvSpPr>
          <p:cNvPr id="3847" name="Google Shape;3847;p296"/>
          <p:cNvSpPr txBox="1"/>
          <p:nvPr>
            <p:ph idx="1" type="body"/>
          </p:nvPr>
        </p:nvSpPr>
        <p:spPr>
          <a:xfrm>
            <a:off x="457200" y="1600200"/>
            <a:ext cx="8229600" cy="4525963"/>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solidFill>
                  <a:schemeClr val="dk1"/>
                </a:solidFill>
                <a:latin typeface="Calibri"/>
                <a:ea typeface="Calibri"/>
                <a:cs typeface="Calibri"/>
                <a:sym typeface="Calibri"/>
              </a:rPr>
              <a:t>Now, we switch our attention from machine like descriptions of languages i.e. Deterministic and nondeterministic finite automata to an algebraic description-”The regular expression”</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solidFill>
                  <a:schemeClr val="dk1"/>
                </a:solidFill>
                <a:latin typeface="Calibri"/>
                <a:ea typeface="Calibri"/>
                <a:cs typeface="Calibri"/>
                <a:sym typeface="Calibri"/>
              </a:rPr>
              <a:t>We shall  find that regular expressions can define exactly the same languages that the various forms of automata describe i.e. The regular languages</a:t>
            </a:r>
            <a:endParaRPr/>
          </a:p>
        </p:txBody>
      </p:sp>
      <p:sp>
        <p:nvSpPr>
          <p:cNvPr id="3848" name="Google Shape;3848;p29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849" name="Google Shape;3849;p29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850" name="Google Shape;3850;p29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2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4" name="Shape 3854"/>
        <p:cNvGrpSpPr/>
        <p:nvPr/>
      </p:nvGrpSpPr>
      <p:grpSpPr>
        <a:xfrm>
          <a:off x="0" y="0"/>
          <a:ext cx="0" cy="0"/>
          <a:chOff x="0" y="0"/>
          <a:chExt cx="0" cy="0"/>
        </a:xfrm>
      </p:grpSpPr>
      <p:sp>
        <p:nvSpPr>
          <p:cNvPr id="3855" name="Google Shape;3855;p29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Regular Expression</a:t>
            </a:r>
            <a:endParaRPr/>
          </a:p>
        </p:txBody>
      </p:sp>
      <p:sp>
        <p:nvSpPr>
          <p:cNvPr id="3856" name="Google Shape;3856;p297"/>
          <p:cNvSpPr txBox="1"/>
          <p:nvPr>
            <p:ph idx="1" type="body"/>
          </p:nvPr>
        </p:nvSpPr>
        <p:spPr>
          <a:xfrm>
            <a:off x="457200" y="1600200"/>
            <a:ext cx="8229600" cy="4525963"/>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solidFill>
                  <a:schemeClr val="dk1"/>
                </a:solidFill>
                <a:latin typeface="Calibri"/>
                <a:ea typeface="Calibri"/>
                <a:cs typeface="Calibri"/>
                <a:sym typeface="Calibri"/>
              </a:rPr>
              <a:t>However, regular expressions offer something that automata do not: a declarative way to express the strings we want to accept.</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solidFill>
                  <a:schemeClr val="dk1"/>
                </a:solidFill>
                <a:latin typeface="Calibri"/>
                <a:ea typeface="Calibri"/>
                <a:cs typeface="Calibri"/>
                <a:sym typeface="Calibri"/>
              </a:rPr>
              <a:t>Thus, regular expressions serve as the input language for many systems that process strings.</a:t>
            </a:r>
            <a:endParaRPr/>
          </a:p>
        </p:txBody>
      </p:sp>
      <p:sp>
        <p:nvSpPr>
          <p:cNvPr id="3857" name="Google Shape;3857;p29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858" name="Google Shape;3858;p29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859" name="Google Shape;3859;p29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2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3" name="Shape 3863"/>
        <p:cNvGrpSpPr/>
        <p:nvPr/>
      </p:nvGrpSpPr>
      <p:grpSpPr>
        <a:xfrm>
          <a:off x="0" y="0"/>
          <a:ext cx="0" cy="0"/>
          <a:chOff x="0" y="0"/>
          <a:chExt cx="0" cy="0"/>
        </a:xfrm>
      </p:grpSpPr>
      <p:sp>
        <p:nvSpPr>
          <p:cNvPr id="3864" name="Google Shape;3864;p29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Regular Expression</a:t>
            </a:r>
            <a:endParaRPr/>
          </a:p>
        </p:txBody>
      </p:sp>
      <p:sp>
        <p:nvSpPr>
          <p:cNvPr id="3865" name="Google Shape;3865;p29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lang="en-IN" sz="2400"/>
              <a:t>Eg- The RE=01*+10* </a:t>
            </a:r>
            <a:endParaRPr/>
          </a:p>
          <a:p>
            <a:pPr indent="-342900" lvl="0" marL="342900" rtl="0" algn="l">
              <a:spcBef>
                <a:spcPts val="480"/>
              </a:spcBef>
              <a:spcAft>
                <a:spcPts val="0"/>
              </a:spcAft>
              <a:buClr>
                <a:schemeClr val="dk1"/>
              </a:buClr>
              <a:buSzPts val="2400"/>
              <a:buChar char="•"/>
            </a:pPr>
            <a:r>
              <a:rPr lang="en-IN" sz="2400"/>
              <a:t>Denotes the language consisting of all strings that are either a single 0 followed by any number of 1’s or a single 1 followed by an number of 0’s</a:t>
            </a:r>
            <a:endParaRPr sz="2400"/>
          </a:p>
        </p:txBody>
      </p:sp>
      <p:sp>
        <p:nvSpPr>
          <p:cNvPr id="3866" name="Google Shape;3866;p29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867" name="Google Shape;3867;p29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868" name="Google Shape;3868;p29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2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2" name="Shape 3872"/>
        <p:cNvGrpSpPr/>
        <p:nvPr/>
      </p:nvGrpSpPr>
      <p:grpSpPr>
        <a:xfrm>
          <a:off x="0" y="0"/>
          <a:ext cx="0" cy="0"/>
          <a:chOff x="0" y="0"/>
          <a:chExt cx="0" cy="0"/>
        </a:xfrm>
      </p:grpSpPr>
      <p:sp>
        <p:nvSpPr>
          <p:cNvPr id="3873" name="Google Shape;3873;p29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Regular Expression</a:t>
            </a:r>
            <a:endParaRPr/>
          </a:p>
        </p:txBody>
      </p:sp>
      <p:sp>
        <p:nvSpPr>
          <p:cNvPr id="3874" name="Google Shape;3874;p29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Language defining notation </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Can be thought of as a “programming language’ in which we express some important applications such as text search algorithm or compiler components</a:t>
            </a:r>
            <a:endParaRPr/>
          </a:p>
        </p:txBody>
      </p:sp>
      <p:sp>
        <p:nvSpPr>
          <p:cNvPr id="3875" name="Google Shape;3875;p29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876" name="Google Shape;3876;p2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877" name="Google Shape;3877;p29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3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1" name="Shape 3881"/>
        <p:cNvGrpSpPr/>
        <p:nvPr/>
      </p:nvGrpSpPr>
      <p:grpSpPr>
        <a:xfrm>
          <a:off x="0" y="0"/>
          <a:ext cx="0" cy="0"/>
          <a:chOff x="0" y="0"/>
          <a:chExt cx="0" cy="0"/>
        </a:xfrm>
      </p:grpSpPr>
      <p:sp>
        <p:nvSpPr>
          <p:cNvPr id="3882" name="Google Shape;3882;p30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Regular Expression</a:t>
            </a:r>
            <a:endParaRPr/>
          </a:p>
        </p:txBody>
      </p:sp>
      <p:sp>
        <p:nvSpPr>
          <p:cNvPr id="3883" name="Google Shape;3883;p30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Regular Expression are closely related to nondeterministic finite automata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Can be thought of as a “User friendly” alternative to the NFA notation for describing software components</a:t>
            </a:r>
            <a:endParaRPr/>
          </a:p>
          <a:p>
            <a:pPr indent="-190500" lvl="0" marL="342900" rtl="0" algn="l">
              <a:spcBef>
                <a:spcPts val="480"/>
              </a:spcBef>
              <a:spcAft>
                <a:spcPts val="0"/>
              </a:spcAft>
              <a:buClr>
                <a:schemeClr val="dk1"/>
              </a:buClr>
              <a:buSzPts val="2400"/>
              <a:buNone/>
            </a:pPr>
            <a:r>
              <a:t/>
            </a:r>
            <a:endParaRPr sz="2400"/>
          </a:p>
        </p:txBody>
      </p:sp>
      <p:sp>
        <p:nvSpPr>
          <p:cNvPr id="3884" name="Google Shape;3884;p30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885" name="Google Shape;3885;p30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886" name="Google Shape;3886;p30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3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0" name="Shape 3890"/>
        <p:cNvGrpSpPr/>
        <p:nvPr/>
      </p:nvGrpSpPr>
      <p:grpSpPr>
        <a:xfrm>
          <a:off x="0" y="0"/>
          <a:ext cx="0" cy="0"/>
          <a:chOff x="0" y="0"/>
          <a:chExt cx="0" cy="0"/>
        </a:xfrm>
      </p:grpSpPr>
      <p:sp>
        <p:nvSpPr>
          <p:cNvPr id="3891" name="Google Shape;3891;p30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Regular Expression</a:t>
            </a:r>
            <a:endParaRPr/>
          </a:p>
        </p:txBody>
      </p:sp>
      <p:sp>
        <p:nvSpPr>
          <p:cNvPr id="3892" name="Google Shape;3892;p30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RE Denote Languages</a:t>
            </a:r>
            <a:endParaRPr/>
          </a:p>
          <a:p>
            <a:pPr indent="-342900" lvl="0" marL="342900" rtl="0" algn="l">
              <a:spcBef>
                <a:spcPts val="480"/>
              </a:spcBef>
              <a:spcAft>
                <a:spcPts val="0"/>
              </a:spcAft>
              <a:buClr>
                <a:schemeClr val="dk1"/>
              </a:buClr>
              <a:buSzPts val="2400"/>
              <a:buChar char="•"/>
            </a:pPr>
            <a:r>
              <a:rPr lang="en-IN" sz="2400"/>
              <a:t>RE are capable of defining all and only the regular languages</a:t>
            </a:r>
            <a:endParaRPr/>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p:txBody>
      </p:sp>
      <p:sp>
        <p:nvSpPr>
          <p:cNvPr id="3893" name="Google Shape;3893;p30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894" name="Google Shape;3894;p30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895" name="Google Shape;3895;p30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pic>
        <p:nvPicPr>
          <p:cNvPr descr="https://media.geeksforgeeks.org/wp-content/cdn-uploads/20210407173848/12312.png" id="3896" name="Google Shape;3896;p301"/>
          <p:cNvPicPr preferRelativeResize="0"/>
          <p:nvPr/>
        </p:nvPicPr>
        <p:blipFill rotWithShape="1">
          <a:blip r:embed="rId3">
            <a:alphaModFix/>
          </a:blip>
          <a:srcRect b="0" l="0" r="0" t="0"/>
          <a:stretch/>
        </p:blipFill>
        <p:spPr>
          <a:xfrm>
            <a:off x="1475656" y="2636912"/>
            <a:ext cx="6197352" cy="3579506"/>
          </a:xfrm>
          <a:prstGeom prst="rect">
            <a:avLst/>
          </a:prstGeom>
          <a:noFill/>
          <a:ln>
            <a:noFill/>
          </a:ln>
        </p:spPr>
      </p:pic>
    </p:spTree>
  </p:cSld>
  <p:clrMapOvr>
    <a:masterClrMapping/>
  </p:clrMapOvr>
</p:sld>
</file>

<file path=ppt/slides/slide3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0" name="Shape 3900"/>
        <p:cNvGrpSpPr/>
        <p:nvPr/>
      </p:nvGrpSpPr>
      <p:grpSpPr>
        <a:xfrm>
          <a:off x="0" y="0"/>
          <a:ext cx="0" cy="0"/>
          <a:chOff x="0" y="0"/>
          <a:chExt cx="0" cy="0"/>
        </a:xfrm>
      </p:grpSpPr>
      <p:sp>
        <p:nvSpPr>
          <p:cNvPr id="3901" name="Google Shape;3901;p30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b="1" lang="en-IN" sz="3200"/>
              <a:t>Chomsky Hierarchy in Theory of Computation</a:t>
            </a:r>
            <a:endParaRPr sz="3200"/>
          </a:p>
        </p:txBody>
      </p:sp>
      <p:sp>
        <p:nvSpPr>
          <p:cNvPr id="3902" name="Google Shape;3902;p302"/>
          <p:cNvSpPr txBox="1"/>
          <p:nvPr>
            <p:ph idx="1" type="body"/>
          </p:nvPr>
        </p:nvSpPr>
        <p:spPr>
          <a:xfrm>
            <a:off x="457200" y="1600200"/>
            <a:ext cx="4258816"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IN" sz="2400"/>
              <a:t>Chomsky Hierarchy represents the class of languages that are accepted by the different machine. </a:t>
            </a:r>
            <a:endParaRPr sz="2400"/>
          </a:p>
          <a:p>
            <a:pPr indent="-342900" lvl="0" marL="342900" rtl="0" algn="l">
              <a:spcBef>
                <a:spcPts val="444"/>
              </a:spcBef>
              <a:spcAft>
                <a:spcPts val="0"/>
              </a:spcAft>
              <a:buClr>
                <a:schemeClr val="dk1"/>
              </a:buClr>
              <a:buSzPct val="100000"/>
              <a:buChar char="•"/>
            </a:pPr>
            <a:r>
              <a:rPr lang="en-IN" sz="2400"/>
              <a:t>The category of language in Chomsky's Hierarchy is as given below:</a:t>
            </a:r>
            <a:endParaRPr/>
          </a:p>
          <a:p>
            <a:pPr indent="-285750" lvl="1" marL="742950" rtl="0" algn="l">
              <a:spcBef>
                <a:spcPts val="444"/>
              </a:spcBef>
              <a:spcAft>
                <a:spcPts val="0"/>
              </a:spcAft>
              <a:buClr>
                <a:schemeClr val="dk1"/>
              </a:buClr>
              <a:buSzPct val="100000"/>
              <a:buChar char="–"/>
            </a:pPr>
            <a:r>
              <a:rPr lang="en-IN" sz="2400"/>
              <a:t>Type 0 known as Unrestricted Grammar.</a:t>
            </a:r>
            <a:endParaRPr/>
          </a:p>
          <a:p>
            <a:pPr indent="-285750" lvl="1" marL="742950" rtl="0" algn="l">
              <a:spcBef>
                <a:spcPts val="444"/>
              </a:spcBef>
              <a:spcAft>
                <a:spcPts val="0"/>
              </a:spcAft>
              <a:buClr>
                <a:schemeClr val="dk1"/>
              </a:buClr>
              <a:buSzPct val="100000"/>
              <a:buChar char="–"/>
            </a:pPr>
            <a:r>
              <a:rPr lang="en-IN" sz="2400"/>
              <a:t>Type 1 known as Context Sensitive Grammar.</a:t>
            </a:r>
            <a:endParaRPr/>
          </a:p>
          <a:p>
            <a:pPr indent="-285750" lvl="1" marL="742950" rtl="0" algn="l">
              <a:spcBef>
                <a:spcPts val="444"/>
              </a:spcBef>
              <a:spcAft>
                <a:spcPts val="0"/>
              </a:spcAft>
              <a:buClr>
                <a:schemeClr val="dk1"/>
              </a:buClr>
              <a:buSzPct val="100000"/>
              <a:buChar char="–"/>
            </a:pPr>
            <a:r>
              <a:rPr lang="en-IN" sz="2400"/>
              <a:t>Type 2 known as Context Free Grammar.</a:t>
            </a:r>
            <a:endParaRPr/>
          </a:p>
          <a:p>
            <a:pPr indent="-285750" lvl="1" marL="742950" rtl="0" algn="l">
              <a:spcBef>
                <a:spcPts val="444"/>
              </a:spcBef>
              <a:spcAft>
                <a:spcPts val="0"/>
              </a:spcAft>
              <a:buClr>
                <a:schemeClr val="dk1"/>
              </a:buClr>
              <a:buSzPct val="100000"/>
              <a:buChar char="–"/>
            </a:pPr>
            <a:r>
              <a:rPr lang="en-IN" sz="2400"/>
              <a:t>Type 3 Regular Grammar.</a:t>
            </a:r>
            <a:endParaRPr/>
          </a:p>
        </p:txBody>
      </p:sp>
      <p:sp>
        <p:nvSpPr>
          <p:cNvPr id="3903" name="Google Shape;3903;p30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904" name="Google Shape;3904;p30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905" name="Google Shape;3905;p30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3906" name="Google Shape;3906;p302"/>
          <p:cNvPicPr preferRelativeResize="0"/>
          <p:nvPr/>
        </p:nvPicPr>
        <p:blipFill rotWithShape="1">
          <a:blip r:embed="rId3">
            <a:alphaModFix/>
          </a:blip>
          <a:srcRect b="0" l="0" r="0" t="0"/>
          <a:stretch/>
        </p:blipFill>
        <p:spPr>
          <a:xfrm>
            <a:off x="4571999" y="1628800"/>
            <a:ext cx="4464497" cy="4464496"/>
          </a:xfrm>
          <a:prstGeom prst="rect">
            <a:avLst/>
          </a:prstGeom>
          <a:noFill/>
          <a:ln>
            <a:noFill/>
          </a:ln>
        </p:spPr>
      </p:pic>
    </p:spTree>
  </p:cSld>
  <p:clrMapOvr>
    <a:masterClrMapping/>
  </p:clrMapOvr>
</p:sld>
</file>

<file path=ppt/slides/slide3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0" name="Shape 3910"/>
        <p:cNvGrpSpPr/>
        <p:nvPr/>
      </p:nvGrpSpPr>
      <p:grpSpPr>
        <a:xfrm>
          <a:off x="0" y="0"/>
          <a:ext cx="0" cy="0"/>
          <a:chOff x="0" y="0"/>
          <a:chExt cx="0" cy="0"/>
        </a:xfrm>
      </p:grpSpPr>
      <p:sp>
        <p:nvSpPr>
          <p:cNvPr id="3911" name="Google Shape;3911;p30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b="1" lang="en-IN" sz="3200"/>
              <a:t>Chomsky Hierarchy in Theory of Computation</a:t>
            </a:r>
            <a:endParaRPr sz="3200"/>
          </a:p>
        </p:txBody>
      </p:sp>
      <p:sp>
        <p:nvSpPr>
          <p:cNvPr id="3912" name="Google Shape;3912;p303"/>
          <p:cNvSpPr txBox="1"/>
          <p:nvPr>
            <p:ph idx="1" type="body"/>
          </p:nvPr>
        </p:nvSpPr>
        <p:spPr>
          <a:xfrm>
            <a:off x="457200" y="1600200"/>
            <a:ext cx="4258816" cy="4525963"/>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IN" sz="2400">
                <a:solidFill>
                  <a:schemeClr val="dk1"/>
                </a:solidFill>
                <a:latin typeface="Calibri"/>
                <a:ea typeface="Calibri"/>
                <a:cs typeface="Calibri"/>
                <a:sym typeface="Calibri"/>
              </a:rPr>
              <a:t>Type 3 Grammar:</a:t>
            </a:r>
            <a:endParaRPr/>
          </a:p>
          <a:p>
            <a:pPr indent="-342900" lvl="0" marL="342900" rtl="0" algn="l">
              <a:spcBef>
                <a:spcPts val="480"/>
              </a:spcBef>
              <a:spcAft>
                <a:spcPts val="0"/>
              </a:spcAft>
              <a:buClr>
                <a:schemeClr val="dk1"/>
              </a:buClr>
              <a:buSzPts val="2400"/>
              <a:buChar char="•"/>
            </a:pPr>
            <a:r>
              <a:rPr lang="en-IN" sz="2400">
                <a:solidFill>
                  <a:schemeClr val="dk1"/>
                </a:solidFill>
                <a:latin typeface="Calibri"/>
                <a:ea typeface="Calibri"/>
                <a:cs typeface="Calibri"/>
                <a:sym typeface="Calibri"/>
              </a:rPr>
              <a:t>Type 3 Grammar is known as Regular Grammar. </a:t>
            </a:r>
            <a:endParaRPr sz="2400"/>
          </a:p>
          <a:p>
            <a:pPr indent="-342900" lvl="0" marL="342900" rtl="0" algn="l">
              <a:spcBef>
                <a:spcPts val="480"/>
              </a:spcBef>
              <a:spcAft>
                <a:spcPts val="0"/>
              </a:spcAft>
              <a:buClr>
                <a:schemeClr val="dk1"/>
              </a:buClr>
              <a:buSzPts val="2400"/>
              <a:buChar char="•"/>
            </a:pPr>
            <a:r>
              <a:rPr lang="en-IN" sz="2400">
                <a:solidFill>
                  <a:schemeClr val="dk1"/>
                </a:solidFill>
                <a:latin typeface="Calibri"/>
                <a:ea typeface="Calibri"/>
                <a:cs typeface="Calibri"/>
                <a:sym typeface="Calibri"/>
              </a:rPr>
              <a:t>Regular languages are those languages which can be described using regular expressions. </a:t>
            </a:r>
            <a:endParaRPr sz="2400"/>
          </a:p>
          <a:p>
            <a:pPr indent="-342900" lvl="0" marL="342900" rtl="0" algn="l">
              <a:spcBef>
                <a:spcPts val="480"/>
              </a:spcBef>
              <a:spcAft>
                <a:spcPts val="0"/>
              </a:spcAft>
              <a:buClr>
                <a:schemeClr val="dk1"/>
              </a:buClr>
              <a:buSzPts val="2400"/>
              <a:buChar char="•"/>
            </a:pPr>
            <a:r>
              <a:rPr lang="en-IN" sz="2400">
                <a:solidFill>
                  <a:schemeClr val="dk1"/>
                </a:solidFill>
                <a:latin typeface="Calibri"/>
                <a:ea typeface="Calibri"/>
                <a:cs typeface="Calibri"/>
                <a:sym typeface="Calibri"/>
              </a:rPr>
              <a:t>These languages can be modelled by NFA or DFA.</a:t>
            </a:r>
            <a:endParaRPr/>
          </a:p>
          <a:p>
            <a:pPr indent="-190500" lvl="0" marL="342900" rtl="0" algn="l">
              <a:spcBef>
                <a:spcPts val="480"/>
              </a:spcBef>
              <a:spcAft>
                <a:spcPts val="0"/>
              </a:spcAft>
              <a:buClr>
                <a:schemeClr val="dk1"/>
              </a:buClr>
              <a:buSzPts val="2400"/>
              <a:buNone/>
            </a:pPr>
            <a:r>
              <a:t/>
            </a:r>
            <a:endParaRPr sz="2400"/>
          </a:p>
        </p:txBody>
      </p:sp>
      <p:sp>
        <p:nvSpPr>
          <p:cNvPr id="3913" name="Google Shape;3913;p30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914" name="Google Shape;3914;p30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915" name="Google Shape;3915;p30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3916" name="Google Shape;3916;p303"/>
          <p:cNvPicPr preferRelativeResize="0"/>
          <p:nvPr/>
        </p:nvPicPr>
        <p:blipFill rotWithShape="1">
          <a:blip r:embed="rId3">
            <a:alphaModFix/>
          </a:blip>
          <a:srcRect b="0" l="0" r="0" t="0"/>
          <a:stretch/>
        </p:blipFill>
        <p:spPr>
          <a:xfrm>
            <a:off x="4571999" y="1628800"/>
            <a:ext cx="4464497" cy="4464496"/>
          </a:xfrm>
          <a:prstGeom prst="rect">
            <a:avLst/>
          </a:prstGeom>
          <a:noFill/>
          <a:ln>
            <a:noFill/>
          </a:ln>
        </p:spPr>
      </p:pic>
    </p:spTree>
  </p:cSld>
  <p:clrMapOvr>
    <a:masterClrMapping/>
  </p:clrMapOvr>
</p:sld>
</file>

<file path=ppt/slides/slide3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0" name="Shape 3920"/>
        <p:cNvGrpSpPr/>
        <p:nvPr/>
      </p:nvGrpSpPr>
      <p:grpSpPr>
        <a:xfrm>
          <a:off x="0" y="0"/>
          <a:ext cx="0" cy="0"/>
          <a:chOff x="0" y="0"/>
          <a:chExt cx="0" cy="0"/>
        </a:xfrm>
      </p:grpSpPr>
      <p:sp>
        <p:nvSpPr>
          <p:cNvPr id="3921" name="Google Shape;3921;p30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b="1" lang="en-IN" sz="3200"/>
              <a:t>Chomsky Hierarchy in Theory of Computation</a:t>
            </a:r>
            <a:endParaRPr sz="3200"/>
          </a:p>
        </p:txBody>
      </p:sp>
      <p:sp>
        <p:nvSpPr>
          <p:cNvPr id="3922" name="Google Shape;3922;p304"/>
          <p:cNvSpPr txBox="1"/>
          <p:nvPr>
            <p:ph idx="1" type="body"/>
          </p:nvPr>
        </p:nvSpPr>
        <p:spPr>
          <a:xfrm>
            <a:off x="457200" y="1600200"/>
            <a:ext cx="4258816"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This is a hierarchy. </a:t>
            </a:r>
            <a:endParaRPr sz="2400"/>
          </a:p>
          <a:p>
            <a:pPr indent="-342900" lvl="0" marL="342900" rtl="0" algn="l">
              <a:spcBef>
                <a:spcPts val="480"/>
              </a:spcBef>
              <a:spcAft>
                <a:spcPts val="0"/>
              </a:spcAft>
              <a:buClr>
                <a:schemeClr val="dk1"/>
              </a:buClr>
              <a:buSzPts val="2400"/>
              <a:buChar char="•"/>
            </a:pPr>
            <a:r>
              <a:rPr lang="en-IN" sz="2400"/>
              <a:t>Therefore every language of type 3 is also of type 2, 1 and 0. </a:t>
            </a:r>
            <a:endParaRPr sz="2400"/>
          </a:p>
          <a:p>
            <a:pPr indent="-342900" lvl="0" marL="342900" rtl="0" algn="l">
              <a:spcBef>
                <a:spcPts val="480"/>
              </a:spcBef>
              <a:spcAft>
                <a:spcPts val="0"/>
              </a:spcAft>
              <a:buClr>
                <a:schemeClr val="dk1"/>
              </a:buClr>
              <a:buSzPts val="2400"/>
              <a:buChar char="•"/>
            </a:pPr>
            <a:r>
              <a:rPr lang="en-IN" sz="2400"/>
              <a:t>Similarly, every language of type 2 is also of type 1 and type 0, etc.</a:t>
            </a:r>
            <a:endParaRPr sz="1800"/>
          </a:p>
          <a:p>
            <a:pPr indent="-190500" lvl="0" marL="342900" rtl="0" algn="l">
              <a:spcBef>
                <a:spcPts val="480"/>
              </a:spcBef>
              <a:spcAft>
                <a:spcPts val="0"/>
              </a:spcAft>
              <a:buClr>
                <a:schemeClr val="dk1"/>
              </a:buClr>
              <a:buSzPts val="2400"/>
              <a:buNone/>
            </a:pPr>
            <a:r>
              <a:t/>
            </a:r>
            <a:endParaRPr sz="2400"/>
          </a:p>
        </p:txBody>
      </p:sp>
      <p:sp>
        <p:nvSpPr>
          <p:cNvPr id="3923" name="Google Shape;3923;p30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
        <p:nvSpPr>
          <p:cNvPr id="3924" name="Google Shape;3924;p30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925" name="Google Shape;3925;p30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3926" name="Google Shape;3926;p304"/>
          <p:cNvPicPr preferRelativeResize="0"/>
          <p:nvPr/>
        </p:nvPicPr>
        <p:blipFill rotWithShape="1">
          <a:blip r:embed="rId3">
            <a:alphaModFix/>
          </a:blip>
          <a:srcRect b="0" l="0" r="0" t="0"/>
          <a:stretch/>
        </p:blipFill>
        <p:spPr>
          <a:xfrm>
            <a:off x="4571999" y="1628800"/>
            <a:ext cx="4464497" cy="4464496"/>
          </a:xfrm>
          <a:prstGeom prst="rect">
            <a:avLst/>
          </a:prstGeom>
          <a:noFill/>
          <a:ln>
            <a:noFill/>
          </a:ln>
        </p:spPr>
      </p:pic>
    </p:spTree>
  </p:cSld>
  <p:clrMapOvr>
    <a:masterClrMapping/>
  </p:clrMapOvr>
</p:sld>
</file>

<file path=ppt/slides/slide3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0" name="Shape 3930"/>
        <p:cNvGrpSpPr/>
        <p:nvPr/>
      </p:nvGrpSpPr>
      <p:grpSpPr>
        <a:xfrm>
          <a:off x="0" y="0"/>
          <a:ext cx="0" cy="0"/>
          <a:chOff x="0" y="0"/>
          <a:chExt cx="0" cy="0"/>
        </a:xfrm>
      </p:grpSpPr>
      <p:sp>
        <p:nvSpPr>
          <p:cNvPr id="3931" name="Google Shape;3931;p30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Operators of Regular Expression</a:t>
            </a:r>
            <a:endParaRPr/>
          </a:p>
        </p:txBody>
      </p:sp>
      <p:sp>
        <p:nvSpPr>
          <p:cNvPr id="3932" name="Google Shape;3932;p30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We have to learn the three operations  that the operators of regular expressions represent.</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IN" sz="2400"/>
              <a:t>These operations are:-</a:t>
            </a:r>
            <a:endParaRPr/>
          </a:p>
          <a:p>
            <a:pPr indent="-285750" lvl="1" marL="742950" rtl="0" algn="l">
              <a:spcBef>
                <a:spcPts val="480"/>
              </a:spcBef>
              <a:spcAft>
                <a:spcPts val="0"/>
              </a:spcAft>
              <a:buClr>
                <a:schemeClr val="dk1"/>
              </a:buClr>
              <a:buSzPts val="2400"/>
              <a:buChar char="–"/>
            </a:pPr>
            <a:r>
              <a:rPr lang="en-IN" sz="2400"/>
              <a:t>Union</a:t>
            </a:r>
            <a:endParaRPr/>
          </a:p>
          <a:p>
            <a:pPr indent="-285750" lvl="1" marL="742950" rtl="0" algn="l">
              <a:spcBef>
                <a:spcPts val="480"/>
              </a:spcBef>
              <a:spcAft>
                <a:spcPts val="0"/>
              </a:spcAft>
              <a:buClr>
                <a:schemeClr val="dk1"/>
              </a:buClr>
              <a:buSzPts val="2400"/>
              <a:buChar char="–"/>
            </a:pPr>
            <a:r>
              <a:rPr lang="en-IN" sz="2400"/>
              <a:t>Concatenation</a:t>
            </a:r>
            <a:endParaRPr/>
          </a:p>
          <a:p>
            <a:pPr indent="-285750" lvl="1" marL="742950" rtl="0" algn="l">
              <a:spcBef>
                <a:spcPts val="480"/>
              </a:spcBef>
              <a:spcAft>
                <a:spcPts val="0"/>
              </a:spcAft>
              <a:buClr>
                <a:schemeClr val="dk1"/>
              </a:buClr>
              <a:buSzPts val="2400"/>
              <a:buChar char="–"/>
            </a:pPr>
            <a:r>
              <a:rPr lang="en-IN" sz="2400"/>
              <a:t>Kleene Closure</a:t>
            </a:r>
            <a:endParaRPr/>
          </a:p>
          <a:p>
            <a:pPr indent="0" lvl="0" marL="0" rtl="0" algn="l">
              <a:spcBef>
                <a:spcPts val="480"/>
              </a:spcBef>
              <a:spcAft>
                <a:spcPts val="0"/>
              </a:spcAft>
              <a:buClr>
                <a:schemeClr val="dk1"/>
              </a:buClr>
              <a:buSzPts val="2400"/>
              <a:buNone/>
            </a:pPr>
            <a:r>
              <a:t/>
            </a:r>
            <a:endParaRPr sz="2400"/>
          </a:p>
        </p:txBody>
      </p:sp>
      <p:sp>
        <p:nvSpPr>
          <p:cNvPr id="3933" name="Google Shape;3933;p30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934" name="Google Shape;3934;p30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935" name="Google Shape;3935;p30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3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9" name="Shape 3939"/>
        <p:cNvGrpSpPr/>
        <p:nvPr/>
      </p:nvGrpSpPr>
      <p:grpSpPr>
        <a:xfrm>
          <a:off x="0" y="0"/>
          <a:ext cx="0" cy="0"/>
          <a:chOff x="0" y="0"/>
          <a:chExt cx="0" cy="0"/>
        </a:xfrm>
      </p:grpSpPr>
      <p:sp>
        <p:nvSpPr>
          <p:cNvPr id="3940" name="Google Shape;3940;p30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Operators of Regular Expression</a:t>
            </a:r>
            <a:endParaRPr/>
          </a:p>
        </p:txBody>
      </p:sp>
      <p:sp>
        <p:nvSpPr>
          <p:cNvPr id="3941" name="Google Shape;3941;p30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UNION-</a:t>
            </a:r>
            <a:endParaRPr/>
          </a:p>
          <a:p>
            <a:pPr indent="-342900" lvl="0" marL="342900" rtl="0" algn="l">
              <a:spcBef>
                <a:spcPts val="480"/>
              </a:spcBef>
              <a:spcAft>
                <a:spcPts val="0"/>
              </a:spcAft>
              <a:buClr>
                <a:schemeClr val="dk1"/>
              </a:buClr>
              <a:buSzPts val="2400"/>
              <a:buChar char="•"/>
            </a:pPr>
            <a:r>
              <a:rPr lang="en-IN" sz="2400"/>
              <a:t>The union of two languages L and M  </a:t>
            </a:r>
            <a:endParaRPr/>
          </a:p>
          <a:p>
            <a:pPr indent="-342900" lvl="0" marL="342900" rtl="0" algn="l">
              <a:spcBef>
                <a:spcPts val="480"/>
              </a:spcBef>
              <a:spcAft>
                <a:spcPts val="0"/>
              </a:spcAft>
              <a:buClr>
                <a:schemeClr val="dk1"/>
              </a:buClr>
              <a:buSzPts val="2400"/>
              <a:buChar char="•"/>
            </a:pPr>
            <a:r>
              <a:rPr lang="en-IN" sz="2400"/>
              <a:t>Denoted  as L U M </a:t>
            </a:r>
            <a:endParaRPr/>
          </a:p>
          <a:p>
            <a:pPr indent="-342900" lvl="0" marL="342900" rtl="0" algn="l">
              <a:spcBef>
                <a:spcPts val="480"/>
              </a:spcBef>
              <a:spcAft>
                <a:spcPts val="0"/>
              </a:spcAft>
              <a:buClr>
                <a:schemeClr val="dk1"/>
              </a:buClr>
              <a:buSzPts val="2400"/>
              <a:buChar char="•"/>
            </a:pPr>
            <a:r>
              <a:rPr lang="en-IN" sz="2400"/>
              <a:t>The set of strings that are in either L or M or both </a:t>
            </a:r>
            <a:endParaRPr/>
          </a:p>
          <a:p>
            <a:pPr indent="-190500" lvl="0" marL="34290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lang="en-IN" sz="2400"/>
              <a:t>Eg-</a:t>
            </a:r>
            <a:endParaRPr/>
          </a:p>
          <a:p>
            <a:pPr indent="-342900" lvl="0" marL="342900" rtl="0" algn="l">
              <a:spcBef>
                <a:spcPts val="480"/>
              </a:spcBef>
              <a:spcAft>
                <a:spcPts val="0"/>
              </a:spcAft>
              <a:buClr>
                <a:schemeClr val="dk1"/>
              </a:buClr>
              <a:buSzPts val="2400"/>
              <a:buChar char="•"/>
            </a:pPr>
            <a:r>
              <a:rPr lang="en-IN" sz="2400"/>
              <a:t>If L ={001,10,111} and M={ε,001} then </a:t>
            </a:r>
            <a:endParaRPr/>
          </a:p>
          <a:p>
            <a:pPr indent="0" lvl="0" marL="0" rtl="0" algn="l">
              <a:spcBef>
                <a:spcPts val="480"/>
              </a:spcBef>
              <a:spcAft>
                <a:spcPts val="0"/>
              </a:spcAft>
              <a:buClr>
                <a:schemeClr val="dk1"/>
              </a:buClr>
              <a:buSzPts val="2400"/>
              <a:buNone/>
            </a:pPr>
            <a:r>
              <a:rPr lang="en-IN" sz="2400"/>
              <a:t>L U  M={ε,10,001,111}</a:t>
            </a:r>
            <a:endParaRPr/>
          </a:p>
        </p:txBody>
      </p:sp>
      <p:sp>
        <p:nvSpPr>
          <p:cNvPr id="3942" name="Google Shape;3942;p30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943" name="Google Shape;3943;p30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944" name="Google Shape;3944;p30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3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8" name="Shape 3948"/>
        <p:cNvGrpSpPr/>
        <p:nvPr/>
      </p:nvGrpSpPr>
      <p:grpSpPr>
        <a:xfrm>
          <a:off x="0" y="0"/>
          <a:ext cx="0" cy="0"/>
          <a:chOff x="0" y="0"/>
          <a:chExt cx="0" cy="0"/>
        </a:xfrm>
      </p:grpSpPr>
      <p:sp>
        <p:nvSpPr>
          <p:cNvPr id="3949" name="Google Shape;3949;p30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Operators of Regular Expression</a:t>
            </a:r>
            <a:endParaRPr/>
          </a:p>
        </p:txBody>
      </p:sp>
      <p:sp>
        <p:nvSpPr>
          <p:cNvPr id="3950" name="Google Shape;3950;p30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Concatenation-</a:t>
            </a:r>
            <a:endParaRPr/>
          </a:p>
          <a:p>
            <a:pPr indent="-342900" lvl="0" marL="342900" rtl="0" algn="l">
              <a:spcBef>
                <a:spcPts val="480"/>
              </a:spcBef>
              <a:spcAft>
                <a:spcPts val="0"/>
              </a:spcAft>
              <a:buClr>
                <a:schemeClr val="dk1"/>
              </a:buClr>
              <a:buSzPts val="2400"/>
              <a:buChar char="•"/>
            </a:pPr>
            <a:r>
              <a:rPr lang="en-IN" sz="2400"/>
              <a:t>The concatenation of languages L and M </a:t>
            </a:r>
            <a:endParaRPr sz="2400"/>
          </a:p>
          <a:p>
            <a:pPr indent="-342900" lvl="0" marL="342900" rtl="0" algn="l">
              <a:spcBef>
                <a:spcPts val="480"/>
              </a:spcBef>
              <a:spcAft>
                <a:spcPts val="0"/>
              </a:spcAft>
              <a:buClr>
                <a:schemeClr val="dk1"/>
              </a:buClr>
              <a:buSzPts val="2400"/>
              <a:buChar char="•"/>
            </a:pPr>
            <a:r>
              <a:rPr lang="en-IN" sz="2400"/>
              <a:t>The set of strings that can be formed by taking any string in L and concatenating it with any string in M</a:t>
            </a:r>
            <a:endParaRPr/>
          </a:p>
          <a:p>
            <a:pPr indent="-342900" lvl="0" marL="342900" rtl="0" algn="l">
              <a:spcBef>
                <a:spcPts val="480"/>
              </a:spcBef>
              <a:spcAft>
                <a:spcPts val="0"/>
              </a:spcAft>
              <a:buClr>
                <a:schemeClr val="dk1"/>
              </a:buClr>
              <a:buSzPts val="2400"/>
              <a:buChar char="•"/>
            </a:pPr>
            <a:r>
              <a:rPr lang="en-IN" sz="2400"/>
              <a:t>Denoted with a dot or with no operator at all, although the concatenation operator is frequently called dot.</a:t>
            </a:r>
            <a:endParaRPr/>
          </a:p>
          <a:p>
            <a:pPr indent="-190500" lvl="0" marL="34290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lang="en-IN" sz="2400"/>
              <a:t>Eg-</a:t>
            </a:r>
            <a:endParaRPr/>
          </a:p>
          <a:p>
            <a:pPr indent="-342900" lvl="0" marL="342900" rtl="0" algn="l">
              <a:spcBef>
                <a:spcPts val="480"/>
              </a:spcBef>
              <a:spcAft>
                <a:spcPts val="0"/>
              </a:spcAft>
              <a:buClr>
                <a:schemeClr val="dk1"/>
              </a:buClr>
              <a:buSzPts val="2400"/>
              <a:buChar char="•"/>
            </a:pPr>
            <a:r>
              <a:rPr lang="en-IN" sz="2400"/>
              <a:t>If L={001,10,111} and M={ε,001} then L.M or just LM is {001,10,111,001001,10001,111001}</a:t>
            </a:r>
            <a:endParaRPr/>
          </a:p>
        </p:txBody>
      </p:sp>
      <p:sp>
        <p:nvSpPr>
          <p:cNvPr id="3951" name="Google Shape;3951;p30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952" name="Google Shape;3952;p30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953" name="Google Shape;3953;p30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3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7" name="Shape 3957"/>
        <p:cNvGrpSpPr/>
        <p:nvPr/>
      </p:nvGrpSpPr>
      <p:grpSpPr>
        <a:xfrm>
          <a:off x="0" y="0"/>
          <a:ext cx="0" cy="0"/>
          <a:chOff x="0" y="0"/>
          <a:chExt cx="0" cy="0"/>
        </a:xfrm>
      </p:grpSpPr>
      <p:sp>
        <p:nvSpPr>
          <p:cNvPr id="3958" name="Google Shape;3958;p30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Operators of Regular Expression</a:t>
            </a:r>
            <a:endParaRPr/>
          </a:p>
        </p:txBody>
      </p:sp>
      <p:sp>
        <p:nvSpPr>
          <p:cNvPr id="3959" name="Google Shape;3959;p30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Kleene Closure-</a:t>
            </a:r>
            <a:endParaRPr/>
          </a:p>
          <a:p>
            <a:pPr indent="-342900" lvl="0" marL="342900" rtl="0" algn="l">
              <a:spcBef>
                <a:spcPts val="480"/>
              </a:spcBef>
              <a:spcAft>
                <a:spcPts val="0"/>
              </a:spcAft>
              <a:buClr>
                <a:schemeClr val="dk1"/>
              </a:buClr>
              <a:buSzPts val="2400"/>
              <a:buChar char="•"/>
            </a:pPr>
            <a:r>
              <a:rPr lang="en-IN" sz="2400"/>
              <a:t>The closure or star or Kleene closure of a language L </a:t>
            </a:r>
            <a:endParaRPr sz="2400"/>
          </a:p>
          <a:p>
            <a:pPr indent="-342900" lvl="0" marL="342900" rtl="0" algn="l">
              <a:spcBef>
                <a:spcPts val="480"/>
              </a:spcBef>
              <a:spcAft>
                <a:spcPts val="0"/>
              </a:spcAft>
              <a:buClr>
                <a:schemeClr val="dk1"/>
              </a:buClr>
              <a:buSzPts val="2400"/>
              <a:buChar char="•"/>
            </a:pPr>
            <a:r>
              <a:rPr lang="en-IN" sz="2400"/>
              <a:t>Denoted by L*</a:t>
            </a:r>
            <a:endParaRPr sz="2400"/>
          </a:p>
          <a:p>
            <a:pPr indent="-342900" lvl="0" marL="342900" rtl="0" algn="l">
              <a:spcBef>
                <a:spcPts val="480"/>
              </a:spcBef>
              <a:spcAft>
                <a:spcPts val="0"/>
              </a:spcAft>
              <a:buClr>
                <a:schemeClr val="dk1"/>
              </a:buClr>
              <a:buSzPts val="2400"/>
              <a:buChar char="•"/>
            </a:pPr>
            <a:r>
              <a:rPr lang="en-IN" sz="2400"/>
              <a:t>Represents the set of those strings that can be formed by taking any number of strings from L, possibly with repetitions (i.e. the same string may be selected more than once) and concatenating all of them.</a:t>
            </a:r>
            <a:endParaRPr/>
          </a:p>
          <a:p>
            <a:pPr indent="0" lvl="0" marL="0" rtl="0" algn="l">
              <a:spcBef>
                <a:spcPts val="480"/>
              </a:spcBef>
              <a:spcAft>
                <a:spcPts val="0"/>
              </a:spcAft>
              <a:buClr>
                <a:schemeClr val="dk1"/>
              </a:buClr>
              <a:buSzPts val="2400"/>
              <a:buNone/>
            </a:pPr>
            <a:r>
              <a:t/>
            </a:r>
            <a:endParaRPr sz="2400"/>
          </a:p>
        </p:txBody>
      </p:sp>
      <p:sp>
        <p:nvSpPr>
          <p:cNvPr id="3960" name="Google Shape;3960;p30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961" name="Google Shape;3961;p30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962" name="Google Shape;3962;p30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3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6" name="Shape 3966"/>
        <p:cNvGrpSpPr/>
        <p:nvPr/>
      </p:nvGrpSpPr>
      <p:grpSpPr>
        <a:xfrm>
          <a:off x="0" y="0"/>
          <a:ext cx="0" cy="0"/>
          <a:chOff x="0" y="0"/>
          <a:chExt cx="0" cy="0"/>
        </a:xfrm>
      </p:grpSpPr>
      <p:sp>
        <p:nvSpPr>
          <p:cNvPr id="3967" name="Google Shape;3967;p30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Operators of Regular Expression</a:t>
            </a:r>
            <a:endParaRPr/>
          </a:p>
        </p:txBody>
      </p:sp>
      <p:sp>
        <p:nvSpPr>
          <p:cNvPr id="3968" name="Google Shape;3968;p30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Kleene Closure-</a:t>
            </a:r>
            <a:endParaRPr/>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lang="en-IN" sz="2400"/>
              <a:t>Eg-</a:t>
            </a:r>
            <a:endParaRPr/>
          </a:p>
          <a:p>
            <a:pPr indent="-457200" lvl="0" marL="457200" rtl="0" algn="l">
              <a:spcBef>
                <a:spcPts val="480"/>
              </a:spcBef>
              <a:spcAft>
                <a:spcPts val="0"/>
              </a:spcAft>
              <a:buClr>
                <a:schemeClr val="dk1"/>
              </a:buClr>
              <a:buSzPts val="2400"/>
              <a:buFont typeface="Calibri"/>
              <a:buAutoNum type="arabicParenR"/>
            </a:pPr>
            <a:r>
              <a:rPr lang="en-IN" sz="2400"/>
              <a:t>If L={0,1} then L* is all strings of 0’s and 1’s</a:t>
            </a:r>
            <a:endParaRPr/>
          </a:p>
          <a:p>
            <a:pPr indent="-457200" lvl="0" marL="457200" rtl="0" algn="l">
              <a:spcBef>
                <a:spcPts val="480"/>
              </a:spcBef>
              <a:spcAft>
                <a:spcPts val="0"/>
              </a:spcAft>
              <a:buClr>
                <a:schemeClr val="dk1"/>
              </a:buClr>
              <a:buSzPts val="2400"/>
              <a:buFont typeface="Calibri"/>
              <a:buAutoNum type="arabicParenR"/>
            </a:pPr>
            <a:r>
              <a:rPr lang="en-IN" sz="2400"/>
              <a:t>If L ={0,11} then L* consists of those strings of 0’s and 1’s such that the 1’s come in pairs E.g. 011, 11110 but not 01011 or 101</a:t>
            </a:r>
            <a:endParaRPr sz="2400"/>
          </a:p>
        </p:txBody>
      </p:sp>
      <p:sp>
        <p:nvSpPr>
          <p:cNvPr id="3969" name="Google Shape;3969;p30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970" name="Google Shape;3970;p30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971" name="Google Shape;3971;p30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3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5" name="Shape 3975"/>
        <p:cNvGrpSpPr/>
        <p:nvPr/>
      </p:nvGrpSpPr>
      <p:grpSpPr>
        <a:xfrm>
          <a:off x="0" y="0"/>
          <a:ext cx="0" cy="0"/>
          <a:chOff x="0" y="0"/>
          <a:chExt cx="0" cy="0"/>
        </a:xfrm>
      </p:grpSpPr>
      <p:sp>
        <p:nvSpPr>
          <p:cNvPr id="3976" name="Google Shape;3976;p3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a:t>Operators of Regular Expression</a:t>
            </a:r>
            <a:endParaRPr/>
          </a:p>
        </p:txBody>
      </p:sp>
      <p:sp>
        <p:nvSpPr>
          <p:cNvPr id="3977" name="Google Shape;3977;p310"/>
          <p:cNvSpPr txBox="1"/>
          <p:nvPr>
            <p:ph idx="1" type="body"/>
          </p:nvPr>
        </p:nvSpPr>
        <p:spPr>
          <a:xfrm>
            <a:off x="457200" y="1600200"/>
            <a:ext cx="8229600" cy="4525963"/>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solidFill>
                  <a:schemeClr val="dk1"/>
                </a:solidFill>
                <a:latin typeface="Calibri"/>
                <a:ea typeface="Calibri"/>
                <a:cs typeface="Calibri"/>
                <a:sym typeface="Calibri"/>
              </a:rPr>
              <a:t>Kleene Closure-</a:t>
            </a:r>
            <a:endParaRPr/>
          </a:p>
          <a:p>
            <a:pPr indent="-342900" lvl="0" marL="342900" rtl="0" algn="l">
              <a:spcBef>
                <a:spcPts val="480"/>
              </a:spcBef>
              <a:spcAft>
                <a:spcPts val="0"/>
              </a:spcAft>
              <a:buClr>
                <a:schemeClr val="dk1"/>
              </a:buClr>
              <a:buSzPts val="2400"/>
              <a:buChar char="•"/>
            </a:pPr>
            <a:r>
              <a:rPr lang="en-IN" sz="2400">
                <a:solidFill>
                  <a:schemeClr val="dk1"/>
                </a:solidFill>
                <a:latin typeface="Calibri"/>
                <a:ea typeface="Calibri"/>
                <a:cs typeface="Calibri"/>
                <a:sym typeface="Calibri"/>
              </a:rPr>
              <a:t>Star Operation</a:t>
            </a:r>
            <a:endParaRPr/>
          </a:p>
          <a:p>
            <a:pPr indent="-342900" lvl="0" marL="342900" rtl="0" algn="l">
              <a:spcBef>
                <a:spcPts val="480"/>
              </a:spcBef>
              <a:spcAft>
                <a:spcPts val="0"/>
              </a:spcAft>
              <a:buClr>
                <a:schemeClr val="dk1"/>
              </a:buClr>
              <a:buSzPts val="2400"/>
              <a:buChar char="•"/>
            </a:pPr>
            <a:r>
              <a:rPr b="1" lang="en-IN" sz="2400">
                <a:solidFill>
                  <a:schemeClr val="dk1"/>
                </a:solidFill>
                <a:latin typeface="Calibri"/>
                <a:ea typeface="Calibri"/>
                <a:cs typeface="Calibri"/>
                <a:sym typeface="Calibri"/>
              </a:rPr>
              <a:t>Bit different from the other two operations because it applies to a single language rather than two</a:t>
            </a:r>
            <a:endParaRPr/>
          </a:p>
          <a:p>
            <a:pPr indent="-342900" lvl="0" marL="342900" rtl="0" algn="l">
              <a:spcBef>
                <a:spcPts val="480"/>
              </a:spcBef>
              <a:spcAft>
                <a:spcPts val="0"/>
              </a:spcAft>
              <a:buClr>
                <a:schemeClr val="dk1"/>
              </a:buClr>
              <a:buSzPts val="2400"/>
              <a:buChar char="•"/>
            </a:pPr>
            <a:r>
              <a:rPr b="1" lang="en-IN" sz="2400">
                <a:solidFill>
                  <a:schemeClr val="dk1"/>
                </a:solidFill>
                <a:latin typeface="Calibri"/>
                <a:ea typeface="Calibri"/>
                <a:cs typeface="Calibri"/>
                <a:sym typeface="Calibri"/>
              </a:rPr>
              <a:t>Works by attaching any number of strings in A together to get a string in the new language</a:t>
            </a:r>
            <a:endParaRPr/>
          </a:p>
          <a:p>
            <a:pPr indent="-342900" lvl="0" marL="342900" rtl="0" algn="l">
              <a:spcBef>
                <a:spcPts val="480"/>
              </a:spcBef>
              <a:spcAft>
                <a:spcPts val="0"/>
              </a:spcAft>
              <a:buClr>
                <a:schemeClr val="dk1"/>
              </a:buClr>
              <a:buSzPts val="2400"/>
              <a:buChar char="•"/>
            </a:pPr>
            <a:r>
              <a:rPr b="1" lang="en-IN" sz="2400">
                <a:solidFill>
                  <a:schemeClr val="dk1"/>
                </a:solidFill>
                <a:latin typeface="Calibri"/>
                <a:ea typeface="Calibri"/>
                <a:cs typeface="Calibri"/>
                <a:sym typeface="Calibri"/>
              </a:rPr>
              <a:t>As “Any number” includes 0 as a possibility, the empty string ε is always a member of A* </a:t>
            </a:r>
            <a:endParaRPr/>
          </a:p>
          <a:p>
            <a:pPr indent="-342900" lvl="0" marL="342900" rtl="0" algn="l">
              <a:spcBef>
                <a:spcPts val="480"/>
              </a:spcBef>
              <a:spcAft>
                <a:spcPts val="0"/>
              </a:spcAft>
              <a:buClr>
                <a:schemeClr val="dk1"/>
              </a:buClr>
              <a:buSzPts val="2400"/>
              <a:buChar char="•"/>
            </a:pPr>
            <a:r>
              <a:rPr b="1" lang="en-IN" sz="2400">
                <a:solidFill>
                  <a:schemeClr val="dk1"/>
                </a:solidFill>
                <a:latin typeface="Calibri"/>
                <a:ea typeface="Calibri"/>
                <a:cs typeface="Calibri"/>
                <a:sym typeface="Calibri"/>
              </a:rPr>
              <a:t>Iteration of strings</a:t>
            </a:r>
            <a:endParaRPr/>
          </a:p>
          <a:p>
            <a:pPr indent="-215900" lvl="0" marL="342900" rtl="0" algn="l">
              <a:spcBef>
                <a:spcPts val="400"/>
              </a:spcBef>
              <a:spcAft>
                <a:spcPts val="0"/>
              </a:spcAft>
              <a:buClr>
                <a:schemeClr val="dk1"/>
              </a:buClr>
              <a:buSzPts val="2000"/>
              <a:buNone/>
            </a:pPr>
            <a:r>
              <a:t/>
            </a:r>
            <a:endParaRPr sz="2000"/>
          </a:p>
        </p:txBody>
      </p:sp>
      <p:sp>
        <p:nvSpPr>
          <p:cNvPr id="3978" name="Google Shape;3978;p3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979" name="Google Shape;3979;p3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980" name="Google Shape;3980;p3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3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4" name="Shape 3984"/>
        <p:cNvGrpSpPr/>
        <p:nvPr/>
      </p:nvGrpSpPr>
      <p:grpSpPr>
        <a:xfrm>
          <a:off x="0" y="0"/>
          <a:ext cx="0" cy="0"/>
          <a:chOff x="0" y="0"/>
          <a:chExt cx="0" cy="0"/>
        </a:xfrm>
      </p:grpSpPr>
      <p:sp>
        <p:nvSpPr>
          <p:cNvPr id="3985" name="Google Shape;3985;p3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Eg</a:t>
            </a:r>
            <a:endParaRPr/>
          </a:p>
        </p:txBody>
      </p:sp>
      <p:sp>
        <p:nvSpPr>
          <p:cNvPr id="3986" name="Google Shape;3986;p3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Let the alphabet ∑ be the standard 26 letters {a,b,….z}</a:t>
            </a:r>
            <a:endParaRPr/>
          </a:p>
          <a:p>
            <a:pPr indent="0" lvl="0" marL="0" rtl="0" algn="l">
              <a:spcBef>
                <a:spcPts val="480"/>
              </a:spcBef>
              <a:spcAft>
                <a:spcPts val="0"/>
              </a:spcAft>
              <a:buClr>
                <a:schemeClr val="dk1"/>
              </a:buClr>
              <a:buSzPts val="2400"/>
              <a:buNone/>
            </a:pPr>
            <a:r>
              <a:rPr lang="en-IN" sz="2400"/>
              <a:t>If A={good,bad} and B={boy,girl} then find out-</a:t>
            </a:r>
            <a:endParaRPr/>
          </a:p>
          <a:p>
            <a:pPr indent="0" lvl="0" marL="0" rtl="0" algn="l">
              <a:spcBef>
                <a:spcPts val="480"/>
              </a:spcBef>
              <a:spcAft>
                <a:spcPts val="0"/>
              </a:spcAft>
              <a:buClr>
                <a:schemeClr val="dk1"/>
              </a:buClr>
              <a:buSzPts val="2400"/>
              <a:buNone/>
            </a:pPr>
            <a:r>
              <a:rPr lang="en-IN" sz="2400"/>
              <a:t>AUB</a:t>
            </a:r>
            <a:endParaRPr/>
          </a:p>
          <a:p>
            <a:pPr indent="0" lvl="0" marL="0" rtl="0" algn="l">
              <a:spcBef>
                <a:spcPts val="480"/>
              </a:spcBef>
              <a:spcAft>
                <a:spcPts val="0"/>
              </a:spcAft>
              <a:buClr>
                <a:schemeClr val="dk1"/>
              </a:buClr>
              <a:buSzPts val="2400"/>
              <a:buNone/>
            </a:pPr>
            <a:r>
              <a:rPr lang="en-IN" sz="2400"/>
              <a:t>A.B</a:t>
            </a:r>
            <a:endParaRPr/>
          </a:p>
          <a:p>
            <a:pPr indent="0" lvl="0" marL="0" rtl="0" algn="l">
              <a:spcBef>
                <a:spcPts val="480"/>
              </a:spcBef>
              <a:spcAft>
                <a:spcPts val="0"/>
              </a:spcAft>
              <a:buClr>
                <a:schemeClr val="dk1"/>
              </a:buClr>
              <a:buSzPts val="2400"/>
              <a:buNone/>
            </a:pPr>
            <a:r>
              <a:rPr lang="en-IN" sz="2400"/>
              <a:t>A*</a:t>
            </a:r>
            <a:endParaRPr/>
          </a:p>
        </p:txBody>
      </p:sp>
      <p:sp>
        <p:nvSpPr>
          <p:cNvPr id="3987" name="Google Shape;3987;p3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988" name="Google Shape;3988;p3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989" name="Google Shape;3989;p3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3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3" name="Shape 3993"/>
        <p:cNvGrpSpPr/>
        <p:nvPr/>
      </p:nvGrpSpPr>
      <p:grpSpPr>
        <a:xfrm>
          <a:off x="0" y="0"/>
          <a:ext cx="0" cy="0"/>
          <a:chOff x="0" y="0"/>
          <a:chExt cx="0" cy="0"/>
        </a:xfrm>
      </p:grpSpPr>
      <p:sp>
        <p:nvSpPr>
          <p:cNvPr id="3994" name="Google Shape;3994;p3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Eg</a:t>
            </a:r>
            <a:endParaRPr/>
          </a:p>
        </p:txBody>
      </p:sp>
      <p:sp>
        <p:nvSpPr>
          <p:cNvPr id="3995" name="Google Shape;3995;p3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Let the alphabet ∑ be the standard 26 letters {a,b,….z}</a:t>
            </a:r>
            <a:endParaRPr/>
          </a:p>
          <a:p>
            <a:pPr indent="0" lvl="0" marL="0" rtl="0" algn="l">
              <a:spcBef>
                <a:spcPts val="480"/>
              </a:spcBef>
              <a:spcAft>
                <a:spcPts val="0"/>
              </a:spcAft>
              <a:buClr>
                <a:schemeClr val="dk1"/>
              </a:buClr>
              <a:buSzPts val="2400"/>
              <a:buNone/>
            </a:pPr>
            <a:r>
              <a:rPr lang="en-IN" sz="2400"/>
              <a:t>If A={good,bad} and B={boy,girl} then</a:t>
            </a:r>
            <a:endParaRPr/>
          </a:p>
          <a:p>
            <a:pPr indent="0" lvl="0" marL="0" rtl="0" algn="l">
              <a:spcBef>
                <a:spcPts val="480"/>
              </a:spcBef>
              <a:spcAft>
                <a:spcPts val="0"/>
              </a:spcAft>
              <a:buClr>
                <a:schemeClr val="dk1"/>
              </a:buClr>
              <a:buSzPts val="2400"/>
              <a:buNone/>
            </a:pPr>
            <a:r>
              <a:rPr lang="en-IN" sz="2400"/>
              <a:t>AUB={good,bad,boy,girl}</a:t>
            </a:r>
            <a:endParaRPr/>
          </a:p>
          <a:p>
            <a:pPr indent="0" lvl="0" marL="0" rtl="0" algn="l">
              <a:spcBef>
                <a:spcPts val="480"/>
              </a:spcBef>
              <a:spcAft>
                <a:spcPts val="0"/>
              </a:spcAft>
              <a:buClr>
                <a:schemeClr val="dk1"/>
              </a:buClr>
              <a:buSzPts val="2400"/>
              <a:buNone/>
            </a:pPr>
            <a:r>
              <a:rPr lang="en-IN" sz="2400"/>
              <a:t>A.B={goodboy,goodgirl,badboy,badgirl}</a:t>
            </a:r>
            <a:endParaRPr/>
          </a:p>
          <a:p>
            <a:pPr indent="0" lvl="0" marL="0" rtl="0" algn="l">
              <a:spcBef>
                <a:spcPts val="480"/>
              </a:spcBef>
              <a:spcAft>
                <a:spcPts val="0"/>
              </a:spcAft>
              <a:buClr>
                <a:schemeClr val="dk1"/>
              </a:buClr>
              <a:buSzPts val="2400"/>
              <a:buNone/>
            </a:pPr>
            <a:r>
              <a:rPr lang="en-IN" sz="2400"/>
              <a:t>A*={ε,good,bad,goodgood,badbad,goodbad,badgood,goodgoodgood,badbadbad,goodgoodbad,goodbadgood,badgoodgood,goodbadbad,badgoodbad,badbadgood,……………………………….}</a:t>
            </a:r>
            <a:endParaRPr/>
          </a:p>
        </p:txBody>
      </p:sp>
      <p:sp>
        <p:nvSpPr>
          <p:cNvPr id="3996" name="Google Shape;3996;p3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3997" name="Google Shape;3997;p3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3998" name="Google Shape;3998;p3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2" name="Shape 4002"/>
        <p:cNvGrpSpPr/>
        <p:nvPr/>
      </p:nvGrpSpPr>
      <p:grpSpPr>
        <a:xfrm>
          <a:off x="0" y="0"/>
          <a:ext cx="0" cy="0"/>
          <a:chOff x="0" y="0"/>
          <a:chExt cx="0" cy="0"/>
        </a:xfrm>
      </p:grpSpPr>
      <p:sp>
        <p:nvSpPr>
          <p:cNvPr id="4003" name="Google Shape;4003;p3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Building Regular Expressions</a:t>
            </a:r>
            <a:endParaRPr/>
          </a:p>
        </p:txBody>
      </p:sp>
      <p:sp>
        <p:nvSpPr>
          <p:cNvPr id="4004" name="Google Shape;4004;p3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Clr>
                <a:schemeClr val="dk1"/>
              </a:buClr>
              <a:buSzPct val="100000"/>
              <a:buNone/>
            </a:pPr>
            <a:r>
              <a:rPr lang="en-IN" sz="2400"/>
              <a:t>Formal Recursive Definition of Regular Expression over ∑ as follows-</a:t>
            </a:r>
            <a:endParaRPr/>
          </a:p>
          <a:p>
            <a:pPr indent="-342900" lvl="0" marL="342900" rtl="0" algn="just">
              <a:spcBef>
                <a:spcPts val="444"/>
              </a:spcBef>
              <a:spcAft>
                <a:spcPts val="0"/>
              </a:spcAft>
              <a:buClr>
                <a:schemeClr val="dk1"/>
              </a:buClr>
              <a:buSzPct val="100000"/>
              <a:buNone/>
            </a:pPr>
            <a:r>
              <a:rPr lang="en-IN" sz="2400"/>
              <a:t>1.   Any terminal symbol (i.e. an element of ∑), Λ  and   ∅ are regular</a:t>
            </a:r>
            <a:endParaRPr/>
          </a:p>
          <a:p>
            <a:pPr indent="-342900" lvl="0" marL="342900" rtl="0" algn="just">
              <a:spcBef>
                <a:spcPts val="444"/>
              </a:spcBef>
              <a:spcAft>
                <a:spcPts val="0"/>
              </a:spcAft>
              <a:buClr>
                <a:schemeClr val="dk1"/>
              </a:buClr>
              <a:buSzPct val="100000"/>
              <a:buNone/>
            </a:pPr>
            <a:r>
              <a:rPr lang="en-IN" sz="2400"/>
              <a:t>     expressions. When we view </a:t>
            </a:r>
            <a:r>
              <a:rPr i="1" lang="en-IN" sz="2400"/>
              <a:t>a </a:t>
            </a:r>
            <a:r>
              <a:rPr lang="en-IN" sz="2400"/>
              <a:t>in ∑  as a regular expression, we denote it by </a:t>
            </a:r>
            <a:r>
              <a:rPr b="1" lang="en-IN" sz="2400"/>
              <a:t>a</a:t>
            </a:r>
            <a:r>
              <a:rPr lang="en-IN" sz="2400"/>
              <a:t>.</a:t>
            </a:r>
            <a:endParaRPr/>
          </a:p>
          <a:p>
            <a:pPr indent="-342900" lvl="0" marL="342900" rtl="0" algn="just">
              <a:spcBef>
                <a:spcPts val="444"/>
              </a:spcBef>
              <a:spcAft>
                <a:spcPts val="0"/>
              </a:spcAft>
              <a:buClr>
                <a:schemeClr val="dk1"/>
              </a:buClr>
              <a:buSzPct val="100000"/>
              <a:buNone/>
            </a:pPr>
            <a:r>
              <a:rPr lang="en-IN" sz="2400"/>
              <a:t>2. The union of two regular expressions R1 and R2 , written as R1 + R2, is also a regular expression.</a:t>
            </a:r>
            <a:endParaRPr/>
          </a:p>
          <a:p>
            <a:pPr indent="-342900" lvl="0" marL="342900" rtl="0" algn="just">
              <a:spcBef>
                <a:spcPts val="444"/>
              </a:spcBef>
              <a:spcAft>
                <a:spcPts val="0"/>
              </a:spcAft>
              <a:buClr>
                <a:schemeClr val="dk1"/>
              </a:buClr>
              <a:buSzPct val="100000"/>
              <a:buNone/>
            </a:pPr>
            <a:r>
              <a:rPr lang="en-IN" sz="2400"/>
              <a:t>3. The concatenation of two regular expressions R1and R2, written as</a:t>
            </a:r>
            <a:endParaRPr/>
          </a:p>
          <a:p>
            <a:pPr indent="-342900" lvl="0" marL="342900" rtl="0" algn="just">
              <a:spcBef>
                <a:spcPts val="444"/>
              </a:spcBef>
              <a:spcAft>
                <a:spcPts val="0"/>
              </a:spcAft>
              <a:buClr>
                <a:schemeClr val="dk1"/>
              </a:buClr>
              <a:buSzPct val="100000"/>
              <a:buNone/>
            </a:pPr>
            <a:r>
              <a:rPr lang="en-IN" sz="2400"/>
              <a:t>     R1R2, is also a regular expression.</a:t>
            </a:r>
            <a:endParaRPr/>
          </a:p>
          <a:p>
            <a:pPr indent="-342900" lvl="0" marL="342900" rtl="0" algn="just">
              <a:spcBef>
                <a:spcPts val="444"/>
              </a:spcBef>
              <a:spcAft>
                <a:spcPts val="0"/>
              </a:spcAft>
              <a:buClr>
                <a:schemeClr val="dk1"/>
              </a:buClr>
              <a:buSzPct val="100000"/>
              <a:buNone/>
            </a:pPr>
            <a:r>
              <a:rPr lang="en-IN" sz="2400"/>
              <a:t>4. The iteration (or closure) of a regular expression R written as R*, is</a:t>
            </a:r>
            <a:endParaRPr/>
          </a:p>
          <a:p>
            <a:pPr indent="-342900" lvl="0" marL="342900" rtl="0" algn="just">
              <a:spcBef>
                <a:spcPts val="444"/>
              </a:spcBef>
              <a:spcAft>
                <a:spcPts val="0"/>
              </a:spcAft>
              <a:buClr>
                <a:schemeClr val="dk1"/>
              </a:buClr>
              <a:buSzPct val="100000"/>
              <a:buNone/>
            </a:pPr>
            <a:r>
              <a:rPr lang="en-IN" sz="2400"/>
              <a:t>     also a regular expression.</a:t>
            </a:r>
            <a:endParaRPr/>
          </a:p>
          <a:p>
            <a:pPr indent="-342900" lvl="0" marL="342900" rtl="0" algn="l">
              <a:spcBef>
                <a:spcPts val="444"/>
              </a:spcBef>
              <a:spcAft>
                <a:spcPts val="0"/>
              </a:spcAft>
              <a:buClr>
                <a:schemeClr val="dk1"/>
              </a:buClr>
              <a:buSzPct val="100000"/>
              <a:buNone/>
            </a:pPr>
            <a:r>
              <a:rPr lang="en-IN" sz="2400"/>
              <a:t>5.If </a:t>
            </a:r>
            <a:r>
              <a:rPr b="1" lang="en-IN" sz="2400"/>
              <a:t>R</a:t>
            </a:r>
            <a:r>
              <a:rPr lang="en-IN" sz="2400"/>
              <a:t> is a regular expression, then </a:t>
            </a:r>
            <a:r>
              <a:rPr b="1" lang="en-IN" sz="2400"/>
              <a:t>(R) </a:t>
            </a:r>
            <a:r>
              <a:rPr lang="en-IN" sz="2400"/>
              <a:t>is also a regular expression.</a:t>
            </a:r>
            <a:endParaRPr/>
          </a:p>
          <a:p>
            <a:pPr indent="-342900" lvl="0" marL="342900" rtl="0" algn="l">
              <a:spcBef>
                <a:spcPts val="444"/>
              </a:spcBef>
              <a:spcAft>
                <a:spcPts val="0"/>
              </a:spcAft>
              <a:buClr>
                <a:schemeClr val="dk1"/>
              </a:buClr>
              <a:buSzPct val="100000"/>
              <a:buNone/>
            </a:pPr>
            <a:r>
              <a:rPr lang="en-IN" sz="2400"/>
              <a:t>6. The regular expressions over∑ are precisely those obtained</a:t>
            </a:r>
            <a:endParaRPr/>
          </a:p>
          <a:p>
            <a:pPr indent="-342900" lvl="0" marL="342900" rtl="0" algn="l">
              <a:spcBef>
                <a:spcPts val="444"/>
              </a:spcBef>
              <a:spcAft>
                <a:spcPts val="0"/>
              </a:spcAft>
              <a:buClr>
                <a:schemeClr val="dk1"/>
              </a:buClr>
              <a:buSzPct val="100000"/>
              <a:buNone/>
            </a:pPr>
            <a:r>
              <a:rPr lang="en-IN" sz="2400"/>
              <a:t>recursively by the application of the rules </a:t>
            </a:r>
            <a:r>
              <a:rPr i="1" lang="en-IN" sz="2400"/>
              <a:t>1-5 </a:t>
            </a:r>
            <a:r>
              <a:rPr lang="en-IN" sz="2400"/>
              <a:t>once or several times</a:t>
            </a:r>
            <a:endParaRPr/>
          </a:p>
          <a:p>
            <a:pPr indent="0" lvl="0" marL="0" rtl="0" algn="l">
              <a:spcBef>
                <a:spcPts val="444"/>
              </a:spcBef>
              <a:spcAft>
                <a:spcPts val="0"/>
              </a:spcAft>
              <a:buClr>
                <a:schemeClr val="dk1"/>
              </a:buClr>
              <a:buSzPct val="100000"/>
              <a:buNone/>
            </a:pPr>
            <a:r>
              <a:t/>
            </a:r>
            <a:endParaRPr sz="2400"/>
          </a:p>
        </p:txBody>
      </p:sp>
      <p:sp>
        <p:nvSpPr>
          <p:cNvPr id="4005" name="Google Shape;4005;p3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4006" name="Google Shape;4006;p3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4007" name="Google Shape;4007;p3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3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1" name="Shape 4011"/>
        <p:cNvGrpSpPr/>
        <p:nvPr/>
      </p:nvGrpSpPr>
      <p:grpSpPr>
        <a:xfrm>
          <a:off x="0" y="0"/>
          <a:ext cx="0" cy="0"/>
          <a:chOff x="0" y="0"/>
          <a:chExt cx="0" cy="0"/>
        </a:xfrm>
      </p:grpSpPr>
      <p:sp>
        <p:nvSpPr>
          <p:cNvPr id="4012" name="Google Shape;4012;p3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Scrutiny of Rules</a:t>
            </a:r>
            <a:endParaRPr/>
          </a:p>
        </p:txBody>
      </p:sp>
      <p:sp>
        <p:nvSpPr>
          <p:cNvPr id="4013" name="Google Shape;4013;p3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IN" sz="2400"/>
              <a:t>We use ‘</a:t>
            </a:r>
            <a:r>
              <a:rPr b="1" lang="en-IN" sz="2400"/>
              <a:t>x</a:t>
            </a:r>
            <a:r>
              <a:rPr lang="en-IN" sz="2400"/>
              <a:t>’ for a regular expression just to distinguish it from the symbol or string x.</a:t>
            </a:r>
            <a:endParaRPr/>
          </a:p>
          <a:p>
            <a:pPr indent="-342900" lvl="0" marL="342900" rtl="0" algn="l">
              <a:spcBef>
                <a:spcPts val="480"/>
              </a:spcBef>
              <a:spcAft>
                <a:spcPts val="0"/>
              </a:spcAft>
              <a:buClr>
                <a:schemeClr val="dk1"/>
              </a:buClr>
              <a:buSzPts val="2400"/>
              <a:buChar char="•"/>
            </a:pPr>
            <a:r>
              <a:rPr lang="en-IN" sz="2400"/>
              <a:t>The paranthesis used in Rule 5 influence the order of evaluation of a regular expression</a:t>
            </a:r>
            <a:endParaRPr/>
          </a:p>
          <a:p>
            <a:pPr indent="-342900" lvl="0" marL="342900" rtl="0" algn="l">
              <a:spcBef>
                <a:spcPts val="480"/>
              </a:spcBef>
              <a:spcAft>
                <a:spcPts val="0"/>
              </a:spcAft>
              <a:buClr>
                <a:schemeClr val="dk1"/>
              </a:buClr>
              <a:buSzPts val="2400"/>
              <a:buChar char="•"/>
            </a:pPr>
            <a:r>
              <a:rPr lang="en-IN" sz="2400"/>
              <a:t>In the absence of paranthesis, the Hierarchy is as follows:-</a:t>
            </a:r>
            <a:endParaRPr/>
          </a:p>
          <a:p>
            <a:pPr indent="-285750" lvl="1" marL="742950" rtl="0" algn="l">
              <a:spcBef>
                <a:spcPts val="480"/>
              </a:spcBef>
              <a:spcAft>
                <a:spcPts val="0"/>
              </a:spcAft>
              <a:buClr>
                <a:schemeClr val="dk1"/>
              </a:buClr>
              <a:buSzPts val="2400"/>
              <a:buChar char="–"/>
            </a:pPr>
            <a:r>
              <a:rPr lang="en-IN" sz="2400"/>
              <a:t>Iteration(closure),concatenation and union</a:t>
            </a:r>
            <a:endParaRPr/>
          </a:p>
          <a:p>
            <a:pPr indent="-285750" lvl="1" marL="742950" rtl="0" algn="l">
              <a:spcBef>
                <a:spcPts val="480"/>
              </a:spcBef>
              <a:spcAft>
                <a:spcPts val="0"/>
              </a:spcAft>
              <a:buClr>
                <a:schemeClr val="dk1"/>
              </a:buClr>
              <a:buSzPts val="2400"/>
              <a:buChar char="–"/>
            </a:pPr>
            <a:r>
              <a:rPr lang="en-IN" sz="2400"/>
              <a:t>The hierarchy is similar to that followed for arithmetic expressions (exponentiation, multiplication and addition)</a:t>
            </a:r>
            <a:endParaRPr/>
          </a:p>
          <a:p>
            <a:pPr indent="-190500" lvl="0" marL="342900" rtl="0" algn="l">
              <a:spcBef>
                <a:spcPts val="480"/>
              </a:spcBef>
              <a:spcAft>
                <a:spcPts val="0"/>
              </a:spcAft>
              <a:buClr>
                <a:schemeClr val="dk1"/>
              </a:buClr>
              <a:buSzPts val="2400"/>
              <a:buNone/>
            </a:pPr>
            <a:r>
              <a:t/>
            </a:r>
            <a:endParaRPr sz="2400"/>
          </a:p>
        </p:txBody>
      </p:sp>
      <p:sp>
        <p:nvSpPr>
          <p:cNvPr id="4014" name="Google Shape;4014;p3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4015" name="Google Shape;4015;p3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4016" name="Google Shape;4016;p3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3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0" name="Shape 4020"/>
        <p:cNvGrpSpPr/>
        <p:nvPr/>
      </p:nvGrpSpPr>
      <p:grpSpPr>
        <a:xfrm>
          <a:off x="0" y="0"/>
          <a:ext cx="0" cy="0"/>
          <a:chOff x="0" y="0"/>
          <a:chExt cx="0" cy="0"/>
        </a:xfrm>
      </p:grpSpPr>
      <p:sp>
        <p:nvSpPr>
          <p:cNvPr id="4021" name="Google Shape;4021;p3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BASIS</a:t>
            </a:r>
            <a:endParaRPr/>
          </a:p>
        </p:txBody>
      </p:sp>
      <p:sp>
        <p:nvSpPr>
          <p:cNvPr id="4022" name="Google Shape;4022;p3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IN" sz="2400"/>
              <a:t>The basis consists of three parts:</a:t>
            </a:r>
            <a:endParaRPr sz="2400"/>
          </a:p>
          <a:p>
            <a:pPr indent="-457200" lvl="0" marL="457200" rtl="0" algn="l">
              <a:spcBef>
                <a:spcPts val="480"/>
              </a:spcBef>
              <a:spcAft>
                <a:spcPts val="0"/>
              </a:spcAft>
              <a:buClr>
                <a:schemeClr val="dk1"/>
              </a:buClr>
              <a:buSzPts val="2400"/>
              <a:buFont typeface="Calibri"/>
              <a:buAutoNum type="arabicParenR"/>
            </a:pPr>
            <a:r>
              <a:rPr lang="en-IN" sz="2400"/>
              <a:t>The constants ε and ∅ are regular expressions,  denoting the languages {ε} and ∅ respectively.   That is, L(ε )={ε } and L(∅)= ∅</a:t>
            </a:r>
            <a:endParaRPr sz="2400"/>
          </a:p>
          <a:p>
            <a:pPr indent="-457200" lvl="0" marL="457200" rtl="0" algn="l">
              <a:spcBef>
                <a:spcPts val="480"/>
              </a:spcBef>
              <a:spcAft>
                <a:spcPts val="0"/>
              </a:spcAft>
              <a:buClr>
                <a:schemeClr val="dk1"/>
              </a:buClr>
              <a:buSzPts val="2400"/>
              <a:buFont typeface="Calibri"/>
              <a:buAutoNum type="arabicParenR"/>
            </a:pPr>
            <a:r>
              <a:rPr lang="en-IN" sz="2400"/>
              <a:t>If a is any symbol, then </a:t>
            </a:r>
            <a:r>
              <a:rPr b="1" lang="en-IN" sz="2400"/>
              <a:t>a</a:t>
            </a:r>
            <a:r>
              <a:rPr lang="en-IN" sz="2400"/>
              <a:t> is a regular expression. This expression denotes the language {a}. That is, L(</a:t>
            </a:r>
            <a:r>
              <a:rPr b="1" lang="en-IN" sz="2400"/>
              <a:t>a</a:t>
            </a:r>
            <a:r>
              <a:rPr lang="en-IN" sz="2400"/>
              <a:t>)={a}, Note that we use boldface font to denote an expression corresponding to a symbol. </a:t>
            </a:r>
            <a:endParaRPr/>
          </a:p>
        </p:txBody>
      </p:sp>
      <p:sp>
        <p:nvSpPr>
          <p:cNvPr id="4023" name="Google Shape;4023;p3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Ms. Shweta Dhawan Chachra</a:t>
            </a:r>
            <a:endParaRPr/>
          </a:p>
        </p:txBody>
      </p:sp>
      <p:sp>
        <p:nvSpPr>
          <p:cNvPr id="4024" name="Google Shape;4024;p3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4025" name="Google Shape;4025;p3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14-02-2024</a:t>
            </a:r>
            <a:endParaRPr/>
          </a:p>
        </p:txBody>
      </p:sp>
    </p:spTree>
  </p:cSld>
  <p:clrMapOvr>
    <a:masterClrMapping/>
  </p:clrMapOvr>
</p:sld>
</file>

<file path=ppt/slides/slide3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0" name="Shape 4030"/>
        <p:cNvGrpSpPr/>
        <p:nvPr/>
      </p:nvGrpSpPr>
      <p:grpSpPr>
        <a:xfrm>
          <a:off x="0" y="0"/>
          <a:ext cx="0" cy="0"/>
          <a:chOff x="0" y="0"/>
          <a:chExt cx="0" cy="0"/>
        </a:xfrm>
      </p:grpSpPr>
      <p:sp>
        <p:nvSpPr>
          <p:cNvPr id="4031" name="Google Shape;4031;p316"/>
          <p:cNvSpPr txBox="1"/>
          <p:nvPr>
            <p:ph idx="1" type="body"/>
          </p:nvPr>
        </p:nvSpPr>
        <p:spPr>
          <a:xfrm>
            <a:off x="457200" y="914400"/>
            <a:ext cx="8229600" cy="5791200"/>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Font typeface="Arial"/>
              <a:buNone/>
            </a:pPr>
            <a:r>
              <a:rPr b="1" lang="en-IN" sz="2800">
                <a:solidFill>
                  <a:schemeClr val="dk1"/>
                </a:solidFill>
                <a:latin typeface="Calibri"/>
                <a:ea typeface="Calibri"/>
                <a:cs typeface="Calibri"/>
                <a:sym typeface="Calibri"/>
              </a:rPr>
              <a:t>    Any set represented by a regular expression is called a regular set.</a:t>
            </a:r>
            <a:endParaRPr/>
          </a:p>
          <a:p>
            <a:pPr indent="-342900" lvl="0" marL="342900" rtl="0" algn="l">
              <a:spcBef>
                <a:spcPts val="480"/>
              </a:spcBef>
              <a:spcAft>
                <a:spcPts val="0"/>
              </a:spcAft>
              <a:buClr>
                <a:schemeClr val="dk1"/>
              </a:buClr>
              <a:buSzPts val="2400"/>
              <a:buFont typeface="Arial"/>
              <a:buNone/>
            </a:pPr>
            <a:r>
              <a:rPr i="1" lang="en-IN" sz="2400">
                <a:solidFill>
                  <a:schemeClr val="dk1"/>
                </a:solidFill>
                <a:latin typeface="Calibri"/>
                <a:ea typeface="Calibri"/>
                <a:cs typeface="Calibri"/>
                <a:sym typeface="Calibri"/>
              </a:rPr>
              <a:t>   </a:t>
            </a:r>
            <a:r>
              <a:rPr lang="en-IN" sz="2400">
                <a:solidFill>
                  <a:schemeClr val="dk1"/>
                </a:solidFill>
                <a:latin typeface="Calibri"/>
                <a:ea typeface="Calibri"/>
                <a:cs typeface="Calibri"/>
                <a:sym typeface="Calibri"/>
              </a:rPr>
              <a:t>If for example, </a:t>
            </a:r>
            <a:r>
              <a:rPr i="1" lang="en-IN" sz="2400">
                <a:solidFill>
                  <a:schemeClr val="dk1"/>
                </a:solidFill>
                <a:latin typeface="Calibri"/>
                <a:ea typeface="Calibri"/>
                <a:cs typeface="Calibri"/>
                <a:sym typeface="Calibri"/>
              </a:rPr>
              <a:t>a, b</a:t>
            </a:r>
            <a:r>
              <a:rPr lang="en-IN" sz="2400">
                <a:solidFill>
                  <a:schemeClr val="dk1"/>
                </a:solidFill>
                <a:latin typeface="Calibri"/>
                <a:ea typeface="Calibri"/>
                <a:cs typeface="Calibri"/>
                <a:sym typeface="Calibri"/>
              </a:rPr>
              <a:t> ε ∑</a:t>
            </a:r>
            <a:r>
              <a:rPr i="1" lang="en-IN" sz="2400">
                <a:solidFill>
                  <a:schemeClr val="dk1"/>
                </a:solidFill>
                <a:latin typeface="Calibri"/>
                <a:ea typeface="Calibri"/>
                <a:cs typeface="Calibri"/>
                <a:sym typeface="Calibri"/>
              </a:rPr>
              <a:t>. </a:t>
            </a:r>
            <a:r>
              <a:rPr lang="en-IN" sz="2400">
                <a:solidFill>
                  <a:schemeClr val="dk1"/>
                </a:solidFill>
                <a:latin typeface="Calibri"/>
                <a:ea typeface="Calibri"/>
                <a:cs typeface="Calibri"/>
                <a:sym typeface="Calibri"/>
              </a:rPr>
              <a:t>Then</a:t>
            </a:r>
            <a:endParaRPr/>
          </a:p>
          <a:p>
            <a:pPr indent="-342900" lvl="0" marL="342900" rtl="0" algn="l">
              <a:spcBef>
                <a:spcPts val="400"/>
              </a:spcBef>
              <a:spcAft>
                <a:spcPts val="0"/>
              </a:spcAft>
              <a:buClr>
                <a:schemeClr val="dk1"/>
              </a:buClr>
              <a:buSzPts val="2000"/>
              <a:buFont typeface="Arial"/>
              <a:buNone/>
            </a:pPr>
            <a:r>
              <a:rPr lang="en-IN" sz="2000">
                <a:solidFill>
                  <a:schemeClr val="dk1"/>
                </a:solidFill>
                <a:latin typeface="Calibri"/>
                <a:ea typeface="Calibri"/>
                <a:cs typeface="Calibri"/>
                <a:sym typeface="Calibri"/>
              </a:rPr>
              <a:t> (i) </a:t>
            </a:r>
            <a:r>
              <a:rPr b="1" lang="en-IN" sz="2000">
                <a:solidFill>
                  <a:schemeClr val="dk1"/>
                </a:solidFill>
                <a:latin typeface="Calibri"/>
                <a:ea typeface="Calibri"/>
                <a:cs typeface="Calibri"/>
                <a:sym typeface="Calibri"/>
              </a:rPr>
              <a:t>a</a:t>
            </a:r>
            <a:r>
              <a:rPr lang="en-IN" sz="2000">
                <a:solidFill>
                  <a:schemeClr val="dk1"/>
                </a:solidFill>
                <a:latin typeface="Calibri"/>
                <a:ea typeface="Calibri"/>
                <a:cs typeface="Calibri"/>
                <a:sym typeface="Calibri"/>
              </a:rPr>
              <a:t> denotes the set </a:t>
            </a:r>
            <a:r>
              <a:rPr i="1" lang="en-IN" sz="2000">
                <a:solidFill>
                  <a:schemeClr val="dk1"/>
                </a:solidFill>
                <a:latin typeface="Calibri"/>
                <a:ea typeface="Calibri"/>
                <a:cs typeface="Calibri"/>
                <a:sym typeface="Calibri"/>
              </a:rPr>
              <a:t>{a},</a:t>
            </a:r>
            <a:endParaRPr/>
          </a:p>
          <a:p>
            <a:pPr indent="-342900" lvl="0" marL="342900" rtl="0" algn="l">
              <a:spcBef>
                <a:spcPts val="400"/>
              </a:spcBef>
              <a:spcAft>
                <a:spcPts val="0"/>
              </a:spcAft>
              <a:buClr>
                <a:schemeClr val="dk1"/>
              </a:buClr>
              <a:buSzPts val="2000"/>
              <a:buFont typeface="Arial"/>
              <a:buNone/>
            </a:pPr>
            <a:r>
              <a:rPr i="1" lang="en-IN" sz="2000">
                <a:solidFill>
                  <a:schemeClr val="dk1"/>
                </a:solidFill>
                <a:latin typeface="Calibri"/>
                <a:ea typeface="Calibri"/>
                <a:cs typeface="Calibri"/>
                <a:sym typeface="Calibri"/>
              </a:rPr>
              <a:t> </a:t>
            </a:r>
            <a:endParaRPr/>
          </a:p>
          <a:p>
            <a:pPr indent="-342900" lvl="0" marL="342900" rtl="0" algn="l">
              <a:spcBef>
                <a:spcPts val="400"/>
              </a:spcBef>
              <a:spcAft>
                <a:spcPts val="0"/>
              </a:spcAft>
              <a:buClr>
                <a:schemeClr val="dk1"/>
              </a:buClr>
              <a:buSzPts val="2000"/>
              <a:buFont typeface="Arial"/>
              <a:buNone/>
            </a:pPr>
            <a:r>
              <a:rPr lang="en-IN" sz="2000">
                <a:solidFill>
                  <a:schemeClr val="dk1"/>
                </a:solidFill>
                <a:latin typeface="Calibri"/>
                <a:ea typeface="Calibri"/>
                <a:cs typeface="Calibri"/>
                <a:sym typeface="Calibri"/>
              </a:rPr>
              <a:t>(ii) </a:t>
            </a:r>
            <a:r>
              <a:rPr b="1" lang="en-IN" sz="2000">
                <a:solidFill>
                  <a:schemeClr val="dk1"/>
                </a:solidFill>
                <a:latin typeface="Calibri"/>
                <a:ea typeface="Calibri"/>
                <a:cs typeface="Calibri"/>
                <a:sym typeface="Calibri"/>
              </a:rPr>
              <a:t>a + b</a:t>
            </a:r>
            <a:r>
              <a:rPr lang="en-IN" sz="2000">
                <a:solidFill>
                  <a:schemeClr val="dk1"/>
                </a:solidFill>
                <a:latin typeface="Calibri"/>
                <a:ea typeface="Calibri"/>
                <a:cs typeface="Calibri"/>
                <a:sym typeface="Calibri"/>
              </a:rPr>
              <a:t> denotes </a:t>
            </a:r>
            <a:r>
              <a:rPr i="1" lang="en-IN" sz="2000">
                <a:solidFill>
                  <a:schemeClr val="dk1"/>
                </a:solidFill>
                <a:latin typeface="Calibri"/>
                <a:ea typeface="Calibri"/>
                <a:cs typeface="Calibri"/>
                <a:sym typeface="Calibri"/>
              </a:rPr>
              <a:t>{a, b}, </a:t>
            </a:r>
            <a:endParaRPr/>
          </a:p>
          <a:p>
            <a:pPr indent="-342900" lvl="0" marL="342900" rtl="0" algn="l">
              <a:spcBef>
                <a:spcPts val="400"/>
              </a:spcBef>
              <a:spcAft>
                <a:spcPts val="0"/>
              </a:spcAft>
              <a:buClr>
                <a:schemeClr val="dk1"/>
              </a:buClr>
              <a:buSzPts val="2000"/>
              <a:buFont typeface="Arial"/>
              <a:buNone/>
            </a:pPr>
            <a:r>
              <a:t/>
            </a:r>
            <a:endParaRPr i="1" sz="2000"/>
          </a:p>
          <a:p>
            <a:pPr indent="-342900" lvl="0" marL="342900" rtl="0" algn="l">
              <a:spcBef>
                <a:spcPts val="400"/>
              </a:spcBef>
              <a:spcAft>
                <a:spcPts val="0"/>
              </a:spcAft>
              <a:buClr>
                <a:schemeClr val="dk1"/>
              </a:buClr>
              <a:buSzPts val="2000"/>
              <a:buFont typeface="Arial"/>
              <a:buNone/>
            </a:pPr>
            <a:r>
              <a:rPr lang="en-IN" sz="2000">
                <a:solidFill>
                  <a:schemeClr val="dk1"/>
                </a:solidFill>
                <a:latin typeface="Calibri"/>
                <a:ea typeface="Calibri"/>
                <a:cs typeface="Calibri"/>
                <a:sym typeface="Calibri"/>
              </a:rPr>
              <a:t>(iii) </a:t>
            </a:r>
            <a:r>
              <a:rPr b="1" lang="en-IN" sz="2000">
                <a:solidFill>
                  <a:schemeClr val="dk1"/>
                </a:solidFill>
                <a:latin typeface="Calibri"/>
                <a:ea typeface="Calibri"/>
                <a:cs typeface="Calibri"/>
                <a:sym typeface="Calibri"/>
              </a:rPr>
              <a:t>ab </a:t>
            </a:r>
            <a:r>
              <a:rPr lang="en-IN" sz="2000">
                <a:solidFill>
                  <a:schemeClr val="dk1"/>
                </a:solidFill>
                <a:latin typeface="Calibri"/>
                <a:ea typeface="Calibri"/>
                <a:cs typeface="Calibri"/>
                <a:sym typeface="Calibri"/>
              </a:rPr>
              <a:t>denotes </a:t>
            </a:r>
            <a:r>
              <a:rPr i="1" lang="en-IN" sz="2000">
                <a:solidFill>
                  <a:schemeClr val="dk1"/>
                </a:solidFill>
                <a:latin typeface="Calibri"/>
                <a:ea typeface="Calibri"/>
                <a:cs typeface="Calibri"/>
                <a:sym typeface="Calibri"/>
              </a:rPr>
              <a:t>{ab}, </a:t>
            </a:r>
            <a:endParaRPr/>
          </a:p>
          <a:p>
            <a:pPr indent="-342900" lvl="0" marL="342900" rtl="0" algn="l">
              <a:spcBef>
                <a:spcPts val="400"/>
              </a:spcBef>
              <a:spcAft>
                <a:spcPts val="0"/>
              </a:spcAft>
              <a:buClr>
                <a:schemeClr val="dk1"/>
              </a:buClr>
              <a:buSzPts val="2000"/>
              <a:buFont typeface="Arial"/>
              <a:buNone/>
            </a:pPr>
            <a:r>
              <a:t/>
            </a:r>
            <a:endParaRPr i="1" sz="2000"/>
          </a:p>
          <a:p>
            <a:pPr indent="-342900" lvl="0" marL="342900" rtl="0" algn="l">
              <a:spcBef>
                <a:spcPts val="400"/>
              </a:spcBef>
              <a:spcAft>
                <a:spcPts val="0"/>
              </a:spcAft>
              <a:buClr>
                <a:schemeClr val="dk1"/>
              </a:buClr>
              <a:buSzPts val="2000"/>
              <a:buFont typeface="Arial"/>
              <a:buNone/>
            </a:pPr>
            <a:r>
              <a:rPr lang="en-IN" sz="2000">
                <a:solidFill>
                  <a:schemeClr val="dk1"/>
                </a:solidFill>
                <a:latin typeface="Calibri"/>
                <a:ea typeface="Calibri"/>
                <a:cs typeface="Calibri"/>
                <a:sym typeface="Calibri"/>
              </a:rPr>
              <a:t>(iv) </a:t>
            </a:r>
            <a:r>
              <a:rPr b="1" lang="en-IN" sz="2000">
                <a:solidFill>
                  <a:schemeClr val="dk1"/>
                </a:solidFill>
                <a:latin typeface="Calibri"/>
                <a:ea typeface="Calibri"/>
                <a:cs typeface="Calibri"/>
                <a:sym typeface="Calibri"/>
              </a:rPr>
              <a:t>a*</a:t>
            </a:r>
            <a:r>
              <a:rPr lang="en-IN" sz="2000">
                <a:solidFill>
                  <a:schemeClr val="dk1"/>
                </a:solidFill>
                <a:latin typeface="Calibri"/>
                <a:ea typeface="Calibri"/>
                <a:cs typeface="Calibri"/>
                <a:sym typeface="Calibri"/>
              </a:rPr>
              <a:t> denotes the set {ε. </a:t>
            </a:r>
            <a:r>
              <a:rPr i="1" lang="en-IN" sz="2000">
                <a:solidFill>
                  <a:schemeClr val="dk1"/>
                </a:solidFill>
                <a:latin typeface="Calibri"/>
                <a:ea typeface="Calibri"/>
                <a:cs typeface="Calibri"/>
                <a:sym typeface="Calibri"/>
              </a:rPr>
              <a:t>a, aa. aaa, </a:t>
            </a:r>
            <a:r>
              <a:rPr lang="en-IN" sz="2000">
                <a:solidFill>
                  <a:schemeClr val="dk1"/>
                </a:solidFill>
                <a:latin typeface="Calibri"/>
                <a:ea typeface="Calibri"/>
                <a:cs typeface="Calibri"/>
                <a:sym typeface="Calibri"/>
              </a:rPr>
              <a:t>... } and</a:t>
            </a:r>
            <a:endParaRPr/>
          </a:p>
          <a:p>
            <a:pPr indent="-342900" lvl="0" marL="342900" rtl="0" algn="l">
              <a:spcBef>
                <a:spcPts val="400"/>
              </a:spcBef>
              <a:spcAft>
                <a:spcPts val="0"/>
              </a:spcAft>
              <a:buClr>
                <a:schemeClr val="dk1"/>
              </a:buClr>
              <a:buSzPts val="2000"/>
              <a:buFont typeface="Arial"/>
              <a:buNone/>
            </a:pPr>
            <a:r>
              <a:t/>
            </a:r>
            <a:endParaRPr sz="2000"/>
          </a:p>
          <a:p>
            <a:pPr indent="-342900" lvl="0" marL="342900" rtl="0" algn="l">
              <a:spcBef>
                <a:spcPts val="400"/>
              </a:spcBef>
              <a:spcAft>
                <a:spcPts val="0"/>
              </a:spcAft>
              <a:buClr>
                <a:schemeClr val="dk1"/>
              </a:buClr>
              <a:buSzPts val="2000"/>
              <a:buFont typeface="Arial"/>
              <a:buNone/>
            </a:pPr>
            <a:r>
              <a:rPr lang="en-IN" sz="2000">
                <a:solidFill>
                  <a:schemeClr val="dk1"/>
                </a:solidFill>
                <a:latin typeface="Calibri"/>
                <a:ea typeface="Calibri"/>
                <a:cs typeface="Calibri"/>
                <a:sym typeface="Calibri"/>
              </a:rPr>
              <a:t>(v) </a:t>
            </a:r>
            <a:r>
              <a:rPr b="1" lang="en-IN" sz="2000">
                <a:solidFill>
                  <a:schemeClr val="dk1"/>
                </a:solidFill>
                <a:latin typeface="Calibri"/>
                <a:ea typeface="Calibri"/>
                <a:cs typeface="Calibri"/>
                <a:sym typeface="Calibri"/>
              </a:rPr>
              <a:t>(a + b)*</a:t>
            </a:r>
            <a:r>
              <a:rPr lang="en-IN" sz="2000">
                <a:solidFill>
                  <a:schemeClr val="dk1"/>
                </a:solidFill>
                <a:latin typeface="Calibri"/>
                <a:ea typeface="Calibri"/>
                <a:cs typeface="Calibri"/>
                <a:sym typeface="Calibri"/>
              </a:rPr>
              <a:t> denotes </a:t>
            </a:r>
            <a:r>
              <a:rPr i="1" lang="en-IN" sz="2000">
                <a:solidFill>
                  <a:schemeClr val="dk1"/>
                </a:solidFill>
                <a:latin typeface="Calibri"/>
                <a:ea typeface="Calibri"/>
                <a:cs typeface="Calibri"/>
                <a:sym typeface="Calibri"/>
              </a:rPr>
              <a:t>{a, b}*. </a:t>
            </a:r>
            <a:r>
              <a:rPr lang="en-IN" sz="2000">
                <a:solidFill>
                  <a:schemeClr val="dk1"/>
                </a:solidFill>
                <a:latin typeface="Calibri"/>
                <a:ea typeface="Calibri"/>
                <a:cs typeface="Calibri"/>
                <a:sym typeface="Calibri"/>
              </a:rPr>
              <a:t>The set represented by </a:t>
            </a:r>
            <a:r>
              <a:rPr i="1" lang="en-IN" sz="2000">
                <a:solidFill>
                  <a:schemeClr val="dk1"/>
                </a:solidFill>
                <a:latin typeface="Calibri"/>
                <a:ea typeface="Calibri"/>
                <a:cs typeface="Calibri"/>
                <a:sym typeface="Calibri"/>
              </a:rPr>
              <a:t>R </a:t>
            </a:r>
            <a:r>
              <a:rPr lang="en-IN" sz="2000">
                <a:solidFill>
                  <a:schemeClr val="dk1"/>
                </a:solidFill>
                <a:latin typeface="Calibri"/>
                <a:ea typeface="Calibri"/>
                <a:cs typeface="Calibri"/>
                <a:sym typeface="Calibri"/>
              </a:rPr>
              <a:t>is denoted by L(R),</a:t>
            </a:r>
            <a:endParaRPr/>
          </a:p>
          <a:p>
            <a:pPr indent="-190500" lvl="0" marL="342900" rtl="0" algn="l">
              <a:spcBef>
                <a:spcPts val="480"/>
              </a:spcBef>
              <a:spcAft>
                <a:spcPts val="0"/>
              </a:spcAft>
              <a:buClr>
                <a:schemeClr val="dk1"/>
              </a:buClr>
              <a:buSzPts val="2400"/>
              <a:buNone/>
            </a:pPr>
            <a:r>
              <a:t/>
            </a:r>
            <a:endParaRPr sz="2400"/>
          </a:p>
        </p:txBody>
      </p:sp>
      <p:sp>
        <p:nvSpPr>
          <p:cNvPr id="4032" name="Google Shape;4032;p316"/>
          <p:cNvSpPr/>
          <p:nvPr/>
        </p:nvSpPr>
        <p:spPr>
          <a:xfrm>
            <a:off x="457200" y="228600"/>
            <a:ext cx="1812925"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800">
                <a:solidFill>
                  <a:srgbClr val="953734"/>
                </a:solidFill>
                <a:latin typeface="Calibri"/>
                <a:ea typeface="Calibri"/>
                <a:cs typeface="Calibri"/>
                <a:sym typeface="Calibri"/>
              </a:rPr>
              <a:t>Definitions</a:t>
            </a:r>
            <a:endParaRPr/>
          </a:p>
        </p:txBody>
      </p:sp>
    </p:spTree>
  </p:cSld>
  <p:clrMapOvr>
    <a:masterClrMapping/>
  </p:clrMapOvr>
</p:sld>
</file>

<file path=ppt/slides/slide3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6" name="Shape 4036"/>
        <p:cNvGrpSpPr/>
        <p:nvPr/>
      </p:nvGrpSpPr>
      <p:grpSpPr>
        <a:xfrm>
          <a:off x="0" y="0"/>
          <a:ext cx="0" cy="0"/>
          <a:chOff x="0" y="0"/>
          <a:chExt cx="0" cy="0"/>
        </a:xfrm>
      </p:grpSpPr>
      <p:sp>
        <p:nvSpPr>
          <p:cNvPr id="4037" name="Google Shape;4037;p317"/>
          <p:cNvSpPr txBox="1"/>
          <p:nvPr>
            <p:ph type="title"/>
          </p:nvPr>
        </p:nvSpPr>
        <p:spPr>
          <a:xfrm>
            <a:off x="76200" y="228600"/>
            <a:ext cx="8229600" cy="3048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C00000"/>
              </a:buClr>
              <a:buSzPct val="100000"/>
              <a:buFont typeface="Calibri"/>
              <a:buNone/>
            </a:pPr>
            <a:r>
              <a:rPr b="1" lang="en-IN" sz="3200">
                <a:solidFill>
                  <a:srgbClr val="C00000"/>
                </a:solidFill>
              </a:rPr>
              <a:t>Questions</a:t>
            </a:r>
            <a:endParaRPr b="1" sz="3200">
              <a:solidFill>
                <a:srgbClr val="C00000"/>
              </a:solidFill>
            </a:endParaRPr>
          </a:p>
        </p:txBody>
      </p:sp>
      <p:sp>
        <p:nvSpPr>
          <p:cNvPr id="4038" name="Google Shape;4038;p317"/>
          <p:cNvSpPr txBox="1"/>
          <p:nvPr>
            <p:ph idx="1" type="body"/>
          </p:nvPr>
        </p:nvSpPr>
        <p:spPr>
          <a:xfrm>
            <a:off x="228600" y="1066800"/>
            <a:ext cx="8763000" cy="5334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Font typeface="Arial"/>
              <a:buNone/>
            </a:pPr>
            <a:r>
              <a:rPr lang="en-IN" sz="2400"/>
              <a:t>Q1) Describe the following sets by regular expressions:</a:t>
            </a:r>
            <a:endParaRPr/>
          </a:p>
          <a:p>
            <a:pPr indent="-457200" lvl="0" marL="457200" rtl="0" algn="l">
              <a:spcBef>
                <a:spcPts val="480"/>
              </a:spcBef>
              <a:spcAft>
                <a:spcPts val="0"/>
              </a:spcAft>
              <a:buClr>
                <a:schemeClr val="dk1"/>
              </a:buClr>
              <a:buSzPts val="2400"/>
              <a:buFont typeface="Arial"/>
              <a:buAutoNum type="alphaLcParenBoth"/>
            </a:pPr>
            <a:r>
              <a:rPr lang="en-IN" sz="2400"/>
              <a:t> {101}</a:t>
            </a:r>
            <a:endParaRPr/>
          </a:p>
          <a:p>
            <a:pPr indent="-457200" lvl="0" marL="457200" rtl="0" algn="l">
              <a:spcBef>
                <a:spcPts val="480"/>
              </a:spcBef>
              <a:spcAft>
                <a:spcPts val="0"/>
              </a:spcAft>
              <a:buClr>
                <a:schemeClr val="dk1"/>
              </a:buClr>
              <a:buSzPts val="2400"/>
              <a:buFont typeface="Arial"/>
              <a:buAutoNum type="alphaLcParenBoth"/>
            </a:pPr>
            <a:r>
              <a:rPr lang="en-IN" sz="2400"/>
              <a:t> {abba}</a:t>
            </a:r>
            <a:endParaRPr/>
          </a:p>
          <a:p>
            <a:pPr indent="-457200" lvl="0" marL="457200" rtl="0" algn="l">
              <a:spcBef>
                <a:spcPts val="480"/>
              </a:spcBef>
              <a:spcAft>
                <a:spcPts val="0"/>
              </a:spcAft>
              <a:buClr>
                <a:schemeClr val="dk1"/>
              </a:buClr>
              <a:buSzPts val="2400"/>
              <a:buFont typeface="Arial"/>
              <a:buAutoNum type="alphaLcParenBoth"/>
            </a:pPr>
            <a:r>
              <a:rPr lang="en-IN" sz="2400"/>
              <a:t> {01,10}</a:t>
            </a:r>
            <a:endParaRPr/>
          </a:p>
          <a:p>
            <a:pPr indent="-457200" lvl="0" marL="457200" rtl="0" algn="l">
              <a:spcBef>
                <a:spcPts val="480"/>
              </a:spcBef>
              <a:spcAft>
                <a:spcPts val="0"/>
              </a:spcAft>
              <a:buClr>
                <a:schemeClr val="dk1"/>
              </a:buClr>
              <a:buSzPts val="2400"/>
              <a:buFont typeface="Arial"/>
              <a:buAutoNum type="alphaLcParenBoth"/>
            </a:pPr>
            <a:r>
              <a:rPr lang="en-IN" sz="2400"/>
              <a:t> {Λ ,ab}</a:t>
            </a:r>
            <a:endParaRPr/>
          </a:p>
          <a:p>
            <a:pPr indent="-457200" lvl="0" marL="457200" rtl="0" algn="l">
              <a:spcBef>
                <a:spcPts val="480"/>
              </a:spcBef>
              <a:spcAft>
                <a:spcPts val="0"/>
              </a:spcAft>
              <a:buClr>
                <a:schemeClr val="dk1"/>
              </a:buClr>
              <a:buSzPts val="2400"/>
              <a:buFont typeface="Arial"/>
              <a:buAutoNum type="alphaLcParenBoth"/>
            </a:pPr>
            <a:r>
              <a:rPr lang="en-IN" sz="2400"/>
              <a:t> {abb, a, b, bba}</a:t>
            </a:r>
            <a:endParaRPr/>
          </a:p>
          <a:p>
            <a:pPr indent="-457200" lvl="0" marL="457200" rtl="0" algn="l">
              <a:spcBef>
                <a:spcPts val="480"/>
              </a:spcBef>
              <a:spcAft>
                <a:spcPts val="0"/>
              </a:spcAft>
              <a:buClr>
                <a:schemeClr val="dk1"/>
              </a:buClr>
              <a:buSzPts val="2400"/>
              <a:buFont typeface="Arial"/>
              <a:buAutoNum type="alphaLcParenBoth"/>
            </a:pPr>
            <a:r>
              <a:rPr lang="en-IN" sz="2400"/>
              <a:t>{Λ , 0, 00, 000.... }</a:t>
            </a:r>
            <a:endParaRPr/>
          </a:p>
          <a:p>
            <a:pPr indent="-457200" lvl="0" marL="457200" rtl="0" algn="l">
              <a:spcBef>
                <a:spcPts val="480"/>
              </a:spcBef>
              <a:spcAft>
                <a:spcPts val="0"/>
              </a:spcAft>
              <a:buClr>
                <a:schemeClr val="dk1"/>
              </a:buClr>
              <a:buSzPts val="2400"/>
              <a:buFont typeface="Arial"/>
              <a:buAutoNum type="alphaLcParenBoth"/>
            </a:pPr>
            <a:r>
              <a:rPr lang="en-IN" sz="2400"/>
              <a:t> {1, 11, 111 ... }</a:t>
            </a:r>
            <a:endParaRPr/>
          </a:p>
          <a:p>
            <a:pPr indent="-190500" lvl="0" marL="342900" rtl="0" algn="l">
              <a:spcBef>
                <a:spcPts val="480"/>
              </a:spcBef>
              <a:spcAft>
                <a:spcPts val="0"/>
              </a:spcAft>
              <a:buClr>
                <a:schemeClr val="dk1"/>
              </a:buClr>
              <a:buSzPts val="2400"/>
              <a:buNone/>
            </a:pPr>
            <a:r>
              <a:t/>
            </a:r>
            <a:endParaRPr sz="2400"/>
          </a:p>
        </p:txBody>
      </p:sp>
    </p:spTree>
  </p:cSld>
  <p:clrMapOvr>
    <a:masterClrMapping/>
  </p:clrMapOvr>
</p:sld>
</file>

<file path=ppt/slides/slide3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2" name="Shape 4042"/>
        <p:cNvGrpSpPr/>
        <p:nvPr/>
      </p:nvGrpSpPr>
      <p:grpSpPr>
        <a:xfrm>
          <a:off x="0" y="0"/>
          <a:ext cx="0" cy="0"/>
          <a:chOff x="0" y="0"/>
          <a:chExt cx="0" cy="0"/>
        </a:xfrm>
      </p:grpSpPr>
      <p:sp>
        <p:nvSpPr>
          <p:cNvPr id="4043" name="Google Shape;4043;p318"/>
          <p:cNvSpPr txBox="1"/>
          <p:nvPr>
            <p:ph type="title"/>
          </p:nvPr>
        </p:nvSpPr>
        <p:spPr>
          <a:xfrm>
            <a:off x="76200" y="228600"/>
            <a:ext cx="8229600" cy="3048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C00000"/>
              </a:buClr>
              <a:buSzPct val="100000"/>
              <a:buFont typeface="Calibri"/>
              <a:buNone/>
            </a:pPr>
            <a:r>
              <a:rPr b="1" lang="en-IN" sz="3200">
                <a:solidFill>
                  <a:srgbClr val="C00000"/>
                </a:solidFill>
              </a:rPr>
              <a:t>Solution</a:t>
            </a:r>
            <a:endParaRPr b="1" sz="3200">
              <a:solidFill>
                <a:srgbClr val="C00000"/>
              </a:solidFill>
            </a:endParaRPr>
          </a:p>
        </p:txBody>
      </p:sp>
      <p:sp>
        <p:nvSpPr>
          <p:cNvPr id="4044" name="Google Shape;4044;p318"/>
          <p:cNvSpPr txBox="1"/>
          <p:nvPr>
            <p:ph idx="1" type="body"/>
          </p:nvPr>
        </p:nvSpPr>
        <p:spPr>
          <a:xfrm>
            <a:off x="457200" y="1066800"/>
            <a:ext cx="8229600" cy="5562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800"/>
              <a:buFont typeface="Arial"/>
              <a:buNone/>
            </a:pPr>
            <a:r>
              <a:rPr lang="en-IN" sz="1800"/>
              <a:t>(a) Now. {1}. {O} are represented by </a:t>
            </a:r>
            <a:r>
              <a:rPr b="1" lang="en-IN" sz="1800"/>
              <a:t>1</a:t>
            </a:r>
            <a:r>
              <a:rPr lang="en-IN" sz="1800"/>
              <a:t> and </a:t>
            </a:r>
            <a:r>
              <a:rPr b="1" lang="en-IN" sz="1800"/>
              <a:t>O</a:t>
            </a:r>
            <a:r>
              <a:rPr lang="en-IN" sz="1800"/>
              <a:t>. respectively. 101 is obtained</a:t>
            </a:r>
            <a:endParaRPr/>
          </a:p>
          <a:p>
            <a:pPr indent="-342900" lvl="0" marL="342900" rtl="0" algn="l">
              <a:spcBef>
                <a:spcPts val="360"/>
              </a:spcBef>
              <a:spcAft>
                <a:spcPts val="0"/>
              </a:spcAft>
              <a:buClr>
                <a:schemeClr val="dk1"/>
              </a:buClr>
              <a:buSzPts val="1800"/>
              <a:buFont typeface="Arial"/>
              <a:buNone/>
            </a:pPr>
            <a:r>
              <a:rPr lang="en-IN" sz="1800"/>
              <a:t>by concatenating 1,0 and 1 So. {101} is represented by </a:t>
            </a:r>
            <a:r>
              <a:rPr b="1" lang="en-IN" sz="1800"/>
              <a:t>101</a:t>
            </a:r>
            <a:r>
              <a:rPr lang="en-IN" sz="1800"/>
              <a:t>.</a:t>
            </a:r>
            <a:endParaRPr/>
          </a:p>
          <a:p>
            <a:pPr indent="-342900" lvl="0" marL="342900" rtl="0" algn="l">
              <a:spcBef>
                <a:spcPts val="360"/>
              </a:spcBef>
              <a:spcAft>
                <a:spcPts val="0"/>
              </a:spcAft>
              <a:buClr>
                <a:schemeClr val="dk1"/>
              </a:buClr>
              <a:buSzPts val="1800"/>
              <a:buFont typeface="Arial"/>
              <a:buNone/>
            </a:pPr>
            <a:r>
              <a:t/>
            </a:r>
            <a:endParaRPr b="1" sz="1800"/>
          </a:p>
          <a:p>
            <a:pPr indent="-342900" lvl="0" marL="342900" rtl="0" algn="l">
              <a:spcBef>
                <a:spcPts val="360"/>
              </a:spcBef>
              <a:spcAft>
                <a:spcPts val="0"/>
              </a:spcAft>
              <a:buClr>
                <a:schemeClr val="dk1"/>
              </a:buClr>
              <a:buSzPts val="1800"/>
              <a:buFont typeface="Arial"/>
              <a:buNone/>
            </a:pPr>
            <a:r>
              <a:rPr lang="en-IN" sz="1800"/>
              <a:t>(b) </a:t>
            </a:r>
            <a:r>
              <a:rPr i="1" lang="en-IN" sz="1800"/>
              <a:t>{abba}</a:t>
            </a:r>
            <a:r>
              <a:rPr b="1" lang="en-IN" sz="1800"/>
              <a:t> is represented by abba</a:t>
            </a:r>
            <a:endParaRPr i="1" sz="1800"/>
          </a:p>
          <a:p>
            <a:pPr indent="-342900" lvl="0" marL="342900" rtl="0" algn="l">
              <a:spcBef>
                <a:spcPts val="360"/>
              </a:spcBef>
              <a:spcAft>
                <a:spcPts val="0"/>
              </a:spcAft>
              <a:buClr>
                <a:schemeClr val="dk1"/>
              </a:buClr>
              <a:buSzPts val="1800"/>
              <a:buFont typeface="Arial"/>
              <a:buNone/>
            </a:pPr>
            <a:r>
              <a:t/>
            </a:r>
            <a:endParaRPr i="1" sz="1800"/>
          </a:p>
          <a:p>
            <a:pPr indent="-342900" lvl="0" marL="342900" rtl="0" algn="l">
              <a:spcBef>
                <a:spcPts val="360"/>
              </a:spcBef>
              <a:spcAft>
                <a:spcPts val="0"/>
              </a:spcAft>
              <a:buClr>
                <a:schemeClr val="dk1"/>
              </a:buClr>
              <a:buSzPts val="1800"/>
              <a:buFont typeface="Arial"/>
              <a:buNone/>
            </a:pPr>
            <a:r>
              <a:rPr lang="en-IN" sz="1800"/>
              <a:t>(c) As {01, 10} is the union of {01} and {10}, we have {01, 10}</a:t>
            </a:r>
            <a:endParaRPr/>
          </a:p>
          <a:p>
            <a:pPr indent="-342900" lvl="0" marL="342900" rtl="0" algn="l">
              <a:spcBef>
                <a:spcPts val="360"/>
              </a:spcBef>
              <a:spcAft>
                <a:spcPts val="0"/>
              </a:spcAft>
              <a:buClr>
                <a:schemeClr val="dk1"/>
              </a:buClr>
              <a:buSzPts val="1800"/>
              <a:buFont typeface="Arial"/>
              <a:buNone/>
            </a:pPr>
            <a:r>
              <a:rPr lang="en-IN" sz="1800"/>
              <a:t>represented by </a:t>
            </a:r>
            <a:r>
              <a:rPr b="1" lang="en-IN" sz="1800"/>
              <a:t>01 + 10</a:t>
            </a:r>
            <a:endParaRPr/>
          </a:p>
          <a:p>
            <a:pPr indent="-342900" lvl="0" marL="342900" rtl="0" algn="l">
              <a:spcBef>
                <a:spcPts val="360"/>
              </a:spcBef>
              <a:spcAft>
                <a:spcPts val="0"/>
              </a:spcAft>
              <a:buClr>
                <a:schemeClr val="dk1"/>
              </a:buClr>
              <a:buSzPts val="1800"/>
              <a:buFont typeface="Arial"/>
              <a:buNone/>
            </a:pPr>
            <a:r>
              <a:t/>
            </a:r>
            <a:endParaRPr sz="1800"/>
          </a:p>
          <a:p>
            <a:pPr indent="-342900" lvl="0" marL="342900" rtl="0" algn="l">
              <a:spcBef>
                <a:spcPts val="360"/>
              </a:spcBef>
              <a:spcAft>
                <a:spcPts val="0"/>
              </a:spcAft>
              <a:buClr>
                <a:schemeClr val="dk1"/>
              </a:buClr>
              <a:buSzPts val="1800"/>
              <a:buFont typeface="Arial"/>
              <a:buNone/>
            </a:pPr>
            <a:r>
              <a:rPr lang="en-IN" sz="1800"/>
              <a:t>(d) The set {Λ , </a:t>
            </a:r>
            <a:r>
              <a:rPr i="1" lang="en-IN" sz="1800"/>
              <a:t>ab} is represented by </a:t>
            </a:r>
            <a:r>
              <a:rPr b="1" lang="en-IN" sz="1800"/>
              <a:t>Λ </a:t>
            </a:r>
            <a:r>
              <a:rPr b="1" i="1" lang="en-IN" sz="1800"/>
              <a:t> + ab</a:t>
            </a:r>
            <a:endParaRPr b="1" sz="1800"/>
          </a:p>
          <a:p>
            <a:pPr indent="-342900" lvl="0" marL="342900" rtl="0" algn="l">
              <a:spcBef>
                <a:spcPts val="360"/>
              </a:spcBef>
              <a:spcAft>
                <a:spcPts val="0"/>
              </a:spcAft>
              <a:buClr>
                <a:schemeClr val="dk1"/>
              </a:buClr>
              <a:buSzPts val="1800"/>
              <a:buFont typeface="Arial"/>
              <a:buNone/>
            </a:pPr>
            <a:r>
              <a:t/>
            </a:r>
            <a:endParaRPr sz="1800"/>
          </a:p>
          <a:p>
            <a:pPr indent="-342900" lvl="0" marL="342900" rtl="0" algn="l">
              <a:spcBef>
                <a:spcPts val="360"/>
              </a:spcBef>
              <a:spcAft>
                <a:spcPts val="0"/>
              </a:spcAft>
              <a:buClr>
                <a:schemeClr val="dk1"/>
              </a:buClr>
              <a:buSzPts val="1800"/>
              <a:buFont typeface="Arial"/>
              <a:buNone/>
            </a:pPr>
            <a:r>
              <a:rPr lang="en-IN" sz="1800"/>
              <a:t>(e) The set </a:t>
            </a:r>
            <a:r>
              <a:rPr i="1" lang="en-IN" sz="1800"/>
              <a:t>{abb, a, b, bba} is represented by  </a:t>
            </a:r>
            <a:r>
              <a:rPr b="1" i="1" lang="en-IN" sz="1800"/>
              <a:t>abb + a + b + bba.</a:t>
            </a:r>
            <a:endParaRPr/>
          </a:p>
          <a:p>
            <a:pPr indent="-342900" lvl="0" marL="342900" rtl="0" algn="l">
              <a:spcBef>
                <a:spcPts val="360"/>
              </a:spcBef>
              <a:spcAft>
                <a:spcPts val="0"/>
              </a:spcAft>
              <a:buClr>
                <a:schemeClr val="dk1"/>
              </a:buClr>
              <a:buSzPts val="1800"/>
              <a:buFont typeface="Arial"/>
              <a:buNone/>
            </a:pPr>
            <a:r>
              <a:t/>
            </a:r>
            <a:endParaRPr sz="1800"/>
          </a:p>
          <a:p>
            <a:pPr indent="-342900" lvl="0" marL="342900" rtl="0" algn="l">
              <a:spcBef>
                <a:spcPts val="360"/>
              </a:spcBef>
              <a:spcAft>
                <a:spcPts val="0"/>
              </a:spcAft>
              <a:buClr>
                <a:schemeClr val="dk1"/>
              </a:buClr>
              <a:buSzPts val="1800"/>
              <a:buFont typeface="Arial"/>
              <a:buNone/>
            </a:pPr>
            <a:r>
              <a:rPr lang="en-IN" sz="1800"/>
              <a:t>f) As {Λ , 0, 00, 000, ... } is simply {0}*. it is represented by </a:t>
            </a:r>
            <a:r>
              <a:rPr b="1" lang="en-IN" sz="1800"/>
              <a:t>0*</a:t>
            </a:r>
            <a:endParaRPr/>
          </a:p>
          <a:p>
            <a:pPr indent="-342900" lvl="0" marL="342900" rtl="0" algn="l">
              <a:spcBef>
                <a:spcPts val="360"/>
              </a:spcBef>
              <a:spcAft>
                <a:spcPts val="0"/>
              </a:spcAft>
              <a:buClr>
                <a:schemeClr val="dk1"/>
              </a:buClr>
              <a:buSzPts val="1800"/>
              <a:buFont typeface="Arial"/>
              <a:buNone/>
            </a:pPr>
            <a:r>
              <a:t/>
            </a:r>
            <a:endParaRPr sz="1800"/>
          </a:p>
          <a:p>
            <a:pPr indent="-342900" lvl="0" marL="342900" rtl="0" algn="l">
              <a:spcBef>
                <a:spcPts val="360"/>
              </a:spcBef>
              <a:spcAft>
                <a:spcPts val="0"/>
              </a:spcAft>
              <a:buClr>
                <a:schemeClr val="dk1"/>
              </a:buClr>
              <a:buSzPts val="1800"/>
              <a:buFont typeface="Arial"/>
              <a:buNone/>
            </a:pPr>
            <a:r>
              <a:rPr lang="en-IN" sz="1800"/>
              <a:t>(g) Any element in {1, 11, 111, ... } can be obtained by concatenating</a:t>
            </a:r>
            <a:endParaRPr/>
          </a:p>
          <a:p>
            <a:pPr indent="-342900" lvl="0" marL="342900" rtl="0" algn="l">
              <a:spcBef>
                <a:spcPts val="360"/>
              </a:spcBef>
              <a:spcAft>
                <a:spcPts val="0"/>
              </a:spcAft>
              <a:buClr>
                <a:schemeClr val="dk1"/>
              </a:buClr>
              <a:buSzPts val="1800"/>
              <a:buFont typeface="Arial"/>
              <a:buNone/>
            </a:pPr>
            <a:r>
              <a:rPr lang="en-IN" sz="1800"/>
              <a:t>1 and any element of {1}*. Hence </a:t>
            </a:r>
            <a:r>
              <a:rPr b="1" lang="en-IN" sz="1800"/>
              <a:t>1(1)* =1</a:t>
            </a:r>
            <a:r>
              <a:rPr b="1" baseline="30000" lang="en-IN" sz="1800"/>
              <a:t>+ </a:t>
            </a:r>
            <a:r>
              <a:rPr lang="en-IN" sz="1800"/>
              <a:t>represents {1, 11, 111, ... }</a:t>
            </a:r>
            <a:endParaRPr/>
          </a:p>
          <a:p>
            <a:pPr indent="-228600" lvl="0" marL="342900" rtl="0" algn="l">
              <a:spcBef>
                <a:spcPts val="360"/>
              </a:spcBef>
              <a:spcAft>
                <a:spcPts val="0"/>
              </a:spcAft>
              <a:buClr>
                <a:schemeClr val="dk1"/>
              </a:buClr>
              <a:buSzPts val="1800"/>
              <a:buNone/>
            </a:pPr>
            <a:r>
              <a:t/>
            </a:r>
            <a:endParaRPr b="1"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4">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4">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4">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4">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4">
                                            <p:txEl>
                                              <p:pRg end="16" st="1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8" name="Shape 4048"/>
        <p:cNvGrpSpPr/>
        <p:nvPr/>
      </p:nvGrpSpPr>
      <p:grpSpPr>
        <a:xfrm>
          <a:off x="0" y="0"/>
          <a:ext cx="0" cy="0"/>
          <a:chOff x="0" y="0"/>
          <a:chExt cx="0" cy="0"/>
        </a:xfrm>
      </p:grpSpPr>
      <p:sp>
        <p:nvSpPr>
          <p:cNvPr id="4049" name="Google Shape;4049;p319"/>
          <p:cNvSpPr txBox="1"/>
          <p:nvPr>
            <p:ph type="title"/>
          </p:nvPr>
        </p:nvSpPr>
        <p:spPr>
          <a:xfrm>
            <a:off x="76200" y="228600"/>
            <a:ext cx="8229600" cy="3048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C00000"/>
              </a:buClr>
              <a:buSzPct val="100000"/>
              <a:buFont typeface="Calibri"/>
              <a:buNone/>
            </a:pPr>
            <a:r>
              <a:rPr b="1" lang="en-IN" sz="3200">
                <a:solidFill>
                  <a:srgbClr val="C00000"/>
                </a:solidFill>
              </a:rPr>
              <a:t>Examples-</a:t>
            </a:r>
            <a:endParaRPr b="1" sz="3200">
              <a:solidFill>
                <a:srgbClr val="C00000"/>
              </a:solidFill>
            </a:endParaRPr>
          </a:p>
        </p:txBody>
      </p:sp>
      <p:sp>
        <p:nvSpPr>
          <p:cNvPr id="4050" name="Google Shape;4050;p319"/>
          <p:cNvSpPr txBox="1"/>
          <p:nvPr>
            <p:ph idx="1" type="body"/>
          </p:nvPr>
        </p:nvSpPr>
        <p:spPr>
          <a:xfrm>
            <a:off x="228600" y="1066800"/>
            <a:ext cx="8763000" cy="5334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None/>
            </a:pPr>
            <a:r>
              <a:rPr lang="en-IN" sz="2400"/>
              <a:t>(ab)</a:t>
            </a:r>
            <a:r>
              <a:rPr baseline="30000" lang="en-IN" sz="2400"/>
              <a:t>2</a:t>
            </a:r>
            <a:r>
              <a:rPr lang="en-IN" sz="2400"/>
              <a:t> = abab ǂa</a:t>
            </a:r>
            <a:r>
              <a:rPr baseline="30000" lang="en-IN" sz="2400"/>
              <a:t>2</a:t>
            </a:r>
            <a:r>
              <a:rPr lang="en-IN" sz="2400"/>
              <a:t> b</a:t>
            </a:r>
            <a:r>
              <a:rPr baseline="30000" lang="en-IN" sz="2400"/>
              <a:t>2</a:t>
            </a:r>
            <a:r>
              <a:rPr lang="en-IN" sz="2400"/>
              <a:t> , so don't try to use "algebra”.</a:t>
            </a:r>
            <a:endParaRPr/>
          </a:p>
          <a:p>
            <a:pPr indent="-342900" lvl="0" marL="342900" rtl="0" algn="l">
              <a:spcBef>
                <a:spcPts val="480"/>
              </a:spcBef>
              <a:spcAft>
                <a:spcPts val="0"/>
              </a:spcAft>
              <a:buClr>
                <a:schemeClr val="dk1"/>
              </a:buClr>
              <a:buSzPts val="2400"/>
              <a:buNone/>
            </a:pPr>
            <a:r>
              <a:rPr lang="en-IN" sz="2400"/>
              <a:t>(a+b)</a:t>
            </a:r>
            <a:r>
              <a:rPr baseline="30000" lang="en-IN" sz="2400"/>
              <a:t>2</a:t>
            </a:r>
            <a:r>
              <a:rPr lang="en-IN" sz="2400"/>
              <a:t> = (a+b)(a+b) = aa or ab or ba or bb.</a:t>
            </a:r>
            <a:endParaRPr/>
          </a:p>
          <a:p>
            <a:pPr indent="-342900" lvl="0" marL="342900" rtl="0" algn="l">
              <a:spcBef>
                <a:spcPts val="480"/>
              </a:spcBef>
              <a:spcAft>
                <a:spcPts val="0"/>
              </a:spcAft>
              <a:buClr>
                <a:schemeClr val="dk1"/>
              </a:buClr>
              <a:buSzPts val="2400"/>
              <a:buNone/>
            </a:pPr>
            <a:r>
              <a:rPr lang="en-IN" sz="2400"/>
              <a:t>(a+b)* any string made up of a’s and b’s.</a:t>
            </a:r>
            <a:endParaRPr sz="2400"/>
          </a:p>
        </p:txBody>
      </p:sp>
    </p:spTree>
  </p:cSld>
  <p:clrMapOvr>
    <a:masterClrMapping/>
  </p:clrMapOvr>
</p:sld>
</file>

<file path=ppt/slides/slide3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4" name="Shape 4054"/>
        <p:cNvGrpSpPr/>
        <p:nvPr/>
      </p:nvGrpSpPr>
      <p:grpSpPr>
        <a:xfrm>
          <a:off x="0" y="0"/>
          <a:ext cx="0" cy="0"/>
          <a:chOff x="0" y="0"/>
          <a:chExt cx="0" cy="0"/>
        </a:xfrm>
      </p:grpSpPr>
      <p:sp>
        <p:nvSpPr>
          <p:cNvPr id="4055" name="Google Shape;4055;p320"/>
          <p:cNvSpPr txBox="1"/>
          <p:nvPr>
            <p:ph type="title"/>
          </p:nvPr>
        </p:nvSpPr>
        <p:spPr>
          <a:xfrm>
            <a:off x="76200" y="228600"/>
            <a:ext cx="8229600" cy="3048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C00000"/>
              </a:buClr>
              <a:buSzPct val="100000"/>
              <a:buFont typeface="Calibri"/>
              <a:buNone/>
            </a:pPr>
            <a:r>
              <a:rPr b="1" lang="en-IN" sz="3200">
                <a:solidFill>
                  <a:srgbClr val="C00000"/>
                </a:solidFill>
              </a:rPr>
              <a:t>Examples-</a:t>
            </a:r>
            <a:endParaRPr b="1" sz="3200">
              <a:solidFill>
                <a:srgbClr val="C00000"/>
              </a:solidFill>
            </a:endParaRPr>
          </a:p>
        </p:txBody>
      </p:sp>
      <p:sp>
        <p:nvSpPr>
          <p:cNvPr id="4056" name="Google Shape;4056;p320"/>
          <p:cNvSpPr txBox="1"/>
          <p:nvPr>
            <p:ph idx="1" type="body"/>
          </p:nvPr>
        </p:nvSpPr>
        <p:spPr>
          <a:xfrm>
            <a:off x="228600" y="1066800"/>
            <a:ext cx="8763000" cy="5334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None/>
            </a:pPr>
            <a:r>
              <a:rPr lang="en-IN" sz="2400"/>
              <a:t>(ab)</a:t>
            </a:r>
            <a:r>
              <a:rPr baseline="30000" lang="en-IN" sz="2400"/>
              <a:t>2</a:t>
            </a:r>
            <a:r>
              <a:rPr lang="en-IN" sz="2400"/>
              <a:t> = abab ǂa</a:t>
            </a:r>
            <a:r>
              <a:rPr baseline="30000" lang="en-IN" sz="2400"/>
              <a:t>2</a:t>
            </a:r>
            <a:r>
              <a:rPr lang="en-IN" sz="2400"/>
              <a:t> b</a:t>
            </a:r>
            <a:r>
              <a:rPr baseline="30000" lang="en-IN" sz="2400"/>
              <a:t>2</a:t>
            </a:r>
            <a:r>
              <a:rPr lang="en-IN" sz="2400"/>
              <a:t> , so don't try to use "algebra”.</a:t>
            </a:r>
            <a:endParaRPr/>
          </a:p>
          <a:p>
            <a:pPr indent="-342900" lvl="0" marL="342900" rtl="0" algn="l">
              <a:spcBef>
                <a:spcPts val="480"/>
              </a:spcBef>
              <a:spcAft>
                <a:spcPts val="0"/>
              </a:spcAft>
              <a:buClr>
                <a:schemeClr val="dk1"/>
              </a:buClr>
              <a:buSzPts val="2400"/>
              <a:buNone/>
            </a:pPr>
            <a:r>
              <a:rPr lang="en-IN" sz="2400"/>
              <a:t>(a+b)</a:t>
            </a:r>
            <a:r>
              <a:rPr baseline="30000" lang="en-IN" sz="2400"/>
              <a:t>2</a:t>
            </a:r>
            <a:r>
              <a:rPr lang="en-IN" sz="2400"/>
              <a:t> = (a+b)(a+b) = aa or ab or ba or bb.</a:t>
            </a:r>
            <a:endParaRPr/>
          </a:p>
          <a:p>
            <a:pPr indent="-342900" lvl="0" marL="342900" rtl="0" algn="l">
              <a:spcBef>
                <a:spcPts val="480"/>
              </a:spcBef>
              <a:spcAft>
                <a:spcPts val="0"/>
              </a:spcAft>
              <a:buClr>
                <a:schemeClr val="dk1"/>
              </a:buClr>
              <a:buSzPts val="2400"/>
              <a:buNone/>
            </a:pPr>
            <a:r>
              <a:rPr lang="en-IN" sz="2400"/>
              <a:t>(a+b)* any string made up of a’s and b’s.</a:t>
            </a:r>
            <a:endParaRPr sz="2400"/>
          </a:p>
        </p:txBody>
      </p:sp>
    </p:spTree>
  </p:cSld>
  <p:clrMapOvr>
    <a:masterClrMapping/>
  </p:clrMapOvr>
</p:sld>
</file>

<file path=ppt/slides/slide3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0" name="Shape 4060"/>
        <p:cNvGrpSpPr/>
        <p:nvPr/>
      </p:nvGrpSpPr>
      <p:grpSpPr>
        <a:xfrm>
          <a:off x="0" y="0"/>
          <a:ext cx="0" cy="0"/>
          <a:chOff x="0" y="0"/>
          <a:chExt cx="0" cy="0"/>
        </a:xfrm>
      </p:grpSpPr>
      <p:sp>
        <p:nvSpPr>
          <p:cNvPr id="4061" name="Google Shape;4061;p321"/>
          <p:cNvSpPr txBox="1"/>
          <p:nvPr>
            <p:ph type="title"/>
          </p:nvPr>
        </p:nvSpPr>
        <p:spPr>
          <a:xfrm>
            <a:off x="76200" y="228600"/>
            <a:ext cx="8229600" cy="3048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C00000"/>
              </a:buClr>
              <a:buSzPct val="100000"/>
              <a:buFont typeface="Calibri"/>
              <a:buNone/>
            </a:pPr>
            <a:r>
              <a:rPr b="1" lang="en-IN" sz="3200">
                <a:solidFill>
                  <a:srgbClr val="C00000"/>
                </a:solidFill>
              </a:rPr>
              <a:t>Question 2-Beginning and Ending……</a:t>
            </a:r>
            <a:endParaRPr b="1" sz="3200">
              <a:solidFill>
                <a:srgbClr val="C00000"/>
              </a:solidFill>
            </a:endParaRPr>
          </a:p>
        </p:txBody>
      </p:sp>
      <p:pic>
        <p:nvPicPr>
          <p:cNvPr id="4062" name="Google Shape;4062;p321"/>
          <p:cNvPicPr preferRelativeResize="0"/>
          <p:nvPr>
            <p:ph idx="1" type="body"/>
          </p:nvPr>
        </p:nvPicPr>
        <p:blipFill rotWithShape="1">
          <a:blip r:embed="rId3">
            <a:alphaModFix/>
          </a:blip>
          <a:srcRect b="0" l="0" r="0" t="0"/>
          <a:stretch/>
        </p:blipFill>
        <p:spPr>
          <a:xfrm>
            <a:off x="228600" y="1295400"/>
            <a:ext cx="8534400" cy="3886200"/>
          </a:xfrm>
          <a:prstGeom prst="rect">
            <a:avLst/>
          </a:prstGeom>
          <a:noFill/>
          <a:ln>
            <a:noFill/>
          </a:ln>
        </p:spPr>
      </p:pic>
    </p:spTree>
  </p:cSld>
  <p:clrMapOvr>
    <a:masterClrMapping/>
  </p:clrMapOvr>
</p:sld>
</file>

<file path=ppt/slides/slide3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6" name="Shape 4066"/>
        <p:cNvGrpSpPr/>
        <p:nvPr/>
      </p:nvGrpSpPr>
      <p:grpSpPr>
        <a:xfrm>
          <a:off x="0" y="0"/>
          <a:ext cx="0" cy="0"/>
          <a:chOff x="0" y="0"/>
          <a:chExt cx="0" cy="0"/>
        </a:xfrm>
      </p:grpSpPr>
      <p:sp>
        <p:nvSpPr>
          <p:cNvPr id="4067" name="Google Shape;4067;p322"/>
          <p:cNvSpPr txBox="1"/>
          <p:nvPr>
            <p:ph type="title"/>
          </p:nvPr>
        </p:nvSpPr>
        <p:spPr>
          <a:xfrm>
            <a:off x="76200" y="228600"/>
            <a:ext cx="8229600" cy="3048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C00000"/>
              </a:buClr>
              <a:buSzPct val="100000"/>
              <a:buFont typeface="Calibri"/>
              <a:buNone/>
            </a:pPr>
            <a:r>
              <a:rPr b="1" lang="en-IN" sz="3200">
                <a:solidFill>
                  <a:srgbClr val="C00000"/>
                </a:solidFill>
              </a:rPr>
              <a:t>Question 2-Beginning and Ending……</a:t>
            </a:r>
            <a:endParaRPr b="1" sz="3200">
              <a:solidFill>
                <a:srgbClr val="C00000"/>
              </a:solidFill>
            </a:endParaRPr>
          </a:p>
        </p:txBody>
      </p:sp>
      <p:pic>
        <p:nvPicPr>
          <p:cNvPr id="4068" name="Google Shape;4068;p322"/>
          <p:cNvPicPr preferRelativeResize="0"/>
          <p:nvPr>
            <p:ph idx="1" type="body"/>
          </p:nvPr>
        </p:nvPicPr>
        <p:blipFill rotWithShape="1">
          <a:blip r:embed="rId3">
            <a:alphaModFix/>
          </a:blip>
          <a:srcRect b="0" l="0" r="0" t="0"/>
          <a:stretch/>
        </p:blipFill>
        <p:spPr>
          <a:xfrm>
            <a:off x="228600" y="1295400"/>
            <a:ext cx="8534400" cy="3886200"/>
          </a:xfrm>
          <a:prstGeom prst="rect">
            <a:avLst/>
          </a:prstGeom>
          <a:noFill/>
          <a:ln>
            <a:noFill/>
          </a:ln>
        </p:spPr>
      </p:pic>
    </p:spTree>
  </p:cSld>
  <p:clrMapOvr>
    <a:masterClrMapping/>
  </p:clrMapOvr>
</p:sld>
</file>

<file path=ppt/slides/slide3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2" name="Shape 4072"/>
        <p:cNvGrpSpPr/>
        <p:nvPr/>
      </p:nvGrpSpPr>
      <p:grpSpPr>
        <a:xfrm>
          <a:off x="0" y="0"/>
          <a:ext cx="0" cy="0"/>
          <a:chOff x="0" y="0"/>
          <a:chExt cx="0" cy="0"/>
        </a:xfrm>
      </p:grpSpPr>
      <p:sp>
        <p:nvSpPr>
          <p:cNvPr id="4073" name="Google Shape;4073;p323"/>
          <p:cNvSpPr txBox="1"/>
          <p:nvPr>
            <p:ph type="title"/>
          </p:nvPr>
        </p:nvSpPr>
        <p:spPr>
          <a:xfrm>
            <a:off x="76200" y="228600"/>
            <a:ext cx="8229600" cy="3048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C00000"/>
              </a:buClr>
              <a:buSzPct val="100000"/>
              <a:buFont typeface="Calibri"/>
              <a:buNone/>
            </a:pPr>
            <a:r>
              <a:rPr b="1" lang="en-IN" sz="3200">
                <a:solidFill>
                  <a:srgbClr val="C00000"/>
                </a:solidFill>
              </a:rPr>
              <a:t>Solution</a:t>
            </a:r>
            <a:endParaRPr b="1" sz="3200">
              <a:solidFill>
                <a:srgbClr val="C00000"/>
              </a:solidFill>
            </a:endParaRPr>
          </a:p>
        </p:txBody>
      </p:sp>
      <p:pic>
        <p:nvPicPr>
          <p:cNvPr id="4074" name="Google Shape;4074;p323"/>
          <p:cNvPicPr preferRelativeResize="0"/>
          <p:nvPr>
            <p:ph idx="1" type="body"/>
          </p:nvPr>
        </p:nvPicPr>
        <p:blipFill rotWithShape="1">
          <a:blip r:embed="rId3">
            <a:alphaModFix/>
          </a:blip>
          <a:srcRect b="0" l="0" r="0" t="0"/>
          <a:stretch/>
        </p:blipFill>
        <p:spPr>
          <a:xfrm>
            <a:off x="381000" y="1600200"/>
            <a:ext cx="8229600" cy="3733800"/>
          </a:xfrm>
          <a:prstGeom prst="rect">
            <a:avLst/>
          </a:prstGeom>
          <a:noFill/>
          <a:ln>
            <a:noFill/>
          </a:ln>
        </p:spPr>
      </p:pic>
    </p:spTree>
  </p:cSld>
  <p:clrMapOvr>
    <a:masterClrMapping/>
  </p:clrMapOvr>
</p:sld>
</file>

<file path=ppt/slides/slide3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8" name="Shape 4078"/>
        <p:cNvGrpSpPr/>
        <p:nvPr/>
      </p:nvGrpSpPr>
      <p:grpSpPr>
        <a:xfrm>
          <a:off x="0" y="0"/>
          <a:ext cx="0" cy="0"/>
          <a:chOff x="0" y="0"/>
          <a:chExt cx="0" cy="0"/>
        </a:xfrm>
      </p:grpSpPr>
      <p:sp>
        <p:nvSpPr>
          <p:cNvPr id="4079" name="Google Shape;4079;p324"/>
          <p:cNvSpPr txBox="1"/>
          <p:nvPr>
            <p:ph type="title"/>
          </p:nvPr>
        </p:nvSpPr>
        <p:spPr>
          <a:xfrm>
            <a:off x="76200" y="228600"/>
            <a:ext cx="8229600" cy="3048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C00000"/>
              </a:buClr>
              <a:buSzPct val="100000"/>
              <a:buFont typeface="Calibri"/>
              <a:buNone/>
            </a:pPr>
            <a:r>
              <a:rPr b="1" lang="en-IN" sz="3200">
                <a:solidFill>
                  <a:srgbClr val="C00000"/>
                </a:solidFill>
              </a:rPr>
              <a:t>Questions</a:t>
            </a:r>
            <a:endParaRPr b="1" sz="3200">
              <a:solidFill>
                <a:srgbClr val="C00000"/>
              </a:solidFill>
            </a:endParaRPr>
          </a:p>
        </p:txBody>
      </p:sp>
      <p:sp>
        <p:nvSpPr>
          <p:cNvPr id="4080" name="Google Shape;4080;p324"/>
          <p:cNvSpPr txBox="1"/>
          <p:nvPr>
            <p:ph idx="1" type="body"/>
          </p:nvPr>
        </p:nvSpPr>
        <p:spPr>
          <a:xfrm>
            <a:off x="228600" y="1066800"/>
            <a:ext cx="8763000" cy="5334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Font typeface="Arial"/>
              <a:buNone/>
            </a:pPr>
            <a:r>
              <a:rPr lang="en-IN" sz="2400"/>
              <a:t>Q3) Let S={a,b}, find S*,S+</a:t>
            </a:r>
            <a:endParaRPr/>
          </a:p>
          <a:p>
            <a:pPr indent="-342900" lvl="0" marL="342900" rtl="0" algn="l">
              <a:spcBef>
                <a:spcPts val="480"/>
              </a:spcBef>
              <a:spcAft>
                <a:spcPts val="0"/>
              </a:spcAft>
              <a:buClr>
                <a:schemeClr val="dk1"/>
              </a:buClr>
              <a:buSzPts val="2400"/>
              <a:buFont typeface="Arial"/>
              <a:buNone/>
            </a:pPr>
            <a:r>
              <a:rPr lang="en-IN" sz="2400"/>
              <a:t>Q4) What is a.a*?</a:t>
            </a:r>
            <a:endParaRPr/>
          </a:p>
          <a:p>
            <a:pPr indent="-342900" lvl="0" marL="342900" rtl="0" algn="l">
              <a:spcBef>
                <a:spcPts val="480"/>
              </a:spcBef>
              <a:spcAft>
                <a:spcPts val="0"/>
              </a:spcAft>
              <a:buClr>
                <a:schemeClr val="dk1"/>
              </a:buClr>
              <a:buSzPts val="2400"/>
              <a:buFont typeface="Arial"/>
              <a:buNone/>
            </a:pPr>
            <a:r>
              <a:rPr lang="en-IN" sz="2400"/>
              <a:t>Q5) What is (a*)*?</a:t>
            </a:r>
            <a:endParaRPr/>
          </a:p>
          <a:p>
            <a:pPr indent="-342900" lvl="0" marL="342900" rtl="0" algn="l">
              <a:spcBef>
                <a:spcPts val="480"/>
              </a:spcBef>
              <a:spcAft>
                <a:spcPts val="0"/>
              </a:spcAft>
              <a:buClr>
                <a:schemeClr val="dk1"/>
              </a:buClr>
              <a:buSzPts val="2400"/>
              <a:buFont typeface="Arial"/>
              <a:buNone/>
            </a:pPr>
            <a:r>
              <a:rPr lang="en-IN" sz="2400"/>
              <a:t>Q6) Find (a.b)* and (b.a)*</a:t>
            </a:r>
            <a:endParaRPr/>
          </a:p>
          <a:p>
            <a:pPr indent="-342900" lvl="0" marL="342900" rtl="0" algn="l">
              <a:spcBef>
                <a:spcPts val="480"/>
              </a:spcBef>
              <a:spcAft>
                <a:spcPts val="0"/>
              </a:spcAft>
              <a:buClr>
                <a:schemeClr val="dk1"/>
              </a:buClr>
              <a:buSzPts val="2400"/>
              <a:buFont typeface="Arial"/>
              <a:buNone/>
            </a:pPr>
            <a:r>
              <a:rPr lang="en-IN" sz="2400"/>
              <a:t>Q7) Represent {a,b} as a regular expression</a:t>
            </a:r>
            <a:endParaRPr/>
          </a:p>
        </p:txBody>
      </p:sp>
    </p:spTree>
  </p:cSld>
  <p:clrMapOvr>
    <a:masterClrMapping/>
  </p:clrMapOvr>
</p:sld>
</file>

<file path=ppt/slides/slide3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4" name="Shape 4084"/>
        <p:cNvGrpSpPr/>
        <p:nvPr/>
      </p:nvGrpSpPr>
      <p:grpSpPr>
        <a:xfrm>
          <a:off x="0" y="0"/>
          <a:ext cx="0" cy="0"/>
          <a:chOff x="0" y="0"/>
          <a:chExt cx="0" cy="0"/>
        </a:xfrm>
      </p:grpSpPr>
      <p:sp>
        <p:nvSpPr>
          <p:cNvPr id="4085" name="Google Shape;4085;p325"/>
          <p:cNvSpPr txBox="1"/>
          <p:nvPr>
            <p:ph type="title"/>
          </p:nvPr>
        </p:nvSpPr>
        <p:spPr>
          <a:xfrm>
            <a:off x="76200" y="228600"/>
            <a:ext cx="8229600" cy="3048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C00000"/>
              </a:buClr>
              <a:buSzPct val="100000"/>
              <a:buFont typeface="Calibri"/>
              <a:buNone/>
            </a:pPr>
            <a:r>
              <a:rPr b="1" lang="en-IN" sz="3200">
                <a:solidFill>
                  <a:srgbClr val="C00000"/>
                </a:solidFill>
              </a:rPr>
              <a:t>Questions</a:t>
            </a:r>
            <a:endParaRPr b="1" sz="3200">
              <a:solidFill>
                <a:srgbClr val="C00000"/>
              </a:solidFill>
            </a:endParaRPr>
          </a:p>
        </p:txBody>
      </p:sp>
      <p:sp>
        <p:nvSpPr>
          <p:cNvPr id="4086" name="Google Shape;4086;p325"/>
          <p:cNvSpPr txBox="1"/>
          <p:nvPr>
            <p:ph idx="1" type="body"/>
          </p:nvPr>
        </p:nvSpPr>
        <p:spPr>
          <a:xfrm>
            <a:off x="228600" y="1066800"/>
            <a:ext cx="8763000" cy="5334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Font typeface="Arial"/>
              <a:buNone/>
            </a:pPr>
            <a:r>
              <a:rPr lang="en-IN" sz="2400"/>
              <a:t>Q3) Let S={a,b}, find S*,S+</a:t>
            </a:r>
            <a:endParaRPr/>
          </a:p>
          <a:p>
            <a:pPr indent="-342900" lvl="0" marL="342900" rtl="0" algn="l">
              <a:spcBef>
                <a:spcPts val="480"/>
              </a:spcBef>
              <a:spcAft>
                <a:spcPts val="0"/>
              </a:spcAft>
              <a:buClr>
                <a:schemeClr val="dk1"/>
              </a:buClr>
              <a:buSzPts val="2400"/>
              <a:buFont typeface="Arial"/>
              <a:buNone/>
            </a:pPr>
            <a:r>
              <a:rPr lang="en-IN" sz="2400"/>
              <a:t>Q4) What is a.a*?</a:t>
            </a:r>
            <a:endParaRPr/>
          </a:p>
          <a:p>
            <a:pPr indent="-342900" lvl="0" marL="342900" rtl="0" algn="l">
              <a:spcBef>
                <a:spcPts val="480"/>
              </a:spcBef>
              <a:spcAft>
                <a:spcPts val="0"/>
              </a:spcAft>
              <a:buClr>
                <a:schemeClr val="dk1"/>
              </a:buClr>
              <a:buSzPts val="2400"/>
              <a:buFont typeface="Arial"/>
              <a:buNone/>
            </a:pPr>
            <a:r>
              <a:rPr lang="en-IN" sz="2400"/>
              <a:t>Q5) What is (a*)*?</a:t>
            </a:r>
            <a:endParaRPr/>
          </a:p>
          <a:p>
            <a:pPr indent="-342900" lvl="0" marL="342900" rtl="0" algn="l">
              <a:spcBef>
                <a:spcPts val="480"/>
              </a:spcBef>
              <a:spcAft>
                <a:spcPts val="0"/>
              </a:spcAft>
              <a:buClr>
                <a:schemeClr val="dk1"/>
              </a:buClr>
              <a:buSzPts val="2400"/>
              <a:buFont typeface="Arial"/>
              <a:buNone/>
            </a:pPr>
            <a:r>
              <a:rPr lang="en-IN" sz="2400"/>
              <a:t>Q6) Find (a.b)* and (b.a)*</a:t>
            </a:r>
            <a:endParaRPr/>
          </a:p>
          <a:p>
            <a:pPr indent="-342900" lvl="0" marL="342900" rtl="0" algn="l">
              <a:spcBef>
                <a:spcPts val="480"/>
              </a:spcBef>
              <a:spcAft>
                <a:spcPts val="0"/>
              </a:spcAft>
              <a:buClr>
                <a:schemeClr val="dk1"/>
              </a:buClr>
              <a:buSzPts val="2400"/>
              <a:buFont typeface="Arial"/>
              <a:buNone/>
            </a:pPr>
            <a:r>
              <a:rPr lang="en-IN" sz="2400"/>
              <a:t>Q7) Represent {a,b} as a regular expression</a:t>
            </a:r>
            <a:endParaRPr/>
          </a:p>
        </p:txBody>
      </p:sp>
    </p:spTree>
  </p:cSld>
  <p:clrMapOvr>
    <a:masterClrMapping/>
  </p:clrMapOvr>
</p:sld>
</file>

<file path=ppt/slides/slide3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0" name="Shape 4090"/>
        <p:cNvGrpSpPr/>
        <p:nvPr/>
      </p:nvGrpSpPr>
      <p:grpSpPr>
        <a:xfrm>
          <a:off x="0" y="0"/>
          <a:ext cx="0" cy="0"/>
          <a:chOff x="0" y="0"/>
          <a:chExt cx="0" cy="0"/>
        </a:xfrm>
      </p:grpSpPr>
      <p:sp>
        <p:nvSpPr>
          <p:cNvPr id="4091" name="Google Shape;4091;p326"/>
          <p:cNvSpPr txBox="1"/>
          <p:nvPr>
            <p:ph type="title"/>
          </p:nvPr>
        </p:nvSpPr>
        <p:spPr>
          <a:xfrm>
            <a:off x="76200" y="228600"/>
            <a:ext cx="8229600" cy="3048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C00000"/>
              </a:buClr>
              <a:buSzPct val="100000"/>
              <a:buFont typeface="Calibri"/>
              <a:buNone/>
            </a:pPr>
            <a:r>
              <a:rPr b="1" lang="en-IN" sz="3200">
                <a:solidFill>
                  <a:srgbClr val="C00000"/>
                </a:solidFill>
              </a:rPr>
              <a:t>Solution</a:t>
            </a:r>
            <a:endParaRPr b="1" sz="3200">
              <a:solidFill>
                <a:srgbClr val="C00000"/>
              </a:solidFill>
            </a:endParaRPr>
          </a:p>
        </p:txBody>
      </p:sp>
      <p:sp>
        <p:nvSpPr>
          <p:cNvPr id="4092" name="Google Shape;4092;p326"/>
          <p:cNvSpPr txBox="1"/>
          <p:nvPr>
            <p:ph idx="1" type="body"/>
          </p:nvPr>
        </p:nvSpPr>
        <p:spPr>
          <a:xfrm>
            <a:off x="228600" y="1066800"/>
            <a:ext cx="8763000" cy="5334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Font typeface="Arial"/>
              <a:buNone/>
            </a:pPr>
            <a:r>
              <a:rPr lang="en-IN" sz="2400"/>
              <a:t>Q3) Let S={a,b}, find S*,S+</a:t>
            </a:r>
            <a:endParaRPr/>
          </a:p>
          <a:p>
            <a:pPr indent="-342900" lvl="0" marL="342900" rtl="0" algn="l">
              <a:spcBef>
                <a:spcPts val="480"/>
              </a:spcBef>
              <a:spcAft>
                <a:spcPts val="0"/>
              </a:spcAft>
              <a:buClr>
                <a:schemeClr val="dk1"/>
              </a:buClr>
              <a:buSzPts val="2400"/>
              <a:buNone/>
            </a:pPr>
            <a:r>
              <a:rPr lang="en-IN" sz="2400"/>
              <a:t>S*={ε,a,b,aa,bb,ab,ba,……}</a:t>
            </a:r>
            <a:endParaRPr/>
          </a:p>
          <a:p>
            <a:pPr indent="-342900" lvl="0" marL="342900" rtl="0" algn="l">
              <a:spcBef>
                <a:spcPts val="480"/>
              </a:spcBef>
              <a:spcAft>
                <a:spcPts val="0"/>
              </a:spcAft>
              <a:buClr>
                <a:schemeClr val="dk1"/>
              </a:buClr>
              <a:buSzPts val="2400"/>
              <a:buNone/>
            </a:pPr>
            <a:r>
              <a:rPr lang="en-IN" sz="2400"/>
              <a:t>S</a:t>
            </a:r>
            <a:r>
              <a:rPr baseline="30000" lang="en-IN" sz="2400"/>
              <a:t>+</a:t>
            </a:r>
            <a:r>
              <a:rPr lang="en-IN" sz="2400"/>
              <a:t>={a,b,aa,bb,ab,ba,……..}</a:t>
            </a:r>
            <a:endParaRPr/>
          </a:p>
          <a:p>
            <a:pPr indent="-342900" lvl="0" marL="342900" rtl="0" algn="l">
              <a:spcBef>
                <a:spcPts val="480"/>
              </a:spcBef>
              <a:spcAft>
                <a:spcPts val="0"/>
              </a:spcAft>
              <a:buClr>
                <a:schemeClr val="dk1"/>
              </a:buClr>
              <a:buSzPts val="2400"/>
              <a:buFont typeface="Arial"/>
              <a:buNone/>
            </a:pPr>
            <a:r>
              <a:rPr lang="en-IN" sz="2400"/>
              <a:t>Q4) What is a.a*?</a:t>
            </a:r>
            <a:endParaRPr/>
          </a:p>
          <a:p>
            <a:pPr indent="-342900" lvl="0" marL="342900" rtl="0" algn="l">
              <a:spcBef>
                <a:spcPts val="480"/>
              </a:spcBef>
              <a:spcAft>
                <a:spcPts val="0"/>
              </a:spcAft>
              <a:buClr>
                <a:schemeClr val="dk1"/>
              </a:buClr>
              <a:buSzPts val="2400"/>
              <a:buNone/>
            </a:pPr>
            <a:r>
              <a:rPr lang="en-IN" sz="2400"/>
              <a:t>a.a*=</a:t>
            </a:r>
            <a:r>
              <a:rPr b="1" lang="en-IN" sz="2400"/>
              <a:t>a</a:t>
            </a:r>
            <a:r>
              <a:rPr b="1" baseline="30000" lang="en-IN" sz="2400"/>
              <a:t>+</a:t>
            </a:r>
            <a:r>
              <a:rPr lang="en-IN" sz="2400"/>
              <a:t>=a*.a={a,aa,aaa,….}</a:t>
            </a:r>
            <a:endParaRPr sz="2400"/>
          </a:p>
          <a:p>
            <a:pPr indent="-342900" lvl="0" marL="342900" rtl="0" algn="l">
              <a:spcBef>
                <a:spcPts val="480"/>
              </a:spcBef>
              <a:spcAft>
                <a:spcPts val="0"/>
              </a:spcAft>
              <a:buClr>
                <a:schemeClr val="dk1"/>
              </a:buClr>
              <a:buSzPts val="2400"/>
              <a:buFont typeface="Arial"/>
              <a:buNone/>
            </a:pPr>
            <a:r>
              <a:rPr lang="en-IN" sz="2400"/>
              <a:t>Q5) What is (a*)*?</a:t>
            </a:r>
            <a:endParaRPr/>
          </a:p>
          <a:p>
            <a:pPr indent="-342900" lvl="0" marL="342900" rtl="0" algn="l">
              <a:spcBef>
                <a:spcPts val="480"/>
              </a:spcBef>
              <a:spcAft>
                <a:spcPts val="0"/>
              </a:spcAft>
              <a:buClr>
                <a:schemeClr val="dk1"/>
              </a:buClr>
              <a:buSzPts val="2400"/>
              <a:buNone/>
            </a:pPr>
            <a:r>
              <a:rPr lang="en-IN" sz="2400"/>
              <a:t>(a*)*= </a:t>
            </a:r>
            <a:r>
              <a:rPr b="1" lang="en-IN" sz="2400"/>
              <a:t>a*</a:t>
            </a:r>
            <a:endParaRPr/>
          </a:p>
          <a:p>
            <a:pPr indent="-342900" lvl="0" marL="342900" rtl="0" algn="l">
              <a:spcBef>
                <a:spcPts val="480"/>
              </a:spcBef>
              <a:spcAft>
                <a:spcPts val="0"/>
              </a:spcAft>
              <a:buClr>
                <a:schemeClr val="dk1"/>
              </a:buClr>
              <a:buSzPts val="2400"/>
              <a:buFont typeface="Arial"/>
              <a:buNone/>
            </a:pPr>
            <a:r>
              <a:rPr lang="en-IN" sz="2400"/>
              <a:t>Q6) Find (a.b)* and (b.a)*</a:t>
            </a:r>
            <a:endParaRPr/>
          </a:p>
          <a:p>
            <a:pPr indent="-342900" lvl="0" marL="342900" rtl="0" algn="l">
              <a:spcBef>
                <a:spcPts val="480"/>
              </a:spcBef>
              <a:spcAft>
                <a:spcPts val="0"/>
              </a:spcAft>
              <a:buClr>
                <a:schemeClr val="dk1"/>
              </a:buClr>
              <a:buSzPts val="2400"/>
              <a:buNone/>
            </a:pPr>
            <a:r>
              <a:rPr lang="en-IN" sz="2400"/>
              <a:t>(a.b)*={ε,ab,abab,ababab,…..}</a:t>
            </a:r>
            <a:endParaRPr/>
          </a:p>
          <a:p>
            <a:pPr indent="-342900" lvl="0" marL="342900" rtl="0" algn="l">
              <a:spcBef>
                <a:spcPts val="480"/>
              </a:spcBef>
              <a:spcAft>
                <a:spcPts val="0"/>
              </a:spcAft>
              <a:buClr>
                <a:schemeClr val="dk1"/>
              </a:buClr>
              <a:buSzPts val="2400"/>
              <a:buNone/>
            </a:pPr>
            <a:r>
              <a:rPr lang="en-IN" sz="2400"/>
              <a:t>(b.a)*={ε,ba,baba,bababa,…..}</a:t>
            </a:r>
            <a:endParaRPr sz="2400"/>
          </a:p>
          <a:p>
            <a:pPr indent="-342900" lvl="0" marL="342900" rtl="0" algn="l">
              <a:spcBef>
                <a:spcPts val="480"/>
              </a:spcBef>
              <a:spcAft>
                <a:spcPts val="0"/>
              </a:spcAft>
              <a:buClr>
                <a:schemeClr val="dk1"/>
              </a:buClr>
              <a:buSzPts val="2400"/>
              <a:buFont typeface="Arial"/>
              <a:buNone/>
            </a:pPr>
            <a:r>
              <a:rPr lang="en-IN" sz="2400"/>
              <a:t>Q7) Represent {a,b} as a regular expression</a:t>
            </a:r>
            <a:endParaRPr b="1" sz="2400"/>
          </a:p>
          <a:p>
            <a:pPr indent="-342900" lvl="0" marL="342900" rtl="0" algn="l">
              <a:spcBef>
                <a:spcPts val="480"/>
              </a:spcBef>
              <a:spcAft>
                <a:spcPts val="0"/>
              </a:spcAft>
              <a:buClr>
                <a:schemeClr val="dk1"/>
              </a:buClr>
              <a:buSzPts val="2400"/>
              <a:buNone/>
            </a:pPr>
            <a:r>
              <a:rPr b="1" lang="en-IN" sz="2400"/>
              <a:t>a+b</a:t>
            </a:r>
            <a:endParaRPr b="1"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2">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6" name="Shape 4096"/>
        <p:cNvGrpSpPr/>
        <p:nvPr/>
      </p:nvGrpSpPr>
      <p:grpSpPr>
        <a:xfrm>
          <a:off x="0" y="0"/>
          <a:ext cx="0" cy="0"/>
          <a:chOff x="0" y="0"/>
          <a:chExt cx="0" cy="0"/>
        </a:xfrm>
      </p:grpSpPr>
      <p:sp>
        <p:nvSpPr>
          <p:cNvPr id="4097" name="Google Shape;4097;p327"/>
          <p:cNvSpPr txBox="1"/>
          <p:nvPr>
            <p:ph type="title"/>
          </p:nvPr>
        </p:nvSpPr>
        <p:spPr>
          <a:xfrm>
            <a:off x="76200" y="228600"/>
            <a:ext cx="8229600" cy="3048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C00000"/>
              </a:buClr>
              <a:buSzPct val="100000"/>
              <a:buFont typeface="Calibri"/>
              <a:buNone/>
            </a:pPr>
            <a:r>
              <a:rPr b="1" lang="en-IN" sz="3200">
                <a:solidFill>
                  <a:srgbClr val="C00000"/>
                </a:solidFill>
              </a:rPr>
              <a:t>Questions-Begins and Ends….</a:t>
            </a:r>
            <a:endParaRPr b="1" sz="3200">
              <a:solidFill>
                <a:srgbClr val="C00000"/>
              </a:solidFill>
            </a:endParaRPr>
          </a:p>
        </p:txBody>
      </p:sp>
      <p:sp>
        <p:nvSpPr>
          <p:cNvPr id="4098" name="Google Shape;4098;p327"/>
          <p:cNvSpPr txBox="1"/>
          <p:nvPr>
            <p:ph idx="1" type="body"/>
          </p:nvPr>
        </p:nvSpPr>
        <p:spPr>
          <a:xfrm>
            <a:off x="228600" y="1066800"/>
            <a:ext cx="8763000" cy="5334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None/>
            </a:pPr>
            <a:r>
              <a:rPr lang="en-IN" sz="2400"/>
              <a:t>Q8) Represent the Following with the help of RE-</a:t>
            </a:r>
            <a:endParaRPr/>
          </a:p>
          <a:p>
            <a:pPr indent="-342900" lvl="0" marL="342900" rtl="0" algn="l">
              <a:spcBef>
                <a:spcPts val="480"/>
              </a:spcBef>
              <a:spcAft>
                <a:spcPts val="0"/>
              </a:spcAft>
              <a:buClr>
                <a:schemeClr val="dk1"/>
              </a:buClr>
              <a:buSzPts val="2400"/>
              <a:buNone/>
            </a:pPr>
            <a:r>
              <a:rPr lang="en-IN" sz="2400"/>
              <a:t>a) All strings that begin with a and end with b</a:t>
            </a:r>
            <a:endParaRPr/>
          </a:p>
          <a:p>
            <a:pPr indent="-342900" lvl="0" marL="342900" rtl="0" algn="l">
              <a:spcBef>
                <a:spcPts val="480"/>
              </a:spcBef>
              <a:spcAft>
                <a:spcPts val="0"/>
              </a:spcAft>
              <a:buClr>
                <a:schemeClr val="dk1"/>
              </a:buClr>
              <a:buSzPts val="2400"/>
              <a:buNone/>
            </a:pPr>
            <a:r>
              <a:rPr lang="en-IN" sz="2400"/>
              <a:t>b) The set of all strings with alphabet set ∑={a,b} such that each word begins and ends with “a”</a:t>
            </a:r>
            <a:endParaRPr/>
          </a:p>
          <a:p>
            <a:pPr indent="-190500" lvl="0" marL="342900" rtl="0" algn="l">
              <a:spcBef>
                <a:spcPts val="480"/>
              </a:spcBef>
              <a:spcAft>
                <a:spcPts val="0"/>
              </a:spcAft>
              <a:buClr>
                <a:schemeClr val="dk1"/>
              </a:buClr>
              <a:buSzPts val="2400"/>
              <a:buNone/>
            </a:pPr>
            <a:r>
              <a:t/>
            </a:r>
            <a:endParaRPr sz="2400"/>
          </a:p>
        </p:txBody>
      </p:sp>
    </p:spTree>
  </p:cSld>
  <p:clrMapOvr>
    <a:masterClrMapping/>
  </p:clrMapOvr>
</p:sld>
</file>

<file path=ppt/slides/slide3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2" name="Shape 4102"/>
        <p:cNvGrpSpPr/>
        <p:nvPr/>
      </p:nvGrpSpPr>
      <p:grpSpPr>
        <a:xfrm>
          <a:off x="0" y="0"/>
          <a:ext cx="0" cy="0"/>
          <a:chOff x="0" y="0"/>
          <a:chExt cx="0" cy="0"/>
        </a:xfrm>
      </p:grpSpPr>
      <p:sp>
        <p:nvSpPr>
          <p:cNvPr id="4103" name="Google Shape;4103;p328"/>
          <p:cNvSpPr txBox="1"/>
          <p:nvPr>
            <p:ph type="title"/>
          </p:nvPr>
        </p:nvSpPr>
        <p:spPr>
          <a:xfrm>
            <a:off x="76200" y="228600"/>
            <a:ext cx="8229600" cy="3048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C00000"/>
              </a:buClr>
              <a:buSzPct val="100000"/>
              <a:buFont typeface="Calibri"/>
              <a:buNone/>
            </a:pPr>
            <a:r>
              <a:rPr b="1" lang="en-IN" sz="3200">
                <a:solidFill>
                  <a:srgbClr val="C00000"/>
                </a:solidFill>
              </a:rPr>
              <a:t>Solution-Begins and Ends….</a:t>
            </a:r>
            <a:endParaRPr b="1" sz="3200">
              <a:solidFill>
                <a:srgbClr val="C00000"/>
              </a:solidFill>
            </a:endParaRPr>
          </a:p>
        </p:txBody>
      </p:sp>
      <p:sp>
        <p:nvSpPr>
          <p:cNvPr id="4104" name="Google Shape;4104;p328"/>
          <p:cNvSpPr txBox="1"/>
          <p:nvPr>
            <p:ph idx="1" type="body"/>
          </p:nvPr>
        </p:nvSpPr>
        <p:spPr>
          <a:xfrm>
            <a:off x="228600" y="1066800"/>
            <a:ext cx="8763000" cy="5334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None/>
            </a:pPr>
            <a:r>
              <a:rPr lang="en-IN" sz="2400"/>
              <a:t>Q8) Represent the Following with the help of RE-</a:t>
            </a:r>
            <a:endParaRPr/>
          </a:p>
          <a:p>
            <a:pPr indent="-342900" lvl="0" marL="342900" rtl="0" algn="l">
              <a:spcBef>
                <a:spcPts val="480"/>
              </a:spcBef>
              <a:spcAft>
                <a:spcPts val="0"/>
              </a:spcAft>
              <a:buClr>
                <a:schemeClr val="dk1"/>
              </a:buClr>
              <a:buSzPts val="2400"/>
              <a:buNone/>
            </a:pPr>
            <a:r>
              <a:rPr lang="en-IN" sz="2400"/>
              <a:t>a) All strings that begin with a and end with b</a:t>
            </a:r>
            <a:endParaRPr/>
          </a:p>
          <a:p>
            <a:pPr indent="-342900" lvl="0" marL="342900" rtl="0" algn="l">
              <a:spcBef>
                <a:spcPts val="480"/>
              </a:spcBef>
              <a:spcAft>
                <a:spcPts val="0"/>
              </a:spcAft>
              <a:buClr>
                <a:schemeClr val="dk1"/>
              </a:buClr>
              <a:buSzPts val="2400"/>
              <a:buNone/>
            </a:pPr>
            <a:r>
              <a:rPr b="1" lang="en-IN" sz="2400"/>
              <a:t>a (a + b)* b </a:t>
            </a:r>
            <a:endParaRPr/>
          </a:p>
          <a:p>
            <a:pPr indent="-3429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None/>
            </a:pPr>
            <a:r>
              <a:rPr lang="en-IN" sz="2400"/>
              <a:t>b) Represent the set of strings with alphabet set ∑={a,b} such that each word begins and ends with “a”</a:t>
            </a:r>
            <a:endParaRPr/>
          </a:p>
          <a:p>
            <a:pPr indent="0" lvl="0" marL="0" rtl="0" algn="l">
              <a:spcBef>
                <a:spcPts val="480"/>
              </a:spcBef>
              <a:spcAft>
                <a:spcPts val="0"/>
              </a:spcAft>
              <a:buClr>
                <a:schemeClr val="dk1"/>
              </a:buClr>
              <a:buSzPts val="2400"/>
              <a:buNone/>
            </a:pPr>
            <a:r>
              <a:rPr b="1" lang="en-IN" sz="2400"/>
              <a:t>a+a(a+b)*a</a:t>
            </a:r>
            <a:endParaRPr b="1"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4">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8" name="Shape 4108"/>
        <p:cNvGrpSpPr/>
        <p:nvPr/>
      </p:nvGrpSpPr>
      <p:grpSpPr>
        <a:xfrm>
          <a:off x="0" y="0"/>
          <a:ext cx="0" cy="0"/>
          <a:chOff x="0" y="0"/>
          <a:chExt cx="0" cy="0"/>
        </a:xfrm>
      </p:grpSpPr>
      <p:sp>
        <p:nvSpPr>
          <p:cNvPr id="4109" name="Google Shape;4109;p329"/>
          <p:cNvSpPr txBox="1"/>
          <p:nvPr>
            <p:ph type="title"/>
          </p:nvPr>
        </p:nvSpPr>
        <p:spPr>
          <a:xfrm>
            <a:off x="76200" y="228600"/>
            <a:ext cx="8229600" cy="3048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C00000"/>
              </a:buClr>
              <a:buSzPct val="100000"/>
              <a:buFont typeface="Calibri"/>
              <a:buNone/>
            </a:pPr>
            <a:r>
              <a:rPr b="1" lang="en-IN" sz="3200">
                <a:solidFill>
                  <a:srgbClr val="C00000"/>
                </a:solidFill>
              </a:rPr>
              <a:t>Questions-Exactly, At the most….</a:t>
            </a:r>
            <a:endParaRPr b="1" sz="3200">
              <a:solidFill>
                <a:srgbClr val="C00000"/>
              </a:solidFill>
            </a:endParaRPr>
          </a:p>
        </p:txBody>
      </p:sp>
      <p:sp>
        <p:nvSpPr>
          <p:cNvPr id="4110" name="Google Shape;4110;p329"/>
          <p:cNvSpPr txBox="1"/>
          <p:nvPr>
            <p:ph idx="1" type="body"/>
          </p:nvPr>
        </p:nvSpPr>
        <p:spPr>
          <a:xfrm>
            <a:off x="228600" y="1066800"/>
            <a:ext cx="8763000" cy="5334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Font typeface="Arial"/>
              <a:buNone/>
            </a:pPr>
            <a:r>
              <a:rPr lang="en-IN" sz="2400"/>
              <a:t>Q9) Represent the following set of strings as regular expressions</a:t>
            </a:r>
            <a:endParaRPr/>
          </a:p>
          <a:p>
            <a:pPr indent="-457200" lvl="0" marL="457200" rtl="0" algn="l">
              <a:spcBef>
                <a:spcPts val="480"/>
              </a:spcBef>
              <a:spcAft>
                <a:spcPts val="0"/>
              </a:spcAft>
              <a:buClr>
                <a:schemeClr val="dk1"/>
              </a:buClr>
              <a:buSzPts val="2400"/>
              <a:buFont typeface="Calibri"/>
              <a:buAutoNum type="alphaLcParenR"/>
            </a:pPr>
            <a:r>
              <a:rPr lang="en-IN" sz="2400"/>
              <a:t>Each word has exactly one “a” over ∑={a,b} </a:t>
            </a:r>
            <a:endParaRPr/>
          </a:p>
          <a:p>
            <a:pPr indent="-457200" lvl="0" marL="457200" rtl="0" algn="l">
              <a:spcBef>
                <a:spcPts val="480"/>
              </a:spcBef>
              <a:spcAft>
                <a:spcPts val="0"/>
              </a:spcAft>
              <a:buClr>
                <a:schemeClr val="dk1"/>
              </a:buClr>
              <a:buSzPts val="2400"/>
              <a:buFont typeface="Calibri"/>
              <a:buAutoNum type="alphaLcParenR"/>
            </a:pPr>
            <a:r>
              <a:rPr lang="en-IN" sz="2400"/>
              <a:t>Set of all strings with at the most 2 zeros over ∑={0,1}</a:t>
            </a:r>
            <a:endParaRPr/>
          </a:p>
          <a:p>
            <a:pPr indent="-457200" lvl="0" marL="457200" rtl="0" algn="l">
              <a:spcBef>
                <a:spcPts val="480"/>
              </a:spcBef>
              <a:spcAft>
                <a:spcPts val="0"/>
              </a:spcAft>
              <a:buClr>
                <a:schemeClr val="dk1"/>
              </a:buClr>
              <a:buSzPts val="2400"/>
              <a:buFont typeface="Calibri"/>
              <a:buAutoNum type="alphaLcParenR"/>
            </a:pPr>
            <a:r>
              <a:rPr lang="en-IN" sz="2400"/>
              <a:t>All words that contain exactly 2b’s or exactly 3b’s</a:t>
            </a:r>
            <a:endParaRPr/>
          </a:p>
          <a:p>
            <a:pPr indent="-457200" lvl="0" marL="457200" rtl="0" algn="l">
              <a:spcBef>
                <a:spcPts val="480"/>
              </a:spcBef>
              <a:spcAft>
                <a:spcPts val="0"/>
              </a:spcAft>
              <a:buClr>
                <a:srgbClr val="FF0000"/>
              </a:buClr>
              <a:buSzPts val="2400"/>
              <a:buFont typeface="Calibri"/>
              <a:buAutoNum type="alphaLcParenR"/>
            </a:pPr>
            <a:r>
              <a:rPr b="1" lang="en-IN" sz="2400">
                <a:solidFill>
                  <a:srgbClr val="FF0000"/>
                </a:solidFill>
              </a:rPr>
              <a:t>No of occurrences of “a” is divisible by 3 with ∑={a,b,c} </a:t>
            </a:r>
            <a:endParaRPr/>
          </a:p>
          <a:p>
            <a:pPr indent="-190500" lvl="0" marL="342900" rtl="0" algn="l">
              <a:spcBef>
                <a:spcPts val="480"/>
              </a:spcBef>
              <a:spcAft>
                <a:spcPts val="0"/>
              </a:spcAft>
              <a:buClr>
                <a:schemeClr val="dk1"/>
              </a:buClr>
              <a:buSzPts val="2400"/>
              <a:buNone/>
            </a:pPr>
            <a:r>
              <a:t/>
            </a:r>
            <a:endParaRPr sz="2400"/>
          </a:p>
        </p:txBody>
      </p:sp>
    </p:spTree>
  </p:cSld>
  <p:clrMapOvr>
    <a:masterClrMapping/>
  </p:clrMapOvr>
</p:sld>
</file>

<file path=ppt/slides/slide3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4" name="Shape 4114"/>
        <p:cNvGrpSpPr/>
        <p:nvPr/>
      </p:nvGrpSpPr>
      <p:grpSpPr>
        <a:xfrm>
          <a:off x="0" y="0"/>
          <a:ext cx="0" cy="0"/>
          <a:chOff x="0" y="0"/>
          <a:chExt cx="0" cy="0"/>
        </a:xfrm>
      </p:grpSpPr>
      <p:sp>
        <p:nvSpPr>
          <p:cNvPr id="4115" name="Google Shape;4115;p330"/>
          <p:cNvSpPr txBox="1"/>
          <p:nvPr>
            <p:ph type="title"/>
          </p:nvPr>
        </p:nvSpPr>
        <p:spPr>
          <a:xfrm>
            <a:off x="76200" y="228600"/>
            <a:ext cx="8229600" cy="3048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C00000"/>
              </a:buClr>
              <a:buSzPct val="100000"/>
              <a:buFont typeface="Calibri"/>
              <a:buNone/>
            </a:pPr>
            <a:r>
              <a:rPr b="1" lang="en-IN" sz="3200">
                <a:solidFill>
                  <a:srgbClr val="C00000"/>
                </a:solidFill>
              </a:rPr>
              <a:t>Solution-Exactly, At the most….</a:t>
            </a:r>
            <a:endParaRPr b="1" sz="3200">
              <a:solidFill>
                <a:srgbClr val="C00000"/>
              </a:solidFill>
            </a:endParaRPr>
          </a:p>
        </p:txBody>
      </p:sp>
      <p:sp>
        <p:nvSpPr>
          <p:cNvPr id="4116" name="Google Shape;4116;p330"/>
          <p:cNvSpPr txBox="1"/>
          <p:nvPr>
            <p:ph idx="1" type="body"/>
          </p:nvPr>
        </p:nvSpPr>
        <p:spPr>
          <a:xfrm>
            <a:off x="228600" y="1066800"/>
            <a:ext cx="8763000" cy="5334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Font typeface="Arial"/>
              <a:buNone/>
            </a:pPr>
            <a:r>
              <a:rPr lang="en-IN" sz="2400"/>
              <a:t>Q9) Represent the following set of strings as regular expressions</a:t>
            </a:r>
            <a:endParaRPr/>
          </a:p>
          <a:p>
            <a:pPr indent="0" lvl="0" marL="0" rtl="0" algn="l">
              <a:spcBef>
                <a:spcPts val="480"/>
              </a:spcBef>
              <a:spcAft>
                <a:spcPts val="0"/>
              </a:spcAft>
              <a:buClr>
                <a:schemeClr val="dk1"/>
              </a:buClr>
              <a:buSzPts val="2400"/>
              <a:buNone/>
            </a:pPr>
            <a:r>
              <a:rPr lang="en-IN" sz="2400"/>
              <a:t>a) Each word has exactly one “a” over ∑={a,b} </a:t>
            </a:r>
            <a:endParaRPr/>
          </a:p>
          <a:p>
            <a:pPr indent="0" lvl="0" marL="0" rtl="0" algn="l">
              <a:spcBef>
                <a:spcPts val="480"/>
              </a:spcBef>
              <a:spcAft>
                <a:spcPts val="0"/>
              </a:spcAft>
              <a:buClr>
                <a:schemeClr val="dk1"/>
              </a:buClr>
              <a:buSzPts val="2400"/>
              <a:buNone/>
            </a:pPr>
            <a:r>
              <a:rPr lang="en-IN" sz="2400"/>
              <a:t>b*ab*</a:t>
            </a:r>
            <a:endParaRPr sz="2400"/>
          </a:p>
          <a:p>
            <a:pPr indent="0" lvl="0" marL="0" rtl="0" algn="l">
              <a:spcBef>
                <a:spcPts val="480"/>
              </a:spcBef>
              <a:spcAft>
                <a:spcPts val="0"/>
              </a:spcAft>
              <a:buClr>
                <a:schemeClr val="dk1"/>
              </a:buClr>
              <a:buSzPts val="2400"/>
              <a:buNone/>
            </a:pPr>
            <a:r>
              <a:rPr lang="en-IN" sz="2400"/>
              <a:t>b) Set of all strings with at the most 2 zeros over ∑={0,1}</a:t>
            </a:r>
            <a:endParaRPr/>
          </a:p>
          <a:p>
            <a:pPr indent="0" lvl="0" marL="0" rtl="0" algn="l">
              <a:spcBef>
                <a:spcPts val="480"/>
              </a:spcBef>
              <a:spcAft>
                <a:spcPts val="0"/>
              </a:spcAft>
              <a:buClr>
                <a:schemeClr val="dk1"/>
              </a:buClr>
              <a:buSzPts val="2400"/>
              <a:buNone/>
            </a:pPr>
            <a:r>
              <a:rPr lang="en-IN" sz="2400"/>
              <a:t>1*+1*01*+1*01*01*</a:t>
            </a:r>
            <a:endParaRPr/>
          </a:p>
          <a:p>
            <a:pPr indent="0" lvl="0" marL="0" rtl="0" algn="l">
              <a:spcBef>
                <a:spcPts val="480"/>
              </a:spcBef>
              <a:spcAft>
                <a:spcPts val="0"/>
              </a:spcAft>
              <a:buClr>
                <a:schemeClr val="dk1"/>
              </a:buClr>
              <a:buSzPts val="2400"/>
              <a:buNone/>
            </a:pPr>
            <a:r>
              <a:rPr lang="en-IN" sz="2400"/>
              <a:t>c) All words that contain exactly 2b’s or exactly 3b’s over ∑={a,b} </a:t>
            </a:r>
            <a:endParaRPr sz="2400"/>
          </a:p>
          <a:p>
            <a:pPr indent="0" lvl="0" marL="0" rtl="0" algn="l">
              <a:spcBef>
                <a:spcPts val="480"/>
              </a:spcBef>
              <a:spcAft>
                <a:spcPts val="0"/>
              </a:spcAft>
              <a:buClr>
                <a:schemeClr val="dk1"/>
              </a:buClr>
              <a:buSzPts val="2400"/>
              <a:buNone/>
            </a:pPr>
            <a:r>
              <a:rPr lang="en-IN" sz="2400"/>
              <a:t>a*ba*ba*+a*ba*ba*ba*</a:t>
            </a:r>
            <a:endParaRPr/>
          </a:p>
          <a:p>
            <a:pPr indent="0" lvl="0" marL="0" rtl="0" algn="l">
              <a:spcBef>
                <a:spcPts val="480"/>
              </a:spcBef>
              <a:spcAft>
                <a:spcPts val="0"/>
              </a:spcAft>
              <a:buClr>
                <a:schemeClr val="dk1"/>
              </a:buClr>
              <a:buSzPts val="2400"/>
              <a:buNone/>
            </a:pPr>
            <a:r>
              <a:rPr lang="en-IN" sz="2400"/>
              <a:t>d) No of occurrences of “a” is divisible by 3 with ∑={a,b,c} </a:t>
            </a:r>
            <a:endParaRPr/>
          </a:p>
          <a:p>
            <a:pPr indent="0" lvl="0" marL="0" rtl="0" algn="l">
              <a:spcBef>
                <a:spcPts val="480"/>
              </a:spcBef>
              <a:spcAft>
                <a:spcPts val="0"/>
              </a:spcAft>
              <a:buClr>
                <a:schemeClr val="dk1"/>
              </a:buClr>
              <a:buSzPts val="2400"/>
              <a:buNone/>
            </a:pPr>
            <a:r>
              <a:rPr lang="en-IN" sz="2400"/>
              <a:t>( (b+c)*a(b+c)*a(b+c)*a(b+c)* )*+(b+c)*</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6">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0" name="Shape 4120"/>
        <p:cNvGrpSpPr/>
        <p:nvPr/>
      </p:nvGrpSpPr>
      <p:grpSpPr>
        <a:xfrm>
          <a:off x="0" y="0"/>
          <a:ext cx="0" cy="0"/>
          <a:chOff x="0" y="0"/>
          <a:chExt cx="0" cy="0"/>
        </a:xfrm>
      </p:grpSpPr>
      <p:sp>
        <p:nvSpPr>
          <p:cNvPr id="4121" name="Google Shape;4121;p331"/>
          <p:cNvSpPr txBox="1"/>
          <p:nvPr>
            <p:ph type="title"/>
          </p:nvPr>
        </p:nvSpPr>
        <p:spPr>
          <a:xfrm>
            <a:off x="76200" y="228600"/>
            <a:ext cx="8229600" cy="3048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C00000"/>
              </a:buClr>
              <a:buSzPct val="100000"/>
              <a:buFont typeface="Calibri"/>
              <a:buNone/>
            </a:pPr>
            <a:r>
              <a:rPr b="1" lang="en-IN" sz="3200">
                <a:solidFill>
                  <a:srgbClr val="C00000"/>
                </a:solidFill>
              </a:rPr>
              <a:t>Solution-Exactly, At the most….</a:t>
            </a:r>
            <a:endParaRPr b="1" sz="3200">
              <a:solidFill>
                <a:srgbClr val="C00000"/>
              </a:solidFill>
            </a:endParaRPr>
          </a:p>
        </p:txBody>
      </p:sp>
      <p:sp>
        <p:nvSpPr>
          <p:cNvPr id="4122" name="Google Shape;4122;p331"/>
          <p:cNvSpPr txBox="1"/>
          <p:nvPr>
            <p:ph idx="1" type="body"/>
          </p:nvPr>
        </p:nvSpPr>
        <p:spPr>
          <a:xfrm>
            <a:off x="228600" y="1066800"/>
            <a:ext cx="8763000" cy="5334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Font typeface="Arial"/>
              <a:buNone/>
            </a:pPr>
            <a:r>
              <a:rPr lang="en-IN" sz="2400"/>
              <a:t>Q9) Represent the following set of strings as regular expressions</a:t>
            </a:r>
            <a:endParaRPr/>
          </a:p>
          <a:p>
            <a:pPr indent="0" lvl="0" marL="0" rtl="0" algn="l">
              <a:spcBef>
                <a:spcPts val="480"/>
              </a:spcBef>
              <a:spcAft>
                <a:spcPts val="0"/>
              </a:spcAft>
              <a:buClr>
                <a:schemeClr val="dk1"/>
              </a:buClr>
              <a:buSzPts val="2400"/>
              <a:buNone/>
            </a:pPr>
            <a:r>
              <a:rPr lang="en-IN" sz="2400"/>
              <a:t>a) Each word has exactly one “a” over ∑={a,b} </a:t>
            </a:r>
            <a:endParaRPr/>
          </a:p>
          <a:p>
            <a:pPr indent="0" lvl="0" marL="0" rtl="0" algn="l">
              <a:spcBef>
                <a:spcPts val="480"/>
              </a:spcBef>
              <a:spcAft>
                <a:spcPts val="0"/>
              </a:spcAft>
              <a:buClr>
                <a:schemeClr val="dk1"/>
              </a:buClr>
              <a:buSzPts val="2400"/>
              <a:buNone/>
            </a:pPr>
            <a:r>
              <a:rPr lang="en-IN" sz="2400"/>
              <a:t>b*ab*</a:t>
            </a:r>
            <a:endParaRPr sz="2400"/>
          </a:p>
          <a:p>
            <a:pPr indent="0" lvl="0" marL="0" rtl="0" algn="l">
              <a:spcBef>
                <a:spcPts val="480"/>
              </a:spcBef>
              <a:spcAft>
                <a:spcPts val="0"/>
              </a:spcAft>
              <a:buClr>
                <a:schemeClr val="dk1"/>
              </a:buClr>
              <a:buSzPts val="2400"/>
              <a:buNone/>
            </a:pPr>
            <a:r>
              <a:rPr lang="en-IN" sz="2400"/>
              <a:t>b) Set of all strings with at the most 2 zeros over ∑={0,1}</a:t>
            </a:r>
            <a:endParaRPr/>
          </a:p>
          <a:p>
            <a:pPr indent="0" lvl="0" marL="0" rtl="0" algn="l">
              <a:spcBef>
                <a:spcPts val="480"/>
              </a:spcBef>
              <a:spcAft>
                <a:spcPts val="0"/>
              </a:spcAft>
              <a:buClr>
                <a:schemeClr val="dk1"/>
              </a:buClr>
              <a:buSzPts val="2400"/>
              <a:buNone/>
            </a:pPr>
            <a:r>
              <a:rPr lang="en-IN" sz="2400"/>
              <a:t>1*+1*01*+1*01*01*</a:t>
            </a:r>
            <a:endParaRPr/>
          </a:p>
          <a:p>
            <a:pPr indent="0" lvl="0" marL="0" rtl="0" algn="l">
              <a:spcBef>
                <a:spcPts val="480"/>
              </a:spcBef>
              <a:spcAft>
                <a:spcPts val="0"/>
              </a:spcAft>
              <a:buClr>
                <a:schemeClr val="dk1"/>
              </a:buClr>
              <a:buSzPts val="2400"/>
              <a:buNone/>
            </a:pPr>
            <a:r>
              <a:rPr lang="en-IN" sz="2400"/>
              <a:t>c) All words that contain exactly 2b’s or exactly 3b’s over ∑={a,b} </a:t>
            </a:r>
            <a:endParaRPr sz="2400"/>
          </a:p>
          <a:p>
            <a:pPr indent="0" lvl="0" marL="0" rtl="0" algn="l">
              <a:spcBef>
                <a:spcPts val="480"/>
              </a:spcBef>
              <a:spcAft>
                <a:spcPts val="0"/>
              </a:spcAft>
              <a:buClr>
                <a:schemeClr val="dk1"/>
              </a:buClr>
              <a:buSzPts val="2400"/>
              <a:buNone/>
            </a:pPr>
            <a:r>
              <a:rPr lang="en-IN" sz="2400"/>
              <a:t>a*ba*ba*+a*ba*ba*ba*</a:t>
            </a:r>
            <a:endParaRPr/>
          </a:p>
          <a:p>
            <a:pPr indent="0" lvl="0" marL="0" rtl="0" algn="l">
              <a:spcBef>
                <a:spcPts val="480"/>
              </a:spcBef>
              <a:spcAft>
                <a:spcPts val="0"/>
              </a:spcAft>
              <a:buClr>
                <a:schemeClr val="dk1"/>
              </a:buClr>
              <a:buSzPts val="2400"/>
              <a:buNone/>
            </a:pPr>
            <a:r>
              <a:rPr lang="en-IN" sz="2400"/>
              <a:t>d) No of occurrences of “a” is divisible by 3 with ∑={a,b,c} </a:t>
            </a:r>
            <a:endParaRPr/>
          </a:p>
          <a:p>
            <a:pPr indent="0" lvl="0" marL="0" rtl="0" algn="l">
              <a:spcBef>
                <a:spcPts val="480"/>
              </a:spcBef>
              <a:spcAft>
                <a:spcPts val="0"/>
              </a:spcAft>
              <a:buClr>
                <a:schemeClr val="dk1"/>
              </a:buClr>
              <a:buSzPts val="2400"/>
              <a:buNone/>
            </a:pPr>
            <a:r>
              <a:rPr lang="en-IN" sz="2400"/>
              <a:t>( (b+c)*a(b+c)*a(b+c)*a(b+c)* )*+(b+c)*</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2">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2022-01-06T05:38:43Z</dcterms:created>
  <dc:creator>Admin</dc:creator>
</cp:coreProperties>
</file>