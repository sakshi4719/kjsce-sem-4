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Rxva2H2aoEAQOUWRZyN0Y/9dE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Pumping Lemma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Lecture 23.2.2024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6" name="Google Shape;9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Pumping Lemma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useful in Proving certain sets are not regular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eg-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regular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cannot generate with FSM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Finite State Automaton has a finite amount of memory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want to accept a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it should remember ‘n’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FSA cannot remember infinite number of values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30000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4" name="Google Shape;10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Pumping Lemma:Why ?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584804" y="1476811"/>
            <a:ext cx="780362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z= string that belongs to L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z=uvw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pump the middle portion “v”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also have “u” empty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The pump can be in the beginning also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are putting more and more weight to the middle portion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are pumping the middle portion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Thus called Pumping Lemma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2" name="Google Shape;11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Pumping Lemma:Why ?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z=uvw such that uv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 ∈ L for i&gt;0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i=1, z=uvw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i=2, z=uvvw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i=3, z=uvvvw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I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 is not empty  |v|&gt;=1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|uv|&lt;=n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0" name="Google Shape;12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What?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446856" y="1639341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Show L is not Regular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Definition gives 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Definition gives 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choose z depending on question such that z=uvw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show that uv</a:t>
            </a:r>
            <a:r>
              <a:rPr baseline="30000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∈ L</a:t>
            </a:r>
            <a:endParaRPr sz="28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 not regular</a:t>
            </a:r>
            <a:endParaRPr/>
          </a:p>
        </p:txBody>
      </p:sp>
      <p:cxnSp>
        <p:nvCxnSpPr>
          <p:cNvPr id="122" name="Google Shape;122;p5"/>
          <p:cNvCxnSpPr/>
          <p:nvPr/>
        </p:nvCxnSpPr>
        <p:spPr>
          <a:xfrm flipH="1">
            <a:off x="3707904" y="4365104"/>
            <a:ext cx="216024" cy="21602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9" name="Google Shape;12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Pumping Lemma:How?</a:t>
            </a:r>
            <a:endParaRPr/>
          </a:p>
        </p:txBody>
      </p:sp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1-Assume language L is regular, Let n be the number of states in the corresponding FA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2- Choose a string z in language L such that |z|&gt;n, Use pumping lemma to write the string z=uvw with |uv|&lt;=n, |v|&gt;=1 such that uv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 ∈ L  for i&gt;0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3-Find a suitable integer “i” such that uv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∈ L. This contradicts our assumption. Hence L is not regular</a:t>
            </a:r>
            <a:endParaRPr baseline="30000" sz="2400"/>
          </a:p>
        </p:txBody>
      </p:sp>
      <p:cxnSp>
        <p:nvCxnSpPr>
          <p:cNvPr id="131" name="Google Shape;131;p6"/>
          <p:cNvCxnSpPr/>
          <p:nvPr/>
        </p:nvCxnSpPr>
        <p:spPr>
          <a:xfrm flipH="1">
            <a:off x="6804248" y="3717032"/>
            <a:ext cx="216024" cy="21602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Pumping Lemma :Example 1</a:t>
            </a:r>
            <a:endParaRPr sz="3200"/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L={a   | n&gt;=1}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1-Suppose L is regular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Let n be the number of states in FA accepting 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2-Choose a string z ∈ L such that |z|&gt;n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z can be written in the form z=uvw with |uv|&lt;=n and |v|&gt;=1 such that uv</a:t>
            </a:r>
            <a:r>
              <a:rPr baseline="30000" lang="en-IN" sz="2400"/>
              <a:t>i</a:t>
            </a:r>
            <a:r>
              <a:rPr lang="en-IN" sz="2400"/>
              <a:t>w  ∈ L for i&gt;0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a  =aaaaa………aaaaaaaa for n</a:t>
            </a:r>
            <a:r>
              <a:rPr baseline="30000" lang="en-IN" sz="2400"/>
              <a:t>2</a:t>
            </a:r>
            <a:r>
              <a:rPr lang="en-IN" sz="2400"/>
              <a:t> no of times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String of a’s aaaaaaaaaaaaa…….aaaaaaaaa</a:t>
            </a:r>
            <a:endParaRPr sz="2400"/>
          </a:p>
        </p:txBody>
      </p:sp>
      <p:sp>
        <p:nvSpPr>
          <p:cNvPr id="138" name="Google Shape;1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39" name="Google Shape;1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0" name="Google Shape;14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23-02-2024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946598" y="1547500"/>
            <a:ext cx="385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738686" y="4509120"/>
            <a:ext cx="385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Pumping Lemma:Example 1</a:t>
            </a:r>
            <a:endParaRPr sz="3200"/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457200" y="1340768"/>
            <a:ext cx="8229600" cy="4968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3- So length of v alone is 1&lt;=|v|&lt;=n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For i=2,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|uv</a:t>
            </a:r>
            <a:r>
              <a:rPr baseline="30000" lang="en-IN" sz="2400"/>
              <a:t>2</a:t>
            </a:r>
            <a:r>
              <a:rPr lang="en-IN" sz="2400"/>
              <a:t>w|=|uvw|+|v|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=n</a:t>
            </a:r>
            <a:r>
              <a:rPr baseline="30000" lang="en-IN" sz="2400"/>
              <a:t>2</a:t>
            </a:r>
            <a:r>
              <a:rPr lang="en-IN" sz="2400"/>
              <a:t>+|v|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&lt;= n</a:t>
            </a:r>
            <a:r>
              <a:rPr baseline="30000" lang="en-IN" sz="2400"/>
              <a:t>2</a:t>
            </a:r>
            <a:r>
              <a:rPr lang="en-IN" sz="2400"/>
              <a:t>+ 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we get a</a:t>
            </a:r>
            <a:r>
              <a:rPr baseline="30000" lang="en-IN" sz="2400"/>
              <a:t>P</a:t>
            </a:r>
            <a:r>
              <a:rPr lang="en-IN" sz="2400"/>
              <a:t> such that value of P is &lt;= n</a:t>
            </a:r>
            <a:r>
              <a:rPr baseline="30000" lang="en-IN" sz="2400"/>
              <a:t>2</a:t>
            </a:r>
            <a:r>
              <a:rPr lang="en-IN" sz="2400"/>
              <a:t>+ n and &gt; n</a:t>
            </a:r>
            <a:r>
              <a:rPr baseline="30000" lang="en-IN" sz="2400"/>
              <a:t>2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After L={a, a</a:t>
            </a:r>
            <a:r>
              <a:rPr baseline="30000" lang="en-IN" sz="2400"/>
              <a:t>4</a:t>
            </a:r>
            <a:r>
              <a:rPr lang="en-IN" sz="2400"/>
              <a:t>, a</a:t>
            </a:r>
            <a:r>
              <a:rPr baseline="30000" lang="en-IN" sz="2400"/>
              <a:t>9</a:t>
            </a:r>
            <a:r>
              <a:rPr lang="en-IN" sz="2400"/>
              <a:t>,………………   a  ,   a  ,…………..}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The string higher than a is a           i.e. a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But n2 + n lies between these two values, Thus it is not regular</a:t>
            </a:r>
            <a:endParaRPr/>
          </a:p>
        </p:txBody>
      </p:sp>
      <p:sp>
        <p:nvSpPr>
          <p:cNvPr id="149" name="Google Shape;14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50" name="Google Shape;15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1" name="Google Shape;1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23-02-2024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139952" y="3995772"/>
            <a:ext cx="385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572000" y="3995772"/>
            <a:ext cx="8162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(n+1)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347864" y="4787860"/>
            <a:ext cx="385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779912" y="4797152"/>
            <a:ext cx="8162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(n+1)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204532" y="4727810"/>
            <a:ext cx="9749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+2n+1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>
            <p:ph type="title"/>
          </p:nvPr>
        </p:nvSpPr>
        <p:spPr>
          <a:xfrm>
            <a:off x="467544" y="116632"/>
            <a:ext cx="8229600" cy="27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Pumping Lemma :Example 2</a:t>
            </a:r>
            <a:endParaRPr sz="2800"/>
          </a:p>
        </p:txBody>
      </p:sp>
      <p:sp>
        <p:nvSpPr>
          <p:cNvPr id="162" name="Google Shape;162;p9"/>
          <p:cNvSpPr txBox="1"/>
          <p:nvPr>
            <p:ph idx="1" type="body"/>
          </p:nvPr>
        </p:nvSpPr>
        <p:spPr>
          <a:xfrm>
            <a:off x="395536" y="908720"/>
            <a:ext cx="8229600" cy="4813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L={a   | n&gt;=1}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1-Suppose L is regular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Let n be the number of states in FA accepting 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2-Choose a string z ∈ L such that |z|&gt;n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z can be written in the form z=uvw with |uv|&lt;=n and |v|&gt;=1 such that uv</a:t>
            </a:r>
            <a:r>
              <a:rPr baseline="30000" lang="en-IN" sz="2400"/>
              <a:t>i</a:t>
            </a:r>
            <a:r>
              <a:rPr lang="en-IN" sz="2400"/>
              <a:t>w  ∈ L for i&gt;0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n=1 String=a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n=2 String=aa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n=3 String=aaaaaa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63" name="Google Shape;1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64" name="Google Shape;1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5" name="Google Shape;1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23-02-2024</a:t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867960" y="796062"/>
            <a:ext cx="3834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n!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1738686" y="3972006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3- So length of v alone is 1&lt;=|v|&lt;=n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|uv</a:t>
            </a:r>
            <a:r>
              <a:rPr baseline="30000" lang="en-IN" sz="2400"/>
              <a:t>2</a:t>
            </a:r>
            <a:r>
              <a:rPr lang="en-IN" sz="2400"/>
              <a:t>w|=|uvw|+|v|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=n</a:t>
            </a:r>
            <a:r>
              <a:rPr baseline="30000" lang="en-IN" sz="2400"/>
              <a:t>!</a:t>
            </a:r>
            <a:r>
              <a:rPr lang="en-IN" sz="2400"/>
              <a:t>+|v|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&lt;= n</a:t>
            </a:r>
            <a:r>
              <a:rPr baseline="30000" lang="en-IN" sz="2400"/>
              <a:t>!</a:t>
            </a:r>
            <a:r>
              <a:rPr lang="en-IN" sz="2400"/>
              <a:t>+ 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we get a</a:t>
            </a:r>
            <a:r>
              <a:rPr baseline="30000" lang="en-IN" sz="2400"/>
              <a:t>P</a:t>
            </a:r>
            <a:r>
              <a:rPr lang="en-IN" sz="2400"/>
              <a:t> such that value of P is &lt;= n</a:t>
            </a:r>
            <a:r>
              <a:rPr baseline="30000" lang="en-IN" sz="2400"/>
              <a:t>!</a:t>
            </a:r>
            <a:r>
              <a:rPr lang="en-IN" sz="2400"/>
              <a:t>+ n and &gt; n</a:t>
            </a:r>
            <a:r>
              <a:rPr baseline="30000" lang="en-IN" sz="2400"/>
              <a:t>!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After L={a, a</a:t>
            </a:r>
            <a:r>
              <a:rPr baseline="30000" lang="en-IN" sz="2400"/>
              <a:t>2</a:t>
            </a:r>
            <a:r>
              <a:rPr lang="en-IN" sz="2400"/>
              <a:t>, a</a:t>
            </a:r>
            <a:r>
              <a:rPr baseline="30000" lang="en-IN" sz="2400"/>
              <a:t>6</a:t>
            </a:r>
            <a:r>
              <a:rPr lang="en-IN" sz="2400"/>
              <a:t>, a</a:t>
            </a:r>
            <a:r>
              <a:rPr baseline="30000" lang="en-IN" sz="2400"/>
              <a:t>24 </a:t>
            </a:r>
            <a:r>
              <a:rPr lang="en-IN" sz="2400"/>
              <a:t>………………   a  ,   a  ,…………..}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(n+1)!=(n+1).n!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	=n x n! + n!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But n! + n lies between these two values, Thus it is not regular</a:t>
            </a:r>
            <a:endParaRPr/>
          </a:p>
        </p:txBody>
      </p:sp>
      <p:sp>
        <p:nvSpPr>
          <p:cNvPr id="173" name="Google Shape;1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74" name="Google Shape;1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5" name="Google Shape;17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23-02-2024</a:t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4572000" y="3915014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076056" y="3861048"/>
            <a:ext cx="787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(n+1)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467544" y="116632"/>
            <a:ext cx="8229600" cy="27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Pumping Lemma :Example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467544" y="116632"/>
            <a:ext cx="8229600" cy="27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Pumping Lemma :Example 3</a:t>
            </a:r>
            <a:endParaRPr sz="2800"/>
          </a:p>
        </p:txBody>
      </p:sp>
      <p:sp>
        <p:nvSpPr>
          <p:cNvPr id="184" name="Google Shape;184;p11"/>
          <p:cNvSpPr txBox="1"/>
          <p:nvPr>
            <p:ph idx="1" type="body"/>
          </p:nvPr>
        </p:nvSpPr>
        <p:spPr>
          <a:xfrm>
            <a:off x="395536" y="908720"/>
            <a:ext cx="8229600" cy="4813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L={a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   | n&gt;=1}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1-Suppose L is regular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Let n be the number of states in FA accepting 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2-Choose a string z ∈ L such that |z|&gt;n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z can be written in the form z=uvw with |uv|&lt;=n and |v|&gt;=1 such that uv</a:t>
            </a:r>
            <a:r>
              <a:rPr baseline="30000" lang="en-IN" sz="2400"/>
              <a:t>i</a:t>
            </a:r>
            <a:r>
              <a:rPr lang="en-IN" sz="2400"/>
              <a:t>w  ∈ L for i&gt;0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85" name="Google Shape;18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86" name="Google Shape;18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7" name="Google Shape;18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23-02-2024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>
            <p:ph type="title"/>
          </p:nvPr>
        </p:nvSpPr>
        <p:spPr>
          <a:xfrm>
            <a:off x="467544" y="116632"/>
            <a:ext cx="8229600" cy="27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Pumping Lemma :Example 3</a:t>
            </a:r>
            <a:endParaRPr sz="2800"/>
          </a:p>
        </p:txBody>
      </p:sp>
      <p:sp>
        <p:nvSpPr>
          <p:cNvPr id="193" name="Google Shape;193;p12"/>
          <p:cNvSpPr txBox="1"/>
          <p:nvPr>
            <p:ph idx="1" type="body"/>
          </p:nvPr>
        </p:nvSpPr>
        <p:spPr>
          <a:xfrm>
            <a:off x="395536" y="908720"/>
            <a:ext cx="8229600" cy="576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L={a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   | n&gt;=1}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a</a:t>
            </a:r>
            <a:r>
              <a:rPr baseline="30000" lang="en-IN" sz="2400"/>
              <a:t>m</a:t>
            </a:r>
            <a:r>
              <a:rPr lang="en-IN" sz="2400"/>
              <a:t>b</a:t>
            </a:r>
            <a:r>
              <a:rPr baseline="30000" lang="en-IN" sz="2400"/>
              <a:t>m</a:t>
            </a:r>
            <a:r>
              <a:rPr lang="en-IN" sz="2400"/>
              <a:t> , m&gt;n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aaaaa………abbbbbbb…….b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Using Pumping Lemma, This can be written as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z=uvw , such that |uv|&lt;=n and |v|&gt;=1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As m&gt;n and |uv|&lt;=n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aaaaaaaaaaa…………………aaabbbbbbbbbbbbbbbbbbbbb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v will not fall into “b”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94" name="Google Shape;194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95" name="Google Shape;195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6" name="Google Shape;19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23-02-2024</a:t>
            </a:r>
            <a:endParaRPr/>
          </a:p>
        </p:txBody>
      </p:sp>
      <p:cxnSp>
        <p:nvCxnSpPr>
          <p:cNvPr id="197" name="Google Shape;197;p12"/>
          <p:cNvCxnSpPr/>
          <p:nvPr/>
        </p:nvCxnSpPr>
        <p:spPr>
          <a:xfrm>
            <a:off x="539552" y="5445224"/>
            <a:ext cx="3024336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98" name="Google Shape;198;p12"/>
          <p:cNvCxnSpPr/>
          <p:nvPr/>
        </p:nvCxnSpPr>
        <p:spPr>
          <a:xfrm>
            <a:off x="3635896" y="5445224"/>
            <a:ext cx="3672408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99" name="Google Shape;199;p12"/>
          <p:cNvSpPr txBox="1"/>
          <p:nvPr/>
        </p:nvSpPr>
        <p:spPr>
          <a:xfrm>
            <a:off x="1399603" y="547658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uv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4987485" y="5480619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type="title"/>
          </p:nvPr>
        </p:nvSpPr>
        <p:spPr>
          <a:xfrm>
            <a:off x="467544" y="116632"/>
            <a:ext cx="8229600" cy="27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Pumping Lemma :Example 3</a:t>
            </a:r>
            <a:endParaRPr sz="2800"/>
          </a:p>
        </p:txBody>
      </p:sp>
      <p:sp>
        <p:nvSpPr>
          <p:cNvPr id="206" name="Google Shape;206;p13"/>
          <p:cNvSpPr txBox="1"/>
          <p:nvPr>
            <p:ph idx="1" type="body"/>
          </p:nvPr>
        </p:nvSpPr>
        <p:spPr>
          <a:xfrm>
            <a:off x="395536" y="620688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As m&gt;n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aaaaaaaaaaa…………………….abbbbbbbbbbbbbbbbbbbbb</a:t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Let v=a</a:t>
            </a:r>
            <a:r>
              <a:rPr baseline="30000" lang="en-IN" sz="2600"/>
              <a:t>p</a:t>
            </a:r>
            <a:endParaRPr baseline="30000"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u=a</a:t>
            </a:r>
            <a:r>
              <a:rPr baseline="30000" lang="en-IN" sz="2600"/>
              <a:t>q</a:t>
            </a:r>
            <a:endParaRPr baseline="30000"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w=a</a:t>
            </a:r>
            <a:r>
              <a:rPr baseline="30000" lang="en-IN" sz="2600"/>
              <a:t>r</a:t>
            </a:r>
            <a:r>
              <a:rPr lang="en-IN" sz="2600"/>
              <a:t>b</a:t>
            </a:r>
            <a:r>
              <a:rPr baseline="30000" lang="en-IN" sz="2600"/>
              <a:t>m</a:t>
            </a:r>
            <a:endParaRPr baseline="30000"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p+q+r=m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Let z=a</a:t>
            </a:r>
            <a:r>
              <a:rPr baseline="30000" lang="en-IN" sz="2600"/>
              <a:t>q </a:t>
            </a:r>
            <a:r>
              <a:rPr lang="en-IN" sz="2600"/>
              <a:t>(a</a:t>
            </a:r>
            <a:r>
              <a:rPr baseline="30000" lang="en-IN" sz="2600"/>
              <a:t>p</a:t>
            </a:r>
            <a:r>
              <a:rPr lang="en-IN" sz="2600"/>
              <a:t>) a</a:t>
            </a:r>
            <a:r>
              <a:rPr baseline="30000" lang="en-IN" sz="2600"/>
              <a:t>r</a:t>
            </a:r>
            <a:r>
              <a:rPr lang="en-IN" sz="2600"/>
              <a:t> b</a:t>
            </a:r>
            <a:r>
              <a:rPr baseline="30000" lang="en-IN" sz="2600"/>
              <a:t>m</a:t>
            </a:r>
            <a:endParaRPr baseline="30000"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Pumping v part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Let z=a</a:t>
            </a:r>
            <a:r>
              <a:rPr baseline="30000" lang="en-IN" sz="2600"/>
              <a:t>q </a:t>
            </a:r>
            <a:r>
              <a:rPr lang="en-IN" sz="2600"/>
              <a:t>(a</a:t>
            </a:r>
            <a:r>
              <a:rPr baseline="30000" lang="en-IN" sz="2600"/>
              <a:t>p</a:t>
            </a:r>
            <a:r>
              <a:rPr lang="en-IN" sz="2600"/>
              <a:t>)</a:t>
            </a:r>
            <a:r>
              <a:rPr baseline="30000" lang="en-IN" sz="2600"/>
              <a:t>i</a:t>
            </a:r>
            <a:r>
              <a:rPr lang="en-IN" sz="2600"/>
              <a:t> a</a:t>
            </a:r>
            <a:r>
              <a:rPr baseline="30000" lang="en-IN" sz="2600"/>
              <a:t>r</a:t>
            </a:r>
            <a:r>
              <a:rPr lang="en-IN" sz="2600"/>
              <a:t> b</a:t>
            </a:r>
            <a:r>
              <a:rPr baseline="30000" lang="en-IN" sz="2600"/>
              <a:t>m</a:t>
            </a:r>
            <a:endParaRPr baseline="30000"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So many strings, we can get where no of a’s are not equal to no of bs</a:t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There is a Contradiction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Thus, Not Regular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sp>
        <p:nvSpPr>
          <p:cNvPr id="207" name="Google Shape;20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208" name="Google Shape;20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9" name="Google Shape;209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23-02-2024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2022-02-21T08:37:41Z</dcterms:created>
  <dc:creator>Admin</dc:creator>
</cp:coreProperties>
</file>