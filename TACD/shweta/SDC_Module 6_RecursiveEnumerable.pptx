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gYCWOX/BJmkXlPGRqyB1G9mCS5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Relationship Id="rId4" Type="http://schemas.openxmlformats.org/officeDocument/2006/relationships/image" Target="../media/image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 sz="2800"/>
              <a:t>Recursive and Recursively Enumerable Languages. </a:t>
            </a:r>
            <a:br>
              <a:rPr lang="en-IN" sz="2800"/>
            </a:br>
            <a:r>
              <a:rPr lang="en-IN" sz="2800"/>
              <a:t>Properties of Recursive and Recursively Enumerable Languages.</a:t>
            </a:r>
            <a:br>
              <a:rPr lang="en-IN" sz="2800"/>
            </a:br>
            <a:br>
              <a:rPr lang="en-IN" sz="2800"/>
            </a:br>
            <a:r>
              <a:rPr lang="en-IN" sz="2800"/>
              <a:t>+</a:t>
            </a:r>
            <a:br>
              <a:rPr lang="en-IN" sz="2800"/>
            </a:br>
            <a:br>
              <a:rPr lang="en-IN" sz="2800"/>
            </a:br>
            <a:r>
              <a:rPr lang="en-IN" sz="2800"/>
              <a:t>Decidability and Undecidability, Halting Problem, Rice’s Theorem, Greibach’s Theorem, Post Correspondence Problem, Context Sensitivity and Linear Bound Automata. 	</a:t>
            </a:r>
            <a:br>
              <a:rPr lang="en-IN" sz="2800"/>
            </a:br>
            <a:r>
              <a:rPr lang="en-IN" sz="2800"/>
              <a:t> 	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403648" y="5301208"/>
            <a:ext cx="6400800" cy="1057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IN"/>
              <a:t>Module 6.1 and 6.2</a:t>
            </a:r>
            <a:endParaRPr/>
          </a:p>
        </p:txBody>
      </p:sp>
      <p:sp>
        <p:nvSpPr>
          <p:cNvPr id="90" name="Google Shape;90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Turing Machine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460375" y="548680"/>
            <a:ext cx="8229600" cy="3096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Turing Machine was invented by Alan Turing in 1936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Accepts Recursive Enumerable Languages (generated by Type-0 Grammar).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99" name="Google Shape;9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1" name="Google Shape;101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descr="data:image/png;base64,iVBORw0KGgoAAAANSUhEUgAAAVMAAACVCAMAAADSU+lbAAABg1BMVEX///8AAADd3d3o6OiTk5OFhYWzs7PCwsJaWlrU1NTi4uKenp6MjIza2tqXl5f5+fnw8PB6eno8PDzKysqrq6tsbGxnZ2dGRkZzc3NgYGAAXQAAUgAAWAC6urry//8ARgAuLi5UVFQASwC1x7cSEhIZGRn///ju///k6uXh3LUdfmsmJiYATwCx4eM1NTWnp6fAz8L/7dAAbVTPw5e+u4RQn5ilp2UAdmDU5+gAaTygoll+u7uuwKrk8/XGzLRPbwUwmZHR8PgoXgC86vmEj0n/9eKh1eCExMrS2suNnmcpaQtjq6zr580AYCysq3Pe06oAb0uovJdlnIYAYhgleDlPcSE2hVkAaCSGsKPF2NRtgThzkVTT17gAiIEAZUsAe2aewLcmcj9TgEL28Mve8N1+rJLE6+pCjXSl1dEAWS28w5Rqt65/hyxBawAATxoAi4lDfko/fU1YdR9ahGxAi3D09dW2z7m6rnFmkmx2mYmLpYKLtZs4aSCChBmLkzsuYz8AMwDH6TWGAAALQUlEQVR4nO2dC0PaSAKAZ1RAVCCIVg0BVDSCWh/FN75Qg5aH2FprbbU+tlbtdnfV2+563nb3fvrNBCUTkkDEXElwvlIgmUk6/ZhXJsMAAIVCoVAoFAqFQqEAUF+TVFcprEmq6pTx2lRp6Yct6iEicEQztKUbVnagzfYMNmoHtsMe9YBOZYC3qk41aS35WcN27bDGUkeWOhA4oV070AVH1QOaYHOJc5qJMk6faYeVcuop6dQH27QDnVrqXNBd4pxmgjo1HurUeKhT46FOjYc6NR7q1HioU+OhTo3HCKf8/PwCelmcn7nfQzr1eMgXjOSUX5zHhIPSaalTEX6JWwYg4+cS93tIp1O9L9Bzrjc7cL+HcLoy7Pdz7PCqdFrS6cbYWOGgJ+YURDn/Kljj0oUdpFMhxSUBWOLWC3uIso+s7b1kJd2kU3Sg399bOOkTcwrW2MEMR5iR1aeb7CHIcVtS+ZbXp0jdOrEpOV1jj49evS4c9tScZrjtN6QZmVMk7fMaGSp3ij4P8rQFp/wOmyYDnppTMLW9vUVsytv9CfYtS4bKnOY4qRrGSPl0k919tycFPDmn79ntLKFG7pRPbbNJYpt0KqxwcdlpJacoo/qnpYAf7JSP8BHAL/CRSAQA9C4C0LtIEHjwiwegBxC385syjHGa46Y/sJPSdlH/dEKWTWVO19jDIBlGlP337Nv56uXT6PR+KJE7GO/dZieFreD4RyHFstwqyLDoJRENpVGnZZud9ixtb28n5Ica4pTf4dbHWaIMFzmNoVaKgHAa5YoTVHCa4dhVMqCs08z8/FEwcw7QYwN9GMIRfqgzfvzmOAkyJ8fvQBS9fa4SJTq4759ETl+An0KfkFPUIZzI55opVLCmTmdR8RvgVz4vJRSHGuJ0Arfqa+xBYYdep/w1ezaGWJACC04FFoXd7p7fB5R1Gpu93ZnMLYPY8jh3moojC+MfNaKOb0X2L3juaGMnnjtkvrxQiYKcDl6/QqcK9f4sbAHSaRoIuwNfk/wvodAZWOoN/TogP9QIpwLnR9XluL+38HkXO+WmyU3JqeBnUR/UHyI6BVJ9GsNh3Nl91VDe6WBk82BfdJrdi8yMb+3FNJ3unp4cRgexuWj2dmdZJQpy+luUW8YuQWY2KHeaQ+le5lM4iy6tKg41xGk4jF8Ww6rXpjh9l5PkJlH2F8MiavkU5eJw+A+psi3vdPfybQLlU/TInOzGx9mrE7UMiBmfDYeDUVR4coPRrXA4qBIF1acH4OtvYlbnr3dxv25iWQyZS4OvcSbTO7MiOj1+s1tUd9TQGEpsGT3lXgQ3J3OTIPcxM12i7GPZfOr1PJfMib1jRhEFtfszgJ/h8/kEN/75J/SyADaC+EVs7/O9ARm15BTX5/z7UDbBfwj5z3F9eqERVXgnPt+ePgcZ3JVzlLo7LsPnKR+nhpw+gnqoU2o7hLDFXa/M1iTUqQgDi9PEeFQA3bC7H08q6uhoC2jm2KfrNNDW2trZNurMD+wyfTAgT4bmFC1Xna1TfDvU1RxQO3PtOmUCDoTqfxphHypY6utyO3Ci+sgS7YA9nSq03/+/GJ87LxY2en1O+blr0qkz4G0tKGtUi+GFsNmHzfiaO/twrB432kVIdUCtT0P2Dzk6n4n/iGw2XI05ZepH3XmVPd6A3W4PtHVA6FNEa4Ed5KajoSd/kDShVZdTj8/eJR45ZCN315JTu03MnX2towFGynIBpVQGjhQf66kfbURNemHbATu6VGi8j1EfaGscET+HZzanS36uGnJahzNMi72uuD1ugrBol00tEzKdZD51abdRTuddgR/xNjjVelW1NP/UqSzkIvaiOpWB3WqRYFeZ8yO678z29AR8oM7d7HY3KHAPQZW9BWCrZqh7pNSRJQ5sQA1ml/ZpvRqBKKCxOKClvASRRiib+R+ADkUUL+zT0yh5Yf+Qu9mVz50dZWbGWxOdTl3yYtNfXBcAVx8cKX1tVIhJvG+qq0Fcmv/1Inpgk7ThURbyEcvMazcPjnz7ZhefA8oWiqn70SnSRX2fOdOVJ9/0D4mVhRfqK+bVxw1N+s0akRbcR22CDfi9vL9vZpphT7WTUAIGduKBOlyUnNBWNrpJ6K/yt+q0acJFvQMVeNiPN0d1jz9XHfM6FYdG26Ddl2+ousyaTgX4Wk7ZkzYFDgj7mjyw0SZ2qDywtdoJ0ksAOTVrH8/TjtLWCvMyXbhmtQY2yOi5Xv6x1Pvuek1N4hipWPTb7kepXBqjA+ahEzkdqnYiimmTqiM7cipeS43c9057TF+vok5fu+IyutrYiSqeubt35L0foyo5rmYGGFRZNUCzXUnZSzWbpnfqQ52+kkPNVcHaTt0wgC5QzHZ1am2nYl1qugtpazvtwJd9rWYb8LG2U/FmoA1Wd3EiBZZ2mq9KVQZ7q4ulnebvmrnMdnVqaafPxK4pY7bhCUs7vbvOG+qrcjqKsLJTTz9sYYCnpQ86y0f+gVjZKQMhHMXjlFD33eEfgpWdgno7ui71QbdBfSmjbm5Y2ql4re8z6kZPwKgT1YJTg8ZQDOvnUqcFqFMR6tR4qFPjoU6Nhzo1HurUeKhT46FOjYc6NR7q1HioU+OhTo2HOjUeQ506jJodbHWn9srHT21FCw/0KNcj8FY0ZdA6Tu0tStphVwP+qxJkKzv4r+dbkBXdQbCO084Hfim07AxKDyPDY4f2ol1MZTNbrePUC51Nuqm3PXxWqr51M3RgJacPmWrmfrjTJ9juP8xpBbOnqdMyUKd6kJxOXF1effqXuALgxDmIqMamTvUgOZ1LR/Z4F7+3sQciC3NnCzy5OOwd1KkeCKe/3x59+/Xb8Lud5Fx87ezT8R8phVTqVA+E09fzR98uvm2BqfW59T/juezNpWJpZupUD4TTdQCQ01n0Zi4+kc5sBT8oVqymTvUgOf2CcqXwb+E1iD3/ci7cfN6/OVfEpk71QPtSxkOdGg91ajySU/46lCUa+sz9WvL8krSXOtWD5HQtDWJxsH97BPaPbo+ElbON/9wGcUO180inT25Ob8Ep/xfuOWVmF9bWJwYFLvE9Gb1YyB16lp6/f5TTJqOW/7KgU3CdBMJMDP8axkSaT2GnB2DzZ/R4nFPDsKLTnP+GSwtceCf5Z5pnE3+n9w9AJjuW+nxNnT4Mot2PhPfwz53M4OZpLCiEI+LmAtiQLvupUz383/tShkGdGo8VnW7cl3J+TO3ngkSoUz1ITr8mwXfxxwv5MXCrHI4WoU71IDlFXabvyc3fTyaFf15xZ+qxqVM9FDmdSgvZTyF+l+bTR0CU/XWwtDoVp04fDdHn50KHwbm0sP3pvwPXk+qxqVM9EH0p/NtL6C/+w2tMaaquUzujhcdUayBaqX9aEhOtgWslp102rwa2bjOtMOZ90JqcFcxBMwy7yk9HFTDVutJe6G7WzWgjbaN08NA5vdVbd8Y6TpucD6N6q/dax6l1kJwunp4WD0hQpxUhOd0IvxwewL/0LEGdVgRR9oVUEny4+Yu4c06dVoTklF+Kg+g0yB1KgdRpRUhO16YjkcxscGJZCqROK0JyenJ5vJuIXd4QFSp1WhG0L2U81KnxUKfGQ50aD3VqPNYZ67MOZcb5q508SxJo7ShBd7WTR6FICGMzgB9DBPNfh82g540ZtFtzihelDAJ3w60LV6njq0SuNw3Ay+xJb2IqLXDr1U6ZdYleLGzsATAXB2DtKBsUsgNgMbg5+QtV+ggWU9lz0amQDb5P/jSN921yVxrTZig6yL0DuYsgdhobDg0vC+wquE1spvkVxTe4KXoRdkJ+VO7/joOlJBBCiZw/tLUwlwaxi4FqJ83C4EldwCM+QNFbCsW6/A9vJI5W3LTQ/AAAAABJRU5ErkJggg==" id="102" name="Google Shape;102;p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22" y="1988840"/>
            <a:ext cx="4535827" cy="4248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omsky Hierarchy"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353" y="2636912"/>
            <a:ext cx="4355976" cy="34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498417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Recursive Enumerable (RE) or Type -0 Language</a:t>
            </a:r>
            <a:endParaRPr sz="32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251520" y="1501361"/>
            <a:ext cx="411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RE languages or type-0 languages are generated by type-0 grammars. </a:t>
            </a:r>
            <a:endParaRPr/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3217" y="1772816"/>
            <a:ext cx="4535827" cy="4248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13" name="Google Shape;1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498417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Recursive Enumerable (RE) or Type -0 Language</a:t>
            </a:r>
            <a:endParaRPr sz="3200"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251520" y="1412776"/>
            <a:ext cx="835292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An RE language can be </a:t>
            </a:r>
            <a:r>
              <a:rPr b="1" lang="en-IN" sz="2400">
                <a:solidFill>
                  <a:srgbClr val="FF0000"/>
                </a:solidFill>
              </a:rPr>
              <a:t>accepted or recognized </a:t>
            </a:r>
            <a:r>
              <a:rPr lang="en-IN" sz="2400"/>
              <a:t>by Turing machine which means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It will enter into final state for the strings of language and may or may not enter into rejecting state for the strings which are not part of the language.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It means TM can </a:t>
            </a:r>
            <a:r>
              <a:rPr b="1" lang="en-IN" sz="2400">
                <a:solidFill>
                  <a:srgbClr val="FF0000"/>
                </a:solidFill>
              </a:rPr>
              <a:t>loop forever </a:t>
            </a:r>
            <a:r>
              <a:rPr lang="en-IN" sz="2400"/>
              <a:t>for the strings which are not a part of the language.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RE languages are also called as </a:t>
            </a:r>
            <a:r>
              <a:rPr b="1" lang="en-IN" sz="2400">
                <a:solidFill>
                  <a:srgbClr val="FF0000"/>
                </a:solidFill>
              </a:rPr>
              <a:t>Turing recognizable languages.</a:t>
            </a:r>
            <a:endParaRPr/>
          </a:p>
        </p:txBody>
      </p:sp>
      <p:sp>
        <p:nvSpPr>
          <p:cNvPr id="121" name="Google Shape;12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22" name="Google Shape;122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23" name="Google Shape;12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395536" y="19294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Recursive Language (REC)</a:t>
            </a:r>
            <a:endParaRPr sz="3200"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457200" y="764704"/>
            <a:ext cx="8229600" cy="5361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recursive language (subset of RE) can be decided by Turing machine which means 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It will enter into final state for the strings of language and rejecting state for the strings which are not part of the language.</a:t>
            </a:r>
            <a:r>
              <a:rPr lang="en-IN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E.g.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L= 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|n&gt;=1} is recursive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can construct a turing machine which will move to final state if the string is of the form 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 else move to non-final state.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So the TM will </a:t>
            </a:r>
            <a:r>
              <a:rPr b="1" lang="en-IN" sz="2400">
                <a:solidFill>
                  <a:srgbClr val="FF0000"/>
                </a:solidFill>
              </a:rPr>
              <a:t>always halt </a:t>
            </a:r>
            <a:r>
              <a:rPr lang="en-IN" sz="2400"/>
              <a:t>in this case.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REC languages are also called as </a:t>
            </a:r>
            <a:r>
              <a:rPr b="1" lang="en-IN" sz="2400">
                <a:solidFill>
                  <a:srgbClr val="FF0000"/>
                </a:solidFill>
              </a:rPr>
              <a:t>Turing decidable languages. 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467544" y="0"/>
            <a:ext cx="8229600" cy="764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Some Confusing Terms</a:t>
            </a:r>
            <a:endParaRPr sz="3200"/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457200" y="836712"/>
            <a:ext cx="8229600" cy="5289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Language Decided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say a TM decide a language </a:t>
            </a:r>
            <a:r>
              <a:rPr i="1" lang="en-IN" sz="2400"/>
              <a:t>L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it accepts all strings in </a:t>
            </a:r>
            <a:r>
              <a:rPr i="1" lang="en-IN" sz="2400"/>
              <a:t>L</a:t>
            </a:r>
            <a:r>
              <a:rPr lang="en-IN" sz="2400"/>
              <a:t> and rejects all strings not in </a:t>
            </a:r>
            <a:r>
              <a:rPr i="1" lang="en-IN" sz="2400"/>
              <a:t>L</a:t>
            </a:r>
            <a:r>
              <a:rPr lang="en-IN" sz="2400"/>
              <a:t>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Language Recognized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say a TM recognizes language L if it accepts all strings in L. It may or may not reject any string not in 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i.e., it might go into an infinite loop in case of non-acceptance. (It will never accept a string not in L)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9" name="Google Shape;1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40" name="Google Shape;1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41" name="Google Shape;14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498417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Nomenclature</a:t>
            </a:r>
            <a:endParaRPr sz="3200"/>
          </a:p>
        </p:txBody>
      </p:sp>
      <p:sp>
        <p:nvSpPr>
          <p:cNvPr id="147" name="Google Shape;147;p7"/>
          <p:cNvSpPr txBox="1"/>
          <p:nvPr>
            <p:ph idx="1" type="body"/>
          </p:nvPr>
        </p:nvSpPr>
        <p:spPr>
          <a:xfrm>
            <a:off x="251520" y="1412776"/>
            <a:ext cx="8352928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Enumerable (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RE) languages =</a:t>
            </a:r>
            <a:r>
              <a:rPr b="1" lang="en-I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Turing recognizable languages.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(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REC) languages = </a:t>
            </a:r>
            <a:r>
              <a:rPr b="1" lang="en-I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Turing decidable languages.</a:t>
            </a:r>
            <a:endParaRPr/>
          </a:p>
        </p:txBody>
      </p:sp>
      <p:sp>
        <p:nvSpPr>
          <p:cNvPr id="148" name="Google Shape;1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49" name="Google Shape;1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Recursive Language (REC)</a:t>
            </a:r>
            <a:endParaRPr sz="3200"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relationship between RE and REC languages can be shown in Figure 1.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760" y="2780928"/>
            <a:ext cx="26098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59" name="Google Shape;15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60" name="Google Shape;16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Closure Properties of Recursive Languages</a:t>
            </a:r>
            <a:endParaRPr sz="3200"/>
          </a:p>
        </p:txBody>
      </p:sp>
      <p:sp>
        <p:nvSpPr>
          <p:cNvPr id="166" name="Google Shape;166;p9"/>
          <p:cNvSpPr txBox="1"/>
          <p:nvPr>
            <p:ph idx="1" type="body"/>
          </p:nvPr>
        </p:nvSpPr>
        <p:spPr>
          <a:xfrm>
            <a:off x="424200" y="162401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Union</a:t>
            </a:r>
            <a:r>
              <a:rPr lang="en-IN" sz="2400"/>
              <a:t>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and If L2 are two recursive languages, their union L1∪L2 will also be recursive because if TM halts for L1 and halts for L2, it will also halt for L1∪L2.</a:t>
            </a:r>
            <a:endParaRPr/>
          </a:p>
        </p:txBody>
      </p:sp>
      <p:sp>
        <p:nvSpPr>
          <p:cNvPr id="167" name="Google Shape;16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68" name="Google Shape;16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69" name="Google Shape;16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467544" y="0"/>
            <a:ext cx="8229600" cy="764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Closure Properties of Recursive Languages</a:t>
            </a:r>
            <a:endParaRPr sz="3200"/>
          </a:p>
        </p:txBody>
      </p:sp>
      <p:sp>
        <p:nvSpPr>
          <p:cNvPr id="175" name="Google Shape;175;p10"/>
          <p:cNvSpPr txBox="1"/>
          <p:nvPr>
            <p:ph idx="1" type="body"/>
          </p:nvPr>
        </p:nvSpPr>
        <p:spPr>
          <a:xfrm>
            <a:off x="467544" y="764704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Concatenation:</a:t>
            </a:r>
            <a:r>
              <a:rPr lang="en-IN" sz="2400"/>
              <a:t>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and If L2 are two recursive languages, their concatenation L1.L2 will also be recursive. 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Example: 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L1= 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|n&gt;=0}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L2= {d</a:t>
            </a:r>
            <a:r>
              <a:rPr baseline="30000" lang="en-IN" sz="2400"/>
              <a:t>m</a:t>
            </a:r>
            <a:r>
              <a:rPr lang="en-IN" sz="2400"/>
              <a:t>e</a:t>
            </a:r>
            <a:r>
              <a:rPr baseline="30000" lang="en-IN" sz="2400"/>
              <a:t>m</a:t>
            </a:r>
            <a:r>
              <a:rPr lang="en-IN" sz="2400"/>
              <a:t>f</a:t>
            </a:r>
            <a:r>
              <a:rPr baseline="30000" lang="en-IN" sz="2400"/>
              <a:t>m</a:t>
            </a:r>
            <a:r>
              <a:rPr lang="en-IN" sz="2400"/>
              <a:t>|m&gt;=0}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L3= L1.L2 = 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d</a:t>
            </a:r>
            <a:r>
              <a:rPr baseline="30000" lang="en-IN" sz="2400"/>
              <a:t>m</a:t>
            </a:r>
            <a:r>
              <a:rPr lang="en-IN" sz="2400"/>
              <a:t> e</a:t>
            </a:r>
            <a:r>
              <a:rPr baseline="30000" lang="en-IN" sz="2400"/>
              <a:t>m</a:t>
            </a:r>
            <a:r>
              <a:rPr lang="en-IN" sz="2400"/>
              <a:t>f</a:t>
            </a:r>
            <a:r>
              <a:rPr baseline="30000" lang="en-IN" sz="2400"/>
              <a:t>m</a:t>
            </a:r>
            <a:r>
              <a:rPr lang="en-IN" sz="2400"/>
              <a:t>|m&gt;=0 and n&gt;=0} is also recursive.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says n no. of a’s followed by n no. of b’s followed by n no. of c’s.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says m no. of d’s followed by m no. of e’s followed by m no. of f’s.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Their concatenation first matches no. of a’s, b’s and c’s and then matches no. of d’s, e’s and f’s. So it can be decided by TM.</a:t>
            </a:r>
            <a:endParaRPr/>
          </a:p>
        </p:txBody>
      </p:sp>
      <p:sp>
        <p:nvSpPr>
          <p:cNvPr id="176" name="Google Shape;17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77" name="Google Shape;17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78" name="Google Shape;17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Closure Properties of Recursive Languages</a:t>
            </a:r>
            <a:endParaRPr sz="3200"/>
          </a:p>
        </p:txBody>
      </p:sp>
      <p:sp>
        <p:nvSpPr>
          <p:cNvPr id="184" name="Google Shape;18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Kleene Closure:</a:t>
            </a:r>
            <a:r>
              <a:rPr lang="en-IN" sz="2400"/>
              <a:t>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is recursive, its Kleene closure L1* will also be recursive. 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For Example: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L1= 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|n&gt;=0}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L1*= { 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||n&gt;=0}* is also recursive.</a:t>
            </a:r>
            <a:endParaRPr sz="2400"/>
          </a:p>
        </p:txBody>
      </p:sp>
      <p:sp>
        <p:nvSpPr>
          <p:cNvPr id="185" name="Google Shape;18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86" name="Google Shape;18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87" name="Google Shape;18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467544" y="0"/>
            <a:ext cx="8229600" cy="634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Closure Properties of Recursive Languages</a:t>
            </a:r>
            <a:endParaRPr sz="3200"/>
          </a:p>
        </p:txBody>
      </p:sp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395536" y="62068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Intersection </a:t>
            </a:r>
            <a:r>
              <a:rPr lang="en-IN" sz="2400"/>
              <a:t>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L1 and If L2 are two recursive languages, their intersection L1 ∩ L2 will also be recursive.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Example: 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L1= 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d</a:t>
            </a:r>
            <a:r>
              <a:rPr baseline="30000" lang="en-IN" sz="2400"/>
              <a:t>m</a:t>
            </a:r>
            <a:r>
              <a:rPr lang="en-IN" sz="2400"/>
              <a:t>|n&gt;=0 and m&gt;=0}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L2= 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d</a:t>
            </a:r>
            <a:r>
              <a:rPr baseline="30000" lang="en-IN" sz="2400"/>
              <a:t>n</a:t>
            </a:r>
            <a:r>
              <a:rPr lang="en-IN" sz="2400"/>
              <a:t>|n&gt;=0 and m&gt;=0}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L3=L1 ∩ L2 = { 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c</a:t>
            </a:r>
            <a:r>
              <a:rPr baseline="30000" lang="en-IN" sz="2400"/>
              <a:t>n</a:t>
            </a:r>
            <a:r>
              <a:rPr lang="en-IN" sz="2400"/>
              <a:t>d</a:t>
            </a:r>
            <a:r>
              <a:rPr baseline="30000" lang="en-IN" sz="2400"/>
              <a:t>n</a:t>
            </a:r>
            <a:r>
              <a:rPr lang="en-IN" sz="2400"/>
              <a:t> |n&gt;=0} will be recursive. 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L1 says n no. of a’s followed by n no. of b’s followed by n no. of c’s and then any no. of d’s.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L2 says any no. of a’s followed by n no. of b’s followed by n no. of c’s followed by n no. of d’s.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Their intersection says n no. of a’s followed by n no. of b’s followed by n no. of c’s followed by n no. of d’s.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So it can be decided by turing machine, hence recursive. </a:t>
            </a:r>
            <a:br>
              <a:rPr lang="en-IN" sz="2400"/>
            </a:br>
            <a:endParaRPr sz="2400"/>
          </a:p>
        </p:txBody>
      </p:sp>
      <p:sp>
        <p:nvSpPr>
          <p:cNvPr id="194" name="Google Shape;19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195" name="Google Shape;19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196" name="Google Shape;19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Closure Properties of Recursive Languages</a:t>
            </a:r>
            <a:endParaRPr sz="3200"/>
          </a:p>
        </p:txBody>
      </p:sp>
      <p:sp>
        <p:nvSpPr>
          <p:cNvPr id="202" name="Google Shape;20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Complement</a:t>
            </a:r>
            <a:r>
              <a:rPr lang="en-IN" sz="2400"/>
              <a:t>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Similarly, complement of recursive language L1 which is ∑*-L1, will also be recursive.</a:t>
            </a:r>
            <a:endParaRPr sz="2400"/>
          </a:p>
        </p:txBody>
      </p:sp>
      <p:sp>
        <p:nvSpPr>
          <p:cNvPr id="203" name="Google Shape;20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04" name="Google Shape;20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Closure Properties of Recursive Enumerable Languages</a:t>
            </a:r>
            <a:endParaRPr sz="3200"/>
          </a:p>
        </p:txBody>
      </p:sp>
      <p:sp>
        <p:nvSpPr>
          <p:cNvPr id="211" name="Google Shape;2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Complement</a:t>
            </a:r>
            <a:r>
              <a:rPr lang="en-IN" sz="2400"/>
              <a:t>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Note: As opposed to REC languages, RE languages are not closed under complementation which means complement of RE language need not be RE</a:t>
            </a:r>
            <a:endParaRPr sz="2400"/>
          </a:p>
        </p:txBody>
      </p:sp>
      <p:sp>
        <p:nvSpPr>
          <p:cNvPr id="212" name="Google Shape;2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13" name="Google Shape;2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14" name="Google Shape;2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Decidability and Undecidability</a:t>
            </a:r>
            <a:endParaRPr sz="3200"/>
          </a:p>
        </p:txBody>
      </p:sp>
      <p:sp>
        <p:nvSpPr>
          <p:cNvPr id="220" name="Google Shape;220;p15"/>
          <p:cNvSpPr txBox="1"/>
          <p:nvPr>
            <p:ph idx="1" type="body"/>
          </p:nvPr>
        </p:nvSpPr>
        <p:spPr>
          <a:xfrm>
            <a:off x="467544" y="90872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Decidable language</a:t>
            </a:r>
            <a:r>
              <a:rPr lang="en-IN" sz="2400"/>
              <a:t> –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decision problem P is said to be decidable (i.e., have an algorithm) if the language L of all yes instances to P is decidable.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Example-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romanUcParenBoth"/>
            </a:pPr>
            <a:r>
              <a:rPr lang="en-IN" sz="2400"/>
              <a:t>(Acceptance problem for DFA) Given a DFA does it accept a given word?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romanUcParenBoth"/>
            </a:pPr>
            <a:r>
              <a:rPr lang="en-IN" sz="2400"/>
              <a:t>(Emptiness problem for DFA) Given a DFA does it accept any word? </a:t>
            </a:r>
            <a:endParaRPr/>
          </a:p>
          <a:p>
            <a:pPr indent="-514350" lvl="0" marL="5143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AutoNum type="romanUcParenBoth"/>
            </a:pPr>
            <a:r>
              <a:rPr lang="en-IN" sz="2400"/>
              <a:t>(Equivalence problem for DFA) Given two DFAs, do they accept the same language?   </a:t>
            </a:r>
            <a:endParaRPr sz="2400"/>
          </a:p>
        </p:txBody>
      </p:sp>
      <p:sp>
        <p:nvSpPr>
          <p:cNvPr id="221" name="Google Shape;22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22" name="Google Shape;22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23" name="Google Shape;22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0" y="5949280"/>
            <a:ext cx="6858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https://www.geeksforgeeks.org/decidability-and-undecidability-in-toc/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Decidability and Undecidability</a:t>
            </a:r>
            <a:endParaRPr sz="3200"/>
          </a:p>
        </p:txBody>
      </p:sp>
      <p:sp>
        <p:nvSpPr>
          <p:cNvPr id="230" name="Google Shape;230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Undecidable language</a:t>
            </a:r>
            <a:r>
              <a:rPr lang="en-IN" sz="2400"/>
              <a:t> –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decision problem P is said to be undecidable if the language L of all yes instances to P is not decidable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			or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language is undecidable if it is not decidable.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An undecidable language maybe a partially decidable language but not decidable.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a language is not even partially decidable , then there exists no Turing machine for that language.   </a:t>
            </a:r>
            <a:endParaRPr sz="2400"/>
          </a:p>
        </p:txBody>
      </p:sp>
      <p:sp>
        <p:nvSpPr>
          <p:cNvPr id="231" name="Google Shape;23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32" name="Google Shape;23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33" name="Google Shape;23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Decidability and Undecidability</a:t>
            </a:r>
            <a:endParaRPr sz="3200"/>
          </a:p>
        </p:txBody>
      </p:sp>
      <p:sp>
        <p:nvSpPr>
          <p:cNvPr id="239" name="Google Shape;23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Partially decidable or Semi-Decidable Language</a:t>
            </a:r>
            <a:r>
              <a:rPr lang="en-IN" sz="2400"/>
              <a:t> –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decision problem P is said to be semi-decidable (i.e., have a semi-algorithm) if the language L of all yes instances to P is RE  but not REC language.    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40" name="Google Shape;24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41" name="Google Shape;24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42" name="Google Shape;24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Halting problem</a:t>
            </a:r>
            <a:endParaRPr sz="3200"/>
          </a:p>
        </p:txBody>
      </p:sp>
      <p:sp>
        <p:nvSpPr>
          <p:cNvPr id="248" name="Google Shape;248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Given a program/algorithm will ever halt or not?</a:t>
            </a:r>
            <a:br>
              <a:rPr lang="en-IN" sz="2400"/>
            </a:br>
            <a:endParaRPr sz="2400"/>
          </a:p>
        </p:txBody>
      </p:sp>
      <p:sp>
        <p:nvSpPr>
          <p:cNvPr id="249" name="Google Shape;24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50" name="Google Shape;25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51" name="Google Shape;25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Halting problem</a:t>
            </a:r>
            <a:endParaRPr sz="3200"/>
          </a:p>
        </p:txBody>
      </p:sp>
      <p:sp>
        <p:nvSpPr>
          <p:cNvPr id="257" name="Google Shape;25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Given a program/algorithm will ever halt or not?</a:t>
            </a:r>
            <a:br>
              <a:rPr lang="en-IN" sz="2400"/>
            </a:b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Halting means that the program on certain input will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accept it and halt or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reject it and halt and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it would never go into an infinite loop.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Basically halting means terminating. </a:t>
            </a:r>
            <a:endParaRPr/>
          </a:p>
        </p:txBody>
      </p:sp>
      <p:sp>
        <p:nvSpPr>
          <p:cNvPr id="258" name="Google Shape;2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59" name="Google Shape;2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60" name="Google Shape;2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Halting problem</a:t>
            </a:r>
            <a:endParaRPr sz="3200"/>
          </a:p>
        </p:txBody>
      </p:sp>
      <p:sp>
        <p:nvSpPr>
          <p:cNvPr id="266" name="Google Shape;26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Can we have an algorithm that will tell that the given program will halt or not?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 terms of Turing machine, will it terminate when run on some machine with some particular given input string.</a:t>
            </a:r>
            <a:endParaRPr/>
          </a:p>
        </p:txBody>
      </p:sp>
      <p:sp>
        <p:nvSpPr>
          <p:cNvPr id="267" name="Google Shape;26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68" name="Google Shape;26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Halting problem</a:t>
            </a:r>
            <a:endParaRPr sz="3200"/>
          </a:p>
        </p:txBody>
      </p:sp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answer is no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cannot design a generalized algorithm which can appropriately say that given a program will ever halt or not?</a:t>
            </a:r>
            <a:br>
              <a:rPr lang="en-IN" sz="2400"/>
            </a:b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only way is to run the program and check whether it halts or not.</a:t>
            </a:r>
            <a:br>
              <a:rPr lang="en-IN" sz="2400"/>
            </a:br>
            <a:endParaRPr sz="2400"/>
          </a:p>
        </p:txBody>
      </p:sp>
      <p:sp>
        <p:nvSpPr>
          <p:cNvPr id="276" name="Google Shape;27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77" name="Google Shape;27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78" name="Google Shape;27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Halting problem</a:t>
            </a:r>
            <a:endParaRPr sz="3200"/>
          </a:p>
        </p:txBody>
      </p:sp>
      <p:sp>
        <p:nvSpPr>
          <p:cNvPr id="284" name="Google Shape;284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can refrain the halting problem question in such a way also: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Given a program written in some programming language(c/c++/java) will it ever get into an infinite loop(loop never stops) or will it always terminate(halt)?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This is an undecidable problem because we cannot have an algorithm which will tell us whether a given program will halt or not in a generalized way i.e by having specific program/algorithm.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 The best possible way is to run the program and see whether it halts or not. </a:t>
            </a:r>
            <a:endParaRPr/>
          </a:p>
        </p:txBody>
      </p:sp>
      <p:sp>
        <p:nvSpPr>
          <p:cNvPr id="285" name="Google Shape;28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86" name="Google Shape;28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87" name="Google Shape;28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/>
          <p:nvPr>
            <p:ph type="title"/>
          </p:nvPr>
        </p:nvSpPr>
        <p:spPr>
          <a:xfrm>
            <a:off x="498417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Nomenclature revisited</a:t>
            </a:r>
            <a:endParaRPr sz="3200"/>
          </a:p>
        </p:txBody>
      </p:sp>
      <p:sp>
        <p:nvSpPr>
          <p:cNvPr id="293" name="Google Shape;293;p23"/>
          <p:cNvSpPr txBox="1"/>
          <p:nvPr>
            <p:ph idx="1" type="body"/>
          </p:nvPr>
        </p:nvSpPr>
        <p:spPr>
          <a:xfrm>
            <a:off x="251520" y="1412776"/>
            <a:ext cx="8352928" cy="45259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Enumerable (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RE) languages =</a:t>
            </a:r>
            <a:r>
              <a:rPr b="1" lang="en-I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Turing recognizable languages.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(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REC) languages = </a:t>
            </a:r>
            <a:r>
              <a:rPr b="1" lang="en-IN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Turing decidable languages.</a:t>
            </a:r>
            <a:endParaRPr/>
          </a:p>
        </p:txBody>
      </p:sp>
      <p:sp>
        <p:nvSpPr>
          <p:cNvPr id="294" name="Google Shape;29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295" name="Google Shape;29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296" name="Google Shape;29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Rice Theorem</a:t>
            </a:r>
            <a:endParaRPr sz="3200"/>
          </a:p>
        </p:txBody>
      </p:sp>
      <p:sp>
        <p:nvSpPr>
          <p:cNvPr id="302" name="Google Shape;302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Part 1 (For some undecidable languages)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Any non-trivial property of the LANGUAGE recognizable by a Turing machine (recursively enumerable language) is undecidable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Part 2 (For some unrecognizable language)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Any non-monotonic property of the LANGUAGE recognizable by a Turing machine (recursively enumerable language) is unrecognizable</a:t>
            </a:r>
            <a:endParaRPr/>
          </a:p>
        </p:txBody>
      </p:sp>
      <p:sp>
        <p:nvSpPr>
          <p:cNvPr id="303" name="Google Shape;30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04" name="Google Shape;30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05" name="Google Shape;30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6" name="Google Shape;306;p24"/>
          <p:cNvSpPr/>
          <p:nvPr/>
        </p:nvSpPr>
        <p:spPr>
          <a:xfrm>
            <a:off x="25152" y="6021288"/>
            <a:ext cx="3340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https://gatecse.in/rices-theorem/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Rice Theorem</a:t>
            </a:r>
            <a:endParaRPr sz="3200"/>
          </a:p>
        </p:txBody>
      </p:sp>
      <p:sp>
        <p:nvSpPr>
          <p:cNvPr id="312" name="Google Shape;312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property is called to be </a:t>
            </a:r>
            <a:r>
              <a:rPr b="1" lang="en-IN" sz="2400">
                <a:solidFill>
                  <a:srgbClr val="FF0000"/>
                </a:solidFill>
              </a:rPr>
              <a:t>trivial</a:t>
            </a:r>
            <a:r>
              <a:rPr lang="en-IN" sz="2400"/>
              <a:t> if either it is not satisfied by any recursively enumerable languages, or if it is satisfied by all recursively enumerable languages.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</a:t>
            </a:r>
            <a:r>
              <a:rPr b="1" lang="en-IN" sz="2400">
                <a:solidFill>
                  <a:srgbClr val="FF0000"/>
                </a:solidFill>
              </a:rPr>
              <a:t>non-trivial</a:t>
            </a:r>
            <a:r>
              <a:rPr lang="en-IN" sz="2400"/>
              <a:t> property is satisfied by some recursively enumerable languages and are not satisfied by others.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13" name="Google Shape;31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14" name="Google Shape;31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15" name="Google Shape;31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25152" y="6021288"/>
            <a:ext cx="6709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https://www.tutorialspoint.com/automata_theory/rice_theorem.htm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Rice Theorem</a:t>
            </a:r>
            <a:endParaRPr sz="3200"/>
          </a:p>
        </p:txBody>
      </p:sp>
      <p:sp>
        <p:nvSpPr>
          <p:cNvPr id="322" name="Google Shape;322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 a property of recursively enumerable set to be </a:t>
            </a:r>
            <a:r>
              <a:rPr b="1" lang="en-IN" sz="2400">
                <a:solidFill>
                  <a:srgbClr val="FF0000"/>
                </a:solidFill>
              </a:rPr>
              <a:t>non-trivial</a:t>
            </a:r>
            <a:r>
              <a:rPr lang="en-IN" sz="2400"/>
              <a:t>, there should exist at least two recursively enumerable languages, (hence two Turing machines),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property holding for one (</a:t>
            </a:r>
            <a:r>
              <a:rPr i="1" lang="en-IN" sz="2400"/>
              <a:t>Tyes</a:t>
            </a:r>
            <a:r>
              <a:rPr lang="en-IN" sz="2400"/>
              <a:t> being its TM) and not holding for the other (</a:t>
            </a:r>
            <a:r>
              <a:rPr i="1" lang="en-IN" sz="2400"/>
              <a:t>Tno</a:t>
            </a:r>
            <a:r>
              <a:rPr lang="en-IN" sz="2400"/>
              <a:t> being its TM).</a:t>
            </a:r>
            <a:endParaRPr sz="2400"/>
          </a:p>
        </p:txBody>
      </p:sp>
      <p:sp>
        <p:nvSpPr>
          <p:cNvPr id="323" name="Google Shape;32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24" name="Google Shape;32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25" name="Google Shape;32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25152" y="6021288"/>
            <a:ext cx="3340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https://gatecse.in/rices-theorem/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The Rice Theorem</a:t>
            </a:r>
            <a:endParaRPr sz="3200"/>
          </a:p>
        </p:txBody>
      </p:sp>
      <p:sp>
        <p:nvSpPr>
          <p:cNvPr id="332" name="Google Shape;332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 a property of recursively enumerable set to be </a:t>
            </a:r>
            <a:r>
              <a:rPr b="1" lang="en-IN" sz="2400">
                <a:solidFill>
                  <a:srgbClr val="FF0000"/>
                </a:solidFill>
              </a:rPr>
              <a:t>non-monotonic,</a:t>
            </a:r>
            <a:r>
              <a:rPr lang="en-IN" sz="2400"/>
              <a:t> there should exist at least two recursively enumerable languages (hence two Turing machines),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property holding for one (Tyes being its TM) and not holding for the other (Tno being its TM) and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property holding set (language of Tyes) must be a proper subset of the set not having the property (language of Tno).</a:t>
            </a:r>
            <a:endParaRPr sz="2400"/>
          </a:p>
        </p:txBody>
      </p:sp>
      <p:sp>
        <p:nvSpPr>
          <p:cNvPr id="333" name="Google Shape;333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34" name="Google Shape;334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35" name="Google Shape;335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36" name="Google Shape;336;p27"/>
          <p:cNvSpPr/>
          <p:nvPr/>
        </p:nvSpPr>
        <p:spPr>
          <a:xfrm>
            <a:off x="25152" y="6021288"/>
            <a:ext cx="6709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https://www.tutorialspoint.com/automata_theory/rice_theorem.htm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Post Correspondence Problem</a:t>
            </a:r>
            <a:endParaRPr/>
          </a:p>
        </p:txBody>
      </p:sp>
      <p:sp>
        <p:nvSpPr>
          <p:cNvPr id="342" name="Google Shape;342;p28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popular undecidable problem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Introduced by Emil Leon Post in 1946.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It is simpler than Halting Problem.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43" name="Google Shape;34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44" name="Google Shape;34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45" name="Google Shape;34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25152" y="6021288"/>
            <a:ext cx="61866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https://www.geeksforgeeks.org/post-correspondence-problem/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Post Correspondence Problem</a:t>
            </a:r>
            <a:endParaRPr/>
          </a:p>
        </p:txBody>
      </p:sp>
      <p:sp>
        <p:nvSpPr>
          <p:cNvPr id="352" name="Google Shape;352;p29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 this problem we have N number of </a:t>
            </a:r>
            <a:r>
              <a:rPr b="1" lang="en-IN" sz="2400"/>
              <a:t>Dominos</a:t>
            </a:r>
            <a:r>
              <a:rPr lang="en-IN" sz="2400"/>
              <a:t> (tiles).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aim is to arrange tiles in such order that string made by Numerators is same as string made by Denominators.</a:t>
            </a:r>
            <a:br>
              <a:rPr lang="en-IN" sz="2400"/>
            </a:b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 simple words, lets assume we have two lists both containing N words, aim is to find out concatenation of these words in some sequence such that both lists yield same result.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53" name="Google Shape;353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54" name="Google Shape;354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55" name="Google Shape;355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https://media.geeksforgeeks.org/wp-content/uploads/20200525173708/dominos.jpg" id="356" name="Google Shape;3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720" y="4149080"/>
            <a:ext cx="4923953" cy="2328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Post Correspondence Problem</a:t>
            </a:r>
            <a:endParaRPr/>
          </a:p>
        </p:txBody>
      </p:sp>
      <p:sp>
        <p:nvSpPr>
          <p:cNvPr id="362" name="Google Shape;362;p30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Post Correspondence Problems can be represented in two ways: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1. Domino’s Form :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2. Table Form :</a:t>
            </a:r>
            <a:endParaRPr sz="2400"/>
          </a:p>
        </p:txBody>
      </p:sp>
      <p:sp>
        <p:nvSpPr>
          <p:cNvPr id="363" name="Google Shape;363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64" name="Google Shape;364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65" name="Google Shape;365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https://media.geeksforgeeks.org/wp-content/uploads/20200525173708/dominos.jpg" id="366" name="Google Shape;3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848" y="1772816"/>
            <a:ext cx="4923953" cy="23287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edia.geeksforgeeks.org/wp-content/uploads/20200525173712/tf.jpg" id="367" name="Google Shape;36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1880" y="4050044"/>
            <a:ext cx="3683434" cy="2287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Post Correspondence Problem-1</a:t>
            </a:r>
            <a:endParaRPr/>
          </a:p>
        </p:txBody>
      </p:sp>
      <p:sp>
        <p:nvSpPr>
          <p:cNvPr id="373" name="Google Shape;373;p31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Let’s try understanding this by taking two </a:t>
            </a:r>
            <a:r>
              <a:rPr b="1" lang="en-IN" sz="2400"/>
              <a:t>lists</a:t>
            </a:r>
            <a:r>
              <a:rPr lang="en-IN" sz="2400"/>
              <a:t> </a:t>
            </a:r>
            <a:r>
              <a:rPr b="1" lang="en-IN" sz="2400"/>
              <a:t>A</a:t>
            </a:r>
            <a:r>
              <a:rPr lang="en-IN" sz="2400"/>
              <a:t> and </a:t>
            </a:r>
            <a:r>
              <a:rPr b="1" lang="en-IN" sz="2400"/>
              <a:t>B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A=[aa, bb, abb]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B=[aab, ba, b]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Now for sequence 1, 2, 1, 3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First list will yield aabbaaabb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Second list will yield same string aabbaaabb.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So the solution to this PCP becomes 1, 2, 1, 3.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74" name="Google Shape;37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75" name="Google Shape;37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76" name="Google Shape;37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7" name="Google Shape;377;p31"/>
          <p:cNvSpPr/>
          <p:nvPr/>
        </p:nvSpPr>
        <p:spPr>
          <a:xfrm>
            <a:off x="25152" y="6021288"/>
            <a:ext cx="61866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https://www.geeksforgeeks.org/post-correspondence-problem/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Post Correspondence Problem-2</a:t>
            </a:r>
            <a:endParaRPr/>
          </a:p>
        </p:txBody>
      </p:sp>
      <p:sp>
        <p:nvSpPr>
          <p:cNvPr id="383" name="Google Shape;383;p32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Solve the Post Correspondance Problem for the Dominos given below;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84" name="Google Shape;38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85" name="Google Shape;38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86" name="Google Shape;38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25152" y="6021288"/>
            <a:ext cx="61866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https://www.geeksforgeeks.org/post-correspondence-problem/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2276872"/>
            <a:ext cx="38163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3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Post Correspondence Problem-2</a:t>
            </a:r>
            <a:endParaRPr/>
          </a:p>
        </p:txBody>
      </p:sp>
      <p:sp>
        <p:nvSpPr>
          <p:cNvPr id="394" name="Google Shape;394;p33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Solve the Post Correspondance Problem for the Dominos given below;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95" name="Google Shape;39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396" name="Google Shape;39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397" name="Google Shape;39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8" name="Google Shape;398;p33"/>
          <p:cNvSpPr/>
          <p:nvPr/>
        </p:nvSpPr>
        <p:spPr>
          <a:xfrm>
            <a:off x="25152" y="6021288"/>
            <a:ext cx="61866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https://www.geeksforgeeks.org/post-correspondence-problem/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650" y="2276872"/>
            <a:ext cx="38163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994" y="4797152"/>
            <a:ext cx="6614317" cy="1682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Formal Definition of Context Sensitive Grammar</a:t>
            </a:r>
            <a:endParaRPr/>
          </a:p>
        </p:txBody>
      </p:sp>
      <p:sp>
        <p:nvSpPr>
          <p:cNvPr id="406" name="Google Shape;406;p34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context sensitive grammar G = ( V, Σ, P, S), where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V is a set of non-terminal symbols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Σ is a set of terminal symbols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 is the start symbol, and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P is a set of production rules, of the form α</a:t>
            </a:r>
            <a:r>
              <a:rPr b="1" i="1" lang="en-IN" sz="2400"/>
              <a:t>A</a:t>
            </a:r>
            <a:r>
              <a:rPr lang="en-IN" sz="2400"/>
              <a:t>β → α</a:t>
            </a:r>
            <a:r>
              <a:rPr b="1" lang="en-IN" sz="2400"/>
              <a:t>γ</a:t>
            </a:r>
            <a:r>
              <a:rPr lang="en-IN" sz="2400"/>
              <a:t>β , where A in V, α, β ∈ (V ∪ Σ) and γ ∈ (V ∪ Σ)</a:t>
            </a:r>
            <a:r>
              <a:rPr baseline="30000" lang="en-IN" sz="2400"/>
              <a:t>+</a:t>
            </a:r>
            <a:endParaRPr sz="2400"/>
          </a:p>
        </p:txBody>
      </p:sp>
      <p:sp>
        <p:nvSpPr>
          <p:cNvPr id="407" name="Google Shape;40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08" name="Google Shape;40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09" name="Google Shape;40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Formal Definition of Context Sensitive Grammar</a:t>
            </a:r>
            <a:endParaRPr/>
          </a:p>
        </p:txBody>
      </p:sp>
      <p:sp>
        <p:nvSpPr>
          <p:cNvPr id="415" name="Google Shape;415;p35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P is a set of production rules, of the form α</a:t>
            </a:r>
            <a:r>
              <a:rPr b="1" i="1" lang="en-IN" sz="2400"/>
              <a:t>A</a:t>
            </a:r>
            <a:r>
              <a:rPr lang="en-IN" sz="2400"/>
              <a:t>β → α</a:t>
            </a:r>
            <a:r>
              <a:rPr b="1" lang="en-IN" sz="2400"/>
              <a:t>γ</a:t>
            </a:r>
            <a:r>
              <a:rPr lang="en-IN" sz="2400"/>
              <a:t>β , where A in V, α, β ∈ (V ∪ Σ) and γ ∈ (V ∪ Σ)</a:t>
            </a:r>
            <a:r>
              <a:rPr baseline="30000" lang="en-IN" sz="2400"/>
              <a:t>+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With γ nonempty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To derive the empty string,  </a:t>
            </a:r>
            <a:r>
              <a:rPr i="1" lang="en-IN" sz="2400"/>
              <a:t>S</a:t>
            </a:r>
            <a:r>
              <a:rPr lang="en-IN" sz="2400"/>
              <a:t> → Λ must also be included in the productions, with </a:t>
            </a:r>
            <a:r>
              <a:rPr i="1" lang="en-IN" sz="2400"/>
              <a:t>S</a:t>
            </a:r>
            <a:r>
              <a:rPr lang="en-IN" sz="2400"/>
              <a:t> not occurring on the right-hand side of any production.</a:t>
            </a:r>
            <a:endParaRPr/>
          </a:p>
        </p:txBody>
      </p:sp>
      <p:sp>
        <p:nvSpPr>
          <p:cNvPr id="416" name="Google Shape;41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17" name="Google Shape;41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18" name="Google Shape;41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Formal Definition of Context Sensitive Grammar</a:t>
            </a:r>
            <a:endParaRPr/>
          </a:p>
        </p:txBody>
      </p:sp>
      <p:sp>
        <p:nvSpPr>
          <p:cNvPr id="424" name="Google Shape;424;p36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During derivation non-terminal </a:t>
            </a:r>
            <a:r>
              <a:rPr b="1" i="1" lang="en-IN" sz="2400"/>
              <a:t>A</a:t>
            </a:r>
            <a:r>
              <a:rPr i="1" lang="en-IN" sz="2400"/>
              <a:t> </a:t>
            </a:r>
            <a:r>
              <a:rPr lang="en-IN" sz="2400"/>
              <a:t>will be changed to </a:t>
            </a:r>
            <a:r>
              <a:rPr b="1" lang="en-IN" sz="2400"/>
              <a:t>γ</a:t>
            </a:r>
            <a:r>
              <a:rPr lang="en-IN" sz="2400"/>
              <a:t> only when it is present in the context of </a:t>
            </a:r>
            <a:r>
              <a:rPr b="1" lang="en-IN" sz="2400"/>
              <a:t>α</a:t>
            </a:r>
            <a:r>
              <a:rPr lang="en-IN" sz="2400"/>
              <a:t>  and </a:t>
            </a:r>
            <a:r>
              <a:rPr b="1" lang="en-IN" sz="2400"/>
              <a:t>β.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α</a:t>
            </a:r>
            <a:r>
              <a:rPr b="1" i="1" lang="en-IN" sz="2400"/>
              <a:t>A</a:t>
            </a:r>
            <a:r>
              <a:rPr lang="en-IN" sz="2400"/>
              <a:t>β → α</a:t>
            </a:r>
            <a:r>
              <a:rPr b="1" lang="en-IN" sz="2400"/>
              <a:t>γ</a:t>
            </a:r>
            <a:r>
              <a:rPr lang="en-IN" sz="2400"/>
              <a:t>β</a:t>
            </a:r>
            <a:endParaRPr sz="2400"/>
          </a:p>
        </p:txBody>
      </p:sp>
      <p:sp>
        <p:nvSpPr>
          <p:cNvPr id="425" name="Google Shape;42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26" name="Google Shape;42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27" name="Google Shape;42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Linear Bound Automata</a:t>
            </a:r>
            <a:endParaRPr/>
          </a:p>
        </p:txBody>
      </p:sp>
      <p:sp>
        <p:nvSpPr>
          <p:cNvPr id="433" name="Google Shape;433;p37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Linear Bounded Automata (LBA) is a single tape Turing Machine with two special tape symbols call them left marker </a:t>
            </a:r>
            <a:r>
              <a:rPr b="1" lang="en-IN" sz="2400"/>
              <a:t>&lt;</a:t>
            </a:r>
            <a:r>
              <a:rPr lang="en-IN" sz="2400"/>
              <a:t> and the right marker </a:t>
            </a:r>
            <a:r>
              <a:rPr b="1" lang="en-IN" sz="2400"/>
              <a:t>&gt;.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34" name="Google Shape;43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35" name="Google Shape;43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36" name="Google Shape;43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https://media.geeksforgeeks.org/wp-content/uploads/20210216205150/lba1.PNG" id="437" name="Google Shape;43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2420888"/>
            <a:ext cx="5667375" cy="340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Linear Bound Automata</a:t>
            </a:r>
            <a:endParaRPr/>
          </a:p>
        </p:txBody>
      </p:sp>
      <p:sp>
        <p:nvSpPr>
          <p:cNvPr id="443" name="Google Shape;443;p38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transitions neither move to the left of the left end marker nor to the right of the right end marker of the tape.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transitions should satisfy these conditions: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It should not replace the marker symbols by any other symbol.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It should not write on cells beyond the marker symbols.</a:t>
            </a:r>
            <a:endParaRPr sz="2400"/>
          </a:p>
        </p:txBody>
      </p:sp>
      <p:sp>
        <p:nvSpPr>
          <p:cNvPr id="444" name="Google Shape;44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45" name="Google Shape;44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46" name="Google Shape;44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47" name="Google Shape;44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672" y="2276872"/>
            <a:ext cx="5457825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Formal Definition of Linear Bound Automata</a:t>
            </a:r>
            <a:endParaRPr/>
          </a:p>
        </p:txBody>
      </p:sp>
      <p:sp>
        <p:nvSpPr>
          <p:cNvPr id="453" name="Google Shape;453;p39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Formally Linear Bounded Automata is a non-deterministic Turing Machine , M = ( Q, Σ, Γ, δ, q0, ML, MR, F)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Q is set of all states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Σ is set of all terminals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Γ is set of all tape symbols, Σ ⊂ Γ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δ is set of transitions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q0 is the initial state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ML is left marker = Left bound of tape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MR is right marker =Right bound of tape where MR  !=ML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 is finite set of final states </a:t>
            </a:r>
            <a:endParaRPr sz="2400"/>
          </a:p>
        </p:txBody>
      </p:sp>
      <p:sp>
        <p:nvSpPr>
          <p:cNvPr id="454" name="Google Shape;45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55" name="Google Shape;45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56" name="Google Shape;45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Formal Definition of Linear Bound Automata</a:t>
            </a:r>
            <a:endParaRPr/>
          </a:p>
        </p:txBody>
      </p:sp>
      <p:sp>
        <p:nvSpPr>
          <p:cNvPr id="462" name="Google Shape;462;p40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δ</a:t>
            </a:r>
            <a:r>
              <a:rPr lang="en-IN" sz="2400"/>
              <a:t> is a transition function which maps each pair (state, tape symbol) to (state, tape symbol, {L,R,N}) </a:t>
            </a:r>
            <a:endParaRPr/>
          </a:p>
        </p:txBody>
      </p:sp>
      <p:sp>
        <p:nvSpPr>
          <p:cNvPr id="463" name="Google Shape;463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64" name="Google Shape;464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65" name="Google Shape;465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0" y="6021288"/>
            <a:ext cx="8136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https://www.tutorialspoint.com/automata_theory/linear_bounded_automata.htm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Greibach's theorem</a:t>
            </a:r>
            <a:endParaRPr/>
          </a:p>
        </p:txBody>
      </p:sp>
      <p:sp>
        <p:nvSpPr>
          <p:cNvPr id="472" name="Google Shape;472;p41"/>
          <p:cNvSpPr txBox="1"/>
          <p:nvPr>
            <p:ph idx="1" type="body"/>
          </p:nvPr>
        </p:nvSpPr>
        <p:spPr>
          <a:xfrm>
            <a:off x="467544" y="119675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In theoretical computer science, in particular in formal language theory, Greibach's theorem states that certain properties of formal language classes are undecidable.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It is named after the computer scientist Sheila Greibach, who first proved it in 1963.</a:t>
            </a:r>
            <a:endParaRPr sz="2400"/>
          </a:p>
        </p:txBody>
      </p:sp>
      <p:sp>
        <p:nvSpPr>
          <p:cNvPr id="473" name="Google Shape;473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74" name="Google Shape;474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75" name="Google Shape;47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76" name="Google Shape;476;p41"/>
          <p:cNvSpPr/>
          <p:nvPr/>
        </p:nvSpPr>
        <p:spPr>
          <a:xfrm>
            <a:off x="0" y="6021288"/>
            <a:ext cx="8136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https://www.tutorialspoint.com/automata_theory/linear_bounded_automata.htm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3"/>
          <p:cNvSpPr txBox="1"/>
          <p:nvPr>
            <p:ph type="title"/>
          </p:nvPr>
        </p:nvSpPr>
        <p:spPr>
          <a:xfrm>
            <a:off x="467544" y="0"/>
            <a:ext cx="82296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Greibach's theorem</a:t>
            </a:r>
            <a:endParaRPr/>
          </a:p>
        </p:txBody>
      </p:sp>
      <p:sp>
        <p:nvSpPr>
          <p:cNvPr id="482" name="Google Shape;482;p43"/>
          <p:cNvSpPr txBox="1"/>
          <p:nvPr>
            <p:ph idx="1" type="body"/>
          </p:nvPr>
        </p:nvSpPr>
        <p:spPr>
          <a:xfrm>
            <a:off x="395536" y="620688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Formal statement of the theorem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Considers a set C of formal languages over an alphabet Σ∪{#} such that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each language in C has a finite description,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 each regular language over Σ∪{#} is in C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 given descriptions of languages L1, L2 ∈ C and of a regular language R ∈ C, a description of the products L1R and RL1, and of the union L1∪L2 can be effectively computed, and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IN" sz="2400"/>
              <a:t> it is undecidable for any member language L ∈ C with L ⊆ Σ* whether L = Σ*.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483" name="Google Shape;483;p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84" name="Google Shape;484;p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85" name="Google Shape;485;p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86" name="Google Shape;486;p43"/>
          <p:cNvSpPr/>
          <p:nvPr/>
        </p:nvSpPr>
        <p:spPr>
          <a:xfrm>
            <a:off x="0" y="6021288"/>
            <a:ext cx="813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https://www.tutorialspoint.com/automata_theory/linear_bounded_automata.htm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4"/>
          <p:cNvSpPr txBox="1"/>
          <p:nvPr>
            <p:ph type="title"/>
          </p:nvPr>
        </p:nvSpPr>
        <p:spPr>
          <a:xfrm>
            <a:off x="467544" y="0"/>
            <a:ext cx="8229600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sz="3200"/>
              <a:t>Greibach's theorem</a:t>
            </a:r>
            <a:endParaRPr/>
          </a:p>
        </p:txBody>
      </p:sp>
      <p:sp>
        <p:nvSpPr>
          <p:cNvPr id="492" name="Google Shape;492;p44"/>
          <p:cNvSpPr txBox="1"/>
          <p:nvPr>
            <p:ph idx="1" type="body"/>
          </p:nvPr>
        </p:nvSpPr>
        <p:spPr>
          <a:xfrm>
            <a:off x="395536" y="62068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Formal statement of the theorem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Let P be any nontrivial subset of C that contains all regular sets over Σ∪{#} and is closed under quotient by each single symbol in Σ∪{#}.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Then the question whether L ∈ P for a given description of a language L ∈ C is undecidable. </a:t>
            </a:r>
            <a:endParaRPr sz="2400"/>
          </a:p>
        </p:txBody>
      </p:sp>
      <p:sp>
        <p:nvSpPr>
          <p:cNvPr id="493" name="Google Shape;493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22-04-2024</a:t>
            </a:r>
            <a:endParaRPr/>
          </a:p>
        </p:txBody>
      </p:sp>
      <p:sp>
        <p:nvSpPr>
          <p:cNvPr id="494" name="Google Shape;494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Prof.Shweta Dhawan Chachra</a:t>
            </a:r>
            <a:endParaRPr/>
          </a:p>
        </p:txBody>
      </p:sp>
      <p:sp>
        <p:nvSpPr>
          <p:cNvPr id="495" name="Google Shape;495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96" name="Google Shape;496;p44"/>
          <p:cNvSpPr/>
          <p:nvPr/>
        </p:nvSpPr>
        <p:spPr>
          <a:xfrm>
            <a:off x="0" y="6021288"/>
            <a:ext cx="81369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https://www.tutorialspoint.com/automata_theory/linear_bounded_automata.htm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2022-05-05T19:06:05Z</dcterms:created>
  <dc:creator>Admin</dc:creator>
</cp:coreProperties>
</file>