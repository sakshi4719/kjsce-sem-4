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S5Sf1O6Mbx8RJEazD1H3lUI7UW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Sakshi Rau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5-05T16:23:22.250">
    <p:pos x="288" y="844"/>
    <p:text>the length of the pumped string is less than or equal to n square plus 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MxCy1CQ"/>
      </p:ext>
    </p:extLst>
  </p:cm>
  <p:cm authorId="0" idx="2" dt="2024-05-05T16:25:26.227">
    <p:pos x="288" y="944"/>
    <p:text>n square and n+1 square are consecutive squares
n square plus n lies between them so it cant be a perfect square
so the pumped string is not a perfect square length ie it doesnt satisfy the pumping lemma because the pumped string is not a part of the regular language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MxCy1C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</a:t>
            </a:r>
            <a:r>
              <a:rPr lang="en-IN"/>
              <a:t>he length of the pumped string is less than or equal to</a:t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useful in Proving certain sets are not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eg-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regular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cannot generate with FSM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Finite State Automaton has a finite amount of memory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want to accept a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it should remember ‘n’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FSA cannot remember infinite number of values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Lemma:Why ?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584804" y="1476811"/>
            <a:ext cx="780362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z= string that belongs to L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z=uvw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pump the middle portion “v”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also have “u” empty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The pump can be in the beginning also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are putting more and more weight to the middle portion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are pumping the middle portion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Thus called Pumping Lemma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Lemma:Why ?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z=uvw such that uv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 ∈ L for i&gt;0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i=1, z=uvw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i=2, z=uvvw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i=3, z=uvvvw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I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 is not empty  |v|&gt;=1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|uv|&lt;=n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What?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46856" y="1639341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Show L is not Regular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Definition gives 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Definition gives 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choose z depending on question such that z=uvw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show that uv</a:t>
            </a:r>
            <a:r>
              <a:rPr baseline="30000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∈ L</a:t>
            </a:r>
            <a:endParaRPr sz="28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not regular</a:t>
            </a:r>
            <a:endParaRPr/>
          </a:p>
        </p:txBody>
      </p:sp>
      <p:cxnSp>
        <p:nvCxnSpPr>
          <p:cNvPr id="118" name="Google Shape;118;p5"/>
          <p:cNvCxnSpPr/>
          <p:nvPr/>
        </p:nvCxnSpPr>
        <p:spPr>
          <a:xfrm flipH="1">
            <a:off x="3707904" y="4365104"/>
            <a:ext cx="216024" cy="21602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Pumping Lemma:How?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1-Assume language L is regular, Let n be the number of states in the corresponding FA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2- Choose a string z in language L such that |z|&gt;n, Use pumping lemma to write the string z=uvw with |uv|&lt;=n, |v|&gt;=1 such that uv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 ∈ L  for i&gt;0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3-Find a suitable integer “i” such that uv</a:t>
            </a:r>
            <a:r>
              <a:rPr baseline="30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∈ L. This contradicts our assumption. Hence L is not regular</a:t>
            </a:r>
            <a:endParaRPr baseline="30000" sz="2400"/>
          </a:p>
        </p:txBody>
      </p:sp>
      <p:cxnSp>
        <p:nvCxnSpPr>
          <p:cNvPr id="126" name="Google Shape;126;p6"/>
          <p:cNvCxnSpPr/>
          <p:nvPr/>
        </p:nvCxnSpPr>
        <p:spPr>
          <a:xfrm flipH="1">
            <a:off x="6516216" y="3717032"/>
            <a:ext cx="216024" cy="21602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Pumping Lemma :Example 1</a:t>
            </a:r>
            <a:endParaRPr sz="3200"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1-Suppose L is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Let n be the number of states in FA accepting 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2-Choose a string z ∈ L such that |z|&gt;n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 can be written in the form z=uvw with |uv|&lt;=n and |v|&gt;=1 such that uv</a:t>
            </a:r>
            <a:r>
              <a:rPr baseline="30000" lang="en-IN" sz="2400"/>
              <a:t>i</a:t>
            </a:r>
            <a:r>
              <a:rPr lang="en-IN" sz="2400"/>
              <a:t>w  ∈ L for i&gt;0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  =aaaaa………aaaaaaaa for n</a:t>
            </a:r>
            <a:r>
              <a:rPr baseline="30000" lang="en-IN" sz="2400"/>
              <a:t>2</a:t>
            </a:r>
            <a:r>
              <a:rPr lang="en-IN" sz="2400"/>
              <a:t> no of times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String of a’s aaaaaaaaaaaaa…….aaaaaaaaa</a:t>
            </a:r>
            <a:endParaRPr sz="2400"/>
          </a:p>
        </p:txBody>
      </p:sp>
      <p:sp>
        <p:nvSpPr>
          <p:cNvPr id="133" name="Google Shape;133;p7"/>
          <p:cNvSpPr/>
          <p:nvPr/>
        </p:nvSpPr>
        <p:spPr>
          <a:xfrm>
            <a:off x="946598" y="1547500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738686" y="4509120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Pumping Lemma:Example 1</a:t>
            </a:r>
            <a:endParaRPr sz="3200"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457200" y="1340768"/>
            <a:ext cx="8229600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3- So length of v alone is 1&lt;=|v|&lt;=n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i=2,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|uv</a:t>
            </a:r>
            <a:r>
              <a:rPr baseline="30000" lang="en-IN" sz="2400"/>
              <a:t>2</a:t>
            </a:r>
            <a:r>
              <a:rPr lang="en-IN" sz="2400"/>
              <a:t>w|=|uvw|+|v|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=n</a:t>
            </a:r>
            <a:r>
              <a:rPr baseline="30000" lang="en-IN" sz="2400"/>
              <a:t>2</a:t>
            </a:r>
            <a:r>
              <a:rPr lang="en-IN" sz="2400"/>
              <a:t>+|v|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&lt;= n</a:t>
            </a:r>
            <a:r>
              <a:rPr baseline="30000" lang="en-IN" sz="2400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2</a:t>
            </a:r>
            <a:r>
              <a:rPr lang="en-IN" sz="2400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+ 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we get a</a:t>
            </a:r>
            <a:r>
              <a:rPr baseline="30000" lang="en-IN" sz="2400"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P</a:t>
            </a:r>
            <a:r>
              <a:rPr lang="en-IN" sz="2400"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 such that value of P is &lt;= n</a:t>
            </a:r>
            <a:r>
              <a:rPr baseline="30000" lang="en-IN" sz="2400"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2</a:t>
            </a:r>
            <a:r>
              <a:rPr lang="en-IN" sz="2400"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+ n and &gt; n</a:t>
            </a:r>
            <a:r>
              <a:rPr baseline="30000" lang="en-IN" sz="2400"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2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After L={a, a</a:t>
            </a:r>
            <a:r>
              <a:rPr baseline="30000" lang="en-IN" sz="2400"/>
              <a:t>4</a:t>
            </a:r>
            <a:r>
              <a:rPr lang="en-IN" sz="2400"/>
              <a:t>, a</a:t>
            </a:r>
            <a:r>
              <a:rPr baseline="30000" lang="en-IN" sz="2400"/>
              <a:t>9</a:t>
            </a:r>
            <a:r>
              <a:rPr lang="en-IN" sz="2400"/>
              <a:t>,………………   a  ,   a  ,…………..}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string higher than a is a           i.e. a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But n2 + n lies between these two values, Thus it is not regular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139952" y="3995772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572000" y="3995772"/>
            <a:ext cx="816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(n+1)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347864" y="4787860"/>
            <a:ext cx="3850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779912" y="4797152"/>
            <a:ext cx="816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(n+1)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204532" y="4727810"/>
            <a:ext cx="974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+2n+1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2</a:t>
            </a:r>
            <a:endParaRPr sz="2800"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395536" y="908720"/>
            <a:ext cx="8229600" cy="48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1-Suppose L is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Let n be the number of states in FA accepting 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2-Choose a string z ∈ L such that |z|&gt;n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 can be written in the form z=uvw with |uv|&lt;=n and |v|&gt;=1 such that uv</a:t>
            </a:r>
            <a:r>
              <a:rPr baseline="30000" lang="en-IN" sz="2400"/>
              <a:t>i</a:t>
            </a:r>
            <a:r>
              <a:rPr lang="en-IN" sz="2400"/>
              <a:t>w  ∈ L for i&gt;0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n=1 String=a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n=2 String=aa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n=3 String=aaaaaa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52" name="Google Shape;152;p9"/>
          <p:cNvSpPr/>
          <p:nvPr/>
        </p:nvSpPr>
        <p:spPr>
          <a:xfrm>
            <a:off x="867960" y="796062"/>
            <a:ext cx="3834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738686" y="3972006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3- So length of v alone is 1&lt;=|v|&lt;=n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|uv</a:t>
            </a:r>
            <a:r>
              <a:rPr baseline="30000" lang="en-IN" sz="2400"/>
              <a:t>2</a:t>
            </a:r>
            <a:r>
              <a:rPr lang="en-IN" sz="2400"/>
              <a:t>w|=|uvw|+|v|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=n</a:t>
            </a:r>
            <a:r>
              <a:rPr baseline="30000" lang="en-IN" sz="2400"/>
              <a:t>!</a:t>
            </a:r>
            <a:r>
              <a:rPr lang="en-IN" sz="2400"/>
              <a:t>+|v|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&lt;= n</a:t>
            </a:r>
            <a:r>
              <a:rPr baseline="30000" lang="en-IN" sz="2400"/>
              <a:t>!</a:t>
            </a:r>
            <a:r>
              <a:rPr lang="en-IN" sz="2400"/>
              <a:t>+ 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we get a</a:t>
            </a:r>
            <a:r>
              <a:rPr baseline="30000" lang="en-IN" sz="2400"/>
              <a:t>P</a:t>
            </a:r>
            <a:r>
              <a:rPr lang="en-IN" sz="2400"/>
              <a:t> such that value of P is &lt;= n</a:t>
            </a:r>
            <a:r>
              <a:rPr baseline="30000" lang="en-IN" sz="2400"/>
              <a:t>!</a:t>
            </a:r>
            <a:r>
              <a:rPr lang="en-IN" sz="2400"/>
              <a:t>+ n and &gt; n</a:t>
            </a:r>
            <a:r>
              <a:rPr baseline="30000" lang="en-IN" sz="2400"/>
              <a:t>!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After L={a, a</a:t>
            </a:r>
            <a:r>
              <a:rPr baseline="30000" lang="en-IN" sz="2400"/>
              <a:t>2</a:t>
            </a:r>
            <a:r>
              <a:rPr lang="en-IN" sz="2400"/>
              <a:t>, a</a:t>
            </a:r>
            <a:r>
              <a:rPr baseline="30000" lang="en-IN" sz="2400"/>
              <a:t>6</a:t>
            </a:r>
            <a:r>
              <a:rPr lang="en-IN" sz="2400"/>
              <a:t>, a</a:t>
            </a:r>
            <a:r>
              <a:rPr baseline="30000" lang="en-IN" sz="2400"/>
              <a:t>24 </a:t>
            </a:r>
            <a:r>
              <a:rPr lang="en-IN" sz="2400"/>
              <a:t>………………   a  ,   a  ,…………..}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(n+1)!=(n+1).n!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	=n x n! + n!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But n! + n lies between these two values, Thus it is not regular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4572000" y="3915014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076056" y="3861048"/>
            <a:ext cx="787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(n+1)</a:t>
            </a:r>
            <a:r>
              <a:rPr b="1" baseline="3000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Pumping Lemma :Example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3</a:t>
            </a:r>
            <a:endParaRPr sz="2800"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395536" y="908720"/>
            <a:ext cx="8229600" cy="48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1-Suppose L is regular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Let n be the number of states in FA accepting 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Step 2-Choose a string z ∈ L such that |z|&gt;n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 can be written in the form z=uvw with |uv|&lt;=n and |v|&gt;=1 such that uv</a:t>
            </a:r>
            <a:r>
              <a:rPr baseline="30000" lang="en-IN" sz="2400"/>
              <a:t>i</a:t>
            </a:r>
            <a:r>
              <a:rPr lang="en-IN" sz="2400"/>
              <a:t>w  ∈ L for i&gt;0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3</a:t>
            </a:r>
            <a:endParaRPr sz="2800"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395536" y="908720"/>
            <a:ext cx="822960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   | n&gt;=1}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Consider a</a:t>
            </a:r>
            <a:r>
              <a:rPr baseline="30000" lang="en-IN" sz="2400"/>
              <a:t>m</a:t>
            </a:r>
            <a:r>
              <a:rPr lang="en-IN" sz="2400"/>
              <a:t>b</a:t>
            </a:r>
            <a:r>
              <a:rPr baseline="30000" lang="en-IN" sz="2400"/>
              <a:t>m</a:t>
            </a:r>
            <a:r>
              <a:rPr lang="en-IN" sz="2400"/>
              <a:t> , m&gt;n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aaaaa………abbbbbbb…….b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Using Pumping Lemma, This can be written as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z=uvw , such that |uv|&lt;=n and |v|&gt;=1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As m&gt;n and |uv|&lt;=n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aaaaaaaaaaa…………………aaabbbbbbbbbbbbbbbbbbbbb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v will not fall into “b”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cxnSp>
        <p:nvCxnSpPr>
          <p:cNvPr id="174" name="Google Shape;174;p12"/>
          <p:cNvCxnSpPr/>
          <p:nvPr/>
        </p:nvCxnSpPr>
        <p:spPr>
          <a:xfrm>
            <a:off x="539552" y="5445224"/>
            <a:ext cx="3024336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75" name="Google Shape;175;p12"/>
          <p:cNvCxnSpPr/>
          <p:nvPr/>
        </p:nvCxnSpPr>
        <p:spPr>
          <a:xfrm>
            <a:off x="3635896" y="5445224"/>
            <a:ext cx="3672408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76" name="Google Shape;176;p12"/>
          <p:cNvSpPr txBox="1"/>
          <p:nvPr/>
        </p:nvSpPr>
        <p:spPr>
          <a:xfrm>
            <a:off x="1399603" y="547658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uv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4987485" y="5480619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type="title"/>
          </p:nvPr>
        </p:nvSpPr>
        <p:spPr>
          <a:xfrm>
            <a:off x="467544" y="116632"/>
            <a:ext cx="8229600" cy="27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Pumping Lemma :Example 3</a:t>
            </a:r>
            <a:endParaRPr sz="2800"/>
          </a:p>
        </p:txBody>
      </p:sp>
      <p:sp>
        <p:nvSpPr>
          <p:cNvPr id="183" name="Google Shape;183;p13"/>
          <p:cNvSpPr txBox="1"/>
          <p:nvPr>
            <p:ph idx="1" type="body"/>
          </p:nvPr>
        </p:nvSpPr>
        <p:spPr>
          <a:xfrm>
            <a:off x="395536" y="620688"/>
            <a:ext cx="8229600" cy="5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As m&gt;n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aaaaaaaaaaa…………………….abbbbbbbbbbbbbbbbbbbbb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Let v=a</a:t>
            </a:r>
            <a:r>
              <a:rPr baseline="30000" lang="en-IN" sz="2600"/>
              <a:t>p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u=a</a:t>
            </a:r>
            <a:r>
              <a:rPr baseline="30000" lang="en-IN" sz="2600"/>
              <a:t>q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w=a</a:t>
            </a:r>
            <a:r>
              <a:rPr baseline="30000" lang="en-IN" sz="2600"/>
              <a:t>r</a:t>
            </a:r>
            <a:r>
              <a:rPr lang="en-IN" sz="2600"/>
              <a:t>b</a:t>
            </a:r>
            <a:r>
              <a:rPr baseline="30000" lang="en-IN" sz="2600"/>
              <a:t>m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p+q+r=m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Let z=a</a:t>
            </a:r>
            <a:r>
              <a:rPr baseline="30000" lang="en-IN" sz="2600"/>
              <a:t>q </a:t>
            </a:r>
            <a:r>
              <a:rPr lang="en-IN" sz="2600"/>
              <a:t>(a</a:t>
            </a:r>
            <a:r>
              <a:rPr baseline="30000" lang="en-IN" sz="2600"/>
              <a:t>p</a:t>
            </a:r>
            <a:r>
              <a:rPr lang="en-IN" sz="2600"/>
              <a:t>) a</a:t>
            </a:r>
            <a:r>
              <a:rPr baseline="30000" lang="en-IN" sz="2600"/>
              <a:t>r</a:t>
            </a:r>
            <a:r>
              <a:rPr lang="en-IN" sz="2600"/>
              <a:t> b</a:t>
            </a:r>
            <a:r>
              <a:rPr baseline="30000" lang="en-IN" sz="2600"/>
              <a:t>m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Pumping v part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Let z=a</a:t>
            </a:r>
            <a:r>
              <a:rPr baseline="30000" lang="en-IN" sz="2600"/>
              <a:t>q </a:t>
            </a:r>
            <a:r>
              <a:rPr lang="en-IN" sz="2600"/>
              <a:t>(a</a:t>
            </a:r>
            <a:r>
              <a:rPr baseline="30000" lang="en-IN" sz="2600"/>
              <a:t>p</a:t>
            </a:r>
            <a:r>
              <a:rPr lang="en-IN" sz="2600"/>
              <a:t>)</a:t>
            </a:r>
            <a:r>
              <a:rPr baseline="30000" lang="en-IN" sz="2600"/>
              <a:t>i</a:t>
            </a:r>
            <a:r>
              <a:rPr lang="en-IN" sz="2600"/>
              <a:t> a</a:t>
            </a:r>
            <a:r>
              <a:rPr baseline="30000" lang="en-IN" sz="2600"/>
              <a:t>r</a:t>
            </a:r>
            <a:r>
              <a:rPr lang="en-IN" sz="2600"/>
              <a:t> b</a:t>
            </a:r>
            <a:r>
              <a:rPr baseline="30000" lang="en-IN" sz="2600"/>
              <a:t>m</a:t>
            </a:r>
            <a:endParaRPr baseline="30000"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So many strings, we can get where no of a’s are not equal to no of bs</a:t>
            </a:r>
            <a:endParaRPr sz="2600"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There is a Contradiction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600"/>
              <a:t>Thus, Not Regular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2022-02-21T08:37:41Z</dcterms:created>
  <dc:creator>Admin</dc:creator>
</cp:coreProperties>
</file>