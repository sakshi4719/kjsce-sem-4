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63"/>
  </p:notesMasterIdLst>
  <p:sldIdLst>
    <p:sldId id="256" r:id="rId3"/>
    <p:sldId id="257" r:id="rId4"/>
    <p:sldId id="278" r:id="rId5"/>
    <p:sldId id="279" r:id="rId6"/>
    <p:sldId id="280" r:id="rId7"/>
    <p:sldId id="281" r:id="rId8"/>
    <p:sldId id="282" r:id="rId9"/>
    <p:sldId id="283" r:id="rId10"/>
    <p:sldId id="284" r:id="rId11"/>
    <p:sldId id="285" r:id="rId12"/>
    <p:sldId id="260" r:id="rId13"/>
    <p:sldId id="274" r:id="rId14"/>
    <p:sldId id="317" r:id="rId15"/>
    <p:sldId id="287" r:id="rId16"/>
    <p:sldId id="286" r:id="rId17"/>
    <p:sldId id="288" r:id="rId18"/>
    <p:sldId id="291" r:id="rId19"/>
    <p:sldId id="289" r:id="rId20"/>
    <p:sldId id="290" r:id="rId21"/>
    <p:sldId id="262" r:id="rId22"/>
    <p:sldId id="293" r:id="rId23"/>
    <p:sldId id="318" r:id="rId24"/>
    <p:sldId id="292" r:id="rId25"/>
    <p:sldId id="294" r:id="rId26"/>
    <p:sldId id="295" r:id="rId27"/>
    <p:sldId id="296" r:id="rId28"/>
    <p:sldId id="297" r:id="rId29"/>
    <p:sldId id="319" r:id="rId30"/>
    <p:sldId id="298" r:id="rId31"/>
    <p:sldId id="263" r:id="rId32"/>
    <p:sldId id="265" r:id="rId33"/>
    <p:sldId id="299" r:id="rId34"/>
    <p:sldId id="275" r:id="rId35"/>
    <p:sldId id="276" r:id="rId36"/>
    <p:sldId id="277" r:id="rId37"/>
    <p:sldId id="267" r:id="rId38"/>
    <p:sldId id="320" r:id="rId39"/>
    <p:sldId id="272" r:id="rId40"/>
    <p:sldId id="273" r:id="rId41"/>
    <p:sldId id="300" r:id="rId42"/>
    <p:sldId id="301" r:id="rId43"/>
    <p:sldId id="302" r:id="rId44"/>
    <p:sldId id="268" r:id="rId45"/>
    <p:sldId id="303" r:id="rId46"/>
    <p:sldId id="304" r:id="rId47"/>
    <p:sldId id="321" r:id="rId48"/>
    <p:sldId id="305" r:id="rId49"/>
    <p:sldId id="312" r:id="rId50"/>
    <p:sldId id="313" r:id="rId51"/>
    <p:sldId id="314" r:id="rId52"/>
    <p:sldId id="269" r:id="rId53"/>
    <p:sldId id="306" r:id="rId54"/>
    <p:sldId id="307" r:id="rId55"/>
    <p:sldId id="309" r:id="rId56"/>
    <p:sldId id="308" r:id="rId57"/>
    <p:sldId id="270" r:id="rId58"/>
    <p:sldId id="310" r:id="rId59"/>
    <p:sldId id="315" r:id="rId60"/>
    <p:sldId id="316" r:id="rId61"/>
    <p:sldId id="311" r:id="rId6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1" d="100"/>
          <a:sy n="71" d="100"/>
        </p:scale>
        <p:origin x="-1136" y="2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63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61" Type="http://schemas.openxmlformats.org/officeDocument/2006/relationships/slide" Target="slides/slide59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presProps" Target="presProp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tableStyles" Target="tableStyle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DB6F10-D366-4FBD-BE32-18CE0E02C862}" type="datetimeFigureOut">
              <a:rPr lang="en-IN" smtClean="0"/>
              <a:t>01-03-2023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EF4C60-0ABF-4A0E-8A25-EF723CBC29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15291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E416F-EBD7-4B99-A41A-666927B69E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38636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E416F-EBD7-4B99-A41A-666927B69E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75046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E416F-EBD7-4B99-A41A-666927B69E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05344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E416F-EBD7-4B99-A41A-666927B69E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85768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E416F-EBD7-4B99-A41A-666927B69E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55966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E416F-EBD7-4B99-A41A-666927B69E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00238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E416F-EBD7-4B99-A41A-666927B69E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34716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E416F-EBD7-4B99-A41A-666927B69E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60321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E416F-EBD7-4B99-A41A-666927B69E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12661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E416F-EBD7-4B99-A41A-666927B69E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72053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E416F-EBD7-4B99-A41A-666927B69E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48960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30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6CA4C72-2B52-46CC-933F-C0CFCAB26B53}" type="slidenum">
              <a:rPr lang="en-US" altLang="en-US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90970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711009C-49AB-4E12-8907-6ECBC6A5D9C9}" type="slidenum">
              <a:rPr lang="en-US" altLang="en-US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30245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435" y="4406905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435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ABCF2-FB22-4FC7-BBFE-3E26512F4D46}" type="slidenum">
              <a:rPr lang="en-US" altLang="en-US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603917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51692" y="1219200"/>
            <a:ext cx="4255477" cy="5105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47846" y="1219200"/>
            <a:ext cx="4255477" cy="5105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8FD35CB-48A8-4D8E-A8F7-EA29CA16AA4D}" type="slidenum">
              <a:rPr lang="en-US" altLang="en-US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35364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06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066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272" y="1535113"/>
            <a:ext cx="404153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272" y="2174875"/>
            <a:ext cx="404153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0BFBF4B-C870-45C6-A542-5C6B8D74DE2A}" type="slidenum">
              <a:rPr lang="en-US" altLang="en-US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583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264D32E-ED46-45AE-B945-3DFBD390D9AA}" type="slidenum">
              <a:rPr lang="en-US" altLang="en-US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707244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016B898-AA23-4319-856E-509CCD4F1220}" type="slidenum">
              <a:rPr lang="en-US" altLang="en-US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536042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73050"/>
            <a:ext cx="3008435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538" y="273055"/>
            <a:ext cx="511126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435103"/>
            <a:ext cx="3008435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A18D06-590C-405A-B6FF-1FCCA6273FF6}" type="slidenum">
              <a:rPr lang="en-US" altLang="en-US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479416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166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166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166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6A82B9A-962B-4564-80D8-DC2F9179391B}" type="slidenum">
              <a:rPr lang="en-US" altLang="en-US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090235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F830474-560D-40A2-A0D6-82231409AB1D}" type="slidenum">
              <a:rPr lang="en-US" altLang="en-US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799447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0415" y="152400"/>
            <a:ext cx="2162908" cy="61722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51692" y="152400"/>
            <a:ext cx="6348046" cy="61722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2F4C715-616D-43C8-80D7-A1DB23FB1E81}" type="slidenum">
              <a:rPr lang="en-US" altLang="en-US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39100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0E416F-EBD7-4B99-A41A-666927B69E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17004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51692" y="152400"/>
            <a:ext cx="8651631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51692" y="1219200"/>
            <a:ext cx="8651631" cy="510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51692" y="6477000"/>
            <a:ext cx="19050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800"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819400" y="6477000"/>
            <a:ext cx="34290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800"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33846" y="6477000"/>
            <a:ext cx="19050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800"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5D5A3689-129D-4DD8-9EE5-1785A1A0D75E}" type="slidenum">
              <a:rPr lang="en-US" altLang="en-US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91030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Times New Roman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Times New Roman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Times New Roman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Times New Roman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16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14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sz="3600" b="1" dirty="0" smtClean="0"/>
              <a:t>Introduction to Different Phases of Compiler</a:t>
            </a:r>
            <a:endParaRPr lang="en-IN" sz="3600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51910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Compiler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A</a:t>
            </a:r>
            <a:r>
              <a:rPr lang="en-IN" sz="2400" dirty="0" smtClean="0"/>
              <a:t> compiler is a program that reads a program in one language (the source language) and translate it into an equivalent program in another language (the target language)</a:t>
            </a:r>
          </a:p>
          <a:p>
            <a:endParaRPr lang="en-IN" sz="2400" dirty="0" smtClean="0"/>
          </a:p>
          <a:p>
            <a:r>
              <a:rPr lang="en-IN" sz="2400" dirty="0" smtClean="0"/>
              <a:t>An important role of the compiler is to report any errors in the source program that it detects during the translation process.</a:t>
            </a:r>
            <a:endParaRPr lang="en-IN" sz="2400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863" y="4307929"/>
            <a:ext cx="7534275" cy="1857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82854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Compiler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003232" cy="4525963"/>
          </a:xfrm>
        </p:spPr>
        <p:txBody>
          <a:bodyPr>
            <a:normAutofit/>
          </a:bodyPr>
          <a:lstStyle/>
          <a:p>
            <a:r>
              <a:rPr lang="en-IN" sz="2400" dirty="0"/>
              <a:t>A compiler is a software that </a:t>
            </a:r>
            <a:endParaRPr lang="en-IN" sz="2400" dirty="0" smtClean="0"/>
          </a:p>
          <a:p>
            <a:pPr lvl="1"/>
            <a:endParaRPr lang="en-IN" sz="2400" dirty="0" smtClean="0"/>
          </a:p>
          <a:p>
            <a:pPr lvl="1"/>
            <a:r>
              <a:rPr lang="en-IN" sz="2400" dirty="0" smtClean="0"/>
              <a:t>translates </a:t>
            </a:r>
            <a:r>
              <a:rPr lang="en-IN" sz="2400" dirty="0"/>
              <a:t>the code written in one language to some other language </a:t>
            </a:r>
            <a:endParaRPr lang="en-IN" sz="2400" dirty="0" smtClean="0"/>
          </a:p>
          <a:p>
            <a:pPr lvl="1"/>
            <a:endParaRPr lang="en-IN" sz="2400" dirty="0"/>
          </a:p>
          <a:p>
            <a:pPr lvl="1"/>
            <a:r>
              <a:rPr lang="en-IN" sz="2400" dirty="0" smtClean="0"/>
              <a:t>without </a:t>
            </a:r>
            <a:r>
              <a:rPr lang="en-IN" sz="2400" dirty="0"/>
              <a:t>changing the meaning of the program. </a:t>
            </a:r>
            <a:endParaRPr lang="en-IN" sz="2400" dirty="0" smtClean="0"/>
          </a:p>
          <a:p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4821773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Compiler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186808" cy="4525963"/>
          </a:xfrm>
        </p:spPr>
        <p:txBody>
          <a:bodyPr>
            <a:normAutofit/>
          </a:bodyPr>
          <a:lstStyle/>
          <a:p>
            <a:r>
              <a:rPr lang="en-IN" sz="2400" dirty="0" smtClean="0"/>
              <a:t>The </a:t>
            </a:r>
            <a:r>
              <a:rPr lang="en-IN" sz="2400" dirty="0"/>
              <a:t>compiler is also said to </a:t>
            </a:r>
            <a:endParaRPr lang="en-IN" sz="2400" dirty="0" smtClean="0"/>
          </a:p>
          <a:p>
            <a:pPr lvl="1"/>
            <a:r>
              <a:rPr lang="en-IN" sz="2400" dirty="0" smtClean="0"/>
              <a:t>make </a:t>
            </a:r>
            <a:r>
              <a:rPr lang="en-IN" sz="2400" dirty="0"/>
              <a:t>the target code efficient and </a:t>
            </a:r>
            <a:endParaRPr lang="en-IN" sz="2400" dirty="0" smtClean="0"/>
          </a:p>
          <a:p>
            <a:pPr lvl="1"/>
            <a:r>
              <a:rPr lang="en-IN" sz="2400" dirty="0" smtClean="0"/>
              <a:t>optimized </a:t>
            </a:r>
            <a:r>
              <a:rPr lang="en-IN" sz="2400" dirty="0"/>
              <a:t>in terms of time and space.</a:t>
            </a:r>
            <a:endParaRPr lang="en-IN" sz="2400" dirty="0" smtClean="0"/>
          </a:p>
          <a:p>
            <a:endParaRPr lang="en-IN" sz="2400" dirty="0"/>
          </a:p>
          <a:p>
            <a:r>
              <a:rPr lang="en-IN" sz="2400" dirty="0" smtClean="0"/>
              <a:t>In this example , “C” compiler converts </a:t>
            </a:r>
            <a:r>
              <a:rPr lang="en-IN" sz="2400" dirty="0"/>
              <a:t>high-level language program into assembly </a:t>
            </a:r>
            <a:r>
              <a:rPr lang="en-IN" sz="2400" dirty="0" smtClean="0"/>
              <a:t>language</a:t>
            </a: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8024" y="1645822"/>
            <a:ext cx="3874567" cy="438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850524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418058"/>
          </a:xfrm>
        </p:spPr>
        <p:txBody>
          <a:bodyPr>
            <a:normAutofit fontScale="90000"/>
          </a:bodyPr>
          <a:lstStyle/>
          <a:p>
            <a:r>
              <a:rPr lang="en-IN" dirty="0"/>
              <a:t>Compiler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64704"/>
            <a:ext cx="8003232" cy="5361459"/>
          </a:xfrm>
        </p:spPr>
        <p:txBody>
          <a:bodyPr>
            <a:noAutofit/>
          </a:bodyPr>
          <a:lstStyle/>
          <a:p>
            <a:r>
              <a:rPr lang="en-IN" sz="2400" dirty="0"/>
              <a:t>The language processor that reads the complete source program written in high level language </a:t>
            </a:r>
            <a:r>
              <a:rPr lang="en-IN" sz="2400" b="1" u="sng" dirty="0"/>
              <a:t>as a whole in one go and translates it </a:t>
            </a:r>
            <a:r>
              <a:rPr lang="en-IN" sz="2400" dirty="0"/>
              <a:t>into an equivalent program in machine language is called as a Compiler.</a:t>
            </a:r>
            <a:br>
              <a:rPr lang="en-IN" sz="2400" dirty="0"/>
            </a:br>
            <a:endParaRPr lang="en-IN" sz="2400" dirty="0" smtClean="0"/>
          </a:p>
          <a:p>
            <a:endParaRPr lang="en-IN" sz="2000" dirty="0"/>
          </a:p>
          <a:p>
            <a:endParaRPr lang="en-IN" sz="2000" dirty="0" smtClean="0"/>
          </a:p>
          <a:p>
            <a:endParaRPr lang="en-IN" sz="2000" dirty="0" smtClean="0"/>
          </a:p>
        </p:txBody>
      </p:sp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2996952"/>
            <a:ext cx="6624736" cy="17281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43004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418058"/>
          </a:xfrm>
        </p:spPr>
        <p:txBody>
          <a:bodyPr>
            <a:normAutofit fontScale="90000"/>
          </a:bodyPr>
          <a:lstStyle/>
          <a:p>
            <a:r>
              <a:rPr lang="en-IN" dirty="0"/>
              <a:t>Compiler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64704"/>
            <a:ext cx="8003232" cy="5361459"/>
          </a:xfrm>
        </p:spPr>
        <p:txBody>
          <a:bodyPr>
            <a:noAutofit/>
          </a:bodyPr>
          <a:lstStyle/>
          <a:p>
            <a:r>
              <a:rPr lang="en-IN" sz="2400" dirty="0" smtClean="0"/>
              <a:t>In </a:t>
            </a:r>
            <a:r>
              <a:rPr lang="en-IN" sz="2400" dirty="0"/>
              <a:t>a compiler, the source code is translated to object code successfully if it is free of errors. </a:t>
            </a:r>
            <a:endParaRPr lang="en-IN" sz="2400" dirty="0" smtClean="0"/>
          </a:p>
          <a:p>
            <a:endParaRPr lang="en-IN" sz="2400" dirty="0" smtClean="0"/>
          </a:p>
          <a:p>
            <a:r>
              <a:rPr lang="en-IN" sz="2400" dirty="0" smtClean="0"/>
              <a:t>The </a:t>
            </a:r>
            <a:r>
              <a:rPr lang="en-IN" sz="2400" dirty="0"/>
              <a:t>compiler specifies </a:t>
            </a:r>
            <a:endParaRPr lang="en-IN" sz="2400" dirty="0" smtClean="0"/>
          </a:p>
          <a:p>
            <a:pPr lvl="1"/>
            <a:r>
              <a:rPr lang="en-IN" sz="2000" dirty="0" smtClean="0"/>
              <a:t>the </a:t>
            </a:r>
            <a:r>
              <a:rPr lang="en-IN" sz="2000" dirty="0"/>
              <a:t>errors at the end of compilation with line numbers when there are any errors in the source code. </a:t>
            </a:r>
            <a:endParaRPr lang="en-IN" sz="2000" dirty="0" smtClean="0"/>
          </a:p>
          <a:p>
            <a:pPr lvl="1"/>
            <a:r>
              <a:rPr lang="en-IN" sz="2000" dirty="0" smtClean="0"/>
              <a:t>The </a:t>
            </a:r>
            <a:r>
              <a:rPr lang="en-IN" sz="2000" dirty="0"/>
              <a:t>errors must be removed before the compiler can successfully recompile the source code again</a:t>
            </a:r>
            <a:r>
              <a:rPr lang="en-IN" sz="2000" dirty="0" smtClean="0"/>
              <a:t>.</a:t>
            </a:r>
            <a:endParaRPr lang="en-IN" sz="2000" dirty="0"/>
          </a:p>
          <a:p>
            <a:endParaRPr lang="en-IN" sz="2400" dirty="0" smtClean="0"/>
          </a:p>
        </p:txBody>
      </p:sp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3861048"/>
            <a:ext cx="6624736" cy="17281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810482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 smtClean="0"/>
              <a:t>Interpreter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dirty="0" smtClean="0"/>
              <a:t>An </a:t>
            </a:r>
            <a:r>
              <a:rPr lang="en-IN" sz="2400" dirty="0"/>
              <a:t>interpreter, like a compiler, </a:t>
            </a:r>
            <a:r>
              <a:rPr lang="en-IN" sz="2400" b="1" u="sng" dirty="0"/>
              <a:t>translates high-level language into low-level machine language. </a:t>
            </a:r>
            <a:endParaRPr lang="en-IN" sz="2400" b="1" u="sng" dirty="0" smtClean="0"/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5562919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 smtClean="0"/>
              <a:t>Interpreter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dirty="0" smtClean="0"/>
              <a:t>The difference lies in the way they read the source code or input. </a:t>
            </a:r>
          </a:p>
          <a:p>
            <a:pPr lvl="1"/>
            <a:r>
              <a:rPr lang="en-IN" sz="2400" dirty="0" smtClean="0"/>
              <a:t>A </a:t>
            </a:r>
            <a:r>
              <a:rPr lang="en-IN" sz="2400" dirty="0"/>
              <a:t>compiler reads the </a:t>
            </a:r>
            <a:r>
              <a:rPr lang="en-IN" sz="2400" b="1" u="sng" dirty="0"/>
              <a:t>whole source code at once, creates tokens, checks semantics, generates intermediate code, executes the whole program and may involve many passes. </a:t>
            </a:r>
            <a:endParaRPr lang="en-IN" sz="2400" b="1" u="sng" dirty="0" smtClean="0"/>
          </a:p>
          <a:p>
            <a:pPr marL="457200" lvl="1" indent="0">
              <a:buNone/>
            </a:pPr>
            <a:endParaRPr lang="en-IN" sz="2400" dirty="0" smtClean="0"/>
          </a:p>
          <a:p>
            <a:pPr lvl="1"/>
            <a:r>
              <a:rPr lang="en-IN" sz="2400" dirty="0" smtClean="0"/>
              <a:t>An </a:t>
            </a:r>
            <a:r>
              <a:rPr lang="en-IN" sz="2400" dirty="0"/>
              <a:t>interpreter reads </a:t>
            </a:r>
            <a:r>
              <a:rPr lang="en-IN" sz="2400" b="1" u="sng" dirty="0"/>
              <a:t>a statement from the input, </a:t>
            </a:r>
            <a:r>
              <a:rPr lang="en-IN" sz="2400" b="1" u="sng" dirty="0" smtClean="0"/>
              <a:t>executes </a:t>
            </a:r>
            <a:r>
              <a:rPr lang="en-IN" sz="2400" b="1" u="sng" dirty="0"/>
              <a:t>it, then takes the next statement in sequence</a:t>
            </a:r>
            <a:r>
              <a:rPr lang="en-IN" sz="2400" dirty="0"/>
              <a:t>. </a:t>
            </a:r>
            <a:endParaRPr lang="en-IN" sz="2400" dirty="0" smtClean="0"/>
          </a:p>
          <a:p>
            <a:pPr lvl="1"/>
            <a:endParaRPr lang="en-IN" sz="2400" dirty="0" smtClean="0"/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6040903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 smtClean="0"/>
              <a:t>Interpreter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IN" sz="2400" dirty="0" smtClean="0"/>
              <a:t>If </a:t>
            </a:r>
            <a:r>
              <a:rPr lang="en-IN" sz="2400" dirty="0"/>
              <a:t>an error occurs, </a:t>
            </a:r>
            <a:endParaRPr lang="en-IN" sz="2400" dirty="0" smtClean="0"/>
          </a:p>
          <a:p>
            <a:pPr lvl="2"/>
            <a:r>
              <a:rPr lang="en-IN" b="1" u="sng" dirty="0" smtClean="0"/>
              <a:t>an </a:t>
            </a:r>
            <a:r>
              <a:rPr lang="en-IN" b="1" u="sng" dirty="0"/>
              <a:t>interpreter stops execution and reports it. The interpreter moves on to the next line for execution only after removal of the error</a:t>
            </a:r>
            <a:r>
              <a:rPr lang="en-IN" b="1" u="sng" dirty="0" smtClean="0"/>
              <a:t>.</a:t>
            </a:r>
          </a:p>
          <a:p>
            <a:pPr lvl="2"/>
            <a:r>
              <a:rPr lang="en-IN" dirty="0" smtClean="0"/>
              <a:t>whereas </a:t>
            </a:r>
            <a:r>
              <a:rPr lang="en-IN" dirty="0"/>
              <a:t>a compiler </a:t>
            </a:r>
            <a:r>
              <a:rPr lang="en-IN" b="1" u="sng" dirty="0"/>
              <a:t>reads the whole program even if it encounters several errors</a:t>
            </a:r>
            <a:r>
              <a:rPr lang="en-IN" b="1" u="sng" dirty="0" smtClean="0"/>
              <a:t>.</a:t>
            </a:r>
          </a:p>
          <a:p>
            <a:pPr lvl="1"/>
            <a:endParaRPr lang="en-IN" sz="2400" b="1" dirty="0" smtClean="0"/>
          </a:p>
          <a:p>
            <a:pPr lvl="1"/>
            <a:r>
              <a:rPr lang="en-IN" sz="2400" b="1" dirty="0" smtClean="0"/>
              <a:t>Example</a:t>
            </a:r>
            <a:r>
              <a:rPr lang="en-IN" sz="2400" b="1" dirty="0"/>
              <a:t>:</a:t>
            </a:r>
            <a:r>
              <a:rPr lang="en-IN" sz="2400" dirty="0"/>
              <a:t> Perl, Python and </a:t>
            </a:r>
            <a:r>
              <a:rPr lang="en-IN" sz="2400" dirty="0" err="1"/>
              <a:t>Matlab</a:t>
            </a:r>
            <a:r>
              <a:rPr lang="en-IN" sz="2400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253247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476672"/>
            <a:ext cx="8424935" cy="53486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6"/>
          <p:cNvSpPr/>
          <p:nvPr/>
        </p:nvSpPr>
        <p:spPr>
          <a:xfrm>
            <a:off x="4644008" y="4653136"/>
            <a:ext cx="3240360" cy="594509"/>
          </a:xfrm>
          <a:prstGeom prst="rect">
            <a:avLst/>
          </a:prstGeom>
          <a:noFill/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39982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Major Parts of Compilers</a:t>
            </a:r>
          </a:p>
        </p:txBody>
      </p:sp>
      <p:sp>
        <p:nvSpPr>
          <p:cNvPr id="2457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sz="2400" dirty="0"/>
              <a:t>There are two major parts of a compiler: </a:t>
            </a:r>
            <a:endParaRPr lang="en-US" altLang="en-US" sz="2400" dirty="0" smtClean="0"/>
          </a:p>
          <a:p>
            <a:r>
              <a:rPr lang="en-US" altLang="en-US" sz="2400" b="1" dirty="0" smtClean="0"/>
              <a:t>Analysis</a:t>
            </a:r>
            <a:r>
              <a:rPr lang="en-US" altLang="en-US" sz="2400" dirty="0" smtClean="0"/>
              <a:t> </a:t>
            </a:r>
          </a:p>
          <a:p>
            <a:r>
              <a:rPr lang="en-US" altLang="en-US" sz="2400" b="1" dirty="0" smtClean="0"/>
              <a:t>Synthesis</a:t>
            </a:r>
            <a:endParaRPr lang="en-US" altLang="en-US" sz="2400" b="1" dirty="0"/>
          </a:p>
          <a:p>
            <a:endParaRPr lang="en-US" altLang="en-US" sz="2400" b="1" dirty="0"/>
          </a:p>
          <a:p>
            <a:endParaRPr lang="en-US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140436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Major Parts of Compilers</a:t>
            </a:r>
          </a:p>
        </p:txBody>
      </p:sp>
      <p:sp>
        <p:nvSpPr>
          <p:cNvPr id="2457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sz="2400" dirty="0" smtClean="0"/>
              <a:t>In </a:t>
            </a:r>
            <a:r>
              <a:rPr lang="en-US" altLang="en-US" sz="2400" dirty="0"/>
              <a:t>analysis </a:t>
            </a:r>
            <a:r>
              <a:rPr lang="en-US" altLang="en-US" sz="2400" dirty="0" smtClean="0"/>
              <a:t>phase-</a:t>
            </a:r>
          </a:p>
          <a:p>
            <a:r>
              <a:rPr lang="en-US" altLang="en-US" sz="2400" dirty="0" smtClean="0"/>
              <a:t>Breaks up the source program into constituent pieces and imposes a grammatical structure on them</a:t>
            </a:r>
          </a:p>
          <a:p>
            <a:r>
              <a:rPr lang="en-US" altLang="en-US" sz="2400" dirty="0" smtClean="0"/>
              <a:t>Then Uses this grammatical structure to create an </a:t>
            </a:r>
            <a:r>
              <a:rPr lang="en-US" altLang="en-US" sz="2400" dirty="0"/>
              <a:t>intermediate representation </a:t>
            </a:r>
            <a:r>
              <a:rPr lang="en-US" altLang="en-US" sz="2400" dirty="0" smtClean="0"/>
              <a:t>of the source program.</a:t>
            </a:r>
          </a:p>
        </p:txBody>
      </p:sp>
    </p:spTree>
    <p:extLst>
      <p:ext uri="{BB962C8B-B14F-4D97-AF65-F5344CB8AC3E}">
        <p14:creationId xmlns:p14="http://schemas.microsoft.com/office/powerpoint/2010/main" val="10343692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Major Parts of Compilers</a:t>
            </a:r>
          </a:p>
        </p:txBody>
      </p:sp>
      <p:sp>
        <p:nvSpPr>
          <p:cNvPr id="2457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sz="2400" dirty="0" smtClean="0"/>
              <a:t>In </a:t>
            </a:r>
            <a:r>
              <a:rPr lang="en-US" altLang="en-US" sz="2400" dirty="0"/>
              <a:t>analysis </a:t>
            </a:r>
            <a:r>
              <a:rPr lang="en-US" altLang="en-US" sz="2400" dirty="0" smtClean="0"/>
              <a:t>phase-</a:t>
            </a:r>
          </a:p>
          <a:p>
            <a:r>
              <a:rPr lang="en-IN" altLang="en-US" sz="2400" dirty="0" smtClean="0"/>
              <a:t>If </a:t>
            </a:r>
            <a:r>
              <a:rPr lang="en-IN" altLang="en-US" sz="2400" dirty="0"/>
              <a:t>the analysis </a:t>
            </a:r>
            <a:r>
              <a:rPr lang="en-IN" altLang="en-US" sz="2400" dirty="0" smtClean="0"/>
              <a:t>part detects </a:t>
            </a:r>
            <a:r>
              <a:rPr lang="en-IN" altLang="en-US" sz="2400" dirty="0"/>
              <a:t>that the source program is either syntactically ill formed or </a:t>
            </a:r>
            <a:r>
              <a:rPr lang="en-IN" altLang="en-US" sz="2400" dirty="0" smtClean="0"/>
              <a:t>semantically </a:t>
            </a:r>
            <a:r>
              <a:rPr lang="en-IN" altLang="en-US" sz="2400" dirty="0"/>
              <a:t>unsound, then it must provide informative messages, so the user can </a:t>
            </a:r>
            <a:r>
              <a:rPr lang="en-IN" altLang="en-US" sz="2400" dirty="0" smtClean="0"/>
              <a:t>take corrective </a:t>
            </a:r>
            <a:r>
              <a:rPr lang="en-IN" altLang="en-US" sz="2400" dirty="0"/>
              <a:t>action</a:t>
            </a:r>
            <a:r>
              <a:rPr lang="en-IN" altLang="en-US" sz="2400" dirty="0" smtClean="0"/>
              <a:t>.</a:t>
            </a:r>
            <a:endParaRPr lang="en-US" altLang="en-US" sz="2400" dirty="0" smtClean="0"/>
          </a:p>
        </p:txBody>
      </p:sp>
    </p:spTree>
    <p:extLst>
      <p:ext uri="{BB962C8B-B14F-4D97-AF65-F5344CB8AC3E}">
        <p14:creationId xmlns:p14="http://schemas.microsoft.com/office/powerpoint/2010/main" val="27169634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Major Parts of Compilers</a:t>
            </a:r>
          </a:p>
        </p:txBody>
      </p:sp>
      <p:sp>
        <p:nvSpPr>
          <p:cNvPr id="2457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sz="2400" dirty="0" smtClean="0"/>
              <a:t>In </a:t>
            </a:r>
            <a:r>
              <a:rPr lang="en-US" altLang="en-US" sz="2400" dirty="0"/>
              <a:t>analysis </a:t>
            </a:r>
            <a:r>
              <a:rPr lang="en-US" altLang="en-US" sz="2400" dirty="0" smtClean="0"/>
              <a:t>phase-</a:t>
            </a:r>
          </a:p>
          <a:p>
            <a:r>
              <a:rPr lang="en-IN" altLang="en-US" sz="2400" dirty="0" smtClean="0"/>
              <a:t>The </a:t>
            </a:r>
            <a:r>
              <a:rPr lang="en-IN" altLang="en-US" sz="2400" dirty="0"/>
              <a:t>analysis part also collects information about the </a:t>
            </a:r>
            <a:r>
              <a:rPr lang="en-IN" altLang="en-US" sz="2400" dirty="0" smtClean="0"/>
              <a:t>source program </a:t>
            </a:r>
            <a:r>
              <a:rPr lang="en-IN" altLang="en-US" sz="2400" dirty="0"/>
              <a:t>and stores it in a data structure called a symbol table, which is </a:t>
            </a:r>
            <a:r>
              <a:rPr lang="en-IN" altLang="en-US" sz="2400" dirty="0" smtClean="0"/>
              <a:t>passed along </a:t>
            </a:r>
            <a:r>
              <a:rPr lang="en-IN" altLang="en-US" sz="2400" dirty="0"/>
              <a:t>with the intermediate </a:t>
            </a:r>
            <a:r>
              <a:rPr lang="en-IN" altLang="en-US" sz="2400" dirty="0" smtClean="0"/>
              <a:t> representation </a:t>
            </a:r>
            <a:r>
              <a:rPr lang="en-IN" altLang="en-US" sz="2400" dirty="0"/>
              <a:t>to the synthesis part.</a:t>
            </a:r>
            <a:endParaRPr lang="en-US" altLang="en-US" sz="2400" dirty="0" smtClean="0"/>
          </a:p>
          <a:p>
            <a:pPr lvl="1"/>
            <a:r>
              <a:rPr lang="en-US" altLang="en-US" sz="2400" dirty="0" smtClean="0"/>
              <a:t>Lexical Analyzer, Syntax Analyzer and Semantic Analyzer are the parts of this phase.</a:t>
            </a:r>
          </a:p>
        </p:txBody>
      </p:sp>
    </p:spTree>
    <p:extLst>
      <p:ext uri="{BB962C8B-B14F-4D97-AF65-F5344CB8AC3E}">
        <p14:creationId xmlns:p14="http://schemas.microsoft.com/office/powerpoint/2010/main" val="17763364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Major Parts of Compilers</a:t>
            </a:r>
          </a:p>
        </p:txBody>
      </p:sp>
      <p:sp>
        <p:nvSpPr>
          <p:cNvPr id="2457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sz="2400" dirty="0" smtClean="0"/>
              <a:t>In </a:t>
            </a:r>
            <a:r>
              <a:rPr lang="en-US" altLang="en-US" sz="2400" dirty="0"/>
              <a:t>synthesis </a:t>
            </a:r>
            <a:r>
              <a:rPr lang="en-US" altLang="en-US" sz="2400" dirty="0" smtClean="0"/>
              <a:t>phase-</a:t>
            </a:r>
          </a:p>
          <a:p>
            <a:r>
              <a:rPr lang="en-IN" altLang="en-US" sz="2400" dirty="0"/>
              <a:t>The synthesis part constructs the desired target program from the </a:t>
            </a:r>
            <a:r>
              <a:rPr lang="en-IN" altLang="en-US" sz="2400" dirty="0" smtClean="0"/>
              <a:t>intermediate </a:t>
            </a:r>
            <a:r>
              <a:rPr lang="en-IN" altLang="en-US" sz="2400" dirty="0"/>
              <a:t>representation and the information in the symbol table. </a:t>
            </a:r>
            <a:endParaRPr lang="en-IN" altLang="en-US" sz="2400" dirty="0" smtClean="0"/>
          </a:p>
          <a:p>
            <a:r>
              <a:rPr lang="en-US" altLang="en-US" sz="2400" dirty="0" smtClean="0"/>
              <a:t>The </a:t>
            </a:r>
            <a:r>
              <a:rPr lang="en-US" altLang="en-US" sz="2400" dirty="0"/>
              <a:t>equivalent target program is created from this intermediate representation. </a:t>
            </a:r>
          </a:p>
          <a:p>
            <a:pPr lvl="1"/>
            <a:r>
              <a:rPr lang="en-US" altLang="en-US" sz="2400" dirty="0"/>
              <a:t>Intermediate Code Generator, Code Generator, and Code Optimizer are the parts of this phase</a:t>
            </a:r>
            <a:r>
              <a:rPr lang="en-US" altLang="en-US" sz="2400" dirty="0" smtClean="0"/>
              <a:t>.</a:t>
            </a:r>
          </a:p>
          <a:p>
            <a:pPr lvl="1"/>
            <a:endParaRPr lang="en-US" altLang="en-US" sz="2400" dirty="0"/>
          </a:p>
          <a:p>
            <a:endParaRPr lang="en-US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9055330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Major Parts of Compilers</a:t>
            </a:r>
          </a:p>
        </p:txBody>
      </p:sp>
      <p:sp>
        <p:nvSpPr>
          <p:cNvPr id="2457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IN" altLang="en-US" sz="2400" dirty="0" smtClean="0"/>
              <a:t>The </a:t>
            </a:r>
            <a:r>
              <a:rPr lang="en-IN" altLang="en-US" sz="2400" dirty="0"/>
              <a:t>analysis part is often called the front end of the compiler; the synthesis part is the back end</a:t>
            </a:r>
            <a:r>
              <a:rPr lang="en-IN" altLang="en-US" sz="2400" dirty="0" smtClean="0"/>
              <a:t>.</a:t>
            </a:r>
          </a:p>
          <a:p>
            <a:endParaRPr lang="en-IN" altLang="en-US" sz="2400" dirty="0"/>
          </a:p>
          <a:p>
            <a:r>
              <a:rPr lang="en-IN" altLang="en-US" sz="2400" dirty="0"/>
              <a:t>If we examine the compilation process in more detail, we see that it </a:t>
            </a:r>
            <a:r>
              <a:rPr lang="en-IN" altLang="en-US" sz="2400" dirty="0" smtClean="0"/>
              <a:t>operates as </a:t>
            </a:r>
            <a:r>
              <a:rPr lang="en-IN" altLang="en-US" sz="2400" dirty="0"/>
              <a:t>a sequence of phases, </a:t>
            </a:r>
            <a:endParaRPr lang="en-IN" altLang="en-US" sz="2400" dirty="0" smtClean="0"/>
          </a:p>
          <a:p>
            <a:endParaRPr lang="en-IN" altLang="en-US" sz="2400" dirty="0"/>
          </a:p>
          <a:p>
            <a:r>
              <a:rPr lang="en-IN" altLang="en-US" sz="2400" dirty="0" smtClean="0"/>
              <a:t>Each </a:t>
            </a:r>
            <a:r>
              <a:rPr lang="en-IN" altLang="en-US" sz="2400" dirty="0"/>
              <a:t>of which transforms one representation of </a:t>
            </a:r>
            <a:r>
              <a:rPr lang="en-IN" altLang="en-US" sz="2400" dirty="0" smtClean="0"/>
              <a:t>the source </a:t>
            </a:r>
            <a:r>
              <a:rPr lang="en-IN" altLang="en-US" sz="2400" dirty="0"/>
              <a:t>program to another</a:t>
            </a:r>
            <a:endParaRPr lang="en-US" altLang="en-US" sz="2400" dirty="0"/>
          </a:p>
          <a:p>
            <a:pPr lvl="1"/>
            <a:endParaRPr lang="en-US" altLang="en-US" sz="2400" dirty="0"/>
          </a:p>
          <a:p>
            <a:endParaRPr lang="en-US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0469700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Major Parts of Compilers</a:t>
            </a:r>
          </a:p>
        </p:txBody>
      </p:sp>
      <p:sp>
        <p:nvSpPr>
          <p:cNvPr id="2457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IN" altLang="en-US" sz="2400" dirty="0"/>
              <a:t>The symbol table, which stores information about the entire source program, is used by all phases of the compiler.</a:t>
            </a:r>
            <a:endParaRPr lang="en-US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034814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116632"/>
            <a:ext cx="8229600" cy="346050"/>
          </a:xfrm>
        </p:spPr>
        <p:txBody>
          <a:bodyPr>
            <a:noAutofit/>
          </a:bodyPr>
          <a:lstStyle/>
          <a:p>
            <a:r>
              <a:rPr lang="en-IN" sz="3200" dirty="0" smtClean="0"/>
              <a:t>Phases of compilers</a:t>
            </a:r>
            <a:endParaRPr lang="en-IN" sz="3200" dirty="0"/>
          </a:p>
        </p:txBody>
      </p:sp>
      <p:pic>
        <p:nvPicPr>
          <p:cNvPr id="1027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032" y="692696"/>
            <a:ext cx="8172400" cy="56060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323528" y="1038672"/>
            <a:ext cx="38655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/>
              <a:t>A typical decomposition of a compiler into phases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3147143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Phases of A Compiler</a:t>
            </a:r>
          </a:p>
        </p:txBody>
      </p:sp>
      <p:sp>
        <p:nvSpPr>
          <p:cNvPr id="10245" name="Text Box 3"/>
          <p:cNvSpPr txBox="1">
            <a:spLocks noChangeArrowheads="1"/>
          </p:cNvSpPr>
          <p:nvPr/>
        </p:nvSpPr>
        <p:spPr bwMode="auto">
          <a:xfrm>
            <a:off x="1547447" y="1905001"/>
            <a:ext cx="938077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altLang="en-US" sz="1600"/>
              <a:t>Lexical </a:t>
            </a:r>
          </a:p>
          <a:p>
            <a:r>
              <a:rPr lang="en-US" altLang="en-US" sz="1600"/>
              <a:t>Analyzer</a:t>
            </a:r>
          </a:p>
        </p:txBody>
      </p:sp>
      <p:sp>
        <p:nvSpPr>
          <p:cNvPr id="10246" name="Text Box 4"/>
          <p:cNvSpPr txBox="1">
            <a:spLocks noChangeArrowheads="1"/>
          </p:cNvSpPr>
          <p:nvPr/>
        </p:nvSpPr>
        <p:spPr bwMode="auto">
          <a:xfrm>
            <a:off x="3305908" y="1905001"/>
            <a:ext cx="1002197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altLang="en-US" sz="1600"/>
              <a:t>Semantic </a:t>
            </a:r>
          </a:p>
          <a:p>
            <a:r>
              <a:rPr lang="en-US" altLang="en-US" sz="1600"/>
              <a:t>Analyzer</a:t>
            </a:r>
          </a:p>
        </p:txBody>
      </p:sp>
      <p:sp>
        <p:nvSpPr>
          <p:cNvPr id="10247" name="Text Box 5"/>
          <p:cNvSpPr txBox="1">
            <a:spLocks noChangeArrowheads="1"/>
          </p:cNvSpPr>
          <p:nvPr/>
        </p:nvSpPr>
        <p:spPr bwMode="auto">
          <a:xfrm>
            <a:off x="2461847" y="1905001"/>
            <a:ext cx="938077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altLang="en-US" sz="1600"/>
              <a:t>Syntax </a:t>
            </a:r>
          </a:p>
          <a:p>
            <a:r>
              <a:rPr lang="en-US" altLang="en-US" sz="1600"/>
              <a:t>Analyzer</a:t>
            </a:r>
          </a:p>
        </p:txBody>
      </p:sp>
      <p:sp>
        <p:nvSpPr>
          <p:cNvPr id="10248" name="Text Box 6"/>
          <p:cNvSpPr txBox="1">
            <a:spLocks noChangeArrowheads="1"/>
          </p:cNvSpPr>
          <p:nvPr/>
        </p:nvSpPr>
        <p:spPr bwMode="auto">
          <a:xfrm>
            <a:off x="4290646" y="1905001"/>
            <a:ext cx="1491114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altLang="en-US" sz="1600"/>
              <a:t>Intermediate</a:t>
            </a:r>
          </a:p>
          <a:p>
            <a:r>
              <a:rPr lang="en-US" altLang="en-US" sz="1600"/>
              <a:t>Code Generator</a:t>
            </a:r>
          </a:p>
        </p:txBody>
      </p:sp>
      <p:sp>
        <p:nvSpPr>
          <p:cNvPr id="10249" name="Text Box 7"/>
          <p:cNvSpPr txBox="1">
            <a:spLocks noChangeArrowheads="1"/>
          </p:cNvSpPr>
          <p:nvPr/>
        </p:nvSpPr>
        <p:spPr bwMode="auto">
          <a:xfrm>
            <a:off x="5697416" y="1905001"/>
            <a:ext cx="1019831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altLang="en-US" sz="1600"/>
              <a:t>Code </a:t>
            </a:r>
          </a:p>
          <a:p>
            <a:r>
              <a:rPr lang="en-US" altLang="en-US" sz="1600"/>
              <a:t>Optimizer</a:t>
            </a:r>
          </a:p>
        </p:txBody>
      </p:sp>
      <p:sp>
        <p:nvSpPr>
          <p:cNvPr id="10250" name="Text Box 8"/>
          <p:cNvSpPr txBox="1">
            <a:spLocks noChangeArrowheads="1"/>
          </p:cNvSpPr>
          <p:nvPr/>
        </p:nvSpPr>
        <p:spPr bwMode="auto">
          <a:xfrm>
            <a:off x="6752492" y="1905001"/>
            <a:ext cx="1055077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altLang="en-US" sz="1600"/>
              <a:t>Code</a:t>
            </a:r>
          </a:p>
          <a:p>
            <a:r>
              <a:rPr lang="en-US" altLang="en-US" sz="1600"/>
              <a:t>Generator</a:t>
            </a:r>
          </a:p>
        </p:txBody>
      </p:sp>
      <p:sp>
        <p:nvSpPr>
          <p:cNvPr id="10251" name="Text Box 9"/>
          <p:cNvSpPr txBox="1">
            <a:spLocks noChangeArrowheads="1"/>
          </p:cNvSpPr>
          <p:nvPr/>
        </p:nvSpPr>
        <p:spPr bwMode="auto">
          <a:xfrm>
            <a:off x="8018585" y="1930401"/>
            <a:ext cx="82721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altLang="en-US" sz="1400" i="1"/>
              <a:t>Target</a:t>
            </a:r>
          </a:p>
          <a:p>
            <a:r>
              <a:rPr lang="en-US" altLang="en-US" sz="1400" i="1"/>
              <a:t>Program</a:t>
            </a:r>
          </a:p>
        </p:txBody>
      </p:sp>
      <p:sp>
        <p:nvSpPr>
          <p:cNvPr id="10252" name="Text Box 10"/>
          <p:cNvSpPr txBox="1">
            <a:spLocks noChangeArrowheads="1"/>
          </p:cNvSpPr>
          <p:nvPr/>
        </p:nvSpPr>
        <p:spPr bwMode="auto">
          <a:xfrm>
            <a:off x="562708" y="1981201"/>
            <a:ext cx="82721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altLang="en-US" sz="1400" i="1"/>
              <a:t>Source</a:t>
            </a:r>
          </a:p>
          <a:p>
            <a:r>
              <a:rPr lang="en-US" altLang="en-US" sz="1400" i="1"/>
              <a:t>Program</a:t>
            </a:r>
          </a:p>
        </p:txBody>
      </p:sp>
      <p:sp>
        <p:nvSpPr>
          <p:cNvPr id="10253" name="Line 11"/>
          <p:cNvSpPr>
            <a:spLocks noChangeShapeType="1"/>
          </p:cNvSpPr>
          <p:nvPr/>
        </p:nvSpPr>
        <p:spPr bwMode="auto">
          <a:xfrm>
            <a:off x="1336431" y="2209800"/>
            <a:ext cx="281354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0254" name="Line 12"/>
          <p:cNvSpPr>
            <a:spLocks noChangeShapeType="1"/>
          </p:cNvSpPr>
          <p:nvPr/>
        </p:nvSpPr>
        <p:spPr bwMode="auto">
          <a:xfrm>
            <a:off x="2250831" y="2209800"/>
            <a:ext cx="281354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0255" name="Line 13"/>
          <p:cNvSpPr>
            <a:spLocks noChangeShapeType="1"/>
          </p:cNvSpPr>
          <p:nvPr/>
        </p:nvSpPr>
        <p:spPr bwMode="auto">
          <a:xfrm>
            <a:off x="3235569" y="2209800"/>
            <a:ext cx="14067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0256" name="Line 14"/>
          <p:cNvSpPr>
            <a:spLocks noChangeShapeType="1"/>
          </p:cNvSpPr>
          <p:nvPr/>
        </p:nvSpPr>
        <p:spPr bwMode="auto">
          <a:xfrm>
            <a:off x="4149969" y="2209800"/>
            <a:ext cx="21101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0257" name="Line 15"/>
          <p:cNvSpPr>
            <a:spLocks noChangeShapeType="1"/>
          </p:cNvSpPr>
          <p:nvPr/>
        </p:nvSpPr>
        <p:spPr bwMode="auto">
          <a:xfrm>
            <a:off x="5556739" y="2209800"/>
            <a:ext cx="21101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0258" name="Line 16"/>
          <p:cNvSpPr>
            <a:spLocks noChangeShapeType="1"/>
          </p:cNvSpPr>
          <p:nvPr/>
        </p:nvSpPr>
        <p:spPr bwMode="auto">
          <a:xfrm>
            <a:off x="6541477" y="2209800"/>
            <a:ext cx="281354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0259" name="Line 17"/>
          <p:cNvSpPr>
            <a:spLocks noChangeShapeType="1"/>
          </p:cNvSpPr>
          <p:nvPr/>
        </p:nvSpPr>
        <p:spPr bwMode="auto">
          <a:xfrm>
            <a:off x="7596554" y="2209800"/>
            <a:ext cx="492369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0260" name="Text Box 18"/>
          <p:cNvSpPr txBox="1">
            <a:spLocks noChangeArrowheads="1"/>
          </p:cNvSpPr>
          <p:nvPr/>
        </p:nvSpPr>
        <p:spPr bwMode="auto">
          <a:xfrm>
            <a:off x="688731" y="3546476"/>
            <a:ext cx="8695009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buFontTx/>
              <a:buChar char="•"/>
            </a:pPr>
            <a:r>
              <a:rPr lang="en-US" altLang="en-US"/>
              <a:t> Each phase transforms the source program from one representation </a:t>
            </a:r>
          </a:p>
          <a:p>
            <a:r>
              <a:rPr lang="en-US" altLang="en-US"/>
              <a:t>  into another representation.</a:t>
            </a:r>
          </a:p>
          <a:p>
            <a:endParaRPr lang="en-US" altLang="en-US"/>
          </a:p>
          <a:p>
            <a:pPr>
              <a:buFontTx/>
              <a:buChar char="•"/>
            </a:pPr>
            <a:r>
              <a:rPr lang="en-US" altLang="en-US"/>
              <a:t> They communicate with error handlers.</a:t>
            </a:r>
          </a:p>
          <a:p>
            <a:endParaRPr lang="en-US" altLang="en-US"/>
          </a:p>
          <a:p>
            <a:pPr>
              <a:buFontTx/>
              <a:buChar char="•"/>
            </a:pPr>
            <a:r>
              <a:rPr lang="en-US" altLang="en-US"/>
              <a:t> They communicate with the symbol table.</a:t>
            </a:r>
          </a:p>
        </p:txBody>
      </p:sp>
    </p:spTree>
    <p:extLst>
      <p:ext uri="{BB962C8B-B14F-4D97-AF65-F5344CB8AC3E}">
        <p14:creationId xmlns:p14="http://schemas.microsoft.com/office/powerpoint/2010/main" val="24239811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8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Lexical Analyzer</a:t>
            </a:r>
          </a:p>
        </p:txBody>
      </p:sp>
      <p:sp>
        <p:nvSpPr>
          <p:cNvPr id="247811" name="Rectangle 3"/>
          <p:cNvSpPr>
            <a:spLocks noGrp="1" noChangeArrowheads="1"/>
          </p:cNvSpPr>
          <p:nvPr>
            <p:ph type="body" idx="1"/>
          </p:nvPr>
        </p:nvSpPr>
        <p:spPr/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/>
          <a:p>
            <a:pPr>
              <a:lnSpc>
                <a:spcPct val="90000"/>
              </a:lnSpc>
            </a:pPr>
            <a:r>
              <a:rPr lang="en-IN" altLang="en-US" dirty="0"/>
              <a:t>The </a:t>
            </a:r>
            <a:r>
              <a:rPr lang="en-IN" altLang="en-US" dirty="0" smtClean="0"/>
              <a:t>first </a:t>
            </a:r>
            <a:r>
              <a:rPr lang="en-IN" altLang="en-US" dirty="0"/>
              <a:t>phase of a compiler is called lexical analysis or scanning. </a:t>
            </a:r>
            <a:endParaRPr lang="en-IN" altLang="en-US" dirty="0" smtClean="0"/>
          </a:p>
          <a:p>
            <a:pPr>
              <a:lnSpc>
                <a:spcPct val="90000"/>
              </a:lnSpc>
            </a:pPr>
            <a:endParaRPr lang="en-IN" altLang="en-US" dirty="0" smtClean="0"/>
          </a:p>
          <a:p>
            <a:pPr>
              <a:lnSpc>
                <a:spcPct val="90000"/>
              </a:lnSpc>
            </a:pPr>
            <a:r>
              <a:rPr lang="en-IN" altLang="en-US" dirty="0" smtClean="0"/>
              <a:t>The lexical </a:t>
            </a:r>
            <a:r>
              <a:rPr lang="en-IN" altLang="en-US" dirty="0" err="1"/>
              <a:t>analyzer</a:t>
            </a:r>
            <a:r>
              <a:rPr lang="en-IN" altLang="en-US" dirty="0"/>
              <a:t> reads the stream of characters making up the source program and groups the characters into meaningful sequences called lexemes. </a:t>
            </a:r>
            <a:endParaRPr lang="en-IN" altLang="en-US" dirty="0" smtClean="0"/>
          </a:p>
          <a:p>
            <a:pPr>
              <a:lnSpc>
                <a:spcPct val="90000"/>
              </a:lnSpc>
            </a:pPr>
            <a:endParaRPr lang="en-IN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34211968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8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Lexical Analyzer</a:t>
            </a:r>
          </a:p>
        </p:txBody>
      </p:sp>
      <p:sp>
        <p:nvSpPr>
          <p:cNvPr id="247811" name="Rectangle 3"/>
          <p:cNvSpPr>
            <a:spLocks noGrp="1" noChangeArrowheads="1"/>
          </p:cNvSpPr>
          <p:nvPr>
            <p:ph type="body" idx="1"/>
          </p:nvPr>
        </p:nvSpPr>
        <p:spPr/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/>
          <a:p>
            <a:pPr>
              <a:lnSpc>
                <a:spcPct val="90000"/>
              </a:lnSpc>
            </a:pPr>
            <a:endParaRPr lang="en-IN" altLang="en-US" dirty="0" smtClean="0"/>
          </a:p>
          <a:p>
            <a:pPr>
              <a:lnSpc>
                <a:spcPct val="90000"/>
              </a:lnSpc>
            </a:pPr>
            <a:r>
              <a:rPr lang="en-IN" altLang="en-US" dirty="0" smtClean="0"/>
              <a:t>For each lexeme</a:t>
            </a:r>
            <a:r>
              <a:rPr lang="en-IN" altLang="en-US" dirty="0"/>
              <a:t>, the lexical </a:t>
            </a:r>
            <a:r>
              <a:rPr lang="en-IN" altLang="en-US" dirty="0" err="1"/>
              <a:t>analyzer</a:t>
            </a:r>
            <a:r>
              <a:rPr lang="en-IN" altLang="en-US" dirty="0"/>
              <a:t> produces as output a token of the </a:t>
            </a:r>
            <a:r>
              <a:rPr lang="en-IN" altLang="en-US" dirty="0" smtClean="0"/>
              <a:t>form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IN" altLang="en-US" dirty="0" smtClean="0"/>
              <a:t>	</a:t>
            </a:r>
            <a:r>
              <a:rPr lang="en-IN" altLang="en-US" b="1" dirty="0" smtClean="0"/>
              <a:t>&lt;token-name</a:t>
            </a:r>
            <a:r>
              <a:rPr lang="en-IN" altLang="en-US" b="1" dirty="0"/>
              <a:t>; </a:t>
            </a:r>
            <a:r>
              <a:rPr lang="en-IN" altLang="en-US" b="1" dirty="0" smtClean="0"/>
              <a:t>attribute-value&gt;</a:t>
            </a:r>
          </a:p>
          <a:p>
            <a:pPr>
              <a:lnSpc>
                <a:spcPct val="90000"/>
              </a:lnSpc>
            </a:pPr>
            <a:r>
              <a:rPr lang="en-IN" altLang="en-US" dirty="0" smtClean="0"/>
              <a:t>that </a:t>
            </a:r>
            <a:r>
              <a:rPr lang="en-IN" altLang="en-US" dirty="0"/>
              <a:t>it passes on to the subsequent phase, syntax analysis. </a:t>
            </a:r>
            <a:endParaRPr lang="en-IN" altLang="en-US" dirty="0" smtClean="0"/>
          </a:p>
          <a:p>
            <a:pPr>
              <a:lnSpc>
                <a:spcPct val="90000"/>
              </a:lnSpc>
            </a:pPr>
            <a:endParaRPr lang="en-IN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8837234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8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Lexical Analyzer</a:t>
            </a:r>
          </a:p>
        </p:txBody>
      </p:sp>
      <p:sp>
        <p:nvSpPr>
          <p:cNvPr id="247811" name="Rectangle 3"/>
          <p:cNvSpPr>
            <a:spLocks noGrp="1" noChangeArrowheads="1"/>
          </p:cNvSpPr>
          <p:nvPr>
            <p:ph type="body" idx="1"/>
          </p:nvPr>
        </p:nvSpPr>
        <p:spPr/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/>
          <a:p>
            <a:pPr marL="0" indent="0">
              <a:lnSpc>
                <a:spcPct val="90000"/>
              </a:lnSpc>
              <a:buNone/>
            </a:pPr>
            <a:endParaRPr lang="en-IN" altLang="en-US" dirty="0" smtClean="0"/>
          </a:p>
          <a:p>
            <a:pPr marL="0" indent="0">
              <a:lnSpc>
                <a:spcPct val="90000"/>
              </a:lnSpc>
              <a:buNone/>
            </a:pPr>
            <a:r>
              <a:rPr lang="en-IN" altLang="en-US" dirty="0" smtClean="0"/>
              <a:t>	</a:t>
            </a:r>
            <a:r>
              <a:rPr lang="en-IN" altLang="en-US" b="1" dirty="0" smtClean="0"/>
              <a:t>&lt;token-name</a:t>
            </a:r>
            <a:r>
              <a:rPr lang="en-IN" altLang="en-US" b="1" dirty="0"/>
              <a:t>; </a:t>
            </a:r>
            <a:r>
              <a:rPr lang="en-IN" altLang="en-US" b="1" dirty="0" smtClean="0"/>
              <a:t>attribute-value&gt;</a:t>
            </a:r>
          </a:p>
          <a:p>
            <a:pPr>
              <a:lnSpc>
                <a:spcPct val="90000"/>
              </a:lnSpc>
            </a:pPr>
            <a:endParaRPr lang="en-IN" altLang="en-US" dirty="0" smtClean="0"/>
          </a:p>
          <a:p>
            <a:pPr>
              <a:lnSpc>
                <a:spcPct val="90000"/>
              </a:lnSpc>
            </a:pPr>
            <a:r>
              <a:rPr lang="en-IN" altLang="en-US" dirty="0" smtClean="0"/>
              <a:t>In </a:t>
            </a:r>
            <a:r>
              <a:rPr lang="en-IN" altLang="en-US" dirty="0"/>
              <a:t>the token, </a:t>
            </a:r>
            <a:r>
              <a:rPr lang="en-IN" altLang="en-US" dirty="0" smtClean="0"/>
              <a:t>the first </a:t>
            </a:r>
            <a:r>
              <a:rPr lang="en-IN" altLang="en-US" dirty="0"/>
              <a:t>component token-name is an abstract symbol that is used during </a:t>
            </a:r>
            <a:r>
              <a:rPr lang="en-IN" altLang="en-US" dirty="0" smtClean="0"/>
              <a:t>syntax analysis</a:t>
            </a:r>
            <a:r>
              <a:rPr lang="en-IN" altLang="en-US" dirty="0"/>
              <a:t>, </a:t>
            </a:r>
            <a:endParaRPr lang="en-IN" altLang="en-US" dirty="0" smtClean="0"/>
          </a:p>
          <a:p>
            <a:pPr>
              <a:lnSpc>
                <a:spcPct val="90000"/>
              </a:lnSpc>
            </a:pPr>
            <a:endParaRPr lang="en-IN" altLang="en-US" dirty="0" smtClean="0"/>
          </a:p>
          <a:p>
            <a:pPr>
              <a:lnSpc>
                <a:spcPct val="90000"/>
              </a:lnSpc>
            </a:pPr>
            <a:r>
              <a:rPr lang="en-IN" altLang="en-US" dirty="0" smtClean="0"/>
              <a:t>The </a:t>
            </a:r>
            <a:r>
              <a:rPr lang="en-IN" altLang="en-US" dirty="0"/>
              <a:t>second component attribute-value points to an entry in </a:t>
            </a:r>
            <a:r>
              <a:rPr lang="en-IN" altLang="en-US" dirty="0" smtClean="0"/>
              <a:t>the symbol </a:t>
            </a:r>
            <a:r>
              <a:rPr lang="en-IN" altLang="en-US" dirty="0"/>
              <a:t>table for this token. </a:t>
            </a:r>
            <a:endParaRPr lang="en-IN" altLang="en-US" dirty="0" smtClean="0"/>
          </a:p>
          <a:p>
            <a:pPr>
              <a:lnSpc>
                <a:spcPct val="90000"/>
              </a:lnSpc>
            </a:pPr>
            <a:endParaRPr lang="en-IN" altLang="en-US" dirty="0" smtClean="0"/>
          </a:p>
          <a:p>
            <a:pPr>
              <a:lnSpc>
                <a:spcPct val="90000"/>
              </a:lnSpc>
            </a:pPr>
            <a:r>
              <a:rPr lang="en-IN" altLang="en-US" dirty="0" smtClean="0"/>
              <a:t>Information </a:t>
            </a:r>
            <a:r>
              <a:rPr lang="en-IN" altLang="en-US" dirty="0"/>
              <a:t>from the symbol-table entry is </a:t>
            </a:r>
            <a:r>
              <a:rPr lang="en-IN" altLang="en-US" dirty="0" smtClean="0"/>
              <a:t>needed for </a:t>
            </a:r>
            <a:r>
              <a:rPr lang="en-IN" altLang="en-US" dirty="0"/>
              <a:t>semantic analysis and code generation.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5809487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8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Lexical Analyzer</a:t>
            </a:r>
          </a:p>
        </p:txBody>
      </p:sp>
      <p:sp>
        <p:nvSpPr>
          <p:cNvPr id="2478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endParaRPr lang="en-US" altLang="en-US" dirty="0" smtClean="0">
              <a:latin typeface="Calibri" panose="020F0502020204030204" pitchFamily="34" charset="0"/>
            </a:endParaRPr>
          </a:p>
          <a:p>
            <a:pPr>
              <a:lnSpc>
                <a:spcPct val="90000"/>
              </a:lnSpc>
            </a:pPr>
            <a:r>
              <a:rPr lang="en-US" altLang="en-US" dirty="0" smtClean="0">
                <a:latin typeface="Calibri" panose="020F0502020204030204" pitchFamily="34" charset="0"/>
              </a:rPr>
              <a:t>A </a:t>
            </a:r>
            <a:r>
              <a:rPr lang="en-US" altLang="en-US" i="1" dirty="0">
                <a:latin typeface="Calibri" panose="020F0502020204030204" pitchFamily="34" charset="0"/>
              </a:rPr>
              <a:t>token</a:t>
            </a:r>
            <a:r>
              <a:rPr lang="en-US" altLang="en-US" dirty="0">
                <a:latin typeface="Calibri" panose="020F0502020204030204" pitchFamily="34" charset="0"/>
              </a:rPr>
              <a:t> describes a pattern of characters having same meaning in the source program. (such as identifiers, operators, keywords, numbers, </a:t>
            </a:r>
            <a:r>
              <a:rPr lang="en-US" altLang="en-US" dirty="0" err="1">
                <a:latin typeface="Calibri" panose="020F0502020204030204" pitchFamily="34" charset="0"/>
              </a:rPr>
              <a:t>delimeters</a:t>
            </a:r>
            <a:r>
              <a:rPr lang="en-US" altLang="en-US" dirty="0">
                <a:latin typeface="Calibri" panose="020F0502020204030204" pitchFamily="34" charset="0"/>
              </a:rPr>
              <a:t> and so on</a:t>
            </a:r>
            <a:r>
              <a:rPr lang="en-US" altLang="en-US" dirty="0" smtClean="0">
                <a:latin typeface="Calibri" panose="020F0502020204030204" pitchFamily="34" charset="0"/>
              </a:rPr>
              <a:t>)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dirty="0">
                <a:latin typeface="Calibri" panose="020F0502020204030204" pitchFamily="34" charset="0"/>
              </a:rPr>
              <a:t>	</a:t>
            </a:r>
          </a:p>
          <a:p>
            <a:pPr>
              <a:lnSpc>
                <a:spcPct val="90000"/>
              </a:lnSpc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4897402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8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Lexical Analyzer</a:t>
            </a:r>
          </a:p>
        </p:txBody>
      </p:sp>
      <p:sp>
        <p:nvSpPr>
          <p:cNvPr id="2478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IN" altLang="en-US" dirty="0" smtClean="0">
                <a:latin typeface="Calibri" panose="020F0502020204030204" pitchFamily="34" charset="0"/>
              </a:rPr>
              <a:t>For </a:t>
            </a:r>
            <a:r>
              <a:rPr lang="en-IN" altLang="en-US" dirty="0">
                <a:latin typeface="Calibri" panose="020F0502020204030204" pitchFamily="34" charset="0"/>
              </a:rPr>
              <a:t>example, suppose a source program contains the assignment statement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IN" altLang="en-US" dirty="0" smtClean="0">
                <a:latin typeface="Calibri" panose="020F0502020204030204" pitchFamily="34" charset="0"/>
              </a:rPr>
              <a:t>	</a:t>
            </a:r>
            <a:r>
              <a:rPr lang="en-IN" altLang="en-US" b="1" dirty="0" smtClean="0">
                <a:latin typeface="Calibri" panose="020F0502020204030204" pitchFamily="34" charset="0"/>
              </a:rPr>
              <a:t>position </a:t>
            </a:r>
            <a:r>
              <a:rPr lang="en-IN" altLang="en-US" b="1" dirty="0">
                <a:latin typeface="Calibri" panose="020F0502020204030204" pitchFamily="34" charset="0"/>
              </a:rPr>
              <a:t>= initial + rate * 60 </a:t>
            </a:r>
          </a:p>
          <a:p>
            <a:pPr>
              <a:lnSpc>
                <a:spcPct val="90000"/>
              </a:lnSpc>
            </a:pPr>
            <a:endParaRPr lang="en-IN" altLang="en-US" dirty="0" smtClean="0">
              <a:latin typeface="Calibri" panose="020F0502020204030204" pitchFamily="34" charset="0"/>
            </a:endParaRPr>
          </a:p>
          <a:p>
            <a:pPr>
              <a:lnSpc>
                <a:spcPct val="90000"/>
              </a:lnSpc>
            </a:pPr>
            <a:r>
              <a:rPr lang="en-IN" altLang="en-US" dirty="0">
                <a:latin typeface="Calibri" panose="020F0502020204030204" pitchFamily="34" charset="0"/>
              </a:rPr>
              <a:t>The characters in this assignment could be grouped into </a:t>
            </a:r>
            <a:r>
              <a:rPr lang="en-IN" altLang="en-US" dirty="0" smtClean="0">
                <a:latin typeface="Calibri" panose="020F0502020204030204" pitchFamily="34" charset="0"/>
              </a:rPr>
              <a:t>lexemes </a:t>
            </a:r>
            <a:r>
              <a:rPr lang="en-IN" altLang="en-US" dirty="0">
                <a:latin typeface="Calibri" panose="020F0502020204030204" pitchFamily="34" charset="0"/>
              </a:rPr>
              <a:t>and mapped into </a:t>
            </a:r>
            <a:r>
              <a:rPr lang="en-IN" altLang="en-US" dirty="0" smtClean="0">
                <a:latin typeface="Calibri" panose="020F0502020204030204" pitchFamily="34" charset="0"/>
              </a:rPr>
              <a:t>tokens </a:t>
            </a:r>
            <a:r>
              <a:rPr lang="en-IN" altLang="en-US" dirty="0">
                <a:latin typeface="Calibri" panose="020F0502020204030204" pitchFamily="34" charset="0"/>
              </a:rPr>
              <a:t>passed on to the syntax </a:t>
            </a:r>
            <a:r>
              <a:rPr lang="en-IN" altLang="en-US" dirty="0" err="1" smtClean="0">
                <a:latin typeface="Calibri" panose="020F0502020204030204" pitchFamily="34" charset="0"/>
              </a:rPr>
              <a:t>analyzer</a:t>
            </a:r>
            <a:endParaRPr lang="en-IN" altLang="en-US" dirty="0">
              <a:latin typeface="Calibri" panose="020F0502020204030204" pitchFamily="34" charset="0"/>
            </a:endParaRPr>
          </a:p>
          <a:p>
            <a:pPr>
              <a:lnSpc>
                <a:spcPct val="90000"/>
              </a:lnSpc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1940902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8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Lexical Analyzer</a:t>
            </a:r>
          </a:p>
        </p:txBody>
      </p:sp>
      <p:sp>
        <p:nvSpPr>
          <p:cNvPr id="2478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90000"/>
              </a:lnSpc>
              <a:buNone/>
            </a:pPr>
            <a:r>
              <a:rPr lang="en-IN" altLang="en-US" dirty="0" smtClean="0">
                <a:latin typeface="Calibri" panose="020F0502020204030204" pitchFamily="34" charset="0"/>
              </a:rPr>
              <a:t>	</a:t>
            </a:r>
            <a:r>
              <a:rPr lang="en-IN" altLang="en-US" b="1" dirty="0" smtClean="0">
                <a:latin typeface="Calibri" panose="020F0502020204030204" pitchFamily="34" charset="0"/>
              </a:rPr>
              <a:t>position </a:t>
            </a:r>
            <a:r>
              <a:rPr lang="en-IN" altLang="en-US" b="1" dirty="0">
                <a:latin typeface="Calibri" panose="020F0502020204030204" pitchFamily="34" charset="0"/>
              </a:rPr>
              <a:t>= initial + rate * 60 </a:t>
            </a:r>
          </a:p>
          <a:p>
            <a:pPr>
              <a:lnSpc>
                <a:spcPct val="90000"/>
              </a:lnSpc>
            </a:pPr>
            <a:endParaRPr lang="en-IN" altLang="en-US" dirty="0" smtClean="0">
              <a:latin typeface="Calibri" panose="020F0502020204030204" pitchFamily="34" charset="0"/>
            </a:endParaRPr>
          </a:p>
          <a:p>
            <a:pPr marL="457200" indent="-457200">
              <a:lnSpc>
                <a:spcPct val="90000"/>
              </a:lnSpc>
              <a:buFont typeface="+mj-lt"/>
              <a:buAutoNum type="arabicParenR"/>
            </a:pPr>
            <a:r>
              <a:rPr lang="en-IN" altLang="en-US" dirty="0" smtClean="0">
                <a:latin typeface="Calibri" panose="020F0502020204030204" pitchFamily="34" charset="0"/>
              </a:rPr>
              <a:t>position </a:t>
            </a:r>
            <a:r>
              <a:rPr lang="en-IN" altLang="en-US" dirty="0">
                <a:latin typeface="Calibri" panose="020F0502020204030204" pitchFamily="34" charset="0"/>
              </a:rPr>
              <a:t>is a lexeme that would be mapped into a token </a:t>
            </a:r>
            <a:r>
              <a:rPr lang="en-IN" altLang="en-US" dirty="0" smtClean="0">
                <a:latin typeface="Calibri" panose="020F0502020204030204" pitchFamily="34" charset="0"/>
              </a:rPr>
              <a:t>&lt;id,1&gt;, </a:t>
            </a:r>
          </a:p>
          <a:p>
            <a:pPr>
              <a:lnSpc>
                <a:spcPct val="90000"/>
              </a:lnSpc>
            </a:pPr>
            <a:r>
              <a:rPr lang="en-IN" altLang="en-US" dirty="0" smtClean="0">
                <a:latin typeface="Calibri" panose="020F0502020204030204" pitchFamily="34" charset="0"/>
              </a:rPr>
              <a:t>where id is </a:t>
            </a:r>
            <a:r>
              <a:rPr lang="en-IN" altLang="en-US" dirty="0">
                <a:latin typeface="Calibri" panose="020F0502020204030204" pitchFamily="34" charset="0"/>
              </a:rPr>
              <a:t>an abstract symbol standing for </a:t>
            </a:r>
            <a:r>
              <a:rPr lang="en-IN" altLang="en-US" dirty="0" smtClean="0">
                <a:latin typeface="Calibri" panose="020F0502020204030204" pitchFamily="34" charset="0"/>
              </a:rPr>
              <a:t>identifier and </a:t>
            </a:r>
          </a:p>
          <a:p>
            <a:pPr>
              <a:lnSpc>
                <a:spcPct val="90000"/>
              </a:lnSpc>
            </a:pPr>
            <a:r>
              <a:rPr lang="en-IN" altLang="en-US" dirty="0" smtClean="0">
                <a:latin typeface="Calibri" panose="020F0502020204030204" pitchFamily="34" charset="0"/>
              </a:rPr>
              <a:t>1 </a:t>
            </a:r>
            <a:r>
              <a:rPr lang="en-IN" altLang="en-US" dirty="0">
                <a:latin typeface="Calibri" panose="020F0502020204030204" pitchFamily="34" charset="0"/>
              </a:rPr>
              <a:t>points to the </a:t>
            </a:r>
            <a:r>
              <a:rPr lang="en-IN" altLang="en-US" dirty="0" smtClean="0">
                <a:latin typeface="Calibri" panose="020F0502020204030204" pitchFamily="34" charset="0"/>
              </a:rPr>
              <a:t>symbol-table </a:t>
            </a:r>
            <a:r>
              <a:rPr lang="en-IN" altLang="en-US" dirty="0">
                <a:latin typeface="Calibri" panose="020F0502020204030204" pitchFamily="34" charset="0"/>
              </a:rPr>
              <a:t>entry for position. </a:t>
            </a:r>
            <a:endParaRPr lang="en-IN" altLang="en-US" dirty="0" smtClean="0">
              <a:latin typeface="Calibri" panose="020F0502020204030204" pitchFamily="34" charset="0"/>
            </a:endParaRPr>
          </a:p>
          <a:p>
            <a:pPr>
              <a:lnSpc>
                <a:spcPct val="90000"/>
              </a:lnSpc>
            </a:pPr>
            <a:r>
              <a:rPr lang="en-IN" altLang="en-US" dirty="0" smtClean="0">
                <a:latin typeface="Calibri" panose="020F0502020204030204" pitchFamily="34" charset="0"/>
              </a:rPr>
              <a:t>The </a:t>
            </a:r>
            <a:r>
              <a:rPr lang="en-IN" altLang="en-US" dirty="0">
                <a:latin typeface="Calibri" panose="020F0502020204030204" pitchFamily="34" charset="0"/>
              </a:rPr>
              <a:t>symbol-table entry for an </a:t>
            </a:r>
            <a:r>
              <a:rPr lang="en-IN" altLang="en-US" dirty="0" smtClean="0">
                <a:latin typeface="Calibri" panose="020F0502020204030204" pitchFamily="34" charset="0"/>
              </a:rPr>
              <a:t>identifier holds information </a:t>
            </a:r>
            <a:r>
              <a:rPr lang="en-IN" altLang="en-US" dirty="0">
                <a:latin typeface="Calibri" panose="020F0502020204030204" pitchFamily="34" charset="0"/>
              </a:rPr>
              <a:t>about the </a:t>
            </a:r>
            <a:r>
              <a:rPr lang="en-IN" altLang="en-US" dirty="0" smtClean="0">
                <a:latin typeface="Calibri" panose="020F0502020204030204" pitchFamily="34" charset="0"/>
              </a:rPr>
              <a:t>identifier</a:t>
            </a:r>
            <a:r>
              <a:rPr lang="en-IN" altLang="en-US" dirty="0">
                <a:latin typeface="Calibri" panose="020F0502020204030204" pitchFamily="34" charset="0"/>
              </a:rPr>
              <a:t>, such as its name and type.</a:t>
            </a:r>
            <a:endParaRPr lang="en-US" altLang="en-US" dirty="0">
              <a:latin typeface="Calibri" panose="020F0502020204030204" pitchFamily="34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dirty="0">
                <a:latin typeface="Calibri" panose="020F0502020204030204" pitchFamily="34" charset="0"/>
              </a:rPr>
              <a:t>	</a:t>
            </a:r>
          </a:p>
          <a:p>
            <a:pPr>
              <a:lnSpc>
                <a:spcPct val="90000"/>
              </a:lnSpc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4994648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8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Lexical Analyzer</a:t>
            </a:r>
          </a:p>
        </p:txBody>
      </p:sp>
      <p:sp>
        <p:nvSpPr>
          <p:cNvPr id="2478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90000"/>
              </a:lnSpc>
              <a:buNone/>
            </a:pPr>
            <a:r>
              <a:rPr lang="en-IN" altLang="en-US" dirty="0" smtClean="0">
                <a:latin typeface="Calibri" panose="020F0502020204030204" pitchFamily="34" charset="0"/>
              </a:rPr>
              <a:t>	</a:t>
            </a:r>
            <a:r>
              <a:rPr lang="en-IN" altLang="en-US" b="1" dirty="0" smtClean="0">
                <a:latin typeface="Calibri" panose="020F0502020204030204" pitchFamily="34" charset="0"/>
              </a:rPr>
              <a:t>position </a:t>
            </a:r>
            <a:r>
              <a:rPr lang="en-IN" altLang="en-US" b="1" dirty="0">
                <a:latin typeface="Calibri" panose="020F0502020204030204" pitchFamily="34" charset="0"/>
              </a:rPr>
              <a:t>= initial + rate * 60 </a:t>
            </a:r>
          </a:p>
          <a:p>
            <a:pPr>
              <a:lnSpc>
                <a:spcPct val="90000"/>
              </a:lnSpc>
            </a:pPr>
            <a:endParaRPr lang="en-IN" altLang="en-US" dirty="0" smtClean="0">
              <a:latin typeface="Calibri" panose="020F0502020204030204" pitchFamily="34" charset="0"/>
            </a:endParaRPr>
          </a:p>
          <a:p>
            <a:pPr>
              <a:lnSpc>
                <a:spcPct val="90000"/>
              </a:lnSpc>
            </a:pPr>
            <a:r>
              <a:rPr lang="en-IN" altLang="en-US" dirty="0"/>
              <a:t>The assignment symbol = is a lexeme that is mapped into the token </a:t>
            </a:r>
            <a:r>
              <a:rPr lang="en-IN" altLang="en-US" dirty="0" smtClean="0"/>
              <a:t>&lt; = &gt;</a:t>
            </a:r>
            <a:endParaRPr lang="en-IN" altLang="en-US" dirty="0"/>
          </a:p>
          <a:p>
            <a:pPr>
              <a:lnSpc>
                <a:spcPct val="90000"/>
              </a:lnSpc>
            </a:pPr>
            <a:r>
              <a:rPr lang="en-IN" altLang="en-US" dirty="0"/>
              <a:t>Since this token needs no attribute-value, we have omitted the </a:t>
            </a:r>
            <a:r>
              <a:rPr lang="en-IN" altLang="en-US" dirty="0" smtClean="0"/>
              <a:t>second component</a:t>
            </a:r>
            <a:r>
              <a:rPr lang="en-IN" altLang="en-US" dirty="0"/>
              <a:t>. </a:t>
            </a:r>
            <a:endParaRPr lang="en-IN" altLang="en-US" dirty="0" smtClean="0"/>
          </a:p>
          <a:p>
            <a:pPr>
              <a:lnSpc>
                <a:spcPct val="90000"/>
              </a:lnSpc>
            </a:pPr>
            <a:r>
              <a:rPr lang="en-IN" altLang="en-US" dirty="0" smtClean="0"/>
              <a:t>We </a:t>
            </a:r>
            <a:r>
              <a:rPr lang="en-IN" altLang="en-US" dirty="0"/>
              <a:t>could have used any abstract symbol such as assign </a:t>
            </a:r>
            <a:r>
              <a:rPr lang="en-IN" altLang="en-US" dirty="0" smtClean="0"/>
              <a:t>for the </a:t>
            </a:r>
            <a:r>
              <a:rPr lang="en-IN" altLang="en-US" dirty="0"/>
              <a:t>token-name, but for notational convenience we have chosen to use </a:t>
            </a:r>
            <a:r>
              <a:rPr lang="en-IN" altLang="en-US" dirty="0" smtClean="0"/>
              <a:t>the lexeme </a:t>
            </a:r>
            <a:r>
              <a:rPr lang="en-IN" altLang="en-US" dirty="0"/>
              <a:t>itself as the name of the abstract symbol.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7691261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8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Lexical Analyzer</a:t>
            </a:r>
          </a:p>
        </p:txBody>
      </p:sp>
      <p:sp>
        <p:nvSpPr>
          <p:cNvPr id="2478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90000"/>
              </a:lnSpc>
              <a:buNone/>
            </a:pPr>
            <a:r>
              <a:rPr lang="en-IN" altLang="en-US" dirty="0" smtClean="0">
                <a:latin typeface="Calibri" panose="020F0502020204030204" pitchFamily="34" charset="0"/>
              </a:rPr>
              <a:t>	</a:t>
            </a:r>
            <a:r>
              <a:rPr lang="en-IN" altLang="en-US" b="1" dirty="0" smtClean="0">
                <a:latin typeface="Calibri" panose="020F0502020204030204" pitchFamily="34" charset="0"/>
              </a:rPr>
              <a:t>position </a:t>
            </a:r>
            <a:r>
              <a:rPr lang="en-IN" altLang="en-US" b="1" dirty="0">
                <a:latin typeface="Calibri" panose="020F0502020204030204" pitchFamily="34" charset="0"/>
              </a:rPr>
              <a:t>= initial + rate * 60 </a:t>
            </a:r>
          </a:p>
          <a:p>
            <a:pPr>
              <a:lnSpc>
                <a:spcPct val="90000"/>
              </a:lnSpc>
            </a:pPr>
            <a:endParaRPr lang="en-IN" altLang="en-US" dirty="0" smtClean="0">
              <a:latin typeface="Calibri" panose="020F0502020204030204" pitchFamily="34" charset="0"/>
            </a:endParaRPr>
          </a:p>
          <a:p>
            <a:pPr>
              <a:lnSpc>
                <a:spcPct val="90000"/>
              </a:lnSpc>
            </a:pPr>
            <a:r>
              <a:rPr lang="en-IN" altLang="en-US" dirty="0" smtClean="0">
                <a:latin typeface="Calibri" panose="020F0502020204030204" pitchFamily="34" charset="0"/>
              </a:rPr>
              <a:t>initial </a:t>
            </a:r>
            <a:r>
              <a:rPr lang="en-IN" altLang="en-US" dirty="0">
                <a:latin typeface="Calibri" panose="020F0502020204030204" pitchFamily="34" charset="0"/>
              </a:rPr>
              <a:t>is a lexeme that is mapped into the token </a:t>
            </a:r>
            <a:r>
              <a:rPr lang="en-IN" altLang="en-US" dirty="0" smtClean="0">
                <a:latin typeface="Calibri" panose="020F0502020204030204" pitchFamily="34" charset="0"/>
              </a:rPr>
              <a:t>&lt;id, 2&gt;, </a:t>
            </a:r>
          </a:p>
          <a:p>
            <a:pPr lvl="1">
              <a:lnSpc>
                <a:spcPct val="90000"/>
              </a:lnSpc>
            </a:pPr>
            <a:r>
              <a:rPr lang="en-IN" altLang="en-US" sz="2400" dirty="0" smtClean="0">
                <a:latin typeface="Calibri" panose="020F0502020204030204" pitchFamily="34" charset="0"/>
              </a:rPr>
              <a:t>where </a:t>
            </a:r>
            <a:r>
              <a:rPr lang="en-IN" altLang="en-US" sz="2400" dirty="0">
                <a:latin typeface="Calibri" panose="020F0502020204030204" pitchFamily="34" charset="0"/>
              </a:rPr>
              <a:t>2 </a:t>
            </a:r>
            <a:r>
              <a:rPr lang="en-IN" altLang="en-US" sz="2400" dirty="0" smtClean="0">
                <a:latin typeface="Calibri" panose="020F0502020204030204" pitchFamily="34" charset="0"/>
              </a:rPr>
              <a:t>points to </a:t>
            </a:r>
            <a:r>
              <a:rPr lang="en-IN" altLang="en-US" sz="2400" dirty="0">
                <a:latin typeface="Calibri" panose="020F0502020204030204" pitchFamily="34" charset="0"/>
              </a:rPr>
              <a:t>the symbol-table entry for initial</a:t>
            </a:r>
            <a:r>
              <a:rPr lang="en-IN" altLang="en-US" sz="2400" dirty="0" smtClean="0">
                <a:latin typeface="Calibri" panose="020F0502020204030204" pitchFamily="34" charset="0"/>
              </a:rPr>
              <a:t>.</a:t>
            </a:r>
          </a:p>
          <a:p>
            <a:pPr marL="457200" lvl="1" indent="0">
              <a:lnSpc>
                <a:spcPct val="90000"/>
              </a:lnSpc>
              <a:buNone/>
            </a:pPr>
            <a:endParaRPr lang="en-IN" altLang="en-US" sz="2400" dirty="0" smtClean="0">
              <a:latin typeface="Calibri" panose="020F0502020204030204" pitchFamily="34" charset="0"/>
            </a:endParaRPr>
          </a:p>
          <a:p>
            <a:pPr>
              <a:lnSpc>
                <a:spcPct val="90000"/>
              </a:lnSpc>
            </a:pPr>
            <a:r>
              <a:rPr lang="en-IN" altLang="en-US" dirty="0">
                <a:latin typeface="Calibri" panose="020F0502020204030204" pitchFamily="34" charset="0"/>
              </a:rPr>
              <a:t>+ is a lexeme that is mapped into the token </a:t>
            </a:r>
            <a:r>
              <a:rPr lang="en-IN" altLang="en-US" dirty="0" smtClean="0">
                <a:latin typeface="Calibri" panose="020F0502020204030204" pitchFamily="34" charset="0"/>
              </a:rPr>
              <a:t>&lt;+&gt;</a:t>
            </a:r>
          </a:p>
          <a:p>
            <a:pPr>
              <a:lnSpc>
                <a:spcPct val="90000"/>
              </a:lnSpc>
            </a:pPr>
            <a:endParaRPr lang="en-IN" altLang="en-US" dirty="0" smtClean="0">
              <a:latin typeface="Calibri" panose="020F0502020204030204" pitchFamily="34" charset="0"/>
            </a:endParaRPr>
          </a:p>
          <a:p>
            <a:pPr>
              <a:lnSpc>
                <a:spcPct val="90000"/>
              </a:lnSpc>
            </a:pPr>
            <a:r>
              <a:rPr lang="en-IN" altLang="en-US" dirty="0" smtClean="0">
                <a:latin typeface="Calibri" panose="020F0502020204030204" pitchFamily="34" charset="0"/>
              </a:rPr>
              <a:t>rate </a:t>
            </a:r>
            <a:r>
              <a:rPr lang="en-IN" altLang="en-US" dirty="0">
                <a:latin typeface="Calibri" panose="020F0502020204030204" pitchFamily="34" charset="0"/>
              </a:rPr>
              <a:t>is a lexeme that is mapped into the token </a:t>
            </a:r>
            <a:r>
              <a:rPr lang="en-IN" altLang="en-US" dirty="0" smtClean="0">
                <a:latin typeface="Calibri" panose="020F0502020204030204" pitchFamily="34" charset="0"/>
              </a:rPr>
              <a:t>&lt;id, 3&gt;, </a:t>
            </a:r>
          </a:p>
          <a:p>
            <a:pPr lvl="1">
              <a:lnSpc>
                <a:spcPct val="90000"/>
              </a:lnSpc>
            </a:pPr>
            <a:r>
              <a:rPr lang="en-IN" altLang="en-US" sz="2400" dirty="0" smtClean="0">
                <a:latin typeface="Calibri" panose="020F0502020204030204" pitchFamily="34" charset="0"/>
              </a:rPr>
              <a:t>where </a:t>
            </a:r>
            <a:r>
              <a:rPr lang="en-IN" altLang="en-US" sz="2400" dirty="0">
                <a:latin typeface="Calibri" panose="020F0502020204030204" pitchFamily="34" charset="0"/>
              </a:rPr>
              <a:t>3 points </a:t>
            </a:r>
            <a:r>
              <a:rPr lang="en-IN" altLang="en-US" sz="2400" dirty="0" smtClean="0">
                <a:latin typeface="Calibri" panose="020F0502020204030204" pitchFamily="34" charset="0"/>
              </a:rPr>
              <a:t>to the </a:t>
            </a:r>
            <a:r>
              <a:rPr lang="en-IN" altLang="en-US" sz="2400" dirty="0">
                <a:latin typeface="Calibri" panose="020F0502020204030204" pitchFamily="34" charset="0"/>
              </a:rPr>
              <a:t>symbol-table entry for rate</a:t>
            </a:r>
            <a:r>
              <a:rPr lang="en-IN" altLang="en-US" sz="2400" dirty="0" smtClean="0">
                <a:latin typeface="Calibri" panose="020F0502020204030204" pitchFamily="34" charset="0"/>
              </a:rPr>
              <a:t>.</a:t>
            </a:r>
          </a:p>
          <a:p>
            <a:pPr>
              <a:lnSpc>
                <a:spcPct val="90000"/>
              </a:lnSpc>
            </a:pPr>
            <a:endParaRPr lang="en-IN" altLang="en-US" dirty="0" smtClean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1825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8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Lexical Analyzer</a:t>
            </a:r>
          </a:p>
        </p:txBody>
      </p:sp>
      <p:sp>
        <p:nvSpPr>
          <p:cNvPr id="2478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90000"/>
              </a:lnSpc>
              <a:buNone/>
            </a:pPr>
            <a:r>
              <a:rPr lang="en-IN" altLang="en-US" dirty="0" smtClean="0">
                <a:latin typeface="Calibri" panose="020F0502020204030204" pitchFamily="34" charset="0"/>
              </a:rPr>
              <a:t>	</a:t>
            </a:r>
            <a:r>
              <a:rPr lang="en-IN" altLang="en-US" b="1" dirty="0" smtClean="0">
                <a:latin typeface="Calibri" panose="020F0502020204030204" pitchFamily="34" charset="0"/>
              </a:rPr>
              <a:t>position </a:t>
            </a:r>
            <a:r>
              <a:rPr lang="en-IN" altLang="en-US" b="1" dirty="0">
                <a:latin typeface="Calibri" panose="020F0502020204030204" pitchFamily="34" charset="0"/>
              </a:rPr>
              <a:t>= initial + rate * 60 </a:t>
            </a:r>
          </a:p>
          <a:p>
            <a:pPr>
              <a:lnSpc>
                <a:spcPct val="90000"/>
              </a:lnSpc>
            </a:pPr>
            <a:endParaRPr lang="en-IN" altLang="en-US" dirty="0" smtClean="0">
              <a:latin typeface="Calibri" panose="020F0502020204030204" pitchFamily="34" charset="0"/>
            </a:endParaRPr>
          </a:p>
          <a:p>
            <a:pPr>
              <a:lnSpc>
                <a:spcPct val="90000"/>
              </a:lnSpc>
            </a:pPr>
            <a:r>
              <a:rPr lang="en-IN" altLang="en-US" dirty="0" smtClean="0">
                <a:latin typeface="Calibri" panose="020F0502020204030204" pitchFamily="34" charset="0"/>
              </a:rPr>
              <a:t>* </a:t>
            </a:r>
            <a:r>
              <a:rPr lang="en-IN" altLang="en-US" dirty="0">
                <a:latin typeface="Calibri" panose="020F0502020204030204" pitchFamily="34" charset="0"/>
              </a:rPr>
              <a:t>is a lexeme that is mapped into the token </a:t>
            </a:r>
            <a:r>
              <a:rPr lang="en-IN" altLang="en-US" dirty="0" smtClean="0">
                <a:latin typeface="Calibri" panose="020F0502020204030204" pitchFamily="34" charset="0"/>
              </a:rPr>
              <a:t>&lt;*&gt;</a:t>
            </a:r>
            <a:endParaRPr lang="en-IN" altLang="en-US" dirty="0">
              <a:latin typeface="Calibri" panose="020F0502020204030204" pitchFamily="34" charset="0"/>
            </a:endParaRPr>
          </a:p>
          <a:p>
            <a:pPr>
              <a:lnSpc>
                <a:spcPct val="90000"/>
              </a:lnSpc>
            </a:pPr>
            <a:endParaRPr lang="en-IN" altLang="en-US" dirty="0" smtClean="0">
              <a:latin typeface="Calibri" panose="020F0502020204030204" pitchFamily="34" charset="0"/>
            </a:endParaRPr>
          </a:p>
          <a:p>
            <a:pPr>
              <a:lnSpc>
                <a:spcPct val="90000"/>
              </a:lnSpc>
            </a:pPr>
            <a:r>
              <a:rPr lang="en-IN" altLang="en-US" dirty="0" smtClean="0">
                <a:latin typeface="Calibri" panose="020F0502020204030204" pitchFamily="34" charset="0"/>
              </a:rPr>
              <a:t>60 </a:t>
            </a:r>
            <a:r>
              <a:rPr lang="en-IN" altLang="en-US" dirty="0">
                <a:latin typeface="Calibri" panose="020F0502020204030204" pitchFamily="34" charset="0"/>
              </a:rPr>
              <a:t>is a lexeme that is mapped into the token </a:t>
            </a:r>
            <a:r>
              <a:rPr lang="en-IN" altLang="en-US" dirty="0" smtClean="0">
                <a:latin typeface="Calibri" panose="020F0502020204030204" pitchFamily="34" charset="0"/>
              </a:rPr>
              <a:t>&lt;60&gt;</a:t>
            </a:r>
          </a:p>
          <a:p>
            <a:pPr>
              <a:lnSpc>
                <a:spcPct val="90000"/>
              </a:lnSpc>
            </a:pPr>
            <a:endParaRPr lang="en-IN" altLang="en-US" dirty="0" smtClean="0">
              <a:latin typeface="Calibri" panose="020F0502020204030204" pitchFamily="34" charset="0"/>
            </a:endParaRPr>
          </a:p>
          <a:p>
            <a:pPr>
              <a:lnSpc>
                <a:spcPct val="90000"/>
              </a:lnSpc>
            </a:pPr>
            <a:r>
              <a:rPr lang="en-IN" altLang="en-US" dirty="0" smtClean="0">
                <a:latin typeface="Calibri" panose="020F0502020204030204" pitchFamily="34" charset="0"/>
              </a:rPr>
              <a:t>Blanks </a:t>
            </a:r>
            <a:r>
              <a:rPr lang="en-IN" altLang="en-US" dirty="0">
                <a:latin typeface="Calibri" panose="020F0502020204030204" pitchFamily="34" charset="0"/>
              </a:rPr>
              <a:t>separating the lexemes would be discarded by the lexical </a:t>
            </a:r>
            <a:r>
              <a:rPr lang="en-IN" altLang="en-US" dirty="0" err="1">
                <a:latin typeface="Calibri" panose="020F0502020204030204" pitchFamily="34" charset="0"/>
              </a:rPr>
              <a:t>analyzer</a:t>
            </a:r>
            <a:r>
              <a:rPr lang="en-IN" altLang="en-US" dirty="0">
                <a:latin typeface="Calibri" panose="020F0502020204030204" pitchFamily="34" charset="0"/>
              </a:rPr>
              <a:t>.</a:t>
            </a:r>
            <a:endParaRPr lang="en-IN" altLang="en-US" dirty="0" smtClean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73992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8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Lexical Analyzer</a:t>
            </a:r>
          </a:p>
        </p:txBody>
      </p:sp>
      <p:sp>
        <p:nvSpPr>
          <p:cNvPr id="2478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90000"/>
              </a:lnSpc>
              <a:buNone/>
            </a:pPr>
            <a:r>
              <a:rPr lang="en-IN" altLang="en-US" dirty="0" smtClean="0">
                <a:latin typeface="Calibri" panose="020F0502020204030204" pitchFamily="34" charset="0"/>
              </a:rPr>
              <a:t>	</a:t>
            </a:r>
            <a:r>
              <a:rPr lang="en-IN" altLang="en-US" b="1" dirty="0" smtClean="0">
                <a:latin typeface="Calibri" panose="020F0502020204030204" pitchFamily="34" charset="0"/>
              </a:rPr>
              <a:t>position </a:t>
            </a:r>
            <a:r>
              <a:rPr lang="en-IN" altLang="en-US" b="1" dirty="0">
                <a:latin typeface="Calibri" panose="020F0502020204030204" pitchFamily="34" charset="0"/>
              </a:rPr>
              <a:t>= initial + rate * 60 </a:t>
            </a:r>
            <a:endParaRPr lang="en-IN" altLang="en-US" b="1" dirty="0" smtClean="0">
              <a:latin typeface="Calibri" panose="020F0502020204030204" pitchFamily="34" charset="0"/>
            </a:endParaRPr>
          </a:p>
          <a:p>
            <a:pPr>
              <a:lnSpc>
                <a:spcPct val="90000"/>
              </a:lnSpc>
            </a:pPr>
            <a:r>
              <a:rPr lang="en-IN" altLang="en-US" dirty="0">
                <a:latin typeface="Calibri" panose="020F0502020204030204" pitchFamily="34" charset="0"/>
              </a:rPr>
              <a:t>the representation of the assignment statement </a:t>
            </a:r>
            <a:r>
              <a:rPr lang="en-IN" altLang="en-US" dirty="0" smtClean="0">
                <a:latin typeface="Calibri" panose="020F0502020204030204" pitchFamily="34" charset="0"/>
              </a:rPr>
              <a:t>after lexical analysis </a:t>
            </a:r>
            <a:r>
              <a:rPr lang="en-IN" altLang="en-US" dirty="0">
                <a:latin typeface="Calibri" panose="020F0502020204030204" pitchFamily="34" charset="0"/>
              </a:rPr>
              <a:t>as the sequence of tokens</a:t>
            </a:r>
          </a:p>
          <a:p>
            <a:pPr marL="0" indent="0">
              <a:lnSpc>
                <a:spcPct val="90000"/>
              </a:lnSpc>
              <a:buNone/>
            </a:pPr>
            <a:endParaRPr lang="en-IN" altLang="en-US" dirty="0" smtClean="0">
              <a:latin typeface="Calibri" panose="020F0502020204030204" pitchFamily="34" charset="0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IN" altLang="en-US" dirty="0">
                <a:latin typeface="Calibri" panose="020F0502020204030204" pitchFamily="34" charset="0"/>
              </a:rPr>
              <a:t>	</a:t>
            </a:r>
            <a:r>
              <a:rPr lang="en-IN" altLang="en-US" b="1" dirty="0" smtClean="0">
                <a:latin typeface="Calibri" panose="020F0502020204030204" pitchFamily="34" charset="0"/>
              </a:rPr>
              <a:t>&lt;id,1&gt; &lt; = &gt; &lt;id, 2&gt; &lt;+&gt; &lt;id, 3&gt;&lt;*&gt;&lt;60&gt;</a:t>
            </a:r>
            <a:endParaRPr lang="en-IN" altLang="en-US" b="1" dirty="0">
              <a:latin typeface="Calibri" panose="020F0502020204030204" pitchFamily="34" charset="0"/>
            </a:endParaRPr>
          </a:p>
          <a:p>
            <a:pPr>
              <a:lnSpc>
                <a:spcPct val="90000"/>
              </a:lnSpc>
            </a:pPr>
            <a:endParaRPr lang="en-IN" altLang="en-US" dirty="0" smtClean="0">
              <a:latin typeface="Calibri" panose="020F0502020204030204" pitchFamily="34" charset="0"/>
            </a:endParaRPr>
          </a:p>
          <a:p>
            <a:pPr>
              <a:lnSpc>
                <a:spcPct val="90000"/>
              </a:lnSpc>
            </a:pPr>
            <a:r>
              <a:rPr lang="en-IN" altLang="en-US" dirty="0" smtClean="0">
                <a:latin typeface="Calibri" panose="020F0502020204030204" pitchFamily="34" charset="0"/>
              </a:rPr>
              <a:t>In </a:t>
            </a:r>
            <a:r>
              <a:rPr lang="en-IN" altLang="en-US" dirty="0">
                <a:latin typeface="Calibri" panose="020F0502020204030204" pitchFamily="34" charset="0"/>
              </a:rPr>
              <a:t>this representation, the token names =, +, and </a:t>
            </a:r>
            <a:r>
              <a:rPr lang="en-IN" altLang="en-US" dirty="0" smtClean="0">
                <a:latin typeface="Calibri" panose="020F0502020204030204" pitchFamily="34" charset="0"/>
              </a:rPr>
              <a:t>* </a:t>
            </a:r>
            <a:r>
              <a:rPr lang="en-IN" altLang="en-US" dirty="0">
                <a:latin typeface="Calibri" panose="020F0502020204030204" pitchFamily="34" charset="0"/>
              </a:rPr>
              <a:t>are abstract symbols </a:t>
            </a:r>
            <a:r>
              <a:rPr lang="en-IN" altLang="en-US" dirty="0" smtClean="0">
                <a:latin typeface="Calibri" panose="020F0502020204030204" pitchFamily="34" charset="0"/>
              </a:rPr>
              <a:t>for the </a:t>
            </a:r>
            <a:r>
              <a:rPr lang="en-IN" altLang="en-US" dirty="0">
                <a:latin typeface="Calibri" panose="020F0502020204030204" pitchFamily="34" charset="0"/>
              </a:rPr>
              <a:t>assignment, addition, and multiplication operators, respectively.</a:t>
            </a:r>
          </a:p>
        </p:txBody>
      </p:sp>
    </p:spTree>
    <p:extLst>
      <p:ext uri="{BB962C8B-B14F-4D97-AF65-F5344CB8AC3E}">
        <p14:creationId xmlns:p14="http://schemas.microsoft.com/office/powerpoint/2010/main" val="3717732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8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Lexical Analyzer</a:t>
            </a:r>
          </a:p>
        </p:txBody>
      </p:sp>
      <p:sp>
        <p:nvSpPr>
          <p:cNvPr id="2478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en-US" altLang="en-US" dirty="0"/>
              <a:t>	</a:t>
            </a:r>
            <a:endParaRPr lang="en-US" altLang="en-US" dirty="0" smtClean="0"/>
          </a:p>
          <a:p>
            <a:pPr>
              <a:lnSpc>
                <a:spcPct val="90000"/>
              </a:lnSpc>
            </a:pPr>
            <a:r>
              <a:rPr lang="en-US" altLang="en-US" dirty="0" smtClean="0"/>
              <a:t>Puts </a:t>
            </a:r>
            <a:r>
              <a:rPr lang="en-US" altLang="en-US" dirty="0"/>
              <a:t>information about identifiers into the symbol table.</a:t>
            </a:r>
          </a:p>
          <a:p>
            <a:pPr>
              <a:lnSpc>
                <a:spcPct val="90000"/>
              </a:lnSpc>
            </a:pPr>
            <a:endParaRPr lang="en-US" altLang="en-US" dirty="0" smtClean="0"/>
          </a:p>
          <a:p>
            <a:pPr>
              <a:lnSpc>
                <a:spcPct val="90000"/>
              </a:lnSpc>
            </a:pPr>
            <a:r>
              <a:rPr lang="en-US" altLang="en-US" dirty="0" smtClean="0"/>
              <a:t>Regular </a:t>
            </a:r>
            <a:r>
              <a:rPr lang="en-US" altLang="en-US" dirty="0"/>
              <a:t>expressions are used to describe tokens (lexical constructs).</a:t>
            </a:r>
          </a:p>
          <a:p>
            <a:pPr>
              <a:lnSpc>
                <a:spcPct val="90000"/>
              </a:lnSpc>
            </a:pPr>
            <a:endParaRPr lang="en-US" altLang="en-US" dirty="0" smtClean="0"/>
          </a:p>
          <a:p>
            <a:pPr>
              <a:lnSpc>
                <a:spcPct val="90000"/>
              </a:lnSpc>
            </a:pPr>
            <a:r>
              <a:rPr lang="en-US" altLang="en-US" dirty="0" smtClean="0"/>
              <a:t>A </a:t>
            </a:r>
            <a:r>
              <a:rPr lang="en-US" altLang="en-US" dirty="0"/>
              <a:t>(Deterministic) Finite State Automaton can be used in the implementation of a lexical analyzer.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altLang="en-US" sz="1400" dirty="0"/>
          </a:p>
          <a:p>
            <a:pPr>
              <a:lnSpc>
                <a:spcPct val="90000"/>
              </a:lnSpc>
            </a:pPr>
            <a:endParaRPr lang="en-US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252483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/>
              <a:t>Syntax Analyzer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The second phase of the compiler is syntax analysis or parsing. </a:t>
            </a:r>
          </a:p>
          <a:p>
            <a:endParaRPr lang="en-IN" dirty="0" smtClean="0"/>
          </a:p>
          <a:p>
            <a:r>
              <a:rPr lang="en-IN" dirty="0" smtClean="0"/>
              <a:t>The parser uses the tokens produced by the lexical </a:t>
            </a:r>
            <a:r>
              <a:rPr lang="en-IN" dirty="0" err="1" smtClean="0"/>
              <a:t>analyzer</a:t>
            </a:r>
            <a:r>
              <a:rPr lang="en-IN" dirty="0" smtClean="0"/>
              <a:t> to create a tree-like intermediate representation that depicts the grammatical structure of the token stream. </a:t>
            </a:r>
          </a:p>
          <a:p>
            <a:endParaRPr lang="en-IN" dirty="0" smtClean="0"/>
          </a:p>
        </p:txBody>
      </p:sp>
    </p:spTree>
    <p:extLst>
      <p:ext uri="{BB962C8B-B14F-4D97-AF65-F5344CB8AC3E}">
        <p14:creationId xmlns:p14="http://schemas.microsoft.com/office/powerpoint/2010/main" val="11025483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/>
              <a:t>Syntax Analyzer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 syntax tree for the token stream </a:t>
            </a:r>
            <a:r>
              <a:rPr lang="en-IN" dirty="0" smtClean="0"/>
              <a:t>is:</a:t>
            </a:r>
          </a:p>
          <a:p>
            <a:endParaRPr lang="en-IN" dirty="0"/>
          </a:p>
          <a:p>
            <a:endParaRPr lang="en-IN" dirty="0" smtClean="0"/>
          </a:p>
          <a:p>
            <a:endParaRPr lang="en-IN" dirty="0"/>
          </a:p>
          <a:p>
            <a:endParaRPr lang="en-IN" dirty="0" smtClean="0"/>
          </a:p>
          <a:p>
            <a:endParaRPr lang="en-IN" dirty="0"/>
          </a:p>
          <a:p>
            <a:endParaRPr lang="en-IN" dirty="0" smtClean="0"/>
          </a:p>
          <a:p>
            <a:r>
              <a:rPr lang="en-IN" dirty="0"/>
              <a:t>A typical representation is a syntax tree in which each interior node represents an operation and the children of the node represent the arguments of the operation.</a:t>
            </a:r>
          </a:p>
          <a:p>
            <a:endParaRPr lang="en-IN" dirty="0" smtClean="0"/>
          </a:p>
          <a:p>
            <a:endParaRPr lang="en-IN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418" y="1988840"/>
            <a:ext cx="6256359" cy="20354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368171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9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Parsing Techniques</a:t>
            </a:r>
          </a:p>
        </p:txBody>
      </p:sp>
      <p:sp>
        <p:nvSpPr>
          <p:cNvPr id="2519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51692" y="1066800"/>
            <a:ext cx="8651631" cy="52578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Depending on how the parse tree is created, there are different parsing techniques.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These parsing techniques are categorized into two groups: </a:t>
            </a:r>
          </a:p>
          <a:p>
            <a:pPr lvl="1">
              <a:lnSpc>
                <a:spcPct val="90000"/>
              </a:lnSpc>
            </a:pPr>
            <a:r>
              <a:rPr lang="en-US" altLang="en-US" sz="2400" b="1" i="1" dirty="0"/>
              <a:t>Top-Down Parsing, </a:t>
            </a:r>
          </a:p>
          <a:p>
            <a:pPr lvl="1">
              <a:lnSpc>
                <a:spcPct val="90000"/>
              </a:lnSpc>
            </a:pPr>
            <a:r>
              <a:rPr lang="en-US" altLang="en-US" sz="2400" b="1" i="1" dirty="0"/>
              <a:t>Bottom-Up </a:t>
            </a:r>
            <a:r>
              <a:rPr lang="en-US" altLang="en-US" sz="2400" b="1" i="1" dirty="0" smtClean="0"/>
              <a:t>Parsing</a:t>
            </a:r>
            <a:endParaRPr lang="en-US" altLang="en-US" sz="2400" b="1" i="1" dirty="0"/>
          </a:p>
        </p:txBody>
      </p:sp>
    </p:spTree>
    <p:extLst>
      <p:ext uri="{BB962C8B-B14F-4D97-AF65-F5344CB8AC3E}">
        <p14:creationId xmlns:p14="http://schemas.microsoft.com/office/powerpoint/2010/main" val="4642145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9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Parsing Techniques</a:t>
            </a:r>
          </a:p>
        </p:txBody>
      </p:sp>
      <p:sp>
        <p:nvSpPr>
          <p:cNvPr id="2519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51692" y="1066800"/>
            <a:ext cx="8651631" cy="52578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b="1" dirty="0" smtClean="0"/>
              <a:t>Top-Down </a:t>
            </a:r>
            <a:r>
              <a:rPr lang="en-US" altLang="en-US" b="1" dirty="0"/>
              <a:t>Parsing:</a:t>
            </a:r>
          </a:p>
          <a:p>
            <a:pPr lvl="1">
              <a:lnSpc>
                <a:spcPct val="90000"/>
              </a:lnSpc>
            </a:pPr>
            <a:r>
              <a:rPr lang="en-US" altLang="en-US" sz="2400" dirty="0"/>
              <a:t>Construction of the parse tree starts at the root, and proceeds towards the leaves.</a:t>
            </a:r>
          </a:p>
          <a:p>
            <a:pPr lvl="1">
              <a:lnSpc>
                <a:spcPct val="90000"/>
              </a:lnSpc>
            </a:pPr>
            <a:r>
              <a:rPr lang="en-US" altLang="en-US" sz="2400" dirty="0"/>
              <a:t>Efficient top-down parsers can be easily constructed by hand.</a:t>
            </a:r>
          </a:p>
          <a:p>
            <a:pPr lvl="1">
              <a:lnSpc>
                <a:spcPct val="90000"/>
              </a:lnSpc>
            </a:pPr>
            <a:r>
              <a:rPr lang="en-US" altLang="en-US" sz="2400" dirty="0"/>
              <a:t>Recursive Predictive Parsing, Non-Recursive Predictive Parsing (LL Parsing</a:t>
            </a:r>
            <a:r>
              <a:rPr lang="en-US" altLang="en-US" sz="2400" dirty="0" smtClean="0"/>
              <a:t>).</a:t>
            </a:r>
            <a:endParaRPr lang="en-US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2907667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9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Parsing Techniques</a:t>
            </a:r>
          </a:p>
        </p:txBody>
      </p:sp>
      <p:sp>
        <p:nvSpPr>
          <p:cNvPr id="2519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51692" y="1066800"/>
            <a:ext cx="8651631" cy="52578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b="1" dirty="0" smtClean="0"/>
              <a:t>Bottom-Up </a:t>
            </a:r>
            <a:r>
              <a:rPr lang="en-US" altLang="en-US" b="1" dirty="0"/>
              <a:t>Parsing:</a:t>
            </a:r>
          </a:p>
          <a:p>
            <a:pPr lvl="1">
              <a:lnSpc>
                <a:spcPct val="90000"/>
              </a:lnSpc>
            </a:pPr>
            <a:r>
              <a:rPr lang="en-US" altLang="en-US" sz="2400" dirty="0"/>
              <a:t>Construction of the parse tree starts at the leaves, and proceeds towards the root.</a:t>
            </a:r>
          </a:p>
          <a:p>
            <a:pPr lvl="1">
              <a:lnSpc>
                <a:spcPct val="90000"/>
              </a:lnSpc>
            </a:pPr>
            <a:r>
              <a:rPr lang="en-US" altLang="en-US" sz="2400" dirty="0"/>
              <a:t>Normally efficient bottom-up parsers are created with the help of some software tools.</a:t>
            </a:r>
          </a:p>
          <a:p>
            <a:pPr lvl="1">
              <a:lnSpc>
                <a:spcPct val="90000"/>
              </a:lnSpc>
            </a:pPr>
            <a:r>
              <a:rPr lang="en-US" altLang="en-US" sz="2400" dirty="0"/>
              <a:t>Bottom-up parsing is also known as shift-reduce parsing.</a:t>
            </a:r>
          </a:p>
          <a:p>
            <a:pPr lvl="1">
              <a:lnSpc>
                <a:spcPct val="90000"/>
              </a:lnSpc>
            </a:pPr>
            <a:r>
              <a:rPr lang="en-US" altLang="en-US" sz="2400" dirty="0"/>
              <a:t>Operator-Precedence Parsing – simple, restrictive, easy to implement </a:t>
            </a:r>
          </a:p>
          <a:p>
            <a:pPr lvl="1">
              <a:lnSpc>
                <a:spcPct val="90000"/>
              </a:lnSpc>
            </a:pPr>
            <a:r>
              <a:rPr lang="en-US" altLang="en-US" sz="2400" dirty="0"/>
              <a:t>LR Parsing – much general form of shift-reduce parsing, LR, SLR, LALR</a:t>
            </a:r>
          </a:p>
        </p:txBody>
      </p:sp>
    </p:spTree>
    <p:extLst>
      <p:ext uri="{BB962C8B-B14F-4D97-AF65-F5344CB8AC3E}">
        <p14:creationId xmlns:p14="http://schemas.microsoft.com/office/powerpoint/2010/main" val="11960643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9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Semantic Analyzer</a:t>
            </a:r>
          </a:p>
        </p:txBody>
      </p:sp>
      <p:sp>
        <p:nvSpPr>
          <p:cNvPr id="2529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altLang="en-US" dirty="0"/>
              <a:t>Semantics (from Ancient Greek: </a:t>
            </a:r>
            <a:r>
              <a:rPr lang="en-IN" altLang="en-US" dirty="0" err="1" smtClean="0"/>
              <a:t>sēmantikós</a:t>
            </a:r>
            <a:r>
              <a:rPr lang="en-IN" altLang="en-US" dirty="0"/>
              <a:t>, "significant</a:t>
            </a:r>
            <a:r>
              <a:rPr lang="en-IN" altLang="en-US" dirty="0" smtClean="0"/>
              <a:t>")</a:t>
            </a:r>
          </a:p>
          <a:p>
            <a:r>
              <a:rPr lang="en-IN" altLang="en-US" dirty="0" smtClean="0"/>
              <a:t>Is the </a:t>
            </a:r>
            <a:r>
              <a:rPr lang="en-IN" altLang="en-US" dirty="0"/>
              <a:t>study of reference, meaning, or </a:t>
            </a:r>
            <a:r>
              <a:rPr lang="en-IN" altLang="en-US" dirty="0" smtClean="0"/>
              <a:t>truth.</a:t>
            </a:r>
          </a:p>
          <a:p>
            <a:endParaRPr lang="en-IN" altLang="en-US" dirty="0"/>
          </a:p>
          <a:p>
            <a:r>
              <a:rPr lang="en-IN" altLang="en-US" dirty="0"/>
              <a:t>In computer science, the term semantics refers to the meaning of language constructs, as opposed to their form (syntax).</a:t>
            </a:r>
            <a:endParaRPr lang="en-IN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3120272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9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Semantic Analyzer</a:t>
            </a:r>
          </a:p>
        </p:txBody>
      </p:sp>
      <p:sp>
        <p:nvSpPr>
          <p:cNvPr id="2529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A semantic analyzer checks the source program for semantic errors and </a:t>
            </a:r>
            <a:r>
              <a:rPr lang="en-US" altLang="en-US" dirty="0" smtClean="0"/>
              <a:t>gathers </a:t>
            </a:r>
            <a:r>
              <a:rPr lang="en-US" altLang="en-US" dirty="0"/>
              <a:t>the type information for the </a:t>
            </a:r>
            <a:r>
              <a:rPr lang="en-US" altLang="en-US" dirty="0" smtClean="0"/>
              <a:t>subsequent code generation phase.</a:t>
            </a:r>
            <a:endParaRPr lang="en-US" altLang="en-US" dirty="0"/>
          </a:p>
          <a:p>
            <a:endParaRPr lang="en-US" altLang="en-US" dirty="0" smtClean="0"/>
          </a:p>
          <a:p>
            <a:r>
              <a:rPr lang="en-US" altLang="en-US" dirty="0" smtClean="0"/>
              <a:t>Type-checking </a:t>
            </a:r>
            <a:r>
              <a:rPr lang="en-US" altLang="en-US" dirty="0"/>
              <a:t>is an important part of semantic analyzer</a:t>
            </a:r>
            <a:r>
              <a:rPr lang="en-US" altLang="en-US" dirty="0" smtClean="0"/>
              <a:t>.</a:t>
            </a:r>
          </a:p>
          <a:p>
            <a:r>
              <a:rPr lang="en-IN" altLang="en-US" dirty="0" smtClean="0"/>
              <a:t>In type checking, the compiler checks that each operator has matching operands. </a:t>
            </a:r>
          </a:p>
        </p:txBody>
      </p:sp>
    </p:spTree>
    <p:extLst>
      <p:ext uri="{BB962C8B-B14F-4D97-AF65-F5344CB8AC3E}">
        <p14:creationId xmlns:p14="http://schemas.microsoft.com/office/powerpoint/2010/main" val="30046604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9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Semantic Analyzer</a:t>
            </a:r>
          </a:p>
        </p:txBody>
      </p:sp>
      <p:sp>
        <p:nvSpPr>
          <p:cNvPr id="2529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altLang="en-US" dirty="0" smtClean="0"/>
              <a:t>For example, </a:t>
            </a:r>
          </a:p>
          <a:p>
            <a:r>
              <a:rPr lang="en-IN" altLang="en-US" dirty="0" smtClean="0"/>
              <a:t>Many programming language definitions require an array index to be an integer; </a:t>
            </a:r>
          </a:p>
          <a:p>
            <a:r>
              <a:rPr lang="en-IN" altLang="en-US" dirty="0" smtClean="0"/>
              <a:t>The compiler must report an error if a floating-point number is used to index an array.</a:t>
            </a:r>
          </a:p>
        </p:txBody>
      </p:sp>
    </p:spTree>
    <p:extLst>
      <p:ext uri="{BB962C8B-B14F-4D97-AF65-F5344CB8AC3E}">
        <p14:creationId xmlns:p14="http://schemas.microsoft.com/office/powerpoint/2010/main" val="17461439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9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Semantic Analyzer</a:t>
            </a:r>
          </a:p>
        </p:txBody>
      </p:sp>
      <p:sp>
        <p:nvSpPr>
          <p:cNvPr id="2529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altLang="en-US" dirty="0" smtClean="0"/>
              <a:t>The language specification may permit some type conversions called coercions. </a:t>
            </a:r>
          </a:p>
          <a:p>
            <a:endParaRPr lang="en-IN" altLang="en-US" dirty="0"/>
          </a:p>
          <a:p>
            <a:r>
              <a:rPr lang="en-IN" altLang="en-US" dirty="0" smtClean="0"/>
              <a:t>For example, a binary arithmetic operator may be applied to either a pair of integers or to a pair of  floating-point numbers.</a:t>
            </a:r>
          </a:p>
          <a:p>
            <a:endParaRPr lang="en-IN" altLang="en-US" dirty="0" smtClean="0"/>
          </a:p>
          <a:p>
            <a:r>
              <a:rPr lang="en-IN" altLang="en-US" dirty="0" smtClean="0"/>
              <a:t>If the operator is applied to a floating-point number and an integer, the compiler may convert or coerce the integer into a floating-point number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2439953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9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Semantic Analyzer</a:t>
            </a:r>
          </a:p>
        </p:txBody>
      </p:sp>
      <p:sp>
        <p:nvSpPr>
          <p:cNvPr id="2529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IN" altLang="en-US" dirty="0" smtClean="0">
                <a:latin typeface="Calibri" panose="020F0502020204030204" pitchFamily="34" charset="0"/>
              </a:rPr>
              <a:t>For the </a:t>
            </a:r>
            <a:r>
              <a:rPr lang="en-IN" altLang="en-US" dirty="0">
                <a:latin typeface="Calibri" panose="020F0502020204030204" pitchFamily="34" charset="0"/>
              </a:rPr>
              <a:t>assignment statement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IN" altLang="en-US" dirty="0">
                <a:latin typeface="Calibri" panose="020F0502020204030204" pitchFamily="34" charset="0"/>
              </a:rPr>
              <a:t>	</a:t>
            </a:r>
            <a:r>
              <a:rPr lang="en-IN" altLang="en-US" b="1" dirty="0">
                <a:latin typeface="Calibri" panose="020F0502020204030204" pitchFamily="34" charset="0"/>
              </a:rPr>
              <a:t>position = initial + rate * 60 </a:t>
            </a:r>
          </a:p>
          <a:p>
            <a:pPr>
              <a:lnSpc>
                <a:spcPct val="90000"/>
              </a:lnSpc>
            </a:pPr>
            <a:endParaRPr lang="en-IN" altLang="en-US" dirty="0" smtClean="0">
              <a:latin typeface="Calibri" panose="020F0502020204030204" pitchFamily="34" charset="0"/>
            </a:endParaRPr>
          </a:p>
          <a:p>
            <a:pPr>
              <a:lnSpc>
                <a:spcPct val="90000"/>
              </a:lnSpc>
            </a:pPr>
            <a:r>
              <a:rPr lang="en-IN" altLang="en-US" dirty="0" smtClean="0">
                <a:latin typeface="Calibri" panose="020F0502020204030204" pitchFamily="34" charset="0"/>
              </a:rPr>
              <a:t>Suppose </a:t>
            </a:r>
            <a:r>
              <a:rPr lang="en-IN" altLang="en-US" dirty="0">
                <a:latin typeface="Calibri" panose="020F0502020204030204" pitchFamily="34" charset="0"/>
              </a:rPr>
              <a:t>that position, initial, </a:t>
            </a:r>
            <a:r>
              <a:rPr lang="en-IN" altLang="en-US" dirty="0" smtClean="0">
                <a:latin typeface="Calibri" panose="020F0502020204030204" pitchFamily="34" charset="0"/>
              </a:rPr>
              <a:t>and rate </a:t>
            </a:r>
            <a:r>
              <a:rPr lang="en-IN" altLang="en-US" dirty="0">
                <a:latin typeface="Calibri" panose="020F0502020204030204" pitchFamily="34" charset="0"/>
              </a:rPr>
              <a:t>have been declared to be </a:t>
            </a:r>
            <a:r>
              <a:rPr lang="en-IN" altLang="en-US" dirty="0" smtClean="0">
                <a:latin typeface="Calibri" panose="020F0502020204030204" pitchFamily="34" charset="0"/>
              </a:rPr>
              <a:t> floating-point </a:t>
            </a:r>
            <a:r>
              <a:rPr lang="en-IN" altLang="en-US" dirty="0">
                <a:latin typeface="Calibri" panose="020F0502020204030204" pitchFamily="34" charset="0"/>
              </a:rPr>
              <a:t>numbers, and that the lexeme </a:t>
            </a:r>
            <a:r>
              <a:rPr lang="en-IN" altLang="en-US" dirty="0" smtClean="0">
                <a:latin typeface="Calibri" panose="020F0502020204030204" pitchFamily="34" charset="0"/>
              </a:rPr>
              <a:t>60 by </a:t>
            </a:r>
            <a:r>
              <a:rPr lang="en-IN" altLang="en-US" dirty="0">
                <a:latin typeface="Calibri" panose="020F0502020204030204" pitchFamily="34" charset="0"/>
              </a:rPr>
              <a:t>itself forms an integer. </a:t>
            </a:r>
            <a:endParaRPr lang="en-IN" altLang="en-US" dirty="0" smtClean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70956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9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Semantic Analyzer</a:t>
            </a:r>
          </a:p>
        </p:txBody>
      </p:sp>
      <p:sp>
        <p:nvSpPr>
          <p:cNvPr id="2529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IN" altLang="en-US" dirty="0" smtClean="0">
                <a:latin typeface="Calibri" panose="020F0502020204030204" pitchFamily="34" charset="0"/>
              </a:rPr>
              <a:t>For the </a:t>
            </a:r>
            <a:r>
              <a:rPr lang="en-IN" altLang="en-US" dirty="0">
                <a:latin typeface="Calibri" panose="020F0502020204030204" pitchFamily="34" charset="0"/>
              </a:rPr>
              <a:t>assignment statement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IN" altLang="en-US" dirty="0">
                <a:latin typeface="Calibri" panose="020F0502020204030204" pitchFamily="34" charset="0"/>
              </a:rPr>
              <a:t>	</a:t>
            </a:r>
            <a:r>
              <a:rPr lang="en-IN" altLang="en-US" b="1" dirty="0">
                <a:latin typeface="Calibri" panose="020F0502020204030204" pitchFamily="34" charset="0"/>
              </a:rPr>
              <a:t>position = initial + rate * 60 </a:t>
            </a:r>
          </a:p>
          <a:p>
            <a:pPr>
              <a:lnSpc>
                <a:spcPct val="90000"/>
              </a:lnSpc>
            </a:pPr>
            <a:endParaRPr lang="en-IN" altLang="en-US" dirty="0" smtClean="0">
              <a:latin typeface="Calibri" panose="020F0502020204030204" pitchFamily="34" charset="0"/>
            </a:endParaRPr>
          </a:p>
          <a:p>
            <a:pPr>
              <a:lnSpc>
                <a:spcPct val="90000"/>
              </a:lnSpc>
            </a:pPr>
            <a:r>
              <a:rPr lang="en-IN" altLang="en-US" dirty="0" smtClean="0">
                <a:latin typeface="Calibri" panose="020F0502020204030204" pitchFamily="34" charset="0"/>
              </a:rPr>
              <a:t>The </a:t>
            </a:r>
            <a:r>
              <a:rPr lang="en-IN" altLang="en-US" dirty="0">
                <a:latin typeface="Calibri" panose="020F0502020204030204" pitchFamily="34" charset="0"/>
              </a:rPr>
              <a:t>type checker in the semantic </a:t>
            </a:r>
            <a:r>
              <a:rPr lang="en-IN" altLang="en-US" dirty="0" err="1">
                <a:latin typeface="Calibri" panose="020F0502020204030204" pitchFamily="34" charset="0"/>
              </a:rPr>
              <a:t>analyzer</a:t>
            </a:r>
            <a:r>
              <a:rPr lang="en-IN" altLang="en-US" dirty="0">
                <a:latin typeface="Calibri" panose="020F0502020204030204" pitchFamily="34" charset="0"/>
              </a:rPr>
              <a:t> </a:t>
            </a:r>
            <a:r>
              <a:rPr lang="en-IN" altLang="en-US" dirty="0" smtClean="0">
                <a:latin typeface="Calibri" panose="020F0502020204030204" pitchFamily="34" charset="0"/>
              </a:rPr>
              <a:t>discovers </a:t>
            </a:r>
            <a:r>
              <a:rPr lang="en-IN" altLang="en-US" dirty="0">
                <a:latin typeface="Calibri" panose="020F0502020204030204" pitchFamily="34" charset="0"/>
              </a:rPr>
              <a:t>that the operator </a:t>
            </a:r>
            <a:r>
              <a:rPr lang="en-IN" altLang="en-US" dirty="0" smtClean="0">
                <a:latin typeface="Calibri" panose="020F0502020204030204" pitchFamily="34" charset="0"/>
              </a:rPr>
              <a:t>* is </a:t>
            </a:r>
            <a:r>
              <a:rPr lang="en-IN" altLang="en-US" dirty="0">
                <a:latin typeface="Calibri" panose="020F0502020204030204" pitchFamily="34" charset="0"/>
              </a:rPr>
              <a:t>applied to a </a:t>
            </a:r>
            <a:r>
              <a:rPr lang="en-IN" altLang="en-US" dirty="0" smtClean="0">
                <a:latin typeface="Calibri" panose="020F0502020204030204" pitchFamily="34" charset="0"/>
              </a:rPr>
              <a:t>floating-point </a:t>
            </a:r>
            <a:r>
              <a:rPr lang="en-IN" altLang="en-US" dirty="0">
                <a:latin typeface="Calibri" panose="020F0502020204030204" pitchFamily="34" charset="0"/>
              </a:rPr>
              <a:t>number rate </a:t>
            </a:r>
            <a:r>
              <a:rPr lang="en-IN" altLang="en-US" dirty="0" smtClean="0">
                <a:latin typeface="Calibri" panose="020F0502020204030204" pitchFamily="34" charset="0"/>
              </a:rPr>
              <a:t>and an </a:t>
            </a:r>
            <a:r>
              <a:rPr lang="en-IN" altLang="en-US" dirty="0">
                <a:latin typeface="Calibri" panose="020F0502020204030204" pitchFamily="34" charset="0"/>
              </a:rPr>
              <a:t>integer 60. </a:t>
            </a:r>
            <a:endParaRPr lang="en-IN" altLang="en-US" dirty="0" smtClean="0">
              <a:latin typeface="Calibri" panose="020F0502020204030204" pitchFamily="34" charset="0"/>
            </a:endParaRPr>
          </a:p>
          <a:p>
            <a:pPr>
              <a:lnSpc>
                <a:spcPct val="90000"/>
              </a:lnSpc>
            </a:pPr>
            <a:endParaRPr lang="en-IN" altLang="en-US" dirty="0" smtClean="0">
              <a:latin typeface="Calibri" panose="020F0502020204030204" pitchFamily="34" charset="0"/>
            </a:endParaRPr>
          </a:p>
          <a:p>
            <a:pPr>
              <a:lnSpc>
                <a:spcPct val="90000"/>
              </a:lnSpc>
            </a:pPr>
            <a:r>
              <a:rPr lang="en-IN" altLang="en-US" dirty="0" smtClean="0">
                <a:latin typeface="Calibri" panose="020F0502020204030204" pitchFamily="34" charset="0"/>
              </a:rPr>
              <a:t>In </a:t>
            </a:r>
            <a:r>
              <a:rPr lang="en-IN" altLang="en-US" dirty="0">
                <a:latin typeface="Calibri" panose="020F0502020204030204" pitchFamily="34" charset="0"/>
              </a:rPr>
              <a:t>this case, the integer may be converted into a </a:t>
            </a:r>
            <a:r>
              <a:rPr lang="en-IN" altLang="en-US" dirty="0" smtClean="0">
                <a:latin typeface="Calibri" panose="020F0502020204030204" pitchFamily="34" charset="0"/>
              </a:rPr>
              <a:t>floating-point number.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4869160"/>
            <a:ext cx="4002031" cy="15121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869160"/>
            <a:ext cx="4485721" cy="14593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95971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9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Semantic Analyzer</a:t>
            </a:r>
          </a:p>
        </p:txBody>
      </p:sp>
      <p:sp>
        <p:nvSpPr>
          <p:cNvPr id="252931" name="Rectangle 3"/>
          <p:cNvSpPr>
            <a:spLocks noGrp="1" noChangeArrowheads="1"/>
          </p:cNvSpPr>
          <p:nvPr>
            <p:ph type="body" idx="1"/>
          </p:nvPr>
        </p:nvSpPr>
        <p:spPr/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/>
          <a:p>
            <a:pPr>
              <a:lnSpc>
                <a:spcPct val="90000"/>
              </a:lnSpc>
            </a:pPr>
            <a:r>
              <a:rPr lang="en-IN" altLang="en-US" dirty="0" smtClean="0">
                <a:latin typeface="Calibri" panose="020F0502020204030204" pitchFamily="34" charset="0"/>
              </a:rPr>
              <a:t>For the </a:t>
            </a:r>
            <a:r>
              <a:rPr lang="en-IN" altLang="en-US" dirty="0">
                <a:latin typeface="Calibri" panose="020F0502020204030204" pitchFamily="34" charset="0"/>
              </a:rPr>
              <a:t>assignment statement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IN" altLang="en-US" dirty="0">
                <a:latin typeface="Calibri" panose="020F0502020204030204" pitchFamily="34" charset="0"/>
              </a:rPr>
              <a:t>	</a:t>
            </a:r>
            <a:r>
              <a:rPr lang="en-IN" altLang="en-US" b="1" dirty="0">
                <a:latin typeface="Calibri" panose="020F0502020204030204" pitchFamily="34" charset="0"/>
              </a:rPr>
              <a:t>position = initial + rate * 60 </a:t>
            </a:r>
          </a:p>
          <a:p>
            <a:pPr>
              <a:lnSpc>
                <a:spcPct val="90000"/>
              </a:lnSpc>
            </a:pPr>
            <a:endParaRPr lang="en-IN" altLang="en-US" dirty="0" smtClean="0">
              <a:latin typeface="Calibri" panose="020F0502020204030204" pitchFamily="34" charset="0"/>
            </a:endParaRPr>
          </a:p>
          <a:p>
            <a:pPr>
              <a:lnSpc>
                <a:spcPct val="90000"/>
              </a:lnSpc>
            </a:pPr>
            <a:r>
              <a:rPr lang="en-IN" altLang="en-US" dirty="0" smtClean="0">
                <a:latin typeface="Calibri" panose="020F0502020204030204" pitchFamily="34" charset="0"/>
              </a:rPr>
              <a:t>The </a:t>
            </a:r>
            <a:r>
              <a:rPr lang="en-IN" altLang="en-US" dirty="0">
                <a:latin typeface="Calibri" panose="020F0502020204030204" pitchFamily="34" charset="0"/>
              </a:rPr>
              <a:t>output of the semantic </a:t>
            </a:r>
            <a:r>
              <a:rPr lang="en-IN" altLang="en-US" dirty="0" err="1">
                <a:latin typeface="Calibri" panose="020F0502020204030204" pitchFamily="34" charset="0"/>
              </a:rPr>
              <a:t>analyzer</a:t>
            </a:r>
            <a:r>
              <a:rPr lang="en-IN" altLang="en-US" dirty="0">
                <a:latin typeface="Calibri" panose="020F0502020204030204" pitchFamily="34" charset="0"/>
              </a:rPr>
              <a:t> has </a:t>
            </a:r>
            <a:r>
              <a:rPr lang="en-IN" altLang="en-US" dirty="0" smtClean="0">
                <a:latin typeface="Calibri" panose="020F0502020204030204" pitchFamily="34" charset="0"/>
              </a:rPr>
              <a:t>an extra </a:t>
            </a:r>
            <a:r>
              <a:rPr lang="en-IN" altLang="en-US" dirty="0">
                <a:latin typeface="Calibri" panose="020F0502020204030204" pitchFamily="34" charset="0"/>
              </a:rPr>
              <a:t>node for the operator </a:t>
            </a:r>
            <a:r>
              <a:rPr lang="en-IN" altLang="en-US" dirty="0" err="1" smtClean="0">
                <a:latin typeface="Calibri" panose="020F0502020204030204" pitchFamily="34" charset="0"/>
              </a:rPr>
              <a:t>inttofloat</a:t>
            </a:r>
            <a:r>
              <a:rPr lang="en-IN" altLang="en-US" dirty="0">
                <a:latin typeface="Calibri" panose="020F0502020204030204" pitchFamily="34" charset="0"/>
              </a:rPr>
              <a:t>, </a:t>
            </a:r>
            <a:endParaRPr lang="en-IN" altLang="en-US" dirty="0" smtClean="0">
              <a:latin typeface="Calibri" panose="020F0502020204030204" pitchFamily="34" charset="0"/>
            </a:endParaRPr>
          </a:p>
          <a:p>
            <a:pPr>
              <a:lnSpc>
                <a:spcPct val="90000"/>
              </a:lnSpc>
            </a:pPr>
            <a:endParaRPr lang="en-IN" altLang="en-US" dirty="0" smtClean="0">
              <a:latin typeface="Calibri" panose="020F0502020204030204" pitchFamily="34" charset="0"/>
            </a:endParaRPr>
          </a:p>
          <a:p>
            <a:pPr>
              <a:lnSpc>
                <a:spcPct val="90000"/>
              </a:lnSpc>
            </a:pPr>
            <a:r>
              <a:rPr lang="en-IN" altLang="en-US" dirty="0" smtClean="0">
                <a:latin typeface="Calibri" panose="020F0502020204030204" pitchFamily="34" charset="0"/>
              </a:rPr>
              <a:t>which </a:t>
            </a:r>
            <a:r>
              <a:rPr lang="en-IN" altLang="en-US" dirty="0">
                <a:latin typeface="Calibri" panose="020F0502020204030204" pitchFamily="34" charset="0"/>
              </a:rPr>
              <a:t>explicitly converts its </a:t>
            </a:r>
            <a:r>
              <a:rPr lang="en-IN" altLang="en-US" dirty="0" smtClean="0">
                <a:latin typeface="Calibri" panose="020F0502020204030204" pitchFamily="34" charset="0"/>
              </a:rPr>
              <a:t>integer argument </a:t>
            </a:r>
            <a:r>
              <a:rPr lang="en-IN" altLang="en-US" dirty="0">
                <a:latin typeface="Calibri" panose="020F0502020204030204" pitchFamily="34" charset="0"/>
              </a:rPr>
              <a:t>into a </a:t>
            </a:r>
            <a:r>
              <a:rPr lang="en-IN" altLang="en-US" dirty="0" smtClean="0">
                <a:latin typeface="Calibri" panose="020F0502020204030204" pitchFamily="34" charset="0"/>
              </a:rPr>
              <a:t>floating-point </a:t>
            </a:r>
            <a:r>
              <a:rPr lang="en-IN" altLang="en-US" dirty="0">
                <a:latin typeface="Calibri" panose="020F0502020204030204" pitchFamily="34" charset="0"/>
              </a:rPr>
              <a:t>number.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4869160"/>
            <a:ext cx="4002031" cy="15121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869160"/>
            <a:ext cx="4485721" cy="14593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009595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9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Intermediate Code Generation</a:t>
            </a:r>
          </a:p>
        </p:txBody>
      </p:sp>
      <p:sp>
        <p:nvSpPr>
          <p:cNvPr id="2539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altLang="en-US" dirty="0"/>
              <a:t>In the process of translating a source program into target code, a compiler </a:t>
            </a:r>
            <a:r>
              <a:rPr lang="en-IN" altLang="en-US" dirty="0" smtClean="0"/>
              <a:t>may construct </a:t>
            </a:r>
            <a:r>
              <a:rPr lang="en-IN" altLang="en-US" dirty="0"/>
              <a:t>one or more intermediate representations, which can have a </a:t>
            </a:r>
            <a:r>
              <a:rPr lang="en-IN" altLang="en-US" dirty="0" smtClean="0"/>
              <a:t>variety of </a:t>
            </a:r>
            <a:r>
              <a:rPr lang="en-IN" altLang="en-US" dirty="0"/>
              <a:t>forms. </a:t>
            </a:r>
            <a:endParaRPr lang="en-IN" altLang="en-US" dirty="0" smtClean="0"/>
          </a:p>
          <a:p>
            <a:r>
              <a:rPr lang="en-IN" altLang="en-US" dirty="0" smtClean="0"/>
              <a:t>Syntax </a:t>
            </a:r>
            <a:r>
              <a:rPr lang="en-IN" altLang="en-US" dirty="0"/>
              <a:t>trees are a form of intermediate representation; they </a:t>
            </a:r>
            <a:r>
              <a:rPr lang="en-IN" altLang="en-US" dirty="0" smtClean="0"/>
              <a:t>are commonly </a:t>
            </a:r>
            <a:r>
              <a:rPr lang="en-IN" altLang="en-US" dirty="0"/>
              <a:t>used during syntax and semantic analysis</a:t>
            </a:r>
            <a:r>
              <a:rPr lang="en-IN" altLang="en-US" dirty="0" smtClean="0"/>
              <a:t>.</a:t>
            </a:r>
            <a:endParaRPr lang="en-IN" altLang="en-US" dirty="0"/>
          </a:p>
        </p:txBody>
      </p:sp>
    </p:spTree>
    <p:extLst>
      <p:ext uri="{BB962C8B-B14F-4D97-AF65-F5344CB8AC3E}">
        <p14:creationId xmlns:p14="http://schemas.microsoft.com/office/powerpoint/2010/main" val="41733677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9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Intermediate Code Generation</a:t>
            </a:r>
          </a:p>
        </p:txBody>
      </p:sp>
      <p:sp>
        <p:nvSpPr>
          <p:cNvPr id="2539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altLang="en-US" dirty="0" smtClean="0"/>
              <a:t>After </a:t>
            </a:r>
            <a:r>
              <a:rPr lang="en-IN" altLang="en-US" dirty="0"/>
              <a:t>syntax and semantic analysis of the source program, many </a:t>
            </a:r>
            <a:r>
              <a:rPr lang="en-IN" altLang="en-US" dirty="0" smtClean="0"/>
              <a:t>compilers </a:t>
            </a:r>
            <a:r>
              <a:rPr lang="en-IN" altLang="en-US" dirty="0"/>
              <a:t>generate an explicit low-level or machine-like intermediate representation</a:t>
            </a:r>
            <a:r>
              <a:rPr lang="en-IN" altLang="en-US" dirty="0" smtClean="0"/>
              <a:t>, which </a:t>
            </a:r>
            <a:r>
              <a:rPr lang="en-IN" altLang="en-US" dirty="0"/>
              <a:t>we can think of as a program for an abstract machine. </a:t>
            </a:r>
            <a:endParaRPr lang="en-IN" altLang="en-US" dirty="0" smtClean="0"/>
          </a:p>
          <a:p>
            <a:r>
              <a:rPr lang="en-IN" altLang="en-US" dirty="0" smtClean="0"/>
              <a:t>This intermediate </a:t>
            </a:r>
            <a:r>
              <a:rPr lang="en-IN" altLang="en-US" dirty="0"/>
              <a:t>representation should have two important properties: </a:t>
            </a:r>
            <a:endParaRPr lang="en-IN" altLang="en-US" dirty="0" smtClean="0"/>
          </a:p>
          <a:p>
            <a:pPr lvl="1"/>
            <a:r>
              <a:rPr lang="en-IN" altLang="en-US" sz="2400" dirty="0" smtClean="0"/>
              <a:t>it </a:t>
            </a:r>
            <a:r>
              <a:rPr lang="en-IN" altLang="en-US" sz="2400" dirty="0"/>
              <a:t>should be easy </a:t>
            </a:r>
            <a:r>
              <a:rPr lang="en-IN" altLang="en-US" sz="2400" dirty="0" smtClean="0"/>
              <a:t>to produce </a:t>
            </a:r>
            <a:r>
              <a:rPr lang="en-IN" altLang="en-US" sz="2400" dirty="0"/>
              <a:t>and </a:t>
            </a:r>
            <a:endParaRPr lang="en-IN" altLang="en-US" sz="2400" dirty="0" smtClean="0"/>
          </a:p>
          <a:p>
            <a:pPr lvl="1"/>
            <a:r>
              <a:rPr lang="en-IN" altLang="en-US" sz="2400" dirty="0" smtClean="0"/>
              <a:t>it </a:t>
            </a:r>
            <a:r>
              <a:rPr lang="en-IN" altLang="en-US" sz="2400" dirty="0"/>
              <a:t>should be easy to translate into the target machine.</a:t>
            </a:r>
            <a:endParaRPr lang="en-US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0386466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9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Intermediate Code Generation</a:t>
            </a:r>
          </a:p>
        </p:txBody>
      </p:sp>
      <p:sp>
        <p:nvSpPr>
          <p:cNvPr id="2539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altLang="en-US" dirty="0"/>
              <a:t>The output of the </a:t>
            </a:r>
            <a:r>
              <a:rPr lang="en-IN" altLang="en-US" dirty="0" smtClean="0"/>
              <a:t>intermediate </a:t>
            </a:r>
            <a:r>
              <a:rPr lang="en-IN" altLang="en-US" dirty="0"/>
              <a:t>code generator in </a:t>
            </a:r>
            <a:r>
              <a:rPr lang="en-IN" altLang="en-US" dirty="0" smtClean="0"/>
              <a:t>Figure </a:t>
            </a:r>
            <a:r>
              <a:rPr lang="en-IN" altLang="en-US" dirty="0"/>
              <a:t>consists of the three-address code sequence</a:t>
            </a:r>
            <a:endParaRPr lang="en-US" altLang="en-US" sz="24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712" y="2191241"/>
            <a:ext cx="3649563" cy="17425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" name="Group 2"/>
          <p:cNvGrpSpPr/>
          <p:nvPr/>
        </p:nvGrpSpPr>
        <p:grpSpPr>
          <a:xfrm>
            <a:off x="539552" y="4869160"/>
            <a:ext cx="8034479" cy="1512168"/>
            <a:chOff x="539552" y="4869160"/>
            <a:chExt cx="8034479" cy="1512168"/>
          </a:xfrm>
        </p:grpSpPr>
        <p:sp>
          <p:nvSpPr>
            <p:cNvPr id="2" name="Rectangle 1"/>
            <p:cNvSpPr/>
            <p:nvPr/>
          </p:nvSpPr>
          <p:spPr>
            <a:xfrm>
              <a:off x="539552" y="5301208"/>
              <a:ext cx="3871573" cy="3416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IN" altLang="en-US" b="1" dirty="0" smtClean="0">
                  <a:latin typeface="Calibri" panose="020F0502020204030204" pitchFamily="34" charset="0"/>
                </a:rPr>
                <a:t>&lt;id,1</a:t>
              </a:r>
              <a:r>
                <a:rPr lang="en-IN" altLang="en-US" b="1" dirty="0">
                  <a:latin typeface="Calibri" panose="020F0502020204030204" pitchFamily="34" charset="0"/>
                </a:rPr>
                <a:t>&gt; &lt; = &gt; &lt;id, 2&gt; &lt;+&gt; &lt;id, 3&gt;&lt;*&gt;&lt;60&gt;</a:t>
              </a:r>
            </a:p>
          </p:txBody>
        </p:sp>
        <p:pic>
          <p:nvPicPr>
            <p:cNvPr id="9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72000" y="4869160"/>
              <a:ext cx="4002031" cy="15121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5" name="Frame 4"/>
          <p:cNvSpPr/>
          <p:nvPr/>
        </p:nvSpPr>
        <p:spPr bwMode="auto">
          <a:xfrm>
            <a:off x="298020" y="4532016"/>
            <a:ext cx="8568952" cy="2209352"/>
          </a:xfrm>
          <a:prstGeom prst="fram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N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84625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9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Intermediate Code Generation</a:t>
            </a:r>
          </a:p>
        </p:txBody>
      </p:sp>
      <p:sp>
        <p:nvSpPr>
          <p:cNvPr id="2539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altLang="en-US" dirty="0" smtClean="0"/>
              <a:t>An </a:t>
            </a:r>
            <a:r>
              <a:rPr lang="en-IN" altLang="en-US" dirty="0"/>
              <a:t>intermediate form called three-address code</a:t>
            </a:r>
            <a:r>
              <a:rPr lang="en-IN" altLang="en-US" dirty="0" smtClean="0"/>
              <a:t>, </a:t>
            </a:r>
          </a:p>
          <a:p>
            <a:endParaRPr lang="en-IN" altLang="en-US" dirty="0" smtClean="0"/>
          </a:p>
          <a:p>
            <a:r>
              <a:rPr lang="en-IN" altLang="en-US" dirty="0" smtClean="0"/>
              <a:t>Which </a:t>
            </a:r>
            <a:r>
              <a:rPr lang="en-IN" altLang="en-US" dirty="0"/>
              <a:t>consists of a sequence of assembly-like instructions with three </a:t>
            </a:r>
            <a:r>
              <a:rPr lang="en-IN" altLang="en-US" dirty="0" smtClean="0"/>
              <a:t>operands per </a:t>
            </a:r>
            <a:r>
              <a:rPr lang="en-IN" altLang="en-US" dirty="0"/>
              <a:t>instruction. </a:t>
            </a:r>
            <a:endParaRPr lang="en-IN" altLang="en-US" dirty="0" smtClean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7744" y="3393176"/>
            <a:ext cx="3649563" cy="17425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661471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9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Intermediate Code Generation</a:t>
            </a:r>
          </a:p>
        </p:txBody>
      </p:sp>
      <p:sp>
        <p:nvSpPr>
          <p:cNvPr id="2539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528" y="908720"/>
            <a:ext cx="8651631" cy="5105400"/>
          </a:xfrm>
        </p:spPr>
        <p:txBody>
          <a:bodyPr/>
          <a:lstStyle/>
          <a:p>
            <a:r>
              <a:rPr lang="en-IN" altLang="en-US" dirty="0" smtClean="0">
                <a:latin typeface="Calibri" panose="020F0502020204030204" pitchFamily="34" charset="0"/>
              </a:rPr>
              <a:t>Main points about </a:t>
            </a:r>
            <a:r>
              <a:rPr lang="en-IN" altLang="en-US" dirty="0">
                <a:latin typeface="Calibri" panose="020F0502020204030204" pitchFamily="34" charset="0"/>
              </a:rPr>
              <a:t>three-address instructions</a:t>
            </a:r>
            <a:r>
              <a:rPr lang="en-IN" altLang="en-US" dirty="0" smtClean="0">
                <a:latin typeface="Calibri" panose="020F0502020204030204" pitchFamily="34" charset="0"/>
              </a:rPr>
              <a:t>.</a:t>
            </a:r>
          </a:p>
          <a:p>
            <a:endParaRPr lang="en-IN" altLang="en-US" dirty="0">
              <a:latin typeface="Calibri" panose="020F0502020204030204" pitchFamily="34" charset="0"/>
            </a:endParaRPr>
          </a:p>
          <a:p>
            <a:endParaRPr lang="en-IN" altLang="en-US" dirty="0" smtClean="0">
              <a:latin typeface="Calibri" panose="020F0502020204030204" pitchFamily="34" charset="0"/>
            </a:endParaRPr>
          </a:p>
          <a:p>
            <a:endParaRPr lang="en-IN" altLang="en-US" dirty="0">
              <a:latin typeface="Calibri" panose="020F0502020204030204" pitchFamily="34" charset="0"/>
            </a:endParaRPr>
          </a:p>
          <a:p>
            <a:pPr marL="457200" indent="-457200">
              <a:buFont typeface="+mj-lt"/>
              <a:buAutoNum type="arabicParenR"/>
            </a:pPr>
            <a:r>
              <a:rPr lang="en-IN" altLang="en-US" dirty="0" smtClean="0">
                <a:latin typeface="Calibri" panose="020F0502020204030204" pitchFamily="34" charset="0"/>
              </a:rPr>
              <a:t>Each </a:t>
            </a:r>
            <a:r>
              <a:rPr lang="en-IN" altLang="en-US" dirty="0">
                <a:latin typeface="Calibri" panose="020F0502020204030204" pitchFamily="34" charset="0"/>
              </a:rPr>
              <a:t>three-address assignment instruction has at most one operator on </a:t>
            </a:r>
            <a:r>
              <a:rPr lang="en-IN" altLang="en-US" dirty="0" smtClean="0">
                <a:latin typeface="Calibri" panose="020F0502020204030204" pitchFamily="34" charset="0"/>
              </a:rPr>
              <a:t>the right </a:t>
            </a:r>
            <a:r>
              <a:rPr lang="en-IN" altLang="en-US" dirty="0">
                <a:latin typeface="Calibri" panose="020F0502020204030204" pitchFamily="34" charset="0"/>
              </a:rPr>
              <a:t>side. </a:t>
            </a:r>
            <a:r>
              <a:rPr lang="en-IN" altLang="en-US" dirty="0" smtClean="0">
                <a:latin typeface="Calibri" panose="020F0502020204030204" pitchFamily="34" charset="0"/>
              </a:rPr>
              <a:t>Thus</a:t>
            </a:r>
            <a:r>
              <a:rPr lang="en-IN" altLang="en-US" dirty="0">
                <a:latin typeface="Calibri" panose="020F0502020204030204" pitchFamily="34" charset="0"/>
              </a:rPr>
              <a:t>, these instructions </a:t>
            </a:r>
            <a:r>
              <a:rPr lang="en-IN" altLang="en-US" dirty="0" smtClean="0">
                <a:latin typeface="Calibri" panose="020F0502020204030204" pitchFamily="34" charset="0"/>
              </a:rPr>
              <a:t>fix </a:t>
            </a:r>
            <a:r>
              <a:rPr lang="en-IN" altLang="en-US" dirty="0">
                <a:latin typeface="Calibri" panose="020F0502020204030204" pitchFamily="34" charset="0"/>
              </a:rPr>
              <a:t>the order in which operations are to </a:t>
            </a:r>
            <a:r>
              <a:rPr lang="en-IN" altLang="en-US" dirty="0" smtClean="0">
                <a:latin typeface="Calibri" panose="020F0502020204030204" pitchFamily="34" charset="0"/>
              </a:rPr>
              <a:t>be done</a:t>
            </a:r>
            <a:r>
              <a:rPr lang="en-IN" altLang="en-US" dirty="0">
                <a:latin typeface="Calibri" panose="020F0502020204030204" pitchFamily="34" charset="0"/>
              </a:rPr>
              <a:t>; the multiplication precedes the addition in the source program </a:t>
            </a:r>
            <a:endParaRPr lang="en-IN" altLang="en-US" dirty="0" smtClean="0">
              <a:latin typeface="Calibri" panose="020F0502020204030204" pitchFamily="34" charset="0"/>
            </a:endParaRPr>
          </a:p>
          <a:p>
            <a:pPr marL="457200" indent="-457200">
              <a:buFont typeface="+mj-lt"/>
              <a:buAutoNum type="arabicParenR"/>
            </a:pPr>
            <a:r>
              <a:rPr lang="en-IN" altLang="en-US" dirty="0" smtClean="0">
                <a:latin typeface="Calibri" panose="020F0502020204030204" pitchFamily="34" charset="0"/>
              </a:rPr>
              <a:t>The </a:t>
            </a:r>
            <a:r>
              <a:rPr lang="en-IN" altLang="en-US" dirty="0">
                <a:latin typeface="Calibri" panose="020F0502020204030204" pitchFamily="34" charset="0"/>
              </a:rPr>
              <a:t>compiler must generate a temporary name to hold the value </a:t>
            </a:r>
            <a:r>
              <a:rPr lang="en-IN" altLang="en-US" dirty="0" smtClean="0">
                <a:latin typeface="Calibri" panose="020F0502020204030204" pitchFamily="34" charset="0"/>
              </a:rPr>
              <a:t>computed by </a:t>
            </a:r>
            <a:r>
              <a:rPr lang="en-IN" altLang="en-US" dirty="0">
                <a:latin typeface="Calibri" panose="020F0502020204030204" pitchFamily="34" charset="0"/>
              </a:rPr>
              <a:t>a three-address instruction. </a:t>
            </a:r>
            <a:endParaRPr lang="en-IN" altLang="en-US" dirty="0" smtClean="0">
              <a:latin typeface="Calibri" panose="020F0502020204030204" pitchFamily="34" charset="0"/>
            </a:endParaRPr>
          </a:p>
          <a:p>
            <a:pPr marL="457200" indent="-457200">
              <a:buFont typeface="+mj-lt"/>
              <a:buAutoNum type="arabicParenR"/>
            </a:pPr>
            <a:r>
              <a:rPr lang="en-IN" altLang="en-US" dirty="0" smtClean="0">
                <a:latin typeface="Calibri" panose="020F0502020204030204" pitchFamily="34" charset="0"/>
              </a:rPr>
              <a:t>Some “three-address </a:t>
            </a:r>
            <a:r>
              <a:rPr lang="en-IN" altLang="en-US" dirty="0">
                <a:latin typeface="Calibri" panose="020F0502020204030204" pitchFamily="34" charset="0"/>
              </a:rPr>
              <a:t>instructions" </a:t>
            </a:r>
            <a:r>
              <a:rPr lang="en-IN" altLang="en-US" dirty="0" smtClean="0">
                <a:latin typeface="Calibri" panose="020F0502020204030204" pitchFamily="34" charset="0"/>
              </a:rPr>
              <a:t>like the first </a:t>
            </a:r>
            <a:r>
              <a:rPr lang="en-IN" altLang="en-US" dirty="0">
                <a:latin typeface="Calibri" panose="020F0502020204030204" pitchFamily="34" charset="0"/>
              </a:rPr>
              <a:t>and last in the sequence </a:t>
            </a:r>
            <a:r>
              <a:rPr lang="en-IN" altLang="en-US" dirty="0" smtClean="0">
                <a:latin typeface="Calibri" panose="020F0502020204030204" pitchFamily="34" charset="0"/>
              </a:rPr>
              <a:t>above</a:t>
            </a:r>
            <a:r>
              <a:rPr lang="en-IN" altLang="en-US" dirty="0">
                <a:latin typeface="Calibri" panose="020F0502020204030204" pitchFamily="34" charset="0"/>
              </a:rPr>
              <a:t>, have fewer than three operands.</a:t>
            </a:r>
            <a:endParaRPr lang="en-US" altLang="en-US" sz="2400" dirty="0">
              <a:latin typeface="Calibri" panose="020F0502020204030204" pitchFamily="34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9792" y="1442655"/>
            <a:ext cx="2676524" cy="12779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249412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9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Optimization of Intermediate Code</a:t>
            </a:r>
          </a:p>
        </p:txBody>
      </p:sp>
      <p:sp>
        <p:nvSpPr>
          <p:cNvPr id="2539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529" y="908720"/>
            <a:ext cx="4392488" cy="5105400"/>
          </a:xfrm>
        </p:spPr>
        <p:txBody>
          <a:bodyPr/>
          <a:lstStyle/>
          <a:p>
            <a:r>
              <a:rPr lang="en-IN" altLang="en-US" dirty="0">
                <a:latin typeface="Calibri" panose="020F0502020204030204" pitchFamily="34" charset="0"/>
              </a:rPr>
              <a:t>Some compilers have a machine-independent optimization phase </a:t>
            </a:r>
            <a:r>
              <a:rPr lang="en-IN" altLang="en-US" dirty="0" smtClean="0">
                <a:latin typeface="Calibri" panose="020F0502020204030204" pitchFamily="34" charset="0"/>
              </a:rPr>
              <a:t>between the </a:t>
            </a:r>
            <a:r>
              <a:rPr lang="en-IN" altLang="en-US" dirty="0">
                <a:latin typeface="Calibri" panose="020F0502020204030204" pitchFamily="34" charset="0"/>
              </a:rPr>
              <a:t>front end and the back end. </a:t>
            </a:r>
            <a:endParaRPr lang="en-IN" altLang="en-US" dirty="0" smtClean="0">
              <a:latin typeface="Calibri" panose="020F0502020204030204" pitchFamily="34" charset="0"/>
            </a:endParaRPr>
          </a:p>
        </p:txBody>
      </p:sp>
      <p:pic>
        <p:nvPicPr>
          <p:cNvPr id="9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473" r="6003"/>
          <a:stretch/>
        </p:blipFill>
        <p:spPr bwMode="auto">
          <a:xfrm>
            <a:off x="4843095" y="980728"/>
            <a:ext cx="3617337" cy="52651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08292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9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/>
              <a:t>Optimization of Intermediate Code</a:t>
            </a:r>
            <a:endParaRPr lang="en-US" altLang="en-US" dirty="0"/>
          </a:p>
        </p:txBody>
      </p:sp>
      <p:sp>
        <p:nvSpPr>
          <p:cNvPr id="2539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529" y="908720"/>
            <a:ext cx="4392488" cy="5105400"/>
          </a:xfrm>
        </p:spPr>
        <p:txBody>
          <a:bodyPr/>
          <a:lstStyle/>
          <a:p>
            <a:r>
              <a:rPr lang="en-IN" altLang="en-US" dirty="0" smtClean="0">
                <a:latin typeface="Calibri" panose="020F0502020204030204" pitchFamily="34" charset="0"/>
              </a:rPr>
              <a:t>The </a:t>
            </a:r>
            <a:r>
              <a:rPr lang="en-IN" altLang="en-US" dirty="0">
                <a:latin typeface="Calibri" panose="020F0502020204030204" pitchFamily="34" charset="0"/>
              </a:rPr>
              <a:t>purpose of this optimization phase is </a:t>
            </a:r>
            <a:r>
              <a:rPr lang="en-IN" altLang="en-US" dirty="0" smtClean="0">
                <a:latin typeface="Calibri" panose="020F0502020204030204" pitchFamily="34" charset="0"/>
              </a:rPr>
              <a:t>:</a:t>
            </a:r>
          </a:p>
          <a:p>
            <a:r>
              <a:rPr lang="en-IN" altLang="en-US" dirty="0" smtClean="0">
                <a:latin typeface="Calibri" panose="020F0502020204030204" pitchFamily="34" charset="0"/>
              </a:rPr>
              <a:t>To perform </a:t>
            </a:r>
            <a:r>
              <a:rPr lang="en-IN" altLang="en-US" dirty="0">
                <a:latin typeface="Calibri" panose="020F0502020204030204" pitchFamily="34" charset="0"/>
              </a:rPr>
              <a:t>transformations on the intermediate representation, </a:t>
            </a:r>
            <a:endParaRPr lang="en-IN" altLang="en-US" dirty="0" smtClean="0">
              <a:latin typeface="Calibri" panose="020F0502020204030204" pitchFamily="34" charset="0"/>
            </a:endParaRPr>
          </a:p>
          <a:p>
            <a:r>
              <a:rPr lang="en-IN" altLang="en-US" dirty="0" smtClean="0">
                <a:latin typeface="Calibri" panose="020F0502020204030204" pitchFamily="34" charset="0"/>
              </a:rPr>
              <a:t>so </a:t>
            </a:r>
            <a:r>
              <a:rPr lang="en-IN" altLang="en-US" dirty="0">
                <a:latin typeface="Calibri" panose="020F0502020204030204" pitchFamily="34" charset="0"/>
              </a:rPr>
              <a:t>that the </a:t>
            </a:r>
            <a:r>
              <a:rPr lang="en-IN" altLang="en-US" dirty="0" smtClean="0">
                <a:latin typeface="Calibri" panose="020F0502020204030204" pitchFamily="34" charset="0"/>
              </a:rPr>
              <a:t>back end </a:t>
            </a:r>
            <a:r>
              <a:rPr lang="en-IN" altLang="en-US" dirty="0">
                <a:latin typeface="Calibri" panose="020F0502020204030204" pitchFamily="34" charset="0"/>
              </a:rPr>
              <a:t>can produce a better target program than it would have otherwise </a:t>
            </a:r>
            <a:r>
              <a:rPr lang="en-IN" altLang="en-US" dirty="0" smtClean="0">
                <a:latin typeface="Calibri" panose="020F0502020204030204" pitchFamily="34" charset="0"/>
              </a:rPr>
              <a:t>produced </a:t>
            </a:r>
            <a:r>
              <a:rPr lang="en-IN" altLang="en-US" dirty="0">
                <a:latin typeface="Calibri" panose="020F0502020204030204" pitchFamily="34" charset="0"/>
              </a:rPr>
              <a:t>from an </a:t>
            </a:r>
            <a:r>
              <a:rPr lang="en-IN" altLang="en-US" dirty="0" err="1">
                <a:latin typeface="Calibri" panose="020F0502020204030204" pitchFamily="34" charset="0"/>
              </a:rPr>
              <a:t>unoptimized</a:t>
            </a:r>
            <a:r>
              <a:rPr lang="en-IN" altLang="en-US" dirty="0">
                <a:latin typeface="Calibri" panose="020F0502020204030204" pitchFamily="34" charset="0"/>
              </a:rPr>
              <a:t> intermediate representation. </a:t>
            </a:r>
            <a:endParaRPr lang="en-IN" altLang="en-US" dirty="0" smtClean="0">
              <a:latin typeface="Calibri" panose="020F0502020204030204" pitchFamily="34" charset="0"/>
            </a:endParaRPr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473" r="6003"/>
          <a:stretch/>
        </p:blipFill>
        <p:spPr bwMode="auto">
          <a:xfrm>
            <a:off x="4843095" y="980728"/>
            <a:ext cx="3617337" cy="52651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314286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9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/>
              <a:t>Optimization of Intermediate Code</a:t>
            </a:r>
            <a:endParaRPr lang="en-US" altLang="en-US" dirty="0"/>
          </a:p>
        </p:txBody>
      </p:sp>
      <p:sp>
        <p:nvSpPr>
          <p:cNvPr id="2539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529" y="908720"/>
            <a:ext cx="4392488" cy="5105400"/>
          </a:xfrm>
        </p:spPr>
        <p:txBody>
          <a:bodyPr/>
          <a:lstStyle/>
          <a:p>
            <a:r>
              <a:rPr lang="en-IN" altLang="en-US" dirty="0" smtClean="0">
                <a:latin typeface="Calibri" panose="020F0502020204030204" pitchFamily="34" charset="0"/>
              </a:rPr>
              <a:t>Since  optimization is optional</a:t>
            </a:r>
            <a:r>
              <a:rPr lang="en-IN" altLang="en-US" dirty="0">
                <a:latin typeface="Calibri" panose="020F0502020204030204" pitchFamily="34" charset="0"/>
              </a:rPr>
              <a:t>, one or the other of the two optimization phases shown in Fig. </a:t>
            </a:r>
            <a:r>
              <a:rPr lang="en-IN" altLang="en-US" dirty="0" smtClean="0">
                <a:latin typeface="Calibri" panose="020F0502020204030204" pitchFamily="34" charset="0"/>
              </a:rPr>
              <a:t>may be </a:t>
            </a:r>
            <a:r>
              <a:rPr lang="en-IN" altLang="en-US" dirty="0">
                <a:latin typeface="Calibri" panose="020F0502020204030204" pitchFamily="34" charset="0"/>
              </a:rPr>
              <a:t>missing.</a:t>
            </a:r>
            <a:endParaRPr lang="en-US" altLang="en-US" sz="2400" dirty="0">
              <a:latin typeface="Calibri" panose="020F0502020204030204" pitchFamily="34" charset="0"/>
            </a:endParaRPr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473" r="6003"/>
          <a:stretch/>
        </p:blipFill>
        <p:spPr bwMode="auto">
          <a:xfrm>
            <a:off x="4843095" y="980728"/>
            <a:ext cx="3617337" cy="52651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555137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9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Code Optimizer (for Intermediate Code Generator)</a:t>
            </a:r>
          </a:p>
        </p:txBody>
      </p:sp>
      <p:sp>
        <p:nvSpPr>
          <p:cNvPr id="2549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The code optimizer optimizes the code produced by the intermediate code generator in the terms of time and space</a:t>
            </a:r>
            <a:r>
              <a:rPr lang="en-US" altLang="en-US" dirty="0" smtClean="0"/>
              <a:t>.</a:t>
            </a:r>
          </a:p>
          <a:p>
            <a:endParaRPr lang="en-US" altLang="en-US" dirty="0"/>
          </a:p>
          <a:p>
            <a:r>
              <a:rPr lang="en-IN" altLang="en-US" dirty="0"/>
              <a:t>The machine-independent code-optimization phase attempts to improve </a:t>
            </a:r>
            <a:r>
              <a:rPr lang="en-IN" altLang="en-US" dirty="0" smtClean="0"/>
              <a:t>the intermediate </a:t>
            </a:r>
            <a:r>
              <a:rPr lang="en-IN" altLang="en-US" dirty="0"/>
              <a:t>code so that better target code will result. </a:t>
            </a:r>
            <a:endParaRPr lang="en-IN" altLang="en-US" dirty="0" smtClean="0"/>
          </a:p>
          <a:p>
            <a:endParaRPr lang="en-IN" altLang="en-US" dirty="0"/>
          </a:p>
          <a:p>
            <a:r>
              <a:rPr lang="en-IN" altLang="en-US" dirty="0" smtClean="0"/>
              <a:t>Usually </a:t>
            </a:r>
            <a:r>
              <a:rPr lang="en-IN" altLang="en-US" dirty="0"/>
              <a:t>better </a:t>
            </a:r>
            <a:r>
              <a:rPr lang="en-IN" altLang="en-US" dirty="0" smtClean="0"/>
              <a:t>means faster</a:t>
            </a:r>
            <a:r>
              <a:rPr lang="en-IN" altLang="en-US" dirty="0"/>
              <a:t>, but other objectives may be desired, such as shorter code, or target </a:t>
            </a:r>
            <a:r>
              <a:rPr lang="en-IN" altLang="en-US" dirty="0" smtClean="0"/>
              <a:t>code that </a:t>
            </a:r>
            <a:r>
              <a:rPr lang="en-IN" altLang="en-US" dirty="0"/>
              <a:t>consumes less power.</a:t>
            </a:r>
            <a:endParaRPr lang="en-US" altLang="en-US" dirty="0"/>
          </a:p>
          <a:p>
            <a:endParaRPr lang="en-US" altLang="en-US" dirty="0"/>
          </a:p>
          <a:p>
            <a:pPr lvl="1">
              <a:buFontTx/>
              <a:buNone/>
            </a:pPr>
            <a:r>
              <a:rPr lang="en-US" altLang="en-US" dirty="0"/>
              <a:t>		</a:t>
            </a:r>
          </a:p>
        </p:txBody>
      </p:sp>
    </p:spTree>
    <p:extLst>
      <p:ext uri="{BB962C8B-B14F-4D97-AF65-F5344CB8AC3E}">
        <p14:creationId xmlns:p14="http://schemas.microsoft.com/office/powerpoint/2010/main" val="39977604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9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Code Optimizer (for Intermediate Code Generator)</a:t>
            </a:r>
          </a:p>
        </p:txBody>
      </p:sp>
      <p:sp>
        <p:nvSpPr>
          <p:cNvPr id="2549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altLang="en-US" dirty="0"/>
              <a:t>The optimizer can </a:t>
            </a:r>
            <a:r>
              <a:rPr lang="en-IN" altLang="en-US" dirty="0" smtClean="0"/>
              <a:t>deduce that </a:t>
            </a:r>
            <a:r>
              <a:rPr lang="en-IN" altLang="en-US" dirty="0"/>
              <a:t>the conversion of 60 from integer to </a:t>
            </a:r>
            <a:r>
              <a:rPr lang="en-IN" altLang="en-US" dirty="0" smtClean="0"/>
              <a:t>floating </a:t>
            </a:r>
            <a:r>
              <a:rPr lang="en-IN" altLang="en-US" dirty="0"/>
              <a:t>point can be done once and </a:t>
            </a:r>
            <a:r>
              <a:rPr lang="en-IN" altLang="en-US" dirty="0" smtClean="0"/>
              <a:t>for all </a:t>
            </a:r>
            <a:r>
              <a:rPr lang="en-IN" altLang="en-US" dirty="0"/>
              <a:t>at compile time, </a:t>
            </a:r>
            <a:endParaRPr lang="en-IN" altLang="en-US" dirty="0" smtClean="0"/>
          </a:p>
          <a:p>
            <a:endParaRPr lang="en-IN" altLang="en-US" dirty="0"/>
          </a:p>
          <a:p>
            <a:endParaRPr lang="en-IN" altLang="en-US" dirty="0" smtClean="0"/>
          </a:p>
          <a:p>
            <a:endParaRPr lang="en-IN" altLang="en-US" dirty="0" smtClean="0"/>
          </a:p>
          <a:p>
            <a:endParaRPr lang="en-IN" altLang="en-US" dirty="0" smtClean="0"/>
          </a:p>
          <a:p>
            <a:r>
              <a:rPr lang="en-IN" altLang="en-US" dirty="0" smtClean="0"/>
              <a:t>So </a:t>
            </a:r>
            <a:r>
              <a:rPr lang="en-IN" altLang="en-US" dirty="0"/>
              <a:t>the </a:t>
            </a:r>
            <a:r>
              <a:rPr lang="en-IN" altLang="en-US" dirty="0" err="1" smtClean="0"/>
              <a:t>inttofloat</a:t>
            </a:r>
            <a:r>
              <a:rPr lang="en-IN" altLang="en-US" dirty="0" smtClean="0"/>
              <a:t> </a:t>
            </a:r>
            <a:r>
              <a:rPr lang="en-IN" altLang="en-US" dirty="0"/>
              <a:t>operation can be eliminated by </a:t>
            </a:r>
            <a:r>
              <a:rPr lang="en-IN" altLang="en-US" dirty="0" smtClean="0"/>
              <a:t>replacing the </a:t>
            </a:r>
            <a:r>
              <a:rPr lang="en-IN" altLang="en-US" dirty="0"/>
              <a:t>integer 60 by the </a:t>
            </a:r>
            <a:r>
              <a:rPr lang="en-IN" altLang="en-US" dirty="0" smtClean="0"/>
              <a:t>floating-point </a:t>
            </a:r>
            <a:r>
              <a:rPr lang="en-IN" altLang="en-US" dirty="0"/>
              <a:t>number 60.0. </a:t>
            </a:r>
            <a:endParaRPr lang="en-IN" altLang="en-US" dirty="0" smtClean="0"/>
          </a:p>
          <a:p>
            <a:endParaRPr lang="en-IN" altLang="en-US" dirty="0" smtClean="0"/>
          </a:p>
          <a:p>
            <a:endParaRPr lang="en-IN" altLang="en-US" dirty="0"/>
          </a:p>
          <a:p>
            <a:r>
              <a:rPr lang="en-IN" altLang="en-US" dirty="0" smtClean="0"/>
              <a:t>Moreover</a:t>
            </a:r>
            <a:r>
              <a:rPr lang="en-IN" altLang="en-US" dirty="0"/>
              <a:t>, t3 is used </a:t>
            </a:r>
            <a:r>
              <a:rPr lang="en-IN" altLang="en-US" dirty="0" smtClean="0"/>
              <a:t>only once </a:t>
            </a:r>
            <a:r>
              <a:rPr lang="en-IN" altLang="en-US" dirty="0"/>
              <a:t>to transmit its value to id1 so the optimizer can transform (1.3) into </a:t>
            </a:r>
            <a:r>
              <a:rPr lang="en-IN" altLang="en-US" dirty="0" smtClean="0"/>
              <a:t>the shorter </a:t>
            </a:r>
            <a:r>
              <a:rPr lang="en-IN" altLang="en-US" dirty="0"/>
              <a:t>sequence</a:t>
            </a:r>
            <a:endParaRPr lang="en-US" alt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1800" y="4581128"/>
            <a:ext cx="2736304" cy="8149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1083" y="2420888"/>
            <a:ext cx="2676524" cy="12779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196123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9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Code Optimizer (for Intermediate Code Generator)</a:t>
            </a:r>
          </a:p>
        </p:txBody>
      </p:sp>
      <p:sp>
        <p:nvSpPr>
          <p:cNvPr id="2549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altLang="en-US" dirty="0"/>
              <a:t>There is a great variation in the amount of code optimization </a:t>
            </a:r>
            <a:r>
              <a:rPr lang="en-IN" altLang="en-US" dirty="0" smtClean="0"/>
              <a:t>different compilers </a:t>
            </a:r>
            <a:r>
              <a:rPr lang="en-IN" altLang="en-US" dirty="0"/>
              <a:t>perform. </a:t>
            </a:r>
            <a:endParaRPr lang="en-IN" altLang="en-US" dirty="0" smtClean="0"/>
          </a:p>
          <a:p>
            <a:endParaRPr lang="en-IN" altLang="en-US" dirty="0" smtClean="0"/>
          </a:p>
          <a:p>
            <a:r>
              <a:rPr lang="en-IN" altLang="en-US" dirty="0" smtClean="0"/>
              <a:t>In </a:t>
            </a:r>
            <a:r>
              <a:rPr lang="en-IN" altLang="en-US" dirty="0"/>
              <a:t>those that do the most, the so-called </a:t>
            </a:r>
            <a:r>
              <a:rPr lang="en-IN" altLang="en-US" dirty="0" smtClean="0"/>
              <a:t>“optimizing </a:t>
            </a:r>
            <a:r>
              <a:rPr lang="en-IN" altLang="en-US" dirty="0"/>
              <a:t>compilers</a:t>
            </a:r>
            <a:r>
              <a:rPr lang="en-IN" altLang="en-US" dirty="0" smtClean="0"/>
              <a:t>,“ a significant </a:t>
            </a:r>
            <a:r>
              <a:rPr lang="en-IN" altLang="en-US" dirty="0"/>
              <a:t>amount of time is spent on this phase.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199419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Code Generator</a:t>
            </a:r>
          </a:p>
        </p:txBody>
      </p:sp>
      <p:sp>
        <p:nvSpPr>
          <p:cNvPr id="2560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altLang="en-US" dirty="0"/>
              <a:t>The code generator takes as input an intermediate representation of the </a:t>
            </a:r>
            <a:r>
              <a:rPr lang="en-IN" altLang="en-US" dirty="0" smtClean="0"/>
              <a:t>source program </a:t>
            </a:r>
            <a:r>
              <a:rPr lang="en-IN" altLang="en-US" dirty="0"/>
              <a:t>and maps it into the target language</a:t>
            </a:r>
            <a:r>
              <a:rPr lang="en-IN" altLang="en-US" dirty="0" smtClean="0"/>
              <a:t>.</a:t>
            </a:r>
          </a:p>
        </p:txBody>
      </p:sp>
      <p:sp>
        <p:nvSpPr>
          <p:cNvPr id="256004" name="Text Box 4"/>
          <p:cNvSpPr txBox="1">
            <a:spLocks noChangeArrowheads="1"/>
          </p:cNvSpPr>
          <p:nvPr/>
        </p:nvSpPr>
        <p:spPr bwMode="auto">
          <a:xfrm>
            <a:off x="4135315" y="346075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45380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Code Generator</a:t>
            </a:r>
          </a:p>
        </p:txBody>
      </p:sp>
      <p:sp>
        <p:nvSpPr>
          <p:cNvPr id="2560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altLang="en-US" dirty="0" smtClean="0"/>
              <a:t>If </a:t>
            </a:r>
            <a:r>
              <a:rPr lang="en-IN" altLang="en-US" dirty="0"/>
              <a:t>the target language is </a:t>
            </a:r>
            <a:r>
              <a:rPr lang="en-IN" altLang="en-US" dirty="0" smtClean="0"/>
              <a:t>machine code</a:t>
            </a:r>
            <a:r>
              <a:rPr lang="en-IN" altLang="en-US" dirty="0"/>
              <a:t>, registers or memory locations are selected for each of the variables used </a:t>
            </a:r>
            <a:r>
              <a:rPr lang="en-IN" altLang="en-US" dirty="0" smtClean="0"/>
              <a:t>by the </a:t>
            </a:r>
            <a:r>
              <a:rPr lang="en-IN" altLang="en-US" dirty="0"/>
              <a:t>program. </a:t>
            </a:r>
            <a:endParaRPr lang="en-IN" altLang="en-US" dirty="0" smtClean="0"/>
          </a:p>
          <a:p>
            <a:r>
              <a:rPr lang="en-IN" altLang="en-US" dirty="0" smtClean="0"/>
              <a:t>Then</a:t>
            </a:r>
            <a:r>
              <a:rPr lang="en-IN" altLang="en-US" dirty="0"/>
              <a:t>, the intermediate instructions are translated into </a:t>
            </a:r>
            <a:r>
              <a:rPr lang="en-IN" altLang="en-US" dirty="0" smtClean="0"/>
              <a:t>sequences of </a:t>
            </a:r>
            <a:r>
              <a:rPr lang="en-IN" altLang="en-US" dirty="0"/>
              <a:t>machine instructions that perform the same task. </a:t>
            </a:r>
            <a:endParaRPr lang="en-IN" altLang="en-US" dirty="0" smtClean="0"/>
          </a:p>
          <a:p>
            <a:r>
              <a:rPr lang="en-IN" altLang="en-US" dirty="0" smtClean="0"/>
              <a:t>A </a:t>
            </a:r>
            <a:r>
              <a:rPr lang="en-IN" altLang="en-US" dirty="0"/>
              <a:t>crucial aspect of </a:t>
            </a:r>
            <a:r>
              <a:rPr lang="en-IN" altLang="en-US" dirty="0" smtClean="0"/>
              <a:t>code generation </a:t>
            </a:r>
            <a:r>
              <a:rPr lang="en-IN" altLang="en-US" dirty="0"/>
              <a:t>is the judicious assignment of registers to hold variables.</a:t>
            </a:r>
            <a:endParaRPr lang="en-US" altLang="en-US" dirty="0"/>
          </a:p>
        </p:txBody>
      </p:sp>
      <p:sp>
        <p:nvSpPr>
          <p:cNvPr id="256004" name="Text Box 4"/>
          <p:cNvSpPr txBox="1">
            <a:spLocks noChangeArrowheads="1"/>
          </p:cNvSpPr>
          <p:nvPr/>
        </p:nvSpPr>
        <p:spPr bwMode="auto">
          <a:xfrm>
            <a:off x="4135315" y="346075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45380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Code Generator</a:t>
            </a:r>
          </a:p>
        </p:txBody>
      </p:sp>
      <p:sp>
        <p:nvSpPr>
          <p:cNvPr id="2560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altLang="en-US" dirty="0" smtClean="0"/>
              <a:t>Output of code optimizer-</a:t>
            </a:r>
          </a:p>
          <a:p>
            <a:endParaRPr lang="en-IN" altLang="en-US" dirty="0"/>
          </a:p>
          <a:p>
            <a:endParaRPr lang="en-IN" altLang="en-US" dirty="0" smtClean="0"/>
          </a:p>
          <a:p>
            <a:r>
              <a:rPr lang="en-IN" altLang="en-US" dirty="0" smtClean="0"/>
              <a:t>For </a:t>
            </a:r>
            <a:r>
              <a:rPr lang="en-IN" altLang="en-US" dirty="0"/>
              <a:t>example, using registers R1 and R2, </a:t>
            </a:r>
            <a:endParaRPr lang="en-IN" altLang="en-US" dirty="0" smtClean="0"/>
          </a:p>
          <a:p>
            <a:r>
              <a:rPr lang="en-IN" altLang="en-US" dirty="0" smtClean="0"/>
              <a:t>The </a:t>
            </a:r>
            <a:r>
              <a:rPr lang="en-IN" altLang="en-US" dirty="0"/>
              <a:t>intermediate code in </a:t>
            </a:r>
            <a:r>
              <a:rPr lang="en-IN" altLang="en-US" dirty="0" smtClean="0"/>
              <a:t>might get </a:t>
            </a:r>
            <a:r>
              <a:rPr lang="en-IN" altLang="en-US" dirty="0"/>
              <a:t>translated into the machine </a:t>
            </a:r>
            <a:r>
              <a:rPr lang="en-IN" altLang="en-US" dirty="0" smtClean="0"/>
              <a:t>code</a:t>
            </a:r>
          </a:p>
          <a:p>
            <a:endParaRPr lang="en-IN" altLang="en-US" dirty="0"/>
          </a:p>
          <a:p>
            <a:endParaRPr lang="en-IN" altLang="en-US" dirty="0"/>
          </a:p>
          <a:p>
            <a:endParaRPr lang="en-IN" altLang="en-US" dirty="0" smtClean="0"/>
          </a:p>
          <a:p>
            <a:endParaRPr lang="en-IN" altLang="en-US" dirty="0"/>
          </a:p>
          <a:p>
            <a:r>
              <a:rPr lang="en-IN" altLang="en-US" dirty="0"/>
              <a:t>The F in </a:t>
            </a:r>
            <a:r>
              <a:rPr lang="en-IN" altLang="en-US" dirty="0" smtClean="0"/>
              <a:t>each instruction </a:t>
            </a:r>
            <a:r>
              <a:rPr lang="en-IN" altLang="en-US" dirty="0"/>
              <a:t>tells us that it deals with </a:t>
            </a:r>
            <a:r>
              <a:rPr lang="en-IN" altLang="en-US" dirty="0" smtClean="0"/>
              <a:t>floating-point </a:t>
            </a:r>
            <a:r>
              <a:rPr lang="en-IN" altLang="en-US" dirty="0"/>
              <a:t>numbers</a:t>
            </a:r>
            <a:r>
              <a:rPr lang="en-IN" altLang="en-US" dirty="0" smtClean="0"/>
              <a:t>.</a:t>
            </a:r>
          </a:p>
        </p:txBody>
      </p:sp>
      <p:sp>
        <p:nvSpPr>
          <p:cNvPr id="256004" name="Text Box 4"/>
          <p:cNvSpPr txBox="1">
            <a:spLocks noChangeArrowheads="1"/>
          </p:cNvSpPr>
          <p:nvPr/>
        </p:nvSpPr>
        <p:spPr bwMode="auto">
          <a:xfrm>
            <a:off x="4135315" y="346075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 alt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5176" y="3501008"/>
            <a:ext cx="3510880" cy="1941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1628800"/>
            <a:ext cx="2736304" cy="9589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47784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Code Generator</a:t>
            </a:r>
          </a:p>
        </p:txBody>
      </p:sp>
      <p:sp>
        <p:nvSpPr>
          <p:cNvPr id="2560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IN" altLang="en-US" dirty="0"/>
          </a:p>
          <a:p>
            <a:endParaRPr lang="en-IN" altLang="en-US" dirty="0" smtClean="0"/>
          </a:p>
          <a:p>
            <a:endParaRPr lang="en-IN" altLang="en-US" dirty="0"/>
          </a:p>
          <a:p>
            <a:endParaRPr lang="en-IN" altLang="en-US" dirty="0" smtClean="0"/>
          </a:p>
          <a:p>
            <a:endParaRPr lang="en-IN" altLang="en-US" dirty="0"/>
          </a:p>
          <a:p>
            <a:r>
              <a:rPr lang="en-IN" altLang="en-US" dirty="0" smtClean="0"/>
              <a:t>The code loads </a:t>
            </a:r>
            <a:r>
              <a:rPr lang="en-IN" altLang="en-US" dirty="0"/>
              <a:t>the contents of address id3 into register R2, then multiplies it </a:t>
            </a:r>
            <a:r>
              <a:rPr lang="en-IN" altLang="en-US" dirty="0" smtClean="0"/>
              <a:t>with floating-point </a:t>
            </a:r>
            <a:r>
              <a:rPr lang="en-IN" altLang="en-US" dirty="0"/>
              <a:t>constant 60.0. </a:t>
            </a:r>
            <a:endParaRPr lang="en-IN" altLang="en-US" dirty="0" smtClean="0"/>
          </a:p>
          <a:p>
            <a:r>
              <a:rPr lang="en-IN" altLang="en-US" dirty="0" smtClean="0"/>
              <a:t>The </a:t>
            </a:r>
            <a:r>
              <a:rPr lang="en-IN" altLang="en-US" dirty="0"/>
              <a:t># </a:t>
            </a:r>
            <a:r>
              <a:rPr lang="en-IN" altLang="en-US" dirty="0" smtClean="0"/>
              <a:t>signifies </a:t>
            </a:r>
            <a:r>
              <a:rPr lang="en-IN" altLang="en-US" dirty="0"/>
              <a:t>that 60.0 is to be treated as </a:t>
            </a:r>
            <a:r>
              <a:rPr lang="en-IN" altLang="en-US" dirty="0" smtClean="0"/>
              <a:t>an immediate </a:t>
            </a:r>
            <a:r>
              <a:rPr lang="en-IN" altLang="en-US" dirty="0"/>
              <a:t>constant. </a:t>
            </a:r>
            <a:endParaRPr lang="en-IN" altLang="en-US" dirty="0" smtClean="0"/>
          </a:p>
          <a:p>
            <a:r>
              <a:rPr lang="en-IN" altLang="en-US" dirty="0" smtClean="0"/>
              <a:t>The </a:t>
            </a:r>
            <a:r>
              <a:rPr lang="en-IN" altLang="en-US" dirty="0"/>
              <a:t>third instruction moves id2 into register R1 </a:t>
            </a:r>
            <a:endParaRPr lang="en-IN" altLang="en-US" dirty="0" smtClean="0"/>
          </a:p>
          <a:p>
            <a:r>
              <a:rPr lang="en-IN" altLang="en-US" dirty="0" smtClean="0"/>
              <a:t>The fourth </a:t>
            </a:r>
            <a:r>
              <a:rPr lang="en-IN" altLang="en-US" dirty="0"/>
              <a:t>adds to it the value previously computed in register R2. </a:t>
            </a:r>
            <a:endParaRPr lang="en-IN" altLang="en-US" dirty="0" smtClean="0"/>
          </a:p>
          <a:p>
            <a:r>
              <a:rPr lang="en-IN" altLang="en-US" dirty="0" smtClean="0"/>
              <a:t>Finally</a:t>
            </a:r>
            <a:r>
              <a:rPr lang="en-IN" altLang="en-US" dirty="0"/>
              <a:t>, the </a:t>
            </a:r>
            <a:r>
              <a:rPr lang="en-IN" altLang="en-US" dirty="0" smtClean="0"/>
              <a:t>value in </a:t>
            </a:r>
            <a:r>
              <a:rPr lang="en-IN" altLang="en-US" dirty="0"/>
              <a:t>register R1 is stored into the address of id1, so the code correctly </a:t>
            </a:r>
            <a:r>
              <a:rPr lang="en-IN" altLang="en-US" dirty="0" smtClean="0"/>
              <a:t>implements the source code</a:t>
            </a:r>
            <a:endParaRPr lang="en-US" altLang="en-US" dirty="0"/>
          </a:p>
        </p:txBody>
      </p:sp>
      <p:sp>
        <p:nvSpPr>
          <p:cNvPr id="256004" name="Text Box 4"/>
          <p:cNvSpPr txBox="1">
            <a:spLocks noChangeArrowheads="1"/>
          </p:cNvSpPr>
          <p:nvPr/>
        </p:nvSpPr>
        <p:spPr bwMode="auto">
          <a:xfrm>
            <a:off x="4135315" y="346075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 alt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899" y="1412776"/>
            <a:ext cx="2943646" cy="16274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665210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Example Revisited</a:t>
            </a:r>
            <a:endParaRPr lang="en-IN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196752"/>
            <a:ext cx="8568952" cy="5203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994802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 Revisited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268760"/>
            <a:ext cx="7236296" cy="50405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070931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Symbol-Table Management</a:t>
            </a:r>
          </a:p>
        </p:txBody>
      </p:sp>
      <p:sp>
        <p:nvSpPr>
          <p:cNvPr id="2560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altLang="en-US" dirty="0"/>
              <a:t>An essential function of a compiler is to record the variable names used in </a:t>
            </a:r>
            <a:r>
              <a:rPr lang="en-IN" altLang="en-US" dirty="0" smtClean="0"/>
              <a:t>the source </a:t>
            </a:r>
            <a:r>
              <a:rPr lang="en-IN" altLang="en-US" dirty="0"/>
              <a:t>program and collect information about various attributes of each name.</a:t>
            </a:r>
          </a:p>
          <a:p>
            <a:r>
              <a:rPr lang="en-IN" altLang="en-US" dirty="0"/>
              <a:t>These attributes may provide information about </a:t>
            </a:r>
            <a:endParaRPr lang="en-IN" altLang="en-US" dirty="0" smtClean="0"/>
          </a:p>
          <a:p>
            <a:pPr lvl="1"/>
            <a:r>
              <a:rPr lang="en-IN" altLang="en-US" sz="2400" dirty="0" smtClean="0"/>
              <a:t>the </a:t>
            </a:r>
            <a:r>
              <a:rPr lang="en-IN" altLang="en-US" sz="2400" dirty="0"/>
              <a:t>storage allocated for </a:t>
            </a:r>
            <a:r>
              <a:rPr lang="en-IN" altLang="en-US" sz="2400" dirty="0" smtClean="0"/>
              <a:t>a name</a:t>
            </a:r>
            <a:r>
              <a:rPr lang="en-IN" altLang="en-US" sz="2400" dirty="0"/>
              <a:t>, </a:t>
            </a:r>
            <a:endParaRPr lang="en-IN" altLang="en-US" sz="2400" dirty="0" smtClean="0"/>
          </a:p>
          <a:p>
            <a:pPr lvl="1"/>
            <a:r>
              <a:rPr lang="en-IN" altLang="en-US" sz="2400" dirty="0" smtClean="0"/>
              <a:t>its </a:t>
            </a:r>
            <a:r>
              <a:rPr lang="en-IN" altLang="en-US" sz="2400" dirty="0"/>
              <a:t>type, </a:t>
            </a:r>
            <a:endParaRPr lang="en-IN" altLang="en-US" sz="2400" dirty="0" smtClean="0"/>
          </a:p>
          <a:p>
            <a:pPr lvl="1"/>
            <a:r>
              <a:rPr lang="en-IN" altLang="en-US" sz="2400" dirty="0" smtClean="0"/>
              <a:t>its </a:t>
            </a:r>
            <a:r>
              <a:rPr lang="en-IN" altLang="en-US" sz="2400" dirty="0"/>
              <a:t>scope (where in the program its value may be used), </a:t>
            </a:r>
            <a:r>
              <a:rPr lang="en-IN" altLang="en-US" sz="2400" dirty="0" smtClean="0"/>
              <a:t>and </a:t>
            </a:r>
          </a:p>
          <a:p>
            <a:pPr lvl="1"/>
            <a:r>
              <a:rPr lang="en-IN" altLang="en-US" sz="2400" dirty="0" smtClean="0"/>
              <a:t>in </a:t>
            </a:r>
            <a:r>
              <a:rPr lang="en-IN" altLang="en-US" sz="2400" dirty="0"/>
              <a:t>the case of procedure names, such things as the number and types of </a:t>
            </a:r>
            <a:r>
              <a:rPr lang="en-IN" altLang="en-US" sz="2400" dirty="0" smtClean="0"/>
              <a:t>its arguments</a:t>
            </a:r>
            <a:r>
              <a:rPr lang="en-IN" altLang="en-US" sz="2400" dirty="0"/>
              <a:t>, </a:t>
            </a:r>
            <a:endParaRPr lang="en-IN" altLang="en-US" sz="2400" dirty="0" smtClean="0"/>
          </a:p>
          <a:p>
            <a:pPr lvl="1"/>
            <a:r>
              <a:rPr lang="en-IN" altLang="en-US" sz="2400" dirty="0" smtClean="0"/>
              <a:t>the </a:t>
            </a:r>
            <a:r>
              <a:rPr lang="en-IN" altLang="en-US" sz="2400" dirty="0"/>
              <a:t>method of passing each argument (for example, by value or </a:t>
            </a:r>
            <a:r>
              <a:rPr lang="en-IN" altLang="en-US" sz="2400" dirty="0" smtClean="0"/>
              <a:t>by reference</a:t>
            </a:r>
            <a:r>
              <a:rPr lang="en-IN" altLang="en-US" sz="2400" dirty="0"/>
              <a:t>), </a:t>
            </a:r>
            <a:r>
              <a:rPr lang="en-IN" altLang="en-US" sz="2400" dirty="0" smtClean="0"/>
              <a:t>and</a:t>
            </a:r>
          </a:p>
          <a:p>
            <a:pPr lvl="1"/>
            <a:r>
              <a:rPr lang="en-IN" altLang="en-US" sz="2400" dirty="0" smtClean="0"/>
              <a:t> </a:t>
            </a:r>
            <a:r>
              <a:rPr lang="en-IN" altLang="en-US" sz="2400" dirty="0"/>
              <a:t>the type returned.</a:t>
            </a:r>
            <a:endParaRPr lang="en-US" altLang="en-US" sz="2400" dirty="0"/>
          </a:p>
        </p:txBody>
      </p:sp>
      <p:sp>
        <p:nvSpPr>
          <p:cNvPr id="256004" name="Text Box 4"/>
          <p:cNvSpPr txBox="1">
            <a:spLocks noChangeArrowheads="1"/>
          </p:cNvSpPr>
          <p:nvPr/>
        </p:nvSpPr>
        <p:spPr bwMode="auto">
          <a:xfrm>
            <a:off x="4135315" y="346075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007907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593</TotalTime>
  <Words>2101</Words>
  <Application>Microsoft Office PowerPoint</Application>
  <PresentationFormat>On-screen Show (4:3)</PresentationFormat>
  <Paragraphs>326</Paragraphs>
  <Slides>60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60</vt:i4>
      </vt:variant>
    </vt:vector>
  </HeadingPairs>
  <TitlesOfParts>
    <vt:vector size="62" baseType="lpstr">
      <vt:lpstr>Office Theme</vt:lpstr>
      <vt:lpstr>Default Design</vt:lpstr>
      <vt:lpstr>Introduction to Different Phases of Compiler</vt:lpstr>
      <vt:lpstr>Compiler</vt:lpstr>
      <vt:lpstr>Compiler</vt:lpstr>
      <vt:lpstr>Compiler</vt:lpstr>
      <vt:lpstr>Compiler</vt:lpstr>
      <vt:lpstr>Compiler</vt:lpstr>
      <vt:lpstr>Interpreter</vt:lpstr>
      <vt:lpstr>Interpreter</vt:lpstr>
      <vt:lpstr>Interpreter</vt:lpstr>
      <vt:lpstr>PowerPoint Presentation</vt:lpstr>
      <vt:lpstr>Major Parts of Compilers</vt:lpstr>
      <vt:lpstr>Major Parts of Compilers</vt:lpstr>
      <vt:lpstr>Major Parts of Compilers</vt:lpstr>
      <vt:lpstr>Major Parts of Compilers</vt:lpstr>
      <vt:lpstr>Major Parts of Compilers</vt:lpstr>
      <vt:lpstr>Major Parts of Compilers</vt:lpstr>
      <vt:lpstr>Major Parts of Compilers</vt:lpstr>
      <vt:lpstr>Phases of compilers</vt:lpstr>
      <vt:lpstr>Phases of A Compiler</vt:lpstr>
      <vt:lpstr>Lexical Analyzer</vt:lpstr>
      <vt:lpstr>Lexical Analyzer</vt:lpstr>
      <vt:lpstr>Lexical Analyzer</vt:lpstr>
      <vt:lpstr>Lexical Analyzer</vt:lpstr>
      <vt:lpstr>Lexical Analyzer</vt:lpstr>
      <vt:lpstr>Lexical Analyzer</vt:lpstr>
      <vt:lpstr>Lexical Analyzer</vt:lpstr>
      <vt:lpstr>Lexical Analyzer</vt:lpstr>
      <vt:lpstr>Lexical Analyzer</vt:lpstr>
      <vt:lpstr>Lexical Analyzer</vt:lpstr>
      <vt:lpstr>Lexical Analyzer</vt:lpstr>
      <vt:lpstr>Syntax Analyzer</vt:lpstr>
      <vt:lpstr>Syntax Analyzer</vt:lpstr>
      <vt:lpstr>Parsing Techniques</vt:lpstr>
      <vt:lpstr>Parsing Techniques</vt:lpstr>
      <vt:lpstr>Parsing Techniques</vt:lpstr>
      <vt:lpstr>Semantic Analyzer</vt:lpstr>
      <vt:lpstr>Semantic Analyzer</vt:lpstr>
      <vt:lpstr>Semantic Analyzer</vt:lpstr>
      <vt:lpstr>Semantic Analyzer</vt:lpstr>
      <vt:lpstr>Semantic Analyzer</vt:lpstr>
      <vt:lpstr>Semantic Analyzer</vt:lpstr>
      <vt:lpstr>Semantic Analyzer</vt:lpstr>
      <vt:lpstr>Intermediate Code Generation</vt:lpstr>
      <vt:lpstr>Intermediate Code Generation</vt:lpstr>
      <vt:lpstr>Intermediate Code Generation</vt:lpstr>
      <vt:lpstr>Intermediate Code Generation</vt:lpstr>
      <vt:lpstr>Intermediate Code Generation</vt:lpstr>
      <vt:lpstr>Optimization of Intermediate Code</vt:lpstr>
      <vt:lpstr>Optimization of Intermediate Code</vt:lpstr>
      <vt:lpstr>Optimization of Intermediate Code</vt:lpstr>
      <vt:lpstr>Code Optimizer (for Intermediate Code Generator)</vt:lpstr>
      <vt:lpstr>Code Optimizer (for Intermediate Code Generator)</vt:lpstr>
      <vt:lpstr>Code Optimizer (for Intermediate Code Generator)</vt:lpstr>
      <vt:lpstr>Code Generator</vt:lpstr>
      <vt:lpstr>Code Generator</vt:lpstr>
      <vt:lpstr>Code Generator</vt:lpstr>
      <vt:lpstr>Code Generator</vt:lpstr>
      <vt:lpstr>Example Revisited</vt:lpstr>
      <vt:lpstr>Example Revisited</vt:lpstr>
      <vt:lpstr>Symbol-Table Management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38</cp:revision>
  <dcterms:created xsi:type="dcterms:W3CDTF">2022-02-21T15:39:59Z</dcterms:created>
  <dcterms:modified xsi:type="dcterms:W3CDTF">2023-03-01T16:36:10Z</dcterms:modified>
</cp:coreProperties>
</file>