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y="6858000" cx="9144000"/>
  <p:notesSz cx="6858000" cy="9144000"/>
  <p:embeddedFontLst>
    <p:embeddedFont>
      <p:font typeface="Inter"/>
      <p:regular r:id="rId69"/>
      <p:bold r:id="rId70"/>
    </p:embeddedFont>
    <p:embeddedFont>
      <p:font typeface="Tahoma"/>
      <p:regular r:id="rId71"/>
      <p:bold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73" roundtripDataSignature="AMtx7miDeFE393yqeINrE4M4wrr2tqKo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customschemas.google.com/relationships/presentationmetadata" Target="metadata"/><Relationship Id="rId72" Type="http://schemas.openxmlformats.org/officeDocument/2006/relationships/font" Target="fonts/Tahoma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Tahoma-regular.fntdata"/><Relationship Id="rId70" Type="http://schemas.openxmlformats.org/officeDocument/2006/relationships/font" Target="fonts/Inter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Inter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6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8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30" name="Google Shape;30;p68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31" name="Google Shape;31;p6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9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9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5" name="Google Shape;35;p6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7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4" name="Google Shape;44;p7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8" name="Google Shape;48;p7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9" name="Google Shape;49;p7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5" name="Google Shape;55;p7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6" name="Google Shape;56;p7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7" name="Google Shape;57;p7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8" name="Google Shape;58;p7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7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66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66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66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0"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3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63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63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63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1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63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1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63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6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6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63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</a:t>
            </a: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Ramez Elmasri and Shamkant B. Navathe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5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137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5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5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6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6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65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descr="Elmasri_cov" id="83" name="Google Shape;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</a:t>
            </a: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Ramez Elmasri and Shamkant B. Navathe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ink tissue paper" id="90" name="Google Shape;90;p2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6600"/>
              <a:buFont typeface="Arial"/>
              <a:buNone/>
            </a:pPr>
            <a:r>
              <a:rPr b="0" i="0" lang="en-US" sz="66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Chapter 10</a:t>
            </a:r>
            <a:endParaRPr/>
          </a:p>
        </p:txBody>
      </p:sp>
      <p:sp>
        <p:nvSpPr>
          <p:cNvPr descr="Pink tissue paper" id="91" name="Google Shape;91;p2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Functional Dependencies and Normalization for Relational Databases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Outline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Informal Design Guidelines for Relational Databases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1.1Semantics of the Relation Attributes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1.2 Redundant Information in Tuples and Update Anomalies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1.3 Null Values in Tuples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1.4 Spurious Tuples</a:t>
            </a:r>
            <a:endParaRPr/>
          </a:p>
          <a:p>
            <a:pPr indent="-208915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 Functional Dependencies (FDs)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2.1 Definition of FD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2.2 Inference Rules for FDs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2.3 Equivalence of Sets of FDs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2.4 Minimal Sets of FDs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Outline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Normal Forms Based on Primary Keys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 Normalization of Relations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3.2 Practical Use of Normal Forms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3.3 Definitions of Keys and Attributes Participating in Keys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3.4 First Normal Form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3.5 Second Normal Form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3.6 Third Normal Form</a:t>
            </a:r>
            <a:endParaRPr/>
          </a:p>
          <a:p>
            <a:pPr indent="-208915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 General Normal Form Definitions (4NF For Multiple Keys)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 BCNF (Boyce-Codd Normal Form)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 Informal Design Guidelines for Relational Databases (1)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relational database design?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grouping of attributes to form "good" relation schemas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Two levels of relation schemas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logical "user view" level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storage "base relation" level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Design is concerned mainly with base relations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What are the criteria for "good" base relations? 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Informal Design Guidelines for Relational Databases (2)</a:t>
            </a:r>
            <a:endParaRPr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first discuss informal guidelines for good relational design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Then we discuss formal concepts of functional dependencies and normal forms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- 1NF (First Normal Form)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- 2NF (Second Normal Form)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- 3NF (Third Normal Form)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- BCNF (Boyce-Codd Normal Form)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Additional types of dependencies, further normal forms, relational design algorithms by synthesis are discussed in Chapter 11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1.1	Semantics of the Relation Attributes </a:t>
            </a:r>
            <a:endParaRPr/>
          </a:p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GUIDELINE 1: Informally, each tuple in a relation should represent one entity or relationship instance. (Applies to individual relations and their attributes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of different entities (EMPLOYEEs, DEPARTMENTs, PROJECTs) should not be mixed in the same 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Only foreign keys should be used to refer to other entities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and relationship attributes should be kept apart as much as possible.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Bottom Line: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 a schema that can be explained easily relation by relation. The semantics of attributes should be easy to interpret.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/>
        </p:nvSpPr>
        <p:spPr>
          <a:xfrm>
            <a:off x="6858000" y="62579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10.1 A simplified COMPANY relational database schema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10_01"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524000"/>
            <a:ext cx="5105400" cy="493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1.2 Redundant Information in Tuples and Update Anomalies </a:t>
            </a:r>
            <a:endParaRPr/>
          </a:p>
        </p:txBody>
      </p:sp>
      <p:sp>
        <p:nvSpPr>
          <p:cNvPr id="148" name="Google Shape;148;p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Information is stored redundantly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Wastes storage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Causes problems with update anomalies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Insertion anomalies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Deletion anomalies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Modification anomalies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AN UPDATE ANOMALY</a:t>
            </a:r>
            <a:endParaRPr/>
          </a:p>
        </p:txBody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Consider the relation: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EMP_PROJ(Emp#, Proj#, Ename, Pname, No_hours)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 Anomaly: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Changing the name of  project number P1 from “Billing” to “Customer-Accounting” may cause this update to be made for all 100 employees working on project P1.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AN INSERT ANOMALY</a:t>
            </a:r>
            <a:endParaRPr/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Consider the relation: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EMP_PROJ(Emp#, Proj#, Ename, Pname, No_hours)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Insert  Anomaly: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Cannot insert a project unless an employee is assigned to it.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Conversely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Cannot insert an employee unless an he/she is assigned to a project.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AN DELETE ANOMALY</a:t>
            </a:r>
            <a:endParaRPr/>
          </a:p>
        </p:txBody>
      </p:sp>
      <p:sp>
        <p:nvSpPr>
          <p:cNvPr id="172" name="Google Shape;172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Consider the relation: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EMP_PROJ(Emp#, Proj#, Ename, Pname, No_hours)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Delete Anomaly: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When a project is deleted, it will result in deleting all the employees who work on that project.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Alternately, if an employee is the sole employee on a project, deleting that employee would result in deleting the corresponding project.</a:t>
            </a:r>
            <a:endParaRPr/>
          </a:p>
          <a:p>
            <a:pPr indent="-24384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/>
              <a:t>Example of Anomalies</a:t>
            </a:r>
            <a:endParaRPr/>
          </a:p>
        </p:txBody>
      </p:sp>
      <p:sp>
        <p:nvSpPr>
          <p:cNvPr id="178" name="Google Shape;178;p13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8108"/>
              <a:buChar char="•"/>
            </a:pP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Insertion anomaly: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8108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If a tuple is inserted in referencing relation and referencing attribute value is not present in referenced attribute, it will not allow inserting in referencing relation.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8108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For Example, If we try to insert a record in STUDENT_COURSE with STUD_NO =7, it will not allow.</a:t>
            </a:r>
            <a:endParaRPr/>
          </a:p>
        </p:txBody>
      </p:sp>
      <p:sp>
        <p:nvSpPr>
          <p:cNvPr id="179" name="Google Shape;179;p13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pic>
        <p:nvPicPr>
          <p:cNvPr id="180" name="Google Shape;1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470" y="2987151"/>
            <a:ext cx="1541400" cy="201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8981" y="1312317"/>
            <a:ext cx="493395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157" y="5100899"/>
            <a:ext cx="3248025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b="1" lang="en-US">
                <a:solidFill>
                  <a:srgbClr val="273239"/>
                </a:solidFill>
              </a:rPr>
              <a:t>Deletion and Update anomaly:</a:t>
            </a:r>
            <a:r>
              <a:rPr lang="en-US">
                <a:solidFill>
                  <a:srgbClr val="273239"/>
                </a:solidFill>
              </a:rPr>
              <a:t>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>
                <a:solidFill>
                  <a:srgbClr val="273239"/>
                </a:solidFill>
              </a:rPr>
              <a:t>If a tuple is deleted or updated from referenced relation and referenced attribute value is used by referencing attribute in referencing relation, it will not allow deleting the tuple from referenced relation.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lang="en-US">
                <a:solidFill>
                  <a:srgbClr val="273239"/>
                </a:solidFill>
              </a:rPr>
              <a:t>For Example, If we try to delete a record from STUDENT with STUD_NO =1, it will not allow. 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10.3 Two relation schemas suffering from update anomalies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10_03"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025" y="2057400"/>
            <a:ext cx="8207375" cy="3392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10.4 Example States for EMP_DEPT and EMP_PROJ</a:t>
            </a:r>
            <a:endParaRPr/>
          </a:p>
        </p:txBody>
      </p:sp>
      <p:pic>
        <p:nvPicPr>
          <p:cNvPr id="206" name="Google Shape;2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49" y="2213453"/>
            <a:ext cx="8894909" cy="3110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Guideline to Redundant Information in Tuples and Update Anomalies</a:t>
            </a:r>
            <a:endParaRPr/>
          </a:p>
        </p:txBody>
      </p:sp>
      <p:sp>
        <p:nvSpPr>
          <p:cNvPr id="214" name="Google Shape;214;p1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GUIDELINE 2: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Design a schema that does not suffer from the insertion, deletion and update anomalies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there are any anomalies present, then note them so that applications can be made to take them into account.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1.3 Null Values in Tuples </a:t>
            </a:r>
            <a:endParaRPr/>
          </a:p>
        </p:txBody>
      </p:sp>
      <p:sp>
        <p:nvSpPr>
          <p:cNvPr id="222" name="Google Shape;222;p1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GUIDELINE 3: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Relations should be designed such that their tuples will have as few NULL values as possible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Attributes that are NULL frequently could be placed in separate relations (with the primary key)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>
                <a:solidFill>
                  <a:srgbClr val="FF0000"/>
                </a:solidFill>
              </a:rPr>
              <a:t>It causes confusion in COUNT  and SUM operation.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lang="en-US">
                <a:solidFill>
                  <a:srgbClr val="FF0000"/>
                </a:solidFill>
              </a:rPr>
              <a:t>If NULL value comes in comparision with SELECT or JOIN operation, the result will unpredictable.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713984" y="1870880"/>
            <a:ext cx="6144016" cy="2716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Reasons for nulls: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 not applicable or invalid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 value unknown  (may exist)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Value known to exist, but unavailable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1.4 Spurious Tuples </a:t>
            </a:r>
            <a:endParaRPr/>
          </a:p>
        </p:txBody>
      </p:sp>
      <p:sp>
        <p:nvSpPr>
          <p:cNvPr id="237" name="Google Shape;237;p20"/>
          <p:cNvSpPr txBox="1"/>
          <p:nvPr>
            <p:ph idx="1" type="body"/>
          </p:nvPr>
        </p:nvSpPr>
        <p:spPr>
          <a:xfrm>
            <a:off x="239712" y="1600200"/>
            <a:ext cx="85994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Bad designs for a relational database may result in erroneous results for certain JOIN operations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"lossless join" property is used to guarantee meaningful results for join operations(LOS 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GUIDELINE 4: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relations should be designed to satisfy the lossless join condition i.means  No spurious tuples should be generated by doing a natural-join of any relations.</a:t>
            </a:r>
            <a:endParaRPr/>
          </a:p>
          <a:p>
            <a:pPr indent="-24384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Spurious Tuples (2)</a:t>
            </a:r>
            <a:endParaRPr/>
          </a:p>
        </p:txBody>
      </p:sp>
      <p:sp>
        <p:nvSpPr>
          <p:cNvPr id="245" name="Google Shape;245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are two important properties of decompositions: </a:t>
            </a:r>
            <a:endParaRPr/>
          </a:p>
          <a:p>
            <a:pPr indent="-419100" lvl="1" marL="876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AutoNum type="alphaLcParenR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Non-additive or losslessness of the corresponding join</a:t>
            </a:r>
            <a:endParaRPr/>
          </a:p>
          <a:p>
            <a:pPr indent="-419100" lvl="1" marL="876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AutoNum type="alphaLcParenR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Preservation of the functional dependencies. </a:t>
            </a:r>
            <a:endParaRPr/>
          </a:p>
          <a:p>
            <a:pPr indent="-36576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 that:</a:t>
            </a:r>
            <a:endParaRPr/>
          </a:p>
          <a:p>
            <a:pPr indent="-419100" lvl="1" marL="876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Property (a) is extremely important and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cannot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be sacrificed.</a:t>
            </a:r>
            <a:endParaRPr/>
          </a:p>
          <a:p>
            <a:pPr indent="-419100" lvl="1" marL="876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Property (b) is less stringent and may be sacrificed. (See Chapter 11).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400"/>
              <a:t>The relation EMP_PROJ is decomposed into two relations: EMP_LOCS and EMP_PROJ1.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400"/>
              <a:t>by re-joining of these two relations will generate some spurious tuples.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400"/>
              <a:t>So the join operation will not get original EMP_Proj relation.</a:t>
            </a:r>
            <a:endParaRPr sz="2400"/>
          </a:p>
        </p:txBody>
      </p:sp>
      <p:sp>
        <p:nvSpPr>
          <p:cNvPr id="252" name="Google Shape;252;p2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324" y="1521521"/>
            <a:ext cx="676275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259" name="Google Shape;259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Spurious Tuples Example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the poorly designed relations EMP_PROJ1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poorly designed table is split on the basis of ploc(non PK)We get EMP-LOC AND EMP-PROJ</a:t>
            </a:r>
            <a:endParaRPr/>
          </a:p>
        </p:txBody>
      </p:sp>
      <p:pic>
        <p:nvPicPr>
          <p:cNvPr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637" y="3189603"/>
            <a:ext cx="3421856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6" name="Google Shape;266;p2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/>
              <a:t>NOW IF EMP-LOC AND EMP-PROJ JOINED ON THE BASIS OF PLOC, will not get proper output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/>
              <a:t>We will not get original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/>
              <a:t>   table.</a:t>
            </a:r>
            <a:endParaRPr sz="2400"/>
          </a:p>
        </p:txBody>
      </p:sp>
      <p:pic>
        <p:nvPicPr>
          <p:cNvPr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131" y="932618"/>
            <a:ext cx="2384513" cy="2725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8497" y="1076137"/>
            <a:ext cx="3259661" cy="243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8327" y="4626932"/>
            <a:ext cx="371475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2.1  Functional Dependencies (1) </a:t>
            </a:r>
            <a:endParaRPr/>
          </a:p>
        </p:txBody>
      </p:sp>
      <p:sp>
        <p:nvSpPr>
          <p:cNvPr id="277" name="Google Shape;277;p2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Functional dependencies (FDs)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Are used to specify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measures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"goodness" of relational designs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And keys are used to define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normal forms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for relations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that are derived from the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and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interrelationships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of the data attributes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set of attributes X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functionally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determines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a set of attributes Y if the value of X determines a unique value for 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Keys:</a:t>
            </a:r>
            <a:endParaRPr/>
          </a:p>
        </p:txBody>
      </p:sp>
      <p:sp>
        <p:nvSpPr>
          <p:cNvPr id="283" name="Google Shape;283;p2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1. Superkey: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All possible combination of keys are called superkeys.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Uniquely identify record.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Superkey is a superset, we can derive other keys from superkey.</a:t>
            </a:r>
            <a:endParaRPr/>
          </a:p>
        </p:txBody>
      </p:sp>
      <p:sp>
        <p:nvSpPr>
          <p:cNvPr id="284" name="Google Shape;284;p2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7"/>
          <p:cNvSpPr txBox="1"/>
          <p:nvPr>
            <p:ph idx="1" type="body"/>
          </p:nvPr>
        </p:nvSpPr>
        <p:spPr>
          <a:xfrm>
            <a:off x="231101" y="11430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{ID},{SSN},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{ID,Name},{Name,SSN}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{ID,SSN},{ID,phone},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ID,email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Name,email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Name,ssn,email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Id,SSN,Phone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{Name,Salary}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Here, {Name,Salary} can’t become a superkey.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291" name="Google Shape;291;p2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2" name="Google Shape;2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4838" y="1233031"/>
            <a:ext cx="379095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Candidate key</a:t>
            </a:r>
            <a:endParaRPr/>
          </a:p>
        </p:txBody>
      </p:sp>
      <p:sp>
        <p:nvSpPr>
          <p:cNvPr id="298" name="Google Shape;298;p2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400"/>
              <a:t>Minimal set of superkey.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400"/>
              <a:t>From the following set of superkeys:</a:t>
            </a:r>
            <a:endParaRPr/>
          </a:p>
          <a:p>
            <a:pPr indent="0" lvl="1" marL="62293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rPr lang="en-US" sz="2200"/>
              <a:t>{ID},{SSN},{ID,Name},{Name,SSN},{ID,SSN},{ID,phone},</a:t>
            </a:r>
            <a:endParaRPr/>
          </a:p>
          <a:p>
            <a:pPr indent="0" lvl="1" marL="62293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rPr lang="en-US" sz="2200"/>
              <a:t>{ID,email},{Name,email},{Name,ssn,email},{Id,SSN,Phone},</a:t>
            </a:r>
            <a:endParaRPr/>
          </a:p>
          <a:p>
            <a:pPr indent="0" lvl="1" marL="62293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rPr lang="en-US" sz="2200"/>
              <a:t>{Name,Salary}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We can select candidate key (minimal set)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Such as,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{ID} and {SSN} can be a separate candidate keys. 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{email}, {Name,Phone}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{ID,Name} cant be candidate key, bcz ID is a part of another candidate key.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299" name="Google Shape;299;p2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Primary key</a:t>
            </a:r>
            <a:endParaRPr/>
          </a:p>
        </p:txBody>
      </p:sp>
      <p:sp>
        <p:nvSpPr>
          <p:cNvPr id="305" name="Google Shape;305;p2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Primary key should be unique and not null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Example:</a:t>
            </a:r>
            <a:endParaRPr/>
          </a:p>
          <a:p>
            <a:pPr indent="0" lvl="0" marL="160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/>
              <a:t>Candidate keys in above examples are:</a:t>
            </a:r>
            <a:endParaRPr/>
          </a:p>
          <a:p>
            <a:pPr indent="0" lvl="0" marL="160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/>
              <a:t>{ID},{SSN},{Email},{Name,phone}</a:t>
            </a:r>
            <a:endParaRPr/>
          </a:p>
          <a:p>
            <a:pPr indent="0" lvl="0" marL="160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/>
              <a:t>Primary key is :{ID} or {SSN}</a:t>
            </a:r>
            <a:endParaRPr/>
          </a:p>
          <a:p>
            <a:pPr indent="0" lvl="0" marL="160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/>
              <a:t>Not both. </a:t>
            </a:r>
            <a:endParaRPr/>
          </a:p>
          <a:p>
            <a:pPr indent="0" lvl="0" marL="160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lang="en-US"/>
              <a:t>{ID} is preferred.</a:t>
            </a:r>
            <a:endParaRPr/>
          </a:p>
          <a:p>
            <a:pPr indent="0" lvl="0" marL="160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306" name="Google Shape;306;p2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Alternate Keys </a:t>
            </a:r>
            <a:endParaRPr/>
          </a:p>
        </p:txBody>
      </p:sp>
      <p:sp>
        <p:nvSpPr>
          <p:cNvPr id="312" name="Google Shape;312;p30"/>
          <p:cNvSpPr txBox="1"/>
          <p:nvPr>
            <p:ph idx="1" type="body"/>
          </p:nvPr>
        </p:nvSpPr>
        <p:spPr>
          <a:xfrm>
            <a:off x="628650" y="1690688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candidate key other than primary key are called alternate keys.</a:t>
            </a:r>
            <a:endParaRPr/>
          </a:p>
        </p:txBody>
      </p:sp>
      <p:pic>
        <p:nvPicPr>
          <p:cNvPr descr="DBMS Keys" id="313" name="Google Shape;3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9698" y="2964958"/>
            <a:ext cx="3867994" cy="1839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Unique key &amp; Composite key</a:t>
            </a:r>
            <a:endParaRPr/>
          </a:p>
        </p:txBody>
      </p:sp>
      <p:sp>
        <p:nvSpPr>
          <p:cNvPr id="319" name="Google Shape;319;p31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It should contain unique values, but accept NULL values.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Example: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{Name,Phone} and {email} can be a unique keys.</a:t>
            </a:r>
            <a:endParaRPr/>
          </a:p>
        </p:txBody>
      </p:sp>
      <p:sp>
        <p:nvSpPr>
          <p:cNvPr id="320" name="Google Shape;320;p31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Composite key: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Combination of Two or More attribute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Example: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{Name,Phone}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{ID,Phone}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{ID,Name}.. etc.</a:t>
            </a:r>
            <a:endParaRPr/>
          </a:p>
        </p:txBody>
      </p:sp>
      <p:sp>
        <p:nvSpPr>
          <p:cNvPr id="321" name="Google Shape;321;p3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Foreign key</a:t>
            </a:r>
            <a:endParaRPr/>
          </a:p>
        </p:txBody>
      </p:sp>
      <p:sp>
        <p:nvSpPr>
          <p:cNvPr id="327" name="Google Shape;327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400"/>
              <a:t>A foreign key in DBMS is a field that establishes and maintains a link between two separate tables. </a:t>
            </a:r>
            <a:endParaRPr sz="2400"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400"/>
              <a:t>It acts as a constraint ensuring data and referential integrity within relational databases. </a:t>
            </a:r>
            <a:endParaRPr sz="2400"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400"/>
              <a:t>Using foreign keys ensures that the data stored in different tables are consistent, helping maintain the relationship between the two tables while preventing any unauthorized modifications. </a:t>
            </a:r>
            <a:endParaRPr sz="2400"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400"/>
              <a:t>In addition, they can also be used to create connections among multiple entities to organize information for better retrieval from the database. </a:t>
            </a:r>
            <a:endParaRPr sz="2400"/>
          </a:p>
        </p:txBody>
      </p:sp>
      <p:sp>
        <p:nvSpPr>
          <p:cNvPr id="328" name="Google Shape;328;p3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334" name="Google Shape;334;p33"/>
          <p:cNvSpPr txBox="1"/>
          <p:nvPr>
            <p:ph idx="1" type="body"/>
          </p:nvPr>
        </p:nvSpPr>
        <p:spPr>
          <a:xfrm>
            <a:off x="194871" y="1487466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000"/>
              <a:t>This foreign key relationship ensures referential integrity between the two tables. </a:t>
            </a:r>
            <a:endParaRPr sz="2000"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000"/>
              <a:t>It means that every value in the Stud_id column of the Department table must correspond to a valid Stud_id in the Student table.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 sz="2000"/>
              <a:t>For example, you can't insert a record into the Department table with a Stud_id that doesn't exist in the Courses table. This helps to maintain consistency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2400"/>
          </a:p>
        </p:txBody>
      </p:sp>
      <p:sp>
        <p:nvSpPr>
          <p:cNvPr id="335" name="Google Shape;335;p3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oreign Key in DBMS" id="336" name="Google Shape;33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69" y="3959381"/>
            <a:ext cx="7362216" cy="2309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Proper subset: </a:t>
            </a:r>
            <a:endParaRPr/>
          </a:p>
        </p:txBody>
      </p:sp>
      <p:sp>
        <p:nvSpPr>
          <p:cNvPr id="342" name="Google Shape;342;p3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proper subset of a set A is a subset of A that is not equal to 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other words, if B is a proper subset of A, then all elements of B are in A but A contains at least one element that is not in 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A={1,3,5} then B={1,5} is a proper subset of A.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set C={1,3,5} is a subset of A, but it is not a proper subset of A since C=A.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Let us consider in relation R(A,B,C,D),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{A,B,C} is a super key, then proper subset of this super key are: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{A},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{B}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{C}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{A,B}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{A,C}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{B,C}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Functional Dependencies (2)</a:t>
            </a:r>
            <a:endParaRPr/>
          </a:p>
        </p:txBody>
      </p:sp>
      <p:sp>
        <p:nvSpPr>
          <p:cNvPr id="350" name="Google Shape;350;p3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-&gt; Y holds if whenever two tuples have the same value for X, they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must have 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same value for 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any two tuples t1 and t2 in any relation instance r(R): If  t1[X]=t2[X],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t1[Y]=t2[Y]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-&gt; Y in R specifies 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on all relation instances r(R)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Written as X -&gt; Y; can be displayed graphically on a relation schema as in Figures.  ( denoted by the arrow:  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FDs are derived from the real-world constraints on the attributes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Examples of FD constraints (1) 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Social security number determines employee name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SSN -&gt; ENAME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 number determines project name and location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PNUMBER -&gt; {PNAME, PLOCATION}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Employee ssn and project number determines the hours per week that the employee works on the project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{SSN, PNUMBER} -&gt; HOURS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Examples of FD constraints (2)</a:t>
            </a:r>
            <a:endParaRPr/>
          </a:p>
        </p:txBody>
      </p:sp>
      <p:sp>
        <p:nvSpPr>
          <p:cNvPr id="366" name="Google Shape;366;p3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FD is a property of the attributes in the schema 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constraint must hold on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every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relation instance r(R)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K is a key of R, then K functionally determines all attributes in 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(since we never have two distinct tuples with t1[K]=t2[K])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Inter"/>
              <a:buNone/>
            </a:pPr>
            <a:r>
              <a:rPr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functional dependency</a:t>
            </a:r>
            <a:endParaRPr/>
          </a:p>
        </p:txBody>
      </p:sp>
      <p:sp>
        <p:nvSpPr>
          <p:cNvPr id="372" name="Google Shape;372;p38"/>
          <p:cNvSpPr txBox="1"/>
          <p:nvPr>
            <p:ph idx="1" type="body"/>
          </p:nvPr>
        </p:nvSpPr>
        <p:spPr>
          <a:xfrm>
            <a:off x="628650" y="1825624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b="0" i="0"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 functional dependency is a relationship that exists between two attributes, 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where one set can accurately determine the value of other sets.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It is denoted as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X → Y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where X is a set of attributes that is capable of determining the value of Y.</a:t>
            </a:r>
            <a:endParaRPr>
              <a:solidFill>
                <a:srgbClr val="2732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X 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is called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Determinant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while on the right side,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Y 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is called the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Dependent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373" name="Google Shape;3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2910" y="5348614"/>
            <a:ext cx="2263704" cy="1282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379" name="Google Shape;379;p3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8108"/>
              <a:buChar char="•"/>
            </a:pPr>
            <a:r>
              <a:rPr b="0" i="0"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Assume we have an employee table with attributes: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ct val="99792"/>
              <a:buChar char="•"/>
            </a:pPr>
            <a:r>
              <a:rPr b="0" i="0"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Emp_Id, Emp_Name, Emp_Address.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ct val="108108"/>
              <a:buChar char="•"/>
            </a:pPr>
            <a:r>
              <a:rPr b="0" i="0"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Here Emp_Id attribute can uniquely identify the Emp_Name attribute of employee table because if we know the Emp_Id, we can tell that employee name associated with it.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ct val="108108"/>
              <a:buChar char="•"/>
            </a:pPr>
            <a:r>
              <a:rPr b="0" i="0"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Functional dependency can be written as: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8108"/>
              <a:buNone/>
            </a:pPr>
            <a:r>
              <a:rPr b="0" i="0"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Emp_Id → Emp_Name  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ct val="108108"/>
              <a:buChar char="•"/>
            </a:pPr>
            <a:r>
              <a:rPr b="0" i="0"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We can say that Emp_Name is functionally dependent on Emp_Id.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385" name="Google Shape;385;p4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FD:  X   -&gt;  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FD:  if  t1.X = t2.X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        then t1.Y = t2.Y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Here,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if  t1.x= 1   t2.x = 2    false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</p:txBody>
      </p:sp>
      <p:sp>
        <p:nvSpPr>
          <p:cNvPr id="386" name="Google Shape;386;p40"/>
          <p:cNvSpPr txBox="1"/>
          <p:nvPr>
            <p:ph idx="2" type="body"/>
          </p:nvPr>
        </p:nvSpPr>
        <p:spPr>
          <a:xfrm>
            <a:off x="4514850" y="1325217"/>
            <a:ext cx="4000500" cy="4851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example,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 t1.x= 2         t2.x = 2  true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Then t1.Y=1     t2.Y =5   false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87" name="Google Shape;38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32" y="2143116"/>
            <a:ext cx="964413" cy="161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6387" y="2043479"/>
            <a:ext cx="1128713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407505" y="781878"/>
            <a:ext cx="3011557" cy="5539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Consider the following table: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RNO  -&gt; 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Name -&gt; RNO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 doesn’t exist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RNO -&gt; Marks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 exist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Name –Marks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 exist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Dept -&gt; Course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 doesn’t exist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Marks  -&gt; Dept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 doesn’t exist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{RNO, Name} -&gt; Marks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  exist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{Name,  Marks} -&gt;  Dept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 doesn’t exist</a:t>
            </a:r>
            <a:endParaRPr/>
          </a:p>
        </p:txBody>
      </p:sp>
      <p:pic>
        <p:nvPicPr>
          <p:cNvPr id="394" name="Google Shape;39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3676" y="1146238"/>
            <a:ext cx="4579792" cy="2282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2.3 Equivalence of Sets of FDs </a:t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sets of FDs F and G are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equivalent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if: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FD in F can be inferred from G, and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FD in G can be inferred from 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Hence, F and G are equivalent if F</a:t>
            </a:r>
            <a:r>
              <a:rPr b="0" baseline="3000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=G</a:t>
            </a:r>
            <a:r>
              <a:rPr b="0" baseline="3000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Definition (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Covers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covers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G if every FD in G can be inferred from F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(i.e., if G</a:t>
            </a:r>
            <a:r>
              <a:rPr b="0" baseline="3000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subset-of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b="0" baseline="3000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 and G are equivalent if F covers G and G covers 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is an algorithm for checking equivalence of sets of FDs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2.4 Minimal Sets of FDs (1)</a:t>
            </a:r>
            <a:endParaRPr/>
          </a:p>
        </p:txBody>
      </p:sp>
      <p:sp>
        <p:nvSpPr>
          <p:cNvPr id="410" name="Google Shape;410;p4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533400" lvl="0" marL="533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set of FDs is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minimal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if it satisfies the following conditions:</a:t>
            </a:r>
            <a:endParaRPr/>
          </a:p>
          <a:p>
            <a:pPr indent="-495300" lvl="1" marL="9525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AutoNum type="arabicPeriod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dependency in F has a single attribute for its RHS.</a:t>
            </a:r>
            <a:endParaRPr/>
          </a:p>
          <a:p>
            <a:pPr indent="-495300" lvl="1" marL="9525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AutoNum type="arabicPeriod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cannot remove any dependency from F and have a set of dependencies that is equivalent to F.</a:t>
            </a:r>
            <a:endParaRPr/>
          </a:p>
          <a:p>
            <a:pPr indent="-495300" lvl="1" marL="9525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AutoNum type="arabicPeriod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cannot replace any dependency X -&gt; A in F with a dependency Y -&gt; A, where Y proper-subset-of X ( Y subset-of X) and still have a set of dependencies that is equivalent to F.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Minimal Sets of FDs (2)</a:t>
            </a:r>
            <a:endParaRPr/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Every set of FDs has an equivalent minimal set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can be several equivalent minimal sets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is no simple algorithm for computing a minimal set of FDs that is equivalent to a set F of FDs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synthesize a set of relations, we assume that we start with a set of dependencies that is a minimal 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E.g., see algorithms 11.2 and 11.4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2.2 Inference Rules for FDs (1) </a:t>
            </a:r>
            <a:endParaRPr/>
          </a:p>
        </p:txBody>
      </p:sp>
      <p:sp>
        <p:nvSpPr>
          <p:cNvPr id="426" name="Google Shape;426;p4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Given a set of FDs F, we can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infer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additional FDs that hold whenever the FDs in F hold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Armstrong's inference rules: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IR1. (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Reflexive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 If Y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subset-of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X, then X -&gt; 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 X </a:t>
            </a:r>
            <a:r>
              <a:rPr lang="en-US" sz="2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⊆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 Y then X  →  Y  </a:t>
            </a:r>
            <a:endParaRPr sz="2000"/>
          </a:p>
          <a:p>
            <a:pPr indent="-228600" lvl="1" marL="6858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000"/>
              <a:buChar char="•"/>
            </a:pPr>
            <a:r>
              <a:rPr b="1" lang="en-US" sz="2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 sz="2000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	{Rno,Name} -&gt; Name </a:t>
            </a:r>
            <a:endParaRPr sz="20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	Here , name is a subset of {rno, name}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IR2. (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Augmentation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 If X -&gt; Y, then XZ -&gt; YZ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(Notation: XZ stands for X U Z)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4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IR3. (</a:t>
            </a:r>
            <a:r>
              <a:rPr b="1" lang="en-US" sz="2200"/>
              <a:t>Transitive</a:t>
            </a:r>
            <a:r>
              <a:rPr lang="en-US" sz="2200"/>
              <a:t>) If X -&gt; Y and Y -&gt; Z, then X -&gt; Z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IR1, IR2, IR3 form a </a:t>
            </a:r>
            <a:r>
              <a:rPr b="1" lang="en-US" sz="2400"/>
              <a:t>sound</a:t>
            </a:r>
            <a:r>
              <a:rPr lang="en-US" sz="2400"/>
              <a:t> and </a:t>
            </a:r>
            <a:r>
              <a:rPr b="1" lang="en-US" sz="2400"/>
              <a:t>complete</a:t>
            </a:r>
            <a:r>
              <a:rPr lang="en-US" sz="2400"/>
              <a:t> set of inference rules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These are rules hold and all other rules that hold can be deduced from these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433" name="Google Shape;433;p4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Inference Rules for FDs (2)</a:t>
            </a:r>
            <a:endParaRPr/>
          </a:p>
        </p:txBody>
      </p:sp>
      <p:sp>
        <p:nvSpPr>
          <p:cNvPr id="441" name="Google Shape;441;p4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additional inference rules that are useful: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Decomposition: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If X -&gt; YZ, then X -&gt; Y and X -&gt; Z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Union: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If X -&gt; Y and X -&gt; Z, then X -&gt; YZ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Psuedotransitivity: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If X -&gt; Y and WY -&gt; Z, then WX -&gt; Z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last three inference rules, as well as any other inference rules, can be deduced from IR1, IR2, and IR3 (completeness property)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Inference Rules for FDs (3)</a:t>
            </a:r>
            <a:endParaRPr/>
          </a:p>
        </p:txBody>
      </p:sp>
      <p:sp>
        <p:nvSpPr>
          <p:cNvPr id="449" name="Google Shape;449;p4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Closure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a set F of FDs is the set F</a:t>
            </a:r>
            <a:r>
              <a:rPr b="0" baseline="30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all FDs that can be inferred from F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Closure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a set of attributes X with respect to F is the set X</a:t>
            </a:r>
            <a:r>
              <a:rPr b="0" baseline="30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all attributes that are functionally determined by X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30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can be calculated by repeatedly applying IR1, IR2, IR3 using the FDs in F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Arial"/>
              <a:buNone/>
            </a:pPr>
            <a:r>
              <a:rPr lang="en-US"/>
              <a:t>Types of Functional dependencies</a:t>
            </a:r>
            <a:endParaRPr/>
          </a:p>
        </p:txBody>
      </p:sp>
      <p:sp>
        <p:nvSpPr>
          <p:cNvPr id="455" name="Google Shape;455;p4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Full dependency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Partial </a:t>
            </a:r>
            <a:r>
              <a:rPr lang="en-US">
                <a:solidFill>
                  <a:srgbClr val="273239"/>
                </a:solidFill>
              </a:rPr>
              <a:t>dependency</a:t>
            </a:r>
            <a:endParaRPr>
              <a:solidFill>
                <a:srgbClr val="2732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Trivial functional dependency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Non-Trivial functional dependency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Multivalued functional dependency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Calibri"/>
              <a:buAutoNum type="arabicPeriod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Transitive functional dependency</a:t>
            </a:r>
            <a:endParaRPr b="0" i="0">
              <a:solidFill>
                <a:srgbClr val="27323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0"/>
          <p:cNvSpPr txBox="1"/>
          <p:nvPr>
            <p:ph type="title"/>
          </p:nvPr>
        </p:nvSpPr>
        <p:spPr>
          <a:xfrm>
            <a:off x="228600" y="303212"/>
            <a:ext cx="77961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Fully functional dependency</a:t>
            </a:r>
            <a:endParaRPr/>
          </a:p>
        </p:txBody>
      </p:sp>
      <p:sp>
        <p:nvSpPr>
          <p:cNvPr id="461" name="Google Shape;461;p50"/>
          <p:cNvSpPr txBox="1"/>
          <p:nvPr>
            <p:ph idx="1" type="body"/>
          </p:nvPr>
        </p:nvSpPr>
        <p:spPr>
          <a:xfrm>
            <a:off x="629562" y="1629196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attribute is fully functional dependent on X and if Y is FD on X but not FD on any proper subset of X.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62" name="Google Shape;462;p50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Here, Eid -&gt; Dept and E_name -&gt;Dept, these 2 functional dependencies doesn’t exist.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Hence , 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Dept is completely depend on {Eid,Ename}.</a:t>
            </a:r>
            <a:endParaRPr/>
          </a:p>
        </p:txBody>
      </p:sp>
      <p:pic>
        <p:nvPicPr>
          <p:cNvPr id="463" name="Google Shape;46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046" y="3757808"/>
            <a:ext cx="1778944" cy="168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156" y="5636712"/>
            <a:ext cx="2127861" cy="63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"/>
          <p:cNvSpPr txBox="1"/>
          <p:nvPr>
            <p:ph type="title"/>
          </p:nvPr>
        </p:nvSpPr>
        <p:spPr>
          <a:xfrm>
            <a:off x="629562" y="33265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Partial functional dependency</a:t>
            </a:r>
            <a:endParaRPr/>
          </a:p>
        </p:txBody>
      </p:sp>
      <p:sp>
        <p:nvSpPr>
          <p:cNvPr id="470" name="Google Shape;470;p51"/>
          <p:cNvSpPr txBox="1"/>
          <p:nvPr>
            <p:ph idx="1" type="body"/>
          </p:nvPr>
        </p:nvSpPr>
        <p:spPr>
          <a:xfrm>
            <a:off x="629562" y="1700808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attribute is fully functional dependent on X and if Y is FD on X but not FD on any proper subset of X.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71" name="Google Shape;471;p51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Here, Eid -&gt; Dept and E_name -&gt;Dept, these 2 functional dependencies exist (individually).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That means either Eid or Ename can determine Dept.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Hence , </a:t>
            </a:r>
            <a:endParaRPr/>
          </a:p>
          <a:p>
            <a:pPr indent="-33528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Dept is partially depend on {Eid,Ename}.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pic>
        <p:nvPicPr>
          <p:cNvPr id="472" name="Google Shape;47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652" y="3748622"/>
            <a:ext cx="20574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5255" y="5270550"/>
            <a:ext cx="2078831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Arial"/>
              <a:buNone/>
            </a:pPr>
            <a:r>
              <a:rPr lang="en-US"/>
              <a:t>Trivial Functional Dependency: </a:t>
            </a:r>
            <a:endParaRPr/>
          </a:p>
        </p:txBody>
      </p:sp>
      <p:sp>
        <p:nvSpPr>
          <p:cNvPr id="479" name="Google Shape;479;p5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 ,TFD a dependent is always a subset of the determinant.</a:t>
            </a:r>
            <a:br>
              <a:rPr lang="en-US"/>
            </a:b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i.e. If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X → Y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and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Y is the subset of X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then it is called trivial functional dependency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800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Here,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{roll_no, name} → name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 a trivial functional dependency, since the dependent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 a subset of determinant set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{roll_no, name}</a:t>
            </a:r>
            <a:br>
              <a:rPr lang="en-US"/>
            </a:b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Similarly,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roll_no → roll_no 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is also an example of trivial functional dependency. </a:t>
            </a:r>
            <a:endParaRPr/>
          </a:p>
        </p:txBody>
      </p:sp>
      <p:pic>
        <p:nvPicPr>
          <p:cNvPr id="480" name="Google Shape;48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1574" y="5261114"/>
            <a:ext cx="968202" cy="1379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Arial"/>
              <a:buNone/>
            </a:pPr>
            <a:r>
              <a:rPr lang="en-US"/>
              <a:t>Non-trivial Functional Dependency</a:t>
            </a:r>
            <a:endParaRPr/>
          </a:p>
        </p:txBody>
      </p:sp>
      <p:sp>
        <p:nvSpPr>
          <p:cNvPr id="486" name="Google Shape;486;p5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ct val="108108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Non-trivial functional dependency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the dependent is strictly not a subset of the determinant.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8108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i.e. If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X → Y 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and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is not a subset of X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then it is called Non-trivial functional dependency.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8108"/>
              <a:buChar char="•"/>
            </a:pP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8108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Here,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roll_no → name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 a non-trivial functional dependency, since the dependent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not a subset of 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determinant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roll_no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8108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Similarly,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{roll_no, name} → age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 also a non-trivial functional dependency, since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not a subset of {roll_no, name} </a:t>
            </a:r>
            <a:endParaRPr/>
          </a:p>
        </p:txBody>
      </p:sp>
      <p:pic>
        <p:nvPicPr>
          <p:cNvPr id="487" name="Google Shape;48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424" y="4341719"/>
            <a:ext cx="1304992" cy="1835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Arial"/>
              <a:buNone/>
            </a:pPr>
            <a:r>
              <a:rPr lang="en-US"/>
              <a:t> Multivalued Functional Dependency</a:t>
            </a:r>
            <a:endParaRPr/>
          </a:p>
        </p:txBody>
      </p:sp>
      <p:sp>
        <p:nvSpPr>
          <p:cNvPr id="493" name="Google Shape;493;p5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43016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3027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Multivalued functional dependency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attributes of the dependent set are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not dependent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on each other.</a:t>
            </a:r>
            <a:endParaRPr/>
          </a:p>
          <a:p>
            <a:pPr indent="-243016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3027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i.e. If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 → {b, c}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and there exists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 functional dependency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between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b and c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then it is called a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multivalued functional dependency.</a:t>
            </a:r>
            <a:endParaRPr/>
          </a:p>
          <a:p>
            <a:pPr indent="-243016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3027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Here,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roll_no → {name, age} 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is a multivalued functional dependency, since the dependents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&amp;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are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not dependent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on each other(i.e.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name → age 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age → name doesn’t exist !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pic>
        <p:nvPicPr>
          <p:cNvPr id="494" name="Google Shape;4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2121" y="3048009"/>
            <a:ext cx="1131867" cy="230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Arial"/>
              <a:buNone/>
            </a:pPr>
            <a:r>
              <a:rPr lang="en-US"/>
              <a:t>Transitive Functional Dependency</a:t>
            </a:r>
            <a:endParaRPr/>
          </a:p>
        </p:txBody>
      </p:sp>
      <p:sp>
        <p:nvSpPr>
          <p:cNvPr id="500" name="Google Shape;500;p5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ct val="100000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In transitive functional dependency, dependent is indirectly dependent on determinant.</a:t>
            </a:r>
            <a:br>
              <a:rPr lang="en-US"/>
            </a:b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i.e. If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 → b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&amp;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b → c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 then according to axiom of transitivity,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a → c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. This is a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transitive functional dependency 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0000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0000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Here,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enrol_no → dept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and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dept → building_no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0000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Hence, according to the axiom of transitivity, </a:t>
            </a:r>
            <a:r>
              <a:rPr b="1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enrol_no → building_no</a:t>
            </a: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 is a valid functional dependency.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ct val="100000"/>
              <a:buChar char="•"/>
            </a:pPr>
            <a:r>
              <a:rPr b="0" i="0" lang="en-US">
                <a:solidFill>
                  <a:srgbClr val="273239"/>
                </a:solidFill>
                <a:latin typeface="Arial"/>
                <a:ea typeface="Arial"/>
                <a:cs typeface="Arial"/>
                <a:sym typeface="Arial"/>
              </a:rPr>
              <a:t>This is an indirect functional dependency, hence called Transitive functional dependency.</a:t>
            </a:r>
            <a:endParaRPr/>
          </a:p>
        </p:txBody>
      </p:sp>
      <p:pic>
        <p:nvPicPr>
          <p:cNvPr id="501" name="Google Shape;50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8708" y="1427333"/>
            <a:ext cx="1475291" cy="1802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Find superkeys</a:t>
            </a:r>
            <a:endParaRPr/>
          </a:p>
        </p:txBody>
      </p:sp>
      <p:sp>
        <p:nvSpPr>
          <p:cNvPr id="507" name="Google Shape;507;p56"/>
          <p:cNvSpPr txBox="1"/>
          <p:nvPr>
            <p:ph idx="1" type="body"/>
          </p:nvPr>
        </p:nvSpPr>
        <p:spPr>
          <a:xfrm>
            <a:off x="202134" y="1399784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If we have ‘N’ attributes with one candidate key then the number of possible superkeys is 2</a:t>
            </a:r>
            <a:r>
              <a:rPr baseline="30000" lang="en-US"/>
              <a:t>(N – 1)</a:t>
            </a:r>
            <a:r>
              <a:rPr lang="en-US"/>
              <a:t>.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Example: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Let's say we have a relation R with attributes {a1, a2, a3} and a1 is the candidate key. 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Then, any superset of a1 is the super key. 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Here n=3, thus, we can have 2</a:t>
            </a:r>
            <a:r>
              <a:rPr baseline="30000" lang="en-US"/>
              <a:t>(3– 1)= </a:t>
            </a:r>
            <a:r>
              <a:rPr lang="en-US"/>
              <a:t> 2</a:t>
            </a:r>
            <a:r>
              <a:rPr baseline="30000" lang="en-US"/>
              <a:t>^2= 4 ,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four possible super keys: {a1, a1 a2, a1 a3, a1 a2 a3}.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508" name="Google Shape;508;p5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Examples</a:t>
            </a:r>
            <a:endParaRPr/>
          </a:p>
        </p:txBody>
      </p:sp>
      <p:sp>
        <p:nvSpPr>
          <p:cNvPr id="514" name="Google Shape;514;p5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Steps to Find the Attribute Closure: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Given the FD set of a Relation R, The attribute closure set S is the set of Attribute Closure A.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 sz="1400"/>
              <a:t>Add A to S.</a:t>
            </a:r>
            <a:endParaRPr/>
          </a:p>
          <a:p>
            <a:pPr indent="-291465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</a:pPr>
            <a:r>
              <a:rPr lang="en-US" sz="1400"/>
              <a:t>Recursively add attributes that can be functionally </a:t>
            </a:r>
            <a:endParaRPr/>
          </a:p>
          <a:p>
            <a:pPr indent="0" lvl="1" marL="62293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</a:pPr>
            <a:r>
              <a:rPr lang="en-US" sz="1400"/>
              <a:t>      determined from attributes of the set S until done</a:t>
            </a:r>
            <a:r>
              <a:rPr lang="en-US"/>
              <a:t>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From Table 1, FDs are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 sz="2000"/>
              <a:t>Given R (</a:t>
            </a:r>
            <a:r>
              <a:rPr b="1" lang="en-US" sz="2000" u="sng"/>
              <a:t>E-ID, E-NAME, E-CITY, E-STATE)</a:t>
            </a:r>
            <a:br>
              <a:rPr lang="en-US" sz="2000"/>
            </a:br>
            <a:r>
              <a:rPr b="1" lang="en-US" sz="2000"/>
              <a:t>FDs = { E-ID-&gt;E-NAME, E-ID-&gt;E-CITY, E-ID-&gt;E-STATE, E-CITY-&gt;E-STATE }</a:t>
            </a:r>
            <a:endParaRPr sz="20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1" sz="2000"/>
          </a:p>
        </p:txBody>
      </p:sp>
      <p:sp>
        <p:nvSpPr>
          <p:cNvPr id="515" name="Google Shape;515;p5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6" name="Google Shape;51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4643" y="2978063"/>
            <a:ext cx="2852531" cy="2190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p5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The attribute closure of E-ID can be calculated as: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Add E-ID to the set {E-ID}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Add Attributes that can be derived from any attribute of the set. 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As there is one other attribute remaining in relation to be derived from E-ID. 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So the result is: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(E-ID)</a:t>
            </a:r>
            <a:r>
              <a:rPr b="1" baseline="30000" lang="en-US"/>
              <a:t>+ = {E-ID, E-NAME, E-CITY, E-STATE }</a:t>
            </a:r>
            <a:endParaRPr/>
          </a:p>
        </p:txBody>
      </p:sp>
      <p:sp>
        <p:nvSpPr>
          <p:cNvPr id="523" name="Google Shape;523;p5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5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Similarly,</a:t>
            </a:r>
            <a:endParaRPr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(E-NAME)</a:t>
            </a:r>
            <a:r>
              <a:rPr b="1" baseline="30000" lang="en-US"/>
              <a:t>+ = {E-NAME}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1" baseline="30000"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(E-CITY)</a:t>
            </a:r>
            <a:r>
              <a:rPr b="1" baseline="30000" lang="en-US"/>
              <a:t>+ = {E-CITY, E_STATE}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1"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(E-STATE)</a:t>
            </a:r>
            <a:r>
              <a:rPr b="1" baseline="30000" lang="en-US"/>
              <a:t>+ = { E_STATE}</a:t>
            </a:r>
            <a:endParaRPr/>
          </a:p>
        </p:txBody>
      </p:sp>
      <p:sp>
        <p:nvSpPr>
          <p:cNvPr id="530" name="Google Shape;530;p5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536" name="Google Shape;536;p6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b="1" lang="en-US"/>
              <a:t>Find the attribute closures of </a:t>
            </a:r>
            <a:r>
              <a:rPr lang="en-US"/>
              <a:t>(B)</a:t>
            </a:r>
            <a:r>
              <a:rPr baseline="30000" lang="en-US"/>
              <a:t>+</a:t>
            </a:r>
            <a:r>
              <a:rPr lang="en-US"/>
              <a:t> ,</a:t>
            </a:r>
            <a:r>
              <a:rPr b="1" lang="en-US"/>
              <a:t>given FDs R(ABCDE) = {AB-&gt;C, B-&gt;D, C-&gt;E, D-&gt;A}.</a:t>
            </a:r>
            <a:endParaRPr b="1"/>
          </a:p>
          <a:p>
            <a:pPr indent="-29718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</a:pPr>
            <a:r>
              <a:rPr lang="en-US"/>
              <a:t>(B)</a:t>
            </a:r>
            <a:r>
              <a:rPr baseline="30000" lang="en-US"/>
              <a:t>+</a:t>
            </a:r>
            <a:r>
              <a:rPr lang="en-US"/>
              <a:t> = {B}</a:t>
            </a:r>
            <a:endParaRPr/>
          </a:p>
          <a:p>
            <a:pPr indent="0" lvl="2" marL="10858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rPr lang="en-US"/>
              <a:t>= {B,D}</a:t>
            </a:r>
            <a:endParaRPr/>
          </a:p>
          <a:p>
            <a:pPr indent="0" lvl="2" marL="10858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rPr lang="en-US"/>
              <a:t>={ B,D,A}</a:t>
            </a:r>
            <a:endParaRPr/>
          </a:p>
          <a:p>
            <a:pPr indent="0" lvl="2" marL="10858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rPr lang="en-US"/>
              <a:t>={B,D,A,C}</a:t>
            </a:r>
            <a:endParaRPr/>
          </a:p>
          <a:p>
            <a:pPr indent="0" lvl="2" marL="10858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</a:pPr>
            <a:r>
              <a:rPr lang="en-US"/>
              <a:t>={B,D,A,C,E}</a:t>
            </a:r>
            <a:endParaRPr/>
          </a:p>
        </p:txBody>
      </p:sp>
      <p:sp>
        <p:nvSpPr>
          <p:cNvPr id="537" name="Google Shape;537;p6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8" name="Google Shape;53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598" y="2776538"/>
            <a:ext cx="2924175" cy="31337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Closure of FD EXAMPLE’S</a:t>
            </a:r>
            <a:endParaRPr/>
          </a:p>
        </p:txBody>
      </p:sp>
      <p:sp>
        <p:nvSpPr>
          <p:cNvPr id="544" name="Google Shape;544;p61"/>
          <p:cNvSpPr txBox="1"/>
          <p:nvPr>
            <p:ph idx="1" type="body"/>
          </p:nvPr>
        </p:nvSpPr>
        <p:spPr>
          <a:xfrm>
            <a:off x="628650" y="1825625"/>
            <a:ext cx="4000500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Ex1</a:t>
            </a:r>
            <a:r>
              <a:rPr lang="en-US"/>
              <a:t>. To find Candidate keys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R(ABCD)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FD: {A🡪B,B🡪C,C🡪D}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Ans: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Closure of A means what A determines.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Find closure of all attributes: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</a:t>
            </a:r>
            <a:r>
              <a:rPr baseline="30000" lang="en-US"/>
              <a:t>+</a:t>
            </a:r>
            <a:r>
              <a:rPr lang="en-US"/>
              <a:t>= {A,B,C,D} S.K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</a:t>
            </a:r>
            <a:r>
              <a:rPr baseline="30000" lang="en-US"/>
              <a:t>+</a:t>
            </a:r>
            <a:r>
              <a:rPr lang="en-US"/>
              <a:t>={B,C,D}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</a:t>
            </a:r>
            <a:r>
              <a:rPr baseline="30000" lang="en-US"/>
              <a:t>+</a:t>
            </a:r>
            <a:r>
              <a:rPr lang="en-US"/>
              <a:t>={C,D}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</a:t>
            </a:r>
            <a:r>
              <a:rPr baseline="30000" lang="en-US"/>
              <a:t>+</a:t>
            </a:r>
            <a:r>
              <a:rPr lang="en-US"/>
              <a:t>={D}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AB</a:t>
            </a:r>
            <a:r>
              <a:rPr baseline="30000" lang="en-US"/>
              <a:t>+</a:t>
            </a:r>
            <a:r>
              <a:rPr lang="en-US"/>
              <a:t>={ABCD}  S.K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AC</a:t>
            </a:r>
            <a:r>
              <a:rPr baseline="30000" lang="en-US"/>
              <a:t>+ </a:t>
            </a:r>
            <a:r>
              <a:rPr lang="en-US"/>
              <a:t>= {ABCD} S.K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</a:t>
            </a:r>
            <a:r>
              <a:rPr baseline="30000" lang="en-US"/>
              <a:t>+ </a:t>
            </a:r>
            <a:r>
              <a:rPr lang="en-US"/>
              <a:t>= ABC</a:t>
            </a:r>
            <a:r>
              <a:rPr baseline="30000" lang="en-US"/>
              <a:t>+ </a:t>
            </a:r>
            <a:r>
              <a:rPr lang="en-US"/>
              <a:t>= ABD</a:t>
            </a:r>
            <a:r>
              <a:rPr baseline="30000" lang="en-US"/>
              <a:t>+ </a:t>
            </a:r>
            <a:r>
              <a:rPr lang="en-US"/>
              <a:t>= ACD</a:t>
            </a:r>
            <a:r>
              <a:rPr baseline="30000" lang="en-US"/>
              <a:t>+ . . . </a:t>
            </a:r>
            <a:r>
              <a:rPr lang="en-US"/>
              <a:t>S.K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•"/>
            </a:pPr>
            <a:r>
              <a:rPr b="1" lang="en-US"/>
              <a:t>CK={A}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45" name="Google Shape;545;p61"/>
          <p:cNvSpPr txBox="1"/>
          <p:nvPr>
            <p:ph idx="2" type="body"/>
          </p:nvPr>
        </p:nvSpPr>
        <p:spPr>
          <a:xfrm>
            <a:off x="4629150" y="1825625"/>
            <a:ext cx="4000500" cy="4508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PRIME ATTRIBUTE: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set of attributes makes candidate key are called prime attributes.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Here,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Prime attributes are : {A}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Non –prime: {B,C,D}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Hence, candidate key is 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551" name="Google Shape;551;p62"/>
          <p:cNvSpPr txBox="1"/>
          <p:nvPr>
            <p:ph idx="1" type="body"/>
          </p:nvPr>
        </p:nvSpPr>
        <p:spPr>
          <a:xfrm>
            <a:off x="463463" y="1678488"/>
            <a:ext cx="8051887" cy="4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Given Relation R(A,B,C,D,E) &amp; FD: {A🡪B, D🡪E}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ABCDE</a:t>
            </a:r>
            <a:r>
              <a:rPr baseline="30000" lang="en-US"/>
              <a:t>+ </a:t>
            </a:r>
            <a:r>
              <a:rPr lang="en-US"/>
              <a:t> = {A,B,C,D,E} S.K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ACDE</a:t>
            </a:r>
            <a:r>
              <a:rPr baseline="30000" lang="en-US"/>
              <a:t>+ </a:t>
            </a:r>
            <a:r>
              <a:rPr lang="en-US"/>
              <a:t> = {A,B,C,D,E} S.K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ACD</a:t>
            </a:r>
            <a:r>
              <a:rPr baseline="30000" lang="en-US"/>
              <a:t>+ </a:t>
            </a:r>
            <a:r>
              <a:rPr lang="en-US"/>
              <a:t> = {A,B,C,D,E} S.K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check ACD is only the candidate key.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Prime attributes: {A,C,D}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Check any of the prime attribute is available in R.H.S of Functional Dependency i.e A,C &amp; 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 any prime attribute is present in RHS. So we can say that is the only candidate key {ACD}.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kjscecomp</dc:creator>
</cp:coreProperties>
</file>