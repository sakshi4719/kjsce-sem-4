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  <p:sldId id="312" r:id="rId62"/>
    <p:sldId id="313" r:id="rId63"/>
    <p:sldId id="314" r:id="rId64"/>
  </p:sldIdLst>
  <p:sldSz cy="6858000" cx="9144000"/>
  <p:notesSz cx="6858000" cy="9144000"/>
  <p:embeddedFontLst>
    <p:embeddedFont>
      <p:font typeface="Tahoma"/>
      <p:regular r:id="rId65"/>
      <p:bold r:id="rId6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67" roundtripDataSignature="AMtx7mg4y8kwaxciX3cgBxnPCTx7dOvjU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5.xml"/><Relationship Id="rId42" Type="http://schemas.openxmlformats.org/officeDocument/2006/relationships/slide" Target="slides/slide37.xml"/><Relationship Id="rId41" Type="http://schemas.openxmlformats.org/officeDocument/2006/relationships/slide" Target="slides/slide36.xml"/><Relationship Id="rId44" Type="http://schemas.openxmlformats.org/officeDocument/2006/relationships/slide" Target="slides/slide39.xml"/><Relationship Id="rId43" Type="http://schemas.openxmlformats.org/officeDocument/2006/relationships/slide" Target="slides/slide38.xml"/><Relationship Id="rId46" Type="http://schemas.openxmlformats.org/officeDocument/2006/relationships/slide" Target="slides/slide41.xml"/><Relationship Id="rId45" Type="http://schemas.openxmlformats.org/officeDocument/2006/relationships/slide" Target="slides/slide40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48" Type="http://schemas.openxmlformats.org/officeDocument/2006/relationships/slide" Target="slides/slide43.xml"/><Relationship Id="rId47" Type="http://schemas.openxmlformats.org/officeDocument/2006/relationships/slide" Target="slides/slide42.xml"/><Relationship Id="rId49" Type="http://schemas.openxmlformats.org/officeDocument/2006/relationships/slide" Target="slides/slide4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33" Type="http://schemas.openxmlformats.org/officeDocument/2006/relationships/slide" Target="slides/slide28.xml"/><Relationship Id="rId32" Type="http://schemas.openxmlformats.org/officeDocument/2006/relationships/slide" Target="slides/slide27.xml"/><Relationship Id="rId35" Type="http://schemas.openxmlformats.org/officeDocument/2006/relationships/slide" Target="slides/slide30.xml"/><Relationship Id="rId34" Type="http://schemas.openxmlformats.org/officeDocument/2006/relationships/slide" Target="slides/slide29.xml"/><Relationship Id="rId37" Type="http://schemas.openxmlformats.org/officeDocument/2006/relationships/slide" Target="slides/slide32.xml"/><Relationship Id="rId36" Type="http://schemas.openxmlformats.org/officeDocument/2006/relationships/slide" Target="slides/slide31.xml"/><Relationship Id="rId39" Type="http://schemas.openxmlformats.org/officeDocument/2006/relationships/slide" Target="slides/slide34.xml"/><Relationship Id="rId38" Type="http://schemas.openxmlformats.org/officeDocument/2006/relationships/slide" Target="slides/slide33.xml"/><Relationship Id="rId62" Type="http://schemas.openxmlformats.org/officeDocument/2006/relationships/slide" Target="slides/slide57.xml"/><Relationship Id="rId61" Type="http://schemas.openxmlformats.org/officeDocument/2006/relationships/slide" Target="slides/slide56.xml"/><Relationship Id="rId20" Type="http://schemas.openxmlformats.org/officeDocument/2006/relationships/slide" Target="slides/slide15.xml"/><Relationship Id="rId64" Type="http://schemas.openxmlformats.org/officeDocument/2006/relationships/slide" Target="slides/slide59.xml"/><Relationship Id="rId63" Type="http://schemas.openxmlformats.org/officeDocument/2006/relationships/slide" Target="slides/slide58.xml"/><Relationship Id="rId22" Type="http://schemas.openxmlformats.org/officeDocument/2006/relationships/slide" Target="slides/slide17.xml"/><Relationship Id="rId66" Type="http://schemas.openxmlformats.org/officeDocument/2006/relationships/font" Target="fonts/Tahoma-bold.fntdata"/><Relationship Id="rId21" Type="http://schemas.openxmlformats.org/officeDocument/2006/relationships/slide" Target="slides/slide16.xml"/><Relationship Id="rId65" Type="http://schemas.openxmlformats.org/officeDocument/2006/relationships/font" Target="fonts/Tahoma-regular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67" Type="http://customschemas.google.com/relationships/presentationmetadata" Target="metadata"/><Relationship Id="rId60" Type="http://schemas.openxmlformats.org/officeDocument/2006/relationships/slide" Target="slides/slide55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29" Type="http://schemas.openxmlformats.org/officeDocument/2006/relationships/slide" Target="slides/slide24.xml"/><Relationship Id="rId51" Type="http://schemas.openxmlformats.org/officeDocument/2006/relationships/slide" Target="slides/slide46.xml"/><Relationship Id="rId50" Type="http://schemas.openxmlformats.org/officeDocument/2006/relationships/slide" Target="slides/slide45.xml"/><Relationship Id="rId53" Type="http://schemas.openxmlformats.org/officeDocument/2006/relationships/slide" Target="slides/slide48.xml"/><Relationship Id="rId52" Type="http://schemas.openxmlformats.org/officeDocument/2006/relationships/slide" Target="slides/slide47.xml"/><Relationship Id="rId11" Type="http://schemas.openxmlformats.org/officeDocument/2006/relationships/slide" Target="slides/slide6.xml"/><Relationship Id="rId55" Type="http://schemas.openxmlformats.org/officeDocument/2006/relationships/slide" Target="slides/slide50.xml"/><Relationship Id="rId10" Type="http://schemas.openxmlformats.org/officeDocument/2006/relationships/slide" Target="slides/slide5.xml"/><Relationship Id="rId54" Type="http://schemas.openxmlformats.org/officeDocument/2006/relationships/slide" Target="slides/slide49.xml"/><Relationship Id="rId13" Type="http://schemas.openxmlformats.org/officeDocument/2006/relationships/slide" Target="slides/slide8.xml"/><Relationship Id="rId57" Type="http://schemas.openxmlformats.org/officeDocument/2006/relationships/slide" Target="slides/slide52.xml"/><Relationship Id="rId12" Type="http://schemas.openxmlformats.org/officeDocument/2006/relationships/slide" Target="slides/slide7.xml"/><Relationship Id="rId56" Type="http://schemas.openxmlformats.org/officeDocument/2006/relationships/slide" Target="slides/slide51.xml"/><Relationship Id="rId15" Type="http://schemas.openxmlformats.org/officeDocument/2006/relationships/slide" Target="slides/slide10.xml"/><Relationship Id="rId59" Type="http://schemas.openxmlformats.org/officeDocument/2006/relationships/slide" Target="slides/slide54.xml"/><Relationship Id="rId14" Type="http://schemas.openxmlformats.org/officeDocument/2006/relationships/slide" Target="slides/slide9.xml"/><Relationship Id="rId58" Type="http://schemas.openxmlformats.org/officeDocument/2006/relationships/slide" Target="slides/slide53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6" name="Google Shape;86;p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4" name="Google Shape;94;p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2" name="Google Shape;102;p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6" name="Google Shape;126;p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27" name="Google Shape;127;p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35" name="Google Shape;135;p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3" name="Google Shape;143;p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1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1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1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1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3" name="Google Shape;203;p1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04" name="Google Shape;204;p1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1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18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1" name="Google Shape;221;p1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22" name="Google Shape;222;p18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0" name="Google Shape;230;p1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1" name="Google Shape;231;p1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9" name="Google Shape;239;p2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0" name="Google Shape;240;p2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2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7" name="Google Shape;247;p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48" name="Google Shape;248;p2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55" name="Google Shape;255;p2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264" name="Google Shape;264;p2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1" name="Google Shape;271;p2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72" name="Google Shape;272;p2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2" name="Google Shape;282;p2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83" name="Google Shape;283;p25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1" name="Google Shape;291;p2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2" name="Google Shape;292;p26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7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9" name="Google Shape;299;p2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00" name="Google Shape;300;p27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2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5" name="Google Shape;315;p2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2" name="Google Shape;322;p3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29" name="Google Shape;329;p3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0" name="Google Shape;330;p3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p3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7" name="Google Shape;337;p3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38" name="Google Shape;338;p3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3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5" name="Google Shape;345;p3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46" name="Google Shape;346;p3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34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p3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54" name="Google Shape;354;p34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1" name="Google Shape;361;p3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3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6" name="Google Shape;376;p3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3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39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1" name="Google Shape;391;p3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92" name="Google Shape;392;p39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p40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0" name="Google Shape;400;p4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01" name="Google Shape;401;p40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7" name="Shape 4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8" name="Google Shape;408;p41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9" name="Google Shape;409;p4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0" name="Google Shape;410;p41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42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7" name="Google Shape;417;p4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18" name="Google Shape;418;p4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p43:notes"/>
          <p:cNvSpPr txBox="1"/>
          <p:nvPr/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ahoma"/>
              <a:buNone/>
            </a:pPr>
            <a:fld id="{00000000-1234-1234-1234-123412341234}" type="slidenum">
              <a:rPr b="0" i="0" lang="en-US" sz="1200" u="none" cap="none" strike="noStrike">
                <a:solidFill>
                  <a:srgbClr val="000000"/>
                </a:solidFill>
                <a:latin typeface="Tahoma"/>
                <a:ea typeface="Tahoma"/>
                <a:cs typeface="Tahoma"/>
                <a:sym typeface="Tahoma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5" name="Google Shape;425;p4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26" name="Google Shape;426;p43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alibri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3" name="Google Shape;433;p4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8" name="Shape 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9" name="Google Shape;439;p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0" name="Google Shape;440;p4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p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6" name="Google Shape;446;p46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3" name="Google Shape;453;p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4" name="Google Shape;454;p4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p48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7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2db6bb3e259_1_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9" name="Google Shape;469;g2db6bb3e259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0" name="Google Shape;470;g2db6bb3e259_1_0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2db6bb3e259_1_7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7" name="Google Shape;477;g2db6bb3e259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8" name="Google Shape;478;g2db6bb3e259_1_7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g2db6bb3e259_1_1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5" name="Google Shape;485;g2db6bb3e259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each model has a set of colors it can be, and a set of styles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it is called mvd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denoted by that weird arrow</a:t>
            </a:r>
            <a:endParaRPr/>
          </a:p>
        </p:txBody>
      </p:sp>
      <p:sp>
        <p:nvSpPr>
          <p:cNvPr id="486" name="Google Shape;486;g2db6bb3e259_1_14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g2db6bb3e259_1_2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3" name="Google Shape;493;g2db6bb3e259_1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4" name="Google Shape;494;g2db6bb3e259_1_21:notes"/>
          <p:cNvSpPr txBox="1"/>
          <p:nvPr>
            <p:ph idx="12" type="sldNum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1" name="Google Shape;501;p49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5" name="Shape 5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6" name="Google Shape;506;p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07" name="Google Shape;507;p50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4" name="Google Shape;514;p51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5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6" name="Google Shape;526;p53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0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p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2" name="Google Shape;532;p54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6" name="Shape 5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7" name="Google Shape;537;p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8" name="Google Shape;538;p55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7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57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5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5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5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5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5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5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6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0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5" name="Google Shape;35;p60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6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61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61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42" name="Google Shape;42;p6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6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62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62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9" name="Google Shape;49;p62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62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1" name="Google Shape;51;p6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6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6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6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6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64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64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64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6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6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6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65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65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65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6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6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6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6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66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6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6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6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67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67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6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6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6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5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5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5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5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1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0.png"/><Relationship Id="rId4" Type="http://schemas.openxmlformats.org/officeDocument/2006/relationships/image" Target="../media/image3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8.png"/><Relationship Id="rId5" Type="http://schemas.openxmlformats.org/officeDocument/2006/relationships/image" Target="../media/image2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4.png"/><Relationship Id="rId4" Type="http://schemas.openxmlformats.org/officeDocument/2006/relationships/image" Target="../media/image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2.png"/><Relationship Id="rId4" Type="http://schemas.openxmlformats.org/officeDocument/2006/relationships/image" Target="../media/image9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0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13.png"/><Relationship Id="rId4" Type="http://schemas.openxmlformats.org/officeDocument/2006/relationships/image" Target="../media/image41.png"/><Relationship Id="rId5" Type="http://schemas.openxmlformats.org/officeDocument/2006/relationships/image" Target="../media/image19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1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6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33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9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3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16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26.png"/><Relationship Id="rId4" Type="http://schemas.openxmlformats.org/officeDocument/2006/relationships/image" Target="../media/image15.png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Relationship Id="rId3" Type="http://schemas.openxmlformats.org/officeDocument/2006/relationships/image" Target="../media/image43.png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Relationship Id="rId3" Type="http://schemas.openxmlformats.org/officeDocument/2006/relationships/image" Target="../media/image40.png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Relationship Id="rId3" Type="http://schemas.openxmlformats.org/officeDocument/2006/relationships/image" Target="../media/image27.png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5.png"/><Relationship Id="rId4" Type="http://schemas.openxmlformats.org/officeDocument/2006/relationships/image" Target="../media/image28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30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31.png"/><Relationship Id="rId4" Type="http://schemas.openxmlformats.org/officeDocument/2006/relationships/image" Target="../media/image44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38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39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2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45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image" Target="../media/image35.png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"/>
          <p:cNvSpPr txBox="1"/>
          <p:nvPr>
            <p:ph type="ctrTitle"/>
          </p:nvPr>
        </p:nvSpPr>
        <p:spPr>
          <a:xfrm>
            <a:off x="683568" y="1124744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Normalization</a:t>
            </a:r>
            <a:endParaRPr/>
          </a:p>
        </p:txBody>
      </p:sp>
      <p:sp>
        <p:nvSpPr>
          <p:cNvPr id="89" name="Google Shape;89;p1"/>
          <p:cNvSpPr txBox="1"/>
          <p:nvPr>
            <p:ph idx="1" type="subTitle"/>
          </p:nvPr>
        </p:nvSpPr>
        <p:spPr>
          <a:xfrm>
            <a:off x="1547664" y="2276872"/>
            <a:ext cx="6328792" cy="5040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None/>
            </a:pPr>
            <a:r>
              <a:rPr lang="en-US"/>
              <a:t>5.3</a:t>
            </a:r>
            <a:endParaRPr/>
          </a:p>
        </p:txBody>
      </p:sp>
      <p:pic>
        <p:nvPicPr>
          <p:cNvPr id="90" name="Google Shape;90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3284984"/>
            <a:ext cx="7272808" cy="30051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 Normal Forms Based on Primary Keys </a:t>
            </a:r>
            <a:endParaRPr/>
          </a:p>
        </p:txBody>
      </p:sp>
      <p:sp>
        <p:nvSpPr>
          <p:cNvPr id="98" name="Google Shape;98;p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3.1	Normalization of Relations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3.2	Practical Use of Normal Forms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3.3	Definitions of Keys and Attributes Participating in Keys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3.4	First Normal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3.5	Second Normal Form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3.6	Third Normal Form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3.1 Normalization of Relations (1)</a:t>
            </a:r>
            <a:endParaRPr/>
          </a:p>
        </p:txBody>
      </p:sp>
      <p:sp>
        <p:nvSpPr>
          <p:cNvPr id="106" name="Google Shape;106;p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Normalization: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process of decomposing unsatisfactory "bad" relations by breaking up their attributes into smaller relations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Normal form: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Condition using keys and FDs of a relation to certify whether a relation schema is in a particular normal form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sp>
        <p:nvSpPr>
          <p:cNvPr id="113" name="Google Shape;113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descr="DBMS Normalization: 1NF, 2NF, 3NF and ..." id="114" name="Google Shape;114;p4"/>
          <p:cNvSpPr/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DBMS Normalization: 1NF, 2NF, 3NF and BCNF with Examples - javatpoint" id="115" name="Google Shape;115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0373" y="1954906"/>
            <a:ext cx="7658793" cy="370685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5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Normalization of Relations (2)</a:t>
            </a:r>
            <a:endParaRPr/>
          </a:p>
        </p:txBody>
      </p:sp>
      <p:sp>
        <p:nvSpPr>
          <p:cNvPr id="123" name="Google Shape;123;p5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2NF, 3NF, BCNF 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keys and FDs of a relation schema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4NF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based on keys, multi-valued dependencies : MVDs; 5NF based on keys, join dependencies : JDs (Chapter 11)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Additional properties may be needed to ensure a good relational design (lossless join, dependency preservation; Chapter 11)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3.2	Practical Use of Normal Forms</a:t>
            </a:r>
            <a:endParaRPr/>
          </a:p>
        </p:txBody>
      </p:sp>
      <p:sp>
        <p:nvSpPr>
          <p:cNvPr id="131" name="Google Shape;131;p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Normalization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carried out in practice so that the resulting designs are of high quality and meet the desirable properties 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practical utility of these normal forms becomes questionable when the constraints on which they are based are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hard to understand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or to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detect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database designers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need not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normalize to the highest possible normal form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(usually up to 3NF, BCNF or 4NF)</a:t>
            </a:r>
            <a:endParaRPr/>
          </a:p>
          <a:p>
            <a:pPr indent="-342900" lvl="0" marL="342900" rtl="0" algn="l">
              <a:lnSpc>
                <a:spcPct val="8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Denormalization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/>
          </a:p>
          <a:p>
            <a:pPr indent="-285750" lvl="1" marL="742950" rtl="0" algn="l">
              <a:lnSpc>
                <a:spcPct val="8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process of storing the join of higher normal form relations as a base relation—which is in a lower normal form    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8" name="Google Shape;138;p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3.3	Definitions of Keys and Attributes 	Participating in Keys (1)</a:t>
            </a:r>
            <a:endParaRPr/>
          </a:p>
        </p:txBody>
      </p:sp>
      <p:sp>
        <p:nvSpPr>
          <p:cNvPr id="139" name="Google Shape;139;p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a relation schema R = {A1, A2, ...., An} is a set of attributes S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subset-of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R with the property that no two tuples t1 and t2 in any legal relation state r of R will have t1[S] = t2[S]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Eg: {SSN},{SSN,ENAME}, {SSN,ENAME,SEX}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key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K is 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with the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additional property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that removal of any attribute from K will cause K not to be a superkey any more.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Eg:{SSN,ENAME}, {SSN,ENAME,SEX}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Definitions of Keys and Attributes 	Participating in Keys (2)</a:t>
            </a:r>
            <a:endParaRPr/>
          </a:p>
        </p:txBody>
      </p:sp>
      <p:sp>
        <p:nvSpPr>
          <p:cNvPr id="147" name="Google Shape;147;p8"/>
          <p:cNvSpPr txBox="1"/>
          <p:nvPr>
            <p:ph idx="1" type="body"/>
          </p:nvPr>
        </p:nvSpPr>
        <p:spPr>
          <a:xfrm>
            <a:off x="0" y="1447800"/>
            <a:ext cx="8763000" cy="525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If a relation schema has more than one key, each is called 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candidate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key.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One of the candidate keys is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arbitrarily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designated to be the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primary key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and the others are called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secondary keys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rgbClr val="800000"/>
              </a:buClr>
              <a:buSzPts val="1430"/>
              <a:buNone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Eg: PRIMARY KEY = {SSN},  Secondary Key ={ESSN},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Prime attribute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must be a member of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some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candidate key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2"/>
              </a:buClr>
              <a:buSzPts val="1680"/>
              <a:buNone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    Eg: SSN, PNO of  Works-on {SSN,PNO}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Nonprime attribute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is not a prime attribute—that is, it is not a member of any candidate key. 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53" name="Google Shape;153;p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54" name="Google Shape;15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700808"/>
            <a:ext cx="5988424" cy="44275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Problems due to redundancy</a:t>
            </a:r>
            <a:endParaRPr/>
          </a:p>
        </p:txBody>
      </p:sp>
      <p:sp>
        <p:nvSpPr>
          <p:cNvPr id="160" name="Google Shape;160;p1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61" name="Google Shape;16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45358" y="2708920"/>
            <a:ext cx="5734050" cy="2771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Insertion anomaly</a:t>
            </a:r>
            <a:endParaRPr/>
          </a:p>
        </p:txBody>
      </p:sp>
      <p:pic>
        <p:nvPicPr>
          <p:cNvPr id="167" name="Google Shape;167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39552" y="1412776"/>
            <a:ext cx="4791472" cy="2679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168" name="Google Shape;168;p11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3568" y="4509120"/>
            <a:ext cx="5286375" cy="1057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Deletion Anamoly</a:t>
            </a:r>
            <a:endParaRPr/>
          </a:p>
        </p:txBody>
      </p:sp>
      <p:sp>
        <p:nvSpPr>
          <p:cNvPr id="174" name="Google Shape;174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75" name="Google Shape;175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33736" y="1484784"/>
            <a:ext cx="6105525" cy="2428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78186" y="4208481"/>
            <a:ext cx="5616624" cy="222304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Updation Anamoly</a:t>
            </a:r>
            <a:endParaRPr/>
          </a:p>
        </p:txBody>
      </p:sp>
      <p:pic>
        <p:nvPicPr>
          <p:cNvPr id="182" name="Google Shape;182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012160" y="2191532"/>
            <a:ext cx="2828553" cy="526963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39552" y="1412776"/>
            <a:ext cx="5364485" cy="26242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3"/>
          <p:cNvPicPr preferRelativeResize="0"/>
          <p:nvPr>
            <p:ph idx="1" type="body"/>
          </p:nvPr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3568" y="4149080"/>
            <a:ext cx="4797946" cy="2279423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3"/>
          <p:cNvSpPr txBox="1"/>
          <p:nvPr/>
        </p:nvSpPr>
        <p:spPr>
          <a:xfrm>
            <a:off x="5904037" y="4562547"/>
            <a:ext cx="321421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While updating the table, if one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Of the row missed to update,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inconsistency can occur.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1" name="Google Shape;191;p14"/>
          <p:cNvSpPr txBox="1"/>
          <p:nvPr>
            <p:ph idx="1" type="body"/>
          </p:nvPr>
        </p:nvSpPr>
        <p:spPr>
          <a:xfrm>
            <a:off x="338931" y="304056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192" name="Google Shape;1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27327" y="1124744"/>
            <a:ext cx="8445938" cy="1800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49909" y="3645024"/>
            <a:ext cx="6200775" cy="1714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199" name="Google Shape;199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200" name="Google Shape;20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700808"/>
            <a:ext cx="7343076" cy="40425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7" name="Google Shape;207;p1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First Normal Form </a:t>
            </a:r>
            <a:endParaRPr/>
          </a:p>
        </p:txBody>
      </p:sp>
      <p:sp>
        <p:nvSpPr>
          <p:cNvPr id="208" name="Google Shape;208;p1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2362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the attributes must have atomic values 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Disallows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composite attributes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multivalued attributes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nested relations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; attributes whose values for an </a:t>
            </a:r>
            <a:r>
              <a:rPr b="0" i="1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individual tuple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are non-atomic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214" name="Google Shape;214;p1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the student table, subject column is multivalued attribute.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Student table is not in 1NF</a:t>
            </a:r>
            <a:endParaRPr/>
          </a:p>
        </p:txBody>
      </p:sp>
      <p:pic>
        <p:nvPicPr>
          <p:cNvPr id="215" name="Google Shape;215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544" y="3527300"/>
            <a:ext cx="4054996" cy="1841773"/>
          </a:xfrm>
          <a:prstGeom prst="rect">
            <a:avLst/>
          </a:prstGeom>
          <a:noFill/>
          <a:ln>
            <a:noFill/>
          </a:ln>
        </p:spPr>
      </p:pic>
      <p:pic>
        <p:nvPicPr>
          <p:cNvPr id="216" name="Google Shape;216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68144" y="2492896"/>
            <a:ext cx="2724150" cy="3400425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7"/>
          <p:cNvSpPr/>
          <p:nvPr/>
        </p:nvSpPr>
        <p:spPr>
          <a:xfrm>
            <a:off x="5004048" y="4653136"/>
            <a:ext cx="618368" cy="242316"/>
          </a:xfrm>
          <a:prstGeom prst="rightArrow">
            <a:avLst>
              <a:gd fmla="val 50000" name="adj1"/>
              <a:gd fmla="val 50000" name="adj2"/>
            </a:avLst>
          </a:prstGeom>
          <a:solidFill>
            <a:schemeClr val="accent1"/>
          </a:solidFill>
          <a:ln cap="flat" cmpd="sng" w="25400">
            <a:solidFill>
              <a:srgbClr val="395E8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17"/>
          <p:cNvSpPr txBox="1"/>
          <p:nvPr/>
        </p:nvSpPr>
        <p:spPr>
          <a:xfrm>
            <a:off x="6156175" y="6196662"/>
            <a:ext cx="19849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Normalize into 1NF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8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5" name="Google Shape;225;p18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10.8 Normalization into 1NF</a:t>
            </a:r>
            <a:endParaRPr/>
          </a:p>
        </p:txBody>
      </p:sp>
      <p:sp>
        <p:nvSpPr>
          <p:cNvPr id="226" name="Google Shape;226;p18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08" id="227" name="Google Shape;227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71600" y="1600200"/>
            <a:ext cx="6096000" cy="46704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4" name="Google Shape;234;p19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10.9 Normalization nested relations into 1NF</a:t>
            </a:r>
            <a:endParaRPr/>
          </a:p>
        </p:txBody>
      </p:sp>
      <p:sp>
        <p:nvSpPr>
          <p:cNvPr id="235" name="Google Shape;235;p19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09" id="236" name="Google Shape;23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524000"/>
            <a:ext cx="8610600" cy="4800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3" name="Google Shape;243;p2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Second Normal Form (1) </a:t>
            </a:r>
            <a:endParaRPr/>
          </a:p>
        </p:txBody>
      </p:sp>
      <p:sp>
        <p:nvSpPr>
          <p:cNvPr id="244" name="Google Shape;244;p20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Uses the concepts of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FDs, primary key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Definitions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Prime attribute: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An attribute that is member of the candidate key K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1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Full functional dependency: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FD  X -&gt; Y where removal of any attribute from </a:t>
            </a:r>
            <a:r>
              <a:rPr lang="en-US" sz="2200"/>
              <a:t>X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means the FD does not hold any more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{SSN, PNUMBER} -&gt; HOURS is a full FD since neither SSN -&gt; HOURS nor PNUMBER -&gt; HOURS hold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{SSN, PNUMBER} -&gt; ENAME is not  a full FD (it is called a partial dependency ) since SSN -&gt; ENAME also holds 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Second Normal Form (2)</a:t>
            </a:r>
            <a:endParaRPr/>
          </a:p>
        </p:txBody>
      </p:sp>
      <p:sp>
        <p:nvSpPr>
          <p:cNvPr id="252" name="Google Shape;252;p2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lang="en-US" sz="2800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should be in 1NF.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 normal form (2NF)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every non-prime attribute A in R is fully functionally dependent on the primary key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can be decomposed into 2NF relations via the process of 2NF normalization .</a:t>
            </a:r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22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2NF</a:t>
            </a:r>
            <a:endParaRPr/>
          </a:p>
        </p:txBody>
      </p:sp>
      <p:sp>
        <p:nvSpPr>
          <p:cNvPr id="258" name="Google Shape;258;p22"/>
          <p:cNvSpPr txBox="1"/>
          <p:nvPr>
            <p:ph idx="1" type="body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508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</p:txBody>
      </p:sp>
      <p:pic>
        <p:nvPicPr>
          <p:cNvPr id="259" name="Google Shape;259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72698" y="1474442"/>
            <a:ext cx="2200075" cy="324006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192498" y="730182"/>
            <a:ext cx="2407214" cy="3024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192498" y="4001295"/>
            <a:ext cx="2473004" cy="16682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23"/>
          <p:cNvSpPr txBox="1"/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US" sz="2800"/>
              <a:t>Example:</a:t>
            </a:r>
            <a:endParaRPr/>
          </a:p>
        </p:txBody>
      </p:sp>
      <p:sp>
        <p:nvSpPr>
          <p:cNvPr id="267" name="Google Shape;267;p23"/>
          <p:cNvSpPr txBox="1"/>
          <p:nvPr>
            <p:ph idx="1" type="body"/>
          </p:nvPr>
        </p:nvSpPr>
        <p:spPr>
          <a:xfrm>
            <a:off x="433668" y="1532965"/>
            <a:ext cx="4081182" cy="464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00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Check whether given relation is in 2NF 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R(ABCDEF)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FD: {C 🡪 F, E 🡪A, EC 🡪 D, A 🡪 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 1: WHAT IS CANDIDATE KEYS?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CHECK L.H.S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C 🡪 F,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 🡪A,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EC 🡪 D, 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A 🡪 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EC = {FADB}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Find closure of EC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EC+ =ECFADB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CK ={ EC}</a:t>
            </a:r>
            <a:endParaRPr/>
          </a:p>
        </p:txBody>
      </p:sp>
      <p:sp>
        <p:nvSpPr>
          <p:cNvPr id="268" name="Google Shape;268;p23"/>
          <p:cNvSpPr txBox="1"/>
          <p:nvPr>
            <p:ph idx="2" type="body"/>
          </p:nvPr>
        </p:nvSpPr>
        <p:spPr>
          <a:xfrm>
            <a:off x="4514850" y="1532965"/>
            <a:ext cx="4000500" cy="464399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62500" lnSpcReduction="20000"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STEP2: PRIME ATTRIBUTES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{E ,C 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NON-PRIME ATTRIBUTES: {A,B,D,F}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CHECK PARTIAL DEPENDANCY 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{LHS should be proper subset of CK and RHS should be a non primary key. }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Part of candidate key determines non key attribute.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C 🡪 F, C is a part od CK and it determines non-key attribute. It is not in 2NF.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E 🡪A,  FD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 🡪 B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Given relation is not in 2NF.</a:t>
            </a:r>
            <a:endParaRPr/>
          </a:p>
          <a:p>
            <a:pPr indent="-10414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2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5" name="Google Shape;275;p2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10.10 Normalizing into 2NF and 3NF</a:t>
            </a:r>
            <a:endParaRPr/>
          </a:p>
        </p:txBody>
      </p:sp>
      <p:sp>
        <p:nvSpPr>
          <p:cNvPr id="276" name="Google Shape;276;p24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10" id="277" name="Google Shape;277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28600" y="1627187"/>
            <a:ext cx="8458200" cy="5002212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4"/>
          <p:cNvSpPr txBox="1"/>
          <p:nvPr/>
        </p:nvSpPr>
        <p:spPr>
          <a:xfrm>
            <a:off x="1219200" y="5124450"/>
            <a:ext cx="457200" cy="114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79" name="Google Shape;279;p24"/>
          <p:cNvSpPr/>
          <p:nvPr/>
        </p:nvSpPr>
        <p:spPr>
          <a:xfrm>
            <a:off x="1331912" y="5124450"/>
            <a:ext cx="228600" cy="152400"/>
          </a:xfrm>
          <a:prstGeom prst="downArrow">
            <a:avLst>
              <a:gd fmla="val 10800" name="adj1"/>
              <a:gd fmla="val 50000" name="adj2"/>
            </a:avLst>
          </a:prstGeom>
          <a:solidFill>
            <a:schemeClr val="dk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25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86" name="Google Shape;286;p25"/>
          <p:cNvSpPr txBox="1"/>
          <p:nvPr>
            <p:ph type="title"/>
          </p:nvPr>
        </p:nvSpPr>
        <p:spPr>
          <a:xfrm>
            <a:off x="76200" y="38100"/>
            <a:ext cx="9067800" cy="647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10.11 Normalization into 2NF and 3NF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11" id="288" name="Google Shape;288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09600"/>
            <a:ext cx="9144000" cy="624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26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95" name="Google Shape;295;p26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Normal Form (1)</a:t>
            </a:r>
            <a:endParaRPr/>
          </a:p>
        </p:txBody>
      </p:sp>
      <p:sp>
        <p:nvSpPr>
          <p:cNvPr id="296" name="Google Shape;296;p26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Transitive functional dependency: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a FD  X -&gt; Z that can be derived from two FDs   X -&gt; Y and Y -&gt; Z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Examples: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SSN -&gt; DMGRSSN is a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transitive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FD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Since SSN -&gt; DNUMBER and DNUMBER -&gt; DMGRSSN hold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SSN -&gt; ENAME is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non-transitive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Since there is no set of attributes X where SSN -&gt; X and X -&gt; ENAME 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27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03" name="Google Shape;303;p27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Normal Form (2)</a:t>
            </a:r>
            <a:endParaRPr/>
          </a:p>
        </p:txBody>
      </p:sp>
      <p:sp>
        <p:nvSpPr>
          <p:cNvPr id="304" name="Google Shape;304;p27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third normal form (3NF)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it is in 2NF </a:t>
            </a:r>
            <a:r>
              <a:rPr b="0" i="1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and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 non-prime attribute A in R is transitively dependent on the primary key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 can be decomposed into 3NF relations via the process of 3NF normalization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NOTE: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 X -&gt; Y and Y -&gt; Z, with X as the primary key, we consider this a problem only if Y is not a part of a candidate key.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When Y is a candidate key, there is no problem with the transitive dependency 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E.g., Consider EMP (SSN, Emp#, Salary ). </a:t>
            </a:r>
            <a:endParaRPr/>
          </a:p>
          <a:p>
            <a:pPr indent="-228600" lvl="2" marL="11430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0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Here, SSN -&gt; Emp# -&gt; Salary and Emp# is a candidate key. </a:t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310" name="Google Shape;310;p2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Here,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CK/PK :{rollno}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FD: Rollno 🡪 State</a:t>
            </a:r>
            <a:endParaRPr/>
          </a:p>
          <a:p>
            <a:pPr indent="0" lvl="1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  State 🡪 City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state is a non-prime attribute, which is trivially dependent.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Given relation is not in 3NF.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Decompose relation as: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Stud(Rollno,City), City(city,state)</a:t>
            </a:r>
            <a:endParaRPr/>
          </a:p>
          <a:p>
            <a:pPr indent="-15494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311" name="Google Shape;311;p2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1200"/>
              <a:buFont typeface="Calibri"/>
              <a:buNone/>
            </a:pPr>
            <a:r>
              <a:rPr lang="en-US"/>
              <a:t>Slide 10- </a:t>
            </a: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312" name="Google Shape;31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593285" y="1350795"/>
            <a:ext cx="1878495" cy="21133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2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2</a:t>
            </a:r>
            <a:endParaRPr/>
          </a:p>
        </p:txBody>
      </p:sp>
      <p:sp>
        <p:nvSpPr>
          <p:cNvPr id="318" name="Google Shape;318;p2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Given relation is not in 3NF</a:t>
            </a:r>
            <a:endParaRPr/>
          </a:p>
        </p:txBody>
      </p:sp>
      <p:pic>
        <p:nvPicPr>
          <p:cNvPr id="319" name="Google Shape;319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1628800"/>
            <a:ext cx="7503082" cy="350219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3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25" name="Google Shape;325;p30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Solution: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Split the relation into two relations, such as-</a:t>
            </a:r>
            <a:endParaRPr/>
          </a:p>
        </p:txBody>
      </p:sp>
      <p:pic>
        <p:nvPicPr>
          <p:cNvPr id="326" name="Google Shape;326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5576" y="3212976"/>
            <a:ext cx="7210425" cy="2038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1" name="Shape 3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2" name="Google Shape;332;p3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3" name="Google Shape;333;p3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Normal Forms Defined Informally	</a:t>
            </a:r>
            <a:endParaRPr/>
          </a:p>
        </p:txBody>
      </p:sp>
      <p:sp>
        <p:nvSpPr>
          <p:cNvPr id="334" name="Google Shape;334;p3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  <a:r>
              <a:rPr b="0" baseline="30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st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normal form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depend on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key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  <a:r>
              <a:rPr b="0" baseline="30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nd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normal form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depend on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the whole key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  <a:r>
              <a:rPr b="0" baseline="3000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rd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normal form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All attributes depend on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nothing but the key</a:t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3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1" name="Google Shape;341;p3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 Normal Form Definitions (For Multiple Keys) (1)</a:t>
            </a:r>
            <a:endParaRPr/>
          </a:p>
        </p:txBody>
      </p:sp>
      <p:sp>
        <p:nvSpPr>
          <p:cNvPr id="342" name="Google Shape;342;p3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above definitions consider the primary key only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The following more general definitions take into account relations with multiple candidate keys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b="1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second normal form (2NF)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every non-prime attribute A in R is fully functionally dependent on </a:t>
            </a:r>
            <a:r>
              <a:rPr b="0" i="1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every</a:t>
            </a: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key  of R </a:t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49" name="Google Shape;349;p33"/>
          <p:cNvSpPr txBox="1"/>
          <p:nvPr>
            <p:ph type="title"/>
          </p:nvPr>
        </p:nvSpPr>
        <p:spPr>
          <a:xfrm>
            <a:off x="228600" y="303212"/>
            <a:ext cx="8915400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General Normal Form Definitions </a:t>
            </a:r>
            <a:b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1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normal form (3NF)</a:t>
            </a:r>
            <a:endParaRPr/>
          </a:p>
        </p:txBody>
      </p:sp>
      <p:sp>
        <p:nvSpPr>
          <p:cNvPr id="350" name="Google Shape;350;p33"/>
          <p:cNvSpPr txBox="1"/>
          <p:nvPr>
            <p:ph idx="1" type="body"/>
          </p:nvPr>
        </p:nvSpPr>
        <p:spPr>
          <a:xfrm>
            <a:off x="28575" y="1600200"/>
            <a:ext cx="8963025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Definition: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Superkey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of relation schema R - a set of attributes S of R that contains a key of R</a:t>
            </a:r>
            <a:endParaRPr/>
          </a:p>
          <a:p>
            <a:pPr indent="-194944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None/>
            </a:pPr>
            <a:r>
              <a:t/>
            </a:r>
            <a:endParaRPr b="0" i="0" sz="2600" u="none">
              <a:solidFill>
                <a:srgbClr val="8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b="1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third normal form (3NF)</a:t>
            </a: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if whenever a FD X -&gt; A holds in R, then either: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(a) X is a key of R, or </a:t>
            </a:r>
            <a:endParaRPr/>
          </a:p>
          <a:p>
            <a:pPr indent="-228600" lvl="2" marL="11430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(b) A is a prime attribute of R</a:t>
            </a:r>
            <a:endParaRPr/>
          </a:p>
          <a:p>
            <a:pPr indent="-251459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440"/>
              <a:buNone/>
            </a:pPr>
            <a:r>
              <a:t/>
            </a:r>
            <a:endParaRPr b="0" i="0" sz="24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5" name="Shape 3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6" name="Google Shape;356;p34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7" name="Google Shape;357;p34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BCNF (Boyce-Codd Normal Form) </a:t>
            </a:r>
            <a:endParaRPr/>
          </a:p>
        </p:txBody>
      </p:sp>
      <p:sp>
        <p:nvSpPr>
          <p:cNvPr id="358" name="Google Shape;358;p34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schema R is in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Boyce-Codd Normal Form (BCNF)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if whenever an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FD X -&gt; A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holds in R, then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X is a superkey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of R</a:t>
            </a:r>
            <a:endParaRPr/>
          </a:p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lang="en-US"/>
              <a:t>In simple terms, for any case (say, X-&gt;Y), X can't be a non-prime attribute.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Each normal form is strictly stronger than the previous one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2NF relation is in 1NF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3NF relation is in 2NF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Every BCNF relation is in 3NF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There exist relations that are in 3NF but not in BCNF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rgbClr val="FF0000"/>
                </a:solidFill>
                <a:latin typeface="Arial"/>
                <a:ea typeface="Arial"/>
                <a:cs typeface="Arial"/>
                <a:sym typeface="Arial"/>
              </a:rPr>
              <a:t>The goal is to have each relation in BCNF (or 3NF) </a:t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3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</a:t>
            </a:r>
            <a:endParaRPr/>
          </a:p>
        </p:txBody>
      </p:sp>
      <p:sp>
        <p:nvSpPr>
          <p:cNvPr id="364" name="Google Shape;364;p3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365" name="Google Shape;365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43608" y="1772816"/>
            <a:ext cx="5495925" cy="34194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3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71" name="Google Shape;371;p3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1NF</a:t>
            </a:r>
            <a:endParaRPr/>
          </a:p>
        </p:txBody>
      </p:sp>
      <p:pic>
        <p:nvPicPr>
          <p:cNvPr id="372" name="Google Shape;372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7966" y="2251243"/>
            <a:ext cx="5591505" cy="504056"/>
          </a:xfrm>
          <a:prstGeom prst="rect">
            <a:avLst/>
          </a:prstGeom>
          <a:noFill/>
          <a:ln>
            <a:noFill/>
          </a:ln>
        </p:spPr>
      </p:pic>
      <p:pic>
        <p:nvPicPr>
          <p:cNvPr id="373" name="Google Shape;373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5576" y="3140968"/>
            <a:ext cx="6962775" cy="160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37"/>
          <p:cNvSpPr txBox="1"/>
          <p:nvPr>
            <p:ph idx="1" type="body"/>
          </p:nvPr>
        </p:nvSpPr>
        <p:spPr>
          <a:xfrm>
            <a:off x="467544" y="620688"/>
            <a:ext cx="8219256" cy="55054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3NF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BCNF</a:t>
            </a:r>
            <a:endParaRPr/>
          </a:p>
        </p:txBody>
      </p:sp>
      <p:pic>
        <p:nvPicPr>
          <p:cNvPr id="379" name="Google Shape;379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4707" y="4005064"/>
            <a:ext cx="5591175" cy="2209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80" name="Google Shape;380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50446" y="1052736"/>
            <a:ext cx="6991350" cy="2009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386" name="Google Shape;386;p3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We can decompose the table</a:t>
            </a:r>
            <a:endParaRPr/>
          </a:p>
        </p:txBody>
      </p:sp>
      <p:pic>
        <p:nvPicPr>
          <p:cNvPr id="387" name="Google Shape;387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4" y="2614022"/>
            <a:ext cx="2855210" cy="1504084"/>
          </a:xfrm>
          <a:prstGeom prst="rect">
            <a:avLst/>
          </a:prstGeom>
          <a:noFill/>
          <a:ln>
            <a:noFill/>
          </a:ln>
        </p:spPr>
      </p:pic>
      <p:pic>
        <p:nvPicPr>
          <p:cNvPr id="388" name="Google Shape;388;p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72000" y="2766600"/>
            <a:ext cx="3765779" cy="13693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39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5" name="Google Shape;395;p39"/>
          <p:cNvSpPr txBox="1"/>
          <p:nvPr>
            <p:ph type="title"/>
          </p:nvPr>
        </p:nvSpPr>
        <p:spPr>
          <a:xfrm>
            <a:off x="381000" y="476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10.12 Boyce-Codd normal form</a:t>
            </a:r>
            <a:endParaRPr/>
          </a:p>
        </p:txBody>
      </p:sp>
      <p:sp>
        <p:nvSpPr>
          <p:cNvPr id="396" name="Google Shape;396;p39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12" id="397" name="Google Shape;397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996950"/>
            <a:ext cx="9144000" cy="561816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40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4" name="Google Shape;404;p40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Figure 10.13 a relation TEACH that is in 3NF but not in BCNF</a:t>
            </a:r>
            <a:endParaRPr/>
          </a:p>
        </p:txBody>
      </p:sp>
      <p:sp>
        <p:nvSpPr>
          <p:cNvPr id="405" name="Google Shape;405;p40"/>
          <p:cNvSpPr txBox="1"/>
          <p:nvPr/>
        </p:nvSpPr>
        <p:spPr>
          <a:xfrm>
            <a:off x="1828800" y="1309687"/>
            <a:ext cx="9144000" cy="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t/>
            </a:r>
            <a:endParaRPr b="0" i="1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fig10_13" id="406" name="Google Shape;406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19150" y="2057400"/>
            <a:ext cx="7505700" cy="3863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p41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3" name="Google Shape;413;p41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Achieving the BCNF by Decomposition (1)</a:t>
            </a:r>
            <a:endParaRPr/>
          </a:p>
        </p:txBody>
      </p:sp>
      <p:sp>
        <p:nvSpPr>
          <p:cNvPr id="414" name="Google Shape;414;p41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Two FDs exist in the relation TEACH: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fd1: { student, course} -&gt; instructor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fd2: instructor  -&gt; course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{student, course} is a candidate key for this relation and that the dependencies shown follow the pattern in Figure 10.12 (b).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So this relation is in 3NF </a:t>
            </a:r>
            <a:r>
              <a:rPr b="0" i="1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but not in</a:t>
            </a: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BCNF 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rgbClr val="990033"/>
              </a:buClr>
              <a:buSzPts val="1440"/>
              <a:buFont typeface="Noto Sans Symbols"/>
              <a:buChar char="■"/>
            </a:pP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relation </a:t>
            </a:r>
            <a:r>
              <a:rPr b="1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NOT</a:t>
            </a:r>
            <a:r>
              <a:rPr b="0" i="0" lang="en-US" sz="24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 in BCNF should be decomposed so as to meet this property, while possibly forgoing the preservation of all functional dependencies in the decomposed relations.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40"/>
              </a:spcBef>
              <a:spcAft>
                <a:spcPts val="0"/>
              </a:spcAft>
              <a:buClr>
                <a:schemeClr val="dk2"/>
              </a:buClr>
              <a:buSzPts val="1210"/>
              <a:buFont typeface="Noto Sans Symbols"/>
              <a:buChar char="■"/>
            </a:pPr>
            <a:r>
              <a:rPr b="0" i="0" lang="en-US" sz="2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(See Algorithm 11.3) </a:t>
            </a:r>
            <a:endParaRPr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p42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1" name="Google Shape;421;p42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600"/>
              <a:buFont typeface="Arial"/>
              <a:buNone/>
            </a:pPr>
            <a:r>
              <a:rPr b="0" i="0" lang="en-US" sz="3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Chapter Outline</a:t>
            </a:r>
            <a:endParaRPr/>
          </a:p>
        </p:txBody>
      </p:sp>
      <p:sp>
        <p:nvSpPr>
          <p:cNvPr id="422" name="Google Shape;422;p42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Informal Design Guidelines for Relational Databases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Functional Dependencies (FDs)</a:t>
            </a:r>
            <a:endParaRPr/>
          </a:p>
          <a:p>
            <a:pPr indent="-285750" lvl="1" marL="742950" rtl="0" algn="l">
              <a:lnSpc>
                <a:spcPct val="100000"/>
              </a:lnSpc>
              <a:spcBef>
                <a:spcPts val="520"/>
              </a:spcBef>
              <a:spcAft>
                <a:spcPts val="0"/>
              </a:spcAft>
              <a:buClr>
                <a:schemeClr val="dk2"/>
              </a:buClr>
              <a:buSzPts val="1430"/>
              <a:buFont typeface="Noto Sans Symbols"/>
              <a:buChar char="■"/>
            </a:pPr>
            <a:r>
              <a:rPr b="0" i="0" lang="en-US" sz="26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Definition, Inference Rules, Equivalence of Sets of FDs, Minimal Sets of FDs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Normal Forms Based on Primary Keys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General Normal Form Definitions (For Multiple Keys)</a:t>
            </a:r>
            <a:endParaRPr/>
          </a:p>
          <a:p>
            <a:pPr indent="-34290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990033"/>
              </a:buClr>
              <a:buSzPts val="1680"/>
              <a:buFont typeface="Noto Sans Symbols"/>
              <a:buChar char="■"/>
            </a:pPr>
            <a:r>
              <a:rPr b="0" i="0" lang="en-US" sz="28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BCNF (Boyce-Codd Normal Form)</a:t>
            </a:r>
            <a:endParaRPr/>
          </a:p>
          <a:p>
            <a:pPr indent="-236220" lvl="0" marL="34290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1680"/>
              <a:buNone/>
            </a:pPr>
            <a:r>
              <a:t/>
            </a:r>
            <a:endParaRPr b="0" i="0" sz="2800" u="non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7" name="Shape 4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8" name="Google Shape;428;p43"/>
          <p:cNvSpPr txBox="1"/>
          <p:nvPr/>
        </p:nvSpPr>
        <p:spPr>
          <a:xfrm>
            <a:off x="6934200" y="6400800"/>
            <a:ext cx="1905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400"/>
              <a:buFont typeface="Arial"/>
              <a:buNone/>
            </a:pPr>
            <a:r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Slide 10- </a:t>
            </a:r>
            <a:fld id="{00000000-1234-1234-1234-123412341234}" type="slidenum">
              <a:rPr b="1" i="0" lang="en-US" sz="1400" u="none" cap="none" strike="noStrike">
                <a:solidFill>
                  <a:srgbClr val="990033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9" name="Google Shape;429;p43"/>
          <p:cNvSpPr txBox="1"/>
          <p:nvPr>
            <p:ph type="title"/>
          </p:nvPr>
        </p:nvSpPr>
        <p:spPr>
          <a:xfrm>
            <a:off x="228600" y="303212"/>
            <a:ext cx="7796212" cy="992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00000"/>
              </a:buClr>
              <a:buSzPts val="3200"/>
              <a:buFont typeface="Arial"/>
              <a:buNone/>
            </a:pPr>
            <a:r>
              <a:rPr b="0" i="0" lang="en-US" sz="32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Achieving the BCNF by Decomposition (2)</a:t>
            </a:r>
            <a:endParaRPr/>
          </a:p>
        </p:txBody>
      </p:sp>
      <p:sp>
        <p:nvSpPr>
          <p:cNvPr id="430" name="Google Shape;430;p43"/>
          <p:cNvSpPr txBox="1"/>
          <p:nvPr>
            <p:ph idx="1" type="body"/>
          </p:nvPr>
        </p:nvSpPr>
        <p:spPr>
          <a:xfrm>
            <a:off x="239712" y="1600200"/>
            <a:ext cx="8294687" cy="457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0" wrap="square" tIns="45700">
            <a:noAutofit/>
          </a:bodyPr>
          <a:lstStyle/>
          <a:p>
            <a:pPr indent="-3429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Three possible decompositions for relation TEACH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20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student, instructor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 and {</a:t>
            </a:r>
            <a:r>
              <a:rPr b="0" i="0" lang="en-US" sz="20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student, course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{course, </a:t>
            </a:r>
            <a:r>
              <a:rPr b="0" i="0" lang="en-US" sz="20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 } and {</a:t>
            </a:r>
            <a:r>
              <a:rPr b="0" i="0" lang="en-US" sz="20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course, student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{</a:t>
            </a:r>
            <a:r>
              <a:rPr b="0" i="0" lang="en-US" sz="20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, course } and {</a:t>
            </a:r>
            <a:r>
              <a:rPr b="0" i="0" lang="en-US" sz="2000" u="sng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instructor, student</a:t>
            </a: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}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All three decompositions will lose fd1. </a:t>
            </a:r>
            <a:endParaRPr/>
          </a:p>
          <a:p>
            <a:pPr indent="-285750" lvl="1" marL="74295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Noto Sans Symbols"/>
              <a:buChar char="■"/>
            </a:pPr>
            <a:r>
              <a:rPr b="0" i="0" lang="en-US" sz="2000" u="none">
                <a:solidFill>
                  <a:srgbClr val="800000"/>
                </a:solidFill>
                <a:latin typeface="Arial"/>
                <a:ea typeface="Arial"/>
                <a:cs typeface="Arial"/>
                <a:sym typeface="Arial"/>
              </a:rPr>
              <a:t>We have to settle for sacrificing the functional dependency preservation. But we cannot sacrifice the non-additivity property after decomposition.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Out of the above three, only the 3rd decomposition will not generate spurious tuples after join.(and hence has the non-additivity property).</a:t>
            </a:r>
            <a:endParaRPr/>
          </a:p>
          <a:p>
            <a:pPr indent="-342900" lvl="0" marL="34290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990033"/>
              </a:buClr>
              <a:buSzPts val="1200"/>
              <a:buFont typeface="Noto Sans Symbols"/>
              <a:buChar char="■"/>
            </a:pPr>
            <a:r>
              <a:rPr b="0" i="0" lang="en-US" sz="2000" u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A test to determine whether a binary decomposition (decomposition into two relations) is non-additive (lossless) is discussed in section 11.1.4 under Property LJ1. Verify that the third decomposition above meets the property.</a:t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4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Fourth Normal Form (4NF)</a:t>
            </a:r>
            <a:endParaRPr/>
          </a:p>
        </p:txBody>
      </p:sp>
      <p:sp>
        <p:nvSpPr>
          <p:cNvPr id="436" name="Google Shape;436;p4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MULTIVALUED DEPENDANCY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A 🡪 B, is multivalued dependency if 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437" name="Google Shape;437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99592" y="2914470"/>
            <a:ext cx="1297660" cy="8021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1" name="Shape 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2" name="Google Shape;442;p4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7030A0"/>
              </a:buClr>
              <a:buSzPts val="3600"/>
              <a:buFont typeface="Calibri"/>
              <a:buNone/>
            </a:pPr>
            <a:r>
              <a:rPr lang="en-US" sz="3600">
                <a:solidFill>
                  <a:srgbClr val="7030A0"/>
                </a:solidFill>
              </a:rPr>
              <a:t>3 conditions for Multivalued Dependency</a:t>
            </a:r>
            <a:endParaRPr sz="3600">
              <a:solidFill>
                <a:srgbClr val="7030A0"/>
              </a:solidFill>
            </a:endParaRPr>
          </a:p>
        </p:txBody>
      </p:sp>
      <p:sp>
        <p:nvSpPr>
          <p:cNvPr id="443" name="Google Shape;443;p4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 lnSpcReduction="20000"/>
          </a:bodyPr>
          <a:lstStyle/>
          <a:p>
            <a:pPr indent="-18542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514350" lvl="0" marL="51435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A🡪B ,for a single value of A, more than one value of B exists.</a:t>
            </a:r>
            <a:endParaRPr/>
          </a:p>
          <a:p>
            <a:pPr indent="-514350" lvl="0" marL="51435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/>
              <a:t>Tables should have at least 3 columns.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   (if table has only 2 columns, we can use 1NF to resolve it).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3.    For this table with A,B,C columns, B and C should be  independent.</a:t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496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b="1" lang="en-US"/>
              <a:t>If ALL THE 3 CONDITIONS ARE TRUE, THEN WE CAN SAY THAT THE TABLE MAY HAVE MULTI-VALUED DEPENDENCY.</a:t>
            </a:r>
            <a:r>
              <a:rPr lang="en-US"/>
              <a:t> </a:t>
            </a:r>
            <a:endParaRPr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4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EXAMPLE 1</a:t>
            </a:r>
            <a:endParaRPr/>
          </a:p>
        </p:txBody>
      </p:sp>
      <p:sp>
        <p:nvSpPr>
          <p:cNvPr id="449" name="Google Shape;449;p4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450" name="Google Shape;450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583" y="1556792"/>
            <a:ext cx="5191125" cy="1790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1" name="Google Shape;451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583" y="3573016"/>
            <a:ext cx="5701680" cy="249848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p4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457" name="Google Shape;457;p47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DECOMPOSITION of the table:</a:t>
            </a:r>
            <a:endParaRPr/>
          </a:p>
        </p:txBody>
      </p:sp>
      <p:pic>
        <p:nvPicPr>
          <p:cNvPr id="458" name="Google Shape;458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66455" y="2276872"/>
            <a:ext cx="6248400" cy="2724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8"/>
          <p:cNvSpPr txBox="1"/>
          <p:nvPr>
            <p:ph type="title"/>
          </p:nvPr>
        </p:nvSpPr>
        <p:spPr>
          <a:xfrm>
            <a:off x="539552" y="274638"/>
            <a:ext cx="8147248" cy="56207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US"/>
              <a:t>Example 2</a:t>
            </a:r>
            <a:endParaRPr/>
          </a:p>
        </p:txBody>
      </p:sp>
      <p:sp>
        <p:nvSpPr>
          <p:cNvPr id="464" name="Google Shape;464;p48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  <p:pic>
        <p:nvPicPr>
          <p:cNvPr id="465" name="Google Shape;465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83568" y="908720"/>
            <a:ext cx="7077075" cy="2990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66" name="Google Shape;466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990" y="4077072"/>
            <a:ext cx="6702176" cy="24500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g2db6bb3e259_1_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3" name="Google Shape;473;g2db6bb3e259_1_0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74" name="Google Shape;474;g2db6bb3e259_1_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2db6bb3e259_1_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1" name="Google Shape;481;g2db6bb3e259_1_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82" name="Google Shape;482;g2db6bb3e259_1_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2db6bb3e259_1_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2db6bb3e259_1_14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0" name="Google Shape;490;g2db6bb3e259_1_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g2db6bb3e259_1_2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7" name="Google Shape;497;g2db6bb3e259_1_21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36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498" name="Google Shape;498;g2db6bb3e259_1_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2" name="Shape 5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3" name="Google Shape;503;p4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Decomposition</a:t>
            </a:r>
            <a:endParaRPr/>
          </a:p>
        </p:txBody>
      </p:sp>
      <p:sp>
        <p:nvSpPr>
          <p:cNvPr id="504" name="Google Shape;504;p49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The process of decomposition in DBMS helps us remove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redundancy,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Inconsistencies, </a:t>
            </a:r>
            <a:endParaRPr/>
          </a:p>
          <a:p>
            <a:pPr indent="-285750" lvl="1" marL="74295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</a:pPr>
            <a:r>
              <a:rPr lang="en-US"/>
              <a:t>anomalies from a database when we divide the table into numerous tables. 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/>
              <a:t>In simpler words, the process of decomposition refers to dividing a relation X into {X1, X2,……Xn}.</a:t>
            </a:r>
            <a:endParaRPr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8" name="Shape 5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9" name="Google Shape;509;p5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Types of Decomposition</a:t>
            </a:r>
            <a:endParaRPr/>
          </a:p>
        </p:txBody>
      </p:sp>
      <p:sp>
        <p:nvSpPr>
          <p:cNvPr id="510" name="Google Shape;510;p50"/>
          <p:cNvSpPr txBox="1"/>
          <p:nvPr>
            <p:ph idx="1" type="body"/>
          </p:nvPr>
        </p:nvSpPr>
        <p:spPr>
          <a:xfrm>
            <a:off x="457200" y="1600200"/>
            <a:ext cx="8363272" cy="47811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17018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Lossless Join Decomposition (Non-additive):</a:t>
            </a:r>
            <a:endParaRPr b="1" u="sng"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Consider there is a relation R which is decomposed into sub relations R1 , R2 , …. , Rn.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decomposition is called lossless join decomposition when the join of the sub relations results in the same relation R that was decomposed. 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For lossless join decomposition, we always have</a:t>
            </a:r>
            <a:endParaRPr/>
          </a:p>
          <a:p>
            <a:pPr indent="0" lvl="0" marL="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rPr lang="en-US"/>
              <a:t>    R1 ⋈ R2 ⋈ R3 ……. ⋈ Rn = R, where ⋈ is a natural join   operator</a:t>
            </a:r>
            <a:endParaRPr/>
          </a:p>
        </p:txBody>
      </p:sp>
      <p:pic>
        <p:nvPicPr>
          <p:cNvPr id="511" name="Google Shape;511;p5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190800" y="1226452"/>
            <a:ext cx="4410075" cy="1390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p5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t/>
            </a:r>
            <a:endParaRPr/>
          </a:p>
        </p:txBody>
      </p:sp>
      <p:sp>
        <p:nvSpPr>
          <p:cNvPr id="517" name="Google Shape;517;p5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 u="sng"/>
              <a:t>Lossy Join Decomposition:</a:t>
            </a:r>
            <a:endParaRPr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Consider there is a relation R which is decomposed into sub relations R1 , R2 , …. , Rn.  </a:t>
            </a:r>
            <a:endParaRPr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This decomposition is called lossy join decomposition when the join of the sub relations does not result in the same relation R that was decomposed.  </a:t>
            </a:r>
            <a:endParaRPr/>
          </a:p>
          <a:p>
            <a:pPr indent="-342900" lvl="0" marL="342900" rtl="0" algn="l">
              <a:spcBef>
                <a:spcPts val="481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The natural join of the sub relations is always found to have some extraneous tuples.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600"/>
              <a:t>For lossy join decomposition</a:t>
            </a:r>
            <a:r>
              <a:rPr lang="en-US"/>
              <a:t>, </a:t>
            </a:r>
            <a:r>
              <a:rPr lang="en-US" sz="2400"/>
              <a:t>we always have- </a:t>
            </a:r>
            <a:endParaRPr sz="2400"/>
          </a:p>
          <a:p>
            <a:pPr indent="-342900" lvl="0" marL="342900" rtl="0" algn="l">
              <a:spcBef>
                <a:spcPts val="4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 sz="2400"/>
              <a:t>R1 ⋈ R2 ⋈ R3 ……. ⋈ Rn ⊃ R, where ⋈ is a natural join operator</a:t>
            </a:r>
            <a:endParaRPr b="1" sz="2400" u="sng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52"/>
          <p:cNvSpPr txBox="1"/>
          <p:nvPr>
            <p:ph type="title"/>
          </p:nvPr>
        </p:nvSpPr>
        <p:spPr>
          <a:xfrm>
            <a:off x="467544" y="274638"/>
            <a:ext cx="8219256" cy="9941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</a:pPr>
            <a:r>
              <a:rPr lang="en-US" sz="2400"/>
              <a:t>Determining Whether Decomposition Is Lossless Or Lossy</a:t>
            </a:r>
            <a:endParaRPr sz="2400"/>
          </a:p>
        </p:txBody>
      </p:sp>
      <p:sp>
        <p:nvSpPr>
          <p:cNvPr id="523" name="Google Shape;523;p52"/>
          <p:cNvSpPr txBox="1"/>
          <p:nvPr>
            <p:ph idx="1" type="body"/>
          </p:nvPr>
        </p:nvSpPr>
        <p:spPr>
          <a:xfrm>
            <a:off x="467544" y="1484784"/>
            <a:ext cx="8219256" cy="464137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Consider a relation R is decomposed into two sub relations R1 and R2. Then,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all the following conditions satisfy, then the decomposition is lossless.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If any of these conditions fail, then the decomposition is lossy. </a:t>
            </a:r>
            <a:endParaRPr/>
          </a:p>
          <a:p>
            <a:pPr indent="-17018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Condition-01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Union of both the sub relations must contain all the attributes that are present in the original relation R. </a:t>
            </a:r>
            <a:endParaRPr/>
          </a:p>
          <a:p>
            <a:pPr indent="-342900" lvl="0" marL="342900" rtl="0" algn="l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Thus, R1 ∪ R2 = R</a:t>
            </a:r>
            <a:endParaRPr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27" name="Shape 5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8" name="Google Shape;528;p5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Cntd…</a:t>
            </a:r>
            <a:endParaRPr/>
          </a:p>
        </p:txBody>
      </p:sp>
      <p:sp>
        <p:nvSpPr>
          <p:cNvPr id="529" name="Google Shape;529;p53"/>
          <p:cNvSpPr txBox="1"/>
          <p:nvPr>
            <p:ph idx="1" type="body"/>
          </p:nvPr>
        </p:nvSpPr>
        <p:spPr>
          <a:xfrm>
            <a:off x="457200" y="1600200"/>
            <a:ext cx="8291264" cy="470912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Condition-02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Intersection of both the sub relations must not be null.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 other words, there must be some common attribute which is present in both the sub relations.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Thus, R1 ∩ R2 ≠ ∅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Condition-03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Intersection of both the sub relations must be a super key of either R1 or R2 or both. </a:t>
            </a:r>
            <a:endParaRPr/>
          </a:p>
          <a:p>
            <a:pPr indent="-342900" lvl="0" marL="342900" rtl="0" algn="l">
              <a:spcBef>
                <a:spcPts val="59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Thus, R1 ∩ R2 = Super key of R1 or R2</a:t>
            </a:r>
            <a:endParaRPr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Properties of Decomposition</a:t>
            </a:r>
            <a:endParaRPr/>
          </a:p>
        </p:txBody>
      </p:sp>
      <p:sp>
        <p:nvSpPr>
          <p:cNvPr id="535" name="Google Shape;535;p54"/>
          <p:cNvSpPr txBox="1"/>
          <p:nvPr>
            <p:ph idx="1" type="body"/>
          </p:nvPr>
        </p:nvSpPr>
        <p:spPr>
          <a:xfrm>
            <a:off x="467544" y="1412776"/>
            <a:ext cx="8280920" cy="49685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55000" lnSpcReduction="20000"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Lossless:</a:t>
            </a: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the decomposition that we perform in Database management system should be lossless. 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All the information should not be lost while performing the join on the sub-relation to get back the original relation. It helps to remove the redundant data from the database.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Dependency Preservation:</a:t>
            </a: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Dependency Preservation is an important technique in database management system. 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ensures that the functional dependencies between the entities is maintained while performing decomposition. 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helps to improve the database efficiency, maintain consistency and integrity.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b="1" lang="en-US"/>
              <a:t>Lack of Data Redundancy:</a:t>
            </a:r>
            <a:r>
              <a:rPr lang="en-US"/>
              <a:t> 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Data Redundancy is generally termed as duplicate data or repeated data. 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This property states that the decomposition performed should not suffer redundant data. </a:t>
            </a:r>
            <a:endParaRPr/>
          </a:p>
          <a:p>
            <a:pPr indent="-34290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It will help us to get rid of unwanted data and focus only on the useful data or information.</a:t>
            </a:r>
            <a:endParaRPr/>
          </a:p>
          <a:p>
            <a:pPr indent="-231140" lvl="0" marL="342900" rtl="0" algn="l">
              <a:spcBef>
                <a:spcPts val="352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9" name="Shape 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0" name="Google Shape;540;p5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/>
              <a:t>Dependency preservation example</a:t>
            </a:r>
            <a:endParaRPr/>
          </a:p>
        </p:txBody>
      </p:sp>
      <p:sp>
        <p:nvSpPr>
          <p:cNvPr id="541" name="Google Shape;541;p5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2024-04-04T04:39:24Z</dcterms:created>
  <dc:creator>kjscecomp</dc:creator>
</cp:coreProperties>
</file>