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y="6858000" cx="9144000"/>
  <p:notesSz cx="6858000" cy="9144000"/>
  <p:embeddedFontLst>
    <p:embeddedFont>
      <p:font typeface="Tahoma"/>
      <p:regular r:id="rId94"/>
      <p:bold r:id="rId95"/>
    </p:embeddedFont>
    <p:embeddedFont>
      <p:font typeface="Helvetica Neue"/>
      <p:regular r:id="rId96"/>
      <p:bold r:id="rId97"/>
      <p:italic r:id="rId98"/>
      <p:boldItalic r:id="rId9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100" roundtripDataSignature="AMtx7mgkkLkeYlfz6hLQw7COyj5NQKVG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0" Type="http://customschemas.google.com/relationships/presentationmetadata" Target="metadata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font" Target="fonts/Tahoma-bold.fntdata"/><Relationship Id="rId94" Type="http://schemas.openxmlformats.org/officeDocument/2006/relationships/font" Target="fonts/Tahoma-regular.fntdata"/><Relationship Id="rId97" Type="http://schemas.openxmlformats.org/officeDocument/2006/relationships/font" Target="fonts/HelveticaNeue-bold.fntdata"/><Relationship Id="rId96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99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98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1" name="Google Shape;18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0" name="Google Shape;22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28" name="Google Shape;228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6" name="Google Shape;23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4" name="Google Shape;244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0" name="Google Shape;260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8" name="Google Shape;26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9" name="Google Shape;309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4" name="Google Shape;324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2" name="Google Shape;33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0" name="Google Shape;34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8" name="Google Shape;348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9" name="Google Shape;349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6" name="Google Shape;356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4" name="Google Shape;364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8" name="Google Shape;38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6" name="Google Shape;396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4" name="Google Shape;404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2" name="Google Shape;412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0" name="Google Shape;420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4" name="Google Shape;434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5" name="Google Shape;445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84" name="Google Shape;48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92" name="Google Shape;492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0" name="Google Shape;50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08" name="Google Shape;50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16" name="Google Shape;516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24" name="Google Shape;524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32" name="Google Shape;532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3" name="Google Shape;533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0" name="Google Shape;540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1" name="Google Shape;541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48" name="Google Shape;548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56" name="Google Shape;556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64" name="Google Shape;56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5" name="Google Shape;565;p6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6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72" name="Google Shape;572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p6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6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80" name="Google Shape;580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6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88" name="Google Shape;588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596" name="Google Shape;596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04" name="Google Shape;604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p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6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19" name="Google Shape;61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0" name="Google Shape;620;p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7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34" name="Google Shape;634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5" name="Google Shape;635;p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42" name="Google Shape;642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7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50" name="Google Shape;650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1" name="Google Shape;651;p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58" name="Google Shape;658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9" name="Google Shape;659;p7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7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74" name="Google Shape;674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p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82" name="Google Shape;682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p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90" name="Google Shape;690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1" name="Google Shape;691;p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7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698" name="Google Shape;698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9" name="Google Shape;699;p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8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06" name="Google Shape;706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8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14" name="Google Shape;714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5" name="Google Shape;715;p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8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22" name="Google Shape;722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3" name="Google Shape;723;p8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8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0" name="Google Shape;730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1" name="Google Shape;731;p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38" name="Google Shape;738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9" name="Google Shape;739;p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8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46" name="Google Shape;746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7" name="Google Shape;747;p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8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54" name="Google Shape;754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5" name="Google Shape;755;p8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8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762" name="Google Shape;762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26" name="Google Shape;26;p92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3"/>
          <p:cNvSpPr txBox="1"/>
          <p:nvPr>
            <p:ph type="title"/>
          </p:nvPr>
        </p:nvSpPr>
        <p:spPr>
          <a:xfrm rot="5400000">
            <a:off x="4561682" y="2199482"/>
            <a:ext cx="5868987" cy="20764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3"/>
          <p:cNvSpPr txBox="1"/>
          <p:nvPr>
            <p:ph idx="1" type="body"/>
          </p:nvPr>
        </p:nvSpPr>
        <p:spPr>
          <a:xfrm rot="5400000">
            <a:off x="332582" y="199231"/>
            <a:ext cx="5868987" cy="6076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0" name="Google Shape;30;p93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4"/>
          <p:cNvSpPr txBox="1"/>
          <p:nvPr>
            <p:ph idx="1" type="body"/>
          </p:nvPr>
        </p:nvSpPr>
        <p:spPr>
          <a:xfrm rot="5400000">
            <a:off x="2101055" y="-261143"/>
            <a:ext cx="4572000" cy="82946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4" name="Google Shape;34;p94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9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39" name="Google Shape;39;p95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50520" lvl="0" marL="45720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43" name="Google Shape;43;p9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44" name="Google Shape;44;p96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7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9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0" name="Google Shape;50;p9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1" name="Google Shape;51;p9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52" name="Google Shape;52;p9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20040" lvl="0" marL="45720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53" name="Google Shape;53;p9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9"/>
          <p:cNvSpPr txBox="1"/>
          <p:nvPr>
            <p:ph idx="1" type="body"/>
          </p:nvPr>
        </p:nvSpPr>
        <p:spPr>
          <a:xfrm>
            <a:off x="239713" y="1600200"/>
            <a:ext cx="40703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7" name="Google Shape;57;p99"/>
          <p:cNvSpPr txBox="1"/>
          <p:nvPr>
            <p:ph idx="2" type="body"/>
          </p:nvPr>
        </p:nvSpPr>
        <p:spPr>
          <a:xfrm>
            <a:off x="4462463" y="1600200"/>
            <a:ext cx="407193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58" name="Google Shape;58;p99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0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62" name="Google Shape;62;p100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Pink tissue paper" id="73" name="Google Shape;73;p91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600">
                <a:solidFill>
                  <a:srgbClr val="990033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Pink tissue paper" id="74" name="Google Shape;74;p91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lv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 sz="3200"/>
            </a:lvl1pPr>
            <a:lvl2pPr lvl="1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75" name="Google Shape;75;p91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.jpg"/><Relationship Id="rId3" Type="http://schemas.openxmlformats.org/officeDocument/2006/relationships/slideLayout" Target="../slideLayouts/slideLayout11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88"/>
          <p:cNvGrpSpPr/>
          <p:nvPr/>
        </p:nvGrpSpPr>
        <p:grpSpPr>
          <a:xfrm>
            <a:off x="8936037" y="1449387"/>
            <a:ext cx="207962" cy="5408612"/>
            <a:chOff x="5606" y="889"/>
            <a:chExt cx="154" cy="3431"/>
          </a:xfrm>
        </p:grpSpPr>
        <p:sp>
          <p:nvSpPr>
            <p:cNvPr id="11" name="Google Shape;11;p88"/>
            <p:cNvSpPr txBox="1"/>
            <p:nvPr/>
          </p:nvSpPr>
          <p:spPr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12;p88"/>
            <p:cNvGrpSpPr/>
            <p:nvPr/>
          </p:nvGrpSpPr>
          <p:grpSpPr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3" name="Google Shape;13;p88"/>
              <p:cNvSpPr txBox="1"/>
              <p:nvPr/>
            </p:nvSpPr>
            <p:spPr>
              <a:xfrm flipH="1" rot="10800000">
                <a:off x="5606" y="889"/>
                <a:ext cx="58" cy="3431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88"/>
              <p:cNvSpPr txBox="1"/>
              <p:nvPr/>
            </p:nvSpPr>
            <p:spPr>
              <a:xfrm flipH="1" rot="10800000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" name="Google Shape;15;p88"/>
          <p:cNvSpPr txBox="1"/>
          <p:nvPr/>
        </p:nvSpPr>
        <p:spPr>
          <a:xfrm>
            <a:off x="-1" y="1"/>
            <a:ext cx="9140825" cy="1449387"/>
          </a:xfrm>
          <a:prstGeom prst="rect">
            <a:avLst/>
          </a:prstGeom>
          <a:solidFill>
            <a:srgbClr val="677228">
              <a:alpha val="3568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8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88"/>
          <p:cNvSpPr txBox="1"/>
          <p:nvPr>
            <p:ph idx="12" type="sldNum"/>
          </p:nvPr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  <a:defRPr b="1" i="0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8- </a:t>
            </a:r>
            <a:fld id="{00000000-1234-1234-1234-123412341234}" type="slidenum">
              <a:rPr lang="en-US"/>
              <a:t>‹#›</a:t>
            </a:fld>
            <a:endParaRPr b="0">
              <a:solidFill>
                <a:srgbClr val="000000"/>
              </a:solidFill>
            </a:endParaRPr>
          </a:p>
        </p:txBody>
      </p:sp>
      <p:sp>
        <p:nvSpPr>
          <p:cNvPr id="18" name="Google Shape;18;p8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88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0"/>
          <p:cNvSpPr txBox="1"/>
          <p:nvPr/>
        </p:nvSpPr>
        <p:spPr>
          <a:xfrm>
            <a:off x="8305800" y="0"/>
            <a:ext cx="609600" cy="6858000"/>
          </a:xfrm>
          <a:prstGeom prst="rect">
            <a:avLst/>
          </a:prstGeom>
          <a:gradFill>
            <a:gsLst>
              <a:gs pos="0">
                <a:srgbClr val="677228">
                  <a:alpha val="43921"/>
                </a:srgbClr>
              </a:gs>
              <a:gs pos="100000">
                <a:srgbClr val="5A6423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0"/>
          <p:cNvSpPr txBox="1"/>
          <p:nvPr/>
        </p:nvSpPr>
        <p:spPr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52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0"/>
          <p:cNvSpPr txBox="1"/>
          <p:nvPr/>
        </p:nvSpPr>
        <p:spPr>
          <a:xfrm>
            <a:off x="7315200" y="2438400"/>
            <a:ext cx="1828800" cy="2290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wtri_4c UPDATE_color" id="67" name="Google Shape;67;p9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200" y="5949950"/>
            <a:ext cx="684212" cy="83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masri_thumb" id="68" name="Google Shape;68;p9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9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9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>
            <a:lvl1pPr indent="-33528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9405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  <a:defRPr b="0" i="0" sz="26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90"/>
          <p:cNvSpPr txBox="1"/>
          <p:nvPr>
            <p:ph idx="11" type="ftr"/>
          </p:nvPr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82" name="Google Shape;82;p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lmasri_cov"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2007 </a:t>
            </a:r>
            <a:r>
              <a:rPr b="0" i="0" lang="en-US" sz="9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Ramez Elmasri and Shamkant B. Navathe</a:t>
            </a:r>
            <a:endParaRPr/>
          </a:p>
        </p:txBody>
      </p:sp>
      <p:sp>
        <p:nvSpPr>
          <p:cNvPr descr="Pink tissue paper" id="90" name="Google Shape;90;p2"/>
          <p:cNvSpPr txBox="1"/>
          <p:nvPr>
            <p:ph type="ctrTitle"/>
          </p:nvPr>
        </p:nvSpPr>
        <p:spPr>
          <a:xfrm>
            <a:off x="228600" y="152400"/>
            <a:ext cx="7086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6600"/>
              <a:buFont typeface="Arial"/>
              <a:buNone/>
            </a:pPr>
            <a:r>
              <a:rPr b="0" i="0" lang="en-US" sz="66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Chapter 8</a:t>
            </a:r>
            <a:endParaRPr/>
          </a:p>
        </p:txBody>
      </p:sp>
      <p:sp>
        <p:nvSpPr>
          <p:cNvPr descr="Pink tissue paper" id="91" name="Google Shape;91;p2"/>
          <p:cNvSpPr txBox="1"/>
          <p:nvPr>
            <p:ph idx="1" type="subTitle"/>
          </p:nvPr>
        </p:nvSpPr>
        <p:spPr>
          <a:xfrm>
            <a:off x="304800" y="2590800"/>
            <a:ext cx="66294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SQL-99: SchemaDefinition, Constraints, and Queries and Views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SQL COMMANDS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DEFINITION LANGUAGE (DDL)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MANIPULATION LANGUAGE(DML)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 CONTROL LANGUAGE(DCL)</a:t>
            </a:r>
            <a:endParaRPr/>
          </a:p>
        </p:txBody>
      </p:sp>
      <p:sp>
        <p:nvSpPr>
          <p:cNvPr id="98" name="Google Shape;98;p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5" name="Google Shape;105;p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DDL- Data Definition, Constraints, and Schema Changes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239712" y="15240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CREATE, DROP, and ALTER the descriptions of the tables (relations) of a database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239712" y="1600200"/>
            <a:ext cx="87518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Specifies a new base relation by giving it a name, and specifying each of its attributes and their data types –(INTEGER, FLOAT, DECIMAL(i,j), CHAR(n), VARCHAR(n))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1" i="0" sz="2400" u="non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constraint NOT NULL may be specified on an attribute</a:t>
            </a:r>
            <a:b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DEPARTMENT (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DNAME			VARCHAR(10)	NOT NULL,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b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400" u="non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  );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1" name="Google Shape;121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239712" y="1600200"/>
            <a:ext cx="85994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SQL2, can use the CREATE TABLE command for specifying the primary key attributes, secondary keys, and referential integrity constraints (foreign keys).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attributes can be specified via the PRIMARY KEY and UNIQUE phrases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DEPT (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DNAME			VARCHAR(10)	NOT NULL,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PRIMARY KEY (DNUMBER),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UNIQUE (DNAME),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 (MGRSSN) REFERENCES EMP  );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9" name="Google Shape;129;p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DROP TABLE</a:t>
            </a:r>
            <a:endParaRPr/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remove a relation (base table) and its definition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relation can no longer be used in queries, updates, or any other commands since its description no longer exists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32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DROP TABLE  DEPENDENT;</a:t>
            </a:r>
            <a:br>
              <a:rPr b="1" i="0" lang="en-US" sz="30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7" name="Google Shape;137;p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ALTER TABLE</a:t>
            </a:r>
            <a:endParaRPr/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add an attribute to one of the base relations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new attribute will have NULLs in all the tuples of the relation right after the command is executed; hence, the NOT NULL constraint is not allowed  for such an attribute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600" u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ALTER TABLE EMPLOYEE ADD JOB VARCHAR(12);</a:t>
            </a:r>
            <a:br>
              <a:rPr b="1" i="0" lang="en-US" sz="2600" u="none">
                <a:solidFill>
                  <a:srgbClr val="99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database users must still enter a value for the new attribute JOB for each EMPLOYEE tuple.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75"/>
              <a:buFont typeface="Noto Sans Symbols"/>
              <a:buChar char="■"/>
            </a:pPr>
            <a:r>
              <a:rPr b="0" i="0" lang="en-US" sz="2500" u="none">
                <a:solidFill>
                  <a:srgbClr val="8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can be done using the UPDATE command.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45" name="Google Shape;145;p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Features Added in SQL2 and SQL-99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schema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Referential integrity options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3" name="Google Shape;153;p1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CREATE SCHEMA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Specifies a new database schema by giving it a name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1" name="Google Shape;161;p1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OPTIONS</a:t>
            </a:r>
            <a:endParaRPr/>
          </a:p>
        </p:txBody>
      </p:sp>
      <p:sp>
        <p:nvSpPr>
          <p:cNvPr id="162" name="Google Shape;162;p1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380"/>
              <a:buFont typeface="Noto Sans Symbols"/>
              <a:buChar char="■"/>
            </a:pPr>
            <a:r>
              <a:rPr b="0" i="0" lang="en-US" sz="23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specify RESTRICT, CASCADE, SET NULL or SET DEFAULT on referential integrity constraints (foreign keys)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DEPT (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 DNAME		VARCHAR(10)	NOT NULL,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DNUMBER		INTEGER		NOT NULL,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MGRSSN		CHAR(9),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MGRSTARTDATE	CHAR(9),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PRIMARY KEY (DNUMBER),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UNIQUE (DNAME),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FOREIGN KEY (MGRSSN) REFERENCES EMP</a:t>
            </a:r>
            <a:b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6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ON DELETE SET DEFAULT ON UPDATE CASCADE);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69" name="Google Shape;169;p1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OPTIONS (continued)</a:t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75"/>
              <a:buNone/>
            </a:pP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CREATE TABLE EMP(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ENAME		VARCHAR(30)	NOT NULL,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ESSN		CHAR(9),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BDATE		DATE,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DNO		INTEGER  DEFAULT 1,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SUPERSSN	CHAR(9),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PRIMARY KEY (ESSN),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(DNO) REFERENCES DEPT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	ON DELETE SET DEFAULT ON UPDATE  CASCADE,</a:t>
            </a:r>
            <a:b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500" u="none">
                <a:solidFill>
                  <a:srgbClr val="990033"/>
                </a:solidFill>
                <a:latin typeface="Courier New"/>
                <a:ea typeface="Courier New"/>
                <a:cs typeface="Courier New"/>
                <a:sym typeface="Courier New"/>
              </a:rPr>
              <a:t>FOREIGN KEY (SUPERSSN) REFERENCES EMP ON DELETE SET NULL ON UPDATE CASCADE);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77" name="Google Shape;177;p1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Data Types in SQL2 and SQL-99</a:t>
            </a:r>
            <a:endParaRPr/>
          </a:p>
        </p:txBody>
      </p:sp>
      <p:sp>
        <p:nvSpPr>
          <p:cNvPr id="178" name="Google Shape;178;p1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Has DATE, TIME, and TIMESTAMP data types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year-month-day in the format yyyy-mm-dd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hour:minute:second in the format hh:mm:ss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TIME(i):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Made up of hour:minute:second plus i additional digits specifying fractions of a second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format is hh:mm:ss:ii...i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85" name="Google Shape;185;p1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Additional Data Types in SQL2 and SQL-99 (contd.)</a:t>
            </a:r>
            <a:endParaRPr/>
          </a:p>
        </p:txBody>
      </p:sp>
      <p:sp>
        <p:nvSpPr>
          <p:cNvPr id="186" name="Google Shape;186;p1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TIMESTAMP: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Has both DATE and TIME components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INTERVAL: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Specifies a relative value rather than an absolute value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be DAY/TIME intervals or YEAR/MONTH intervals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Can be positive or negative when added to or subtracted from an absolute value, the result is an absolute value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93" name="Google Shape;193;p1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</a:t>
            </a:r>
            <a:endParaRPr/>
          </a:p>
        </p:txBody>
      </p:sp>
      <p:sp>
        <p:nvSpPr>
          <p:cNvPr id="194" name="Google Shape;194;p1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one basic statement for retrieving information from a database; 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statement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 the same as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the SELECT operation of the relational algebra</a:t>
            </a:r>
            <a:endParaRPr/>
          </a:p>
          <a:p>
            <a:pPr indent="-251459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Important distinction between SQL and the formal relational model: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SQL allows a table (relation) to have two or more tuples that are identical in all their attribute values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an SQL relation (table) is  a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multi-set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(sometimes called a 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) of tuples; it is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 set of tuples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relations can be constrained to be sets by specifying PRIMARY KEY or UNIQUE attributes, or by using the DISTINCT option in a query</a:t>
            </a:r>
            <a:endParaRPr/>
          </a:p>
          <a:p>
            <a:pPr indent="-236220" lvl="0" marL="342900" marR="0" rtl="0" algn="l"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08" name="Google Shape;208;p1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Specifying Updates in SQL</a:t>
            </a:r>
            <a:endParaRPr/>
          </a:p>
        </p:txBody>
      </p:sp>
      <p:sp>
        <p:nvSpPr>
          <p:cNvPr id="209" name="Google Shape;209;p1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three SQL commands to modify the database: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endParaRPr/>
          </a:p>
        </p:txBody>
      </p:sp>
      <p:sp>
        <p:nvSpPr>
          <p:cNvPr id="217" name="Google Shape;217;p1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its simplest form, it is used to add one or more tuples to a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Attribute values should be listed in the same order as the attributes were specified in 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CREATE TABLE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command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24" name="Google Shape;224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U1:	INSERT INTO  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VALUES ('Richard','K','Marini', '653298653', '30-DEC-52',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'98 Oak Forest,Katy,TX', 'M', 37000,'987654321', 4 )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alternate form of INSERT specifies explicitly the attribute names that correspond to the values in the new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Attributes with NULL values can be left out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Insert a tuple for a new EMPLOYEE for whom we only know the FNAME, LNAME, and SSN attributes.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U1A:   INSERT INTO 	EMPLOYEE (FNAME, LNAME, 						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   VALUES ('Richard', 'Marini', '653298653')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32" name="Google Shape;232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33" name="Google Shape;233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Important Note: Only the constraints specified in the DDL commands are automatically enforced by the DBMS when updates are applied to the database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Another variation of INSERT allows insertion of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multiple tuples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resulting from a query into a relation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0" name="Google Shape;240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41" name="Google Shape;241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Suppose we want to create a temporary table that has the name, number of employees, and total salaries for each department.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table DEPTS_INFO is created by U3A, and is loaded with the summary information retrieved from the database by the query in U3B.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U3A:	CREATE TABLE  DEPTS_INFO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(DEPT_NAME		VARCHAR(10),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NO_OF_EMPS		INTEGER,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TOTAL_SAL		INTEGER);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U3B:	INSERT INTO	DEPTS_INFO (DEPT_NAME, 					NO_OF_EMPS, TOTAL_SAL)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SELECT	DNAME, COUNT (*), SUM (SALARY)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DEPARTMENT,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DNUMBER=DNO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DNAME 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48" name="Google Shape;248;p2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INSERT (contd.)</a:t>
            </a:r>
            <a:endParaRPr/>
          </a:p>
        </p:txBody>
      </p:sp>
      <p:sp>
        <p:nvSpPr>
          <p:cNvPr id="249" name="Google Shape;249;p2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 The DEPTS_INFO table may not be up-to-date if we change the tuples in either the DEPARTMENT or the EMPLOYEE relations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issuing U3B. We have to create a view (see later) to keep such a table up to date.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56" name="Google Shape;256;p2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endParaRPr/>
          </a:p>
        </p:txBody>
      </p:sp>
      <p:sp>
        <p:nvSpPr>
          <p:cNvPr id="257" name="Google Shape;257;p2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Removes tuples from a relation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Includes a WHERE-clause to select the tuples to be deleted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Referential integrity should be enforced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Tuples are deleted from only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table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at a time (unless CASCADE is specified on a referential integrity constraint)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missing WHERE-clause specifies that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tuples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in the relation are to be deleted; the table then becomes an empty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number of tuples deleted depends on the number of tuples in the relation that satisfy the WHERE-clause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64" name="Google Shape;264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DELETE (contd.)</a:t>
            </a:r>
            <a:endParaRPr/>
          </a:p>
        </p:txBody>
      </p:sp>
      <p:sp>
        <p:nvSpPr>
          <p:cNvPr id="265" name="Google Shape;265;p2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U4A: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LNAME='Brown’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U4B: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SSN='123456789’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U4C:	DELETE FROM 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	DNO  IN				  			(SELECT	DNUMBER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	DEPARTMENT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							DNAME='Research')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U4D:	DELETE FROM 	EMPLOYEE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72" name="Google Shape;272;p2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Used to modify attribute values of one or more selected tuples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WHERE-clause selects the tuples to be modified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 additional SET-clause specifies the attributes to be modified and their new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command modifies tuples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the same relation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Referential integrity should be enforced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0" name="Google Shape;280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(contd.)</a:t>
            </a:r>
            <a:endParaRPr/>
          </a:p>
        </p:txBody>
      </p:sp>
      <p:sp>
        <p:nvSpPr>
          <p:cNvPr id="281" name="Google Shape;281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Change the location and controlling department number of project number 10 to 'Bellaire' and 5, respectively.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U5:	UPDATE 	PROJECT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SET		PLOCATION = 'Bellaire', 					DNUM = 5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PNUMBER=10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88" name="Google Shape;288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UPDATE (contd.)</a:t>
            </a:r>
            <a:endParaRPr/>
          </a:p>
        </p:txBody>
      </p:sp>
      <p:sp>
        <p:nvSpPr>
          <p:cNvPr id="289" name="Google Shape;289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Give all employees in the 'Research' department a 10% raise in salary.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U6:	UPDATE 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SET		SALARY = SALARY *1.1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DNO  IN (SELECT	DNUMBER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   FROM	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    WHERE</a:t>
            </a:r>
            <a:r>
              <a:rPr lang="en-US" sz="2200"/>
              <a:t> 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DNAME='Research')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this request, the modified SALARY value depends on the original SALARY value in each tuple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reference to the SALARY attribute on the right of = refers to the old SALARY value before modification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reference to the SALARY attribute on the left of = refers to the new SALARY value after modification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 (contd.)</a:t>
            </a:r>
            <a:endParaRPr/>
          </a:p>
        </p:txBody>
      </p:sp>
      <p:sp>
        <p:nvSpPr>
          <p:cNvPr id="297" name="Google Shape;297;p2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form of the SQL SELECT statement is called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a SELECT-FROM-WHERE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block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&lt;table list&gt;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&lt;condition&gt;</a:t>
            </a:r>
            <a:endParaRPr/>
          </a:p>
          <a:p>
            <a:pPr indent="-208915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&lt;attribute list&gt; is a list of attribute names whose values are to be retrieved by the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&lt;table list&gt; is a list of the relation names required to process the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&lt;condition&gt; is a conditional (Boolean) expression that identifies the tuples to be retrieved by the query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04" name="Google Shape;304;p2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Retrieval Queries in SQL (contd.)</a:t>
            </a:r>
            <a:endParaRPr/>
          </a:p>
        </p:txBody>
      </p:sp>
      <p:sp>
        <p:nvSpPr>
          <p:cNvPr id="305" name="Google Shape;305;p2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multi-set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like a set, but an element may appear more than once.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Example: {A, B, C, A} is a bag.  {A, B, C} is also a bag that also is a set.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Bags also resemble lists, but the order is irrelevant in a bag.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{A, B, A} = {B, A, A} as bags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However, [A, B, A] is not equal to [B, A, A] as lists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12" name="Google Shape;312;p3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Relational Database Schema--Figure 5.5  </a:t>
            </a:r>
            <a:endParaRPr/>
          </a:p>
        </p:txBody>
      </p:sp>
      <p:pic>
        <p:nvPicPr>
          <p:cNvPr id="313" name="Google Shape;31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0"/>
            <a:ext cx="8024812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0" name="Google Shape;320;p31"/>
          <p:cNvSpPr txBox="1"/>
          <p:nvPr>
            <p:ph type="title"/>
          </p:nvPr>
        </p:nvSpPr>
        <p:spPr>
          <a:xfrm>
            <a:off x="228600" y="0"/>
            <a:ext cx="7696200" cy="763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Populated Database--Fig.5.6</a:t>
            </a:r>
            <a:endParaRPr/>
          </a:p>
        </p:txBody>
      </p:sp>
      <p:pic>
        <p:nvPicPr>
          <p:cNvPr id="321" name="Google Shape;321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8637"/>
            <a:ext cx="9067800" cy="638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28" name="Google Shape;328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</a:t>
            </a:r>
            <a:endParaRPr/>
          </a:p>
        </p:txBody>
      </p:sp>
      <p:sp>
        <p:nvSpPr>
          <p:cNvPr id="329" name="Google Shape;329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SQL queries correspond to using the following operations of the relational algebra: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SELECT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subsequent examples use the COMPANY database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37" name="Google Shape;337;p3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of a simple query on one  relation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0: Retrieve the birthdate and address of the employee whose name is 'John B. Smith'.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Q0:	SELECT 	BDATE,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FNAME='John' AND MINIT='B’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AND 		LNAME='Smith’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Similar to a SELECT-PROJECT pair of relational algebra operations: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SELECT-clause specifies the projection attributes and the WHERE-clause specifies the selection condition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However, the result of the query may contain  duplicate tuples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44" name="Google Shape;344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45" name="Google Shape;345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1: Retrieve the name and address of all employees who work for the 'Research' department.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DNAME='Research' AND DNUMBER=DNO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Similar to a SELECT-PROJECT-JOIN sequence of relational algebra operations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(DNAME='Research') is a selection condition  (corresponds to a SELECT operation in relational algebra)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(DNUMBER=DNO) is a join condition (corresponds to a JOIN operation in relational algebra)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52" name="Google Shape;352;p3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Simple SQL Queries (contd.)</a:t>
            </a:r>
            <a:endParaRPr/>
          </a:p>
        </p:txBody>
      </p:sp>
      <p:sp>
        <p:nvSpPr>
          <p:cNvPr id="353" name="Google Shape;353;p3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2: For every project located in 'Stafford', list the project number, the controlling department number, and the department manager's last name, address, and birthdate.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 b="0" i="0" sz="20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Q2: SELECT   	PNUMBER, DNUM, LNAME, BDATE, ADDRESS 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		PROJECT, DEPARTMENT,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 	DNUM=DNUMBER AND MGRSSN=SSN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AND PLOCATION='Stafford'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Q2, there are two  join conditions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join condition DNUM=DNUMBER relates a project to its controlling department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join condition MGRSSN=SSN relates the controlling department to the employee who manages that department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0" name="Google Shape;360;p3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Aliases, * and DISTINCT, Empty WHERE-clause</a:t>
            </a:r>
            <a:endParaRPr/>
          </a:p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SQL, we can use the same name for two (or more) attributes as long as the attributes are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relations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that refers to two or more attributes with the same name must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qualify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attribute name with the relation name by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prefixing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 relation name to the attribute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EMPLOYEE.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LNAME, </a:t>
            </a:r>
            <a:r>
              <a:rPr b="1" i="0" lang="en-US" sz="28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DEPARTMENT.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DNAME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endParaRPr/>
          </a:p>
        </p:txBody>
      </p:sp>
      <p:sp>
        <p:nvSpPr>
          <p:cNvPr id="369" name="Google Shape;369;p3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queries need to refer to the same relation twice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this case,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are given to the relation name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8: For each employee, retrieve the employee's name, and the name of his or her immediate supervisor.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FROM 		EMPLOYEE </a:t>
            </a:r>
            <a:r>
              <a:rPr b="0" i="0" lang="en-US" sz="20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WHERE	E.SUPERSSN=S.SSN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Q8, the alternate relation names E and S are called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tuple variables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for the EMPLOYEE relation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think of E and S as two different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copies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EMPLOYEE; E represents employees in role of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supervisees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and S represents employees in role of </a:t>
            </a:r>
            <a:r>
              <a:rPr b="0" i="1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supervisors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76" name="Google Shape;376;p3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ALIASES (contd.)</a:t>
            </a:r>
            <a:endParaRPr/>
          </a:p>
        </p:txBody>
      </p:sp>
      <p:sp>
        <p:nvSpPr>
          <p:cNvPr id="377" name="Google Shape;377;p3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Aliasing can also be used in any SQL query for convenience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also use the AS keyword to specify aliases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					S.FNAME, S.LNAME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 	EMPLOYEE AS E, 					EMPLOYEE AS S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E.SUPERSSN=S.SSN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84" name="Google Shape;384;p3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UNSPECIFIED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WHERE-clause</a:t>
            </a:r>
            <a:endParaRPr/>
          </a:p>
        </p:txBody>
      </p:sp>
      <p:sp>
        <p:nvSpPr>
          <p:cNvPr id="385" name="Google Shape;385;p3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missing WHERE-clause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indicates no condition; hence, all tuples of the relations in the FROM-clause are selected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is equivalent to the condition WHERE TRUE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9: Retrieve the SSN values for all employees.</a:t>
            </a:r>
            <a:endParaRPr/>
          </a:p>
          <a:p>
            <a:pPr indent="-208915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Q9:	SELECT 	SSN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more than one relation is specified in the FROM-clause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there is no join condition, then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CARTESIAN PRODUCT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tuples is selected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392" name="Google Shape;392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UNSPECIFIED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WHERE-clause (contd.)</a:t>
            </a:r>
            <a:endParaRPr/>
          </a:p>
        </p:txBody>
      </p:sp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Q10:	SELECT	SSN, DNAME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EMPLOYEE, DEPARTMENT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It is extremely important not to overlook specifying any selection and join conditions in the WHERE-clause; otherwise, incorrect and very large relations may result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0" name="Google Shape;400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 OF *</a:t>
            </a:r>
            <a:endParaRPr/>
          </a:p>
        </p:txBody>
      </p:sp>
      <p:sp>
        <p:nvSpPr>
          <p:cNvPr id="401" name="Google Shape;401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retrieve all the attribute values of the selected tuples, a * is used, which stands for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the attributes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Q1C:	SELECT 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DNO=5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Q1D:	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DNAME='Research' AND 					DNO=DNUMBER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08" name="Google Shape;408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USE OF DISTINCT</a:t>
            </a:r>
            <a:endParaRPr/>
          </a:p>
        </p:txBody>
      </p:sp>
      <p:sp>
        <p:nvSpPr>
          <p:cNvPr id="409" name="Google Shape;409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does not treat a relation as a set; duplicate tuples can appear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 eliminate duplicate tuples in a query result, the keyword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used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For example, the result of Q11 may have duplicate SALARY values whereas Q11A does not have any duplicate values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Q11:	SELECT 	SALARY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Q11A: 	SELECT 	</a:t>
            </a: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DISTINCT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SALARY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16" name="Google Shape;416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17" name="Google Shape;417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directly incorporated some set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is a union operation (UNION), and in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versions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SQL there are set difference (MINUS) and intersection (INTERSECT) operations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resulting relations of these set operations are sets of tuples;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duplicate tuples are eliminated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the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operations apply only to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 compatible relations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; the two relations must have the same attributes and the attributes must appear in the same order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24" name="Google Shape;424;p4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 (contd.) </a:t>
            </a:r>
            <a:endParaRPr/>
          </a:p>
        </p:txBody>
      </p:sp>
      <p:sp>
        <p:nvSpPr>
          <p:cNvPr id="425" name="Google Shape;425;p4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4: Make a list of all project numbers for projects that involve an employee whose last name is 'Smith' as a worker or as a manager of the department that controls the project.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Q4:		(SELECT 	PNAME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DEPARTMENT, 						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DNUM=DNUMBER AND 					MGRSSN=SSN AND LNAME='Smith')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UNION	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(SELECT  	PNAME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WORKS_ON, EMPLOYEE</a:t>
            </a:r>
            <a:b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 AND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ESSN=SSN AND NAME='Smith')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228600" y="-619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31" name="Google Shape;431;p45"/>
          <p:cNvSpPr txBox="1"/>
          <p:nvPr>
            <p:ph idx="1" type="body"/>
          </p:nvPr>
        </p:nvSpPr>
        <p:spPr>
          <a:xfrm>
            <a:off x="0" y="1095375"/>
            <a:ext cx="9296400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set operations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union, intersect,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operate on relations and correspond to the relational algebra operations ∪, ∩, −.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of the above operations automatically eliminates duplicates; to retain all duplicates use multiset versions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union all, intersect all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except all.</a:t>
            </a:r>
            <a:b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Suppose a tuple occurs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times in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s,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then, it occurs: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 </a:t>
            </a:r>
            <a:r>
              <a:rPr b="0" baseline="-2500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+ n 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union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min(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m,n)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intersect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max(0,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 – n)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times in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except all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/>
          <p:nvPr>
            <p:ph type="title"/>
          </p:nvPr>
        </p:nvSpPr>
        <p:spPr>
          <a:xfrm>
            <a:off x="552450" y="381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Set Operations</a:t>
            </a:r>
            <a:endParaRPr/>
          </a:p>
        </p:txBody>
      </p:sp>
      <p:sp>
        <p:nvSpPr>
          <p:cNvPr id="437" name="Google Shape;437;p46"/>
          <p:cNvSpPr txBox="1"/>
          <p:nvPr>
            <p:ph idx="1" type="body"/>
          </p:nvPr>
        </p:nvSpPr>
        <p:spPr>
          <a:xfrm>
            <a:off x="0" y="396875"/>
            <a:ext cx="9144000" cy="71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bank has Tables  - Depositor,  Borrower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all customers who have a loan, an account, or both:</a:t>
            </a:r>
            <a:endParaRPr/>
          </a:p>
        </p:txBody>
      </p:sp>
      <p:sp>
        <p:nvSpPr>
          <p:cNvPr id="438" name="Google Shape;438;p46"/>
          <p:cNvSpPr txBox="1"/>
          <p:nvPr/>
        </p:nvSpPr>
        <p:spPr>
          <a:xfrm>
            <a:off x="1574800" y="4706937"/>
            <a:ext cx="6227762" cy="1109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except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9" name="Google Shape;439;p46"/>
          <p:cNvSpPr txBox="1"/>
          <p:nvPr/>
        </p:nvSpPr>
        <p:spPr>
          <a:xfrm>
            <a:off x="1619250" y="3136900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intersect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440" name="Google Shape;440;p46"/>
          <p:cNvSpPr txBox="1"/>
          <p:nvPr/>
        </p:nvSpPr>
        <p:spPr>
          <a:xfrm>
            <a:off x="742950" y="4222750"/>
            <a:ext cx="658495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an account but no loan.	</a:t>
            </a:r>
            <a:endParaRPr/>
          </a:p>
        </p:txBody>
      </p:sp>
      <p:sp>
        <p:nvSpPr>
          <p:cNvPr id="441" name="Google Shape;441;p46"/>
          <p:cNvSpPr txBox="1"/>
          <p:nvPr/>
        </p:nvSpPr>
        <p:spPr>
          <a:xfrm>
            <a:off x="1585912" y="1560512"/>
            <a:ext cx="4260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union</a:t>
            </a:r>
            <a:b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(select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borrower)</a:t>
            </a:r>
            <a:endParaRPr/>
          </a:p>
        </p:txBody>
      </p:sp>
      <p:sp>
        <p:nvSpPr>
          <p:cNvPr id="442" name="Google Shape;442;p46"/>
          <p:cNvSpPr txBox="1"/>
          <p:nvPr/>
        </p:nvSpPr>
        <p:spPr>
          <a:xfrm>
            <a:off x="742950" y="2678112"/>
            <a:ext cx="62468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Find all customers who have both a loan and an account.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448" name="Google Shape;448;p47"/>
          <p:cNvSpPr txBox="1"/>
          <p:nvPr>
            <p:ph idx="1" type="body"/>
          </p:nvPr>
        </p:nvSpPr>
        <p:spPr>
          <a:xfrm>
            <a:off x="381000" y="2209800"/>
            <a:ext cx="8610600" cy="3897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These functions operate on the multiset of values of a column of a relation, and return a value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avg: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average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minimum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maximum value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 of values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count:  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number of values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8"/>
          <p:cNvSpPr txBox="1"/>
          <p:nvPr>
            <p:ph type="title"/>
          </p:nvPr>
        </p:nvSpPr>
        <p:spPr>
          <a:xfrm>
            <a:off x="228600" y="303212"/>
            <a:ext cx="7796212" cy="439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(Cont.)</a:t>
            </a:r>
            <a:endParaRPr/>
          </a:p>
        </p:txBody>
      </p:sp>
      <p:sp>
        <p:nvSpPr>
          <p:cNvPr id="454" name="Google Shape;454;p48"/>
          <p:cNvSpPr txBox="1"/>
          <p:nvPr>
            <p:ph idx="1" type="body"/>
          </p:nvPr>
        </p:nvSpPr>
        <p:spPr>
          <a:xfrm>
            <a:off x="76200" y="1108075"/>
            <a:ext cx="8915400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average account balance at the Perryridge branch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55" name="Google Shape;455;p48"/>
          <p:cNvSpPr txBox="1"/>
          <p:nvPr/>
        </p:nvSpPr>
        <p:spPr>
          <a:xfrm>
            <a:off x="746125" y="4214812"/>
            <a:ext cx="4811712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depositors in the bank.</a:t>
            </a:r>
            <a:endParaRPr/>
          </a:p>
        </p:txBody>
      </p:sp>
      <p:sp>
        <p:nvSpPr>
          <p:cNvPr id="456" name="Google Shape;456;p48"/>
          <p:cNvSpPr txBox="1"/>
          <p:nvPr/>
        </p:nvSpPr>
        <p:spPr>
          <a:xfrm>
            <a:off x="758825" y="2813050"/>
            <a:ext cx="7042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0287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Arial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Find the number of tuples in the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relation.</a:t>
            </a:r>
            <a:endParaRPr/>
          </a:p>
        </p:txBody>
      </p:sp>
      <p:sp>
        <p:nvSpPr>
          <p:cNvPr id="457" name="Google Shape;457;p48"/>
          <p:cNvSpPr txBox="1"/>
          <p:nvPr/>
        </p:nvSpPr>
        <p:spPr>
          <a:xfrm>
            <a:off x="1966912" y="1660525"/>
            <a:ext cx="4683125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(balance)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 =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'Perryridge' </a:t>
            </a:r>
            <a:endParaRPr/>
          </a:p>
        </p:txBody>
      </p:sp>
      <p:sp>
        <p:nvSpPr>
          <p:cNvPr id="458" name="Google Shape;458;p48"/>
          <p:cNvSpPr txBox="1"/>
          <p:nvPr/>
        </p:nvSpPr>
        <p:spPr>
          <a:xfrm>
            <a:off x="2047875" y="3341687"/>
            <a:ext cx="26098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(*)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</a:t>
            </a:r>
            <a:endParaRPr/>
          </a:p>
        </p:txBody>
      </p:sp>
      <p:sp>
        <p:nvSpPr>
          <p:cNvPr id="459" name="Google Shape;459;p48"/>
          <p:cNvSpPr txBox="1"/>
          <p:nvPr/>
        </p:nvSpPr>
        <p:spPr>
          <a:xfrm>
            <a:off x="2068512" y="4724400"/>
            <a:ext cx="42481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count (distinct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– Group By</a:t>
            </a:r>
            <a:endParaRPr/>
          </a:p>
        </p:txBody>
      </p:sp>
      <p:sp>
        <p:nvSpPr>
          <p:cNvPr id="465" name="Google Shape;465;p49"/>
          <p:cNvSpPr txBox="1"/>
          <p:nvPr>
            <p:ph idx="1" type="body"/>
          </p:nvPr>
        </p:nvSpPr>
        <p:spPr>
          <a:xfrm>
            <a:off x="760412" y="1160462"/>
            <a:ext cx="8070850" cy="471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number of depositors for each branch.</a:t>
            </a:r>
            <a:endParaRPr/>
          </a:p>
        </p:txBody>
      </p:sp>
      <p:sp>
        <p:nvSpPr>
          <p:cNvPr id="466" name="Google Shape;466;p49"/>
          <p:cNvSpPr txBox="1"/>
          <p:nvPr/>
        </p:nvSpPr>
        <p:spPr>
          <a:xfrm>
            <a:off x="915987" y="3503612"/>
            <a:ext cx="7986712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Attributes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clause outside of aggregate functions must        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appear in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list</a:t>
            </a:r>
            <a:endParaRPr/>
          </a:p>
        </p:txBody>
      </p:sp>
      <p:sp>
        <p:nvSpPr>
          <p:cNvPr id="467" name="Google Shape;467;p49"/>
          <p:cNvSpPr txBox="1"/>
          <p:nvPr/>
        </p:nvSpPr>
        <p:spPr>
          <a:xfrm>
            <a:off x="1008062" y="1758950"/>
            <a:ext cx="7842250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count (distinct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customer_name)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depositor,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depositor.account_number = account.account_number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 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branch_name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5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RESULT(SEATNO, NAME, BRANCH,)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 *, MAX  (ATTEMPTS)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 RESULT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1"/>
          <p:cNvSpPr txBox="1"/>
          <p:nvPr>
            <p:ph type="title"/>
          </p:nvPr>
        </p:nvSpPr>
        <p:spPr>
          <a:xfrm>
            <a:off x="923925" y="33337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– Having Clause</a:t>
            </a:r>
            <a:endParaRPr/>
          </a:p>
        </p:txBody>
      </p:sp>
      <p:sp>
        <p:nvSpPr>
          <p:cNvPr id="479" name="Google Shape;479;p51"/>
          <p:cNvSpPr txBox="1"/>
          <p:nvPr>
            <p:ph idx="1" type="body"/>
          </p:nvPr>
        </p:nvSpPr>
        <p:spPr>
          <a:xfrm>
            <a:off x="0" y="1284287"/>
            <a:ext cx="9296400" cy="773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Find the names of all branches where the average account balance is more than $1,200.</a:t>
            </a:r>
            <a:endParaRPr/>
          </a:p>
        </p:txBody>
      </p:sp>
      <p:sp>
        <p:nvSpPr>
          <p:cNvPr id="480" name="Google Shape;480;p51"/>
          <p:cNvSpPr txBox="1"/>
          <p:nvPr/>
        </p:nvSpPr>
        <p:spPr>
          <a:xfrm>
            <a:off x="658812" y="3659187"/>
            <a:ext cx="7659687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None/>
            </a:pPr>
            <a:r>
              <a:rPr b="0" i="0" lang="en-US" sz="1800" u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clause are applied after the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formation of groups whereas predicates in the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      clause are applied before forming groups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81" name="Google Shape;481;p51"/>
          <p:cNvSpPr txBox="1"/>
          <p:nvPr/>
        </p:nvSpPr>
        <p:spPr>
          <a:xfrm>
            <a:off x="1677987" y="2114550"/>
            <a:ext cx="5616575" cy="1190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branch_name,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avg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account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branch_name</a:t>
            </a:r>
            <a:b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     </a:t>
            </a:r>
            <a:r>
              <a:rPr b="1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having avg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balance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b="0" i="1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&gt; </a:t>
            </a:r>
            <a:r>
              <a:rPr b="0" i="0" lang="en-US" sz="1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1200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88" name="Google Shape;488;p5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NESTING OF QUERIES</a:t>
            </a:r>
            <a:endParaRPr/>
          </a:p>
        </p:txBody>
      </p:sp>
      <p:sp>
        <p:nvSpPr>
          <p:cNvPr id="489" name="Google Shape;489;p5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complete SELECT query, called a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nested query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can be specified within the WHERE-clause of another query, called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outer query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Many of the previous queries can be specified in an alternative form using nesting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1: Retrieve the name and address of all employees who work for the 'Research' department.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DNO IN 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     (SELECT  DNUMBER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	FROM		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            WHERE 	DNAME='Research' 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96" name="Google Shape;496;p5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NESTING OF QUERIES (contd.)</a:t>
            </a:r>
            <a:endParaRPr/>
          </a:p>
        </p:txBody>
      </p:sp>
      <p:sp>
        <p:nvSpPr>
          <p:cNvPr id="497" name="Google Shape;497;p5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nested query selects the number of the 'Research' department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outer query select an EMPLOYEE tuple if its DNO value is in the result of either nested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comparison operator IN compares a value v with a set (or multi-set) of values V, and evaluates to TRUE if v is one of the elements in V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general, we can have several levels of nested queries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reference to an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unqualified attribute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refers to the relation declared in the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innermost nested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this example, the nested query is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correlated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the outer query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04" name="Google Shape;504;p5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</a:t>
            </a:r>
            <a:endParaRPr/>
          </a:p>
        </p:txBody>
      </p:sp>
      <p:sp>
        <p:nvSpPr>
          <p:cNvPr id="505" name="Google Shape;505;p5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condition in the WHERE-clause of a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nested query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references an attribute of a relation declared in the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outer query</a:t>
            </a: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the two queries are said to be </a:t>
            </a:r>
            <a:r>
              <a:rPr b="0" i="1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correlated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result of a correlated nested query is different for each tuple (or combination of tuples) of the relation(s) the outer query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12: Retrieve the name of each employee who has a dependent with the same first name as the employee.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Q12: SELECT  	E.FNAME, E.LNAME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FROM		EMPLOYEE AS E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WHERE	E.SSN IN 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(SELECT 	ESSN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FROM		DEPENDENT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	WHERE	ESSN=E.SSN AND</a:t>
            </a:r>
            <a:b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	 	E.FNAME=DEPENDENT_NAME)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12" name="Google Shape;512;p5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13" name="Google Shape;513;p5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Q12, the nested query has a different result in the outer query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written with nested SELECT... FROM... WHERE... blocks and using the = or IN comparison operators can </a:t>
            </a:r>
            <a:r>
              <a:rPr b="1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always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 expressed as a single block query. For example, Q12 may be written as in Q12A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Q12A:	SELECT 	E.FNAME, E.LNAME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 E, DEPENDENT D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E.SSN=D.ESSN AND						E.FNAME=D.DEPENDENT_NAME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0" name="Google Shape;520;p5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21" name="Google Shape;521;p5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original SQL as specified for SYSTEM R also had a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CONTAINS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comparison operator, which is used in conjunction with nested correlated queries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This operator was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dropped from the language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possibly because of the difficulty in implementing it efficiently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Most implementations of SQL do not  have this operator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CONTAINS operator compares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two sets of values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and returns TRUE if one set contains all values in the other set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Reminiscent of the division operation of algebra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28" name="Google Shape;528;p5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29" name="Google Shape;529;p5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3: Retrieve the name of each employee who works on all  the projects controlled by department number 5.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Q3:	SELECT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  ( 	(SELECT	PNO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FROM		WORKS_ON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WHERE	SSN=ESSN)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	CONTAINS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		(SELECT	PNUMBER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FROM		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  		WHERE	DNUM=5) )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36" name="Google Shape;536;p5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CORRELATED NESTED QUERIES (contd.)</a:t>
            </a:r>
            <a:endParaRPr/>
          </a:p>
        </p:txBody>
      </p:sp>
      <p:sp>
        <p:nvSpPr>
          <p:cNvPr id="537" name="Google Shape;537;p5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Q3, the second nested query, which is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 correlated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the outer query, retrieves the project numbers of all projects controlled by department 5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first nested query, which is correlated, retrieves the project numbers on which the employee works, which is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different for each employee tuple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because of the correlation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44" name="Google Shape;544;p5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</a:t>
            </a:r>
            <a:endParaRPr/>
          </a:p>
        </p:txBody>
      </p:sp>
      <p:sp>
        <p:nvSpPr>
          <p:cNvPr id="545" name="Google Shape;545;p5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EXISTS is used to check whether the result of a correlated nested query is empty (contains no tuples) or not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can formulate Query 12 in an alternative form that uses EXISTS as Q12B</a:t>
            </a:r>
            <a:endParaRPr/>
          </a:p>
          <a:p>
            <a:pPr indent="-243840" lvl="0" marL="342900" rtl="0" algn="l">
              <a:spcBef>
                <a:spcPts val="520"/>
              </a:spcBef>
              <a:spcAft>
                <a:spcPts val="0"/>
              </a:spcAft>
              <a:buSzPts val="1560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52" name="Google Shape;552;p6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 (contd.)</a:t>
            </a:r>
            <a:endParaRPr/>
          </a:p>
        </p:txBody>
      </p:sp>
      <p:sp>
        <p:nvSpPr>
          <p:cNvPr id="553" name="Google Shape;553;p6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12: Retrieve the name of each employee who has a dependent with the same first name as the employee.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Q12B: 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EXISTS  (SELECT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		DEPENDENT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	SSN=ESSN 						AND 							FNAME=DEPENDENT_NAME)</a:t>
            </a:r>
            <a:endParaRPr/>
          </a:p>
          <a:p>
            <a:pPr indent="-259080" lvl="0" marL="342900" rtl="0" algn="l">
              <a:spcBef>
                <a:spcPts val="440"/>
              </a:spcBef>
              <a:spcAft>
                <a:spcPts val="0"/>
              </a:spcAft>
              <a:buSzPts val="132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0" name="Google Shape;560;p6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EXISTS FUNCTION (contd.)</a:t>
            </a:r>
            <a:endParaRPr/>
          </a:p>
        </p:txBody>
      </p:sp>
      <p:sp>
        <p:nvSpPr>
          <p:cNvPr id="561" name="Google Shape;561;p6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6: Retrieve the names of employees who have no dependents.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Q6: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NOT EXISTS   (SELECT	*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FROM  	DEPENDENT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			WHERE 	SSN=ESSN)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Q6, the correlated nested query retrieves all DEPENDENT tuples related to an EMPLOYEE tuple. If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none exist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the EMPLOYEE tuple is selected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EXISTS is necessary for the expressive power of SQL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68" name="Google Shape;568;p6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EXPLICIT SETS</a:t>
            </a:r>
            <a:endParaRPr/>
          </a:p>
        </p:txBody>
      </p:sp>
      <p:sp>
        <p:nvSpPr>
          <p:cNvPr id="569" name="Google Shape;569;p6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also possible to use an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explicit (enumerated) set of values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 WHERE-clause rather than a nested query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13: Retrieve the social security numbers of all employees who work on project number 1, 2, or 3.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Q13:	SELECT  	DISTINCT ESSN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WORKS_ON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PNO IN  (1, 2, 3)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76" name="Google Shape;576;p6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NULLS IN SQL QUERIES</a:t>
            </a:r>
            <a:endParaRPr/>
          </a:p>
        </p:txBody>
      </p:sp>
      <p:sp>
        <p:nvSpPr>
          <p:cNvPr id="577" name="Google Shape;577;p6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allows queries that check if a value is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(missing or undefined or not applicable)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uses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NOT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to compare NULLs because it considers each NULL value distinct from other NULL values, so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equality comparison is not appropriate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14: Retrieve the names of all employees who do not have supervisors.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Q14:	SELECT 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SUPERSSN  IS  NULL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Note: If a join condition is specified, tuples with NULL values for the join attributes are not included in the result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84" name="Google Shape;584;p6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</a:t>
            </a:r>
            <a:endParaRPr/>
          </a:p>
        </p:txBody>
      </p:sp>
      <p:sp>
        <p:nvSpPr>
          <p:cNvPr id="585" name="Google Shape;585;p6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specify a "joined relation" in the FROM-clause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Looks like any other relation but is the result of a join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Allows the user to specify different types of joins (regular "theta" JOIN, NATURAL JOIN, LEFT OUTER JOIN, RIGHT OUTER JOIN, CROSS JOIN, etc)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592" name="Google Shape;592;p6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593" name="Google Shape;593;p6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EMPLOYEE  as E 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E.SUPERSSN=S.SSN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 be written as: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Q8:	SELECT	E.FNAME, E.LNAME, S.FNAME, S.LNAME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E LEFT OUTER JOIN 				EMPLOYEES ON  E.SUPERSSN=S.SSN)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6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0" name="Google Shape;600;p6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601" name="Google Shape;601;p6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DNAME='Research' AND DNUMBER=DNO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could be written as: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JOIN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	ON DNUMBER=DNO)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DNAME='Research’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as: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Q1:	SELECT	FNAME, LNAME, ADDRESS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FROM 		(EMPLOYEE NATURAL JOIN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 	AS DEPT(DNAME, DNO, MSSN, MSDATE)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WHERE	DNAME='Research’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08" name="Google Shape;608;p6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Joined Relations Feature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SQL2 (contd.)</a:t>
            </a:r>
            <a:endParaRPr/>
          </a:p>
        </p:txBody>
      </p:sp>
      <p:sp>
        <p:nvSpPr>
          <p:cNvPr id="609" name="Google Shape;609;p6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Another Example: Q2 could be written as follows; this illustrates multiple joins in the joined tables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Q2:	SELECT 	PNUMBER, DNUM, LNAME, 					BDATE, ADDRESS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(PROJECT JOIN 						DEPARTMENT ON 					DNUM=DNUMBER) JOIN 					EMPLOYEE ON 						MGRSSN=SSN) 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 	PLOCATION='Stafford’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6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6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6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6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23" name="Google Shape;623;p6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</a:t>
            </a:r>
            <a:endParaRPr/>
          </a:p>
        </p:txBody>
      </p:sp>
      <p:sp>
        <p:nvSpPr>
          <p:cNvPr id="624" name="Google Shape;624;p69"/>
          <p:cNvSpPr txBox="1"/>
          <p:nvPr>
            <p:ph idx="1" type="body"/>
          </p:nvPr>
        </p:nvSpPr>
        <p:spPr>
          <a:xfrm>
            <a:off x="239712" y="1600200"/>
            <a:ext cx="829468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Include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COUNT, SUM, MAX, MIN, and AVG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15: Find the maximum salary, the minimum salary, and the average salary among all employees.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Q15:	SELECT  	MAX(SALARY), 						MIN(SALARY), AVG(SALARY)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 SQL implementations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may not allow more than one function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the SELECT-clause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7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38" name="Google Shape;638;p7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(contd.)</a:t>
            </a:r>
            <a:endParaRPr/>
          </a:p>
        </p:txBody>
      </p:sp>
      <p:sp>
        <p:nvSpPr>
          <p:cNvPr id="639" name="Google Shape;639;p71"/>
          <p:cNvSpPr txBox="1"/>
          <p:nvPr>
            <p:ph idx="1" type="body"/>
          </p:nvPr>
        </p:nvSpPr>
        <p:spPr>
          <a:xfrm>
            <a:off x="0" y="1447800"/>
            <a:ext cx="85344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16: Find the maximum salary, the minimum salary, and the average salary among employees who work for the 'Research' department.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Q16: 	SELECT 	MAX(SALARY), 						MIN(SALARY), AVG(SALARY)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EMPLOYEE, DEPARTMENT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DNO=DNUMBER AND 					DNAME='Research'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46" name="Google Shape;646;p7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AGGREGATE FUNCTIONS (contd.)</a:t>
            </a:r>
            <a:endParaRPr/>
          </a:p>
        </p:txBody>
      </p:sp>
      <p:sp>
        <p:nvSpPr>
          <p:cNvPr id="647" name="Google Shape;647;p7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Queries 17 and 18: Retrieve the total number of employees in the company (Q17), and the number of employees in the 'Research' department (Q18).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Q17:	SELECT  	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t/>
            </a:r>
            <a:endParaRPr b="0" i="0" sz="22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Q18:	SELECT  	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DEPARTMENT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DNO=DNUMBER AND 					DNAME='Research’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54" name="Google Shape;654;p7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</a:t>
            </a:r>
            <a:endParaRPr/>
          </a:p>
        </p:txBody>
      </p:sp>
      <p:sp>
        <p:nvSpPr>
          <p:cNvPr id="655" name="Google Shape;655;p73"/>
          <p:cNvSpPr txBox="1"/>
          <p:nvPr>
            <p:ph idx="1" type="body"/>
          </p:nvPr>
        </p:nvSpPr>
        <p:spPr>
          <a:xfrm>
            <a:off x="0" y="1371600"/>
            <a:ext cx="88392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 many cases, we want to apply the aggregate functions to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subgroups of tuples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a relation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subgroup of tuples consists of the set of tuples that have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same value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for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grouping attribute(s)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function is applied to each subgroup independently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SQL has 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 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-clause for specifying the grouping attributes, which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must also appear in the SELECT-clause</a:t>
            </a:r>
            <a:endParaRPr/>
          </a:p>
          <a:p>
            <a:pPr indent="-236220" lvl="0" marL="342900" rtl="0" algn="l"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62" name="Google Shape;662;p7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 (contd.)</a:t>
            </a:r>
            <a:endParaRPr/>
          </a:p>
        </p:txBody>
      </p:sp>
      <p:sp>
        <p:nvSpPr>
          <p:cNvPr id="663" name="Google Shape;663;p7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20: For each department, retrieve the department number, the number of employees in the department, and their average salary.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Q20:	SELECT 	</a:t>
            </a:r>
            <a:r>
              <a:rPr b="0" i="0" lang="en-US" sz="22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DNO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COUNT (*), AVG (SALARY)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</a:t>
            </a:r>
            <a:r>
              <a:rPr b="0" i="0" lang="en-US" sz="2200" u="none">
                <a:solidFill>
                  <a:srgbClr val="4F571F"/>
                </a:solidFill>
                <a:latin typeface="Arial"/>
                <a:ea typeface="Arial"/>
                <a:cs typeface="Arial"/>
                <a:sym typeface="Arial"/>
              </a:rPr>
              <a:t>DNO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Q20, the EMPLOYEE tuples are divided into groups-</a:t>
            </a:r>
            <a:endParaRPr/>
          </a:p>
          <a:p>
            <a:pPr indent="-228600" lvl="2" marL="11430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group having the same value for the grouping attribute DNO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7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7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sz="28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7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1" name="Google Shape;671;p75"/>
          <p:cNvSpPr txBox="1"/>
          <p:nvPr/>
        </p:nvSpPr>
        <p:spPr>
          <a:xfrm>
            <a:off x="228600" y="2163762"/>
            <a:ext cx="8610600" cy="4032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COUNT and AVG functions are applied to each such group of tuples separately</a:t>
            </a:r>
            <a:endParaRPr/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SELECT-clause includes only the </a:t>
            </a:r>
            <a:endParaRPr/>
          </a:p>
          <a:p>
            <a:pPr indent="-2540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grouping attribute and the functions to be applied on each group of tuples</a:t>
            </a:r>
            <a:endParaRPr/>
          </a:p>
          <a:p>
            <a:pPr indent="-2540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join condition can be used in conjunction with grouping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7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78" name="Google Shape;678;p7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GROUPING (contd.)</a:t>
            </a:r>
            <a:endParaRPr/>
          </a:p>
        </p:txBody>
      </p:sp>
      <p:sp>
        <p:nvSpPr>
          <p:cNvPr id="679" name="Google Shape;679;p7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21: For each project, retrieve the project number, project name, and the number of employees who work on that project.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Q21:	SELECT 	PNUMBER, PNAME, COUNT (*)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PROJECT, WORKS_ON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PNUMBER, PNAME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this case, the grouping and functions are applied after  the joining of the two relations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86" name="Google Shape;686;p7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HAVING-CLAUSE</a:t>
            </a:r>
            <a:endParaRPr/>
          </a:p>
        </p:txBody>
      </p:sp>
      <p:sp>
        <p:nvSpPr>
          <p:cNvPr id="687" name="Google Shape;687;p7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Sometimes we want to retrieve the values of these functions for only those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groups that satisfy certain conditions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-clause is used for specifying a selection condition on groups (rather than on individual tuples)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694" name="Google Shape;694;p7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HAVING-CLAUSE (contd.)</a:t>
            </a:r>
            <a:endParaRPr/>
          </a:p>
        </p:txBody>
      </p:sp>
      <p:sp>
        <p:nvSpPr>
          <p:cNvPr id="695" name="Google Shape;695;p78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22: For each project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on which more than two employees work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retrieve the project number, project name, and the number of employees who work on that project.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Q22:     	SELECT 	PNUMBER, PNAME, 					COUNT(*)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PROJECT, WORKS_ON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PNUMBER=PNO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GROUP BY	PNUMBER, PNAME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HAVING	COUNT (*) &gt; 2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02" name="Google Shape;702;p7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</a:t>
            </a:r>
            <a:endParaRPr/>
          </a:p>
        </p:txBody>
      </p:sp>
      <p:sp>
        <p:nvSpPr>
          <p:cNvPr id="703" name="Google Shape;703;p79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LIKE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comparison operator is used to compare partial strings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reserved characters are used: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(or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in some implementations) replaces an arbitrary number of characters, and '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 replaces a single arbitrary character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0" name="Google Shape;710;p8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 (contd.)</a:t>
            </a:r>
            <a:endParaRPr/>
          </a:p>
        </p:txBody>
      </p:sp>
      <p:sp>
        <p:nvSpPr>
          <p:cNvPr id="711" name="Google Shape;711;p8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25:  Retrieve all employees whose address is in Houston, Texas. Here, the value of the ADDRESS attribute must contain the substring 'Houston,TX‘ in it.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Q25:	SELECT 	FNAME, LNAME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EMPLOYEE</a:t>
            </a:r>
            <a:b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ADDRESS LIKE 						'%Houston,TX%'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8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18" name="Google Shape;718;p8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SUBSTRING COMPARISON (contd.)</a:t>
            </a:r>
            <a:endParaRPr/>
          </a:p>
        </p:txBody>
      </p:sp>
      <p:sp>
        <p:nvSpPr>
          <p:cNvPr id="719" name="Google Shape;719;p8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26: Retrieve all employees who were born during the 1950s.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Here, '5' must be the 7th character of the string (according to our format for date), so the BDATE value is '_______5_', with each underscore as a place holder for a single arbitrary character.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Q26:	SELECT 	FNAME, LNAME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BDATE LIKE	'_______5_’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LIKE operator allows us to get around the fact that each value is considered atomic and indivisible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Hence, in SQL, character string attribute values are not atomic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8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26" name="Google Shape;726;p8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727" name="Google Shape;727;p8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standard arithmetic operators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'+', '-'. '*', and '/'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(for addition, subtraction, multiplication, and division, respectively) can be applied to numeric values in an SQL query result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27: Show the effect of giving all employees who work on the 'ProductX' project a 10% raise.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Q27:	SELECT 	FNAME, LNAME, 1.1*SALARY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FROM		EMPLOYEE, WORKS_ON, 					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SSN=ESSN AND PNO=PNUMBER 					AND PNAME='ProductX’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8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34" name="Google Shape;734;p8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endParaRPr/>
          </a:p>
        </p:txBody>
      </p:sp>
      <p:sp>
        <p:nvSpPr>
          <p:cNvPr id="735" name="Google Shape;735;p8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clause is used to sort the tuples in a query result based on the values of some attribute(s)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Query 28: Retrieve a list of employees and the projects each works in, ordered by the employee's department, and within each department ordered alphabetically by employee last name.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Q28: 	SELECT 	DNAME, LNAME, FNAME, PNAME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     	FROM 		DEPARTMENT, EMPLOYEE, 					WORKS_ON, PROJECT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WHERE	DNUMBER=DNO AND SSN=ESSN 					AND PNO=PNUMBER</a:t>
            </a:r>
            <a:b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ORDER BY	DNAME, LNAME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8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42" name="Google Shape;742;p8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ORDER BY (contd.)</a:t>
            </a:r>
            <a:endParaRPr/>
          </a:p>
        </p:txBody>
      </p:sp>
      <p:sp>
        <p:nvSpPr>
          <p:cNvPr id="743" name="Google Shape;743;p8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default order is in ascending order of values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We can specify the keyword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we want a descending order; the keyword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ASC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used to explicitly specify ascending order, even though it is the default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8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0" name="Google Shape;750;p8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SQL Queries</a:t>
            </a:r>
            <a:endParaRPr/>
          </a:p>
        </p:txBody>
      </p:sp>
      <p:sp>
        <p:nvSpPr>
          <p:cNvPr id="751" name="Google Shape;751;p8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in SQL can consist of up to six clauses, but only the first two, SELECT and FROM, are mandatory. The clauses are specified in the following order: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		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&lt;attribute list&gt;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&lt;table list&gt;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&lt;condition&gt;]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&lt;grouping attribute(s)&gt;]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&lt;group condition&gt;]</a:t>
            </a:r>
            <a:b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list&gt;]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8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58" name="Google Shape;758;p8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Summary of SQL Queries (contd.)</a:t>
            </a:r>
            <a:endParaRPr/>
          </a:p>
        </p:txBody>
      </p:sp>
      <p:sp>
        <p:nvSpPr>
          <p:cNvPr id="759" name="Google Shape;759;p8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SELECT-clause lists the attributes or functions to be retrieved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FROM-clause specifies all relations (or aliases) needed in the query but not those needed in nested queries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WHERE-clause specifies the conditions for selection and join of tuples from the relations specified in the FROM-clause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 BY specifies grouping attributes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 specifies a condition for selection of groups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 specifies an order for displaying the result of a query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query is evaluated by first applying the WHERE-clause, then GROUP BY and HAVING, and finally the SELECT-clause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8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8- </a:t>
            </a:r>
            <a:fld id="{00000000-1234-1234-1234-123412341234}" type="slidenum">
              <a:rPr b="1" i="0" lang="en-US" sz="1400" u="non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766" name="Google Shape;766;p8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Recap of SQL Queries</a:t>
            </a:r>
            <a:endParaRPr/>
          </a:p>
        </p:txBody>
      </p:sp>
      <p:sp>
        <p:nvSpPr>
          <p:cNvPr id="767" name="Google Shape;767;p8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query in SQL can consist of up to six clauses, but only the first two, SELECT and FROM, are mandatory. The clauses are specified in the following order: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SELECT		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&lt;attribute list&gt;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FROM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&lt;table list&gt;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&lt;condition&gt;]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GROUP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&lt;grouping attribute(s)&gt;]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HAVING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&lt;group condition&gt;]</a:t>
            </a:r>
            <a:b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ORDER BY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	&lt;attribute list&gt;]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There are three SQL commands to modify the database: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INSERT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DELETE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UPDATE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2005-02-25T19:46:41Z</dcterms:created>
  <dc:creator>Elmasri/Navathe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