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Lst>
  <p:sldSz cy="6858000" cx="12192000"/>
  <p:notesSz cx="6858000" cy="9144000"/>
  <p:embeddedFontLst>
    <p:embeddedFont>
      <p:font typeface="Nunito"/>
      <p:regular r:id="rId82"/>
      <p:bold r:id="rId83"/>
      <p:italic r:id="rId84"/>
      <p:boldItalic r:id="rId85"/>
    </p:embeddedFont>
    <p:embeddedFont>
      <p:font typeface="Poppins"/>
      <p:regular r:id="rId86"/>
      <p:bold r:id="rId87"/>
      <p:italic r:id="rId88"/>
      <p:boldItalic r:id="rId89"/>
    </p:embeddedFont>
    <p:embeddedFont>
      <p:font typeface="Tahoma"/>
      <p:regular r:id="rId90"/>
      <p:bold r:id="rId91"/>
    </p:embeddedFont>
    <p:embeddedFont>
      <p:font typeface="Noto Sans Symbols"/>
      <p:regular r:id="rId92"/>
      <p:bold r:id="rId9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font" Target="fonts/Nunito-italic.fntdata"/><Relationship Id="rId83" Type="http://schemas.openxmlformats.org/officeDocument/2006/relationships/font" Target="fonts/Nunito-bold.fntdata"/><Relationship Id="rId42" Type="http://schemas.openxmlformats.org/officeDocument/2006/relationships/slide" Target="slides/slide37.xml"/><Relationship Id="rId86" Type="http://schemas.openxmlformats.org/officeDocument/2006/relationships/font" Target="fonts/Poppins-regular.fntdata"/><Relationship Id="rId41" Type="http://schemas.openxmlformats.org/officeDocument/2006/relationships/slide" Target="slides/slide36.xml"/><Relationship Id="rId85" Type="http://schemas.openxmlformats.org/officeDocument/2006/relationships/font" Target="fonts/Nunito-boldItalic.fntdata"/><Relationship Id="rId44" Type="http://schemas.openxmlformats.org/officeDocument/2006/relationships/slide" Target="slides/slide39.xml"/><Relationship Id="rId88" Type="http://schemas.openxmlformats.org/officeDocument/2006/relationships/font" Target="fonts/Poppins-italic.fntdata"/><Relationship Id="rId43" Type="http://schemas.openxmlformats.org/officeDocument/2006/relationships/slide" Target="slides/slide38.xml"/><Relationship Id="rId87" Type="http://schemas.openxmlformats.org/officeDocument/2006/relationships/font" Target="fonts/Poppins-bold.fntdata"/><Relationship Id="rId46" Type="http://schemas.openxmlformats.org/officeDocument/2006/relationships/slide" Target="slides/slide41.xml"/><Relationship Id="rId45" Type="http://schemas.openxmlformats.org/officeDocument/2006/relationships/slide" Target="slides/slide40.xml"/><Relationship Id="rId89" Type="http://schemas.openxmlformats.org/officeDocument/2006/relationships/font" Target="fonts/Poppins-boldItalic.fntdata"/><Relationship Id="rId80" Type="http://schemas.openxmlformats.org/officeDocument/2006/relationships/slide" Target="slides/slide75.xml"/><Relationship Id="rId82" Type="http://schemas.openxmlformats.org/officeDocument/2006/relationships/font" Target="fonts/Nunito-regular.fntdata"/><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slide" Target="slides/slide74.xml"/><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91" Type="http://schemas.openxmlformats.org/officeDocument/2006/relationships/font" Target="fonts/Tahoma-bold.fntdata"/><Relationship Id="rId90" Type="http://schemas.openxmlformats.org/officeDocument/2006/relationships/font" Target="fonts/Tahoma-regular.fntdata"/><Relationship Id="rId93" Type="http://schemas.openxmlformats.org/officeDocument/2006/relationships/font" Target="fonts/NotoSansSymbols-bold.fntdata"/><Relationship Id="rId92" Type="http://schemas.openxmlformats.org/officeDocument/2006/relationships/font" Target="fonts/NotoSansSymbols-regular.fntdata"/><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5:notes"/>
          <p:cNvSpPr txBox="1"/>
          <p:nvPr>
            <p:ph idx="1" type="body"/>
          </p:nvPr>
        </p:nvSpPr>
        <p:spPr>
          <a:xfrm>
            <a:off x="777225" y="4777725"/>
            <a:ext cx="6217800" cy="452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243" name="Google Shape;243;p25:notes"/>
          <p:cNvSpPr/>
          <p:nvPr>
            <p:ph idx="2" type="sldImg"/>
          </p:nvPr>
        </p:nvSpPr>
        <p:spPr>
          <a:xfrm>
            <a:off x="533400" y="754063"/>
            <a:ext cx="670560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6:notes"/>
          <p:cNvSpPr txBox="1"/>
          <p:nvPr>
            <p:ph idx="1" type="body"/>
          </p:nvPr>
        </p:nvSpPr>
        <p:spPr>
          <a:xfrm>
            <a:off x="777225" y="4777725"/>
            <a:ext cx="6217800" cy="452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250" name="Google Shape;250;p26:notes"/>
          <p:cNvSpPr/>
          <p:nvPr>
            <p:ph idx="2" type="sldImg"/>
          </p:nvPr>
        </p:nvSpPr>
        <p:spPr>
          <a:xfrm>
            <a:off x="533400" y="754063"/>
            <a:ext cx="670560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7:notes"/>
          <p:cNvSpPr txBox="1"/>
          <p:nvPr>
            <p:ph idx="1" type="body"/>
          </p:nvPr>
        </p:nvSpPr>
        <p:spPr>
          <a:xfrm>
            <a:off x="777225" y="4777725"/>
            <a:ext cx="6217800" cy="452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Calibri"/>
              <a:buNone/>
            </a:pPr>
            <a:r>
              <a:t/>
            </a:r>
            <a:endParaRPr/>
          </a:p>
        </p:txBody>
      </p:sp>
      <p:sp>
        <p:nvSpPr>
          <p:cNvPr id="257" name="Google Shape;257;p27:notes"/>
          <p:cNvSpPr/>
          <p:nvPr>
            <p:ph idx="2" type="sldImg"/>
          </p:nvPr>
        </p:nvSpPr>
        <p:spPr>
          <a:xfrm>
            <a:off x="533400" y="754063"/>
            <a:ext cx="6705600"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8" name="Google Shape;298;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0" name="Google Shape;310;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4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800" u="none" cap="none" strike="noStrike">
              <a:solidFill>
                <a:schemeClr val="dk1"/>
              </a:solidFill>
              <a:latin typeface="Calibri"/>
              <a:ea typeface="Calibri"/>
              <a:cs typeface="Calibri"/>
              <a:sym typeface="Calibri"/>
            </a:endParaRPr>
          </a:p>
        </p:txBody>
      </p:sp>
      <p:sp>
        <p:nvSpPr>
          <p:cNvPr id="340" name="Google Shape;340;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1" name="Google Shape;341;p4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4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800" u="none" cap="none" strike="noStrike">
              <a:solidFill>
                <a:schemeClr val="dk1"/>
              </a:solidFill>
              <a:latin typeface="Calibri"/>
              <a:ea typeface="Calibri"/>
              <a:cs typeface="Calibri"/>
              <a:sym typeface="Calibri"/>
            </a:endParaRPr>
          </a:p>
        </p:txBody>
      </p:sp>
      <p:sp>
        <p:nvSpPr>
          <p:cNvPr id="348" name="Google Shape;348;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9" name="Google Shape;349;p4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4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800" u="none" cap="none" strike="noStrike">
              <a:solidFill>
                <a:schemeClr val="dk1"/>
              </a:solidFill>
              <a:latin typeface="Calibri"/>
              <a:ea typeface="Calibri"/>
              <a:cs typeface="Calibri"/>
              <a:sym typeface="Calibri"/>
            </a:endParaRPr>
          </a:p>
        </p:txBody>
      </p:sp>
      <p:sp>
        <p:nvSpPr>
          <p:cNvPr id="356" name="Google Shape;356;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7" name="Google Shape;357;p4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4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800" u="none" cap="none" strike="noStrike">
              <a:solidFill>
                <a:schemeClr val="dk1"/>
              </a:solidFill>
              <a:latin typeface="Calibri"/>
              <a:ea typeface="Calibri"/>
              <a:cs typeface="Calibri"/>
              <a:sym typeface="Calibri"/>
            </a:endParaRPr>
          </a:p>
        </p:txBody>
      </p:sp>
      <p:sp>
        <p:nvSpPr>
          <p:cNvPr id="364" name="Google Shape;364;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5" name="Google Shape;365;p4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 name="Google Shape;372;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4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800" u="none" cap="none" strike="noStrike">
              <a:solidFill>
                <a:schemeClr val="dk1"/>
              </a:solidFill>
              <a:latin typeface="Calibri"/>
              <a:ea typeface="Calibri"/>
              <a:cs typeface="Calibri"/>
              <a:sym typeface="Calibri"/>
            </a:endParaRPr>
          </a:p>
        </p:txBody>
      </p:sp>
      <p:sp>
        <p:nvSpPr>
          <p:cNvPr id="381" name="Google Shape;381;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2" name="Google Shape;382;p4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4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800" u="none" cap="none" strike="noStrike">
              <a:solidFill>
                <a:schemeClr val="dk1"/>
              </a:solidFill>
              <a:latin typeface="Calibri"/>
              <a:ea typeface="Calibri"/>
              <a:cs typeface="Calibri"/>
              <a:sym typeface="Calibri"/>
            </a:endParaRPr>
          </a:p>
        </p:txBody>
      </p:sp>
      <p:sp>
        <p:nvSpPr>
          <p:cNvPr id="389" name="Google Shape;389;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0" name="Google Shape;390;p4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4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800" u="none" cap="none" strike="noStrike">
              <a:solidFill>
                <a:schemeClr val="dk1"/>
              </a:solidFill>
              <a:latin typeface="Calibri"/>
              <a:ea typeface="Calibri"/>
              <a:cs typeface="Calibri"/>
              <a:sym typeface="Calibri"/>
            </a:endParaRPr>
          </a:p>
        </p:txBody>
      </p:sp>
      <p:sp>
        <p:nvSpPr>
          <p:cNvPr id="399" name="Google Shape;399;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0" name="Google Shape;400;p4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4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cap="none" strike="noStrike">
                <a:solidFill>
                  <a:srgbClr val="000000"/>
                </a:solidFill>
                <a:latin typeface="Tahoma"/>
                <a:ea typeface="Tahoma"/>
                <a:cs typeface="Tahoma"/>
                <a:sym typeface="Tahoma"/>
              </a:rPr>
              <a:t>‹#›</a:t>
            </a:fld>
            <a:endParaRPr b="0" i="0" sz="1800" u="none" cap="none" strike="noStrike">
              <a:solidFill>
                <a:schemeClr val="dk1"/>
              </a:solidFill>
              <a:latin typeface="Calibri"/>
              <a:ea typeface="Calibri"/>
              <a:cs typeface="Calibri"/>
              <a:sym typeface="Calibri"/>
            </a:endParaRPr>
          </a:p>
        </p:txBody>
      </p:sp>
      <p:sp>
        <p:nvSpPr>
          <p:cNvPr id="407" name="Google Shape;407;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8" name="Google Shape;408;p4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2" name="Google Shape;422;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5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sz="1800">
              <a:solidFill>
                <a:schemeClr val="dk1"/>
              </a:solidFill>
              <a:latin typeface="Calibri"/>
              <a:ea typeface="Calibri"/>
              <a:cs typeface="Calibri"/>
              <a:sym typeface="Calibri"/>
            </a:endParaRPr>
          </a:p>
        </p:txBody>
      </p:sp>
      <p:sp>
        <p:nvSpPr>
          <p:cNvPr id="428" name="Google Shape;428;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9" name="Google Shape;429;p5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5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sz="1800">
              <a:solidFill>
                <a:schemeClr val="dk1"/>
              </a:solidFill>
              <a:latin typeface="Calibri"/>
              <a:ea typeface="Calibri"/>
              <a:cs typeface="Calibri"/>
              <a:sym typeface="Calibri"/>
            </a:endParaRPr>
          </a:p>
        </p:txBody>
      </p:sp>
      <p:sp>
        <p:nvSpPr>
          <p:cNvPr id="437" name="Google Shape;437;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8" name="Google Shape;438;p5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5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sz="1800">
              <a:solidFill>
                <a:schemeClr val="dk1"/>
              </a:solidFill>
              <a:latin typeface="Calibri"/>
              <a:ea typeface="Calibri"/>
              <a:cs typeface="Calibri"/>
              <a:sym typeface="Calibri"/>
            </a:endParaRPr>
          </a:p>
        </p:txBody>
      </p:sp>
      <p:sp>
        <p:nvSpPr>
          <p:cNvPr id="445" name="Google Shape;445;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6" name="Google Shape;446;p5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5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sz="1800">
              <a:solidFill>
                <a:schemeClr val="dk1"/>
              </a:solidFill>
              <a:latin typeface="Calibri"/>
              <a:ea typeface="Calibri"/>
              <a:cs typeface="Calibri"/>
              <a:sym typeface="Calibri"/>
            </a:endParaRPr>
          </a:p>
        </p:txBody>
      </p:sp>
      <p:sp>
        <p:nvSpPr>
          <p:cNvPr id="453" name="Google Shape;453;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4" name="Google Shape;454;p5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5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1" name="Google Shape;461;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5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0" name="Google Shape;470;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5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sz="1800">
              <a:solidFill>
                <a:schemeClr val="dk1"/>
              </a:solidFill>
              <a:latin typeface="Calibri"/>
              <a:ea typeface="Calibri"/>
              <a:cs typeface="Calibri"/>
              <a:sym typeface="Calibri"/>
            </a:endParaRPr>
          </a:p>
        </p:txBody>
      </p:sp>
      <p:sp>
        <p:nvSpPr>
          <p:cNvPr id="479" name="Google Shape;479;p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0" name="Google Shape;480;p5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5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sz="1800">
              <a:solidFill>
                <a:schemeClr val="dk1"/>
              </a:solidFill>
              <a:latin typeface="Calibri"/>
              <a:ea typeface="Calibri"/>
              <a:cs typeface="Calibri"/>
              <a:sym typeface="Calibri"/>
            </a:endParaRPr>
          </a:p>
        </p:txBody>
      </p:sp>
      <p:sp>
        <p:nvSpPr>
          <p:cNvPr id="487" name="Google Shape;487;p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8" name="Google Shape;488;p5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5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sz="1800">
              <a:solidFill>
                <a:schemeClr val="dk1"/>
              </a:solidFill>
              <a:latin typeface="Calibri"/>
              <a:ea typeface="Calibri"/>
              <a:cs typeface="Calibri"/>
              <a:sym typeface="Calibri"/>
            </a:endParaRPr>
          </a:p>
        </p:txBody>
      </p:sp>
      <p:sp>
        <p:nvSpPr>
          <p:cNvPr id="495" name="Google Shape;495;p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6" name="Google Shape;496;p5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6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sz="1800">
              <a:solidFill>
                <a:schemeClr val="dk1"/>
              </a:solidFill>
              <a:latin typeface="Calibri"/>
              <a:ea typeface="Calibri"/>
              <a:cs typeface="Calibri"/>
              <a:sym typeface="Calibri"/>
            </a:endParaRPr>
          </a:p>
        </p:txBody>
      </p:sp>
      <p:sp>
        <p:nvSpPr>
          <p:cNvPr id="503" name="Google Shape;503;p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4" name="Google Shape;504;p6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6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sz="1800">
              <a:solidFill>
                <a:schemeClr val="dk1"/>
              </a:solidFill>
              <a:latin typeface="Calibri"/>
              <a:ea typeface="Calibri"/>
              <a:cs typeface="Calibri"/>
              <a:sym typeface="Calibri"/>
            </a:endParaRPr>
          </a:p>
        </p:txBody>
      </p:sp>
      <p:sp>
        <p:nvSpPr>
          <p:cNvPr id="511" name="Google Shape;511;p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2" name="Google Shape;512;p6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6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sz="1800">
              <a:solidFill>
                <a:schemeClr val="dk1"/>
              </a:solidFill>
              <a:latin typeface="Calibri"/>
              <a:ea typeface="Calibri"/>
              <a:cs typeface="Calibri"/>
              <a:sym typeface="Calibri"/>
            </a:endParaRPr>
          </a:p>
        </p:txBody>
      </p:sp>
      <p:sp>
        <p:nvSpPr>
          <p:cNvPr id="519" name="Google Shape;519;p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0" name="Google Shape;520;p6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6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sz="1800">
              <a:solidFill>
                <a:schemeClr val="dk1"/>
              </a:solidFill>
              <a:latin typeface="Calibri"/>
              <a:ea typeface="Calibri"/>
              <a:cs typeface="Calibri"/>
              <a:sym typeface="Calibri"/>
            </a:endParaRPr>
          </a:p>
        </p:txBody>
      </p:sp>
      <p:sp>
        <p:nvSpPr>
          <p:cNvPr id="527" name="Google Shape;527;p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8" name="Google Shape;528;p6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6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sz="1800">
              <a:solidFill>
                <a:schemeClr val="dk1"/>
              </a:solidFill>
              <a:latin typeface="Calibri"/>
              <a:ea typeface="Calibri"/>
              <a:cs typeface="Calibri"/>
              <a:sym typeface="Calibri"/>
            </a:endParaRPr>
          </a:p>
        </p:txBody>
      </p:sp>
      <p:sp>
        <p:nvSpPr>
          <p:cNvPr id="535" name="Google Shape;535;p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6" name="Google Shape;536;p6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6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sz="1800">
              <a:solidFill>
                <a:schemeClr val="dk1"/>
              </a:solidFill>
              <a:latin typeface="Calibri"/>
              <a:ea typeface="Calibri"/>
              <a:cs typeface="Calibri"/>
              <a:sym typeface="Calibri"/>
            </a:endParaRPr>
          </a:p>
        </p:txBody>
      </p:sp>
      <p:sp>
        <p:nvSpPr>
          <p:cNvPr id="543" name="Google Shape;543;p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4" name="Google Shape;544;p6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6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sz="1800">
              <a:solidFill>
                <a:schemeClr val="dk1"/>
              </a:solidFill>
              <a:latin typeface="Calibri"/>
              <a:ea typeface="Calibri"/>
              <a:cs typeface="Calibri"/>
              <a:sym typeface="Calibri"/>
            </a:endParaRPr>
          </a:p>
        </p:txBody>
      </p:sp>
      <p:sp>
        <p:nvSpPr>
          <p:cNvPr id="551" name="Google Shape;551;p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2" name="Google Shape;552;p6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6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sz="1800">
              <a:solidFill>
                <a:schemeClr val="dk1"/>
              </a:solidFill>
              <a:latin typeface="Calibri"/>
              <a:ea typeface="Calibri"/>
              <a:cs typeface="Calibri"/>
              <a:sym typeface="Calibri"/>
            </a:endParaRPr>
          </a:p>
        </p:txBody>
      </p:sp>
      <p:sp>
        <p:nvSpPr>
          <p:cNvPr id="559" name="Google Shape;559;p6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0" name="Google Shape;560;p6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6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sz="1800">
              <a:solidFill>
                <a:schemeClr val="dk1"/>
              </a:solidFill>
              <a:latin typeface="Calibri"/>
              <a:ea typeface="Calibri"/>
              <a:cs typeface="Calibri"/>
              <a:sym typeface="Calibri"/>
            </a:endParaRPr>
          </a:p>
        </p:txBody>
      </p:sp>
      <p:sp>
        <p:nvSpPr>
          <p:cNvPr id="567" name="Google Shape;567;p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8" name="Google Shape;568;p6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6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sz="1800">
              <a:solidFill>
                <a:schemeClr val="dk1"/>
              </a:solidFill>
              <a:latin typeface="Calibri"/>
              <a:ea typeface="Calibri"/>
              <a:cs typeface="Calibri"/>
              <a:sym typeface="Calibri"/>
            </a:endParaRPr>
          </a:p>
        </p:txBody>
      </p:sp>
      <p:sp>
        <p:nvSpPr>
          <p:cNvPr id="575" name="Google Shape;575;p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6" name="Google Shape;576;p6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7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sz="1800">
              <a:solidFill>
                <a:schemeClr val="dk1"/>
              </a:solidFill>
              <a:latin typeface="Calibri"/>
              <a:ea typeface="Calibri"/>
              <a:cs typeface="Calibri"/>
              <a:sym typeface="Calibri"/>
            </a:endParaRPr>
          </a:p>
        </p:txBody>
      </p:sp>
      <p:sp>
        <p:nvSpPr>
          <p:cNvPr id="583" name="Google Shape;583;p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4" name="Google Shape;584;p7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7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591" name="Google Shape;591;p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7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sz="1800">
              <a:solidFill>
                <a:schemeClr val="dk1"/>
              </a:solidFill>
              <a:latin typeface="Calibri"/>
              <a:ea typeface="Calibri"/>
              <a:cs typeface="Calibri"/>
              <a:sym typeface="Calibri"/>
            </a:endParaRPr>
          </a:p>
        </p:txBody>
      </p:sp>
      <p:sp>
        <p:nvSpPr>
          <p:cNvPr id="598" name="Google Shape;598;p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9" name="Google Shape;599;p7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7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sz="1800">
              <a:solidFill>
                <a:schemeClr val="dk1"/>
              </a:solidFill>
              <a:latin typeface="Calibri"/>
              <a:ea typeface="Calibri"/>
              <a:cs typeface="Calibri"/>
              <a:sym typeface="Calibri"/>
            </a:endParaRPr>
          </a:p>
        </p:txBody>
      </p:sp>
      <p:sp>
        <p:nvSpPr>
          <p:cNvPr id="606" name="Google Shape;606;p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7" name="Google Shape;607;p7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7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ahoma"/>
              <a:buNone/>
            </a:pPr>
            <a:fld id="{00000000-1234-1234-1234-123412341234}" type="slidenum">
              <a:rPr b="0" i="0" lang="en-US" sz="1200" u="none">
                <a:solidFill>
                  <a:srgbClr val="000000"/>
                </a:solidFill>
                <a:latin typeface="Tahoma"/>
                <a:ea typeface="Tahoma"/>
                <a:cs typeface="Tahoma"/>
                <a:sym typeface="Tahoma"/>
              </a:rPr>
              <a:t>‹#›</a:t>
            </a:fld>
            <a:endParaRPr sz="1800">
              <a:solidFill>
                <a:schemeClr val="dk1"/>
              </a:solidFill>
              <a:latin typeface="Calibri"/>
              <a:ea typeface="Calibri"/>
              <a:cs typeface="Calibri"/>
              <a:sym typeface="Calibri"/>
            </a:endParaRPr>
          </a:p>
        </p:txBody>
      </p:sp>
      <p:sp>
        <p:nvSpPr>
          <p:cNvPr id="614" name="Google Shape;614;p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5" name="Google Shape;615;p7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7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622" name="Google Shape;622;p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7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629" name="Google Shape;629;p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7" name="Shape 27"/>
        <p:cNvGrpSpPr/>
        <p:nvPr/>
      </p:nvGrpSpPr>
      <p:grpSpPr>
        <a:xfrm>
          <a:off x="0" y="0"/>
          <a:ext cx="0" cy="0"/>
          <a:chOff x="0" y="0"/>
          <a:chExt cx="0" cy="0"/>
        </a:xfrm>
      </p:grpSpPr>
      <p:sp>
        <p:nvSpPr>
          <p:cNvPr id="28" name="Google Shape;28;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4" name="Shape 34"/>
        <p:cNvGrpSpPr/>
        <p:nvPr/>
      </p:nvGrpSpPr>
      <p:grpSpPr>
        <a:xfrm>
          <a:off x="0" y="0"/>
          <a:ext cx="0" cy="0"/>
          <a:chOff x="0" y="0"/>
          <a:chExt cx="0" cy="0"/>
        </a:xfrm>
      </p:grpSpPr>
      <p:sp>
        <p:nvSpPr>
          <p:cNvPr id="35" name="Google Shape;35;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8" name="Shape 38"/>
        <p:cNvGrpSpPr/>
        <p:nvPr/>
      </p:nvGrpSpPr>
      <p:grpSpPr>
        <a:xfrm>
          <a:off x="0" y="0"/>
          <a:ext cx="0" cy="0"/>
          <a:chOff x="0" y="0"/>
          <a:chExt cx="0" cy="0"/>
        </a:xfrm>
      </p:grpSpPr>
      <p:sp>
        <p:nvSpPr>
          <p:cNvPr id="39" name="Google Shape;39;p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1" name="Google Shape;41;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5183188" y="987425"/>
            <a:ext cx="6172200" cy="4873625"/>
          </a:xfrm>
          <a:prstGeom prst="rect">
            <a:avLst/>
          </a:prstGeom>
          <a:noFill/>
          <a:ln>
            <a:noFill/>
          </a:ln>
        </p:spPr>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2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1.png"/><Relationship Id="rId4"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9.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8.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4.png"/><Relationship Id="rId4" Type="http://schemas.openxmlformats.org/officeDocument/2006/relationships/image" Target="../media/image3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6.png"/><Relationship Id="rId4" Type="http://schemas.openxmlformats.org/officeDocument/2006/relationships/image" Target="../media/image2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3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35.png"/><Relationship Id="rId4" Type="http://schemas.openxmlformats.org/officeDocument/2006/relationships/image" Target="../media/image31.png"/><Relationship Id="rId5" Type="http://schemas.openxmlformats.org/officeDocument/2006/relationships/image" Target="../media/image37.png"/><Relationship Id="rId6" Type="http://schemas.openxmlformats.org/officeDocument/2006/relationships/image" Target="../media/image3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28.png"/><Relationship Id="rId4" Type="http://schemas.openxmlformats.org/officeDocument/2006/relationships/image" Target="../media/image52.png"/><Relationship Id="rId5" Type="http://schemas.openxmlformats.org/officeDocument/2006/relationships/image" Target="../media/image3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4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4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4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43.png"/><Relationship Id="rId4" Type="http://schemas.openxmlformats.org/officeDocument/2006/relationships/image" Target="../media/image5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50.png"/><Relationship Id="rId4" Type="http://schemas.openxmlformats.org/officeDocument/2006/relationships/image" Target="../media/image3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4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 Id="rId3" Type="http://schemas.openxmlformats.org/officeDocument/2006/relationships/image" Target="../media/image4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 Id="rId3" Type="http://schemas.openxmlformats.org/officeDocument/2006/relationships/image" Target="../media/image5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44.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4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4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 Id="rId3" Type="http://schemas.openxmlformats.org/officeDocument/2006/relationships/image" Target="../media/image42.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4400"/>
              <a:buFont typeface="Calibri"/>
              <a:buNone/>
            </a:pPr>
            <a:r>
              <a:rPr b="1" lang="en-US" sz="4400"/>
              <a:t>Relational Database</a:t>
            </a:r>
            <a:br>
              <a:rPr b="1" lang="en-US" sz="4400"/>
            </a:br>
            <a:r>
              <a:rPr b="1" lang="en-US" sz="4400"/>
              <a:t>Management System</a:t>
            </a:r>
            <a:br>
              <a:rPr b="1" lang="en-US" sz="4400"/>
            </a:br>
            <a:r>
              <a:rPr b="1" lang="en-US" sz="4400"/>
              <a:t>116U01C403</a:t>
            </a:r>
            <a:br>
              <a:rPr b="1" lang="en-US" sz="3200"/>
            </a:br>
            <a:endParaRPr b="1" sz="3200"/>
          </a:p>
        </p:txBody>
      </p:sp>
      <p:sp>
        <p:nvSpPr>
          <p:cNvPr id="89" name="Google Shape;89;p1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sz="2400"/>
              <a:t>Module 2 .1 &amp; 2.2</a:t>
            </a:r>
            <a:br>
              <a:rPr lang="en-US" sz="2400"/>
            </a:br>
            <a:r>
              <a:rPr lang="en-US" sz="2400"/>
              <a:t>Jan 2024-May 2024</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4400"/>
              <a:buFont typeface="Calibri"/>
              <a:buNone/>
            </a:pPr>
            <a:r>
              <a:rPr lang="en-US">
                <a:solidFill>
                  <a:schemeClr val="accent1"/>
                </a:solidFill>
              </a:rPr>
              <a:t>Data Modeling: Enhanced-Entity-Relationship Model and Relational Data Model</a:t>
            </a:r>
            <a:endParaRPr/>
          </a:p>
        </p:txBody>
      </p:sp>
      <p:sp>
        <p:nvSpPr>
          <p:cNvPr id="95" name="Google Shape;95;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Introduction, Benefits of Data Modeling, Types of Models, Phases of Database Modeling, The Entity-Relationship (ER) Model</a:t>
            </a:r>
            <a:endParaRPr/>
          </a:p>
          <a:p>
            <a:pPr indent="-228600" lvl="0" marL="228600" rtl="0" algn="l">
              <a:lnSpc>
                <a:spcPct val="90000"/>
              </a:lnSpc>
              <a:spcBef>
                <a:spcPts val="1000"/>
              </a:spcBef>
              <a:spcAft>
                <a:spcPts val="0"/>
              </a:spcAft>
              <a:buClr>
                <a:schemeClr val="dk1"/>
              </a:buClr>
              <a:buSzPts val="2800"/>
              <a:buChar char="•"/>
            </a:pPr>
            <a:r>
              <a:rPr lang="en-US"/>
              <a:t>Enhanced -Entity-Relationship (EER)- Model Generalization, Specialization and Aggregation</a:t>
            </a:r>
            <a:endParaRPr/>
          </a:p>
          <a:p>
            <a:pPr indent="-228600" lvl="0" marL="228600" rtl="0" algn="l">
              <a:lnSpc>
                <a:spcPct val="90000"/>
              </a:lnSpc>
              <a:spcBef>
                <a:spcPts val="1000"/>
              </a:spcBef>
              <a:spcAft>
                <a:spcPts val="0"/>
              </a:spcAft>
              <a:buClr>
                <a:schemeClr val="dk1"/>
              </a:buClr>
              <a:buSzPts val="2800"/>
              <a:buChar char="•"/>
            </a:pPr>
            <a:r>
              <a:rPr lang="en-US"/>
              <a:t>Relational Model: Introduction, Data Manipulation, Data Integrity, Advantages of the Relational Model</a:t>
            </a:r>
            <a:endParaRPr/>
          </a:p>
          <a:p>
            <a:pPr indent="-228600" lvl="0" marL="228600" rtl="0" algn="l">
              <a:lnSpc>
                <a:spcPct val="90000"/>
              </a:lnSpc>
              <a:spcBef>
                <a:spcPts val="1000"/>
              </a:spcBef>
              <a:spcAft>
                <a:spcPts val="0"/>
              </a:spcAft>
              <a:buClr>
                <a:schemeClr val="dk1"/>
              </a:buClr>
              <a:buSzPts val="2800"/>
              <a:buChar char="•"/>
            </a:pPr>
            <a:r>
              <a:rPr lang="en-US"/>
              <a:t>Mapping EER Model to Relational Model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4400"/>
              <a:buFont typeface="Calibri"/>
              <a:buNone/>
            </a:pPr>
            <a:r>
              <a:rPr lang="en-US">
                <a:solidFill>
                  <a:schemeClr val="accent1"/>
                </a:solidFill>
              </a:rPr>
              <a:t>Overview of Database Design Process</a:t>
            </a:r>
            <a:endParaRPr/>
          </a:p>
        </p:txBody>
      </p:sp>
      <p:sp>
        <p:nvSpPr>
          <p:cNvPr id="101" name="Google Shape;101;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Two main activities:</a:t>
            </a:r>
            <a:endParaRPr/>
          </a:p>
          <a:p>
            <a:pPr indent="-228600" lvl="0" marL="228600" rtl="0" algn="l">
              <a:lnSpc>
                <a:spcPct val="90000"/>
              </a:lnSpc>
              <a:spcBef>
                <a:spcPts val="1000"/>
              </a:spcBef>
              <a:spcAft>
                <a:spcPts val="0"/>
              </a:spcAft>
              <a:buClr>
                <a:schemeClr val="dk1"/>
              </a:buClr>
              <a:buSzPts val="2800"/>
              <a:buChar char="•"/>
            </a:pPr>
            <a:r>
              <a:rPr lang="en-US"/>
              <a:t>Database design:</a:t>
            </a:r>
            <a:endParaRPr/>
          </a:p>
          <a:p>
            <a:pPr indent="-228600" lvl="0" marL="228600" rtl="0" algn="l">
              <a:lnSpc>
                <a:spcPct val="90000"/>
              </a:lnSpc>
              <a:spcBef>
                <a:spcPts val="1000"/>
              </a:spcBef>
              <a:spcAft>
                <a:spcPts val="0"/>
              </a:spcAft>
              <a:buClr>
                <a:schemeClr val="dk1"/>
              </a:buClr>
              <a:buSzPts val="2800"/>
              <a:buChar char="•"/>
            </a:pPr>
            <a:r>
              <a:rPr lang="en-US"/>
              <a:t>To design the conceptual schema for a database application</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Applications design:</a:t>
            </a:r>
            <a:endParaRPr/>
          </a:p>
          <a:p>
            <a:pPr indent="-228600" lvl="0" marL="228600" rtl="0" algn="l">
              <a:lnSpc>
                <a:spcPct val="90000"/>
              </a:lnSpc>
              <a:spcBef>
                <a:spcPts val="1000"/>
              </a:spcBef>
              <a:spcAft>
                <a:spcPts val="0"/>
              </a:spcAft>
              <a:buClr>
                <a:schemeClr val="dk1"/>
              </a:buClr>
              <a:buSzPts val="2800"/>
              <a:buChar char="•"/>
            </a:pPr>
            <a:r>
              <a:rPr lang="en-US"/>
              <a:t>To focus on the programs and interfaces that access the database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accent1"/>
              </a:buClr>
              <a:buSzPts val="3600"/>
              <a:buFont typeface="Calibri"/>
              <a:buNone/>
            </a:pPr>
            <a:r>
              <a:rPr lang="en-US" sz="3600">
                <a:solidFill>
                  <a:schemeClr val="accent1"/>
                </a:solidFill>
              </a:rPr>
              <a:t>Database design process</a:t>
            </a:r>
            <a:endParaRPr/>
          </a:p>
        </p:txBody>
      </p:sp>
      <p:sp>
        <p:nvSpPr>
          <p:cNvPr id="107" name="Google Shape;107;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108" name="Google Shape;108;p16"/>
          <p:cNvPicPr preferRelativeResize="0"/>
          <p:nvPr/>
        </p:nvPicPr>
        <p:blipFill rotWithShape="1">
          <a:blip r:embed="rId3">
            <a:alphaModFix/>
          </a:blip>
          <a:srcRect b="0" l="0" r="0" t="0"/>
          <a:stretch/>
        </p:blipFill>
        <p:spPr>
          <a:xfrm>
            <a:off x="5717750" y="0"/>
            <a:ext cx="5962972" cy="654202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
                                        </p:tgtEl>
                                        <p:attrNameLst>
                                          <p:attrName>style.visibility</p:attrName>
                                        </p:attrNameLst>
                                      </p:cBhvr>
                                      <p:to>
                                        <p:strVal val="visible"/>
                                      </p:to>
                                    </p:set>
                                    <p:animEffect filter="fade" transition="in">
                                      <p:cBhvr>
                                        <p:cTn dur="2000"/>
                                        <p:tgtEl>
                                          <p:spTgt spid="1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7"/>
          <p:cNvSpPr txBox="1"/>
          <p:nvPr>
            <p:ph type="title"/>
          </p:nvPr>
        </p:nvSpPr>
        <p:spPr>
          <a:xfrm>
            <a:off x="831273" y="365126"/>
            <a:ext cx="10522527" cy="53542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accent1"/>
              </a:buClr>
              <a:buSzPct val="100000"/>
              <a:buFont typeface="Calibri"/>
              <a:buNone/>
            </a:pPr>
            <a:r>
              <a:rPr lang="en-US">
                <a:solidFill>
                  <a:schemeClr val="accent1"/>
                </a:solidFill>
              </a:rPr>
              <a:t>ER Model (Entity Relational Model)</a:t>
            </a:r>
            <a:endParaRPr/>
          </a:p>
        </p:txBody>
      </p:sp>
      <p:sp>
        <p:nvSpPr>
          <p:cNvPr id="114" name="Google Shape;114;p17"/>
          <p:cNvSpPr txBox="1"/>
          <p:nvPr>
            <p:ph idx="1" type="body"/>
          </p:nvPr>
        </p:nvSpPr>
        <p:spPr>
          <a:xfrm>
            <a:off x="706582" y="1122218"/>
            <a:ext cx="10647218" cy="5054745"/>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rgbClr val="273239"/>
              </a:buClr>
              <a:buSzPct val="100000"/>
              <a:buChar char="•"/>
            </a:pPr>
            <a:r>
              <a:rPr b="0" i="0" lang="en-US">
                <a:solidFill>
                  <a:srgbClr val="273239"/>
                </a:solidFill>
                <a:latin typeface="Nunito"/>
                <a:ea typeface="Nunito"/>
                <a:cs typeface="Nunito"/>
                <a:sym typeface="Nunito"/>
              </a:rPr>
              <a:t>The Entity Relational Model is a model for identifying entities to be represented in the database and representation of how those entities are related. </a:t>
            </a:r>
            <a:endParaRPr/>
          </a:p>
          <a:p>
            <a:pPr indent="-228600" lvl="0" marL="228600" rtl="0" algn="l">
              <a:lnSpc>
                <a:spcPct val="90000"/>
              </a:lnSpc>
              <a:spcBef>
                <a:spcPts val="1000"/>
              </a:spcBef>
              <a:spcAft>
                <a:spcPts val="0"/>
              </a:spcAft>
              <a:buClr>
                <a:srgbClr val="273239"/>
              </a:buClr>
              <a:buSzPct val="100000"/>
              <a:buChar char="•"/>
            </a:pPr>
            <a:r>
              <a:rPr b="0" i="0" lang="en-US">
                <a:solidFill>
                  <a:srgbClr val="273239"/>
                </a:solidFill>
                <a:latin typeface="Nunito"/>
                <a:ea typeface="Nunito"/>
                <a:cs typeface="Nunito"/>
                <a:sym typeface="Nunito"/>
              </a:rPr>
              <a:t>The ER data model specifies enterprise schema that represents the overall logical structure of a database graphically. </a:t>
            </a:r>
            <a:endParaRPr/>
          </a:p>
          <a:p>
            <a:pPr indent="-77470" lvl="0" marL="228600" rtl="0" algn="l">
              <a:lnSpc>
                <a:spcPct val="90000"/>
              </a:lnSpc>
              <a:spcBef>
                <a:spcPts val="1000"/>
              </a:spcBef>
              <a:spcAft>
                <a:spcPts val="0"/>
              </a:spcAft>
              <a:buClr>
                <a:schemeClr val="dk1"/>
              </a:buClr>
              <a:buSzPct val="100000"/>
              <a:buNone/>
            </a:pPr>
            <a:r>
              <a:t/>
            </a:r>
            <a:endParaRPr b="1" i="0">
              <a:solidFill>
                <a:srgbClr val="273239"/>
              </a:solidFill>
              <a:latin typeface="Nunito"/>
              <a:ea typeface="Nunito"/>
              <a:cs typeface="Nunito"/>
              <a:sym typeface="Nunito"/>
            </a:endParaRPr>
          </a:p>
          <a:p>
            <a:pPr indent="-228600" lvl="0" marL="228600" rtl="0" algn="l">
              <a:lnSpc>
                <a:spcPct val="90000"/>
              </a:lnSpc>
              <a:spcBef>
                <a:spcPts val="1000"/>
              </a:spcBef>
              <a:spcAft>
                <a:spcPts val="0"/>
              </a:spcAft>
              <a:buClr>
                <a:srgbClr val="273239"/>
              </a:buClr>
              <a:buSzPct val="100000"/>
              <a:buChar char="•"/>
            </a:pPr>
            <a:r>
              <a:rPr b="1" i="0" lang="en-US">
                <a:solidFill>
                  <a:srgbClr val="273239"/>
                </a:solidFill>
                <a:latin typeface="Nunito"/>
                <a:ea typeface="Nunito"/>
                <a:cs typeface="Nunito"/>
                <a:sym typeface="Nunito"/>
              </a:rPr>
              <a:t>Why Use ER Diagrams In DBMS?</a:t>
            </a:r>
            <a:endParaRPr/>
          </a:p>
          <a:p>
            <a:pPr indent="-228600" lvl="0" marL="228600" rtl="0" algn="l">
              <a:lnSpc>
                <a:spcPct val="90000"/>
              </a:lnSpc>
              <a:spcBef>
                <a:spcPts val="1000"/>
              </a:spcBef>
              <a:spcAft>
                <a:spcPts val="0"/>
              </a:spcAft>
              <a:buClr>
                <a:srgbClr val="273239"/>
              </a:buClr>
              <a:buSzPct val="100000"/>
              <a:buFont typeface="Arial"/>
              <a:buChar char="•"/>
            </a:pPr>
            <a:r>
              <a:rPr b="0" i="0" lang="en-US">
                <a:solidFill>
                  <a:srgbClr val="273239"/>
                </a:solidFill>
                <a:latin typeface="Nunito"/>
                <a:ea typeface="Nunito"/>
                <a:cs typeface="Nunito"/>
                <a:sym typeface="Nunito"/>
              </a:rPr>
              <a:t>ER diagrams are used to represent the E-R model in a database, which makes them easy to be converted into relations (tables).</a:t>
            </a:r>
            <a:endParaRPr/>
          </a:p>
          <a:p>
            <a:pPr indent="-228600" lvl="0" marL="228600" rtl="0" algn="l">
              <a:lnSpc>
                <a:spcPct val="90000"/>
              </a:lnSpc>
              <a:spcBef>
                <a:spcPts val="1000"/>
              </a:spcBef>
              <a:spcAft>
                <a:spcPts val="0"/>
              </a:spcAft>
              <a:buClr>
                <a:srgbClr val="273239"/>
              </a:buClr>
              <a:buSzPct val="100000"/>
              <a:buFont typeface="Arial"/>
              <a:buChar char="•"/>
            </a:pPr>
            <a:r>
              <a:rPr b="0" i="0" lang="en-US">
                <a:solidFill>
                  <a:srgbClr val="273239"/>
                </a:solidFill>
                <a:latin typeface="Nunito"/>
                <a:ea typeface="Nunito"/>
                <a:cs typeface="Nunito"/>
                <a:sym typeface="Nunito"/>
              </a:rPr>
              <a:t>ER diagrams provide the purpose of real-world modeling of objects which makes them intently useful.</a:t>
            </a:r>
            <a:endParaRPr/>
          </a:p>
          <a:p>
            <a:pPr indent="-228600" lvl="0" marL="228600" rtl="0" algn="l">
              <a:lnSpc>
                <a:spcPct val="90000"/>
              </a:lnSpc>
              <a:spcBef>
                <a:spcPts val="1000"/>
              </a:spcBef>
              <a:spcAft>
                <a:spcPts val="0"/>
              </a:spcAft>
              <a:buClr>
                <a:srgbClr val="273239"/>
              </a:buClr>
              <a:buSzPct val="100000"/>
              <a:buFont typeface="Arial"/>
              <a:buChar char="•"/>
            </a:pPr>
            <a:r>
              <a:rPr b="0" i="0" lang="en-US">
                <a:solidFill>
                  <a:srgbClr val="273239"/>
                </a:solidFill>
                <a:latin typeface="Nunito"/>
                <a:ea typeface="Nunito"/>
                <a:cs typeface="Nunito"/>
                <a:sym typeface="Nunito"/>
              </a:rPr>
              <a:t>ER diagrams require no technical knowledge and no hardware support.</a:t>
            </a:r>
            <a:endParaRPr/>
          </a:p>
          <a:p>
            <a:pPr indent="-228600" lvl="0" marL="228600" rtl="0" algn="l">
              <a:lnSpc>
                <a:spcPct val="90000"/>
              </a:lnSpc>
              <a:spcBef>
                <a:spcPts val="1000"/>
              </a:spcBef>
              <a:spcAft>
                <a:spcPts val="0"/>
              </a:spcAft>
              <a:buClr>
                <a:srgbClr val="273239"/>
              </a:buClr>
              <a:buSzPct val="100000"/>
              <a:buFont typeface="Arial"/>
              <a:buChar char="•"/>
            </a:pPr>
            <a:r>
              <a:rPr b="0" i="0" lang="en-US">
                <a:solidFill>
                  <a:srgbClr val="273239"/>
                </a:solidFill>
                <a:latin typeface="Nunito"/>
                <a:ea typeface="Nunito"/>
                <a:cs typeface="Nunito"/>
                <a:sym typeface="Nunito"/>
              </a:rPr>
              <a:t>These diagrams are very easy to understand and easy to create even for a naive user. </a:t>
            </a:r>
            <a:endParaRPr/>
          </a:p>
          <a:p>
            <a:pPr indent="-228600" lvl="0" marL="228600" rtl="0" algn="l">
              <a:lnSpc>
                <a:spcPct val="90000"/>
              </a:lnSpc>
              <a:spcBef>
                <a:spcPts val="1000"/>
              </a:spcBef>
              <a:spcAft>
                <a:spcPts val="0"/>
              </a:spcAft>
              <a:buClr>
                <a:srgbClr val="273239"/>
              </a:buClr>
              <a:buSzPct val="100000"/>
              <a:buFont typeface="Arial"/>
              <a:buChar char="•"/>
            </a:pPr>
            <a:r>
              <a:rPr b="0" i="0" lang="en-US">
                <a:solidFill>
                  <a:srgbClr val="273239"/>
                </a:solidFill>
                <a:latin typeface="Nunito"/>
                <a:ea typeface="Nunito"/>
                <a:cs typeface="Nunito"/>
                <a:sym typeface="Nunito"/>
              </a:rPr>
              <a:t>It gives a standard solution for visualizing the data logically.</a:t>
            </a:r>
            <a:endParaRPr/>
          </a:p>
          <a:p>
            <a:pPr indent="-77470" lvl="0" marL="228600" rtl="0" algn="l">
              <a:lnSpc>
                <a:spcPct val="90000"/>
              </a:lnSpc>
              <a:spcBef>
                <a:spcPts val="1000"/>
              </a:spcBef>
              <a:spcAft>
                <a:spcPts val="0"/>
              </a:spcAft>
              <a:buClr>
                <a:schemeClr val="dk1"/>
              </a:buClr>
              <a:buSzPct val="1000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0" st="0"/>
                                            </p:txEl>
                                          </p:spTgt>
                                        </p:tgtEl>
                                        <p:attrNameLst>
                                          <p:attrName>style.visibility</p:attrName>
                                        </p:attrNameLst>
                                      </p:cBhvr>
                                      <p:to>
                                        <p:strVal val="visible"/>
                                      </p:to>
                                    </p:set>
                                    <p:animEffect filter="fade" transition="in">
                                      <p:cBhvr>
                                        <p:cTn dur="1000"/>
                                        <p:tgtEl>
                                          <p:spTgt spid="11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1" st="1"/>
                                            </p:txEl>
                                          </p:spTgt>
                                        </p:tgtEl>
                                        <p:attrNameLst>
                                          <p:attrName>style.visibility</p:attrName>
                                        </p:attrNameLst>
                                      </p:cBhvr>
                                      <p:to>
                                        <p:strVal val="visible"/>
                                      </p:to>
                                    </p:set>
                                    <p:animEffect filter="fade" transition="in">
                                      <p:cBhvr>
                                        <p:cTn dur="1000"/>
                                        <p:tgtEl>
                                          <p:spTgt spid="11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2" st="2"/>
                                            </p:txEl>
                                          </p:spTgt>
                                        </p:tgtEl>
                                        <p:attrNameLst>
                                          <p:attrName>style.visibility</p:attrName>
                                        </p:attrNameLst>
                                      </p:cBhvr>
                                      <p:to>
                                        <p:strVal val="visible"/>
                                      </p:to>
                                    </p:set>
                                    <p:animEffect filter="fade" transition="in">
                                      <p:cBhvr>
                                        <p:cTn dur="1000"/>
                                        <p:tgtEl>
                                          <p:spTgt spid="11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3" st="3"/>
                                            </p:txEl>
                                          </p:spTgt>
                                        </p:tgtEl>
                                        <p:attrNameLst>
                                          <p:attrName>style.visibility</p:attrName>
                                        </p:attrNameLst>
                                      </p:cBhvr>
                                      <p:to>
                                        <p:strVal val="visible"/>
                                      </p:to>
                                    </p:set>
                                    <p:animEffect filter="fade" transition="in">
                                      <p:cBhvr>
                                        <p:cTn dur="1000"/>
                                        <p:tgtEl>
                                          <p:spTgt spid="11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4" st="4"/>
                                            </p:txEl>
                                          </p:spTgt>
                                        </p:tgtEl>
                                        <p:attrNameLst>
                                          <p:attrName>style.visibility</p:attrName>
                                        </p:attrNameLst>
                                      </p:cBhvr>
                                      <p:to>
                                        <p:strVal val="visible"/>
                                      </p:to>
                                    </p:set>
                                    <p:animEffect filter="fade" transition="in">
                                      <p:cBhvr>
                                        <p:cTn dur="1000"/>
                                        <p:tgtEl>
                                          <p:spTgt spid="11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5" st="5"/>
                                            </p:txEl>
                                          </p:spTgt>
                                        </p:tgtEl>
                                        <p:attrNameLst>
                                          <p:attrName>style.visibility</p:attrName>
                                        </p:attrNameLst>
                                      </p:cBhvr>
                                      <p:to>
                                        <p:strVal val="visible"/>
                                      </p:to>
                                    </p:set>
                                    <p:animEffect filter="fade" transition="in">
                                      <p:cBhvr>
                                        <p:cTn dur="1000"/>
                                        <p:tgtEl>
                                          <p:spTgt spid="11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6" st="6"/>
                                            </p:txEl>
                                          </p:spTgt>
                                        </p:tgtEl>
                                        <p:attrNameLst>
                                          <p:attrName>style.visibility</p:attrName>
                                        </p:attrNameLst>
                                      </p:cBhvr>
                                      <p:to>
                                        <p:strVal val="visible"/>
                                      </p:to>
                                    </p:set>
                                    <p:animEffect filter="fade" transition="in">
                                      <p:cBhvr>
                                        <p:cTn dur="1000"/>
                                        <p:tgtEl>
                                          <p:spTgt spid="11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7" st="7"/>
                                            </p:txEl>
                                          </p:spTgt>
                                        </p:tgtEl>
                                        <p:attrNameLst>
                                          <p:attrName>style.visibility</p:attrName>
                                        </p:attrNameLst>
                                      </p:cBhvr>
                                      <p:to>
                                        <p:strVal val="visible"/>
                                      </p:to>
                                    </p:set>
                                    <p:animEffect filter="fade" transition="in">
                                      <p:cBhvr>
                                        <p:cTn dur="1000"/>
                                        <p:tgtEl>
                                          <p:spTgt spid="11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8" st="8"/>
                                            </p:txEl>
                                          </p:spTgt>
                                        </p:tgtEl>
                                        <p:attrNameLst>
                                          <p:attrName>style.visibility</p:attrName>
                                        </p:attrNameLst>
                                      </p:cBhvr>
                                      <p:to>
                                        <p:strVal val="visible"/>
                                      </p:to>
                                    </p:set>
                                    <p:animEffect filter="fade" transition="in">
                                      <p:cBhvr>
                                        <p:cTn dur="1000"/>
                                        <p:tgtEl>
                                          <p:spTgt spid="11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9" st="9"/>
                                            </p:txEl>
                                          </p:spTgt>
                                        </p:tgtEl>
                                        <p:attrNameLst>
                                          <p:attrName>style.visibility</p:attrName>
                                        </p:attrNameLst>
                                      </p:cBhvr>
                                      <p:to>
                                        <p:strVal val="visible"/>
                                      </p:to>
                                    </p:set>
                                    <p:animEffect filter="fade" transition="in">
                                      <p:cBhvr>
                                        <p:cTn dur="1000"/>
                                        <p:tgtEl>
                                          <p:spTgt spid="114">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8"/>
          <p:cNvSpPr txBox="1"/>
          <p:nvPr>
            <p:ph idx="1" type="body"/>
          </p:nvPr>
        </p:nvSpPr>
        <p:spPr>
          <a:xfrm>
            <a:off x="838200" y="512618"/>
            <a:ext cx="5181600" cy="5664345"/>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rgbClr val="273239"/>
              </a:buClr>
              <a:buSzPct val="100000"/>
              <a:buChar char="•"/>
            </a:pPr>
            <a:r>
              <a:rPr b="1" i="0" lang="en-US">
                <a:solidFill>
                  <a:srgbClr val="273239"/>
                </a:solidFill>
                <a:latin typeface="Nunito"/>
                <a:ea typeface="Nunito"/>
                <a:cs typeface="Nunito"/>
                <a:sym typeface="Nunito"/>
              </a:rPr>
              <a:t>Entity</a:t>
            </a:r>
            <a:endParaRPr/>
          </a:p>
          <a:p>
            <a:pPr indent="-228600" lvl="0" marL="228600" rtl="0" algn="just">
              <a:lnSpc>
                <a:spcPct val="90000"/>
              </a:lnSpc>
              <a:spcBef>
                <a:spcPts val="1000"/>
              </a:spcBef>
              <a:spcAft>
                <a:spcPts val="0"/>
              </a:spcAft>
              <a:buClr>
                <a:srgbClr val="273239"/>
              </a:buClr>
              <a:buSzPct val="100000"/>
              <a:buChar char="•"/>
            </a:pPr>
            <a:r>
              <a:rPr b="0" i="0" lang="en-US">
                <a:solidFill>
                  <a:srgbClr val="273239"/>
                </a:solidFill>
                <a:latin typeface="Nunito"/>
                <a:ea typeface="Nunito"/>
                <a:cs typeface="Nunito"/>
                <a:sym typeface="Nunito"/>
              </a:rPr>
              <a:t>An Entity may be an object with a physical existence – a particular person, car, house, or employee – or it may be an object with a conceptual existence – a company, a job, or a university course. </a:t>
            </a:r>
            <a:endParaRPr/>
          </a:p>
          <a:p>
            <a:pPr indent="-64135" lvl="0" marL="228600" rtl="0" algn="just">
              <a:lnSpc>
                <a:spcPct val="90000"/>
              </a:lnSpc>
              <a:spcBef>
                <a:spcPts val="1000"/>
              </a:spcBef>
              <a:spcAft>
                <a:spcPts val="0"/>
              </a:spcAft>
              <a:buClr>
                <a:schemeClr val="dk1"/>
              </a:buClr>
              <a:buSzPct val="100000"/>
              <a:buNone/>
            </a:pPr>
            <a:r>
              <a:t/>
            </a:r>
            <a:endParaRPr b="1" i="0">
              <a:solidFill>
                <a:srgbClr val="273239"/>
              </a:solidFill>
              <a:latin typeface="Nunito"/>
              <a:ea typeface="Nunito"/>
              <a:cs typeface="Nunito"/>
              <a:sym typeface="Nunito"/>
            </a:endParaRPr>
          </a:p>
          <a:p>
            <a:pPr indent="-228600" lvl="0" marL="228600" rtl="0" algn="just">
              <a:lnSpc>
                <a:spcPct val="90000"/>
              </a:lnSpc>
              <a:spcBef>
                <a:spcPts val="1000"/>
              </a:spcBef>
              <a:spcAft>
                <a:spcPts val="0"/>
              </a:spcAft>
              <a:buClr>
                <a:srgbClr val="273239"/>
              </a:buClr>
              <a:buSzPct val="100000"/>
              <a:buChar char="•"/>
            </a:pPr>
            <a:r>
              <a:rPr b="1" i="0" lang="en-US">
                <a:solidFill>
                  <a:srgbClr val="273239"/>
                </a:solidFill>
                <a:latin typeface="Nunito"/>
                <a:ea typeface="Nunito"/>
                <a:cs typeface="Nunito"/>
                <a:sym typeface="Nunito"/>
              </a:rPr>
              <a:t>Entity Set:</a:t>
            </a:r>
            <a:r>
              <a:rPr b="0" i="0" lang="en-US">
                <a:solidFill>
                  <a:srgbClr val="273239"/>
                </a:solidFill>
                <a:latin typeface="Nunito"/>
                <a:ea typeface="Nunito"/>
                <a:cs typeface="Nunito"/>
                <a:sym typeface="Nunito"/>
              </a:rPr>
              <a:t> An Entity is an object of Entity Type and a set of all entities is called an entity set. For Example, E1 is an entity having Entity Type Student and the set of all students is called Entity Set. </a:t>
            </a:r>
            <a:endParaRPr/>
          </a:p>
          <a:p>
            <a:pPr indent="-64135" lvl="0" marL="228600" rtl="0" algn="l">
              <a:lnSpc>
                <a:spcPct val="90000"/>
              </a:lnSpc>
              <a:spcBef>
                <a:spcPts val="1000"/>
              </a:spcBef>
              <a:spcAft>
                <a:spcPts val="0"/>
              </a:spcAft>
              <a:buClr>
                <a:schemeClr val="dk1"/>
              </a:buClr>
              <a:buSzPct val="100000"/>
              <a:buNone/>
            </a:pPr>
            <a:r>
              <a:t/>
            </a:r>
            <a:endParaRPr/>
          </a:p>
        </p:txBody>
      </p:sp>
      <p:pic>
        <p:nvPicPr>
          <p:cNvPr descr="Entity Set" id="120" name="Google Shape;120;p18"/>
          <p:cNvPicPr preferRelativeResize="0"/>
          <p:nvPr/>
        </p:nvPicPr>
        <p:blipFill rotWithShape="1">
          <a:blip r:embed="rId3">
            <a:alphaModFix/>
          </a:blip>
          <a:srcRect b="0" l="0" r="0" t="0"/>
          <a:stretch/>
        </p:blipFill>
        <p:spPr>
          <a:xfrm>
            <a:off x="7274935" y="904875"/>
            <a:ext cx="2352675" cy="4133850"/>
          </a:xfrm>
          <a:prstGeom prst="rect">
            <a:avLst/>
          </a:prstGeom>
          <a:noFill/>
          <a:ln>
            <a:noFill/>
          </a:ln>
        </p:spPr>
      </p:pic>
      <p:pic>
        <p:nvPicPr>
          <p:cNvPr id="121" name="Google Shape;121;p18"/>
          <p:cNvPicPr preferRelativeResize="0"/>
          <p:nvPr/>
        </p:nvPicPr>
        <p:blipFill rotWithShape="1">
          <a:blip r:embed="rId4">
            <a:alphaModFix/>
          </a:blip>
          <a:srcRect b="0" l="0" r="0" t="0"/>
          <a:stretch/>
        </p:blipFill>
        <p:spPr>
          <a:xfrm>
            <a:off x="2926311" y="5862593"/>
            <a:ext cx="7747857" cy="71518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0" st="0"/>
                                            </p:txEl>
                                          </p:spTgt>
                                        </p:tgtEl>
                                        <p:attrNameLst>
                                          <p:attrName>style.visibility</p:attrName>
                                        </p:attrNameLst>
                                      </p:cBhvr>
                                      <p:to>
                                        <p:strVal val="visible"/>
                                      </p:to>
                                    </p:set>
                                    <p:animEffect filter="fade" transition="in">
                                      <p:cBhvr>
                                        <p:cTn dur="1000"/>
                                        <p:tgtEl>
                                          <p:spTgt spid="11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1" st="1"/>
                                            </p:txEl>
                                          </p:spTgt>
                                        </p:tgtEl>
                                        <p:attrNameLst>
                                          <p:attrName>style.visibility</p:attrName>
                                        </p:attrNameLst>
                                      </p:cBhvr>
                                      <p:to>
                                        <p:strVal val="visible"/>
                                      </p:to>
                                    </p:set>
                                    <p:animEffect filter="fade" transition="in">
                                      <p:cBhvr>
                                        <p:cTn dur="1000"/>
                                        <p:tgtEl>
                                          <p:spTgt spid="11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2" st="2"/>
                                            </p:txEl>
                                          </p:spTgt>
                                        </p:tgtEl>
                                        <p:attrNameLst>
                                          <p:attrName>style.visibility</p:attrName>
                                        </p:attrNameLst>
                                      </p:cBhvr>
                                      <p:to>
                                        <p:strVal val="visible"/>
                                      </p:to>
                                    </p:set>
                                    <p:animEffect filter="fade" transition="in">
                                      <p:cBhvr>
                                        <p:cTn dur="1000"/>
                                        <p:tgtEl>
                                          <p:spTgt spid="11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3" st="3"/>
                                            </p:txEl>
                                          </p:spTgt>
                                        </p:tgtEl>
                                        <p:attrNameLst>
                                          <p:attrName>style.visibility</p:attrName>
                                        </p:attrNameLst>
                                      </p:cBhvr>
                                      <p:to>
                                        <p:strVal val="visible"/>
                                      </p:to>
                                    </p:set>
                                    <p:animEffect filter="fade" transition="in">
                                      <p:cBhvr>
                                        <p:cTn dur="1000"/>
                                        <p:tgtEl>
                                          <p:spTgt spid="11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4" st="4"/>
                                            </p:txEl>
                                          </p:spTgt>
                                        </p:tgtEl>
                                        <p:attrNameLst>
                                          <p:attrName>style.visibility</p:attrName>
                                        </p:attrNameLst>
                                      </p:cBhvr>
                                      <p:to>
                                        <p:strVal val="visible"/>
                                      </p:to>
                                    </p:set>
                                    <p:animEffect filter="fade" transition="in">
                                      <p:cBhvr>
                                        <p:cTn dur="1000"/>
                                        <p:tgtEl>
                                          <p:spTgt spid="11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gtEl>
                                        <p:attrNameLst>
                                          <p:attrName>style.visibility</p:attrName>
                                        </p:attrNameLst>
                                      </p:cBhvr>
                                      <p:to>
                                        <p:strVal val="visible"/>
                                      </p:to>
                                    </p:set>
                                    <p:animEffect filter="fade" transition="in">
                                      <p:cBhvr>
                                        <p:cTn dur="500"/>
                                        <p:tgtEl>
                                          <p:spTgt spid="1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gtEl>
                                        <p:attrNameLst>
                                          <p:attrName>style.visibility</p:attrName>
                                        </p:attrNameLst>
                                      </p:cBhvr>
                                      <p:to>
                                        <p:strVal val="visible"/>
                                      </p:to>
                                    </p:set>
                                    <p:animEffect filter="fade" transition="in">
                                      <p:cBhvr>
                                        <p:cTn dur="1000"/>
                                        <p:tgtEl>
                                          <p:spTgt spid="1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9"/>
          <p:cNvSpPr txBox="1"/>
          <p:nvPr>
            <p:ph type="title"/>
          </p:nvPr>
        </p:nvSpPr>
        <p:spPr>
          <a:xfrm>
            <a:off x="838200" y="365125"/>
            <a:ext cx="10515600" cy="507711"/>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273239"/>
              </a:buClr>
              <a:buSzPct val="100000"/>
              <a:buFont typeface="Nunito"/>
              <a:buNone/>
            </a:pPr>
            <a:r>
              <a:rPr b="1" i="0" lang="en-US">
                <a:solidFill>
                  <a:srgbClr val="273239"/>
                </a:solidFill>
                <a:latin typeface="Nunito"/>
                <a:ea typeface="Nunito"/>
                <a:cs typeface="Nunito"/>
                <a:sym typeface="Nunito"/>
              </a:rPr>
              <a:t>Symbols Used in ER Model</a:t>
            </a:r>
            <a:endParaRPr/>
          </a:p>
        </p:txBody>
      </p:sp>
      <p:pic>
        <p:nvPicPr>
          <p:cNvPr id="127" name="Google Shape;127;p19"/>
          <p:cNvPicPr preferRelativeResize="0"/>
          <p:nvPr/>
        </p:nvPicPr>
        <p:blipFill rotWithShape="1">
          <a:blip r:embed="rId3">
            <a:alphaModFix/>
          </a:blip>
          <a:srcRect b="3441" l="0" r="40595" t="-3441"/>
          <a:stretch/>
        </p:blipFill>
        <p:spPr>
          <a:xfrm>
            <a:off x="2567256" y="572294"/>
            <a:ext cx="4939674" cy="609383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Components of ER Model</a:t>
            </a:r>
            <a:endParaRPr/>
          </a:p>
        </p:txBody>
      </p:sp>
      <p:sp>
        <p:nvSpPr>
          <p:cNvPr id="133" name="Google Shape;133;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134" name="Google Shape;134;p20"/>
          <p:cNvPicPr preferRelativeResize="0"/>
          <p:nvPr/>
        </p:nvPicPr>
        <p:blipFill rotWithShape="1">
          <a:blip r:embed="rId3">
            <a:alphaModFix/>
          </a:blip>
          <a:srcRect b="0" l="0" r="0" t="0"/>
          <a:stretch/>
        </p:blipFill>
        <p:spPr>
          <a:xfrm>
            <a:off x="838200" y="1824806"/>
            <a:ext cx="9824435" cy="386325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1"/>
          <p:cNvSpPr txBox="1"/>
          <p:nvPr>
            <p:ph idx="1" type="body"/>
          </p:nvPr>
        </p:nvSpPr>
        <p:spPr>
          <a:xfrm>
            <a:off x="609600" y="415637"/>
            <a:ext cx="10661073" cy="565049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273239"/>
              </a:buClr>
              <a:buSzPts val="2000"/>
              <a:buChar char="•"/>
            </a:pPr>
            <a:r>
              <a:rPr b="1" i="0" lang="en-US" sz="2000">
                <a:solidFill>
                  <a:srgbClr val="273239"/>
                </a:solidFill>
                <a:latin typeface="Nunito"/>
                <a:ea typeface="Nunito"/>
                <a:cs typeface="Nunito"/>
                <a:sym typeface="Nunito"/>
              </a:rPr>
              <a:t>1. Strong Entity</a:t>
            </a:r>
            <a:endParaRPr/>
          </a:p>
          <a:p>
            <a:pPr indent="-228600" lvl="0" marL="228600" rtl="0" algn="just">
              <a:lnSpc>
                <a:spcPct val="90000"/>
              </a:lnSpc>
              <a:spcBef>
                <a:spcPts val="1000"/>
              </a:spcBef>
              <a:spcAft>
                <a:spcPts val="0"/>
              </a:spcAft>
              <a:buClr>
                <a:srgbClr val="273239"/>
              </a:buClr>
              <a:buSzPts val="2000"/>
              <a:buChar char="•"/>
            </a:pPr>
            <a:r>
              <a:rPr b="0" i="0" lang="en-US" sz="2000">
                <a:solidFill>
                  <a:srgbClr val="273239"/>
                </a:solidFill>
                <a:latin typeface="Nunito"/>
                <a:ea typeface="Nunito"/>
                <a:cs typeface="Nunito"/>
                <a:sym typeface="Nunito"/>
              </a:rPr>
              <a:t>A </a:t>
            </a:r>
            <a:r>
              <a:rPr b="0" i="0" lang="en-US" sz="2000" u="sng">
                <a:solidFill>
                  <a:srgbClr val="273239"/>
                </a:solidFill>
                <a:latin typeface="Nunito"/>
                <a:ea typeface="Nunito"/>
                <a:cs typeface="Nunito"/>
                <a:sym typeface="Nunito"/>
              </a:rPr>
              <a:t>Strong Entity</a:t>
            </a:r>
            <a:r>
              <a:rPr b="0" i="0" lang="en-US" sz="2000">
                <a:solidFill>
                  <a:srgbClr val="273239"/>
                </a:solidFill>
                <a:latin typeface="Nunito"/>
                <a:ea typeface="Nunito"/>
                <a:cs typeface="Nunito"/>
                <a:sym typeface="Nunito"/>
              </a:rPr>
              <a:t> is a type of entity that has a key Attribute. Strong Entity does not depend on other Entity in the Schema. It has a primary key, that helps in identifying it uniquely, and it is represented by a rectangle. These are called Strong Entity Types.</a:t>
            </a:r>
            <a:endParaRPr/>
          </a:p>
          <a:p>
            <a:pPr indent="-228600" lvl="0" marL="228600" rtl="0" algn="l">
              <a:lnSpc>
                <a:spcPct val="90000"/>
              </a:lnSpc>
              <a:spcBef>
                <a:spcPts val="1000"/>
              </a:spcBef>
              <a:spcAft>
                <a:spcPts val="0"/>
              </a:spcAft>
              <a:buClr>
                <a:srgbClr val="273239"/>
              </a:buClr>
              <a:buSzPts val="2000"/>
              <a:buChar char="•"/>
            </a:pPr>
            <a:r>
              <a:rPr b="1" i="0" lang="en-US" sz="2000">
                <a:solidFill>
                  <a:srgbClr val="273239"/>
                </a:solidFill>
                <a:latin typeface="Nunito"/>
                <a:ea typeface="Nunito"/>
                <a:cs typeface="Nunito"/>
                <a:sym typeface="Nunito"/>
              </a:rPr>
              <a:t>2. Weak Entity</a:t>
            </a:r>
            <a:endParaRPr/>
          </a:p>
          <a:p>
            <a:pPr indent="-228600" lvl="0" marL="228600" rtl="0" algn="l">
              <a:lnSpc>
                <a:spcPct val="90000"/>
              </a:lnSpc>
              <a:spcBef>
                <a:spcPts val="1000"/>
              </a:spcBef>
              <a:spcAft>
                <a:spcPts val="0"/>
              </a:spcAft>
              <a:buClr>
                <a:srgbClr val="273239"/>
              </a:buClr>
              <a:buSzPts val="2000"/>
              <a:buChar char="•"/>
            </a:pPr>
            <a:r>
              <a:rPr b="0" i="0" lang="en-US" sz="2000">
                <a:solidFill>
                  <a:srgbClr val="273239"/>
                </a:solidFill>
                <a:latin typeface="Nunito"/>
                <a:ea typeface="Nunito"/>
                <a:cs typeface="Nunito"/>
                <a:sym typeface="Nunito"/>
              </a:rPr>
              <a:t>An Entity type has a key attribute that uniquely identifies each entity in the entity set. But some entity type exists for which key attributes can’t be defined. These are called </a:t>
            </a:r>
            <a:r>
              <a:rPr b="0" i="0" lang="en-US" sz="2000" u="sng">
                <a:solidFill>
                  <a:srgbClr val="273239"/>
                </a:solidFill>
                <a:latin typeface="Nunito"/>
                <a:ea typeface="Nunito"/>
                <a:cs typeface="Nunito"/>
                <a:sym typeface="Nunito"/>
              </a:rPr>
              <a:t>Weak Entity types</a:t>
            </a:r>
            <a:r>
              <a:rPr b="0" i="0" lang="en-US" sz="2000">
                <a:solidFill>
                  <a:srgbClr val="273239"/>
                </a:solidFill>
                <a:latin typeface="Nunito"/>
                <a:ea typeface="Nunito"/>
                <a:cs typeface="Nunito"/>
                <a:sym typeface="Nunito"/>
              </a:rPr>
              <a:t>. </a:t>
            </a:r>
            <a:endParaRPr/>
          </a:p>
          <a:p>
            <a:pPr indent="-228600" lvl="0" marL="228600" rtl="0" algn="l">
              <a:lnSpc>
                <a:spcPct val="90000"/>
              </a:lnSpc>
              <a:spcBef>
                <a:spcPts val="1000"/>
              </a:spcBef>
              <a:spcAft>
                <a:spcPts val="0"/>
              </a:spcAft>
              <a:buClr>
                <a:srgbClr val="273239"/>
              </a:buClr>
              <a:buSzPts val="2000"/>
              <a:buChar char="•"/>
            </a:pPr>
            <a:r>
              <a:rPr b="1" i="0" lang="en-US" sz="2000">
                <a:solidFill>
                  <a:srgbClr val="273239"/>
                </a:solidFill>
                <a:latin typeface="Nunito"/>
                <a:ea typeface="Nunito"/>
                <a:cs typeface="Nunito"/>
                <a:sym typeface="Nunito"/>
              </a:rPr>
              <a:t>For Example,</a:t>
            </a:r>
            <a:r>
              <a:rPr b="0" i="0" lang="en-US" sz="2000">
                <a:solidFill>
                  <a:srgbClr val="273239"/>
                </a:solidFill>
                <a:latin typeface="Nunito"/>
                <a:ea typeface="Nunito"/>
                <a:cs typeface="Nunito"/>
                <a:sym typeface="Nunito"/>
              </a:rPr>
              <a:t> A company may store the information of dependents (Parents, Children, Spouse) of an Employee. But the dependents don’t have existed without the employee. So Dependent will be a </a:t>
            </a:r>
            <a:r>
              <a:rPr b="1" i="0" lang="en-US" sz="2000">
                <a:solidFill>
                  <a:srgbClr val="273239"/>
                </a:solidFill>
                <a:latin typeface="Nunito"/>
                <a:ea typeface="Nunito"/>
                <a:cs typeface="Nunito"/>
                <a:sym typeface="Nunito"/>
              </a:rPr>
              <a:t>Weak Entity Type</a:t>
            </a:r>
            <a:r>
              <a:rPr b="0" i="0" lang="en-US" sz="2000">
                <a:solidFill>
                  <a:srgbClr val="273239"/>
                </a:solidFill>
                <a:latin typeface="Nunito"/>
                <a:ea typeface="Nunito"/>
                <a:cs typeface="Nunito"/>
                <a:sym typeface="Nunito"/>
              </a:rPr>
              <a:t> and Employee will be Identifying Entity type for Dependent, which means it is </a:t>
            </a:r>
            <a:r>
              <a:rPr b="1" i="0" lang="en-US" sz="2000">
                <a:solidFill>
                  <a:srgbClr val="273239"/>
                </a:solidFill>
                <a:latin typeface="Nunito"/>
                <a:ea typeface="Nunito"/>
                <a:cs typeface="Nunito"/>
                <a:sym typeface="Nunito"/>
              </a:rPr>
              <a:t>Strong Entity Type</a:t>
            </a:r>
            <a:r>
              <a:rPr b="0" i="0" lang="en-US" sz="2000">
                <a:solidFill>
                  <a:srgbClr val="273239"/>
                </a:solidFill>
                <a:latin typeface="Nunito"/>
                <a:ea typeface="Nunito"/>
                <a:cs typeface="Nunito"/>
                <a:sym typeface="Nunito"/>
              </a:rPr>
              <a:t>.</a:t>
            </a:r>
            <a:endParaRPr/>
          </a:p>
          <a:p>
            <a:pPr indent="-50800" lvl="0" marL="228600" rtl="0" algn="l">
              <a:lnSpc>
                <a:spcPct val="90000"/>
              </a:lnSpc>
              <a:spcBef>
                <a:spcPts val="1000"/>
              </a:spcBef>
              <a:spcAft>
                <a:spcPts val="0"/>
              </a:spcAft>
              <a:buClr>
                <a:schemeClr val="dk1"/>
              </a:buClr>
              <a:buSzPts val="2800"/>
              <a:buNone/>
            </a:pPr>
            <a:r>
              <a:t/>
            </a:r>
            <a:endParaRPr/>
          </a:p>
        </p:txBody>
      </p:sp>
      <p:pic>
        <p:nvPicPr>
          <p:cNvPr descr="Strong Entity and Weak Entity" id="140" name="Google Shape;140;p21"/>
          <p:cNvPicPr preferRelativeResize="0"/>
          <p:nvPr/>
        </p:nvPicPr>
        <p:blipFill rotWithShape="1">
          <a:blip r:embed="rId3">
            <a:alphaModFix/>
          </a:blip>
          <a:srcRect b="0" l="0" r="0" t="0"/>
          <a:stretch/>
        </p:blipFill>
        <p:spPr>
          <a:xfrm>
            <a:off x="1621855" y="4322123"/>
            <a:ext cx="7681039" cy="174400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9">
                                            <p:txEl>
                                              <p:pRg end="0" st="0"/>
                                            </p:txEl>
                                          </p:spTgt>
                                        </p:tgtEl>
                                        <p:attrNameLst>
                                          <p:attrName>style.visibility</p:attrName>
                                        </p:attrNameLst>
                                      </p:cBhvr>
                                      <p:to>
                                        <p:strVal val="visible"/>
                                      </p:to>
                                    </p:set>
                                    <p:anim calcmode="lin" valueType="num">
                                      <p:cBhvr additive="base">
                                        <p:cTn dur="500"/>
                                        <p:tgtEl>
                                          <p:spTgt spid="13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9">
                                            <p:txEl>
                                              <p:pRg end="1" st="1"/>
                                            </p:txEl>
                                          </p:spTgt>
                                        </p:tgtEl>
                                        <p:attrNameLst>
                                          <p:attrName>style.visibility</p:attrName>
                                        </p:attrNameLst>
                                      </p:cBhvr>
                                      <p:to>
                                        <p:strVal val="visible"/>
                                      </p:to>
                                    </p:set>
                                    <p:anim calcmode="lin" valueType="num">
                                      <p:cBhvr additive="base">
                                        <p:cTn dur="500"/>
                                        <p:tgtEl>
                                          <p:spTgt spid="13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9">
                                            <p:txEl>
                                              <p:pRg end="2" st="2"/>
                                            </p:txEl>
                                          </p:spTgt>
                                        </p:tgtEl>
                                        <p:attrNameLst>
                                          <p:attrName>style.visibility</p:attrName>
                                        </p:attrNameLst>
                                      </p:cBhvr>
                                      <p:to>
                                        <p:strVal val="visible"/>
                                      </p:to>
                                    </p:set>
                                    <p:anim calcmode="lin" valueType="num">
                                      <p:cBhvr additive="base">
                                        <p:cTn dur="500"/>
                                        <p:tgtEl>
                                          <p:spTgt spid="13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9">
                                            <p:txEl>
                                              <p:pRg end="3" st="3"/>
                                            </p:txEl>
                                          </p:spTgt>
                                        </p:tgtEl>
                                        <p:attrNameLst>
                                          <p:attrName>style.visibility</p:attrName>
                                        </p:attrNameLst>
                                      </p:cBhvr>
                                      <p:to>
                                        <p:strVal val="visible"/>
                                      </p:to>
                                    </p:set>
                                    <p:anim calcmode="lin" valueType="num">
                                      <p:cBhvr additive="base">
                                        <p:cTn dur="500"/>
                                        <p:tgtEl>
                                          <p:spTgt spid="13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9">
                                            <p:txEl>
                                              <p:pRg end="4" st="4"/>
                                            </p:txEl>
                                          </p:spTgt>
                                        </p:tgtEl>
                                        <p:attrNameLst>
                                          <p:attrName>style.visibility</p:attrName>
                                        </p:attrNameLst>
                                      </p:cBhvr>
                                      <p:to>
                                        <p:strVal val="visible"/>
                                      </p:to>
                                    </p:set>
                                    <p:anim calcmode="lin" valueType="num">
                                      <p:cBhvr additive="base">
                                        <p:cTn dur="500"/>
                                        <p:tgtEl>
                                          <p:spTgt spid="139">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9">
                                            <p:txEl>
                                              <p:pRg end="5" st="5"/>
                                            </p:txEl>
                                          </p:spTgt>
                                        </p:tgtEl>
                                        <p:attrNameLst>
                                          <p:attrName>style.visibility</p:attrName>
                                        </p:attrNameLst>
                                      </p:cBhvr>
                                      <p:to>
                                        <p:strVal val="visible"/>
                                      </p:to>
                                    </p:set>
                                    <p:anim calcmode="lin" valueType="num">
                                      <p:cBhvr additive="base">
                                        <p:cTn dur="500"/>
                                        <p:tgtEl>
                                          <p:spTgt spid="139">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2000"/>
                                        <p:tgtEl>
                                          <p:spTgt spid="1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2"/>
          <p:cNvSpPr txBox="1"/>
          <p:nvPr>
            <p:ph type="title"/>
          </p:nvPr>
        </p:nvSpPr>
        <p:spPr>
          <a:xfrm>
            <a:off x="838200" y="365126"/>
            <a:ext cx="10515600" cy="92334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73239"/>
              </a:buClr>
              <a:buSzPts val="4400"/>
              <a:buFont typeface="Nunito"/>
              <a:buNone/>
            </a:pPr>
            <a:r>
              <a:rPr b="1" i="0" lang="en-US">
                <a:solidFill>
                  <a:srgbClr val="273239"/>
                </a:solidFill>
                <a:latin typeface="Nunito"/>
                <a:ea typeface="Nunito"/>
                <a:cs typeface="Nunito"/>
                <a:sym typeface="Nunito"/>
              </a:rPr>
              <a:t>Attributes</a:t>
            </a:r>
            <a:endParaRPr/>
          </a:p>
        </p:txBody>
      </p:sp>
      <p:sp>
        <p:nvSpPr>
          <p:cNvPr id="146" name="Google Shape;146;p22"/>
          <p:cNvSpPr txBox="1"/>
          <p:nvPr>
            <p:ph idx="1" type="body"/>
          </p:nvPr>
        </p:nvSpPr>
        <p:spPr>
          <a:xfrm>
            <a:off x="720436" y="1191492"/>
            <a:ext cx="10633364" cy="4985472"/>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just">
              <a:lnSpc>
                <a:spcPct val="90000"/>
              </a:lnSpc>
              <a:spcBef>
                <a:spcPts val="0"/>
              </a:spcBef>
              <a:spcAft>
                <a:spcPts val="0"/>
              </a:spcAft>
              <a:buClr>
                <a:srgbClr val="273239"/>
              </a:buClr>
              <a:buSzPct val="100000"/>
              <a:buChar char="•"/>
            </a:pPr>
            <a:r>
              <a:rPr b="0" i="0" lang="en-US" u="sng">
                <a:solidFill>
                  <a:srgbClr val="273239"/>
                </a:solidFill>
                <a:latin typeface="Nunito"/>
                <a:ea typeface="Nunito"/>
                <a:cs typeface="Nunito"/>
                <a:sym typeface="Nunito"/>
              </a:rPr>
              <a:t>Attributes</a:t>
            </a:r>
            <a:r>
              <a:rPr b="0" i="0" lang="en-US">
                <a:solidFill>
                  <a:srgbClr val="273239"/>
                </a:solidFill>
                <a:latin typeface="Nunito"/>
                <a:ea typeface="Nunito"/>
                <a:cs typeface="Nunito"/>
                <a:sym typeface="Nunito"/>
              </a:rPr>
              <a:t> are the properties that define the entity type. For example, Roll_No, Name, DOB, Age, Address, and Mobile_No are the attributes that define entity type Student. </a:t>
            </a:r>
            <a:endParaRPr/>
          </a:p>
          <a:p>
            <a:pPr indent="-228600" lvl="0" marL="228600" rtl="0" algn="l">
              <a:lnSpc>
                <a:spcPct val="90000"/>
              </a:lnSpc>
              <a:spcBef>
                <a:spcPts val="1000"/>
              </a:spcBef>
              <a:spcAft>
                <a:spcPts val="0"/>
              </a:spcAft>
              <a:buClr>
                <a:srgbClr val="273239"/>
              </a:buClr>
              <a:buSzPct val="100000"/>
              <a:buChar char="•"/>
            </a:pPr>
            <a:r>
              <a:rPr b="1" i="0" lang="en-US">
                <a:solidFill>
                  <a:srgbClr val="273239"/>
                </a:solidFill>
                <a:latin typeface="Nunito"/>
                <a:ea typeface="Nunito"/>
                <a:cs typeface="Nunito"/>
                <a:sym typeface="Nunito"/>
              </a:rPr>
              <a:t>Key Attribute</a:t>
            </a:r>
            <a:endParaRPr/>
          </a:p>
          <a:p>
            <a:pPr indent="-228600" lvl="0" marL="228600" rtl="0" algn="just">
              <a:lnSpc>
                <a:spcPct val="90000"/>
              </a:lnSpc>
              <a:spcBef>
                <a:spcPts val="1000"/>
              </a:spcBef>
              <a:spcAft>
                <a:spcPts val="0"/>
              </a:spcAft>
              <a:buClr>
                <a:srgbClr val="273239"/>
              </a:buClr>
              <a:buSzPct val="100000"/>
              <a:buChar char="•"/>
            </a:pPr>
            <a:r>
              <a:rPr b="0" i="0" lang="en-US">
                <a:solidFill>
                  <a:srgbClr val="273239"/>
                </a:solidFill>
                <a:latin typeface="Nunito"/>
                <a:ea typeface="Nunito"/>
                <a:cs typeface="Nunito"/>
                <a:sym typeface="Nunito"/>
              </a:rPr>
              <a:t>The attribute which </a:t>
            </a:r>
            <a:r>
              <a:rPr b="1" i="0" lang="en-US">
                <a:solidFill>
                  <a:srgbClr val="273239"/>
                </a:solidFill>
                <a:latin typeface="Nunito"/>
                <a:ea typeface="Nunito"/>
                <a:cs typeface="Nunito"/>
                <a:sym typeface="Nunito"/>
              </a:rPr>
              <a:t>uniquely identifies each entity</a:t>
            </a:r>
            <a:r>
              <a:rPr b="0" i="0" lang="en-US">
                <a:solidFill>
                  <a:srgbClr val="273239"/>
                </a:solidFill>
                <a:latin typeface="Nunito"/>
                <a:ea typeface="Nunito"/>
                <a:cs typeface="Nunito"/>
                <a:sym typeface="Nunito"/>
              </a:rPr>
              <a:t> in the entity set is called the key attribute. For example, Roll_No will be unique for each student.</a:t>
            </a:r>
            <a:endParaRPr/>
          </a:p>
          <a:p>
            <a:pPr indent="-228600" lvl="0" marL="228600" rtl="0" algn="l">
              <a:lnSpc>
                <a:spcPct val="90000"/>
              </a:lnSpc>
              <a:spcBef>
                <a:spcPts val="1000"/>
              </a:spcBef>
              <a:spcAft>
                <a:spcPts val="0"/>
              </a:spcAft>
              <a:buClr>
                <a:srgbClr val="273239"/>
              </a:buClr>
              <a:buSzPct val="100000"/>
              <a:buChar char="•"/>
            </a:pPr>
            <a:r>
              <a:rPr b="1" i="0" lang="en-US">
                <a:solidFill>
                  <a:srgbClr val="273239"/>
                </a:solidFill>
                <a:latin typeface="Nunito"/>
                <a:ea typeface="Nunito"/>
                <a:cs typeface="Nunito"/>
                <a:sym typeface="Nunito"/>
              </a:rPr>
              <a:t>Composite Attribute</a:t>
            </a:r>
            <a:endParaRPr/>
          </a:p>
          <a:p>
            <a:pPr indent="-228600" lvl="0" marL="228600" rtl="0" algn="just">
              <a:lnSpc>
                <a:spcPct val="90000"/>
              </a:lnSpc>
              <a:spcBef>
                <a:spcPts val="1000"/>
              </a:spcBef>
              <a:spcAft>
                <a:spcPts val="0"/>
              </a:spcAft>
              <a:buClr>
                <a:srgbClr val="273239"/>
              </a:buClr>
              <a:buSzPct val="100000"/>
              <a:buChar char="•"/>
            </a:pPr>
            <a:r>
              <a:rPr b="0" i="0" lang="en-US">
                <a:solidFill>
                  <a:srgbClr val="273239"/>
                </a:solidFill>
                <a:latin typeface="Nunito"/>
                <a:ea typeface="Nunito"/>
                <a:cs typeface="Nunito"/>
                <a:sym typeface="Nunito"/>
              </a:rPr>
              <a:t>An attribute </a:t>
            </a:r>
            <a:r>
              <a:rPr b="1" i="0" lang="en-US">
                <a:solidFill>
                  <a:srgbClr val="273239"/>
                </a:solidFill>
                <a:latin typeface="Nunito"/>
                <a:ea typeface="Nunito"/>
                <a:cs typeface="Nunito"/>
                <a:sym typeface="Nunito"/>
              </a:rPr>
              <a:t>composed of many other attributes</a:t>
            </a:r>
            <a:r>
              <a:rPr b="0" i="0" lang="en-US">
                <a:solidFill>
                  <a:srgbClr val="273239"/>
                </a:solidFill>
                <a:latin typeface="Nunito"/>
                <a:ea typeface="Nunito"/>
                <a:cs typeface="Nunito"/>
                <a:sym typeface="Nunito"/>
              </a:rPr>
              <a:t> is called a composite attribute. For example, the Address attribute of the student Entity type consists of Street, City, State, and Country. In ER diagram, the composite attribute is represented by an oval comprising of ovals. </a:t>
            </a:r>
            <a:endParaRPr/>
          </a:p>
          <a:p>
            <a:pPr indent="-228600" lvl="0" marL="228600" rtl="0" algn="just">
              <a:lnSpc>
                <a:spcPct val="90000"/>
              </a:lnSpc>
              <a:spcBef>
                <a:spcPts val="1000"/>
              </a:spcBef>
              <a:spcAft>
                <a:spcPts val="0"/>
              </a:spcAft>
              <a:buClr>
                <a:srgbClr val="273239"/>
              </a:buClr>
              <a:buSzPct val="100000"/>
              <a:buChar char="•"/>
            </a:pPr>
            <a:r>
              <a:rPr b="1" i="0" lang="en-US">
                <a:solidFill>
                  <a:srgbClr val="273239"/>
                </a:solidFill>
                <a:latin typeface="Nunito"/>
                <a:ea typeface="Nunito"/>
                <a:cs typeface="Nunito"/>
                <a:sym typeface="Nunito"/>
              </a:rPr>
              <a:t>Multivalued Attribute</a:t>
            </a:r>
            <a:endParaRPr/>
          </a:p>
          <a:p>
            <a:pPr indent="-228600" lvl="0" marL="228600" rtl="0" algn="just">
              <a:lnSpc>
                <a:spcPct val="90000"/>
              </a:lnSpc>
              <a:spcBef>
                <a:spcPts val="1000"/>
              </a:spcBef>
              <a:spcAft>
                <a:spcPts val="0"/>
              </a:spcAft>
              <a:buClr>
                <a:srgbClr val="273239"/>
              </a:buClr>
              <a:buSzPct val="100000"/>
              <a:buChar char="•"/>
            </a:pPr>
            <a:r>
              <a:rPr b="0" i="0" lang="en-US">
                <a:solidFill>
                  <a:srgbClr val="273239"/>
                </a:solidFill>
                <a:latin typeface="Nunito"/>
                <a:ea typeface="Nunito"/>
                <a:cs typeface="Nunito"/>
                <a:sym typeface="Nunito"/>
              </a:rPr>
              <a:t>An attribute consisting of more than one value for a given entity. For example, Phone_No (can be more than one for a given student). </a:t>
            </a:r>
            <a:endParaRPr/>
          </a:p>
          <a:p>
            <a:pPr indent="-228600" lvl="0" marL="228600" rtl="0" algn="l">
              <a:lnSpc>
                <a:spcPct val="90000"/>
              </a:lnSpc>
              <a:spcBef>
                <a:spcPts val="1000"/>
              </a:spcBef>
              <a:spcAft>
                <a:spcPts val="0"/>
              </a:spcAft>
              <a:buClr>
                <a:srgbClr val="273239"/>
              </a:buClr>
              <a:buSzPct val="100000"/>
              <a:buChar char="•"/>
            </a:pPr>
            <a:r>
              <a:rPr b="1" i="0" lang="en-US">
                <a:solidFill>
                  <a:srgbClr val="273239"/>
                </a:solidFill>
                <a:latin typeface="Nunito"/>
                <a:ea typeface="Nunito"/>
                <a:cs typeface="Nunito"/>
                <a:sym typeface="Nunito"/>
              </a:rPr>
              <a:t>Derived Attribute</a:t>
            </a:r>
            <a:endParaRPr/>
          </a:p>
          <a:p>
            <a:pPr indent="-228600" lvl="0" marL="228600" rtl="0" algn="just">
              <a:lnSpc>
                <a:spcPct val="90000"/>
              </a:lnSpc>
              <a:spcBef>
                <a:spcPts val="1000"/>
              </a:spcBef>
              <a:spcAft>
                <a:spcPts val="0"/>
              </a:spcAft>
              <a:buClr>
                <a:srgbClr val="273239"/>
              </a:buClr>
              <a:buSzPct val="100000"/>
              <a:buChar char="•"/>
            </a:pPr>
            <a:r>
              <a:rPr b="0" i="0" lang="en-US">
                <a:solidFill>
                  <a:srgbClr val="273239"/>
                </a:solidFill>
                <a:latin typeface="Nunito"/>
                <a:ea typeface="Nunito"/>
                <a:cs typeface="Nunito"/>
                <a:sym typeface="Nunito"/>
              </a:rPr>
              <a:t>An attribute that can be derived from other attributes of the entity type is known as a derived attribute. e.g.; Age (can be derived from DOB).</a:t>
            </a:r>
            <a:endParaRPr/>
          </a:p>
          <a:p>
            <a:pPr indent="-104140" lvl="0" marL="228600" rtl="0" algn="just">
              <a:lnSpc>
                <a:spcPct val="90000"/>
              </a:lnSpc>
              <a:spcBef>
                <a:spcPts val="1000"/>
              </a:spcBef>
              <a:spcAft>
                <a:spcPts val="0"/>
              </a:spcAft>
              <a:buClr>
                <a:schemeClr val="dk1"/>
              </a:buClr>
              <a:buSzPct val="100000"/>
              <a:buNone/>
            </a:pPr>
            <a:r>
              <a:t/>
            </a:r>
            <a:endParaRPr b="0" i="0">
              <a:solidFill>
                <a:srgbClr val="273239"/>
              </a:solidFill>
              <a:latin typeface="Nunito"/>
              <a:ea typeface="Nunito"/>
              <a:cs typeface="Nunito"/>
              <a:sym typeface="Nunito"/>
            </a:endParaRPr>
          </a:p>
          <a:p>
            <a:pPr indent="-104140" lvl="0" marL="228600" rtl="0" algn="just">
              <a:lnSpc>
                <a:spcPct val="90000"/>
              </a:lnSpc>
              <a:spcBef>
                <a:spcPts val="1000"/>
              </a:spcBef>
              <a:spcAft>
                <a:spcPts val="0"/>
              </a:spcAft>
              <a:buClr>
                <a:schemeClr val="dk1"/>
              </a:buClr>
              <a:buSzPct val="100000"/>
              <a:buNone/>
            </a:pPr>
            <a:r>
              <a:t/>
            </a:r>
            <a:endParaRPr b="0" i="0">
              <a:solidFill>
                <a:srgbClr val="273239"/>
              </a:solidFill>
              <a:latin typeface="Nunito"/>
              <a:ea typeface="Nunito"/>
              <a:cs typeface="Nunito"/>
              <a:sym typeface="Nunito"/>
            </a:endParaRPr>
          </a:p>
          <a:p>
            <a:pPr indent="-104140" lvl="0" marL="228600" rtl="0" algn="l">
              <a:lnSpc>
                <a:spcPct val="90000"/>
              </a:lnSpc>
              <a:spcBef>
                <a:spcPts val="1000"/>
              </a:spcBef>
              <a:spcAft>
                <a:spcPts val="0"/>
              </a:spcAft>
              <a:buClr>
                <a:schemeClr val="dk1"/>
              </a:buClr>
              <a:buSzPct val="1000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6">
                                            <p:txEl>
                                              <p:pRg end="0" st="0"/>
                                            </p:txEl>
                                          </p:spTgt>
                                        </p:tgtEl>
                                        <p:attrNameLst>
                                          <p:attrName>style.visibility</p:attrName>
                                        </p:attrNameLst>
                                      </p:cBhvr>
                                      <p:to>
                                        <p:strVal val="visible"/>
                                      </p:to>
                                    </p:set>
                                    <p:anim calcmode="lin" valueType="num">
                                      <p:cBhvr additive="base">
                                        <p:cTn dur="500"/>
                                        <p:tgtEl>
                                          <p:spTgt spid="14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6">
                                            <p:txEl>
                                              <p:pRg end="1" st="1"/>
                                            </p:txEl>
                                          </p:spTgt>
                                        </p:tgtEl>
                                        <p:attrNameLst>
                                          <p:attrName>style.visibility</p:attrName>
                                        </p:attrNameLst>
                                      </p:cBhvr>
                                      <p:to>
                                        <p:strVal val="visible"/>
                                      </p:to>
                                    </p:set>
                                    <p:anim calcmode="lin" valueType="num">
                                      <p:cBhvr additive="base">
                                        <p:cTn dur="500"/>
                                        <p:tgtEl>
                                          <p:spTgt spid="14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6">
                                            <p:txEl>
                                              <p:pRg end="2" st="2"/>
                                            </p:txEl>
                                          </p:spTgt>
                                        </p:tgtEl>
                                        <p:attrNameLst>
                                          <p:attrName>style.visibility</p:attrName>
                                        </p:attrNameLst>
                                      </p:cBhvr>
                                      <p:to>
                                        <p:strVal val="visible"/>
                                      </p:to>
                                    </p:set>
                                    <p:anim calcmode="lin" valueType="num">
                                      <p:cBhvr additive="base">
                                        <p:cTn dur="500"/>
                                        <p:tgtEl>
                                          <p:spTgt spid="14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6">
                                            <p:txEl>
                                              <p:pRg end="3" st="3"/>
                                            </p:txEl>
                                          </p:spTgt>
                                        </p:tgtEl>
                                        <p:attrNameLst>
                                          <p:attrName>style.visibility</p:attrName>
                                        </p:attrNameLst>
                                      </p:cBhvr>
                                      <p:to>
                                        <p:strVal val="visible"/>
                                      </p:to>
                                    </p:set>
                                    <p:anim calcmode="lin" valueType="num">
                                      <p:cBhvr additive="base">
                                        <p:cTn dur="500"/>
                                        <p:tgtEl>
                                          <p:spTgt spid="14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6">
                                            <p:txEl>
                                              <p:pRg end="4" st="4"/>
                                            </p:txEl>
                                          </p:spTgt>
                                        </p:tgtEl>
                                        <p:attrNameLst>
                                          <p:attrName>style.visibility</p:attrName>
                                        </p:attrNameLst>
                                      </p:cBhvr>
                                      <p:to>
                                        <p:strVal val="visible"/>
                                      </p:to>
                                    </p:set>
                                    <p:anim calcmode="lin" valueType="num">
                                      <p:cBhvr additive="base">
                                        <p:cTn dur="500"/>
                                        <p:tgtEl>
                                          <p:spTgt spid="146">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6">
                                            <p:txEl>
                                              <p:pRg end="5" st="5"/>
                                            </p:txEl>
                                          </p:spTgt>
                                        </p:tgtEl>
                                        <p:attrNameLst>
                                          <p:attrName>style.visibility</p:attrName>
                                        </p:attrNameLst>
                                      </p:cBhvr>
                                      <p:to>
                                        <p:strVal val="visible"/>
                                      </p:to>
                                    </p:set>
                                    <p:anim calcmode="lin" valueType="num">
                                      <p:cBhvr additive="base">
                                        <p:cTn dur="500"/>
                                        <p:tgtEl>
                                          <p:spTgt spid="146">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6">
                                            <p:txEl>
                                              <p:pRg end="6" st="6"/>
                                            </p:txEl>
                                          </p:spTgt>
                                        </p:tgtEl>
                                        <p:attrNameLst>
                                          <p:attrName>style.visibility</p:attrName>
                                        </p:attrNameLst>
                                      </p:cBhvr>
                                      <p:to>
                                        <p:strVal val="visible"/>
                                      </p:to>
                                    </p:set>
                                    <p:anim calcmode="lin" valueType="num">
                                      <p:cBhvr additive="base">
                                        <p:cTn dur="500"/>
                                        <p:tgtEl>
                                          <p:spTgt spid="146">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6">
                                            <p:txEl>
                                              <p:pRg end="7" st="7"/>
                                            </p:txEl>
                                          </p:spTgt>
                                        </p:tgtEl>
                                        <p:attrNameLst>
                                          <p:attrName>style.visibility</p:attrName>
                                        </p:attrNameLst>
                                      </p:cBhvr>
                                      <p:to>
                                        <p:strVal val="visible"/>
                                      </p:to>
                                    </p:set>
                                    <p:anim calcmode="lin" valueType="num">
                                      <p:cBhvr additive="base">
                                        <p:cTn dur="500"/>
                                        <p:tgtEl>
                                          <p:spTgt spid="146">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6">
                                            <p:txEl>
                                              <p:pRg end="8" st="8"/>
                                            </p:txEl>
                                          </p:spTgt>
                                        </p:tgtEl>
                                        <p:attrNameLst>
                                          <p:attrName>style.visibility</p:attrName>
                                        </p:attrNameLst>
                                      </p:cBhvr>
                                      <p:to>
                                        <p:strVal val="visible"/>
                                      </p:to>
                                    </p:set>
                                    <p:anim calcmode="lin" valueType="num">
                                      <p:cBhvr additive="base">
                                        <p:cTn dur="500"/>
                                        <p:tgtEl>
                                          <p:spTgt spid="146">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6">
                                            <p:txEl>
                                              <p:pRg end="9" st="9"/>
                                            </p:txEl>
                                          </p:spTgt>
                                        </p:tgtEl>
                                        <p:attrNameLst>
                                          <p:attrName>style.visibility</p:attrName>
                                        </p:attrNameLst>
                                      </p:cBhvr>
                                      <p:to>
                                        <p:strVal val="visible"/>
                                      </p:to>
                                    </p:set>
                                    <p:anim calcmode="lin" valueType="num">
                                      <p:cBhvr additive="base">
                                        <p:cTn dur="500"/>
                                        <p:tgtEl>
                                          <p:spTgt spid="146">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6">
                                            <p:txEl>
                                              <p:pRg end="10" st="10"/>
                                            </p:txEl>
                                          </p:spTgt>
                                        </p:tgtEl>
                                        <p:attrNameLst>
                                          <p:attrName>style.visibility</p:attrName>
                                        </p:attrNameLst>
                                      </p:cBhvr>
                                      <p:to>
                                        <p:strVal val="visible"/>
                                      </p:to>
                                    </p:set>
                                    <p:anim calcmode="lin" valueType="num">
                                      <p:cBhvr additive="base">
                                        <p:cTn dur="500"/>
                                        <p:tgtEl>
                                          <p:spTgt spid="146">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6">
                                            <p:txEl>
                                              <p:pRg end="11" st="11"/>
                                            </p:txEl>
                                          </p:spTgt>
                                        </p:tgtEl>
                                        <p:attrNameLst>
                                          <p:attrName>style.visibility</p:attrName>
                                        </p:attrNameLst>
                                      </p:cBhvr>
                                      <p:to>
                                        <p:strVal val="visible"/>
                                      </p:to>
                                    </p:set>
                                    <p:anim calcmode="lin" valueType="num">
                                      <p:cBhvr additive="base">
                                        <p:cTn dur="500"/>
                                        <p:tgtEl>
                                          <p:spTgt spid="146">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52" name="Google Shape;152;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descr="Entity and Attributes" id="153" name="Google Shape;153;p23"/>
          <p:cNvPicPr preferRelativeResize="0"/>
          <p:nvPr/>
        </p:nvPicPr>
        <p:blipFill rotWithShape="1">
          <a:blip r:embed="rId3">
            <a:alphaModFix/>
          </a:blip>
          <a:srcRect b="0" l="0" r="0" t="0"/>
          <a:stretch/>
        </p:blipFill>
        <p:spPr>
          <a:xfrm>
            <a:off x="2285999" y="615092"/>
            <a:ext cx="7405543" cy="501441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 COMPANY Database</a:t>
            </a:r>
            <a:endParaRPr/>
          </a:p>
        </p:txBody>
      </p:sp>
      <p:sp>
        <p:nvSpPr>
          <p:cNvPr id="159" name="Google Shape;159;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We need to create a database schema design based on the following (simplified) requirements of the COMPANY Database:</a:t>
            </a:r>
            <a:endParaRPr/>
          </a:p>
          <a:p>
            <a:pPr indent="-228600" lvl="1" marL="685800" rtl="0" algn="l">
              <a:lnSpc>
                <a:spcPct val="90000"/>
              </a:lnSpc>
              <a:spcBef>
                <a:spcPts val="500"/>
              </a:spcBef>
              <a:spcAft>
                <a:spcPts val="0"/>
              </a:spcAft>
              <a:buClr>
                <a:schemeClr val="dk1"/>
              </a:buClr>
              <a:buSzPts val="2400"/>
              <a:buChar char="•"/>
            </a:pPr>
            <a:r>
              <a:rPr lang="en-US"/>
              <a:t>The company is organized into DEPARTMENTs. Each department has a name, number and an employee who manages the department. </a:t>
            </a:r>
            <a:endParaRPr/>
          </a:p>
          <a:p>
            <a:pPr indent="-228600" lvl="1" marL="685800" rtl="0" algn="l">
              <a:lnSpc>
                <a:spcPct val="90000"/>
              </a:lnSpc>
              <a:spcBef>
                <a:spcPts val="500"/>
              </a:spcBef>
              <a:spcAft>
                <a:spcPts val="0"/>
              </a:spcAft>
              <a:buClr>
                <a:schemeClr val="dk1"/>
              </a:buClr>
              <a:buSzPts val="2400"/>
              <a:buChar char="•"/>
            </a:pPr>
            <a:r>
              <a:rPr lang="en-US"/>
              <a:t>We keep track of the start date of the department manager. A department may have several locations.</a:t>
            </a:r>
            <a:endParaRPr/>
          </a:p>
          <a:p>
            <a:pPr indent="-50800" lvl="0" marL="228600" rtl="0" algn="l">
              <a:lnSpc>
                <a:spcPct val="90000"/>
              </a:lnSpc>
              <a:spcBef>
                <a:spcPts val="1000"/>
              </a:spcBef>
              <a:spcAft>
                <a:spcPts val="0"/>
              </a:spcAft>
              <a:buClr>
                <a:schemeClr val="dk1"/>
              </a:buClr>
              <a:buSzPts val="2800"/>
              <a:buNone/>
            </a:pPr>
            <a:r>
              <a:t/>
            </a:r>
            <a:endParaRPr/>
          </a:p>
          <a:p>
            <a:pPr indent="-228600" lvl="1" marL="685800" rtl="0" algn="l">
              <a:lnSpc>
                <a:spcPct val="90000"/>
              </a:lnSpc>
              <a:spcBef>
                <a:spcPts val="500"/>
              </a:spcBef>
              <a:spcAft>
                <a:spcPts val="0"/>
              </a:spcAft>
              <a:buClr>
                <a:schemeClr val="dk1"/>
              </a:buClr>
              <a:buSzPts val="2400"/>
              <a:buChar char="•"/>
            </a:pPr>
            <a:r>
              <a:rPr lang="en-US"/>
              <a:t>Each department controls a number of PROJECTs. Each project has a unique name, unique number and is located at a single location.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5"/>
          <p:cNvSpPr txBox="1"/>
          <p:nvPr>
            <p:ph idx="1" type="body"/>
          </p:nvPr>
        </p:nvSpPr>
        <p:spPr>
          <a:xfrm>
            <a:off x="545690" y="530942"/>
            <a:ext cx="10808110" cy="564602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We store each EMPLOYEE’s social security number, address,salary, gender, and birthdate.</a:t>
            </a:r>
            <a:endParaRPr/>
          </a:p>
          <a:p>
            <a:pPr indent="-228600" lvl="1" marL="685800" rtl="0" algn="l">
              <a:lnSpc>
                <a:spcPct val="90000"/>
              </a:lnSpc>
              <a:spcBef>
                <a:spcPts val="500"/>
              </a:spcBef>
              <a:spcAft>
                <a:spcPts val="0"/>
              </a:spcAft>
              <a:buClr>
                <a:schemeClr val="dk1"/>
              </a:buClr>
              <a:buSzPts val="2400"/>
              <a:buChar char="•"/>
            </a:pPr>
            <a:r>
              <a:rPr lang="en-US"/>
              <a:t>Each employee works for one department but may work on several projects.</a:t>
            </a:r>
            <a:endParaRPr/>
          </a:p>
          <a:p>
            <a:pPr indent="-76200" lvl="1" marL="685800" rtl="0" algn="l">
              <a:lnSpc>
                <a:spcPct val="90000"/>
              </a:lnSpc>
              <a:spcBef>
                <a:spcPts val="500"/>
              </a:spcBef>
              <a:spcAft>
                <a:spcPts val="0"/>
              </a:spcAft>
              <a:buClr>
                <a:schemeClr val="dk1"/>
              </a:buClr>
              <a:buSzPts val="2400"/>
              <a:buNone/>
            </a:pPr>
            <a:r>
              <a:t/>
            </a:r>
            <a:endParaRPr/>
          </a:p>
          <a:p>
            <a:pPr indent="-228600" lvl="1" marL="685800" rtl="0" algn="l">
              <a:lnSpc>
                <a:spcPct val="90000"/>
              </a:lnSpc>
              <a:spcBef>
                <a:spcPts val="500"/>
              </a:spcBef>
              <a:spcAft>
                <a:spcPts val="0"/>
              </a:spcAft>
              <a:buClr>
                <a:schemeClr val="dk1"/>
              </a:buClr>
              <a:buSzPts val="2400"/>
              <a:buChar char="•"/>
            </a:pPr>
            <a:r>
              <a:rPr lang="en-US"/>
              <a:t>We keep track of the number of hours per week that an employee currently works on each project.</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We also keep track of the direct supervisor of each employee.</a:t>
            </a:r>
            <a:endParaRPr/>
          </a:p>
          <a:p>
            <a:pPr indent="-228600" lvl="1" marL="685800" rtl="0" algn="l">
              <a:lnSpc>
                <a:spcPct val="90000"/>
              </a:lnSpc>
              <a:spcBef>
                <a:spcPts val="500"/>
              </a:spcBef>
              <a:spcAft>
                <a:spcPts val="0"/>
              </a:spcAft>
              <a:buClr>
                <a:schemeClr val="dk1"/>
              </a:buClr>
              <a:buSzPts val="2400"/>
              <a:buChar char="•"/>
            </a:pPr>
            <a:r>
              <a:rPr lang="en-US"/>
              <a:t>Each employee may have a number of DEPENDENTs.</a:t>
            </a:r>
            <a:endParaRPr/>
          </a:p>
          <a:p>
            <a:pPr indent="-76200" lvl="1" marL="685800" rtl="0" algn="l">
              <a:lnSpc>
                <a:spcPct val="90000"/>
              </a:lnSpc>
              <a:spcBef>
                <a:spcPts val="500"/>
              </a:spcBef>
              <a:spcAft>
                <a:spcPts val="0"/>
              </a:spcAft>
              <a:buClr>
                <a:schemeClr val="dk1"/>
              </a:buClr>
              <a:buSzPts val="2400"/>
              <a:buNone/>
            </a:pPr>
            <a:r>
              <a:t/>
            </a:r>
            <a:endParaRPr/>
          </a:p>
          <a:p>
            <a:pPr indent="-228600" lvl="1" marL="685800" rtl="0" algn="l">
              <a:lnSpc>
                <a:spcPct val="90000"/>
              </a:lnSpc>
              <a:spcBef>
                <a:spcPts val="500"/>
              </a:spcBef>
              <a:spcAft>
                <a:spcPts val="0"/>
              </a:spcAft>
              <a:buClr>
                <a:schemeClr val="dk1"/>
              </a:buClr>
              <a:buSzPts val="2400"/>
              <a:buChar char="•"/>
            </a:pPr>
            <a:r>
              <a:rPr lang="en-US"/>
              <a:t>For each dependent, we keep track of their name, gender, birthdate, and relationship to the employee.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ER Model Concepts</a:t>
            </a:r>
            <a:endParaRPr/>
          </a:p>
        </p:txBody>
      </p:sp>
      <p:sp>
        <p:nvSpPr>
          <p:cNvPr id="170" name="Google Shape;170;p26"/>
          <p:cNvSpPr txBox="1"/>
          <p:nvPr>
            <p:ph idx="1" type="body"/>
          </p:nvPr>
        </p:nvSpPr>
        <p:spPr>
          <a:xfrm>
            <a:off x="722671" y="1386348"/>
            <a:ext cx="10631129" cy="479061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 Entities and Attributes</a:t>
            </a:r>
            <a:endParaRPr/>
          </a:p>
          <a:p>
            <a:pPr indent="-228600" lvl="1" marL="685800" rtl="0" algn="l">
              <a:lnSpc>
                <a:spcPct val="90000"/>
              </a:lnSpc>
              <a:spcBef>
                <a:spcPts val="500"/>
              </a:spcBef>
              <a:spcAft>
                <a:spcPts val="0"/>
              </a:spcAft>
              <a:buClr>
                <a:schemeClr val="dk1"/>
              </a:buClr>
              <a:buSzPts val="2400"/>
              <a:buChar char="•"/>
            </a:pPr>
            <a:r>
              <a:rPr lang="en-US"/>
              <a:t>Entities(noun) are specific objects or things in the mini-world that are represented in the database.</a:t>
            </a:r>
            <a:endParaRPr/>
          </a:p>
          <a:p>
            <a:pPr indent="-228600" lvl="2" marL="1143000" rtl="0" algn="l">
              <a:lnSpc>
                <a:spcPct val="90000"/>
              </a:lnSpc>
              <a:spcBef>
                <a:spcPts val="500"/>
              </a:spcBef>
              <a:spcAft>
                <a:spcPts val="0"/>
              </a:spcAft>
              <a:buClr>
                <a:schemeClr val="dk1"/>
              </a:buClr>
              <a:buSzPts val="2000"/>
              <a:buChar char="•"/>
            </a:pPr>
            <a:r>
              <a:rPr lang="en-US"/>
              <a:t>For example the EMPLOYEE John Smith, the Research DEPARTMENT, the ProductX PROJECT</a:t>
            </a:r>
            <a:endParaRPr/>
          </a:p>
          <a:p>
            <a:pPr indent="-228600" lvl="1" marL="685800" rtl="0" algn="l">
              <a:lnSpc>
                <a:spcPct val="90000"/>
              </a:lnSpc>
              <a:spcBef>
                <a:spcPts val="500"/>
              </a:spcBef>
              <a:spcAft>
                <a:spcPts val="0"/>
              </a:spcAft>
              <a:buClr>
                <a:schemeClr val="dk1"/>
              </a:buClr>
              <a:buSzPts val="2400"/>
              <a:buChar char="•"/>
            </a:pPr>
            <a:r>
              <a:rPr lang="en-US"/>
              <a:t>Attributes are properties used to describe an entity.</a:t>
            </a:r>
            <a:endParaRPr/>
          </a:p>
          <a:p>
            <a:pPr indent="-228600" lvl="2" marL="1143000" rtl="0" algn="l">
              <a:lnSpc>
                <a:spcPct val="90000"/>
              </a:lnSpc>
              <a:spcBef>
                <a:spcPts val="500"/>
              </a:spcBef>
              <a:spcAft>
                <a:spcPts val="0"/>
              </a:spcAft>
              <a:buClr>
                <a:schemeClr val="dk1"/>
              </a:buClr>
              <a:buSzPts val="2000"/>
              <a:buChar char="•"/>
            </a:pPr>
            <a:r>
              <a:rPr lang="en-US"/>
              <a:t>For example an EMPLOYEE entity may have the attributes Name, SSN,Address, gender, BirthDate</a:t>
            </a:r>
            <a:endParaRPr/>
          </a:p>
          <a:p>
            <a:pPr indent="-228600" lvl="1" marL="685800" rtl="0" algn="l">
              <a:lnSpc>
                <a:spcPct val="90000"/>
              </a:lnSpc>
              <a:spcBef>
                <a:spcPts val="500"/>
              </a:spcBef>
              <a:spcAft>
                <a:spcPts val="0"/>
              </a:spcAft>
              <a:buClr>
                <a:schemeClr val="dk1"/>
              </a:buClr>
              <a:buSzPts val="2400"/>
              <a:buChar char="•"/>
            </a:pPr>
            <a:r>
              <a:rPr lang="en-US"/>
              <a:t>A specific entity will have a value for each of its attributes.</a:t>
            </a:r>
            <a:endParaRPr/>
          </a:p>
          <a:p>
            <a:pPr indent="-228600" lvl="2" marL="1143000" rtl="0" algn="l">
              <a:lnSpc>
                <a:spcPct val="90000"/>
              </a:lnSpc>
              <a:spcBef>
                <a:spcPts val="500"/>
              </a:spcBef>
              <a:spcAft>
                <a:spcPts val="0"/>
              </a:spcAft>
              <a:buClr>
                <a:schemeClr val="dk1"/>
              </a:buClr>
              <a:buSzPts val="2000"/>
              <a:buChar char="•"/>
            </a:pPr>
            <a:r>
              <a:rPr lang="en-US"/>
              <a:t>For example a specific employee entity may have Name='John Smith’, SSN='123456789', Address ='731, Fondren, Houston, TX’, gender='M’, BirthDate='09-JAN-55‘</a:t>
            </a:r>
            <a:endParaRPr/>
          </a:p>
          <a:p>
            <a:pPr indent="-228600" lvl="1" marL="685800" rtl="0" algn="l">
              <a:lnSpc>
                <a:spcPct val="90000"/>
              </a:lnSpc>
              <a:spcBef>
                <a:spcPts val="500"/>
              </a:spcBef>
              <a:spcAft>
                <a:spcPts val="0"/>
              </a:spcAft>
              <a:buClr>
                <a:schemeClr val="dk1"/>
              </a:buClr>
              <a:buSzPts val="2400"/>
              <a:buChar char="•"/>
            </a:pPr>
            <a:r>
              <a:rPr lang="en-US"/>
              <a:t>Each attribute has a value set (or data type) associated with it – e.g. integer, string, subrange, enumerated type,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Initial Design of Entity Types for the</a:t>
            </a:r>
            <a:br>
              <a:rPr lang="en-US"/>
            </a:br>
            <a:r>
              <a:rPr lang="en-US"/>
              <a:t>COMPANY Database Schema</a:t>
            </a:r>
            <a:endParaRPr/>
          </a:p>
        </p:txBody>
      </p:sp>
      <p:sp>
        <p:nvSpPr>
          <p:cNvPr id="176" name="Google Shape;176;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Based on the requirements, we can identify four initial entity types in the COMPANY database:</a:t>
            </a:r>
            <a:endParaRPr/>
          </a:p>
          <a:p>
            <a:pPr indent="-228600" lvl="1" marL="685800" rtl="0" algn="l">
              <a:lnSpc>
                <a:spcPct val="90000"/>
              </a:lnSpc>
              <a:spcBef>
                <a:spcPts val="500"/>
              </a:spcBef>
              <a:spcAft>
                <a:spcPts val="0"/>
              </a:spcAft>
              <a:buClr>
                <a:schemeClr val="dk1"/>
              </a:buClr>
              <a:buSzPts val="2400"/>
              <a:buChar char="•"/>
            </a:pPr>
            <a:r>
              <a:rPr lang="en-US"/>
              <a:t>DEPARTMENT</a:t>
            </a:r>
            <a:endParaRPr/>
          </a:p>
          <a:p>
            <a:pPr indent="-228600" lvl="1" marL="685800" rtl="0" algn="l">
              <a:lnSpc>
                <a:spcPct val="90000"/>
              </a:lnSpc>
              <a:spcBef>
                <a:spcPts val="500"/>
              </a:spcBef>
              <a:spcAft>
                <a:spcPts val="0"/>
              </a:spcAft>
              <a:buClr>
                <a:schemeClr val="dk1"/>
              </a:buClr>
              <a:buSzPts val="2400"/>
              <a:buChar char="•"/>
            </a:pPr>
            <a:r>
              <a:rPr lang="en-US"/>
              <a:t>PROJECT</a:t>
            </a:r>
            <a:endParaRPr/>
          </a:p>
          <a:p>
            <a:pPr indent="-228600" lvl="1" marL="685800" rtl="0" algn="l">
              <a:lnSpc>
                <a:spcPct val="90000"/>
              </a:lnSpc>
              <a:spcBef>
                <a:spcPts val="500"/>
              </a:spcBef>
              <a:spcAft>
                <a:spcPts val="0"/>
              </a:spcAft>
              <a:buClr>
                <a:schemeClr val="dk1"/>
              </a:buClr>
              <a:buSzPts val="2400"/>
              <a:buChar char="•"/>
            </a:pPr>
            <a:r>
              <a:rPr lang="en-US"/>
              <a:t>EMPLOYEE</a:t>
            </a:r>
            <a:endParaRPr/>
          </a:p>
          <a:p>
            <a:pPr indent="-228600" lvl="1" marL="685800" rtl="0" algn="l">
              <a:lnSpc>
                <a:spcPct val="90000"/>
              </a:lnSpc>
              <a:spcBef>
                <a:spcPts val="500"/>
              </a:spcBef>
              <a:spcAft>
                <a:spcPts val="0"/>
              </a:spcAft>
              <a:buClr>
                <a:schemeClr val="dk1"/>
              </a:buClr>
              <a:buSzPts val="2400"/>
              <a:buChar char="•"/>
            </a:pPr>
            <a:r>
              <a:rPr lang="en-US"/>
              <a:t>DEPENDENT</a:t>
            </a:r>
            <a:endParaRPr/>
          </a:p>
          <a:p>
            <a:pPr indent="-228600" lvl="0" marL="228600" rtl="0" algn="l">
              <a:lnSpc>
                <a:spcPct val="90000"/>
              </a:lnSpc>
              <a:spcBef>
                <a:spcPts val="1000"/>
              </a:spcBef>
              <a:spcAft>
                <a:spcPts val="0"/>
              </a:spcAft>
              <a:buClr>
                <a:schemeClr val="dk1"/>
              </a:buClr>
              <a:buSzPts val="2800"/>
              <a:buChar char="•"/>
            </a:pPr>
            <a:r>
              <a:rPr lang="en-US"/>
              <a:t>The initial attributes shown are derived from the requirements description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Initial Design of Entity Types:</a:t>
            </a:r>
            <a:endParaRPr/>
          </a:p>
        </p:txBody>
      </p:sp>
      <p:sp>
        <p:nvSpPr>
          <p:cNvPr id="182" name="Google Shape;182;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183" name="Google Shape;183;p28"/>
          <p:cNvPicPr preferRelativeResize="0"/>
          <p:nvPr/>
        </p:nvPicPr>
        <p:blipFill rotWithShape="1">
          <a:blip r:embed="rId3">
            <a:alphaModFix/>
          </a:blip>
          <a:srcRect b="0" l="0" r="0" t="0"/>
          <a:stretch/>
        </p:blipFill>
        <p:spPr>
          <a:xfrm>
            <a:off x="1009165" y="1825625"/>
            <a:ext cx="4817383" cy="1811046"/>
          </a:xfrm>
          <a:prstGeom prst="rect">
            <a:avLst/>
          </a:prstGeom>
          <a:noFill/>
          <a:ln>
            <a:noFill/>
          </a:ln>
        </p:spPr>
      </p:pic>
      <p:pic>
        <p:nvPicPr>
          <p:cNvPr id="184" name="Google Shape;184;p28"/>
          <p:cNvPicPr preferRelativeResize="0"/>
          <p:nvPr/>
        </p:nvPicPr>
        <p:blipFill rotWithShape="1">
          <a:blip r:embed="rId4">
            <a:alphaModFix/>
          </a:blip>
          <a:srcRect b="0" l="0" r="0" t="0"/>
          <a:stretch/>
        </p:blipFill>
        <p:spPr>
          <a:xfrm>
            <a:off x="6851425" y="1887739"/>
            <a:ext cx="3265967" cy="1686818"/>
          </a:xfrm>
          <a:prstGeom prst="rect">
            <a:avLst/>
          </a:prstGeom>
          <a:noFill/>
          <a:ln>
            <a:noFill/>
          </a:ln>
        </p:spPr>
      </p:pic>
      <p:pic>
        <p:nvPicPr>
          <p:cNvPr id="185" name="Google Shape;185;p28"/>
          <p:cNvPicPr preferRelativeResize="0"/>
          <p:nvPr/>
        </p:nvPicPr>
        <p:blipFill rotWithShape="1">
          <a:blip r:embed="rId5">
            <a:alphaModFix/>
          </a:blip>
          <a:srcRect b="0" l="0" r="0" t="0"/>
          <a:stretch/>
        </p:blipFill>
        <p:spPr>
          <a:xfrm>
            <a:off x="869229" y="3943085"/>
            <a:ext cx="4957319" cy="1982927"/>
          </a:xfrm>
          <a:prstGeom prst="rect">
            <a:avLst/>
          </a:prstGeom>
          <a:noFill/>
          <a:ln>
            <a:noFill/>
          </a:ln>
        </p:spPr>
      </p:pic>
      <p:pic>
        <p:nvPicPr>
          <p:cNvPr id="186" name="Google Shape;186;p28"/>
          <p:cNvPicPr preferRelativeResize="0"/>
          <p:nvPr/>
        </p:nvPicPr>
        <p:blipFill rotWithShape="1">
          <a:blip r:embed="rId6">
            <a:alphaModFix/>
          </a:blip>
          <a:srcRect b="0" l="0" r="0" t="0"/>
          <a:stretch/>
        </p:blipFill>
        <p:spPr>
          <a:xfrm>
            <a:off x="5826548" y="4274571"/>
            <a:ext cx="4957319" cy="137611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Relationships and Relationship Types</a:t>
            </a:r>
            <a:endParaRPr/>
          </a:p>
        </p:txBody>
      </p:sp>
      <p:sp>
        <p:nvSpPr>
          <p:cNvPr id="192" name="Google Shape;192;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 A relationship relates two or more distinct entities with a specific meaning.</a:t>
            </a:r>
            <a:endParaRPr/>
          </a:p>
          <a:p>
            <a:pPr indent="-228600" lvl="1" marL="685800" rtl="0" algn="l">
              <a:lnSpc>
                <a:spcPct val="90000"/>
              </a:lnSpc>
              <a:spcBef>
                <a:spcPts val="500"/>
              </a:spcBef>
              <a:spcAft>
                <a:spcPts val="0"/>
              </a:spcAft>
              <a:buClr>
                <a:schemeClr val="dk1"/>
              </a:buClr>
              <a:buSzPts val="2400"/>
              <a:buChar char="•"/>
            </a:pPr>
            <a:r>
              <a:rPr lang="en-US"/>
              <a:t>For example, EMPLOYEE John Smith works on the ProductX PROJECT, or EMPLOYEE Franklin Wong manages the Research DEPARTMENT.</a:t>
            </a:r>
            <a:endParaRPr/>
          </a:p>
          <a:p>
            <a:pPr indent="-228600" lvl="0" marL="228600" rtl="0" algn="l">
              <a:lnSpc>
                <a:spcPct val="90000"/>
              </a:lnSpc>
              <a:spcBef>
                <a:spcPts val="1000"/>
              </a:spcBef>
              <a:spcAft>
                <a:spcPts val="0"/>
              </a:spcAft>
              <a:buClr>
                <a:schemeClr val="dk1"/>
              </a:buClr>
              <a:buSzPts val="2800"/>
              <a:buChar char="•"/>
            </a:pPr>
            <a:r>
              <a:rPr lang="en-US"/>
              <a:t>Relationships of the same type are grouped or typed into a relationship type.</a:t>
            </a:r>
            <a:endParaRPr/>
          </a:p>
          <a:p>
            <a:pPr indent="-228600" lvl="1" marL="685800" rtl="0" algn="l">
              <a:lnSpc>
                <a:spcPct val="90000"/>
              </a:lnSpc>
              <a:spcBef>
                <a:spcPts val="500"/>
              </a:spcBef>
              <a:spcAft>
                <a:spcPts val="0"/>
              </a:spcAft>
              <a:buClr>
                <a:schemeClr val="dk1"/>
              </a:buClr>
              <a:buSzPts val="2400"/>
              <a:buChar char="•"/>
            </a:pPr>
            <a:r>
              <a:rPr lang="en-US"/>
              <a:t>For example, the WORKS_ON relationship type in which EMPLOYEEs and PROJECTs participate, or the MANAGES relationship type in which EMPLOYEEs and DEPARTMENTs participate.</a:t>
            </a:r>
            <a:endParaRPr/>
          </a:p>
          <a:p>
            <a:pPr indent="-228600" lvl="0" marL="228600" rtl="0" algn="l">
              <a:lnSpc>
                <a:spcPct val="90000"/>
              </a:lnSpc>
              <a:spcBef>
                <a:spcPts val="1000"/>
              </a:spcBef>
              <a:spcAft>
                <a:spcPts val="0"/>
              </a:spcAft>
              <a:buClr>
                <a:schemeClr val="dk1"/>
              </a:buClr>
              <a:buSzPts val="2800"/>
              <a:buChar char="•"/>
            </a:pPr>
            <a:r>
              <a:rPr lang="en-US"/>
              <a:t>The degree of a relationship type is the number of participating entity types.</a:t>
            </a:r>
            <a:endParaRPr/>
          </a:p>
          <a:p>
            <a:pPr indent="-228600" lvl="1" marL="685800" rtl="0" algn="l">
              <a:lnSpc>
                <a:spcPct val="90000"/>
              </a:lnSpc>
              <a:spcBef>
                <a:spcPts val="500"/>
              </a:spcBef>
              <a:spcAft>
                <a:spcPts val="0"/>
              </a:spcAft>
              <a:buClr>
                <a:schemeClr val="dk1"/>
              </a:buClr>
              <a:buSzPts val="2400"/>
              <a:buChar char="•"/>
            </a:pPr>
            <a:r>
              <a:rPr lang="en-US"/>
              <a:t>Both MANAGES and WORKS_ON are binary relationships.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464646"/>
              </a:buClr>
              <a:buSzPts val="4400"/>
              <a:buFont typeface="Times New Roman"/>
              <a:buNone/>
            </a:pPr>
            <a:r>
              <a:rPr b="1" i="0" lang="en-US" sz="4400" u="none" cap="none" strike="noStrike">
                <a:solidFill>
                  <a:srgbClr val="464646"/>
                </a:solidFill>
                <a:latin typeface="Times New Roman"/>
                <a:ea typeface="Times New Roman"/>
                <a:cs typeface="Times New Roman"/>
                <a:sym typeface="Times New Roman"/>
              </a:rPr>
              <a:t>Relationship Types</a:t>
            </a:r>
            <a:endParaRPr/>
          </a:p>
        </p:txBody>
      </p:sp>
      <p:sp>
        <p:nvSpPr>
          <p:cNvPr id="198" name="Google Shape;198;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110522" marR="0" rtl="0" algn="l">
              <a:lnSpc>
                <a:spcPct val="100000"/>
              </a:lnSpc>
              <a:spcBef>
                <a:spcPts val="0"/>
              </a:spcBef>
              <a:spcAft>
                <a:spcPts val="0"/>
              </a:spcAft>
              <a:buClr>
                <a:srgbClr val="2DA2BF"/>
              </a:buClr>
              <a:buSzPts val="1836"/>
              <a:buNone/>
            </a:pPr>
            <a:r>
              <a:rPr b="0" i="0" lang="en-US" sz="2800" u="none" cap="none" strike="noStrike">
                <a:solidFill>
                  <a:srgbClr val="000000"/>
                </a:solidFill>
                <a:latin typeface="Times New Roman"/>
                <a:ea typeface="Times New Roman"/>
                <a:cs typeface="Times New Roman"/>
                <a:sym typeface="Times New Roman"/>
              </a:rPr>
              <a:t>There are different types of Relationships like:</a:t>
            </a:r>
            <a:endParaRPr b="0" i="0" sz="2800" u="none" cap="none" strike="noStrike">
              <a:solidFill>
                <a:schemeClr val="dk1"/>
              </a:solidFill>
              <a:latin typeface="Arial"/>
              <a:ea typeface="Arial"/>
              <a:cs typeface="Arial"/>
              <a:sym typeface="Arial"/>
            </a:endParaRPr>
          </a:p>
          <a:p>
            <a:pPr indent="-255238" lvl="0" marL="365760" marR="0" rtl="0" algn="l">
              <a:lnSpc>
                <a:spcPct val="100000"/>
              </a:lnSpc>
              <a:spcBef>
                <a:spcPts val="400"/>
              </a:spcBef>
              <a:spcAft>
                <a:spcPts val="0"/>
              </a:spcAft>
              <a:buClr>
                <a:srgbClr val="2DA2BF"/>
              </a:buClr>
              <a:buSzPts val="1836"/>
              <a:buFont typeface="Noto Sans Symbols"/>
              <a:buChar char="🞂"/>
            </a:pPr>
            <a:r>
              <a:rPr b="0" i="0" lang="en-US" sz="2800" u="none" cap="none" strike="noStrike">
                <a:solidFill>
                  <a:srgbClr val="000000"/>
                </a:solidFill>
                <a:latin typeface="Times New Roman"/>
                <a:ea typeface="Times New Roman"/>
                <a:cs typeface="Times New Roman"/>
                <a:sym typeface="Times New Roman"/>
              </a:rPr>
              <a:t>Binary Relationship</a:t>
            </a:r>
            <a:endParaRPr b="0" i="0" sz="2800" u="none" cap="none" strike="noStrike">
              <a:solidFill>
                <a:schemeClr val="dk1"/>
              </a:solidFill>
              <a:latin typeface="Arial"/>
              <a:ea typeface="Arial"/>
              <a:cs typeface="Arial"/>
              <a:sym typeface="Arial"/>
            </a:endParaRPr>
          </a:p>
          <a:p>
            <a:pPr indent="-255238" lvl="0" marL="365760" marR="0" rtl="0" algn="l">
              <a:lnSpc>
                <a:spcPct val="100000"/>
              </a:lnSpc>
              <a:spcBef>
                <a:spcPts val="400"/>
              </a:spcBef>
              <a:spcAft>
                <a:spcPts val="0"/>
              </a:spcAft>
              <a:buClr>
                <a:srgbClr val="2DA2BF"/>
              </a:buClr>
              <a:buSzPts val="1836"/>
              <a:buFont typeface="Noto Sans Symbols"/>
              <a:buChar char="🞂"/>
            </a:pPr>
            <a:r>
              <a:rPr b="0" i="0" lang="en-US" sz="2800" u="none" cap="none" strike="noStrike">
                <a:solidFill>
                  <a:srgbClr val="000000"/>
                </a:solidFill>
                <a:latin typeface="Times New Roman"/>
                <a:ea typeface="Times New Roman"/>
                <a:cs typeface="Times New Roman"/>
                <a:sym typeface="Times New Roman"/>
              </a:rPr>
              <a:t>Ternary Relationship</a:t>
            </a:r>
            <a:endParaRPr b="0" i="0" sz="2800" u="none" cap="none" strike="noStrike">
              <a:solidFill>
                <a:schemeClr val="dk1"/>
              </a:solidFill>
              <a:latin typeface="Arial"/>
              <a:ea typeface="Arial"/>
              <a:cs typeface="Arial"/>
              <a:sym typeface="Arial"/>
            </a:endParaRPr>
          </a:p>
          <a:p>
            <a:pPr indent="-255238" lvl="0" marL="365760" marR="0" rtl="0" algn="l">
              <a:lnSpc>
                <a:spcPct val="100000"/>
              </a:lnSpc>
              <a:spcBef>
                <a:spcPts val="400"/>
              </a:spcBef>
              <a:spcAft>
                <a:spcPts val="0"/>
              </a:spcAft>
              <a:buClr>
                <a:srgbClr val="2DA2BF"/>
              </a:buClr>
              <a:buSzPts val="1836"/>
              <a:buFont typeface="Noto Sans Symbols"/>
              <a:buChar char="🞂"/>
            </a:pPr>
            <a:r>
              <a:rPr b="0" i="0" lang="en-US" sz="2800" u="none" cap="none" strike="noStrike">
                <a:solidFill>
                  <a:srgbClr val="000000"/>
                </a:solidFill>
                <a:latin typeface="Times New Roman"/>
                <a:ea typeface="Times New Roman"/>
                <a:cs typeface="Times New Roman"/>
                <a:sym typeface="Times New Roman"/>
              </a:rPr>
              <a:t> N-Ary Relationship</a:t>
            </a:r>
            <a:endParaRPr b="0" i="0" sz="2800" u="none" cap="none" strike="noStrike">
              <a:solidFill>
                <a:schemeClr val="dk1"/>
              </a:solidFill>
              <a:latin typeface="Arial"/>
              <a:ea typeface="Arial"/>
              <a:cs typeface="Arial"/>
              <a:sym typeface="Arial"/>
            </a:endParaRPr>
          </a:p>
          <a:p>
            <a:pPr indent="-255238" lvl="0" marL="365760" marR="0" rtl="0" algn="l">
              <a:lnSpc>
                <a:spcPct val="100000"/>
              </a:lnSpc>
              <a:spcBef>
                <a:spcPts val="400"/>
              </a:spcBef>
              <a:spcAft>
                <a:spcPts val="0"/>
              </a:spcAft>
              <a:buClr>
                <a:srgbClr val="2DA2BF"/>
              </a:buClr>
              <a:buSzPts val="1836"/>
              <a:buFont typeface="Noto Sans Symbols"/>
              <a:buChar char="🞂"/>
            </a:pPr>
            <a:r>
              <a:rPr b="0" i="0" lang="en-US" sz="2800" u="none" cap="none" strike="noStrike">
                <a:solidFill>
                  <a:srgbClr val="000000"/>
                </a:solidFill>
                <a:latin typeface="Times New Roman"/>
                <a:ea typeface="Times New Roman"/>
                <a:cs typeface="Times New Roman"/>
                <a:sym typeface="Times New Roman"/>
              </a:rPr>
              <a:t>Recursive Relationship</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204" name="Google Shape;204;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b="1" lang="en-US"/>
              <a:t>Binary Relationship</a:t>
            </a:r>
            <a:r>
              <a:rPr lang="en-US"/>
              <a:t>:</a:t>
            </a:r>
            <a:endParaRPr/>
          </a:p>
          <a:p>
            <a:pPr indent="-228600" lvl="0" marL="228600" rtl="0" algn="l">
              <a:lnSpc>
                <a:spcPct val="90000"/>
              </a:lnSpc>
              <a:spcBef>
                <a:spcPts val="1000"/>
              </a:spcBef>
              <a:spcAft>
                <a:spcPts val="0"/>
              </a:spcAft>
              <a:buClr>
                <a:schemeClr val="dk1"/>
              </a:buClr>
              <a:buSzPts val="2800"/>
              <a:buChar char="•"/>
            </a:pPr>
            <a:r>
              <a:rPr lang="en-US"/>
              <a:t>When there is a relationship between </a:t>
            </a:r>
            <a:endParaRPr/>
          </a:p>
          <a:p>
            <a:pPr indent="0" lvl="0" marL="0" rtl="0" algn="l">
              <a:lnSpc>
                <a:spcPct val="90000"/>
              </a:lnSpc>
              <a:spcBef>
                <a:spcPts val="1000"/>
              </a:spcBef>
              <a:spcAft>
                <a:spcPts val="0"/>
              </a:spcAft>
              <a:buClr>
                <a:schemeClr val="dk1"/>
              </a:buClr>
              <a:buSzPts val="2800"/>
              <a:buNone/>
            </a:pPr>
            <a:r>
              <a:rPr lang="en-US"/>
              <a:t>   two different entities, it is known as </a:t>
            </a:r>
            <a:endParaRPr/>
          </a:p>
          <a:p>
            <a:pPr indent="0" lvl="0" marL="0" rtl="0" algn="l">
              <a:lnSpc>
                <a:spcPct val="90000"/>
              </a:lnSpc>
              <a:spcBef>
                <a:spcPts val="1000"/>
              </a:spcBef>
              <a:spcAft>
                <a:spcPts val="0"/>
              </a:spcAft>
              <a:buClr>
                <a:schemeClr val="dk1"/>
              </a:buClr>
              <a:buSzPts val="2800"/>
              <a:buNone/>
            </a:pPr>
            <a:r>
              <a:rPr lang="en-US"/>
              <a:t>   a binary relationship.</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b="1" lang="en-US"/>
              <a:t>Ternary Relationship</a:t>
            </a:r>
            <a:r>
              <a:rPr lang="en-US"/>
              <a:t>:</a:t>
            </a:r>
            <a:endParaRPr/>
          </a:p>
          <a:p>
            <a:pPr indent="-228600" lvl="0" marL="228600" rtl="0" algn="l">
              <a:lnSpc>
                <a:spcPct val="90000"/>
              </a:lnSpc>
              <a:spcBef>
                <a:spcPts val="1000"/>
              </a:spcBef>
              <a:spcAft>
                <a:spcPts val="0"/>
              </a:spcAft>
              <a:buClr>
                <a:schemeClr val="dk1"/>
              </a:buClr>
              <a:buSzPts val="2800"/>
              <a:buChar char="•"/>
            </a:pPr>
            <a:r>
              <a:rPr lang="en-US"/>
              <a:t>When there is a relationship between </a:t>
            </a:r>
            <a:endParaRPr/>
          </a:p>
          <a:p>
            <a:pPr indent="0" lvl="0" marL="0" rtl="0" algn="l">
              <a:lnSpc>
                <a:spcPct val="90000"/>
              </a:lnSpc>
              <a:spcBef>
                <a:spcPts val="1000"/>
              </a:spcBef>
              <a:spcAft>
                <a:spcPts val="0"/>
              </a:spcAft>
              <a:buClr>
                <a:schemeClr val="dk1"/>
              </a:buClr>
              <a:buSzPts val="2800"/>
              <a:buNone/>
            </a:pPr>
            <a:r>
              <a:rPr lang="en-US"/>
              <a:t>   three different entities, it is known as </a:t>
            </a:r>
            <a:endParaRPr/>
          </a:p>
          <a:p>
            <a:pPr indent="0" lvl="0" marL="0" rtl="0" algn="l">
              <a:lnSpc>
                <a:spcPct val="90000"/>
              </a:lnSpc>
              <a:spcBef>
                <a:spcPts val="1000"/>
              </a:spcBef>
              <a:spcAft>
                <a:spcPts val="0"/>
              </a:spcAft>
              <a:buClr>
                <a:schemeClr val="dk1"/>
              </a:buClr>
              <a:buSzPts val="2800"/>
              <a:buNone/>
            </a:pPr>
            <a:r>
              <a:rPr lang="en-US"/>
              <a:t>   a ternary relationship.</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205" name="Google Shape;205;p31"/>
          <p:cNvPicPr preferRelativeResize="0"/>
          <p:nvPr/>
        </p:nvPicPr>
        <p:blipFill rotWithShape="1">
          <a:blip r:embed="rId3">
            <a:alphaModFix/>
          </a:blip>
          <a:srcRect b="0" l="0" r="0" t="0"/>
          <a:stretch/>
        </p:blipFill>
        <p:spPr>
          <a:xfrm>
            <a:off x="6712406" y="4198660"/>
            <a:ext cx="3990229" cy="1978303"/>
          </a:xfrm>
          <a:prstGeom prst="rect">
            <a:avLst/>
          </a:prstGeom>
          <a:noFill/>
          <a:ln>
            <a:noFill/>
          </a:ln>
        </p:spPr>
      </p:pic>
      <p:pic>
        <p:nvPicPr>
          <p:cNvPr id="206" name="Google Shape;206;p31"/>
          <p:cNvPicPr preferRelativeResize="0"/>
          <p:nvPr/>
        </p:nvPicPr>
        <p:blipFill rotWithShape="1">
          <a:blip r:embed="rId4">
            <a:alphaModFix/>
          </a:blip>
          <a:srcRect b="0" l="0" r="0" t="0"/>
          <a:stretch/>
        </p:blipFill>
        <p:spPr>
          <a:xfrm>
            <a:off x="6810974" y="1937822"/>
            <a:ext cx="4913848" cy="197830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4">
                                            <p:txEl>
                                              <p:pRg end="0" st="0"/>
                                            </p:txEl>
                                          </p:spTgt>
                                        </p:tgtEl>
                                        <p:attrNameLst>
                                          <p:attrName>style.visibility</p:attrName>
                                        </p:attrNameLst>
                                      </p:cBhvr>
                                      <p:to>
                                        <p:strVal val="visible"/>
                                      </p:to>
                                    </p:set>
                                    <p:anim calcmode="lin" valueType="num">
                                      <p:cBhvr additive="base">
                                        <p:cTn dur="500"/>
                                        <p:tgtEl>
                                          <p:spTgt spid="20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4">
                                            <p:txEl>
                                              <p:pRg end="1" st="1"/>
                                            </p:txEl>
                                          </p:spTgt>
                                        </p:tgtEl>
                                        <p:attrNameLst>
                                          <p:attrName>style.visibility</p:attrName>
                                        </p:attrNameLst>
                                      </p:cBhvr>
                                      <p:to>
                                        <p:strVal val="visible"/>
                                      </p:to>
                                    </p:set>
                                    <p:anim calcmode="lin" valueType="num">
                                      <p:cBhvr additive="base">
                                        <p:cTn dur="500"/>
                                        <p:tgtEl>
                                          <p:spTgt spid="20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4">
                                            <p:txEl>
                                              <p:pRg end="2" st="2"/>
                                            </p:txEl>
                                          </p:spTgt>
                                        </p:tgtEl>
                                        <p:attrNameLst>
                                          <p:attrName>style.visibility</p:attrName>
                                        </p:attrNameLst>
                                      </p:cBhvr>
                                      <p:to>
                                        <p:strVal val="visible"/>
                                      </p:to>
                                    </p:set>
                                    <p:anim calcmode="lin" valueType="num">
                                      <p:cBhvr additive="base">
                                        <p:cTn dur="500"/>
                                        <p:tgtEl>
                                          <p:spTgt spid="20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4">
                                            <p:txEl>
                                              <p:pRg end="3" st="3"/>
                                            </p:txEl>
                                          </p:spTgt>
                                        </p:tgtEl>
                                        <p:attrNameLst>
                                          <p:attrName>style.visibility</p:attrName>
                                        </p:attrNameLst>
                                      </p:cBhvr>
                                      <p:to>
                                        <p:strVal val="visible"/>
                                      </p:to>
                                    </p:set>
                                    <p:anim calcmode="lin" valueType="num">
                                      <p:cBhvr additive="base">
                                        <p:cTn dur="500"/>
                                        <p:tgtEl>
                                          <p:spTgt spid="20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4">
                                            <p:txEl>
                                              <p:pRg end="4" st="4"/>
                                            </p:txEl>
                                          </p:spTgt>
                                        </p:tgtEl>
                                        <p:attrNameLst>
                                          <p:attrName>style.visibility</p:attrName>
                                        </p:attrNameLst>
                                      </p:cBhvr>
                                      <p:to>
                                        <p:strVal val="visible"/>
                                      </p:to>
                                    </p:set>
                                    <p:anim calcmode="lin" valueType="num">
                                      <p:cBhvr additive="base">
                                        <p:cTn dur="500"/>
                                        <p:tgtEl>
                                          <p:spTgt spid="204">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4">
                                            <p:txEl>
                                              <p:pRg end="5" st="5"/>
                                            </p:txEl>
                                          </p:spTgt>
                                        </p:tgtEl>
                                        <p:attrNameLst>
                                          <p:attrName>style.visibility</p:attrName>
                                        </p:attrNameLst>
                                      </p:cBhvr>
                                      <p:to>
                                        <p:strVal val="visible"/>
                                      </p:to>
                                    </p:set>
                                    <p:anim calcmode="lin" valueType="num">
                                      <p:cBhvr additive="base">
                                        <p:cTn dur="500"/>
                                        <p:tgtEl>
                                          <p:spTgt spid="204">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4">
                                            <p:txEl>
                                              <p:pRg end="6" st="6"/>
                                            </p:txEl>
                                          </p:spTgt>
                                        </p:tgtEl>
                                        <p:attrNameLst>
                                          <p:attrName>style.visibility</p:attrName>
                                        </p:attrNameLst>
                                      </p:cBhvr>
                                      <p:to>
                                        <p:strVal val="visible"/>
                                      </p:to>
                                    </p:set>
                                    <p:anim calcmode="lin" valueType="num">
                                      <p:cBhvr additive="base">
                                        <p:cTn dur="500"/>
                                        <p:tgtEl>
                                          <p:spTgt spid="204">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4">
                                            <p:txEl>
                                              <p:pRg end="7" st="7"/>
                                            </p:txEl>
                                          </p:spTgt>
                                        </p:tgtEl>
                                        <p:attrNameLst>
                                          <p:attrName>style.visibility</p:attrName>
                                        </p:attrNameLst>
                                      </p:cBhvr>
                                      <p:to>
                                        <p:strVal val="visible"/>
                                      </p:to>
                                    </p:set>
                                    <p:anim calcmode="lin" valueType="num">
                                      <p:cBhvr additive="base">
                                        <p:cTn dur="500"/>
                                        <p:tgtEl>
                                          <p:spTgt spid="204">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4">
                                            <p:txEl>
                                              <p:pRg end="8" st="8"/>
                                            </p:txEl>
                                          </p:spTgt>
                                        </p:tgtEl>
                                        <p:attrNameLst>
                                          <p:attrName>style.visibility</p:attrName>
                                        </p:attrNameLst>
                                      </p:cBhvr>
                                      <p:to>
                                        <p:strVal val="visible"/>
                                      </p:to>
                                    </p:set>
                                    <p:anim calcmode="lin" valueType="num">
                                      <p:cBhvr additive="base">
                                        <p:cTn dur="500"/>
                                        <p:tgtEl>
                                          <p:spTgt spid="204">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4">
                                            <p:txEl>
                                              <p:pRg end="9" st="9"/>
                                            </p:txEl>
                                          </p:spTgt>
                                        </p:tgtEl>
                                        <p:attrNameLst>
                                          <p:attrName>style.visibility</p:attrName>
                                        </p:attrNameLst>
                                      </p:cBhvr>
                                      <p:to>
                                        <p:strVal val="visible"/>
                                      </p:to>
                                    </p:set>
                                    <p:anim calcmode="lin" valueType="num">
                                      <p:cBhvr additive="base">
                                        <p:cTn dur="500"/>
                                        <p:tgtEl>
                                          <p:spTgt spid="204">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4">
                                            <p:txEl>
                                              <p:pRg end="10" st="10"/>
                                            </p:txEl>
                                          </p:spTgt>
                                        </p:tgtEl>
                                        <p:attrNameLst>
                                          <p:attrName>style.visibility</p:attrName>
                                        </p:attrNameLst>
                                      </p:cBhvr>
                                      <p:to>
                                        <p:strVal val="visible"/>
                                      </p:to>
                                    </p:set>
                                    <p:anim calcmode="lin" valueType="num">
                                      <p:cBhvr additive="base">
                                        <p:cTn dur="500"/>
                                        <p:tgtEl>
                                          <p:spTgt spid="204">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gtEl>
                                        <p:attrNameLst>
                                          <p:attrName>style.visibility</p:attrName>
                                        </p:attrNameLst>
                                      </p:cBhvr>
                                      <p:to>
                                        <p:strVal val="visible"/>
                                      </p:to>
                                    </p:set>
                                    <p:animEffect filter="fade" transition="in">
                                      <p:cBhvr>
                                        <p:cTn dur="500"/>
                                        <p:tgtEl>
                                          <p:spTgt spid="2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gtEl>
                                        <p:attrNameLst>
                                          <p:attrName>style.visibility</p:attrName>
                                        </p:attrNameLst>
                                      </p:cBhvr>
                                      <p:to>
                                        <p:strVal val="visible"/>
                                      </p:to>
                                    </p:set>
                                    <p:animEffect filter="fade" transition="in">
                                      <p:cBhvr>
                                        <p:cTn dur="500"/>
                                        <p:tgtEl>
                                          <p:spTgt spid="2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2"/>
          <p:cNvSpPr txBox="1"/>
          <p:nvPr>
            <p:ph idx="1" type="body"/>
          </p:nvPr>
        </p:nvSpPr>
        <p:spPr>
          <a:xfrm>
            <a:off x="484909" y="581891"/>
            <a:ext cx="10868891" cy="5595072"/>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b="1" lang="en-US"/>
              <a:t>N-Ary Relationship</a:t>
            </a:r>
            <a:r>
              <a:rPr lang="en-US"/>
              <a:t>: When any relationship consists of more than two Entities then it is called N-ary relationship.</a:t>
            </a:r>
            <a:endParaRPr/>
          </a:p>
          <a:p>
            <a:pPr indent="-6413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b="1" lang="en-US"/>
              <a:t>Recursive Relationship</a:t>
            </a:r>
            <a:endParaRPr/>
          </a:p>
          <a:p>
            <a:pPr indent="-228600" lvl="0" marL="228600" rtl="0" algn="l">
              <a:lnSpc>
                <a:spcPct val="90000"/>
              </a:lnSpc>
              <a:spcBef>
                <a:spcPts val="1000"/>
              </a:spcBef>
              <a:spcAft>
                <a:spcPts val="0"/>
              </a:spcAft>
              <a:buClr>
                <a:schemeClr val="dk1"/>
              </a:buClr>
              <a:buSzPct val="100000"/>
              <a:buChar char="•"/>
            </a:pPr>
            <a:r>
              <a:rPr lang="en-US"/>
              <a:t>A relationship between two entities of </a:t>
            </a:r>
            <a:endParaRPr/>
          </a:p>
          <a:p>
            <a:pPr indent="0" lvl="0" marL="0" rtl="0" algn="l">
              <a:lnSpc>
                <a:spcPct val="90000"/>
              </a:lnSpc>
              <a:spcBef>
                <a:spcPts val="1000"/>
              </a:spcBef>
              <a:spcAft>
                <a:spcPts val="0"/>
              </a:spcAft>
              <a:buClr>
                <a:schemeClr val="dk1"/>
              </a:buClr>
              <a:buSzPct val="100000"/>
              <a:buNone/>
            </a:pPr>
            <a:r>
              <a:rPr lang="en-US"/>
              <a:t>  similar entity type is called a recursive </a:t>
            </a:r>
            <a:endParaRPr/>
          </a:p>
          <a:p>
            <a:pPr indent="0" lvl="0" marL="0" rtl="0" algn="l">
              <a:lnSpc>
                <a:spcPct val="90000"/>
              </a:lnSpc>
              <a:spcBef>
                <a:spcPts val="1000"/>
              </a:spcBef>
              <a:spcAft>
                <a:spcPts val="0"/>
              </a:spcAft>
              <a:buClr>
                <a:schemeClr val="dk1"/>
              </a:buClr>
              <a:buSzPct val="100000"/>
              <a:buNone/>
            </a:pPr>
            <a:r>
              <a:rPr lang="en-US"/>
              <a:t>  relationship. </a:t>
            </a:r>
            <a:endParaRPr/>
          </a:p>
          <a:p>
            <a:pPr indent="-228600" lvl="0" marL="228600" rtl="0" algn="l">
              <a:lnSpc>
                <a:spcPct val="90000"/>
              </a:lnSpc>
              <a:spcBef>
                <a:spcPts val="1000"/>
              </a:spcBef>
              <a:spcAft>
                <a:spcPts val="0"/>
              </a:spcAft>
              <a:buClr>
                <a:schemeClr val="dk1"/>
              </a:buClr>
              <a:buSzPct val="100000"/>
              <a:buChar char="•"/>
            </a:pPr>
            <a:r>
              <a:rPr lang="en-US"/>
              <a:t>Here the same entity type participates</a:t>
            </a:r>
            <a:endParaRPr/>
          </a:p>
          <a:p>
            <a:pPr indent="0" lvl="0" marL="0" rtl="0" algn="l">
              <a:lnSpc>
                <a:spcPct val="90000"/>
              </a:lnSpc>
              <a:spcBef>
                <a:spcPts val="1000"/>
              </a:spcBef>
              <a:spcAft>
                <a:spcPts val="0"/>
              </a:spcAft>
              <a:buClr>
                <a:schemeClr val="dk1"/>
              </a:buClr>
              <a:buSzPct val="100000"/>
              <a:buNone/>
            </a:pPr>
            <a:r>
              <a:rPr lang="en-US"/>
              <a:t>   more than once in a relationship type </a:t>
            </a:r>
            <a:endParaRPr/>
          </a:p>
          <a:p>
            <a:pPr indent="0" lvl="0" marL="0" rtl="0" algn="l">
              <a:lnSpc>
                <a:spcPct val="90000"/>
              </a:lnSpc>
              <a:spcBef>
                <a:spcPts val="1000"/>
              </a:spcBef>
              <a:spcAft>
                <a:spcPts val="0"/>
              </a:spcAft>
              <a:buClr>
                <a:schemeClr val="dk1"/>
              </a:buClr>
              <a:buSzPct val="100000"/>
              <a:buNone/>
            </a:pPr>
            <a:r>
              <a:rPr lang="en-US"/>
              <a:t>   with a different role for each instance.</a:t>
            </a:r>
            <a:endParaRPr/>
          </a:p>
          <a:p>
            <a:pPr indent="-228600" lvl="0" marL="228600" rtl="0" algn="l">
              <a:lnSpc>
                <a:spcPct val="90000"/>
              </a:lnSpc>
              <a:spcBef>
                <a:spcPts val="1000"/>
              </a:spcBef>
              <a:spcAft>
                <a:spcPts val="0"/>
              </a:spcAft>
              <a:buClr>
                <a:schemeClr val="dk1"/>
              </a:buClr>
              <a:buSzPct val="100000"/>
              <a:buChar char="•"/>
            </a:pPr>
            <a:r>
              <a:rPr lang="en-US"/>
              <a:t>We indicate roles in E-R diagrams by labeling the </a:t>
            </a:r>
            <a:endParaRPr/>
          </a:p>
          <a:p>
            <a:pPr indent="0" lvl="0" marL="0" rtl="0" algn="l">
              <a:lnSpc>
                <a:spcPct val="90000"/>
              </a:lnSpc>
              <a:spcBef>
                <a:spcPts val="1000"/>
              </a:spcBef>
              <a:spcAft>
                <a:spcPts val="0"/>
              </a:spcAft>
              <a:buClr>
                <a:schemeClr val="dk1"/>
              </a:buClr>
              <a:buSzPct val="100000"/>
              <a:buNone/>
            </a:pPr>
            <a:r>
              <a:rPr lang="en-US"/>
              <a:t>  lines that connect diamonds to rectangles.</a:t>
            </a:r>
            <a:endParaRPr/>
          </a:p>
          <a:p>
            <a:pPr indent="-64135" lvl="0" marL="228600" rtl="0" algn="l">
              <a:lnSpc>
                <a:spcPct val="90000"/>
              </a:lnSpc>
              <a:spcBef>
                <a:spcPts val="1000"/>
              </a:spcBef>
              <a:spcAft>
                <a:spcPts val="0"/>
              </a:spcAft>
              <a:buClr>
                <a:schemeClr val="dk1"/>
              </a:buClr>
              <a:buSzPct val="100000"/>
              <a:buNone/>
            </a:pPr>
            <a:r>
              <a:t/>
            </a:r>
            <a:endParaRPr/>
          </a:p>
        </p:txBody>
      </p:sp>
      <p:pic>
        <p:nvPicPr>
          <p:cNvPr id="212" name="Google Shape;212;p32"/>
          <p:cNvPicPr preferRelativeResize="0"/>
          <p:nvPr/>
        </p:nvPicPr>
        <p:blipFill rotWithShape="1">
          <a:blip r:embed="rId3">
            <a:alphaModFix/>
          </a:blip>
          <a:srcRect b="0" l="0" r="0" t="0"/>
          <a:stretch/>
        </p:blipFill>
        <p:spPr>
          <a:xfrm>
            <a:off x="7093526" y="1214701"/>
            <a:ext cx="3351960" cy="1294560"/>
          </a:xfrm>
          <a:prstGeom prst="rect">
            <a:avLst/>
          </a:prstGeom>
          <a:noFill/>
          <a:ln>
            <a:noFill/>
          </a:ln>
        </p:spPr>
      </p:pic>
      <p:pic>
        <p:nvPicPr>
          <p:cNvPr id="213" name="Google Shape;213;p32"/>
          <p:cNvPicPr preferRelativeResize="0"/>
          <p:nvPr/>
        </p:nvPicPr>
        <p:blipFill rotWithShape="1">
          <a:blip r:embed="rId4">
            <a:alphaModFix/>
          </a:blip>
          <a:srcRect b="0" l="0" r="0" t="0"/>
          <a:stretch/>
        </p:blipFill>
        <p:spPr>
          <a:xfrm>
            <a:off x="7800108" y="3355135"/>
            <a:ext cx="3351960" cy="244908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1">
                                            <p:txEl>
                                              <p:pRg end="0" st="0"/>
                                            </p:txEl>
                                          </p:spTgt>
                                        </p:tgtEl>
                                        <p:attrNameLst>
                                          <p:attrName>style.visibility</p:attrName>
                                        </p:attrNameLst>
                                      </p:cBhvr>
                                      <p:to>
                                        <p:strVal val="visible"/>
                                      </p:to>
                                    </p:set>
                                    <p:anim calcmode="lin" valueType="num">
                                      <p:cBhvr additive="base">
                                        <p:cTn dur="500"/>
                                        <p:tgtEl>
                                          <p:spTgt spid="21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1">
                                            <p:txEl>
                                              <p:pRg end="1" st="1"/>
                                            </p:txEl>
                                          </p:spTgt>
                                        </p:tgtEl>
                                        <p:attrNameLst>
                                          <p:attrName>style.visibility</p:attrName>
                                        </p:attrNameLst>
                                      </p:cBhvr>
                                      <p:to>
                                        <p:strVal val="visible"/>
                                      </p:to>
                                    </p:set>
                                    <p:anim calcmode="lin" valueType="num">
                                      <p:cBhvr additive="base">
                                        <p:cTn dur="500"/>
                                        <p:tgtEl>
                                          <p:spTgt spid="21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1">
                                            <p:txEl>
                                              <p:pRg end="2" st="2"/>
                                            </p:txEl>
                                          </p:spTgt>
                                        </p:tgtEl>
                                        <p:attrNameLst>
                                          <p:attrName>style.visibility</p:attrName>
                                        </p:attrNameLst>
                                      </p:cBhvr>
                                      <p:to>
                                        <p:strVal val="visible"/>
                                      </p:to>
                                    </p:set>
                                    <p:anim calcmode="lin" valueType="num">
                                      <p:cBhvr additive="base">
                                        <p:cTn dur="500"/>
                                        <p:tgtEl>
                                          <p:spTgt spid="21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1">
                                            <p:txEl>
                                              <p:pRg end="3" st="3"/>
                                            </p:txEl>
                                          </p:spTgt>
                                        </p:tgtEl>
                                        <p:attrNameLst>
                                          <p:attrName>style.visibility</p:attrName>
                                        </p:attrNameLst>
                                      </p:cBhvr>
                                      <p:to>
                                        <p:strVal val="visible"/>
                                      </p:to>
                                    </p:set>
                                    <p:anim calcmode="lin" valueType="num">
                                      <p:cBhvr additive="base">
                                        <p:cTn dur="500"/>
                                        <p:tgtEl>
                                          <p:spTgt spid="21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1">
                                            <p:txEl>
                                              <p:pRg end="4" st="4"/>
                                            </p:txEl>
                                          </p:spTgt>
                                        </p:tgtEl>
                                        <p:attrNameLst>
                                          <p:attrName>style.visibility</p:attrName>
                                        </p:attrNameLst>
                                      </p:cBhvr>
                                      <p:to>
                                        <p:strVal val="visible"/>
                                      </p:to>
                                    </p:set>
                                    <p:anim calcmode="lin" valueType="num">
                                      <p:cBhvr additive="base">
                                        <p:cTn dur="500"/>
                                        <p:tgtEl>
                                          <p:spTgt spid="211">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1">
                                            <p:txEl>
                                              <p:pRg end="5" st="5"/>
                                            </p:txEl>
                                          </p:spTgt>
                                        </p:tgtEl>
                                        <p:attrNameLst>
                                          <p:attrName>style.visibility</p:attrName>
                                        </p:attrNameLst>
                                      </p:cBhvr>
                                      <p:to>
                                        <p:strVal val="visible"/>
                                      </p:to>
                                    </p:set>
                                    <p:anim calcmode="lin" valueType="num">
                                      <p:cBhvr additive="base">
                                        <p:cTn dur="500"/>
                                        <p:tgtEl>
                                          <p:spTgt spid="211">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1">
                                            <p:txEl>
                                              <p:pRg end="6" st="6"/>
                                            </p:txEl>
                                          </p:spTgt>
                                        </p:tgtEl>
                                        <p:attrNameLst>
                                          <p:attrName>style.visibility</p:attrName>
                                        </p:attrNameLst>
                                      </p:cBhvr>
                                      <p:to>
                                        <p:strVal val="visible"/>
                                      </p:to>
                                    </p:set>
                                    <p:anim calcmode="lin" valueType="num">
                                      <p:cBhvr additive="base">
                                        <p:cTn dur="500"/>
                                        <p:tgtEl>
                                          <p:spTgt spid="211">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1">
                                            <p:txEl>
                                              <p:pRg end="7" st="7"/>
                                            </p:txEl>
                                          </p:spTgt>
                                        </p:tgtEl>
                                        <p:attrNameLst>
                                          <p:attrName>style.visibility</p:attrName>
                                        </p:attrNameLst>
                                      </p:cBhvr>
                                      <p:to>
                                        <p:strVal val="visible"/>
                                      </p:to>
                                    </p:set>
                                    <p:anim calcmode="lin" valueType="num">
                                      <p:cBhvr additive="base">
                                        <p:cTn dur="500"/>
                                        <p:tgtEl>
                                          <p:spTgt spid="211">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1">
                                            <p:txEl>
                                              <p:pRg end="8" st="8"/>
                                            </p:txEl>
                                          </p:spTgt>
                                        </p:tgtEl>
                                        <p:attrNameLst>
                                          <p:attrName>style.visibility</p:attrName>
                                        </p:attrNameLst>
                                      </p:cBhvr>
                                      <p:to>
                                        <p:strVal val="visible"/>
                                      </p:to>
                                    </p:set>
                                    <p:anim calcmode="lin" valueType="num">
                                      <p:cBhvr additive="base">
                                        <p:cTn dur="500"/>
                                        <p:tgtEl>
                                          <p:spTgt spid="211">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1">
                                            <p:txEl>
                                              <p:pRg end="9" st="9"/>
                                            </p:txEl>
                                          </p:spTgt>
                                        </p:tgtEl>
                                        <p:attrNameLst>
                                          <p:attrName>style.visibility</p:attrName>
                                        </p:attrNameLst>
                                      </p:cBhvr>
                                      <p:to>
                                        <p:strVal val="visible"/>
                                      </p:to>
                                    </p:set>
                                    <p:anim calcmode="lin" valueType="num">
                                      <p:cBhvr additive="base">
                                        <p:cTn dur="500"/>
                                        <p:tgtEl>
                                          <p:spTgt spid="211">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1">
                                            <p:txEl>
                                              <p:pRg end="10" st="10"/>
                                            </p:txEl>
                                          </p:spTgt>
                                        </p:tgtEl>
                                        <p:attrNameLst>
                                          <p:attrName>style.visibility</p:attrName>
                                        </p:attrNameLst>
                                      </p:cBhvr>
                                      <p:to>
                                        <p:strVal val="visible"/>
                                      </p:to>
                                    </p:set>
                                    <p:anim calcmode="lin" valueType="num">
                                      <p:cBhvr additive="base">
                                        <p:cTn dur="500"/>
                                        <p:tgtEl>
                                          <p:spTgt spid="211">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1">
                                            <p:txEl>
                                              <p:pRg end="11" st="11"/>
                                            </p:txEl>
                                          </p:spTgt>
                                        </p:tgtEl>
                                        <p:attrNameLst>
                                          <p:attrName>style.visibility</p:attrName>
                                        </p:attrNameLst>
                                      </p:cBhvr>
                                      <p:to>
                                        <p:strVal val="visible"/>
                                      </p:to>
                                    </p:set>
                                    <p:anim calcmode="lin" valueType="num">
                                      <p:cBhvr additive="base">
                                        <p:cTn dur="500"/>
                                        <p:tgtEl>
                                          <p:spTgt spid="211">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gtEl>
                                        <p:attrNameLst>
                                          <p:attrName>style.visibility</p:attrName>
                                        </p:attrNameLst>
                                      </p:cBhvr>
                                      <p:to>
                                        <p:strVal val="visible"/>
                                      </p:to>
                                    </p:set>
                                    <p:animEffect filter="fade" transition="in">
                                      <p:cBhvr>
                                        <p:cTn dur="500"/>
                                        <p:tgtEl>
                                          <p:spTgt spid="2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gtEl>
                                        <p:attrNameLst>
                                          <p:attrName>style.visibility</p:attrName>
                                        </p:attrNameLst>
                                      </p:cBhvr>
                                      <p:to>
                                        <p:strVal val="visible"/>
                                      </p:to>
                                    </p:set>
                                    <p:animEffect filter="fade" transition="in">
                                      <p:cBhvr>
                                        <p:cTn dur="500"/>
                                        <p:tgtEl>
                                          <p:spTgt spid="2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Participation Constraint</a:t>
            </a:r>
            <a:endParaRPr/>
          </a:p>
        </p:txBody>
      </p:sp>
      <p:sp>
        <p:nvSpPr>
          <p:cNvPr id="219" name="Google Shape;219;p33"/>
          <p:cNvSpPr txBox="1"/>
          <p:nvPr>
            <p:ph idx="1" type="body"/>
          </p:nvPr>
        </p:nvSpPr>
        <p:spPr>
          <a:xfrm>
            <a:off x="838200" y="1501954"/>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Participation Constraint is applied on the entity participating in the relationship set.</a:t>
            </a:r>
            <a:endParaRPr/>
          </a:p>
          <a:p>
            <a:pPr indent="-228600" lvl="0" marL="228600" rtl="0" algn="l">
              <a:lnSpc>
                <a:spcPct val="90000"/>
              </a:lnSpc>
              <a:spcBef>
                <a:spcPts val="1000"/>
              </a:spcBef>
              <a:spcAft>
                <a:spcPts val="0"/>
              </a:spcAft>
              <a:buClr>
                <a:schemeClr val="dk1"/>
              </a:buClr>
              <a:buSzPts val="2800"/>
              <a:buChar char="•"/>
            </a:pPr>
            <a:r>
              <a:rPr b="1" lang="en-US"/>
              <a:t>Total Participation</a:t>
            </a:r>
            <a:r>
              <a:rPr lang="en-US"/>
              <a:t>:</a:t>
            </a:r>
            <a:endParaRPr/>
          </a:p>
          <a:p>
            <a:pPr indent="-228600" lvl="0" marL="228600" rtl="0" algn="l">
              <a:lnSpc>
                <a:spcPct val="90000"/>
              </a:lnSpc>
              <a:spcBef>
                <a:spcPts val="1000"/>
              </a:spcBef>
              <a:spcAft>
                <a:spcPts val="0"/>
              </a:spcAft>
              <a:buClr>
                <a:schemeClr val="dk1"/>
              </a:buClr>
              <a:buSzPts val="2800"/>
              <a:buChar char="•"/>
            </a:pPr>
            <a:r>
              <a:rPr lang="en-US"/>
              <a:t>Each entity in the entity set must participate in the relationship. </a:t>
            </a:r>
            <a:endParaRPr/>
          </a:p>
          <a:p>
            <a:pPr indent="-228600" lvl="0" marL="228600" rtl="0" algn="l">
              <a:lnSpc>
                <a:spcPct val="90000"/>
              </a:lnSpc>
              <a:spcBef>
                <a:spcPts val="1000"/>
              </a:spcBef>
              <a:spcAft>
                <a:spcPts val="0"/>
              </a:spcAft>
              <a:buClr>
                <a:schemeClr val="dk1"/>
              </a:buClr>
              <a:buSzPts val="2800"/>
              <a:buChar char="•"/>
            </a:pPr>
            <a:r>
              <a:rPr lang="en-US"/>
              <a:t>If each student must enroll in a course, the participation of student will be total. </a:t>
            </a:r>
            <a:endParaRPr/>
          </a:p>
          <a:p>
            <a:pPr indent="-228600" lvl="0" marL="228600" rtl="0" algn="l">
              <a:lnSpc>
                <a:spcPct val="90000"/>
              </a:lnSpc>
              <a:spcBef>
                <a:spcPts val="1000"/>
              </a:spcBef>
              <a:spcAft>
                <a:spcPts val="0"/>
              </a:spcAft>
              <a:buClr>
                <a:schemeClr val="dk1"/>
              </a:buClr>
              <a:buSzPts val="2800"/>
              <a:buChar char="•"/>
            </a:pPr>
            <a:r>
              <a:rPr lang="en-US"/>
              <a:t>Total participation is shown by double line in ER diagram.</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220" name="Google Shape;220;p33"/>
          <p:cNvPicPr preferRelativeResize="0"/>
          <p:nvPr/>
        </p:nvPicPr>
        <p:blipFill rotWithShape="1">
          <a:blip r:embed="rId3">
            <a:alphaModFix/>
          </a:blip>
          <a:srcRect b="0" l="0" r="0" t="0"/>
          <a:stretch/>
        </p:blipFill>
        <p:spPr>
          <a:xfrm>
            <a:off x="3768436" y="4815969"/>
            <a:ext cx="3325092" cy="167690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xEl>
                                              <p:pRg end="0" st="0"/>
                                            </p:txEl>
                                          </p:spTgt>
                                        </p:tgtEl>
                                        <p:attrNameLst>
                                          <p:attrName>style.visibility</p:attrName>
                                        </p:attrNameLst>
                                      </p:cBhvr>
                                      <p:to>
                                        <p:strVal val="visible"/>
                                      </p:to>
                                    </p:set>
                                    <p:animEffect filter="fade" transition="in">
                                      <p:cBhvr>
                                        <p:cTn dur="1000"/>
                                        <p:tgtEl>
                                          <p:spTgt spid="21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xEl>
                                              <p:pRg end="1" st="1"/>
                                            </p:txEl>
                                          </p:spTgt>
                                        </p:tgtEl>
                                        <p:attrNameLst>
                                          <p:attrName>style.visibility</p:attrName>
                                        </p:attrNameLst>
                                      </p:cBhvr>
                                      <p:to>
                                        <p:strVal val="visible"/>
                                      </p:to>
                                    </p:set>
                                    <p:animEffect filter="fade" transition="in">
                                      <p:cBhvr>
                                        <p:cTn dur="1000"/>
                                        <p:tgtEl>
                                          <p:spTgt spid="21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xEl>
                                              <p:pRg end="2" st="2"/>
                                            </p:txEl>
                                          </p:spTgt>
                                        </p:tgtEl>
                                        <p:attrNameLst>
                                          <p:attrName>style.visibility</p:attrName>
                                        </p:attrNameLst>
                                      </p:cBhvr>
                                      <p:to>
                                        <p:strVal val="visible"/>
                                      </p:to>
                                    </p:set>
                                    <p:animEffect filter="fade" transition="in">
                                      <p:cBhvr>
                                        <p:cTn dur="1000"/>
                                        <p:tgtEl>
                                          <p:spTgt spid="21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xEl>
                                              <p:pRg end="3" st="3"/>
                                            </p:txEl>
                                          </p:spTgt>
                                        </p:tgtEl>
                                        <p:attrNameLst>
                                          <p:attrName>style.visibility</p:attrName>
                                        </p:attrNameLst>
                                      </p:cBhvr>
                                      <p:to>
                                        <p:strVal val="visible"/>
                                      </p:to>
                                    </p:set>
                                    <p:animEffect filter="fade" transition="in">
                                      <p:cBhvr>
                                        <p:cTn dur="1000"/>
                                        <p:tgtEl>
                                          <p:spTgt spid="21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xEl>
                                              <p:pRg end="4" st="4"/>
                                            </p:txEl>
                                          </p:spTgt>
                                        </p:tgtEl>
                                        <p:attrNameLst>
                                          <p:attrName>style.visibility</p:attrName>
                                        </p:attrNameLst>
                                      </p:cBhvr>
                                      <p:to>
                                        <p:strVal val="visible"/>
                                      </p:to>
                                    </p:set>
                                    <p:animEffect filter="fade" transition="in">
                                      <p:cBhvr>
                                        <p:cTn dur="1000"/>
                                        <p:tgtEl>
                                          <p:spTgt spid="21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xEl>
                                              <p:pRg end="5" st="5"/>
                                            </p:txEl>
                                          </p:spTgt>
                                        </p:tgtEl>
                                        <p:attrNameLst>
                                          <p:attrName>style.visibility</p:attrName>
                                        </p:attrNameLst>
                                      </p:cBhvr>
                                      <p:to>
                                        <p:strVal val="visible"/>
                                      </p:to>
                                    </p:set>
                                    <p:animEffect filter="fade" transition="in">
                                      <p:cBhvr>
                                        <p:cTn dur="1000"/>
                                        <p:tgtEl>
                                          <p:spTgt spid="21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2000"/>
                                        <p:tgtEl>
                                          <p:spTgt spid="2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b="1" lang="en-US" sz="3600"/>
              <a:t>Partial Participation</a:t>
            </a:r>
            <a:endParaRPr/>
          </a:p>
        </p:txBody>
      </p:sp>
      <p:sp>
        <p:nvSpPr>
          <p:cNvPr id="226" name="Google Shape;226;p3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entity in the entity set may or may NOT participate in the relationship.</a:t>
            </a:r>
            <a:endParaRPr/>
          </a:p>
          <a:p>
            <a:pPr indent="-228600" lvl="0" marL="228600" rtl="0" algn="l">
              <a:lnSpc>
                <a:spcPct val="90000"/>
              </a:lnSpc>
              <a:spcBef>
                <a:spcPts val="1000"/>
              </a:spcBef>
              <a:spcAft>
                <a:spcPts val="0"/>
              </a:spcAft>
              <a:buClr>
                <a:schemeClr val="dk1"/>
              </a:buClr>
              <a:buSzPts val="2800"/>
              <a:buChar char="•"/>
            </a:pPr>
            <a:r>
              <a:rPr lang="en-US"/>
              <a:t> If some courses are not enrolled by any of the student, the participation of course will be partial.</a:t>
            </a:r>
            <a:endParaRPr/>
          </a:p>
          <a:p>
            <a:pPr indent="-228600" lvl="0" marL="228600" rtl="0" algn="l">
              <a:lnSpc>
                <a:spcPct val="90000"/>
              </a:lnSpc>
              <a:spcBef>
                <a:spcPts val="1000"/>
              </a:spcBef>
              <a:spcAft>
                <a:spcPts val="0"/>
              </a:spcAft>
              <a:buClr>
                <a:schemeClr val="dk1"/>
              </a:buClr>
              <a:buSzPts val="2800"/>
              <a:buChar char="•"/>
            </a:pPr>
            <a:r>
              <a:rPr lang="en-US"/>
              <a:t>The diagram depicts the ‘Enrolled in’ relationship set with Student Entity set having total participation and Course Entity set having partial participation.</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227" name="Google Shape;227;p34"/>
          <p:cNvPicPr preferRelativeResize="0"/>
          <p:nvPr/>
        </p:nvPicPr>
        <p:blipFill rotWithShape="1">
          <a:blip r:embed="rId3">
            <a:alphaModFix/>
          </a:blip>
          <a:srcRect b="0" l="0" r="0" t="0"/>
          <a:stretch/>
        </p:blipFill>
        <p:spPr>
          <a:xfrm>
            <a:off x="4696691" y="4698083"/>
            <a:ext cx="4037760" cy="147888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6">
                                            <p:txEl>
                                              <p:pRg end="0" st="0"/>
                                            </p:txEl>
                                          </p:spTgt>
                                        </p:tgtEl>
                                        <p:attrNameLst>
                                          <p:attrName>style.visibility</p:attrName>
                                        </p:attrNameLst>
                                      </p:cBhvr>
                                      <p:to>
                                        <p:strVal val="visible"/>
                                      </p:to>
                                    </p:set>
                                    <p:anim calcmode="lin" valueType="num">
                                      <p:cBhvr additive="base">
                                        <p:cTn dur="500"/>
                                        <p:tgtEl>
                                          <p:spTgt spid="22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6">
                                            <p:txEl>
                                              <p:pRg end="1" st="1"/>
                                            </p:txEl>
                                          </p:spTgt>
                                        </p:tgtEl>
                                        <p:attrNameLst>
                                          <p:attrName>style.visibility</p:attrName>
                                        </p:attrNameLst>
                                      </p:cBhvr>
                                      <p:to>
                                        <p:strVal val="visible"/>
                                      </p:to>
                                    </p:set>
                                    <p:anim calcmode="lin" valueType="num">
                                      <p:cBhvr additive="base">
                                        <p:cTn dur="500"/>
                                        <p:tgtEl>
                                          <p:spTgt spid="22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6">
                                            <p:txEl>
                                              <p:pRg end="2" st="2"/>
                                            </p:txEl>
                                          </p:spTgt>
                                        </p:tgtEl>
                                        <p:attrNameLst>
                                          <p:attrName>style.visibility</p:attrName>
                                        </p:attrNameLst>
                                      </p:cBhvr>
                                      <p:to>
                                        <p:strVal val="visible"/>
                                      </p:to>
                                    </p:set>
                                    <p:anim calcmode="lin" valueType="num">
                                      <p:cBhvr additive="base">
                                        <p:cTn dur="500"/>
                                        <p:tgtEl>
                                          <p:spTgt spid="22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6">
                                            <p:txEl>
                                              <p:pRg end="3" st="3"/>
                                            </p:txEl>
                                          </p:spTgt>
                                        </p:tgtEl>
                                        <p:attrNameLst>
                                          <p:attrName>style.visibility</p:attrName>
                                        </p:attrNameLst>
                                      </p:cBhvr>
                                      <p:to>
                                        <p:strVal val="visible"/>
                                      </p:to>
                                    </p:set>
                                    <p:anim calcmode="lin" valueType="num">
                                      <p:cBhvr additive="base">
                                        <p:cTn dur="500"/>
                                        <p:tgtEl>
                                          <p:spTgt spid="22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7"/>
                                        </p:tgtEl>
                                        <p:attrNameLst>
                                          <p:attrName>style.visibility</p:attrName>
                                        </p:attrNameLst>
                                      </p:cBhvr>
                                      <p:to>
                                        <p:strVal val="visible"/>
                                      </p:to>
                                    </p:set>
                                    <p:animEffect filter="fade" transition="in">
                                      <p:cBhvr>
                                        <p:cTn dur="500"/>
                                        <p:tgtEl>
                                          <p:spTgt spid="2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0000"/>
              </a:buClr>
              <a:buSzPts val="4400"/>
              <a:buFont typeface="Calibri"/>
              <a:buNone/>
            </a:pPr>
            <a:r>
              <a:rPr lang="en-US">
                <a:solidFill>
                  <a:srgbClr val="FF0000"/>
                </a:solidFill>
              </a:rPr>
              <a:t>Mapping Cardinality/Mapping Constraints</a:t>
            </a:r>
            <a:endParaRPr/>
          </a:p>
        </p:txBody>
      </p:sp>
      <p:sp>
        <p:nvSpPr>
          <p:cNvPr id="233" name="Google Shape;233;p3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Mapping cardinalities, or cardinality ratios, express the number of entities to which another entity can be associated via a relationship set.</a:t>
            </a:r>
            <a:endParaRPr/>
          </a:p>
          <a:p>
            <a:pPr indent="-228600" lvl="0" marL="228600" rtl="0" algn="l">
              <a:lnSpc>
                <a:spcPct val="90000"/>
              </a:lnSpc>
              <a:spcBef>
                <a:spcPts val="1000"/>
              </a:spcBef>
              <a:spcAft>
                <a:spcPts val="0"/>
              </a:spcAft>
              <a:buClr>
                <a:schemeClr val="dk1"/>
              </a:buClr>
              <a:buSzPts val="2800"/>
              <a:buChar char="•"/>
            </a:pPr>
            <a:r>
              <a:rPr lang="en-US"/>
              <a:t>For a binary relationship set R between entity sets A and B, the mapping cardinality must be one of the following:</a:t>
            </a:r>
            <a:endParaRPr/>
          </a:p>
          <a:p>
            <a:pPr indent="-228600" lvl="0" marL="228600" rtl="0" algn="l">
              <a:lnSpc>
                <a:spcPct val="90000"/>
              </a:lnSpc>
              <a:spcBef>
                <a:spcPts val="1000"/>
              </a:spcBef>
              <a:spcAft>
                <a:spcPts val="0"/>
              </a:spcAft>
              <a:buClr>
                <a:schemeClr val="dk1"/>
              </a:buClr>
              <a:buSzPts val="2800"/>
              <a:buChar char="•"/>
            </a:pPr>
            <a:r>
              <a:rPr lang="en-US"/>
              <a:t>One-To-One</a:t>
            </a:r>
            <a:endParaRPr/>
          </a:p>
          <a:p>
            <a:pPr indent="-228600" lvl="0" marL="228600" rtl="0" algn="l">
              <a:lnSpc>
                <a:spcPct val="90000"/>
              </a:lnSpc>
              <a:spcBef>
                <a:spcPts val="1000"/>
              </a:spcBef>
              <a:spcAft>
                <a:spcPts val="0"/>
              </a:spcAft>
              <a:buClr>
                <a:schemeClr val="dk1"/>
              </a:buClr>
              <a:buSzPts val="2800"/>
              <a:buChar char="•"/>
            </a:pPr>
            <a:r>
              <a:rPr lang="en-US"/>
              <a:t>One-To-Many</a:t>
            </a:r>
            <a:endParaRPr/>
          </a:p>
          <a:p>
            <a:pPr indent="-228600" lvl="0" marL="228600" rtl="0" algn="l">
              <a:lnSpc>
                <a:spcPct val="90000"/>
              </a:lnSpc>
              <a:spcBef>
                <a:spcPts val="1000"/>
              </a:spcBef>
              <a:spcAft>
                <a:spcPts val="0"/>
              </a:spcAft>
              <a:buClr>
                <a:schemeClr val="dk1"/>
              </a:buClr>
              <a:buSzPts val="2800"/>
              <a:buChar char="•"/>
            </a:pPr>
            <a:r>
              <a:rPr lang="en-US"/>
              <a:t>Many-To-One</a:t>
            </a:r>
            <a:endParaRPr/>
          </a:p>
          <a:p>
            <a:pPr indent="-228600" lvl="0" marL="228600" rtl="0" algn="l">
              <a:lnSpc>
                <a:spcPct val="90000"/>
              </a:lnSpc>
              <a:spcBef>
                <a:spcPts val="1000"/>
              </a:spcBef>
              <a:spcAft>
                <a:spcPts val="0"/>
              </a:spcAft>
              <a:buClr>
                <a:schemeClr val="dk1"/>
              </a:buClr>
              <a:buSzPts val="2800"/>
              <a:buChar char="•"/>
            </a:pPr>
            <a:r>
              <a:rPr lang="en-US"/>
              <a:t>Many-To-Many</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One-To-One</a:t>
            </a:r>
            <a:endParaRPr/>
          </a:p>
        </p:txBody>
      </p:sp>
      <p:sp>
        <p:nvSpPr>
          <p:cNvPr id="239" name="Google Shape;239;p36"/>
          <p:cNvSpPr txBox="1"/>
          <p:nvPr>
            <p:ph idx="1" type="body"/>
          </p:nvPr>
        </p:nvSpPr>
        <p:spPr>
          <a:xfrm>
            <a:off x="838199" y="1825624"/>
            <a:ext cx="6144491" cy="4838411"/>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An entity in A is associated with at most one entity in B, and an entity in B is associated with at most one entity in A.</a:t>
            </a:r>
            <a:endParaRPr/>
          </a:p>
          <a:p>
            <a:pPr indent="-228600" lvl="0" marL="228600" rtl="0" algn="l">
              <a:lnSpc>
                <a:spcPct val="90000"/>
              </a:lnSpc>
              <a:spcBef>
                <a:spcPts val="1000"/>
              </a:spcBef>
              <a:spcAft>
                <a:spcPts val="0"/>
              </a:spcAft>
              <a:buClr>
                <a:schemeClr val="dk1"/>
              </a:buClr>
              <a:buSzPts val="2800"/>
              <a:buChar char="•"/>
            </a:pPr>
            <a:r>
              <a:rPr lang="en-US"/>
              <a:t>E.g. Student can enroll at most one course and course can have at most one student.</a:t>
            </a:r>
            <a:endParaRPr/>
          </a:p>
          <a:p>
            <a:pPr indent="-228600" lvl="0" marL="228600" rtl="0" algn="l">
              <a:lnSpc>
                <a:spcPct val="90000"/>
              </a:lnSpc>
              <a:spcBef>
                <a:spcPts val="1000"/>
              </a:spcBef>
              <a:spcAft>
                <a:spcPts val="0"/>
              </a:spcAft>
              <a:buClr>
                <a:schemeClr val="dk1"/>
              </a:buClr>
              <a:buSzPts val="2800"/>
              <a:buChar char="•"/>
            </a:pPr>
            <a:r>
              <a:rPr lang="en-US"/>
              <a:t>E.g. We draw a directed line from the relationship set advisor to both entity sets instructor and student. This indicates that an instructor may advise at most one student, and a student may have at most one advisor.</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240" name="Google Shape;240;p36"/>
          <p:cNvPicPr preferRelativeResize="0"/>
          <p:nvPr/>
        </p:nvPicPr>
        <p:blipFill rotWithShape="1">
          <a:blip r:embed="rId3">
            <a:alphaModFix/>
          </a:blip>
          <a:srcRect b="0" l="0" r="0" t="0"/>
          <a:stretch/>
        </p:blipFill>
        <p:spPr>
          <a:xfrm>
            <a:off x="7351352" y="3054902"/>
            <a:ext cx="4252066" cy="190293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2000"/>
                                        <p:tgtEl>
                                          <p:spTgt spid="2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xEl>
                                              <p:pRg end="0" st="0"/>
                                            </p:txEl>
                                          </p:spTgt>
                                        </p:tgtEl>
                                        <p:attrNameLst>
                                          <p:attrName>style.visibility</p:attrName>
                                        </p:attrNameLst>
                                      </p:cBhvr>
                                      <p:to>
                                        <p:strVal val="visible"/>
                                      </p:to>
                                    </p:set>
                                    <p:animEffect filter="fade" transition="in">
                                      <p:cBhvr>
                                        <p:cTn dur="1000"/>
                                        <p:tgtEl>
                                          <p:spTgt spid="23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xEl>
                                              <p:pRg end="1" st="1"/>
                                            </p:txEl>
                                          </p:spTgt>
                                        </p:tgtEl>
                                        <p:attrNameLst>
                                          <p:attrName>style.visibility</p:attrName>
                                        </p:attrNameLst>
                                      </p:cBhvr>
                                      <p:to>
                                        <p:strVal val="visible"/>
                                      </p:to>
                                    </p:set>
                                    <p:animEffect filter="fade" transition="in">
                                      <p:cBhvr>
                                        <p:cTn dur="1000"/>
                                        <p:tgtEl>
                                          <p:spTgt spid="23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xEl>
                                              <p:pRg end="2" st="2"/>
                                            </p:txEl>
                                          </p:spTgt>
                                        </p:tgtEl>
                                        <p:attrNameLst>
                                          <p:attrName>style.visibility</p:attrName>
                                        </p:attrNameLst>
                                      </p:cBhvr>
                                      <p:to>
                                        <p:strVal val="visible"/>
                                      </p:to>
                                    </p:set>
                                    <p:animEffect filter="fade" transition="in">
                                      <p:cBhvr>
                                        <p:cTn dur="1000"/>
                                        <p:tgtEl>
                                          <p:spTgt spid="23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xEl>
                                              <p:pRg end="3" st="3"/>
                                            </p:txEl>
                                          </p:spTgt>
                                        </p:tgtEl>
                                        <p:attrNameLst>
                                          <p:attrName>style.visibility</p:attrName>
                                        </p:attrNameLst>
                                      </p:cBhvr>
                                      <p:to>
                                        <p:strVal val="visible"/>
                                      </p:to>
                                    </p:set>
                                    <p:animEffect filter="fade" transition="in">
                                      <p:cBhvr>
                                        <p:cTn dur="1000"/>
                                        <p:tgtEl>
                                          <p:spTgt spid="239">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7"/>
          <p:cNvSpPr txBox="1"/>
          <p:nvPr/>
        </p:nvSpPr>
        <p:spPr>
          <a:xfrm>
            <a:off x="5486400" y="1417379"/>
            <a:ext cx="6096000" cy="4706329"/>
          </a:xfrm>
          <a:prstGeom prst="rect">
            <a:avLst/>
          </a:prstGeom>
          <a:noFill/>
          <a:ln>
            <a:noFill/>
          </a:ln>
        </p:spPr>
        <p:txBody>
          <a:bodyPr anchorCtr="0" anchor="t" bIns="45000" lIns="90000" spcFirstLastPara="1" rIns="90000" wrap="square" tIns="45000">
            <a:normAutofit/>
          </a:bodyPr>
          <a:lstStyle/>
          <a:p>
            <a:pPr indent="-255600" lvl="0" marL="365760" marR="0" rtl="0" algn="just">
              <a:spcBef>
                <a:spcPts val="0"/>
              </a:spcBef>
              <a:spcAft>
                <a:spcPts val="0"/>
              </a:spcAft>
              <a:buClr>
                <a:srgbClr val="2DA2BF"/>
              </a:buClr>
              <a:buSzPts val="1700"/>
              <a:buFont typeface="Noto Sans Symbols"/>
              <a:buChar char="🞂"/>
            </a:pPr>
            <a:r>
              <a:rPr b="1" i="0" lang="en-US" sz="2500" u="none" cap="none" strike="noStrike">
                <a:solidFill>
                  <a:schemeClr val="dk1"/>
                </a:solidFill>
                <a:latin typeface="Times New Roman"/>
                <a:ea typeface="Times New Roman"/>
                <a:cs typeface="Times New Roman"/>
                <a:sym typeface="Times New Roman"/>
              </a:rPr>
              <a:t>One-To-Many:</a:t>
            </a:r>
            <a:r>
              <a:rPr b="0" i="0" lang="en-US" sz="2200" u="none" cap="none" strike="noStrike">
                <a:solidFill>
                  <a:schemeClr val="dk1"/>
                </a:solidFill>
                <a:latin typeface="Times New Roman"/>
                <a:ea typeface="Times New Roman"/>
                <a:cs typeface="Times New Roman"/>
                <a:sym typeface="Times New Roman"/>
              </a:rPr>
              <a:t>An entity in A is associated with any number (zero or more)of entities in B. An entity in B, however, can be associated with at most one entity in A.</a:t>
            </a:r>
            <a:r>
              <a:rPr b="0" i="1" lang="en-US" sz="2800" u="none" cap="none" strike="noStrike">
                <a:solidFill>
                  <a:schemeClr val="dk1"/>
                </a:solidFill>
                <a:latin typeface="Lucida Sans"/>
                <a:ea typeface="Lucida Sans"/>
                <a:cs typeface="Lucida Sans"/>
                <a:sym typeface="Lucida Sans"/>
              </a:rPr>
              <a:t> </a:t>
            </a:r>
            <a:endParaRPr b="0" i="0" sz="2800" u="none" cap="none" strike="noStrike">
              <a:solidFill>
                <a:schemeClr val="dk1"/>
              </a:solidFill>
              <a:latin typeface="Lucida Sans"/>
              <a:ea typeface="Lucida Sans"/>
              <a:cs typeface="Lucida Sans"/>
              <a:sym typeface="Lucida Sans"/>
            </a:endParaRPr>
          </a:p>
          <a:p>
            <a:pPr indent="-160602" lvl="0" marL="365760" marR="0" rtl="0" algn="just">
              <a:spcBef>
                <a:spcPts val="400"/>
              </a:spcBef>
              <a:spcAft>
                <a:spcPts val="0"/>
              </a:spcAft>
              <a:buClr>
                <a:srgbClr val="2DA2BF"/>
              </a:buClr>
              <a:buSzPts val="1496"/>
              <a:buFont typeface="Noto Sans Symbols"/>
              <a:buNone/>
            </a:pPr>
            <a:r>
              <a:t/>
            </a:r>
            <a:endParaRPr b="0" i="0" sz="2200" u="none" cap="none" strike="noStrike">
              <a:solidFill>
                <a:schemeClr val="dk1"/>
              </a:solidFill>
              <a:latin typeface="Times New Roman"/>
              <a:ea typeface="Times New Roman"/>
              <a:cs typeface="Times New Roman"/>
              <a:sym typeface="Times New Roman"/>
            </a:endParaRPr>
          </a:p>
          <a:p>
            <a:pPr indent="-255598" lvl="0" marL="365760" marR="0" rtl="0" algn="just">
              <a:spcBef>
                <a:spcPts val="400"/>
              </a:spcBef>
              <a:spcAft>
                <a:spcPts val="0"/>
              </a:spcAft>
              <a:buClr>
                <a:srgbClr val="2DA2BF"/>
              </a:buClr>
              <a:buSzPts val="1496"/>
              <a:buFont typeface="Noto Sans Symbols"/>
              <a:buChar char="🞂"/>
            </a:pPr>
            <a:r>
              <a:rPr b="0" i="0" lang="en-US" sz="2200" u="none" cap="none" strike="noStrike">
                <a:solidFill>
                  <a:schemeClr val="dk1"/>
                </a:solidFill>
                <a:latin typeface="Times New Roman"/>
                <a:ea typeface="Times New Roman"/>
                <a:cs typeface="Times New Roman"/>
                <a:sym typeface="Times New Roman"/>
              </a:rPr>
              <a:t>E.g. An instructor may advise many students, but a student may have at most one advisor.</a:t>
            </a:r>
            <a:endParaRPr/>
          </a:p>
          <a:p>
            <a:pPr indent="-160602" lvl="0" marL="365760" marR="0" rtl="0" algn="just">
              <a:spcBef>
                <a:spcPts val="400"/>
              </a:spcBef>
              <a:spcAft>
                <a:spcPts val="0"/>
              </a:spcAft>
              <a:buClr>
                <a:srgbClr val="2DA2BF"/>
              </a:buClr>
              <a:buSzPts val="1496"/>
              <a:buFont typeface="Noto Sans Symbols"/>
              <a:buNone/>
            </a:pPr>
            <a:r>
              <a:t/>
            </a:r>
            <a:endParaRPr b="0" i="0" sz="2200" u="none" cap="none" strike="noStrike">
              <a:solidFill>
                <a:schemeClr val="dk1"/>
              </a:solidFill>
              <a:latin typeface="Times New Roman"/>
              <a:ea typeface="Times New Roman"/>
              <a:cs typeface="Times New Roman"/>
              <a:sym typeface="Times New Roman"/>
            </a:endParaRPr>
          </a:p>
          <a:p>
            <a:pPr indent="-255598" lvl="0" marL="365760" marR="0" rtl="0" algn="just">
              <a:spcBef>
                <a:spcPts val="400"/>
              </a:spcBef>
              <a:spcAft>
                <a:spcPts val="0"/>
              </a:spcAft>
              <a:buClr>
                <a:srgbClr val="2DA2BF"/>
              </a:buClr>
              <a:buSzPts val="1496"/>
              <a:buFont typeface="Noto Sans Symbols"/>
              <a:buChar char="🞂"/>
            </a:pPr>
            <a:r>
              <a:rPr b="0" i="0" lang="en-US" sz="2200" u="none" cap="none" strike="noStrike">
                <a:solidFill>
                  <a:schemeClr val="dk1"/>
                </a:solidFill>
                <a:latin typeface="Times New Roman"/>
                <a:ea typeface="Times New Roman"/>
                <a:cs typeface="Times New Roman"/>
                <a:sym typeface="Times New Roman"/>
              </a:rPr>
              <a:t>e.g. A student can enrol for  many courses </a:t>
            </a:r>
            <a:endParaRPr b="0" i="0" sz="2200" u="none" cap="none" strike="noStrike">
              <a:solidFill>
                <a:schemeClr val="dk1"/>
              </a:solidFill>
              <a:latin typeface="Lucida Sans"/>
              <a:ea typeface="Lucida Sans"/>
              <a:cs typeface="Lucida Sans"/>
              <a:sym typeface="Lucida Sans"/>
            </a:endParaRPr>
          </a:p>
          <a:p>
            <a:pPr indent="0" lvl="0" marL="0" marR="0" rtl="0" algn="just">
              <a:spcBef>
                <a:spcPts val="400"/>
              </a:spcBef>
              <a:spcAft>
                <a:spcPts val="0"/>
              </a:spcAft>
              <a:buNone/>
            </a:pPr>
            <a:r>
              <a:t/>
            </a:r>
            <a:endParaRPr b="0" i="0" sz="2200" u="none" cap="none" strike="noStrike">
              <a:solidFill>
                <a:srgbClr val="FFFFFF"/>
              </a:solidFill>
              <a:latin typeface="Lucida Sans"/>
              <a:ea typeface="Lucida Sans"/>
              <a:cs typeface="Lucida Sans"/>
              <a:sym typeface="Lucida Sans"/>
            </a:endParaRPr>
          </a:p>
        </p:txBody>
      </p:sp>
      <p:sp>
        <p:nvSpPr>
          <p:cNvPr id="246" name="Google Shape;246;p37"/>
          <p:cNvSpPr txBox="1"/>
          <p:nvPr/>
        </p:nvSpPr>
        <p:spPr>
          <a:xfrm>
            <a:off x="1981200" y="274680"/>
            <a:ext cx="8229300" cy="1142700"/>
          </a:xfrm>
          <a:prstGeom prst="rect">
            <a:avLst/>
          </a:prstGeom>
          <a:noFill/>
          <a:ln>
            <a:noFill/>
          </a:ln>
        </p:spPr>
        <p:txBody>
          <a:bodyPr anchorCtr="0" anchor="ctr" bIns="45000" lIns="90000" spcFirstLastPara="1" rIns="90000" wrap="square" tIns="45000">
            <a:normAutofit/>
          </a:bodyPr>
          <a:lstStyle/>
          <a:p>
            <a:pPr indent="0" lvl="0" marL="0" marR="0" rtl="0" algn="ctr">
              <a:spcBef>
                <a:spcPts val="0"/>
              </a:spcBef>
              <a:spcAft>
                <a:spcPts val="0"/>
              </a:spcAft>
              <a:buNone/>
            </a:pPr>
            <a:r>
              <a:rPr b="1" i="0" lang="en-US" sz="4000" u="none" cap="none" strike="noStrike">
                <a:solidFill>
                  <a:srgbClr val="FF0000"/>
                </a:solidFill>
                <a:latin typeface="Times New Roman"/>
                <a:ea typeface="Times New Roman"/>
                <a:cs typeface="Times New Roman"/>
                <a:sym typeface="Times New Roman"/>
              </a:rPr>
              <a:t>Mapping Cardinality</a:t>
            </a:r>
            <a:endParaRPr b="0" i="0" sz="4000" u="none" cap="none" strike="noStrike">
              <a:solidFill>
                <a:srgbClr val="FF0000"/>
              </a:solidFill>
              <a:latin typeface="Lucida Sans"/>
              <a:ea typeface="Lucida Sans"/>
              <a:cs typeface="Lucida Sans"/>
              <a:sym typeface="Lucida Sans"/>
            </a:endParaRPr>
          </a:p>
        </p:txBody>
      </p:sp>
      <p:pic>
        <p:nvPicPr>
          <p:cNvPr id="247" name="Google Shape;247;p37"/>
          <p:cNvPicPr preferRelativeResize="0"/>
          <p:nvPr/>
        </p:nvPicPr>
        <p:blipFill rotWithShape="1">
          <a:blip r:embed="rId3">
            <a:alphaModFix/>
          </a:blip>
          <a:srcRect b="0" l="0" r="0" t="0"/>
          <a:stretch/>
        </p:blipFill>
        <p:spPr>
          <a:xfrm>
            <a:off x="1072367" y="2326652"/>
            <a:ext cx="4263875" cy="220469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gtEl>
                                        <p:attrNameLst>
                                          <p:attrName>style.visibility</p:attrName>
                                        </p:attrNameLst>
                                      </p:cBhvr>
                                      <p:to>
                                        <p:strVal val="visible"/>
                                      </p:to>
                                    </p:set>
                                    <p:animEffect filter="fade" transition="in">
                                      <p:cBhvr>
                                        <p:cTn dur="2000"/>
                                        <p:tgtEl>
                                          <p:spTgt spid="2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xEl>
                                              <p:pRg end="0" st="0"/>
                                            </p:txEl>
                                          </p:spTgt>
                                        </p:tgtEl>
                                        <p:attrNameLst>
                                          <p:attrName>style.visibility</p:attrName>
                                        </p:attrNameLst>
                                      </p:cBhvr>
                                      <p:to>
                                        <p:strVal val="visible"/>
                                      </p:to>
                                    </p:set>
                                    <p:animEffect filter="fade" transition="in">
                                      <p:cBhvr>
                                        <p:cTn dur="1000"/>
                                        <p:tgtEl>
                                          <p:spTgt spid="24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xEl>
                                              <p:pRg end="1" st="1"/>
                                            </p:txEl>
                                          </p:spTgt>
                                        </p:tgtEl>
                                        <p:attrNameLst>
                                          <p:attrName>style.visibility</p:attrName>
                                        </p:attrNameLst>
                                      </p:cBhvr>
                                      <p:to>
                                        <p:strVal val="visible"/>
                                      </p:to>
                                    </p:set>
                                    <p:animEffect filter="fade" transition="in">
                                      <p:cBhvr>
                                        <p:cTn dur="1000"/>
                                        <p:tgtEl>
                                          <p:spTgt spid="24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xEl>
                                              <p:pRg end="2" st="2"/>
                                            </p:txEl>
                                          </p:spTgt>
                                        </p:tgtEl>
                                        <p:attrNameLst>
                                          <p:attrName>style.visibility</p:attrName>
                                        </p:attrNameLst>
                                      </p:cBhvr>
                                      <p:to>
                                        <p:strVal val="visible"/>
                                      </p:to>
                                    </p:set>
                                    <p:animEffect filter="fade" transition="in">
                                      <p:cBhvr>
                                        <p:cTn dur="1000"/>
                                        <p:tgtEl>
                                          <p:spTgt spid="24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xEl>
                                              <p:pRg end="3" st="3"/>
                                            </p:txEl>
                                          </p:spTgt>
                                        </p:tgtEl>
                                        <p:attrNameLst>
                                          <p:attrName>style.visibility</p:attrName>
                                        </p:attrNameLst>
                                      </p:cBhvr>
                                      <p:to>
                                        <p:strVal val="visible"/>
                                      </p:to>
                                    </p:set>
                                    <p:animEffect filter="fade" transition="in">
                                      <p:cBhvr>
                                        <p:cTn dur="1000"/>
                                        <p:tgtEl>
                                          <p:spTgt spid="24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xEl>
                                              <p:pRg end="4" st="4"/>
                                            </p:txEl>
                                          </p:spTgt>
                                        </p:tgtEl>
                                        <p:attrNameLst>
                                          <p:attrName>style.visibility</p:attrName>
                                        </p:attrNameLst>
                                      </p:cBhvr>
                                      <p:to>
                                        <p:strVal val="visible"/>
                                      </p:to>
                                    </p:set>
                                    <p:animEffect filter="fade" transition="in">
                                      <p:cBhvr>
                                        <p:cTn dur="1000"/>
                                        <p:tgtEl>
                                          <p:spTgt spid="24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5">
                                            <p:txEl>
                                              <p:pRg end="5" st="5"/>
                                            </p:txEl>
                                          </p:spTgt>
                                        </p:tgtEl>
                                        <p:attrNameLst>
                                          <p:attrName>style.visibility</p:attrName>
                                        </p:attrNameLst>
                                      </p:cBhvr>
                                      <p:to>
                                        <p:strVal val="visible"/>
                                      </p:to>
                                    </p:set>
                                    <p:animEffect filter="fade" transition="in">
                                      <p:cBhvr>
                                        <p:cTn dur="1000"/>
                                        <p:tgtEl>
                                          <p:spTgt spid="245">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8"/>
          <p:cNvSpPr txBox="1"/>
          <p:nvPr/>
        </p:nvSpPr>
        <p:spPr>
          <a:xfrm>
            <a:off x="5555671" y="1523999"/>
            <a:ext cx="5846619" cy="4641273"/>
          </a:xfrm>
          <a:prstGeom prst="rect">
            <a:avLst/>
          </a:prstGeom>
          <a:noFill/>
          <a:ln>
            <a:noFill/>
          </a:ln>
        </p:spPr>
        <p:txBody>
          <a:bodyPr anchorCtr="0" anchor="t" bIns="45000" lIns="90000" spcFirstLastPara="1" rIns="90000" wrap="square" tIns="45000">
            <a:normAutofit/>
          </a:bodyPr>
          <a:lstStyle/>
          <a:p>
            <a:pPr indent="-277190" lvl="0" marL="365760" marR="0" rtl="0" algn="just">
              <a:spcBef>
                <a:spcPts val="0"/>
              </a:spcBef>
              <a:spcAft>
                <a:spcPts val="0"/>
              </a:spcAft>
              <a:buClr>
                <a:srgbClr val="2DA2BF"/>
              </a:buClr>
              <a:buSzPts val="1700"/>
              <a:buFont typeface="Noto Sans Symbols"/>
              <a:buChar char="🞂"/>
            </a:pPr>
            <a:r>
              <a:rPr b="0" i="0" lang="en-US" sz="2200" u="none" cap="none" strike="noStrike">
                <a:solidFill>
                  <a:schemeClr val="dk1"/>
                </a:solidFill>
                <a:latin typeface="Times New Roman"/>
                <a:ea typeface="Times New Roman"/>
                <a:cs typeface="Times New Roman"/>
                <a:sym typeface="Times New Roman"/>
              </a:rPr>
              <a:t>An entity in A is associated with at most one entity in B. An entity in B, however, can be associated with any number (zero or more) of entities in A. </a:t>
            </a:r>
            <a:endParaRPr b="0" i="0" sz="2200" u="none" cap="none" strike="noStrike">
              <a:solidFill>
                <a:schemeClr val="dk1"/>
              </a:solidFill>
              <a:latin typeface="Lucida Sans"/>
              <a:ea typeface="Lucida Sans"/>
              <a:cs typeface="Lucida Sans"/>
              <a:sym typeface="Lucida Sans"/>
            </a:endParaRPr>
          </a:p>
          <a:p>
            <a:pPr indent="-179602" lvl="0" marL="365760" marR="0" rtl="0" algn="just">
              <a:spcBef>
                <a:spcPts val="400"/>
              </a:spcBef>
              <a:spcAft>
                <a:spcPts val="0"/>
              </a:spcAft>
              <a:buClr>
                <a:srgbClr val="2DA2BF"/>
              </a:buClr>
              <a:buSzPts val="1496"/>
              <a:buFont typeface="Noto Sans Symbols"/>
              <a:buNone/>
            </a:pPr>
            <a:r>
              <a:t/>
            </a:r>
            <a:endParaRPr b="0" i="0" sz="2200" u="none" cap="none" strike="noStrike">
              <a:solidFill>
                <a:schemeClr val="dk1"/>
              </a:solidFill>
              <a:latin typeface="Times New Roman"/>
              <a:ea typeface="Times New Roman"/>
              <a:cs typeface="Times New Roman"/>
              <a:sym typeface="Times New Roman"/>
            </a:endParaRPr>
          </a:p>
          <a:p>
            <a:pPr indent="-274599" lvl="0" marL="365760" marR="0" rtl="0" algn="just">
              <a:spcBef>
                <a:spcPts val="400"/>
              </a:spcBef>
              <a:spcAft>
                <a:spcPts val="0"/>
              </a:spcAft>
              <a:buClr>
                <a:srgbClr val="2DA2BF"/>
              </a:buClr>
              <a:buSzPts val="1496"/>
              <a:buFont typeface="Noto Sans Symbols"/>
              <a:buChar char="🞂"/>
            </a:pPr>
            <a:r>
              <a:rPr b="0" i="0" lang="en-US" sz="2200" u="none" cap="none" strike="noStrike">
                <a:solidFill>
                  <a:schemeClr val="dk1"/>
                </a:solidFill>
                <a:latin typeface="Times New Roman"/>
                <a:ea typeface="Times New Roman"/>
                <a:cs typeface="Times New Roman"/>
                <a:sym typeface="Times New Roman"/>
              </a:rPr>
              <a:t>This is another notation which shows  student can take at most one course and one course can be taken by many students.</a:t>
            </a:r>
            <a:endParaRPr b="0" i="0" sz="2200" u="none" cap="none" strike="noStrike">
              <a:solidFill>
                <a:schemeClr val="dk1"/>
              </a:solidFill>
              <a:latin typeface="Lucida Sans"/>
              <a:ea typeface="Lucida Sans"/>
              <a:cs typeface="Lucida Sans"/>
              <a:sym typeface="Lucida Sans"/>
            </a:endParaRPr>
          </a:p>
        </p:txBody>
      </p:sp>
      <p:sp>
        <p:nvSpPr>
          <p:cNvPr id="253" name="Google Shape;253;p38"/>
          <p:cNvSpPr txBox="1"/>
          <p:nvPr/>
        </p:nvSpPr>
        <p:spPr>
          <a:xfrm>
            <a:off x="1981200" y="274680"/>
            <a:ext cx="8229300" cy="1142700"/>
          </a:xfrm>
          <a:prstGeom prst="rect">
            <a:avLst/>
          </a:prstGeom>
          <a:noFill/>
          <a:ln>
            <a:noFill/>
          </a:ln>
        </p:spPr>
        <p:txBody>
          <a:bodyPr anchorCtr="0" anchor="ctr" bIns="45000" lIns="90000" spcFirstLastPara="1" rIns="90000" wrap="square" tIns="45000">
            <a:normAutofit/>
          </a:bodyPr>
          <a:lstStyle/>
          <a:p>
            <a:pPr indent="0" lvl="0" marL="0" marR="0" rtl="0" algn="ctr">
              <a:spcBef>
                <a:spcPts val="0"/>
              </a:spcBef>
              <a:spcAft>
                <a:spcPts val="0"/>
              </a:spcAft>
              <a:buNone/>
            </a:pPr>
            <a:r>
              <a:rPr b="1" i="0" lang="en-US" sz="4000" u="none" cap="none" strike="noStrike">
                <a:solidFill>
                  <a:schemeClr val="dk1"/>
                </a:solidFill>
                <a:latin typeface="Times New Roman"/>
                <a:ea typeface="Times New Roman"/>
                <a:cs typeface="Times New Roman"/>
                <a:sym typeface="Times New Roman"/>
              </a:rPr>
              <a:t>Many-To-One </a:t>
            </a:r>
            <a:endParaRPr b="0" i="0" sz="4000" u="none" cap="none" strike="noStrike">
              <a:solidFill>
                <a:srgbClr val="FFFFFF"/>
              </a:solidFill>
              <a:latin typeface="Lucida Sans"/>
              <a:ea typeface="Lucida Sans"/>
              <a:cs typeface="Lucida Sans"/>
              <a:sym typeface="Lucida Sans"/>
            </a:endParaRPr>
          </a:p>
        </p:txBody>
      </p:sp>
      <p:pic>
        <p:nvPicPr>
          <p:cNvPr id="254" name="Google Shape;254;p38"/>
          <p:cNvPicPr preferRelativeResize="0"/>
          <p:nvPr/>
        </p:nvPicPr>
        <p:blipFill rotWithShape="1">
          <a:blip r:embed="rId3">
            <a:alphaModFix/>
          </a:blip>
          <a:srcRect b="0" l="0" r="0" t="0"/>
          <a:stretch/>
        </p:blipFill>
        <p:spPr>
          <a:xfrm>
            <a:off x="588937" y="2175164"/>
            <a:ext cx="4966735" cy="218901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gtEl>
                                        <p:attrNameLst>
                                          <p:attrName>style.visibility</p:attrName>
                                        </p:attrNameLst>
                                      </p:cBhvr>
                                      <p:to>
                                        <p:strVal val="visible"/>
                                      </p:to>
                                    </p:set>
                                    <p:animEffect filter="fade" transition="in">
                                      <p:cBhvr>
                                        <p:cTn dur="2000"/>
                                        <p:tgtEl>
                                          <p:spTgt spid="2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xEl>
                                              <p:pRg end="0" st="0"/>
                                            </p:txEl>
                                          </p:spTgt>
                                        </p:tgtEl>
                                        <p:attrNameLst>
                                          <p:attrName>style.visibility</p:attrName>
                                        </p:attrNameLst>
                                      </p:cBhvr>
                                      <p:to>
                                        <p:strVal val="visible"/>
                                      </p:to>
                                    </p:set>
                                    <p:animEffect filter="fade" transition="in">
                                      <p:cBhvr>
                                        <p:cTn dur="1000"/>
                                        <p:tgtEl>
                                          <p:spTgt spid="25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xEl>
                                              <p:pRg end="1" st="1"/>
                                            </p:txEl>
                                          </p:spTgt>
                                        </p:tgtEl>
                                        <p:attrNameLst>
                                          <p:attrName>style.visibility</p:attrName>
                                        </p:attrNameLst>
                                      </p:cBhvr>
                                      <p:to>
                                        <p:strVal val="visible"/>
                                      </p:to>
                                    </p:set>
                                    <p:animEffect filter="fade" transition="in">
                                      <p:cBhvr>
                                        <p:cTn dur="1000"/>
                                        <p:tgtEl>
                                          <p:spTgt spid="25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xEl>
                                              <p:pRg end="2" st="2"/>
                                            </p:txEl>
                                          </p:spTgt>
                                        </p:tgtEl>
                                        <p:attrNameLst>
                                          <p:attrName>style.visibility</p:attrName>
                                        </p:attrNameLst>
                                      </p:cBhvr>
                                      <p:to>
                                        <p:strVal val="visible"/>
                                      </p:to>
                                    </p:set>
                                    <p:animEffect filter="fade" transition="in">
                                      <p:cBhvr>
                                        <p:cTn dur="1000"/>
                                        <p:tgtEl>
                                          <p:spTgt spid="252">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9"/>
          <p:cNvSpPr txBox="1"/>
          <p:nvPr/>
        </p:nvSpPr>
        <p:spPr>
          <a:xfrm>
            <a:off x="5299245" y="1593273"/>
            <a:ext cx="6629519" cy="4862945"/>
          </a:xfrm>
          <a:prstGeom prst="rect">
            <a:avLst/>
          </a:prstGeom>
          <a:noFill/>
          <a:ln>
            <a:noFill/>
          </a:ln>
        </p:spPr>
        <p:txBody>
          <a:bodyPr anchorCtr="0" anchor="t" bIns="45000" lIns="90000" spcFirstLastPara="1" rIns="90000" wrap="square" tIns="45000">
            <a:normAutofit/>
          </a:bodyPr>
          <a:lstStyle/>
          <a:p>
            <a:pPr indent="-277190" lvl="0" marL="365760" marR="0" rtl="0" algn="just">
              <a:spcBef>
                <a:spcPts val="0"/>
              </a:spcBef>
              <a:spcAft>
                <a:spcPts val="0"/>
              </a:spcAft>
              <a:buClr>
                <a:srgbClr val="2DA2BF"/>
              </a:buClr>
              <a:buSzPts val="1700"/>
              <a:buFont typeface="Noto Sans Symbols"/>
              <a:buChar char="🞂"/>
            </a:pPr>
            <a:r>
              <a:rPr b="0" i="0" lang="en-US" sz="2200" u="none" cap="none" strike="noStrike">
                <a:solidFill>
                  <a:schemeClr val="dk1"/>
                </a:solidFill>
                <a:latin typeface="Times New Roman"/>
                <a:ea typeface="Times New Roman"/>
                <a:cs typeface="Times New Roman"/>
                <a:sym typeface="Times New Roman"/>
              </a:rPr>
              <a:t>An entity in A is associated with any number (zero or more)of entities in B, and an entity in B is associated with any number (zero or more) of entities in A.</a:t>
            </a:r>
            <a:endParaRPr b="0" i="0" sz="2200" u="none" cap="none" strike="noStrike">
              <a:solidFill>
                <a:schemeClr val="dk1"/>
              </a:solidFill>
              <a:latin typeface="Lucida Sans"/>
              <a:ea typeface="Lucida Sans"/>
              <a:cs typeface="Lucida Sans"/>
              <a:sym typeface="Lucida Sans"/>
            </a:endParaRPr>
          </a:p>
          <a:p>
            <a:pPr indent="-179602" lvl="0" marL="365760" marR="0" rtl="0" algn="just">
              <a:spcBef>
                <a:spcPts val="400"/>
              </a:spcBef>
              <a:spcAft>
                <a:spcPts val="0"/>
              </a:spcAft>
              <a:buClr>
                <a:srgbClr val="2DA2BF"/>
              </a:buClr>
              <a:buSzPts val="1496"/>
              <a:buFont typeface="Noto Sans Symbols"/>
              <a:buNone/>
            </a:pPr>
            <a:r>
              <a:t/>
            </a:r>
            <a:endParaRPr b="0" i="0" sz="2200" u="none" cap="none" strike="noStrike">
              <a:solidFill>
                <a:schemeClr val="dk1"/>
              </a:solidFill>
              <a:latin typeface="Times New Roman"/>
              <a:ea typeface="Times New Roman"/>
              <a:cs typeface="Times New Roman"/>
              <a:sym typeface="Times New Roman"/>
            </a:endParaRPr>
          </a:p>
          <a:p>
            <a:pPr indent="-274599" lvl="0" marL="365760" marR="0" rtl="0" algn="just">
              <a:spcBef>
                <a:spcPts val="400"/>
              </a:spcBef>
              <a:spcAft>
                <a:spcPts val="0"/>
              </a:spcAft>
              <a:buClr>
                <a:srgbClr val="2DA2BF"/>
              </a:buClr>
              <a:buSzPts val="1496"/>
              <a:buFont typeface="Noto Sans Symbols"/>
              <a:buChar char="🞂"/>
            </a:pPr>
            <a:r>
              <a:rPr b="0" i="0" lang="en-US" sz="2200" u="none" cap="none" strike="noStrike">
                <a:solidFill>
                  <a:schemeClr val="dk1"/>
                </a:solidFill>
                <a:latin typeface="Times New Roman"/>
                <a:ea typeface="Times New Roman"/>
                <a:cs typeface="Times New Roman"/>
                <a:sym typeface="Times New Roman"/>
              </a:rPr>
              <a:t>An instructor may advise many students, and a student may have many advisors. </a:t>
            </a:r>
            <a:endParaRPr b="0" i="0" sz="2200" u="none" cap="none" strike="noStrike">
              <a:solidFill>
                <a:schemeClr val="dk1"/>
              </a:solidFill>
              <a:latin typeface="Lucida Sans"/>
              <a:ea typeface="Lucida Sans"/>
              <a:cs typeface="Lucida Sans"/>
              <a:sym typeface="Lucida Sans"/>
            </a:endParaRPr>
          </a:p>
          <a:p>
            <a:pPr indent="-179602" lvl="0" marL="365760" marR="0" rtl="0" algn="just">
              <a:spcBef>
                <a:spcPts val="400"/>
              </a:spcBef>
              <a:spcAft>
                <a:spcPts val="0"/>
              </a:spcAft>
              <a:buClr>
                <a:srgbClr val="2DA2BF"/>
              </a:buClr>
              <a:buSzPts val="1496"/>
              <a:buFont typeface="Noto Sans Symbols"/>
              <a:buNone/>
            </a:pPr>
            <a:r>
              <a:t/>
            </a:r>
            <a:endParaRPr b="0" i="0" sz="2200" u="none" cap="none" strike="noStrike">
              <a:solidFill>
                <a:schemeClr val="dk1"/>
              </a:solidFill>
              <a:latin typeface="Times New Roman"/>
              <a:ea typeface="Times New Roman"/>
              <a:cs typeface="Times New Roman"/>
              <a:sym typeface="Times New Roman"/>
            </a:endParaRPr>
          </a:p>
          <a:p>
            <a:pPr indent="-274599" lvl="0" marL="365760" marR="0" rtl="0" algn="just">
              <a:spcBef>
                <a:spcPts val="400"/>
              </a:spcBef>
              <a:spcAft>
                <a:spcPts val="0"/>
              </a:spcAft>
              <a:buClr>
                <a:srgbClr val="2DA2BF"/>
              </a:buClr>
              <a:buSzPts val="1496"/>
              <a:buFont typeface="Noto Sans Symbols"/>
              <a:buChar char="🞂"/>
            </a:pPr>
            <a:r>
              <a:rPr b="0" i="0" lang="en-US" sz="2200" u="none" cap="none" strike="noStrike">
                <a:solidFill>
                  <a:schemeClr val="dk1"/>
                </a:solidFill>
                <a:latin typeface="Times New Roman"/>
                <a:ea typeface="Times New Roman"/>
                <a:cs typeface="Times New Roman"/>
                <a:sym typeface="Times New Roman"/>
              </a:rPr>
              <a:t>This is another notation to show mapping cardinality. Which shows one student can take many courses and one course can be taken by many students.</a:t>
            </a:r>
            <a:endParaRPr/>
          </a:p>
        </p:txBody>
      </p:sp>
      <p:sp>
        <p:nvSpPr>
          <p:cNvPr id="260" name="Google Shape;260;p39"/>
          <p:cNvSpPr txBox="1"/>
          <p:nvPr/>
        </p:nvSpPr>
        <p:spPr>
          <a:xfrm>
            <a:off x="1981200" y="274680"/>
            <a:ext cx="8229300" cy="1142700"/>
          </a:xfrm>
          <a:prstGeom prst="rect">
            <a:avLst/>
          </a:prstGeom>
          <a:noFill/>
          <a:ln>
            <a:noFill/>
          </a:ln>
        </p:spPr>
        <p:txBody>
          <a:bodyPr anchorCtr="0" anchor="ctr" bIns="45000" lIns="90000" spcFirstLastPara="1" rIns="90000" wrap="square" tIns="45000">
            <a:noAutofit/>
          </a:bodyPr>
          <a:lstStyle/>
          <a:p>
            <a:pPr indent="0" lvl="0" marL="0" marR="0" rtl="0" algn="l">
              <a:spcBef>
                <a:spcPts val="0"/>
              </a:spcBef>
              <a:spcAft>
                <a:spcPts val="0"/>
              </a:spcAft>
              <a:buNone/>
            </a:pPr>
            <a:r>
              <a:rPr b="1" i="0" lang="en-US" sz="4400" u="none" cap="none" strike="noStrike">
                <a:solidFill>
                  <a:schemeClr val="dk1"/>
                </a:solidFill>
                <a:latin typeface="Times New Roman"/>
                <a:ea typeface="Times New Roman"/>
                <a:cs typeface="Times New Roman"/>
                <a:sym typeface="Times New Roman"/>
              </a:rPr>
              <a:t>Many-To-Many</a:t>
            </a:r>
            <a:endParaRPr b="0" i="0" sz="4100" u="none" cap="none" strike="noStrike">
              <a:solidFill>
                <a:srgbClr val="FFFFFF"/>
              </a:solidFill>
              <a:latin typeface="Lucida Sans"/>
              <a:ea typeface="Lucida Sans"/>
              <a:cs typeface="Lucida Sans"/>
              <a:sym typeface="Lucida Sans"/>
            </a:endParaRPr>
          </a:p>
        </p:txBody>
      </p:sp>
      <p:pic>
        <p:nvPicPr>
          <p:cNvPr id="261" name="Google Shape;261;p39"/>
          <p:cNvPicPr preferRelativeResize="0"/>
          <p:nvPr/>
        </p:nvPicPr>
        <p:blipFill rotWithShape="1">
          <a:blip r:embed="rId3">
            <a:alphaModFix/>
          </a:blip>
          <a:srcRect b="0" l="0" r="0" t="0"/>
          <a:stretch/>
        </p:blipFill>
        <p:spPr>
          <a:xfrm>
            <a:off x="733469" y="2641441"/>
            <a:ext cx="4565776" cy="246240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gtEl>
                                        <p:attrNameLst>
                                          <p:attrName>style.visibility</p:attrName>
                                        </p:attrNameLst>
                                      </p:cBhvr>
                                      <p:to>
                                        <p:strVal val="visible"/>
                                      </p:to>
                                    </p:set>
                                    <p:animEffect filter="fade" transition="in">
                                      <p:cBhvr>
                                        <p:cTn dur="2000"/>
                                        <p:tgtEl>
                                          <p:spTgt spid="2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xEl>
                                              <p:pRg end="0" st="0"/>
                                            </p:txEl>
                                          </p:spTgt>
                                        </p:tgtEl>
                                        <p:attrNameLst>
                                          <p:attrName>style.visibility</p:attrName>
                                        </p:attrNameLst>
                                      </p:cBhvr>
                                      <p:to>
                                        <p:strVal val="visible"/>
                                      </p:to>
                                    </p:set>
                                    <p:animEffect filter="fade" transition="in">
                                      <p:cBhvr>
                                        <p:cTn dur="1000"/>
                                        <p:tgtEl>
                                          <p:spTgt spid="25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xEl>
                                              <p:pRg end="1" st="1"/>
                                            </p:txEl>
                                          </p:spTgt>
                                        </p:tgtEl>
                                        <p:attrNameLst>
                                          <p:attrName>style.visibility</p:attrName>
                                        </p:attrNameLst>
                                      </p:cBhvr>
                                      <p:to>
                                        <p:strVal val="visible"/>
                                      </p:to>
                                    </p:set>
                                    <p:animEffect filter="fade" transition="in">
                                      <p:cBhvr>
                                        <p:cTn dur="1000"/>
                                        <p:tgtEl>
                                          <p:spTgt spid="25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xEl>
                                              <p:pRg end="2" st="2"/>
                                            </p:txEl>
                                          </p:spTgt>
                                        </p:tgtEl>
                                        <p:attrNameLst>
                                          <p:attrName>style.visibility</p:attrName>
                                        </p:attrNameLst>
                                      </p:cBhvr>
                                      <p:to>
                                        <p:strVal val="visible"/>
                                      </p:to>
                                    </p:set>
                                    <p:animEffect filter="fade" transition="in">
                                      <p:cBhvr>
                                        <p:cTn dur="1000"/>
                                        <p:tgtEl>
                                          <p:spTgt spid="25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xEl>
                                              <p:pRg end="3" st="3"/>
                                            </p:txEl>
                                          </p:spTgt>
                                        </p:tgtEl>
                                        <p:attrNameLst>
                                          <p:attrName>style.visibility</p:attrName>
                                        </p:attrNameLst>
                                      </p:cBhvr>
                                      <p:to>
                                        <p:strVal val="visible"/>
                                      </p:to>
                                    </p:set>
                                    <p:animEffect filter="fade" transition="in">
                                      <p:cBhvr>
                                        <p:cTn dur="1000"/>
                                        <p:tgtEl>
                                          <p:spTgt spid="25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xEl>
                                              <p:pRg end="4" st="4"/>
                                            </p:txEl>
                                          </p:spTgt>
                                        </p:tgtEl>
                                        <p:attrNameLst>
                                          <p:attrName>style.visibility</p:attrName>
                                        </p:attrNameLst>
                                      </p:cBhvr>
                                      <p:to>
                                        <p:strVal val="visible"/>
                                      </p:to>
                                    </p:set>
                                    <p:animEffect filter="fade" transition="in">
                                      <p:cBhvr>
                                        <p:cTn dur="1000"/>
                                        <p:tgtEl>
                                          <p:spTgt spid="259">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FF0000"/>
              </a:buClr>
              <a:buSzPts val="3200"/>
              <a:buFont typeface="Calibri"/>
              <a:buNone/>
            </a:pPr>
            <a:r>
              <a:rPr lang="en-US" sz="3200">
                <a:solidFill>
                  <a:srgbClr val="FF0000"/>
                </a:solidFill>
              </a:rPr>
              <a:t>Relationship instances of the WORKS_FOR N:1 relationship between EMPLOYEE and DEPARTMENT</a:t>
            </a:r>
            <a:endParaRPr/>
          </a:p>
        </p:txBody>
      </p:sp>
      <p:pic>
        <p:nvPicPr>
          <p:cNvPr descr="fig03_09" id="267" name="Google Shape;267;p40"/>
          <p:cNvPicPr preferRelativeResize="0"/>
          <p:nvPr>
            <p:ph idx="1" type="body"/>
          </p:nvPr>
        </p:nvPicPr>
        <p:blipFill rotWithShape="1">
          <a:blip r:embed="rId3">
            <a:alphaModFix/>
          </a:blip>
          <a:srcRect b="0" l="0" r="0" t="0"/>
          <a:stretch/>
        </p:blipFill>
        <p:spPr>
          <a:xfrm>
            <a:off x="2446387" y="1825625"/>
            <a:ext cx="7299225" cy="4351338"/>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0000"/>
              </a:buClr>
              <a:buSzPts val="3200"/>
              <a:buFont typeface="Calibri"/>
              <a:buNone/>
            </a:pPr>
            <a:r>
              <a:rPr lang="en-US" sz="3200">
                <a:solidFill>
                  <a:srgbClr val="FF0000"/>
                </a:solidFill>
              </a:rPr>
              <a:t>Relationship instances of the M:N  WORKS_ON relationship between EMPLOYEE and PROJECT</a:t>
            </a:r>
            <a:endParaRPr/>
          </a:p>
        </p:txBody>
      </p:sp>
      <p:sp>
        <p:nvSpPr>
          <p:cNvPr id="273" name="Google Shape;273;p4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descr="fig03_13" id="274" name="Google Shape;274;p41"/>
          <p:cNvPicPr preferRelativeResize="0"/>
          <p:nvPr/>
        </p:nvPicPr>
        <p:blipFill rotWithShape="1">
          <a:blip r:embed="rId3">
            <a:alphaModFix/>
          </a:blip>
          <a:srcRect b="0" l="0" r="0" t="0"/>
          <a:stretch/>
        </p:blipFill>
        <p:spPr>
          <a:xfrm>
            <a:off x="2729346" y="2009909"/>
            <a:ext cx="6513368" cy="448296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280" name="Google Shape;280;p4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descr="fig03_02" id="281" name="Google Shape;281;p42"/>
          <p:cNvPicPr preferRelativeResize="0"/>
          <p:nvPr/>
        </p:nvPicPr>
        <p:blipFill rotWithShape="1">
          <a:blip r:embed="rId3">
            <a:alphaModFix/>
          </a:blip>
          <a:srcRect b="0" l="0" r="0" t="0"/>
          <a:stretch/>
        </p:blipFill>
        <p:spPr>
          <a:xfrm>
            <a:off x="2854036" y="0"/>
            <a:ext cx="6797964" cy="655518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Types of Relational Models</a:t>
            </a:r>
            <a:endParaRPr/>
          </a:p>
        </p:txBody>
      </p:sp>
      <p:sp>
        <p:nvSpPr>
          <p:cNvPr id="287" name="Google Shape;287;p43"/>
          <p:cNvSpPr txBox="1"/>
          <p:nvPr>
            <p:ph idx="1" type="body"/>
          </p:nvPr>
        </p:nvSpPr>
        <p:spPr>
          <a:xfrm>
            <a:off x="7592290" y="2008909"/>
            <a:ext cx="4142510" cy="393469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Arial"/>
              <a:buChar char="•"/>
            </a:pPr>
            <a:r>
              <a:rPr b="0" i="0" lang="en-US" u="none" strike="noStrike">
                <a:latin typeface="Poppins"/>
                <a:ea typeface="Poppins"/>
                <a:cs typeface="Poppins"/>
                <a:sym typeface="Poppins"/>
              </a:rPr>
              <a:t>Hierarchical Model</a:t>
            </a:r>
            <a:endParaRPr b="0" i="0">
              <a:latin typeface="Poppins"/>
              <a:ea typeface="Poppins"/>
              <a:cs typeface="Poppins"/>
              <a:sym typeface="Poppins"/>
            </a:endParaRPr>
          </a:p>
          <a:p>
            <a:pPr indent="-228600" lvl="0" marL="228600" rtl="0" algn="l">
              <a:lnSpc>
                <a:spcPct val="90000"/>
              </a:lnSpc>
              <a:spcBef>
                <a:spcPts val="1000"/>
              </a:spcBef>
              <a:spcAft>
                <a:spcPts val="0"/>
              </a:spcAft>
              <a:buClr>
                <a:schemeClr val="dk1"/>
              </a:buClr>
              <a:buSzPts val="2800"/>
              <a:buFont typeface="Arial"/>
              <a:buChar char="•"/>
            </a:pPr>
            <a:r>
              <a:rPr b="0" i="0" lang="en-US" u="none" strike="noStrike">
                <a:latin typeface="Poppins"/>
                <a:ea typeface="Poppins"/>
                <a:cs typeface="Poppins"/>
                <a:sym typeface="Poppins"/>
              </a:rPr>
              <a:t>Network Model</a:t>
            </a:r>
            <a:endParaRPr b="0" i="0">
              <a:latin typeface="Poppins"/>
              <a:ea typeface="Poppins"/>
              <a:cs typeface="Poppins"/>
              <a:sym typeface="Poppins"/>
            </a:endParaRPr>
          </a:p>
          <a:p>
            <a:pPr indent="-228600" lvl="0" marL="228600" rtl="0" algn="l">
              <a:lnSpc>
                <a:spcPct val="90000"/>
              </a:lnSpc>
              <a:spcBef>
                <a:spcPts val="1000"/>
              </a:spcBef>
              <a:spcAft>
                <a:spcPts val="0"/>
              </a:spcAft>
              <a:buClr>
                <a:schemeClr val="dk1"/>
              </a:buClr>
              <a:buSzPts val="2800"/>
              <a:buFont typeface="Arial"/>
              <a:buChar char="•"/>
            </a:pPr>
            <a:r>
              <a:rPr b="0" i="0" lang="en-US" u="none" strike="noStrike">
                <a:latin typeface="Poppins"/>
                <a:ea typeface="Poppins"/>
                <a:cs typeface="Poppins"/>
                <a:sym typeface="Poppins"/>
              </a:rPr>
              <a:t>Flat Data Model</a:t>
            </a:r>
            <a:endParaRPr b="0" i="0">
              <a:latin typeface="Poppins"/>
              <a:ea typeface="Poppins"/>
              <a:cs typeface="Poppins"/>
              <a:sym typeface="Poppins"/>
            </a:endParaRPr>
          </a:p>
          <a:p>
            <a:pPr indent="-228600" lvl="0" marL="228600" rtl="0" algn="l">
              <a:lnSpc>
                <a:spcPct val="90000"/>
              </a:lnSpc>
              <a:spcBef>
                <a:spcPts val="1000"/>
              </a:spcBef>
              <a:spcAft>
                <a:spcPts val="0"/>
              </a:spcAft>
              <a:buClr>
                <a:schemeClr val="dk1"/>
              </a:buClr>
              <a:buSzPts val="2800"/>
              <a:buFont typeface="Arial"/>
              <a:buChar char="•"/>
            </a:pPr>
            <a:r>
              <a:rPr b="0" i="0" lang="en-US" u="none" strike="noStrike">
                <a:latin typeface="Poppins"/>
                <a:ea typeface="Poppins"/>
                <a:cs typeface="Poppins"/>
                <a:sym typeface="Poppins"/>
              </a:rPr>
              <a:t>Associative Data Model</a:t>
            </a:r>
            <a:endParaRPr b="0" i="0">
              <a:latin typeface="Poppins"/>
              <a:ea typeface="Poppins"/>
              <a:cs typeface="Poppins"/>
              <a:sym typeface="Poppins"/>
            </a:endParaRPr>
          </a:p>
          <a:p>
            <a:pPr indent="-228600" lvl="0" marL="228600" rtl="0" algn="l">
              <a:lnSpc>
                <a:spcPct val="90000"/>
              </a:lnSpc>
              <a:spcBef>
                <a:spcPts val="1000"/>
              </a:spcBef>
              <a:spcAft>
                <a:spcPts val="0"/>
              </a:spcAft>
              <a:buClr>
                <a:schemeClr val="dk1"/>
              </a:buClr>
              <a:buSzPts val="2800"/>
              <a:buFont typeface="Arial"/>
              <a:buChar char="•"/>
            </a:pPr>
            <a:r>
              <a:rPr b="0" i="0" lang="en-US" u="none" strike="noStrike">
                <a:latin typeface="Poppins"/>
                <a:ea typeface="Poppins"/>
                <a:cs typeface="Poppins"/>
                <a:sym typeface="Poppins"/>
              </a:rPr>
              <a:t>Context Data Model</a:t>
            </a:r>
            <a:endParaRPr b="0" i="0">
              <a:latin typeface="Poppins"/>
              <a:ea typeface="Poppins"/>
              <a:cs typeface="Poppins"/>
              <a:sym typeface="Poppins"/>
            </a:endParaRPr>
          </a:p>
          <a:p>
            <a:pPr indent="-50800" lvl="0" marL="228600" rtl="0" algn="l">
              <a:lnSpc>
                <a:spcPct val="90000"/>
              </a:lnSpc>
              <a:spcBef>
                <a:spcPts val="1000"/>
              </a:spcBef>
              <a:spcAft>
                <a:spcPts val="0"/>
              </a:spcAft>
              <a:buClr>
                <a:schemeClr val="dk1"/>
              </a:buClr>
              <a:buSzPts val="2800"/>
              <a:buNone/>
            </a:pPr>
            <a:r>
              <a:t/>
            </a:r>
            <a:endParaRPr/>
          </a:p>
        </p:txBody>
      </p:sp>
      <p:pic>
        <p:nvPicPr>
          <p:cNvPr id="288" name="Google Shape;288;p43"/>
          <p:cNvPicPr preferRelativeResize="0"/>
          <p:nvPr/>
        </p:nvPicPr>
        <p:blipFill rotWithShape="1">
          <a:blip r:embed="rId3">
            <a:alphaModFix/>
          </a:blip>
          <a:srcRect b="0" l="0" r="0" t="0"/>
          <a:stretch/>
        </p:blipFill>
        <p:spPr>
          <a:xfrm>
            <a:off x="838200" y="2008909"/>
            <a:ext cx="6390539" cy="307284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gtEl>
                                        <p:attrNameLst>
                                          <p:attrName>style.visibility</p:attrName>
                                        </p:attrNameLst>
                                      </p:cBhvr>
                                      <p:to>
                                        <p:strVal val="visible"/>
                                      </p:to>
                                    </p:set>
                                    <p:animEffect filter="fade" transition="in">
                                      <p:cBhvr>
                                        <p:cTn dur="500"/>
                                        <p:tgtEl>
                                          <p:spTgt spid="2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0" st="0"/>
                                            </p:txEl>
                                          </p:spTgt>
                                        </p:tgtEl>
                                        <p:attrNameLst>
                                          <p:attrName>style.visibility</p:attrName>
                                        </p:attrNameLst>
                                      </p:cBhvr>
                                      <p:to>
                                        <p:strVal val="visible"/>
                                      </p:to>
                                    </p:set>
                                    <p:animEffect filter="fade" transition="in">
                                      <p:cBhvr>
                                        <p:cTn dur="1000"/>
                                        <p:tgtEl>
                                          <p:spTgt spid="28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1" st="1"/>
                                            </p:txEl>
                                          </p:spTgt>
                                        </p:tgtEl>
                                        <p:attrNameLst>
                                          <p:attrName>style.visibility</p:attrName>
                                        </p:attrNameLst>
                                      </p:cBhvr>
                                      <p:to>
                                        <p:strVal val="visible"/>
                                      </p:to>
                                    </p:set>
                                    <p:animEffect filter="fade" transition="in">
                                      <p:cBhvr>
                                        <p:cTn dur="1000"/>
                                        <p:tgtEl>
                                          <p:spTgt spid="28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2" st="2"/>
                                            </p:txEl>
                                          </p:spTgt>
                                        </p:tgtEl>
                                        <p:attrNameLst>
                                          <p:attrName>style.visibility</p:attrName>
                                        </p:attrNameLst>
                                      </p:cBhvr>
                                      <p:to>
                                        <p:strVal val="visible"/>
                                      </p:to>
                                    </p:set>
                                    <p:animEffect filter="fade" transition="in">
                                      <p:cBhvr>
                                        <p:cTn dur="1000"/>
                                        <p:tgtEl>
                                          <p:spTgt spid="28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3" st="3"/>
                                            </p:txEl>
                                          </p:spTgt>
                                        </p:tgtEl>
                                        <p:attrNameLst>
                                          <p:attrName>style.visibility</p:attrName>
                                        </p:attrNameLst>
                                      </p:cBhvr>
                                      <p:to>
                                        <p:strVal val="visible"/>
                                      </p:to>
                                    </p:set>
                                    <p:animEffect filter="fade" transition="in">
                                      <p:cBhvr>
                                        <p:cTn dur="1000"/>
                                        <p:tgtEl>
                                          <p:spTgt spid="28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4" st="4"/>
                                            </p:txEl>
                                          </p:spTgt>
                                        </p:tgtEl>
                                        <p:attrNameLst>
                                          <p:attrName>style.visibility</p:attrName>
                                        </p:attrNameLst>
                                      </p:cBhvr>
                                      <p:to>
                                        <p:strVal val="visible"/>
                                      </p:to>
                                    </p:set>
                                    <p:animEffect filter="fade" transition="in">
                                      <p:cBhvr>
                                        <p:cTn dur="1000"/>
                                        <p:tgtEl>
                                          <p:spTgt spid="28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5" st="5"/>
                                            </p:txEl>
                                          </p:spTgt>
                                        </p:tgtEl>
                                        <p:attrNameLst>
                                          <p:attrName>style.visibility</p:attrName>
                                        </p:attrNameLst>
                                      </p:cBhvr>
                                      <p:to>
                                        <p:strVal val="visible"/>
                                      </p:to>
                                    </p:set>
                                    <p:animEffect filter="fade" transition="in">
                                      <p:cBhvr>
                                        <p:cTn dur="1000"/>
                                        <p:tgtEl>
                                          <p:spTgt spid="287">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4"/>
          <p:cNvSpPr txBox="1"/>
          <p:nvPr>
            <p:ph idx="1" type="body"/>
          </p:nvPr>
        </p:nvSpPr>
        <p:spPr>
          <a:xfrm>
            <a:off x="595745" y="318655"/>
            <a:ext cx="10758055" cy="585830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0" i="0" lang="en-US" u="none" strike="noStrike">
                <a:latin typeface="Poppins"/>
                <a:ea typeface="Poppins"/>
                <a:cs typeface="Poppins"/>
                <a:sym typeface="Poppins"/>
              </a:rPr>
              <a:t>Hierarchical Model</a:t>
            </a:r>
            <a:endParaRPr/>
          </a:p>
          <a:p>
            <a:pPr indent="-228600" lvl="0" marL="228600" rtl="0" algn="l">
              <a:lnSpc>
                <a:spcPct val="90000"/>
              </a:lnSpc>
              <a:spcBef>
                <a:spcPts val="1000"/>
              </a:spcBef>
              <a:spcAft>
                <a:spcPts val="0"/>
              </a:spcAft>
              <a:buClr>
                <a:srgbClr val="273239"/>
              </a:buClr>
              <a:buSzPts val="2800"/>
              <a:buChar char="•"/>
            </a:pPr>
            <a:r>
              <a:rPr b="0" i="0" lang="en-US">
                <a:solidFill>
                  <a:srgbClr val="273239"/>
                </a:solidFill>
                <a:latin typeface="Nunito"/>
                <a:ea typeface="Nunito"/>
                <a:cs typeface="Nunito"/>
                <a:sym typeface="Nunito"/>
              </a:rPr>
              <a:t>In this, the data is organized into a tree-like structure where each record consists of one parent record and many children.</a:t>
            </a:r>
            <a:endParaRPr b="0" i="0">
              <a:latin typeface="Poppins"/>
              <a:ea typeface="Poppins"/>
              <a:cs typeface="Poppins"/>
              <a:sym typeface="Poppins"/>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Network Model</a:t>
            </a:r>
            <a:endParaRPr/>
          </a:p>
          <a:p>
            <a:pPr indent="-228600" lvl="0" marL="228600" rtl="0" algn="l">
              <a:lnSpc>
                <a:spcPct val="90000"/>
              </a:lnSpc>
              <a:spcBef>
                <a:spcPts val="1000"/>
              </a:spcBef>
              <a:spcAft>
                <a:spcPts val="0"/>
              </a:spcAft>
              <a:buClr>
                <a:schemeClr val="dk1"/>
              </a:buClr>
              <a:buSzPts val="2800"/>
              <a:buChar char="•"/>
            </a:pPr>
            <a:r>
              <a:rPr lang="en-US"/>
              <a:t>Any record can have several parents in the network model. It uses a graph instead of a hierarchical tree.</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294" name="Google Shape;294;p44"/>
          <p:cNvPicPr preferRelativeResize="0"/>
          <p:nvPr/>
        </p:nvPicPr>
        <p:blipFill rotWithShape="1">
          <a:blip r:embed="rId3">
            <a:alphaModFix/>
          </a:blip>
          <a:srcRect b="0" l="0" r="0" t="0"/>
          <a:stretch/>
        </p:blipFill>
        <p:spPr>
          <a:xfrm>
            <a:off x="2421929" y="1733313"/>
            <a:ext cx="5287113" cy="1695687"/>
          </a:xfrm>
          <a:prstGeom prst="rect">
            <a:avLst/>
          </a:prstGeom>
          <a:noFill/>
          <a:ln>
            <a:noFill/>
          </a:ln>
        </p:spPr>
      </p:pic>
      <p:pic>
        <p:nvPicPr>
          <p:cNvPr id="295" name="Google Shape;295;p44"/>
          <p:cNvPicPr preferRelativeResize="0"/>
          <p:nvPr/>
        </p:nvPicPr>
        <p:blipFill rotWithShape="1">
          <a:blip r:embed="rId4">
            <a:alphaModFix/>
          </a:blip>
          <a:srcRect b="0" l="0" r="0" t="0"/>
          <a:stretch/>
        </p:blipFill>
        <p:spPr>
          <a:xfrm>
            <a:off x="6207992" y="4843658"/>
            <a:ext cx="3002100" cy="166539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3">
                                            <p:txEl>
                                              <p:pRg end="0" st="0"/>
                                            </p:txEl>
                                          </p:spTgt>
                                        </p:tgtEl>
                                        <p:attrNameLst>
                                          <p:attrName>style.visibility</p:attrName>
                                        </p:attrNameLst>
                                      </p:cBhvr>
                                      <p:to>
                                        <p:strVal val="visible"/>
                                      </p:to>
                                    </p:set>
                                    <p:animEffect filter="fade" transition="in">
                                      <p:cBhvr>
                                        <p:cTn dur="1000"/>
                                        <p:tgtEl>
                                          <p:spTgt spid="29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3">
                                            <p:txEl>
                                              <p:pRg end="1" st="1"/>
                                            </p:txEl>
                                          </p:spTgt>
                                        </p:tgtEl>
                                        <p:attrNameLst>
                                          <p:attrName>style.visibility</p:attrName>
                                        </p:attrNameLst>
                                      </p:cBhvr>
                                      <p:to>
                                        <p:strVal val="visible"/>
                                      </p:to>
                                    </p:set>
                                    <p:animEffect filter="fade" transition="in">
                                      <p:cBhvr>
                                        <p:cTn dur="1000"/>
                                        <p:tgtEl>
                                          <p:spTgt spid="29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3">
                                            <p:txEl>
                                              <p:pRg end="2" st="2"/>
                                            </p:txEl>
                                          </p:spTgt>
                                        </p:tgtEl>
                                        <p:attrNameLst>
                                          <p:attrName>style.visibility</p:attrName>
                                        </p:attrNameLst>
                                      </p:cBhvr>
                                      <p:to>
                                        <p:strVal val="visible"/>
                                      </p:to>
                                    </p:set>
                                    <p:animEffect filter="fade" transition="in">
                                      <p:cBhvr>
                                        <p:cTn dur="1000"/>
                                        <p:tgtEl>
                                          <p:spTgt spid="29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3">
                                            <p:txEl>
                                              <p:pRg end="3" st="3"/>
                                            </p:txEl>
                                          </p:spTgt>
                                        </p:tgtEl>
                                        <p:attrNameLst>
                                          <p:attrName>style.visibility</p:attrName>
                                        </p:attrNameLst>
                                      </p:cBhvr>
                                      <p:to>
                                        <p:strVal val="visible"/>
                                      </p:to>
                                    </p:set>
                                    <p:animEffect filter="fade" transition="in">
                                      <p:cBhvr>
                                        <p:cTn dur="1000"/>
                                        <p:tgtEl>
                                          <p:spTgt spid="29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3">
                                            <p:txEl>
                                              <p:pRg end="4" st="4"/>
                                            </p:txEl>
                                          </p:spTgt>
                                        </p:tgtEl>
                                        <p:attrNameLst>
                                          <p:attrName>style.visibility</p:attrName>
                                        </p:attrNameLst>
                                      </p:cBhvr>
                                      <p:to>
                                        <p:strVal val="visible"/>
                                      </p:to>
                                    </p:set>
                                    <p:animEffect filter="fade" transition="in">
                                      <p:cBhvr>
                                        <p:cTn dur="1000"/>
                                        <p:tgtEl>
                                          <p:spTgt spid="29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3">
                                            <p:txEl>
                                              <p:pRg end="5" st="5"/>
                                            </p:txEl>
                                          </p:spTgt>
                                        </p:tgtEl>
                                        <p:attrNameLst>
                                          <p:attrName>style.visibility</p:attrName>
                                        </p:attrNameLst>
                                      </p:cBhvr>
                                      <p:to>
                                        <p:strVal val="visible"/>
                                      </p:to>
                                    </p:set>
                                    <p:animEffect filter="fade" transition="in">
                                      <p:cBhvr>
                                        <p:cTn dur="1000"/>
                                        <p:tgtEl>
                                          <p:spTgt spid="29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3">
                                            <p:txEl>
                                              <p:pRg end="6" st="6"/>
                                            </p:txEl>
                                          </p:spTgt>
                                        </p:tgtEl>
                                        <p:attrNameLst>
                                          <p:attrName>style.visibility</p:attrName>
                                        </p:attrNameLst>
                                      </p:cBhvr>
                                      <p:to>
                                        <p:strVal val="visible"/>
                                      </p:to>
                                    </p:set>
                                    <p:animEffect filter="fade" transition="in">
                                      <p:cBhvr>
                                        <p:cTn dur="1000"/>
                                        <p:tgtEl>
                                          <p:spTgt spid="29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3">
                                            <p:txEl>
                                              <p:pRg end="7" st="7"/>
                                            </p:txEl>
                                          </p:spTgt>
                                        </p:tgtEl>
                                        <p:attrNameLst>
                                          <p:attrName>style.visibility</p:attrName>
                                        </p:attrNameLst>
                                      </p:cBhvr>
                                      <p:to>
                                        <p:strVal val="visible"/>
                                      </p:to>
                                    </p:set>
                                    <p:animEffect filter="fade" transition="in">
                                      <p:cBhvr>
                                        <p:cTn dur="1000"/>
                                        <p:tgtEl>
                                          <p:spTgt spid="29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3">
                                            <p:txEl>
                                              <p:pRg end="8" st="8"/>
                                            </p:txEl>
                                          </p:spTgt>
                                        </p:tgtEl>
                                        <p:attrNameLst>
                                          <p:attrName>style.visibility</p:attrName>
                                        </p:attrNameLst>
                                      </p:cBhvr>
                                      <p:to>
                                        <p:strVal val="visible"/>
                                      </p:to>
                                    </p:set>
                                    <p:animEffect filter="fade" transition="in">
                                      <p:cBhvr>
                                        <p:cTn dur="1000"/>
                                        <p:tgtEl>
                                          <p:spTgt spid="29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gtEl>
                                        <p:attrNameLst>
                                          <p:attrName>style.visibility</p:attrName>
                                        </p:attrNameLst>
                                      </p:cBhvr>
                                      <p:to>
                                        <p:strVal val="visible"/>
                                      </p:to>
                                    </p:set>
                                    <p:animEffect filter="fade" transition="in">
                                      <p:cBhvr>
                                        <p:cTn dur="500"/>
                                        <p:tgtEl>
                                          <p:spTgt spid="2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gtEl>
                                        <p:attrNameLst>
                                          <p:attrName>style.visibility</p:attrName>
                                        </p:attrNameLst>
                                      </p:cBhvr>
                                      <p:to>
                                        <p:strVal val="visible"/>
                                      </p:to>
                                    </p:set>
                                    <p:animEffect filter="fade" transition="in">
                                      <p:cBhvr>
                                        <p:cTn dur="500"/>
                                        <p:tgtEl>
                                          <p:spTgt spid="2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5"/>
          <p:cNvSpPr txBox="1"/>
          <p:nvPr>
            <p:ph idx="1" type="body"/>
          </p:nvPr>
        </p:nvSpPr>
        <p:spPr>
          <a:xfrm>
            <a:off x="595745" y="318655"/>
            <a:ext cx="10758055" cy="585830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US"/>
              <a:t>Object-Oriented Data Model</a:t>
            </a:r>
            <a:endParaRPr/>
          </a:p>
          <a:p>
            <a:pPr indent="-228600" lvl="0" marL="228600" rtl="0" algn="l">
              <a:lnSpc>
                <a:spcPct val="90000"/>
              </a:lnSpc>
              <a:spcBef>
                <a:spcPts val="1000"/>
              </a:spcBef>
              <a:spcAft>
                <a:spcPts val="0"/>
              </a:spcAft>
              <a:buClr>
                <a:schemeClr val="dk1"/>
              </a:buClr>
              <a:buSzPct val="100000"/>
              <a:buChar char="•"/>
            </a:pPr>
            <a:r>
              <a:rPr lang="en-US"/>
              <a:t>Both data and the data relationships are stored into a single structure that’s known as an object in the object-oriented data model.</a:t>
            </a:r>
            <a:endParaRPr/>
          </a:p>
          <a:p>
            <a:pPr indent="-64135" lvl="0" marL="22860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rgbClr val="444444"/>
              </a:buClr>
              <a:buSzPct val="100000"/>
              <a:buChar char="•"/>
            </a:pPr>
            <a:r>
              <a:rPr b="1" i="0" lang="en-US">
                <a:solidFill>
                  <a:srgbClr val="444444"/>
                </a:solidFill>
                <a:latin typeface="Poppins"/>
                <a:ea typeface="Poppins"/>
                <a:cs typeface="Poppins"/>
                <a:sym typeface="Poppins"/>
              </a:rPr>
              <a:t>Object-Relational Data Model </a:t>
            </a:r>
            <a:endParaRPr/>
          </a:p>
          <a:p>
            <a:pPr indent="-228600" lvl="0" marL="228600" rtl="0" algn="l">
              <a:lnSpc>
                <a:spcPct val="90000"/>
              </a:lnSpc>
              <a:spcBef>
                <a:spcPts val="1000"/>
              </a:spcBef>
              <a:spcAft>
                <a:spcPts val="0"/>
              </a:spcAft>
              <a:buClr>
                <a:schemeClr val="dk1"/>
              </a:buClr>
              <a:buSzPct val="100000"/>
              <a:buChar char="•"/>
            </a:pPr>
            <a:r>
              <a:rPr lang="en-US"/>
              <a:t>This model was developed to bridge the gap between the Object-Oriented and relational models. </a:t>
            </a:r>
            <a:endParaRPr/>
          </a:p>
          <a:p>
            <a:pPr indent="-228600" lvl="0" marL="228600" rtl="0" algn="l">
              <a:lnSpc>
                <a:spcPct val="90000"/>
              </a:lnSpc>
              <a:spcBef>
                <a:spcPts val="1000"/>
              </a:spcBef>
              <a:spcAft>
                <a:spcPts val="0"/>
              </a:spcAft>
              <a:buClr>
                <a:schemeClr val="dk1"/>
              </a:buClr>
              <a:buSzPct val="100000"/>
              <a:buChar char="•"/>
            </a:pPr>
            <a:r>
              <a:rPr lang="en-US"/>
              <a:t>Many additional capabilities are available, such as the ability to create complicated data types based on our requirements utilizing existing data types. </a:t>
            </a:r>
            <a:endParaRPr/>
          </a:p>
          <a:p>
            <a:pPr indent="-228600" lvl="0" marL="228600" rtl="0" algn="l">
              <a:lnSpc>
                <a:spcPct val="90000"/>
              </a:lnSpc>
              <a:spcBef>
                <a:spcPts val="1000"/>
              </a:spcBef>
              <a:spcAft>
                <a:spcPts val="0"/>
              </a:spcAft>
              <a:buClr>
                <a:schemeClr val="dk1"/>
              </a:buClr>
              <a:buSzPct val="100000"/>
              <a:buChar char="•"/>
            </a:pPr>
            <a:r>
              <a:rPr lang="en-US"/>
              <a:t>The issue with this paradigm is that it can become overly complicated and difficult to manage.</a:t>
            </a:r>
            <a:endParaRPr/>
          </a:p>
          <a:p>
            <a:pPr indent="-64135" lvl="0" marL="228600" rtl="0" algn="l">
              <a:lnSpc>
                <a:spcPct val="90000"/>
              </a:lnSpc>
              <a:spcBef>
                <a:spcPts val="1000"/>
              </a:spcBef>
              <a:spcAft>
                <a:spcPts val="0"/>
              </a:spcAft>
              <a:buClr>
                <a:schemeClr val="dk1"/>
              </a:buClr>
              <a:buSzPct val="100000"/>
              <a:buNone/>
            </a:pPr>
            <a:r>
              <a:t/>
            </a:r>
            <a:endParaRPr/>
          </a:p>
        </p:txBody>
      </p:sp>
      <p:pic>
        <p:nvPicPr>
          <p:cNvPr id="301" name="Google Shape;301;p45"/>
          <p:cNvPicPr preferRelativeResize="0"/>
          <p:nvPr/>
        </p:nvPicPr>
        <p:blipFill rotWithShape="1">
          <a:blip r:embed="rId3">
            <a:alphaModFix/>
          </a:blip>
          <a:srcRect b="0" l="0" r="0" t="0"/>
          <a:stretch/>
        </p:blipFill>
        <p:spPr>
          <a:xfrm>
            <a:off x="1059542" y="1658397"/>
            <a:ext cx="4121092" cy="1554082"/>
          </a:xfrm>
          <a:prstGeom prst="rect">
            <a:avLst/>
          </a:prstGeom>
          <a:noFill/>
          <a:ln>
            <a:noFill/>
          </a:ln>
        </p:spPr>
      </p:pic>
      <p:pic>
        <p:nvPicPr>
          <p:cNvPr id="302" name="Google Shape;302;p45"/>
          <p:cNvPicPr preferRelativeResize="0"/>
          <p:nvPr/>
        </p:nvPicPr>
        <p:blipFill rotWithShape="1">
          <a:blip r:embed="rId4">
            <a:alphaModFix/>
          </a:blip>
          <a:srcRect b="0" l="0" r="0" t="0"/>
          <a:stretch/>
        </p:blipFill>
        <p:spPr>
          <a:xfrm>
            <a:off x="6295831" y="1437576"/>
            <a:ext cx="3942772" cy="19957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xEl>
                                              <p:pRg end="0" st="0"/>
                                            </p:txEl>
                                          </p:spTgt>
                                        </p:tgtEl>
                                        <p:attrNameLst>
                                          <p:attrName>style.visibility</p:attrName>
                                        </p:attrNameLst>
                                      </p:cBhvr>
                                      <p:to>
                                        <p:strVal val="visible"/>
                                      </p:to>
                                    </p:set>
                                    <p:animEffect filter="fade" transition="in">
                                      <p:cBhvr>
                                        <p:cTn dur="1000"/>
                                        <p:tgtEl>
                                          <p:spTgt spid="30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xEl>
                                              <p:pRg end="1" st="1"/>
                                            </p:txEl>
                                          </p:spTgt>
                                        </p:tgtEl>
                                        <p:attrNameLst>
                                          <p:attrName>style.visibility</p:attrName>
                                        </p:attrNameLst>
                                      </p:cBhvr>
                                      <p:to>
                                        <p:strVal val="visible"/>
                                      </p:to>
                                    </p:set>
                                    <p:animEffect filter="fade" transition="in">
                                      <p:cBhvr>
                                        <p:cTn dur="1000"/>
                                        <p:tgtEl>
                                          <p:spTgt spid="30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xEl>
                                              <p:pRg end="2" st="2"/>
                                            </p:txEl>
                                          </p:spTgt>
                                        </p:tgtEl>
                                        <p:attrNameLst>
                                          <p:attrName>style.visibility</p:attrName>
                                        </p:attrNameLst>
                                      </p:cBhvr>
                                      <p:to>
                                        <p:strVal val="visible"/>
                                      </p:to>
                                    </p:set>
                                    <p:animEffect filter="fade" transition="in">
                                      <p:cBhvr>
                                        <p:cTn dur="1000"/>
                                        <p:tgtEl>
                                          <p:spTgt spid="30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xEl>
                                              <p:pRg end="3" st="3"/>
                                            </p:txEl>
                                          </p:spTgt>
                                        </p:tgtEl>
                                        <p:attrNameLst>
                                          <p:attrName>style.visibility</p:attrName>
                                        </p:attrNameLst>
                                      </p:cBhvr>
                                      <p:to>
                                        <p:strVal val="visible"/>
                                      </p:to>
                                    </p:set>
                                    <p:animEffect filter="fade" transition="in">
                                      <p:cBhvr>
                                        <p:cTn dur="1000"/>
                                        <p:tgtEl>
                                          <p:spTgt spid="30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xEl>
                                              <p:pRg end="4" st="4"/>
                                            </p:txEl>
                                          </p:spTgt>
                                        </p:tgtEl>
                                        <p:attrNameLst>
                                          <p:attrName>style.visibility</p:attrName>
                                        </p:attrNameLst>
                                      </p:cBhvr>
                                      <p:to>
                                        <p:strVal val="visible"/>
                                      </p:to>
                                    </p:set>
                                    <p:animEffect filter="fade" transition="in">
                                      <p:cBhvr>
                                        <p:cTn dur="1000"/>
                                        <p:tgtEl>
                                          <p:spTgt spid="30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xEl>
                                              <p:pRg end="5" st="5"/>
                                            </p:txEl>
                                          </p:spTgt>
                                        </p:tgtEl>
                                        <p:attrNameLst>
                                          <p:attrName>style.visibility</p:attrName>
                                        </p:attrNameLst>
                                      </p:cBhvr>
                                      <p:to>
                                        <p:strVal val="visible"/>
                                      </p:to>
                                    </p:set>
                                    <p:animEffect filter="fade" transition="in">
                                      <p:cBhvr>
                                        <p:cTn dur="1000"/>
                                        <p:tgtEl>
                                          <p:spTgt spid="30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xEl>
                                              <p:pRg end="6" st="6"/>
                                            </p:txEl>
                                          </p:spTgt>
                                        </p:tgtEl>
                                        <p:attrNameLst>
                                          <p:attrName>style.visibility</p:attrName>
                                        </p:attrNameLst>
                                      </p:cBhvr>
                                      <p:to>
                                        <p:strVal val="visible"/>
                                      </p:to>
                                    </p:set>
                                    <p:animEffect filter="fade" transition="in">
                                      <p:cBhvr>
                                        <p:cTn dur="1000"/>
                                        <p:tgtEl>
                                          <p:spTgt spid="30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xEl>
                                              <p:pRg end="7" st="7"/>
                                            </p:txEl>
                                          </p:spTgt>
                                        </p:tgtEl>
                                        <p:attrNameLst>
                                          <p:attrName>style.visibility</p:attrName>
                                        </p:attrNameLst>
                                      </p:cBhvr>
                                      <p:to>
                                        <p:strVal val="visible"/>
                                      </p:to>
                                    </p:set>
                                    <p:animEffect filter="fade" transition="in">
                                      <p:cBhvr>
                                        <p:cTn dur="1000"/>
                                        <p:tgtEl>
                                          <p:spTgt spid="30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xEl>
                                              <p:pRg end="8" st="8"/>
                                            </p:txEl>
                                          </p:spTgt>
                                        </p:tgtEl>
                                        <p:attrNameLst>
                                          <p:attrName>style.visibility</p:attrName>
                                        </p:attrNameLst>
                                      </p:cBhvr>
                                      <p:to>
                                        <p:strVal val="visible"/>
                                      </p:to>
                                    </p:set>
                                    <p:animEffect filter="fade" transition="in">
                                      <p:cBhvr>
                                        <p:cTn dur="1000"/>
                                        <p:tgtEl>
                                          <p:spTgt spid="30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xEl>
                                              <p:pRg end="9" st="9"/>
                                            </p:txEl>
                                          </p:spTgt>
                                        </p:tgtEl>
                                        <p:attrNameLst>
                                          <p:attrName>style.visibility</p:attrName>
                                        </p:attrNameLst>
                                      </p:cBhvr>
                                      <p:to>
                                        <p:strVal val="visible"/>
                                      </p:to>
                                    </p:set>
                                    <p:animEffect filter="fade" transition="in">
                                      <p:cBhvr>
                                        <p:cTn dur="1000"/>
                                        <p:tgtEl>
                                          <p:spTgt spid="300">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xEl>
                                              <p:pRg end="10" st="10"/>
                                            </p:txEl>
                                          </p:spTgt>
                                        </p:tgtEl>
                                        <p:attrNameLst>
                                          <p:attrName>style.visibility</p:attrName>
                                        </p:attrNameLst>
                                      </p:cBhvr>
                                      <p:to>
                                        <p:strVal val="visible"/>
                                      </p:to>
                                    </p:set>
                                    <p:animEffect filter="fade" transition="in">
                                      <p:cBhvr>
                                        <p:cTn dur="1000"/>
                                        <p:tgtEl>
                                          <p:spTgt spid="300">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xEl>
                                              <p:pRg end="11" st="11"/>
                                            </p:txEl>
                                          </p:spTgt>
                                        </p:tgtEl>
                                        <p:attrNameLst>
                                          <p:attrName>style.visibility</p:attrName>
                                        </p:attrNameLst>
                                      </p:cBhvr>
                                      <p:to>
                                        <p:strVal val="visible"/>
                                      </p:to>
                                    </p:set>
                                    <p:animEffect filter="fade" transition="in">
                                      <p:cBhvr>
                                        <p:cTn dur="1000"/>
                                        <p:tgtEl>
                                          <p:spTgt spid="300">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
                                        </p:tgtEl>
                                        <p:attrNameLst>
                                          <p:attrName>style.visibility</p:attrName>
                                        </p:attrNameLst>
                                      </p:cBhvr>
                                      <p:to>
                                        <p:strVal val="visible"/>
                                      </p:to>
                                    </p:set>
                                    <p:animEffect filter="fade" transition="in">
                                      <p:cBhvr>
                                        <p:cTn dur="500"/>
                                        <p:tgtEl>
                                          <p:spTgt spid="3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500"/>
                                        <p:tgtEl>
                                          <p:spTgt spid="3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6"/>
          <p:cNvSpPr txBox="1"/>
          <p:nvPr>
            <p:ph idx="1" type="body"/>
          </p:nvPr>
        </p:nvSpPr>
        <p:spPr>
          <a:xfrm>
            <a:off x="725714" y="435429"/>
            <a:ext cx="10628086" cy="5741534"/>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Flat Data Model</a:t>
            </a:r>
            <a:endParaRPr/>
          </a:p>
          <a:p>
            <a:pPr indent="-228600" lvl="0" marL="228600" rtl="0" algn="l">
              <a:lnSpc>
                <a:spcPct val="90000"/>
              </a:lnSpc>
              <a:spcBef>
                <a:spcPts val="1000"/>
              </a:spcBef>
              <a:spcAft>
                <a:spcPts val="0"/>
              </a:spcAft>
              <a:buClr>
                <a:schemeClr val="dk1"/>
              </a:buClr>
              <a:buSzPts val="2800"/>
              <a:buChar char="•"/>
            </a:pPr>
            <a:r>
              <a:rPr lang="en-US"/>
              <a:t>It’s a straightforward model in which the DB is depicted as a table with rows and columns.</a:t>
            </a:r>
            <a:endParaRPr/>
          </a:p>
          <a:p>
            <a:pPr indent="-228600" lvl="0" marL="228600" rtl="0" algn="l">
              <a:lnSpc>
                <a:spcPct val="90000"/>
              </a:lnSpc>
              <a:spcBef>
                <a:spcPts val="1000"/>
              </a:spcBef>
              <a:spcAft>
                <a:spcPts val="0"/>
              </a:spcAft>
              <a:buClr>
                <a:schemeClr val="dk1"/>
              </a:buClr>
              <a:buSzPts val="2800"/>
              <a:buChar char="•"/>
            </a:pPr>
            <a:r>
              <a:rPr lang="en-US"/>
              <a:t>A flat data model is one in which all of the data is kept in the same plane.</a:t>
            </a:r>
            <a:endParaRPr/>
          </a:p>
          <a:p>
            <a:pPr indent="-228600" lvl="0" marL="228600" rtl="0" algn="l">
              <a:lnSpc>
                <a:spcPct val="90000"/>
              </a:lnSpc>
              <a:spcBef>
                <a:spcPts val="1000"/>
              </a:spcBef>
              <a:spcAft>
                <a:spcPts val="0"/>
              </a:spcAft>
              <a:buClr>
                <a:schemeClr val="dk1"/>
              </a:buClr>
              <a:buSzPts val="2800"/>
              <a:buChar char="•"/>
            </a:pPr>
            <a:r>
              <a:rPr lang="en-US"/>
              <a:t>This data model has one drawback it cannot store a large amount of data that is the tables can not be of large size.</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b="1" lang="en-US"/>
              <a:t>Semi-Structured Data Model</a:t>
            </a:r>
            <a:endParaRPr/>
          </a:p>
          <a:p>
            <a:pPr indent="-228600" lvl="0" marL="228600" rtl="0" algn="l">
              <a:lnSpc>
                <a:spcPct val="90000"/>
              </a:lnSpc>
              <a:spcBef>
                <a:spcPts val="1000"/>
              </a:spcBef>
              <a:spcAft>
                <a:spcPts val="0"/>
              </a:spcAft>
              <a:buClr>
                <a:schemeClr val="dk1"/>
              </a:buClr>
              <a:buSzPts val="2800"/>
              <a:buChar char="•"/>
            </a:pPr>
            <a:r>
              <a:rPr lang="en-US"/>
              <a:t>Semi-structured data refers to the structured data that doesn’t adhere to the tabular structure of the data models that are associated with relational DBs.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7">
                                            <p:txEl>
                                              <p:pRg end="0" st="0"/>
                                            </p:txEl>
                                          </p:spTgt>
                                        </p:tgtEl>
                                        <p:attrNameLst>
                                          <p:attrName>style.visibility</p:attrName>
                                        </p:attrNameLst>
                                      </p:cBhvr>
                                      <p:to>
                                        <p:strVal val="visible"/>
                                      </p:to>
                                    </p:set>
                                    <p:anim calcmode="lin" valueType="num">
                                      <p:cBhvr additive="base">
                                        <p:cTn dur="500"/>
                                        <p:tgtEl>
                                          <p:spTgt spid="30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7">
                                            <p:txEl>
                                              <p:pRg end="1" st="1"/>
                                            </p:txEl>
                                          </p:spTgt>
                                        </p:tgtEl>
                                        <p:attrNameLst>
                                          <p:attrName>style.visibility</p:attrName>
                                        </p:attrNameLst>
                                      </p:cBhvr>
                                      <p:to>
                                        <p:strVal val="visible"/>
                                      </p:to>
                                    </p:set>
                                    <p:anim calcmode="lin" valueType="num">
                                      <p:cBhvr additive="base">
                                        <p:cTn dur="500"/>
                                        <p:tgtEl>
                                          <p:spTgt spid="30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7">
                                            <p:txEl>
                                              <p:pRg end="2" st="2"/>
                                            </p:txEl>
                                          </p:spTgt>
                                        </p:tgtEl>
                                        <p:attrNameLst>
                                          <p:attrName>style.visibility</p:attrName>
                                        </p:attrNameLst>
                                      </p:cBhvr>
                                      <p:to>
                                        <p:strVal val="visible"/>
                                      </p:to>
                                    </p:set>
                                    <p:anim calcmode="lin" valueType="num">
                                      <p:cBhvr additive="base">
                                        <p:cTn dur="500"/>
                                        <p:tgtEl>
                                          <p:spTgt spid="30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7">
                                            <p:txEl>
                                              <p:pRg end="3" st="3"/>
                                            </p:txEl>
                                          </p:spTgt>
                                        </p:tgtEl>
                                        <p:attrNameLst>
                                          <p:attrName>style.visibility</p:attrName>
                                        </p:attrNameLst>
                                      </p:cBhvr>
                                      <p:to>
                                        <p:strVal val="visible"/>
                                      </p:to>
                                    </p:set>
                                    <p:anim calcmode="lin" valueType="num">
                                      <p:cBhvr additive="base">
                                        <p:cTn dur="500"/>
                                        <p:tgtEl>
                                          <p:spTgt spid="30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7">
                                            <p:txEl>
                                              <p:pRg end="4" st="4"/>
                                            </p:txEl>
                                          </p:spTgt>
                                        </p:tgtEl>
                                        <p:attrNameLst>
                                          <p:attrName>style.visibility</p:attrName>
                                        </p:attrNameLst>
                                      </p:cBhvr>
                                      <p:to>
                                        <p:strVal val="visible"/>
                                      </p:to>
                                    </p:set>
                                    <p:anim calcmode="lin" valueType="num">
                                      <p:cBhvr additive="base">
                                        <p:cTn dur="500"/>
                                        <p:tgtEl>
                                          <p:spTgt spid="307">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7">
                                            <p:txEl>
                                              <p:pRg end="5" st="5"/>
                                            </p:txEl>
                                          </p:spTgt>
                                        </p:tgtEl>
                                        <p:attrNameLst>
                                          <p:attrName>style.visibility</p:attrName>
                                        </p:attrNameLst>
                                      </p:cBhvr>
                                      <p:to>
                                        <p:strVal val="visible"/>
                                      </p:to>
                                    </p:set>
                                    <p:anim calcmode="lin" valueType="num">
                                      <p:cBhvr additive="base">
                                        <p:cTn dur="500"/>
                                        <p:tgtEl>
                                          <p:spTgt spid="307">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7">
                                            <p:txEl>
                                              <p:pRg end="6" st="6"/>
                                            </p:txEl>
                                          </p:spTgt>
                                        </p:tgtEl>
                                        <p:attrNameLst>
                                          <p:attrName>style.visibility</p:attrName>
                                        </p:attrNameLst>
                                      </p:cBhvr>
                                      <p:to>
                                        <p:strVal val="visible"/>
                                      </p:to>
                                    </p:set>
                                    <p:anim calcmode="lin" valueType="num">
                                      <p:cBhvr additive="base">
                                        <p:cTn dur="500"/>
                                        <p:tgtEl>
                                          <p:spTgt spid="307">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7"/>
          <p:cNvSpPr txBox="1"/>
          <p:nvPr>
            <p:ph idx="1" type="body"/>
          </p:nvPr>
        </p:nvSpPr>
        <p:spPr>
          <a:xfrm>
            <a:off x="725714" y="435429"/>
            <a:ext cx="10628086" cy="5741534"/>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90000"/>
              </a:lnSpc>
              <a:spcBef>
                <a:spcPts val="0"/>
              </a:spcBef>
              <a:spcAft>
                <a:spcPts val="0"/>
              </a:spcAft>
              <a:buClr>
                <a:schemeClr val="dk1"/>
              </a:buClr>
              <a:buSzPct val="100000"/>
              <a:buChar char="•"/>
            </a:pPr>
            <a:r>
              <a:rPr b="1" i="0" lang="en-US" u="none" strike="noStrike">
                <a:latin typeface="Poppins"/>
                <a:ea typeface="Poppins"/>
                <a:cs typeface="Poppins"/>
                <a:sym typeface="Poppins"/>
              </a:rPr>
              <a:t>Associative Data Model</a:t>
            </a:r>
            <a:endParaRPr/>
          </a:p>
          <a:p>
            <a:pPr indent="-228600" lvl="0" marL="228600" rtl="0" algn="l">
              <a:lnSpc>
                <a:spcPct val="90000"/>
              </a:lnSpc>
              <a:spcBef>
                <a:spcPts val="1000"/>
              </a:spcBef>
              <a:spcAft>
                <a:spcPts val="0"/>
              </a:spcAft>
              <a:buClr>
                <a:schemeClr val="dk1"/>
              </a:buClr>
              <a:buSzPct val="100000"/>
              <a:buChar char="•"/>
            </a:pPr>
            <a:r>
              <a:rPr i="0" lang="en-US">
                <a:latin typeface="Poppins"/>
                <a:ea typeface="Poppins"/>
                <a:cs typeface="Poppins"/>
                <a:sym typeface="Poppins"/>
              </a:rPr>
              <a:t>It is a model in which the data is separated into two sections. </a:t>
            </a:r>
            <a:endParaRPr/>
          </a:p>
          <a:p>
            <a:pPr indent="-228600" lvl="0" marL="228600" rtl="0" algn="l">
              <a:lnSpc>
                <a:spcPct val="90000"/>
              </a:lnSpc>
              <a:spcBef>
                <a:spcPts val="1000"/>
              </a:spcBef>
              <a:spcAft>
                <a:spcPts val="0"/>
              </a:spcAft>
              <a:buClr>
                <a:schemeClr val="dk1"/>
              </a:buClr>
              <a:buSzPct val="100000"/>
              <a:buChar char="•"/>
            </a:pPr>
            <a:r>
              <a:rPr i="0" lang="en-US">
                <a:latin typeface="Poppins"/>
                <a:ea typeface="Poppins"/>
                <a:cs typeface="Poppins"/>
                <a:sym typeface="Poppins"/>
              </a:rPr>
              <a:t>Everything that has its own existence is referred to as an entity, and the relationships between these entities are referred to as associations. </a:t>
            </a:r>
            <a:endParaRPr/>
          </a:p>
          <a:p>
            <a:pPr indent="-228600" lvl="0" marL="228600" rtl="0" algn="l">
              <a:lnSpc>
                <a:spcPct val="90000"/>
              </a:lnSpc>
              <a:spcBef>
                <a:spcPts val="1000"/>
              </a:spcBef>
              <a:spcAft>
                <a:spcPts val="0"/>
              </a:spcAft>
              <a:buClr>
                <a:schemeClr val="dk1"/>
              </a:buClr>
              <a:buSzPct val="100000"/>
              <a:buChar char="•"/>
            </a:pPr>
            <a:r>
              <a:rPr i="0" lang="en-US">
                <a:latin typeface="Poppins"/>
                <a:ea typeface="Poppins"/>
                <a:cs typeface="Poppins"/>
                <a:sym typeface="Poppins"/>
              </a:rPr>
              <a:t>Items and links are two types of data that are separated into two components.</a:t>
            </a:r>
            <a:endParaRPr/>
          </a:p>
          <a:p>
            <a:pPr indent="-64135" lvl="0" marL="228600" rtl="0" algn="l">
              <a:lnSpc>
                <a:spcPct val="90000"/>
              </a:lnSpc>
              <a:spcBef>
                <a:spcPts val="1000"/>
              </a:spcBef>
              <a:spcAft>
                <a:spcPts val="0"/>
              </a:spcAft>
              <a:buClr>
                <a:schemeClr val="dk1"/>
              </a:buClr>
              <a:buSzPct val="100000"/>
              <a:buNone/>
            </a:pPr>
            <a:r>
              <a:t/>
            </a:r>
            <a:endParaRPr b="1" i="0">
              <a:latin typeface="Poppins"/>
              <a:ea typeface="Poppins"/>
              <a:cs typeface="Poppins"/>
              <a:sym typeface="Poppins"/>
            </a:endParaRPr>
          </a:p>
          <a:p>
            <a:pPr indent="-228600" lvl="0" marL="228600" rtl="0" algn="l">
              <a:lnSpc>
                <a:spcPct val="90000"/>
              </a:lnSpc>
              <a:spcBef>
                <a:spcPts val="1000"/>
              </a:spcBef>
              <a:spcAft>
                <a:spcPts val="0"/>
              </a:spcAft>
              <a:buClr>
                <a:schemeClr val="dk1"/>
              </a:buClr>
              <a:buSzPct val="100000"/>
              <a:buChar char="•"/>
            </a:pPr>
            <a:r>
              <a:rPr b="1" i="0" lang="en-US">
                <a:latin typeface="Poppins"/>
                <a:ea typeface="Poppins"/>
                <a:cs typeface="Poppins"/>
                <a:sym typeface="Poppins"/>
              </a:rPr>
              <a:t>Context data model</a:t>
            </a:r>
            <a:endParaRPr b="1">
              <a:latin typeface="Poppins"/>
              <a:ea typeface="Poppins"/>
              <a:cs typeface="Poppins"/>
              <a:sym typeface="Poppins"/>
            </a:endParaRPr>
          </a:p>
          <a:p>
            <a:pPr indent="-228600" lvl="0" marL="228600" rtl="0" algn="l">
              <a:lnSpc>
                <a:spcPct val="90000"/>
              </a:lnSpc>
              <a:spcBef>
                <a:spcPts val="1000"/>
              </a:spcBef>
              <a:spcAft>
                <a:spcPts val="0"/>
              </a:spcAft>
              <a:buClr>
                <a:schemeClr val="dk1"/>
              </a:buClr>
              <a:buSzPct val="100000"/>
              <a:buChar char="•"/>
            </a:pPr>
            <a:r>
              <a:rPr lang="en-US">
                <a:latin typeface="Poppins"/>
                <a:ea typeface="Poppins"/>
                <a:cs typeface="Poppins"/>
                <a:sym typeface="Poppins"/>
              </a:rPr>
              <a:t>It </a:t>
            </a:r>
            <a:r>
              <a:rPr b="0" i="0" lang="en-US">
                <a:latin typeface="Poppins"/>
                <a:ea typeface="Poppins"/>
                <a:cs typeface="Poppins"/>
                <a:sym typeface="Poppins"/>
              </a:rPr>
              <a:t>is simply a data model which consists of more than one data model. </a:t>
            </a:r>
            <a:endParaRPr/>
          </a:p>
          <a:p>
            <a:pPr indent="-228600" lvl="0" marL="228600" rtl="0" algn="l">
              <a:lnSpc>
                <a:spcPct val="90000"/>
              </a:lnSpc>
              <a:spcBef>
                <a:spcPts val="1000"/>
              </a:spcBef>
              <a:spcAft>
                <a:spcPts val="0"/>
              </a:spcAft>
              <a:buClr>
                <a:schemeClr val="dk1"/>
              </a:buClr>
              <a:buSzPct val="100000"/>
              <a:buChar char="•"/>
            </a:pPr>
            <a:r>
              <a:rPr b="0" i="0" lang="en-US">
                <a:latin typeface="Poppins"/>
                <a:ea typeface="Poppins"/>
                <a:cs typeface="Poppins"/>
                <a:sym typeface="Poppins"/>
              </a:rPr>
              <a:t>For example, the Context data model consists of ER Model, Object-Oriented Data Model, etc. This model allows users to do more than one thing which each individual data model can do.</a:t>
            </a:r>
            <a:endParaRPr/>
          </a:p>
          <a:p>
            <a:pPr indent="-64135" lvl="0" marL="228600" rtl="0" algn="l">
              <a:lnSpc>
                <a:spcPct val="90000"/>
              </a:lnSpc>
              <a:spcBef>
                <a:spcPts val="1000"/>
              </a:spcBef>
              <a:spcAft>
                <a:spcPts val="0"/>
              </a:spcAft>
              <a:buClr>
                <a:schemeClr val="dk1"/>
              </a:buClr>
              <a:buSzPct val="100000"/>
              <a:buNone/>
            </a:pPr>
            <a:r>
              <a:t/>
            </a:r>
            <a:endParaRPr b="0" i="0">
              <a:latin typeface="Poppins"/>
              <a:ea typeface="Poppins"/>
              <a:cs typeface="Poppins"/>
              <a:sym typeface="Poppi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xEl>
                                              <p:pRg end="0" st="0"/>
                                            </p:txEl>
                                          </p:spTgt>
                                        </p:tgtEl>
                                        <p:attrNameLst>
                                          <p:attrName>style.visibility</p:attrName>
                                        </p:attrNameLst>
                                      </p:cBhvr>
                                      <p:to>
                                        <p:strVal val="visible"/>
                                      </p:to>
                                    </p:set>
                                    <p:animEffect filter="fade" transition="in">
                                      <p:cBhvr>
                                        <p:cTn dur="1000"/>
                                        <p:tgtEl>
                                          <p:spTgt spid="31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xEl>
                                              <p:pRg end="1" st="1"/>
                                            </p:txEl>
                                          </p:spTgt>
                                        </p:tgtEl>
                                        <p:attrNameLst>
                                          <p:attrName>style.visibility</p:attrName>
                                        </p:attrNameLst>
                                      </p:cBhvr>
                                      <p:to>
                                        <p:strVal val="visible"/>
                                      </p:to>
                                    </p:set>
                                    <p:animEffect filter="fade" transition="in">
                                      <p:cBhvr>
                                        <p:cTn dur="1000"/>
                                        <p:tgtEl>
                                          <p:spTgt spid="31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xEl>
                                              <p:pRg end="2" st="2"/>
                                            </p:txEl>
                                          </p:spTgt>
                                        </p:tgtEl>
                                        <p:attrNameLst>
                                          <p:attrName>style.visibility</p:attrName>
                                        </p:attrNameLst>
                                      </p:cBhvr>
                                      <p:to>
                                        <p:strVal val="visible"/>
                                      </p:to>
                                    </p:set>
                                    <p:animEffect filter="fade" transition="in">
                                      <p:cBhvr>
                                        <p:cTn dur="1000"/>
                                        <p:tgtEl>
                                          <p:spTgt spid="31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xEl>
                                              <p:pRg end="3" st="3"/>
                                            </p:txEl>
                                          </p:spTgt>
                                        </p:tgtEl>
                                        <p:attrNameLst>
                                          <p:attrName>style.visibility</p:attrName>
                                        </p:attrNameLst>
                                      </p:cBhvr>
                                      <p:to>
                                        <p:strVal val="visible"/>
                                      </p:to>
                                    </p:set>
                                    <p:animEffect filter="fade" transition="in">
                                      <p:cBhvr>
                                        <p:cTn dur="1000"/>
                                        <p:tgtEl>
                                          <p:spTgt spid="31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xEl>
                                              <p:pRg end="4" st="4"/>
                                            </p:txEl>
                                          </p:spTgt>
                                        </p:tgtEl>
                                        <p:attrNameLst>
                                          <p:attrName>style.visibility</p:attrName>
                                        </p:attrNameLst>
                                      </p:cBhvr>
                                      <p:to>
                                        <p:strVal val="visible"/>
                                      </p:to>
                                    </p:set>
                                    <p:animEffect filter="fade" transition="in">
                                      <p:cBhvr>
                                        <p:cTn dur="1000"/>
                                        <p:tgtEl>
                                          <p:spTgt spid="31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xEl>
                                              <p:pRg end="5" st="5"/>
                                            </p:txEl>
                                          </p:spTgt>
                                        </p:tgtEl>
                                        <p:attrNameLst>
                                          <p:attrName>style.visibility</p:attrName>
                                        </p:attrNameLst>
                                      </p:cBhvr>
                                      <p:to>
                                        <p:strVal val="visible"/>
                                      </p:to>
                                    </p:set>
                                    <p:animEffect filter="fade" transition="in">
                                      <p:cBhvr>
                                        <p:cTn dur="1000"/>
                                        <p:tgtEl>
                                          <p:spTgt spid="31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xEl>
                                              <p:pRg end="6" st="6"/>
                                            </p:txEl>
                                          </p:spTgt>
                                        </p:tgtEl>
                                        <p:attrNameLst>
                                          <p:attrName>style.visibility</p:attrName>
                                        </p:attrNameLst>
                                      </p:cBhvr>
                                      <p:to>
                                        <p:strVal val="visible"/>
                                      </p:to>
                                    </p:set>
                                    <p:animEffect filter="fade" transition="in">
                                      <p:cBhvr>
                                        <p:cTn dur="1000"/>
                                        <p:tgtEl>
                                          <p:spTgt spid="31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xEl>
                                              <p:pRg end="7" st="7"/>
                                            </p:txEl>
                                          </p:spTgt>
                                        </p:tgtEl>
                                        <p:attrNameLst>
                                          <p:attrName>style.visibility</p:attrName>
                                        </p:attrNameLst>
                                      </p:cBhvr>
                                      <p:to>
                                        <p:strVal val="visible"/>
                                      </p:to>
                                    </p:set>
                                    <p:animEffect filter="fade" transition="in">
                                      <p:cBhvr>
                                        <p:cTn dur="1000"/>
                                        <p:tgtEl>
                                          <p:spTgt spid="31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xEl>
                                              <p:pRg end="8" st="8"/>
                                            </p:txEl>
                                          </p:spTgt>
                                        </p:tgtEl>
                                        <p:attrNameLst>
                                          <p:attrName>style.visibility</p:attrName>
                                        </p:attrNameLst>
                                      </p:cBhvr>
                                      <p:to>
                                        <p:strVal val="visible"/>
                                      </p:to>
                                    </p:set>
                                    <p:animEffect filter="fade" transition="in">
                                      <p:cBhvr>
                                        <p:cTn dur="1000"/>
                                        <p:tgtEl>
                                          <p:spTgt spid="312">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Enhanced Entity Relationship model</a:t>
            </a:r>
            <a:endParaRPr/>
          </a:p>
        </p:txBody>
      </p:sp>
      <p:sp>
        <p:nvSpPr>
          <p:cNvPr id="318" name="Google Shape;318;p4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111960" rtl="0" algn="just">
              <a:lnSpc>
                <a:spcPct val="100000"/>
              </a:lnSpc>
              <a:spcBef>
                <a:spcPts val="0"/>
              </a:spcBef>
              <a:spcAft>
                <a:spcPts val="0"/>
              </a:spcAft>
              <a:buClr>
                <a:srgbClr val="2DA2BF"/>
              </a:buClr>
              <a:buSzPts val="1904"/>
              <a:buNone/>
            </a:pPr>
            <a:r>
              <a:rPr b="0" lang="en-US" sz="2800" strike="noStrike">
                <a:solidFill>
                  <a:srgbClr val="000000"/>
                </a:solidFill>
                <a:latin typeface="Times New Roman"/>
                <a:ea typeface="Times New Roman"/>
                <a:cs typeface="Times New Roman"/>
                <a:sym typeface="Times New Roman"/>
              </a:rPr>
              <a:t>It is a diagrammatic technique for displaying the following concepts:</a:t>
            </a:r>
            <a:endParaRPr b="0" sz="2800" strike="noStrike">
              <a:latin typeface="Arial"/>
              <a:ea typeface="Arial"/>
              <a:cs typeface="Arial"/>
              <a:sym typeface="Arial"/>
            </a:endParaRPr>
          </a:p>
          <a:p>
            <a:pPr indent="-253799" lvl="0" marL="365760" rtl="0" algn="just">
              <a:lnSpc>
                <a:spcPct val="100000"/>
              </a:lnSpc>
              <a:spcBef>
                <a:spcPts val="400"/>
              </a:spcBef>
              <a:spcAft>
                <a:spcPts val="0"/>
              </a:spcAft>
              <a:buClr>
                <a:srgbClr val="2DA2BF"/>
              </a:buClr>
              <a:buSzPts val="1904"/>
              <a:buFont typeface="Noto Sans Symbols"/>
              <a:buChar char="🞂"/>
            </a:pPr>
            <a:r>
              <a:rPr b="0" lang="en-US" sz="2800" strike="noStrike">
                <a:solidFill>
                  <a:srgbClr val="000000"/>
                </a:solidFill>
                <a:latin typeface="Times New Roman"/>
                <a:ea typeface="Times New Roman"/>
                <a:cs typeface="Times New Roman"/>
                <a:sym typeface="Times New Roman"/>
              </a:rPr>
              <a:t>Sub Class and Super Class</a:t>
            </a:r>
            <a:endParaRPr b="0" sz="2800" strike="noStrike">
              <a:latin typeface="Arial"/>
              <a:ea typeface="Arial"/>
              <a:cs typeface="Arial"/>
              <a:sym typeface="Arial"/>
            </a:endParaRPr>
          </a:p>
          <a:p>
            <a:pPr indent="-253799" lvl="0" marL="365760" rtl="0" algn="just">
              <a:lnSpc>
                <a:spcPct val="100000"/>
              </a:lnSpc>
              <a:spcBef>
                <a:spcPts val="400"/>
              </a:spcBef>
              <a:spcAft>
                <a:spcPts val="0"/>
              </a:spcAft>
              <a:buClr>
                <a:srgbClr val="2DA2BF"/>
              </a:buClr>
              <a:buSzPts val="1904"/>
              <a:buFont typeface="Noto Sans Symbols"/>
              <a:buChar char="🞂"/>
            </a:pPr>
            <a:r>
              <a:rPr b="0" lang="en-US" sz="2800" strike="noStrike">
                <a:solidFill>
                  <a:srgbClr val="000000"/>
                </a:solidFill>
                <a:latin typeface="Times New Roman"/>
                <a:ea typeface="Times New Roman"/>
                <a:cs typeface="Times New Roman"/>
                <a:sym typeface="Times New Roman"/>
              </a:rPr>
              <a:t>Specialization and Generalization</a:t>
            </a:r>
            <a:endParaRPr b="0" sz="2800" strike="noStrike">
              <a:latin typeface="Arial"/>
              <a:ea typeface="Arial"/>
              <a:cs typeface="Arial"/>
              <a:sym typeface="Arial"/>
            </a:endParaRPr>
          </a:p>
          <a:p>
            <a:pPr indent="-253799" lvl="0" marL="365760" rtl="0" algn="just">
              <a:lnSpc>
                <a:spcPct val="100000"/>
              </a:lnSpc>
              <a:spcBef>
                <a:spcPts val="400"/>
              </a:spcBef>
              <a:spcAft>
                <a:spcPts val="0"/>
              </a:spcAft>
              <a:buClr>
                <a:srgbClr val="2DA2BF"/>
              </a:buClr>
              <a:buSzPts val="1904"/>
              <a:buFont typeface="Noto Sans Symbols"/>
              <a:buChar char="🞂"/>
            </a:pPr>
            <a:r>
              <a:rPr b="0" lang="en-US" sz="2800" strike="noStrike">
                <a:solidFill>
                  <a:srgbClr val="000000"/>
                </a:solidFill>
                <a:latin typeface="Times New Roman"/>
                <a:ea typeface="Times New Roman"/>
                <a:cs typeface="Times New Roman"/>
                <a:sym typeface="Times New Roman"/>
              </a:rPr>
              <a:t>Union or Category</a:t>
            </a:r>
            <a:endParaRPr b="0" sz="2800" strike="noStrike">
              <a:latin typeface="Arial"/>
              <a:ea typeface="Arial"/>
              <a:cs typeface="Arial"/>
              <a:sym typeface="Arial"/>
            </a:endParaRPr>
          </a:p>
          <a:p>
            <a:pPr indent="-253799" lvl="0" marL="365760" rtl="0" algn="just">
              <a:lnSpc>
                <a:spcPct val="100000"/>
              </a:lnSpc>
              <a:spcBef>
                <a:spcPts val="400"/>
              </a:spcBef>
              <a:spcAft>
                <a:spcPts val="0"/>
              </a:spcAft>
              <a:buClr>
                <a:srgbClr val="2DA2BF"/>
              </a:buClr>
              <a:buSzPts val="1904"/>
              <a:buFont typeface="Noto Sans Symbols"/>
              <a:buChar char="🞂"/>
            </a:pPr>
            <a:r>
              <a:rPr b="0" lang="en-US" sz="2800" strike="noStrike">
                <a:solidFill>
                  <a:srgbClr val="000000"/>
                </a:solidFill>
                <a:latin typeface="Times New Roman"/>
                <a:ea typeface="Times New Roman"/>
                <a:cs typeface="Times New Roman"/>
                <a:sym typeface="Times New Roman"/>
              </a:rPr>
              <a:t>Aggregation</a:t>
            </a:r>
            <a:endParaRPr b="0" sz="2800" strike="noStrike">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Subclasses and Superclasses</a:t>
            </a:r>
            <a:endParaRPr/>
          </a:p>
        </p:txBody>
      </p:sp>
      <p:sp>
        <p:nvSpPr>
          <p:cNvPr id="324" name="Google Shape;324;p4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333399"/>
              </a:buClr>
              <a:buSzPts val="2400"/>
              <a:buFont typeface="Arial"/>
              <a:buChar char="•"/>
            </a:pPr>
            <a:r>
              <a:rPr b="0" i="0" lang="en-US" sz="2400" u="none" strike="noStrike">
                <a:solidFill>
                  <a:srgbClr val="333399"/>
                </a:solidFill>
                <a:latin typeface="Arial"/>
                <a:ea typeface="Arial"/>
                <a:cs typeface="Arial"/>
                <a:sym typeface="Arial"/>
              </a:rPr>
              <a:t>An entity type may have additional meaningful subgroupings of its entities</a:t>
            </a:r>
            <a:endParaRPr b="0" i="0" sz="1440" u="none" strike="noStrike">
              <a:solidFill>
                <a:srgbClr val="990033"/>
              </a:solidFill>
              <a:latin typeface="Noto Sans Symbols"/>
              <a:ea typeface="Noto Sans Symbols"/>
              <a:cs typeface="Noto Sans Symbols"/>
              <a:sym typeface="Noto Sans Symbols"/>
            </a:endParaRPr>
          </a:p>
          <a:p>
            <a:pPr indent="-285750" lvl="1" marL="742950" rtl="0" algn="l">
              <a:lnSpc>
                <a:spcPct val="90000"/>
              </a:lnSpc>
              <a:spcBef>
                <a:spcPts val="440"/>
              </a:spcBef>
              <a:spcAft>
                <a:spcPts val="0"/>
              </a:spcAft>
              <a:buClr>
                <a:srgbClr val="800000"/>
              </a:buClr>
              <a:buSzPts val="2200"/>
              <a:buFont typeface="Arial"/>
              <a:buChar char="•"/>
            </a:pPr>
            <a:r>
              <a:rPr b="0" i="0" lang="en-US" sz="2200" u="none" strike="noStrike">
                <a:solidFill>
                  <a:srgbClr val="800000"/>
                </a:solidFill>
                <a:latin typeface="Arial"/>
                <a:ea typeface="Arial"/>
                <a:cs typeface="Arial"/>
                <a:sym typeface="Arial"/>
              </a:rPr>
              <a:t>Example: EMPLOYEE may be further grouped into: </a:t>
            </a:r>
            <a:endParaRPr b="0" i="0" sz="1210" u="none" strike="noStrike">
              <a:solidFill>
                <a:srgbClr val="333399"/>
              </a:solidFill>
              <a:latin typeface="Noto Sans Symbols"/>
              <a:ea typeface="Noto Sans Symbols"/>
              <a:cs typeface="Noto Sans Symbols"/>
              <a:sym typeface="Noto Sans Symbols"/>
            </a:endParaRPr>
          </a:p>
          <a:p>
            <a:pPr indent="-228600" lvl="2" marL="1143000" rtl="0" algn="l">
              <a:lnSpc>
                <a:spcPct val="90000"/>
              </a:lnSpc>
              <a:spcBef>
                <a:spcPts val="400"/>
              </a:spcBef>
              <a:spcAft>
                <a:spcPts val="0"/>
              </a:spcAft>
              <a:buClr>
                <a:srgbClr val="333399"/>
              </a:buClr>
              <a:buSzPts val="2000"/>
              <a:buFont typeface="Arial"/>
              <a:buChar char="•"/>
            </a:pPr>
            <a:r>
              <a:rPr b="0" i="0" lang="en-US" sz="2000" u="none" strike="noStrike">
                <a:solidFill>
                  <a:srgbClr val="333399"/>
                </a:solidFill>
                <a:latin typeface="Arial"/>
                <a:ea typeface="Arial"/>
                <a:cs typeface="Arial"/>
                <a:sym typeface="Arial"/>
              </a:rPr>
              <a:t>SECRETARY, ENGINEER, TECHNICIAN, …</a:t>
            </a:r>
            <a:endParaRPr b="0" i="0" sz="1000" u="none" strike="noStrike">
              <a:solidFill>
                <a:srgbClr val="990033"/>
              </a:solidFill>
              <a:latin typeface="Noto Sans Symbols"/>
              <a:ea typeface="Noto Sans Symbols"/>
              <a:cs typeface="Noto Sans Symbols"/>
              <a:sym typeface="Noto Sans Symbols"/>
            </a:endParaRPr>
          </a:p>
          <a:p>
            <a:pPr indent="-228600" lvl="3" marL="1600200" rtl="0" algn="l">
              <a:lnSpc>
                <a:spcPct val="90000"/>
              </a:lnSpc>
              <a:spcBef>
                <a:spcPts val="360"/>
              </a:spcBef>
              <a:spcAft>
                <a:spcPts val="0"/>
              </a:spcAft>
              <a:buClr>
                <a:srgbClr val="800000"/>
              </a:buClr>
              <a:buSzPts val="1800"/>
              <a:buFont typeface="Arial"/>
              <a:buChar char="•"/>
            </a:pPr>
            <a:r>
              <a:rPr b="0" i="0" lang="en-US" sz="1800" u="none" strike="noStrike">
                <a:solidFill>
                  <a:srgbClr val="800000"/>
                </a:solidFill>
                <a:latin typeface="Arial"/>
                <a:ea typeface="Arial"/>
                <a:cs typeface="Arial"/>
                <a:sym typeface="Arial"/>
              </a:rPr>
              <a:t>Based on the EMPLOYEE’s Job</a:t>
            </a:r>
            <a:endParaRPr b="0" i="0" sz="989" u="none" strike="noStrike">
              <a:solidFill>
                <a:srgbClr val="333399"/>
              </a:solidFill>
              <a:latin typeface="Noto Sans Symbols"/>
              <a:ea typeface="Noto Sans Symbols"/>
              <a:cs typeface="Noto Sans Symbols"/>
              <a:sym typeface="Noto Sans Symbols"/>
            </a:endParaRPr>
          </a:p>
          <a:p>
            <a:pPr indent="-228600" lvl="2" marL="1143000" rtl="0" algn="l">
              <a:lnSpc>
                <a:spcPct val="90000"/>
              </a:lnSpc>
              <a:spcBef>
                <a:spcPts val="400"/>
              </a:spcBef>
              <a:spcAft>
                <a:spcPts val="0"/>
              </a:spcAft>
              <a:buClr>
                <a:srgbClr val="333399"/>
              </a:buClr>
              <a:buSzPts val="2000"/>
              <a:buFont typeface="Arial"/>
              <a:buChar char="•"/>
            </a:pPr>
            <a:r>
              <a:rPr b="0" i="0" lang="en-US" sz="2000" u="none" strike="noStrike">
                <a:solidFill>
                  <a:srgbClr val="333399"/>
                </a:solidFill>
                <a:latin typeface="Arial"/>
                <a:ea typeface="Arial"/>
                <a:cs typeface="Arial"/>
                <a:sym typeface="Arial"/>
              </a:rPr>
              <a:t>MANAGER</a:t>
            </a:r>
            <a:endParaRPr b="0" i="0" sz="1000" u="none" strike="noStrike">
              <a:solidFill>
                <a:srgbClr val="990033"/>
              </a:solidFill>
              <a:latin typeface="Noto Sans Symbols"/>
              <a:ea typeface="Noto Sans Symbols"/>
              <a:cs typeface="Noto Sans Symbols"/>
              <a:sym typeface="Noto Sans Symbols"/>
            </a:endParaRPr>
          </a:p>
          <a:p>
            <a:pPr indent="-228600" lvl="3" marL="1600200" rtl="0" algn="l">
              <a:lnSpc>
                <a:spcPct val="90000"/>
              </a:lnSpc>
              <a:spcBef>
                <a:spcPts val="360"/>
              </a:spcBef>
              <a:spcAft>
                <a:spcPts val="0"/>
              </a:spcAft>
              <a:buClr>
                <a:srgbClr val="800000"/>
              </a:buClr>
              <a:buSzPts val="1800"/>
              <a:buFont typeface="Arial"/>
              <a:buChar char="•"/>
            </a:pPr>
            <a:r>
              <a:rPr b="0" i="0" lang="en-US" sz="1800" u="none" strike="noStrike">
                <a:solidFill>
                  <a:srgbClr val="800000"/>
                </a:solidFill>
                <a:latin typeface="Arial"/>
                <a:ea typeface="Arial"/>
                <a:cs typeface="Arial"/>
                <a:sym typeface="Arial"/>
              </a:rPr>
              <a:t>EMPLOYEEs who are managers</a:t>
            </a:r>
            <a:endParaRPr b="0" i="0" sz="989" u="none" strike="noStrike">
              <a:solidFill>
                <a:srgbClr val="333399"/>
              </a:solidFill>
              <a:latin typeface="Noto Sans Symbols"/>
              <a:ea typeface="Noto Sans Symbols"/>
              <a:cs typeface="Noto Sans Symbols"/>
              <a:sym typeface="Noto Sans Symbols"/>
            </a:endParaRPr>
          </a:p>
          <a:p>
            <a:pPr indent="-228600" lvl="2" marL="1143000" rtl="0" algn="l">
              <a:lnSpc>
                <a:spcPct val="90000"/>
              </a:lnSpc>
              <a:spcBef>
                <a:spcPts val="400"/>
              </a:spcBef>
              <a:spcAft>
                <a:spcPts val="0"/>
              </a:spcAft>
              <a:buClr>
                <a:srgbClr val="333399"/>
              </a:buClr>
              <a:buSzPts val="2000"/>
              <a:buFont typeface="Arial"/>
              <a:buChar char="•"/>
            </a:pPr>
            <a:r>
              <a:rPr b="0" i="0" lang="en-US" sz="2000" u="none" strike="noStrike">
                <a:solidFill>
                  <a:srgbClr val="333399"/>
                </a:solidFill>
                <a:latin typeface="Arial"/>
                <a:ea typeface="Arial"/>
                <a:cs typeface="Arial"/>
                <a:sym typeface="Arial"/>
              </a:rPr>
              <a:t>SALARIED_EMPLOYEE, HOURLY_EMPLOYEE</a:t>
            </a:r>
            <a:endParaRPr b="0" i="0" sz="1000" u="none" strike="noStrike">
              <a:solidFill>
                <a:srgbClr val="990033"/>
              </a:solidFill>
              <a:latin typeface="Noto Sans Symbols"/>
              <a:ea typeface="Noto Sans Symbols"/>
              <a:cs typeface="Noto Sans Symbols"/>
              <a:sym typeface="Noto Sans Symbols"/>
            </a:endParaRPr>
          </a:p>
          <a:p>
            <a:pPr indent="-228600" lvl="3" marL="1600200" rtl="0" algn="l">
              <a:lnSpc>
                <a:spcPct val="90000"/>
              </a:lnSpc>
              <a:spcBef>
                <a:spcPts val="360"/>
              </a:spcBef>
              <a:spcAft>
                <a:spcPts val="0"/>
              </a:spcAft>
              <a:buClr>
                <a:srgbClr val="800000"/>
              </a:buClr>
              <a:buSzPts val="1800"/>
              <a:buFont typeface="Arial"/>
              <a:buChar char="•"/>
            </a:pPr>
            <a:r>
              <a:rPr b="0" i="0" lang="en-US" sz="1800" u="none" strike="noStrike">
                <a:solidFill>
                  <a:srgbClr val="800000"/>
                </a:solidFill>
                <a:latin typeface="Arial"/>
                <a:ea typeface="Arial"/>
                <a:cs typeface="Arial"/>
                <a:sym typeface="Arial"/>
              </a:rPr>
              <a:t>Based on the EMPLOYEE’s method of pay</a:t>
            </a:r>
            <a:endParaRPr b="0" i="0" sz="989" u="none" strike="noStrike">
              <a:solidFill>
                <a:srgbClr val="333399"/>
              </a:solidFill>
              <a:latin typeface="Noto Sans Symbols"/>
              <a:ea typeface="Noto Sans Symbols"/>
              <a:cs typeface="Noto Sans Symbols"/>
              <a:sym typeface="Noto Sans Symbols"/>
            </a:endParaRPr>
          </a:p>
          <a:p>
            <a:pPr indent="-228600" lvl="0" marL="228600" rtl="0" algn="l">
              <a:lnSpc>
                <a:spcPct val="90000"/>
              </a:lnSpc>
              <a:spcBef>
                <a:spcPts val="480"/>
              </a:spcBef>
              <a:spcAft>
                <a:spcPts val="0"/>
              </a:spcAft>
              <a:buClr>
                <a:srgbClr val="333399"/>
              </a:buClr>
              <a:buSzPts val="2400"/>
              <a:buFont typeface="Arial"/>
              <a:buChar char="•"/>
            </a:pPr>
            <a:r>
              <a:rPr b="0" i="0" lang="en-US" sz="2400" u="none" strike="noStrike">
                <a:solidFill>
                  <a:srgbClr val="333399"/>
                </a:solidFill>
                <a:latin typeface="Arial"/>
                <a:ea typeface="Arial"/>
                <a:cs typeface="Arial"/>
                <a:sym typeface="Arial"/>
              </a:rPr>
              <a:t>EER diagrams extend ER diagrams to represent these additional subgroupings, called </a:t>
            </a:r>
            <a:r>
              <a:rPr b="0" i="1" lang="en-US" sz="2400" u="none" strike="noStrike">
                <a:solidFill>
                  <a:srgbClr val="333399"/>
                </a:solidFill>
                <a:latin typeface="Arial"/>
                <a:ea typeface="Arial"/>
                <a:cs typeface="Arial"/>
                <a:sym typeface="Arial"/>
              </a:rPr>
              <a:t>subclasses</a:t>
            </a:r>
            <a:r>
              <a:rPr b="0" i="0" lang="en-US" sz="2400" u="none" strike="noStrike">
                <a:solidFill>
                  <a:srgbClr val="333399"/>
                </a:solidFill>
                <a:latin typeface="Arial"/>
                <a:ea typeface="Arial"/>
                <a:cs typeface="Arial"/>
                <a:sym typeface="Arial"/>
              </a:rPr>
              <a:t> or </a:t>
            </a:r>
            <a:r>
              <a:rPr b="0" i="1" lang="en-US" sz="2400" u="none" strike="noStrike">
                <a:solidFill>
                  <a:srgbClr val="333399"/>
                </a:solidFill>
                <a:latin typeface="Arial"/>
                <a:ea typeface="Arial"/>
                <a:cs typeface="Arial"/>
                <a:sym typeface="Arial"/>
              </a:rPr>
              <a:t>subtypes</a:t>
            </a:r>
            <a:endParaRPr b="0" i="0" sz="1440" u="none" strike="noStrike">
              <a:solidFill>
                <a:srgbClr val="990033"/>
              </a:solidFill>
              <a:latin typeface="Noto Sans Symbols"/>
              <a:ea typeface="Noto Sans Symbols"/>
              <a:cs typeface="Noto Sans Symbols"/>
              <a:sym typeface="Noto Sans Symbols"/>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4">
                                            <p:txEl>
                                              <p:pRg end="0" st="0"/>
                                            </p:txEl>
                                          </p:spTgt>
                                        </p:tgtEl>
                                        <p:attrNameLst>
                                          <p:attrName>style.visibility</p:attrName>
                                        </p:attrNameLst>
                                      </p:cBhvr>
                                      <p:to>
                                        <p:strVal val="visible"/>
                                      </p:to>
                                    </p:set>
                                    <p:anim calcmode="lin" valueType="num">
                                      <p:cBhvr additive="base">
                                        <p:cTn dur="500"/>
                                        <p:tgtEl>
                                          <p:spTgt spid="32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4">
                                            <p:txEl>
                                              <p:pRg end="1" st="1"/>
                                            </p:txEl>
                                          </p:spTgt>
                                        </p:tgtEl>
                                        <p:attrNameLst>
                                          <p:attrName>style.visibility</p:attrName>
                                        </p:attrNameLst>
                                      </p:cBhvr>
                                      <p:to>
                                        <p:strVal val="visible"/>
                                      </p:to>
                                    </p:set>
                                    <p:anim calcmode="lin" valueType="num">
                                      <p:cBhvr additive="base">
                                        <p:cTn dur="500"/>
                                        <p:tgtEl>
                                          <p:spTgt spid="32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4">
                                            <p:txEl>
                                              <p:pRg end="2" st="2"/>
                                            </p:txEl>
                                          </p:spTgt>
                                        </p:tgtEl>
                                        <p:attrNameLst>
                                          <p:attrName>style.visibility</p:attrName>
                                        </p:attrNameLst>
                                      </p:cBhvr>
                                      <p:to>
                                        <p:strVal val="visible"/>
                                      </p:to>
                                    </p:set>
                                    <p:anim calcmode="lin" valueType="num">
                                      <p:cBhvr additive="base">
                                        <p:cTn dur="500"/>
                                        <p:tgtEl>
                                          <p:spTgt spid="32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4">
                                            <p:txEl>
                                              <p:pRg end="3" st="3"/>
                                            </p:txEl>
                                          </p:spTgt>
                                        </p:tgtEl>
                                        <p:attrNameLst>
                                          <p:attrName>style.visibility</p:attrName>
                                        </p:attrNameLst>
                                      </p:cBhvr>
                                      <p:to>
                                        <p:strVal val="visible"/>
                                      </p:to>
                                    </p:set>
                                    <p:anim calcmode="lin" valueType="num">
                                      <p:cBhvr additive="base">
                                        <p:cTn dur="500"/>
                                        <p:tgtEl>
                                          <p:spTgt spid="32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4">
                                            <p:txEl>
                                              <p:pRg end="4" st="4"/>
                                            </p:txEl>
                                          </p:spTgt>
                                        </p:tgtEl>
                                        <p:attrNameLst>
                                          <p:attrName>style.visibility</p:attrName>
                                        </p:attrNameLst>
                                      </p:cBhvr>
                                      <p:to>
                                        <p:strVal val="visible"/>
                                      </p:to>
                                    </p:set>
                                    <p:anim calcmode="lin" valueType="num">
                                      <p:cBhvr additive="base">
                                        <p:cTn dur="500"/>
                                        <p:tgtEl>
                                          <p:spTgt spid="324">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4">
                                            <p:txEl>
                                              <p:pRg end="5" st="5"/>
                                            </p:txEl>
                                          </p:spTgt>
                                        </p:tgtEl>
                                        <p:attrNameLst>
                                          <p:attrName>style.visibility</p:attrName>
                                        </p:attrNameLst>
                                      </p:cBhvr>
                                      <p:to>
                                        <p:strVal val="visible"/>
                                      </p:to>
                                    </p:set>
                                    <p:anim calcmode="lin" valueType="num">
                                      <p:cBhvr additive="base">
                                        <p:cTn dur="500"/>
                                        <p:tgtEl>
                                          <p:spTgt spid="324">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4">
                                            <p:txEl>
                                              <p:pRg end="6" st="6"/>
                                            </p:txEl>
                                          </p:spTgt>
                                        </p:tgtEl>
                                        <p:attrNameLst>
                                          <p:attrName>style.visibility</p:attrName>
                                        </p:attrNameLst>
                                      </p:cBhvr>
                                      <p:to>
                                        <p:strVal val="visible"/>
                                      </p:to>
                                    </p:set>
                                    <p:anim calcmode="lin" valueType="num">
                                      <p:cBhvr additive="base">
                                        <p:cTn dur="500"/>
                                        <p:tgtEl>
                                          <p:spTgt spid="324">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4">
                                            <p:txEl>
                                              <p:pRg end="7" st="7"/>
                                            </p:txEl>
                                          </p:spTgt>
                                        </p:tgtEl>
                                        <p:attrNameLst>
                                          <p:attrName>style.visibility</p:attrName>
                                        </p:attrNameLst>
                                      </p:cBhvr>
                                      <p:to>
                                        <p:strVal val="visible"/>
                                      </p:to>
                                    </p:set>
                                    <p:anim calcmode="lin" valueType="num">
                                      <p:cBhvr additive="base">
                                        <p:cTn dur="500"/>
                                        <p:tgtEl>
                                          <p:spTgt spid="324">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4">
                                            <p:txEl>
                                              <p:pRg end="8" st="8"/>
                                            </p:txEl>
                                          </p:spTgt>
                                        </p:tgtEl>
                                        <p:attrNameLst>
                                          <p:attrName>style.visibility</p:attrName>
                                        </p:attrNameLst>
                                      </p:cBhvr>
                                      <p:to>
                                        <p:strVal val="visible"/>
                                      </p:to>
                                    </p:set>
                                    <p:anim calcmode="lin" valueType="num">
                                      <p:cBhvr additive="base">
                                        <p:cTn dur="500"/>
                                        <p:tgtEl>
                                          <p:spTgt spid="324">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4">
                                            <p:txEl>
                                              <p:pRg end="9" st="9"/>
                                            </p:txEl>
                                          </p:spTgt>
                                        </p:tgtEl>
                                        <p:attrNameLst>
                                          <p:attrName>style.visibility</p:attrName>
                                        </p:attrNameLst>
                                      </p:cBhvr>
                                      <p:to>
                                        <p:strVal val="visible"/>
                                      </p:to>
                                    </p:set>
                                    <p:anim calcmode="lin" valueType="num">
                                      <p:cBhvr additive="base">
                                        <p:cTn dur="500"/>
                                        <p:tgtEl>
                                          <p:spTgt spid="324">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50"/>
          <p:cNvSpPr txBox="1"/>
          <p:nvPr>
            <p:ph idx="1" type="body"/>
          </p:nvPr>
        </p:nvSpPr>
        <p:spPr>
          <a:xfrm>
            <a:off x="478971" y="522514"/>
            <a:ext cx="10874829" cy="5654449"/>
          </a:xfrm>
          <a:prstGeom prst="rect">
            <a:avLst/>
          </a:prstGeom>
          <a:noFill/>
          <a:ln>
            <a:noFill/>
          </a:ln>
        </p:spPr>
        <p:txBody>
          <a:bodyPr anchorCtr="0" anchor="t" bIns="45700" lIns="91425" spcFirstLastPara="1" rIns="91425" wrap="square" tIns="45700">
            <a:normAutofit/>
          </a:bodyPr>
          <a:lstStyle/>
          <a:p>
            <a:pPr indent="-253799" lvl="0" marL="365760" rtl="0" algn="just">
              <a:lnSpc>
                <a:spcPct val="100000"/>
              </a:lnSpc>
              <a:spcBef>
                <a:spcPts val="0"/>
              </a:spcBef>
              <a:spcAft>
                <a:spcPts val="0"/>
              </a:spcAft>
              <a:buClr>
                <a:srgbClr val="2DA2BF"/>
              </a:buClr>
              <a:buSzPts val="1904"/>
              <a:buFont typeface="Noto Sans Symbols"/>
              <a:buChar char="🞂"/>
            </a:pPr>
            <a:r>
              <a:rPr b="0" lang="en-US" sz="2800" strike="noStrike">
                <a:solidFill>
                  <a:srgbClr val="000000"/>
                </a:solidFill>
                <a:latin typeface="Times New Roman"/>
                <a:ea typeface="Times New Roman"/>
                <a:cs typeface="Times New Roman"/>
                <a:sym typeface="Times New Roman"/>
              </a:rPr>
              <a:t>Sub class and Super class relationship leads the concept of Inheritance.</a:t>
            </a:r>
            <a:endParaRPr b="0" sz="2800" strike="noStrike">
              <a:latin typeface="Arial"/>
              <a:ea typeface="Arial"/>
              <a:cs typeface="Arial"/>
              <a:sym typeface="Arial"/>
            </a:endParaRPr>
          </a:p>
          <a:p>
            <a:pPr indent="-50800" lvl="0" marL="228600" rtl="0" algn="just">
              <a:lnSpc>
                <a:spcPct val="100000"/>
              </a:lnSpc>
              <a:spcBef>
                <a:spcPts val="400"/>
              </a:spcBef>
              <a:spcAft>
                <a:spcPts val="0"/>
              </a:spcAft>
              <a:buClr>
                <a:schemeClr val="dk1"/>
              </a:buClr>
              <a:buSzPts val="2800"/>
              <a:buNone/>
            </a:pPr>
            <a:r>
              <a:t/>
            </a:r>
            <a:endParaRPr b="0" sz="2800" strike="noStrike">
              <a:latin typeface="Arial"/>
              <a:ea typeface="Arial"/>
              <a:cs typeface="Arial"/>
              <a:sym typeface="Arial"/>
            </a:endParaRPr>
          </a:p>
          <a:p>
            <a:pPr indent="-253799" lvl="0" marL="365760" rtl="0" algn="just">
              <a:lnSpc>
                <a:spcPct val="100000"/>
              </a:lnSpc>
              <a:spcBef>
                <a:spcPts val="400"/>
              </a:spcBef>
              <a:spcAft>
                <a:spcPts val="0"/>
              </a:spcAft>
              <a:buClr>
                <a:srgbClr val="2DA2BF"/>
              </a:buClr>
              <a:buSzPts val="1904"/>
              <a:buFont typeface="Noto Sans Symbols"/>
              <a:buChar char="🞂"/>
            </a:pPr>
            <a:r>
              <a:rPr b="1" lang="en-US" sz="2800" strike="noStrike">
                <a:solidFill>
                  <a:srgbClr val="000000"/>
                </a:solidFill>
                <a:latin typeface="Times New Roman"/>
                <a:ea typeface="Times New Roman"/>
                <a:cs typeface="Times New Roman"/>
                <a:sym typeface="Times New Roman"/>
              </a:rPr>
              <a:t>1. Super Class: </a:t>
            </a:r>
            <a:r>
              <a:rPr b="0" lang="en-US" sz="2800" strike="noStrike">
                <a:solidFill>
                  <a:srgbClr val="000000"/>
                </a:solidFill>
                <a:latin typeface="Times New Roman"/>
                <a:ea typeface="Times New Roman"/>
                <a:cs typeface="Times New Roman"/>
                <a:sym typeface="Times New Roman"/>
              </a:rPr>
              <a:t>Super class is an entity type that has a relationship with one or more subtypes.</a:t>
            </a:r>
            <a:endParaRPr b="0" sz="2800" strike="noStrike">
              <a:solidFill>
                <a:srgbClr val="000000"/>
              </a:solidFill>
              <a:latin typeface="Arial"/>
              <a:ea typeface="Arial"/>
              <a:cs typeface="Arial"/>
              <a:sym typeface="Arial"/>
            </a:endParaRPr>
          </a:p>
          <a:p>
            <a:pPr indent="0" lvl="0" marL="111960" rtl="0" algn="l">
              <a:lnSpc>
                <a:spcPct val="100000"/>
              </a:lnSpc>
              <a:spcBef>
                <a:spcPts val="400"/>
              </a:spcBef>
              <a:spcAft>
                <a:spcPts val="0"/>
              </a:spcAft>
              <a:buClr>
                <a:srgbClr val="2DA2BF"/>
              </a:buClr>
              <a:buSzPts val="1904"/>
              <a:buNone/>
            </a:pPr>
            <a:br>
              <a:rPr lang="en-US"/>
            </a:br>
            <a:r>
              <a:rPr b="1" lang="en-US" sz="2800" strike="noStrike">
                <a:solidFill>
                  <a:srgbClr val="000000"/>
                </a:solidFill>
                <a:latin typeface="Times New Roman"/>
                <a:ea typeface="Times New Roman"/>
                <a:cs typeface="Times New Roman"/>
                <a:sym typeface="Times New Roman"/>
              </a:rPr>
              <a:t>For example:</a:t>
            </a:r>
            <a:r>
              <a:rPr b="0" lang="en-US" sz="2800" strike="noStrike">
                <a:solidFill>
                  <a:srgbClr val="000000"/>
                </a:solidFill>
                <a:latin typeface="Times New Roman"/>
                <a:ea typeface="Times New Roman"/>
                <a:cs typeface="Times New Roman"/>
                <a:sym typeface="Times New Roman"/>
              </a:rPr>
              <a:t> Shape super class is having sub groups as Square, Circle, Triangle.</a:t>
            </a:r>
            <a:endParaRPr/>
          </a:p>
          <a:p>
            <a:pPr indent="-253799" lvl="0" marL="365760" rtl="0" algn="just">
              <a:lnSpc>
                <a:spcPct val="100000"/>
              </a:lnSpc>
              <a:spcBef>
                <a:spcPts val="400"/>
              </a:spcBef>
              <a:spcAft>
                <a:spcPts val="0"/>
              </a:spcAft>
              <a:buClr>
                <a:srgbClr val="2DA2BF"/>
              </a:buClr>
              <a:buSzPts val="1904"/>
              <a:buFont typeface="Noto Sans Symbols"/>
              <a:buChar char="🞂"/>
            </a:pPr>
            <a:r>
              <a:rPr b="1" lang="en-US" sz="2800" strike="noStrike">
                <a:solidFill>
                  <a:schemeClr val="dk1"/>
                </a:solidFill>
                <a:latin typeface="Times New Roman"/>
                <a:ea typeface="Times New Roman"/>
                <a:cs typeface="Times New Roman"/>
                <a:sym typeface="Times New Roman"/>
              </a:rPr>
              <a:t>2. Sub Class: It </a:t>
            </a:r>
            <a:r>
              <a:rPr b="0" lang="en-US" sz="2800" strike="noStrike">
                <a:solidFill>
                  <a:schemeClr val="dk1"/>
                </a:solidFill>
                <a:latin typeface="Times New Roman"/>
                <a:ea typeface="Times New Roman"/>
                <a:cs typeface="Times New Roman"/>
                <a:sym typeface="Times New Roman"/>
              </a:rPr>
              <a:t> is a group of entities with unique attributes.</a:t>
            </a:r>
            <a:endParaRPr b="0" sz="2800" strike="noStrike">
              <a:solidFill>
                <a:schemeClr val="dk1"/>
              </a:solidFill>
              <a:latin typeface="Arial"/>
              <a:ea typeface="Arial"/>
              <a:cs typeface="Arial"/>
              <a:sym typeface="Arial"/>
            </a:endParaRPr>
          </a:p>
          <a:p>
            <a:pPr indent="-253799" lvl="0" marL="365760" rtl="0" algn="just">
              <a:lnSpc>
                <a:spcPct val="100000"/>
              </a:lnSpc>
              <a:spcBef>
                <a:spcPts val="400"/>
              </a:spcBef>
              <a:spcAft>
                <a:spcPts val="0"/>
              </a:spcAft>
              <a:buClr>
                <a:srgbClr val="2DA2BF"/>
              </a:buClr>
              <a:buSzPts val="1904"/>
              <a:buFont typeface="Noto Sans Symbols"/>
              <a:buChar char="🞂"/>
            </a:pPr>
            <a:r>
              <a:rPr b="0" lang="en-US" sz="2800" strike="noStrike">
                <a:solidFill>
                  <a:schemeClr val="dk1"/>
                </a:solidFill>
                <a:latin typeface="Times New Roman"/>
                <a:ea typeface="Times New Roman"/>
                <a:cs typeface="Times New Roman"/>
                <a:sym typeface="Times New Roman"/>
              </a:rPr>
              <a:t>Sub class inherits properties and attributes from its super class.</a:t>
            </a:r>
            <a:br>
              <a:rPr lang="en-US">
                <a:solidFill>
                  <a:schemeClr val="dk1"/>
                </a:solidFill>
              </a:rPr>
            </a:br>
            <a:r>
              <a:rPr b="1" lang="en-US" sz="2800" strike="noStrike">
                <a:solidFill>
                  <a:schemeClr val="dk1"/>
                </a:solidFill>
                <a:latin typeface="Times New Roman"/>
                <a:ea typeface="Times New Roman"/>
                <a:cs typeface="Times New Roman"/>
                <a:sym typeface="Times New Roman"/>
              </a:rPr>
              <a:t>For example:</a:t>
            </a:r>
            <a:r>
              <a:rPr b="0" lang="en-US" sz="2800" strike="noStrike">
                <a:solidFill>
                  <a:schemeClr val="dk1"/>
                </a:solidFill>
                <a:latin typeface="Times New Roman"/>
                <a:ea typeface="Times New Roman"/>
                <a:cs typeface="Times New Roman"/>
                <a:sym typeface="Times New Roman"/>
              </a:rPr>
              <a:t> Square, Circle, Triangle are the sub class of Shape super class.</a:t>
            </a:r>
            <a:endParaRPr b="0" sz="2800" strike="noStrike">
              <a:solidFill>
                <a:schemeClr val="dk1"/>
              </a:solidFill>
              <a:latin typeface="Arial"/>
              <a:ea typeface="Arial"/>
              <a:cs typeface="Arial"/>
              <a:sym typeface="Arial"/>
            </a:endParaRPr>
          </a:p>
          <a:p>
            <a:pPr indent="-50800" lvl="0" marL="228600" rtl="0" algn="l">
              <a:lnSpc>
                <a:spcPct val="100000"/>
              </a:lnSpc>
              <a:spcBef>
                <a:spcPts val="400"/>
              </a:spcBef>
              <a:spcAft>
                <a:spcPts val="0"/>
              </a:spcAft>
              <a:buClr>
                <a:schemeClr val="dk1"/>
              </a:buClr>
              <a:buSzPts val="2800"/>
              <a:buNone/>
            </a:pPr>
            <a:r>
              <a:t/>
            </a:r>
            <a:endParaRPr b="0" sz="2800" strike="noStrike">
              <a:latin typeface="Arial"/>
              <a:ea typeface="Arial"/>
              <a:cs typeface="Arial"/>
              <a:sym typeface="Arial"/>
            </a:endParaRPr>
          </a:p>
          <a:p>
            <a:pPr indent="-50800" lvl="0" marL="228600" rtl="0" algn="l">
              <a:lnSpc>
                <a:spcPct val="90000"/>
              </a:lnSpc>
              <a:spcBef>
                <a:spcPts val="1000"/>
              </a:spcBef>
              <a:spcAft>
                <a:spcPts val="0"/>
              </a:spcAft>
              <a:buClr>
                <a:schemeClr val="dk1"/>
              </a:buClr>
              <a:buSzPts val="2800"/>
              <a:buNone/>
            </a:pPr>
            <a:r>
              <a:t/>
            </a:r>
            <a:endParaRPr/>
          </a:p>
        </p:txBody>
      </p:sp>
      <p:pic>
        <p:nvPicPr>
          <p:cNvPr id="330" name="Google Shape;330;p50"/>
          <p:cNvPicPr preferRelativeResize="0"/>
          <p:nvPr/>
        </p:nvPicPr>
        <p:blipFill rotWithShape="1">
          <a:blip r:embed="rId3">
            <a:alphaModFix/>
          </a:blip>
          <a:srcRect b="0" l="0" r="0" t="0"/>
          <a:stretch/>
        </p:blipFill>
        <p:spPr>
          <a:xfrm>
            <a:off x="8475565" y="-11"/>
            <a:ext cx="3716435" cy="3684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9">
                                            <p:txEl>
                                              <p:pRg end="0" st="0"/>
                                            </p:txEl>
                                          </p:spTgt>
                                        </p:tgtEl>
                                        <p:attrNameLst>
                                          <p:attrName>style.visibility</p:attrName>
                                        </p:attrNameLst>
                                      </p:cBhvr>
                                      <p:to>
                                        <p:strVal val="visible"/>
                                      </p:to>
                                    </p:set>
                                    <p:anim calcmode="lin" valueType="num">
                                      <p:cBhvr additive="base">
                                        <p:cTn dur="500"/>
                                        <p:tgtEl>
                                          <p:spTgt spid="32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9">
                                            <p:txEl>
                                              <p:pRg end="1" st="1"/>
                                            </p:txEl>
                                          </p:spTgt>
                                        </p:tgtEl>
                                        <p:attrNameLst>
                                          <p:attrName>style.visibility</p:attrName>
                                        </p:attrNameLst>
                                      </p:cBhvr>
                                      <p:to>
                                        <p:strVal val="visible"/>
                                      </p:to>
                                    </p:set>
                                    <p:anim calcmode="lin" valueType="num">
                                      <p:cBhvr additive="base">
                                        <p:cTn dur="500"/>
                                        <p:tgtEl>
                                          <p:spTgt spid="32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9">
                                            <p:txEl>
                                              <p:pRg end="2" st="2"/>
                                            </p:txEl>
                                          </p:spTgt>
                                        </p:tgtEl>
                                        <p:attrNameLst>
                                          <p:attrName>style.visibility</p:attrName>
                                        </p:attrNameLst>
                                      </p:cBhvr>
                                      <p:to>
                                        <p:strVal val="visible"/>
                                      </p:to>
                                    </p:set>
                                    <p:anim calcmode="lin" valueType="num">
                                      <p:cBhvr additive="base">
                                        <p:cTn dur="500"/>
                                        <p:tgtEl>
                                          <p:spTgt spid="32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9">
                                            <p:txEl>
                                              <p:pRg end="3" st="3"/>
                                            </p:txEl>
                                          </p:spTgt>
                                        </p:tgtEl>
                                        <p:attrNameLst>
                                          <p:attrName>style.visibility</p:attrName>
                                        </p:attrNameLst>
                                      </p:cBhvr>
                                      <p:to>
                                        <p:strVal val="visible"/>
                                      </p:to>
                                    </p:set>
                                    <p:anim calcmode="lin" valueType="num">
                                      <p:cBhvr additive="base">
                                        <p:cTn dur="500"/>
                                        <p:tgtEl>
                                          <p:spTgt spid="32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9">
                                            <p:txEl>
                                              <p:pRg end="4" st="4"/>
                                            </p:txEl>
                                          </p:spTgt>
                                        </p:tgtEl>
                                        <p:attrNameLst>
                                          <p:attrName>style.visibility</p:attrName>
                                        </p:attrNameLst>
                                      </p:cBhvr>
                                      <p:to>
                                        <p:strVal val="visible"/>
                                      </p:to>
                                    </p:set>
                                    <p:anim calcmode="lin" valueType="num">
                                      <p:cBhvr additive="base">
                                        <p:cTn dur="500"/>
                                        <p:tgtEl>
                                          <p:spTgt spid="329">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9">
                                            <p:txEl>
                                              <p:pRg end="5" st="5"/>
                                            </p:txEl>
                                          </p:spTgt>
                                        </p:tgtEl>
                                        <p:attrNameLst>
                                          <p:attrName>style.visibility</p:attrName>
                                        </p:attrNameLst>
                                      </p:cBhvr>
                                      <p:to>
                                        <p:strVal val="visible"/>
                                      </p:to>
                                    </p:set>
                                    <p:anim calcmode="lin" valueType="num">
                                      <p:cBhvr additive="base">
                                        <p:cTn dur="500"/>
                                        <p:tgtEl>
                                          <p:spTgt spid="329">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9">
                                            <p:txEl>
                                              <p:pRg end="6" st="6"/>
                                            </p:txEl>
                                          </p:spTgt>
                                        </p:tgtEl>
                                        <p:attrNameLst>
                                          <p:attrName>style.visibility</p:attrName>
                                        </p:attrNameLst>
                                      </p:cBhvr>
                                      <p:to>
                                        <p:strVal val="visible"/>
                                      </p:to>
                                    </p:set>
                                    <p:anim calcmode="lin" valueType="num">
                                      <p:cBhvr additive="base">
                                        <p:cTn dur="500"/>
                                        <p:tgtEl>
                                          <p:spTgt spid="329">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9">
                                            <p:txEl>
                                              <p:pRg end="7" st="7"/>
                                            </p:txEl>
                                          </p:spTgt>
                                        </p:tgtEl>
                                        <p:attrNameLst>
                                          <p:attrName>style.visibility</p:attrName>
                                        </p:attrNameLst>
                                      </p:cBhvr>
                                      <p:to>
                                        <p:strVal val="visible"/>
                                      </p:to>
                                    </p:set>
                                    <p:anim calcmode="lin" valueType="num">
                                      <p:cBhvr additive="base">
                                        <p:cTn dur="500"/>
                                        <p:tgtEl>
                                          <p:spTgt spid="329">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0"/>
                                        </p:tgtEl>
                                        <p:attrNameLst>
                                          <p:attrName>style.visibility</p:attrName>
                                        </p:attrNameLst>
                                      </p:cBhvr>
                                      <p:to>
                                        <p:strVal val="visible"/>
                                      </p:to>
                                    </p:set>
                                    <p:animEffect filter="fade" transition="in">
                                      <p:cBhvr>
                                        <p:cTn dur="2000"/>
                                        <p:tgtEl>
                                          <p:spTgt spid="3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Representing Specialization in EER Diagrams</a:t>
            </a:r>
            <a:endParaRPr/>
          </a:p>
        </p:txBody>
      </p:sp>
      <p:sp>
        <p:nvSpPr>
          <p:cNvPr id="336" name="Google Shape;336;p5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337" name="Google Shape;337;p51"/>
          <p:cNvPicPr preferRelativeResize="0"/>
          <p:nvPr/>
        </p:nvPicPr>
        <p:blipFill rotWithShape="1">
          <a:blip r:embed="rId3">
            <a:alphaModFix/>
          </a:blip>
          <a:srcRect b="0" l="0" r="0" t="0"/>
          <a:stretch/>
        </p:blipFill>
        <p:spPr>
          <a:xfrm>
            <a:off x="2902858" y="2024492"/>
            <a:ext cx="5585290" cy="354720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2"/>
          <p:cNvSpPr txBox="1"/>
          <p:nvPr/>
        </p:nvSpPr>
        <p:spPr>
          <a:xfrm>
            <a:off x="8458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r>
              <a:rPr b="1" i="0" lang="en-US" sz="1400" u="none" cap="none" strike="noStrike">
                <a:solidFill>
                  <a:srgbClr val="990033"/>
                </a:solidFill>
                <a:latin typeface="Arial"/>
                <a:ea typeface="Arial"/>
                <a:cs typeface="Arial"/>
                <a:sym typeface="Arial"/>
              </a:rPr>
              <a:t>Slide 4- </a:t>
            </a:r>
            <a:fld id="{00000000-1234-1234-1234-123412341234}" type="slidenum">
              <a:rPr b="1" i="0" lang="en-US" sz="1400" u="none" cap="none" strike="noStrike">
                <a:solidFill>
                  <a:srgbClr val="990033"/>
                </a:solidFill>
                <a:latin typeface="Arial"/>
                <a:ea typeface="Arial"/>
                <a:cs typeface="Arial"/>
                <a:sym typeface="Arial"/>
              </a:rPr>
              <a:t>‹#›</a:t>
            </a:fld>
            <a:endParaRPr b="0" i="0" sz="1800" u="none" cap="none" strike="noStrike">
              <a:solidFill>
                <a:schemeClr val="dk1"/>
              </a:solidFill>
              <a:latin typeface="Calibri"/>
              <a:ea typeface="Calibri"/>
              <a:cs typeface="Calibri"/>
              <a:sym typeface="Calibri"/>
            </a:endParaRPr>
          </a:p>
        </p:txBody>
      </p:sp>
      <p:sp>
        <p:nvSpPr>
          <p:cNvPr id="344" name="Google Shape;344;p52"/>
          <p:cNvSpPr txBox="1"/>
          <p:nvPr>
            <p:ph type="title"/>
          </p:nvPr>
        </p:nvSpPr>
        <p:spPr>
          <a:xfrm>
            <a:off x="1752600" y="303213"/>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lang="en-US" sz="3200">
                <a:solidFill>
                  <a:srgbClr val="800000"/>
                </a:solidFill>
                <a:latin typeface="Arial"/>
                <a:ea typeface="Arial"/>
                <a:cs typeface="Arial"/>
                <a:sym typeface="Arial"/>
              </a:rPr>
              <a:t>Attribute Inheritance in Superclass / Subclass Relationships </a:t>
            </a:r>
            <a:endParaRPr/>
          </a:p>
        </p:txBody>
      </p:sp>
      <p:sp>
        <p:nvSpPr>
          <p:cNvPr id="345" name="Google Shape;345;p52"/>
          <p:cNvSpPr txBox="1"/>
          <p:nvPr>
            <p:ph idx="1" type="body"/>
          </p:nvPr>
        </p:nvSpPr>
        <p:spPr>
          <a:xfrm>
            <a:off x="1763713"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680"/>
              <a:buFont typeface="Noto Sans Symbols"/>
              <a:buChar char="■"/>
            </a:pPr>
            <a:r>
              <a:rPr lang="en-US">
                <a:solidFill>
                  <a:schemeClr val="dk2"/>
                </a:solidFill>
                <a:latin typeface="Arial"/>
                <a:ea typeface="Arial"/>
                <a:cs typeface="Arial"/>
                <a:sym typeface="Arial"/>
              </a:rPr>
              <a:t>An entity that is member of a subclass </a:t>
            </a:r>
            <a:r>
              <a:rPr i="1" lang="en-US">
                <a:solidFill>
                  <a:schemeClr val="dk2"/>
                </a:solidFill>
                <a:latin typeface="Arial"/>
                <a:ea typeface="Arial"/>
                <a:cs typeface="Arial"/>
                <a:sym typeface="Arial"/>
              </a:rPr>
              <a:t>inherits</a:t>
            </a:r>
            <a:r>
              <a:rPr lang="en-US">
                <a:solidFill>
                  <a:schemeClr val="dk2"/>
                </a:solidFill>
                <a:latin typeface="Arial"/>
                <a:ea typeface="Arial"/>
                <a:cs typeface="Arial"/>
                <a:sym typeface="Arial"/>
              </a:rPr>
              <a:t> </a:t>
            </a:r>
            <a:endParaRPr/>
          </a:p>
          <a:p>
            <a:pPr indent="-285750" lvl="1" marL="742950" rtl="0" algn="l">
              <a:lnSpc>
                <a:spcPct val="90000"/>
              </a:lnSpc>
              <a:spcBef>
                <a:spcPts val="520"/>
              </a:spcBef>
              <a:spcAft>
                <a:spcPts val="0"/>
              </a:spcAft>
              <a:buClr>
                <a:schemeClr val="dk2"/>
              </a:buClr>
              <a:buSzPts val="1430"/>
              <a:buFont typeface="Noto Sans Symbols"/>
              <a:buChar char="■"/>
            </a:pPr>
            <a:r>
              <a:rPr lang="en-US" sz="2600">
                <a:solidFill>
                  <a:srgbClr val="800000"/>
                </a:solidFill>
                <a:latin typeface="Arial"/>
                <a:ea typeface="Arial"/>
                <a:cs typeface="Arial"/>
                <a:sym typeface="Arial"/>
              </a:rPr>
              <a:t>All attributes of the entity as a member of the superclass </a:t>
            </a:r>
            <a:endParaRPr/>
          </a:p>
          <a:p>
            <a:pPr indent="-285750" lvl="1" marL="742950" rtl="0" algn="l">
              <a:lnSpc>
                <a:spcPct val="90000"/>
              </a:lnSpc>
              <a:spcBef>
                <a:spcPts val="520"/>
              </a:spcBef>
              <a:spcAft>
                <a:spcPts val="0"/>
              </a:spcAft>
              <a:buClr>
                <a:schemeClr val="dk2"/>
              </a:buClr>
              <a:buSzPts val="1430"/>
              <a:buFont typeface="Noto Sans Symbols"/>
              <a:buChar char="■"/>
            </a:pPr>
            <a:r>
              <a:rPr lang="en-US" sz="2600">
                <a:solidFill>
                  <a:srgbClr val="800000"/>
                </a:solidFill>
                <a:latin typeface="Arial"/>
                <a:ea typeface="Arial"/>
                <a:cs typeface="Arial"/>
                <a:sym typeface="Arial"/>
              </a:rPr>
              <a:t>All relationships of the entity as a member of the superclass</a:t>
            </a:r>
            <a:endParaRPr/>
          </a:p>
          <a:p>
            <a:pPr indent="-342900" lvl="0" marL="342900" rtl="0" algn="l">
              <a:lnSpc>
                <a:spcPct val="90000"/>
              </a:lnSpc>
              <a:spcBef>
                <a:spcPts val="560"/>
              </a:spcBef>
              <a:spcAft>
                <a:spcPts val="0"/>
              </a:spcAft>
              <a:buClr>
                <a:srgbClr val="990033"/>
              </a:buClr>
              <a:buSzPts val="1680"/>
              <a:buFont typeface="Noto Sans Symbols"/>
              <a:buChar char="■"/>
            </a:pPr>
            <a:r>
              <a:rPr lang="en-US">
                <a:solidFill>
                  <a:schemeClr val="dk2"/>
                </a:solidFill>
                <a:latin typeface="Arial"/>
                <a:ea typeface="Arial"/>
                <a:cs typeface="Arial"/>
                <a:sym typeface="Arial"/>
              </a:rPr>
              <a:t>Example:</a:t>
            </a:r>
            <a:endParaRPr/>
          </a:p>
          <a:p>
            <a:pPr indent="-285750" lvl="1" marL="742950" rtl="0" algn="l">
              <a:lnSpc>
                <a:spcPct val="90000"/>
              </a:lnSpc>
              <a:spcBef>
                <a:spcPts val="520"/>
              </a:spcBef>
              <a:spcAft>
                <a:spcPts val="0"/>
              </a:spcAft>
              <a:buClr>
                <a:schemeClr val="dk2"/>
              </a:buClr>
              <a:buSzPts val="1430"/>
              <a:buFont typeface="Noto Sans Symbols"/>
              <a:buChar char="■"/>
            </a:pPr>
            <a:r>
              <a:rPr lang="en-US" sz="2600">
                <a:solidFill>
                  <a:srgbClr val="800000"/>
                </a:solidFill>
                <a:latin typeface="Arial"/>
                <a:ea typeface="Arial"/>
                <a:cs typeface="Arial"/>
                <a:sym typeface="Arial"/>
              </a:rPr>
              <a:t>In the previous slide, SECRETARY (as well as TECHNICIAN and ENGINEER) inherit the attributes Name, SSN, …, from EMPLOYEE</a:t>
            </a:r>
            <a:endParaRPr/>
          </a:p>
          <a:p>
            <a:pPr indent="-285750" lvl="1" marL="742950" rtl="0" algn="l">
              <a:lnSpc>
                <a:spcPct val="90000"/>
              </a:lnSpc>
              <a:spcBef>
                <a:spcPts val="520"/>
              </a:spcBef>
              <a:spcAft>
                <a:spcPts val="0"/>
              </a:spcAft>
              <a:buClr>
                <a:schemeClr val="dk2"/>
              </a:buClr>
              <a:buSzPts val="1430"/>
              <a:buFont typeface="Noto Sans Symbols"/>
              <a:buChar char="■"/>
            </a:pPr>
            <a:r>
              <a:rPr lang="en-US" sz="2600">
                <a:solidFill>
                  <a:srgbClr val="800000"/>
                </a:solidFill>
                <a:latin typeface="Arial"/>
                <a:ea typeface="Arial"/>
                <a:cs typeface="Arial"/>
                <a:sym typeface="Arial"/>
              </a:rPr>
              <a:t>Every SECRETARY entity will have values for the inherited attributes</a:t>
            </a:r>
            <a:endParaRPr/>
          </a:p>
          <a:p>
            <a:pPr indent="-243840" lvl="0" marL="342900" rtl="0" algn="l">
              <a:lnSpc>
                <a:spcPct val="90000"/>
              </a:lnSpc>
              <a:spcBef>
                <a:spcPts val="520"/>
              </a:spcBef>
              <a:spcAft>
                <a:spcPts val="0"/>
              </a:spcAft>
              <a:buClr>
                <a:schemeClr val="dk1"/>
              </a:buClr>
              <a:buSzPts val="1560"/>
              <a:buNone/>
            </a:pPr>
            <a:r>
              <a:t/>
            </a:r>
            <a:endParaRPr sz="2600">
              <a:solidFill>
                <a:srgbClr val="8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5">
                                            <p:txEl>
                                              <p:pRg end="0" st="0"/>
                                            </p:txEl>
                                          </p:spTgt>
                                        </p:tgtEl>
                                        <p:attrNameLst>
                                          <p:attrName>style.visibility</p:attrName>
                                        </p:attrNameLst>
                                      </p:cBhvr>
                                      <p:to>
                                        <p:strVal val="visible"/>
                                      </p:to>
                                    </p:set>
                                    <p:anim calcmode="lin" valueType="num">
                                      <p:cBhvr additive="base">
                                        <p:cTn dur="500"/>
                                        <p:tgtEl>
                                          <p:spTgt spid="34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5">
                                            <p:txEl>
                                              <p:pRg end="1" st="1"/>
                                            </p:txEl>
                                          </p:spTgt>
                                        </p:tgtEl>
                                        <p:attrNameLst>
                                          <p:attrName>style.visibility</p:attrName>
                                        </p:attrNameLst>
                                      </p:cBhvr>
                                      <p:to>
                                        <p:strVal val="visible"/>
                                      </p:to>
                                    </p:set>
                                    <p:anim calcmode="lin" valueType="num">
                                      <p:cBhvr additive="base">
                                        <p:cTn dur="500"/>
                                        <p:tgtEl>
                                          <p:spTgt spid="34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5">
                                            <p:txEl>
                                              <p:pRg end="2" st="2"/>
                                            </p:txEl>
                                          </p:spTgt>
                                        </p:tgtEl>
                                        <p:attrNameLst>
                                          <p:attrName>style.visibility</p:attrName>
                                        </p:attrNameLst>
                                      </p:cBhvr>
                                      <p:to>
                                        <p:strVal val="visible"/>
                                      </p:to>
                                    </p:set>
                                    <p:anim calcmode="lin" valueType="num">
                                      <p:cBhvr additive="base">
                                        <p:cTn dur="500"/>
                                        <p:tgtEl>
                                          <p:spTgt spid="34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5">
                                            <p:txEl>
                                              <p:pRg end="3" st="3"/>
                                            </p:txEl>
                                          </p:spTgt>
                                        </p:tgtEl>
                                        <p:attrNameLst>
                                          <p:attrName>style.visibility</p:attrName>
                                        </p:attrNameLst>
                                      </p:cBhvr>
                                      <p:to>
                                        <p:strVal val="visible"/>
                                      </p:to>
                                    </p:set>
                                    <p:anim calcmode="lin" valueType="num">
                                      <p:cBhvr additive="base">
                                        <p:cTn dur="500"/>
                                        <p:tgtEl>
                                          <p:spTgt spid="34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5">
                                            <p:txEl>
                                              <p:pRg end="4" st="4"/>
                                            </p:txEl>
                                          </p:spTgt>
                                        </p:tgtEl>
                                        <p:attrNameLst>
                                          <p:attrName>style.visibility</p:attrName>
                                        </p:attrNameLst>
                                      </p:cBhvr>
                                      <p:to>
                                        <p:strVal val="visible"/>
                                      </p:to>
                                    </p:set>
                                    <p:anim calcmode="lin" valueType="num">
                                      <p:cBhvr additive="base">
                                        <p:cTn dur="500"/>
                                        <p:tgtEl>
                                          <p:spTgt spid="345">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5">
                                            <p:txEl>
                                              <p:pRg end="5" st="5"/>
                                            </p:txEl>
                                          </p:spTgt>
                                        </p:tgtEl>
                                        <p:attrNameLst>
                                          <p:attrName>style.visibility</p:attrName>
                                        </p:attrNameLst>
                                      </p:cBhvr>
                                      <p:to>
                                        <p:strVal val="visible"/>
                                      </p:to>
                                    </p:set>
                                    <p:anim calcmode="lin" valueType="num">
                                      <p:cBhvr additive="base">
                                        <p:cTn dur="500"/>
                                        <p:tgtEl>
                                          <p:spTgt spid="345">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5">
                                            <p:txEl>
                                              <p:pRg end="6" st="6"/>
                                            </p:txEl>
                                          </p:spTgt>
                                        </p:tgtEl>
                                        <p:attrNameLst>
                                          <p:attrName>style.visibility</p:attrName>
                                        </p:attrNameLst>
                                      </p:cBhvr>
                                      <p:to>
                                        <p:strVal val="visible"/>
                                      </p:to>
                                    </p:set>
                                    <p:anim calcmode="lin" valueType="num">
                                      <p:cBhvr additive="base">
                                        <p:cTn dur="500"/>
                                        <p:tgtEl>
                                          <p:spTgt spid="345">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53"/>
          <p:cNvSpPr txBox="1"/>
          <p:nvPr/>
        </p:nvSpPr>
        <p:spPr>
          <a:xfrm>
            <a:off x="8458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r>
              <a:rPr b="1" i="0" lang="en-US" sz="1400" u="none" cap="none" strike="noStrike">
                <a:solidFill>
                  <a:srgbClr val="990033"/>
                </a:solidFill>
                <a:latin typeface="Arial"/>
                <a:ea typeface="Arial"/>
                <a:cs typeface="Arial"/>
                <a:sym typeface="Arial"/>
              </a:rPr>
              <a:t>Slide 4- </a:t>
            </a:r>
            <a:fld id="{00000000-1234-1234-1234-123412341234}" type="slidenum">
              <a:rPr b="1" i="0" lang="en-US" sz="1400" u="none" cap="none" strike="noStrike">
                <a:solidFill>
                  <a:srgbClr val="990033"/>
                </a:solidFill>
                <a:latin typeface="Arial"/>
                <a:ea typeface="Arial"/>
                <a:cs typeface="Arial"/>
                <a:sym typeface="Arial"/>
              </a:rPr>
              <a:t>‹#›</a:t>
            </a:fld>
            <a:endParaRPr b="0" i="0" sz="1800" u="none" cap="none" strike="noStrike">
              <a:solidFill>
                <a:schemeClr val="dk1"/>
              </a:solidFill>
              <a:latin typeface="Calibri"/>
              <a:ea typeface="Calibri"/>
              <a:cs typeface="Calibri"/>
              <a:sym typeface="Calibri"/>
            </a:endParaRPr>
          </a:p>
        </p:txBody>
      </p:sp>
      <p:sp>
        <p:nvSpPr>
          <p:cNvPr id="352" name="Google Shape;352;p53"/>
          <p:cNvSpPr txBox="1"/>
          <p:nvPr>
            <p:ph type="title"/>
          </p:nvPr>
        </p:nvSpPr>
        <p:spPr>
          <a:xfrm>
            <a:off x="1752600" y="303213"/>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lang="en-US" sz="3200">
                <a:solidFill>
                  <a:srgbClr val="800000"/>
                </a:solidFill>
                <a:latin typeface="Arial"/>
                <a:ea typeface="Arial"/>
                <a:cs typeface="Arial"/>
                <a:sym typeface="Arial"/>
              </a:rPr>
              <a:t>Specialization (1)</a:t>
            </a:r>
            <a:endParaRPr/>
          </a:p>
        </p:txBody>
      </p:sp>
      <p:sp>
        <p:nvSpPr>
          <p:cNvPr id="353" name="Google Shape;353;p53"/>
          <p:cNvSpPr txBox="1"/>
          <p:nvPr>
            <p:ph idx="1" type="body"/>
          </p:nvPr>
        </p:nvSpPr>
        <p:spPr>
          <a:xfrm>
            <a:off x="1763713"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lang="en-US">
                <a:solidFill>
                  <a:schemeClr val="dk2"/>
                </a:solidFill>
                <a:latin typeface="Arial"/>
                <a:ea typeface="Arial"/>
                <a:cs typeface="Arial"/>
                <a:sym typeface="Arial"/>
              </a:rPr>
              <a:t>Specialization is the process of defining a set of subclasses of a superclass </a:t>
            </a:r>
            <a:endParaRPr/>
          </a:p>
          <a:p>
            <a:pPr indent="-342900" lvl="0" marL="342900" rtl="0" algn="l">
              <a:lnSpc>
                <a:spcPct val="100000"/>
              </a:lnSpc>
              <a:spcBef>
                <a:spcPts val="560"/>
              </a:spcBef>
              <a:spcAft>
                <a:spcPts val="0"/>
              </a:spcAft>
              <a:buClr>
                <a:srgbClr val="990033"/>
              </a:buClr>
              <a:buSzPts val="1680"/>
              <a:buFont typeface="Noto Sans Symbols"/>
              <a:buChar char="■"/>
            </a:pPr>
            <a:r>
              <a:rPr lang="en-US">
                <a:solidFill>
                  <a:schemeClr val="dk2"/>
                </a:solidFill>
                <a:latin typeface="Arial"/>
                <a:ea typeface="Arial"/>
                <a:cs typeface="Arial"/>
                <a:sym typeface="Arial"/>
              </a:rPr>
              <a:t>The set of subclasses is based upon some distinguishing characteristics of the entities in the superclass</a:t>
            </a:r>
            <a:endParaRPr/>
          </a:p>
          <a:p>
            <a:pPr indent="-285750" lvl="1" marL="742950" rtl="0" algn="l">
              <a:lnSpc>
                <a:spcPct val="100000"/>
              </a:lnSpc>
              <a:spcBef>
                <a:spcPts val="520"/>
              </a:spcBef>
              <a:spcAft>
                <a:spcPts val="0"/>
              </a:spcAft>
              <a:buClr>
                <a:schemeClr val="dk2"/>
              </a:buClr>
              <a:buSzPts val="1430"/>
              <a:buFont typeface="Noto Sans Symbols"/>
              <a:buChar char="■"/>
            </a:pPr>
            <a:r>
              <a:rPr lang="en-US" sz="2600">
                <a:solidFill>
                  <a:srgbClr val="800000"/>
                </a:solidFill>
                <a:latin typeface="Arial"/>
                <a:ea typeface="Arial"/>
                <a:cs typeface="Arial"/>
                <a:sym typeface="Arial"/>
              </a:rPr>
              <a:t>Example: {SECRETARY, ENGINEER, TECHNICIAN} is a specialization of EMPLOYEE based upon </a:t>
            </a:r>
            <a:r>
              <a:rPr i="1" lang="en-US" sz="2600">
                <a:solidFill>
                  <a:srgbClr val="800000"/>
                </a:solidFill>
                <a:latin typeface="Arial"/>
                <a:ea typeface="Arial"/>
                <a:cs typeface="Arial"/>
                <a:sym typeface="Arial"/>
              </a:rPr>
              <a:t>job type.</a:t>
            </a:r>
            <a:endParaRPr/>
          </a:p>
          <a:p>
            <a:pPr indent="-228600" lvl="2" marL="1143000" rtl="0" algn="l">
              <a:lnSpc>
                <a:spcPct val="100000"/>
              </a:lnSpc>
              <a:spcBef>
                <a:spcPts val="480"/>
              </a:spcBef>
              <a:spcAft>
                <a:spcPts val="0"/>
              </a:spcAft>
              <a:buClr>
                <a:srgbClr val="990033"/>
              </a:buClr>
              <a:buSzPts val="1200"/>
              <a:buFont typeface="Noto Sans Symbols"/>
              <a:buChar char="■"/>
            </a:pPr>
            <a:r>
              <a:rPr lang="en-US" sz="2400">
                <a:solidFill>
                  <a:schemeClr val="dk2"/>
                </a:solidFill>
                <a:latin typeface="Arial"/>
                <a:ea typeface="Arial"/>
                <a:cs typeface="Arial"/>
                <a:sym typeface="Arial"/>
              </a:rPr>
              <a:t>May have several specializations of the same superclass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53">
                                            <p:txEl>
                                              <p:pRg end="0" st="0"/>
                                            </p:txEl>
                                          </p:spTgt>
                                        </p:tgtEl>
                                        <p:attrNameLst>
                                          <p:attrName>style.visibility</p:attrName>
                                        </p:attrNameLst>
                                      </p:cBhvr>
                                      <p:to>
                                        <p:strVal val="visible"/>
                                      </p:to>
                                    </p:set>
                                    <p:anim calcmode="lin" valueType="num">
                                      <p:cBhvr additive="base">
                                        <p:cTn dur="500"/>
                                        <p:tgtEl>
                                          <p:spTgt spid="35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53">
                                            <p:txEl>
                                              <p:pRg end="1" st="1"/>
                                            </p:txEl>
                                          </p:spTgt>
                                        </p:tgtEl>
                                        <p:attrNameLst>
                                          <p:attrName>style.visibility</p:attrName>
                                        </p:attrNameLst>
                                      </p:cBhvr>
                                      <p:to>
                                        <p:strVal val="visible"/>
                                      </p:to>
                                    </p:set>
                                    <p:anim calcmode="lin" valueType="num">
                                      <p:cBhvr additive="base">
                                        <p:cTn dur="500"/>
                                        <p:tgtEl>
                                          <p:spTgt spid="35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53">
                                            <p:txEl>
                                              <p:pRg end="2" st="2"/>
                                            </p:txEl>
                                          </p:spTgt>
                                        </p:tgtEl>
                                        <p:attrNameLst>
                                          <p:attrName>style.visibility</p:attrName>
                                        </p:attrNameLst>
                                      </p:cBhvr>
                                      <p:to>
                                        <p:strVal val="visible"/>
                                      </p:to>
                                    </p:set>
                                    <p:anim calcmode="lin" valueType="num">
                                      <p:cBhvr additive="base">
                                        <p:cTn dur="500"/>
                                        <p:tgtEl>
                                          <p:spTgt spid="353">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53">
                                            <p:txEl>
                                              <p:pRg end="3" st="3"/>
                                            </p:txEl>
                                          </p:spTgt>
                                        </p:tgtEl>
                                        <p:attrNameLst>
                                          <p:attrName>style.visibility</p:attrName>
                                        </p:attrNameLst>
                                      </p:cBhvr>
                                      <p:to>
                                        <p:strVal val="visible"/>
                                      </p:to>
                                    </p:set>
                                    <p:anim calcmode="lin" valueType="num">
                                      <p:cBhvr additive="base">
                                        <p:cTn dur="500"/>
                                        <p:tgtEl>
                                          <p:spTgt spid="353">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54"/>
          <p:cNvSpPr txBox="1"/>
          <p:nvPr/>
        </p:nvSpPr>
        <p:spPr>
          <a:xfrm>
            <a:off x="8458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r>
              <a:rPr b="1" i="0" lang="en-US" sz="1400" u="none" cap="none" strike="noStrike">
                <a:solidFill>
                  <a:srgbClr val="990033"/>
                </a:solidFill>
                <a:latin typeface="Arial"/>
                <a:ea typeface="Arial"/>
                <a:cs typeface="Arial"/>
                <a:sym typeface="Arial"/>
              </a:rPr>
              <a:t>Slide 4- </a:t>
            </a:r>
            <a:fld id="{00000000-1234-1234-1234-123412341234}" type="slidenum">
              <a:rPr b="1" i="0" lang="en-US" sz="1400" u="none" cap="none" strike="noStrike">
                <a:solidFill>
                  <a:srgbClr val="990033"/>
                </a:solidFill>
                <a:latin typeface="Arial"/>
                <a:ea typeface="Arial"/>
                <a:cs typeface="Arial"/>
                <a:sym typeface="Arial"/>
              </a:rPr>
              <a:t>‹#›</a:t>
            </a:fld>
            <a:endParaRPr b="0" i="0" sz="1800" u="none" cap="none" strike="noStrike">
              <a:solidFill>
                <a:schemeClr val="dk1"/>
              </a:solidFill>
              <a:latin typeface="Calibri"/>
              <a:ea typeface="Calibri"/>
              <a:cs typeface="Calibri"/>
              <a:sym typeface="Calibri"/>
            </a:endParaRPr>
          </a:p>
        </p:txBody>
      </p:sp>
      <p:sp>
        <p:nvSpPr>
          <p:cNvPr id="360" name="Google Shape;360;p54"/>
          <p:cNvSpPr txBox="1"/>
          <p:nvPr>
            <p:ph type="title"/>
          </p:nvPr>
        </p:nvSpPr>
        <p:spPr>
          <a:xfrm>
            <a:off x="1752600" y="303213"/>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lang="en-US" sz="3200">
                <a:solidFill>
                  <a:srgbClr val="800000"/>
                </a:solidFill>
                <a:latin typeface="Arial"/>
                <a:ea typeface="Arial"/>
                <a:cs typeface="Arial"/>
                <a:sym typeface="Arial"/>
              </a:rPr>
              <a:t>Specialization (2)</a:t>
            </a:r>
            <a:endParaRPr/>
          </a:p>
        </p:txBody>
      </p:sp>
      <p:sp>
        <p:nvSpPr>
          <p:cNvPr id="361" name="Google Shape;361;p54"/>
          <p:cNvSpPr txBox="1"/>
          <p:nvPr>
            <p:ph idx="1" type="body"/>
          </p:nvPr>
        </p:nvSpPr>
        <p:spPr>
          <a:xfrm>
            <a:off x="1763713"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440"/>
              <a:buFont typeface="Noto Sans Symbols"/>
              <a:buChar char="■"/>
            </a:pPr>
            <a:r>
              <a:rPr lang="en-US" sz="2400">
                <a:solidFill>
                  <a:schemeClr val="dk2"/>
                </a:solidFill>
                <a:latin typeface="Arial"/>
                <a:ea typeface="Arial"/>
                <a:cs typeface="Arial"/>
                <a:sym typeface="Arial"/>
              </a:rPr>
              <a:t>Example: Another specialization of EMPLOYEE based on </a:t>
            </a:r>
            <a:r>
              <a:rPr i="1" lang="en-US" sz="2400">
                <a:solidFill>
                  <a:schemeClr val="dk2"/>
                </a:solidFill>
                <a:latin typeface="Arial"/>
                <a:ea typeface="Arial"/>
                <a:cs typeface="Arial"/>
                <a:sym typeface="Arial"/>
              </a:rPr>
              <a:t>method of pay</a:t>
            </a:r>
            <a:r>
              <a:rPr lang="en-US" sz="2400">
                <a:solidFill>
                  <a:schemeClr val="dk2"/>
                </a:solidFill>
                <a:latin typeface="Arial"/>
                <a:ea typeface="Arial"/>
                <a:cs typeface="Arial"/>
                <a:sym typeface="Arial"/>
              </a:rPr>
              <a:t> is {SALARIED_EMPLOYEE, HOURLY_EMPLOYEE}.</a:t>
            </a:r>
            <a:endParaRPr/>
          </a:p>
          <a:p>
            <a:pPr indent="-285750" lvl="1" marL="742950" rtl="0" algn="l">
              <a:lnSpc>
                <a:spcPct val="100000"/>
              </a:lnSpc>
              <a:spcBef>
                <a:spcPts val="440"/>
              </a:spcBef>
              <a:spcAft>
                <a:spcPts val="0"/>
              </a:spcAft>
              <a:buClr>
                <a:schemeClr val="dk2"/>
              </a:buClr>
              <a:buSzPts val="1210"/>
              <a:buFont typeface="Noto Sans Symbols"/>
              <a:buChar char="■"/>
            </a:pPr>
            <a:r>
              <a:rPr lang="en-US" sz="2200">
                <a:solidFill>
                  <a:srgbClr val="800000"/>
                </a:solidFill>
                <a:latin typeface="Arial"/>
                <a:ea typeface="Arial"/>
                <a:cs typeface="Arial"/>
                <a:sym typeface="Arial"/>
              </a:rPr>
              <a:t>Superclass/subclass relationships and specialization can be diagrammatically represented in EER diagrams</a:t>
            </a:r>
            <a:endParaRPr/>
          </a:p>
          <a:p>
            <a:pPr indent="-285750" lvl="1" marL="742950" rtl="0" algn="l">
              <a:lnSpc>
                <a:spcPct val="100000"/>
              </a:lnSpc>
              <a:spcBef>
                <a:spcPts val="440"/>
              </a:spcBef>
              <a:spcAft>
                <a:spcPts val="0"/>
              </a:spcAft>
              <a:buClr>
                <a:schemeClr val="dk2"/>
              </a:buClr>
              <a:buSzPts val="1210"/>
              <a:buFont typeface="Noto Sans Symbols"/>
              <a:buChar char="■"/>
            </a:pPr>
            <a:r>
              <a:rPr lang="en-US" sz="2200">
                <a:solidFill>
                  <a:srgbClr val="800000"/>
                </a:solidFill>
                <a:latin typeface="Arial"/>
                <a:ea typeface="Arial"/>
                <a:cs typeface="Arial"/>
                <a:sym typeface="Arial"/>
              </a:rPr>
              <a:t>Attributes of a subclass are called </a:t>
            </a:r>
            <a:r>
              <a:rPr i="1" lang="en-US" sz="2200">
                <a:solidFill>
                  <a:srgbClr val="800000"/>
                </a:solidFill>
                <a:latin typeface="Arial"/>
                <a:ea typeface="Arial"/>
                <a:cs typeface="Arial"/>
                <a:sym typeface="Arial"/>
              </a:rPr>
              <a:t>specific</a:t>
            </a:r>
            <a:r>
              <a:rPr lang="en-US" sz="2200">
                <a:solidFill>
                  <a:srgbClr val="800000"/>
                </a:solidFill>
                <a:latin typeface="Arial"/>
                <a:ea typeface="Arial"/>
                <a:cs typeface="Arial"/>
                <a:sym typeface="Arial"/>
              </a:rPr>
              <a:t> or </a:t>
            </a:r>
            <a:r>
              <a:rPr i="1" lang="en-US" sz="2200">
                <a:solidFill>
                  <a:srgbClr val="800000"/>
                </a:solidFill>
                <a:latin typeface="Arial"/>
                <a:ea typeface="Arial"/>
                <a:cs typeface="Arial"/>
                <a:sym typeface="Arial"/>
              </a:rPr>
              <a:t>local</a:t>
            </a:r>
            <a:r>
              <a:rPr lang="en-US" sz="2200">
                <a:solidFill>
                  <a:srgbClr val="800000"/>
                </a:solidFill>
                <a:latin typeface="Arial"/>
                <a:ea typeface="Arial"/>
                <a:cs typeface="Arial"/>
                <a:sym typeface="Arial"/>
              </a:rPr>
              <a:t> attributes.</a:t>
            </a:r>
            <a:endParaRPr/>
          </a:p>
          <a:p>
            <a:pPr indent="-228600" lvl="2" marL="1143000" rtl="0" algn="l">
              <a:lnSpc>
                <a:spcPct val="100000"/>
              </a:lnSpc>
              <a:spcBef>
                <a:spcPts val="400"/>
              </a:spcBef>
              <a:spcAft>
                <a:spcPts val="0"/>
              </a:spcAft>
              <a:buClr>
                <a:srgbClr val="990033"/>
              </a:buClr>
              <a:buSzPts val="1000"/>
              <a:buFont typeface="Noto Sans Symbols"/>
              <a:buChar char="■"/>
            </a:pPr>
            <a:r>
              <a:rPr lang="en-US">
                <a:solidFill>
                  <a:schemeClr val="dk2"/>
                </a:solidFill>
                <a:latin typeface="Arial"/>
                <a:ea typeface="Arial"/>
                <a:cs typeface="Arial"/>
                <a:sym typeface="Arial"/>
              </a:rPr>
              <a:t>For example, the attribute TypingSpeed of SECRETARY</a:t>
            </a:r>
            <a:endParaRPr/>
          </a:p>
          <a:p>
            <a:pPr indent="-285750" lvl="1" marL="742950" rtl="0" algn="l">
              <a:lnSpc>
                <a:spcPct val="100000"/>
              </a:lnSpc>
              <a:spcBef>
                <a:spcPts val="440"/>
              </a:spcBef>
              <a:spcAft>
                <a:spcPts val="0"/>
              </a:spcAft>
              <a:buClr>
                <a:schemeClr val="dk2"/>
              </a:buClr>
              <a:buSzPts val="1210"/>
              <a:buFont typeface="Noto Sans Symbols"/>
              <a:buChar char="■"/>
            </a:pPr>
            <a:r>
              <a:rPr lang="en-US" sz="2200">
                <a:solidFill>
                  <a:srgbClr val="800000"/>
                </a:solidFill>
                <a:latin typeface="Arial"/>
                <a:ea typeface="Arial"/>
                <a:cs typeface="Arial"/>
                <a:sym typeface="Arial"/>
              </a:rPr>
              <a:t>The subclass can also participate in specific relationship types.</a:t>
            </a:r>
            <a:endParaRPr/>
          </a:p>
          <a:p>
            <a:pPr indent="-228600" lvl="2" marL="1143000" rtl="0" algn="l">
              <a:lnSpc>
                <a:spcPct val="100000"/>
              </a:lnSpc>
              <a:spcBef>
                <a:spcPts val="400"/>
              </a:spcBef>
              <a:spcAft>
                <a:spcPts val="0"/>
              </a:spcAft>
              <a:buClr>
                <a:srgbClr val="990033"/>
              </a:buClr>
              <a:buSzPts val="1000"/>
              <a:buFont typeface="Noto Sans Symbols"/>
              <a:buChar char="■"/>
            </a:pPr>
            <a:r>
              <a:rPr lang="en-US">
                <a:solidFill>
                  <a:schemeClr val="dk2"/>
                </a:solidFill>
                <a:latin typeface="Arial"/>
                <a:ea typeface="Arial"/>
                <a:cs typeface="Arial"/>
                <a:sym typeface="Arial"/>
              </a:rPr>
              <a:t>For example, a relationship BELONGS_TO of HOURLY_EMPLOYEE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1">
                                            <p:txEl>
                                              <p:pRg end="0" st="0"/>
                                            </p:txEl>
                                          </p:spTgt>
                                        </p:tgtEl>
                                        <p:attrNameLst>
                                          <p:attrName>style.visibility</p:attrName>
                                        </p:attrNameLst>
                                      </p:cBhvr>
                                      <p:to>
                                        <p:strVal val="visible"/>
                                      </p:to>
                                    </p:set>
                                    <p:anim calcmode="lin" valueType="num">
                                      <p:cBhvr additive="base">
                                        <p:cTn dur="500"/>
                                        <p:tgtEl>
                                          <p:spTgt spid="36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1">
                                            <p:txEl>
                                              <p:pRg end="1" st="1"/>
                                            </p:txEl>
                                          </p:spTgt>
                                        </p:tgtEl>
                                        <p:attrNameLst>
                                          <p:attrName>style.visibility</p:attrName>
                                        </p:attrNameLst>
                                      </p:cBhvr>
                                      <p:to>
                                        <p:strVal val="visible"/>
                                      </p:to>
                                    </p:set>
                                    <p:anim calcmode="lin" valueType="num">
                                      <p:cBhvr additive="base">
                                        <p:cTn dur="500"/>
                                        <p:tgtEl>
                                          <p:spTgt spid="36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1">
                                            <p:txEl>
                                              <p:pRg end="2" st="2"/>
                                            </p:txEl>
                                          </p:spTgt>
                                        </p:tgtEl>
                                        <p:attrNameLst>
                                          <p:attrName>style.visibility</p:attrName>
                                        </p:attrNameLst>
                                      </p:cBhvr>
                                      <p:to>
                                        <p:strVal val="visible"/>
                                      </p:to>
                                    </p:set>
                                    <p:anim calcmode="lin" valueType="num">
                                      <p:cBhvr additive="base">
                                        <p:cTn dur="500"/>
                                        <p:tgtEl>
                                          <p:spTgt spid="36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1">
                                            <p:txEl>
                                              <p:pRg end="3" st="3"/>
                                            </p:txEl>
                                          </p:spTgt>
                                        </p:tgtEl>
                                        <p:attrNameLst>
                                          <p:attrName>style.visibility</p:attrName>
                                        </p:attrNameLst>
                                      </p:cBhvr>
                                      <p:to>
                                        <p:strVal val="visible"/>
                                      </p:to>
                                    </p:set>
                                    <p:anim calcmode="lin" valueType="num">
                                      <p:cBhvr additive="base">
                                        <p:cTn dur="500"/>
                                        <p:tgtEl>
                                          <p:spTgt spid="36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1">
                                            <p:txEl>
                                              <p:pRg end="4" st="4"/>
                                            </p:txEl>
                                          </p:spTgt>
                                        </p:tgtEl>
                                        <p:attrNameLst>
                                          <p:attrName>style.visibility</p:attrName>
                                        </p:attrNameLst>
                                      </p:cBhvr>
                                      <p:to>
                                        <p:strVal val="visible"/>
                                      </p:to>
                                    </p:set>
                                    <p:anim calcmode="lin" valueType="num">
                                      <p:cBhvr additive="base">
                                        <p:cTn dur="500"/>
                                        <p:tgtEl>
                                          <p:spTgt spid="361">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61">
                                            <p:txEl>
                                              <p:pRg end="5" st="5"/>
                                            </p:txEl>
                                          </p:spTgt>
                                        </p:tgtEl>
                                        <p:attrNameLst>
                                          <p:attrName>style.visibility</p:attrName>
                                        </p:attrNameLst>
                                      </p:cBhvr>
                                      <p:to>
                                        <p:strVal val="visible"/>
                                      </p:to>
                                    </p:set>
                                    <p:anim calcmode="lin" valueType="num">
                                      <p:cBhvr additive="base">
                                        <p:cTn dur="500"/>
                                        <p:tgtEl>
                                          <p:spTgt spid="361">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55"/>
          <p:cNvSpPr txBox="1"/>
          <p:nvPr/>
        </p:nvSpPr>
        <p:spPr>
          <a:xfrm>
            <a:off x="8458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r>
              <a:rPr b="1" i="0" lang="en-US" sz="1400" u="none" cap="none" strike="noStrike">
                <a:solidFill>
                  <a:srgbClr val="990033"/>
                </a:solidFill>
                <a:latin typeface="Arial"/>
                <a:ea typeface="Arial"/>
                <a:cs typeface="Arial"/>
                <a:sym typeface="Arial"/>
              </a:rPr>
              <a:t>Slide 4- </a:t>
            </a:r>
            <a:fld id="{00000000-1234-1234-1234-123412341234}" type="slidenum">
              <a:rPr b="1" i="0" lang="en-US" sz="1400" u="none" cap="none" strike="noStrike">
                <a:solidFill>
                  <a:srgbClr val="990033"/>
                </a:solidFill>
                <a:latin typeface="Arial"/>
                <a:ea typeface="Arial"/>
                <a:cs typeface="Arial"/>
                <a:sym typeface="Arial"/>
              </a:rPr>
              <a:t>‹#›</a:t>
            </a:fld>
            <a:endParaRPr b="0" i="0" sz="1800" u="none" cap="none" strike="noStrike">
              <a:solidFill>
                <a:schemeClr val="dk1"/>
              </a:solidFill>
              <a:latin typeface="Calibri"/>
              <a:ea typeface="Calibri"/>
              <a:cs typeface="Calibri"/>
              <a:sym typeface="Calibri"/>
            </a:endParaRPr>
          </a:p>
        </p:txBody>
      </p:sp>
      <p:pic>
        <p:nvPicPr>
          <p:cNvPr descr="fig04_01" id="368" name="Google Shape;368;p55"/>
          <p:cNvPicPr preferRelativeResize="0"/>
          <p:nvPr/>
        </p:nvPicPr>
        <p:blipFill rotWithShape="1">
          <a:blip r:embed="rId3">
            <a:alphaModFix/>
          </a:blip>
          <a:srcRect b="0" l="0" r="0" t="0"/>
          <a:stretch/>
        </p:blipFill>
        <p:spPr>
          <a:xfrm>
            <a:off x="2133600" y="1524001"/>
            <a:ext cx="7772400" cy="4937125"/>
          </a:xfrm>
          <a:prstGeom prst="rect">
            <a:avLst/>
          </a:prstGeom>
          <a:noFill/>
          <a:ln>
            <a:noFill/>
          </a:ln>
        </p:spPr>
      </p:pic>
      <p:sp>
        <p:nvSpPr>
          <p:cNvPr descr="Pink tissue paper" id="369" name="Google Shape;369;p55"/>
          <p:cNvSpPr txBox="1"/>
          <p:nvPr/>
        </p:nvSpPr>
        <p:spPr>
          <a:xfrm>
            <a:off x="1828800" y="822326"/>
            <a:ext cx="6934200" cy="57943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3200" u="none" cap="none" strike="noStrike">
                <a:solidFill>
                  <a:srgbClr val="800000"/>
                </a:solidFill>
                <a:latin typeface="Arial"/>
                <a:ea typeface="Arial"/>
                <a:cs typeface="Arial"/>
                <a:sym typeface="Arial"/>
              </a:rPr>
              <a:t>Specialization (3)</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 of Specialization</a:t>
            </a:r>
            <a:endParaRPr/>
          </a:p>
        </p:txBody>
      </p:sp>
      <p:pic>
        <p:nvPicPr>
          <p:cNvPr id="375" name="Google Shape;375;p56"/>
          <p:cNvPicPr preferRelativeResize="0"/>
          <p:nvPr>
            <p:ph idx="1" type="body"/>
          </p:nvPr>
        </p:nvPicPr>
        <p:blipFill rotWithShape="1">
          <a:blip r:embed="rId3">
            <a:alphaModFix/>
          </a:blip>
          <a:srcRect b="0" l="0" r="0" t="0"/>
          <a:stretch/>
        </p:blipFill>
        <p:spPr>
          <a:xfrm>
            <a:off x="1197599" y="4840132"/>
            <a:ext cx="3324689" cy="1819529"/>
          </a:xfrm>
          <a:prstGeom prst="rect">
            <a:avLst/>
          </a:prstGeom>
          <a:noFill/>
          <a:ln>
            <a:noFill/>
          </a:ln>
        </p:spPr>
      </p:pic>
      <p:pic>
        <p:nvPicPr>
          <p:cNvPr id="376" name="Google Shape;376;p56"/>
          <p:cNvPicPr preferRelativeResize="0"/>
          <p:nvPr/>
        </p:nvPicPr>
        <p:blipFill rotWithShape="1">
          <a:blip r:embed="rId4">
            <a:alphaModFix/>
          </a:blip>
          <a:srcRect b="0" l="0" r="0" t="0"/>
          <a:stretch/>
        </p:blipFill>
        <p:spPr>
          <a:xfrm>
            <a:off x="1056572" y="1537324"/>
            <a:ext cx="4770225" cy="1325563"/>
          </a:xfrm>
          <a:prstGeom prst="rect">
            <a:avLst/>
          </a:prstGeom>
          <a:noFill/>
          <a:ln>
            <a:noFill/>
          </a:ln>
        </p:spPr>
      </p:pic>
      <p:pic>
        <p:nvPicPr>
          <p:cNvPr id="377" name="Google Shape;377;p56"/>
          <p:cNvPicPr preferRelativeResize="0"/>
          <p:nvPr/>
        </p:nvPicPr>
        <p:blipFill rotWithShape="1">
          <a:blip r:embed="rId5">
            <a:alphaModFix/>
          </a:blip>
          <a:srcRect b="0" l="0" r="0" t="0"/>
          <a:stretch/>
        </p:blipFill>
        <p:spPr>
          <a:xfrm>
            <a:off x="5826797" y="3140826"/>
            <a:ext cx="5506848" cy="3005081"/>
          </a:xfrm>
          <a:prstGeom prst="rect">
            <a:avLst/>
          </a:prstGeom>
          <a:noFill/>
          <a:ln>
            <a:noFill/>
          </a:ln>
        </p:spPr>
      </p:pic>
      <p:pic>
        <p:nvPicPr>
          <p:cNvPr id="378" name="Google Shape;378;p56"/>
          <p:cNvPicPr preferRelativeResize="0"/>
          <p:nvPr/>
        </p:nvPicPr>
        <p:blipFill rotWithShape="1">
          <a:blip r:embed="rId6">
            <a:alphaModFix/>
          </a:blip>
          <a:srcRect b="0" l="0" r="0" t="0"/>
          <a:stretch/>
        </p:blipFill>
        <p:spPr>
          <a:xfrm>
            <a:off x="1546815" y="3051558"/>
            <a:ext cx="2626255" cy="159990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6"/>
                                        </p:tgtEl>
                                        <p:attrNameLst>
                                          <p:attrName>style.visibility</p:attrName>
                                        </p:attrNameLst>
                                      </p:cBhvr>
                                      <p:to>
                                        <p:strVal val="visible"/>
                                      </p:to>
                                    </p:set>
                                    <p:animEffect filter="fade" transition="in">
                                      <p:cBhvr>
                                        <p:cTn dur="500"/>
                                        <p:tgtEl>
                                          <p:spTgt spid="3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8"/>
                                        </p:tgtEl>
                                        <p:attrNameLst>
                                          <p:attrName>style.visibility</p:attrName>
                                        </p:attrNameLst>
                                      </p:cBhvr>
                                      <p:to>
                                        <p:strVal val="visible"/>
                                      </p:to>
                                    </p:set>
                                    <p:animEffect filter="fade" transition="in">
                                      <p:cBhvr>
                                        <p:cTn dur="500"/>
                                        <p:tgtEl>
                                          <p:spTgt spid="3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5"/>
                                        </p:tgtEl>
                                        <p:attrNameLst>
                                          <p:attrName>style.visibility</p:attrName>
                                        </p:attrNameLst>
                                      </p:cBhvr>
                                      <p:to>
                                        <p:strVal val="visible"/>
                                      </p:to>
                                    </p:set>
                                    <p:animEffect filter="fade" transition="in">
                                      <p:cBhvr>
                                        <p:cTn dur="500"/>
                                        <p:tgtEl>
                                          <p:spTgt spid="3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7"/>
                                        </p:tgtEl>
                                        <p:attrNameLst>
                                          <p:attrName>style.visibility</p:attrName>
                                        </p:attrNameLst>
                                      </p:cBhvr>
                                      <p:to>
                                        <p:strVal val="visible"/>
                                      </p:to>
                                    </p:set>
                                    <p:animEffect filter="fade" transition="in">
                                      <p:cBhvr>
                                        <p:cTn dur="2000"/>
                                        <p:tgtEl>
                                          <p:spTgt spid="3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57"/>
          <p:cNvSpPr txBox="1"/>
          <p:nvPr/>
        </p:nvSpPr>
        <p:spPr>
          <a:xfrm>
            <a:off x="8458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r>
              <a:rPr b="1" i="0" lang="en-US" sz="1400" u="none" cap="none" strike="noStrike">
                <a:solidFill>
                  <a:srgbClr val="990033"/>
                </a:solidFill>
                <a:latin typeface="Arial"/>
                <a:ea typeface="Arial"/>
                <a:cs typeface="Arial"/>
                <a:sym typeface="Arial"/>
              </a:rPr>
              <a:t>Slide 4- </a:t>
            </a:r>
            <a:fld id="{00000000-1234-1234-1234-123412341234}" type="slidenum">
              <a:rPr b="1" i="0" lang="en-US" sz="1400" u="none" cap="none" strike="noStrike">
                <a:solidFill>
                  <a:srgbClr val="990033"/>
                </a:solidFill>
                <a:latin typeface="Arial"/>
                <a:ea typeface="Arial"/>
                <a:cs typeface="Arial"/>
                <a:sym typeface="Arial"/>
              </a:rPr>
              <a:t>‹#›</a:t>
            </a:fld>
            <a:endParaRPr b="0" i="0" sz="1800" u="none" cap="none" strike="noStrike">
              <a:solidFill>
                <a:schemeClr val="dk1"/>
              </a:solidFill>
              <a:latin typeface="Calibri"/>
              <a:ea typeface="Calibri"/>
              <a:cs typeface="Calibri"/>
              <a:sym typeface="Calibri"/>
            </a:endParaRPr>
          </a:p>
        </p:txBody>
      </p:sp>
      <p:sp>
        <p:nvSpPr>
          <p:cNvPr id="385" name="Google Shape;385;p57"/>
          <p:cNvSpPr txBox="1"/>
          <p:nvPr>
            <p:ph type="title"/>
          </p:nvPr>
        </p:nvSpPr>
        <p:spPr>
          <a:xfrm>
            <a:off x="1752600" y="303213"/>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lang="en-US" sz="3200">
                <a:solidFill>
                  <a:srgbClr val="800000"/>
                </a:solidFill>
                <a:latin typeface="Arial"/>
                <a:ea typeface="Arial"/>
                <a:cs typeface="Arial"/>
                <a:sym typeface="Arial"/>
              </a:rPr>
              <a:t>Generalization</a:t>
            </a:r>
            <a:endParaRPr/>
          </a:p>
        </p:txBody>
      </p:sp>
      <p:sp>
        <p:nvSpPr>
          <p:cNvPr id="386" name="Google Shape;386;p57"/>
          <p:cNvSpPr txBox="1"/>
          <p:nvPr>
            <p:ph idx="1" type="body"/>
          </p:nvPr>
        </p:nvSpPr>
        <p:spPr>
          <a:xfrm>
            <a:off x="1763713"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440"/>
              <a:buFont typeface="Noto Sans Symbols"/>
              <a:buChar char="■"/>
            </a:pPr>
            <a:r>
              <a:rPr lang="en-US" sz="2400">
                <a:solidFill>
                  <a:schemeClr val="dk2"/>
                </a:solidFill>
                <a:latin typeface="Arial"/>
                <a:ea typeface="Arial"/>
                <a:cs typeface="Arial"/>
                <a:sym typeface="Arial"/>
              </a:rPr>
              <a:t>Generalization is the reverse of the specialization process </a:t>
            </a:r>
            <a:endParaRPr/>
          </a:p>
          <a:p>
            <a:pPr indent="-342900" lvl="0" marL="342900" rtl="0" algn="l">
              <a:lnSpc>
                <a:spcPct val="100000"/>
              </a:lnSpc>
              <a:spcBef>
                <a:spcPts val="480"/>
              </a:spcBef>
              <a:spcAft>
                <a:spcPts val="0"/>
              </a:spcAft>
              <a:buClr>
                <a:srgbClr val="990033"/>
              </a:buClr>
              <a:buSzPts val="1440"/>
              <a:buFont typeface="Noto Sans Symbols"/>
              <a:buChar char="■"/>
            </a:pPr>
            <a:r>
              <a:rPr lang="en-US" sz="2400">
                <a:solidFill>
                  <a:schemeClr val="dk2"/>
                </a:solidFill>
                <a:latin typeface="Arial"/>
                <a:ea typeface="Arial"/>
                <a:cs typeface="Arial"/>
                <a:sym typeface="Arial"/>
              </a:rPr>
              <a:t>Several classes with common features are generalized into a superclass; </a:t>
            </a:r>
            <a:endParaRPr/>
          </a:p>
          <a:p>
            <a:pPr indent="-285750" lvl="1" marL="742950" rtl="0" algn="l">
              <a:lnSpc>
                <a:spcPct val="100000"/>
              </a:lnSpc>
              <a:spcBef>
                <a:spcPts val="440"/>
              </a:spcBef>
              <a:spcAft>
                <a:spcPts val="0"/>
              </a:spcAft>
              <a:buClr>
                <a:schemeClr val="dk2"/>
              </a:buClr>
              <a:buSzPts val="1210"/>
              <a:buFont typeface="Noto Sans Symbols"/>
              <a:buChar char="■"/>
            </a:pPr>
            <a:r>
              <a:rPr lang="en-US" sz="2200">
                <a:solidFill>
                  <a:srgbClr val="800000"/>
                </a:solidFill>
                <a:latin typeface="Arial"/>
                <a:ea typeface="Arial"/>
                <a:cs typeface="Arial"/>
                <a:sym typeface="Arial"/>
              </a:rPr>
              <a:t>original classes become its subclasses</a:t>
            </a:r>
            <a:endParaRPr/>
          </a:p>
          <a:p>
            <a:pPr indent="-342900" lvl="0" marL="342900" rtl="0" algn="l">
              <a:lnSpc>
                <a:spcPct val="100000"/>
              </a:lnSpc>
              <a:spcBef>
                <a:spcPts val="480"/>
              </a:spcBef>
              <a:spcAft>
                <a:spcPts val="0"/>
              </a:spcAft>
              <a:buClr>
                <a:srgbClr val="990033"/>
              </a:buClr>
              <a:buSzPts val="1440"/>
              <a:buFont typeface="Noto Sans Symbols"/>
              <a:buChar char="■"/>
            </a:pPr>
            <a:r>
              <a:rPr lang="en-US" sz="2400">
                <a:solidFill>
                  <a:schemeClr val="dk2"/>
                </a:solidFill>
                <a:latin typeface="Arial"/>
                <a:ea typeface="Arial"/>
                <a:cs typeface="Arial"/>
                <a:sym typeface="Arial"/>
              </a:rPr>
              <a:t>Example: CAR, TRUCK generalized into VEHICLE; </a:t>
            </a:r>
            <a:endParaRPr/>
          </a:p>
          <a:p>
            <a:pPr indent="-285750" lvl="1" marL="742950" rtl="0" algn="l">
              <a:lnSpc>
                <a:spcPct val="100000"/>
              </a:lnSpc>
              <a:spcBef>
                <a:spcPts val="440"/>
              </a:spcBef>
              <a:spcAft>
                <a:spcPts val="0"/>
              </a:spcAft>
              <a:buClr>
                <a:schemeClr val="dk2"/>
              </a:buClr>
              <a:buSzPts val="1210"/>
              <a:buFont typeface="Noto Sans Symbols"/>
              <a:buChar char="■"/>
            </a:pPr>
            <a:r>
              <a:rPr lang="en-US" sz="2200">
                <a:solidFill>
                  <a:srgbClr val="800000"/>
                </a:solidFill>
                <a:latin typeface="Arial"/>
                <a:ea typeface="Arial"/>
                <a:cs typeface="Arial"/>
                <a:sym typeface="Arial"/>
              </a:rPr>
              <a:t>both CAR, TRUCK become subclasses of the superclass VEHICLE.</a:t>
            </a:r>
            <a:endParaRPr/>
          </a:p>
          <a:p>
            <a:pPr indent="-285750" lvl="1" marL="742950" rtl="0" algn="l">
              <a:lnSpc>
                <a:spcPct val="100000"/>
              </a:lnSpc>
              <a:spcBef>
                <a:spcPts val="440"/>
              </a:spcBef>
              <a:spcAft>
                <a:spcPts val="0"/>
              </a:spcAft>
              <a:buClr>
                <a:schemeClr val="dk2"/>
              </a:buClr>
              <a:buSzPts val="1210"/>
              <a:buFont typeface="Noto Sans Symbols"/>
              <a:buChar char="■"/>
            </a:pPr>
            <a:r>
              <a:rPr lang="en-US" sz="2200">
                <a:solidFill>
                  <a:srgbClr val="800000"/>
                </a:solidFill>
                <a:latin typeface="Arial"/>
                <a:ea typeface="Arial"/>
                <a:cs typeface="Arial"/>
                <a:sym typeface="Arial"/>
              </a:rPr>
              <a:t>We can view {CAR, TRUCK} as a specialization of VEHICLE </a:t>
            </a:r>
            <a:endParaRPr/>
          </a:p>
          <a:p>
            <a:pPr indent="-285750" lvl="1" marL="742950" rtl="0" algn="l">
              <a:lnSpc>
                <a:spcPct val="100000"/>
              </a:lnSpc>
              <a:spcBef>
                <a:spcPts val="440"/>
              </a:spcBef>
              <a:spcAft>
                <a:spcPts val="0"/>
              </a:spcAft>
              <a:buClr>
                <a:schemeClr val="dk2"/>
              </a:buClr>
              <a:buSzPts val="1210"/>
              <a:buFont typeface="Noto Sans Symbols"/>
              <a:buChar char="■"/>
            </a:pPr>
            <a:r>
              <a:rPr lang="en-US" sz="2200">
                <a:solidFill>
                  <a:srgbClr val="800000"/>
                </a:solidFill>
                <a:latin typeface="Arial"/>
                <a:ea typeface="Arial"/>
                <a:cs typeface="Arial"/>
                <a:sym typeface="Arial"/>
              </a:rPr>
              <a:t>Alternatively, we can view VEHICLE as a generalization of CAR and TRUCK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6">
                                            <p:txEl>
                                              <p:pRg end="0" st="0"/>
                                            </p:txEl>
                                          </p:spTgt>
                                        </p:tgtEl>
                                        <p:attrNameLst>
                                          <p:attrName>style.visibility</p:attrName>
                                        </p:attrNameLst>
                                      </p:cBhvr>
                                      <p:to>
                                        <p:strVal val="visible"/>
                                      </p:to>
                                    </p:set>
                                    <p:anim calcmode="lin" valueType="num">
                                      <p:cBhvr additive="base">
                                        <p:cTn dur="500"/>
                                        <p:tgtEl>
                                          <p:spTgt spid="38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6">
                                            <p:txEl>
                                              <p:pRg end="1" st="1"/>
                                            </p:txEl>
                                          </p:spTgt>
                                        </p:tgtEl>
                                        <p:attrNameLst>
                                          <p:attrName>style.visibility</p:attrName>
                                        </p:attrNameLst>
                                      </p:cBhvr>
                                      <p:to>
                                        <p:strVal val="visible"/>
                                      </p:to>
                                    </p:set>
                                    <p:anim calcmode="lin" valueType="num">
                                      <p:cBhvr additive="base">
                                        <p:cTn dur="500"/>
                                        <p:tgtEl>
                                          <p:spTgt spid="38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6">
                                            <p:txEl>
                                              <p:pRg end="2" st="2"/>
                                            </p:txEl>
                                          </p:spTgt>
                                        </p:tgtEl>
                                        <p:attrNameLst>
                                          <p:attrName>style.visibility</p:attrName>
                                        </p:attrNameLst>
                                      </p:cBhvr>
                                      <p:to>
                                        <p:strVal val="visible"/>
                                      </p:to>
                                    </p:set>
                                    <p:anim calcmode="lin" valueType="num">
                                      <p:cBhvr additive="base">
                                        <p:cTn dur="500"/>
                                        <p:tgtEl>
                                          <p:spTgt spid="38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6">
                                            <p:txEl>
                                              <p:pRg end="3" st="3"/>
                                            </p:txEl>
                                          </p:spTgt>
                                        </p:tgtEl>
                                        <p:attrNameLst>
                                          <p:attrName>style.visibility</p:attrName>
                                        </p:attrNameLst>
                                      </p:cBhvr>
                                      <p:to>
                                        <p:strVal val="visible"/>
                                      </p:to>
                                    </p:set>
                                    <p:anim calcmode="lin" valueType="num">
                                      <p:cBhvr additive="base">
                                        <p:cTn dur="500"/>
                                        <p:tgtEl>
                                          <p:spTgt spid="38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6">
                                            <p:txEl>
                                              <p:pRg end="4" st="4"/>
                                            </p:txEl>
                                          </p:spTgt>
                                        </p:tgtEl>
                                        <p:attrNameLst>
                                          <p:attrName>style.visibility</p:attrName>
                                        </p:attrNameLst>
                                      </p:cBhvr>
                                      <p:to>
                                        <p:strVal val="visible"/>
                                      </p:to>
                                    </p:set>
                                    <p:anim calcmode="lin" valueType="num">
                                      <p:cBhvr additive="base">
                                        <p:cTn dur="500"/>
                                        <p:tgtEl>
                                          <p:spTgt spid="386">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6">
                                            <p:txEl>
                                              <p:pRg end="5" st="5"/>
                                            </p:txEl>
                                          </p:spTgt>
                                        </p:tgtEl>
                                        <p:attrNameLst>
                                          <p:attrName>style.visibility</p:attrName>
                                        </p:attrNameLst>
                                      </p:cBhvr>
                                      <p:to>
                                        <p:strVal val="visible"/>
                                      </p:to>
                                    </p:set>
                                    <p:anim calcmode="lin" valueType="num">
                                      <p:cBhvr additive="base">
                                        <p:cTn dur="500"/>
                                        <p:tgtEl>
                                          <p:spTgt spid="386">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6">
                                            <p:txEl>
                                              <p:pRg end="6" st="6"/>
                                            </p:txEl>
                                          </p:spTgt>
                                        </p:tgtEl>
                                        <p:attrNameLst>
                                          <p:attrName>style.visibility</p:attrName>
                                        </p:attrNameLst>
                                      </p:cBhvr>
                                      <p:to>
                                        <p:strVal val="visible"/>
                                      </p:to>
                                    </p:set>
                                    <p:anim calcmode="lin" valueType="num">
                                      <p:cBhvr additive="base">
                                        <p:cTn dur="500"/>
                                        <p:tgtEl>
                                          <p:spTgt spid="386">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58"/>
          <p:cNvSpPr txBox="1"/>
          <p:nvPr/>
        </p:nvSpPr>
        <p:spPr>
          <a:xfrm>
            <a:off x="8458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r>
              <a:rPr b="1" i="0" lang="en-US" sz="1400" u="none" cap="none" strike="noStrike">
                <a:solidFill>
                  <a:srgbClr val="990033"/>
                </a:solidFill>
                <a:latin typeface="Arial"/>
                <a:ea typeface="Arial"/>
                <a:cs typeface="Arial"/>
                <a:sym typeface="Arial"/>
              </a:rPr>
              <a:t>Slide 4- </a:t>
            </a:r>
            <a:fld id="{00000000-1234-1234-1234-123412341234}" type="slidenum">
              <a:rPr b="1" i="0" lang="en-US" sz="1400" u="none" cap="none" strike="noStrike">
                <a:solidFill>
                  <a:srgbClr val="990033"/>
                </a:solidFill>
                <a:latin typeface="Arial"/>
                <a:ea typeface="Arial"/>
                <a:cs typeface="Arial"/>
                <a:sym typeface="Arial"/>
              </a:rPr>
              <a:t>‹#›</a:t>
            </a:fld>
            <a:endParaRPr b="0" i="0" sz="1800" u="none" cap="none" strike="noStrike">
              <a:solidFill>
                <a:schemeClr val="dk1"/>
              </a:solidFill>
              <a:latin typeface="Calibri"/>
              <a:ea typeface="Calibri"/>
              <a:cs typeface="Calibri"/>
              <a:sym typeface="Calibri"/>
            </a:endParaRPr>
          </a:p>
        </p:txBody>
      </p:sp>
      <p:sp>
        <p:nvSpPr>
          <p:cNvPr descr="Pink tissue paper" id="393" name="Google Shape;393;p58"/>
          <p:cNvSpPr txBox="1"/>
          <p:nvPr/>
        </p:nvSpPr>
        <p:spPr>
          <a:xfrm>
            <a:off x="2057400" y="715962"/>
            <a:ext cx="5638800" cy="5191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800" u="none" cap="none" strike="noStrike">
                <a:solidFill>
                  <a:srgbClr val="800000"/>
                </a:solidFill>
                <a:latin typeface="Arial"/>
                <a:ea typeface="Arial"/>
                <a:cs typeface="Arial"/>
                <a:sym typeface="Arial"/>
              </a:rPr>
              <a:t>Generalization (2)</a:t>
            </a:r>
            <a:endParaRPr b="0" i="0" sz="1800" u="none" cap="none" strike="noStrike">
              <a:solidFill>
                <a:schemeClr val="dk1"/>
              </a:solidFill>
              <a:latin typeface="Calibri"/>
              <a:ea typeface="Calibri"/>
              <a:cs typeface="Calibri"/>
              <a:sym typeface="Calibri"/>
            </a:endParaRPr>
          </a:p>
        </p:txBody>
      </p:sp>
      <p:pic>
        <p:nvPicPr>
          <p:cNvPr id="394" name="Google Shape;394;p58"/>
          <p:cNvPicPr preferRelativeResize="0"/>
          <p:nvPr/>
        </p:nvPicPr>
        <p:blipFill rotWithShape="1">
          <a:blip r:embed="rId3">
            <a:alphaModFix/>
          </a:blip>
          <a:srcRect b="0" l="0" r="0" t="0"/>
          <a:stretch/>
        </p:blipFill>
        <p:spPr>
          <a:xfrm>
            <a:off x="2057400" y="715962"/>
            <a:ext cx="7748042" cy="2202244"/>
          </a:xfrm>
          <a:prstGeom prst="rect">
            <a:avLst/>
          </a:prstGeom>
          <a:noFill/>
          <a:ln>
            <a:noFill/>
          </a:ln>
        </p:spPr>
      </p:pic>
      <p:pic>
        <p:nvPicPr>
          <p:cNvPr id="395" name="Google Shape;395;p58"/>
          <p:cNvPicPr preferRelativeResize="0"/>
          <p:nvPr/>
        </p:nvPicPr>
        <p:blipFill rotWithShape="1">
          <a:blip r:embed="rId4">
            <a:alphaModFix/>
          </a:blip>
          <a:srcRect b="0" l="0" r="0" t="0"/>
          <a:stretch/>
        </p:blipFill>
        <p:spPr>
          <a:xfrm>
            <a:off x="2296390" y="3492264"/>
            <a:ext cx="7017327" cy="2334477"/>
          </a:xfrm>
          <a:prstGeom prst="rect">
            <a:avLst/>
          </a:prstGeom>
          <a:noFill/>
          <a:ln>
            <a:noFill/>
          </a:ln>
        </p:spPr>
      </p:pic>
      <p:pic>
        <p:nvPicPr>
          <p:cNvPr id="396" name="Google Shape;396;p58"/>
          <p:cNvPicPr preferRelativeResize="0"/>
          <p:nvPr/>
        </p:nvPicPr>
        <p:blipFill rotWithShape="1">
          <a:blip r:embed="rId5">
            <a:alphaModFix/>
          </a:blip>
          <a:srcRect b="0" l="0" r="0" t="0"/>
          <a:stretch/>
        </p:blipFill>
        <p:spPr>
          <a:xfrm>
            <a:off x="2951017" y="6110288"/>
            <a:ext cx="5018081" cy="519112"/>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59"/>
          <p:cNvSpPr txBox="1"/>
          <p:nvPr/>
        </p:nvSpPr>
        <p:spPr>
          <a:xfrm>
            <a:off x="8458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r>
              <a:rPr b="1" i="0" lang="en-US" sz="1400" u="none" cap="none" strike="noStrike">
                <a:solidFill>
                  <a:srgbClr val="990033"/>
                </a:solidFill>
                <a:latin typeface="Arial"/>
                <a:ea typeface="Arial"/>
                <a:cs typeface="Arial"/>
                <a:sym typeface="Arial"/>
              </a:rPr>
              <a:t>Slide 4- </a:t>
            </a:r>
            <a:fld id="{00000000-1234-1234-1234-123412341234}" type="slidenum">
              <a:rPr b="1" i="0" lang="en-US" sz="1400" u="none" cap="none" strike="noStrike">
                <a:solidFill>
                  <a:srgbClr val="990033"/>
                </a:solidFill>
                <a:latin typeface="Arial"/>
                <a:ea typeface="Arial"/>
                <a:cs typeface="Arial"/>
                <a:sym typeface="Arial"/>
              </a:rPr>
              <a:t>‹#›</a:t>
            </a:fld>
            <a:endParaRPr b="0" i="0" sz="1800" u="none" cap="none" strike="noStrike">
              <a:solidFill>
                <a:schemeClr val="dk1"/>
              </a:solidFill>
              <a:latin typeface="Calibri"/>
              <a:ea typeface="Calibri"/>
              <a:cs typeface="Calibri"/>
              <a:sym typeface="Calibri"/>
            </a:endParaRPr>
          </a:p>
        </p:txBody>
      </p:sp>
      <p:sp>
        <p:nvSpPr>
          <p:cNvPr id="403" name="Google Shape;403;p59"/>
          <p:cNvSpPr txBox="1"/>
          <p:nvPr>
            <p:ph type="title"/>
          </p:nvPr>
        </p:nvSpPr>
        <p:spPr>
          <a:xfrm>
            <a:off x="1752600" y="303213"/>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lang="en-US" sz="3200">
                <a:solidFill>
                  <a:srgbClr val="800000"/>
                </a:solidFill>
                <a:latin typeface="Arial"/>
                <a:ea typeface="Arial"/>
                <a:cs typeface="Arial"/>
                <a:sym typeface="Arial"/>
              </a:rPr>
              <a:t>Generalization and Specialization (1)</a:t>
            </a:r>
            <a:endParaRPr/>
          </a:p>
        </p:txBody>
      </p:sp>
      <p:sp>
        <p:nvSpPr>
          <p:cNvPr id="404" name="Google Shape;404;p59"/>
          <p:cNvSpPr txBox="1"/>
          <p:nvPr>
            <p:ph idx="1" type="body"/>
          </p:nvPr>
        </p:nvSpPr>
        <p:spPr>
          <a:xfrm>
            <a:off x="1763713"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680"/>
              <a:buFont typeface="Noto Sans Symbols"/>
              <a:buChar char="■"/>
            </a:pPr>
            <a:r>
              <a:rPr lang="en-US">
                <a:solidFill>
                  <a:schemeClr val="dk2"/>
                </a:solidFill>
                <a:latin typeface="Arial"/>
                <a:ea typeface="Arial"/>
                <a:cs typeface="Arial"/>
                <a:sym typeface="Arial"/>
              </a:rPr>
              <a:t>Diagrammatic notation are sometimes used to distinguish between generalization and specialization</a:t>
            </a:r>
            <a:endParaRPr/>
          </a:p>
          <a:p>
            <a:pPr indent="-285750" lvl="1" marL="742950" rtl="0" algn="l">
              <a:lnSpc>
                <a:spcPct val="90000"/>
              </a:lnSpc>
              <a:spcBef>
                <a:spcPts val="520"/>
              </a:spcBef>
              <a:spcAft>
                <a:spcPts val="0"/>
              </a:spcAft>
              <a:buClr>
                <a:schemeClr val="dk2"/>
              </a:buClr>
              <a:buSzPts val="1430"/>
              <a:buFont typeface="Noto Sans Symbols"/>
              <a:buChar char="■"/>
            </a:pPr>
            <a:r>
              <a:rPr lang="en-US" sz="2600">
                <a:solidFill>
                  <a:srgbClr val="800000"/>
                </a:solidFill>
                <a:latin typeface="Arial"/>
                <a:ea typeface="Arial"/>
                <a:cs typeface="Arial"/>
                <a:sym typeface="Arial"/>
              </a:rPr>
              <a:t>Arrow pointing to the generalized superclass represents a generalization </a:t>
            </a:r>
            <a:endParaRPr/>
          </a:p>
          <a:p>
            <a:pPr indent="-285750" lvl="1" marL="742950" rtl="0" algn="l">
              <a:lnSpc>
                <a:spcPct val="90000"/>
              </a:lnSpc>
              <a:spcBef>
                <a:spcPts val="520"/>
              </a:spcBef>
              <a:spcAft>
                <a:spcPts val="0"/>
              </a:spcAft>
              <a:buClr>
                <a:schemeClr val="dk2"/>
              </a:buClr>
              <a:buSzPts val="1430"/>
              <a:buFont typeface="Noto Sans Symbols"/>
              <a:buChar char="■"/>
            </a:pPr>
            <a:r>
              <a:rPr lang="en-US" sz="2600">
                <a:solidFill>
                  <a:srgbClr val="800000"/>
                </a:solidFill>
                <a:latin typeface="Arial"/>
                <a:ea typeface="Arial"/>
                <a:cs typeface="Arial"/>
                <a:sym typeface="Arial"/>
              </a:rPr>
              <a:t>Arrows pointing to the specialized subclasses represent a specialization </a:t>
            </a:r>
            <a:endParaRPr/>
          </a:p>
          <a:p>
            <a:pPr indent="-285750" lvl="1" marL="742950" rtl="0" algn="l">
              <a:lnSpc>
                <a:spcPct val="90000"/>
              </a:lnSpc>
              <a:spcBef>
                <a:spcPts val="520"/>
              </a:spcBef>
              <a:spcAft>
                <a:spcPts val="0"/>
              </a:spcAft>
              <a:buClr>
                <a:schemeClr val="dk2"/>
              </a:buClr>
              <a:buSzPts val="1430"/>
              <a:buFont typeface="Noto Sans Symbols"/>
              <a:buChar char="■"/>
            </a:pPr>
            <a:r>
              <a:rPr lang="en-US" sz="2600">
                <a:solidFill>
                  <a:srgbClr val="800000"/>
                </a:solidFill>
                <a:latin typeface="Arial"/>
                <a:ea typeface="Arial"/>
                <a:cs typeface="Arial"/>
                <a:sym typeface="Arial"/>
              </a:rPr>
              <a:t>We </a:t>
            </a:r>
            <a:r>
              <a:rPr i="1" lang="en-US" sz="2600">
                <a:solidFill>
                  <a:srgbClr val="800000"/>
                </a:solidFill>
                <a:latin typeface="Arial"/>
                <a:ea typeface="Arial"/>
                <a:cs typeface="Arial"/>
                <a:sym typeface="Arial"/>
              </a:rPr>
              <a:t>do not use</a:t>
            </a:r>
            <a:r>
              <a:rPr lang="en-US" sz="2600">
                <a:solidFill>
                  <a:srgbClr val="800000"/>
                </a:solidFill>
                <a:latin typeface="Arial"/>
                <a:ea typeface="Arial"/>
                <a:cs typeface="Arial"/>
                <a:sym typeface="Arial"/>
              </a:rPr>
              <a:t> this notation because it is often subjective as to which process is more appropriate for a particular situation </a:t>
            </a:r>
            <a:endParaRPr/>
          </a:p>
          <a:p>
            <a:pPr indent="-285750" lvl="1" marL="742950" rtl="0" algn="l">
              <a:lnSpc>
                <a:spcPct val="90000"/>
              </a:lnSpc>
              <a:spcBef>
                <a:spcPts val="520"/>
              </a:spcBef>
              <a:spcAft>
                <a:spcPts val="0"/>
              </a:spcAft>
              <a:buClr>
                <a:schemeClr val="dk2"/>
              </a:buClr>
              <a:buSzPts val="1430"/>
              <a:buFont typeface="Noto Sans Symbols"/>
              <a:buChar char="■"/>
            </a:pPr>
            <a:r>
              <a:rPr lang="en-US" sz="2600">
                <a:solidFill>
                  <a:srgbClr val="800000"/>
                </a:solidFill>
                <a:latin typeface="Arial"/>
                <a:ea typeface="Arial"/>
                <a:cs typeface="Arial"/>
                <a:sym typeface="Arial"/>
              </a:rPr>
              <a:t>We advocate not drawing any arrows</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60"/>
          <p:cNvSpPr txBox="1"/>
          <p:nvPr/>
        </p:nvSpPr>
        <p:spPr>
          <a:xfrm>
            <a:off x="8458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r>
              <a:rPr b="1" i="0" lang="en-US" sz="1400" u="none" cap="none" strike="noStrike">
                <a:solidFill>
                  <a:srgbClr val="990033"/>
                </a:solidFill>
                <a:latin typeface="Arial"/>
                <a:ea typeface="Arial"/>
                <a:cs typeface="Arial"/>
                <a:sym typeface="Arial"/>
              </a:rPr>
              <a:t>Slide 4- </a:t>
            </a:r>
            <a:fld id="{00000000-1234-1234-1234-123412341234}" type="slidenum">
              <a:rPr b="1" i="0" lang="en-US" sz="1400" u="none" cap="none" strike="noStrike">
                <a:solidFill>
                  <a:srgbClr val="990033"/>
                </a:solidFill>
                <a:latin typeface="Arial"/>
                <a:ea typeface="Arial"/>
                <a:cs typeface="Arial"/>
                <a:sym typeface="Arial"/>
              </a:rPr>
              <a:t>‹#›</a:t>
            </a:fld>
            <a:endParaRPr b="0" i="0" sz="1800" u="none" cap="none" strike="noStrike">
              <a:solidFill>
                <a:schemeClr val="dk1"/>
              </a:solidFill>
              <a:latin typeface="Calibri"/>
              <a:ea typeface="Calibri"/>
              <a:cs typeface="Calibri"/>
              <a:sym typeface="Calibri"/>
            </a:endParaRPr>
          </a:p>
        </p:txBody>
      </p:sp>
      <p:sp>
        <p:nvSpPr>
          <p:cNvPr id="411" name="Google Shape;411;p60"/>
          <p:cNvSpPr txBox="1"/>
          <p:nvPr>
            <p:ph type="title"/>
          </p:nvPr>
        </p:nvSpPr>
        <p:spPr>
          <a:xfrm>
            <a:off x="1752600" y="303213"/>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lang="en-US" sz="3200">
                <a:solidFill>
                  <a:srgbClr val="800000"/>
                </a:solidFill>
                <a:latin typeface="Arial"/>
                <a:ea typeface="Arial"/>
                <a:cs typeface="Arial"/>
                <a:sym typeface="Arial"/>
              </a:rPr>
              <a:t>Generalization and Specialization (2)</a:t>
            </a:r>
            <a:endParaRPr/>
          </a:p>
        </p:txBody>
      </p:sp>
      <p:sp>
        <p:nvSpPr>
          <p:cNvPr id="412" name="Google Shape;412;p60"/>
          <p:cNvSpPr txBox="1"/>
          <p:nvPr>
            <p:ph idx="1" type="body"/>
          </p:nvPr>
        </p:nvSpPr>
        <p:spPr>
          <a:xfrm>
            <a:off x="1763713"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lang="en-US">
                <a:solidFill>
                  <a:schemeClr val="dk2"/>
                </a:solidFill>
                <a:latin typeface="Arial"/>
                <a:ea typeface="Arial"/>
                <a:cs typeface="Arial"/>
                <a:sym typeface="Arial"/>
              </a:rPr>
              <a:t>Data Modeling with Specialization and Generalization</a:t>
            </a:r>
            <a:endParaRPr/>
          </a:p>
          <a:p>
            <a:pPr indent="-285750" lvl="1" marL="742950" rtl="0" algn="l">
              <a:lnSpc>
                <a:spcPct val="100000"/>
              </a:lnSpc>
              <a:spcBef>
                <a:spcPts val="520"/>
              </a:spcBef>
              <a:spcAft>
                <a:spcPts val="0"/>
              </a:spcAft>
              <a:buClr>
                <a:schemeClr val="dk2"/>
              </a:buClr>
              <a:buSzPts val="1430"/>
              <a:buFont typeface="Noto Sans Symbols"/>
              <a:buChar char="■"/>
            </a:pPr>
            <a:r>
              <a:rPr lang="en-US" sz="2600">
                <a:solidFill>
                  <a:srgbClr val="800000"/>
                </a:solidFill>
                <a:latin typeface="Arial"/>
                <a:ea typeface="Arial"/>
                <a:cs typeface="Arial"/>
                <a:sym typeface="Arial"/>
              </a:rPr>
              <a:t>A superclass or subclass represents a collection (or set or grouping) of entities</a:t>
            </a:r>
            <a:endParaRPr/>
          </a:p>
          <a:p>
            <a:pPr indent="-285750" lvl="1" marL="742950" rtl="0" algn="l">
              <a:lnSpc>
                <a:spcPct val="100000"/>
              </a:lnSpc>
              <a:spcBef>
                <a:spcPts val="520"/>
              </a:spcBef>
              <a:spcAft>
                <a:spcPts val="0"/>
              </a:spcAft>
              <a:buClr>
                <a:schemeClr val="dk2"/>
              </a:buClr>
              <a:buSzPts val="1430"/>
              <a:buFont typeface="Noto Sans Symbols"/>
              <a:buChar char="■"/>
            </a:pPr>
            <a:r>
              <a:rPr lang="en-US" sz="2600">
                <a:solidFill>
                  <a:srgbClr val="800000"/>
                </a:solidFill>
                <a:latin typeface="Arial"/>
                <a:ea typeface="Arial"/>
                <a:cs typeface="Arial"/>
                <a:sym typeface="Arial"/>
              </a:rPr>
              <a:t>It also represents a particular </a:t>
            </a:r>
            <a:r>
              <a:rPr i="1" lang="en-US" sz="2600">
                <a:solidFill>
                  <a:srgbClr val="800000"/>
                </a:solidFill>
                <a:latin typeface="Arial"/>
                <a:ea typeface="Arial"/>
                <a:cs typeface="Arial"/>
                <a:sym typeface="Arial"/>
              </a:rPr>
              <a:t>type of entity</a:t>
            </a:r>
            <a:endParaRPr/>
          </a:p>
          <a:p>
            <a:pPr indent="-285750" lvl="1" marL="742950" rtl="0" algn="l">
              <a:lnSpc>
                <a:spcPct val="100000"/>
              </a:lnSpc>
              <a:spcBef>
                <a:spcPts val="520"/>
              </a:spcBef>
              <a:spcAft>
                <a:spcPts val="0"/>
              </a:spcAft>
              <a:buClr>
                <a:schemeClr val="dk2"/>
              </a:buClr>
              <a:buSzPts val="1430"/>
              <a:buFont typeface="Noto Sans Symbols"/>
              <a:buChar char="■"/>
            </a:pPr>
            <a:r>
              <a:rPr lang="en-US" sz="2600">
                <a:solidFill>
                  <a:srgbClr val="800000"/>
                </a:solidFill>
                <a:latin typeface="Arial"/>
                <a:ea typeface="Arial"/>
                <a:cs typeface="Arial"/>
                <a:sym typeface="Arial"/>
              </a:rPr>
              <a:t>Shown in rectangles in EER diagrams (as are entity types) </a:t>
            </a:r>
            <a:endParaRPr/>
          </a:p>
          <a:p>
            <a:pPr indent="-285750" lvl="1" marL="742950" rtl="0" algn="l">
              <a:lnSpc>
                <a:spcPct val="100000"/>
              </a:lnSpc>
              <a:spcBef>
                <a:spcPts val="520"/>
              </a:spcBef>
              <a:spcAft>
                <a:spcPts val="0"/>
              </a:spcAft>
              <a:buClr>
                <a:schemeClr val="dk2"/>
              </a:buClr>
              <a:buSzPts val="1430"/>
              <a:buFont typeface="Noto Sans Symbols"/>
              <a:buChar char="■"/>
            </a:pPr>
            <a:r>
              <a:rPr lang="en-US" sz="2600">
                <a:solidFill>
                  <a:srgbClr val="800000"/>
                </a:solidFill>
                <a:latin typeface="Arial"/>
                <a:ea typeface="Arial"/>
                <a:cs typeface="Arial"/>
                <a:sym typeface="Arial"/>
              </a:rPr>
              <a:t>We can call all entity types (and their corresponding collections) </a:t>
            </a:r>
            <a:r>
              <a:rPr b="1" i="1" lang="en-US" sz="2600">
                <a:solidFill>
                  <a:srgbClr val="800000"/>
                </a:solidFill>
                <a:latin typeface="Arial"/>
                <a:ea typeface="Arial"/>
                <a:cs typeface="Arial"/>
                <a:sym typeface="Arial"/>
              </a:rPr>
              <a:t>classes</a:t>
            </a:r>
            <a:r>
              <a:rPr lang="en-US" sz="2600">
                <a:solidFill>
                  <a:srgbClr val="800000"/>
                </a:solidFill>
                <a:latin typeface="Arial"/>
                <a:ea typeface="Arial"/>
                <a:cs typeface="Arial"/>
                <a:sym typeface="Arial"/>
              </a:rPr>
              <a:t>, whether they are entity types, superclasses, or subclasses</a:t>
            </a:r>
            <a:endParaRPr/>
          </a:p>
          <a:p>
            <a:pPr indent="-243840" lvl="0" marL="342900" rtl="0" algn="l">
              <a:lnSpc>
                <a:spcPct val="90000"/>
              </a:lnSpc>
              <a:spcBef>
                <a:spcPts val="520"/>
              </a:spcBef>
              <a:spcAft>
                <a:spcPts val="0"/>
              </a:spcAft>
              <a:buClr>
                <a:schemeClr val="dk1"/>
              </a:buClr>
              <a:buSzPts val="1560"/>
              <a:buNone/>
            </a:pPr>
            <a:r>
              <a:t/>
            </a:r>
            <a:endParaRPr sz="2600">
              <a:solidFill>
                <a:srgbClr val="800000"/>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6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418" name="Google Shape;418;p6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419" name="Google Shape;419;p61"/>
          <p:cNvPicPr preferRelativeResize="0"/>
          <p:nvPr/>
        </p:nvPicPr>
        <p:blipFill rotWithShape="1">
          <a:blip r:embed="rId3">
            <a:alphaModFix/>
          </a:blip>
          <a:srcRect b="0" l="0" r="0" t="0"/>
          <a:stretch/>
        </p:blipFill>
        <p:spPr>
          <a:xfrm>
            <a:off x="1749882" y="1180786"/>
            <a:ext cx="7916380" cy="4496427"/>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pic>
        <p:nvPicPr>
          <p:cNvPr id="424" name="Google Shape;424;p62"/>
          <p:cNvPicPr preferRelativeResize="0"/>
          <p:nvPr/>
        </p:nvPicPr>
        <p:blipFill rotWithShape="1">
          <a:blip r:embed="rId3">
            <a:alphaModFix/>
          </a:blip>
          <a:srcRect b="0" l="0" r="0" t="0"/>
          <a:stretch/>
        </p:blipFill>
        <p:spPr>
          <a:xfrm>
            <a:off x="946362" y="772171"/>
            <a:ext cx="5426018" cy="5114177"/>
          </a:xfrm>
          <a:prstGeom prst="rect">
            <a:avLst/>
          </a:prstGeom>
          <a:noFill/>
          <a:ln>
            <a:noFill/>
          </a:ln>
        </p:spPr>
      </p:pic>
      <p:sp>
        <p:nvSpPr>
          <p:cNvPr id="425" name="Google Shape;425;p62"/>
          <p:cNvSpPr txBox="1"/>
          <p:nvPr/>
        </p:nvSpPr>
        <p:spPr>
          <a:xfrm>
            <a:off x="5583382" y="3311236"/>
            <a:ext cx="6279169"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Four tables can be formed:</a:t>
            </a:r>
            <a:endParaRPr/>
          </a:p>
          <a:p>
            <a:pPr indent="-342900" lvl="0" marL="342900" marR="0" rtl="0" algn="l">
              <a:spcBef>
                <a:spcPts val="0"/>
              </a:spcBef>
              <a:spcAft>
                <a:spcPts val="0"/>
              </a:spcAft>
              <a:buClr>
                <a:schemeClr val="dk1"/>
              </a:buClr>
              <a:buSzPts val="1800"/>
              <a:buFont typeface="Calibri"/>
              <a:buAutoNum type="arabicPeriod"/>
            </a:pPr>
            <a:r>
              <a:rPr b="1" lang="en-US" sz="1800">
                <a:solidFill>
                  <a:schemeClr val="dk1"/>
                </a:solidFill>
                <a:latin typeface="Calibri"/>
                <a:ea typeface="Calibri"/>
                <a:cs typeface="Calibri"/>
                <a:sym typeface="Calibri"/>
              </a:rPr>
              <a:t>Customer</a:t>
            </a:r>
            <a:r>
              <a:rPr lang="en-US" sz="1800">
                <a:solidFill>
                  <a:schemeClr val="dk1"/>
                </a:solidFill>
                <a:latin typeface="Calibri"/>
                <a:ea typeface="Calibri"/>
                <a:cs typeface="Calibri"/>
                <a:sym typeface="Calibri"/>
              </a:rPr>
              <a:t>(name,street,city,credit_rating)</a:t>
            </a:r>
            <a:endParaRPr/>
          </a:p>
          <a:p>
            <a:pPr indent="-228600" lvl="0" marL="34290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Calibri"/>
              <a:buAutoNum type="arabicPeriod"/>
            </a:pPr>
            <a:r>
              <a:rPr b="1" lang="en-US" sz="1800">
                <a:solidFill>
                  <a:schemeClr val="dk1"/>
                </a:solidFill>
                <a:latin typeface="Calibri"/>
                <a:ea typeface="Calibri"/>
                <a:cs typeface="Calibri"/>
                <a:sym typeface="Calibri"/>
              </a:rPr>
              <a:t>Officer</a:t>
            </a:r>
            <a:r>
              <a:rPr lang="en-US" sz="1800">
                <a:solidFill>
                  <a:schemeClr val="dk1"/>
                </a:solidFill>
                <a:latin typeface="Calibri"/>
                <a:ea typeface="Calibri"/>
                <a:cs typeface="Calibri"/>
                <a:sym typeface="Calibri"/>
              </a:rPr>
              <a:t>(name,street,city,salary,office_number)</a:t>
            </a:r>
            <a:endParaRPr/>
          </a:p>
          <a:p>
            <a:pPr indent="-228600" lvl="0" marL="34290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Calibri"/>
              <a:buAutoNum type="arabicPeriod"/>
            </a:pPr>
            <a:r>
              <a:rPr b="1" lang="en-US" sz="1800">
                <a:solidFill>
                  <a:schemeClr val="dk1"/>
                </a:solidFill>
                <a:latin typeface="Calibri"/>
                <a:ea typeface="Calibri"/>
                <a:cs typeface="Calibri"/>
                <a:sym typeface="Calibri"/>
              </a:rPr>
              <a:t>Teller</a:t>
            </a:r>
            <a:r>
              <a:rPr lang="en-US" sz="1800">
                <a:solidFill>
                  <a:schemeClr val="dk1"/>
                </a:solidFill>
                <a:latin typeface="Calibri"/>
                <a:ea typeface="Calibri"/>
                <a:cs typeface="Calibri"/>
                <a:sym typeface="Calibri"/>
              </a:rPr>
              <a:t>(name,street,city,salary,station_number,hours_worked)</a:t>
            </a:r>
            <a:endParaRPr/>
          </a:p>
          <a:p>
            <a:pPr indent="-228600" lvl="0" marL="34290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Calibri"/>
              <a:buAutoNum type="arabicPeriod"/>
            </a:pPr>
            <a:r>
              <a:rPr b="1" lang="en-US" sz="1800">
                <a:solidFill>
                  <a:schemeClr val="dk1"/>
                </a:solidFill>
                <a:latin typeface="Calibri"/>
                <a:ea typeface="Calibri"/>
                <a:cs typeface="Calibri"/>
                <a:sym typeface="Calibri"/>
              </a:rPr>
              <a:t>Secretary</a:t>
            </a:r>
            <a:r>
              <a:rPr lang="en-US" sz="1800">
                <a:solidFill>
                  <a:schemeClr val="dk1"/>
                </a:solidFill>
                <a:latin typeface="Calibri"/>
                <a:ea typeface="Calibri"/>
                <a:cs typeface="Calibri"/>
                <a:sym typeface="Calibri"/>
              </a:rPr>
              <a:t>(name,strret,city,hours_worked)</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63"/>
          <p:cNvSpPr txBox="1"/>
          <p:nvPr/>
        </p:nvSpPr>
        <p:spPr>
          <a:xfrm>
            <a:off x="84582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r>
              <a:rPr b="1" lang="en-US" sz="1400">
                <a:solidFill>
                  <a:srgbClr val="990033"/>
                </a:solidFill>
                <a:latin typeface="Arial"/>
                <a:ea typeface="Arial"/>
                <a:cs typeface="Arial"/>
                <a:sym typeface="Arial"/>
              </a:rPr>
              <a:t>Slide 4- </a:t>
            </a:r>
            <a:fld id="{00000000-1234-1234-1234-123412341234}" type="slidenum">
              <a:rPr b="1" lang="en-US" sz="1400">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sp>
        <p:nvSpPr>
          <p:cNvPr id="432" name="Google Shape;432;p63"/>
          <p:cNvSpPr txBox="1"/>
          <p:nvPr>
            <p:ph type="title"/>
          </p:nvPr>
        </p:nvSpPr>
        <p:spPr>
          <a:xfrm>
            <a:off x="1752600" y="303213"/>
            <a:ext cx="7796212"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lang="en-US" sz="3200">
                <a:solidFill>
                  <a:srgbClr val="800000"/>
                </a:solidFill>
                <a:latin typeface="Arial"/>
                <a:ea typeface="Arial"/>
                <a:cs typeface="Arial"/>
                <a:sym typeface="Arial"/>
              </a:rPr>
              <a:t>Constraints on Specialization and Generalization </a:t>
            </a:r>
            <a:endParaRPr/>
          </a:p>
        </p:txBody>
      </p:sp>
      <p:sp>
        <p:nvSpPr>
          <p:cNvPr id="433" name="Google Shape;433;p63"/>
          <p:cNvSpPr txBox="1"/>
          <p:nvPr>
            <p:ph idx="1" type="body"/>
          </p:nvPr>
        </p:nvSpPr>
        <p:spPr>
          <a:xfrm>
            <a:off x="1763713" y="1600200"/>
            <a:ext cx="8294687"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lang="en-US">
                <a:solidFill>
                  <a:schemeClr val="dk2"/>
                </a:solidFill>
                <a:latin typeface="Arial"/>
                <a:ea typeface="Arial"/>
                <a:cs typeface="Arial"/>
                <a:sym typeface="Arial"/>
              </a:rPr>
              <a:t>Two basic constraints can apply to a specialization/generalization:</a:t>
            </a:r>
            <a:endParaRPr/>
          </a:p>
          <a:p>
            <a:pPr indent="-285750" lvl="1" marL="742950" rtl="0" algn="l">
              <a:lnSpc>
                <a:spcPct val="100000"/>
              </a:lnSpc>
              <a:spcBef>
                <a:spcPts val="520"/>
              </a:spcBef>
              <a:spcAft>
                <a:spcPts val="0"/>
              </a:spcAft>
              <a:buClr>
                <a:schemeClr val="dk2"/>
              </a:buClr>
              <a:buSzPts val="1430"/>
              <a:buFont typeface="Noto Sans Symbols"/>
              <a:buChar char="■"/>
            </a:pPr>
            <a:r>
              <a:rPr lang="en-US" sz="2600">
                <a:solidFill>
                  <a:srgbClr val="800000"/>
                </a:solidFill>
                <a:latin typeface="Arial"/>
                <a:ea typeface="Arial"/>
                <a:cs typeface="Arial"/>
                <a:sym typeface="Arial"/>
              </a:rPr>
              <a:t>Disjoint Constraint: </a:t>
            </a:r>
            <a:endParaRPr/>
          </a:p>
          <a:p>
            <a:pPr indent="-285750" lvl="1" marL="742950" rtl="0" algn="l">
              <a:lnSpc>
                <a:spcPct val="100000"/>
              </a:lnSpc>
              <a:spcBef>
                <a:spcPts val="520"/>
              </a:spcBef>
              <a:spcAft>
                <a:spcPts val="0"/>
              </a:spcAft>
              <a:buClr>
                <a:schemeClr val="dk2"/>
              </a:buClr>
              <a:buSzPts val="1430"/>
              <a:buFont typeface="Noto Sans Symbols"/>
              <a:buChar char="■"/>
            </a:pPr>
            <a:r>
              <a:rPr lang="en-US" sz="2600">
                <a:solidFill>
                  <a:srgbClr val="800000"/>
                </a:solidFill>
                <a:latin typeface="Arial"/>
                <a:ea typeface="Arial"/>
                <a:cs typeface="Arial"/>
                <a:sym typeface="Arial"/>
              </a:rPr>
              <a:t>Completeness/Participation Constraint: </a:t>
            </a:r>
            <a:endParaRPr/>
          </a:p>
          <a:p>
            <a:pPr indent="-243840" lvl="0" marL="342900" rtl="0" algn="l">
              <a:lnSpc>
                <a:spcPct val="90000"/>
              </a:lnSpc>
              <a:spcBef>
                <a:spcPts val="520"/>
              </a:spcBef>
              <a:spcAft>
                <a:spcPts val="0"/>
              </a:spcAft>
              <a:buClr>
                <a:schemeClr val="dk1"/>
              </a:buClr>
              <a:buSzPts val="1560"/>
              <a:buNone/>
            </a:pPr>
            <a:r>
              <a:t/>
            </a:r>
            <a:endParaRPr sz="2600">
              <a:solidFill>
                <a:srgbClr val="800000"/>
              </a:solidFill>
              <a:latin typeface="Arial"/>
              <a:ea typeface="Arial"/>
              <a:cs typeface="Arial"/>
              <a:sym typeface="Arial"/>
            </a:endParaRPr>
          </a:p>
        </p:txBody>
      </p:sp>
      <p:pic>
        <p:nvPicPr>
          <p:cNvPr id="434" name="Google Shape;434;p63"/>
          <p:cNvPicPr preferRelativeResize="0"/>
          <p:nvPr/>
        </p:nvPicPr>
        <p:blipFill rotWithShape="1">
          <a:blip r:embed="rId3">
            <a:alphaModFix/>
          </a:blip>
          <a:srcRect b="0" l="0" r="0" t="0"/>
          <a:stretch/>
        </p:blipFill>
        <p:spPr>
          <a:xfrm>
            <a:off x="3214253" y="3886200"/>
            <a:ext cx="4350523" cy="239980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64"/>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sp>
        <p:nvSpPr>
          <p:cNvPr id="441" name="Google Shape;441;p64"/>
          <p:cNvSpPr txBox="1"/>
          <p:nvPr>
            <p:ph type="title"/>
          </p:nvPr>
        </p:nvSpPr>
        <p:spPr>
          <a:xfrm>
            <a:off x="304800" y="303213"/>
            <a:ext cx="10394949"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Constraints on Specialization and Generalization (4)</a:t>
            </a:r>
            <a:endParaRPr/>
          </a:p>
        </p:txBody>
      </p:sp>
      <p:sp>
        <p:nvSpPr>
          <p:cNvPr id="442" name="Google Shape;442;p64"/>
          <p:cNvSpPr txBox="1"/>
          <p:nvPr>
            <p:ph idx="1" type="body"/>
          </p:nvPr>
        </p:nvSpPr>
        <p:spPr>
          <a:xfrm>
            <a:off x="319617"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Disjointness Constraint: </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Specifies that the subclasses of the specialization must be </a:t>
            </a:r>
            <a:r>
              <a:rPr b="0" i="1" lang="en-US" sz="2600" u="none">
                <a:solidFill>
                  <a:srgbClr val="800000"/>
                </a:solidFill>
                <a:latin typeface="Arial"/>
                <a:ea typeface="Arial"/>
                <a:cs typeface="Arial"/>
                <a:sym typeface="Arial"/>
              </a:rPr>
              <a:t>disjoint</a:t>
            </a:r>
            <a:r>
              <a:rPr b="0" i="0" lang="en-US" sz="2600" u="none">
                <a:solidFill>
                  <a:srgbClr val="800000"/>
                </a:solidFill>
                <a:latin typeface="Arial"/>
                <a:ea typeface="Arial"/>
                <a:cs typeface="Arial"/>
                <a:sym typeface="Arial"/>
              </a:rPr>
              <a:t>:</a:t>
            </a:r>
            <a:endParaRPr b="0" i="1" sz="2600" u="none">
              <a:solidFill>
                <a:srgbClr val="800000"/>
              </a:solidFill>
              <a:latin typeface="Arial"/>
              <a:ea typeface="Arial"/>
              <a:cs typeface="Arial"/>
              <a:sym typeface="Arial"/>
            </a:endParaRPr>
          </a:p>
          <a:p>
            <a:pPr indent="-228600" lvl="2" marL="1143000" rtl="0" algn="l">
              <a:lnSpc>
                <a:spcPct val="10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an entity can be a member of at most one of the subclasses of the specialization</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Specified by </a:t>
            </a:r>
            <a:r>
              <a:rPr b="1" i="1" lang="en-US" sz="2600" u="sng">
                <a:solidFill>
                  <a:srgbClr val="800000"/>
                </a:solidFill>
                <a:latin typeface="Arial"/>
                <a:ea typeface="Arial"/>
                <a:cs typeface="Arial"/>
                <a:sym typeface="Arial"/>
              </a:rPr>
              <a:t>d</a:t>
            </a:r>
            <a:r>
              <a:rPr b="0" i="0" lang="en-US" sz="2600" u="none">
                <a:solidFill>
                  <a:srgbClr val="800000"/>
                </a:solidFill>
                <a:latin typeface="Arial"/>
                <a:ea typeface="Arial"/>
                <a:cs typeface="Arial"/>
                <a:sym typeface="Arial"/>
              </a:rPr>
              <a:t> in EER diagram </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If not disjoint, specialization is </a:t>
            </a:r>
            <a:r>
              <a:rPr b="0" i="1" lang="en-US" sz="2600" u="none">
                <a:solidFill>
                  <a:srgbClr val="800000"/>
                </a:solidFill>
                <a:latin typeface="Arial"/>
                <a:ea typeface="Arial"/>
                <a:cs typeface="Arial"/>
                <a:sym typeface="Arial"/>
              </a:rPr>
              <a:t>overlapping</a:t>
            </a:r>
            <a:r>
              <a:rPr b="0" i="0" lang="en-US" sz="2600" u="none">
                <a:solidFill>
                  <a:srgbClr val="800000"/>
                </a:solidFill>
                <a:latin typeface="Arial"/>
                <a:ea typeface="Arial"/>
                <a:cs typeface="Arial"/>
                <a:sym typeface="Arial"/>
              </a:rPr>
              <a:t>:</a:t>
            </a:r>
            <a:endParaRPr/>
          </a:p>
          <a:p>
            <a:pPr indent="-228600" lvl="2" marL="1143000" rtl="0" algn="l">
              <a:lnSpc>
                <a:spcPct val="10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that is the same entity may be a member of more than one subclass of the specialization</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Specified by </a:t>
            </a:r>
            <a:r>
              <a:rPr b="1" i="1" lang="en-US" sz="2600" u="sng">
                <a:solidFill>
                  <a:srgbClr val="800000"/>
                </a:solidFill>
                <a:latin typeface="Arial"/>
                <a:ea typeface="Arial"/>
                <a:cs typeface="Arial"/>
                <a:sym typeface="Arial"/>
              </a:rPr>
              <a:t>o</a:t>
            </a:r>
            <a:r>
              <a:rPr b="0" i="0" lang="en-US" sz="2600" u="none">
                <a:solidFill>
                  <a:srgbClr val="800000"/>
                </a:solidFill>
                <a:latin typeface="Arial"/>
                <a:ea typeface="Arial"/>
                <a:cs typeface="Arial"/>
                <a:sym typeface="Arial"/>
              </a:rPr>
              <a:t> in EER diagram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65"/>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sp>
        <p:nvSpPr>
          <p:cNvPr id="449" name="Google Shape;449;p65"/>
          <p:cNvSpPr txBox="1"/>
          <p:nvPr>
            <p:ph type="title"/>
          </p:nvPr>
        </p:nvSpPr>
        <p:spPr>
          <a:xfrm>
            <a:off x="304800" y="303213"/>
            <a:ext cx="10394949"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Constraints on Specialization and Generalization (5)</a:t>
            </a:r>
            <a:endParaRPr/>
          </a:p>
        </p:txBody>
      </p:sp>
      <p:sp>
        <p:nvSpPr>
          <p:cNvPr id="450" name="Google Shape;450;p65"/>
          <p:cNvSpPr txBox="1"/>
          <p:nvPr>
            <p:ph idx="1" type="body"/>
          </p:nvPr>
        </p:nvSpPr>
        <p:spPr>
          <a:xfrm>
            <a:off x="319617" y="1600200"/>
            <a:ext cx="11059500"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Completeness Constraint: </a:t>
            </a:r>
            <a:endParaRPr/>
          </a:p>
          <a:p>
            <a:pPr indent="-285750" lvl="1" marL="742950" rtl="0" algn="l">
              <a:lnSpc>
                <a:spcPct val="100000"/>
              </a:lnSpc>
              <a:spcBef>
                <a:spcPts val="520"/>
              </a:spcBef>
              <a:spcAft>
                <a:spcPts val="0"/>
              </a:spcAft>
              <a:buClr>
                <a:schemeClr val="dk2"/>
              </a:buClr>
              <a:buSzPts val="1430"/>
              <a:buFont typeface="Noto Sans Symbols"/>
              <a:buChar char="■"/>
            </a:pPr>
            <a:r>
              <a:rPr b="0" i="1" lang="en-US" sz="2600" u="none">
                <a:solidFill>
                  <a:srgbClr val="800000"/>
                </a:solidFill>
                <a:latin typeface="Arial"/>
                <a:ea typeface="Arial"/>
                <a:cs typeface="Arial"/>
                <a:sym typeface="Arial"/>
              </a:rPr>
              <a:t>Total</a:t>
            </a:r>
            <a:r>
              <a:rPr b="0" i="0" lang="en-US" sz="2600" u="none">
                <a:solidFill>
                  <a:srgbClr val="800000"/>
                </a:solidFill>
                <a:latin typeface="Arial"/>
                <a:ea typeface="Arial"/>
                <a:cs typeface="Arial"/>
                <a:sym typeface="Arial"/>
              </a:rPr>
              <a:t> specifies that every entity in the superclass must be a member of some subclass in the specialization/generalization </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Shown in EER diagrams by a </a:t>
            </a:r>
            <a:r>
              <a:rPr b="1" i="1" lang="en-US" sz="2600" u="sng">
                <a:solidFill>
                  <a:srgbClr val="800000"/>
                </a:solidFill>
                <a:latin typeface="Arial"/>
                <a:ea typeface="Arial"/>
                <a:cs typeface="Arial"/>
                <a:sym typeface="Arial"/>
              </a:rPr>
              <a:t>double line</a:t>
            </a:r>
            <a:r>
              <a:rPr b="0" i="0" lang="en-US" sz="2600" u="none">
                <a:solidFill>
                  <a:srgbClr val="800000"/>
                </a:solidFill>
                <a:latin typeface="Arial"/>
                <a:ea typeface="Arial"/>
                <a:cs typeface="Arial"/>
                <a:sym typeface="Arial"/>
              </a:rPr>
              <a:t> </a:t>
            </a:r>
            <a:endParaRPr/>
          </a:p>
          <a:p>
            <a:pPr indent="-285750" lvl="1" marL="742950" rtl="0" algn="l">
              <a:lnSpc>
                <a:spcPct val="100000"/>
              </a:lnSpc>
              <a:spcBef>
                <a:spcPts val="520"/>
              </a:spcBef>
              <a:spcAft>
                <a:spcPts val="0"/>
              </a:spcAft>
              <a:buClr>
                <a:schemeClr val="dk2"/>
              </a:buClr>
              <a:buSzPts val="1430"/>
              <a:buFont typeface="Noto Sans Symbols"/>
              <a:buChar char="■"/>
            </a:pPr>
            <a:r>
              <a:rPr b="0" i="1" lang="en-US" sz="2600" u="none">
                <a:solidFill>
                  <a:srgbClr val="800000"/>
                </a:solidFill>
                <a:latin typeface="Arial"/>
                <a:ea typeface="Arial"/>
                <a:cs typeface="Arial"/>
                <a:sym typeface="Arial"/>
              </a:rPr>
              <a:t>Partial</a:t>
            </a:r>
            <a:r>
              <a:rPr b="0" i="0" lang="en-US" sz="2600" u="none">
                <a:solidFill>
                  <a:srgbClr val="800000"/>
                </a:solidFill>
                <a:latin typeface="Arial"/>
                <a:ea typeface="Arial"/>
                <a:cs typeface="Arial"/>
                <a:sym typeface="Arial"/>
              </a:rPr>
              <a:t> allows an entity not to belong to any of the subclasses </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Shown in EER diagrams by a single line</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66"/>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sp>
        <p:nvSpPr>
          <p:cNvPr id="457" name="Google Shape;457;p66"/>
          <p:cNvSpPr txBox="1"/>
          <p:nvPr>
            <p:ph type="title"/>
          </p:nvPr>
        </p:nvSpPr>
        <p:spPr>
          <a:xfrm>
            <a:off x="304800" y="303213"/>
            <a:ext cx="10394949"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Constraints on Specialization and Generalization (6)</a:t>
            </a:r>
            <a:endParaRPr/>
          </a:p>
        </p:txBody>
      </p:sp>
      <p:sp>
        <p:nvSpPr>
          <p:cNvPr id="458" name="Google Shape;458;p66"/>
          <p:cNvSpPr txBox="1"/>
          <p:nvPr>
            <p:ph idx="1" type="body"/>
          </p:nvPr>
        </p:nvSpPr>
        <p:spPr>
          <a:xfrm>
            <a:off x="319617"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Hence, we have four types of specialization/generalization:</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Disjoint, total </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Disjoint, partial </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Overlapping, total </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Overlapping, partial</a:t>
            </a:r>
            <a:endParaRPr/>
          </a:p>
          <a:p>
            <a:pPr indent="-342900" lvl="0" marL="34290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Note: Generalization usually is total because the superclass is derived from the subclasses.</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67"/>
          <p:cNvSpPr/>
          <p:nvPr/>
        </p:nvSpPr>
        <p:spPr>
          <a:xfrm>
            <a:off x="6448440" y="1018104"/>
            <a:ext cx="4036320" cy="537444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sz="1800">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sz="1800">
              <a:solidFill>
                <a:schemeClr val="dk1"/>
              </a:solidFill>
              <a:latin typeface="Arial"/>
              <a:ea typeface="Arial"/>
              <a:cs typeface="Arial"/>
              <a:sym typeface="Arial"/>
            </a:endParaRPr>
          </a:p>
          <a:p>
            <a:pPr indent="0" lvl="0" marL="0" marR="0" rtl="0" algn="just">
              <a:lnSpc>
                <a:spcPct val="100000"/>
              </a:lnSpc>
              <a:spcBef>
                <a:spcPts val="0"/>
              </a:spcBef>
              <a:spcAft>
                <a:spcPts val="0"/>
              </a:spcAft>
              <a:buNone/>
            </a:pPr>
            <a:r>
              <a:rPr lang="en-US" sz="2200">
                <a:solidFill>
                  <a:schemeClr val="dk1"/>
                </a:solidFill>
                <a:latin typeface="Times New Roman"/>
                <a:ea typeface="Times New Roman"/>
                <a:cs typeface="Times New Roman"/>
                <a:sym typeface="Times New Roman"/>
              </a:rPr>
              <a:t>It specifies that the subclasses of the specialization must be disjoint. </a:t>
            </a:r>
            <a:endParaRPr sz="2200">
              <a:solidFill>
                <a:schemeClr val="dk1"/>
              </a:solidFill>
              <a:latin typeface="Arial"/>
              <a:ea typeface="Arial"/>
              <a:cs typeface="Arial"/>
              <a:sym typeface="Arial"/>
            </a:endParaRPr>
          </a:p>
          <a:p>
            <a:pPr indent="0" lvl="0" marL="0" marR="0" rtl="0" algn="just">
              <a:lnSpc>
                <a:spcPct val="100000"/>
              </a:lnSpc>
              <a:spcBef>
                <a:spcPts val="0"/>
              </a:spcBef>
              <a:spcAft>
                <a:spcPts val="0"/>
              </a:spcAft>
              <a:buNone/>
            </a:pPr>
            <a:r>
              <a:rPr lang="en-US" sz="2200">
                <a:solidFill>
                  <a:schemeClr val="dk1"/>
                </a:solidFill>
                <a:latin typeface="Times New Roman"/>
                <a:ea typeface="Times New Roman"/>
                <a:cs typeface="Times New Roman"/>
                <a:sym typeface="Times New Roman"/>
              </a:rPr>
              <a:t>This means that an entity can be a member of at most one of the</a:t>
            </a:r>
            <a:endParaRPr sz="2200">
              <a:solidFill>
                <a:schemeClr val="dk1"/>
              </a:solidFill>
              <a:latin typeface="Arial"/>
              <a:ea typeface="Arial"/>
              <a:cs typeface="Arial"/>
              <a:sym typeface="Arial"/>
            </a:endParaRPr>
          </a:p>
          <a:p>
            <a:pPr indent="0" lvl="0" marL="0" marR="0" rtl="0" algn="just">
              <a:lnSpc>
                <a:spcPct val="100000"/>
              </a:lnSpc>
              <a:spcBef>
                <a:spcPts val="0"/>
              </a:spcBef>
              <a:spcAft>
                <a:spcPts val="0"/>
              </a:spcAft>
              <a:buNone/>
            </a:pPr>
            <a:r>
              <a:rPr lang="en-US" sz="2200">
                <a:solidFill>
                  <a:schemeClr val="dk1"/>
                </a:solidFill>
                <a:latin typeface="Times New Roman"/>
                <a:ea typeface="Times New Roman"/>
                <a:cs typeface="Times New Roman"/>
                <a:sym typeface="Times New Roman"/>
              </a:rPr>
              <a:t>subclasses of the specialization.  It is denoted by ‘d’in circle.</a:t>
            </a:r>
            <a:endParaRPr sz="2200">
              <a:solidFill>
                <a:schemeClr val="dk1"/>
              </a:solidFill>
              <a:latin typeface="Arial"/>
              <a:ea typeface="Arial"/>
              <a:cs typeface="Arial"/>
              <a:sym typeface="Arial"/>
            </a:endParaRPr>
          </a:p>
          <a:p>
            <a:pPr indent="0" lvl="0" marL="0" marR="0" rtl="0" algn="just">
              <a:spcBef>
                <a:spcPts val="400"/>
              </a:spcBef>
              <a:spcAft>
                <a:spcPts val="0"/>
              </a:spcAft>
              <a:buNone/>
            </a:pPr>
            <a:r>
              <a:t/>
            </a:r>
            <a:endParaRPr sz="2200">
              <a:solidFill>
                <a:schemeClr val="dk1"/>
              </a:solidFill>
              <a:latin typeface="Arial"/>
              <a:ea typeface="Arial"/>
              <a:cs typeface="Arial"/>
              <a:sym typeface="Arial"/>
            </a:endParaRPr>
          </a:p>
          <a:p>
            <a:pPr indent="-253799" lvl="0" marL="365760" marR="0" rtl="0" algn="just">
              <a:spcBef>
                <a:spcPts val="400"/>
              </a:spcBef>
              <a:spcAft>
                <a:spcPts val="0"/>
              </a:spcAft>
              <a:buClr>
                <a:srgbClr val="2DA2BF"/>
              </a:buClr>
              <a:buSzPts val="1360"/>
              <a:buFont typeface="Noto Sans Symbols"/>
              <a:buChar char="🞂"/>
            </a:pPr>
            <a:r>
              <a:rPr lang="en-US" sz="2000">
                <a:solidFill>
                  <a:schemeClr val="dk1"/>
                </a:solidFill>
                <a:latin typeface="Times New Roman"/>
                <a:ea typeface="Times New Roman"/>
                <a:cs typeface="Times New Roman"/>
                <a:sym typeface="Times New Roman"/>
              </a:rPr>
              <a:t>In the diagram  Employee can be either Secretary or Technician or Engineer</a:t>
            </a:r>
            <a:endParaRPr sz="2000">
              <a:solidFill>
                <a:schemeClr val="dk1"/>
              </a:solidFill>
              <a:latin typeface="Arial"/>
              <a:ea typeface="Arial"/>
              <a:cs typeface="Arial"/>
              <a:sym typeface="Arial"/>
            </a:endParaRPr>
          </a:p>
          <a:p>
            <a:pPr indent="-253799" lvl="0" marL="365760" marR="0" rtl="0" algn="just">
              <a:spcBef>
                <a:spcPts val="400"/>
              </a:spcBef>
              <a:spcAft>
                <a:spcPts val="0"/>
              </a:spcAft>
              <a:buNone/>
            </a:pPr>
            <a:br>
              <a:rPr lang="en-US" sz="1800">
                <a:solidFill>
                  <a:schemeClr val="dk1"/>
                </a:solidFill>
                <a:latin typeface="Calibri"/>
                <a:ea typeface="Calibri"/>
                <a:cs typeface="Calibri"/>
                <a:sym typeface="Calibri"/>
              </a:rPr>
            </a:br>
            <a:endParaRPr sz="2000">
              <a:solidFill>
                <a:schemeClr val="dk1"/>
              </a:solidFill>
              <a:latin typeface="Arial"/>
              <a:ea typeface="Arial"/>
              <a:cs typeface="Arial"/>
              <a:sym typeface="Arial"/>
            </a:endParaRPr>
          </a:p>
        </p:txBody>
      </p:sp>
      <p:sp>
        <p:nvSpPr>
          <p:cNvPr id="464" name="Google Shape;464;p67"/>
          <p:cNvSpPr/>
          <p:nvPr/>
        </p:nvSpPr>
        <p:spPr>
          <a:xfrm>
            <a:off x="1981200" y="274680"/>
            <a:ext cx="8227440" cy="11408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5" name="Google Shape;465;p67"/>
          <p:cNvSpPr/>
          <p:nvPr/>
        </p:nvSpPr>
        <p:spPr>
          <a:xfrm>
            <a:off x="2483220" y="256872"/>
            <a:ext cx="7223400" cy="111096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n-US" sz="3200">
                <a:solidFill>
                  <a:schemeClr val="dk1"/>
                </a:solidFill>
                <a:latin typeface="Arial"/>
                <a:ea typeface="Arial"/>
                <a:cs typeface="Arial"/>
                <a:sym typeface="Arial"/>
              </a:rPr>
              <a:t>                Disjoint   Constraint</a:t>
            </a:r>
            <a:endParaRPr sz="3200">
              <a:solidFill>
                <a:schemeClr val="dk1"/>
              </a:solidFill>
              <a:latin typeface="Arial"/>
              <a:ea typeface="Arial"/>
              <a:cs typeface="Arial"/>
              <a:sym typeface="Arial"/>
            </a:endParaRPr>
          </a:p>
        </p:txBody>
      </p:sp>
      <p:pic>
        <p:nvPicPr>
          <p:cNvPr id="466" name="Google Shape;466;p67"/>
          <p:cNvPicPr preferRelativeResize="0"/>
          <p:nvPr/>
        </p:nvPicPr>
        <p:blipFill rotWithShape="1">
          <a:blip r:embed="rId3">
            <a:alphaModFix/>
          </a:blip>
          <a:srcRect b="0" l="0" r="0" t="0"/>
          <a:stretch/>
        </p:blipFill>
        <p:spPr>
          <a:xfrm>
            <a:off x="375588" y="2388197"/>
            <a:ext cx="4620270" cy="1676634"/>
          </a:xfrm>
          <a:prstGeom prst="rect">
            <a:avLst/>
          </a:prstGeom>
          <a:noFill/>
          <a:ln>
            <a:noFill/>
          </a:ln>
        </p:spPr>
      </p:pic>
      <p:pic>
        <p:nvPicPr>
          <p:cNvPr id="467" name="Google Shape;467;p67"/>
          <p:cNvPicPr preferRelativeResize="0"/>
          <p:nvPr/>
        </p:nvPicPr>
        <p:blipFill rotWithShape="1">
          <a:blip r:embed="rId4">
            <a:alphaModFix/>
          </a:blip>
          <a:srcRect b="0" l="0" r="0" t="0"/>
          <a:stretch/>
        </p:blipFill>
        <p:spPr>
          <a:xfrm>
            <a:off x="3643745" y="2179726"/>
            <a:ext cx="2685342" cy="85750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6"/>
                                        </p:tgtEl>
                                        <p:attrNameLst>
                                          <p:attrName>style.visibility</p:attrName>
                                        </p:attrNameLst>
                                      </p:cBhvr>
                                      <p:to>
                                        <p:strVal val="visible"/>
                                      </p:to>
                                    </p:set>
                                    <p:animEffect filter="fade" transition="in">
                                      <p:cBhvr>
                                        <p:cTn dur="500"/>
                                        <p:tgtEl>
                                          <p:spTgt spid="4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7"/>
                                        </p:tgtEl>
                                        <p:attrNameLst>
                                          <p:attrName>style.visibility</p:attrName>
                                        </p:attrNameLst>
                                      </p:cBhvr>
                                      <p:to>
                                        <p:strVal val="visible"/>
                                      </p:to>
                                    </p:set>
                                    <p:animEffect filter="fade" transition="in">
                                      <p:cBhvr>
                                        <p:cTn dur="2000"/>
                                        <p:tgtEl>
                                          <p:spTgt spid="4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68"/>
          <p:cNvSpPr/>
          <p:nvPr/>
        </p:nvSpPr>
        <p:spPr>
          <a:xfrm>
            <a:off x="6096000" y="1391760"/>
            <a:ext cx="4036320" cy="537444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t/>
            </a:r>
            <a:endParaRPr sz="1800">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sz="1800">
              <a:solidFill>
                <a:schemeClr val="dk1"/>
              </a:solidFill>
              <a:latin typeface="Arial"/>
              <a:ea typeface="Arial"/>
              <a:cs typeface="Arial"/>
              <a:sym typeface="Arial"/>
            </a:endParaRPr>
          </a:p>
          <a:p>
            <a:pPr indent="0" lvl="0" marL="0" marR="0" rtl="0" algn="just">
              <a:lnSpc>
                <a:spcPct val="100000"/>
              </a:lnSpc>
              <a:spcBef>
                <a:spcPts val="0"/>
              </a:spcBef>
              <a:spcAft>
                <a:spcPts val="0"/>
              </a:spcAft>
              <a:buNone/>
            </a:pPr>
            <a:r>
              <a:rPr lang="en-US" sz="2200">
                <a:solidFill>
                  <a:schemeClr val="dk1"/>
                </a:solidFill>
                <a:latin typeface="Times New Roman"/>
                <a:ea typeface="Times New Roman"/>
                <a:cs typeface="Times New Roman"/>
                <a:sym typeface="Times New Roman"/>
              </a:rPr>
              <a:t>If the subclasses are not constrained to be disjoint, their sets of entities may be overlapping; that is, the same entity may be a member of more than one subclass of the specialization. </a:t>
            </a:r>
            <a:endParaRPr sz="2200">
              <a:solidFill>
                <a:schemeClr val="dk1"/>
              </a:solidFill>
              <a:latin typeface="Arial"/>
              <a:ea typeface="Arial"/>
              <a:cs typeface="Arial"/>
              <a:sym typeface="Arial"/>
            </a:endParaRPr>
          </a:p>
          <a:p>
            <a:pPr indent="0" lvl="0" marL="0" marR="0" rtl="0" algn="just">
              <a:lnSpc>
                <a:spcPct val="100000"/>
              </a:lnSpc>
              <a:spcBef>
                <a:spcPts val="0"/>
              </a:spcBef>
              <a:spcAft>
                <a:spcPts val="0"/>
              </a:spcAft>
              <a:buNone/>
            </a:pPr>
            <a:r>
              <a:rPr lang="en-US" sz="2200">
                <a:solidFill>
                  <a:schemeClr val="dk1"/>
                </a:solidFill>
                <a:latin typeface="Times New Roman"/>
                <a:ea typeface="Times New Roman"/>
                <a:cs typeface="Times New Roman"/>
                <a:sym typeface="Times New Roman"/>
              </a:rPr>
              <a:t>This case, which is the default, is displayed by placing an ‘o’ in the circle.</a:t>
            </a:r>
            <a:endParaRPr sz="2200">
              <a:solidFill>
                <a:schemeClr val="dk1"/>
              </a:solidFill>
              <a:latin typeface="Arial"/>
              <a:ea typeface="Arial"/>
              <a:cs typeface="Arial"/>
              <a:sym typeface="Arial"/>
            </a:endParaRPr>
          </a:p>
          <a:p>
            <a:pPr indent="0" lvl="0" marL="0" marR="0" rtl="0" algn="l">
              <a:spcBef>
                <a:spcPts val="400"/>
              </a:spcBef>
              <a:spcAft>
                <a:spcPts val="0"/>
              </a:spcAft>
              <a:buNone/>
            </a:pPr>
            <a:r>
              <a:t/>
            </a:r>
            <a:endParaRPr sz="2200">
              <a:solidFill>
                <a:schemeClr val="dk1"/>
              </a:solidFill>
              <a:latin typeface="Arial"/>
              <a:ea typeface="Arial"/>
              <a:cs typeface="Arial"/>
              <a:sym typeface="Arial"/>
            </a:endParaRPr>
          </a:p>
          <a:p>
            <a:pPr indent="0" lvl="0" marL="0" marR="0" rtl="0" algn="l">
              <a:spcBef>
                <a:spcPts val="400"/>
              </a:spcBef>
              <a:spcAft>
                <a:spcPts val="0"/>
              </a:spcAft>
              <a:buNone/>
            </a:pPr>
            <a:r>
              <a:t/>
            </a:r>
            <a:endParaRPr sz="2200">
              <a:solidFill>
                <a:schemeClr val="dk1"/>
              </a:solidFill>
              <a:latin typeface="Arial"/>
              <a:ea typeface="Arial"/>
              <a:cs typeface="Arial"/>
              <a:sym typeface="Arial"/>
            </a:endParaRPr>
          </a:p>
          <a:p>
            <a:pPr indent="0" lvl="0" marL="0" marR="0" rtl="0" algn="l">
              <a:spcBef>
                <a:spcPts val="400"/>
              </a:spcBef>
              <a:spcAft>
                <a:spcPts val="0"/>
              </a:spcAft>
              <a:buNone/>
            </a:pPr>
            <a:r>
              <a:t/>
            </a:r>
            <a:endParaRPr sz="2200">
              <a:solidFill>
                <a:schemeClr val="dk1"/>
              </a:solidFill>
              <a:latin typeface="Arial"/>
              <a:ea typeface="Arial"/>
              <a:cs typeface="Arial"/>
              <a:sym typeface="Arial"/>
            </a:endParaRPr>
          </a:p>
          <a:p>
            <a:pPr indent="-253799" lvl="0" marL="365760" marR="0" rtl="0" algn="l">
              <a:spcBef>
                <a:spcPts val="400"/>
              </a:spcBef>
              <a:spcAft>
                <a:spcPts val="0"/>
              </a:spcAft>
              <a:buNone/>
            </a:pPr>
            <a:r>
              <a:t/>
            </a:r>
            <a:endParaRPr sz="2200">
              <a:solidFill>
                <a:schemeClr val="dk1"/>
              </a:solidFill>
              <a:latin typeface="Arial"/>
              <a:ea typeface="Arial"/>
              <a:cs typeface="Arial"/>
              <a:sym typeface="Arial"/>
            </a:endParaRPr>
          </a:p>
          <a:p>
            <a:pPr indent="0" lvl="0" marL="0" marR="0" rtl="0" algn="l">
              <a:spcBef>
                <a:spcPts val="400"/>
              </a:spcBef>
              <a:spcAft>
                <a:spcPts val="0"/>
              </a:spcAft>
              <a:buNone/>
            </a:pPr>
            <a:br>
              <a:rPr lang="en-US" sz="1800">
                <a:solidFill>
                  <a:schemeClr val="dk1"/>
                </a:solidFill>
                <a:latin typeface="Calibri"/>
                <a:ea typeface="Calibri"/>
                <a:cs typeface="Calibri"/>
                <a:sym typeface="Calibri"/>
              </a:rPr>
            </a:br>
            <a:endParaRPr sz="2200">
              <a:solidFill>
                <a:schemeClr val="dk1"/>
              </a:solidFill>
              <a:latin typeface="Arial"/>
              <a:ea typeface="Arial"/>
              <a:cs typeface="Arial"/>
              <a:sym typeface="Arial"/>
            </a:endParaRPr>
          </a:p>
        </p:txBody>
      </p:sp>
      <p:sp>
        <p:nvSpPr>
          <p:cNvPr id="473" name="Google Shape;473;p68"/>
          <p:cNvSpPr/>
          <p:nvPr/>
        </p:nvSpPr>
        <p:spPr>
          <a:xfrm>
            <a:off x="1981200" y="274680"/>
            <a:ext cx="8227440" cy="11408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4" name="Google Shape;474;p68"/>
          <p:cNvSpPr/>
          <p:nvPr/>
        </p:nvSpPr>
        <p:spPr>
          <a:xfrm>
            <a:off x="3261360" y="579600"/>
            <a:ext cx="7223400" cy="111096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n-US" sz="3200">
                <a:solidFill>
                  <a:schemeClr val="dk1"/>
                </a:solidFill>
                <a:latin typeface="Times New Roman"/>
                <a:ea typeface="Times New Roman"/>
                <a:cs typeface="Times New Roman"/>
                <a:sym typeface="Times New Roman"/>
              </a:rPr>
              <a:t>        Overlapping  Constraint</a:t>
            </a:r>
            <a:endParaRPr sz="3200">
              <a:solidFill>
                <a:schemeClr val="dk1"/>
              </a:solidFill>
              <a:latin typeface="Arial"/>
              <a:ea typeface="Arial"/>
              <a:cs typeface="Arial"/>
              <a:sym typeface="Arial"/>
            </a:endParaRPr>
          </a:p>
        </p:txBody>
      </p:sp>
      <p:pic>
        <p:nvPicPr>
          <p:cNvPr id="475" name="Google Shape;475;p68"/>
          <p:cNvPicPr preferRelativeResize="0"/>
          <p:nvPr/>
        </p:nvPicPr>
        <p:blipFill rotWithShape="1">
          <a:blip r:embed="rId3">
            <a:alphaModFix/>
          </a:blip>
          <a:srcRect b="0" l="0" r="0" t="0"/>
          <a:stretch/>
        </p:blipFill>
        <p:spPr>
          <a:xfrm>
            <a:off x="286297" y="2782434"/>
            <a:ext cx="5025726" cy="1939754"/>
          </a:xfrm>
          <a:prstGeom prst="rect">
            <a:avLst/>
          </a:prstGeom>
          <a:noFill/>
          <a:ln>
            <a:noFill/>
          </a:ln>
        </p:spPr>
      </p:pic>
      <p:pic>
        <p:nvPicPr>
          <p:cNvPr id="476" name="Google Shape;476;p68"/>
          <p:cNvPicPr preferRelativeResize="0"/>
          <p:nvPr/>
        </p:nvPicPr>
        <p:blipFill rotWithShape="1">
          <a:blip r:embed="rId4">
            <a:alphaModFix/>
          </a:blip>
          <a:srcRect b="0" l="0" r="0" t="0"/>
          <a:stretch/>
        </p:blipFill>
        <p:spPr>
          <a:xfrm>
            <a:off x="3710841" y="2856524"/>
            <a:ext cx="2219635" cy="74305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2"/>
                                        </p:tgtEl>
                                        <p:attrNameLst>
                                          <p:attrName>style.visibility</p:attrName>
                                        </p:attrNameLst>
                                      </p:cBhvr>
                                      <p:to>
                                        <p:strVal val="visible"/>
                                      </p:to>
                                    </p:set>
                                    <p:animEffect filter="fade" transition="in">
                                      <p:cBhvr>
                                        <p:cTn dur="1000"/>
                                        <p:tgtEl>
                                          <p:spTgt spid="4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5"/>
                                        </p:tgtEl>
                                        <p:attrNameLst>
                                          <p:attrName>style.visibility</p:attrName>
                                        </p:attrNameLst>
                                      </p:cBhvr>
                                      <p:to>
                                        <p:strVal val="visible"/>
                                      </p:to>
                                    </p:set>
                                    <p:animEffect filter="fade" transition="in">
                                      <p:cBhvr>
                                        <p:cTn dur="500"/>
                                        <p:tgtEl>
                                          <p:spTgt spid="4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6"/>
                                        </p:tgtEl>
                                        <p:attrNameLst>
                                          <p:attrName>style.visibility</p:attrName>
                                        </p:attrNameLst>
                                      </p:cBhvr>
                                      <p:to>
                                        <p:strVal val="visible"/>
                                      </p:to>
                                    </p:set>
                                    <p:animEffect filter="fade" transition="in">
                                      <p:cBhvr>
                                        <p:cTn dur="2000"/>
                                        <p:tgtEl>
                                          <p:spTgt spid="4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69"/>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sp>
        <p:nvSpPr>
          <p:cNvPr id="483" name="Google Shape;483;p69"/>
          <p:cNvSpPr txBox="1"/>
          <p:nvPr>
            <p:ph type="title"/>
          </p:nvPr>
        </p:nvSpPr>
        <p:spPr>
          <a:xfrm>
            <a:off x="304800" y="303213"/>
            <a:ext cx="10394949"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Example of disjoint partial Specialization</a:t>
            </a:r>
            <a:endParaRPr/>
          </a:p>
        </p:txBody>
      </p:sp>
      <p:pic>
        <p:nvPicPr>
          <p:cNvPr descr="fig04_04" id="484" name="Google Shape;484;p69"/>
          <p:cNvPicPr preferRelativeResize="0"/>
          <p:nvPr/>
        </p:nvPicPr>
        <p:blipFill rotWithShape="1">
          <a:blip r:embed="rId3">
            <a:alphaModFix/>
          </a:blip>
          <a:srcRect b="0" l="0" r="0" t="0"/>
          <a:stretch/>
        </p:blipFill>
        <p:spPr>
          <a:xfrm>
            <a:off x="508000" y="1847850"/>
            <a:ext cx="11074400" cy="386715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70"/>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pic>
        <p:nvPicPr>
          <p:cNvPr descr="fig04_05" id="491" name="Google Shape;491;p70"/>
          <p:cNvPicPr preferRelativeResize="0"/>
          <p:nvPr/>
        </p:nvPicPr>
        <p:blipFill rotWithShape="1">
          <a:blip r:embed="rId3">
            <a:alphaModFix/>
          </a:blip>
          <a:srcRect b="0" l="0" r="0" t="0"/>
          <a:stretch/>
        </p:blipFill>
        <p:spPr>
          <a:xfrm>
            <a:off x="196850" y="2432051"/>
            <a:ext cx="11385549" cy="2376487"/>
          </a:xfrm>
          <a:prstGeom prst="rect">
            <a:avLst/>
          </a:prstGeom>
          <a:noFill/>
          <a:ln>
            <a:noFill/>
          </a:ln>
        </p:spPr>
      </p:pic>
      <p:sp>
        <p:nvSpPr>
          <p:cNvPr descr="Pink tissue paper" id="492" name="Google Shape;492;p70"/>
          <p:cNvSpPr txBox="1"/>
          <p:nvPr/>
        </p:nvSpPr>
        <p:spPr>
          <a:xfrm>
            <a:off x="406400" y="868362"/>
            <a:ext cx="9652000" cy="519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800000"/>
              </a:buClr>
              <a:buSzPts val="2800"/>
              <a:buFont typeface="Arial"/>
              <a:buNone/>
            </a:pPr>
            <a:r>
              <a:rPr b="0" i="0" lang="en-US" sz="2800" u="none">
                <a:solidFill>
                  <a:srgbClr val="800000"/>
                </a:solidFill>
                <a:latin typeface="Arial"/>
                <a:ea typeface="Arial"/>
                <a:cs typeface="Arial"/>
                <a:sym typeface="Arial"/>
              </a:rPr>
              <a:t>Example of overlapping total Specialization</a:t>
            </a:r>
            <a:endParaRPr sz="1800">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71"/>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sp>
        <p:nvSpPr>
          <p:cNvPr id="499" name="Google Shape;499;p71"/>
          <p:cNvSpPr txBox="1"/>
          <p:nvPr>
            <p:ph type="title"/>
          </p:nvPr>
        </p:nvSpPr>
        <p:spPr>
          <a:xfrm>
            <a:off x="304800" y="303213"/>
            <a:ext cx="10394949"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Specialization/Generalization Hierarchies, Lattices &amp; Shared Subclasses (1)</a:t>
            </a:r>
            <a:endParaRPr/>
          </a:p>
        </p:txBody>
      </p:sp>
      <p:sp>
        <p:nvSpPr>
          <p:cNvPr id="500" name="Google Shape;500;p71"/>
          <p:cNvSpPr txBox="1"/>
          <p:nvPr>
            <p:ph idx="1" type="body"/>
          </p:nvPr>
        </p:nvSpPr>
        <p:spPr>
          <a:xfrm>
            <a:off x="319617"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A subclass may itself have further subclasses specified on it </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forms a hierarchy or a lattice</a:t>
            </a:r>
            <a:endParaRPr/>
          </a:p>
          <a:p>
            <a:pPr indent="-342900" lvl="0" marL="342900" rtl="0" algn="l">
              <a:lnSpc>
                <a:spcPct val="100000"/>
              </a:lnSpc>
              <a:spcBef>
                <a:spcPts val="560"/>
              </a:spcBef>
              <a:spcAft>
                <a:spcPts val="0"/>
              </a:spcAft>
              <a:buClr>
                <a:srgbClr val="990033"/>
              </a:buClr>
              <a:buSzPts val="1680"/>
              <a:buFont typeface="Noto Sans Symbols"/>
              <a:buChar char="■"/>
            </a:pPr>
            <a:r>
              <a:rPr b="1" i="1" lang="en-US" sz="2800" u="none">
                <a:solidFill>
                  <a:schemeClr val="dk2"/>
                </a:solidFill>
                <a:latin typeface="Arial"/>
                <a:ea typeface="Arial"/>
                <a:cs typeface="Arial"/>
                <a:sym typeface="Arial"/>
              </a:rPr>
              <a:t>Hierarchy</a:t>
            </a:r>
            <a:r>
              <a:rPr b="0" i="0" lang="en-US" sz="2800" u="none">
                <a:solidFill>
                  <a:schemeClr val="dk2"/>
                </a:solidFill>
                <a:latin typeface="Arial"/>
                <a:ea typeface="Arial"/>
                <a:cs typeface="Arial"/>
                <a:sym typeface="Arial"/>
              </a:rPr>
              <a:t> has a constraint that every subclass has only one superclass (called </a:t>
            </a:r>
            <a:r>
              <a:rPr b="1" i="1" lang="en-US" sz="2800" u="none">
                <a:solidFill>
                  <a:schemeClr val="dk2"/>
                </a:solidFill>
                <a:latin typeface="Arial"/>
                <a:ea typeface="Arial"/>
                <a:cs typeface="Arial"/>
                <a:sym typeface="Arial"/>
              </a:rPr>
              <a:t>single inheritance</a:t>
            </a:r>
            <a:r>
              <a:rPr b="0" i="0" lang="en-US" sz="2800" u="none">
                <a:solidFill>
                  <a:schemeClr val="dk2"/>
                </a:solidFill>
                <a:latin typeface="Arial"/>
                <a:ea typeface="Arial"/>
                <a:cs typeface="Arial"/>
                <a:sym typeface="Arial"/>
              </a:rPr>
              <a:t>); this is basically a </a:t>
            </a:r>
            <a:r>
              <a:rPr b="1" i="1" lang="en-US" sz="2800" u="none">
                <a:solidFill>
                  <a:schemeClr val="dk2"/>
                </a:solidFill>
                <a:latin typeface="Arial"/>
                <a:ea typeface="Arial"/>
                <a:cs typeface="Arial"/>
                <a:sym typeface="Arial"/>
              </a:rPr>
              <a:t>tree structure</a:t>
            </a:r>
            <a:endParaRPr/>
          </a:p>
          <a:p>
            <a:pPr indent="-342900" lvl="0" marL="34290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In a </a:t>
            </a:r>
            <a:r>
              <a:rPr b="1" i="1" lang="en-US" sz="2800" u="none">
                <a:solidFill>
                  <a:schemeClr val="dk2"/>
                </a:solidFill>
                <a:latin typeface="Arial"/>
                <a:ea typeface="Arial"/>
                <a:cs typeface="Arial"/>
                <a:sym typeface="Arial"/>
              </a:rPr>
              <a:t>lattice</a:t>
            </a:r>
            <a:r>
              <a:rPr b="0" i="0" lang="en-US" sz="2800" u="none">
                <a:solidFill>
                  <a:schemeClr val="dk2"/>
                </a:solidFill>
                <a:latin typeface="Arial"/>
                <a:ea typeface="Arial"/>
                <a:cs typeface="Arial"/>
                <a:sym typeface="Arial"/>
              </a:rPr>
              <a:t>, a subclass can be subclass of more than one superclass (called </a:t>
            </a:r>
            <a:r>
              <a:rPr b="1" i="1" lang="en-US" sz="2800" u="none">
                <a:solidFill>
                  <a:schemeClr val="dk2"/>
                </a:solidFill>
                <a:latin typeface="Arial"/>
                <a:ea typeface="Arial"/>
                <a:cs typeface="Arial"/>
                <a:sym typeface="Arial"/>
              </a:rPr>
              <a:t>multiple inheritance</a:t>
            </a:r>
            <a:r>
              <a:rPr b="0" i="0" lang="en-US" sz="2800" u="none">
                <a:solidFill>
                  <a:schemeClr val="dk2"/>
                </a:solidFill>
                <a:latin typeface="Arial"/>
                <a:ea typeface="Arial"/>
                <a:cs typeface="Arial"/>
                <a:sym typeface="Arial"/>
              </a:rPr>
              <a:t>)</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72"/>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pic>
        <p:nvPicPr>
          <p:cNvPr descr="fig04_06" id="507" name="Google Shape;507;p72"/>
          <p:cNvPicPr preferRelativeResize="0"/>
          <p:nvPr/>
        </p:nvPicPr>
        <p:blipFill rotWithShape="1">
          <a:blip r:embed="rId3">
            <a:alphaModFix/>
          </a:blip>
          <a:srcRect b="0" l="0" r="0" t="0"/>
          <a:stretch/>
        </p:blipFill>
        <p:spPr>
          <a:xfrm>
            <a:off x="304801" y="2192338"/>
            <a:ext cx="11254316" cy="3424237"/>
          </a:xfrm>
          <a:prstGeom prst="rect">
            <a:avLst/>
          </a:prstGeom>
          <a:noFill/>
          <a:ln>
            <a:noFill/>
          </a:ln>
        </p:spPr>
      </p:pic>
      <p:sp>
        <p:nvSpPr>
          <p:cNvPr descr="Pink tissue paper" id="508" name="Google Shape;508;p72"/>
          <p:cNvSpPr txBox="1"/>
          <p:nvPr/>
        </p:nvSpPr>
        <p:spPr>
          <a:xfrm>
            <a:off x="609600" y="838200"/>
            <a:ext cx="7924800"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800000"/>
              </a:buClr>
              <a:buSzPts val="2400"/>
              <a:buFont typeface="Arial"/>
              <a:buNone/>
            </a:pPr>
            <a:r>
              <a:rPr b="0" i="0" lang="en-US" sz="2400" u="none">
                <a:solidFill>
                  <a:srgbClr val="800000"/>
                </a:solidFill>
                <a:latin typeface="Arial"/>
                <a:ea typeface="Arial"/>
                <a:cs typeface="Arial"/>
                <a:sym typeface="Arial"/>
              </a:rPr>
              <a:t>Shared Subclass “Engineering_Manager”</a:t>
            </a:r>
            <a:endParaRPr sz="1800">
              <a:solidFill>
                <a:schemeClr val="dk1"/>
              </a:solidFill>
              <a:latin typeface="Calibri"/>
              <a:ea typeface="Calibri"/>
              <a:cs typeface="Calibri"/>
              <a:sym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73"/>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sp>
        <p:nvSpPr>
          <p:cNvPr id="515" name="Google Shape;515;p73"/>
          <p:cNvSpPr txBox="1"/>
          <p:nvPr>
            <p:ph type="title"/>
          </p:nvPr>
        </p:nvSpPr>
        <p:spPr>
          <a:xfrm>
            <a:off x="304800" y="303213"/>
            <a:ext cx="10394949"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Specialization/Generalization Hierarchies, Lattices &amp; Shared Subclasses (2)</a:t>
            </a:r>
            <a:endParaRPr/>
          </a:p>
        </p:txBody>
      </p:sp>
      <p:sp>
        <p:nvSpPr>
          <p:cNvPr id="516" name="Google Shape;516;p73"/>
          <p:cNvSpPr txBox="1"/>
          <p:nvPr>
            <p:ph idx="1" type="body"/>
          </p:nvPr>
        </p:nvSpPr>
        <p:spPr>
          <a:xfrm>
            <a:off x="319617"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In a lattice or hierarchy, a subclass inherits attributes not only of its direct superclass, but also of all its predecessor superclasses</a:t>
            </a:r>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A subclass with more than one superclass is called a shared subclass (multiple inheritance)</a:t>
            </a:r>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Can have:</a:t>
            </a:r>
            <a:endParaRPr/>
          </a:p>
          <a:p>
            <a:pPr indent="-285750" lvl="1" marL="742950" rtl="0" algn="l">
              <a:lnSpc>
                <a:spcPct val="100000"/>
              </a:lnSpc>
              <a:spcBef>
                <a:spcPts val="440"/>
              </a:spcBef>
              <a:spcAft>
                <a:spcPts val="0"/>
              </a:spcAft>
              <a:buClr>
                <a:schemeClr val="dk2"/>
              </a:buClr>
              <a:buSzPts val="1210"/>
              <a:buFont typeface="Noto Sans Symbols"/>
              <a:buChar char="■"/>
            </a:pPr>
            <a:r>
              <a:rPr b="0" i="1" lang="en-US" sz="2200" u="none">
                <a:solidFill>
                  <a:srgbClr val="800000"/>
                </a:solidFill>
                <a:latin typeface="Arial"/>
                <a:ea typeface="Arial"/>
                <a:cs typeface="Arial"/>
                <a:sym typeface="Arial"/>
              </a:rPr>
              <a:t>specialization</a:t>
            </a:r>
            <a:r>
              <a:rPr b="0" i="0" lang="en-US" sz="2200" u="none">
                <a:solidFill>
                  <a:srgbClr val="800000"/>
                </a:solidFill>
                <a:latin typeface="Arial"/>
                <a:ea typeface="Arial"/>
                <a:cs typeface="Arial"/>
                <a:sym typeface="Arial"/>
              </a:rPr>
              <a:t> hierarchies or lattices, or </a:t>
            </a:r>
            <a:endParaRPr/>
          </a:p>
          <a:p>
            <a:pPr indent="-285750" lvl="1" marL="742950" rtl="0" algn="l">
              <a:lnSpc>
                <a:spcPct val="100000"/>
              </a:lnSpc>
              <a:spcBef>
                <a:spcPts val="440"/>
              </a:spcBef>
              <a:spcAft>
                <a:spcPts val="0"/>
              </a:spcAft>
              <a:buClr>
                <a:schemeClr val="dk2"/>
              </a:buClr>
              <a:buSzPts val="1210"/>
              <a:buFont typeface="Noto Sans Symbols"/>
              <a:buChar char="■"/>
            </a:pPr>
            <a:r>
              <a:rPr b="0" i="1" lang="en-US" sz="2200" u="none">
                <a:solidFill>
                  <a:srgbClr val="800000"/>
                </a:solidFill>
                <a:latin typeface="Arial"/>
                <a:ea typeface="Arial"/>
                <a:cs typeface="Arial"/>
                <a:sym typeface="Arial"/>
              </a:rPr>
              <a:t>generalization</a:t>
            </a:r>
            <a:r>
              <a:rPr b="0" i="0" lang="en-US" sz="2200" u="none">
                <a:solidFill>
                  <a:srgbClr val="800000"/>
                </a:solidFill>
                <a:latin typeface="Arial"/>
                <a:ea typeface="Arial"/>
                <a:cs typeface="Arial"/>
                <a:sym typeface="Arial"/>
              </a:rPr>
              <a:t> hierarchies or lattices, </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depending on how they were </a:t>
            </a:r>
            <a:r>
              <a:rPr b="0" i="1" lang="en-US" sz="2200" u="none">
                <a:solidFill>
                  <a:srgbClr val="800000"/>
                </a:solidFill>
                <a:latin typeface="Arial"/>
                <a:ea typeface="Arial"/>
                <a:cs typeface="Arial"/>
                <a:sym typeface="Arial"/>
              </a:rPr>
              <a:t>derived</a:t>
            </a:r>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We just use </a:t>
            </a:r>
            <a:r>
              <a:rPr b="0" i="1" lang="en-US" sz="2400" u="none">
                <a:solidFill>
                  <a:schemeClr val="dk2"/>
                </a:solidFill>
                <a:latin typeface="Arial"/>
                <a:ea typeface="Arial"/>
                <a:cs typeface="Arial"/>
                <a:sym typeface="Arial"/>
              </a:rPr>
              <a:t>specialization</a:t>
            </a:r>
            <a:r>
              <a:rPr b="0" i="0" lang="en-US" sz="2400" u="none">
                <a:solidFill>
                  <a:schemeClr val="dk2"/>
                </a:solidFill>
                <a:latin typeface="Arial"/>
                <a:ea typeface="Arial"/>
                <a:cs typeface="Arial"/>
                <a:sym typeface="Arial"/>
              </a:rPr>
              <a:t> (to stand for the end result of either specialization or generalization)</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74"/>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sp>
        <p:nvSpPr>
          <p:cNvPr id="523" name="Google Shape;523;p74"/>
          <p:cNvSpPr txBox="1"/>
          <p:nvPr>
            <p:ph type="title"/>
          </p:nvPr>
        </p:nvSpPr>
        <p:spPr>
          <a:xfrm>
            <a:off x="304800" y="303213"/>
            <a:ext cx="10394949"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Specialization/Generalization Hierarchies, Lattices &amp; Shared Subclasses (3)</a:t>
            </a:r>
            <a:endParaRPr/>
          </a:p>
        </p:txBody>
      </p:sp>
      <p:sp>
        <p:nvSpPr>
          <p:cNvPr id="524" name="Google Shape;524;p74"/>
          <p:cNvSpPr txBox="1"/>
          <p:nvPr>
            <p:ph idx="1" type="body"/>
          </p:nvPr>
        </p:nvSpPr>
        <p:spPr>
          <a:xfrm>
            <a:off x="319617"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In </a:t>
            </a:r>
            <a:r>
              <a:rPr b="0" i="1" lang="en-US" sz="2800" u="none">
                <a:solidFill>
                  <a:schemeClr val="dk2"/>
                </a:solidFill>
                <a:latin typeface="Arial"/>
                <a:ea typeface="Arial"/>
                <a:cs typeface="Arial"/>
                <a:sym typeface="Arial"/>
              </a:rPr>
              <a:t>specialization</a:t>
            </a:r>
            <a:r>
              <a:rPr b="0" i="0" lang="en-US" sz="2800" u="none">
                <a:solidFill>
                  <a:schemeClr val="dk2"/>
                </a:solidFill>
                <a:latin typeface="Arial"/>
                <a:ea typeface="Arial"/>
                <a:cs typeface="Arial"/>
                <a:sym typeface="Arial"/>
              </a:rPr>
              <a:t>, start with an entity type and then define subclasses of the entity type by successive specialization</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called a </a:t>
            </a:r>
            <a:r>
              <a:rPr b="0" i="1" lang="en-US" sz="2600" u="none">
                <a:solidFill>
                  <a:srgbClr val="800000"/>
                </a:solidFill>
                <a:latin typeface="Arial"/>
                <a:ea typeface="Arial"/>
                <a:cs typeface="Arial"/>
                <a:sym typeface="Arial"/>
              </a:rPr>
              <a:t>top down</a:t>
            </a:r>
            <a:r>
              <a:rPr b="0" i="0" lang="en-US" sz="2600" u="none">
                <a:solidFill>
                  <a:srgbClr val="800000"/>
                </a:solidFill>
                <a:latin typeface="Arial"/>
                <a:ea typeface="Arial"/>
                <a:cs typeface="Arial"/>
                <a:sym typeface="Arial"/>
              </a:rPr>
              <a:t> conceptual refinement process</a:t>
            </a:r>
            <a:endParaRPr/>
          </a:p>
          <a:p>
            <a:pPr indent="-342900" lvl="0" marL="34290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In </a:t>
            </a:r>
            <a:r>
              <a:rPr b="0" i="1" lang="en-US" sz="2800" u="none">
                <a:solidFill>
                  <a:schemeClr val="dk2"/>
                </a:solidFill>
                <a:latin typeface="Arial"/>
                <a:ea typeface="Arial"/>
                <a:cs typeface="Arial"/>
                <a:sym typeface="Arial"/>
              </a:rPr>
              <a:t>generalization</a:t>
            </a:r>
            <a:r>
              <a:rPr b="0" i="0" lang="en-US" sz="2800" u="none">
                <a:solidFill>
                  <a:schemeClr val="dk2"/>
                </a:solidFill>
                <a:latin typeface="Arial"/>
                <a:ea typeface="Arial"/>
                <a:cs typeface="Arial"/>
                <a:sym typeface="Arial"/>
              </a:rPr>
              <a:t>, start with many entity types and generalize those that have common properties</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Called a </a:t>
            </a:r>
            <a:r>
              <a:rPr b="0" i="1" lang="en-US" sz="2600" u="none">
                <a:solidFill>
                  <a:srgbClr val="800000"/>
                </a:solidFill>
                <a:latin typeface="Arial"/>
                <a:ea typeface="Arial"/>
                <a:cs typeface="Arial"/>
                <a:sym typeface="Arial"/>
              </a:rPr>
              <a:t>bottom up</a:t>
            </a:r>
            <a:r>
              <a:rPr b="0" i="0" lang="en-US" sz="2600" u="none">
                <a:solidFill>
                  <a:srgbClr val="800000"/>
                </a:solidFill>
                <a:latin typeface="Arial"/>
                <a:ea typeface="Arial"/>
                <a:cs typeface="Arial"/>
                <a:sym typeface="Arial"/>
              </a:rPr>
              <a:t> conceptual synthesis process</a:t>
            </a:r>
            <a:endParaRPr/>
          </a:p>
          <a:p>
            <a:pPr indent="-342900" lvl="0" marL="34290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In practice, a </a:t>
            </a:r>
            <a:r>
              <a:rPr b="0" i="1" lang="en-US" sz="2800" u="none">
                <a:solidFill>
                  <a:schemeClr val="dk2"/>
                </a:solidFill>
                <a:latin typeface="Arial"/>
                <a:ea typeface="Arial"/>
                <a:cs typeface="Arial"/>
                <a:sym typeface="Arial"/>
              </a:rPr>
              <a:t>combination of both processes</a:t>
            </a:r>
            <a:r>
              <a:rPr b="0" i="0" lang="en-US" sz="2800" u="none">
                <a:solidFill>
                  <a:schemeClr val="dk2"/>
                </a:solidFill>
                <a:latin typeface="Arial"/>
                <a:ea typeface="Arial"/>
                <a:cs typeface="Arial"/>
                <a:sym typeface="Arial"/>
              </a:rPr>
              <a:t> is usually employed </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75"/>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sp>
        <p:nvSpPr>
          <p:cNvPr id="531" name="Google Shape;531;p75"/>
          <p:cNvSpPr txBox="1"/>
          <p:nvPr>
            <p:ph type="title"/>
          </p:nvPr>
        </p:nvSpPr>
        <p:spPr>
          <a:xfrm>
            <a:off x="304800" y="303213"/>
            <a:ext cx="10394949"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Specialization / Generalization Lattice Example </a:t>
            </a:r>
            <a:r>
              <a:rPr b="0" i="0" lang="en-US" sz="2400" u="none">
                <a:solidFill>
                  <a:srgbClr val="800000"/>
                </a:solidFill>
                <a:latin typeface="Arial"/>
                <a:ea typeface="Arial"/>
                <a:cs typeface="Arial"/>
                <a:sym typeface="Arial"/>
              </a:rPr>
              <a:t>(UNIVERSITY)</a:t>
            </a:r>
            <a:endParaRPr/>
          </a:p>
        </p:txBody>
      </p:sp>
      <p:pic>
        <p:nvPicPr>
          <p:cNvPr descr="fig04_07" id="532" name="Google Shape;532;p75"/>
          <p:cNvPicPr preferRelativeResize="0"/>
          <p:nvPr/>
        </p:nvPicPr>
        <p:blipFill rotWithShape="1">
          <a:blip r:embed="rId3">
            <a:alphaModFix/>
          </a:blip>
          <a:srcRect b="0" l="0" r="0" t="0"/>
          <a:stretch/>
        </p:blipFill>
        <p:spPr>
          <a:xfrm>
            <a:off x="2235200" y="1600200"/>
            <a:ext cx="7823200" cy="4875212"/>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76"/>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sp>
        <p:nvSpPr>
          <p:cNvPr id="539" name="Google Shape;539;p76"/>
          <p:cNvSpPr txBox="1"/>
          <p:nvPr>
            <p:ph type="title"/>
          </p:nvPr>
        </p:nvSpPr>
        <p:spPr>
          <a:xfrm>
            <a:off x="304800" y="303213"/>
            <a:ext cx="10394949"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Categories (UNION TYPES) (1)</a:t>
            </a:r>
            <a:endParaRPr/>
          </a:p>
        </p:txBody>
      </p:sp>
      <p:sp>
        <p:nvSpPr>
          <p:cNvPr id="540" name="Google Shape;540;p76"/>
          <p:cNvSpPr txBox="1"/>
          <p:nvPr>
            <p:ph idx="1" type="body"/>
          </p:nvPr>
        </p:nvSpPr>
        <p:spPr>
          <a:xfrm>
            <a:off x="319617"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All of the </a:t>
            </a:r>
            <a:r>
              <a:rPr b="0" i="1" lang="en-US" sz="2400" u="none">
                <a:solidFill>
                  <a:schemeClr val="dk2"/>
                </a:solidFill>
                <a:latin typeface="Arial"/>
                <a:ea typeface="Arial"/>
                <a:cs typeface="Arial"/>
                <a:sym typeface="Arial"/>
              </a:rPr>
              <a:t>superclass/subclass relationships</a:t>
            </a:r>
            <a:r>
              <a:rPr b="0" i="0" lang="en-US" sz="2400" u="none">
                <a:solidFill>
                  <a:schemeClr val="dk2"/>
                </a:solidFill>
                <a:latin typeface="Arial"/>
                <a:ea typeface="Arial"/>
                <a:cs typeface="Arial"/>
                <a:sym typeface="Arial"/>
              </a:rPr>
              <a:t> we have seen thus far have a single superclass </a:t>
            </a:r>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A shared subclass is a subclass in:</a:t>
            </a:r>
            <a:endParaRPr/>
          </a:p>
          <a:p>
            <a:pPr indent="-285750" lvl="1" marL="742950" rtl="0" algn="l">
              <a:lnSpc>
                <a:spcPct val="100000"/>
              </a:lnSpc>
              <a:spcBef>
                <a:spcPts val="440"/>
              </a:spcBef>
              <a:spcAft>
                <a:spcPts val="0"/>
              </a:spcAft>
              <a:buClr>
                <a:schemeClr val="dk2"/>
              </a:buClr>
              <a:buSzPts val="1210"/>
              <a:buFont typeface="Noto Sans Symbols"/>
              <a:buChar char="■"/>
            </a:pPr>
            <a:r>
              <a:rPr b="0" i="1" lang="en-US" sz="2200" u="none">
                <a:solidFill>
                  <a:srgbClr val="800000"/>
                </a:solidFill>
                <a:latin typeface="Arial"/>
                <a:ea typeface="Arial"/>
                <a:cs typeface="Arial"/>
                <a:sym typeface="Arial"/>
              </a:rPr>
              <a:t>more than one</a:t>
            </a:r>
            <a:r>
              <a:rPr b="0" i="0" lang="en-US" sz="2200" u="none">
                <a:solidFill>
                  <a:srgbClr val="800000"/>
                </a:solidFill>
                <a:latin typeface="Arial"/>
                <a:ea typeface="Arial"/>
                <a:cs typeface="Arial"/>
                <a:sym typeface="Arial"/>
              </a:rPr>
              <a:t> distinct superclass/subclass relationships</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each relationships has a single superclass</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shared subclass leads to multiple inheritance</a:t>
            </a:r>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In some cases, we need to model a </a:t>
            </a:r>
            <a:r>
              <a:rPr b="0" i="1" lang="en-US" sz="2400" u="none">
                <a:solidFill>
                  <a:schemeClr val="dk2"/>
                </a:solidFill>
                <a:latin typeface="Arial"/>
                <a:ea typeface="Arial"/>
                <a:cs typeface="Arial"/>
                <a:sym typeface="Arial"/>
              </a:rPr>
              <a:t>single superclass/subclass relationship</a:t>
            </a:r>
            <a:r>
              <a:rPr b="0" i="0" lang="en-US" sz="2400" u="none">
                <a:solidFill>
                  <a:schemeClr val="dk2"/>
                </a:solidFill>
                <a:latin typeface="Arial"/>
                <a:ea typeface="Arial"/>
                <a:cs typeface="Arial"/>
                <a:sym typeface="Arial"/>
              </a:rPr>
              <a:t> with </a:t>
            </a:r>
            <a:r>
              <a:rPr b="0" i="1" lang="en-US" sz="2400" u="none">
                <a:solidFill>
                  <a:schemeClr val="dk2"/>
                </a:solidFill>
                <a:latin typeface="Arial"/>
                <a:ea typeface="Arial"/>
                <a:cs typeface="Arial"/>
                <a:sym typeface="Arial"/>
              </a:rPr>
              <a:t>more than one</a:t>
            </a:r>
            <a:r>
              <a:rPr b="0" i="0" lang="en-US" sz="2400" u="none">
                <a:solidFill>
                  <a:schemeClr val="dk2"/>
                </a:solidFill>
                <a:latin typeface="Arial"/>
                <a:ea typeface="Arial"/>
                <a:cs typeface="Arial"/>
                <a:sym typeface="Arial"/>
              </a:rPr>
              <a:t> superclass </a:t>
            </a:r>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Superclasses can represent different entity types </a:t>
            </a:r>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Such a subclass is called a category or UNION TYPE </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77"/>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sp>
        <p:nvSpPr>
          <p:cNvPr id="547" name="Google Shape;547;p77"/>
          <p:cNvSpPr txBox="1"/>
          <p:nvPr>
            <p:ph type="title"/>
          </p:nvPr>
        </p:nvSpPr>
        <p:spPr>
          <a:xfrm>
            <a:off x="304800" y="303213"/>
            <a:ext cx="10394949"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Categories (UNION TYPES) (2)</a:t>
            </a:r>
            <a:endParaRPr/>
          </a:p>
        </p:txBody>
      </p:sp>
      <p:sp>
        <p:nvSpPr>
          <p:cNvPr id="548" name="Google Shape;548;p77"/>
          <p:cNvSpPr txBox="1"/>
          <p:nvPr>
            <p:ph idx="1" type="body"/>
          </p:nvPr>
        </p:nvSpPr>
        <p:spPr>
          <a:xfrm>
            <a:off x="319617"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Example: In a database for vehicle registration, a vehicle owner can be a PERSON, a BANK (holding a lien on a vehicle) or a COMPANY.</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A </a:t>
            </a:r>
            <a:r>
              <a:rPr b="0" i="1" lang="en-US" sz="2200" u="none">
                <a:solidFill>
                  <a:srgbClr val="800000"/>
                </a:solidFill>
                <a:latin typeface="Arial"/>
                <a:ea typeface="Arial"/>
                <a:cs typeface="Arial"/>
                <a:sym typeface="Arial"/>
              </a:rPr>
              <a:t>category</a:t>
            </a:r>
            <a:r>
              <a:rPr b="0" i="0" lang="en-US" sz="2200" u="none">
                <a:solidFill>
                  <a:srgbClr val="800000"/>
                </a:solidFill>
                <a:latin typeface="Arial"/>
                <a:ea typeface="Arial"/>
                <a:cs typeface="Arial"/>
                <a:sym typeface="Arial"/>
              </a:rPr>
              <a:t> (UNION type) called OWNER is created to represent a subset of the </a:t>
            </a:r>
            <a:r>
              <a:rPr b="0" i="1" lang="en-US" sz="2200" u="none">
                <a:solidFill>
                  <a:srgbClr val="800000"/>
                </a:solidFill>
                <a:latin typeface="Arial"/>
                <a:ea typeface="Arial"/>
                <a:cs typeface="Arial"/>
                <a:sym typeface="Arial"/>
              </a:rPr>
              <a:t>union</a:t>
            </a:r>
            <a:r>
              <a:rPr b="0" i="0" lang="en-US" sz="2200" u="none">
                <a:solidFill>
                  <a:srgbClr val="800000"/>
                </a:solidFill>
                <a:latin typeface="Arial"/>
                <a:ea typeface="Arial"/>
                <a:cs typeface="Arial"/>
                <a:sym typeface="Arial"/>
              </a:rPr>
              <a:t> of the three superclasses COMPANY, BANK, and PERSON </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A category member must exist in </a:t>
            </a:r>
            <a:r>
              <a:rPr b="1" i="1" lang="en-US" sz="2200" u="none">
                <a:solidFill>
                  <a:srgbClr val="800000"/>
                </a:solidFill>
                <a:latin typeface="Arial"/>
                <a:ea typeface="Arial"/>
                <a:cs typeface="Arial"/>
                <a:sym typeface="Arial"/>
              </a:rPr>
              <a:t>at least one</a:t>
            </a:r>
            <a:r>
              <a:rPr b="0" i="0" lang="en-US" sz="2200" u="none">
                <a:solidFill>
                  <a:srgbClr val="800000"/>
                </a:solidFill>
                <a:latin typeface="Arial"/>
                <a:ea typeface="Arial"/>
                <a:cs typeface="Arial"/>
                <a:sym typeface="Arial"/>
              </a:rPr>
              <a:t> of its superclasses</a:t>
            </a:r>
            <a:endParaRPr/>
          </a:p>
          <a:p>
            <a:pPr indent="-342900" lvl="0" marL="342900" rtl="0" algn="l">
              <a:lnSpc>
                <a:spcPct val="10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Difference from </a:t>
            </a:r>
            <a:r>
              <a:rPr b="0" i="1" lang="en-US" sz="2400" u="none">
                <a:solidFill>
                  <a:schemeClr val="dk2"/>
                </a:solidFill>
                <a:latin typeface="Arial"/>
                <a:ea typeface="Arial"/>
                <a:cs typeface="Arial"/>
                <a:sym typeface="Arial"/>
              </a:rPr>
              <a:t>shared subclass</a:t>
            </a:r>
            <a:r>
              <a:rPr b="0" i="0" lang="en-US" sz="2400" u="none">
                <a:solidFill>
                  <a:schemeClr val="dk2"/>
                </a:solidFill>
                <a:latin typeface="Arial"/>
                <a:ea typeface="Arial"/>
                <a:cs typeface="Arial"/>
                <a:sym typeface="Arial"/>
              </a:rPr>
              <a:t>, which is a:</a:t>
            </a:r>
            <a:endParaRPr b="0" i="1" sz="2400" u="none">
              <a:solidFill>
                <a:schemeClr val="dk2"/>
              </a:solidFill>
              <a:latin typeface="Arial"/>
              <a:ea typeface="Arial"/>
              <a:cs typeface="Arial"/>
              <a:sym typeface="Arial"/>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subset of the </a:t>
            </a:r>
            <a:r>
              <a:rPr b="0" i="1" lang="en-US" sz="2200" u="none">
                <a:solidFill>
                  <a:srgbClr val="800000"/>
                </a:solidFill>
                <a:latin typeface="Arial"/>
                <a:ea typeface="Arial"/>
                <a:cs typeface="Arial"/>
                <a:sym typeface="Arial"/>
              </a:rPr>
              <a:t>intersection</a:t>
            </a:r>
            <a:r>
              <a:rPr b="0" i="0" lang="en-US" sz="2200" u="none">
                <a:solidFill>
                  <a:srgbClr val="800000"/>
                </a:solidFill>
                <a:latin typeface="Arial"/>
                <a:ea typeface="Arial"/>
                <a:cs typeface="Arial"/>
                <a:sym typeface="Arial"/>
              </a:rPr>
              <a:t> of its superclasses</a:t>
            </a:r>
            <a:endParaRPr/>
          </a:p>
          <a:p>
            <a:pPr indent="-285750" lvl="1" marL="742950" rtl="0" algn="l">
              <a:lnSpc>
                <a:spcPct val="10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shared subclass member must exist in </a:t>
            </a:r>
            <a:r>
              <a:rPr b="1" i="1" lang="en-US" sz="2200" u="none">
                <a:solidFill>
                  <a:srgbClr val="800000"/>
                </a:solidFill>
                <a:latin typeface="Arial"/>
                <a:ea typeface="Arial"/>
                <a:cs typeface="Arial"/>
                <a:sym typeface="Arial"/>
              </a:rPr>
              <a:t>all</a:t>
            </a:r>
            <a:r>
              <a:rPr b="0" i="0" lang="en-US" sz="2200" u="none">
                <a:solidFill>
                  <a:srgbClr val="800000"/>
                </a:solidFill>
                <a:latin typeface="Arial"/>
                <a:ea typeface="Arial"/>
                <a:cs typeface="Arial"/>
                <a:sym typeface="Arial"/>
              </a:rPr>
              <a:t> of its superclasses</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78"/>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sp>
        <p:nvSpPr>
          <p:cNvPr id="555" name="Google Shape;555;p78"/>
          <p:cNvSpPr txBox="1"/>
          <p:nvPr>
            <p:ph type="title"/>
          </p:nvPr>
        </p:nvSpPr>
        <p:spPr>
          <a:xfrm>
            <a:off x="304800" y="303213"/>
            <a:ext cx="10394949"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Formal Definitions of EER Model (1)</a:t>
            </a:r>
            <a:endParaRPr/>
          </a:p>
        </p:txBody>
      </p:sp>
      <p:sp>
        <p:nvSpPr>
          <p:cNvPr id="556" name="Google Shape;556;p78"/>
          <p:cNvSpPr txBox="1"/>
          <p:nvPr>
            <p:ph idx="1" type="body"/>
          </p:nvPr>
        </p:nvSpPr>
        <p:spPr>
          <a:xfrm>
            <a:off x="319617"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Class C: </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A type of entity with a corresponding set of entities:</a:t>
            </a:r>
            <a:endParaRPr/>
          </a:p>
          <a:p>
            <a:pPr indent="-228600" lvl="2" marL="1143000" rtl="0" algn="l">
              <a:lnSpc>
                <a:spcPct val="9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could be entity type, subclass, superclass, or category</a:t>
            </a:r>
            <a:endParaRPr/>
          </a:p>
          <a:p>
            <a:pPr indent="-342900" lvl="0" marL="342900" rtl="0" algn="l">
              <a:lnSpc>
                <a:spcPct val="9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Note: The definition of </a:t>
            </a:r>
            <a:r>
              <a:rPr b="0" i="1" lang="en-US" sz="2400" u="none">
                <a:solidFill>
                  <a:schemeClr val="dk2"/>
                </a:solidFill>
                <a:latin typeface="Arial"/>
                <a:ea typeface="Arial"/>
                <a:cs typeface="Arial"/>
                <a:sym typeface="Arial"/>
              </a:rPr>
              <a:t>relationship type</a:t>
            </a:r>
            <a:r>
              <a:rPr b="0" i="0" lang="en-US" sz="2400" u="none">
                <a:solidFill>
                  <a:schemeClr val="dk2"/>
                </a:solidFill>
                <a:latin typeface="Arial"/>
                <a:ea typeface="Arial"/>
                <a:cs typeface="Arial"/>
                <a:sym typeface="Arial"/>
              </a:rPr>
              <a:t> in ER/EER should have 'entity type' replaced with 'class‘ to allow relationships among classes in general</a:t>
            </a:r>
            <a:endParaRPr/>
          </a:p>
          <a:p>
            <a:pPr indent="-342900" lvl="0" marL="342900" rtl="0" algn="l">
              <a:lnSpc>
                <a:spcPct val="9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Subclass S is a class whose:</a:t>
            </a:r>
            <a:endParaRPr/>
          </a:p>
          <a:p>
            <a:pPr indent="-228600" lvl="2" marL="1143000" rtl="0" algn="l">
              <a:lnSpc>
                <a:spcPct val="9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Type inherits all the attributes and relationship of a class C</a:t>
            </a:r>
            <a:endParaRPr/>
          </a:p>
          <a:p>
            <a:pPr indent="-228600" lvl="2" marL="1143000" rtl="0" algn="l">
              <a:lnSpc>
                <a:spcPct val="9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Set of entities must always be a subset of the set of entities of the other class C</a:t>
            </a:r>
            <a:endParaRPr/>
          </a:p>
          <a:p>
            <a:pPr indent="-228600" lvl="3" marL="1600200" rtl="0" algn="l">
              <a:lnSpc>
                <a:spcPct val="90000"/>
              </a:lnSpc>
              <a:spcBef>
                <a:spcPts val="360"/>
              </a:spcBef>
              <a:spcAft>
                <a:spcPts val="0"/>
              </a:spcAft>
              <a:buClr>
                <a:schemeClr val="dk2"/>
              </a:buClr>
              <a:buSzPts val="990"/>
              <a:buFont typeface="Noto Sans Symbols"/>
              <a:buChar char="■"/>
            </a:pPr>
            <a:r>
              <a:rPr b="0" i="0" lang="en-US" sz="1800" u="none">
                <a:solidFill>
                  <a:srgbClr val="800000"/>
                </a:solidFill>
                <a:latin typeface="Arial"/>
                <a:ea typeface="Arial"/>
                <a:cs typeface="Arial"/>
                <a:sym typeface="Arial"/>
              </a:rPr>
              <a:t>S ⊆ C</a:t>
            </a:r>
            <a:endParaRPr/>
          </a:p>
          <a:p>
            <a:pPr indent="-228600" lvl="2" marL="1143000" rtl="0" algn="l">
              <a:lnSpc>
                <a:spcPct val="9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C is called the superclass of S</a:t>
            </a:r>
            <a:endParaRPr/>
          </a:p>
          <a:p>
            <a:pPr indent="-228600" lvl="2" marL="1143000" rtl="0" algn="l">
              <a:lnSpc>
                <a:spcPct val="90000"/>
              </a:lnSpc>
              <a:spcBef>
                <a:spcPts val="400"/>
              </a:spcBef>
              <a:spcAft>
                <a:spcPts val="0"/>
              </a:spcAft>
              <a:buClr>
                <a:srgbClr val="990033"/>
              </a:buClr>
              <a:buSzPts val="1000"/>
              <a:buFont typeface="Noto Sans Symbols"/>
              <a:buChar char="■"/>
            </a:pPr>
            <a:r>
              <a:rPr b="0" i="0" lang="en-US" sz="2000" u="none">
                <a:solidFill>
                  <a:schemeClr val="dk2"/>
                </a:solidFill>
                <a:latin typeface="Arial"/>
                <a:ea typeface="Arial"/>
                <a:cs typeface="Arial"/>
                <a:sym typeface="Arial"/>
              </a:rPr>
              <a:t>A superclass/subclass relationship exists between S and C</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79"/>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sp>
        <p:nvSpPr>
          <p:cNvPr id="563" name="Google Shape;563;p79"/>
          <p:cNvSpPr txBox="1"/>
          <p:nvPr>
            <p:ph type="title"/>
          </p:nvPr>
        </p:nvSpPr>
        <p:spPr>
          <a:xfrm>
            <a:off x="304800" y="303213"/>
            <a:ext cx="10394949"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Formal Definitions of EER Model (2)</a:t>
            </a:r>
            <a:endParaRPr/>
          </a:p>
        </p:txBody>
      </p:sp>
      <p:sp>
        <p:nvSpPr>
          <p:cNvPr id="564" name="Google Shape;564;p79"/>
          <p:cNvSpPr txBox="1"/>
          <p:nvPr>
            <p:ph idx="1" type="body"/>
          </p:nvPr>
        </p:nvSpPr>
        <p:spPr>
          <a:xfrm>
            <a:off x="319617"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8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Specialization Z: Z = {S1, S2,…, Sn} is a set of subclasses with same superclass G; hence, G/Si is a superclass relationship for i = 1, …., n.</a:t>
            </a:r>
            <a:endParaRPr/>
          </a:p>
          <a:p>
            <a:pPr indent="-285750" lvl="1" marL="742950" rtl="0" algn="l">
              <a:lnSpc>
                <a:spcPct val="8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G is called a generalization of the subclasses {S1, S2,…, Sn} </a:t>
            </a:r>
            <a:endParaRPr/>
          </a:p>
          <a:p>
            <a:pPr indent="-285750" lvl="1" marL="742950" rtl="0" algn="l">
              <a:lnSpc>
                <a:spcPct val="8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Z is total if we always have:</a:t>
            </a:r>
            <a:endParaRPr/>
          </a:p>
          <a:p>
            <a:pPr indent="-228600" lvl="2" marL="1143000" rtl="0" algn="l">
              <a:lnSpc>
                <a:spcPct val="8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S1 ∪ S2 ∪ … ∪ Sn = G;</a:t>
            </a:r>
            <a:endParaRPr/>
          </a:p>
          <a:p>
            <a:pPr indent="-228600" lvl="2" marL="1143000" rtl="0" algn="l">
              <a:lnSpc>
                <a:spcPct val="8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Otherwise, Z is partial.</a:t>
            </a:r>
            <a:endParaRPr/>
          </a:p>
          <a:p>
            <a:pPr indent="-285750" lvl="1" marL="742950" rtl="0" algn="l">
              <a:lnSpc>
                <a:spcPct val="8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Z is disjoint if we always have:</a:t>
            </a:r>
            <a:endParaRPr/>
          </a:p>
          <a:p>
            <a:pPr indent="-228600" lvl="2" marL="1143000" rtl="0" algn="l">
              <a:lnSpc>
                <a:spcPct val="8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Si ∩ Sj empty-set for i ≠ j;</a:t>
            </a:r>
            <a:endParaRPr/>
          </a:p>
          <a:p>
            <a:pPr indent="-285750" lvl="1" marL="742950" rtl="0" algn="l">
              <a:lnSpc>
                <a:spcPct val="8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Otherwise, Z is overlapping.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80"/>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sp>
        <p:nvSpPr>
          <p:cNvPr id="571" name="Google Shape;571;p80"/>
          <p:cNvSpPr txBox="1"/>
          <p:nvPr>
            <p:ph type="title"/>
          </p:nvPr>
        </p:nvSpPr>
        <p:spPr>
          <a:xfrm>
            <a:off x="304800" y="303213"/>
            <a:ext cx="10394949"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Formal Definitions of EER Model (3)</a:t>
            </a:r>
            <a:endParaRPr/>
          </a:p>
        </p:txBody>
      </p:sp>
      <p:sp>
        <p:nvSpPr>
          <p:cNvPr id="572" name="Google Shape;572;p80"/>
          <p:cNvSpPr txBox="1"/>
          <p:nvPr>
            <p:ph idx="1" type="body"/>
          </p:nvPr>
        </p:nvSpPr>
        <p:spPr>
          <a:xfrm>
            <a:off x="319617"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Subclass S of C is predicate defined if predicate (condition)  p on attributes of C is used to specify membership in S; </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that is, S = C[p], where C[p] is the set of entities in C that satisfy condition p</a:t>
            </a:r>
            <a:endParaRPr/>
          </a:p>
          <a:p>
            <a:pPr indent="-342900" lvl="0" marL="342900" rtl="0" algn="l">
              <a:lnSpc>
                <a:spcPct val="9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A subclass not defined by a predicate is called user-defined </a:t>
            </a:r>
            <a:endParaRPr/>
          </a:p>
          <a:p>
            <a:pPr indent="-342900" lvl="0" marL="342900" rtl="0" algn="l">
              <a:lnSpc>
                <a:spcPct val="90000"/>
              </a:lnSpc>
              <a:spcBef>
                <a:spcPts val="480"/>
              </a:spcBef>
              <a:spcAft>
                <a:spcPts val="0"/>
              </a:spcAft>
              <a:buClr>
                <a:srgbClr val="990033"/>
              </a:buClr>
              <a:buSzPts val="1440"/>
              <a:buFont typeface="Noto Sans Symbols"/>
              <a:buChar char="■"/>
            </a:pPr>
            <a:r>
              <a:rPr b="0" i="0" lang="en-US" sz="2400" u="none">
                <a:solidFill>
                  <a:schemeClr val="dk2"/>
                </a:solidFill>
                <a:latin typeface="Arial"/>
                <a:ea typeface="Arial"/>
                <a:cs typeface="Arial"/>
                <a:sym typeface="Arial"/>
              </a:rPr>
              <a:t>Attribute-defined specialization: if a predicate A = ci (where A is an attribute of G and ci is a constant value from the domain of A) is used to specify membership in each subclass Si in Z</a:t>
            </a:r>
            <a:endParaRPr/>
          </a:p>
          <a:p>
            <a:pPr indent="-285750" lvl="1" marL="742950" rtl="0" algn="l">
              <a:lnSpc>
                <a:spcPct val="90000"/>
              </a:lnSpc>
              <a:spcBef>
                <a:spcPts val="440"/>
              </a:spcBef>
              <a:spcAft>
                <a:spcPts val="0"/>
              </a:spcAft>
              <a:buClr>
                <a:schemeClr val="dk2"/>
              </a:buClr>
              <a:buSzPts val="1210"/>
              <a:buFont typeface="Noto Sans Symbols"/>
              <a:buChar char="■"/>
            </a:pPr>
            <a:r>
              <a:rPr b="0" i="0" lang="en-US" sz="2200" u="none">
                <a:solidFill>
                  <a:srgbClr val="800000"/>
                </a:solidFill>
                <a:latin typeface="Arial"/>
                <a:ea typeface="Arial"/>
                <a:cs typeface="Arial"/>
                <a:sym typeface="Arial"/>
              </a:rPr>
              <a:t>Note: If ci ≠ cj for i ≠ j, and A is single-valued, then the attribute-defined specialization will be disjoint.</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81"/>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sp>
        <p:nvSpPr>
          <p:cNvPr id="579" name="Google Shape;579;p81"/>
          <p:cNvSpPr txBox="1"/>
          <p:nvPr>
            <p:ph type="title"/>
          </p:nvPr>
        </p:nvSpPr>
        <p:spPr>
          <a:xfrm>
            <a:off x="304800" y="303213"/>
            <a:ext cx="10394949"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Two categories (UNION types): OWNER, REGISTERED_VEHICLE</a:t>
            </a:r>
            <a:endParaRPr/>
          </a:p>
        </p:txBody>
      </p:sp>
      <p:pic>
        <p:nvPicPr>
          <p:cNvPr descr="fig04_08" id="580" name="Google Shape;580;p81"/>
          <p:cNvPicPr preferRelativeResize="0"/>
          <p:nvPr/>
        </p:nvPicPr>
        <p:blipFill rotWithShape="1">
          <a:blip r:embed="rId3">
            <a:alphaModFix/>
          </a:blip>
          <a:srcRect b="0" l="0" r="0" t="0"/>
          <a:stretch/>
        </p:blipFill>
        <p:spPr>
          <a:xfrm>
            <a:off x="609600" y="1371600"/>
            <a:ext cx="11074400" cy="5181600"/>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82"/>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sp>
        <p:nvSpPr>
          <p:cNvPr id="587" name="Google Shape;587;p82"/>
          <p:cNvSpPr txBox="1"/>
          <p:nvPr>
            <p:ph type="title"/>
          </p:nvPr>
        </p:nvSpPr>
        <p:spPr>
          <a:xfrm>
            <a:off x="304800" y="303213"/>
            <a:ext cx="10394949"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Formal Definitions of EER Model (4)</a:t>
            </a:r>
            <a:endParaRPr/>
          </a:p>
        </p:txBody>
      </p:sp>
      <p:sp>
        <p:nvSpPr>
          <p:cNvPr id="588" name="Google Shape;588;p82"/>
          <p:cNvSpPr txBox="1"/>
          <p:nvPr>
            <p:ph idx="1" type="body"/>
          </p:nvPr>
        </p:nvSpPr>
        <p:spPr>
          <a:xfrm>
            <a:off x="319617"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Category or UNION type T</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A class that is a subset of the </a:t>
            </a:r>
            <a:r>
              <a:rPr b="0" i="1" lang="en-US" sz="2600" u="none">
                <a:solidFill>
                  <a:srgbClr val="800000"/>
                </a:solidFill>
                <a:latin typeface="Arial"/>
                <a:ea typeface="Arial"/>
                <a:cs typeface="Arial"/>
                <a:sym typeface="Arial"/>
              </a:rPr>
              <a:t>union</a:t>
            </a:r>
            <a:r>
              <a:rPr b="0" i="0" lang="en-US" sz="2600" u="none">
                <a:solidFill>
                  <a:srgbClr val="800000"/>
                </a:solidFill>
                <a:latin typeface="Arial"/>
                <a:ea typeface="Arial"/>
                <a:cs typeface="Arial"/>
                <a:sym typeface="Arial"/>
              </a:rPr>
              <a:t> of n defining superclasses </a:t>
            </a:r>
            <a:br>
              <a:rPr b="0" i="0" lang="en-US" sz="2600" u="none">
                <a:solidFill>
                  <a:srgbClr val="800000"/>
                </a:solidFill>
                <a:latin typeface="Arial"/>
                <a:ea typeface="Arial"/>
                <a:cs typeface="Arial"/>
                <a:sym typeface="Arial"/>
              </a:rPr>
            </a:br>
            <a:r>
              <a:rPr b="0" i="0" lang="en-US" sz="2600" u="none">
                <a:solidFill>
                  <a:srgbClr val="800000"/>
                </a:solidFill>
                <a:latin typeface="Arial"/>
                <a:ea typeface="Arial"/>
                <a:cs typeface="Arial"/>
                <a:sym typeface="Arial"/>
              </a:rPr>
              <a:t>D1, D2,…Dn, n&gt;1:</a:t>
            </a:r>
            <a:endParaRPr/>
          </a:p>
          <a:p>
            <a:pPr indent="-228600" lvl="2" marL="1143000" rtl="0" algn="l">
              <a:lnSpc>
                <a:spcPct val="100000"/>
              </a:lnSpc>
              <a:spcBef>
                <a:spcPts val="480"/>
              </a:spcBef>
              <a:spcAft>
                <a:spcPts val="0"/>
              </a:spcAft>
              <a:buClr>
                <a:srgbClr val="990033"/>
              </a:buClr>
              <a:buSzPts val="1200"/>
              <a:buFont typeface="Noto Sans Symbols"/>
              <a:buChar char="■"/>
            </a:pPr>
            <a:r>
              <a:rPr b="0" i="0" lang="en-US" sz="2400" u="none">
                <a:solidFill>
                  <a:schemeClr val="dk2"/>
                </a:solidFill>
                <a:latin typeface="Arial"/>
                <a:ea typeface="Arial"/>
                <a:cs typeface="Arial"/>
                <a:sym typeface="Arial"/>
              </a:rPr>
              <a:t>T ⊆ (D1 ∪ D2 ∪ … ∪ Dn)</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Can have a predicate pi on the attributes of Di to specify entities of Di that are members of T. </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If a predicate is specified on every Di: T = (D1[p1] ∪ D2[p2] ∪…∪ Dn[pn])</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83"/>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sp>
        <p:nvSpPr>
          <p:cNvPr id="594" name="Google Shape;594;p83"/>
          <p:cNvSpPr txBox="1"/>
          <p:nvPr>
            <p:ph type="title"/>
          </p:nvPr>
        </p:nvSpPr>
        <p:spPr>
          <a:xfrm>
            <a:off x="304800" y="303213"/>
            <a:ext cx="10394949"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Alternative diagrammatic notations</a:t>
            </a:r>
            <a:endParaRPr/>
          </a:p>
        </p:txBody>
      </p:sp>
      <p:sp>
        <p:nvSpPr>
          <p:cNvPr id="595" name="Google Shape;595;p83"/>
          <p:cNvSpPr txBox="1"/>
          <p:nvPr>
            <p:ph idx="1" type="body"/>
          </p:nvPr>
        </p:nvSpPr>
        <p:spPr>
          <a:xfrm>
            <a:off x="319617"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ER/EER diagrams are a specific notation for displaying the concepts of the model diagrammatically</a:t>
            </a:r>
            <a:endParaRPr/>
          </a:p>
          <a:p>
            <a:pPr indent="-342900" lvl="0" marL="34290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DB design tools use many alternative notations for the same or similar concepts</a:t>
            </a:r>
            <a:endParaRPr/>
          </a:p>
          <a:p>
            <a:pPr indent="-342900" lvl="0" marL="34290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One popular alternative notation uses </a:t>
            </a:r>
            <a:r>
              <a:rPr b="0" i="1" lang="en-US" sz="2800" u="none">
                <a:solidFill>
                  <a:schemeClr val="dk2"/>
                </a:solidFill>
                <a:latin typeface="Arial"/>
                <a:ea typeface="Arial"/>
                <a:cs typeface="Arial"/>
                <a:sym typeface="Arial"/>
              </a:rPr>
              <a:t>UML class diagrams</a:t>
            </a:r>
            <a:endParaRPr/>
          </a:p>
          <a:p>
            <a:pPr indent="-342900" lvl="0" marL="34290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see next slides for UML class diagrams and other alternative notations</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84"/>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sp>
        <p:nvSpPr>
          <p:cNvPr id="602" name="Google Shape;602;p84"/>
          <p:cNvSpPr txBox="1"/>
          <p:nvPr>
            <p:ph type="title"/>
          </p:nvPr>
        </p:nvSpPr>
        <p:spPr>
          <a:xfrm>
            <a:off x="304800" y="303213"/>
            <a:ext cx="10394949"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UML Example for Displaying Specialization / Generalization</a:t>
            </a:r>
            <a:endParaRPr/>
          </a:p>
        </p:txBody>
      </p:sp>
      <p:pic>
        <p:nvPicPr>
          <p:cNvPr descr="fig04_10" id="603" name="Google Shape;603;p84"/>
          <p:cNvPicPr preferRelativeResize="0"/>
          <p:nvPr/>
        </p:nvPicPr>
        <p:blipFill rotWithShape="1">
          <a:blip r:embed="rId3">
            <a:alphaModFix/>
          </a:blip>
          <a:srcRect b="0" l="0" r="0" t="0"/>
          <a:stretch/>
        </p:blipFill>
        <p:spPr>
          <a:xfrm>
            <a:off x="2950634" y="1590676"/>
            <a:ext cx="6193367" cy="4962525"/>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85"/>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sp>
        <p:nvSpPr>
          <p:cNvPr id="610" name="Google Shape;610;p85"/>
          <p:cNvSpPr txBox="1"/>
          <p:nvPr>
            <p:ph type="title"/>
          </p:nvPr>
        </p:nvSpPr>
        <p:spPr>
          <a:xfrm>
            <a:off x="304800" y="303213"/>
            <a:ext cx="10394949"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Alternative Diagrammatic Notations</a:t>
            </a:r>
            <a:endParaRPr/>
          </a:p>
        </p:txBody>
      </p:sp>
      <p:pic>
        <p:nvPicPr>
          <p:cNvPr descr="figA_01" id="611" name="Google Shape;611;p85"/>
          <p:cNvPicPr preferRelativeResize="0"/>
          <p:nvPr/>
        </p:nvPicPr>
        <p:blipFill rotWithShape="1">
          <a:blip r:embed="rId3">
            <a:alphaModFix/>
          </a:blip>
          <a:srcRect b="0" l="0" r="0" t="0"/>
          <a:stretch/>
        </p:blipFill>
        <p:spPr>
          <a:xfrm>
            <a:off x="0" y="-1539875"/>
            <a:ext cx="12192000" cy="8148637"/>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86"/>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sp>
        <p:nvSpPr>
          <p:cNvPr id="618" name="Google Shape;618;p86"/>
          <p:cNvSpPr txBox="1"/>
          <p:nvPr>
            <p:ph type="title"/>
          </p:nvPr>
        </p:nvSpPr>
        <p:spPr>
          <a:xfrm>
            <a:off x="304800" y="303213"/>
            <a:ext cx="10394949"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200"/>
              <a:buFont typeface="Arial"/>
              <a:buNone/>
            </a:pPr>
            <a:r>
              <a:rPr b="0" i="0" lang="en-US" sz="3200" u="none">
                <a:solidFill>
                  <a:srgbClr val="800000"/>
                </a:solidFill>
                <a:latin typeface="Arial"/>
                <a:ea typeface="Arial"/>
                <a:cs typeface="Arial"/>
                <a:sym typeface="Arial"/>
              </a:rPr>
              <a:t>General Conceptual Modeling Concepts</a:t>
            </a:r>
            <a:endParaRPr/>
          </a:p>
        </p:txBody>
      </p:sp>
      <p:sp>
        <p:nvSpPr>
          <p:cNvPr id="619" name="Google Shape;619;p86"/>
          <p:cNvSpPr txBox="1"/>
          <p:nvPr>
            <p:ph idx="1" type="body"/>
          </p:nvPr>
        </p:nvSpPr>
        <p:spPr>
          <a:xfrm>
            <a:off x="319617"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GENERAL DATA ABSTRACTIONS</a:t>
            </a:r>
            <a:endParaRPr/>
          </a:p>
          <a:p>
            <a:pPr indent="-285750" lvl="1" marL="742950" rtl="0" algn="l">
              <a:lnSpc>
                <a:spcPct val="9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CLASSIFICATION and INSTANTIATION</a:t>
            </a:r>
            <a:endParaRPr/>
          </a:p>
          <a:p>
            <a:pPr indent="-285750" lvl="1" marL="742950" rtl="0" algn="l">
              <a:lnSpc>
                <a:spcPct val="9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AGGREGATION and ASSOCIATION (relationships)</a:t>
            </a:r>
            <a:endParaRPr/>
          </a:p>
          <a:p>
            <a:pPr indent="-285750" lvl="1" marL="742950" rtl="0" algn="l">
              <a:lnSpc>
                <a:spcPct val="9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GENERALIZATION and SPECIALIZATION</a:t>
            </a:r>
            <a:endParaRPr/>
          </a:p>
          <a:p>
            <a:pPr indent="-285750" lvl="1" marL="742950" rtl="0" algn="l">
              <a:lnSpc>
                <a:spcPct val="9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IDENTIFICATION</a:t>
            </a:r>
            <a:endParaRPr/>
          </a:p>
          <a:p>
            <a:pPr indent="-342900" lvl="0" marL="342900" rtl="0" algn="l">
              <a:lnSpc>
                <a:spcPct val="9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CONSTRAINTS</a:t>
            </a:r>
            <a:endParaRPr/>
          </a:p>
          <a:p>
            <a:pPr indent="-285750" lvl="1" marL="742950" rtl="0" algn="l">
              <a:lnSpc>
                <a:spcPct val="9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CARDINALITY (Min and Max)</a:t>
            </a:r>
            <a:endParaRPr/>
          </a:p>
          <a:p>
            <a:pPr indent="-285750" lvl="1" marL="742950" rtl="0" algn="l">
              <a:lnSpc>
                <a:spcPct val="9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COVERAGE (Total vs. Partial, and Exclusive (disjoint) vs. Overlapping)</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87"/>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sp>
        <p:nvSpPr>
          <p:cNvPr id="625" name="Google Shape;625;p87"/>
          <p:cNvSpPr txBox="1"/>
          <p:nvPr>
            <p:ph type="title"/>
          </p:nvPr>
        </p:nvSpPr>
        <p:spPr>
          <a:xfrm>
            <a:off x="304800" y="303213"/>
            <a:ext cx="10394949"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Ontologies</a:t>
            </a:r>
            <a:endParaRPr/>
          </a:p>
        </p:txBody>
      </p:sp>
      <p:sp>
        <p:nvSpPr>
          <p:cNvPr id="626" name="Google Shape;626;p87"/>
          <p:cNvSpPr txBox="1"/>
          <p:nvPr>
            <p:ph idx="1" type="body"/>
          </p:nvPr>
        </p:nvSpPr>
        <p:spPr>
          <a:xfrm>
            <a:off x="319617"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9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Use conceptual modeling and other tools to develop “a specification of a conceptualization”</a:t>
            </a:r>
            <a:endParaRPr/>
          </a:p>
          <a:p>
            <a:pPr indent="-285750" lvl="1" marL="742950" rtl="0" algn="l">
              <a:lnSpc>
                <a:spcPct val="90000"/>
              </a:lnSpc>
              <a:spcBef>
                <a:spcPts val="520"/>
              </a:spcBef>
              <a:spcAft>
                <a:spcPts val="0"/>
              </a:spcAft>
              <a:buClr>
                <a:schemeClr val="dk2"/>
              </a:buClr>
              <a:buSzPts val="1430"/>
              <a:buFont typeface="Noto Sans Symbols"/>
              <a:buChar char="■"/>
            </a:pPr>
            <a:r>
              <a:rPr b="1" i="0" lang="en-US" sz="2600" u="none">
                <a:solidFill>
                  <a:srgbClr val="800000"/>
                </a:solidFill>
                <a:latin typeface="Arial"/>
                <a:ea typeface="Arial"/>
                <a:cs typeface="Arial"/>
                <a:sym typeface="Arial"/>
              </a:rPr>
              <a:t>Specification </a:t>
            </a:r>
            <a:r>
              <a:rPr b="0" i="0" lang="en-US" sz="2600" u="none">
                <a:solidFill>
                  <a:srgbClr val="800000"/>
                </a:solidFill>
                <a:latin typeface="Arial"/>
                <a:ea typeface="Arial"/>
                <a:cs typeface="Arial"/>
                <a:sym typeface="Arial"/>
              </a:rPr>
              <a:t>refers to the language and vocabulary (data model concepts) used</a:t>
            </a:r>
            <a:endParaRPr/>
          </a:p>
          <a:p>
            <a:pPr indent="-285750" lvl="1" marL="742950" rtl="0" algn="l">
              <a:lnSpc>
                <a:spcPct val="90000"/>
              </a:lnSpc>
              <a:spcBef>
                <a:spcPts val="520"/>
              </a:spcBef>
              <a:spcAft>
                <a:spcPts val="0"/>
              </a:spcAft>
              <a:buClr>
                <a:schemeClr val="dk2"/>
              </a:buClr>
              <a:buSzPts val="1430"/>
              <a:buFont typeface="Noto Sans Symbols"/>
              <a:buChar char="■"/>
            </a:pPr>
            <a:r>
              <a:rPr b="1" i="0" lang="en-US" sz="2600" u="none">
                <a:solidFill>
                  <a:srgbClr val="800000"/>
                </a:solidFill>
                <a:latin typeface="Arial"/>
                <a:ea typeface="Arial"/>
                <a:cs typeface="Arial"/>
                <a:sym typeface="Arial"/>
              </a:rPr>
              <a:t>Conceptualization</a:t>
            </a:r>
            <a:r>
              <a:rPr b="0" i="0" lang="en-US" sz="2600" u="none">
                <a:solidFill>
                  <a:srgbClr val="800000"/>
                </a:solidFill>
                <a:latin typeface="Arial"/>
                <a:ea typeface="Arial"/>
                <a:cs typeface="Arial"/>
                <a:sym typeface="Arial"/>
              </a:rPr>
              <a:t> refers to the description (schema) of the concepts of a particular field of knowledge and the relationships among these concepts</a:t>
            </a:r>
            <a:endParaRPr/>
          </a:p>
          <a:p>
            <a:pPr indent="-342900" lvl="0" marL="342900" rtl="0" algn="l">
              <a:lnSpc>
                <a:spcPct val="9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Many medical, scientific, and engineering ontologies are being developed as a means of standardizing concepts and terminology</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88"/>
          <p:cNvSpPr txBox="1"/>
          <p:nvPr/>
        </p:nvSpPr>
        <p:spPr>
          <a:xfrm>
            <a:off x="9245600" y="6400800"/>
            <a:ext cx="25400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990033"/>
              </a:buClr>
              <a:buSzPts val="1400"/>
              <a:buFont typeface="Arial"/>
              <a:buNone/>
            </a:pPr>
            <a:r>
              <a:rPr b="1" i="0" lang="en-US" sz="1400" u="none">
                <a:solidFill>
                  <a:srgbClr val="990033"/>
                </a:solidFill>
                <a:latin typeface="Arial"/>
                <a:ea typeface="Arial"/>
                <a:cs typeface="Arial"/>
                <a:sym typeface="Arial"/>
              </a:rPr>
              <a:t>Slide 4- </a:t>
            </a:r>
            <a:fld id="{00000000-1234-1234-1234-123412341234}" type="slidenum">
              <a:rPr b="1" i="0" lang="en-US" sz="1400" u="none">
                <a:solidFill>
                  <a:srgbClr val="990033"/>
                </a:solidFill>
                <a:latin typeface="Arial"/>
                <a:ea typeface="Arial"/>
                <a:cs typeface="Arial"/>
                <a:sym typeface="Arial"/>
              </a:rPr>
              <a:t>‹#›</a:t>
            </a:fld>
            <a:endParaRPr sz="1800">
              <a:solidFill>
                <a:schemeClr val="dk1"/>
              </a:solidFill>
              <a:latin typeface="Calibri"/>
              <a:ea typeface="Calibri"/>
              <a:cs typeface="Calibri"/>
              <a:sym typeface="Calibri"/>
            </a:endParaRPr>
          </a:p>
        </p:txBody>
      </p:sp>
      <p:sp>
        <p:nvSpPr>
          <p:cNvPr id="632" name="Google Shape;632;p88"/>
          <p:cNvSpPr txBox="1"/>
          <p:nvPr>
            <p:ph type="title"/>
          </p:nvPr>
        </p:nvSpPr>
        <p:spPr>
          <a:xfrm>
            <a:off x="304800" y="303213"/>
            <a:ext cx="10394949" cy="9921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800000"/>
              </a:buClr>
              <a:buSzPts val="3600"/>
              <a:buFont typeface="Arial"/>
              <a:buNone/>
            </a:pPr>
            <a:r>
              <a:rPr b="0" i="0" lang="en-US" sz="3600" u="none">
                <a:solidFill>
                  <a:srgbClr val="800000"/>
                </a:solidFill>
                <a:latin typeface="Arial"/>
                <a:ea typeface="Arial"/>
                <a:cs typeface="Arial"/>
                <a:sym typeface="Arial"/>
              </a:rPr>
              <a:t>Summary</a:t>
            </a:r>
            <a:endParaRPr/>
          </a:p>
        </p:txBody>
      </p:sp>
      <p:sp>
        <p:nvSpPr>
          <p:cNvPr id="633" name="Google Shape;633;p88"/>
          <p:cNvSpPr txBox="1"/>
          <p:nvPr>
            <p:ph idx="1" type="body"/>
          </p:nvPr>
        </p:nvSpPr>
        <p:spPr>
          <a:xfrm>
            <a:off x="319617" y="1600200"/>
            <a:ext cx="11059583" cy="4572000"/>
          </a:xfrm>
          <a:prstGeom prst="rect">
            <a:avLst/>
          </a:prstGeom>
          <a:noFill/>
          <a:ln>
            <a:noFill/>
          </a:ln>
        </p:spPr>
        <p:txBody>
          <a:bodyPr anchorCtr="0" anchor="t" bIns="45700" lIns="91425" spcFirstLastPara="1" rIns="0" wrap="square" tIns="45700">
            <a:noAutofit/>
          </a:bodyPr>
          <a:lstStyle/>
          <a:p>
            <a:pPr indent="-342900" lvl="0" marL="342900" rtl="0" algn="l">
              <a:lnSpc>
                <a:spcPct val="100000"/>
              </a:lnSpc>
              <a:spcBef>
                <a:spcPts val="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Introduced the EER model concepts</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Class/subclass relationships</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Specialization and generalization</a:t>
            </a:r>
            <a:endParaRPr/>
          </a:p>
          <a:p>
            <a:pPr indent="-285750" lvl="1" marL="742950" rtl="0" algn="l">
              <a:lnSpc>
                <a:spcPct val="100000"/>
              </a:lnSpc>
              <a:spcBef>
                <a:spcPts val="520"/>
              </a:spcBef>
              <a:spcAft>
                <a:spcPts val="0"/>
              </a:spcAft>
              <a:buClr>
                <a:schemeClr val="dk2"/>
              </a:buClr>
              <a:buSzPts val="1430"/>
              <a:buFont typeface="Noto Sans Symbols"/>
              <a:buChar char="■"/>
            </a:pPr>
            <a:r>
              <a:rPr b="0" i="0" lang="en-US" sz="2600" u="none">
                <a:solidFill>
                  <a:srgbClr val="800000"/>
                </a:solidFill>
                <a:latin typeface="Arial"/>
                <a:ea typeface="Arial"/>
                <a:cs typeface="Arial"/>
                <a:sym typeface="Arial"/>
              </a:rPr>
              <a:t>Inheritance</a:t>
            </a:r>
            <a:endParaRPr/>
          </a:p>
          <a:p>
            <a:pPr indent="-342900" lvl="0" marL="34290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These augment the basic ER model concepts introduced in Chapter 3</a:t>
            </a:r>
            <a:endParaRPr/>
          </a:p>
          <a:p>
            <a:pPr indent="-342900" lvl="0" marL="342900" rtl="0" algn="l">
              <a:lnSpc>
                <a:spcPct val="100000"/>
              </a:lnSpc>
              <a:spcBef>
                <a:spcPts val="560"/>
              </a:spcBef>
              <a:spcAft>
                <a:spcPts val="0"/>
              </a:spcAft>
              <a:buClr>
                <a:srgbClr val="990033"/>
              </a:buClr>
              <a:buSzPts val="1680"/>
              <a:buFont typeface="Noto Sans Symbols"/>
              <a:buChar char="■"/>
            </a:pPr>
            <a:r>
              <a:rPr b="0" i="0" lang="en-US" sz="2800" u="none">
                <a:solidFill>
                  <a:schemeClr val="dk2"/>
                </a:solidFill>
                <a:latin typeface="Arial"/>
                <a:ea typeface="Arial"/>
                <a:cs typeface="Arial"/>
                <a:sym typeface="Arial"/>
              </a:rPr>
              <a:t>EER diagrams and alternative notations were presented</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