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6858000" cx="9144000"/>
  <p:notesSz cx="6858000" cy="9144000"/>
  <p:embeddedFontLst>
    <p:embeddedFont>
      <p:font typeface="Tahoma"/>
      <p:regular r:id="rId59"/>
      <p:bold r:id="rId6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61" roundtripDataSignature="AMtx7mgyYMvSubPdrleTBLPKGQQZr7K9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1" Type="http://customschemas.google.com/relationships/presentationmetadata" Target="meta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Tahoma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Tahoma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54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8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SOC SOC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Google Shape;216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7111f1cfc4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27111f1cfc4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7" name="Google Shape;30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7" name="Google Shape;337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3" name="Google Shape;35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6" name="Google Shape;376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7" name="Google Shape;377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0" name="Google Shape;40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8" name="Google Shape;408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5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3" name="Google Shape;423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9" name="Google Shape;439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8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7" name="Google Shape;447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9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5" name="Google Shape;455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6" name="Google Shape;456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3" name="Google Shape;463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2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9" name="Google Shape;479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4"/>
          <p:cNvSpPr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616B25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54"/>
          <p:cNvSpPr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4"/>
          <p:cNvSpPr/>
          <p:nvPr/>
        </p:nvSpPr>
        <p:spPr>
          <a:xfrm>
            <a:off x="7315200" y="2438400"/>
            <a:ext cx="1828800" cy="22907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4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descr="Pink tissue paper" id="25" name="Google Shape;25;p54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awtri_4c UPDATE_color" id="26" name="Google Shape;26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</p:spPr>
      </p:pic>
      <p:sp>
        <p:nvSpPr>
          <p:cNvPr descr="Pink tissue paper" id="27" name="Google Shape;27;p54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pic>
        <p:nvPicPr>
          <p:cNvPr descr="elmasri_thumb" id="28" name="Google Shape;2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36" name="Google Shape;36;p5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7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40" name="Google Shape;40;p57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41" name="Google Shape;41;p5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45" name="Google Shape;45;p5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46" name="Google Shape;46;p5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47" name="Google Shape;47;p5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48" name="Google Shape;48;p5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9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7" name="Google Shape;57;p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8" name="Google Shape;58;p6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6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3" name="Google Shape;63;p6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3"/>
          <p:cNvSpPr txBox="1"/>
          <p:nvPr>
            <p:ph idx="1" type="body"/>
          </p:nvPr>
        </p:nvSpPr>
        <p:spPr>
          <a:xfrm rot="5400000">
            <a:off x="2101057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67" name="Google Shape;67;p6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4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4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1" name="Google Shape;71;p6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3"/>
          <p:cNvGrpSpPr/>
          <p:nvPr/>
        </p:nvGrpSpPr>
        <p:grpSpPr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1" name="Google Shape;11;p53"/>
            <p:cNvSpPr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2" name="Google Shape;12;p53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53"/>
              <p:cNvSpPr/>
              <p:nvPr/>
            </p:nvSpPr>
            <p:spPr>
              <a:xfrm flipH="1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32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4" name="Google Shape;14;p53"/>
              <p:cNvSpPr/>
              <p:nvPr/>
            </p:nvSpPr>
            <p:spPr>
              <a:xfrm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32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5" name="Google Shape;15;p53"/>
          <p:cNvSpPr/>
          <p:nvPr/>
        </p:nvSpPr>
        <p:spPr>
          <a:xfrm>
            <a:off x="1" y="0"/>
            <a:ext cx="9140825" cy="1449388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" name="Google Shape;16;p5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5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1" i="0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53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53"/>
          <p:cNvSpPr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Ramez Elmasri and Shamkant B. Navathe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Copyright © 2007 Ramez Elmasri and Shamkant B. Navathe</a:t>
            </a:r>
            <a:endParaRPr/>
          </a:p>
        </p:txBody>
      </p:sp>
      <p:sp>
        <p:nvSpPr>
          <p:cNvPr descr="Pink tissue paper" id="78" name="Google Shape;78;p1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Pink tissue paper" id="79" name="Google Shape;79;p1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/>
              <a:t>Database System Concepts and Architecture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87" name="Google Shape;87;p2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 Models and Their Categories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History of Data Models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Schemas, Instances, and States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Three-Schema Architecture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 Independence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DBMS Languages and Interfaces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Database System Utilities and Tools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Centralized and Client-Server Architectures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Classification of DBMSs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Models</a:t>
            </a:r>
            <a:endParaRPr/>
          </a:p>
        </p:txBody>
      </p:sp>
      <p:sp>
        <p:nvSpPr>
          <p:cNvPr id="95" name="Google Shape;95;p3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Data Model: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A set of concepts to describe the </a:t>
            </a:r>
            <a:r>
              <a:rPr b="1" i="1" lang="en-US" sz="2200"/>
              <a:t>structure</a:t>
            </a:r>
            <a:r>
              <a:rPr lang="en-US" sz="2200"/>
              <a:t> of a database, the </a:t>
            </a:r>
            <a:r>
              <a:rPr b="1" i="1" lang="en-US" sz="2200"/>
              <a:t>operations </a:t>
            </a:r>
            <a:r>
              <a:rPr lang="en-US" sz="2200"/>
              <a:t>for manipulating these structures, and certain </a:t>
            </a:r>
            <a:r>
              <a:rPr b="1" i="1" lang="en-US" sz="2200"/>
              <a:t>constraints</a:t>
            </a:r>
            <a:r>
              <a:rPr lang="en-US" sz="2200"/>
              <a:t> that the database should obey.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Data Model Structure and Constraints: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Constructs are used to define the database structure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Constructs typically include </a:t>
            </a:r>
            <a:r>
              <a:rPr b="1" i="1" lang="en-US" sz="2200"/>
              <a:t>elements </a:t>
            </a:r>
            <a:r>
              <a:rPr lang="en-US" sz="2200"/>
              <a:t>(and their </a:t>
            </a:r>
            <a:r>
              <a:rPr b="1" i="1" lang="en-US" sz="2200"/>
              <a:t>data types</a:t>
            </a:r>
            <a:r>
              <a:rPr lang="en-US" sz="2200"/>
              <a:t>) as well as groups of elements (e.g. </a:t>
            </a:r>
            <a:r>
              <a:rPr b="1" i="1" lang="en-US" sz="2200"/>
              <a:t>entity, record, table</a:t>
            </a:r>
            <a:r>
              <a:rPr lang="en-US" sz="2200"/>
              <a:t>), and </a:t>
            </a:r>
            <a:r>
              <a:rPr b="1" i="1" lang="en-US" sz="2200"/>
              <a:t>relationships</a:t>
            </a:r>
            <a:r>
              <a:rPr lang="en-US" sz="2200"/>
              <a:t> among such groups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Constraints specify some restrictions on valid data; these constraints must be enforced at all times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Models (continued)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Data Model Operations: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These operations are used for specifying database </a:t>
            </a:r>
            <a:r>
              <a:rPr i="1" lang="en-US"/>
              <a:t>retrievals</a:t>
            </a:r>
            <a:r>
              <a:rPr lang="en-US"/>
              <a:t> and </a:t>
            </a:r>
            <a:r>
              <a:rPr i="1" lang="en-US"/>
              <a:t>updates</a:t>
            </a:r>
            <a:r>
              <a:rPr lang="en-US"/>
              <a:t> by referring to the constructs of the data model.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Operations on the data model may include </a:t>
            </a:r>
            <a:r>
              <a:rPr b="1" i="1" lang="en-US"/>
              <a:t>basic model operations </a:t>
            </a:r>
            <a:r>
              <a:rPr lang="en-US"/>
              <a:t>(e.g. generic insert, delete, update) and</a:t>
            </a:r>
            <a:r>
              <a:rPr b="1" i="1" lang="en-US"/>
              <a:t> user-defined operations </a:t>
            </a:r>
            <a:r>
              <a:rPr lang="en-US"/>
              <a:t>(e.g. compute_student_gpa, update_inventory)</a:t>
            </a:r>
            <a:endParaRPr b="1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Categories of Data Models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Conceptual (high-level, semantic) data models: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Provide concepts that are close to the way many users perceive data.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(Also called </a:t>
            </a:r>
            <a:r>
              <a:rPr b="1" i="1" lang="en-US" sz="2000"/>
              <a:t>entity-based</a:t>
            </a:r>
            <a:r>
              <a:rPr i="1" lang="en-US" sz="2000"/>
              <a:t> </a:t>
            </a:r>
            <a:r>
              <a:rPr lang="en-US" sz="2000"/>
              <a:t>or</a:t>
            </a:r>
            <a:r>
              <a:rPr i="1" lang="en-US" sz="2000"/>
              <a:t> </a:t>
            </a:r>
            <a:r>
              <a:rPr b="1" i="1" lang="en-US" sz="2000"/>
              <a:t>object-based</a:t>
            </a:r>
            <a:r>
              <a:rPr lang="en-US" sz="2000"/>
              <a:t> data models.)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Physical (low-level, internal) data models: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Provide concepts that describe details of how data is stored in the computer. These are usually specified in an ad-hoc manner through DBMS design and administration manuals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Implementation (representational) data models: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Provide concepts that fall between the above two, used by many commercial DBMS implementations (e.g. relational data models used in many commercial systems).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Schemas versus Instances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Database Schema: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</a:t>
            </a:r>
            <a:r>
              <a:rPr b="1" i="1" lang="en-US"/>
              <a:t>description</a:t>
            </a:r>
            <a:r>
              <a:rPr lang="en-US"/>
              <a:t> of a database.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Includes descriptions of the database structure, data types, and the constraints on the database.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Schema Diagram: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An </a:t>
            </a:r>
            <a:r>
              <a:rPr b="1" i="1" lang="en-US"/>
              <a:t>illustrative</a:t>
            </a:r>
            <a:r>
              <a:rPr lang="en-US"/>
              <a:t> display of (most aspects of) a database schema.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Schema Construct: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 </a:t>
            </a:r>
            <a:r>
              <a:rPr b="1" i="1" lang="en-US"/>
              <a:t>component</a:t>
            </a:r>
            <a:r>
              <a:rPr lang="en-US"/>
              <a:t> of the schema or an object within the schema, e.g., STUDENT, COURSE.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Schemas versus Instances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Database State: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actual data stored in a database at a </a:t>
            </a:r>
            <a:r>
              <a:rPr b="1" i="1" lang="en-US"/>
              <a:t>particular moment in time</a:t>
            </a:r>
            <a:r>
              <a:rPr lang="en-US"/>
              <a:t>. This includes the collection of all the data in the database.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Also called database instance (or occurrence or snapshot).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The term </a:t>
            </a:r>
            <a:r>
              <a:rPr i="1" lang="en-US"/>
              <a:t>instance </a:t>
            </a:r>
            <a:r>
              <a:rPr lang="en-US"/>
              <a:t> is also applied to individual database components, e.g. </a:t>
            </a:r>
            <a:r>
              <a:rPr i="1" lang="en-US"/>
              <a:t>record instance, table instance, entity instance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Schema </a:t>
            </a:r>
            <a:br>
              <a:rPr lang="en-US"/>
            </a:br>
            <a:r>
              <a:rPr lang="en-US"/>
              <a:t>vs. Database State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Database State: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Refers to the </a:t>
            </a:r>
            <a:r>
              <a:rPr b="1" i="1" lang="en-US"/>
              <a:t>content</a:t>
            </a:r>
            <a:r>
              <a:rPr lang="en-US"/>
              <a:t> of a database at a moment in time.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Initial Database State: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Refers to the database state when it is initially loaded into the system.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Valid State: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 state that satisfies the structure and constraints of the database.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9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Schema </a:t>
            </a:r>
            <a:br>
              <a:rPr lang="en-US"/>
            </a:br>
            <a:r>
              <a:rPr lang="en-US"/>
              <a:t>vs. Database State (continued)</a:t>
            </a:r>
            <a:endParaRPr/>
          </a:p>
        </p:txBody>
      </p:sp>
      <p:sp>
        <p:nvSpPr>
          <p:cNvPr id="143" name="Google Shape;143;p9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Distinction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</a:t>
            </a:r>
            <a:r>
              <a:rPr b="1" i="1" lang="en-US"/>
              <a:t>database schema</a:t>
            </a:r>
            <a:r>
              <a:rPr lang="en-US"/>
              <a:t> changes very infrequently.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</a:t>
            </a:r>
            <a:r>
              <a:rPr b="1" i="1" lang="en-US"/>
              <a:t>database state</a:t>
            </a:r>
            <a:r>
              <a:rPr lang="en-US"/>
              <a:t> changes every time the database is updated. </a:t>
            </a:r>
            <a:endParaRPr/>
          </a:p>
          <a:p>
            <a:pPr indent="-194944" lvl="1" marL="742950" rtl="0" algn="l"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Schema</a:t>
            </a:r>
            <a:r>
              <a:rPr lang="en-US"/>
              <a:t> is also called </a:t>
            </a:r>
            <a:r>
              <a:rPr b="1" lang="en-US"/>
              <a:t>intension</a:t>
            </a:r>
            <a:r>
              <a:rPr lang="en-US"/>
              <a:t>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State</a:t>
            </a:r>
            <a:r>
              <a:rPr lang="en-US"/>
              <a:t> is also called </a:t>
            </a:r>
            <a:r>
              <a:rPr b="1" lang="en-US"/>
              <a:t>extension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0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a Database Schema</a:t>
            </a:r>
            <a:endParaRPr/>
          </a:p>
        </p:txBody>
      </p:sp>
      <p:pic>
        <p:nvPicPr>
          <p:cNvPr descr="fig02_01" id="150" name="Google Shape;1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05000"/>
            <a:ext cx="7772400" cy="42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a database state</a:t>
            </a:r>
            <a:endParaRPr/>
          </a:p>
        </p:txBody>
      </p:sp>
      <p:pic>
        <p:nvPicPr>
          <p:cNvPr descr="fig01_02" id="157" name="Google Shape;15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3425" y="1492250"/>
            <a:ext cx="4397375" cy="506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Three-Schema Architecture</a:t>
            </a:r>
            <a:endParaRPr/>
          </a:p>
        </p:txBody>
      </p:sp>
      <p:sp>
        <p:nvSpPr>
          <p:cNvPr id="165" name="Google Shape;165;p12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Proposed to support DBMS characteristics of: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b="1" lang="en-US"/>
              <a:t>Program-data independence.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Support of </a:t>
            </a:r>
            <a:r>
              <a:rPr b="1" lang="en-US"/>
              <a:t>multiple views</a:t>
            </a:r>
            <a:r>
              <a:rPr lang="en-US"/>
              <a:t> of the data.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Not explicitly used in commercial DBMS products, but has been useful in explaining database system organization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1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Three-Schema Architecture</a:t>
            </a:r>
            <a:endParaRPr/>
          </a:p>
        </p:txBody>
      </p:sp>
      <p:sp>
        <p:nvSpPr>
          <p:cNvPr id="173" name="Google Shape;173;p13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Defines DBMS schemas at </a:t>
            </a:r>
            <a:r>
              <a:rPr b="1" i="1" lang="en-US" sz="2400"/>
              <a:t>three</a:t>
            </a:r>
            <a:r>
              <a:rPr lang="en-US" sz="2400"/>
              <a:t> levels: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b="1" lang="en-US" sz="2200"/>
              <a:t>Internal schema</a:t>
            </a:r>
            <a:r>
              <a:rPr lang="en-US" sz="2200"/>
              <a:t> at the internal level to describe physical storage structures and access paths (e.g indexes).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Typically uses a </a:t>
            </a:r>
            <a:r>
              <a:rPr b="1" lang="en-US" sz="2000"/>
              <a:t>physical</a:t>
            </a:r>
            <a:r>
              <a:rPr lang="en-US" sz="2000"/>
              <a:t> data model.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b="1" lang="en-US" sz="2200"/>
              <a:t>Conceptual schema</a:t>
            </a:r>
            <a:r>
              <a:rPr lang="en-US" sz="2200"/>
              <a:t> at the conceptual level to describe the structure and constraints for the whole database for a community of users.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Uses a </a:t>
            </a:r>
            <a:r>
              <a:rPr b="1" lang="en-US" sz="2000"/>
              <a:t>conceptual</a:t>
            </a:r>
            <a:r>
              <a:rPr lang="en-US" sz="2000"/>
              <a:t> or an </a:t>
            </a:r>
            <a:r>
              <a:rPr b="1" lang="en-US" sz="2000"/>
              <a:t>implementation</a:t>
            </a:r>
            <a:r>
              <a:rPr lang="en-US" sz="2000"/>
              <a:t> data model.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b="1" lang="en-US" sz="2200"/>
              <a:t>External schemas</a:t>
            </a:r>
            <a:r>
              <a:rPr lang="en-US" sz="2200"/>
              <a:t> at the external level to describe the various user views.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Usually uses the same data model as the conceptual schema.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three-schema architecture</a:t>
            </a:r>
            <a:endParaRPr/>
          </a:p>
        </p:txBody>
      </p:sp>
      <p:pic>
        <p:nvPicPr>
          <p:cNvPr descr="fig02_02" id="180" name="Google Shape;1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413" y="1762125"/>
            <a:ext cx="701040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1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Three-Schema Architecture</a:t>
            </a:r>
            <a:endParaRPr/>
          </a:p>
        </p:txBody>
      </p:sp>
      <p:sp>
        <p:nvSpPr>
          <p:cNvPr id="188" name="Google Shape;188;p1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Mappings among schema levels are needed to transform requests and data.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Programs refer to an external schema, and are mapped by the DBMS to the internal schema for execution.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Data extracted from the internal DBMS level is reformatted to match the user’s external view (e.g. formatting the results of an SQL query for display in a Web page)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Independence</a:t>
            </a:r>
            <a:endParaRPr/>
          </a:p>
        </p:txBody>
      </p:sp>
      <p:sp>
        <p:nvSpPr>
          <p:cNvPr id="196" name="Google Shape;196;p1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Logical Data Independence: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capacity to change the conceptual schema without having to change the external schemas and their associated application programs.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Physical Data Independence: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capacity to change the internal schema without having to change the conceptual schema.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For example, the internal schema may be changed when certain file structures are reorganized or new indexes are created to improve database performance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" name="Google Shape;203;p1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Independence (continued)</a:t>
            </a:r>
            <a:endParaRPr/>
          </a:p>
        </p:txBody>
      </p:sp>
      <p:sp>
        <p:nvSpPr>
          <p:cNvPr id="204" name="Google Shape;204;p17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When a schema at a lower level is changed, only the </a:t>
            </a:r>
            <a:r>
              <a:rPr b="1" lang="en-US"/>
              <a:t>mappings</a:t>
            </a:r>
            <a:r>
              <a:rPr lang="en-US"/>
              <a:t> between this schema and higher-level schemas need to be changed in a DBMS that fully supports data independence.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The higher-level schemas themselves are </a:t>
            </a:r>
            <a:r>
              <a:rPr b="1" lang="en-US"/>
              <a:t>unchanged</a:t>
            </a:r>
            <a:r>
              <a:rPr lang="en-US"/>
              <a:t>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Hence, the application programs need not be changed since they refer to the external schemas.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" name="Google Shape;211;p1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DBMS Languages</a:t>
            </a:r>
            <a:endParaRPr/>
          </a:p>
        </p:txBody>
      </p:sp>
      <p:sp>
        <p:nvSpPr>
          <p:cNvPr id="212" name="Google Shape;212;p18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 Definition Language (DDL)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 Manipulation Language (DML)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High-Level or Non-procedural Languages: These include the relational language SQL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May be used in a standalone way or may be embedded in a programming language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Low Level or Procedural Languages: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These must be embedded in a programming language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19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DBMS Languages</a:t>
            </a:r>
            <a:endParaRPr/>
          </a:p>
        </p:txBody>
      </p:sp>
      <p:sp>
        <p:nvSpPr>
          <p:cNvPr id="220" name="Google Shape;220;p19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Data Definition Language (DDL):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Used by the DBA and database designers to specify the conceptual schema of a database.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In many DBMSs, the DDL is also used to define internal and external schemas (views).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In some DBMSs, separate </a:t>
            </a:r>
            <a:r>
              <a:rPr b="1" lang="en-US"/>
              <a:t>storage definition language (SDL) </a:t>
            </a:r>
            <a:r>
              <a:rPr lang="en-US"/>
              <a:t>and</a:t>
            </a:r>
            <a:r>
              <a:rPr b="1" lang="en-US"/>
              <a:t> view definition language (VDL)</a:t>
            </a:r>
            <a:r>
              <a:rPr lang="en-US"/>
              <a:t> are used to define internal and external schemas.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SDL is typically realized via DBMS commands provided to the DBA and database designers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7" name="Google Shape;227;p20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DBMS Languages</a:t>
            </a:r>
            <a:endParaRPr/>
          </a:p>
        </p:txBody>
      </p:sp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Data Manipulation Language (DML):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Used to specify database retrievals and updates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DML commands (data sublanguage) can be </a:t>
            </a:r>
            <a:r>
              <a:rPr i="1" lang="en-US"/>
              <a:t>embedded</a:t>
            </a:r>
            <a:r>
              <a:rPr lang="en-US"/>
              <a:t> in a general-purpose programming language (host language), such as COBOL, C, C++, or Java.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A library of functions can also be provided to access the DBMS from a programming language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Alternatively, stand-alone DML commands can be applied directly (called a </a:t>
            </a:r>
            <a:r>
              <a:rPr i="1" lang="en-US"/>
              <a:t>query language</a:t>
            </a:r>
            <a:r>
              <a:rPr lang="en-US"/>
              <a:t>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2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DML</a:t>
            </a:r>
            <a:endParaRPr/>
          </a:p>
        </p:txBody>
      </p:sp>
      <p:sp>
        <p:nvSpPr>
          <p:cNvPr id="236" name="Google Shape;236;p21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High Level or Non-procedural Language: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For example, the SQL relational language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Are “set”-oriented and specify what data to retrieve rather than how to retrieve it.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Also called </a:t>
            </a:r>
            <a:r>
              <a:rPr b="1" lang="en-US"/>
              <a:t>declarative</a:t>
            </a:r>
            <a:r>
              <a:rPr lang="en-US"/>
              <a:t> languages.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Low Level or Procedural Language: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Retrieve data one record-at-a-time;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Constructs such as looping are needed to retrieve multiple records, along with positioning pointers.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DBMS Interfaces</a:t>
            </a:r>
            <a:endParaRPr/>
          </a:p>
        </p:txBody>
      </p:sp>
      <p:sp>
        <p:nvSpPr>
          <p:cNvPr id="244" name="Google Shape;244;p22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Stand-alone query language interfaces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Example: Entering SQL queries at the DBMS interactive SQL interface (e.g. SQL*Plus in ORACLE)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Programmer interfaces for embedding DML in programming languages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User-friendly interfaces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Menu-based, forms-based, graphics-based, etc.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" name="Google Shape;251;p2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DBMS Programming Language Interfaces</a:t>
            </a:r>
            <a:endParaRPr/>
          </a:p>
        </p:txBody>
      </p:sp>
      <p:sp>
        <p:nvSpPr>
          <p:cNvPr id="252" name="Google Shape;252;p23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Programmer interfaces for embedding DML in a programming languages: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b="1" lang="en-US"/>
              <a:t>Embedded Approach</a:t>
            </a:r>
            <a:r>
              <a:rPr lang="en-US"/>
              <a:t>: e.g embedded SQL (for C, C++, etc.), SQLJ (for Java)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b="1" lang="en-US"/>
              <a:t>Procedure Call Approach</a:t>
            </a:r>
            <a:r>
              <a:rPr lang="en-US"/>
              <a:t>: e.g. JDBC for Java, ODBC for other programming languages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b="1" lang="en-US"/>
              <a:t>Database Programming Language Approach</a:t>
            </a:r>
            <a:r>
              <a:rPr lang="en-US"/>
              <a:t>: e.g. ORACLE has PL/SQL, a programming language based on SQL; language incorporates SQL and its data types as integral components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2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User-Friendly DBMS Interfaces</a:t>
            </a:r>
            <a:endParaRPr/>
          </a:p>
        </p:txBody>
      </p:sp>
      <p:sp>
        <p:nvSpPr>
          <p:cNvPr id="260" name="Google Shape;260;p24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Menu-based, popular for browsing on the web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Forms-based, designed for naïve users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Graphics-based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(Point and Click, Drag and Drop, etc.)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Natural language: requests in written English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Combinations of the above: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For example, both menus and forms used extensively in Web database interfaces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" name="Google Shape;267;p2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DBMS Interfaces</a:t>
            </a:r>
            <a:endParaRPr/>
          </a:p>
        </p:txBody>
      </p:sp>
      <p:sp>
        <p:nvSpPr>
          <p:cNvPr id="268" name="Google Shape;268;p2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Speech as Input and Output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Web Browser as an interface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Parametric interfaces, e.g., bank tellers using function keys.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Interfaces for the DBA: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Creating user accounts, granting authorizations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Setting system parameters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Changing schemas or access paths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5" name="Google Shape;275;p2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Database System Utilities</a:t>
            </a:r>
            <a:endParaRPr/>
          </a:p>
        </p:txBody>
      </p:sp>
      <p:sp>
        <p:nvSpPr>
          <p:cNvPr id="276" name="Google Shape;276;p2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To perform certain functions such as: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Loading data stored in files into a database. Includes data conversion tools.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Backing up the database periodically on tape.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Reorganizing database file structures.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Report generation utilities.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Performance monitoring utilities.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Other functions, such as sorting, user monitoring, data compression, etc.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2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Tools</a:t>
            </a:r>
            <a:endParaRPr/>
          </a:p>
        </p:txBody>
      </p:sp>
      <p:sp>
        <p:nvSpPr>
          <p:cNvPr id="284" name="Google Shape;284;p27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 dictionary / repository: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Used to store schema descriptions and other information such as design decisions, application program descriptions, user information, usage standards, etc.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b="1" lang="en-US"/>
              <a:t>Active data dictionary</a:t>
            </a:r>
            <a:r>
              <a:rPr lang="en-US"/>
              <a:t> is accessed by DBMS software and users/DBA.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b="1" lang="en-US"/>
              <a:t>Passive data dictionary</a:t>
            </a:r>
            <a:r>
              <a:rPr lang="en-US"/>
              <a:t> is accessed by users/DBA only.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1" name="Google Shape;291;p2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Other Tools</a:t>
            </a:r>
            <a:endParaRPr/>
          </a:p>
        </p:txBody>
      </p:sp>
      <p:sp>
        <p:nvSpPr>
          <p:cNvPr id="292" name="Google Shape;292;p28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Application Development Environments and CASE (computer-aided software engineering) tools: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Examples: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PowerBuilder (Sybase)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JBuilder (Borland)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JDeveloper 10G (Oracle)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29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Typical DBMS Component Modules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7111f1cfc4_1_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fig02_03" id="304" name="Google Shape;304;g27111f1cfc4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03213"/>
            <a:ext cx="6272213" cy="6282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30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Centralized and </a:t>
            </a:r>
            <a:br>
              <a:rPr lang="en-US"/>
            </a:br>
            <a:r>
              <a:rPr lang="en-US"/>
              <a:t>Client-Server DBMS Architectures </a:t>
            </a:r>
            <a:endParaRPr/>
          </a:p>
        </p:txBody>
      </p:sp>
      <p:sp>
        <p:nvSpPr>
          <p:cNvPr id="312" name="Google Shape;312;p30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Centralized DBMS: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Combines everything into single system including- DBMS software, hardware, application programs, and user interface processing software.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User can still connect through a remote terminal – however, all processing is done at centralized site.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8" name="Google Shape;318;p3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Physical Centralized Architecture</a:t>
            </a:r>
            <a:endParaRPr/>
          </a:p>
        </p:txBody>
      </p:sp>
      <p:pic>
        <p:nvPicPr>
          <p:cNvPr descr="fig02_04"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697038"/>
            <a:ext cx="6477000" cy="4475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3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Basic 2-tier Client-Server Architectures</a:t>
            </a:r>
            <a:endParaRPr/>
          </a:p>
        </p:txBody>
      </p:sp>
      <p:sp>
        <p:nvSpPr>
          <p:cNvPr id="327" name="Google Shape;327;p32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Specialized Servers with Specialized functions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Print server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File server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DBMS server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Web server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Email server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Clients can access the specialized servers as needed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3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Logical two-tier client server architecture</a:t>
            </a:r>
            <a:endParaRPr/>
          </a:p>
        </p:txBody>
      </p:sp>
      <p:pic>
        <p:nvPicPr>
          <p:cNvPr descr="fig02_05"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563813"/>
            <a:ext cx="7810500" cy="173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3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Clients</a:t>
            </a:r>
            <a:endParaRPr/>
          </a:p>
        </p:txBody>
      </p:sp>
      <p:sp>
        <p:nvSpPr>
          <p:cNvPr id="342" name="Google Shape;342;p34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Provide appropriate interfaces through a client software module to access and utilize the various server resources.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Clients may be diskless machines or PCs or Workstations with disks with only the client software installed.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Connected to the servers via some form of a network.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(LAN: local area network, wireless network, etc.)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" name="Google Shape;349;p3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DBMS Server</a:t>
            </a:r>
            <a:endParaRPr/>
          </a:p>
        </p:txBody>
      </p:sp>
      <p:sp>
        <p:nvSpPr>
          <p:cNvPr id="350" name="Google Shape;350;p3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Provides database query and transaction services to the clients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Relational DBMS servers are often called SQL servers, query servers, or transaction servers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Applications running on clients utilize an Application Program Interface (</a:t>
            </a:r>
            <a:r>
              <a:rPr b="1" lang="en-US" sz="2400"/>
              <a:t>API</a:t>
            </a:r>
            <a:r>
              <a:rPr lang="en-US" sz="2400"/>
              <a:t>) to access server databases via standard interface such as: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ODBC: Open Database Connectivity standard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JDBC: for Java programming access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Client and server must install appropriate client module and server module software for ODBC or JDBC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See Chapter 9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3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 Tier Client-Server Architecture</a:t>
            </a:r>
            <a:endParaRPr/>
          </a:p>
        </p:txBody>
      </p:sp>
      <p:sp>
        <p:nvSpPr>
          <p:cNvPr id="358" name="Google Shape;358;p3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 client program may connect to several DBMSs, sometimes called the data sources.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In general, data sources can be files or other non-DBMS software that manages data.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Other variations of clients are possible: e.g., in some object DBMSs, more functionality is transferred to clients including data dictionary functions, optimization and recovery across multiple servers, etc.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5" name="Google Shape;365;p3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Tier Client-Server Architecture</a:t>
            </a:r>
            <a:endParaRPr/>
          </a:p>
        </p:txBody>
      </p:sp>
      <p:sp>
        <p:nvSpPr>
          <p:cNvPr id="366" name="Google Shape;366;p37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Common for Web applications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Intermediate Layer called Application Server or Web Server: 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Stores the web connectivity software and the business logic part of the application used to access the corresponding data from the database server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Acts like a conduit for sending partially processed data between the database server and the client.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Three-tier Architecture Can Enhance Security: 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Database server only accessible via middle tier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Clients cannot directly access database server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3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Three-tier client-server architecture</a:t>
            </a:r>
            <a:endParaRPr/>
          </a:p>
        </p:txBody>
      </p:sp>
      <p:pic>
        <p:nvPicPr>
          <p:cNvPr descr="fig02_07" id="373" name="Google Shape;37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9725" y="1847850"/>
            <a:ext cx="8194675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0" name="Google Shape;380;p39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Classification of DBMSs</a:t>
            </a:r>
            <a:endParaRPr/>
          </a:p>
        </p:txBody>
      </p:sp>
      <p:sp>
        <p:nvSpPr>
          <p:cNvPr id="381" name="Google Shape;381;p39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Based on the data model used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Traditional: Relational, Network, Hierarchical.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Emerging: Object-oriented, Object-relational.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Other classifications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Single-user (typically used with personal computers)</a:t>
            </a:r>
            <a:br>
              <a:rPr lang="en-US"/>
            </a:br>
            <a:r>
              <a:rPr lang="en-US"/>
              <a:t>vs. multi-user (most DBMSs).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Centralized (uses a single computer with one database) </a:t>
            </a:r>
            <a:br>
              <a:rPr lang="en-US"/>
            </a:br>
            <a:r>
              <a:rPr lang="en-US"/>
              <a:t>vs. distributed (uses multiple computers, multiple databases)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40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Variations of Distributed DBMSs (DDBMSs)</a:t>
            </a:r>
            <a:endParaRPr/>
          </a:p>
        </p:txBody>
      </p:sp>
      <p:sp>
        <p:nvSpPr>
          <p:cNvPr id="389" name="Google Shape;389;p40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Homogeneous DDBMS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Heterogeneous DDBMS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Federated or Multidatabase Systems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Distributed Database Systems have now come to be known as client-server based database systems because: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They do not support a totally distributed environment, but rather a set of database servers supporting a set of clients.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6" name="Google Shape;396;p4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Cost considerations for DBMSs</a:t>
            </a:r>
            <a:endParaRPr/>
          </a:p>
        </p:txBody>
      </p:sp>
      <p:sp>
        <p:nvSpPr>
          <p:cNvPr id="397" name="Google Shape;397;p41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Cost Range: from free open-source systems to configurations costing millions of dollars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Examples of free relational DBMSs: MySQL, PostgreSQL, others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Commercial DBMS offer additional specialized modules, e.g. time-series module, spatial data module, document module, XML module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These offer additional specialized functionality when purchased separately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Sometimes called cartridges (e.g., in Oracle) or blades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Different licensing options: site license, maximum number of concurrent users (seat license), single user, etc.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4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of Data Models </a:t>
            </a:r>
            <a:endParaRPr/>
          </a:p>
        </p:txBody>
      </p:sp>
      <p:sp>
        <p:nvSpPr>
          <p:cNvPr id="405" name="Google Shape;405;p42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Network Model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Hierarchical Model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Relational Model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Object-oriented Data Models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Object-Relational Models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43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of Data Models </a:t>
            </a:r>
            <a:endParaRPr/>
          </a:p>
        </p:txBody>
      </p:sp>
      <p:sp>
        <p:nvSpPr>
          <p:cNvPr id="413" name="Google Shape;413;p43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Network Model: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The first network DBMS was implemented by Honeywell in 1964-65 (IDS System).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Adopted heavily due to the support by CODASYL (Conference on Data Systems Languages) (CODASYL - DBTG report of 1971).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Later implemented in a large variety of systems - IDMS (Cullinet - now Computer Associates), DMS 1100 (Unisys), IMAGE (H.P. (Hewlett-Packard)), VAX -DBMS (Digital Equipment Corp., next COMPAQ, now H.P.).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9" name="Google Shape;419;p44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Network Model Schema</a:t>
            </a:r>
            <a:endParaRPr/>
          </a:p>
        </p:txBody>
      </p:sp>
      <p:pic>
        <p:nvPicPr>
          <p:cNvPr descr="fig02_08" id="420" name="Google Shape;42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913" y="2224088"/>
            <a:ext cx="8294687" cy="3065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" name="Google Shape;427;p45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Model</a:t>
            </a:r>
            <a:endParaRPr/>
          </a:p>
        </p:txBody>
      </p:sp>
      <p:sp>
        <p:nvSpPr>
          <p:cNvPr id="428" name="Google Shape;428;p45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Advantages: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Network Model is able to model complex relationships and represents semantics of add/delete on the relationships.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Can handle most situations for modeling using record types and relationship types.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Language is navigational; uses constructs like FIND, FIND member, FIND owner, FIND NEXT within set, GET, etc.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Programmers can do optimal navigation through the database.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5" name="Google Shape;435;p46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Model</a:t>
            </a:r>
            <a:endParaRPr/>
          </a:p>
        </p:txBody>
      </p:sp>
      <p:sp>
        <p:nvSpPr>
          <p:cNvPr id="436" name="Google Shape;436;p46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Disadvantages: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Navigational and procedural nature of processing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Database contains a complex array of pointers that thread through a set of records.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200"/>
              <a:buChar char="■"/>
            </a:pPr>
            <a:r>
              <a:rPr lang="en-US"/>
              <a:t>Little scope for automated “query optimization”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" name="Google Shape;443;p47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of Data Models </a:t>
            </a:r>
            <a:endParaRPr/>
          </a:p>
        </p:txBody>
      </p:sp>
      <p:sp>
        <p:nvSpPr>
          <p:cNvPr id="444" name="Google Shape;444;p47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Hierarchical Data Model: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Initially implemented in a joint effort by IBM and North American Rockwell around 1965. Resulted in the IMS family of systems.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IBM’s IMS product had (and still has) a very large customer base worldwide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Hierarchical model was formalized based on the IMS system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Other systems based on this model: System 2k (SAS inc.)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1" name="Google Shape;451;p48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Hierarchical Model</a:t>
            </a:r>
            <a:endParaRPr/>
          </a:p>
        </p:txBody>
      </p:sp>
      <p:sp>
        <p:nvSpPr>
          <p:cNvPr id="452" name="Google Shape;452;p48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Advantages: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Simple to construct and operate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Corresponds to a number of natural hierarchically organized domains, e.g., organization (“org”) chart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Language is simple: 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Uses constructs like GET, GET UNIQUE, GET NEXT, GET NEXT WITHIN PARENT, etc.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Disadvantages: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Navigational and procedural nature of processing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Database is visualized as a linear arrangement of records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Little scope for "query optimization"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9" name="Google Shape;459;p49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of Data Models </a:t>
            </a:r>
            <a:endParaRPr/>
          </a:p>
        </p:txBody>
      </p:sp>
      <p:sp>
        <p:nvSpPr>
          <p:cNvPr id="460" name="Google Shape;460;p49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Relational Model: 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Proposed in 1970 by E.F. Codd (IBM), first commercial system in 1981-82.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Now in several commercial products (e.g. DB2, ORACLE, MS SQL Server, SYBASE, INFORMIX).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Several free open source implementations, e.g. MySQL, PostgreSQL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Currently most dominant for developing database applications.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SQL relational standards: SQL-89 (SQL1), SQL-92 (SQL2), SQL-99, SQL3, …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Chapters 5 through 11 describe this model in detail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p50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of Data Models</a:t>
            </a:r>
            <a:endParaRPr/>
          </a:p>
        </p:txBody>
      </p:sp>
      <p:sp>
        <p:nvSpPr>
          <p:cNvPr id="468" name="Google Shape;468;p50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b="1" lang="en-US" sz="2400"/>
              <a:t>Object-oriented Data Models: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Several models have been proposed for implementing in a database system. 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One set comprises models of persistent O-O Programming Languages such as C++ (e.g., in OBJECTSTORE or VERSANT), and Smalltalk (e.g., in GEMSTONE).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Additionally, systems like O2, ORION (at MCC - then ITASCA), IRIS (at H.P.- used in Open OODB).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Object Database Standard: ODMG-93, ODMG-version 2.0, ODMG-version 3.0.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Char char="■"/>
            </a:pPr>
            <a:r>
              <a:rPr lang="en-US" sz="2200"/>
              <a:t>Chapters 20 and 21 describe this model.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1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51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History of Data Models</a:t>
            </a:r>
            <a:endParaRPr/>
          </a:p>
        </p:txBody>
      </p:sp>
      <p:sp>
        <p:nvSpPr>
          <p:cNvPr id="476" name="Google Shape;476;p51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b="1" lang="en-US"/>
              <a:t>Object-Relational Models: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Most Recent Trend. Started with Informix Universal Server.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Relational systems incorporate concepts from object databases leading to object-relational.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Exemplified in the latest versions of Oracle-10i, DB2, and SQL Server and other DBMSs.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Standards included in SQL-99 and expected to be enhanced in future SQL standards.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/>
              <a:t>Chapter 22 describes this model.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3" name="Google Shape;483;p52"/>
          <p:cNvSpPr txBox="1"/>
          <p:nvPr>
            <p:ph type="title"/>
          </p:nvPr>
        </p:nvSpPr>
        <p:spPr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484" name="Google Shape;484;p52"/>
          <p:cNvSpPr txBox="1"/>
          <p:nvPr>
            <p:ph idx="1" type="body"/>
          </p:nvPr>
        </p:nvSpPr>
        <p:spPr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 Models and Their Categories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History of Data Models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Schemas, Instances, and States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Three-Schema Architecture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 Independence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DBMS Languages and Interfaces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Database System Utilities and Tools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Centralized and Client-Server Architectures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Classification of DBMSs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2005-02-25T19:46:41Z</dcterms:created>
  <dc:creator>Elmasri/Navathe</dc:creator>
</cp:coreProperties>
</file>