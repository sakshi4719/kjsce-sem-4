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6858000" cx="9144000"/>
  <p:notesSz cx="6858000" cy="9144000"/>
  <p:embeddedFontLst>
    <p:embeddedFont>
      <p:font typeface="Helvetica Neue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8" roundtripDataSignature="AMtx7mhRyzSr9J5JFx/57U/XWaSTp5BS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HelveticaNeue-bold.fntdata"/><Relationship Id="rId30" Type="http://schemas.openxmlformats.org/officeDocument/2006/relationships/slide" Target="slides/slide24.xml"/><Relationship Id="rId74" Type="http://schemas.openxmlformats.org/officeDocument/2006/relationships/font" Target="fonts/HelveticaNeue-regular.fntdata"/><Relationship Id="rId33" Type="http://schemas.openxmlformats.org/officeDocument/2006/relationships/slide" Target="slides/slide27.xml"/><Relationship Id="rId77" Type="http://schemas.openxmlformats.org/officeDocument/2006/relationships/font" Target="fonts/HelveticaNeue-boldItalic.fntdata"/><Relationship Id="rId32" Type="http://schemas.openxmlformats.org/officeDocument/2006/relationships/slide" Target="slides/slide26.xml"/><Relationship Id="rId76" Type="http://schemas.openxmlformats.org/officeDocument/2006/relationships/font" Target="fonts/HelveticaNeue-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8" Type="http://customschemas.google.com/relationships/presentationmetadata" Target="meta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9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9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90"/>
              <a:buChar char="●"/>
              <a:defRPr/>
            </a:lvl2pPr>
            <a:lvl3pPr indent="-32575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53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6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0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3"/>
          <p:cNvSpPr txBox="1"/>
          <p:nvPr>
            <p:ph type="title"/>
          </p:nvPr>
        </p:nvSpPr>
        <p:spPr>
          <a:xfrm rot="5400000">
            <a:off x="4733925" y="2000250"/>
            <a:ext cx="5943600" cy="20383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3"/>
          <p:cNvSpPr txBox="1"/>
          <p:nvPr>
            <p:ph idx="1" type="body"/>
          </p:nvPr>
        </p:nvSpPr>
        <p:spPr>
          <a:xfrm rot="5400000">
            <a:off x="581025" y="38100"/>
            <a:ext cx="5943600" cy="596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90"/>
              <a:buChar char="●"/>
              <a:defRPr/>
            </a:lvl2pPr>
            <a:lvl3pPr indent="-32575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53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4" name="Google Shape;64;p7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4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4"/>
          <p:cNvSpPr txBox="1"/>
          <p:nvPr>
            <p:ph idx="1" type="body"/>
          </p:nvPr>
        </p:nvSpPr>
        <p:spPr>
          <a:xfrm rot="5400000">
            <a:off x="2057400" y="-371475"/>
            <a:ext cx="48768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48615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90"/>
              <a:buChar char="●"/>
              <a:defRPr/>
            </a:lvl2pPr>
            <a:lvl3pPr indent="-32575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53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69" name="Google Shape;69;p7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7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2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9pPr>
          </a:lstStyle>
          <a:p/>
        </p:txBody>
      </p:sp>
      <p:sp>
        <p:nvSpPr>
          <p:cNvPr id="75" name="Google Shape;75;p7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415290" lvl="1" marL="9144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SzPts val="2940"/>
              <a:buChar char="●"/>
              <a:defRPr sz="2800"/>
            </a:lvl2pPr>
            <a:lvl3pPr indent="-358139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04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80" name="Google Shape;80;p7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2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SzPts val="900"/>
              <a:buFont typeface="Helvetica Neue"/>
              <a:buNone/>
              <a:defRPr sz="900"/>
            </a:lvl9pPr>
          </a:lstStyle>
          <a:p/>
        </p:txBody>
      </p:sp>
      <p:sp>
        <p:nvSpPr>
          <p:cNvPr id="81" name="Google Shape;81;p7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89" name="Google Shape;89;p7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●"/>
              <a:defRPr sz="2000"/>
            </a:lvl2pPr>
            <a:lvl3pPr indent="-32575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53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90" name="Google Shape;90;p7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91" name="Google Shape;91;p7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Char char="●"/>
              <a:defRPr sz="2000"/>
            </a:lvl2pPr>
            <a:lvl3pPr indent="-325755" lvl="2" marL="1371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53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92" name="Google Shape;92;p7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9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9"/>
          <p:cNvSpPr txBox="1"/>
          <p:nvPr>
            <p:ph idx="1" type="body"/>
          </p:nvPr>
        </p:nvSpPr>
        <p:spPr>
          <a:xfrm>
            <a:off x="571500" y="1114425"/>
            <a:ext cx="38481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88619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520"/>
              <a:buChar char="●"/>
              <a:defRPr sz="2400"/>
            </a:lvl2pPr>
            <a:lvl3pPr indent="-33655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7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97" name="Google Shape;97;p79"/>
          <p:cNvSpPr txBox="1"/>
          <p:nvPr>
            <p:ph idx="2" type="body"/>
          </p:nvPr>
        </p:nvSpPr>
        <p:spPr>
          <a:xfrm>
            <a:off x="4572000" y="1114425"/>
            <a:ext cx="38481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88619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520"/>
              <a:buChar char="●"/>
              <a:defRPr sz="2400"/>
            </a:lvl2pPr>
            <a:lvl3pPr indent="-33655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7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98" name="Google Shape;98;p7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8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6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SzPts val="1400"/>
              <a:buFont typeface="Helvetica Neue"/>
              <a:buNone/>
              <a:defRPr sz="1400"/>
            </a:lvl9pPr>
          </a:lstStyle>
          <a:p/>
        </p:txBody>
      </p:sp>
      <p:sp>
        <p:nvSpPr>
          <p:cNvPr id="103" name="Google Shape;103;p8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8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7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90"/>
              <a:buChar char="●"/>
              <a:defRPr/>
            </a:lvl2pPr>
            <a:lvl3pPr lvl="2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530"/>
              <a:buChar char="●"/>
              <a:defRPr/>
            </a:lvl3pPr>
            <a:lvl4pPr lvl="3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116" name="Google Shape;116;p7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9BB4C2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8"/>
          <p:cNvSpPr txBox="1"/>
          <p:nvPr/>
        </p:nvSpPr>
        <p:spPr>
          <a:xfrm>
            <a:off x="0" y="-152400"/>
            <a:ext cx="9144000" cy="131445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68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8615" lvl="1" marL="914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5755" lvl="2" marL="1371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6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6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8"/>
          <p:cNvSpPr/>
          <p:nvPr/>
        </p:nvSpPr>
        <p:spPr>
          <a:xfrm>
            <a:off x="142875" y="0"/>
            <a:ext cx="838200" cy="78105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FFB74C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15;p68"/>
          <p:cNvSpPr/>
          <p:nvPr/>
        </p:nvSpPr>
        <p:spPr>
          <a:xfrm>
            <a:off x="31750" y="338137"/>
            <a:ext cx="390525" cy="149225"/>
          </a:xfrm>
          <a:custGeom>
            <a:rect b="b" l="l" r="r" t="t"/>
            <a:pathLst>
              <a:path extrusionOk="0" h="94" w="246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" name="Google Shape;16;p68"/>
          <p:cNvSpPr/>
          <p:nvPr/>
        </p:nvSpPr>
        <p:spPr>
          <a:xfrm>
            <a:off x="619125" y="638175"/>
            <a:ext cx="468312" cy="177800"/>
          </a:xfrm>
          <a:custGeom>
            <a:rect b="b" l="l" r="r" t="t"/>
            <a:pathLst>
              <a:path extrusionOk="0" h="112" w="295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7;p68"/>
          <p:cNvSpPr/>
          <p:nvPr/>
        </p:nvSpPr>
        <p:spPr>
          <a:xfrm>
            <a:off x="7515225" y="6257925"/>
            <a:ext cx="1524000" cy="533400"/>
          </a:xfrm>
          <a:custGeom>
            <a:rect b="b" l="l" r="r" t="t"/>
            <a:pathLst>
              <a:path extrusionOk="0" h="374" w="1453">
                <a:moveTo>
                  <a:pt x="319" y="12"/>
                </a:moveTo>
                <a:lnTo>
                  <a:pt x="285" y="7"/>
                </a:lnTo>
                <a:lnTo>
                  <a:pt x="260" y="7"/>
                </a:lnTo>
                <a:lnTo>
                  <a:pt x="234" y="15"/>
                </a:lnTo>
                <a:lnTo>
                  <a:pt x="209" y="37"/>
                </a:lnTo>
                <a:lnTo>
                  <a:pt x="184" y="52"/>
                </a:lnTo>
                <a:lnTo>
                  <a:pt x="159" y="67"/>
                </a:lnTo>
                <a:lnTo>
                  <a:pt x="133" y="82"/>
                </a:lnTo>
                <a:lnTo>
                  <a:pt x="109" y="89"/>
                </a:lnTo>
                <a:lnTo>
                  <a:pt x="83" y="89"/>
                </a:lnTo>
                <a:lnTo>
                  <a:pt x="58" y="89"/>
                </a:lnTo>
                <a:lnTo>
                  <a:pt x="34" y="104"/>
                </a:lnTo>
                <a:lnTo>
                  <a:pt x="8" y="119"/>
                </a:lnTo>
                <a:lnTo>
                  <a:pt x="0" y="141"/>
                </a:lnTo>
                <a:lnTo>
                  <a:pt x="0" y="164"/>
                </a:lnTo>
                <a:lnTo>
                  <a:pt x="0" y="186"/>
                </a:lnTo>
                <a:lnTo>
                  <a:pt x="8" y="208"/>
                </a:lnTo>
                <a:lnTo>
                  <a:pt x="17" y="231"/>
                </a:lnTo>
                <a:lnTo>
                  <a:pt x="42" y="231"/>
                </a:lnTo>
                <a:lnTo>
                  <a:pt x="66" y="238"/>
                </a:lnTo>
                <a:lnTo>
                  <a:pt x="92" y="238"/>
                </a:lnTo>
                <a:lnTo>
                  <a:pt x="117" y="223"/>
                </a:lnTo>
                <a:lnTo>
                  <a:pt x="142" y="216"/>
                </a:lnTo>
                <a:lnTo>
                  <a:pt x="159" y="238"/>
                </a:lnTo>
                <a:lnTo>
                  <a:pt x="176" y="261"/>
                </a:lnTo>
                <a:lnTo>
                  <a:pt x="201" y="283"/>
                </a:lnTo>
                <a:lnTo>
                  <a:pt x="226" y="298"/>
                </a:lnTo>
                <a:lnTo>
                  <a:pt x="251" y="313"/>
                </a:lnTo>
                <a:lnTo>
                  <a:pt x="285" y="321"/>
                </a:lnTo>
                <a:lnTo>
                  <a:pt x="310" y="313"/>
                </a:lnTo>
                <a:lnTo>
                  <a:pt x="335" y="305"/>
                </a:lnTo>
                <a:lnTo>
                  <a:pt x="361" y="305"/>
                </a:lnTo>
                <a:lnTo>
                  <a:pt x="385" y="313"/>
                </a:lnTo>
                <a:lnTo>
                  <a:pt x="411" y="328"/>
                </a:lnTo>
                <a:lnTo>
                  <a:pt x="436" y="335"/>
                </a:lnTo>
                <a:lnTo>
                  <a:pt x="461" y="357"/>
                </a:lnTo>
                <a:lnTo>
                  <a:pt x="486" y="365"/>
                </a:lnTo>
                <a:lnTo>
                  <a:pt x="536" y="365"/>
                </a:lnTo>
                <a:lnTo>
                  <a:pt x="587" y="365"/>
                </a:lnTo>
                <a:lnTo>
                  <a:pt x="654" y="365"/>
                </a:lnTo>
                <a:lnTo>
                  <a:pt x="680" y="365"/>
                </a:lnTo>
                <a:lnTo>
                  <a:pt x="704" y="357"/>
                </a:lnTo>
                <a:lnTo>
                  <a:pt x="730" y="357"/>
                </a:lnTo>
                <a:lnTo>
                  <a:pt x="755" y="350"/>
                </a:lnTo>
                <a:lnTo>
                  <a:pt x="780" y="342"/>
                </a:lnTo>
                <a:lnTo>
                  <a:pt x="805" y="335"/>
                </a:lnTo>
                <a:lnTo>
                  <a:pt x="831" y="328"/>
                </a:lnTo>
                <a:lnTo>
                  <a:pt x="855" y="328"/>
                </a:lnTo>
                <a:lnTo>
                  <a:pt x="881" y="335"/>
                </a:lnTo>
                <a:lnTo>
                  <a:pt x="906" y="335"/>
                </a:lnTo>
                <a:lnTo>
                  <a:pt x="931" y="342"/>
                </a:lnTo>
                <a:lnTo>
                  <a:pt x="956" y="350"/>
                </a:lnTo>
                <a:lnTo>
                  <a:pt x="990" y="365"/>
                </a:lnTo>
                <a:lnTo>
                  <a:pt x="1040" y="365"/>
                </a:lnTo>
                <a:lnTo>
                  <a:pt x="1107" y="373"/>
                </a:lnTo>
                <a:lnTo>
                  <a:pt x="1133" y="365"/>
                </a:lnTo>
                <a:lnTo>
                  <a:pt x="1183" y="365"/>
                </a:lnTo>
                <a:lnTo>
                  <a:pt x="1217" y="357"/>
                </a:lnTo>
                <a:lnTo>
                  <a:pt x="1241" y="335"/>
                </a:lnTo>
                <a:lnTo>
                  <a:pt x="1267" y="328"/>
                </a:lnTo>
                <a:lnTo>
                  <a:pt x="1301" y="313"/>
                </a:lnTo>
                <a:lnTo>
                  <a:pt x="1325" y="298"/>
                </a:lnTo>
                <a:lnTo>
                  <a:pt x="1351" y="290"/>
                </a:lnTo>
                <a:lnTo>
                  <a:pt x="1376" y="283"/>
                </a:lnTo>
                <a:lnTo>
                  <a:pt x="1400" y="275"/>
                </a:lnTo>
                <a:lnTo>
                  <a:pt x="1426" y="275"/>
                </a:lnTo>
                <a:lnTo>
                  <a:pt x="1452" y="275"/>
                </a:lnTo>
                <a:lnTo>
                  <a:pt x="1443" y="254"/>
                </a:lnTo>
                <a:lnTo>
                  <a:pt x="1426" y="231"/>
                </a:lnTo>
                <a:lnTo>
                  <a:pt x="1417" y="208"/>
                </a:lnTo>
                <a:lnTo>
                  <a:pt x="1426" y="186"/>
                </a:lnTo>
                <a:lnTo>
                  <a:pt x="1443" y="164"/>
                </a:lnTo>
                <a:lnTo>
                  <a:pt x="1452" y="141"/>
                </a:lnTo>
                <a:lnTo>
                  <a:pt x="1443" y="119"/>
                </a:lnTo>
                <a:lnTo>
                  <a:pt x="1426" y="97"/>
                </a:lnTo>
                <a:lnTo>
                  <a:pt x="1400" y="82"/>
                </a:lnTo>
                <a:lnTo>
                  <a:pt x="1376" y="82"/>
                </a:lnTo>
                <a:lnTo>
                  <a:pt x="1351" y="82"/>
                </a:lnTo>
                <a:lnTo>
                  <a:pt x="1325" y="82"/>
                </a:lnTo>
                <a:lnTo>
                  <a:pt x="1301" y="82"/>
                </a:lnTo>
                <a:lnTo>
                  <a:pt x="1275" y="82"/>
                </a:lnTo>
                <a:lnTo>
                  <a:pt x="1250" y="74"/>
                </a:lnTo>
                <a:lnTo>
                  <a:pt x="1225" y="67"/>
                </a:lnTo>
                <a:lnTo>
                  <a:pt x="1200" y="67"/>
                </a:lnTo>
                <a:lnTo>
                  <a:pt x="1174" y="67"/>
                </a:lnTo>
                <a:lnTo>
                  <a:pt x="1150" y="74"/>
                </a:lnTo>
                <a:lnTo>
                  <a:pt x="1124" y="82"/>
                </a:lnTo>
                <a:lnTo>
                  <a:pt x="1107" y="59"/>
                </a:lnTo>
                <a:lnTo>
                  <a:pt x="1082" y="45"/>
                </a:lnTo>
                <a:lnTo>
                  <a:pt x="1057" y="30"/>
                </a:lnTo>
                <a:lnTo>
                  <a:pt x="1032" y="30"/>
                </a:lnTo>
                <a:lnTo>
                  <a:pt x="1006" y="22"/>
                </a:lnTo>
                <a:lnTo>
                  <a:pt x="973" y="15"/>
                </a:lnTo>
                <a:lnTo>
                  <a:pt x="948" y="7"/>
                </a:lnTo>
                <a:lnTo>
                  <a:pt x="922" y="7"/>
                </a:lnTo>
                <a:lnTo>
                  <a:pt x="898" y="22"/>
                </a:lnTo>
                <a:lnTo>
                  <a:pt x="872" y="30"/>
                </a:lnTo>
                <a:lnTo>
                  <a:pt x="847" y="30"/>
                </a:lnTo>
                <a:lnTo>
                  <a:pt x="822" y="30"/>
                </a:lnTo>
                <a:lnTo>
                  <a:pt x="797" y="30"/>
                </a:lnTo>
                <a:lnTo>
                  <a:pt x="771" y="30"/>
                </a:lnTo>
                <a:lnTo>
                  <a:pt x="747" y="22"/>
                </a:lnTo>
                <a:lnTo>
                  <a:pt x="721" y="15"/>
                </a:lnTo>
                <a:lnTo>
                  <a:pt x="696" y="7"/>
                </a:lnTo>
                <a:lnTo>
                  <a:pt x="671" y="7"/>
                </a:lnTo>
                <a:lnTo>
                  <a:pt x="646" y="7"/>
                </a:lnTo>
                <a:lnTo>
                  <a:pt x="620" y="7"/>
                </a:lnTo>
                <a:lnTo>
                  <a:pt x="596" y="22"/>
                </a:lnTo>
                <a:lnTo>
                  <a:pt x="570" y="30"/>
                </a:lnTo>
                <a:lnTo>
                  <a:pt x="545" y="30"/>
                </a:lnTo>
                <a:lnTo>
                  <a:pt x="520" y="22"/>
                </a:lnTo>
                <a:lnTo>
                  <a:pt x="486" y="7"/>
                </a:lnTo>
                <a:lnTo>
                  <a:pt x="461" y="7"/>
                </a:lnTo>
                <a:lnTo>
                  <a:pt x="436" y="0"/>
                </a:lnTo>
                <a:lnTo>
                  <a:pt x="411" y="0"/>
                </a:lnTo>
                <a:lnTo>
                  <a:pt x="385" y="0"/>
                </a:lnTo>
                <a:lnTo>
                  <a:pt x="361" y="7"/>
                </a:lnTo>
                <a:lnTo>
                  <a:pt x="319" y="12"/>
                </a:lnTo>
                <a:lnTo>
                  <a:pt x="293" y="45"/>
                </a:lnTo>
                <a:lnTo>
                  <a:pt x="268" y="59"/>
                </a:lnTo>
                <a:lnTo>
                  <a:pt x="260" y="82"/>
                </a:lnTo>
                <a:lnTo>
                  <a:pt x="234" y="74"/>
                </a:lnTo>
                <a:lnTo>
                  <a:pt x="209" y="67"/>
                </a:lnTo>
                <a:lnTo>
                  <a:pt x="217" y="57"/>
                </a:lnTo>
              </a:path>
            </a:pathLst>
          </a:custGeom>
          <a:gradFill>
            <a:gsLst>
              <a:gs pos="0">
                <a:srgbClr val="F5EACB"/>
              </a:gs>
              <a:gs pos="100000">
                <a:srgbClr val="CC9900"/>
              </a:gs>
            </a:gsLst>
            <a:lin ang="5400000" scaled="0"/>
          </a:gradFill>
          <a:ln cap="rnd" cmpd="sng" w="12700">
            <a:solidFill>
              <a:srgbClr val="9966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8" name="Google Shape;18;p68"/>
          <p:cNvGrpSpPr/>
          <p:nvPr/>
        </p:nvGrpSpPr>
        <p:grpSpPr>
          <a:xfrm>
            <a:off x="7620000" y="5076825"/>
            <a:ext cx="1371600" cy="1600200"/>
            <a:chOff x="0" y="3182"/>
            <a:chExt cx="808" cy="998"/>
          </a:xfrm>
        </p:grpSpPr>
        <p:grpSp>
          <p:nvGrpSpPr>
            <p:cNvPr id="19" name="Google Shape;19;p68"/>
            <p:cNvGrpSpPr/>
            <p:nvPr/>
          </p:nvGrpSpPr>
          <p:grpSpPr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20" name="Google Shape;20;p68"/>
              <p:cNvSpPr/>
              <p:nvPr/>
            </p:nvSpPr>
            <p:spPr>
              <a:xfrm>
                <a:off x="1733" y="1329"/>
                <a:ext cx="76" cy="621"/>
              </a:xfrm>
              <a:custGeom>
                <a:rect b="b" l="l" r="r" t="t"/>
                <a:pathLst>
                  <a:path extrusionOk="0" h="621" w="76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49411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1" name="Google Shape;21;p68"/>
              <p:cNvSpPr/>
              <p:nvPr/>
            </p:nvSpPr>
            <p:spPr>
              <a:xfrm>
                <a:off x="1790" y="1583"/>
                <a:ext cx="120" cy="349"/>
              </a:xfrm>
              <a:custGeom>
                <a:rect b="b" l="l" r="r" t="t"/>
                <a:pathLst>
                  <a:path extrusionOk="0" h="349" w="120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49411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22" name="Google Shape;22;p68"/>
              <p:cNvSpPr/>
              <p:nvPr/>
            </p:nvSpPr>
            <p:spPr>
              <a:xfrm>
                <a:off x="1685" y="1239"/>
                <a:ext cx="266" cy="391"/>
              </a:xfrm>
              <a:custGeom>
                <a:rect b="b" l="l" r="r" t="t"/>
                <a:pathLst>
                  <a:path extrusionOk="0" h="391" w="266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44"/>
                    </a:lnTo>
                    <a:lnTo>
                      <a:pt x="2" y="34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49411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grpSp>
            <p:nvGrpSpPr>
              <p:cNvPr id="23" name="Google Shape;23;p68"/>
              <p:cNvGrpSpPr/>
              <p:nvPr/>
            </p:nvGrpSpPr>
            <p:grpSpPr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24" name="Google Shape;24;p68"/>
                <p:cNvSpPr/>
                <p:nvPr/>
              </p:nvSpPr>
              <p:spPr>
                <a:xfrm>
                  <a:off x="1751" y="1466"/>
                  <a:ext cx="440" cy="342"/>
                </a:xfrm>
                <a:custGeom>
                  <a:rect b="b" l="l" r="r" t="t"/>
                  <a:pathLst>
                    <a:path extrusionOk="0" h="342" w="440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49411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5" name="Google Shape;25;p68"/>
                <p:cNvSpPr/>
                <p:nvPr/>
              </p:nvSpPr>
              <p:spPr>
                <a:xfrm>
                  <a:off x="1900" y="1641"/>
                  <a:ext cx="39" cy="193"/>
                </a:xfrm>
                <a:custGeom>
                  <a:rect b="b" l="l" r="r" t="t"/>
                  <a:pathLst>
                    <a:path extrusionOk="0" h="193" w="39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49411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6" name="Google Shape;26;p68"/>
                <p:cNvSpPr/>
                <p:nvPr/>
              </p:nvSpPr>
              <p:spPr>
                <a:xfrm>
                  <a:off x="1716" y="1535"/>
                  <a:ext cx="171" cy="50"/>
                </a:xfrm>
                <a:custGeom>
                  <a:rect b="b" l="l" r="r" t="t"/>
                  <a:pathLst>
                    <a:path extrusionOk="0" h="50" w="171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49411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27" name="Google Shape;27;p68"/>
                <p:cNvSpPr/>
                <p:nvPr/>
              </p:nvSpPr>
              <p:spPr>
                <a:xfrm>
                  <a:off x="1707" y="1563"/>
                  <a:ext cx="177" cy="21"/>
                </a:xfrm>
                <a:custGeom>
                  <a:rect b="b" l="l" r="r" t="t"/>
                  <a:pathLst>
                    <a:path extrusionOk="0" h="21" w="177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49411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sp>
            <p:nvSpPr>
              <p:cNvPr id="28" name="Google Shape;28;p68"/>
              <p:cNvSpPr/>
              <p:nvPr/>
            </p:nvSpPr>
            <p:spPr>
              <a:xfrm>
                <a:off x="1691" y="1023"/>
                <a:ext cx="261" cy="374"/>
              </a:xfrm>
              <a:custGeom>
                <a:rect b="b" l="l" r="r" t="t"/>
                <a:pathLst>
                  <a:path extrusionOk="0" h="374" w="261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49411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grpSp>
          <p:nvGrpSpPr>
            <p:cNvPr id="29" name="Google Shape;29;p68"/>
            <p:cNvGrpSpPr/>
            <p:nvPr/>
          </p:nvGrpSpPr>
          <p:grpSpPr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30" name="Google Shape;30;p68"/>
              <p:cNvGrpSpPr/>
              <p:nvPr/>
            </p:nvGrpSpPr>
            <p:grpSpPr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31" name="Google Shape;31;p68"/>
                <p:cNvSpPr/>
                <p:nvPr/>
              </p:nvSpPr>
              <p:spPr>
                <a:xfrm>
                  <a:off x="2392" y="1373"/>
                  <a:ext cx="92" cy="638"/>
                </a:xfrm>
                <a:custGeom>
                  <a:rect b="b" l="l" r="r" t="t"/>
                  <a:pathLst>
                    <a:path extrusionOk="0" h="638" w="92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49411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2" name="Google Shape;32;p68"/>
                <p:cNvSpPr/>
                <p:nvPr/>
              </p:nvSpPr>
              <p:spPr>
                <a:xfrm>
                  <a:off x="2247" y="1201"/>
                  <a:ext cx="246" cy="466"/>
                </a:xfrm>
                <a:custGeom>
                  <a:rect b="b" l="l" r="r" t="t"/>
                  <a:pathLst>
                    <a:path extrusionOk="0" h="466" w="24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49411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</p:grpSp>
          <p:grpSp>
            <p:nvGrpSpPr>
              <p:cNvPr id="33" name="Google Shape;33;p68"/>
              <p:cNvGrpSpPr/>
              <p:nvPr/>
            </p:nvGrpSpPr>
            <p:grpSpPr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34" name="Google Shape;34;p68"/>
                <p:cNvSpPr/>
                <p:nvPr/>
              </p:nvSpPr>
              <p:spPr>
                <a:xfrm>
                  <a:off x="2164" y="1525"/>
                  <a:ext cx="130" cy="496"/>
                </a:xfrm>
                <a:custGeom>
                  <a:rect b="b" l="l" r="r" t="t"/>
                  <a:pathLst>
                    <a:path extrusionOk="0" h="496" w="130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49411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sp>
              <p:nvSpPr>
                <p:cNvPr id="35" name="Google Shape;35;p68"/>
                <p:cNvSpPr/>
                <p:nvPr/>
              </p:nvSpPr>
              <p:spPr>
                <a:xfrm>
                  <a:off x="2204" y="1606"/>
                  <a:ext cx="229" cy="358"/>
                </a:xfrm>
                <a:custGeom>
                  <a:rect b="b" l="l" r="r" t="t"/>
                  <a:pathLst>
                    <a:path extrusionOk="0" h="358" w="229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27" y="5"/>
                      </a:lnTo>
                      <a:lnTo>
                        <a:pt x="27" y="5"/>
                      </a:lnTo>
                      <a:lnTo>
                        <a:pt x="27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49411"/>
                  </a:srgbClr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grpSp>
              <p:nvGrpSpPr>
                <p:cNvPr id="36" name="Google Shape;36;p68"/>
                <p:cNvGrpSpPr/>
                <p:nvPr/>
              </p:nvGrpSpPr>
              <p:grpSpPr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37" name="Google Shape;37;p68"/>
                  <p:cNvSpPr/>
                  <p:nvPr/>
                </p:nvSpPr>
                <p:spPr>
                  <a:xfrm>
                    <a:off x="2030" y="1419"/>
                    <a:ext cx="420" cy="326"/>
                  </a:xfrm>
                  <a:custGeom>
                    <a:rect b="b" l="l" r="r" t="t"/>
                    <a:pathLst>
                      <a:path extrusionOk="0" h="326" w="420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49411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38" name="Google Shape;38;p68"/>
                  <p:cNvSpPr/>
                  <p:nvPr/>
                </p:nvSpPr>
                <p:spPr>
                  <a:xfrm>
                    <a:off x="2175" y="1587"/>
                    <a:ext cx="38" cy="181"/>
                  </a:xfrm>
                  <a:custGeom>
                    <a:rect b="b" l="l" r="r" t="t"/>
                    <a:pathLst>
                      <a:path extrusionOk="0" h="181" w="38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49411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39" name="Google Shape;39;p68"/>
                  <p:cNvSpPr/>
                  <p:nvPr/>
                </p:nvSpPr>
                <p:spPr>
                  <a:xfrm>
                    <a:off x="1991" y="1486"/>
                    <a:ext cx="168" cy="48"/>
                  </a:xfrm>
                  <a:custGeom>
                    <a:rect b="b" l="l" r="r" t="t"/>
                    <a:pathLst>
                      <a:path extrusionOk="0" h="48" w="16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49411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  <p:sp>
                <p:nvSpPr>
                  <p:cNvPr id="40" name="Google Shape;40;p68"/>
                  <p:cNvSpPr/>
                  <p:nvPr/>
                </p:nvSpPr>
                <p:spPr>
                  <a:xfrm>
                    <a:off x="1985" y="1514"/>
                    <a:ext cx="173" cy="20"/>
                  </a:xfrm>
                  <a:custGeom>
                    <a:rect b="b" l="l" r="r" t="t"/>
                    <a:pathLst>
                      <a:path extrusionOk="0" h="20" w="173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49411"/>
                    </a:srgbClr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Helvetica Neue"/>
                      <a:ea typeface="Helvetica Neue"/>
                      <a:cs typeface="Helvetica Neue"/>
                      <a:sym typeface="Helvetica Neue"/>
                    </a:endParaRPr>
                  </a:p>
                </p:txBody>
              </p:sp>
            </p:grpSp>
          </p:grpSp>
        </p:grpSp>
      </p:grpSp>
      <p:grpSp>
        <p:nvGrpSpPr>
          <p:cNvPr id="41" name="Google Shape;41;p68"/>
          <p:cNvGrpSpPr/>
          <p:nvPr/>
        </p:nvGrpSpPr>
        <p:grpSpPr>
          <a:xfrm>
            <a:off x="7934325" y="6124575"/>
            <a:ext cx="322262" cy="420687"/>
            <a:chOff x="112" y="4288"/>
            <a:chExt cx="439" cy="478"/>
          </a:xfrm>
        </p:grpSpPr>
        <p:grpSp>
          <p:nvGrpSpPr>
            <p:cNvPr id="42" name="Google Shape;42;p68"/>
            <p:cNvGrpSpPr/>
            <p:nvPr/>
          </p:nvGrpSpPr>
          <p:grpSpPr>
            <a:xfrm>
              <a:off x="259" y="4288"/>
              <a:ext cx="148" cy="478"/>
              <a:chOff x="259" y="4288"/>
              <a:chExt cx="148" cy="478"/>
            </a:xfrm>
          </p:grpSpPr>
          <p:sp>
            <p:nvSpPr>
              <p:cNvPr id="43" name="Google Shape;43;p68"/>
              <p:cNvSpPr/>
              <p:nvPr/>
            </p:nvSpPr>
            <p:spPr>
              <a:xfrm>
                <a:off x="260" y="4288"/>
                <a:ext cx="147" cy="478"/>
              </a:xfrm>
              <a:custGeom>
                <a:rect b="b" l="l" r="r" t="t"/>
                <a:pathLst>
                  <a:path extrusionOk="0" h="478" w="147">
                    <a:moveTo>
                      <a:pt x="49" y="188"/>
                    </a:moveTo>
                    <a:lnTo>
                      <a:pt x="131" y="472"/>
                    </a:lnTo>
                    <a:lnTo>
                      <a:pt x="135" y="475"/>
                    </a:lnTo>
                    <a:lnTo>
                      <a:pt x="139" y="477"/>
                    </a:lnTo>
                    <a:lnTo>
                      <a:pt x="142" y="475"/>
                    </a:lnTo>
                    <a:lnTo>
                      <a:pt x="144" y="472"/>
                    </a:lnTo>
                    <a:lnTo>
                      <a:pt x="146" y="468"/>
                    </a:lnTo>
                    <a:lnTo>
                      <a:pt x="146" y="463"/>
                    </a:lnTo>
                    <a:lnTo>
                      <a:pt x="143" y="455"/>
                    </a:lnTo>
                    <a:lnTo>
                      <a:pt x="61" y="176"/>
                    </a:lnTo>
                    <a:lnTo>
                      <a:pt x="9" y="5"/>
                    </a:lnTo>
                    <a:lnTo>
                      <a:pt x="6" y="2"/>
                    </a:lnTo>
                    <a:lnTo>
                      <a:pt x="4" y="1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9" y="188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4" name="Google Shape;44;p68"/>
              <p:cNvSpPr/>
              <p:nvPr/>
            </p:nvSpPr>
            <p:spPr>
              <a:xfrm>
                <a:off x="259" y="4289"/>
                <a:ext cx="146" cy="477"/>
              </a:xfrm>
              <a:custGeom>
                <a:rect b="b" l="l" r="r" t="t"/>
                <a:pathLst>
                  <a:path extrusionOk="0" h="477" w="146">
                    <a:moveTo>
                      <a:pt x="50" y="186"/>
                    </a:moveTo>
                    <a:lnTo>
                      <a:pt x="131" y="471"/>
                    </a:lnTo>
                    <a:lnTo>
                      <a:pt x="133" y="474"/>
                    </a:lnTo>
                    <a:lnTo>
                      <a:pt x="138" y="476"/>
                    </a:lnTo>
                    <a:lnTo>
                      <a:pt x="141" y="474"/>
                    </a:lnTo>
                    <a:lnTo>
                      <a:pt x="144" y="473"/>
                    </a:lnTo>
                    <a:lnTo>
                      <a:pt x="145" y="467"/>
                    </a:lnTo>
                    <a:lnTo>
                      <a:pt x="145" y="462"/>
                    </a:lnTo>
                    <a:lnTo>
                      <a:pt x="143" y="454"/>
                    </a:lnTo>
                    <a:lnTo>
                      <a:pt x="61" y="174"/>
                    </a:lnTo>
                    <a:lnTo>
                      <a:pt x="9" y="4"/>
                    </a:lnTo>
                    <a:lnTo>
                      <a:pt x="6" y="2"/>
                    </a:lnTo>
                    <a:lnTo>
                      <a:pt x="4" y="0"/>
                    </a:lnTo>
                    <a:lnTo>
                      <a:pt x="2" y="0"/>
                    </a:lnTo>
                    <a:lnTo>
                      <a:pt x="1" y="2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50" y="186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  <p:grpSp>
          <p:nvGrpSpPr>
            <p:cNvPr id="45" name="Google Shape;45;p68"/>
            <p:cNvGrpSpPr/>
            <p:nvPr/>
          </p:nvGrpSpPr>
          <p:grpSpPr>
            <a:xfrm>
              <a:off x="112" y="4295"/>
              <a:ext cx="439" cy="321"/>
              <a:chOff x="112" y="4295"/>
              <a:chExt cx="439" cy="321"/>
            </a:xfrm>
          </p:grpSpPr>
          <p:sp>
            <p:nvSpPr>
              <p:cNvPr id="46" name="Google Shape;46;p68"/>
              <p:cNvSpPr/>
              <p:nvPr/>
            </p:nvSpPr>
            <p:spPr>
              <a:xfrm>
                <a:off x="191" y="4304"/>
                <a:ext cx="273" cy="276"/>
              </a:xfrm>
              <a:custGeom>
                <a:rect b="b" l="l" r="r" t="t"/>
                <a:pathLst>
                  <a:path extrusionOk="0" h="276" w="273">
                    <a:moveTo>
                      <a:pt x="30" y="48"/>
                    </a:moveTo>
                    <a:lnTo>
                      <a:pt x="43" y="32"/>
                    </a:lnTo>
                    <a:lnTo>
                      <a:pt x="55" y="21"/>
                    </a:lnTo>
                    <a:lnTo>
                      <a:pt x="69" y="13"/>
                    </a:lnTo>
                    <a:lnTo>
                      <a:pt x="78" y="8"/>
                    </a:lnTo>
                    <a:lnTo>
                      <a:pt x="92" y="4"/>
                    </a:lnTo>
                    <a:lnTo>
                      <a:pt x="108" y="0"/>
                    </a:lnTo>
                    <a:lnTo>
                      <a:pt x="123" y="0"/>
                    </a:lnTo>
                    <a:lnTo>
                      <a:pt x="144" y="4"/>
                    </a:lnTo>
                    <a:lnTo>
                      <a:pt x="154" y="9"/>
                    </a:lnTo>
                    <a:lnTo>
                      <a:pt x="173" y="20"/>
                    </a:lnTo>
                    <a:lnTo>
                      <a:pt x="194" y="36"/>
                    </a:lnTo>
                    <a:lnTo>
                      <a:pt x="213" y="55"/>
                    </a:lnTo>
                    <a:lnTo>
                      <a:pt x="232" y="75"/>
                    </a:lnTo>
                    <a:lnTo>
                      <a:pt x="247" y="105"/>
                    </a:lnTo>
                    <a:lnTo>
                      <a:pt x="265" y="128"/>
                    </a:lnTo>
                    <a:lnTo>
                      <a:pt x="272" y="165"/>
                    </a:lnTo>
                    <a:lnTo>
                      <a:pt x="268" y="156"/>
                    </a:lnTo>
                    <a:lnTo>
                      <a:pt x="265" y="150"/>
                    </a:lnTo>
                    <a:lnTo>
                      <a:pt x="261" y="146"/>
                    </a:lnTo>
                    <a:lnTo>
                      <a:pt x="256" y="142"/>
                    </a:lnTo>
                    <a:lnTo>
                      <a:pt x="253" y="138"/>
                    </a:lnTo>
                    <a:lnTo>
                      <a:pt x="247" y="136"/>
                    </a:lnTo>
                    <a:lnTo>
                      <a:pt x="242" y="133"/>
                    </a:lnTo>
                    <a:lnTo>
                      <a:pt x="237" y="132"/>
                    </a:lnTo>
                    <a:lnTo>
                      <a:pt x="232" y="132"/>
                    </a:lnTo>
                    <a:lnTo>
                      <a:pt x="226" y="132"/>
                    </a:lnTo>
                    <a:lnTo>
                      <a:pt x="220" y="133"/>
                    </a:lnTo>
                    <a:lnTo>
                      <a:pt x="215" y="134"/>
                    </a:lnTo>
                    <a:lnTo>
                      <a:pt x="209" y="137"/>
                    </a:lnTo>
                    <a:lnTo>
                      <a:pt x="205" y="141"/>
                    </a:lnTo>
                    <a:lnTo>
                      <a:pt x="201" y="144"/>
                    </a:lnTo>
                    <a:lnTo>
                      <a:pt x="196" y="149"/>
                    </a:lnTo>
                    <a:lnTo>
                      <a:pt x="193" y="155"/>
                    </a:lnTo>
                    <a:lnTo>
                      <a:pt x="190" y="161"/>
                    </a:lnTo>
                    <a:lnTo>
                      <a:pt x="187" y="167"/>
                    </a:lnTo>
                    <a:lnTo>
                      <a:pt x="186" y="175"/>
                    </a:lnTo>
                    <a:lnTo>
                      <a:pt x="184" y="181"/>
                    </a:lnTo>
                    <a:lnTo>
                      <a:pt x="185" y="190"/>
                    </a:lnTo>
                    <a:lnTo>
                      <a:pt x="186" y="196"/>
                    </a:lnTo>
                    <a:lnTo>
                      <a:pt x="187" y="203"/>
                    </a:lnTo>
                    <a:lnTo>
                      <a:pt x="166" y="150"/>
                    </a:lnTo>
                    <a:lnTo>
                      <a:pt x="98" y="175"/>
                    </a:lnTo>
                    <a:lnTo>
                      <a:pt x="99" y="225"/>
                    </a:lnTo>
                    <a:lnTo>
                      <a:pt x="102" y="239"/>
                    </a:lnTo>
                    <a:lnTo>
                      <a:pt x="99" y="231"/>
                    </a:lnTo>
                    <a:lnTo>
                      <a:pt x="96" y="226"/>
                    </a:lnTo>
                    <a:lnTo>
                      <a:pt x="92" y="221"/>
                    </a:lnTo>
                    <a:lnTo>
                      <a:pt x="87" y="217"/>
                    </a:lnTo>
                    <a:lnTo>
                      <a:pt x="83" y="212"/>
                    </a:lnTo>
                    <a:lnTo>
                      <a:pt x="78" y="210"/>
                    </a:lnTo>
                    <a:lnTo>
                      <a:pt x="73" y="207"/>
                    </a:lnTo>
                    <a:lnTo>
                      <a:pt x="68" y="206"/>
                    </a:lnTo>
                    <a:lnTo>
                      <a:pt x="63" y="204"/>
                    </a:lnTo>
                    <a:lnTo>
                      <a:pt x="58" y="204"/>
                    </a:lnTo>
                    <a:lnTo>
                      <a:pt x="53" y="206"/>
                    </a:lnTo>
                    <a:lnTo>
                      <a:pt x="48" y="206"/>
                    </a:lnTo>
                    <a:lnTo>
                      <a:pt x="43" y="208"/>
                    </a:lnTo>
                    <a:lnTo>
                      <a:pt x="38" y="211"/>
                    </a:lnTo>
                    <a:lnTo>
                      <a:pt x="33" y="214"/>
                    </a:lnTo>
                    <a:lnTo>
                      <a:pt x="28" y="218"/>
                    </a:lnTo>
                    <a:lnTo>
                      <a:pt x="25" y="222"/>
                    </a:lnTo>
                    <a:lnTo>
                      <a:pt x="22" y="226"/>
                    </a:lnTo>
                    <a:lnTo>
                      <a:pt x="19" y="231"/>
                    </a:lnTo>
                    <a:lnTo>
                      <a:pt x="17" y="238"/>
                    </a:lnTo>
                    <a:lnTo>
                      <a:pt x="15" y="243"/>
                    </a:lnTo>
                    <a:lnTo>
                      <a:pt x="14" y="252"/>
                    </a:lnTo>
                    <a:lnTo>
                      <a:pt x="14" y="258"/>
                    </a:lnTo>
                    <a:lnTo>
                      <a:pt x="15" y="264"/>
                    </a:lnTo>
                    <a:lnTo>
                      <a:pt x="17" y="275"/>
                    </a:lnTo>
                    <a:lnTo>
                      <a:pt x="12" y="262"/>
                    </a:lnTo>
                    <a:lnTo>
                      <a:pt x="3" y="229"/>
                    </a:lnTo>
                    <a:lnTo>
                      <a:pt x="2" y="207"/>
                    </a:lnTo>
                    <a:lnTo>
                      <a:pt x="0" y="173"/>
                    </a:lnTo>
                    <a:lnTo>
                      <a:pt x="0" y="144"/>
                    </a:lnTo>
                    <a:lnTo>
                      <a:pt x="4" y="119"/>
                    </a:lnTo>
                    <a:lnTo>
                      <a:pt x="11" y="84"/>
                    </a:lnTo>
                    <a:lnTo>
                      <a:pt x="30" y="4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sp>
            <p:nvSpPr>
              <p:cNvPr id="47" name="Google Shape;47;p68"/>
              <p:cNvSpPr/>
              <p:nvPr/>
            </p:nvSpPr>
            <p:spPr>
              <a:xfrm>
                <a:off x="112" y="4295"/>
                <a:ext cx="439" cy="321"/>
              </a:xfrm>
              <a:custGeom>
                <a:rect b="b" l="l" r="r" t="t"/>
                <a:pathLst>
                  <a:path extrusionOk="0" h="321" w="439">
                    <a:moveTo>
                      <a:pt x="172" y="12"/>
                    </a:moveTo>
                    <a:lnTo>
                      <a:pt x="162" y="16"/>
                    </a:lnTo>
                    <a:lnTo>
                      <a:pt x="157" y="17"/>
                    </a:lnTo>
                    <a:lnTo>
                      <a:pt x="152" y="20"/>
                    </a:lnTo>
                    <a:lnTo>
                      <a:pt x="146" y="22"/>
                    </a:lnTo>
                    <a:lnTo>
                      <a:pt x="138" y="26"/>
                    </a:lnTo>
                    <a:lnTo>
                      <a:pt x="132" y="30"/>
                    </a:lnTo>
                    <a:lnTo>
                      <a:pt x="126" y="33"/>
                    </a:lnTo>
                    <a:lnTo>
                      <a:pt x="119" y="38"/>
                    </a:lnTo>
                    <a:lnTo>
                      <a:pt x="113" y="43"/>
                    </a:lnTo>
                    <a:lnTo>
                      <a:pt x="107" y="47"/>
                    </a:lnTo>
                    <a:lnTo>
                      <a:pt x="101" y="52"/>
                    </a:lnTo>
                    <a:lnTo>
                      <a:pt x="94" y="57"/>
                    </a:lnTo>
                    <a:lnTo>
                      <a:pt x="88" y="61"/>
                    </a:lnTo>
                    <a:lnTo>
                      <a:pt x="83" y="67"/>
                    </a:lnTo>
                    <a:lnTo>
                      <a:pt x="77" y="72"/>
                    </a:lnTo>
                    <a:lnTo>
                      <a:pt x="72" y="79"/>
                    </a:lnTo>
                    <a:lnTo>
                      <a:pt x="66" y="84"/>
                    </a:lnTo>
                    <a:lnTo>
                      <a:pt x="61" y="90"/>
                    </a:lnTo>
                    <a:lnTo>
                      <a:pt x="57" y="96"/>
                    </a:lnTo>
                    <a:lnTo>
                      <a:pt x="51" y="103"/>
                    </a:lnTo>
                    <a:lnTo>
                      <a:pt x="46" y="110"/>
                    </a:lnTo>
                    <a:lnTo>
                      <a:pt x="41" y="118"/>
                    </a:lnTo>
                    <a:lnTo>
                      <a:pt x="36" y="126"/>
                    </a:lnTo>
                    <a:lnTo>
                      <a:pt x="31" y="134"/>
                    </a:lnTo>
                    <a:lnTo>
                      <a:pt x="27" y="141"/>
                    </a:lnTo>
                    <a:lnTo>
                      <a:pt x="23" y="150"/>
                    </a:lnTo>
                    <a:lnTo>
                      <a:pt x="18" y="160"/>
                    </a:lnTo>
                    <a:lnTo>
                      <a:pt x="15" y="169"/>
                    </a:lnTo>
                    <a:lnTo>
                      <a:pt x="12" y="177"/>
                    </a:lnTo>
                    <a:lnTo>
                      <a:pt x="9" y="186"/>
                    </a:lnTo>
                    <a:lnTo>
                      <a:pt x="6" y="196"/>
                    </a:lnTo>
                    <a:lnTo>
                      <a:pt x="4" y="207"/>
                    </a:lnTo>
                    <a:lnTo>
                      <a:pt x="3" y="216"/>
                    </a:lnTo>
                    <a:lnTo>
                      <a:pt x="1" y="227"/>
                    </a:lnTo>
                    <a:lnTo>
                      <a:pt x="0" y="239"/>
                    </a:lnTo>
                    <a:lnTo>
                      <a:pt x="0" y="250"/>
                    </a:lnTo>
                    <a:lnTo>
                      <a:pt x="0" y="260"/>
                    </a:lnTo>
                    <a:lnTo>
                      <a:pt x="0" y="270"/>
                    </a:lnTo>
                    <a:lnTo>
                      <a:pt x="0" y="278"/>
                    </a:lnTo>
                    <a:lnTo>
                      <a:pt x="1" y="286"/>
                    </a:lnTo>
                    <a:lnTo>
                      <a:pt x="3" y="294"/>
                    </a:lnTo>
                    <a:lnTo>
                      <a:pt x="4" y="302"/>
                    </a:lnTo>
                    <a:lnTo>
                      <a:pt x="6" y="310"/>
                    </a:lnTo>
                    <a:lnTo>
                      <a:pt x="9" y="320"/>
                    </a:lnTo>
                    <a:lnTo>
                      <a:pt x="7" y="310"/>
                    </a:lnTo>
                    <a:lnTo>
                      <a:pt x="7" y="302"/>
                    </a:lnTo>
                    <a:lnTo>
                      <a:pt x="7" y="295"/>
                    </a:lnTo>
                    <a:lnTo>
                      <a:pt x="9" y="289"/>
                    </a:lnTo>
                    <a:lnTo>
                      <a:pt x="10" y="282"/>
                    </a:lnTo>
                    <a:lnTo>
                      <a:pt x="13" y="276"/>
                    </a:lnTo>
                    <a:lnTo>
                      <a:pt x="16" y="271"/>
                    </a:lnTo>
                    <a:lnTo>
                      <a:pt x="21" y="264"/>
                    </a:lnTo>
                    <a:lnTo>
                      <a:pt x="25" y="260"/>
                    </a:lnTo>
                    <a:lnTo>
                      <a:pt x="29" y="258"/>
                    </a:lnTo>
                    <a:lnTo>
                      <a:pt x="33" y="255"/>
                    </a:lnTo>
                    <a:lnTo>
                      <a:pt x="39" y="252"/>
                    </a:lnTo>
                    <a:lnTo>
                      <a:pt x="45" y="251"/>
                    </a:lnTo>
                    <a:lnTo>
                      <a:pt x="50" y="250"/>
                    </a:lnTo>
                    <a:lnTo>
                      <a:pt x="55" y="250"/>
                    </a:lnTo>
                    <a:lnTo>
                      <a:pt x="60" y="251"/>
                    </a:lnTo>
                    <a:lnTo>
                      <a:pt x="66" y="252"/>
                    </a:lnTo>
                    <a:lnTo>
                      <a:pt x="72" y="255"/>
                    </a:lnTo>
                    <a:lnTo>
                      <a:pt x="75" y="258"/>
                    </a:lnTo>
                    <a:lnTo>
                      <a:pt x="81" y="260"/>
                    </a:lnTo>
                    <a:lnTo>
                      <a:pt x="85" y="266"/>
                    </a:lnTo>
                    <a:lnTo>
                      <a:pt x="89" y="271"/>
                    </a:lnTo>
                    <a:lnTo>
                      <a:pt x="93" y="278"/>
                    </a:lnTo>
                    <a:lnTo>
                      <a:pt x="96" y="285"/>
                    </a:lnTo>
                    <a:lnTo>
                      <a:pt x="94" y="276"/>
                    </a:lnTo>
                    <a:lnTo>
                      <a:pt x="92" y="268"/>
                    </a:lnTo>
                    <a:lnTo>
                      <a:pt x="89" y="259"/>
                    </a:lnTo>
                    <a:lnTo>
                      <a:pt x="87" y="248"/>
                    </a:lnTo>
                    <a:lnTo>
                      <a:pt x="86" y="239"/>
                    </a:lnTo>
                    <a:lnTo>
                      <a:pt x="84" y="229"/>
                    </a:lnTo>
                    <a:lnTo>
                      <a:pt x="83" y="220"/>
                    </a:lnTo>
                    <a:lnTo>
                      <a:pt x="82" y="211"/>
                    </a:lnTo>
                    <a:lnTo>
                      <a:pt x="81" y="200"/>
                    </a:lnTo>
                    <a:lnTo>
                      <a:pt x="81" y="189"/>
                    </a:lnTo>
                    <a:lnTo>
                      <a:pt x="81" y="178"/>
                    </a:lnTo>
                    <a:lnTo>
                      <a:pt x="81" y="166"/>
                    </a:lnTo>
                    <a:lnTo>
                      <a:pt x="82" y="155"/>
                    </a:lnTo>
                    <a:lnTo>
                      <a:pt x="83" y="147"/>
                    </a:lnTo>
                    <a:lnTo>
                      <a:pt x="84" y="138"/>
                    </a:lnTo>
                    <a:lnTo>
                      <a:pt x="85" y="129"/>
                    </a:lnTo>
                    <a:lnTo>
                      <a:pt x="87" y="119"/>
                    </a:lnTo>
                    <a:lnTo>
                      <a:pt x="90" y="111"/>
                    </a:lnTo>
                    <a:lnTo>
                      <a:pt x="92" y="103"/>
                    </a:lnTo>
                    <a:lnTo>
                      <a:pt x="93" y="96"/>
                    </a:lnTo>
                    <a:lnTo>
                      <a:pt x="96" y="91"/>
                    </a:lnTo>
                    <a:lnTo>
                      <a:pt x="99" y="86"/>
                    </a:lnTo>
                    <a:lnTo>
                      <a:pt x="102" y="77"/>
                    </a:lnTo>
                    <a:lnTo>
                      <a:pt x="105" y="69"/>
                    </a:lnTo>
                    <a:lnTo>
                      <a:pt x="109" y="63"/>
                    </a:lnTo>
                    <a:lnTo>
                      <a:pt x="113" y="57"/>
                    </a:lnTo>
                    <a:lnTo>
                      <a:pt x="117" y="52"/>
                    </a:lnTo>
                    <a:lnTo>
                      <a:pt x="123" y="45"/>
                    </a:lnTo>
                    <a:lnTo>
                      <a:pt x="127" y="40"/>
                    </a:lnTo>
                    <a:lnTo>
                      <a:pt x="132" y="34"/>
                    </a:lnTo>
                    <a:lnTo>
                      <a:pt x="138" y="30"/>
                    </a:lnTo>
                    <a:lnTo>
                      <a:pt x="144" y="26"/>
                    </a:lnTo>
                    <a:lnTo>
                      <a:pt x="150" y="22"/>
                    </a:lnTo>
                    <a:lnTo>
                      <a:pt x="154" y="21"/>
                    </a:lnTo>
                    <a:lnTo>
                      <a:pt x="151" y="25"/>
                    </a:lnTo>
                    <a:lnTo>
                      <a:pt x="149" y="30"/>
                    </a:lnTo>
                    <a:lnTo>
                      <a:pt x="147" y="38"/>
                    </a:lnTo>
                    <a:lnTo>
                      <a:pt x="147" y="47"/>
                    </a:lnTo>
                    <a:lnTo>
                      <a:pt x="146" y="53"/>
                    </a:lnTo>
                    <a:lnTo>
                      <a:pt x="146" y="63"/>
                    </a:lnTo>
                    <a:lnTo>
                      <a:pt x="146" y="71"/>
                    </a:lnTo>
                    <a:lnTo>
                      <a:pt x="146" y="77"/>
                    </a:lnTo>
                    <a:lnTo>
                      <a:pt x="147" y="87"/>
                    </a:lnTo>
                    <a:lnTo>
                      <a:pt x="147" y="98"/>
                    </a:lnTo>
                    <a:lnTo>
                      <a:pt x="149" y="107"/>
                    </a:lnTo>
                    <a:lnTo>
                      <a:pt x="150" y="116"/>
                    </a:lnTo>
                    <a:lnTo>
                      <a:pt x="152" y="129"/>
                    </a:lnTo>
                    <a:lnTo>
                      <a:pt x="154" y="139"/>
                    </a:lnTo>
                    <a:lnTo>
                      <a:pt x="156" y="151"/>
                    </a:lnTo>
                    <a:lnTo>
                      <a:pt x="159" y="162"/>
                    </a:lnTo>
                    <a:lnTo>
                      <a:pt x="161" y="172"/>
                    </a:lnTo>
                    <a:lnTo>
                      <a:pt x="163" y="181"/>
                    </a:lnTo>
                    <a:lnTo>
                      <a:pt x="165" y="190"/>
                    </a:lnTo>
                    <a:lnTo>
                      <a:pt x="168" y="200"/>
                    </a:lnTo>
                    <a:lnTo>
                      <a:pt x="171" y="209"/>
                    </a:lnTo>
                    <a:lnTo>
                      <a:pt x="174" y="220"/>
                    </a:lnTo>
                    <a:lnTo>
                      <a:pt x="176" y="229"/>
                    </a:lnTo>
                    <a:lnTo>
                      <a:pt x="178" y="237"/>
                    </a:lnTo>
                    <a:lnTo>
                      <a:pt x="181" y="248"/>
                    </a:lnTo>
                    <a:lnTo>
                      <a:pt x="180" y="240"/>
                    </a:lnTo>
                    <a:lnTo>
                      <a:pt x="179" y="231"/>
                    </a:lnTo>
                    <a:lnTo>
                      <a:pt x="180" y="223"/>
                    </a:lnTo>
                    <a:lnTo>
                      <a:pt x="180" y="216"/>
                    </a:lnTo>
                    <a:lnTo>
                      <a:pt x="183" y="209"/>
                    </a:lnTo>
                    <a:lnTo>
                      <a:pt x="186" y="203"/>
                    </a:lnTo>
                    <a:lnTo>
                      <a:pt x="189" y="196"/>
                    </a:lnTo>
                    <a:lnTo>
                      <a:pt x="193" y="190"/>
                    </a:lnTo>
                    <a:lnTo>
                      <a:pt x="198" y="186"/>
                    </a:lnTo>
                    <a:lnTo>
                      <a:pt x="204" y="182"/>
                    </a:lnTo>
                    <a:lnTo>
                      <a:pt x="210" y="178"/>
                    </a:lnTo>
                    <a:lnTo>
                      <a:pt x="217" y="178"/>
                    </a:lnTo>
                    <a:lnTo>
                      <a:pt x="223" y="177"/>
                    </a:lnTo>
                    <a:lnTo>
                      <a:pt x="230" y="177"/>
                    </a:lnTo>
                    <a:lnTo>
                      <a:pt x="236" y="178"/>
                    </a:lnTo>
                    <a:lnTo>
                      <a:pt x="243" y="181"/>
                    </a:lnTo>
                    <a:lnTo>
                      <a:pt x="247" y="184"/>
                    </a:lnTo>
                    <a:lnTo>
                      <a:pt x="252" y="188"/>
                    </a:lnTo>
                    <a:lnTo>
                      <a:pt x="256" y="193"/>
                    </a:lnTo>
                    <a:lnTo>
                      <a:pt x="261" y="198"/>
                    </a:lnTo>
                    <a:lnTo>
                      <a:pt x="267" y="212"/>
                    </a:lnTo>
                    <a:lnTo>
                      <a:pt x="262" y="198"/>
                    </a:lnTo>
                    <a:lnTo>
                      <a:pt x="259" y="190"/>
                    </a:lnTo>
                    <a:lnTo>
                      <a:pt x="257" y="184"/>
                    </a:lnTo>
                    <a:lnTo>
                      <a:pt x="255" y="176"/>
                    </a:lnTo>
                    <a:lnTo>
                      <a:pt x="252" y="168"/>
                    </a:lnTo>
                    <a:lnTo>
                      <a:pt x="248" y="158"/>
                    </a:lnTo>
                    <a:lnTo>
                      <a:pt x="244" y="149"/>
                    </a:lnTo>
                    <a:lnTo>
                      <a:pt x="241" y="139"/>
                    </a:lnTo>
                    <a:lnTo>
                      <a:pt x="238" y="131"/>
                    </a:lnTo>
                    <a:lnTo>
                      <a:pt x="234" y="123"/>
                    </a:lnTo>
                    <a:lnTo>
                      <a:pt x="231" y="115"/>
                    </a:lnTo>
                    <a:lnTo>
                      <a:pt x="227" y="106"/>
                    </a:lnTo>
                    <a:lnTo>
                      <a:pt x="222" y="98"/>
                    </a:lnTo>
                    <a:lnTo>
                      <a:pt x="219" y="90"/>
                    </a:lnTo>
                    <a:lnTo>
                      <a:pt x="215" y="83"/>
                    </a:lnTo>
                    <a:lnTo>
                      <a:pt x="211" y="75"/>
                    </a:lnTo>
                    <a:lnTo>
                      <a:pt x="207" y="68"/>
                    </a:lnTo>
                    <a:lnTo>
                      <a:pt x="204" y="61"/>
                    </a:lnTo>
                    <a:lnTo>
                      <a:pt x="201" y="55"/>
                    </a:lnTo>
                    <a:lnTo>
                      <a:pt x="196" y="49"/>
                    </a:lnTo>
                    <a:lnTo>
                      <a:pt x="192" y="44"/>
                    </a:lnTo>
                    <a:lnTo>
                      <a:pt x="188" y="37"/>
                    </a:lnTo>
                    <a:lnTo>
                      <a:pt x="184" y="32"/>
                    </a:lnTo>
                    <a:lnTo>
                      <a:pt x="180" y="28"/>
                    </a:lnTo>
                    <a:lnTo>
                      <a:pt x="175" y="24"/>
                    </a:lnTo>
                    <a:lnTo>
                      <a:pt x="170" y="20"/>
                    </a:lnTo>
                    <a:lnTo>
                      <a:pt x="165" y="18"/>
                    </a:lnTo>
                    <a:lnTo>
                      <a:pt x="161" y="17"/>
                    </a:lnTo>
                    <a:lnTo>
                      <a:pt x="169" y="14"/>
                    </a:lnTo>
                    <a:lnTo>
                      <a:pt x="176" y="13"/>
                    </a:lnTo>
                    <a:lnTo>
                      <a:pt x="183" y="12"/>
                    </a:lnTo>
                    <a:lnTo>
                      <a:pt x="190" y="12"/>
                    </a:lnTo>
                    <a:lnTo>
                      <a:pt x="198" y="12"/>
                    </a:lnTo>
                    <a:lnTo>
                      <a:pt x="205" y="12"/>
                    </a:lnTo>
                    <a:lnTo>
                      <a:pt x="211" y="13"/>
                    </a:lnTo>
                    <a:lnTo>
                      <a:pt x="217" y="14"/>
                    </a:lnTo>
                    <a:lnTo>
                      <a:pt x="224" y="17"/>
                    </a:lnTo>
                    <a:lnTo>
                      <a:pt x="231" y="20"/>
                    </a:lnTo>
                    <a:lnTo>
                      <a:pt x="238" y="24"/>
                    </a:lnTo>
                    <a:lnTo>
                      <a:pt x="245" y="26"/>
                    </a:lnTo>
                    <a:lnTo>
                      <a:pt x="251" y="30"/>
                    </a:lnTo>
                    <a:lnTo>
                      <a:pt x="256" y="33"/>
                    </a:lnTo>
                    <a:lnTo>
                      <a:pt x="261" y="37"/>
                    </a:lnTo>
                    <a:lnTo>
                      <a:pt x="267" y="43"/>
                    </a:lnTo>
                    <a:lnTo>
                      <a:pt x="273" y="47"/>
                    </a:lnTo>
                    <a:lnTo>
                      <a:pt x="278" y="52"/>
                    </a:lnTo>
                    <a:lnTo>
                      <a:pt x="284" y="57"/>
                    </a:lnTo>
                    <a:lnTo>
                      <a:pt x="289" y="63"/>
                    </a:lnTo>
                    <a:lnTo>
                      <a:pt x="294" y="68"/>
                    </a:lnTo>
                    <a:lnTo>
                      <a:pt x="298" y="73"/>
                    </a:lnTo>
                    <a:lnTo>
                      <a:pt x="303" y="80"/>
                    </a:lnTo>
                    <a:lnTo>
                      <a:pt x="308" y="87"/>
                    </a:lnTo>
                    <a:lnTo>
                      <a:pt x="312" y="92"/>
                    </a:lnTo>
                    <a:lnTo>
                      <a:pt x="315" y="99"/>
                    </a:lnTo>
                    <a:lnTo>
                      <a:pt x="320" y="106"/>
                    </a:lnTo>
                    <a:lnTo>
                      <a:pt x="324" y="112"/>
                    </a:lnTo>
                    <a:lnTo>
                      <a:pt x="327" y="119"/>
                    </a:lnTo>
                    <a:lnTo>
                      <a:pt x="331" y="126"/>
                    </a:lnTo>
                    <a:lnTo>
                      <a:pt x="335" y="134"/>
                    </a:lnTo>
                    <a:lnTo>
                      <a:pt x="338" y="141"/>
                    </a:lnTo>
                    <a:lnTo>
                      <a:pt x="341" y="149"/>
                    </a:lnTo>
                    <a:lnTo>
                      <a:pt x="345" y="157"/>
                    </a:lnTo>
                    <a:lnTo>
                      <a:pt x="348" y="165"/>
                    </a:lnTo>
                    <a:lnTo>
                      <a:pt x="351" y="176"/>
                    </a:lnTo>
                    <a:lnTo>
                      <a:pt x="350" y="164"/>
                    </a:lnTo>
                    <a:lnTo>
                      <a:pt x="350" y="157"/>
                    </a:lnTo>
                    <a:lnTo>
                      <a:pt x="350" y="149"/>
                    </a:lnTo>
                    <a:lnTo>
                      <a:pt x="351" y="142"/>
                    </a:lnTo>
                    <a:lnTo>
                      <a:pt x="354" y="135"/>
                    </a:lnTo>
                    <a:lnTo>
                      <a:pt x="356" y="130"/>
                    </a:lnTo>
                    <a:lnTo>
                      <a:pt x="360" y="125"/>
                    </a:lnTo>
                    <a:lnTo>
                      <a:pt x="364" y="119"/>
                    </a:lnTo>
                    <a:lnTo>
                      <a:pt x="369" y="114"/>
                    </a:lnTo>
                    <a:lnTo>
                      <a:pt x="374" y="111"/>
                    </a:lnTo>
                    <a:lnTo>
                      <a:pt x="378" y="108"/>
                    </a:lnTo>
                    <a:lnTo>
                      <a:pt x="383" y="106"/>
                    </a:lnTo>
                    <a:lnTo>
                      <a:pt x="388" y="104"/>
                    </a:lnTo>
                    <a:lnTo>
                      <a:pt x="393" y="103"/>
                    </a:lnTo>
                    <a:lnTo>
                      <a:pt x="398" y="103"/>
                    </a:lnTo>
                    <a:lnTo>
                      <a:pt x="402" y="104"/>
                    </a:lnTo>
                    <a:lnTo>
                      <a:pt x="407" y="106"/>
                    </a:lnTo>
                    <a:lnTo>
                      <a:pt x="412" y="108"/>
                    </a:lnTo>
                    <a:lnTo>
                      <a:pt x="417" y="111"/>
                    </a:lnTo>
                    <a:lnTo>
                      <a:pt x="422" y="114"/>
                    </a:lnTo>
                    <a:lnTo>
                      <a:pt x="426" y="119"/>
                    </a:lnTo>
                    <a:lnTo>
                      <a:pt x="430" y="125"/>
                    </a:lnTo>
                    <a:lnTo>
                      <a:pt x="434" y="130"/>
                    </a:lnTo>
                    <a:lnTo>
                      <a:pt x="438" y="137"/>
                    </a:lnTo>
                    <a:lnTo>
                      <a:pt x="435" y="129"/>
                    </a:lnTo>
                    <a:lnTo>
                      <a:pt x="432" y="123"/>
                    </a:lnTo>
                    <a:lnTo>
                      <a:pt x="430" y="116"/>
                    </a:lnTo>
                    <a:lnTo>
                      <a:pt x="427" y="110"/>
                    </a:lnTo>
                    <a:lnTo>
                      <a:pt x="423" y="103"/>
                    </a:lnTo>
                    <a:lnTo>
                      <a:pt x="420" y="95"/>
                    </a:lnTo>
                    <a:lnTo>
                      <a:pt x="415" y="88"/>
                    </a:lnTo>
                    <a:lnTo>
                      <a:pt x="411" y="83"/>
                    </a:lnTo>
                    <a:lnTo>
                      <a:pt x="407" y="76"/>
                    </a:lnTo>
                    <a:lnTo>
                      <a:pt x="402" y="69"/>
                    </a:lnTo>
                    <a:lnTo>
                      <a:pt x="396" y="64"/>
                    </a:lnTo>
                    <a:lnTo>
                      <a:pt x="392" y="59"/>
                    </a:lnTo>
                    <a:lnTo>
                      <a:pt x="387" y="53"/>
                    </a:lnTo>
                    <a:lnTo>
                      <a:pt x="381" y="48"/>
                    </a:lnTo>
                    <a:lnTo>
                      <a:pt x="375" y="43"/>
                    </a:lnTo>
                    <a:lnTo>
                      <a:pt x="369" y="38"/>
                    </a:lnTo>
                    <a:lnTo>
                      <a:pt x="362" y="33"/>
                    </a:lnTo>
                    <a:lnTo>
                      <a:pt x="356" y="29"/>
                    </a:lnTo>
                    <a:lnTo>
                      <a:pt x="350" y="26"/>
                    </a:lnTo>
                    <a:lnTo>
                      <a:pt x="343" y="22"/>
                    </a:lnTo>
                    <a:lnTo>
                      <a:pt x="337" y="20"/>
                    </a:lnTo>
                    <a:lnTo>
                      <a:pt x="330" y="16"/>
                    </a:lnTo>
                    <a:lnTo>
                      <a:pt x="324" y="13"/>
                    </a:lnTo>
                    <a:lnTo>
                      <a:pt x="317" y="10"/>
                    </a:lnTo>
                    <a:lnTo>
                      <a:pt x="310" y="9"/>
                    </a:lnTo>
                    <a:lnTo>
                      <a:pt x="304" y="6"/>
                    </a:lnTo>
                    <a:lnTo>
                      <a:pt x="297" y="5"/>
                    </a:lnTo>
                    <a:lnTo>
                      <a:pt x="291" y="4"/>
                    </a:lnTo>
                    <a:lnTo>
                      <a:pt x="285" y="2"/>
                    </a:lnTo>
                    <a:lnTo>
                      <a:pt x="279" y="1"/>
                    </a:lnTo>
                    <a:lnTo>
                      <a:pt x="270" y="0"/>
                    </a:lnTo>
                    <a:lnTo>
                      <a:pt x="263" y="0"/>
                    </a:lnTo>
                    <a:lnTo>
                      <a:pt x="256" y="0"/>
                    </a:lnTo>
                    <a:lnTo>
                      <a:pt x="249" y="0"/>
                    </a:lnTo>
                    <a:lnTo>
                      <a:pt x="240" y="0"/>
                    </a:lnTo>
                    <a:lnTo>
                      <a:pt x="232" y="0"/>
                    </a:lnTo>
                    <a:lnTo>
                      <a:pt x="225" y="0"/>
                    </a:lnTo>
                    <a:lnTo>
                      <a:pt x="217" y="1"/>
                    </a:lnTo>
                    <a:lnTo>
                      <a:pt x="209" y="2"/>
                    </a:lnTo>
                    <a:lnTo>
                      <a:pt x="203" y="4"/>
                    </a:lnTo>
                    <a:lnTo>
                      <a:pt x="196" y="5"/>
                    </a:lnTo>
                    <a:lnTo>
                      <a:pt x="189" y="8"/>
                    </a:lnTo>
                    <a:lnTo>
                      <a:pt x="180" y="9"/>
                    </a:lnTo>
                    <a:lnTo>
                      <a:pt x="172" y="12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p:grpSp>
      </p:grpSp>
      <p:sp>
        <p:nvSpPr>
          <p:cNvPr id="48" name="Google Shape;48;p68"/>
          <p:cNvSpPr txBox="1"/>
          <p:nvPr/>
        </p:nvSpPr>
        <p:spPr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©Silberschatz, Korth and Sudarshan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8"/>
          <p:cNvSpPr txBox="1"/>
          <p:nvPr/>
        </p:nvSpPr>
        <p:spPr>
          <a:xfrm>
            <a:off x="4481512" y="6613525"/>
            <a:ext cx="4445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</a:t>
            </a:r>
            <a:fld id="{00000000-1234-1234-1234-123412341234}" type="slidenum"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8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1" name="Google Shape;51;p68"/>
          <p:cNvSpPr txBox="1"/>
          <p:nvPr/>
        </p:nvSpPr>
        <p:spPr>
          <a:xfrm>
            <a:off x="0" y="6613525"/>
            <a:ext cx="184308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 System Concepts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879CA9"/>
            </a:gs>
          </a:gsLst>
          <a:lin ang="5400000" scaled="0"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1"/>
          <p:cNvSpPr/>
          <p:nvPr/>
        </p:nvSpPr>
        <p:spPr>
          <a:xfrm>
            <a:off x="690562" y="3340100"/>
            <a:ext cx="7653337" cy="485775"/>
          </a:xfrm>
          <a:custGeom>
            <a:rect b="b" l="l" r="r" t="t"/>
            <a:pathLst>
              <a:path extrusionOk="0" h="479" w="4128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4941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71"/>
          <p:cNvSpPr/>
          <p:nvPr/>
        </p:nvSpPr>
        <p:spPr>
          <a:xfrm>
            <a:off x="1524000" y="1397000"/>
            <a:ext cx="60960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1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8615" lvl="1" marL="914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25755" lvl="2" marL="1371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9" name="Google Shape;109;p71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0" name="Google Shape;110;p7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1" name="Google Shape;111;p7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2" name="Google Shape;112;p7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8963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57896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Chapter 2:  Entity-Relationship Model</a:t>
            </a:r>
            <a:endParaRPr/>
          </a:p>
        </p:txBody>
      </p:sp>
      <p:sp>
        <p:nvSpPr>
          <p:cNvPr id="124" name="Google Shape;124;p1"/>
          <p:cNvSpPr txBox="1"/>
          <p:nvPr>
            <p:ph idx="1" type="body"/>
          </p:nvPr>
        </p:nvSpPr>
        <p:spPr>
          <a:xfrm>
            <a:off x="1057275" y="1066800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Issues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Constraints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Extended E-R Features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of an E-R Database Schema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Reduction of an E-R Schema to Tables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Sets</a:t>
            </a:r>
            <a:endParaRPr/>
          </a:p>
        </p:txBody>
      </p:sp>
      <p:sp>
        <p:nvSpPr>
          <p:cNvPr id="130" name="Google Shape;130;p2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database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modeled 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collection of entities,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among entities.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an object that exists and is distinguishable from other objects.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21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specific person, company, event, plant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Entities have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people have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addresses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entities of the same type that share the same properties.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set of all persons, companies, trees, holidays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Sets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  <p:pic>
        <p:nvPicPr>
          <p:cNvPr id="136" name="Google Shape;136;p3"/>
          <p:cNvPicPr preferRelativeResize="0"/>
          <p:nvPr/>
        </p:nvPicPr>
        <p:blipFill rotWithShape="1">
          <a:blip r:embed="rId3">
            <a:alphaModFix/>
          </a:blip>
          <a:srcRect b="9858" l="1408" r="1231" t="7511"/>
          <a:stretch/>
        </p:blipFill>
        <p:spPr>
          <a:xfrm>
            <a:off x="1092200" y="1549400"/>
            <a:ext cx="7023100" cy="44704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37" name="Google Shape;137;p3"/>
          <p:cNvSpPr txBox="1"/>
          <p:nvPr/>
        </p:nvSpPr>
        <p:spPr>
          <a:xfrm>
            <a:off x="1128712" y="850900"/>
            <a:ext cx="70929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customer-id   customer-  customer-  customer-           loan-    amount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  name     street         city                   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Attributes</a:t>
            </a:r>
            <a:endParaRPr/>
          </a:p>
        </p:txBody>
      </p:sp>
      <p:sp>
        <p:nvSpPr>
          <p:cNvPr id="143" name="Google Shape;143;p4"/>
          <p:cNvSpPr txBox="1"/>
          <p:nvPr>
            <p:ph idx="1" type="body"/>
          </p:nvPr>
        </p:nvSpPr>
        <p:spPr>
          <a:xfrm>
            <a:off x="685800" y="1038225"/>
            <a:ext cx="7966075" cy="5391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entity is represented by a set of attributes, that is descriptive properties possessed by all members of an entity set.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1" sz="20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1" sz="20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1" sz="20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the set of permitted values for each attribute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 types: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Single-valued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multi-valued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attributes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multivalued attribute: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phone-numbers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Derived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attributes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computed from other attributes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given date of birth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1454150" y="1793875"/>
            <a:ext cx="6094412" cy="129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= (customer-id, customer-name, 		     customer-street, customer-city)</a:t>
            </a:r>
            <a:b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loan = (loan-number, amount)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type="title"/>
          </p:nvPr>
        </p:nvSpPr>
        <p:spPr>
          <a:xfrm>
            <a:off x="0" y="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Composite Attributes</a:t>
            </a:r>
            <a:endParaRPr/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28824" l="1147" r="1912" t="29081"/>
          <a:stretch/>
        </p:blipFill>
        <p:spPr>
          <a:xfrm>
            <a:off x="736600" y="1620837"/>
            <a:ext cx="7735887" cy="251936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</a:t>
            </a:r>
            <a:endParaRPr/>
          </a:p>
        </p:txBody>
      </p:sp>
      <p:sp>
        <p:nvSpPr>
          <p:cNvPr id="156" name="Google Shape;156;p6"/>
          <p:cNvSpPr txBox="1"/>
          <p:nvPr>
            <p:ph idx="1" type="body"/>
          </p:nvPr>
        </p:nvSpPr>
        <p:spPr>
          <a:xfrm>
            <a:off x="571500" y="1128712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an association among several entities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Hayes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20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A-102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entity	relationship set	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mathematical relation among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≥ 2 entities, each taken from entity sets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{(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|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∈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∈ 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…,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a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89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(Hayes, A-102) ∈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 </a:t>
            </a:r>
            <a:r>
              <a:rPr b="1" i="1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/>
          </a:blip>
          <a:srcRect b="8806" l="1248" r="1427" t="7618"/>
          <a:stretch/>
        </p:blipFill>
        <p:spPr>
          <a:xfrm>
            <a:off x="1041400" y="1130300"/>
            <a:ext cx="6921500" cy="44577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(Cont.)</a:t>
            </a:r>
            <a:endParaRPr/>
          </a:p>
        </p:txBody>
      </p:sp>
      <p:sp>
        <p:nvSpPr>
          <p:cNvPr id="168" name="Google Shape;168;p8"/>
          <p:cNvSpPr txBox="1"/>
          <p:nvPr>
            <p:ph idx="1" type="body"/>
          </p:nvPr>
        </p:nvSpPr>
        <p:spPr>
          <a:xfrm>
            <a:off x="815975" y="828675"/>
            <a:ext cx="784860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also be property of a relationship set.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instance, the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 between entity sets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may have the attribute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access-date</a:t>
            </a:r>
            <a:endParaRPr/>
          </a:p>
        </p:txBody>
      </p:sp>
      <p:pic>
        <p:nvPicPr>
          <p:cNvPr id="169" name="Google Shape;169;p8"/>
          <p:cNvPicPr preferRelativeResize="0"/>
          <p:nvPr/>
        </p:nvPicPr>
        <p:blipFill rotWithShape="1">
          <a:blip r:embed="rId3">
            <a:alphaModFix/>
          </a:blip>
          <a:srcRect b="7742" l="1290" r="3547" t="7312"/>
          <a:stretch/>
        </p:blipFill>
        <p:spPr>
          <a:xfrm>
            <a:off x="1249362" y="1949450"/>
            <a:ext cx="6907212" cy="462438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Degree of a Relationship Set</a:t>
            </a:r>
            <a:endParaRPr/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800100" y="1231900"/>
            <a:ext cx="7989887" cy="438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Refers to number of entity sets that participate in a relationship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that involve two entity sets are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(or degree two).  Generally, most relationship sets in a database system are binary.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may involve more than two entity sets. 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Relationships between more than two entity sets are rare.  Most relationships are binary. (More on this later.)</a:t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1085850" y="3389312"/>
            <a:ext cx="661352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0015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Suppose employees of a bank may have jobs (responsibilities) at multiple branches, with different jobs at different branches.  Then there is a ternary relationship set between entity sets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employee,  job and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Cardinalities</a:t>
            </a:r>
            <a:endParaRPr/>
          </a:p>
        </p:txBody>
      </p:sp>
      <p:sp>
        <p:nvSpPr>
          <p:cNvPr id="182" name="Google Shape;182;p10"/>
          <p:cNvSpPr txBox="1"/>
          <p:nvPr>
            <p:ph idx="1" type="body"/>
          </p:nvPr>
        </p:nvSpPr>
        <p:spPr>
          <a:xfrm>
            <a:off x="833437" y="1031875"/>
            <a:ext cx="7505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Express the number of entities to which another entity can be associated via a relationship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useful in describing binary relationship sets.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a binary relationship set the mapping cardinality must be one of the following types: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to one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to many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to one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to many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Cardinalities</a:t>
            </a:r>
            <a:endParaRPr/>
          </a:p>
        </p:txBody>
      </p:sp>
      <p:pic>
        <p:nvPicPr>
          <p:cNvPr id="188" name="Google Shape;188;p11"/>
          <p:cNvPicPr preferRelativeResize="0"/>
          <p:nvPr/>
        </p:nvPicPr>
        <p:blipFill rotWithShape="1">
          <a:blip r:embed="rId3">
            <a:alphaModFix/>
          </a:blip>
          <a:srcRect b="10267" l="1099" r="1832" t="10024"/>
          <a:stretch/>
        </p:blipFill>
        <p:spPr>
          <a:xfrm>
            <a:off x="1155700" y="1016000"/>
            <a:ext cx="6756400" cy="416083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89" name="Google Shape;189;p11"/>
          <p:cNvSpPr txBox="1"/>
          <p:nvPr/>
        </p:nvSpPr>
        <p:spPr>
          <a:xfrm>
            <a:off x="1895475" y="5283200"/>
            <a:ext cx="1416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to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5668962" y="5283200"/>
            <a:ext cx="14874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to many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1025525" y="5651500"/>
            <a:ext cx="63214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Some elements in A and B may not be mapped to any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elements in the other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Cardinalities </a:t>
            </a:r>
            <a:endParaRPr/>
          </a:p>
        </p:txBody>
      </p:sp>
      <p:pic>
        <p:nvPicPr>
          <p:cNvPr id="197" name="Google Shape;197;p12"/>
          <p:cNvPicPr preferRelativeResize="0"/>
          <p:nvPr/>
        </p:nvPicPr>
        <p:blipFill rotWithShape="1">
          <a:blip r:embed="rId3">
            <a:alphaModFix/>
          </a:blip>
          <a:srcRect b="8790" l="2471" r="1235" t="10165"/>
          <a:stretch/>
        </p:blipFill>
        <p:spPr>
          <a:xfrm>
            <a:off x="1257300" y="1079500"/>
            <a:ext cx="6494462" cy="40989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98" name="Google Shape;198;p12"/>
          <p:cNvSpPr txBox="1"/>
          <p:nvPr/>
        </p:nvSpPr>
        <p:spPr>
          <a:xfrm>
            <a:off x="1992312" y="5321300"/>
            <a:ext cx="1436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to 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5589587" y="5321300"/>
            <a:ext cx="16097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to many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1177925" y="5727700"/>
            <a:ext cx="63214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Some elements in A and B may not be mapped to any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elements in the other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Helvetica Neue"/>
              <a:buNone/>
            </a:pPr>
            <a:r>
              <a:rPr b="1" i="0" lang="en-US" sz="26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 Cardinalities affect ER Design</a:t>
            </a:r>
            <a:endParaRPr/>
          </a:p>
        </p:txBody>
      </p:sp>
      <p:pic>
        <p:nvPicPr>
          <p:cNvPr id="206" name="Google Shape;206;p13"/>
          <p:cNvPicPr preferRelativeResize="0"/>
          <p:nvPr/>
        </p:nvPicPr>
        <p:blipFill rotWithShape="1">
          <a:blip r:embed="rId3">
            <a:alphaModFix/>
          </a:blip>
          <a:srcRect b="12742" l="1593" r="3008" t="11799"/>
          <a:stretch/>
        </p:blipFill>
        <p:spPr>
          <a:xfrm>
            <a:off x="839787" y="2303462"/>
            <a:ext cx="7273925" cy="409733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07" name="Google Shape;207;p13"/>
          <p:cNvSpPr txBox="1"/>
          <p:nvPr/>
        </p:nvSpPr>
        <p:spPr>
          <a:xfrm>
            <a:off x="739775" y="777875"/>
            <a:ext cx="8001000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make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access-date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attribute of account, instead of a relationship attribute, if each account can have only one customer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I.e., the relationship from account to customer is many to one, or equivalently, customer to account is one to many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>
            <p:ph type="title"/>
          </p:nvPr>
        </p:nvSpPr>
        <p:spPr>
          <a:xfrm>
            <a:off x="469900" y="0"/>
            <a:ext cx="826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Diagrams</a:t>
            </a:r>
            <a:endParaRPr/>
          </a:p>
        </p:txBody>
      </p:sp>
      <p:pic>
        <p:nvPicPr>
          <p:cNvPr id="213" name="Google Shape;213;p14"/>
          <p:cNvPicPr preferRelativeResize="0"/>
          <p:nvPr/>
        </p:nvPicPr>
        <p:blipFill rotWithShape="1">
          <a:blip r:embed="rId3">
            <a:alphaModFix/>
          </a:blip>
          <a:srcRect b="30732" l="1063" r="1063" t="30731"/>
          <a:stretch/>
        </p:blipFill>
        <p:spPr>
          <a:xfrm>
            <a:off x="839787" y="963612"/>
            <a:ext cx="7956550" cy="23495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14" name="Google Shape;214;p14"/>
          <p:cNvSpPr txBox="1"/>
          <p:nvPr/>
        </p:nvSpPr>
        <p:spPr>
          <a:xfrm>
            <a:off x="473075" y="3622675"/>
            <a:ext cx="8505825" cy="282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Rectangles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represent entity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Diamonds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represent relationship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link attributes to entity sets and entity sets to relationship sets.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Ellipses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represent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Double ellipses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represent multivalued attributes.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Dashed ellipses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denote derived attributes.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Underline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indicates primary key attributes (will study later)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>
            <p:ph type="title"/>
          </p:nvPr>
        </p:nvSpPr>
        <p:spPr>
          <a:xfrm>
            <a:off x="835025" y="0"/>
            <a:ext cx="8077200" cy="10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"/>
              <a:buNone/>
            </a:pPr>
            <a:r>
              <a:rPr b="1" i="0" lang="en-US" sz="24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With Composite, Multivalued, and Derived Attributes</a:t>
            </a:r>
            <a:endParaRPr/>
          </a:p>
        </p:txBody>
      </p:sp>
      <p:pic>
        <p:nvPicPr>
          <p:cNvPr id="220" name="Google Shape;220;p15"/>
          <p:cNvPicPr preferRelativeResize="0"/>
          <p:nvPr/>
        </p:nvPicPr>
        <p:blipFill rotWithShape="1">
          <a:blip r:embed="rId3">
            <a:alphaModFix/>
          </a:blip>
          <a:srcRect b="16918" l="946" r="1704" t="14646"/>
          <a:stretch/>
        </p:blipFill>
        <p:spPr>
          <a:xfrm>
            <a:off x="579437" y="1627187"/>
            <a:ext cx="8051800" cy="424497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with Attributes</a:t>
            </a:r>
            <a:endParaRPr/>
          </a:p>
        </p:txBody>
      </p:sp>
      <p:pic>
        <p:nvPicPr>
          <p:cNvPr id="226" name="Google Shape;226;p16"/>
          <p:cNvPicPr preferRelativeResize="0"/>
          <p:nvPr/>
        </p:nvPicPr>
        <p:blipFill rotWithShape="1">
          <a:blip r:embed="rId3">
            <a:alphaModFix/>
          </a:blip>
          <a:srcRect b="28604" l="1099" r="1650" t="28851"/>
          <a:stretch/>
        </p:blipFill>
        <p:spPr>
          <a:xfrm>
            <a:off x="527050" y="1801812"/>
            <a:ext cx="8323262" cy="27305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Roles</a:t>
            </a:r>
            <a:endParaRPr/>
          </a:p>
        </p:txBody>
      </p:sp>
      <p:sp>
        <p:nvSpPr>
          <p:cNvPr id="232" name="Google Shape;232;p17"/>
          <p:cNvSpPr txBox="1"/>
          <p:nvPr>
            <p:ph idx="1" type="body"/>
          </p:nvPr>
        </p:nvSpPr>
        <p:spPr>
          <a:xfrm>
            <a:off x="971550" y="944562"/>
            <a:ext cx="7689850" cy="2382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sets of a relationship need not be distinct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labels “manager” and “worker” are called </a:t>
            </a: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 they specify how employee entities interact via the works-for relationship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Roles are indicated in E-R diagrams by labeling the lines that connect diamonds to rectangles.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Role labels are optional, and are used to clarify semantics of the relationship</a:t>
            </a:r>
            <a:endParaRPr/>
          </a:p>
        </p:txBody>
      </p:sp>
      <p:pic>
        <p:nvPicPr>
          <p:cNvPr id="233" name="Google Shape;233;p17"/>
          <p:cNvPicPr preferRelativeResize="0"/>
          <p:nvPr/>
        </p:nvPicPr>
        <p:blipFill rotWithShape="1">
          <a:blip r:embed="rId3">
            <a:alphaModFix/>
          </a:blip>
          <a:srcRect b="23051" l="1768" r="2355" t="22790"/>
          <a:stretch/>
        </p:blipFill>
        <p:spPr>
          <a:xfrm>
            <a:off x="977900" y="3481387"/>
            <a:ext cx="6738937" cy="28543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Cardinality Constraints</a:t>
            </a:r>
            <a:endParaRPr/>
          </a:p>
        </p:txBody>
      </p:sp>
      <p:sp>
        <p:nvSpPr>
          <p:cNvPr id="239" name="Google Shape;239;p18"/>
          <p:cNvSpPr txBox="1"/>
          <p:nvPr>
            <p:ph idx="1" type="body"/>
          </p:nvPr>
        </p:nvSpPr>
        <p:spPr>
          <a:xfrm>
            <a:off x="571500" y="936625"/>
            <a:ext cx="7848600" cy="2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express cardinality constraints by drawing either a directed line (→), signifying “one,” or an undirected line (—), signifying “many,” between the relationship set and the entity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E.g.: One-to-one relationship: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customer is associated with at most one loan via the relationship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loan is associated with at most one customer via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240" name="Google Shape;240;p18"/>
          <p:cNvPicPr preferRelativeResize="0"/>
          <p:nvPr/>
        </p:nvPicPr>
        <p:blipFill rotWithShape="1">
          <a:blip r:embed="rId3">
            <a:alphaModFix/>
          </a:blip>
          <a:srcRect b="5558" l="16525" r="16736" t="63830"/>
          <a:stretch/>
        </p:blipFill>
        <p:spPr>
          <a:xfrm>
            <a:off x="1358900" y="3538537"/>
            <a:ext cx="6623050" cy="227806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>
            <p:ph type="title"/>
          </p:nvPr>
        </p:nvSpPr>
        <p:spPr>
          <a:xfrm>
            <a:off x="819150" y="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One-To-Many Relationship</a:t>
            </a:r>
            <a:endParaRPr/>
          </a:p>
        </p:txBody>
      </p:sp>
      <p:sp>
        <p:nvSpPr>
          <p:cNvPr id="246" name="Google Shape;246;p19"/>
          <p:cNvSpPr txBox="1"/>
          <p:nvPr>
            <p:ph idx="1" type="body"/>
          </p:nvPr>
        </p:nvSpPr>
        <p:spPr>
          <a:xfrm>
            <a:off x="755650" y="1022350"/>
            <a:ext cx="78486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one-to-many relationship a loan is associated with at most one customer via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 customer is associated with several (including 0) loans via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247" name="Google Shape;247;p19"/>
          <p:cNvPicPr preferRelativeResize="0"/>
          <p:nvPr/>
        </p:nvPicPr>
        <p:blipFill rotWithShape="1">
          <a:blip r:embed="rId3">
            <a:alphaModFix/>
          </a:blip>
          <a:srcRect b="72424" l="16525" r="16736" t="846"/>
          <a:stretch/>
        </p:blipFill>
        <p:spPr>
          <a:xfrm>
            <a:off x="488950" y="2454275"/>
            <a:ext cx="8037512" cy="241458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"/>
          <p:cNvSpPr txBox="1"/>
          <p:nvPr>
            <p:ph type="title"/>
          </p:nvPr>
        </p:nvSpPr>
        <p:spPr>
          <a:xfrm>
            <a:off x="512762" y="495300"/>
            <a:ext cx="811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Many-To-One Relationships</a:t>
            </a:r>
            <a:endParaRPr/>
          </a:p>
        </p:txBody>
      </p:sp>
      <p:pic>
        <p:nvPicPr>
          <p:cNvPr id="253" name="Google Shape;253;p20"/>
          <p:cNvPicPr preferRelativeResize="0"/>
          <p:nvPr/>
        </p:nvPicPr>
        <p:blipFill rotWithShape="1">
          <a:blip r:embed="rId3">
            <a:alphaModFix/>
          </a:blip>
          <a:srcRect b="39991" l="16525" r="16736" t="31746"/>
          <a:stretch/>
        </p:blipFill>
        <p:spPr>
          <a:xfrm>
            <a:off x="1016000" y="2776537"/>
            <a:ext cx="7508875" cy="23844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54" name="Google Shape;254;p20"/>
          <p:cNvSpPr txBox="1"/>
          <p:nvPr>
            <p:ph idx="1" type="body"/>
          </p:nvPr>
        </p:nvSpPr>
        <p:spPr>
          <a:xfrm>
            <a:off x="666750" y="1504950"/>
            <a:ext cx="78486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many-to-one relationship a loan is associated with several (including 0) customers via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 customer is associated with at most one loan via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Many-To-Many Relationship</a:t>
            </a:r>
            <a:endParaRPr/>
          </a:p>
        </p:txBody>
      </p:sp>
      <p:sp>
        <p:nvSpPr>
          <p:cNvPr id="260" name="Google Shape;260;p21"/>
          <p:cNvSpPr txBox="1"/>
          <p:nvPr>
            <p:ph idx="1" type="body"/>
          </p:nvPr>
        </p:nvSpPr>
        <p:spPr>
          <a:xfrm>
            <a:off x="1062037" y="3727450"/>
            <a:ext cx="7029450" cy="154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customer is associated with several (possibly 0) loans via borrower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loan is associated with several (possibly 0) customers via borrower</a:t>
            </a:r>
            <a:endParaRPr/>
          </a:p>
        </p:txBody>
      </p:sp>
      <p:pic>
        <p:nvPicPr>
          <p:cNvPr id="261" name="Google Shape;261;p21"/>
          <p:cNvPicPr preferRelativeResize="0"/>
          <p:nvPr/>
        </p:nvPicPr>
        <p:blipFill rotWithShape="1">
          <a:blip r:embed="rId3">
            <a:alphaModFix/>
          </a:blip>
          <a:srcRect b="30732" l="1063" r="1063" t="30731"/>
          <a:stretch/>
        </p:blipFill>
        <p:spPr>
          <a:xfrm>
            <a:off x="622300" y="1079500"/>
            <a:ext cx="7956550" cy="23495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>
            <p:ph type="title"/>
          </p:nvPr>
        </p:nvSpPr>
        <p:spPr>
          <a:xfrm>
            <a:off x="1130300" y="298450"/>
            <a:ext cx="7594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Participation of an Entity Set in a Relationship Set</a:t>
            </a:r>
            <a:endParaRPr/>
          </a:p>
        </p:txBody>
      </p:sp>
      <p:pic>
        <p:nvPicPr>
          <p:cNvPr id="267" name="Google Shape;267;p22"/>
          <p:cNvPicPr preferRelativeResize="0"/>
          <p:nvPr/>
        </p:nvPicPr>
        <p:blipFill rotWithShape="1">
          <a:blip r:embed="rId3">
            <a:alphaModFix/>
          </a:blip>
          <a:srcRect b="34564" l="1141" r="978" t="32826"/>
          <a:stretch/>
        </p:blipFill>
        <p:spPr>
          <a:xfrm>
            <a:off x="419100" y="3670300"/>
            <a:ext cx="8437562" cy="21082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68" name="Google Shape;268;p22"/>
          <p:cNvSpPr txBox="1"/>
          <p:nvPr/>
        </p:nvSpPr>
        <p:spPr>
          <a:xfrm>
            <a:off x="884237" y="1001712"/>
            <a:ext cx="7777162" cy="244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(indicated by double line):  every entity in the entity set participates in at least one relationship in the relationship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participation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every loan must have a customer associated to it via borrower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 participation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some entities may not participate in any relationship in the relationship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participation of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partial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723900" y="0"/>
            <a:ext cx="8077200" cy="1012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Alternative Notation for Cardinality Limits</a:t>
            </a:r>
            <a:endParaRPr/>
          </a:p>
        </p:txBody>
      </p:sp>
      <p:pic>
        <p:nvPicPr>
          <p:cNvPr id="274" name="Google Shape;274;p23"/>
          <p:cNvPicPr preferRelativeResize="0"/>
          <p:nvPr/>
        </p:nvPicPr>
        <p:blipFill rotWithShape="1">
          <a:blip r:embed="rId3">
            <a:alphaModFix/>
          </a:blip>
          <a:srcRect b="29488" l="1701" r="1320" t="30497"/>
          <a:stretch/>
        </p:blipFill>
        <p:spPr>
          <a:xfrm>
            <a:off x="508000" y="2479675"/>
            <a:ext cx="8197850" cy="25368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75" name="Google Shape;275;p23"/>
          <p:cNvSpPr txBox="1"/>
          <p:nvPr/>
        </p:nvSpPr>
        <p:spPr>
          <a:xfrm>
            <a:off x="933450" y="1287462"/>
            <a:ext cx="7689850" cy="191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Cardinality limits can also express participation constraints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Keys</a:t>
            </a:r>
            <a:endParaRPr/>
          </a:p>
        </p:txBody>
      </p:sp>
      <p:sp>
        <p:nvSpPr>
          <p:cNvPr id="281" name="Google Shape;281;p24"/>
          <p:cNvSpPr txBox="1"/>
          <p:nvPr>
            <p:ph idx="1" type="body"/>
          </p:nvPr>
        </p:nvSpPr>
        <p:spPr>
          <a:xfrm>
            <a:off x="1003300" y="1058862"/>
            <a:ext cx="7334250" cy="49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 key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an entity set is a set of one or more attributes whose values uniquely determine each entity.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candidate key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an entity set is a minimal super key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Customer-id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candidate key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account-number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candidate key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Although several candidate keys may exist, one of the candidate keys is selected to be the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Keys for Relationship Sets</a:t>
            </a:r>
            <a:endParaRPr/>
          </a:p>
        </p:txBody>
      </p:sp>
      <p:sp>
        <p:nvSpPr>
          <p:cNvPr id="287" name="Google Shape;287;p25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combination of primary keys of the participating entity sets forms a super key of a relationship set.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customer-id, account-number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the super key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this means a pair of entity sets can have at most one relationship in a particular relationship set.  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if we wish to track all access-dates to each account by each customer, we cannot assume a relationship for each access.  We can use a multivalued attribute though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consider the mapping cardinality of the relationship set when deciding the what are the candidate keys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consider semantics of relationship set in selecting the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case of more than one candidate key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Helvetica Neue"/>
              <a:buNone/>
            </a:pPr>
            <a:r>
              <a:rPr b="1" i="0" lang="en-US" sz="31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</a:t>
            </a: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Diagram with a Ternary Relationship</a:t>
            </a:r>
            <a:endParaRPr/>
          </a:p>
        </p:txBody>
      </p:sp>
      <p:pic>
        <p:nvPicPr>
          <p:cNvPr id="293" name="Google Shape;293;p26"/>
          <p:cNvPicPr preferRelativeResize="0"/>
          <p:nvPr/>
        </p:nvPicPr>
        <p:blipFill rotWithShape="1">
          <a:blip r:embed="rId3">
            <a:alphaModFix/>
          </a:blip>
          <a:srcRect b="26802" l="1159" r="773" t="27060"/>
          <a:stretch/>
        </p:blipFill>
        <p:spPr>
          <a:xfrm>
            <a:off x="533400" y="1333500"/>
            <a:ext cx="8278812" cy="29210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/>
          <p:nvPr>
            <p:ph type="title"/>
          </p:nvPr>
        </p:nvSpPr>
        <p:spPr>
          <a:xfrm>
            <a:off x="647700" y="4524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Cardinality Constraints on Ternary Relationship</a:t>
            </a:r>
            <a:endParaRPr/>
          </a:p>
        </p:txBody>
      </p:sp>
      <p:sp>
        <p:nvSpPr>
          <p:cNvPr id="299" name="Google Shape;299;p27"/>
          <p:cNvSpPr txBox="1"/>
          <p:nvPr>
            <p:ph idx="1" type="body"/>
          </p:nvPr>
        </p:nvSpPr>
        <p:spPr>
          <a:xfrm>
            <a:off x="438150" y="1233487"/>
            <a:ext cx="8285162" cy="457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allow at most one arrow out of a ternary (or greater degree) relationship to indicate a cardinality constraint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an arrow from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job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indicates each employee works on at most one job at any branch.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there is more than one arrow, there are two ways of defining the meaning.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 a ternary relationship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arrows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could mean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 each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is associated with a unique entity 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 each pair of entities from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associated with a unique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entity, 	  and each pair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is associated with a unique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alternative has been used in different formalisms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avoid confusion we outlaw more than one arrow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Vs. Non-Binary Relationships</a:t>
            </a:r>
            <a:endParaRPr/>
          </a:p>
        </p:txBody>
      </p:sp>
      <p:sp>
        <p:nvSpPr>
          <p:cNvPr id="305" name="Google Shape;305;p28"/>
          <p:cNvSpPr txBox="1"/>
          <p:nvPr>
            <p:ph idx="1" type="body"/>
          </p:nvPr>
        </p:nvSpPr>
        <p:spPr>
          <a:xfrm>
            <a:off x="469900" y="873125"/>
            <a:ext cx="8204200" cy="5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relationships that appear to be non-binary may be better represented using binary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A ternary relationship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relating a child to his/her father and mother, is best replaced by two binary relationships,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father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mother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two binary relationships allows partial information (e.g. only mother being know)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there are some relationships that are naturally non-binary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>
            <p:ph type="title"/>
          </p:nvPr>
        </p:nvSpPr>
        <p:spPr>
          <a:xfrm>
            <a:off x="723900" y="2254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Converting Non-Binary Relationships to Binary Form</a:t>
            </a:r>
            <a:endParaRPr/>
          </a:p>
        </p:txBody>
      </p:sp>
      <p:sp>
        <p:nvSpPr>
          <p:cNvPr id="311" name="Google Shape;311;p29"/>
          <p:cNvSpPr txBox="1"/>
          <p:nvPr>
            <p:ph idx="1" type="body"/>
          </p:nvPr>
        </p:nvSpPr>
        <p:spPr>
          <a:xfrm>
            <a:off x="533400" y="962025"/>
            <a:ext cx="821690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general, any non-binary relationship can be represented using binary relationships by creating an artificial entity set.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6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 entity sets A, B and C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an entity set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three relationship sets: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1.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relating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2.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relating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3.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relating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6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special identifying attribute for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6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any attributes of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6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relationship (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baseline="-2500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b</a:t>
            </a:r>
            <a:r>
              <a:rPr b="0" baseline="-2500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c</a:t>
            </a:r>
            <a:r>
              <a:rPr b="0" baseline="-2500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in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R,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create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1. a new entity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entity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add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a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3. add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b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 4. add 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, c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to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pic>
        <p:nvPicPr>
          <p:cNvPr id="312" name="Google Shape;312;p29"/>
          <p:cNvPicPr preferRelativeResize="0"/>
          <p:nvPr/>
        </p:nvPicPr>
        <p:blipFill rotWithShape="1">
          <a:blip r:embed="rId3">
            <a:alphaModFix/>
          </a:blip>
          <a:srcRect b="59760" l="1071" r="1069" t="3810"/>
          <a:stretch/>
        </p:blipFill>
        <p:spPr>
          <a:xfrm>
            <a:off x="1257300" y="4527550"/>
            <a:ext cx="6375400" cy="1779587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>
            <p:ph type="title"/>
          </p:nvPr>
        </p:nvSpPr>
        <p:spPr>
          <a:xfrm>
            <a:off x="693737" y="0"/>
            <a:ext cx="8077200" cy="1074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Converting Non-Binary Relationships (Cont.)</a:t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571500" y="1271587"/>
            <a:ext cx="8096250" cy="377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Also need to translate constraints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Translating all constraints may not be possible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 may be instances in the translated schema that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cannot correspond to any instance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 add constraints to the relationships 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R</a:t>
            </a:r>
            <a:r>
              <a:rPr b="0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ensure that a newly created entity corresponds to exactly one entity in each of entity sets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A, B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avoid creating an identifying attribute by making E a weak entity set (described shortly) identified by the three relationship sets 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Issues</a:t>
            </a:r>
            <a:endParaRPr/>
          </a:p>
        </p:txBody>
      </p:sp>
      <p:sp>
        <p:nvSpPr>
          <p:cNvPr id="324" name="Google Shape;324;p31"/>
          <p:cNvSpPr txBox="1"/>
          <p:nvPr>
            <p:ph idx="1" type="body"/>
          </p:nvPr>
        </p:nvSpPr>
        <p:spPr>
          <a:xfrm>
            <a:off x="517525" y="1141412"/>
            <a:ext cx="8139112" cy="4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of entity sets vs. attributes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Choice mainly depends on the structure of the enterprise being modeled, and on the semantics associated with the attribute in question.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of entity sets vs. relationship sets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Possible guideline is to designate a relationship set to describe an action that occurs between entities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versus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-ary relationship sets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Although it is possible to replace any nonbinary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-ary, for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2) relationship set by a number of distinct binary relationship sets, 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-ary relationship set shows more clearly that several entities participate in a single relationship.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Placement of relationship attributes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about doing an ER design interactively on the board?</a:t>
            </a:r>
            <a:b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Suggest an application to be modeled.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Sets</a:t>
            </a:r>
            <a:endParaRPr/>
          </a:p>
        </p:txBody>
      </p:sp>
      <p:sp>
        <p:nvSpPr>
          <p:cNvPr id="335" name="Google Shape;335;p33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entity set that does not have a primary key is referred to as a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existence of a weak entity set depends on the existence of a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identifying entity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it must relate to the identifying entity set via a total, one-to-many relationship set from the identifying to the weak entity 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Identifying relationship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depicted using a double diamond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</a:t>
            </a:r>
            <a:r>
              <a:rPr b="0" i="1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discriminator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(or partial key)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a weak entity set is the set of attributes that distinguishes among all the entities of a weak entity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primary key of a weak entity set is formed by the primary key of the strong entity set on which the weak entity set is existence dependent, plus the weak entity set’s discriminator.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type="title"/>
          </p:nvPr>
        </p:nvSpPr>
        <p:spPr>
          <a:xfrm>
            <a:off x="53975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Sets (Cont.)</a:t>
            </a:r>
            <a:endParaRPr/>
          </a:p>
        </p:txBody>
      </p:sp>
      <p:sp>
        <p:nvSpPr>
          <p:cNvPr id="341" name="Google Shape;341;p34"/>
          <p:cNvSpPr txBox="1"/>
          <p:nvPr>
            <p:ph idx="1" type="body"/>
          </p:nvPr>
        </p:nvSpPr>
        <p:spPr>
          <a:xfrm>
            <a:off x="671512" y="833437"/>
            <a:ext cx="7478712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depict a weak entity set by double rectangles.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underline the discriminator of a weak entity set  with a dashed line.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payment-number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discriminator of the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 for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loan-number, payment-number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endParaRPr/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3">
            <a:alphaModFix/>
          </a:blip>
          <a:srcRect b="27627" l="900" r="1081" t="27867"/>
          <a:stretch/>
        </p:blipFill>
        <p:spPr>
          <a:xfrm>
            <a:off x="381000" y="2943225"/>
            <a:ext cx="8475662" cy="288607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 txBox="1"/>
          <p:nvPr>
            <p:ph type="title"/>
          </p:nvPr>
        </p:nvSpPr>
        <p:spPr>
          <a:xfrm>
            <a:off x="647700" y="276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Weak Entity Sets (Cont.)</a:t>
            </a:r>
            <a:endParaRPr/>
          </a:p>
        </p:txBody>
      </p:sp>
      <p:sp>
        <p:nvSpPr>
          <p:cNvPr id="348" name="Google Shape;348;p35"/>
          <p:cNvSpPr txBox="1"/>
          <p:nvPr>
            <p:ph idx="1" type="body"/>
          </p:nvPr>
        </p:nvSpPr>
        <p:spPr>
          <a:xfrm>
            <a:off x="571500" y="1304925"/>
            <a:ext cx="7848600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1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the primary key of the strong entity set is not explicitly stored with the weak entity set, since it is implicit in the identifying relationship.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loan-number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were explicitly stored,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could be made a strong entity, but then the relationship between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be duplicated by an implicit relationship defined by the attribute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loan-number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common to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Weak Entity Set Examples</a:t>
            </a:r>
            <a:endParaRPr/>
          </a:p>
        </p:txBody>
      </p:sp>
      <p:sp>
        <p:nvSpPr>
          <p:cNvPr id="354" name="Google Shape;354;p36"/>
          <p:cNvSpPr txBox="1"/>
          <p:nvPr>
            <p:ph idx="1" type="body"/>
          </p:nvPr>
        </p:nvSpPr>
        <p:spPr>
          <a:xfrm>
            <a:off x="571500" y="1114425"/>
            <a:ext cx="8031162" cy="3151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university, 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strong entity and 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course-offering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modeled as a weak entity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discriminator of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course-offering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be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semester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(including year) and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section-number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(if there is more than one section)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we model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course-offering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a strong entity we would model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course-number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as an attribute.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Then the relationship with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would be implicit in the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course-number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attribute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</a:t>
            </a:r>
            <a:endParaRPr/>
          </a:p>
        </p:txBody>
      </p:sp>
      <p:sp>
        <p:nvSpPr>
          <p:cNvPr id="360" name="Google Shape;360;p37"/>
          <p:cNvSpPr txBox="1"/>
          <p:nvPr>
            <p:ph idx="1" type="body"/>
          </p:nvPr>
        </p:nvSpPr>
        <p:spPr>
          <a:xfrm>
            <a:off x="571500" y="1114425"/>
            <a:ext cx="8026400" cy="394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Top-down design process; we designate subgroupings within an entity set that are distinctive from other entities in the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subgroupings become lower-level entity sets that have attributes or participate in relationships that do not apply to the higher-level entity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Depicted by 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triangle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component labeled ISA (E.g.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“is a”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1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 inheritance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a lower-level entity set inherits all the attributes and relationship participation of the higher-level entity set to which it is linked.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Example</a:t>
            </a:r>
            <a:endParaRPr/>
          </a:p>
        </p:txBody>
      </p:sp>
      <p:pic>
        <p:nvPicPr>
          <p:cNvPr id="366" name="Google Shape;366;p38"/>
          <p:cNvPicPr preferRelativeResize="0"/>
          <p:nvPr/>
        </p:nvPicPr>
        <p:blipFill rotWithShape="1">
          <a:blip r:embed="rId3">
            <a:alphaModFix/>
          </a:blip>
          <a:srcRect b="787" l="12400" r="12599" t="1049"/>
          <a:stretch/>
        </p:blipFill>
        <p:spPr>
          <a:xfrm>
            <a:off x="1600200" y="828675"/>
            <a:ext cx="5689600" cy="558482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9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Generalization</a:t>
            </a:r>
            <a:endParaRPr/>
          </a:p>
        </p:txBody>
      </p:sp>
      <p:sp>
        <p:nvSpPr>
          <p:cNvPr id="372" name="Google Shape;372;p39"/>
          <p:cNvSpPr txBox="1"/>
          <p:nvPr>
            <p:ph idx="1" type="body"/>
          </p:nvPr>
        </p:nvSpPr>
        <p:spPr>
          <a:xfrm>
            <a:off x="571500" y="1114425"/>
            <a:ext cx="7848600" cy="2760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bottom-up design process – combine a number of entity sets that share the same features into a higher-level entity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and generalization are simple inversions of each other; they are represented in an E-R diagram in the same way.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terms specialization and generalization are used interchangeably.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0"/>
          <p:cNvSpPr txBox="1"/>
          <p:nvPr>
            <p:ph type="title"/>
          </p:nvPr>
        </p:nvSpPr>
        <p:spPr>
          <a:xfrm>
            <a:off x="685800" y="0"/>
            <a:ext cx="8077200" cy="1044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Specialization and Generalization (Contd.)</a:t>
            </a:r>
            <a:endParaRPr/>
          </a:p>
        </p:txBody>
      </p:sp>
      <p:sp>
        <p:nvSpPr>
          <p:cNvPr id="378" name="Google Shape;378;p40"/>
          <p:cNvSpPr txBox="1"/>
          <p:nvPr>
            <p:ph idx="1" type="body"/>
          </p:nvPr>
        </p:nvSpPr>
        <p:spPr>
          <a:xfrm>
            <a:off x="407987" y="1419225"/>
            <a:ext cx="8031162" cy="39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have multiple specializations of an entity set based on different features.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permanent-employee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vs.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temporary-employee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in addition to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officer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vs.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secretary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vs.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teller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particular employee would be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member of one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permanent-employee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temporary-employee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also a member of one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officer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secretary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or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teller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ISA relationship also referred to as </a:t>
            </a:r>
            <a:r>
              <a:rPr b="1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superclass - subclass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type="title"/>
          </p:nvPr>
        </p:nvSpPr>
        <p:spPr>
          <a:xfrm>
            <a:off x="898525" y="85725"/>
            <a:ext cx="8077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Constraints on a Specialization/Generalization</a:t>
            </a:r>
            <a:endParaRPr/>
          </a:p>
        </p:txBody>
      </p:sp>
      <p:sp>
        <p:nvSpPr>
          <p:cNvPr id="384" name="Google Shape;384;p41"/>
          <p:cNvSpPr txBox="1"/>
          <p:nvPr>
            <p:ph idx="1" type="body"/>
          </p:nvPr>
        </p:nvSpPr>
        <p:spPr>
          <a:xfrm>
            <a:off x="733425" y="1227137"/>
            <a:ext cx="7502525" cy="4919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 on which entities can be members of a given lower-level entity set.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condition-defined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all customers over 65 years are members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senior-citizen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entity set;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senior-citizen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ISA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user-defined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 on whether or not entities may belong to more than one lower-level entity set within a single generalization.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Disjoint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entity can belong to only one lower-level entity set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Noted in E-R diagram by writing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disjoint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next to the ISA triangle</a:t>
            </a:r>
            <a:endParaRPr b="0" i="0" sz="1800" u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Overlapping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entity can belong to more than one lower-level entity set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2"/>
          <p:cNvSpPr txBox="1"/>
          <p:nvPr>
            <p:ph type="title"/>
          </p:nvPr>
        </p:nvSpPr>
        <p:spPr>
          <a:xfrm>
            <a:off x="742950" y="0"/>
            <a:ext cx="80772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 Constraints on a Specialization/Generalization (Contd.)</a:t>
            </a:r>
            <a:endParaRPr/>
          </a:p>
        </p:txBody>
      </p:sp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514350" y="1466850"/>
            <a:ext cx="7848600" cy="2865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Completeness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20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constraint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-- specifies whether or not an entity in the higher-level entity set must belong to at least one of the lower-level entity sets within a generalization.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an entity must belong to one of the lower-level entity sets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1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an entity need not belong to one of the lower-level entity sets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3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Helvetica Neue"/>
              <a:buNone/>
            </a:pPr>
            <a:r>
              <a:rPr b="1" i="0" lang="en-US" sz="2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Aggregation</a:t>
            </a:r>
            <a:endParaRPr/>
          </a:p>
        </p:txBody>
      </p:sp>
      <p:pic>
        <p:nvPicPr>
          <p:cNvPr id="396" name="Google Shape;396;p43"/>
          <p:cNvPicPr preferRelativeResize="0"/>
          <p:nvPr/>
        </p:nvPicPr>
        <p:blipFill rotWithShape="1">
          <a:blip r:embed="rId3">
            <a:alphaModFix/>
          </a:blip>
          <a:srcRect b="3397" l="1274" r="2001" t="3639"/>
          <a:stretch/>
        </p:blipFill>
        <p:spPr>
          <a:xfrm>
            <a:off x="1258937" y="2392375"/>
            <a:ext cx="6196012" cy="4465638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97" name="Google Shape;397;p43"/>
          <p:cNvSpPr txBox="1"/>
          <p:nvPr/>
        </p:nvSpPr>
        <p:spPr>
          <a:xfrm>
            <a:off x="534987" y="866775"/>
            <a:ext cx="7985125" cy="1158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Consider the ternary relationship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which we saw earlier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Suppose we want to record managers for tasks performed by an employee at a branch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Aggregation (Cont.)</a:t>
            </a:r>
            <a:endParaRPr/>
          </a:p>
        </p:txBody>
      </p:sp>
      <p:sp>
        <p:nvSpPr>
          <p:cNvPr id="403" name="Google Shape;403;p44"/>
          <p:cNvSpPr txBox="1"/>
          <p:nvPr>
            <p:ph idx="1" type="body"/>
          </p:nvPr>
        </p:nvSpPr>
        <p:spPr>
          <a:xfrm>
            <a:off x="358775" y="1023937"/>
            <a:ext cx="8556625" cy="5226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Relationship sets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represent overlapping information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 corresponds to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some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relationships may not correspond to any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relationships 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we can’t discard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relationship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Eliminate this redundancy via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aggregation</a:t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Treat relationship as an abstract entity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relationships between relationships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Abstraction of relationship into new entity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introducing redundancy, the following diagram represents: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employee works on a particular job at a particular branch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employee, branch, job combination may have an associated manager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5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With Aggregation</a:t>
            </a:r>
            <a:endParaRPr/>
          </a:p>
        </p:txBody>
      </p:sp>
      <p:pic>
        <p:nvPicPr>
          <p:cNvPr id="409" name="Google Shape;409;p45"/>
          <p:cNvPicPr preferRelativeResize="0"/>
          <p:nvPr/>
        </p:nvPicPr>
        <p:blipFill rotWithShape="1">
          <a:blip r:embed="rId3">
            <a:alphaModFix/>
          </a:blip>
          <a:srcRect b="1566" l="2745" r="2940" t="1307"/>
          <a:stretch/>
        </p:blipFill>
        <p:spPr>
          <a:xfrm>
            <a:off x="1663700" y="831850"/>
            <a:ext cx="6108700" cy="471805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6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Design Decisions</a:t>
            </a:r>
            <a:endParaRPr/>
          </a:p>
        </p:txBody>
      </p:sp>
      <p:sp>
        <p:nvSpPr>
          <p:cNvPr id="415" name="Google Shape;415;p46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an attribute or entity set to represent an object.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Whether a real-world concept is best expressed by an entity set or a relationship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a ternary relationship versus a pair of binary relationships.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a strong or weak entity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specialization/generalization – contributes to modularity in the design.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use of aggregation – can treat the aggregate entity set as a single unit without concern for the details of its internal structure.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7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a Banking Enterprise</a:t>
            </a:r>
            <a:endParaRPr/>
          </a:p>
        </p:txBody>
      </p:sp>
      <p:pic>
        <p:nvPicPr>
          <p:cNvPr id="421" name="Google Shape;421;p47"/>
          <p:cNvPicPr preferRelativeResize="0"/>
          <p:nvPr/>
        </p:nvPicPr>
        <p:blipFill rotWithShape="1">
          <a:blip r:embed="rId3">
            <a:alphaModFix/>
          </a:blip>
          <a:srcRect b="1342" l="13926" r="14094" t="894"/>
          <a:stretch/>
        </p:blipFill>
        <p:spPr>
          <a:xfrm>
            <a:off x="2057400" y="723900"/>
            <a:ext cx="5448300" cy="55499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"/>
          <p:cNvSpPr txBox="1"/>
          <p:nvPr>
            <p:ph type="title"/>
          </p:nvPr>
        </p:nvSpPr>
        <p:spPr>
          <a:xfrm>
            <a:off x="660400" y="3270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of Symbols Used in E-R Notation</a:t>
            </a:r>
            <a:endParaRPr/>
          </a:p>
        </p:txBody>
      </p:sp>
      <p:pic>
        <p:nvPicPr>
          <p:cNvPr id="427" name="Google Shape;427;p48"/>
          <p:cNvPicPr preferRelativeResize="0"/>
          <p:nvPr/>
        </p:nvPicPr>
        <p:blipFill rotWithShape="1">
          <a:blip r:embed="rId3">
            <a:alphaModFix/>
          </a:blip>
          <a:srcRect b="53848" l="22080" r="22781" t="1400"/>
          <a:stretch/>
        </p:blipFill>
        <p:spPr>
          <a:xfrm>
            <a:off x="1016000" y="1493837"/>
            <a:ext cx="6935786" cy="4221163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9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of Symbols (Cont.)</a:t>
            </a:r>
            <a:endParaRPr/>
          </a:p>
        </p:txBody>
      </p:sp>
      <p:pic>
        <p:nvPicPr>
          <p:cNvPr id="433" name="Google Shape;433;p49"/>
          <p:cNvPicPr preferRelativeResize="0"/>
          <p:nvPr/>
        </p:nvPicPr>
        <p:blipFill rotWithShape="1">
          <a:blip r:embed="rId3">
            <a:alphaModFix/>
          </a:blip>
          <a:srcRect b="6074" l="22080" r="22781" t="46487"/>
          <a:stretch/>
        </p:blipFill>
        <p:spPr>
          <a:xfrm>
            <a:off x="1155700" y="1138237"/>
            <a:ext cx="6896100" cy="444976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Alternative E-R Notations</a:t>
            </a:r>
            <a:endParaRPr/>
          </a:p>
        </p:txBody>
      </p:sp>
      <p:pic>
        <p:nvPicPr>
          <p:cNvPr id="439" name="Google Shape;439;p50"/>
          <p:cNvPicPr preferRelativeResize="0"/>
          <p:nvPr/>
        </p:nvPicPr>
        <p:blipFill rotWithShape="1">
          <a:blip r:embed="rId3">
            <a:alphaModFix/>
          </a:blip>
          <a:srcRect b="5641" l="1153" r="1152" t="6151"/>
          <a:stretch/>
        </p:blipFill>
        <p:spPr>
          <a:xfrm>
            <a:off x="1117600" y="825500"/>
            <a:ext cx="6958012" cy="47117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1"/>
          <p:cNvSpPr txBox="1"/>
          <p:nvPr>
            <p:ph type="title"/>
          </p:nvPr>
        </p:nvSpPr>
        <p:spPr>
          <a:xfrm>
            <a:off x="728662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Reduction of an E-R Schema to Tables</a:t>
            </a:r>
            <a:endParaRPr/>
          </a:p>
        </p:txBody>
      </p:sp>
      <p:sp>
        <p:nvSpPr>
          <p:cNvPr id="445" name="Google Shape;445;p51"/>
          <p:cNvSpPr txBox="1"/>
          <p:nvPr>
            <p:ph idx="1" type="body"/>
          </p:nvPr>
        </p:nvSpPr>
        <p:spPr>
          <a:xfrm>
            <a:off x="1047750" y="1158875"/>
            <a:ext cx="70294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Primary keys allow entity sets and relationship sets to be expressed uniformly as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tables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represent the contents of the database.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database which conforms to an E-R diagram can be represented by a collection of tables.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entity set and relationship set there is a unique table which is assigned the name of the corresponding entity set or relationship 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table has a number of columns (generally corresponding to attributes), which have unique names.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Converting an E-R diagram to a table format is the basis for deriving a relational database design from an E-R diagram.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Entity Sets as Tables</a:t>
            </a:r>
            <a:endParaRPr/>
          </a:p>
        </p:txBody>
      </p:sp>
      <p:sp>
        <p:nvSpPr>
          <p:cNvPr id="451" name="Google Shape;451;p52"/>
          <p:cNvSpPr txBox="1"/>
          <p:nvPr>
            <p:ph idx="1" type="body"/>
          </p:nvPr>
        </p:nvSpPr>
        <p:spPr>
          <a:xfrm>
            <a:off x="889000" y="909637"/>
            <a:ext cx="7478712" cy="6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strong entity set reduces to a table with the same attributes.</a:t>
            </a:r>
            <a:endParaRPr/>
          </a:p>
        </p:txBody>
      </p:sp>
      <p:sp>
        <p:nvSpPr>
          <p:cNvPr id="452" name="Google Shape;452;p52"/>
          <p:cNvSpPr txBox="1"/>
          <p:nvPr/>
        </p:nvSpPr>
        <p:spPr>
          <a:xfrm>
            <a:off x="906462" y="3119437"/>
            <a:ext cx="7451725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3" name="Google Shape;453;p52"/>
          <p:cNvPicPr preferRelativeResize="0"/>
          <p:nvPr/>
        </p:nvPicPr>
        <p:blipFill rotWithShape="1">
          <a:blip r:embed="rId3">
            <a:alphaModFix/>
          </a:blip>
          <a:srcRect b="23474" l="1583" r="1054" t="23239"/>
          <a:stretch/>
        </p:blipFill>
        <p:spPr>
          <a:xfrm>
            <a:off x="685800" y="1676400"/>
            <a:ext cx="7889875" cy="3238501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Composite and Multivalued Attributes</a:t>
            </a:r>
            <a:endParaRPr/>
          </a:p>
        </p:txBody>
      </p:sp>
      <p:sp>
        <p:nvSpPr>
          <p:cNvPr id="459" name="Google Shape;459;p53"/>
          <p:cNvSpPr txBox="1"/>
          <p:nvPr>
            <p:ph idx="1" type="body"/>
          </p:nvPr>
        </p:nvSpPr>
        <p:spPr>
          <a:xfrm>
            <a:off x="393700" y="996950"/>
            <a:ext cx="8328025" cy="538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Composite attributes are flattened out by creating a separate attribute for each component attribute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given entity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with composite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with component attributes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first-name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last-name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table corresponding to the entity set has two attributes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name.first-name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name.last-name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multivalued attribute M of an entity E is represented by a separate table EM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EM has attributes corresponding to the primary key of E and an attribute corresponding to multivalued attribute 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 Multivalued attribute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dependent-names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represented by a table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employee-dependent-names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employee-id, dname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value of the multivalued attribute maps to a separate row of the table EM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0099"/>
              </a:buClr>
              <a:buSzPts val="153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 an employee entity with primary key  John and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dependents  Johnson and Johndotir maps to two rows: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(John, Johnson) and (John, Johndotir)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4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Weak Entity Sets</a:t>
            </a:r>
            <a:endParaRPr/>
          </a:p>
        </p:txBody>
      </p:sp>
      <p:pic>
        <p:nvPicPr>
          <p:cNvPr id="465" name="Google Shape;465;p54"/>
          <p:cNvPicPr preferRelativeResize="0"/>
          <p:nvPr/>
        </p:nvPicPr>
        <p:blipFill rotWithShape="1">
          <a:blip r:embed="rId3">
            <a:alphaModFix/>
          </a:blip>
          <a:srcRect b="22019" l="906" r="906" t="22262"/>
          <a:stretch/>
        </p:blipFill>
        <p:spPr>
          <a:xfrm>
            <a:off x="889000" y="1965325"/>
            <a:ext cx="7527925" cy="3203575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66" name="Google Shape;466;p54"/>
          <p:cNvSpPr txBox="1"/>
          <p:nvPr/>
        </p:nvSpPr>
        <p:spPr>
          <a:xfrm>
            <a:off x="889000" y="909637"/>
            <a:ext cx="7478712" cy="63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weak entity set becomes a table that includes a column for the primary key of the identifying strong entity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5"/>
          <p:cNvSpPr txBox="1"/>
          <p:nvPr>
            <p:ph type="title"/>
          </p:nvPr>
        </p:nvSpPr>
        <p:spPr>
          <a:xfrm>
            <a:off x="714375" y="495300"/>
            <a:ext cx="7405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Relationship Sets as Tables</a:t>
            </a:r>
            <a:endParaRPr/>
          </a:p>
        </p:txBody>
      </p:sp>
      <p:sp>
        <p:nvSpPr>
          <p:cNvPr id="472" name="Google Shape;472;p55"/>
          <p:cNvSpPr txBox="1"/>
          <p:nvPr>
            <p:ph idx="1" type="body"/>
          </p:nvPr>
        </p:nvSpPr>
        <p:spPr>
          <a:xfrm>
            <a:off x="801687" y="985837"/>
            <a:ext cx="7029450" cy="10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many-to-many relationship set is represented as a table with columns for the primary keys of the two participating entity sets, and any descriptive attributes of the relationship set.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E.g.: table for relationship set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borrower</a:t>
            </a:r>
            <a:endParaRPr/>
          </a:p>
        </p:txBody>
      </p:sp>
      <p:pic>
        <p:nvPicPr>
          <p:cNvPr id="473" name="Google Shape;473;p55"/>
          <p:cNvPicPr preferRelativeResize="0"/>
          <p:nvPr/>
        </p:nvPicPr>
        <p:blipFill rotWithShape="1">
          <a:blip r:embed="rId3">
            <a:alphaModFix/>
          </a:blip>
          <a:srcRect b="3037" l="9988" r="10163" t="2568"/>
          <a:stretch/>
        </p:blipFill>
        <p:spPr>
          <a:xfrm>
            <a:off x="1778000" y="2560637"/>
            <a:ext cx="3995737" cy="35433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6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Redundancy of Tables</a:t>
            </a:r>
            <a:endParaRPr/>
          </a:p>
        </p:txBody>
      </p:sp>
      <p:pic>
        <p:nvPicPr>
          <p:cNvPr id="479" name="Google Shape;479;p56"/>
          <p:cNvPicPr preferRelativeResize="0"/>
          <p:nvPr/>
        </p:nvPicPr>
        <p:blipFill rotWithShape="1">
          <a:blip r:embed="rId3">
            <a:alphaModFix/>
          </a:blip>
          <a:srcRect b="30377" l="1163" r="831" t="30377"/>
          <a:stretch/>
        </p:blipFill>
        <p:spPr>
          <a:xfrm>
            <a:off x="546100" y="3454400"/>
            <a:ext cx="8077200" cy="24257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480" name="Google Shape;480;p56"/>
          <p:cNvSpPr txBox="1"/>
          <p:nvPr/>
        </p:nvSpPr>
        <p:spPr>
          <a:xfrm>
            <a:off x="865187" y="1036637"/>
            <a:ext cx="7524750" cy="2125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Many-to-one and one-to-many relationship sets that are total on the many-side can be represented by adding an extra attribute to the many side, containing the primary key of the one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E.g.: Instead of creating a table for relationship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account-branch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add an attribute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the entity set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account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7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Redundancy of Tables (Cont.)</a:t>
            </a:r>
            <a:endParaRPr/>
          </a:p>
        </p:txBody>
      </p:sp>
      <p:sp>
        <p:nvSpPr>
          <p:cNvPr id="486" name="Google Shape;486;p57"/>
          <p:cNvSpPr txBox="1"/>
          <p:nvPr>
            <p:ph idx="1" type="body"/>
          </p:nvPr>
        </p:nvSpPr>
        <p:spPr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one-to-one relationship sets, either side can be chosen to act as the “many” side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is, extra attribute can be added to either of the tables corresponding to the two entity sets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participation is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the many side, replacing a table by an extra attribute in the relation corresponding to the “many” side could result in null values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table corresponding to a relationship set linking a weak entity set to its identifying strong entity set is redundant.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table already contains the information that would appear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loan-payment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table (i.e., the columns loan-number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payment-number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8"/>
          <p:cNvSpPr txBox="1"/>
          <p:nvPr>
            <p:ph type="title"/>
          </p:nvPr>
        </p:nvSpPr>
        <p:spPr>
          <a:xfrm>
            <a:off x="866775" y="18891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Specialization as Tables</a:t>
            </a:r>
            <a:endParaRPr/>
          </a:p>
        </p:txBody>
      </p:sp>
      <p:sp>
        <p:nvSpPr>
          <p:cNvPr id="492" name="Google Shape;492;p58"/>
          <p:cNvSpPr txBox="1"/>
          <p:nvPr>
            <p:ph idx="1" type="body"/>
          </p:nvPr>
        </p:nvSpPr>
        <p:spPr>
          <a:xfrm>
            <a:off x="273050" y="874712"/>
            <a:ext cx="8453437" cy="54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1: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21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 a table for the higher level entity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21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 a table for each lower level entity set, include primary key of higher level entity set and local attributes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table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</a:t>
            </a:r>
            <a:r>
              <a:rPr b="0" i="0" lang="en-US" sz="2000" u="non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attributes</a:t>
            </a:r>
            <a:br>
              <a:rPr b="0" i="0" lang="en-US" sz="2000" u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	name, street, city  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	name, credit-rating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	name, salary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21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Drawback:  getting information about, e.g.,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requires accessing two tables</a:t>
            </a:r>
            <a:endParaRPr/>
          </a:p>
        </p:txBody>
      </p:sp>
      <p:cxnSp>
        <p:nvCxnSpPr>
          <p:cNvPr id="493" name="Google Shape;493;p58"/>
          <p:cNvCxnSpPr/>
          <p:nvPr/>
        </p:nvCxnSpPr>
        <p:spPr>
          <a:xfrm>
            <a:off x="979487" y="3048000"/>
            <a:ext cx="61182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p58"/>
          <p:cNvCxnSpPr/>
          <p:nvPr/>
        </p:nvCxnSpPr>
        <p:spPr>
          <a:xfrm>
            <a:off x="2438400" y="2695575"/>
            <a:ext cx="0" cy="1200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"/>
          <p:cNvSpPr txBox="1"/>
          <p:nvPr>
            <p:ph type="title"/>
          </p:nvPr>
        </p:nvSpPr>
        <p:spPr>
          <a:xfrm>
            <a:off x="871537" y="493712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Representing Specialization as Tables (Cont.)</a:t>
            </a:r>
            <a:endParaRPr/>
          </a:p>
        </p:txBody>
      </p:sp>
      <p:sp>
        <p:nvSpPr>
          <p:cNvPr id="500" name="Google Shape;500;p59"/>
          <p:cNvSpPr txBox="1"/>
          <p:nvPr>
            <p:ph idx="1" type="body"/>
          </p:nvPr>
        </p:nvSpPr>
        <p:spPr>
          <a:xfrm>
            <a:off x="273050" y="874712"/>
            <a:ext cx="8453437" cy="54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 2: 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21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Form a table for each entity set with all local and inherited attributes	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0" lang="en-US" sz="2000" u="non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</a:t>
            </a:r>
            <a:r>
              <a:rPr b="0" i="0" lang="en-US" sz="2000" u="none">
                <a:solidFill>
                  <a:srgbClr val="99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attributes</a:t>
            </a:r>
            <a:b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	name, street, city	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	name, street, city, credit-rating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 	name, street, city, salary</a:t>
            </a:r>
            <a:b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21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specialization is total, table for generalized entity (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not required to store information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99"/>
              </a:buClr>
              <a:buSzPts val="17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defined as a “view” relation containing union of specialization tables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99"/>
              </a:buClr>
              <a:buSzPts val="17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explicit table may still be needed for foreign key constraints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CC6600"/>
              </a:buClr>
              <a:buSzPts val="21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Drawback:  street and city may be stored redundantly for persons who are both customers and employees</a:t>
            </a:r>
            <a:endParaRPr/>
          </a:p>
        </p:txBody>
      </p:sp>
      <p:cxnSp>
        <p:nvCxnSpPr>
          <p:cNvPr id="501" name="Google Shape;501;p59"/>
          <p:cNvCxnSpPr/>
          <p:nvPr/>
        </p:nvCxnSpPr>
        <p:spPr>
          <a:xfrm>
            <a:off x="963612" y="2586037"/>
            <a:ext cx="61182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2" name="Google Shape;502;p59"/>
          <p:cNvCxnSpPr/>
          <p:nvPr/>
        </p:nvCxnSpPr>
        <p:spPr>
          <a:xfrm>
            <a:off x="2438400" y="2298700"/>
            <a:ext cx="0" cy="1139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0"/>
          <p:cNvSpPr txBox="1"/>
          <p:nvPr>
            <p:ph type="title"/>
          </p:nvPr>
        </p:nvSpPr>
        <p:spPr>
          <a:xfrm>
            <a:off x="757237" y="495300"/>
            <a:ext cx="737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 Corresponding to Aggregation</a:t>
            </a:r>
            <a:endParaRPr/>
          </a:p>
        </p:txBody>
      </p:sp>
      <p:sp>
        <p:nvSpPr>
          <p:cNvPr id="508" name="Google Shape;508;p60"/>
          <p:cNvSpPr txBox="1"/>
          <p:nvPr/>
        </p:nvSpPr>
        <p:spPr>
          <a:xfrm>
            <a:off x="920750" y="1343025"/>
            <a:ext cx="7562850" cy="352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represent aggregation, create a table containing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62865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primary key of the aggregated relationship,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62865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primary key of the associated entity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62865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descriptive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1"/>
          <p:cNvSpPr txBox="1"/>
          <p:nvPr>
            <p:ph type="title"/>
          </p:nvPr>
        </p:nvSpPr>
        <p:spPr>
          <a:xfrm>
            <a:off x="757237" y="495300"/>
            <a:ext cx="7377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Relations Corresponding to Aggregation (Cont.)</a:t>
            </a:r>
            <a:endParaRPr/>
          </a:p>
        </p:txBody>
      </p:sp>
      <p:pic>
        <p:nvPicPr>
          <p:cNvPr id="514" name="Google Shape;514;p61"/>
          <p:cNvPicPr preferRelativeResize="0"/>
          <p:nvPr/>
        </p:nvPicPr>
        <p:blipFill rotWithShape="1">
          <a:blip r:embed="rId3">
            <a:alphaModFix/>
          </a:blip>
          <a:srcRect b="1566" l="2745" r="2940" t="1307"/>
          <a:stretch/>
        </p:blipFill>
        <p:spPr>
          <a:xfrm>
            <a:off x="1943100" y="3192462"/>
            <a:ext cx="4662487" cy="3287712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515" name="Google Shape;515;p61"/>
          <p:cNvSpPr txBox="1"/>
          <p:nvPr/>
        </p:nvSpPr>
        <p:spPr>
          <a:xfrm>
            <a:off x="234950" y="1098550"/>
            <a:ext cx="8909050" cy="221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to represent aggregation 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between relationship 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entity set 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create a table</a:t>
            </a:r>
            <a:b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employee-id, branch-name, title, manager-name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works-on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redundant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we are willing to store null values for attribute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 table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End of Chapter 2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3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Exercise 2.10</a:t>
            </a:r>
            <a:endParaRPr/>
          </a:p>
        </p:txBody>
      </p:sp>
      <p:pic>
        <p:nvPicPr>
          <p:cNvPr id="526" name="Google Shape;526;p63"/>
          <p:cNvPicPr preferRelativeResize="0"/>
          <p:nvPr/>
        </p:nvPicPr>
        <p:blipFill rotWithShape="1">
          <a:blip r:embed="rId3">
            <a:alphaModFix/>
          </a:blip>
          <a:srcRect b="1185" l="9953" r="10306" t="1422"/>
          <a:stretch/>
        </p:blipFill>
        <p:spPr>
          <a:xfrm>
            <a:off x="1816100" y="787400"/>
            <a:ext cx="5697537" cy="52197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4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Exercise 2.15</a:t>
            </a:r>
            <a:endParaRPr/>
          </a:p>
        </p:txBody>
      </p:sp>
      <p:pic>
        <p:nvPicPr>
          <p:cNvPr id="532" name="Google Shape;532;p64"/>
          <p:cNvPicPr preferRelativeResize="0"/>
          <p:nvPr/>
        </p:nvPicPr>
        <p:blipFill rotWithShape="1">
          <a:blip r:embed="rId3">
            <a:alphaModFix/>
          </a:blip>
          <a:srcRect b="4048" l="1071" r="1069" t="3810"/>
          <a:stretch/>
        </p:blipFill>
        <p:spPr>
          <a:xfrm>
            <a:off x="1295400" y="1079500"/>
            <a:ext cx="6959600" cy="49149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5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Exercise 2.22</a:t>
            </a:r>
            <a:endParaRPr/>
          </a:p>
        </p:txBody>
      </p:sp>
      <p:pic>
        <p:nvPicPr>
          <p:cNvPr id="538" name="Google Shape;538;p65"/>
          <p:cNvPicPr preferRelativeResize="0"/>
          <p:nvPr/>
        </p:nvPicPr>
        <p:blipFill rotWithShape="1">
          <a:blip r:embed="rId3">
            <a:alphaModFix/>
          </a:blip>
          <a:srcRect b="13720" l="1394" r="1743" t="13954"/>
          <a:stretch/>
        </p:blipFill>
        <p:spPr>
          <a:xfrm>
            <a:off x="1041400" y="1092200"/>
            <a:ext cx="7053262" cy="39497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6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E-R Diagram for Exercise 2.15</a:t>
            </a:r>
            <a:endParaRPr/>
          </a:p>
        </p:txBody>
      </p:sp>
      <p:pic>
        <p:nvPicPr>
          <p:cNvPr id="544" name="Google Shape;544;p66"/>
          <p:cNvPicPr preferRelativeResize="0"/>
          <p:nvPr/>
        </p:nvPicPr>
        <p:blipFill rotWithShape="1">
          <a:blip r:embed="rId3">
            <a:alphaModFix/>
          </a:blip>
          <a:srcRect b="4048" l="1071" r="1069" t="3810"/>
          <a:stretch/>
        </p:blipFill>
        <p:spPr>
          <a:xfrm>
            <a:off x="1295400" y="1079500"/>
            <a:ext cx="6959600" cy="4914900"/>
          </a:xfrm>
          <a:prstGeom prst="rect">
            <a:avLst/>
          </a:prstGeom>
          <a:noFill/>
          <a:ln cap="flat" cmpd="tri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7"/>
          <p:cNvSpPr txBox="1"/>
          <p:nvPr>
            <p:ph type="title"/>
          </p:nvPr>
        </p:nvSpPr>
        <p:spPr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Helvetica Neue"/>
              <a:buNone/>
            </a:pPr>
            <a:r>
              <a:rPr b="1" i="0" lang="en-US" sz="32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Existence Dependencies</a:t>
            </a:r>
            <a:endParaRPr/>
          </a:p>
        </p:txBody>
      </p:sp>
      <p:sp>
        <p:nvSpPr>
          <p:cNvPr id="550" name="Google Shape;550;p67"/>
          <p:cNvSpPr txBox="1"/>
          <p:nvPr>
            <p:ph idx="1" type="body"/>
          </p:nvPr>
        </p:nvSpPr>
        <p:spPr>
          <a:xfrm>
            <a:off x="933450" y="1363662"/>
            <a:ext cx="7029450" cy="15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 existence of entity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depends on the existence of entity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then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said to be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existence dependent 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</a:t>
            </a:r>
            <a:r>
              <a:rPr b="0" i="1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20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85750" lvl="1" marL="6286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dominant entity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(in example below,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6286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890"/>
              <a:buFont typeface="Arial"/>
              <a:buChar char="●"/>
            </a:pP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subordinate entity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(in example below,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payment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</p:txBody>
      </p:sp>
      <p:grpSp>
        <p:nvGrpSpPr>
          <p:cNvPr id="551" name="Google Shape;551;p67"/>
          <p:cNvGrpSpPr/>
          <p:nvPr/>
        </p:nvGrpSpPr>
        <p:grpSpPr>
          <a:xfrm>
            <a:off x="1438275" y="3160712"/>
            <a:ext cx="6340475" cy="1370012"/>
            <a:chOff x="987" y="2364"/>
            <a:chExt cx="3994" cy="863"/>
          </a:xfrm>
        </p:grpSpPr>
        <p:sp>
          <p:nvSpPr>
            <p:cNvPr id="552" name="Google Shape;552;p67"/>
            <p:cNvSpPr/>
            <p:nvPr/>
          </p:nvSpPr>
          <p:spPr>
            <a:xfrm>
              <a:off x="2300" y="2364"/>
              <a:ext cx="854" cy="863"/>
            </a:xfrm>
            <a:prstGeom prst="diamond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"/>
                <a:buNone/>
              </a:pPr>
              <a:r>
                <a:rPr b="0" i="1" lang="en-US" sz="14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loan-payment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67"/>
            <p:cNvSpPr txBox="1"/>
            <p:nvPr/>
          </p:nvSpPr>
          <p:spPr>
            <a:xfrm>
              <a:off x="4209" y="2681"/>
              <a:ext cx="772" cy="20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"/>
                <a:buNone/>
              </a:pPr>
              <a:r>
                <a:rPr b="0" i="1" lang="en-US" sz="14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payment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67"/>
            <p:cNvSpPr txBox="1"/>
            <p:nvPr/>
          </p:nvSpPr>
          <p:spPr>
            <a:xfrm>
              <a:off x="987" y="2677"/>
              <a:ext cx="454" cy="209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Helvetica Neue"/>
                <a:buNone/>
              </a:pPr>
              <a:r>
                <a:rPr b="0" i="1" lang="en-US" sz="1400" u="none" cap="none" strike="noStrik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5" name="Google Shape;555;p67"/>
            <p:cNvCxnSpPr/>
            <p:nvPr/>
          </p:nvCxnSpPr>
          <p:spPr>
            <a:xfrm rot="10800000">
              <a:off x="1463" y="2791"/>
              <a:ext cx="8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556" name="Google Shape;556;p67"/>
            <p:cNvCxnSpPr/>
            <p:nvPr/>
          </p:nvCxnSpPr>
          <p:spPr>
            <a:xfrm>
              <a:off x="3136" y="2791"/>
              <a:ext cx="105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57" name="Google Shape;557;p67"/>
          <p:cNvSpPr txBox="1"/>
          <p:nvPr/>
        </p:nvSpPr>
        <p:spPr>
          <a:xfrm>
            <a:off x="717550" y="4813300"/>
            <a:ext cx="7585075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loan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entity is deleted, then all its associated</a:t>
            </a:r>
            <a:r>
              <a:rPr b="0" i="1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payment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entities must be deleted also.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