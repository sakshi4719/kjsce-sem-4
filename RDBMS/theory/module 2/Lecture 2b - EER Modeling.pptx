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4" r:id="rId16"/>
    <p:sldId id="275" r:id="rId17"/>
    <p:sldId id="278" r:id="rId18"/>
    <p:sldId id="279" r:id="rId19"/>
    <p:sldId id="301" r:id="rId20"/>
    <p:sldId id="280" r:id="rId21"/>
    <p:sldId id="302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3" r:id="rId31"/>
    <p:sldId id="294" r:id="rId32"/>
    <p:sldId id="295" r:id="rId33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-150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19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1/22/2018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6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1/22/2018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87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71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CC2E304-B842-419F-AC5D-713AA6C2F553}" type="slidenum">
              <a:rPr lang="en-CA" altLang="en-US" sz="1200">
                <a:latin typeface="Tahoma" panose="020B0604030504040204" pitchFamily="34" charset="0"/>
              </a:rPr>
              <a:pPr/>
              <a:t>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253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350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4B8965-303E-460E-872A-3E1FF8FCB90F}" type="slidenum">
              <a:rPr lang="en-CA" altLang="en-US" sz="1200">
                <a:latin typeface="Tahoma" panose="020B0604030504040204" pitchFamily="34" charset="0"/>
              </a:rPr>
              <a:pPr/>
              <a:t>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66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93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453E22-6D81-473C-9B74-BB4F80DD85A0}" type="slidenum">
              <a:rPr lang="en-CA" altLang="en-US" sz="1200">
                <a:latin typeface="Tahoma" panose="020B0604030504040204" pitchFamily="34" charset="0"/>
              </a:rPr>
              <a:pPr/>
              <a:t>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07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7C8BC2-1DDD-4B99-AC33-FA7A40250A6C}" type="slidenum">
              <a:rPr lang="en-CA" altLang="en-US" sz="1200">
                <a:latin typeface="Tahoma" panose="020B0604030504040204" pitchFamily="34" charset="0"/>
              </a:rPr>
              <a:pPr/>
              <a:t>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07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342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E7A3C2-31BF-4FA4-9A56-CDE3E36AD069}" type="slidenum">
              <a:rPr lang="en-CA" altLang="en-US" sz="1200">
                <a:latin typeface="Tahoma" panose="020B0604030504040204" pitchFamily="34" charset="0"/>
              </a:rPr>
              <a:pPr/>
              <a:t>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272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3F66B24-38F8-4192-A121-432671F51E7F}" type="slidenum">
              <a:rPr lang="en-CA" altLang="en-US" sz="1200">
                <a:latin typeface="Tahoma" panose="020B0604030504040204" pitchFamily="34" charset="0"/>
              </a:rPr>
              <a:pPr/>
              <a:t>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48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452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8C6ACE-203E-4845-BA1D-A463CAB7789B}" type="slidenum">
              <a:rPr lang="en-CA" altLang="en-US" sz="1200">
                <a:latin typeface="Tahoma" panose="020B0604030504040204" pitchFamily="34" charset="0"/>
              </a:rPr>
              <a:pPr/>
              <a:t>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934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ADFD36D-CF2C-4304-87E1-2AC6229807BF}" type="slidenum">
              <a:rPr lang="en-CA" altLang="en-US" sz="1200">
                <a:latin typeface="Tahoma" panose="020B0604030504040204" pitchFamily="34" charset="0"/>
              </a:rPr>
              <a:pPr/>
              <a:t>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891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69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5C8B63-46CF-48B5-A980-4CCF85B4463F}" type="slidenum">
              <a:rPr lang="en-CA" altLang="en-US" sz="1200">
                <a:latin typeface="Tahoma" panose="020B0604030504040204" pitchFamily="34" charset="0"/>
              </a:rPr>
              <a:pPr/>
              <a:t>10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753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9C2B7DE-5B01-449B-935A-5968AAE71CE5}" type="slidenum">
              <a:rPr lang="en-CA" altLang="en-US" sz="1200">
                <a:latin typeface="Tahoma" panose="020B0604030504040204" pitchFamily="34" charset="0"/>
              </a:rPr>
              <a:pPr/>
              <a:t>11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301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372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AFC91BC-0252-46B3-8A3B-468F040E69DA}" type="slidenum">
              <a:rPr lang="en-CA" altLang="en-US" sz="1200">
                <a:latin typeface="Tahoma" panose="020B0604030504040204" pitchFamily="34" charset="0"/>
              </a:rPr>
              <a:pPr/>
              <a:t>12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738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209A2D-49A8-4D33-91F1-0DC8655316ED}" type="slidenum">
              <a:rPr lang="en-CA" altLang="en-US" sz="1200">
                <a:latin typeface="Tahoma" panose="020B0604030504040204" pitchFamily="34" charset="0"/>
              </a:rPr>
              <a:pPr/>
              <a:t>13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710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610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31B9B3-6155-4E64-A976-7F507B66C62E}" type="slidenum">
              <a:rPr lang="en-CA" altLang="en-US" sz="1200">
                <a:latin typeface="Tahoma" panose="020B0604030504040204" pitchFamily="34" charset="0"/>
              </a:rPr>
              <a:pPr/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933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32A0759-2702-419B-8F54-4A5065906EB6}" type="slidenum">
              <a:rPr lang="en-CA" altLang="en-US" sz="1200">
                <a:latin typeface="Tahoma" panose="020B0604030504040204" pitchFamily="34" charset="0"/>
              </a:rPr>
              <a:pPr/>
              <a:t>17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495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B059DA-06E1-4EE9-B7F9-7D3005AB6722}" type="slidenum">
              <a:rPr lang="en-CA" altLang="en-US" sz="1200">
                <a:latin typeface="Tahoma" panose="020B0604030504040204" pitchFamily="34" charset="0"/>
              </a:rPr>
              <a:pPr/>
              <a:t>18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553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850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AFC91BC-0252-46B3-8A3B-468F040E69DA}" type="slidenum">
              <a:rPr lang="en-CA" altLang="en-US" sz="1200">
                <a:latin typeface="Tahoma" panose="020B0604030504040204" pitchFamily="34" charset="0"/>
              </a:rPr>
              <a:pPr/>
              <a:t>19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738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634B7D1-B5A5-4033-972A-787B71BD70D6}" type="slidenum">
              <a:rPr lang="en-CA" altLang="en-US" sz="1200">
                <a:latin typeface="Tahoma" panose="020B0604030504040204" pitchFamily="34" charset="0"/>
              </a:rPr>
              <a:pPr/>
              <a:t>20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496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634B7D1-B5A5-4033-972A-787B71BD70D6}" type="slidenum">
              <a:rPr lang="en-CA" altLang="en-US" sz="1200">
                <a:latin typeface="Tahoma" panose="020B0604030504040204" pitchFamily="34" charset="0"/>
              </a:rPr>
              <a:pPr/>
              <a:t>21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496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22407-3061-4354-9F4E-E728557DA672}" type="slidenum">
              <a:rPr lang="en-CA" altLang="en-US" sz="1200">
                <a:latin typeface="Tahoma" panose="020B0604030504040204" pitchFamily="34" charset="0"/>
              </a:rPr>
              <a:pPr/>
              <a:t>22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371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600095-505E-4205-8F89-EBE418D54560}" type="slidenum">
              <a:rPr lang="en-CA" altLang="en-US" sz="1200">
                <a:latin typeface="Tahoma" panose="020B0604030504040204" pitchFamily="34" charset="0"/>
              </a:rPr>
              <a:pPr/>
              <a:t>23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898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A51E29-2B10-4D9D-854B-001EDBB6C551}" type="slidenum">
              <a:rPr lang="en-CA" altLang="en-US" sz="1200">
                <a:latin typeface="Tahoma" panose="020B0604030504040204" pitchFamily="34" charset="0"/>
              </a:rPr>
              <a:pPr/>
              <a:t>24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003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DBEB56-02AA-41CD-BDC9-49771DED3B8E}" type="slidenum">
              <a:rPr lang="en-CA" altLang="en-US" sz="1200">
                <a:latin typeface="Tahoma" panose="020B0604030504040204" pitchFamily="34" charset="0"/>
              </a:rPr>
              <a:pPr/>
              <a:t>25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4821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B88F030-325D-4CCF-8F7E-9A576E7202B1}" type="slidenum">
              <a:rPr lang="en-CA" altLang="en-US" sz="1200">
                <a:latin typeface="Tahoma" panose="020B0604030504040204" pitchFamily="34" charset="0"/>
              </a:rPr>
              <a:pPr/>
              <a:t>26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910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04B10F-824D-409B-A6B1-31DA8422B976}" type="slidenum">
              <a:rPr lang="en-CA" altLang="en-US" sz="1200">
                <a:latin typeface="Tahoma" panose="020B0604030504040204" pitchFamily="34" charset="0"/>
              </a:rPr>
              <a:pPr/>
              <a:t>27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807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879A0E-C843-46FB-89A8-181F4B26FCD0}" type="slidenum">
              <a:rPr lang="en-CA" altLang="en-US" sz="1200">
                <a:latin typeface="Tahoma" panose="020B0604030504040204" pitchFamily="34" charset="0"/>
              </a:rPr>
              <a:pPr/>
              <a:t>28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2588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DB58E28-9401-4161-80C5-2C7BD3A1B522}" type="slidenum">
              <a:rPr lang="en-CA" altLang="en-US" sz="1200">
                <a:latin typeface="Tahoma" panose="020B0604030504040204" pitchFamily="34" charset="0"/>
              </a:rPr>
              <a:pPr/>
              <a:t>29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981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D7CAF3-1F0F-4742-81A1-40843C08A1A5}" type="slidenum">
              <a:rPr lang="en-CA" altLang="en-US" sz="1200">
                <a:latin typeface="Tahoma" panose="020B0604030504040204" pitchFamily="34" charset="0"/>
              </a:rPr>
              <a:pPr/>
              <a:t>31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3485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ABF55BA-C558-49A7-9905-5DE5B086258E}" type="slidenum">
              <a:rPr lang="en-CA" altLang="en-US" sz="1200">
                <a:latin typeface="Tahoma" panose="020B0604030504040204" pitchFamily="34" charset="0"/>
              </a:rPr>
              <a:pPr/>
              <a:t>32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7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3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F2747F-ECC4-BB44-B379-DEBCDE6D0557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13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6C1ACB-37F4-2E4E-A02F-3AD2C3500E5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059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C9741-E27D-6644-A29C-7357B3CA285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48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A6FC00-01EB-8C4B-8EBA-327D665853C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25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4B30A-E151-554F-9F57-FEC60EAD6DEE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57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F5AC9E-F104-7046-909E-B47A8243FEC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81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9DDB79-4A56-9B43-9E32-8AACDB1BCC49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58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70207B-D522-9843-9370-2EDD2ED326F5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87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Presentation title - </a:t>
            </a:r>
            <a:fld id="{DA4E4A1D-F72B-1945-8E69-DB563647006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8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7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507136" y="4758266"/>
            <a:ext cx="7553131" cy="863601"/>
          </a:xfrm>
        </p:spPr>
        <p:txBody>
          <a:bodyPr>
            <a:normAutofit/>
          </a:bodyPr>
          <a:lstStyle/>
          <a:p>
            <a:pPr eaLnBrk="1" hangingPunct="1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49164" y="5684838"/>
            <a:ext cx="4652963" cy="859723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Sampath Jayarathna</a:t>
            </a:r>
          </a:p>
          <a:p>
            <a:pPr eaLnBrk="1" hangingPunct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 Poly Pomona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48" y="186612"/>
            <a:ext cx="8360229" cy="3705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(1)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An entity type may have additional meaningful subgroupings of its entities</a:t>
            </a:r>
          </a:p>
          <a:p>
            <a:pPr lvl="1" eaLnBrk="1" hangingPunct="1"/>
            <a:r>
              <a:rPr lang="en-US" altLang="en-US" sz="2200" dirty="0" smtClean="0"/>
              <a:t>Example: EMPLOYEE may be further grouped into: </a:t>
            </a:r>
          </a:p>
          <a:p>
            <a:pPr lvl="2" eaLnBrk="1" hangingPunct="1"/>
            <a:r>
              <a:rPr lang="en-US" altLang="en-US" sz="2000" dirty="0" smtClean="0"/>
              <a:t>SECRETARY, ENGINEER, TECHNICIAN, …</a:t>
            </a:r>
          </a:p>
          <a:p>
            <a:pPr lvl="3" eaLnBrk="1" hangingPunct="1"/>
            <a:r>
              <a:rPr lang="en-US" altLang="en-US" sz="1800" dirty="0" smtClean="0"/>
              <a:t>Based on the EMPLOYEE’s Job</a:t>
            </a:r>
          </a:p>
          <a:p>
            <a:pPr lvl="2" eaLnBrk="1" hangingPunct="1"/>
            <a:r>
              <a:rPr lang="en-US" altLang="en-US" sz="2000" dirty="0" smtClean="0"/>
              <a:t>MANAGER</a:t>
            </a:r>
          </a:p>
          <a:p>
            <a:pPr lvl="3" eaLnBrk="1" hangingPunct="1"/>
            <a:r>
              <a:rPr lang="en-US" altLang="en-US" sz="1800" dirty="0" smtClean="0"/>
              <a:t>EMPLOYEEs who are managers (the role they play)</a:t>
            </a:r>
          </a:p>
          <a:p>
            <a:pPr lvl="2" eaLnBrk="1" hangingPunct="1"/>
            <a:r>
              <a:rPr lang="en-US" altLang="en-US" sz="2000" dirty="0" smtClean="0"/>
              <a:t>SALARIED_EMPLOYEE, HOURLY_EMPLOYEE</a:t>
            </a:r>
          </a:p>
          <a:p>
            <a:pPr lvl="3" eaLnBrk="1" hangingPunct="1"/>
            <a:r>
              <a:rPr lang="en-US" altLang="en-US" sz="1800" dirty="0" smtClean="0"/>
              <a:t>Based on the EMPLOYEE’s method of pay</a:t>
            </a:r>
          </a:p>
          <a:p>
            <a:pPr eaLnBrk="1" hangingPunct="1"/>
            <a:r>
              <a:rPr lang="en-US" altLang="en-US" sz="2400" dirty="0" smtClean="0"/>
              <a:t>EER diagrams extend ER diagrams to represent these additional subgroupings, called </a:t>
            </a:r>
            <a:r>
              <a:rPr lang="en-US" altLang="en-US" sz="2400" i="1" dirty="0" smtClean="0"/>
              <a:t>subclasses</a:t>
            </a:r>
            <a:r>
              <a:rPr lang="en-US" altLang="en-US" sz="2400" dirty="0" smtClean="0"/>
              <a:t> or </a:t>
            </a:r>
            <a:r>
              <a:rPr lang="en-US" altLang="en-US" sz="2400" i="1" dirty="0" smtClean="0"/>
              <a:t>subtypes</a:t>
            </a:r>
          </a:p>
        </p:txBody>
      </p:sp>
    </p:spTree>
    <p:extLst>
      <p:ext uri="{BB962C8B-B14F-4D97-AF65-F5344CB8AC3E}">
        <p14:creationId xmlns:p14="http://schemas.microsoft.com/office/powerpoint/2010/main" val="20287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(2)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Each of these subgroupings is a subset of EMPLOYEE entities </a:t>
            </a:r>
          </a:p>
          <a:p>
            <a:pPr eaLnBrk="1" hangingPunct="1"/>
            <a:r>
              <a:rPr lang="en-US" altLang="en-US" sz="2400" dirty="0" smtClean="0"/>
              <a:t>Each is called a subclass of EMPLOYEE </a:t>
            </a:r>
          </a:p>
          <a:p>
            <a:pPr eaLnBrk="1" hangingPunct="1"/>
            <a:r>
              <a:rPr lang="en-US" altLang="en-US" sz="2400" dirty="0" smtClean="0"/>
              <a:t>EMPLOYEE is the superclass for each of these subclasses </a:t>
            </a:r>
          </a:p>
          <a:p>
            <a:pPr eaLnBrk="1" hangingPunct="1"/>
            <a:r>
              <a:rPr lang="en-US" altLang="en-US" sz="2400" dirty="0" smtClean="0"/>
              <a:t>These are called superclass/subclass relationships:</a:t>
            </a:r>
          </a:p>
          <a:p>
            <a:pPr lvl="1" eaLnBrk="1" hangingPunct="1"/>
            <a:r>
              <a:rPr lang="en-US" altLang="en-US" sz="2200" dirty="0" smtClean="0"/>
              <a:t>EMPLOYEE/SECRETARY</a:t>
            </a:r>
          </a:p>
          <a:p>
            <a:pPr lvl="1" eaLnBrk="1" hangingPunct="1"/>
            <a:r>
              <a:rPr lang="en-US" altLang="en-US" sz="2200" dirty="0" smtClean="0"/>
              <a:t>EMPLOYEE/TECHNICIAN</a:t>
            </a:r>
          </a:p>
          <a:p>
            <a:pPr lvl="1" eaLnBrk="1" hangingPunct="1"/>
            <a:r>
              <a:rPr lang="en-US" altLang="en-US" sz="2200" dirty="0" smtClean="0"/>
              <a:t>EMPLOYEE/MANAGER</a:t>
            </a:r>
          </a:p>
          <a:p>
            <a:pPr lvl="1" eaLnBrk="1" hangingPunct="1"/>
            <a:r>
              <a:rPr lang="en-US" altLang="en-US" sz="2200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0455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(3)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These are also called IS-A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SECRETARY IS-A EMPLOYEE, TECHNICIAN IS-A EMPLOYEE, ….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Note: An entity that is member of a subclass represents the same real-world entity as some member of the superclass: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The subclass member is the same entity in a </a:t>
            </a:r>
            <a:r>
              <a:rPr lang="en-US" altLang="en-US" sz="2200" i="1" smtClean="0"/>
              <a:t>distinct specific role</a:t>
            </a:r>
            <a:r>
              <a:rPr lang="en-US" altLang="en-US" sz="2200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An entity cannot exist in the database merely by being a member of a subclass; it must also be a member of the superclass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A member of the superclass can be optionally included as a member of any number of its subclasses</a:t>
            </a:r>
          </a:p>
        </p:txBody>
      </p:sp>
    </p:spTree>
    <p:extLst>
      <p:ext uri="{BB962C8B-B14F-4D97-AF65-F5344CB8AC3E}">
        <p14:creationId xmlns:p14="http://schemas.microsoft.com/office/powerpoint/2010/main" val="366977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(4)</a:t>
            </a: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Examples:</a:t>
            </a:r>
          </a:p>
          <a:p>
            <a:pPr lvl="1" eaLnBrk="1" hangingPunct="1"/>
            <a:r>
              <a:rPr lang="en-US" altLang="en-US" sz="2200" dirty="0" smtClean="0"/>
              <a:t>A salaried employee who is also an engineer belongs to the two subclasses:</a:t>
            </a:r>
          </a:p>
          <a:p>
            <a:pPr lvl="2" eaLnBrk="1" hangingPunct="1"/>
            <a:r>
              <a:rPr lang="en-US" altLang="en-US" sz="2000" dirty="0" smtClean="0"/>
              <a:t>ENGINEER, and</a:t>
            </a:r>
          </a:p>
          <a:p>
            <a:pPr lvl="2" eaLnBrk="1" hangingPunct="1"/>
            <a:r>
              <a:rPr lang="en-US" altLang="en-US" sz="2000" dirty="0" smtClean="0"/>
              <a:t>SALARIED_EMPLOYEE </a:t>
            </a:r>
          </a:p>
          <a:p>
            <a:pPr lvl="1" eaLnBrk="1" hangingPunct="1"/>
            <a:r>
              <a:rPr lang="en-US" altLang="en-US" sz="2200" dirty="0" smtClean="0"/>
              <a:t>A salaried employee who is also an engineering manager belongs to the three subclasses:</a:t>
            </a:r>
          </a:p>
          <a:p>
            <a:pPr lvl="2" eaLnBrk="1" hangingPunct="1"/>
            <a:r>
              <a:rPr lang="en-US" altLang="en-US" sz="2000" dirty="0" smtClean="0"/>
              <a:t>MANAGER,</a:t>
            </a:r>
          </a:p>
          <a:p>
            <a:pPr lvl="2" eaLnBrk="1" hangingPunct="1"/>
            <a:r>
              <a:rPr lang="en-US" altLang="en-US" sz="2000" dirty="0" smtClean="0"/>
              <a:t>ENGINEER, and</a:t>
            </a:r>
          </a:p>
          <a:p>
            <a:pPr lvl="2" eaLnBrk="1" hangingPunct="1"/>
            <a:r>
              <a:rPr lang="en-US" altLang="en-US" sz="2000" dirty="0" smtClean="0"/>
              <a:t>SALARIED_EMPLOYEE </a:t>
            </a:r>
          </a:p>
        </p:txBody>
      </p:sp>
    </p:spTree>
    <p:extLst>
      <p:ext uri="{BB962C8B-B14F-4D97-AF65-F5344CB8AC3E}">
        <p14:creationId xmlns:p14="http://schemas.microsoft.com/office/powerpoint/2010/main" val="420111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Representing Specialization in EER Diagrams</a:t>
            </a:r>
          </a:p>
        </p:txBody>
      </p:sp>
      <p:pic>
        <p:nvPicPr>
          <p:cNvPr id="31747" name="Picture 4" descr="fig04_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820863"/>
            <a:ext cx="8285162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485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Attribute Inheritance in Superclass / Subclass Relationships </a:t>
            </a:r>
          </a:p>
        </p:txBody>
      </p:sp>
      <p:sp>
        <p:nvSpPr>
          <p:cNvPr id="337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An entity that is member of a subclass </a:t>
            </a:r>
            <a:r>
              <a:rPr lang="en-US" altLang="en-US" i="1" smtClean="0"/>
              <a:t>inherits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All attributes of the entity as a member of the superclass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All relationships of the entity as a member of the superclass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In the previous slide, SECRETARY (as well as TECHNICIAN and ENGINEER) inherit the attributes Name, SSN, …, from EMPLOYEE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Every SECRETARY entity will have values for the inherited attributes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0710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 (1)</a:t>
            </a:r>
          </a:p>
        </p:txBody>
      </p:sp>
      <p:sp>
        <p:nvSpPr>
          <p:cNvPr id="3584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39713" y="1524000"/>
            <a:ext cx="8294687" cy="4648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Specialization is the process of defining a set of subclasses of a superclass </a:t>
            </a:r>
          </a:p>
          <a:p>
            <a:pPr eaLnBrk="1" hangingPunct="1"/>
            <a:r>
              <a:rPr lang="en-US" altLang="en-US" dirty="0" smtClean="0"/>
              <a:t>The set of subclasses is based upon some distinguishing characteristics of the entities in the superclass</a:t>
            </a:r>
          </a:p>
          <a:p>
            <a:pPr lvl="1" eaLnBrk="1" hangingPunct="1"/>
            <a:r>
              <a:rPr lang="en-US" altLang="en-US" dirty="0" smtClean="0"/>
              <a:t>Example: {SECRETARY, ENGINEER, TECHNICIAN} is a specialization of EMPLOYEE based upon </a:t>
            </a:r>
            <a:r>
              <a:rPr lang="en-US" altLang="en-US" i="1" dirty="0" smtClean="0"/>
              <a:t>job type.</a:t>
            </a:r>
          </a:p>
          <a:p>
            <a:pPr lvl="1" eaLnBrk="1" hangingPunct="1"/>
            <a:r>
              <a:rPr lang="en-US" altLang="en-US" dirty="0" smtClean="0"/>
              <a:t>Example: MANAGER</a:t>
            </a:r>
            <a:r>
              <a:rPr lang="en-US" altLang="en-US" i="1" dirty="0" smtClean="0"/>
              <a:t> is a specialization of EMPLOYEE based on the role the employee plays</a:t>
            </a:r>
          </a:p>
          <a:p>
            <a:pPr lvl="2" eaLnBrk="1" hangingPunct="1"/>
            <a:r>
              <a:rPr lang="en-US" altLang="en-US" sz="1800" dirty="0" smtClean="0"/>
              <a:t>May have several specializations of the same superclass </a:t>
            </a:r>
          </a:p>
        </p:txBody>
      </p:sp>
    </p:spTree>
    <p:extLst>
      <p:ext uri="{BB962C8B-B14F-4D97-AF65-F5344CB8AC3E}">
        <p14:creationId xmlns:p14="http://schemas.microsoft.com/office/powerpoint/2010/main" val="408175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 (2)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Example: Another specialization of EMPLOYEE based on </a:t>
            </a:r>
            <a:r>
              <a:rPr lang="en-US" altLang="en-US" sz="2400" i="1" smtClean="0"/>
              <a:t>method of pay</a:t>
            </a:r>
            <a:r>
              <a:rPr lang="en-US" altLang="en-US" sz="2400" smtClean="0"/>
              <a:t> is {SALARIED_EMPLOYEE, HOURLY_EMPLOYEE}.</a:t>
            </a:r>
          </a:p>
          <a:p>
            <a:pPr lvl="1" eaLnBrk="1" hangingPunct="1"/>
            <a:r>
              <a:rPr lang="en-US" altLang="en-US" sz="2200" smtClean="0"/>
              <a:t>Superclass/subclass relationships and specialization can be diagrammatically represented in EER diagrams</a:t>
            </a:r>
          </a:p>
          <a:p>
            <a:pPr lvl="1" eaLnBrk="1" hangingPunct="1"/>
            <a:r>
              <a:rPr lang="en-US" altLang="en-US" sz="2200" smtClean="0"/>
              <a:t>Attributes of a subclass are called </a:t>
            </a:r>
            <a:r>
              <a:rPr lang="en-US" altLang="en-US" sz="2200" i="1" smtClean="0"/>
              <a:t>specific</a:t>
            </a:r>
            <a:r>
              <a:rPr lang="en-US" altLang="en-US" sz="2200" smtClean="0"/>
              <a:t> or </a:t>
            </a:r>
            <a:r>
              <a:rPr lang="en-US" altLang="en-US" sz="2200" i="1" smtClean="0"/>
              <a:t>local</a:t>
            </a:r>
            <a:r>
              <a:rPr lang="en-US" altLang="en-US" sz="2200" smtClean="0"/>
              <a:t> attributes.</a:t>
            </a:r>
          </a:p>
          <a:p>
            <a:pPr lvl="2" eaLnBrk="1" hangingPunct="1"/>
            <a:r>
              <a:rPr lang="en-US" altLang="en-US" sz="2000" smtClean="0"/>
              <a:t>For example, the attribute TypingSpeed of SECRETARY</a:t>
            </a:r>
          </a:p>
          <a:p>
            <a:pPr lvl="1" eaLnBrk="1" hangingPunct="1"/>
            <a:r>
              <a:rPr lang="en-US" altLang="en-US" sz="2200" smtClean="0"/>
              <a:t>The subclass can also participate in specific relationship types.</a:t>
            </a:r>
          </a:p>
          <a:p>
            <a:pPr lvl="2" eaLnBrk="1" hangingPunct="1"/>
            <a:r>
              <a:rPr lang="en-US" altLang="en-US" sz="2000" smtClean="0"/>
              <a:t>For example, a relationship BELONGS_TO of HOURLY_EMPLOYEE</a:t>
            </a:r>
          </a:p>
        </p:txBody>
      </p:sp>
    </p:spTree>
    <p:extLst>
      <p:ext uri="{BB962C8B-B14F-4D97-AF65-F5344CB8AC3E}">
        <p14:creationId xmlns:p14="http://schemas.microsoft.com/office/powerpoint/2010/main" val="193235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3" descr="fig04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7724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4" descr="Pink tissue paper"/>
          <p:cNvSpPr txBox="1">
            <a:spLocks noChangeArrowheads="1"/>
          </p:cNvSpPr>
          <p:nvPr/>
        </p:nvSpPr>
        <p:spPr bwMode="auto">
          <a:xfrm>
            <a:off x="304800" y="822325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>
                <a:solidFill>
                  <a:srgbClr val="800000"/>
                </a:solidFill>
              </a:rPr>
              <a:t>Specialization (3)</a:t>
            </a:r>
          </a:p>
        </p:txBody>
      </p:sp>
    </p:spTree>
    <p:extLst>
      <p:ext uri="{BB962C8B-B14F-4D97-AF65-F5344CB8AC3E}">
        <p14:creationId xmlns:p14="http://schemas.microsoft.com/office/powerpoint/2010/main" val="35791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Generalization</a:t>
            </a: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Generalization is the reverse of the specialization process </a:t>
            </a:r>
          </a:p>
          <a:p>
            <a:pPr eaLnBrk="1" hangingPunct="1"/>
            <a:r>
              <a:rPr lang="en-US" altLang="en-US" sz="2400" smtClean="0"/>
              <a:t>Several classes with common features are generalized into a superclass; </a:t>
            </a:r>
          </a:p>
          <a:p>
            <a:pPr lvl="1" eaLnBrk="1" hangingPunct="1"/>
            <a:r>
              <a:rPr lang="en-US" altLang="en-US" sz="2200" smtClean="0"/>
              <a:t>original classes become its subclasses</a:t>
            </a:r>
          </a:p>
          <a:p>
            <a:pPr eaLnBrk="1" hangingPunct="1"/>
            <a:r>
              <a:rPr lang="en-US" altLang="en-US" sz="2400" smtClean="0"/>
              <a:t>Example: CAR, TRUCK generalized into VEHICLE; </a:t>
            </a:r>
          </a:p>
          <a:p>
            <a:pPr lvl="1" eaLnBrk="1" hangingPunct="1"/>
            <a:r>
              <a:rPr lang="en-US" altLang="en-US" sz="2200" smtClean="0"/>
              <a:t>both CAR, TRUCK become subclasses of the superclass VEHICLE.</a:t>
            </a:r>
          </a:p>
          <a:p>
            <a:pPr lvl="1" eaLnBrk="1" hangingPunct="1"/>
            <a:r>
              <a:rPr lang="en-US" altLang="en-US" sz="2200" smtClean="0"/>
              <a:t>We can view {CAR, TRUCK} as a specialization of VEHICLE </a:t>
            </a:r>
          </a:p>
          <a:p>
            <a:pPr lvl="1" eaLnBrk="1" hangingPunct="1"/>
            <a:r>
              <a:rPr lang="en-US" altLang="en-US" sz="2200" smtClean="0"/>
              <a:t>Alternatively, we can view VEHICLE as a generalization of CAR and TRUCK </a:t>
            </a:r>
          </a:p>
        </p:txBody>
      </p:sp>
    </p:spTree>
    <p:extLst>
      <p:ext uri="{BB962C8B-B14F-4D97-AF65-F5344CB8AC3E}">
        <p14:creationId xmlns:p14="http://schemas.microsoft.com/office/powerpoint/2010/main" val="425827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fig04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23900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4" descr="Pink tissue paper"/>
          <p:cNvSpPr txBox="1">
            <a:spLocks noChangeArrowheads="1"/>
          </p:cNvSpPr>
          <p:nvPr/>
        </p:nvSpPr>
        <p:spPr bwMode="auto">
          <a:xfrm>
            <a:off x="533400" y="71596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rgbClr val="800000"/>
                </a:solidFill>
              </a:rPr>
              <a:t>Generalization (2)</a:t>
            </a:r>
          </a:p>
        </p:txBody>
      </p:sp>
    </p:spTree>
    <p:extLst>
      <p:ext uri="{BB962C8B-B14F-4D97-AF65-F5344CB8AC3E}">
        <p14:creationId xmlns:p14="http://schemas.microsoft.com/office/powerpoint/2010/main" val="310270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Generalization and Specialization  </a:t>
            </a:r>
          </a:p>
        </p:txBody>
      </p:sp>
      <p:sp>
        <p:nvSpPr>
          <p:cNvPr id="4608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Diagrammatic notations are sometimes used to distinguish between generalization and specialization</a:t>
            </a:r>
          </a:p>
          <a:p>
            <a:pPr lvl="1"/>
            <a:r>
              <a:rPr lang="en-US" altLang="en-US" dirty="0"/>
              <a:t>Arrow pointing to the generalized superclass represents a generalization </a:t>
            </a:r>
          </a:p>
          <a:p>
            <a:pPr lvl="1"/>
            <a:r>
              <a:rPr lang="en-US" altLang="en-US" dirty="0"/>
              <a:t>Arrows pointing to the specialized subclasses represent a specialization </a:t>
            </a:r>
          </a:p>
          <a:p>
            <a:pPr lvl="1"/>
            <a:r>
              <a:rPr lang="en-US" altLang="en-US" dirty="0"/>
              <a:t>This is often subjective as to which process is more appropriate for a particular situation </a:t>
            </a:r>
          </a:p>
          <a:p>
            <a:pPr marL="0" indent="0">
              <a:buNone/>
            </a:pPr>
            <a:endParaRPr lang="en-US" altLang="en-US" dirty="0" smtClean="0"/>
          </a:p>
          <a:p>
            <a:r>
              <a:rPr lang="en-US" altLang="en-US" dirty="0" smtClean="0"/>
              <a:t>Data </a:t>
            </a:r>
            <a:r>
              <a:rPr lang="en-US" altLang="en-US" dirty="0"/>
              <a:t>Modeling with Specialization and Generalization</a:t>
            </a:r>
          </a:p>
          <a:p>
            <a:pPr lvl="1"/>
            <a:r>
              <a:rPr lang="en-US" altLang="en-US" dirty="0"/>
              <a:t>A superclass or subclass represents a collection (or set or grouping) of entities</a:t>
            </a:r>
          </a:p>
          <a:p>
            <a:pPr lvl="1"/>
            <a:r>
              <a:rPr lang="en-US" altLang="en-US" dirty="0"/>
              <a:t>It also represents a particular </a:t>
            </a:r>
            <a:r>
              <a:rPr lang="en-US" altLang="en-US" i="1" dirty="0"/>
              <a:t>type of entity</a:t>
            </a:r>
          </a:p>
          <a:p>
            <a:pPr lvl="1"/>
            <a:r>
              <a:rPr lang="en-US" altLang="en-US" dirty="0"/>
              <a:t>Shown in rectangles in EER diagrams (as are entity types) </a:t>
            </a:r>
          </a:p>
          <a:p>
            <a:pPr lvl="1"/>
            <a:r>
              <a:rPr lang="en-US" altLang="en-US" dirty="0"/>
              <a:t>We can call all entity types (and their corresponding collections) </a:t>
            </a:r>
            <a:r>
              <a:rPr lang="en-US" altLang="en-US" b="1" i="1" dirty="0"/>
              <a:t>classes</a:t>
            </a:r>
            <a:r>
              <a:rPr lang="en-US" altLang="en-US" dirty="0"/>
              <a:t>, whether they are entity types, </a:t>
            </a:r>
            <a:r>
              <a:rPr lang="en-US" altLang="en-US" dirty="0" err="1"/>
              <a:t>superclasses</a:t>
            </a:r>
            <a:r>
              <a:rPr lang="en-US" altLang="en-US" dirty="0"/>
              <a:t>, or subclasses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0825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Types of Specialization</a:t>
            </a: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 smtClean="0"/>
              <a:t>Predicate-defined</a:t>
            </a:r>
            <a:r>
              <a:rPr lang="en-US" altLang="en-US" dirty="0" smtClean="0"/>
              <a:t> ( or condition-defined) : based on some predicate. E.g., based on value of an attribute, say, Job-type, or Age.</a:t>
            </a:r>
          </a:p>
          <a:p>
            <a:pPr lvl="1"/>
            <a:r>
              <a:rPr lang="en-US" altLang="en-US" dirty="0"/>
              <a:t>Condition is a constraint that determines subclass members </a:t>
            </a:r>
          </a:p>
          <a:p>
            <a:pPr lvl="1"/>
            <a:r>
              <a:rPr lang="en-US" altLang="en-US" dirty="0" smtClean="0"/>
              <a:t>Job-type = ‘Secretary’</a:t>
            </a:r>
          </a:p>
          <a:p>
            <a:pPr lvl="1"/>
            <a:r>
              <a:rPr lang="en-US" altLang="en-US" dirty="0"/>
              <a:t>Display a predicate-defined subclass by writing the predicate condition next to the line attaching the subclass to its superclass </a:t>
            </a:r>
            <a:endParaRPr lang="en-US" altLang="en-US" dirty="0" smtClean="0"/>
          </a:p>
          <a:p>
            <a:r>
              <a:rPr lang="en-US" altLang="en-US" b="1" dirty="0" smtClean="0"/>
              <a:t>Attribute-defined</a:t>
            </a:r>
            <a:r>
              <a:rPr lang="en-US" altLang="en-US" dirty="0" smtClean="0"/>
              <a:t>: shows the name of the attribute next to the line drawn from the superclass toward the subclasses (see Fig. 4.1)</a:t>
            </a:r>
          </a:p>
          <a:p>
            <a:r>
              <a:rPr lang="en-US" altLang="en-US" b="1" dirty="0" smtClean="0"/>
              <a:t>User-defined</a:t>
            </a:r>
            <a:r>
              <a:rPr lang="en-US" altLang="en-US" dirty="0" smtClean="0"/>
              <a:t>: membership is defined by the user on an entity by entity basis</a:t>
            </a:r>
          </a:p>
          <a:p>
            <a:pPr lvl="1"/>
            <a:r>
              <a:rPr lang="en-US" altLang="en-US" dirty="0"/>
              <a:t>If no condition determines membership, the subclass is called user-defined </a:t>
            </a:r>
          </a:p>
          <a:p>
            <a:pPr marL="342900" lvl="1" indent="0"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5018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Displaying an attribute-defined specialization in EER diagrams</a:t>
            </a:r>
          </a:p>
        </p:txBody>
      </p:sp>
      <p:pic>
        <p:nvPicPr>
          <p:cNvPr id="55299" name="Picture 5" descr="fig04_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1962150"/>
            <a:ext cx="8413750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75658" y="3424334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Predicate-defined</a:t>
            </a:r>
            <a:endParaRPr lang="en-US" dirty="0"/>
          </a:p>
        </p:txBody>
      </p:sp>
      <p:cxnSp>
        <p:nvCxnSpPr>
          <p:cNvPr id="4" name="Straight Arrow Connector 3"/>
          <p:cNvCxnSpPr>
            <a:stCxn id="2" idx="3"/>
          </p:cNvCxnSpPr>
          <p:nvPr/>
        </p:nvCxnSpPr>
        <p:spPr>
          <a:xfrm>
            <a:off x="3168511" y="3609000"/>
            <a:ext cx="2364542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631" y="4466757"/>
            <a:ext cx="199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Attribute-defined</a:t>
            </a:r>
            <a:endParaRPr lang="en-US" dirty="0"/>
          </a:p>
        </p:txBody>
      </p:sp>
      <p:cxnSp>
        <p:nvCxnSpPr>
          <p:cNvPr id="9" name="Straight Arrow Connector 8"/>
          <p:cNvCxnSpPr>
            <a:stCxn id="8" idx="3"/>
          </p:cNvCxnSpPr>
          <p:nvPr/>
        </p:nvCxnSpPr>
        <p:spPr>
          <a:xfrm flipV="1">
            <a:off x="2324484" y="4466757"/>
            <a:ext cx="182763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36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8"/>
          <p:cNvSpPr>
            <a:spLocks noGrp="1" noChangeArrowheads="1"/>
          </p:cNvSpPr>
          <p:nvPr>
            <p:ph type="title"/>
          </p:nvPr>
        </p:nvSpPr>
        <p:spPr>
          <a:xfrm>
            <a:off x="429208" y="365126"/>
            <a:ext cx="8434874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Constraints on Specialization and Generalization</a:t>
            </a:r>
          </a:p>
        </p:txBody>
      </p:sp>
      <p:sp>
        <p:nvSpPr>
          <p:cNvPr id="5632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29208" y="1825624"/>
            <a:ext cx="8537510" cy="491107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Two basic constraints can apply to a specialization/generalization:</a:t>
            </a:r>
          </a:p>
          <a:p>
            <a:pPr lvl="1" eaLnBrk="1" hangingPunct="1"/>
            <a:r>
              <a:rPr lang="en-US" altLang="en-US" sz="2400" dirty="0" err="1" smtClean="0"/>
              <a:t>Disjointness</a:t>
            </a:r>
            <a:r>
              <a:rPr lang="en-US" altLang="en-US" sz="2400" dirty="0" smtClean="0"/>
              <a:t> Constraint:</a:t>
            </a:r>
          </a:p>
          <a:p>
            <a:pPr lvl="2"/>
            <a:r>
              <a:rPr lang="en-US" altLang="en-US" sz="1600" dirty="0"/>
              <a:t>Specifies that the subclasses of the specialization must be </a:t>
            </a:r>
            <a:r>
              <a:rPr lang="en-US" altLang="en-US" sz="1600" i="1" u="sng" dirty="0"/>
              <a:t>disjoint</a:t>
            </a:r>
            <a:r>
              <a:rPr lang="en-US" altLang="en-US" sz="1600" dirty="0"/>
              <a:t>:</a:t>
            </a:r>
            <a:endParaRPr lang="en-US" altLang="en-US" sz="1600" i="1" dirty="0"/>
          </a:p>
          <a:p>
            <a:pPr lvl="3"/>
            <a:r>
              <a:rPr lang="en-US" altLang="en-US" sz="1600" dirty="0"/>
              <a:t>an entity can be a member of at most one of the subclasses of the specialization</a:t>
            </a:r>
          </a:p>
          <a:p>
            <a:pPr lvl="2"/>
            <a:r>
              <a:rPr lang="en-US" altLang="en-US" sz="1600" dirty="0"/>
              <a:t>Specified by </a:t>
            </a:r>
            <a:r>
              <a:rPr lang="en-US" altLang="en-US" sz="1600" b="1" i="1" u="sng" dirty="0"/>
              <a:t>d</a:t>
            </a:r>
            <a:r>
              <a:rPr lang="en-US" altLang="en-US" sz="1600" dirty="0"/>
              <a:t> in EER diagram </a:t>
            </a:r>
          </a:p>
          <a:p>
            <a:pPr lvl="2"/>
            <a:r>
              <a:rPr lang="en-US" altLang="en-US" sz="1600" dirty="0"/>
              <a:t>If not disjoint, specialization is </a:t>
            </a:r>
            <a:r>
              <a:rPr lang="en-US" altLang="en-US" sz="1600" i="1" u="sng" dirty="0"/>
              <a:t>overlapping</a:t>
            </a:r>
            <a:r>
              <a:rPr lang="en-US" altLang="en-US" sz="1600" dirty="0"/>
              <a:t>:</a:t>
            </a:r>
          </a:p>
          <a:p>
            <a:pPr lvl="3"/>
            <a:r>
              <a:rPr lang="en-US" altLang="en-US" sz="1600" dirty="0"/>
              <a:t>that is the same entity may be a member of more than one subclass of the specialization</a:t>
            </a:r>
          </a:p>
          <a:p>
            <a:pPr lvl="2"/>
            <a:r>
              <a:rPr lang="en-US" altLang="en-US" sz="1600" dirty="0"/>
              <a:t>Specified by </a:t>
            </a:r>
            <a:r>
              <a:rPr lang="en-US" altLang="en-US" sz="1600" b="1" i="1" u="sng" dirty="0"/>
              <a:t>o</a:t>
            </a:r>
            <a:r>
              <a:rPr lang="en-US" altLang="en-US" sz="1600" dirty="0"/>
              <a:t> in EER diagram </a:t>
            </a:r>
            <a:endParaRPr lang="en-US" altLang="en-US" sz="1600" dirty="0" smtClean="0"/>
          </a:p>
          <a:p>
            <a:pPr lvl="1" eaLnBrk="1" hangingPunct="1"/>
            <a:r>
              <a:rPr lang="en-US" altLang="en-US" sz="2400" dirty="0" smtClean="0"/>
              <a:t>Completeness Constraint: </a:t>
            </a:r>
          </a:p>
          <a:p>
            <a:pPr lvl="2"/>
            <a:r>
              <a:rPr lang="en-US" altLang="en-US" sz="1600" i="1" dirty="0"/>
              <a:t>Total</a:t>
            </a:r>
            <a:r>
              <a:rPr lang="en-US" altLang="en-US" sz="1600" dirty="0"/>
              <a:t> specifies that every entity in the superclass must be a member of some subclass in the specialization/generalization </a:t>
            </a:r>
          </a:p>
          <a:p>
            <a:pPr lvl="2"/>
            <a:r>
              <a:rPr lang="en-US" altLang="en-US" sz="1600" dirty="0"/>
              <a:t>Shown in EER diagrams by a </a:t>
            </a:r>
            <a:r>
              <a:rPr lang="en-US" altLang="en-US" sz="1600" b="1" i="1" u="sng" dirty="0"/>
              <a:t>double line</a:t>
            </a:r>
            <a:r>
              <a:rPr lang="en-US" altLang="en-US" sz="1600" dirty="0"/>
              <a:t> </a:t>
            </a:r>
          </a:p>
          <a:p>
            <a:pPr lvl="2"/>
            <a:r>
              <a:rPr lang="en-US" altLang="en-US" sz="1600" i="1" dirty="0"/>
              <a:t>Partial</a:t>
            </a:r>
            <a:r>
              <a:rPr lang="en-US" altLang="en-US" sz="1600" dirty="0"/>
              <a:t> allows an entity not to belong to any of the subclasses </a:t>
            </a:r>
          </a:p>
          <a:p>
            <a:pPr lvl="2"/>
            <a:r>
              <a:rPr lang="en-US" altLang="en-US" sz="1600" dirty="0"/>
              <a:t>Shown in EER diagrams by a single line</a:t>
            </a:r>
          </a:p>
          <a:p>
            <a:pPr lvl="2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805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/>
          <p:cNvSpPr>
            <a:spLocks noGrp="1" noChangeArrowheads="1"/>
          </p:cNvSpPr>
          <p:nvPr>
            <p:ph type="title"/>
          </p:nvPr>
        </p:nvSpPr>
        <p:spPr>
          <a:xfrm>
            <a:off x="438539" y="365126"/>
            <a:ext cx="8294913" cy="1325563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Constraints on Specialization and Generalization</a:t>
            </a:r>
          </a:p>
        </p:txBody>
      </p:sp>
      <p:sp>
        <p:nvSpPr>
          <p:cNvPr id="6246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Hence, we have four types of specialization/generalization:</a:t>
            </a:r>
          </a:p>
          <a:p>
            <a:pPr lvl="1" eaLnBrk="1" hangingPunct="1"/>
            <a:r>
              <a:rPr lang="en-US" altLang="en-US" dirty="0" smtClean="0"/>
              <a:t>Disjoint, total </a:t>
            </a:r>
          </a:p>
          <a:p>
            <a:pPr lvl="1" eaLnBrk="1" hangingPunct="1"/>
            <a:r>
              <a:rPr lang="en-US" altLang="en-US" dirty="0" smtClean="0"/>
              <a:t>Disjoint, partial </a:t>
            </a:r>
          </a:p>
          <a:p>
            <a:pPr lvl="1" eaLnBrk="1" hangingPunct="1"/>
            <a:r>
              <a:rPr lang="en-US" altLang="en-US" dirty="0" smtClean="0"/>
              <a:t>Overlapping, total </a:t>
            </a:r>
          </a:p>
          <a:p>
            <a:pPr lvl="1" eaLnBrk="1" hangingPunct="1"/>
            <a:r>
              <a:rPr lang="en-US" altLang="en-US" dirty="0" smtClean="0"/>
              <a:t>Overlapping, partial</a:t>
            </a:r>
          </a:p>
          <a:p>
            <a:pPr eaLnBrk="1" hangingPunct="1"/>
            <a:r>
              <a:rPr lang="en-US" altLang="en-US" dirty="0" smtClean="0"/>
              <a:t>Note: Generalization usually is total because the superclass is derived from the subclasses.</a:t>
            </a:r>
          </a:p>
        </p:txBody>
      </p:sp>
    </p:spTree>
    <p:extLst>
      <p:ext uri="{BB962C8B-B14F-4D97-AF65-F5344CB8AC3E}">
        <p14:creationId xmlns:p14="http://schemas.microsoft.com/office/powerpoint/2010/main" val="24865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Example of disjoint partial Specialization</a:t>
            </a:r>
          </a:p>
        </p:txBody>
      </p:sp>
      <p:pic>
        <p:nvPicPr>
          <p:cNvPr id="64515" name="Picture 5" descr="fig04_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47850"/>
            <a:ext cx="83058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45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4" descr="Pink tissue paper"/>
          <p:cNvSpPr txBox="1">
            <a:spLocks noChangeArrowheads="1"/>
          </p:cNvSpPr>
          <p:nvPr/>
        </p:nvSpPr>
        <p:spPr bwMode="auto">
          <a:xfrm>
            <a:off x="533400" y="715963"/>
            <a:ext cx="810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/>
              <a:t>Example of disjoint </a:t>
            </a:r>
            <a:r>
              <a:rPr lang="en-US" altLang="en-US" sz="2800" dirty="0" smtClean="0"/>
              <a:t>total Specialization</a:t>
            </a:r>
            <a:endParaRPr lang="en-US" altLang="en-US" sz="2800" dirty="0">
              <a:solidFill>
                <a:srgbClr val="800000"/>
              </a:solidFill>
            </a:endParaRPr>
          </a:p>
        </p:txBody>
      </p:sp>
      <p:pic>
        <p:nvPicPr>
          <p:cNvPr id="4" name="Picture 3" descr="fig04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7724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36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3" descr="fig04_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432050"/>
            <a:ext cx="8539162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Text Box 4" descr="Pink tissue paper"/>
          <p:cNvSpPr txBox="1">
            <a:spLocks noChangeArrowheads="1"/>
          </p:cNvSpPr>
          <p:nvPr/>
        </p:nvSpPr>
        <p:spPr bwMode="auto">
          <a:xfrm>
            <a:off x="304800" y="868363"/>
            <a:ext cx="723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rgbClr val="800000"/>
                </a:solidFill>
              </a:rPr>
              <a:t>Example of overlapping total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271308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Text Box 4" descr="Pink tissue paper"/>
          <p:cNvSpPr txBox="1">
            <a:spLocks noChangeArrowheads="1"/>
          </p:cNvSpPr>
          <p:nvPr/>
        </p:nvSpPr>
        <p:spPr bwMode="auto">
          <a:xfrm>
            <a:off x="304800" y="868363"/>
            <a:ext cx="838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800000"/>
                </a:solidFill>
              </a:rPr>
              <a:t>Example of overlapping </a:t>
            </a:r>
            <a:r>
              <a:rPr lang="en-US" altLang="en-US" sz="2800" dirty="0" smtClean="0">
                <a:solidFill>
                  <a:srgbClr val="800000"/>
                </a:solidFill>
              </a:rPr>
              <a:t>partial </a:t>
            </a:r>
            <a:r>
              <a:rPr lang="en-US" altLang="en-US" sz="2800" dirty="0">
                <a:solidFill>
                  <a:srgbClr val="800000"/>
                </a:solidFill>
              </a:rPr>
              <a:t>Specialization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046" y="1913467"/>
            <a:ext cx="4077507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78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Specialization/Generalization Hierarchies, Lattices &amp; Shared Subclasses (1)</a:t>
            </a:r>
          </a:p>
        </p:txBody>
      </p:sp>
      <p:sp>
        <p:nvSpPr>
          <p:cNvPr id="6861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subclass may itself have further subclasses specified on it </a:t>
            </a:r>
          </a:p>
          <a:p>
            <a:pPr lvl="1" eaLnBrk="1" hangingPunct="1"/>
            <a:r>
              <a:rPr lang="en-US" altLang="en-US" smtClean="0"/>
              <a:t>forms a hierarchy or a lattice</a:t>
            </a:r>
          </a:p>
          <a:p>
            <a:pPr eaLnBrk="1" hangingPunct="1"/>
            <a:r>
              <a:rPr lang="en-US" altLang="en-US" b="1" i="1" smtClean="0"/>
              <a:t>Hierarchy</a:t>
            </a:r>
            <a:r>
              <a:rPr lang="en-US" altLang="en-US" smtClean="0"/>
              <a:t> has a constraint that every subclass has only one superclass (called </a:t>
            </a:r>
            <a:r>
              <a:rPr lang="en-US" altLang="en-US" b="1" i="1" smtClean="0"/>
              <a:t>single inheritance</a:t>
            </a:r>
            <a:r>
              <a:rPr lang="en-US" altLang="en-US" smtClean="0"/>
              <a:t>); this is basically a </a:t>
            </a:r>
            <a:r>
              <a:rPr lang="en-US" altLang="en-US" b="1" i="1" smtClean="0"/>
              <a:t>tree structure</a:t>
            </a:r>
          </a:p>
          <a:p>
            <a:pPr eaLnBrk="1" hangingPunct="1"/>
            <a:r>
              <a:rPr lang="en-US" altLang="en-US" smtClean="0"/>
              <a:t>In a </a:t>
            </a:r>
            <a:r>
              <a:rPr lang="en-US" altLang="en-US" b="1" i="1" smtClean="0"/>
              <a:t>lattice</a:t>
            </a:r>
            <a:r>
              <a:rPr lang="en-US" altLang="en-US" smtClean="0"/>
              <a:t>, a subclass can be subclass of more than one superclass (called </a:t>
            </a:r>
            <a:r>
              <a:rPr lang="en-US" altLang="en-US" b="1" i="1" smtClean="0"/>
              <a:t>multiple inheritance</a:t>
            </a:r>
            <a:r>
              <a:rPr lang="en-US" altLang="en-US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540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3" descr="fig04_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92338"/>
            <a:ext cx="8440738" cy="342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Text Box 4" descr="Pink tissue paper"/>
          <p:cNvSpPr txBox="1">
            <a:spLocks noChangeArrowheads="1"/>
          </p:cNvSpPr>
          <p:nvPr/>
        </p:nvSpPr>
        <p:spPr bwMode="auto">
          <a:xfrm>
            <a:off x="457200" y="838200"/>
            <a:ext cx="594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800000"/>
                </a:solidFill>
              </a:rPr>
              <a:t>Shared Subclass “Engineering_Manager”</a:t>
            </a:r>
          </a:p>
        </p:txBody>
      </p:sp>
    </p:spTree>
    <p:extLst>
      <p:ext uri="{BB962C8B-B14F-4D97-AF65-F5344CB8AC3E}">
        <p14:creationId xmlns:p14="http://schemas.microsoft.com/office/powerpoint/2010/main" val="401357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Specialization/Generalization Hierarchies, Lattices &amp; Shared Subclasses (2)</a:t>
            </a:r>
          </a:p>
        </p:txBody>
      </p:sp>
      <p:sp>
        <p:nvSpPr>
          <p:cNvPr id="727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In a lattice or hierarchy, a subclass inherits attributes not only of its direct superclass, but also of all its predecessor </a:t>
            </a:r>
            <a:r>
              <a:rPr lang="en-US" altLang="en-US" sz="2400" dirty="0" err="1" smtClean="0"/>
              <a:t>superclasses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A subclass with more than one superclass is called a shared subclass (multiple inheritance)</a:t>
            </a:r>
          </a:p>
        </p:txBody>
      </p:sp>
    </p:spTree>
    <p:extLst>
      <p:ext uri="{BB962C8B-B14F-4D97-AF65-F5344CB8AC3E}">
        <p14:creationId xmlns:p14="http://schemas.microsoft.com/office/powerpoint/2010/main" val="78087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Specialization/Generalization Hierarchies, Lattices &amp; Shared Subclasses (3)</a:t>
            </a: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</a:t>
            </a:r>
            <a:r>
              <a:rPr lang="en-US" altLang="en-US" i="1" smtClean="0"/>
              <a:t>specialization</a:t>
            </a:r>
            <a:r>
              <a:rPr lang="en-US" altLang="en-US" smtClean="0"/>
              <a:t>, start with an entity type and then define subclasses of the entity type by successive specialization</a:t>
            </a:r>
          </a:p>
          <a:p>
            <a:pPr lvl="1" eaLnBrk="1" hangingPunct="1"/>
            <a:r>
              <a:rPr lang="en-US" altLang="en-US" smtClean="0"/>
              <a:t>called a </a:t>
            </a:r>
            <a:r>
              <a:rPr lang="en-US" altLang="en-US" i="1" smtClean="0"/>
              <a:t>top down</a:t>
            </a:r>
            <a:r>
              <a:rPr lang="en-US" altLang="en-US" smtClean="0"/>
              <a:t> conceptual refinement process</a:t>
            </a:r>
          </a:p>
          <a:p>
            <a:pPr eaLnBrk="1" hangingPunct="1"/>
            <a:r>
              <a:rPr lang="en-US" altLang="en-US" smtClean="0"/>
              <a:t>In </a:t>
            </a:r>
            <a:r>
              <a:rPr lang="en-US" altLang="en-US" i="1" smtClean="0"/>
              <a:t>generalization</a:t>
            </a:r>
            <a:r>
              <a:rPr lang="en-US" altLang="en-US" smtClean="0"/>
              <a:t>, start with many entity types and generalize those that have common properties</a:t>
            </a:r>
          </a:p>
          <a:p>
            <a:pPr lvl="1" eaLnBrk="1" hangingPunct="1"/>
            <a:r>
              <a:rPr lang="en-US" altLang="en-US" smtClean="0"/>
              <a:t>Called a </a:t>
            </a:r>
            <a:r>
              <a:rPr lang="en-US" altLang="en-US" i="1" smtClean="0"/>
              <a:t>bottom up</a:t>
            </a:r>
            <a:r>
              <a:rPr lang="en-US" altLang="en-US" smtClean="0"/>
              <a:t> conceptual synthesis process</a:t>
            </a:r>
          </a:p>
          <a:p>
            <a:pPr eaLnBrk="1" hangingPunct="1"/>
            <a:r>
              <a:rPr lang="en-US" altLang="en-US" smtClean="0"/>
              <a:t>In practice, a </a:t>
            </a:r>
            <a:r>
              <a:rPr lang="en-US" altLang="en-US" i="1" smtClean="0"/>
              <a:t>combination of both processes</a:t>
            </a:r>
            <a:r>
              <a:rPr lang="en-US" altLang="en-US" smtClean="0"/>
              <a:t> is usually employed </a:t>
            </a:r>
          </a:p>
        </p:txBody>
      </p:sp>
    </p:spTree>
    <p:extLst>
      <p:ext uri="{BB962C8B-B14F-4D97-AF65-F5344CB8AC3E}">
        <p14:creationId xmlns:p14="http://schemas.microsoft.com/office/powerpoint/2010/main" val="167665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 / Generalization Lattice Example </a:t>
            </a:r>
            <a:r>
              <a:rPr lang="en-US" altLang="en-US" sz="2400" smtClean="0"/>
              <a:t>(UNIVERSITY)</a:t>
            </a:r>
          </a:p>
        </p:txBody>
      </p:sp>
      <p:pic>
        <p:nvPicPr>
          <p:cNvPr id="76803" name="Picture 5" descr="fig04_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0"/>
            <a:ext cx="5867400" cy="48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314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Categories (UNION TYPES) (1)</a:t>
            </a:r>
          </a:p>
        </p:txBody>
      </p:sp>
      <p:sp>
        <p:nvSpPr>
          <p:cNvPr id="788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All of the </a:t>
            </a:r>
            <a:r>
              <a:rPr lang="en-US" altLang="en-US" sz="2400" i="1" smtClean="0"/>
              <a:t>superclass/subclass relationships</a:t>
            </a:r>
            <a:r>
              <a:rPr lang="en-US" altLang="en-US" sz="2400" smtClean="0"/>
              <a:t> we have seen thus far have a single superclass </a:t>
            </a:r>
          </a:p>
          <a:p>
            <a:pPr eaLnBrk="1" hangingPunct="1"/>
            <a:r>
              <a:rPr lang="en-US" altLang="en-US" sz="2400" smtClean="0"/>
              <a:t>A shared subclass is a subclass in:</a:t>
            </a:r>
          </a:p>
          <a:p>
            <a:pPr lvl="1" eaLnBrk="1" hangingPunct="1"/>
            <a:r>
              <a:rPr lang="en-US" altLang="en-US" sz="2200" i="1" smtClean="0"/>
              <a:t>more than one</a:t>
            </a:r>
            <a:r>
              <a:rPr lang="en-US" altLang="en-US" sz="2200" smtClean="0"/>
              <a:t> distinct superclass/subclass relationships</a:t>
            </a:r>
          </a:p>
          <a:p>
            <a:pPr lvl="1" eaLnBrk="1" hangingPunct="1"/>
            <a:r>
              <a:rPr lang="en-US" altLang="en-US" sz="2200" smtClean="0"/>
              <a:t>each relationships has a </a:t>
            </a:r>
            <a:r>
              <a:rPr lang="en-US" altLang="en-US" sz="2200" i="1" smtClean="0"/>
              <a:t>single</a:t>
            </a:r>
            <a:r>
              <a:rPr lang="en-US" altLang="en-US" sz="2200" smtClean="0"/>
              <a:t> superclass</a:t>
            </a:r>
          </a:p>
          <a:p>
            <a:pPr lvl="1" eaLnBrk="1" hangingPunct="1"/>
            <a:r>
              <a:rPr lang="en-US" altLang="en-US" sz="2200" smtClean="0"/>
              <a:t>shared subclass leads to multiple inheritance</a:t>
            </a:r>
          </a:p>
          <a:p>
            <a:pPr eaLnBrk="1" hangingPunct="1"/>
            <a:r>
              <a:rPr lang="en-US" altLang="en-US" sz="2400" smtClean="0"/>
              <a:t>In some cases, we need to model a </a:t>
            </a:r>
            <a:r>
              <a:rPr lang="en-US" altLang="en-US" sz="2400" i="1" smtClean="0"/>
              <a:t>single superclass/subclass relationship</a:t>
            </a:r>
            <a:r>
              <a:rPr lang="en-US" altLang="en-US" sz="2400" smtClean="0"/>
              <a:t> </a:t>
            </a:r>
            <a:r>
              <a:rPr lang="en-US" altLang="en-US" sz="2400" u="sng" smtClean="0"/>
              <a:t>with </a:t>
            </a:r>
            <a:r>
              <a:rPr lang="en-US" altLang="en-US" sz="2400" i="1" u="sng" smtClean="0"/>
              <a:t>more than one</a:t>
            </a:r>
            <a:r>
              <a:rPr lang="en-US" altLang="en-US" sz="2400" u="sng" smtClean="0"/>
              <a:t> superclass </a:t>
            </a:r>
          </a:p>
          <a:p>
            <a:pPr eaLnBrk="1" hangingPunct="1"/>
            <a:r>
              <a:rPr lang="en-US" altLang="en-US" sz="2400" smtClean="0"/>
              <a:t>Superclasses can represent different entity types </a:t>
            </a:r>
          </a:p>
          <a:p>
            <a:pPr eaLnBrk="1" hangingPunct="1"/>
            <a:r>
              <a:rPr lang="en-US" altLang="en-US" sz="2400" smtClean="0"/>
              <a:t>Such a subclass is called a category or UNION TYPE </a:t>
            </a:r>
          </a:p>
        </p:txBody>
      </p:sp>
    </p:spTree>
    <p:extLst>
      <p:ext uri="{BB962C8B-B14F-4D97-AF65-F5344CB8AC3E}">
        <p14:creationId xmlns:p14="http://schemas.microsoft.com/office/powerpoint/2010/main" val="366300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Categories (UNION TYPES) (2)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/>
              <a:t>Example: In a database for vehicle registration, a vehicle owner can be a PERSON, a BANK (holding a lien on a vehicle) or a COMPANY.</a:t>
            </a:r>
          </a:p>
          <a:p>
            <a:pPr lvl="1" eaLnBrk="1" hangingPunct="1"/>
            <a:r>
              <a:rPr lang="en-US" altLang="en-US" sz="2200" dirty="0" smtClean="0"/>
              <a:t>A </a:t>
            </a:r>
            <a:r>
              <a:rPr lang="en-US" altLang="en-US" sz="2200" i="1" dirty="0" smtClean="0"/>
              <a:t>category</a:t>
            </a:r>
            <a:r>
              <a:rPr lang="en-US" altLang="en-US" sz="2200" dirty="0" smtClean="0"/>
              <a:t> (UNION type) called OWNER is created to represent a subset of the </a:t>
            </a:r>
            <a:r>
              <a:rPr lang="en-US" altLang="en-US" sz="2200" i="1" dirty="0" smtClean="0"/>
              <a:t>union</a:t>
            </a:r>
            <a:r>
              <a:rPr lang="en-US" altLang="en-US" sz="2200" dirty="0" smtClean="0"/>
              <a:t> of the three </a:t>
            </a:r>
            <a:r>
              <a:rPr lang="en-US" altLang="en-US" sz="2200" dirty="0" err="1" smtClean="0"/>
              <a:t>superclasses</a:t>
            </a:r>
            <a:r>
              <a:rPr lang="en-US" altLang="en-US" sz="2200" dirty="0" smtClean="0"/>
              <a:t> COMPANY, BANK, and PERSON </a:t>
            </a:r>
          </a:p>
          <a:p>
            <a:pPr lvl="1" eaLnBrk="1" hangingPunct="1"/>
            <a:r>
              <a:rPr lang="en-US" altLang="en-US" sz="2200" dirty="0" smtClean="0"/>
              <a:t>A category member must exist in </a:t>
            </a:r>
            <a:r>
              <a:rPr lang="en-US" altLang="en-US" sz="2200" b="1" i="1" dirty="0" smtClean="0"/>
              <a:t>at least one</a:t>
            </a:r>
            <a:r>
              <a:rPr lang="en-US" altLang="en-US" sz="2200" dirty="0" smtClean="0"/>
              <a:t> </a:t>
            </a:r>
            <a:r>
              <a:rPr lang="en-US" altLang="en-US" sz="2200" b="1" i="1" dirty="0" smtClean="0"/>
              <a:t>(typically just one)</a:t>
            </a:r>
            <a:r>
              <a:rPr lang="en-US" altLang="en-US" sz="2200" dirty="0" smtClean="0"/>
              <a:t> of its </a:t>
            </a:r>
            <a:r>
              <a:rPr lang="en-US" altLang="en-US" sz="2200" dirty="0" err="1" smtClean="0"/>
              <a:t>superclasses</a:t>
            </a:r>
            <a:endParaRPr lang="en-US" altLang="en-US" sz="2200" dirty="0" smtClean="0"/>
          </a:p>
          <a:p>
            <a:pPr eaLnBrk="1" hangingPunct="1"/>
            <a:r>
              <a:rPr lang="en-US" altLang="en-US" sz="2400" dirty="0" smtClean="0"/>
              <a:t>Difference from </a:t>
            </a:r>
            <a:r>
              <a:rPr lang="en-US" altLang="en-US" sz="2400" i="1" dirty="0" smtClean="0"/>
              <a:t>shared subclass</a:t>
            </a:r>
            <a:r>
              <a:rPr lang="en-US" altLang="en-US" sz="2400" dirty="0" smtClean="0"/>
              <a:t>, which is a:</a:t>
            </a:r>
            <a:endParaRPr lang="en-US" altLang="en-US" sz="2400" i="1" dirty="0" smtClean="0"/>
          </a:p>
          <a:p>
            <a:pPr lvl="1" eaLnBrk="1" hangingPunct="1"/>
            <a:r>
              <a:rPr lang="en-US" altLang="en-US" sz="2200" dirty="0" smtClean="0"/>
              <a:t>subset of the </a:t>
            </a:r>
            <a:r>
              <a:rPr lang="en-US" altLang="en-US" sz="2200" i="1" dirty="0" smtClean="0"/>
              <a:t>intersection</a:t>
            </a:r>
            <a:r>
              <a:rPr lang="en-US" altLang="en-US" sz="2200" dirty="0" smtClean="0"/>
              <a:t> of its </a:t>
            </a:r>
            <a:r>
              <a:rPr lang="en-US" altLang="en-US" sz="2200" dirty="0" err="1" smtClean="0"/>
              <a:t>superclasses</a:t>
            </a:r>
            <a:endParaRPr lang="en-US" altLang="en-US" sz="2200" dirty="0" smtClean="0"/>
          </a:p>
          <a:p>
            <a:pPr lvl="1" eaLnBrk="1" hangingPunct="1"/>
            <a:r>
              <a:rPr lang="en-US" altLang="en-US" sz="2200" dirty="0" smtClean="0"/>
              <a:t>shared subclass member must exist in </a:t>
            </a:r>
            <a:r>
              <a:rPr lang="en-US" altLang="en-US" sz="2200" b="1" i="1" dirty="0" smtClean="0"/>
              <a:t>all</a:t>
            </a:r>
            <a:r>
              <a:rPr lang="en-US" altLang="en-US" sz="2200" dirty="0" smtClean="0"/>
              <a:t> of its </a:t>
            </a:r>
            <a:r>
              <a:rPr lang="en-US" altLang="en-US" sz="2200" dirty="0" err="1" smtClean="0"/>
              <a:t>superclasses</a:t>
            </a:r>
            <a:endParaRPr lang="en-US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86785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Two categories (UNION types): OWNER, REGISTERED_VEHICLE</a:t>
            </a:r>
          </a:p>
        </p:txBody>
      </p:sp>
      <p:pic>
        <p:nvPicPr>
          <p:cNvPr id="82947" name="Picture 7" descr="fig04_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4748213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94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Alternative diagrammatic notations</a:t>
            </a:r>
          </a:p>
        </p:txBody>
      </p:sp>
      <p:sp>
        <p:nvSpPr>
          <p:cNvPr id="931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ER/EER diagrams are a specific notation for displaying the concepts of the model diagrammatically</a:t>
            </a:r>
          </a:p>
          <a:p>
            <a:pPr eaLnBrk="1" hangingPunct="1"/>
            <a:r>
              <a:rPr lang="en-US" altLang="en-US" smtClean="0"/>
              <a:t>DB design tools use many alternative notations for the same or similar concepts</a:t>
            </a:r>
          </a:p>
          <a:p>
            <a:pPr eaLnBrk="1" hangingPunct="1"/>
            <a:r>
              <a:rPr lang="en-US" altLang="en-US" smtClean="0"/>
              <a:t>One popular alternative notation uses </a:t>
            </a:r>
            <a:r>
              <a:rPr lang="en-US" altLang="en-US" i="1" smtClean="0"/>
              <a:t>UML class diagrams</a:t>
            </a:r>
          </a:p>
          <a:p>
            <a:pPr eaLnBrk="1" hangingPunct="1"/>
            <a:r>
              <a:rPr lang="en-US" altLang="en-US" smtClean="0"/>
              <a:t>see next slides for UML class diagrams and other alternative notations</a:t>
            </a:r>
          </a:p>
        </p:txBody>
      </p:sp>
    </p:spTree>
    <p:extLst>
      <p:ext uri="{BB962C8B-B14F-4D97-AF65-F5344CB8AC3E}">
        <p14:creationId xmlns:p14="http://schemas.microsoft.com/office/powerpoint/2010/main" val="27396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UML Example for Displaying Specialization / Generalization</a:t>
            </a:r>
          </a:p>
        </p:txBody>
      </p:sp>
      <p:pic>
        <p:nvPicPr>
          <p:cNvPr id="94211" name="Picture 7" descr="fig04_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1590675"/>
            <a:ext cx="4645025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61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Alternative Diagrammatic Notations</a:t>
            </a:r>
          </a:p>
        </p:txBody>
      </p:sp>
      <p:pic>
        <p:nvPicPr>
          <p:cNvPr id="96259" name="Picture 16" descr="figA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1524000"/>
            <a:ext cx="4041775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850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7488</TotalTime>
  <Words>1480</Words>
  <Application>Microsoft Office PowerPoint</Application>
  <PresentationFormat>On-screen Show (4:3)</PresentationFormat>
  <Paragraphs>185</Paragraphs>
  <Slides>32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EER Modeling</vt:lpstr>
      <vt:lpstr>Subclasses and Superclasses (1)</vt:lpstr>
      <vt:lpstr>Subclasses and Superclasses (2)</vt:lpstr>
      <vt:lpstr>Subclasses and Superclasses (3)</vt:lpstr>
      <vt:lpstr>Subclasses and Superclasses (4)</vt:lpstr>
      <vt:lpstr>Representing Specialization in EER Diagrams</vt:lpstr>
      <vt:lpstr>Attribute Inheritance in Superclass / Subclass Relationships </vt:lpstr>
      <vt:lpstr>Specialization (1)</vt:lpstr>
      <vt:lpstr>Specialization (2)</vt:lpstr>
      <vt:lpstr>PowerPoint Presentation</vt:lpstr>
      <vt:lpstr>Generalization</vt:lpstr>
      <vt:lpstr>PowerPoint Presentation</vt:lpstr>
      <vt:lpstr>Generalization and Specialization  </vt:lpstr>
      <vt:lpstr>Types of Specialization</vt:lpstr>
      <vt:lpstr>Displaying an attribute-defined specialization in EER diagrams</vt:lpstr>
      <vt:lpstr>Constraints on Specialization and Generalization</vt:lpstr>
      <vt:lpstr>Constraints on Specialization and Generalization</vt:lpstr>
      <vt:lpstr>Example of disjoint partial Specialization</vt:lpstr>
      <vt:lpstr>PowerPoint Presentation</vt:lpstr>
      <vt:lpstr>PowerPoint Presentation</vt:lpstr>
      <vt:lpstr>PowerPoint Presentation</vt:lpstr>
      <vt:lpstr>Specialization/Generalization Hierarchies, Lattices &amp; Shared Subclasses (1)</vt:lpstr>
      <vt:lpstr>PowerPoint Presentation</vt:lpstr>
      <vt:lpstr>Specialization/Generalization Hierarchies, Lattices &amp; Shared Subclasses (2)</vt:lpstr>
      <vt:lpstr>Specialization/Generalization Hierarchies, Lattices &amp; Shared Subclasses (3)</vt:lpstr>
      <vt:lpstr>Specialization / Generalization Lattice Example (UNIVERSITY)</vt:lpstr>
      <vt:lpstr>Categories (UNION TYPES) (1)</vt:lpstr>
      <vt:lpstr>Categories (UNION TYPES) (2)</vt:lpstr>
      <vt:lpstr>Two categories (UNION types): OWNER, REGISTERED_VEHICLE</vt:lpstr>
      <vt:lpstr>Alternative diagrammatic notations</vt:lpstr>
      <vt:lpstr>UML Example for Displaying Specialization / Generalization</vt:lpstr>
      <vt:lpstr>Alternative Diagrammatic Notations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1- Introduction </dc:title>
  <cp:lastModifiedBy>Sampath Jayarathna</cp:lastModifiedBy>
  <cp:revision>161</cp:revision>
  <dcterms:created xsi:type="dcterms:W3CDTF">2009-12-29T10:39:27Z</dcterms:created>
  <dcterms:modified xsi:type="dcterms:W3CDTF">2018-01-22T20:25:08Z</dcterms:modified>
</cp:coreProperties>
</file>