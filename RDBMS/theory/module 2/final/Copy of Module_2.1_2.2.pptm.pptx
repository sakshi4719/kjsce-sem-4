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y="6858000" cx="12192000"/>
  <p:notesSz cx="6858000" cy="9144000"/>
  <p:embeddedFontLst>
    <p:embeddedFont>
      <p:font typeface="Nunito"/>
      <p:regular r:id="rId82"/>
      <p:bold r:id="rId83"/>
      <p:italic r:id="rId84"/>
      <p:boldItalic r:id="rId85"/>
    </p:embeddedFont>
    <p:embeddedFont>
      <p:font typeface="Poppins"/>
      <p:regular r:id="rId86"/>
      <p:bold r:id="rId87"/>
      <p:italic r:id="rId88"/>
      <p:boldItalic r:id="rId89"/>
    </p:embeddedFont>
    <p:embeddedFont>
      <p:font typeface="Tahoma"/>
      <p:regular r:id="rId90"/>
      <p:bold r:id="rId91"/>
    </p:embeddedFont>
    <p:embeddedFont>
      <p:font typeface="Noto Sans Symbols"/>
      <p:regular r:id="rId92"/>
      <p:bold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Nunito-italic.fntdata"/><Relationship Id="rId83" Type="http://schemas.openxmlformats.org/officeDocument/2006/relationships/font" Target="fonts/Nunito-bold.fntdata"/><Relationship Id="rId42" Type="http://schemas.openxmlformats.org/officeDocument/2006/relationships/slide" Target="slides/slide37.xml"/><Relationship Id="rId86" Type="http://schemas.openxmlformats.org/officeDocument/2006/relationships/font" Target="fonts/Poppins-regular.fntdata"/><Relationship Id="rId41" Type="http://schemas.openxmlformats.org/officeDocument/2006/relationships/slide" Target="slides/slide36.xml"/><Relationship Id="rId85" Type="http://schemas.openxmlformats.org/officeDocument/2006/relationships/font" Target="fonts/Nunito-boldItalic.fntdata"/><Relationship Id="rId44" Type="http://schemas.openxmlformats.org/officeDocument/2006/relationships/slide" Target="slides/slide39.xml"/><Relationship Id="rId88" Type="http://schemas.openxmlformats.org/officeDocument/2006/relationships/font" Target="fonts/Poppins-italic.fntdata"/><Relationship Id="rId43" Type="http://schemas.openxmlformats.org/officeDocument/2006/relationships/slide" Target="slides/slide38.xml"/><Relationship Id="rId87" Type="http://schemas.openxmlformats.org/officeDocument/2006/relationships/font" Target="fonts/Poppins-bold.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Poppins-boldItalic.fntdata"/><Relationship Id="rId80" Type="http://schemas.openxmlformats.org/officeDocument/2006/relationships/slide" Target="slides/slide75.xml"/><Relationship Id="rId82" Type="http://schemas.openxmlformats.org/officeDocument/2006/relationships/font" Target="fonts/Nunito-regular.fntdata"/><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Tahoma-bold.fntdata"/><Relationship Id="rId90" Type="http://schemas.openxmlformats.org/officeDocument/2006/relationships/font" Target="fonts/Tahoma-regular.fntdata"/><Relationship Id="rId93" Type="http://schemas.openxmlformats.org/officeDocument/2006/relationships/font" Target="fonts/NotoSansSymbols-bold.fntdata"/><Relationship Id="rId92" Type="http://schemas.openxmlformats.org/officeDocument/2006/relationships/font" Target="fonts/NotoSansSymbols-regular.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5: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43" name="Google Shape;243;p25:notes"/>
          <p:cNvSpPr/>
          <p:nvPr>
            <p:ph idx="2" type="sldImg"/>
          </p:nvPr>
        </p:nvSpPr>
        <p:spPr>
          <a:xfrm>
            <a:off x="533400" y="754063"/>
            <a:ext cx="67056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50" name="Google Shape;250;p26:notes"/>
          <p:cNvSpPr/>
          <p:nvPr>
            <p:ph idx="2" type="sldImg"/>
          </p:nvPr>
        </p:nvSpPr>
        <p:spPr>
          <a:xfrm>
            <a:off x="533400" y="754063"/>
            <a:ext cx="67056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57" name="Google Shape;257;p27:notes"/>
          <p:cNvSpPr/>
          <p:nvPr>
            <p:ph idx="2" type="sldImg"/>
          </p:nvPr>
        </p:nvSpPr>
        <p:spPr>
          <a:xfrm>
            <a:off x="533400" y="754063"/>
            <a:ext cx="67056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40" name="Google Shape;34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48" name="Google Shape;34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56" name="Google Shape;35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64" name="Google Shape;36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81" name="Google Shape;38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89" name="Google Shape;38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99" name="Google Shape;39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407" name="Google Shape;40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28" name="Google Shape;42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37" name="Google Shape;437;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45" name="Google Shape;44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53" name="Google Shape;453;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79" name="Google Shape;47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87" name="Google Shape;487;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5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95" name="Google Shape;495;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6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03" name="Google Shape;503;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6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11" name="Google Shape;511;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6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19" name="Google Shape;519;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6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27" name="Google Shape;527;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6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35" name="Google Shape;535;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6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43" name="Google Shape;543;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6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51" name="Google Shape;551;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6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59" name="Google Shape;559;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6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67" name="Google Shape;567;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6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75" name="Google Shape;575;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7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83" name="Google Shape;583;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91" name="Google Shape;591;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7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98" name="Google Shape;598;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7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606" name="Google Shape;606;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7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614" name="Google Shape;614;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22" name="Google Shape;622;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29" name="Google Shape;629;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5.png"/><Relationship Id="rId4" Type="http://schemas.openxmlformats.org/officeDocument/2006/relationships/image" Target="../media/image50.png"/><Relationship Id="rId5" Type="http://schemas.openxmlformats.org/officeDocument/2006/relationships/image" Target="../media/image33.png"/><Relationship Id="rId6"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1.png"/><Relationship Id="rId4" Type="http://schemas.openxmlformats.org/officeDocument/2006/relationships/image" Target="../media/image45.png"/><Relationship Id="rId5"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3.png"/><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9.png"/><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4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5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4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Calibri"/>
              <a:buNone/>
            </a:pPr>
            <a:r>
              <a:rPr b="1" lang="en-US" sz="4400"/>
              <a:t>Relational Database</a:t>
            </a:r>
            <a:br>
              <a:rPr b="1" lang="en-US" sz="4400"/>
            </a:br>
            <a:r>
              <a:rPr b="1" lang="en-US" sz="4400"/>
              <a:t>Management System</a:t>
            </a:r>
            <a:br>
              <a:rPr b="1" lang="en-US" sz="4400"/>
            </a:br>
            <a:r>
              <a:rPr b="1" lang="en-US" sz="4400"/>
              <a:t>116U01C403</a:t>
            </a:r>
            <a:br>
              <a:rPr b="1" lang="en-US" sz="3200"/>
            </a:br>
            <a:endParaRPr b="1" sz="3200"/>
          </a:p>
        </p:txBody>
      </p:sp>
      <p:sp>
        <p:nvSpPr>
          <p:cNvPr id="89" name="Google Shape;89;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2400"/>
              <a:t>Module 2 .1 &amp; 2.2</a:t>
            </a:r>
            <a:br>
              <a:rPr lang="en-US" sz="2400"/>
            </a:br>
            <a:r>
              <a:rPr lang="en-US" sz="2400"/>
              <a:t>Jan 2024-May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lang="en-US">
                <a:solidFill>
                  <a:schemeClr val="accent1"/>
                </a:solidFill>
              </a:rPr>
              <a:t>Data Modeling: Enhanced-Entity-Relationship Model and Relational Data Model</a:t>
            </a:r>
            <a:endParaRPr/>
          </a:p>
        </p:txBody>
      </p:sp>
      <p:sp>
        <p:nvSpPr>
          <p:cNvPr id="95" name="Google Shape;9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Introduction, Benefits of Data Modeling, Types of Models, Phases of Database Modeling, The Entity-Relationship (ER) Model</a:t>
            </a:r>
            <a:endParaRPr/>
          </a:p>
          <a:p>
            <a:pPr indent="-228600" lvl="0" marL="228600" rtl="0" algn="l">
              <a:lnSpc>
                <a:spcPct val="90000"/>
              </a:lnSpc>
              <a:spcBef>
                <a:spcPts val="1000"/>
              </a:spcBef>
              <a:spcAft>
                <a:spcPts val="0"/>
              </a:spcAft>
              <a:buClr>
                <a:schemeClr val="dk1"/>
              </a:buClr>
              <a:buSzPts val="2800"/>
              <a:buChar char="•"/>
            </a:pPr>
            <a:r>
              <a:rPr lang="en-US"/>
              <a:t>Enhanced -Entity-Relationship (EER)- Model Generalization, Specialization and Aggregation</a:t>
            </a:r>
            <a:endParaRPr/>
          </a:p>
          <a:p>
            <a:pPr indent="-228600" lvl="0" marL="228600" rtl="0" algn="l">
              <a:lnSpc>
                <a:spcPct val="90000"/>
              </a:lnSpc>
              <a:spcBef>
                <a:spcPts val="1000"/>
              </a:spcBef>
              <a:spcAft>
                <a:spcPts val="0"/>
              </a:spcAft>
              <a:buClr>
                <a:schemeClr val="dk1"/>
              </a:buClr>
              <a:buSzPts val="2800"/>
              <a:buChar char="•"/>
            </a:pPr>
            <a:r>
              <a:rPr lang="en-US"/>
              <a:t>Relational Model: Introduction, Data Manipulation, Data Integrity, Advantages of the Relational Model</a:t>
            </a:r>
            <a:endParaRPr/>
          </a:p>
          <a:p>
            <a:pPr indent="-228600" lvl="0" marL="228600" rtl="0" algn="l">
              <a:lnSpc>
                <a:spcPct val="90000"/>
              </a:lnSpc>
              <a:spcBef>
                <a:spcPts val="1000"/>
              </a:spcBef>
              <a:spcAft>
                <a:spcPts val="0"/>
              </a:spcAft>
              <a:buClr>
                <a:schemeClr val="dk1"/>
              </a:buClr>
              <a:buSzPts val="2800"/>
              <a:buChar char="•"/>
            </a:pPr>
            <a:r>
              <a:rPr lang="en-US"/>
              <a:t>Mapping EER Model to Relational 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lang="en-US">
                <a:solidFill>
                  <a:schemeClr val="accent1"/>
                </a:solidFill>
              </a:rPr>
              <a:t>Overview of Database Design Process</a:t>
            </a:r>
            <a:endParaRPr/>
          </a:p>
        </p:txBody>
      </p:sp>
      <p:sp>
        <p:nvSpPr>
          <p:cNvPr id="101" name="Google Shape;10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Two main activities:</a:t>
            </a:r>
            <a:endParaRPr/>
          </a:p>
          <a:p>
            <a:pPr indent="-228600" lvl="0" marL="228600" rtl="0" algn="l">
              <a:lnSpc>
                <a:spcPct val="90000"/>
              </a:lnSpc>
              <a:spcBef>
                <a:spcPts val="1000"/>
              </a:spcBef>
              <a:spcAft>
                <a:spcPts val="0"/>
              </a:spcAft>
              <a:buClr>
                <a:schemeClr val="dk1"/>
              </a:buClr>
              <a:buSzPts val="2800"/>
              <a:buChar char="•"/>
            </a:pPr>
            <a:r>
              <a:rPr lang="en-US"/>
              <a:t>Database design:</a:t>
            </a:r>
            <a:endParaRPr/>
          </a:p>
          <a:p>
            <a:pPr indent="-228600" lvl="0" marL="228600" rtl="0" algn="l">
              <a:lnSpc>
                <a:spcPct val="90000"/>
              </a:lnSpc>
              <a:spcBef>
                <a:spcPts val="1000"/>
              </a:spcBef>
              <a:spcAft>
                <a:spcPts val="0"/>
              </a:spcAft>
              <a:buClr>
                <a:schemeClr val="dk1"/>
              </a:buClr>
              <a:buSzPts val="2800"/>
              <a:buChar char="•"/>
            </a:pPr>
            <a:r>
              <a:rPr lang="en-US"/>
              <a:t>To design the conceptual schema for a database application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Applications design:</a:t>
            </a:r>
            <a:endParaRPr/>
          </a:p>
          <a:p>
            <a:pPr indent="-228600" lvl="0" marL="228600" rtl="0" algn="l">
              <a:lnSpc>
                <a:spcPct val="90000"/>
              </a:lnSpc>
              <a:spcBef>
                <a:spcPts val="1000"/>
              </a:spcBef>
              <a:spcAft>
                <a:spcPts val="0"/>
              </a:spcAft>
              <a:buClr>
                <a:schemeClr val="dk1"/>
              </a:buClr>
              <a:buSzPts val="2800"/>
              <a:buChar char="•"/>
            </a:pPr>
            <a:r>
              <a:rPr lang="en-US"/>
              <a:t>To focus on the programs and interfaces that access the database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Calibri"/>
              <a:buNone/>
            </a:pPr>
            <a:r>
              <a:rPr lang="en-US" sz="3600">
                <a:solidFill>
                  <a:schemeClr val="accent1"/>
                </a:solidFill>
              </a:rPr>
              <a:t>Database design process</a:t>
            </a:r>
            <a:endParaRPr/>
          </a:p>
        </p:txBody>
      </p:sp>
      <p:sp>
        <p:nvSpPr>
          <p:cNvPr id="107" name="Google Shape;10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08" name="Google Shape;108;p16"/>
          <p:cNvPicPr preferRelativeResize="0"/>
          <p:nvPr/>
        </p:nvPicPr>
        <p:blipFill rotWithShape="1">
          <a:blip r:embed="rId3">
            <a:alphaModFix/>
          </a:blip>
          <a:srcRect b="0" l="0" r="0" t="0"/>
          <a:stretch/>
        </p:blipFill>
        <p:spPr>
          <a:xfrm>
            <a:off x="5717750" y="0"/>
            <a:ext cx="5962972" cy="65420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2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831273" y="365126"/>
            <a:ext cx="10522527" cy="53542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lang="en-US">
                <a:solidFill>
                  <a:schemeClr val="accent1"/>
                </a:solidFill>
              </a:rPr>
              <a:t>ER Model (Entity Relational Model)</a:t>
            </a:r>
            <a:endParaRPr/>
          </a:p>
        </p:txBody>
      </p:sp>
      <p:sp>
        <p:nvSpPr>
          <p:cNvPr id="114" name="Google Shape;114;p17"/>
          <p:cNvSpPr txBox="1"/>
          <p:nvPr>
            <p:ph idx="1" type="body"/>
          </p:nvPr>
        </p:nvSpPr>
        <p:spPr>
          <a:xfrm>
            <a:off x="706582" y="1122218"/>
            <a:ext cx="10647218" cy="5054745"/>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273239"/>
              </a:buClr>
              <a:buSzPct val="100000"/>
              <a:buChar char="•"/>
            </a:pPr>
            <a:r>
              <a:rPr b="0" i="0" lang="en-US">
                <a:solidFill>
                  <a:srgbClr val="273239"/>
                </a:solidFill>
                <a:latin typeface="Nunito"/>
                <a:ea typeface="Nunito"/>
                <a:cs typeface="Nunito"/>
                <a:sym typeface="Nunito"/>
              </a:rPr>
              <a:t>The Entity Relational Model is a model for identifying entities to be represented in the database and representation of how those entities are related. </a:t>
            </a:r>
            <a:endParaRPr/>
          </a:p>
          <a:p>
            <a:pPr indent="-228600" lvl="0" marL="228600" rtl="0" algn="l">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The ER data model specifies enterprise schema that represents the overall logical structure of a database graphically. </a:t>
            </a:r>
            <a:endParaRPr/>
          </a:p>
          <a:p>
            <a:pPr indent="-77470" lvl="0" marL="228600" rtl="0" algn="l">
              <a:lnSpc>
                <a:spcPct val="90000"/>
              </a:lnSpc>
              <a:spcBef>
                <a:spcPts val="1000"/>
              </a:spcBef>
              <a:spcAft>
                <a:spcPts val="0"/>
              </a:spcAft>
              <a:buClr>
                <a:schemeClr val="dk1"/>
              </a:buClr>
              <a:buSzPct val="100000"/>
              <a:buNone/>
            </a:pPr>
            <a:r>
              <a:t/>
            </a:r>
            <a:endParaRPr b="1" i="0">
              <a:solidFill>
                <a:srgbClr val="273239"/>
              </a:solidFill>
              <a:latin typeface="Nunito"/>
              <a:ea typeface="Nunito"/>
              <a:cs typeface="Nunito"/>
              <a:sym typeface="Nunito"/>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Why Use ER Diagrams In DBMS?</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ER diagrams are used to represent the E-R model in a database, which makes them easy to be converted into relations (tables).</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ER diagrams provide the purpose of real-world modeling of objects which makes them intently useful.</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ER diagrams require no technical knowledge and no hardware support.</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These diagrams are very easy to understand and easy to create even for a naive user. </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It gives a standard solution for visualizing the data logically.</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1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1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1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1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1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1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1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1000"/>
                                        <p:tgtEl>
                                          <p:spTgt spid="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animEffect filter="fade" transition="in">
                                      <p:cBhvr>
                                        <p:cTn dur="1000"/>
                                        <p:tgtEl>
                                          <p:spTgt spid="1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9" st="9"/>
                                            </p:txEl>
                                          </p:spTgt>
                                        </p:tgtEl>
                                        <p:attrNameLst>
                                          <p:attrName>style.visibility</p:attrName>
                                        </p:attrNameLst>
                                      </p:cBhvr>
                                      <p:to>
                                        <p:strVal val="visible"/>
                                      </p:to>
                                    </p:set>
                                    <p:animEffect filter="fade" transition="in">
                                      <p:cBhvr>
                                        <p:cTn dur="1000"/>
                                        <p:tgtEl>
                                          <p:spTgt spid="11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idx="1" type="body"/>
          </p:nvPr>
        </p:nvSpPr>
        <p:spPr>
          <a:xfrm>
            <a:off x="838200" y="512618"/>
            <a:ext cx="5181600" cy="566434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273239"/>
              </a:buClr>
              <a:buSzPct val="100000"/>
              <a:buChar char="•"/>
            </a:pPr>
            <a:r>
              <a:rPr b="1" i="0" lang="en-US">
                <a:solidFill>
                  <a:srgbClr val="273239"/>
                </a:solidFill>
                <a:latin typeface="Nunito"/>
                <a:ea typeface="Nunito"/>
                <a:cs typeface="Nunito"/>
                <a:sym typeface="Nunito"/>
              </a:rPr>
              <a:t>Entity</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Entity may be an object with a physical existence – a particular person, car, house, or employee – or it may be an object with a conceptual existence – a company, a job, or a university course. </a:t>
            </a:r>
            <a:endParaRPr/>
          </a:p>
          <a:p>
            <a:pPr indent="-64135" lvl="0" marL="228600" rtl="0" algn="just">
              <a:lnSpc>
                <a:spcPct val="90000"/>
              </a:lnSpc>
              <a:spcBef>
                <a:spcPts val="1000"/>
              </a:spcBef>
              <a:spcAft>
                <a:spcPts val="0"/>
              </a:spcAft>
              <a:buClr>
                <a:schemeClr val="dk1"/>
              </a:buClr>
              <a:buSzPct val="100000"/>
              <a:buNone/>
            </a:pPr>
            <a:r>
              <a:t/>
            </a:r>
            <a:endParaRPr b="1" i="0">
              <a:solidFill>
                <a:srgbClr val="273239"/>
              </a:solidFill>
              <a:latin typeface="Nunito"/>
              <a:ea typeface="Nunito"/>
              <a:cs typeface="Nunito"/>
              <a:sym typeface="Nunito"/>
            </a:endParaRPr>
          </a:p>
          <a:p>
            <a:pPr indent="-228600" lvl="0" marL="228600" rtl="0" algn="just">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Entity Set:</a:t>
            </a:r>
            <a:r>
              <a:rPr b="0" i="0" lang="en-US">
                <a:solidFill>
                  <a:srgbClr val="273239"/>
                </a:solidFill>
                <a:latin typeface="Nunito"/>
                <a:ea typeface="Nunito"/>
                <a:cs typeface="Nunito"/>
                <a:sym typeface="Nunito"/>
              </a:rPr>
              <a:t> An Entity is an object of Entity Type and a set of all entities is called an entity set. For Example, E1 is an entity having Entity Type Student and the set of all students is called Entity Set.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Entity Set" id="120" name="Google Shape;120;p18"/>
          <p:cNvPicPr preferRelativeResize="0"/>
          <p:nvPr/>
        </p:nvPicPr>
        <p:blipFill rotWithShape="1">
          <a:blip r:embed="rId3">
            <a:alphaModFix/>
          </a:blip>
          <a:srcRect b="0" l="0" r="0" t="0"/>
          <a:stretch/>
        </p:blipFill>
        <p:spPr>
          <a:xfrm>
            <a:off x="7274935" y="904875"/>
            <a:ext cx="2352675" cy="4133850"/>
          </a:xfrm>
          <a:prstGeom prst="rect">
            <a:avLst/>
          </a:prstGeom>
          <a:noFill/>
          <a:ln>
            <a:noFill/>
          </a:ln>
        </p:spPr>
      </p:pic>
      <p:pic>
        <p:nvPicPr>
          <p:cNvPr id="121" name="Google Shape;121;p18"/>
          <p:cNvPicPr preferRelativeResize="0"/>
          <p:nvPr/>
        </p:nvPicPr>
        <p:blipFill rotWithShape="1">
          <a:blip r:embed="rId4">
            <a:alphaModFix/>
          </a:blip>
          <a:srcRect b="0" l="0" r="0" t="0"/>
          <a:stretch/>
        </p:blipFill>
        <p:spPr>
          <a:xfrm>
            <a:off x="2926311" y="5862593"/>
            <a:ext cx="7747857" cy="7151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10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838200" y="365125"/>
            <a:ext cx="10515600" cy="50771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73239"/>
              </a:buClr>
              <a:buSzPct val="100000"/>
              <a:buFont typeface="Nunito"/>
              <a:buNone/>
            </a:pPr>
            <a:r>
              <a:rPr b="1" i="0" lang="en-US">
                <a:solidFill>
                  <a:srgbClr val="273239"/>
                </a:solidFill>
                <a:latin typeface="Nunito"/>
                <a:ea typeface="Nunito"/>
                <a:cs typeface="Nunito"/>
                <a:sym typeface="Nunito"/>
              </a:rPr>
              <a:t>Symbols Used in ER Model</a:t>
            </a:r>
            <a:endParaRPr/>
          </a:p>
        </p:txBody>
      </p:sp>
      <p:pic>
        <p:nvPicPr>
          <p:cNvPr id="127" name="Google Shape;127;p19"/>
          <p:cNvPicPr preferRelativeResize="0"/>
          <p:nvPr/>
        </p:nvPicPr>
        <p:blipFill rotWithShape="1">
          <a:blip r:embed="rId3">
            <a:alphaModFix/>
          </a:blip>
          <a:srcRect b="3441" l="0" r="40595" t="-3441"/>
          <a:stretch/>
        </p:blipFill>
        <p:spPr>
          <a:xfrm>
            <a:off x="2567256" y="572294"/>
            <a:ext cx="4939674" cy="60938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Components of ER Model</a:t>
            </a:r>
            <a:endParaRPr/>
          </a:p>
        </p:txBody>
      </p:sp>
      <p:sp>
        <p:nvSpPr>
          <p:cNvPr id="133" name="Google Shape;13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34" name="Google Shape;134;p20"/>
          <p:cNvPicPr preferRelativeResize="0"/>
          <p:nvPr/>
        </p:nvPicPr>
        <p:blipFill rotWithShape="1">
          <a:blip r:embed="rId3">
            <a:alphaModFix/>
          </a:blip>
          <a:srcRect b="0" l="0" r="0" t="0"/>
          <a:stretch/>
        </p:blipFill>
        <p:spPr>
          <a:xfrm>
            <a:off x="838200" y="1824806"/>
            <a:ext cx="9824435" cy="386325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1" type="body"/>
          </p:nvPr>
        </p:nvSpPr>
        <p:spPr>
          <a:xfrm>
            <a:off x="609600" y="415637"/>
            <a:ext cx="10661073" cy="56504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73239"/>
              </a:buClr>
              <a:buSzPts val="2000"/>
              <a:buChar char="•"/>
            </a:pPr>
            <a:r>
              <a:rPr b="1" i="0" lang="en-US" sz="2000">
                <a:solidFill>
                  <a:srgbClr val="273239"/>
                </a:solidFill>
                <a:latin typeface="Nunito"/>
                <a:ea typeface="Nunito"/>
                <a:cs typeface="Nunito"/>
                <a:sym typeface="Nunito"/>
              </a:rPr>
              <a:t>1. Strong Entity</a:t>
            </a:r>
            <a:endParaRPr/>
          </a:p>
          <a:p>
            <a:pPr indent="-228600" lvl="0" marL="228600" rtl="0" algn="just">
              <a:lnSpc>
                <a:spcPct val="90000"/>
              </a:lnSpc>
              <a:spcBef>
                <a:spcPts val="1000"/>
              </a:spcBef>
              <a:spcAft>
                <a:spcPts val="0"/>
              </a:spcAft>
              <a:buClr>
                <a:srgbClr val="273239"/>
              </a:buClr>
              <a:buSzPts val="2000"/>
              <a:buChar char="•"/>
            </a:pPr>
            <a:r>
              <a:rPr b="0" i="0" lang="en-US" sz="2000">
                <a:solidFill>
                  <a:srgbClr val="273239"/>
                </a:solidFill>
                <a:latin typeface="Nunito"/>
                <a:ea typeface="Nunito"/>
                <a:cs typeface="Nunito"/>
                <a:sym typeface="Nunito"/>
              </a:rPr>
              <a:t>A </a:t>
            </a:r>
            <a:r>
              <a:rPr b="0" i="0" lang="en-US" sz="2000" u="sng">
                <a:solidFill>
                  <a:srgbClr val="273239"/>
                </a:solidFill>
                <a:latin typeface="Nunito"/>
                <a:ea typeface="Nunito"/>
                <a:cs typeface="Nunito"/>
                <a:sym typeface="Nunito"/>
              </a:rPr>
              <a:t>Strong Entity</a:t>
            </a:r>
            <a:r>
              <a:rPr b="0" i="0" lang="en-US" sz="2000">
                <a:solidFill>
                  <a:srgbClr val="273239"/>
                </a:solidFill>
                <a:latin typeface="Nunito"/>
                <a:ea typeface="Nunito"/>
                <a:cs typeface="Nunito"/>
                <a:sym typeface="Nunito"/>
              </a:rPr>
              <a:t> is a type of entity that has a key Attribute. Strong Entity does not depend on other Entity in the Schema. It has a primary key, that helps in identifying it uniquely, and it is represented by a rectangle. These are called Strong Entity Types.</a:t>
            </a:r>
            <a:endParaRPr/>
          </a:p>
          <a:p>
            <a:pPr indent="-228600" lvl="0" marL="228600" rtl="0" algn="l">
              <a:lnSpc>
                <a:spcPct val="90000"/>
              </a:lnSpc>
              <a:spcBef>
                <a:spcPts val="1000"/>
              </a:spcBef>
              <a:spcAft>
                <a:spcPts val="0"/>
              </a:spcAft>
              <a:buClr>
                <a:srgbClr val="273239"/>
              </a:buClr>
              <a:buSzPts val="2000"/>
              <a:buChar char="•"/>
            </a:pPr>
            <a:r>
              <a:rPr b="1" i="0" lang="en-US" sz="2000">
                <a:solidFill>
                  <a:srgbClr val="273239"/>
                </a:solidFill>
                <a:latin typeface="Nunito"/>
                <a:ea typeface="Nunito"/>
                <a:cs typeface="Nunito"/>
                <a:sym typeface="Nunito"/>
              </a:rPr>
              <a:t>2. Weak Entity</a:t>
            </a:r>
            <a:endParaRPr/>
          </a:p>
          <a:p>
            <a:pPr indent="-228600" lvl="0" marL="228600" rtl="0" algn="l">
              <a:lnSpc>
                <a:spcPct val="90000"/>
              </a:lnSpc>
              <a:spcBef>
                <a:spcPts val="1000"/>
              </a:spcBef>
              <a:spcAft>
                <a:spcPts val="0"/>
              </a:spcAft>
              <a:buClr>
                <a:srgbClr val="273239"/>
              </a:buClr>
              <a:buSzPts val="2000"/>
              <a:buChar char="•"/>
            </a:pPr>
            <a:r>
              <a:rPr b="0" i="0" lang="en-US" sz="2000">
                <a:solidFill>
                  <a:srgbClr val="273239"/>
                </a:solidFill>
                <a:latin typeface="Nunito"/>
                <a:ea typeface="Nunito"/>
                <a:cs typeface="Nunito"/>
                <a:sym typeface="Nunito"/>
              </a:rPr>
              <a:t>An Entity type has a key attribute that uniquely identifies each entity in the entity set. But some entity type exists for which key attributes can’t be defined. These are called </a:t>
            </a:r>
            <a:r>
              <a:rPr b="0" i="0" lang="en-US" sz="2000" u="sng">
                <a:solidFill>
                  <a:srgbClr val="273239"/>
                </a:solidFill>
                <a:latin typeface="Nunito"/>
                <a:ea typeface="Nunito"/>
                <a:cs typeface="Nunito"/>
                <a:sym typeface="Nunito"/>
              </a:rPr>
              <a:t>Weak Entity types</a:t>
            </a:r>
            <a:r>
              <a:rPr b="0" i="0" lang="en-US" sz="2000">
                <a:solidFill>
                  <a:srgbClr val="273239"/>
                </a:solidFill>
                <a:latin typeface="Nunito"/>
                <a:ea typeface="Nunito"/>
                <a:cs typeface="Nunito"/>
                <a:sym typeface="Nunito"/>
              </a:rPr>
              <a:t>. </a:t>
            </a:r>
            <a:endParaRPr/>
          </a:p>
          <a:p>
            <a:pPr indent="-228600" lvl="0" marL="228600" rtl="0" algn="l">
              <a:lnSpc>
                <a:spcPct val="90000"/>
              </a:lnSpc>
              <a:spcBef>
                <a:spcPts val="1000"/>
              </a:spcBef>
              <a:spcAft>
                <a:spcPts val="0"/>
              </a:spcAft>
              <a:buClr>
                <a:srgbClr val="273239"/>
              </a:buClr>
              <a:buSzPts val="2000"/>
              <a:buChar char="•"/>
            </a:pPr>
            <a:r>
              <a:rPr b="1" i="0" lang="en-US" sz="2000">
                <a:solidFill>
                  <a:srgbClr val="273239"/>
                </a:solidFill>
                <a:latin typeface="Nunito"/>
                <a:ea typeface="Nunito"/>
                <a:cs typeface="Nunito"/>
                <a:sym typeface="Nunito"/>
              </a:rPr>
              <a:t>For Example,</a:t>
            </a:r>
            <a:r>
              <a:rPr b="0" i="0" lang="en-US" sz="2000">
                <a:solidFill>
                  <a:srgbClr val="273239"/>
                </a:solidFill>
                <a:latin typeface="Nunito"/>
                <a:ea typeface="Nunito"/>
                <a:cs typeface="Nunito"/>
                <a:sym typeface="Nunito"/>
              </a:rPr>
              <a:t> A company may store the information of dependents (Parents, Children, Spouse) of an Employee. But the dependents don’t have existed without the employee. So Dependent will be a </a:t>
            </a:r>
            <a:r>
              <a:rPr b="1" i="0" lang="en-US" sz="2000">
                <a:solidFill>
                  <a:srgbClr val="273239"/>
                </a:solidFill>
                <a:latin typeface="Nunito"/>
                <a:ea typeface="Nunito"/>
                <a:cs typeface="Nunito"/>
                <a:sym typeface="Nunito"/>
              </a:rPr>
              <a:t>Weak Entity Type</a:t>
            </a:r>
            <a:r>
              <a:rPr b="0" i="0" lang="en-US" sz="2000">
                <a:solidFill>
                  <a:srgbClr val="273239"/>
                </a:solidFill>
                <a:latin typeface="Nunito"/>
                <a:ea typeface="Nunito"/>
                <a:cs typeface="Nunito"/>
                <a:sym typeface="Nunito"/>
              </a:rPr>
              <a:t> and Employee will be Identifying Entity type for Dependent, which means it is </a:t>
            </a:r>
            <a:r>
              <a:rPr b="1" i="0" lang="en-US" sz="2000">
                <a:solidFill>
                  <a:srgbClr val="273239"/>
                </a:solidFill>
                <a:latin typeface="Nunito"/>
                <a:ea typeface="Nunito"/>
                <a:cs typeface="Nunito"/>
                <a:sym typeface="Nunito"/>
              </a:rPr>
              <a:t>Strong Entity Type</a:t>
            </a:r>
            <a:r>
              <a:rPr b="0" i="0" lang="en-US" sz="2000">
                <a:solidFill>
                  <a:srgbClr val="273239"/>
                </a:solidFill>
                <a:latin typeface="Nunito"/>
                <a:ea typeface="Nunito"/>
                <a:cs typeface="Nunito"/>
                <a:sym typeface="Nunito"/>
              </a:rPr>
              <a:t>.</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Strong Entity and Weak Entity" id="140" name="Google Shape;140;p21"/>
          <p:cNvPicPr preferRelativeResize="0"/>
          <p:nvPr/>
        </p:nvPicPr>
        <p:blipFill rotWithShape="1">
          <a:blip r:embed="rId3">
            <a:alphaModFix/>
          </a:blip>
          <a:srcRect b="0" l="0" r="0" t="0"/>
          <a:stretch/>
        </p:blipFill>
        <p:spPr>
          <a:xfrm>
            <a:off x="1621855" y="4322123"/>
            <a:ext cx="7681039" cy="17440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 calcmode="lin" valueType="num">
                                      <p:cBhvr additive="base">
                                        <p:cTn dur="500"/>
                                        <p:tgtEl>
                                          <p:spTgt spid="1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 calcmode="lin" valueType="num">
                                      <p:cBhvr additive="base">
                                        <p:cTn dur="500"/>
                                        <p:tgtEl>
                                          <p:spTgt spid="1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 calcmode="lin" valueType="num">
                                      <p:cBhvr additive="base">
                                        <p:cTn dur="500"/>
                                        <p:tgtEl>
                                          <p:spTgt spid="1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 calcmode="lin" valueType="num">
                                      <p:cBhvr additive="base">
                                        <p:cTn dur="500"/>
                                        <p:tgtEl>
                                          <p:spTgt spid="1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 calcmode="lin" valueType="num">
                                      <p:cBhvr additive="base">
                                        <p:cTn dur="500"/>
                                        <p:tgtEl>
                                          <p:spTgt spid="1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anim calcmode="lin" valueType="num">
                                      <p:cBhvr additive="base">
                                        <p:cTn dur="500"/>
                                        <p:tgtEl>
                                          <p:spTgt spid="13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2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838200" y="365126"/>
            <a:ext cx="10515600" cy="9233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3239"/>
              </a:buClr>
              <a:buSzPts val="4400"/>
              <a:buFont typeface="Nunito"/>
              <a:buNone/>
            </a:pPr>
            <a:r>
              <a:rPr b="1" i="0" lang="en-US">
                <a:solidFill>
                  <a:srgbClr val="273239"/>
                </a:solidFill>
                <a:latin typeface="Nunito"/>
                <a:ea typeface="Nunito"/>
                <a:cs typeface="Nunito"/>
                <a:sym typeface="Nunito"/>
              </a:rPr>
              <a:t>Attributes</a:t>
            </a:r>
            <a:endParaRPr/>
          </a:p>
        </p:txBody>
      </p:sp>
      <p:sp>
        <p:nvSpPr>
          <p:cNvPr id="146" name="Google Shape;146;p22"/>
          <p:cNvSpPr txBox="1"/>
          <p:nvPr>
            <p:ph idx="1" type="body"/>
          </p:nvPr>
        </p:nvSpPr>
        <p:spPr>
          <a:xfrm>
            <a:off x="720436" y="1191492"/>
            <a:ext cx="10633364" cy="498547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just">
              <a:lnSpc>
                <a:spcPct val="90000"/>
              </a:lnSpc>
              <a:spcBef>
                <a:spcPts val="0"/>
              </a:spcBef>
              <a:spcAft>
                <a:spcPts val="0"/>
              </a:spcAft>
              <a:buClr>
                <a:srgbClr val="273239"/>
              </a:buClr>
              <a:buSzPct val="100000"/>
              <a:buChar char="•"/>
            </a:pPr>
            <a:r>
              <a:rPr b="0" i="0" lang="en-US" u="sng">
                <a:solidFill>
                  <a:srgbClr val="273239"/>
                </a:solidFill>
                <a:latin typeface="Nunito"/>
                <a:ea typeface="Nunito"/>
                <a:cs typeface="Nunito"/>
                <a:sym typeface="Nunito"/>
              </a:rPr>
              <a:t>Attributes</a:t>
            </a:r>
            <a:r>
              <a:rPr b="0" i="0" lang="en-US">
                <a:solidFill>
                  <a:srgbClr val="273239"/>
                </a:solidFill>
                <a:latin typeface="Nunito"/>
                <a:ea typeface="Nunito"/>
                <a:cs typeface="Nunito"/>
                <a:sym typeface="Nunito"/>
              </a:rPr>
              <a:t> are the properties that define the entity type. For example, Roll_No, Name, DOB, Age, Address, and Mobile_No are the attributes that define entity type Student. </a:t>
            </a:r>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Key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The attribute which </a:t>
            </a:r>
            <a:r>
              <a:rPr b="1" i="0" lang="en-US">
                <a:solidFill>
                  <a:srgbClr val="273239"/>
                </a:solidFill>
                <a:latin typeface="Nunito"/>
                <a:ea typeface="Nunito"/>
                <a:cs typeface="Nunito"/>
                <a:sym typeface="Nunito"/>
              </a:rPr>
              <a:t>uniquely identifies each entity</a:t>
            </a:r>
            <a:r>
              <a:rPr b="0" i="0" lang="en-US">
                <a:solidFill>
                  <a:srgbClr val="273239"/>
                </a:solidFill>
                <a:latin typeface="Nunito"/>
                <a:ea typeface="Nunito"/>
                <a:cs typeface="Nunito"/>
                <a:sym typeface="Nunito"/>
              </a:rPr>
              <a:t> in the entity set is called the key attribute. For example, Roll_No will be unique for each student.</a:t>
            </a:r>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Composite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attribute </a:t>
            </a:r>
            <a:r>
              <a:rPr b="1" i="0" lang="en-US">
                <a:solidFill>
                  <a:srgbClr val="273239"/>
                </a:solidFill>
                <a:latin typeface="Nunito"/>
                <a:ea typeface="Nunito"/>
                <a:cs typeface="Nunito"/>
                <a:sym typeface="Nunito"/>
              </a:rPr>
              <a:t>composed of many other attributes</a:t>
            </a:r>
            <a:r>
              <a:rPr b="0" i="0" lang="en-US">
                <a:solidFill>
                  <a:srgbClr val="273239"/>
                </a:solidFill>
                <a:latin typeface="Nunito"/>
                <a:ea typeface="Nunito"/>
                <a:cs typeface="Nunito"/>
                <a:sym typeface="Nunito"/>
              </a:rPr>
              <a:t> is called a composite attribute. For example, the Address attribute of the student Entity type consists of Street, City, State, and Country. In ER diagram, the composite attribute is represented by an oval comprising of ovals. </a:t>
            </a:r>
            <a:endParaRPr/>
          </a:p>
          <a:p>
            <a:pPr indent="-228600" lvl="0" marL="228600" rtl="0" algn="just">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Multivalued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attribute consisting of more than one value for a given entity. For example, Phone_No (can be more than one for a given student). </a:t>
            </a:r>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Derived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attribute that can be derived from other attributes of the entity type is known as a derived attribute. e.g.; Age (can be derived from DOB).</a:t>
            </a:r>
            <a:endParaRPr/>
          </a:p>
          <a:p>
            <a:pPr indent="-104140" lvl="0" marL="228600" rtl="0" algn="just">
              <a:lnSpc>
                <a:spcPct val="90000"/>
              </a:lnSpc>
              <a:spcBef>
                <a:spcPts val="1000"/>
              </a:spcBef>
              <a:spcAft>
                <a:spcPts val="0"/>
              </a:spcAft>
              <a:buClr>
                <a:schemeClr val="dk1"/>
              </a:buClr>
              <a:buSzPct val="100000"/>
              <a:buNone/>
            </a:pPr>
            <a:r>
              <a:t/>
            </a:r>
            <a:endParaRPr b="0" i="0">
              <a:solidFill>
                <a:srgbClr val="273239"/>
              </a:solidFill>
              <a:latin typeface="Nunito"/>
              <a:ea typeface="Nunito"/>
              <a:cs typeface="Nunito"/>
              <a:sym typeface="Nunito"/>
            </a:endParaRPr>
          </a:p>
          <a:p>
            <a:pPr indent="-104140" lvl="0" marL="228600" rtl="0" algn="just">
              <a:lnSpc>
                <a:spcPct val="90000"/>
              </a:lnSpc>
              <a:spcBef>
                <a:spcPts val="1000"/>
              </a:spcBef>
              <a:spcAft>
                <a:spcPts val="0"/>
              </a:spcAft>
              <a:buClr>
                <a:schemeClr val="dk1"/>
              </a:buClr>
              <a:buSzPct val="100000"/>
              <a:buNone/>
            </a:pPr>
            <a:r>
              <a:t/>
            </a:r>
            <a:endParaRPr b="0" i="0">
              <a:solidFill>
                <a:srgbClr val="273239"/>
              </a:solidFill>
              <a:latin typeface="Nunito"/>
              <a:ea typeface="Nunito"/>
              <a:cs typeface="Nunito"/>
              <a:sym typeface="Nunito"/>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 calcmode="lin" valueType="num">
                                      <p:cBhvr additive="base">
                                        <p:cTn dur="500"/>
                                        <p:tgtEl>
                                          <p:spTgt spid="1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 calcmode="lin" valueType="num">
                                      <p:cBhvr additive="base">
                                        <p:cTn dur="500"/>
                                        <p:tgtEl>
                                          <p:spTgt spid="1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 calcmode="lin" valueType="num">
                                      <p:cBhvr additive="base">
                                        <p:cTn dur="500"/>
                                        <p:tgtEl>
                                          <p:spTgt spid="1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 calcmode="lin" valueType="num">
                                      <p:cBhvr additive="base">
                                        <p:cTn dur="500"/>
                                        <p:tgtEl>
                                          <p:spTgt spid="1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 calcmode="lin" valueType="num">
                                      <p:cBhvr additive="base">
                                        <p:cTn dur="500"/>
                                        <p:tgtEl>
                                          <p:spTgt spid="14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 calcmode="lin" valueType="num">
                                      <p:cBhvr additive="base">
                                        <p:cTn dur="500"/>
                                        <p:tgtEl>
                                          <p:spTgt spid="14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 calcmode="lin" valueType="num">
                                      <p:cBhvr additive="base">
                                        <p:cTn dur="500"/>
                                        <p:tgtEl>
                                          <p:spTgt spid="14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7" st="7"/>
                                            </p:txEl>
                                          </p:spTgt>
                                        </p:tgtEl>
                                        <p:attrNameLst>
                                          <p:attrName>style.visibility</p:attrName>
                                        </p:attrNameLst>
                                      </p:cBhvr>
                                      <p:to>
                                        <p:strVal val="visible"/>
                                      </p:to>
                                    </p:set>
                                    <p:anim calcmode="lin" valueType="num">
                                      <p:cBhvr additive="base">
                                        <p:cTn dur="500"/>
                                        <p:tgtEl>
                                          <p:spTgt spid="14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8" st="8"/>
                                            </p:txEl>
                                          </p:spTgt>
                                        </p:tgtEl>
                                        <p:attrNameLst>
                                          <p:attrName>style.visibility</p:attrName>
                                        </p:attrNameLst>
                                      </p:cBhvr>
                                      <p:to>
                                        <p:strVal val="visible"/>
                                      </p:to>
                                    </p:set>
                                    <p:anim calcmode="lin" valueType="num">
                                      <p:cBhvr additive="base">
                                        <p:cTn dur="500"/>
                                        <p:tgtEl>
                                          <p:spTgt spid="14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9" st="9"/>
                                            </p:txEl>
                                          </p:spTgt>
                                        </p:tgtEl>
                                        <p:attrNameLst>
                                          <p:attrName>style.visibility</p:attrName>
                                        </p:attrNameLst>
                                      </p:cBhvr>
                                      <p:to>
                                        <p:strVal val="visible"/>
                                      </p:to>
                                    </p:set>
                                    <p:anim calcmode="lin" valueType="num">
                                      <p:cBhvr additive="base">
                                        <p:cTn dur="500"/>
                                        <p:tgtEl>
                                          <p:spTgt spid="14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10" st="10"/>
                                            </p:txEl>
                                          </p:spTgt>
                                        </p:tgtEl>
                                        <p:attrNameLst>
                                          <p:attrName>style.visibility</p:attrName>
                                        </p:attrNameLst>
                                      </p:cBhvr>
                                      <p:to>
                                        <p:strVal val="visible"/>
                                      </p:to>
                                    </p:set>
                                    <p:anim calcmode="lin" valueType="num">
                                      <p:cBhvr additive="base">
                                        <p:cTn dur="500"/>
                                        <p:tgtEl>
                                          <p:spTgt spid="14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11" st="11"/>
                                            </p:txEl>
                                          </p:spTgt>
                                        </p:tgtEl>
                                        <p:attrNameLst>
                                          <p:attrName>style.visibility</p:attrName>
                                        </p:attrNameLst>
                                      </p:cBhvr>
                                      <p:to>
                                        <p:strVal val="visible"/>
                                      </p:to>
                                    </p:set>
                                    <p:anim calcmode="lin" valueType="num">
                                      <p:cBhvr additive="base">
                                        <p:cTn dur="500"/>
                                        <p:tgtEl>
                                          <p:spTgt spid="14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52" name="Google Shape;152;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Entity and Attributes" id="153" name="Google Shape;153;p23"/>
          <p:cNvPicPr preferRelativeResize="0"/>
          <p:nvPr/>
        </p:nvPicPr>
        <p:blipFill rotWithShape="1">
          <a:blip r:embed="rId3">
            <a:alphaModFix/>
          </a:blip>
          <a:srcRect b="0" l="0" r="0" t="0"/>
          <a:stretch/>
        </p:blipFill>
        <p:spPr>
          <a:xfrm>
            <a:off x="2285999" y="615092"/>
            <a:ext cx="7405543" cy="50144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COMPANY Database</a:t>
            </a:r>
            <a:endParaRPr/>
          </a:p>
        </p:txBody>
      </p:sp>
      <p:sp>
        <p:nvSpPr>
          <p:cNvPr id="159" name="Google Shape;159;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need to create a database schema design based on the following (simplified) requirements of the COMPANY Database:</a:t>
            </a:r>
            <a:endParaRPr/>
          </a:p>
          <a:p>
            <a:pPr indent="-228600" lvl="1" marL="685800" rtl="0" algn="l">
              <a:lnSpc>
                <a:spcPct val="90000"/>
              </a:lnSpc>
              <a:spcBef>
                <a:spcPts val="500"/>
              </a:spcBef>
              <a:spcAft>
                <a:spcPts val="0"/>
              </a:spcAft>
              <a:buClr>
                <a:schemeClr val="dk1"/>
              </a:buClr>
              <a:buSzPts val="2400"/>
              <a:buChar char="•"/>
            </a:pPr>
            <a:r>
              <a:rPr lang="en-US"/>
              <a:t>The company is organized into DEPARTMENTs. Each department has a name, number and an employee who manages the department. </a:t>
            </a:r>
            <a:endParaRPr/>
          </a:p>
          <a:p>
            <a:pPr indent="-228600" lvl="1" marL="685800" rtl="0" algn="l">
              <a:lnSpc>
                <a:spcPct val="90000"/>
              </a:lnSpc>
              <a:spcBef>
                <a:spcPts val="500"/>
              </a:spcBef>
              <a:spcAft>
                <a:spcPts val="0"/>
              </a:spcAft>
              <a:buClr>
                <a:schemeClr val="dk1"/>
              </a:buClr>
              <a:buSzPts val="2400"/>
              <a:buChar char="•"/>
            </a:pPr>
            <a:r>
              <a:rPr lang="en-US"/>
              <a:t>We keep track of the start date of the department manager. A department may have several locations.</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Each department controls a number of PROJECTs. Each project has a unique name, unique number and is located at a single location.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idx="1" type="body"/>
          </p:nvPr>
        </p:nvSpPr>
        <p:spPr>
          <a:xfrm>
            <a:off x="545690" y="530942"/>
            <a:ext cx="10808110" cy="564602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store each EMPLOYEE’s social security number, address,salary, gender, and birthdate.</a:t>
            </a:r>
            <a:endParaRPr/>
          </a:p>
          <a:p>
            <a:pPr indent="-228600" lvl="1" marL="685800" rtl="0" algn="l">
              <a:lnSpc>
                <a:spcPct val="90000"/>
              </a:lnSpc>
              <a:spcBef>
                <a:spcPts val="500"/>
              </a:spcBef>
              <a:spcAft>
                <a:spcPts val="0"/>
              </a:spcAft>
              <a:buClr>
                <a:schemeClr val="dk1"/>
              </a:buClr>
              <a:buSzPts val="2400"/>
              <a:buChar char="•"/>
            </a:pPr>
            <a:r>
              <a:rPr lang="en-US"/>
              <a:t>Each employee works for one department but may work on several projects.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We keep track of the number of hours per week that an employee currently works on each project.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We also keep track of the direct supervisor of each employee.</a:t>
            </a:r>
            <a:endParaRPr/>
          </a:p>
          <a:p>
            <a:pPr indent="-228600" lvl="1" marL="685800" rtl="0" algn="l">
              <a:lnSpc>
                <a:spcPct val="90000"/>
              </a:lnSpc>
              <a:spcBef>
                <a:spcPts val="500"/>
              </a:spcBef>
              <a:spcAft>
                <a:spcPts val="0"/>
              </a:spcAft>
              <a:buClr>
                <a:schemeClr val="dk1"/>
              </a:buClr>
              <a:buSzPts val="2400"/>
              <a:buChar char="•"/>
            </a:pPr>
            <a:r>
              <a:rPr lang="en-US"/>
              <a:t>Each employee may have a number of DEPENDENTs.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For each dependent, we keep track of their name, gender, birthdate, and relationship to the employee.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 Model Concepts</a:t>
            </a:r>
            <a:endParaRPr/>
          </a:p>
        </p:txBody>
      </p:sp>
      <p:sp>
        <p:nvSpPr>
          <p:cNvPr id="170" name="Google Shape;170;p26"/>
          <p:cNvSpPr txBox="1"/>
          <p:nvPr>
            <p:ph idx="1" type="body"/>
          </p:nvPr>
        </p:nvSpPr>
        <p:spPr>
          <a:xfrm>
            <a:off x="722671" y="1386348"/>
            <a:ext cx="10631129" cy="479061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 Entities and Attributes</a:t>
            </a:r>
            <a:endParaRPr/>
          </a:p>
          <a:p>
            <a:pPr indent="-228600" lvl="1" marL="685800" rtl="0" algn="l">
              <a:lnSpc>
                <a:spcPct val="90000"/>
              </a:lnSpc>
              <a:spcBef>
                <a:spcPts val="500"/>
              </a:spcBef>
              <a:spcAft>
                <a:spcPts val="0"/>
              </a:spcAft>
              <a:buClr>
                <a:schemeClr val="dk1"/>
              </a:buClr>
              <a:buSzPts val="2400"/>
              <a:buChar char="•"/>
            </a:pPr>
            <a:r>
              <a:rPr lang="en-US"/>
              <a:t>Entities(noun) are specific objects or things in the mini-world that are represented in the database.</a:t>
            </a:r>
            <a:endParaRPr/>
          </a:p>
          <a:p>
            <a:pPr indent="-228600" lvl="2" marL="1143000" rtl="0" algn="l">
              <a:lnSpc>
                <a:spcPct val="90000"/>
              </a:lnSpc>
              <a:spcBef>
                <a:spcPts val="500"/>
              </a:spcBef>
              <a:spcAft>
                <a:spcPts val="0"/>
              </a:spcAft>
              <a:buClr>
                <a:schemeClr val="dk1"/>
              </a:buClr>
              <a:buSzPts val="2000"/>
              <a:buChar char="•"/>
            </a:pPr>
            <a:r>
              <a:rPr lang="en-US"/>
              <a:t>For example the EMPLOYEE John Smith, the Research DEPARTMENT, the ProductX PROJECT</a:t>
            </a:r>
            <a:endParaRPr/>
          </a:p>
          <a:p>
            <a:pPr indent="-228600" lvl="1" marL="685800" rtl="0" algn="l">
              <a:lnSpc>
                <a:spcPct val="90000"/>
              </a:lnSpc>
              <a:spcBef>
                <a:spcPts val="500"/>
              </a:spcBef>
              <a:spcAft>
                <a:spcPts val="0"/>
              </a:spcAft>
              <a:buClr>
                <a:schemeClr val="dk1"/>
              </a:buClr>
              <a:buSzPts val="2400"/>
              <a:buChar char="•"/>
            </a:pPr>
            <a:r>
              <a:rPr lang="en-US"/>
              <a:t>Attributes are properties used to describe an entity.</a:t>
            </a:r>
            <a:endParaRPr/>
          </a:p>
          <a:p>
            <a:pPr indent="-228600" lvl="2" marL="1143000" rtl="0" algn="l">
              <a:lnSpc>
                <a:spcPct val="90000"/>
              </a:lnSpc>
              <a:spcBef>
                <a:spcPts val="500"/>
              </a:spcBef>
              <a:spcAft>
                <a:spcPts val="0"/>
              </a:spcAft>
              <a:buClr>
                <a:schemeClr val="dk1"/>
              </a:buClr>
              <a:buSzPts val="2000"/>
              <a:buChar char="•"/>
            </a:pPr>
            <a:r>
              <a:rPr lang="en-US"/>
              <a:t>For example an EMPLOYEE entity may have the attributes Name, SSN,Address, gender, BirthDate</a:t>
            </a:r>
            <a:endParaRPr/>
          </a:p>
          <a:p>
            <a:pPr indent="-228600" lvl="1" marL="685800" rtl="0" algn="l">
              <a:lnSpc>
                <a:spcPct val="90000"/>
              </a:lnSpc>
              <a:spcBef>
                <a:spcPts val="500"/>
              </a:spcBef>
              <a:spcAft>
                <a:spcPts val="0"/>
              </a:spcAft>
              <a:buClr>
                <a:schemeClr val="dk1"/>
              </a:buClr>
              <a:buSzPts val="2400"/>
              <a:buChar char="•"/>
            </a:pPr>
            <a:r>
              <a:rPr lang="en-US"/>
              <a:t>A specific entity will have a value for each of its attributes.</a:t>
            </a:r>
            <a:endParaRPr/>
          </a:p>
          <a:p>
            <a:pPr indent="-228600" lvl="2" marL="1143000" rtl="0" algn="l">
              <a:lnSpc>
                <a:spcPct val="90000"/>
              </a:lnSpc>
              <a:spcBef>
                <a:spcPts val="500"/>
              </a:spcBef>
              <a:spcAft>
                <a:spcPts val="0"/>
              </a:spcAft>
              <a:buClr>
                <a:schemeClr val="dk1"/>
              </a:buClr>
              <a:buSzPts val="2000"/>
              <a:buChar char="•"/>
            </a:pPr>
            <a:r>
              <a:rPr lang="en-US"/>
              <a:t>For example a specific employee entity may have Name='John Smith’, SSN='123456789', Address ='731, Fondren, Houston, TX’, gender='M’, BirthDate='09-JAN-55‘</a:t>
            </a:r>
            <a:endParaRPr/>
          </a:p>
          <a:p>
            <a:pPr indent="-228600" lvl="1" marL="685800" rtl="0" algn="l">
              <a:lnSpc>
                <a:spcPct val="90000"/>
              </a:lnSpc>
              <a:spcBef>
                <a:spcPts val="500"/>
              </a:spcBef>
              <a:spcAft>
                <a:spcPts val="0"/>
              </a:spcAft>
              <a:buClr>
                <a:schemeClr val="dk1"/>
              </a:buClr>
              <a:buSzPts val="2400"/>
              <a:buChar char="•"/>
            </a:pPr>
            <a:r>
              <a:rPr lang="en-US"/>
              <a:t>Each attribute has a value set (or data type) associated with it – e.g. integer, string, subrange, enumerated type,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Initial Design of Entity Types for the</a:t>
            </a:r>
            <a:br>
              <a:rPr lang="en-US"/>
            </a:br>
            <a:r>
              <a:rPr lang="en-US"/>
              <a:t>COMPANY Database Schema</a:t>
            </a:r>
            <a:endParaRPr/>
          </a:p>
        </p:txBody>
      </p:sp>
      <p:sp>
        <p:nvSpPr>
          <p:cNvPr id="176" name="Google Shape;176;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Based on the requirements, we can identify four initial entity types in the COMPANY database:</a:t>
            </a:r>
            <a:endParaRPr/>
          </a:p>
          <a:p>
            <a:pPr indent="-228600" lvl="1" marL="685800" rtl="0" algn="l">
              <a:lnSpc>
                <a:spcPct val="90000"/>
              </a:lnSpc>
              <a:spcBef>
                <a:spcPts val="500"/>
              </a:spcBef>
              <a:spcAft>
                <a:spcPts val="0"/>
              </a:spcAft>
              <a:buClr>
                <a:schemeClr val="dk1"/>
              </a:buClr>
              <a:buSzPts val="2400"/>
              <a:buChar char="•"/>
            </a:pPr>
            <a:r>
              <a:rPr lang="en-US"/>
              <a:t>DEPARTMENT</a:t>
            </a:r>
            <a:endParaRPr/>
          </a:p>
          <a:p>
            <a:pPr indent="-228600" lvl="1" marL="685800" rtl="0" algn="l">
              <a:lnSpc>
                <a:spcPct val="90000"/>
              </a:lnSpc>
              <a:spcBef>
                <a:spcPts val="500"/>
              </a:spcBef>
              <a:spcAft>
                <a:spcPts val="0"/>
              </a:spcAft>
              <a:buClr>
                <a:schemeClr val="dk1"/>
              </a:buClr>
              <a:buSzPts val="2400"/>
              <a:buChar char="•"/>
            </a:pPr>
            <a:r>
              <a:rPr lang="en-US"/>
              <a:t>PROJECT</a:t>
            </a:r>
            <a:endParaRPr/>
          </a:p>
          <a:p>
            <a:pPr indent="-228600" lvl="1" marL="685800" rtl="0" algn="l">
              <a:lnSpc>
                <a:spcPct val="90000"/>
              </a:lnSpc>
              <a:spcBef>
                <a:spcPts val="500"/>
              </a:spcBef>
              <a:spcAft>
                <a:spcPts val="0"/>
              </a:spcAft>
              <a:buClr>
                <a:schemeClr val="dk1"/>
              </a:buClr>
              <a:buSzPts val="2400"/>
              <a:buChar char="•"/>
            </a:pPr>
            <a:r>
              <a:rPr lang="en-US"/>
              <a:t>EMPLOYEE</a:t>
            </a:r>
            <a:endParaRPr/>
          </a:p>
          <a:p>
            <a:pPr indent="-228600" lvl="1" marL="685800" rtl="0" algn="l">
              <a:lnSpc>
                <a:spcPct val="90000"/>
              </a:lnSpc>
              <a:spcBef>
                <a:spcPts val="500"/>
              </a:spcBef>
              <a:spcAft>
                <a:spcPts val="0"/>
              </a:spcAft>
              <a:buClr>
                <a:schemeClr val="dk1"/>
              </a:buClr>
              <a:buSzPts val="2400"/>
              <a:buChar char="•"/>
            </a:pPr>
            <a:r>
              <a:rPr lang="en-US"/>
              <a:t>DEPENDENT</a:t>
            </a:r>
            <a:endParaRPr/>
          </a:p>
          <a:p>
            <a:pPr indent="-228600" lvl="0" marL="228600" rtl="0" algn="l">
              <a:lnSpc>
                <a:spcPct val="90000"/>
              </a:lnSpc>
              <a:spcBef>
                <a:spcPts val="1000"/>
              </a:spcBef>
              <a:spcAft>
                <a:spcPts val="0"/>
              </a:spcAft>
              <a:buClr>
                <a:schemeClr val="dk1"/>
              </a:buClr>
              <a:buSzPts val="2800"/>
              <a:buChar char="•"/>
            </a:pPr>
            <a:r>
              <a:rPr lang="en-US"/>
              <a:t>The initial attributes shown are derived from the requirements description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Initial Design of Entity Types:</a:t>
            </a:r>
            <a:endParaRPr/>
          </a:p>
        </p:txBody>
      </p:sp>
      <p:sp>
        <p:nvSpPr>
          <p:cNvPr id="182" name="Google Shape;18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83" name="Google Shape;183;p28"/>
          <p:cNvPicPr preferRelativeResize="0"/>
          <p:nvPr/>
        </p:nvPicPr>
        <p:blipFill rotWithShape="1">
          <a:blip r:embed="rId3">
            <a:alphaModFix/>
          </a:blip>
          <a:srcRect b="0" l="0" r="0" t="0"/>
          <a:stretch/>
        </p:blipFill>
        <p:spPr>
          <a:xfrm>
            <a:off x="1009165" y="1825625"/>
            <a:ext cx="4817383" cy="1811046"/>
          </a:xfrm>
          <a:prstGeom prst="rect">
            <a:avLst/>
          </a:prstGeom>
          <a:noFill/>
          <a:ln>
            <a:noFill/>
          </a:ln>
        </p:spPr>
      </p:pic>
      <p:pic>
        <p:nvPicPr>
          <p:cNvPr id="184" name="Google Shape;184;p28"/>
          <p:cNvPicPr preferRelativeResize="0"/>
          <p:nvPr/>
        </p:nvPicPr>
        <p:blipFill rotWithShape="1">
          <a:blip r:embed="rId4">
            <a:alphaModFix/>
          </a:blip>
          <a:srcRect b="0" l="0" r="0" t="0"/>
          <a:stretch/>
        </p:blipFill>
        <p:spPr>
          <a:xfrm>
            <a:off x="6851425" y="1887739"/>
            <a:ext cx="3265967" cy="1686818"/>
          </a:xfrm>
          <a:prstGeom prst="rect">
            <a:avLst/>
          </a:prstGeom>
          <a:noFill/>
          <a:ln>
            <a:noFill/>
          </a:ln>
        </p:spPr>
      </p:pic>
      <p:pic>
        <p:nvPicPr>
          <p:cNvPr id="185" name="Google Shape;185;p28"/>
          <p:cNvPicPr preferRelativeResize="0"/>
          <p:nvPr/>
        </p:nvPicPr>
        <p:blipFill rotWithShape="1">
          <a:blip r:embed="rId5">
            <a:alphaModFix/>
          </a:blip>
          <a:srcRect b="0" l="0" r="0" t="0"/>
          <a:stretch/>
        </p:blipFill>
        <p:spPr>
          <a:xfrm>
            <a:off x="869229" y="3943085"/>
            <a:ext cx="4957319" cy="1982927"/>
          </a:xfrm>
          <a:prstGeom prst="rect">
            <a:avLst/>
          </a:prstGeom>
          <a:noFill/>
          <a:ln>
            <a:noFill/>
          </a:ln>
        </p:spPr>
      </p:pic>
      <p:pic>
        <p:nvPicPr>
          <p:cNvPr id="186" name="Google Shape;186;p28"/>
          <p:cNvPicPr preferRelativeResize="0"/>
          <p:nvPr/>
        </p:nvPicPr>
        <p:blipFill rotWithShape="1">
          <a:blip r:embed="rId6">
            <a:alphaModFix/>
          </a:blip>
          <a:srcRect b="0" l="0" r="0" t="0"/>
          <a:stretch/>
        </p:blipFill>
        <p:spPr>
          <a:xfrm>
            <a:off x="5826548" y="4274571"/>
            <a:ext cx="4957319" cy="137611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Relationships and Relationship Types</a:t>
            </a:r>
            <a:endParaRPr/>
          </a:p>
        </p:txBody>
      </p:sp>
      <p:sp>
        <p:nvSpPr>
          <p:cNvPr id="192" name="Google Shape;192;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 A relationship relates two or more distinct entities with a specific meaning.</a:t>
            </a:r>
            <a:endParaRPr/>
          </a:p>
          <a:p>
            <a:pPr indent="-228600" lvl="1" marL="685800" rtl="0" algn="l">
              <a:lnSpc>
                <a:spcPct val="90000"/>
              </a:lnSpc>
              <a:spcBef>
                <a:spcPts val="500"/>
              </a:spcBef>
              <a:spcAft>
                <a:spcPts val="0"/>
              </a:spcAft>
              <a:buClr>
                <a:schemeClr val="dk1"/>
              </a:buClr>
              <a:buSzPts val="2400"/>
              <a:buChar char="•"/>
            </a:pPr>
            <a:r>
              <a:rPr lang="en-US"/>
              <a:t>For example, EMPLOYEE John Smith works on the ProductX PROJECT, or EMPLOYEE Franklin Wong manages the Research DEPARTMENT.</a:t>
            </a:r>
            <a:endParaRPr/>
          </a:p>
          <a:p>
            <a:pPr indent="-228600" lvl="0" marL="228600" rtl="0" algn="l">
              <a:lnSpc>
                <a:spcPct val="90000"/>
              </a:lnSpc>
              <a:spcBef>
                <a:spcPts val="1000"/>
              </a:spcBef>
              <a:spcAft>
                <a:spcPts val="0"/>
              </a:spcAft>
              <a:buClr>
                <a:schemeClr val="dk1"/>
              </a:buClr>
              <a:buSzPts val="2800"/>
              <a:buChar char="•"/>
            </a:pPr>
            <a:r>
              <a:rPr lang="en-US"/>
              <a:t>Relationships of the same type are grouped or typed into a relationship type.</a:t>
            </a:r>
            <a:endParaRPr/>
          </a:p>
          <a:p>
            <a:pPr indent="-228600" lvl="1" marL="685800" rtl="0" algn="l">
              <a:lnSpc>
                <a:spcPct val="90000"/>
              </a:lnSpc>
              <a:spcBef>
                <a:spcPts val="500"/>
              </a:spcBef>
              <a:spcAft>
                <a:spcPts val="0"/>
              </a:spcAft>
              <a:buClr>
                <a:schemeClr val="dk1"/>
              </a:buClr>
              <a:buSzPts val="2400"/>
              <a:buChar char="•"/>
            </a:pPr>
            <a:r>
              <a:rPr lang="en-US"/>
              <a:t>For example, the WORKS_ON relationship type in which EMPLOYEEs and PROJECTs participate, or the MANAGES relationship type in which EMPLOYEEs and DEPARTMENTs participate.</a:t>
            </a:r>
            <a:endParaRPr/>
          </a:p>
          <a:p>
            <a:pPr indent="-228600" lvl="0" marL="228600" rtl="0" algn="l">
              <a:lnSpc>
                <a:spcPct val="90000"/>
              </a:lnSpc>
              <a:spcBef>
                <a:spcPts val="1000"/>
              </a:spcBef>
              <a:spcAft>
                <a:spcPts val="0"/>
              </a:spcAft>
              <a:buClr>
                <a:schemeClr val="dk1"/>
              </a:buClr>
              <a:buSzPts val="2800"/>
              <a:buChar char="•"/>
            </a:pPr>
            <a:r>
              <a:rPr lang="en-US"/>
              <a:t>The degree of a relationship type is the number of participating entity types.</a:t>
            </a:r>
            <a:endParaRPr/>
          </a:p>
          <a:p>
            <a:pPr indent="-228600" lvl="1" marL="685800" rtl="0" algn="l">
              <a:lnSpc>
                <a:spcPct val="90000"/>
              </a:lnSpc>
              <a:spcBef>
                <a:spcPts val="500"/>
              </a:spcBef>
              <a:spcAft>
                <a:spcPts val="0"/>
              </a:spcAft>
              <a:buClr>
                <a:schemeClr val="dk1"/>
              </a:buClr>
              <a:buSzPts val="2400"/>
              <a:buChar char="•"/>
            </a:pPr>
            <a:r>
              <a:rPr lang="en-US"/>
              <a:t>Both MANAGES and WORKS_ON are binary relationships.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64646"/>
              </a:buClr>
              <a:buSzPts val="4400"/>
              <a:buFont typeface="Times New Roman"/>
              <a:buNone/>
            </a:pPr>
            <a:r>
              <a:rPr b="1" i="0" lang="en-US" sz="4400" u="none" cap="none" strike="noStrike">
                <a:solidFill>
                  <a:srgbClr val="464646"/>
                </a:solidFill>
                <a:latin typeface="Times New Roman"/>
                <a:ea typeface="Times New Roman"/>
                <a:cs typeface="Times New Roman"/>
                <a:sym typeface="Times New Roman"/>
              </a:rPr>
              <a:t>Relationship Types</a:t>
            </a:r>
            <a:endParaRPr/>
          </a:p>
        </p:txBody>
      </p:sp>
      <p:sp>
        <p:nvSpPr>
          <p:cNvPr id="198" name="Google Shape;19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110522" marR="0" rtl="0" algn="l">
              <a:lnSpc>
                <a:spcPct val="100000"/>
              </a:lnSpc>
              <a:spcBef>
                <a:spcPts val="0"/>
              </a:spcBef>
              <a:spcAft>
                <a:spcPts val="0"/>
              </a:spcAft>
              <a:buClr>
                <a:srgbClr val="2DA2BF"/>
              </a:buClr>
              <a:buSzPts val="1836"/>
              <a:buNone/>
            </a:pPr>
            <a:r>
              <a:rPr b="0" i="0" lang="en-US" sz="2800" u="none" cap="none" strike="noStrike">
                <a:solidFill>
                  <a:srgbClr val="000000"/>
                </a:solidFill>
                <a:latin typeface="Times New Roman"/>
                <a:ea typeface="Times New Roman"/>
                <a:cs typeface="Times New Roman"/>
                <a:sym typeface="Times New Roman"/>
              </a:rPr>
              <a:t>There are different types of Relationships like:</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Binary Relationship</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Ternary Relationship</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 N-Ary Relationship</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Recursive Relationship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04" name="Google Shape;204;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Binary Relationship</a:t>
            </a:r>
            <a:r>
              <a:rPr lang="en-US"/>
              <a:t>:</a:t>
            </a:r>
            <a:endParaRPr/>
          </a:p>
          <a:p>
            <a:pPr indent="-228600" lvl="0" marL="228600" rtl="0" algn="l">
              <a:lnSpc>
                <a:spcPct val="90000"/>
              </a:lnSpc>
              <a:spcBef>
                <a:spcPts val="1000"/>
              </a:spcBef>
              <a:spcAft>
                <a:spcPts val="0"/>
              </a:spcAft>
              <a:buClr>
                <a:schemeClr val="dk1"/>
              </a:buClr>
              <a:buSzPts val="2800"/>
              <a:buChar char="•"/>
            </a:pPr>
            <a:r>
              <a:rPr lang="en-US"/>
              <a:t>When there is a relationship between </a:t>
            </a:r>
            <a:endParaRPr/>
          </a:p>
          <a:p>
            <a:pPr indent="0" lvl="0" marL="0" rtl="0" algn="l">
              <a:lnSpc>
                <a:spcPct val="90000"/>
              </a:lnSpc>
              <a:spcBef>
                <a:spcPts val="1000"/>
              </a:spcBef>
              <a:spcAft>
                <a:spcPts val="0"/>
              </a:spcAft>
              <a:buClr>
                <a:schemeClr val="dk1"/>
              </a:buClr>
              <a:buSzPts val="2800"/>
              <a:buNone/>
            </a:pPr>
            <a:r>
              <a:rPr lang="en-US"/>
              <a:t>   two different entities, it is known as </a:t>
            </a:r>
            <a:endParaRPr/>
          </a:p>
          <a:p>
            <a:pPr indent="0" lvl="0" marL="0" rtl="0" algn="l">
              <a:lnSpc>
                <a:spcPct val="90000"/>
              </a:lnSpc>
              <a:spcBef>
                <a:spcPts val="1000"/>
              </a:spcBef>
              <a:spcAft>
                <a:spcPts val="0"/>
              </a:spcAft>
              <a:buClr>
                <a:schemeClr val="dk1"/>
              </a:buClr>
              <a:buSzPts val="2800"/>
              <a:buNone/>
            </a:pPr>
            <a:r>
              <a:rPr lang="en-US"/>
              <a:t>   a binary relationship.</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Ternary Relationship</a:t>
            </a:r>
            <a:r>
              <a:rPr lang="en-US"/>
              <a:t>:</a:t>
            </a:r>
            <a:endParaRPr/>
          </a:p>
          <a:p>
            <a:pPr indent="-228600" lvl="0" marL="228600" rtl="0" algn="l">
              <a:lnSpc>
                <a:spcPct val="90000"/>
              </a:lnSpc>
              <a:spcBef>
                <a:spcPts val="1000"/>
              </a:spcBef>
              <a:spcAft>
                <a:spcPts val="0"/>
              </a:spcAft>
              <a:buClr>
                <a:schemeClr val="dk1"/>
              </a:buClr>
              <a:buSzPts val="2800"/>
              <a:buChar char="•"/>
            </a:pPr>
            <a:r>
              <a:rPr lang="en-US"/>
              <a:t>When there is a relationship between </a:t>
            </a:r>
            <a:endParaRPr/>
          </a:p>
          <a:p>
            <a:pPr indent="0" lvl="0" marL="0" rtl="0" algn="l">
              <a:lnSpc>
                <a:spcPct val="90000"/>
              </a:lnSpc>
              <a:spcBef>
                <a:spcPts val="1000"/>
              </a:spcBef>
              <a:spcAft>
                <a:spcPts val="0"/>
              </a:spcAft>
              <a:buClr>
                <a:schemeClr val="dk1"/>
              </a:buClr>
              <a:buSzPts val="2800"/>
              <a:buNone/>
            </a:pPr>
            <a:r>
              <a:rPr lang="en-US"/>
              <a:t>   three different entities, it is known as </a:t>
            </a:r>
            <a:endParaRPr/>
          </a:p>
          <a:p>
            <a:pPr indent="0" lvl="0" marL="0" rtl="0" algn="l">
              <a:lnSpc>
                <a:spcPct val="90000"/>
              </a:lnSpc>
              <a:spcBef>
                <a:spcPts val="1000"/>
              </a:spcBef>
              <a:spcAft>
                <a:spcPts val="0"/>
              </a:spcAft>
              <a:buClr>
                <a:schemeClr val="dk1"/>
              </a:buClr>
              <a:buSzPts val="2800"/>
              <a:buNone/>
            </a:pPr>
            <a:r>
              <a:rPr lang="en-US"/>
              <a:t>   a ternary relationship.</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05" name="Google Shape;205;p31"/>
          <p:cNvPicPr preferRelativeResize="0"/>
          <p:nvPr/>
        </p:nvPicPr>
        <p:blipFill rotWithShape="1">
          <a:blip r:embed="rId3">
            <a:alphaModFix/>
          </a:blip>
          <a:srcRect b="0" l="0" r="0" t="0"/>
          <a:stretch/>
        </p:blipFill>
        <p:spPr>
          <a:xfrm>
            <a:off x="6712406" y="4198660"/>
            <a:ext cx="3990229" cy="1978303"/>
          </a:xfrm>
          <a:prstGeom prst="rect">
            <a:avLst/>
          </a:prstGeom>
          <a:noFill/>
          <a:ln>
            <a:noFill/>
          </a:ln>
        </p:spPr>
      </p:pic>
      <p:pic>
        <p:nvPicPr>
          <p:cNvPr id="206" name="Google Shape;206;p31"/>
          <p:cNvPicPr preferRelativeResize="0"/>
          <p:nvPr/>
        </p:nvPicPr>
        <p:blipFill rotWithShape="1">
          <a:blip r:embed="rId4">
            <a:alphaModFix/>
          </a:blip>
          <a:srcRect b="0" l="0" r="0" t="0"/>
          <a:stretch/>
        </p:blipFill>
        <p:spPr>
          <a:xfrm>
            <a:off x="6810974" y="1937822"/>
            <a:ext cx="4913848" cy="19783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 calcmode="lin" valueType="num">
                                      <p:cBhvr additive="base">
                                        <p:cTn dur="500"/>
                                        <p:tgtEl>
                                          <p:spTgt spid="2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 calcmode="lin" valueType="num">
                                      <p:cBhvr additive="base">
                                        <p:cTn dur="500"/>
                                        <p:tgtEl>
                                          <p:spTgt spid="20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 calcmode="lin" valueType="num">
                                      <p:cBhvr additive="base">
                                        <p:cTn dur="500"/>
                                        <p:tgtEl>
                                          <p:spTgt spid="20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 calcmode="lin" valueType="num">
                                      <p:cBhvr additive="base">
                                        <p:cTn dur="500"/>
                                        <p:tgtEl>
                                          <p:spTgt spid="20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 calcmode="lin" valueType="num">
                                      <p:cBhvr additive="base">
                                        <p:cTn dur="500"/>
                                        <p:tgtEl>
                                          <p:spTgt spid="20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5" st="5"/>
                                            </p:txEl>
                                          </p:spTgt>
                                        </p:tgtEl>
                                        <p:attrNameLst>
                                          <p:attrName>style.visibility</p:attrName>
                                        </p:attrNameLst>
                                      </p:cBhvr>
                                      <p:to>
                                        <p:strVal val="visible"/>
                                      </p:to>
                                    </p:set>
                                    <p:anim calcmode="lin" valueType="num">
                                      <p:cBhvr additive="base">
                                        <p:cTn dur="500"/>
                                        <p:tgtEl>
                                          <p:spTgt spid="20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6" st="6"/>
                                            </p:txEl>
                                          </p:spTgt>
                                        </p:tgtEl>
                                        <p:attrNameLst>
                                          <p:attrName>style.visibility</p:attrName>
                                        </p:attrNameLst>
                                      </p:cBhvr>
                                      <p:to>
                                        <p:strVal val="visible"/>
                                      </p:to>
                                    </p:set>
                                    <p:anim calcmode="lin" valueType="num">
                                      <p:cBhvr additive="base">
                                        <p:cTn dur="500"/>
                                        <p:tgtEl>
                                          <p:spTgt spid="20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7" st="7"/>
                                            </p:txEl>
                                          </p:spTgt>
                                        </p:tgtEl>
                                        <p:attrNameLst>
                                          <p:attrName>style.visibility</p:attrName>
                                        </p:attrNameLst>
                                      </p:cBhvr>
                                      <p:to>
                                        <p:strVal val="visible"/>
                                      </p:to>
                                    </p:set>
                                    <p:anim calcmode="lin" valueType="num">
                                      <p:cBhvr additive="base">
                                        <p:cTn dur="500"/>
                                        <p:tgtEl>
                                          <p:spTgt spid="20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8" st="8"/>
                                            </p:txEl>
                                          </p:spTgt>
                                        </p:tgtEl>
                                        <p:attrNameLst>
                                          <p:attrName>style.visibility</p:attrName>
                                        </p:attrNameLst>
                                      </p:cBhvr>
                                      <p:to>
                                        <p:strVal val="visible"/>
                                      </p:to>
                                    </p:set>
                                    <p:anim calcmode="lin" valueType="num">
                                      <p:cBhvr additive="base">
                                        <p:cTn dur="500"/>
                                        <p:tgtEl>
                                          <p:spTgt spid="20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9" st="9"/>
                                            </p:txEl>
                                          </p:spTgt>
                                        </p:tgtEl>
                                        <p:attrNameLst>
                                          <p:attrName>style.visibility</p:attrName>
                                        </p:attrNameLst>
                                      </p:cBhvr>
                                      <p:to>
                                        <p:strVal val="visible"/>
                                      </p:to>
                                    </p:set>
                                    <p:anim calcmode="lin" valueType="num">
                                      <p:cBhvr additive="base">
                                        <p:cTn dur="500"/>
                                        <p:tgtEl>
                                          <p:spTgt spid="20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10" st="10"/>
                                            </p:txEl>
                                          </p:spTgt>
                                        </p:tgtEl>
                                        <p:attrNameLst>
                                          <p:attrName>style.visibility</p:attrName>
                                        </p:attrNameLst>
                                      </p:cBhvr>
                                      <p:to>
                                        <p:strVal val="visible"/>
                                      </p:to>
                                    </p:set>
                                    <p:anim calcmode="lin" valueType="num">
                                      <p:cBhvr additive="base">
                                        <p:cTn dur="500"/>
                                        <p:tgtEl>
                                          <p:spTgt spid="204">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idx="1" type="body"/>
          </p:nvPr>
        </p:nvSpPr>
        <p:spPr>
          <a:xfrm>
            <a:off x="484909" y="581891"/>
            <a:ext cx="10868891" cy="559507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N-Ary Relationship</a:t>
            </a:r>
            <a:r>
              <a:rPr lang="en-US"/>
              <a:t>: When any relationship consists of more than two Entities then it is called N-ary relationship.</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lang="en-US"/>
              <a:t>Recursive Relationship</a:t>
            </a:r>
            <a:endParaRPr/>
          </a:p>
          <a:p>
            <a:pPr indent="-228600" lvl="0" marL="228600" rtl="0" algn="l">
              <a:lnSpc>
                <a:spcPct val="90000"/>
              </a:lnSpc>
              <a:spcBef>
                <a:spcPts val="1000"/>
              </a:spcBef>
              <a:spcAft>
                <a:spcPts val="0"/>
              </a:spcAft>
              <a:buClr>
                <a:schemeClr val="dk1"/>
              </a:buClr>
              <a:buSzPct val="100000"/>
              <a:buChar char="•"/>
            </a:pPr>
            <a:r>
              <a:rPr lang="en-US"/>
              <a:t>A relationship between two entities of </a:t>
            </a:r>
            <a:endParaRPr/>
          </a:p>
          <a:p>
            <a:pPr indent="0" lvl="0" marL="0" rtl="0" algn="l">
              <a:lnSpc>
                <a:spcPct val="90000"/>
              </a:lnSpc>
              <a:spcBef>
                <a:spcPts val="1000"/>
              </a:spcBef>
              <a:spcAft>
                <a:spcPts val="0"/>
              </a:spcAft>
              <a:buClr>
                <a:schemeClr val="dk1"/>
              </a:buClr>
              <a:buSzPct val="100000"/>
              <a:buNone/>
            </a:pPr>
            <a:r>
              <a:rPr lang="en-US"/>
              <a:t>  similar entity type is called a recursive </a:t>
            </a:r>
            <a:endParaRPr/>
          </a:p>
          <a:p>
            <a:pPr indent="0" lvl="0" marL="0" rtl="0" algn="l">
              <a:lnSpc>
                <a:spcPct val="90000"/>
              </a:lnSpc>
              <a:spcBef>
                <a:spcPts val="1000"/>
              </a:spcBef>
              <a:spcAft>
                <a:spcPts val="0"/>
              </a:spcAft>
              <a:buClr>
                <a:schemeClr val="dk1"/>
              </a:buClr>
              <a:buSzPct val="100000"/>
              <a:buNone/>
            </a:pPr>
            <a:r>
              <a:rPr lang="en-US"/>
              <a:t>  relationship. </a:t>
            </a:r>
            <a:endParaRPr/>
          </a:p>
          <a:p>
            <a:pPr indent="-228600" lvl="0" marL="228600" rtl="0" algn="l">
              <a:lnSpc>
                <a:spcPct val="90000"/>
              </a:lnSpc>
              <a:spcBef>
                <a:spcPts val="1000"/>
              </a:spcBef>
              <a:spcAft>
                <a:spcPts val="0"/>
              </a:spcAft>
              <a:buClr>
                <a:schemeClr val="dk1"/>
              </a:buClr>
              <a:buSzPct val="100000"/>
              <a:buChar char="•"/>
            </a:pPr>
            <a:r>
              <a:rPr lang="en-US"/>
              <a:t>Here the same entity type participates</a:t>
            </a:r>
            <a:endParaRPr/>
          </a:p>
          <a:p>
            <a:pPr indent="0" lvl="0" marL="0" rtl="0" algn="l">
              <a:lnSpc>
                <a:spcPct val="90000"/>
              </a:lnSpc>
              <a:spcBef>
                <a:spcPts val="1000"/>
              </a:spcBef>
              <a:spcAft>
                <a:spcPts val="0"/>
              </a:spcAft>
              <a:buClr>
                <a:schemeClr val="dk1"/>
              </a:buClr>
              <a:buSzPct val="100000"/>
              <a:buNone/>
            </a:pPr>
            <a:r>
              <a:rPr lang="en-US"/>
              <a:t>   more than once in a relationship type </a:t>
            </a:r>
            <a:endParaRPr/>
          </a:p>
          <a:p>
            <a:pPr indent="0" lvl="0" marL="0" rtl="0" algn="l">
              <a:lnSpc>
                <a:spcPct val="90000"/>
              </a:lnSpc>
              <a:spcBef>
                <a:spcPts val="1000"/>
              </a:spcBef>
              <a:spcAft>
                <a:spcPts val="0"/>
              </a:spcAft>
              <a:buClr>
                <a:schemeClr val="dk1"/>
              </a:buClr>
              <a:buSzPct val="100000"/>
              <a:buNone/>
            </a:pPr>
            <a:r>
              <a:rPr lang="en-US"/>
              <a:t>   with a different role for each instance.</a:t>
            </a:r>
            <a:endParaRPr/>
          </a:p>
          <a:p>
            <a:pPr indent="-228600" lvl="0" marL="228600" rtl="0" algn="l">
              <a:lnSpc>
                <a:spcPct val="90000"/>
              </a:lnSpc>
              <a:spcBef>
                <a:spcPts val="1000"/>
              </a:spcBef>
              <a:spcAft>
                <a:spcPts val="0"/>
              </a:spcAft>
              <a:buClr>
                <a:schemeClr val="dk1"/>
              </a:buClr>
              <a:buSzPct val="100000"/>
              <a:buChar char="•"/>
            </a:pPr>
            <a:r>
              <a:rPr lang="en-US"/>
              <a:t>We indicate roles in E-R diagrams by labeling the </a:t>
            </a:r>
            <a:endParaRPr/>
          </a:p>
          <a:p>
            <a:pPr indent="0" lvl="0" marL="0" rtl="0" algn="l">
              <a:lnSpc>
                <a:spcPct val="90000"/>
              </a:lnSpc>
              <a:spcBef>
                <a:spcPts val="1000"/>
              </a:spcBef>
              <a:spcAft>
                <a:spcPts val="0"/>
              </a:spcAft>
              <a:buClr>
                <a:schemeClr val="dk1"/>
              </a:buClr>
              <a:buSzPct val="100000"/>
              <a:buNone/>
            </a:pPr>
            <a:r>
              <a:rPr lang="en-US"/>
              <a:t>  lines that connect diamonds to rectangles.</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212" name="Google Shape;212;p32"/>
          <p:cNvPicPr preferRelativeResize="0"/>
          <p:nvPr/>
        </p:nvPicPr>
        <p:blipFill rotWithShape="1">
          <a:blip r:embed="rId3">
            <a:alphaModFix/>
          </a:blip>
          <a:srcRect b="0" l="0" r="0" t="0"/>
          <a:stretch/>
        </p:blipFill>
        <p:spPr>
          <a:xfrm>
            <a:off x="7093526" y="1214701"/>
            <a:ext cx="3351960" cy="1294560"/>
          </a:xfrm>
          <a:prstGeom prst="rect">
            <a:avLst/>
          </a:prstGeom>
          <a:noFill/>
          <a:ln>
            <a:noFill/>
          </a:ln>
        </p:spPr>
      </p:pic>
      <p:pic>
        <p:nvPicPr>
          <p:cNvPr id="213" name="Google Shape;213;p32"/>
          <p:cNvPicPr preferRelativeResize="0"/>
          <p:nvPr/>
        </p:nvPicPr>
        <p:blipFill rotWithShape="1">
          <a:blip r:embed="rId4">
            <a:alphaModFix/>
          </a:blip>
          <a:srcRect b="0" l="0" r="0" t="0"/>
          <a:stretch/>
        </p:blipFill>
        <p:spPr>
          <a:xfrm>
            <a:off x="7800108" y="3355135"/>
            <a:ext cx="3351960" cy="24490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 calcmode="lin" valueType="num">
                                      <p:cBhvr additive="base">
                                        <p:cTn dur="500"/>
                                        <p:tgtEl>
                                          <p:spTgt spid="2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anim calcmode="lin" valueType="num">
                                      <p:cBhvr additive="base">
                                        <p:cTn dur="500"/>
                                        <p:tgtEl>
                                          <p:spTgt spid="2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2" st="2"/>
                                            </p:txEl>
                                          </p:spTgt>
                                        </p:tgtEl>
                                        <p:attrNameLst>
                                          <p:attrName>style.visibility</p:attrName>
                                        </p:attrNameLst>
                                      </p:cBhvr>
                                      <p:to>
                                        <p:strVal val="visible"/>
                                      </p:to>
                                    </p:set>
                                    <p:anim calcmode="lin" valueType="num">
                                      <p:cBhvr additive="base">
                                        <p:cTn dur="500"/>
                                        <p:tgtEl>
                                          <p:spTgt spid="2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3" st="3"/>
                                            </p:txEl>
                                          </p:spTgt>
                                        </p:tgtEl>
                                        <p:attrNameLst>
                                          <p:attrName>style.visibility</p:attrName>
                                        </p:attrNameLst>
                                      </p:cBhvr>
                                      <p:to>
                                        <p:strVal val="visible"/>
                                      </p:to>
                                    </p:set>
                                    <p:anim calcmode="lin" valueType="num">
                                      <p:cBhvr additive="base">
                                        <p:cTn dur="500"/>
                                        <p:tgtEl>
                                          <p:spTgt spid="2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4" st="4"/>
                                            </p:txEl>
                                          </p:spTgt>
                                        </p:tgtEl>
                                        <p:attrNameLst>
                                          <p:attrName>style.visibility</p:attrName>
                                        </p:attrNameLst>
                                      </p:cBhvr>
                                      <p:to>
                                        <p:strVal val="visible"/>
                                      </p:to>
                                    </p:set>
                                    <p:anim calcmode="lin" valueType="num">
                                      <p:cBhvr additive="base">
                                        <p:cTn dur="500"/>
                                        <p:tgtEl>
                                          <p:spTgt spid="2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5" st="5"/>
                                            </p:txEl>
                                          </p:spTgt>
                                        </p:tgtEl>
                                        <p:attrNameLst>
                                          <p:attrName>style.visibility</p:attrName>
                                        </p:attrNameLst>
                                      </p:cBhvr>
                                      <p:to>
                                        <p:strVal val="visible"/>
                                      </p:to>
                                    </p:set>
                                    <p:anim calcmode="lin" valueType="num">
                                      <p:cBhvr additive="base">
                                        <p:cTn dur="500"/>
                                        <p:tgtEl>
                                          <p:spTgt spid="2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6" st="6"/>
                                            </p:txEl>
                                          </p:spTgt>
                                        </p:tgtEl>
                                        <p:attrNameLst>
                                          <p:attrName>style.visibility</p:attrName>
                                        </p:attrNameLst>
                                      </p:cBhvr>
                                      <p:to>
                                        <p:strVal val="visible"/>
                                      </p:to>
                                    </p:set>
                                    <p:anim calcmode="lin" valueType="num">
                                      <p:cBhvr additive="base">
                                        <p:cTn dur="500"/>
                                        <p:tgtEl>
                                          <p:spTgt spid="21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7" st="7"/>
                                            </p:txEl>
                                          </p:spTgt>
                                        </p:tgtEl>
                                        <p:attrNameLst>
                                          <p:attrName>style.visibility</p:attrName>
                                        </p:attrNameLst>
                                      </p:cBhvr>
                                      <p:to>
                                        <p:strVal val="visible"/>
                                      </p:to>
                                    </p:set>
                                    <p:anim calcmode="lin" valueType="num">
                                      <p:cBhvr additive="base">
                                        <p:cTn dur="500"/>
                                        <p:tgtEl>
                                          <p:spTgt spid="21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8" st="8"/>
                                            </p:txEl>
                                          </p:spTgt>
                                        </p:tgtEl>
                                        <p:attrNameLst>
                                          <p:attrName>style.visibility</p:attrName>
                                        </p:attrNameLst>
                                      </p:cBhvr>
                                      <p:to>
                                        <p:strVal val="visible"/>
                                      </p:to>
                                    </p:set>
                                    <p:anim calcmode="lin" valueType="num">
                                      <p:cBhvr additive="base">
                                        <p:cTn dur="500"/>
                                        <p:tgtEl>
                                          <p:spTgt spid="21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9" st="9"/>
                                            </p:txEl>
                                          </p:spTgt>
                                        </p:tgtEl>
                                        <p:attrNameLst>
                                          <p:attrName>style.visibility</p:attrName>
                                        </p:attrNameLst>
                                      </p:cBhvr>
                                      <p:to>
                                        <p:strVal val="visible"/>
                                      </p:to>
                                    </p:set>
                                    <p:anim calcmode="lin" valueType="num">
                                      <p:cBhvr additive="base">
                                        <p:cTn dur="500"/>
                                        <p:tgtEl>
                                          <p:spTgt spid="211">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10" st="10"/>
                                            </p:txEl>
                                          </p:spTgt>
                                        </p:tgtEl>
                                        <p:attrNameLst>
                                          <p:attrName>style.visibility</p:attrName>
                                        </p:attrNameLst>
                                      </p:cBhvr>
                                      <p:to>
                                        <p:strVal val="visible"/>
                                      </p:to>
                                    </p:set>
                                    <p:anim calcmode="lin" valueType="num">
                                      <p:cBhvr additive="base">
                                        <p:cTn dur="500"/>
                                        <p:tgtEl>
                                          <p:spTgt spid="211">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11" st="11"/>
                                            </p:txEl>
                                          </p:spTgt>
                                        </p:tgtEl>
                                        <p:attrNameLst>
                                          <p:attrName>style.visibility</p:attrName>
                                        </p:attrNameLst>
                                      </p:cBhvr>
                                      <p:to>
                                        <p:strVal val="visible"/>
                                      </p:to>
                                    </p:set>
                                    <p:anim calcmode="lin" valueType="num">
                                      <p:cBhvr additive="base">
                                        <p:cTn dur="500"/>
                                        <p:tgtEl>
                                          <p:spTgt spid="211">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Participation Constraint</a:t>
            </a:r>
            <a:endParaRPr/>
          </a:p>
        </p:txBody>
      </p:sp>
      <p:sp>
        <p:nvSpPr>
          <p:cNvPr id="219" name="Google Shape;219;p33"/>
          <p:cNvSpPr txBox="1"/>
          <p:nvPr>
            <p:ph idx="1" type="body"/>
          </p:nvPr>
        </p:nvSpPr>
        <p:spPr>
          <a:xfrm>
            <a:off x="838200" y="1501954"/>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Participation Constraint is applied on the entity participating in the relationship set.</a:t>
            </a:r>
            <a:endParaRPr/>
          </a:p>
          <a:p>
            <a:pPr indent="-228600" lvl="0" marL="228600" rtl="0" algn="l">
              <a:lnSpc>
                <a:spcPct val="90000"/>
              </a:lnSpc>
              <a:spcBef>
                <a:spcPts val="1000"/>
              </a:spcBef>
              <a:spcAft>
                <a:spcPts val="0"/>
              </a:spcAft>
              <a:buClr>
                <a:schemeClr val="dk1"/>
              </a:buClr>
              <a:buSzPts val="2800"/>
              <a:buChar char="•"/>
            </a:pPr>
            <a:r>
              <a:rPr b="1" lang="en-US"/>
              <a:t>Total Participation</a:t>
            </a:r>
            <a:r>
              <a:rPr lang="en-US"/>
              <a:t>:</a:t>
            </a:r>
            <a:endParaRPr/>
          </a:p>
          <a:p>
            <a:pPr indent="-228600" lvl="0" marL="228600" rtl="0" algn="l">
              <a:lnSpc>
                <a:spcPct val="90000"/>
              </a:lnSpc>
              <a:spcBef>
                <a:spcPts val="1000"/>
              </a:spcBef>
              <a:spcAft>
                <a:spcPts val="0"/>
              </a:spcAft>
              <a:buClr>
                <a:schemeClr val="dk1"/>
              </a:buClr>
              <a:buSzPts val="2800"/>
              <a:buChar char="•"/>
            </a:pPr>
            <a:r>
              <a:rPr lang="en-US"/>
              <a:t>Each entity in the entity set must participate in the relationship. </a:t>
            </a:r>
            <a:endParaRPr/>
          </a:p>
          <a:p>
            <a:pPr indent="-228600" lvl="0" marL="228600" rtl="0" algn="l">
              <a:lnSpc>
                <a:spcPct val="90000"/>
              </a:lnSpc>
              <a:spcBef>
                <a:spcPts val="1000"/>
              </a:spcBef>
              <a:spcAft>
                <a:spcPts val="0"/>
              </a:spcAft>
              <a:buClr>
                <a:schemeClr val="dk1"/>
              </a:buClr>
              <a:buSzPts val="2800"/>
              <a:buChar char="•"/>
            </a:pPr>
            <a:r>
              <a:rPr lang="en-US"/>
              <a:t>If each student must enroll in a course, the participation of student will be total. </a:t>
            </a:r>
            <a:endParaRPr/>
          </a:p>
          <a:p>
            <a:pPr indent="-228600" lvl="0" marL="228600" rtl="0" algn="l">
              <a:lnSpc>
                <a:spcPct val="90000"/>
              </a:lnSpc>
              <a:spcBef>
                <a:spcPts val="1000"/>
              </a:spcBef>
              <a:spcAft>
                <a:spcPts val="0"/>
              </a:spcAft>
              <a:buClr>
                <a:schemeClr val="dk1"/>
              </a:buClr>
              <a:buSzPts val="2800"/>
              <a:buChar char="•"/>
            </a:pPr>
            <a:r>
              <a:rPr lang="en-US"/>
              <a:t>Total participation is shown by double line in ER diagram.</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0" name="Google Shape;220;p33"/>
          <p:cNvPicPr preferRelativeResize="0"/>
          <p:nvPr/>
        </p:nvPicPr>
        <p:blipFill rotWithShape="1">
          <a:blip r:embed="rId3">
            <a:alphaModFix/>
          </a:blip>
          <a:srcRect b="0" l="0" r="0" t="0"/>
          <a:stretch/>
        </p:blipFill>
        <p:spPr>
          <a:xfrm>
            <a:off x="3768436" y="4815969"/>
            <a:ext cx="3325092" cy="16769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animEffect filter="fade" transition="in">
                                      <p:cBhvr>
                                        <p:cTn dur="1000"/>
                                        <p:tgtEl>
                                          <p:spTgt spid="2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animEffect filter="fade" transition="in">
                                      <p:cBhvr>
                                        <p:cTn dur="1000"/>
                                        <p:tgtEl>
                                          <p:spTgt spid="2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2" st="2"/>
                                            </p:txEl>
                                          </p:spTgt>
                                        </p:tgtEl>
                                        <p:attrNameLst>
                                          <p:attrName>style.visibility</p:attrName>
                                        </p:attrNameLst>
                                      </p:cBhvr>
                                      <p:to>
                                        <p:strVal val="visible"/>
                                      </p:to>
                                    </p:set>
                                    <p:animEffect filter="fade" transition="in">
                                      <p:cBhvr>
                                        <p:cTn dur="1000"/>
                                        <p:tgtEl>
                                          <p:spTgt spid="2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3" st="3"/>
                                            </p:txEl>
                                          </p:spTgt>
                                        </p:tgtEl>
                                        <p:attrNameLst>
                                          <p:attrName>style.visibility</p:attrName>
                                        </p:attrNameLst>
                                      </p:cBhvr>
                                      <p:to>
                                        <p:strVal val="visible"/>
                                      </p:to>
                                    </p:set>
                                    <p:animEffect filter="fade" transition="in">
                                      <p:cBhvr>
                                        <p:cTn dur="1000"/>
                                        <p:tgtEl>
                                          <p:spTgt spid="2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4" st="4"/>
                                            </p:txEl>
                                          </p:spTgt>
                                        </p:tgtEl>
                                        <p:attrNameLst>
                                          <p:attrName>style.visibility</p:attrName>
                                        </p:attrNameLst>
                                      </p:cBhvr>
                                      <p:to>
                                        <p:strVal val="visible"/>
                                      </p:to>
                                    </p:set>
                                    <p:animEffect filter="fade" transition="in">
                                      <p:cBhvr>
                                        <p:cTn dur="1000"/>
                                        <p:tgtEl>
                                          <p:spTgt spid="2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5" st="5"/>
                                            </p:txEl>
                                          </p:spTgt>
                                        </p:tgtEl>
                                        <p:attrNameLst>
                                          <p:attrName>style.visibility</p:attrName>
                                        </p:attrNameLst>
                                      </p:cBhvr>
                                      <p:to>
                                        <p:strVal val="visible"/>
                                      </p:to>
                                    </p:set>
                                    <p:animEffect filter="fade" transition="in">
                                      <p:cBhvr>
                                        <p:cTn dur="1000"/>
                                        <p:tgtEl>
                                          <p:spTgt spid="2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2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Partial Participation</a:t>
            </a:r>
            <a:endParaRPr/>
          </a:p>
        </p:txBody>
      </p:sp>
      <p:sp>
        <p:nvSpPr>
          <p:cNvPr id="226" name="Google Shape;226;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entity in the entity set may or may NOT participate in the relationship.</a:t>
            </a:r>
            <a:endParaRPr/>
          </a:p>
          <a:p>
            <a:pPr indent="-228600" lvl="0" marL="228600" rtl="0" algn="l">
              <a:lnSpc>
                <a:spcPct val="90000"/>
              </a:lnSpc>
              <a:spcBef>
                <a:spcPts val="1000"/>
              </a:spcBef>
              <a:spcAft>
                <a:spcPts val="0"/>
              </a:spcAft>
              <a:buClr>
                <a:schemeClr val="dk1"/>
              </a:buClr>
              <a:buSzPts val="2800"/>
              <a:buChar char="•"/>
            </a:pPr>
            <a:r>
              <a:rPr lang="en-US"/>
              <a:t> If some courses are not enrolled by any of the student, the participation of course will be partial.</a:t>
            </a:r>
            <a:endParaRPr/>
          </a:p>
          <a:p>
            <a:pPr indent="-228600" lvl="0" marL="228600" rtl="0" algn="l">
              <a:lnSpc>
                <a:spcPct val="90000"/>
              </a:lnSpc>
              <a:spcBef>
                <a:spcPts val="1000"/>
              </a:spcBef>
              <a:spcAft>
                <a:spcPts val="0"/>
              </a:spcAft>
              <a:buClr>
                <a:schemeClr val="dk1"/>
              </a:buClr>
              <a:buSzPts val="2800"/>
              <a:buChar char="•"/>
            </a:pPr>
            <a:r>
              <a:rPr lang="en-US"/>
              <a:t>The diagram depicts the ‘Enrolled in’ relationship set with Student Entity set having total participation and Course Entity set having partial participation.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7" name="Google Shape;227;p34"/>
          <p:cNvPicPr preferRelativeResize="0"/>
          <p:nvPr/>
        </p:nvPicPr>
        <p:blipFill rotWithShape="1">
          <a:blip r:embed="rId3">
            <a:alphaModFix/>
          </a:blip>
          <a:srcRect b="0" l="0" r="0" t="0"/>
          <a:stretch/>
        </p:blipFill>
        <p:spPr>
          <a:xfrm>
            <a:off x="4696691" y="4698083"/>
            <a:ext cx="4037760" cy="1478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anim calcmode="lin" valueType="num">
                                      <p:cBhvr additive="base">
                                        <p:cTn dur="500"/>
                                        <p:tgtEl>
                                          <p:spTgt spid="2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anim calcmode="lin" valueType="num">
                                      <p:cBhvr additive="base">
                                        <p:cTn dur="500"/>
                                        <p:tgtEl>
                                          <p:spTgt spid="2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anim calcmode="lin" valueType="num">
                                      <p:cBhvr additive="base">
                                        <p:cTn dur="500"/>
                                        <p:tgtEl>
                                          <p:spTgt spid="2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anim calcmode="lin" valueType="num">
                                      <p:cBhvr additive="base">
                                        <p:cTn dur="500"/>
                                        <p:tgtEl>
                                          <p:spTgt spid="2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Mapping Cardinality/Mapping Constraints</a:t>
            </a:r>
            <a:endParaRPr/>
          </a:p>
        </p:txBody>
      </p:sp>
      <p:sp>
        <p:nvSpPr>
          <p:cNvPr id="233" name="Google Shape;233;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Mapping cardinalities, or cardinality ratios, express the number of entities to which another entity can be associated via a relationship set.</a:t>
            </a:r>
            <a:endParaRPr/>
          </a:p>
          <a:p>
            <a:pPr indent="-228600" lvl="0" marL="228600" rtl="0" algn="l">
              <a:lnSpc>
                <a:spcPct val="90000"/>
              </a:lnSpc>
              <a:spcBef>
                <a:spcPts val="1000"/>
              </a:spcBef>
              <a:spcAft>
                <a:spcPts val="0"/>
              </a:spcAft>
              <a:buClr>
                <a:schemeClr val="dk1"/>
              </a:buClr>
              <a:buSzPts val="2800"/>
              <a:buChar char="•"/>
            </a:pPr>
            <a:r>
              <a:rPr lang="en-US"/>
              <a:t>For a binary relationship set R between entity sets A and B, the mapping cardinality must be one of the following:</a:t>
            </a:r>
            <a:endParaRPr/>
          </a:p>
          <a:p>
            <a:pPr indent="-228600" lvl="0" marL="228600" rtl="0" algn="l">
              <a:lnSpc>
                <a:spcPct val="90000"/>
              </a:lnSpc>
              <a:spcBef>
                <a:spcPts val="1000"/>
              </a:spcBef>
              <a:spcAft>
                <a:spcPts val="0"/>
              </a:spcAft>
              <a:buClr>
                <a:schemeClr val="dk1"/>
              </a:buClr>
              <a:buSzPts val="2800"/>
              <a:buChar char="•"/>
            </a:pPr>
            <a:r>
              <a:rPr lang="en-US"/>
              <a:t>One-To-One</a:t>
            </a:r>
            <a:endParaRPr/>
          </a:p>
          <a:p>
            <a:pPr indent="-228600" lvl="0" marL="228600" rtl="0" algn="l">
              <a:lnSpc>
                <a:spcPct val="90000"/>
              </a:lnSpc>
              <a:spcBef>
                <a:spcPts val="1000"/>
              </a:spcBef>
              <a:spcAft>
                <a:spcPts val="0"/>
              </a:spcAft>
              <a:buClr>
                <a:schemeClr val="dk1"/>
              </a:buClr>
              <a:buSzPts val="2800"/>
              <a:buChar char="•"/>
            </a:pPr>
            <a:r>
              <a:rPr lang="en-US"/>
              <a:t>One-To-Many</a:t>
            </a:r>
            <a:endParaRPr/>
          </a:p>
          <a:p>
            <a:pPr indent="-228600" lvl="0" marL="228600" rtl="0" algn="l">
              <a:lnSpc>
                <a:spcPct val="90000"/>
              </a:lnSpc>
              <a:spcBef>
                <a:spcPts val="1000"/>
              </a:spcBef>
              <a:spcAft>
                <a:spcPts val="0"/>
              </a:spcAft>
              <a:buClr>
                <a:schemeClr val="dk1"/>
              </a:buClr>
              <a:buSzPts val="2800"/>
              <a:buChar char="•"/>
            </a:pPr>
            <a:r>
              <a:rPr lang="en-US"/>
              <a:t>Many-To-One</a:t>
            </a:r>
            <a:endParaRPr/>
          </a:p>
          <a:p>
            <a:pPr indent="-228600" lvl="0" marL="228600" rtl="0" algn="l">
              <a:lnSpc>
                <a:spcPct val="90000"/>
              </a:lnSpc>
              <a:spcBef>
                <a:spcPts val="1000"/>
              </a:spcBef>
              <a:spcAft>
                <a:spcPts val="0"/>
              </a:spcAft>
              <a:buClr>
                <a:schemeClr val="dk1"/>
              </a:buClr>
              <a:buSzPts val="2800"/>
              <a:buChar char="•"/>
            </a:pPr>
            <a:r>
              <a:rPr lang="en-US"/>
              <a:t>Many-To-Many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One-To-One</a:t>
            </a:r>
            <a:endParaRPr/>
          </a:p>
        </p:txBody>
      </p:sp>
      <p:sp>
        <p:nvSpPr>
          <p:cNvPr id="239" name="Google Shape;239;p36"/>
          <p:cNvSpPr txBox="1"/>
          <p:nvPr>
            <p:ph idx="1" type="body"/>
          </p:nvPr>
        </p:nvSpPr>
        <p:spPr>
          <a:xfrm>
            <a:off x="838199" y="1825624"/>
            <a:ext cx="6144491" cy="483841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An entity in A is associated with at most one entity in B, and an entity in B is associated with at most one entity in A.</a:t>
            </a:r>
            <a:endParaRPr/>
          </a:p>
          <a:p>
            <a:pPr indent="-228600" lvl="0" marL="228600" rtl="0" algn="l">
              <a:lnSpc>
                <a:spcPct val="90000"/>
              </a:lnSpc>
              <a:spcBef>
                <a:spcPts val="1000"/>
              </a:spcBef>
              <a:spcAft>
                <a:spcPts val="0"/>
              </a:spcAft>
              <a:buClr>
                <a:schemeClr val="dk1"/>
              </a:buClr>
              <a:buSzPts val="2800"/>
              <a:buChar char="•"/>
            </a:pPr>
            <a:r>
              <a:rPr lang="en-US"/>
              <a:t>E.g. Student can enroll at most one course and course can have at most one student.</a:t>
            </a:r>
            <a:endParaRPr/>
          </a:p>
          <a:p>
            <a:pPr indent="-228600" lvl="0" marL="228600" rtl="0" algn="l">
              <a:lnSpc>
                <a:spcPct val="90000"/>
              </a:lnSpc>
              <a:spcBef>
                <a:spcPts val="1000"/>
              </a:spcBef>
              <a:spcAft>
                <a:spcPts val="0"/>
              </a:spcAft>
              <a:buClr>
                <a:schemeClr val="dk1"/>
              </a:buClr>
              <a:buSzPts val="2800"/>
              <a:buChar char="•"/>
            </a:pPr>
            <a:r>
              <a:rPr lang="en-US"/>
              <a:t>E.g. We draw a directed line from the relationship set advisor to both entity sets instructor and student. This indicates that an instructor may advise at most one student, and a student may have at most one advisor.</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40" name="Google Shape;240;p36"/>
          <p:cNvPicPr preferRelativeResize="0"/>
          <p:nvPr/>
        </p:nvPicPr>
        <p:blipFill rotWithShape="1">
          <a:blip r:embed="rId3">
            <a:alphaModFix/>
          </a:blip>
          <a:srcRect b="0" l="0" r="0" t="0"/>
          <a:stretch/>
        </p:blipFill>
        <p:spPr>
          <a:xfrm>
            <a:off x="7351352" y="3054902"/>
            <a:ext cx="4252066" cy="19029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2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Effect filter="fade" transition="in">
                                      <p:cBhvr>
                                        <p:cTn dur="1000"/>
                                        <p:tgtEl>
                                          <p:spTgt spid="2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Effect filter="fade" transition="in">
                                      <p:cBhvr>
                                        <p:cTn dur="1000"/>
                                        <p:tgtEl>
                                          <p:spTgt spid="2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Effect filter="fade" transition="in">
                                      <p:cBhvr>
                                        <p:cTn dur="1000"/>
                                        <p:tgtEl>
                                          <p:spTgt spid="23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nvSpPr>
        <p:spPr>
          <a:xfrm>
            <a:off x="5486400" y="1417379"/>
            <a:ext cx="6096000" cy="4706329"/>
          </a:xfrm>
          <a:prstGeom prst="rect">
            <a:avLst/>
          </a:prstGeom>
          <a:noFill/>
          <a:ln>
            <a:noFill/>
          </a:ln>
        </p:spPr>
        <p:txBody>
          <a:bodyPr anchorCtr="0" anchor="t" bIns="45000" lIns="90000" spcFirstLastPara="1" rIns="90000" wrap="square" tIns="45000">
            <a:normAutofit/>
          </a:bodyPr>
          <a:lstStyle/>
          <a:p>
            <a:pPr indent="-255600" lvl="0" marL="365760" marR="0" rtl="0" algn="just">
              <a:spcBef>
                <a:spcPts val="0"/>
              </a:spcBef>
              <a:spcAft>
                <a:spcPts val="0"/>
              </a:spcAft>
              <a:buClr>
                <a:srgbClr val="2DA2BF"/>
              </a:buClr>
              <a:buSzPts val="1700"/>
              <a:buFont typeface="Noto Sans Symbols"/>
              <a:buChar char="🞂"/>
            </a:pPr>
            <a:r>
              <a:rPr b="1" i="0" lang="en-US" sz="2500" u="none" cap="none" strike="noStrike">
                <a:solidFill>
                  <a:schemeClr val="dk1"/>
                </a:solidFill>
                <a:latin typeface="Times New Roman"/>
                <a:ea typeface="Times New Roman"/>
                <a:cs typeface="Times New Roman"/>
                <a:sym typeface="Times New Roman"/>
              </a:rPr>
              <a:t>One-To-Many:</a:t>
            </a:r>
            <a:r>
              <a:rPr b="0" i="0" lang="en-US" sz="2200" u="none" cap="none" strike="noStrike">
                <a:solidFill>
                  <a:schemeClr val="dk1"/>
                </a:solidFill>
                <a:latin typeface="Times New Roman"/>
                <a:ea typeface="Times New Roman"/>
                <a:cs typeface="Times New Roman"/>
                <a:sym typeface="Times New Roman"/>
              </a:rPr>
              <a:t>An entity in A is associated with any number (zero or more)of entities in B. An entity in B, however, can be associated with at most one entity in A.</a:t>
            </a:r>
            <a:r>
              <a:rPr b="0" i="1" lang="en-US" sz="2800" u="none" cap="none" strike="noStrike">
                <a:solidFill>
                  <a:schemeClr val="dk1"/>
                </a:solidFill>
                <a:latin typeface="Lucida Sans"/>
                <a:ea typeface="Lucida Sans"/>
                <a:cs typeface="Lucida Sans"/>
                <a:sym typeface="Lucida Sans"/>
              </a:rPr>
              <a:t> </a:t>
            </a:r>
            <a:endParaRPr b="0" i="0" sz="2800" u="none" cap="none" strike="noStrike">
              <a:solidFill>
                <a:schemeClr val="dk1"/>
              </a:solidFill>
              <a:latin typeface="Lucida Sans"/>
              <a:ea typeface="Lucida Sans"/>
              <a:cs typeface="Lucida Sans"/>
              <a:sym typeface="Lucida Sans"/>
            </a:endParaRPr>
          </a:p>
          <a:p>
            <a:pPr indent="-160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55598"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E.g. An instructor may advise many students, but a student may have at most one advisor.</a:t>
            </a:r>
            <a:endParaRPr/>
          </a:p>
          <a:p>
            <a:pPr indent="-160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55598"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e.g. A student can enrol for  many courses </a:t>
            </a:r>
            <a:endParaRPr b="0" i="0" sz="2200" u="none" cap="none" strike="noStrike">
              <a:solidFill>
                <a:schemeClr val="dk1"/>
              </a:solidFill>
              <a:latin typeface="Lucida Sans"/>
              <a:ea typeface="Lucida Sans"/>
              <a:cs typeface="Lucida Sans"/>
              <a:sym typeface="Lucida Sans"/>
            </a:endParaRPr>
          </a:p>
          <a:p>
            <a:pPr indent="0" lvl="0" marL="0" marR="0" rtl="0" algn="just">
              <a:spcBef>
                <a:spcPts val="400"/>
              </a:spcBef>
              <a:spcAft>
                <a:spcPts val="0"/>
              </a:spcAft>
              <a:buNone/>
            </a:pPr>
            <a:r>
              <a:t/>
            </a:r>
            <a:endParaRPr b="0" i="0" sz="2200" u="none" cap="none" strike="noStrike">
              <a:solidFill>
                <a:srgbClr val="FFFFFF"/>
              </a:solidFill>
              <a:latin typeface="Lucida Sans"/>
              <a:ea typeface="Lucida Sans"/>
              <a:cs typeface="Lucida Sans"/>
              <a:sym typeface="Lucida Sans"/>
            </a:endParaRPr>
          </a:p>
        </p:txBody>
      </p:sp>
      <p:sp>
        <p:nvSpPr>
          <p:cNvPr id="246" name="Google Shape;246;p37"/>
          <p:cNvSpPr txBox="1"/>
          <p:nvPr/>
        </p:nvSpPr>
        <p:spPr>
          <a:xfrm>
            <a:off x="1981200" y="274680"/>
            <a:ext cx="8229300" cy="1142700"/>
          </a:xfrm>
          <a:prstGeom prst="rect">
            <a:avLst/>
          </a:prstGeom>
          <a:noFill/>
          <a:ln>
            <a:noFill/>
          </a:ln>
        </p:spPr>
        <p:txBody>
          <a:bodyPr anchorCtr="0" anchor="ctr" bIns="45000" lIns="90000" spcFirstLastPara="1" rIns="90000" wrap="square" tIns="45000">
            <a:normAutofit/>
          </a:bodyPr>
          <a:lstStyle/>
          <a:p>
            <a:pPr indent="0" lvl="0" marL="0" marR="0" rtl="0" algn="ctr">
              <a:spcBef>
                <a:spcPts val="0"/>
              </a:spcBef>
              <a:spcAft>
                <a:spcPts val="0"/>
              </a:spcAft>
              <a:buNone/>
            </a:pPr>
            <a:r>
              <a:rPr b="1" i="0" lang="en-US" sz="4000" u="none" cap="none" strike="noStrike">
                <a:solidFill>
                  <a:srgbClr val="FF0000"/>
                </a:solidFill>
                <a:latin typeface="Times New Roman"/>
                <a:ea typeface="Times New Roman"/>
                <a:cs typeface="Times New Roman"/>
                <a:sym typeface="Times New Roman"/>
              </a:rPr>
              <a:t>Mapping Cardinality</a:t>
            </a:r>
            <a:endParaRPr b="0" i="0" sz="4000" u="none" cap="none" strike="noStrike">
              <a:solidFill>
                <a:srgbClr val="FF0000"/>
              </a:solidFill>
              <a:latin typeface="Lucida Sans"/>
              <a:ea typeface="Lucida Sans"/>
              <a:cs typeface="Lucida Sans"/>
              <a:sym typeface="Lucida Sans"/>
            </a:endParaRPr>
          </a:p>
        </p:txBody>
      </p:sp>
      <p:pic>
        <p:nvPicPr>
          <p:cNvPr id="247" name="Google Shape;247;p37"/>
          <p:cNvPicPr preferRelativeResize="0"/>
          <p:nvPr/>
        </p:nvPicPr>
        <p:blipFill rotWithShape="1">
          <a:blip r:embed="rId3">
            <a:alphaModFix/>
          </a:blip>
          <a:srcRect b="0" l="0" r="0" t="0"/>
          <a:stretch/>
        </p:blipFill>
        <p:spPr>
          <a:xfrm>
            <a:off x="1072367" y="2326652"/>
            <a:ext cx="4263875" cy="2204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20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animEffect filter="fade" transition="in">
                                      <p:cBhvr>
                                        <p:cTn dur="1000"/>
                                        <p:tgtEl>
                                          <p:spTgt spid="2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animEffect filter="fade" transition="in">
                                      <p:cBhvr>
                                        <p:cTn dur="1000"/>
                                        <p:tgtEl>
                                          <p:spTgt spid="2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animEffect filter="fade" transition="in">
                                      <p:cBhvr>
                                        <p:cTn dur="1000"/>
                                        <p:tgtEl>
                                          <p:spTgt spid="2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animEffect filter="fade" transition="in">
                                      <p:cBhvr>
                                        <p:cTn dur="1000"/>
                                        <p:tgtEl>
                                          <p:spTgt spid="2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animEffect filter="fade" transition="in">
                                      <p:cBhvr>
                                        <p:cTn dur="1000"/>
                                        <p:tgtEl>
                                          <p:spTgt spid="2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animEffect filter="fade" transition="in">
                                      <p:cBhvr>
                                        <p:cTn dur="1000"/>
                                        <p:tgtEl>
                                          <p:spTgt spid="24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nvSpPr>
        <p:spPr>
          <a:xfrm>
            <a:off x="5555671" y="1523999"/>
            <a:ext cx="5846619" cy="4641273"/>
          </a:xfrm>
          <a:prstGeom prst="rect">
            <a:avLst/>
          </a:prstGeom>
          <a:noFill/>
          <a:ln>
            <a:noFill/>
          </a:ln>
        </p:spPr>
        <p:txBody>
          <a:bodyPr anchorCtr="0" anchor="t" bIns="45000" lIns="90000" spcFirstLastPara="1" rIns="90000" wrap="square" tIns="45000">
            <a:normAutofit/>
          </a:bodyPr>
          <a:lstStyle/>
          <a:p>
            <a:pPr indent="-277190" lvl="0" marL="365760" marR="0" rtl="0" algn="just">
              <a:spcBef>
                <a:spcPts val="0"/>
              </a:spcBef>
              <a:spcAft>
                <a:spcPts val="0"/>
              </a:spcAft>
              <a:buClr>
                <a:srgbClr val="2DA2BF"/>
              </a:buClr>
              <a:buSzPts val="1700"/>
              <a:buFont typeface="Noto Sans Symbols"/>
              <a:buChar char="🞂"/>
            </a:pPr>
            <a:r>
              <a:rPr b="0" i="0" lang="en-US" sz="2200" u="none" cap="none" strike="noStrike">
                <a:solidFill>
                  <a:schemeClr val="dk1"/>
                </a:solidFill>
                <a:latin typeface="Times New Roman"/>
                <a:ea typeface="Times New Roman"/>
                <a:cs typeface="Times New Roman"/>
                <a:sym typeface="Times New Roman"/>
              </a:rPr>
              <a:t>An entity in A is associated with at most one entity in B. An entity in B, however, can be associated with any number (zero or more) of entities in A. </a:t>
            </a:r>
            <a:endParaRPr b="0" i="0" sz="2200" u="none" cap="none" strike="noStrike">
              <a:solidFill>
                <a:schemeClr val="dk1"/>
              </a:solidFill>
              <a:latin typeface="Lucida Sans"/>
              <a:ea typeface="Lucida Sans"/>
              <a:cs typeface="Lucida Sans"/>
              <a:sym typeface="Lucida Sans"/>
            </a:endParaRPr>
          </a:p>
          <a:p>
            <a:pPr indent="-179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74599"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This is another notation which shows  student can take at most one course and one course can be taken by many students.</a:t>
            </a:r>
            <a:endParaRPr b="0" i="0" sz="2200" u="none" cap="none" strike="noStrike">
              <a:solidFill>
                <a:schemeClr val="dk1"/>
              </a:solidFill>
              <a:latin typeface="Lucida Sans"/>
              <a:ea typeface="Lucida Sans"/>
              <a:cs typeface="Lucida Sans"/>
              <a:sym typeface="Lucida Sans"/>
            </a:endParaRPr>
          </a:p>
        </p:txBody>
      </p:sp>
      <p:sp>
        <p:nvSpPr>
          <p:cNvPr id="253" name="Google Shape;253;p38"/>
          <p:cNvSpPr txBox="1"/>
          <p:nvPr/>
        </p:nvSpPr>
        <p:spPr>
          <a:xfrm>
            <a:off x="1981200" y="274680"/>
            <a:ext cx="8229300" cy="1142700"/>
          </a:xfrm>
          <a:prstGeom prst="rect">
            <a:avLst/>
          </a:prstGeom>
          <a:noFill/>
          <a:ln>
            <a:noFill/>
          </a:ln>
        </p:spPr>
        <p:txBody>
          <a:bodyPr anchorCtr="0" anchor="ctr" bIns="45000" lIns="90000" spcFirstLastPara="1" rIns="90000" wrap="square" tIns="45000">
            <a:normAutofit/>
          </a:bodyPr>
          <a:lstStyle/>
          <a:p>
            <a:pPr indent="0" lvl="0" marL="0" marR="0" rtl="0" algn="ctr">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Many-To-One </a:t>
            </a:r>
            <a:endParaRPr b="0" i="0" sz="4000" u="none" cap="none" strike="noStrike">
              <a:solidFill>
                <a:srgbClr val="FFFFFF"/>
              </a:solidFill>
              <a:latin typeface="Lucida Sans"/>
              <a:ea typeface="Lucida Sans"/>
              <a:cs typeface="Lucida Sans"/>
              <a:sym typeface="Lucida Sans"/>
            </a:endParaRPr>
          </a:p>
        </p:txBody>
      </p:sp>
      <p:pic>
        <p:nvPicPr>
          <p:cNvPr id="254" name="Google Shape;254;p38"/>
          <p:cNvPicPr preferRelativeResize="0"/>
          <p:nvPr/>
        </p:nvPicPr>
        <p:blipFill rotWithShape="1">
          <a:blip r:embed="rId3">
            <a:alphaModFix/>
          </a:blip>
          <a:srcRect b="0" l="0" r="0" t="0"/>
          <a:stretch/>
        </p:blipFill>
        <p:spPr>
          <a:xfrm>
            <a:off x="588937" y="2175164"/>
            <a:ext cx="4966735" cy="21890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20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Effect filter="fade" transition="in">
                                      <p:cBhvr>
                                        <p:cTn dur="1000"/>
                                        <p:tgtEl>
                                          <p:spTgt spid="2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animEffect filter="fade" transition="in">
                                      <p:cBhvr>
                                        <p:cTn dur="1000"/>
                                        <p:tgtEl>
                                          <p:spTgt spid="2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animEffect filter="fade" transition="in">
                                      <p:cBhvr>
                                        <p:cTn dur="1000"/>
                                        <p:tgtEl>
                                          <p:spTgt spid="25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nvSpPr>
        <p:spPr>
          <a:xfrm>
            <a:off x="5299245" y="1593273"/>
            <a:ext cx="6629519" cy="4862945"/>
          </a:xfrm>
          <a:prstGeom prst="rect">
            <a:avLst/>
          </a:prstGeom>
          <a:noFill/>
          <a:ln>
            <a:noFill/>
          </a:ln>
        </p:spPr>
        <p:txBody>
          <a:bodyPr anchorCtr="0" anchor="t" bIns="45000" lIns="90000" spcFirstLastPara="1" rIns="90000" wrap="square" tIns="45000">
            <a:normAutofit/>
          </a:bodyPr>
          <a:lstStyle/>
          <a:p>
            <a:pPr indent="-277190" lvl="0" marL="365760" marR="0" rtl="0" algn="just">
              <a:spcBef>
                <a:spcPts val="0"/>
              </a:spcBef>
              <a:spcAft>
                <a:spcPts val="0"/>
              </a:spcAft>
              <a:buClr>
                <a:srgbClr val="2DA2BF"/>
              </a:buClr>
              <a:buSzPts val="1700"/>
              <a:buFont typeface="Noto Sans Symbols"/>
              <a:buChar char="🞂"/>
            </a:pPr>
            <a:r>
              <a:rPr b="0" i="0" lang="en-US" sz="2200" u="none" cap="none" strike="noStrike">
                <a:solidFill>
                  <a:schemeClr val="dk1"/>
                </a:solidFill>
                <a:latin typeface="Times New Roman"/>
                <a:ea typeface="Times New Roman"/>
                <a:cs typeface="Times New Roman"/>
                <a:sym typeface="Times New Roman"/>
              </a:rPr>
              <a:t>An entity in A is associated with any number (zero or more)of entities in B, and an entity in B is associated with any number (zero or more) of entities in A.</a:t>
            </a:r>
            <a:endParaRPr b="0" i="0" sz="2200" u="none" cap="none" strike="noStrike">
              <a:solidFill>
                <a:schemeClr val="dk1"/>
              </a:solidFill>
              <a:latin typeface="Lucida Sans"/>
              <a:ea typeface="Lucida Sans"/>
              <a:cs typeface="Lucida Sans"/>
              <a:sym typeface="Lucida Sans"/>
            </a:endParaRPr>
          </a:p>
          <a:p>
            <a:pPr indent="-179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74599"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An instructor may advise many students, and a student may have many advisors. </a:t>
            </a:r>
            <a:endParaRPr b="0" i="0" sz="2200" u="none" cap="none" strike="noStrike">
              <a:solidFill>
                <a:schemeClr val="dk1"/>
              </a:solidFill>
              <a:latin typeface="Lucida Sans"/>
              <a:ea typeface="Lucida Sans"/>
              <a:cs typeface="Lucida Sans"/>
              <a:sym typeface="Lucida Sans"/>
            </a:endParaRPr>
          </a:p>
          <a:p>
            <a:pPr indent="-179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74599"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This is another notation to show mapping cardinality. Which shows one student can take many courses and one course can be taken by many students.</a:t>
            </a:r>
            <a:endParaRPr/>
          </a:p>
        </p:txBody>
      </p:sp>
      <p:sp>
        <p:nvSpPr>
          <p:cNvPr id="260" name="Google Shape;260;p39"/>
          <p:cNvSpPr txBox="1"/>
          <p:nvPr/>
        </p:nvSpPr>
        <p:spPr>
          <a:xfrm>
            <a:off x="1981200" y="274680"/>
            <a:ext cx="8229300" cy="11427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i="0" lang="en-US" sz="4400" u="none" cap="none" strike="noStrike">
                <a:solidFill>
                  <a:schemeClr val="dk1"/>
                </a:solidFill>
                <a:latin typeface="Times New Roman"/>
                <a:ea typeface="Times New Roman"/>
                <a:cs typeface="Times New Roman"/>
                <a:sym typeface="Times New Roman"/>
              </a:rPr>
              <a:t>Many-To-Many</a:t>
            </a:r>
            <a:endParaRPr b="0" i="0" sz="4100" u="none" cap="none" strike="noStrike">
              <a:solidFill>
                <a:srgbClr val="FFFFFF"/>
              </a:solidFill>
              <a:latin typeface="Lucida Sans"/>
              <a:ea typeface="Lucida Sans"/>
              <a:cs typeface="Lucida Sans"/>
              <a:sym typeface="Lucida Sans"/>
            </a:endParaRPr>
          </a:p>
        </p:txBody>
      </p:sp>
      <p:pic>
        <p:nvPicPr>
          <p:cNvPr id="261" name="Google Shape;261;p39"/>
          <p:cNvPicPr preferRelativeResize="0"/>
          <p:nvPr/>
        </p:nvPicPr>
        <p:blipFill rotWithShape="1">
          <a:blip r:embed="rId3">
            <a:alphaModFix/>
          </a:blip>
          <a:srcRect b="0" l="0" r="0" t="0"/>
          <a:stretch/>
        </p:blipFill>
        <p:spPr>
          <a:xfrm>
            <a:off x="733469" y="2641441"/>
            <a:ext cx="4565776" cy="24624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20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Effect filter="fade" transition="in">
                                      <p:cBhvr>
                                        <p:cTn dur="1000"/>
                                        <p:tgtEl>
                                          <p:spTgt spid="2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animEffect filter="fade" transition="in">
                                      <p:cBhvr>
                                        <p:cTn dur="1000"/>
                                        <p:tgtEl>
                                          <p:spTgt spid="2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2" st="2"/>
                                            </p:txEl>
                                          </p:spTgt>
                                        </p:tgtEl>
                                        <p:attrNameLst>
                                          <p:attrName>style.visibility</p:attrName>
                                        </p:attrNameLst>
                                      </p:cBhvr>
                                      <p:to>
                                        <p:strVal val="visible"/>
                                      </p:to>
                                    </p:set>
                                    <p:animEffect filter="fade" transition="in">
                                      <p:cBhvr>
                                        <p:cTn dur="1000"/>
                                        <p:tgtEl>
                                          <p:spTgt spid="2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3" st="3"/>
                                            </p:txEl>
                                          </p:spTgt>
                                        </p:tgtEl>
                                        <p:attrNameLst>
                                          <p:attrName>style.visibility</p:attrName>
                                        </p:attrNameLst>
                                      </p:cBhvr>
                                      <p:to>
                                        <p:strVal val="visible"/>
                                      </p:to>
                                    </p:set>
                                    <p:animEffect filter="fade" transition="in">
                                      <p:cBhvr>
                                        <p:cTn dur="1000"/>
                                        <p:tgtEl>
                                          <p:spTgt spid="2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4" st="4"/>
                                            </p:txEl>
                                          </p:spTgt>
                                        </p:tgtEl>
                                        <p:attrNameLst>
                                          <p:attrName>style.visibility</p:attrName>
                                        </p:attrNameLst>
                                      </p:cBhvr>
                                      <p:to>
                                        <p:strVal val="visible"/>
                                      </p:to>
                                    </p:set>
                                    <p:animEffect filter="fade" transition="in">
                                      <p:cBhvr>
                                        <p:cTn dur="1000"/>
                                        <p:tgtEl>
                                          <p:spTgt spid="25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0000"/>
              </a:buClr>
              <a:buSzPts val="3200"/>
              <a:buFont typeface="Calibri"/>
              <a:buNone/>
            </a:pPr>
            <a:r>
              <a:rPr lang="en-US" sz="3200">
                <a:solidFill>
                  <a:srgbClr val="FF0000"/>
                </a:solidFill>
              </a:rPr>
              <a:t>Relationship instances of the WORKS_FOR N:1 relationship between EMPLOYEE and DEPARTMENT</a:t>
            </a:r>
            <a:endParaRPr/>
          </a:p>
        </p:txBody>
      </p:sp>
      <p:pic>
        <p:nvPicPr>
          <p:cNvPr descr="fig03_09" id="267" name="Google Shape;267;p40"/>
          <p:cNvPicPr preferRelativeResize="0"/>
          <p:nvPr>
            <p:ph idx="1" type="body"/>
          </p:nvPr>
        </p:nvPicPr>
        <p:blipFill rotWithShape="1">
          <a:blip r:embed="rId3">
            <a:alphaModFix/>
          </a:blip>
          <a:srcRect b="0" l="0" r="0" t="0"/>
          <a:stretch/>
        </p:blipFill>
        <p:spPr>
          <a:xfrm>
            <a:off x="2446387" y="1825625"/>
            <a:ext cx="7299225" cy="43513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3200"/>
              <a:buFont typeface="Calibri"/>
              <a:buNone/>
            </a:pPr>
            <a:r>
              <a:rPr lang="en-US" sz="3200">
                <a:solidFill>
                  <a:srgbClr val="FF0000"/>
                </a:solidFill>
              </a:rPr>
              <a:t>Relationship instances of the M:N  WORKS_ON relationship between EMPLOYEE and PROJECT</a:t>
            </a:r>
            <a:endParaRPr/>
          </a:p>
        </p:txBody>
      </p:sp>
      <p:sp>
        <p:nvSpPr>
          <p:cNvPr id="273" name="Google Shape;273;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fig03_13" id="274" name="Google Shape;274;p41"/>
          <p:cNvPicPr preferRelativeResize="0"/>
          <p:nvPr/>
        </p:nvPicPr>
        <p:blipFill rotWithShape="1">
          <a:blip r:embed="rId3">
            <a:alphaModFix/>
          </a:blip>
          <a:srcRect b="0" l="0" r="0" t="0"/>
          <a:stretch/>
        </p:blipFill>
        <p:spPr>
          <a:xfrm>
            <a:off x="2729346" y="2009909"/>
            <a:ext cx="6513368" cy="448296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80" name="Google Shape;28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fig03_02" id="281" name="Google Shape;281;p42"/>
          <p:cNvPicPr preferRelativeResize="0"/>
          <p:nvPr/>
        </p:nvPicPr>
        <p:blipFill rotWithShape="1">
          <a:blip r:embed="rId3">
            <a:alphaModFix/>
          </a:blip>
          <a:srcRect b="0" l="0" r="0" t="0"/>
          <a:stretch/>
        </p:blipFill>
        <p:spPr>
          <a:xfrm>
            <a:off x="2854036" y="0"/>
            <a:ext cx="6797964" cy="655518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Relational Models</a:t>
            </a:r>
            <a:endParaRPr/>
          </a:p>
        </p:txBody>
      </p:sp>
      <p:sp>
        <p:nvSpPr>
          <p:cNvPr id="287" name="Google Shape;287;p43"/>
          <p:cNvSpPr txBox="1"/>
          <p:nvPr>
            <p:ph idx="1" type="body"/>
          </p:nvPr>
        </p:nvSpPr>
        <p:spPr>
          <a:xfrm>
            <a:off x="7592290" y="2008909"/>
            <a:ext cx="4142510" cy="393469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n-US" u="none" strike="noStrike">
                <a:latin typeface="Poppins"/>
                <a:ea typeface="Poppins"/>
                <a:cs typeface="Poppins"/>
                <a:sym typeface="Poppins"/>
              </a:rPr>
              <a:t>Hierarchical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Network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Flat Data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Associative Data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Context Data Model</a:t>
            </a:r>
            <a:endParaRPr b="0" i="0">
              <a:latin typeface="Poppins"/>
              <a:ea typeface="Poppins"/>
              <a:cs typeface="Poppins"/>
              <a:sym typeface="Poppins"/>
            </a:endParaRPr>
          </a:p>
          <a:p>
            <a:pPr indent="-50800" lvl="0" marL="228600" rtl="0" algn="l">
              <a:lnSpc>
                <a:spcPct val="90000"/>
              </a:lnSpc>
              <a:spcBef>
                <a:spcPts val="1000"/>
              </a:spcBef>
              <a:spcAft>
                <a:spcPts val="0"/>
              </a:spcAft>
              <a:buClr>
                <a:schemeClr val="dk1"/>
              </a:buClr>
              <a:buSzPts val="2800"/>
              <a:buNone/>
            </a:pPr>
            <a:r>
              <a:t/>
            </a:r>
            <a:endParaRPr/>
          </a:p>
        </p:txBody>
      </p:sp>
      <p:pic>
        <p:nvPicPr>
          <p:cNvPr id="288" name="Google Shape;288;p43"/>
          <p:cNvPicPr preferRelativeResize="0"/>
          <p:nvPr/>
        </p:nvPicPr>
        <p:blipFill rotWithShape="1">
          <a:blip r:embed="rId3">
            <a:alphaModFix/>
          </a:blip>
          <a:srcRect b="0" l="0" r="0" t="0"/>
          <a:stretch/>
        </p:blipFill>
        <p:spPr>
          <a:xfrm>
            <a:off x="838200" y="2008909"/>
            <a:ext cx="6390539" cy="30728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1000"/>
                                        <p:tgtEl>
                                          <p:spTgt spid="2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1000"/>
                                        <p:tgtEl>
                                          <p:spTgt spid="2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1000"/>
                                        <p:tgtEl>
                                          <p:spTgt spid="28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idx="1" type="body"/>
          </p:nvPr>
        </p:nvSpPr>
        <p:spPr>
          <a:xfrm>
            <a:off x="595745" y="318655"/>
            <a:ext cx="10758055" cy="585830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u="none" strike="noStrike">
                <a:latin typeface="Poppins"/>
                <a:ea typeface="Poppins"/>
                <a:cs typeface="Poppins"/>
                <a:sym typeface="Poppins"/>
              </a:rPr>
              <a:t>Hierarchical Model</a:t>
            </a:r>
            <a:endParaRPr/>
          </a:p>
          <a:p>
            <a:pPr indent="-228600" lvl="0" marL="228600" rtl="0" algn="l">
              <a:lnSpc>
                <a:spcPct val="90000"/>
              </a:lnSpc>
              <a:spcBef>
                <a:spcPts val="1000"/>
              </a:spcBef>
              <a:spcAft>
                <a:spcPts val="0"/>
              </a:spcAft>
              <a:buClr>
                <a:srgbClr val="273239"/>
              </a:buClr>
              <a:buSzPts val="2800"/>
              <a:buChar char="•"/>
            </a:pPr>
            <a:r>
              <a:rPr b="0" i="0" lang="en-US">
                <a:solidFill>
                  <a:srgbClr val="273239"/>
                </a:solidFill>
                <a:latin typeface="Nunito"/>
                <a:ea typeface="Nunito"/>
                <a:cs typeface="Nunito"/>
                <a:sym typeface="Nunito"/>
              </a:rPr>
              <a:t>In this, the data is organized into a tree-like structure where each record consists of one parent record and many children.</a:t>
            </a:r>
            <a:endParaRPr b="0" i="0">
              <a:latin typeface="Poppins"/>
              <a:ea typeface="Poppins"/>
              <a:cs typeface="Poppins"/>
              <a:sym typeface="Poppins"/>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Network Model</a:t>
            </a:r>
            <a:endParaRPr/>
          </a:p>
          <a:p>
            <a:pPr indent="-228600" lvl="0" marL="228600" rtl="0" algn="l">
              <a:lnSpc>
                <a:spcPct val="90000"/>
              </a:lnSpc>
              <a:spcBef>
                <a:spcPts val="1000"/>
              </a:spcBef>
              <a:spcAft>
                <a:spcPts val="0"/>
              </a:spcAft>
              <a:buClr>
                <a:schemeClr val="dk1"/>
              </a:buClr>
              <a:buSzPts val="2800"/>
              <a:buChar char="•"/>
            </a:pPr>
            <a:r>
              <a:rPr lang="en-US"/>
              <a:t>Any record can have several parents in the network model. It uses a graph instead of a hierarchical tree.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94" name="Google Shape;294;p44"/>
          <p:cNvPicPr preferRelativeResize="0"/>
          <p:nvPr/>
        </p:nvPicPr>
        <p:blipFill rotWithShape="1">
          <a:blip r:embed="rId3">
            <a:alphaModFix/>
          </a:blip>
          <a:srcRect b="0" l="0" r="0" t="0"/>
          <a:stretch/>
        </p:blipFill>
        <p:spPr>
          <a:xfrm>
            <a:off x="2421929" y="1733313"/>
            <a:ext cx="5287113" cy="1695687"/>
          </a:xfrm>
          <a:prstGeom prst="rect">
            <a:avLst/>
          </a:prstGeom>
          <a:noFill/>
          <a:ln>
            <a:noFill/>
          </a:ln>
        </p:spPr>
      </p:pic>
      <p:pic>
        <p:nvPicPr>
          <p:cNvPr id="295" name="Google Shape;295;p44"/>
          <p:cNvPicPr preferRelativeResize="0"/>
          <p:nvPr/>
        </p:nvPicPr>
        <p:blipFill rotWithShape="1">
          <a:blip r:embed="rId4">
            <a:alphaModFix/>
          </a:blip>
          <a:srcRect b="0" l="0" r="0" t="0"/>
          <a:stretch/>
        </p:blipFill>
        <p:spPr>
          <a:xfrm>
            <a:off x="6207992" y="4843658"/>
            <a:ext cx="3002100" cy="16653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Effect filter="fade" transition="in">
                                      <p:cBhvr>
                                        <p:cTn dur="1000"/>
                                        <p:tgtEl>
                                          <p:spTgt spid="2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1" st="1"/>
                                            </p:txEl>
                                          </p:spTgt>
                                        </p:tgtEl>
                                        <p:attrNameLst>
                                          <p:attrName>style.visibility</p:attrName>
                                        </p:attrNameLst>
                                      </p:cBhvr>
                                      <p:to>
                                        <p:strVal val="visible"/>
                                      </p:to>
                                    </p:set>
                                    <p:animEffect filter="fade" transition="in">
                                      <p:cBhvr>
                                        <p:cTn dur="1000"/>
                                        <p:tgtEl>
                                          <p:spTgt spid="2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2" st="2"/>
                                            </p:txEl>
                                          </p:spTgt>
                                        </p:tgtEl>
                                        <p:attrNameLst>
                                          <p:attrName>style.visibility</p:attrName>
                                        </p:attrNameLst>
                                      </p:cBhvr>
                                      <p:to>
                                        <p:strVal val="visible"/>
                                      </p:to>
                                    </p:set>
                                    <p:animEffect filter="fade" transition="in">
                                      <p:cBhvr>
                                        <p:cTn dur="1000"/>
                                        <p:tgtEl>
                                          <p:spTgt spid="2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3" st="3"/>
                                            </p:txEl>
                                          </p:spTgt>
                                        </p:tgtEl>
                                        <p:attrNameLst>
                                          <p:attrName>style.visibility</p:attrName>
                                        </p:attrNameLst>
                                      </p:cBhvr>
                                      <p:to>
                                        <p:strVal val="visible"/>
                                      </p:to>
                                    </p:set>
                                    <p:animEffect filter="fade" transition="in">
                                      <p:cBhvr>
                                        <p:cTn dur="1000"/>
                                        <p:tgtEl>
                                          <p:spTgt spid="2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4" st="4"/>
                                            </p:txEl>
                                          </p:spTgt>
                                        </p:tgtEl>
                                        <p:attrNameLst>
                                          <p:attrName>style.visibility</p:attrName>
                                        </p:attrNameLst>
                                      </p:cBhvr>
                                      <p:to>
                                        <p:strVal val="visible"/>
                                      </p:to>
                                    </p:set>
                                    <p:animEffect filter="fade" transition="in">
                                      <p:cBhvr>
                                        <p:cTn dur="1000"/>
                                        <p:tgtEl>
                                          <p:spTgt spid="2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5" st="5"/>
                                            </p:txEl>
                                          </p:spTgt>
                                        </p:tgtEl>
                                        <p:attrNameLst>
                                          <p:attrName>style.visibility</p:attrName>
                                        </p:attrNameLst>
                                      </p:cBhvr>
                                      <p:to>
                                        <p:strVal val="visible"/>
                                      </p:to>
                                    </p:set>
                                    <p:animEffect filter="fade" transition="in">
                                      <p:cBhvr>
                                        <p:cTn dur="1000"/>
                                        <p:tgtEl>
                                          <p:spTgt spid="2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6" st="6"/>
                                            </p:txEl>
                                          </p:spTgt>
                                        </p:tgtEl>
                                        <p:attrNameLst>
                                          <p:attrName>style.visibility</p:attrName>
                                        </p:attrNameLst>
                                      </p:cBhvr>
                                      <p:to>
                                        <p:strVal val="visible"/>
                                      </p:to>
                                    </p:set>
                                    <p:animEffect filter="fade" transition="in">
                                      <p:cBhvr>
                                        <p:cTn dur="1000"/>
                                        <p:tgtEl>
                                          <p:spTgt spid="2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7" st="7"/>
                                            </p:txEl>
                                          </p:spTgt>
                                        </p:tgtEl>
                                        <p:attrNameLst>
                                          <p:attrName>style.visibility</p:attrName>
                                        </p:attrNameLst>
                                      </p:cBhvr>
                                      <p:to>
                                        <p:strVal val="visible"/>
                                      </p:to>
                                    </p:set>
                                    <p:animEffect filter="fade" transition="in">
                                      <p:cBhvr>
                                        <p:cTn dur="1000"/>
                                        <p:tgtEl>
                                          <p:spTgt spid="2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8" st="8"/>
                                            </p:txEl>
                                          </p:spTgt>
                                        </p:tgtEl>
                                        <p:attrNameLst>
                                          <p:attrName>style.visibility</p:attrName>
                                        </p:attrNameLst>
                                      </p:cBhvr>
                                      <p:to>
                                        <p:strVal val="visible"/>
                                      </p:to>
                                    </p:set>
                                    <p:animEffect filter="fade" transition="in">
                                      <p:cBhvr>
                                        <p:cTn dur="1000"/>
                                        <p:tgtEl>
                                          <p:spTgt spid="29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idx="1" type="body"/>
          </p:nvPr>
        </p:nvSpPr>
        <p:spPr>
          <a:xfrm>
            <a:off x="595745" y="318655"/>
            <a:ext cx="10758055" cy="585830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Object-Oriented Data Model</a:t>
            </a:r>
            <a:endParaRPr/>
          </a:p>
          <a:p>
            <a:pPr indent="-228600" lvl="0" marL="228600" rtl="0" algn="l">
              <a:lnSpc>
                <a:spcPct val="90000"/>
              </a:lnSpc>
              <a:spcBef>
                <a:spcPts val="1000"/>
              </a:spcBef>
              <a:spcAft>
                <a:spcPts val="0"/>
              </a:spcAft>
              <a:buClr>
                <a:schemeClr val="dk1"/>
              </a:buClr>
              <a:buSzPct val="100000"/>
              <a:buChar char="•"/>
            </a:pPr>
            <a:r>
              <a:rPr lang="en-US"/>
              <a:t>Both data and the data relationships are stored into a single structure that’s known as an object in the object-oriented data model.</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rgbClr val="444444"/>
              </a:buClr>
              <a:buSzPct val="100000"/>
              <a:buChar char="•"/>
            </a:pPr>
            <a:r>
              <a:rPr b="1" i="0" lang="en-US">
                <a:solidFill>
                  <a:srgbClr val="444444"/>
                </a:solidFill>
                <a:latin typeface="Poppins"/>
                <a:ea typeface="Poppins"/>
                <a:cs typeface="Poppins"/>
                <a:sym typeface="Poppins"/>
              </a:rPr>
              <a:t>Object-Relational Data Model </a:t>
            </a:r>
            <a:endParaRPr/>
          </a:p>
          <a:p>
            <a:pPr indent="-228600" lvl="0" marL="228600" rtl="0" algn="l">
              <a:lnSpc>
                <a:spcPct val="90000"/>
              </a:lnSpc>
              <a:spcBef>
                <a:spcPts val="1000"/>
              </a:spcBef>
              <a:spcAft>
                <a:spcPts val="0"/>
              </a:spcAft>
              <a:buClr>
                <a:schemeClr val="dk1"/>
              </a:buClr>
              <a:buSzPct val="100000"/>
              <a:buChar char="•"/>
            </a:pPr>
            <a:r>
              <a:rPr lang="en-US"/>
              <a:t>This model was developed to bridge the gap between the Object-Oriented and relational models. </a:t>
            </a:r>
            <a:endParaRPr/>
          </a:p>
          <a:p>
            <a:pPr indent="-228600" lvl="0" marL="228600" rtl="0" algn="l">
              <a:lnSpc>
                <a:spcPct val="90000"/>
              </a:lnSpc>
              <a:spcBef>
                <a:spcPts val="1000"/>
              </a:spcBef>
              <a:spcAft>
                <a:spcPts val="0"/>
              </a:spcAft>
              <a:buClr>
                <a:schemeClr val="dk1"/>
              </a:buClr>
              <a:buSzPct val="100000"/>
              <a:buChar char="•"/>
            </a:pPr>
            <a:r>
              <a:rPr lang="en-US"/>
              <a:t>Many additional capabilities are available, such as the ability to create complicated data types based on our requirements utilizing existing data types. </a:t>
            </a:r>
            <a:endParaRPr/>
          </a:p>
          <a:p>
            <a:pPr indent="-228600" lvl="0" marL="228600" rtl="0" algn="l">
              <a:lnSpc>
                <a:spcPct val="90000"/>
              </a:lnSpc>
              <a:spcBef>
                <a:spcPts val="1000"/>
              </a:spcBef>
              <a:spcAft>
                <a:spcPts val="0"/>
              </a:spcAft>
              <a:buClr>
                <a:schemeClr val="dk1"/>
              </a:buClr>
              <a:buSzPct val="100000"/>
              <a:buChar char="•"/>
            </a:pPr>
            <a:r>
              <a:rPr lang="en-US"/>
              <a:t>The issue with this paradigm is that it can become overly complicated and difficult to manage.</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301" name="Google Shape;301;p45"/>
          <p:cNvPicPr preferRelativeResize="0"/>
          <p:nvPr/>
        </p:nvPicPr>
        <p:blipFill rotWithShape="1">
          <a:blip r:embed="rId3">
            <a:alphaModFix/>
          </a:blip>
          <a:srcRect b="0" l="0" r="0" t="0"/>
          <a:stretch/>
        </p:blipFill>
        <p:spPr>
          <a:xfrm>
            <a:off x="1059542" y="1658397"/>
            <a:ext cx="4121092" cy="1554082"/>
          </a:xfrm>
          <a:prstGeom prst="rect">
            <a:avLst/>
          </a:prstGeom>
          <a:noFill/>
          <a:ln>
            <a:noFill/>
          </a:ln>
        </p:spPr>
      </p:pic>
      <p:pic>
        <p:nvPicPr>
          <p:cNvPr id="302" name="Google Shape;302;p45"/>
          <p:cNvPicPr preferRelativeResize="0"/>
          <p:nvPr/>
        </p:nvPicPr>
        <p:blipFill rotWithShape="1">
          <a:blip r:embed="rId4">
            <a:alphaModFix/>
          </a:blip>
          <a:srcRect b="0" l="0" r="0" t="0"/>
          <a:stretch/>
        </p:blipFill>
        <p:spPr>
          <a:xfrm>
            <a:off x="6295831" y="1437576"/>
            <a:ext cx="3942772" cy="19957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animEffect filter="fade" transition="in">
                                      <p:cBhvr>
                                        <p:cTn dur="1000"/>
                                        <p:tgtEl>
                                          <p:spTgt spid="3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animEffect filter="fade" transition="in">
                                      <p:cBhvr>
                                        <p:cTn dur="1000"/>
                                        <p:tgtEl>
                                          <p:spTgt spid="3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animEffect filter="fade" transition="in">
                                      <p:cBhvr>
                                        <p:cTn dur="1000"/>
                                        <p:tgtEl>
                                          <p:spTgt spid="3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animEffect filter="fade" transition="in">
                                      <p:cBhvr>
                                        <p:cTn dur="1000"/>
                                        <p:tgtEl>
                                          <p:spTgt spid="3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4" st="4"/>
                                            </p:txEl>
                                          </p:spTgt>
                                        </p:tgtEl>
                                        <p:attrNameLst>
                                          <p:attrName>style.visibility</p:attrName>
                                        </p:attrNameLst>
                                      </p:cBhvr>
                                      <p:to>
                                        <p:strVal val="visible"/>
                                      </p:to>
                                    </p:set>
                                    <p:animEffect filter="fade" transition="in">
                                      <p:cBhvr>
                                        <p:cTn dur="1000"/>
                                        <p:tgtEl>
                                          <p:spTgt spid="3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5" st="5"/>
                                            </p:txEl>
                                          </p:spTgt>
                                        </p:tgtEl>
                                        <p:attrNameLst>
                                          <p:attrName>style.visibility</p:attrName>
                                        </p:attrNameLst>
                                      </p:cBhvr>
                                      <p:to>
                                        <p:strVal val="visible"/>
                                      </p:to>
                                    </p:set>
                                    <p:animEffect filter="fade" transition="in">
                                      <p:cBhvr>
                                        <p:cTn dur="1000"/>
                                        <p:tgtEl>
                                          <p:spTgt spid="3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6" st="6"/>
                                            </p:txEl>
                                          </p:spTgt>
                                        </p:tgtEl>
                                        <p:attrNameLst>
                                          <p:attrName>style.visibility</p:attrName>
                                        </p:attrNameLst>
                                      </p:cBhvr>
                                      <p:to>
                                        <p:strVal val="visible"/>
                                      </p:to>
                                    </p:set>
                                    <p:animEffect filter="fade" transition="in">
                                      <p:cBhvr>
                                        <p:cTn dur="1000"/>
                                        <p:tgtEl>
                                          <p:spTgt spid="3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7" st="7"/>
                                            </p:txEl>
                                          </p:spTgt>
                                        </p:tgtEl>
                                        <p:attrNameLst>
                                          <p:attrName>style.visibility</p:attrName>
                                        </p:attrNameLst>
                                      </p:cBhvr>
                                      <p:to>
                                        <p:strVal val="visible"/>
                                      </p:to>
                                    </p:set>
                                    <p:animEffect filter="fade" transition="in">
                                      <p:cBhvr>
                                        <p:cTn dur="1000"/>
                                        <p:tgtEl>
                                          <p:spTgt spid="3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8" st="8"/>
                                            </p:txEl>
                                          </p:spTgt>
                                        </p:tgtEl>
                                        <p:attrNameLst>
                                          <p:attrName>style.visibility</p:attrName>
                                        </p:attrNameLst>
                                      </p:cBhvr>
                                      <p:to>
                                        <p:strVal val="visible"/>
                                      </p:to>
                                    </p:set>
                                    <p:animEffect filter="fade" transition="in">
                                      <p:cBhvr>
                                        <p:cTn dur="1000"/>
                                        <p:tgtEl>
                                          <p:spTgt spid="3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9" st="9"/>
                                            </p:txEl>
                                          </p:spTgt>
                                        </p:tgtEl>
                                        <p:attrNameLst>
                                          <p:attrName>style.visibility</p:attrName>
                                        </p:attrNameLst>
                                      </p:cBhvr>
                                      <p:to>
                                        <p:strVal val="visible"/>
                                      </p:to>
                                    </p:set>
                                    <p:animEffect filter="fade" transition="in">
                                      <p:cBhvr>
                                        <p:cTn dur="1000"/>
                                        <p:tgtEl>
                                          <p:spTgt spid="30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0" st="10"/>
                                            </p:txEl>
                                          </p:spTgt>
                                        </p:tgtEl>
                                        <p:attrNameLst>
                                          <p:attrName>style.visibility</p:attrName>
                                        </p:attrNameLst>
                                      </p:cBhvr>
                                      <p:to>
                                        <p:strVal val="visible"/>
                                      </p:to>
                                    </p:set>
                                    <p:animEffect filter="fade" transition="in">
                                      <p:cBhvr>
                                        <p:cTn dur="1000"/>
                                        <p:tgtEl>
                                          <p:spTgt spid="30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1" st="11"/>
                                            </p:txEl>
                                          </p:spTgt>
                                        </p:tgtEl>
                                        <p:attrNameLst>
                                          <p:attrName>style.visibility</p:attrName>
                                        </p:attrNameLst>
                                      </p:cBhvr>
                                      <p:to>
                                        <p:strVal val="visible"/>
                                      </p:to>
                                    </p:set>
                                    <p:animEffect filter="fade" transition="in">
                                      <p:cBhvr>
                                        <p:cTn dur="1000"/>
                                        <p:tgtEl>
                                          <p:spTgt spid="30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idx="1" type="body"/>
          </p:nvPr>
        </p:nvSpPr>
        <p:spPr>
          <a:xfrm>
            <a:off x="725714" y="435429"/>
            <a:ext cx="10628086" cy="574153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Flat Data Model</a:t>
            </a:r>
            <a:endParaRPr/>
          </a:p>
          <a:p>
            <a:pPr indent="-228600" lvl="0" marL="228600" rtl="0" algn="l">
              <a:lnSpc>
                <a:spcPct val="90000"/>
              </a:lnSpc>
              <a:spcBef>
                <a:spcPts val="1000"/>
              </a:spcBef>
              <a:spcAft>
                <a:spcPts val="0"/>
              </a:spcAft>
              <a:buClr>
                <a:schemeClr val="dk1"/>
              </a:buClr>
              <a:buSzPts val="2800"/>
              <a:buChar char="•"/>
            </a:pPr>
            <a:r>
              <a:rPr lang="en-US"/>
              <a:t>It’s a straightforward model in which the DB is depicted as a table with rows and columns.</a:t>
            </a:r>
            <a:endParaRPr/>
          </a:p>
          <a:p>
            <a:pPr indent="-228600" lvl="0" marL="228600" rtl="0" algn="l">
              <a:lnSpc>
                <a:spcPct val="90000"/>
              </a:lnSpc>
              <a:spcBef>
                <a:spcPts val="1000"/>
              </a:spcBef>
              <a:spcAft>
                <a:spcPts val="0"/>
              </a:spcAft>
              <a:buClr>
                <a:schemeClr val="dk1"/>
              </a:buClr>
              <a:buSzPts val="2800"/>
              <a:buChar char="•"/>
            </a:pPr>
            <a:r>
              <a:rPr lang="en-US"/>
              <a:t>A flat data model is one in which all of the data is kept in the same plane.</a:t>
            </a:r>
            <a:endParaRPr/>
          </a:p>
          <a:p>
            <a:pPr indent="-228600" lvl="0" marL="228600" rtl="0" algn="l">
              <a:lnSpc>
                <a:spcPct val="90000"/>
              </a:lnSpc>
              <a:spcBef>
                <a:spcPts val="1000"/>
              </a:spcBef>
              <a:spcAft>
                <a:spcPts val="0"/>
              </a:spcAft>
              <a:buClr>
                <a:schemeClr val="dk1"/>
              </a:buClr>
              <a:buSzPts val="2800"/>
              <a:buChar char="•"/>
            </a:pPr>
            <a:r>
              <a:rPr lang="en-US"/>
              <a:t>This data model has one drawback it cannot store a large amount of data that is the tables can not be of large size.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Semi-Structured Data Model</a:t>
            </a:r>
            <a:endParaRPr/>
          </a:p>
          <a:p>
            <a:pPr indent="-228600" lvl="0" marL="228600" rtl="0" algn="l">
              <a:lnSpc>
                <a:spcPct val="90000"/>
              </a:lnSpc>
              <a:spcBef>
                <a:spcPts val="1000"/>
              </a:spcBef>
              <a:spcAft>
                <a:spcPts val="0"/>
              </a:spcAft>
              <a:buClr>
                <a:schemeClr val="dk1"/>
              </a:buClr>
              <a:buSzPts val="2800"/>
              <a:buChar char="•"/>
            </a:pPr>
            <a:r>
              <a:rPr lang="en-US"/>
              <a:t>Semi-structured data refers to the structured data that doesn’t adhere to the tabular structure of the data models that are associated with relational DBs.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anim calcmode="lin" valueType="num">
                                      <p:cBhvr additive="base">
                                        <p:cTn dur="500"/>
                                        <p:tgtEl>
                                          <p:spTgt spid="3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anim calcmode="lin" valueType="num">
                                      <p:cBhvr additive="base">
                                        <p:cTn dur="500"/>
                                        <p:tgtEl>
                                          <p:spTgt spid="3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2" st="2"/>
                                            </p:txEl>
                                          </p:spTgt>
                                        </p:tgtEl>
                                        <p:attrNameLst>
                                          <p:attrName>style.visibility</p:attrName>
                                        </p:attrNameLst>
                                      </p:cBhvr>
                                      <p:to>
                                        <p:strVal val="visible"/>
                                      </p:to>
                                    </p:set>
                                    <p:anim calcmode="lin" valueType="num">
                                      <p:cBhvr additive="base">
                                        <p:cTn dur="500"/>
                                        <p:tgtEl>
                                          <p:spTgt spid="3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3" st="3"/>
                                            </p:txEl>
                                          </p:spTgt>
                                        </p:tgtEl>
                                        <p:attrNameLst>
                                          <p:attrName>style.visibility</p:attrName>
                                        </p:attrNameLst>
                                      </p:cBhvr>
                                      <p:to>
                                        <p:strVal val="visible"/>
                                      </p:to>
                                    </p:set>
                                    <p:anim calcmode="lin" valueType="num">
                                      <p:cBhvr additive="base">
                                        <p:cTn dur="500"/>
                                        <p:tgtEl>
                                          <p:spTgt spid="3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4" st="4"/>
                                            </p:txEl>
                                          </p:spTgt>
                                        </p:tgtEl>
                                        <p:attrNameLst>
                                          <p:attrName>style.visibility</p:attrName>
                                        </p:attrNameLst>
                                      </p:cBhvr>
                                      <p:to>
                                        <p:strVal val="visible"/>
                                      </p:to>
                                    </p:set>
                                    <p:anim calcmode="lin" valueType="num">
                                      <p:cBhvr additive="base">
                                        <p:cTn dur="500"/>
                                        <p:tgtEl>
                                          <p:spTgt spid="3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5" st="5"/>
                                            </p:txEl>
                                          </p:spTgt>
                                        </p:tgtEl>
                                        <p:attrNameLst>
                                          <p:attrName>style.visibility</p:attrName>
                                        </p:attrNameLst>
                                      </p:cBhvr>
                                      <p:to>
                                        <p:strVal val="visible"/>
                                      </p:to>
                                    </p:set>
                                    <p:anim calcmode="lin" valueType="num">
                                      <p:cBhvr additive="base">
                                        <p:cTn dur="500"/>
                                        <p:tgtEl>
                                          <p:spTgt spid="30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6" st="6"/>
                                            </p:txEl>
                                          </p:spTgt>
                                        </p:tgtEl>
                                        <p:attrNameLst>
                                          <p:attrName>style.visibility</p:attrName>
                                        </p:attrNameLst>
                                      </p:cBhvr>
                                      <p:to>
                                        <p:strVal val="visible"/>
                                      </p:to>
                                    </p:set>
                                    <p:anim calcmode="lin" valueType="num">
                                      <p:cBhvr additive="base">
                                        <p:cTn dur="500"/>
                                        <p:tgtEl>
                                          <p:spTgt spid="30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idx="1" type="body"/>
          </p:nvPr>
        </p:nvSpPr>
        <p:spPr>
          <a:xfrm>
            <a:off x="725714" y="435429"/>
            <a:ext cx="10628086" cy="5741534"/>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1" i="0" lang="en-US" u="none" strike="noStrike">
                <a:latin typeface="Poppins"/>
                <a:ea typeface="Poppins"/>
                <a:cs typeface="Poppins"/>
                <a:sym typeface="Poppins"/>
              </a:rPr>
              <a:t>Associative Data Model</a:t>
            </a:r>
            <a:endParaRPr/>
          </a:p>
          <a:p>
            <a:pPr indent="-228600" lvl="0" marL="228600" rtl="0" algn="l">
              <a:lnSpc>
                <a:spcPct val="90000"/>
              </a:lnSpc>
              <a:spcBef>
                <a:spcPts val="1000"/>
              </a:spcBef>
              <a:spcAft>
                <a:spcPts val="0"/>
              </a:spcAft>
              <a:buClr>
                <a:schemeClr val="dk1"/>
              </a:buClr>
              <a:buSzPct val="100000"/>
              <a:buChar char="•"/>
            </a:pPr>
            <a:r>
              <a:rPr i="0" lang="en-US">
                <a:latin typeface="Poppins"/>
                <a:ea typeface="Poppins"/>
                <a:cs typeface="Poppins"/>
                <a:sym typeface="Poppins"/>
              </a:rPr>
              <a:t>It is a model in which the data is separated into two sections. </a:t>
            </a:r>
            <a:endParaRPr/>
          </a:p>
          <a:p>
            <a:pPr indent="-228600" lvl="0" marL="228600" rtl="0" algn="l">
              <a:lnSpc>
                <a:spcPct val="90000"/>
              </a:lnSpc>
              <a:spcBef>
                <a:spcPts val="1000"/>
              </a:spcBef>
              <a:spcAft>
                <a:spcPts val="0"/>
              </a:spcAft>
              <a:buClr>
                <a:schemeClr val="dk1"/>
              </a:buClr>
              <a:buSzPct val="100000"/>
              <a:buChar char="•"/>
            </a:pPr>
            <a:r>
              <a:rPr i="0" lang="en-US">
                <a:latin typeface="Poppins"/>
                <a:ea typeface="Poppins"/>
                <a:cs typeface="Poppins"/>
                <a:sym typeface="Poppins"/>
              </a:rPr>
              <a:t>Everything that has its own existence is referred to as an entity, and the relationships between these entities are referred to as associations. </a:t>
            </a:r>
            <a:endParaRPr/>
          </a:p>
          <a:p>
            <a:pPr indent="-228600" lvl="0" marL="228600" rtl="0" algn="l">
              <a:lnSpc>
                <a:spcPct val="90000"/>
              </a:lnSpc>
              <a:spcBef>
                <a:spcPts val="1000"/>
              </a:spcBef>
              <a:spcAft>
                <a:spcPts val="0"/>
              </a:spcAft>
              <a:buClr>
                <a:schemeClr val="dk1"/>
              </a:buClr>
              <a:buSzPct val="100000"/>
              <a:buChar char="•"/>
            </a:pPr>
            <a:r>
              <a:rPr i="0" lang="en-US">
                <a:latin typeface="Poppins"/>
                <a:ea typeface="Poppins"/>
                <a:cs typeface="Poppins"/>
                <a:sym typeface="Poppins"/>
              </a:rPr>
              <a:t>Items and links are two types of data that are separated into two components.</a:t>
            </a:r>
            <a:endParaRPr/>
          </a:p>
          <a:p>
            <a:pPr indent="-64135" lvl="0" marL="228600" rtl="0" algn="l">
              <a:lnSpc>
                <a:spcPct val="90000"/>
              </a:lnSpc>
              <a:spcBef>
                <a:spcPts val="1000"/>
              </a:spcBef>
              <a:spcAft>
                <a:spcPts val="0"/>
              </a:spcAft>
              <a:buClr>
                <a:schemeClr val="dk1"/>
              </a:buClr>
              <a:buSzPct val="100000"/>
              <a:buNone/>
            </a:pPr>
            <a:r>
              <a:t/>
            </a:r>
            <a:endParaRPr b="1"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ct val="100000"/>
              <a:buChar char="•"/>
            </a:pPr>
            <a:r>
              <a:rPr b="1" i="0" lang="en-US">
                <a:latin typeface="Poppins"/>
                <a:ea typeface="Poppins"/>
                <a:cs typeface="Poppins"/>
                <a:sym typeface="Poppins"/>
              </a:rPr>
              <a:t>Context data model</a:t>
            </a:r>
            <a:endParaRPr b="1">
              <a:latin typeface="Poppins"/>
              <a:ea typeface="Poppins"/>
              <a:cs typeface="Poppins"/>
              <a:sym typeface="Poppins"/>
            </a:endParaRPr>
          </a:p>
          <a:p>
            <a:pPr indent="-228600" lvl="0" marL="228600" rtl="0" algn="l">
              <a:lnSpc>
                <a:spcPct val="90000"/>
              </a:lnSpc>
              <a:spcBef>
                <a:spcPts val="1000"/>
              </a:spcBef>
              <a:spcAft>
                <a:spcPts val="0"/>
              </a:spcAft>
              <a:buClr>
                <a:schemeClr val="dk1"/>
              </a:buClr>
              <a:buSzPct val="100000"/>
              <a:buChar char="•"/>
            </a:pPr>
            <a:r>
              <a:rPr lang="en-US">
                <a:latin typeface="Poppins"/>
                <a:ea typeface="Poppins"/>
                <a:cs typeface="Poppins"/>
                <a:sym typeface="Poppins"/>
              </a:rPr>
              <a:t>It </a:t>
            </a:r>
            <a:r>
              <a:rPr b="0" i="0" lang="en-US">
                <a:latin typeface="Poppins"/>
                <a:ea typeface="Poppins"/>
                <a:cs typeface="Poppins"/>
                <a:sym typeface="Poppins"/>
              </a:rPr>
              <a:t>is simply a data model which consists of more than one data model. </a:t>
            </a:r>
            <a:endParaRPr/>
          </a:p>
          <a:p>
            <a:pPr indent="-228600" lvl="0" marL="228600" rtl="0" algn="l">
              <a:lnSpc>
                <a:spcPct val="90000"/>
              </a:lnSpc>
              <a:spcBef>
                <a:spcPts val="1000"/>
              </a:spcBef>
              <a:spcAft>
                <a:spcPts val="0"/>
              </a:spcAft>
              <a:buClr>
                <a:schemeClr val="dk1"/>
              </a:buClr>
              <a:buSzPct val="100000"/>
              <a:buChar char="•"/>
            </a:pPr>
            <a:r>
              <a:rPr b="0" i="0" lang="en-US">
                <a:latin typeface="Poppins"/>
                <a:ea typeface="Poppins"/>
                <a:cs typeface="Poppins"/>
                <a:sym typeface="Poppins"/>
              </a:rPr>
              <a:t>For example, the Context data model consists of ER Model, Object-Oriented Data Model, etc. This model allows users to do more than one thing which each individual data model can do.</a:t>
            </a:r>
            <a:endParaRPr/>
          </a:p>
          <a:p>
            <a:pPr indent="-64135" lvl="0" marL="228600" rtl="0" algn="l">
              <a:lnSpc>
                <a:spcPct val="90000"/>
              </a:lnSpc>
              <a:spcBef>
                <a:spcPts val="1000"/>
              </a:spcBef>
              <a:spcAft>
                <a:spcPts val="0"/>
              </a:spcAft>
              <a:buClr>
                <a:schemeClr val="dk1"/>
              </a:buClr>
              <a:buSzPct val="100000"/>
              <a:buNone/>
            </a:pPr>
            <a:r>
              <a:t/>
            </a:r>
            <a:endParaRPr b="0" i="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Effect filter="fade" transition="in">
                                      <p:cBhvr>
                                        <p:cTn dur="1000"/>
                                        <p:tgtEl>
                                          <p:spTgt spid="3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animEffect filter="fade" transition="in">
                                      <p:cBhvr>
                                        <p:cTn dur="1000"/>
                                        <p:tgtEl>
                                          <p:spTgt spid="3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animEffect filter="fade" transition="in">
                                      <p:cBhvr>
                                        <p:cTn dur="1000"/>
                                        <p:tgtEl>
                                          <p:spTgt spid="3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animEffect filter="fade" transition="in">
                                      <p:cBhvr>
                                        <p:cTn dur="1000"/>
                                        <p:tgtEl>
                                          <p:spTgt spid="3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animEffect filter="fade" transition="in">
                                      <p:cBhvr>
                                        <p:cTn dur="1000"/>
                                        <p:tgtEl>
                                          <p:spTgt spid="3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5" st="5"/>
                                            </p:txEl>
                                          </p:spTgt>
                                        </p:tgtEl>
                                        <p:attrNameLst>
                                          <p:attrName>style.visibility</p:attrName>
                                        </p:attrNameLst>
                                      </p:cBhvr>
                                      <p:to>
                                        <p:strVal val="visible"/>
                                      </p:to>
                                    </p:set>
                                    <p:animEffect filter="fade" transition="in">
                                      <p:cBhvr>
                                        <p:cTn dur="1000"/>
                                        <p:tgtEl>
                                          <p:spTgt spid="3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6" st="6"/>
                                            </p:txEl>
                                          </p:spTgt>
                                        </p:tgtEl>
                                        <p:attrNameLst>
                                          <p:attrName>style.visibility</p:attrName>
                                        </p:attrNameLst>
                                      </p:cBhvr>
                                      <p:to>
                                        <p:strVal val="visible"/>
                                      </p:to>
                                    </p:set>
                                    <p:animEffect filter="fade" transition="in">
                                      <p:cBhvr>
                                        <p:cTn dur="1000"/>
                                        <p:tgtEl>
                                          <p:spTgt spid="3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7" st="7"/>
                                            </p:txEl>
                                          </p:spTgt>
                                        </p:tgtEl>
                                        <p:attrNameLst>
                                          <p:attrName>style.visibility</p:attrName>
                                        </p:attrNameLst>
                                      </p:cBhvr>
                                      <p:to>
                                        <p:strVal val="visible"/>
                                      </p:to>
                                    </p:set>
                                    <p:animEffect filter="fade" transition="in">
                                      <p:cBhvr>
                                        <p:cTn dur="1000"/>
                                        <p:tgtEl>
                                          <p:spTgt spid="3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8" st="8"/>
                                            </p:txEl>
                                          </p:spTgt>
                                        </p:tgtEl>
                                        <p:attrNameLst>
                                          <p:attrName>style.visibility</p:attrName>
                                        </p:attrNameLst>
                                      </p:cBhvr>
                                      <p:to>
                                        <p:strVal val="visible"/>
                                      </p:to>
                                    </p:set>
                                    <p:animEffect filter="fade" transition="in">
                                      <p:cBhvr>
                                        <p:cTn dur="1000"/>
                                        <p:tgtEl>
                                          <p:spTgt spid="31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Enhanced Entity Relationship model</a:t>
            </a:r>
            <a:endParaRPr/>
          </a:p>
        </p:txBody>
      </p:sp>
      <p:sp>
        <p:nvSpPr>
          <p:cNvPr id="318" name="Google Shape;318;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111960" rtl="0" algn="just">
              <a:lnSpc>
                <a:spcPct val="100000"/>
              </a:lnSpc>
              <a:spcBef>
                <a:spcPts val="0"/>
              </a:spcBef>
              <a:spcAft>
                <a:spcPts val="0"/>
              </a:spcAft>
              <a:buClr>
                <a:srgbClr val="2DA2BF"/>
              </a:buClr>
              <a:buSzPts val="1904"/>
              <a:buNone/>
            </a:pPr>
            <a:r>
              <a:rPr b="0" lang="en-US" sz="2800" strike="noStrike">
                <a:solidFill>
                  <a:srgbClr val="000000"/>
                </a:solidFill>
                <a:latin typeface="Times New Roman"/>
                <a:ea typeface="Times New Roman"/>
                <a:cs typeface="Times New Roman"/>
                <a:sym typeface="Times New Roman"/>
              </a:rPr>
              <a:t>It is a diagrammatic technique for displaying the following concepts:</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Sub Class and Super Class</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Specialization and Generalization</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Union or Category</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Aggregation</a:t>
            </a:r>
            <a:endParaRPr b="0" sz="2800" strike="noStrik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Subclasses and Superclasses</a:t>
            </a:r>
            <a:endParaRPr/>
          </a:p>
        </p:txBody>
      </p:sp>
      <p:sp>
        <p:nvSpPr>
          <p:cNvPr id="324" name="Google Shape;324;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33399"/>
              </a:buClr>
              <a:buSzPts val="2400"/>
              <a:buFont typeface="Arial"/>
              <a:buChar char="•"/>
            </a:pPr>
            <a:r>
              <a:rPr b="0" i="0" lang="en-US" sz="2400" u="none" strike="noStrike">
                <a:solidFill>
                  <a:srgbClr val="333399"/>
                </a:solidFill>
                <a:latin typeface="Arial"/>
                <a:ea typeface="Arial"/>
                <a:cs typeface="Arial"/>
                <a:sym typeface="Arial"/>
              </a:rPr>
              <a:t>An entity type may have additional meaningful subgroupings of its entities</a:t>
            </a:r>
            <a:endParaRPr b="0" i="0" sz="1440" u="none" strike="noStrike">
              <a:solidFill>
                <a:srgbClr val="990033"/>
              </a:solidFill>
              <a:latin typeface="Noto Sans Symbols"/>
              <a:ea typeface="Noto Sans Symbols"/>
              <a:cs typeface="Noto Sans Symbols"/>
              <a:sym typeface="Noto Sans Symbols"/>
            </a:endParaRPr>
          </a:p>
          <a:p>
            <a:pPr indent="-285750" lvl="1" marL="742950" rtl="0" algn="l">
              <a:lnSpc>
                <a:spcPct val="90000"/>
              </a:lnSpc>
              <a:spcBef>
                <a:spcPts val="440"/>
              </a:spcBef>
              <a:spcAft>
                <a:spcPts val="0"/>
              </a:spcAft>
              <a:buClr>
                <a:srgbClr val="800000"/>
              </a:buClr>
              <a:buSzPts val="2200"/>
              <a:buFont typeface="Arial"/>
              <a:buChar char="•"/>
            </a:pPr>
            <a:r>
              <a:rPr b="0" i="0" lang="en-US" sz="2200" u="none" strike="noStrike">
                <a:solidFill>
                  <a:srgbClr val="800000"/>
                </a:solidFill>
                <a:latin typeface="Arial"/>
                <a:ea typeface="Arial"/>
                <a:cs typeface="Arial"/>
                <a:sym typeface="Arial"/>
              </a:rPr>
              <a:t>Example: EMPLOYEE may be further grouped into: </a:t>
            </a:r>
            <a:endParaRPr b="0" i="0" sz="1210" u="none" strike="noStrike">
              <a:solidFill>
                <a:srgbClr val="333399"/>
              </a:solidFill>
              <a:latin typeface="Noto Sans Symbols"/>
              <a:ea typeface="Noto Sans Symbols"/>
              <a:cs typeface="Noto Sans Symbols"/>
              <a:sym typeface="Noto Sans Symbols"/>
            </a:endParaRPr>
          </a:p>
          <a:p>
            <a:pPr indent="-228600" lvl="2" marL="1143000" rtl="0" algn="l">
              <a:lnSpc>
                <a:spcPct val="90000"/>
              </a:lnSpc>
              <a:spcBef>
                <a:spcPts val="400"/>
              </a:spcBef>
              <a:spcAft>
                <a:spcPts val="0"/>
              </a:spcAft>
              <a:buClr>
                <a:srgbClr val="333399"/>
              </a:buClr>
              <a:buSzPts val="2000"/>
              <a:buFont typeface="Arial"/>
              <a:buChar char="•"/>
            </a:pPr>
            <a:r>
              <a:rPr b="0" i="0" lang="en-US" sz="2000" u="none" strike="noStrike">
                <a:solidFill>
                  <a:srgbClr val="333399"/>
                </a:solidFill>
                <a:latin typeface="Arial"/>
                <a:ea typeface="Arial"/>
                <a:cs typeface="Arial"/>
                <a:sym typeface="Arial"/>
              </a:rPr>
              <a:t>SECRETARY, ENGINEER, TECHNICIAN, …</a:t>
            </a:r>
            <a:endParaRPr b="0" i="0" sz="1000" u="none" strike="noStrike">
              <a:solidFill>
                <a:srgbClr val="990033"/>
              </a:solidFill>
              <a:latin typeface="Noto Sans Symbols"/>
              <a:ea typeface="Noto Sans Symbols"/>
              <a:cs typeface="Noto Sans Symbols"/>
              <a:sym typeface="Noto Sans Symbols"/>
            </a:endParaRPr>
          </a:p>
          <a:p>
            <a:pPr indent="-228600" lvl="3" marL="1600200" rtl="0" algn="l">
              <a:lnSpc>
                <a:spcPct val="90000"/>
              </a:lnSpc>
              <a:spcBef>
                <a:spcPts val="360"/>
              </a:spcBef>
              <a:spcAft>
                <a:spcPts val="0"/>
              </a:spcAft>
              <a:buClr>
                <a:srgbClr val="800000"/>
              </a:buClr>
              <a:buSzPts val="1800"/>
              <a:buFont typeface="Arial"/>
              <a:buChar char="•"/>
            </a:pPr>
            <a:r>
              <a:rPr b="0" i="0" lang="en-US" sz="1800" u="none" strike="noStrike">
                <a:solidFill>
                  <a:srgbClr val="800000"/>
                </a:solidFill>
                <a:latin typeface="Arial"/>
                <a:ea typeface="Arial"/>
                <a:cs typeface="Arial"/>
                <a:sym typeface="Arial"/>
              </a:rPr>
              <a:t>Based on the EMPLOYEE’s Job</a:t>
            </a:r>
            <a:endParaRPr b="0" i="0" sz="989" u="none" strike="noStrike">
              <a:solidFill>
                <a:srgbClr val="333399"/>
              </a:solidFill>
              <a:latin typeface="Noto Sans Symbols"/>
              <a:ea typeface="Noto Sans Symbols"/>
              <a:cs typeface="Noto Sans Symbols"/>
              <a:sym typeface="Noto Sans Symbols"/>
            </a:endParaRPr>
          </a:p>
          <a:p>
            <a:pPr indent="-228600" lvl="2" marL="1143000" rtl="0" algn="l">
              <a:lnSpc>
                <a:spcPct val="90000"/>
              </a:lnSpc>
              <a:spcBef>
                <a:spcPts val="400"/>
              </a:spcBef>
              <a:spcAft>
                <a:spcPts val="0"/>
              </a:spcAft>
              <a:buClr>
                <a:srgbClr val="333399"/>
              </a:buClr>
              <a:buSzPts val="2000"/>
              <a:buFont typeface="Arial"/>
              <a:buChar char="•"/>
            </a:pPr>
            <a:r>
              <a:rPr b="0" i="0" lang="en-US" sz="2000" u="none" strike="noStrike">
                <a:solidFill>
                  <a:srgbClr val="333399"/>
                </a:solidFill>
                <a:latin typeface="Arial"/>
                <a:ea typeface="Arial"/>
                <a:cs typeface="Arial"/>
                <a:sym typeface="Arial"/>
              </a:rPr>
              <a:t>MANAGER</a:t>
            </a:r>
            <a:endParaRPr b="0" i="0" sz="1000" u="none" strike="noStrike">
              <a:solidFill>
                <a:srgbClr val="990033"/>
              </a:solidFill>
              <a:latin typeface="Noto Sans Symbols"/>
              <a:ea typeface="Noto Sans Symbols"/>
              <a:cs typeface="Noto Sans Symbols"/>
              <a:sym typeface="Noto Sans Symbols"/>
            </a:endParaRPr>
          </a:p>
          <a:p>
            <a:pPr indent="-228600" lvl="3" marL="1600200" rtl="0" algn="l">
              <a:lnSpc>
                <a:spcPct val="90000"/>
              </a:lnSpc>
              <a:spcBef>
                <a:spcPts val="360"/>
              </a:spcBef>
              <a:spcAft>
                <a:spcPts val="0"/>
              </a:spcAft>
              <a:buClr>
                <a:srgbClr val="800000"/>
              </a:buClr>
              <a:buSzPts val="1800"/>
              <a:buFont typeface="Arial"/>
              <a:buChar char="•"/>
            </a:pPr>
            <a:r>
              <a:rPr b="0" i="0" lang="en-US" sz="1800" u="none" strike="noStrike">
                <a:solidFill>
                  <a:srgbClr val="800000"/>
                </a:solidFill>
                <a:latin typeface="Arial"/>
                <a:ea typeface="Arial"/>
                <a:cs typeface="Arial"/>
                <a:sym typeface="Arial"/>
              </a:rPr>
              <a:t>EMPLOYEEs who are managers</a:t>
            </a:r>
            <a:endParaRPr b="0" i="0" sz="989" u="none" strike="noStrike">
              <a:solidFill>
                <a:srgbClr val="333399"/>
              </a:solidFill>
              <a:latin typeface="Noto Sans Symbols"/>
              <a:ea typeface="Noto Sans Symbols"/>
              <a:cs typeface="Noto Sans Symbols"/>
              <a:sym typeface="Noto Sans Symbols"/>
            </a:endParaRPr>
          </a:p>
          <a:p>
            <a:pPr indent="-228600" lvl="2" marL="1143000" rtl="0" algn="l">
              <a:lnSpc>
                <a:spcPct val="90000"/>
              </a:lnSpc>
              <a:spcBef>
                <a:spcPts val="400"/>
              </a:spcBef>
              <a:spcAft>
                <a:spcPts val="0"/>
              </a:spcAft>
              <a:buClr>
                <a:srgbClr val="333399"/>
              </a:buClr>
              <a:buSzPts val="2000"/>
              <a:buFont typeface="Arial"/>
              <a:buChar char="•"/>
            </a:pPr>
            <a:r>
              <a:rPr b="0" i="0" lang="en-US" sz="2000" u="none" strike="noStrike">
                <a:solidFill>
                  <a:srgbClr val="333399"/>
                </a:solidFill>
                <a:latin typeface="Arial"/>
                <a:ea typeface="Arial"/>
                <a:cs typeface="Arial"/>
                <a:sym typeface="Arial"/>
              </a:rPr>
              <a:t>SALARIED_EMPLOYEE, HOURLY_EMPLOYEE</a:t>
            </a:r>
            <a:endParaRPr b="0" i="0" sz="1000" u="none" strike="noStrike">
              <a:solidFill>
                <a:srgbClr val="990033"/>
              </a:solidFill>
              <a:latin typeface="Noto Sans Symbols"/>
              <a:ea typeface="Noto Sans Symbols"/>
              <a:cs typeface="Noto Sans Symbols"/>
              <a:sym typeface="Noto Sans Symbols"/>
            </a:endParaRPr>
          </a:p>
          <a:p>
            <a:pPr indent="-228600" lvl="3" marL="1600200" rtl="0" algn="l">
              <a:lnSpc>
                <a:spcPct val="90000"/>
              </a:lnSpc>
              <a:spcBef>
                <a:spcPts val="360"/>
              </a:spcBef>
              <a:spcAft>
                <a:spcPts val="0"/>
              </a:spcAft>
              <a:buClr>
                <a:srgbClr val="800000"/>
              </a:buClr>
              <a:buSzPts val="1800"/>
              <a:buFont typeface="Arial"/>
              <a:buChar char="•"/>
            </a:pPr>
            <a:r>
              <a:rPr b="0" i="0" lang="en-US" sz="1800" u="none" strike="noStrike">
                <a:solidFill>
                  <a:srgbClr val="800000"/>
                </a:solidFill>
                <a:latin typeface="Arial"/>
                <a:ea typeface="Arial"/>
                <a:cs typeface="Arial"/>
                <a:sym typeface="Arial"/>
              </a:rPr>
              <a:t>Based on the EMPLOYEE’s method of pay</a:t>
            </a:r>
            <a:endParaRPr b="0" i="0" sz="989" u="none" strike="noStrike">
              <a:solidFill>
                <a:srgbClr val="333399"/>
              </a:solidFill>
              <a:latin typeface="Noto Sans Symbols"/>
              <a:ea typeface="Noto Sans Symbols"/>
              <a:cs typeface="Noto Sans Symbols"/>
              <a:sym typeface="Noto Sans Symbols"/>
            </a:endParaRPr>
          </a:p>
          <a:p>
            <a:pPr indent="-228600" lvl="0" marL="228600" rtl="0" algn="l">
              <a:lnSpc>
                <a:spcPct val="90000"/>
              </a:lnSpc>
              <a:spcBef>
                <a:spcPts val="480"/>
              </a:spcBef>
              <a:spcAft>
                <a:spcPts val="0"/>
              </a:spcAft>
              <a:buClr>
                <a:srgbClr val="333399"/>
              </a:buClr>
              <a:buSzPts val="2400"/>
              <a:buFont typeface="Arial"/>
              <a:buChar char="•"/>
            </a:pPr>
            <a:r>
              <a:rPr b="0" i="0" lang="en-US" sz="2400" u="none" strike="noStrike">
                <a:solidFill>
                  <a:srgbClr val="333399"/>
                </a:solidFill>
                <a:latin typeface="Arial"/>
                <a:ea typeface="Arial"/>
                <a:cs typeface="Arial"/>
                <a:sym typeface="Arial"/>
              </a:rPr>
              <a:t>EER diagrams extend ER diagrams to represent these additional subgroupings, called </a:t>
            </a:r>
            <a:r>
              <a:rPr b="0" i="1" lang="en-US" sz="2400" u="none" strike="noStrike">
                <a:solidFill>
                  <a:srgbClr val="333399"/>
                </a:solidFill>
                <a:latin typeface="Arial"/>
                <a:ea typeface="Arial"/>
                <a:cs typeface="Arial"/>
                <a:sym typeface="Arial"/>
              </a:rPr>
              <a:t>subclasses</a:t>
            </a:r>
            <a:r>
              <a:rPr b="0" i="0" lang="en-US" sz="2400" u="none" strike="noStrike">
                <a:solidFill>
                  <a:srgbClr val="333399"/>
                </a:solidFill>
                <a:latin typeface="Arial"/>
                <a:ea typeface="Arial"/>
                <a:cs typeface="Arial"/>
                <a:sym typeface="Arial"/>
              </a:rPr>
              <a:t> or </a:t>
            </a:r>
            <a:r>
              <a:rPr b="0" i="1" lang="en-US" sz="2400" u="none" strike="noStrike">
                <a:solidFill>
                  <a:srgbClr val="333399"/>
                </a:solidFill>
                <a:latin typeface="Arial"/>
                <a:ea typeface="Arial"/>
                <a:cs typeface="Arial"/>
                <a:sym typeface="Arial"/>
              </a:rPr>
              <a:t>subtypes</a:t>
            </a:r>
            <a:endParaRPr b="0" i="0" sz="1440" u="none" strike="noStrike">
              <a:solidFill>
                <a:srgbClr val="990033"/>
              </a:solidFill>
              <a:latin typeface="Noto Sans Symbols"/>
              <a:ea typeface="Noto Sans Symbols"/>
              <a:cs typeface="Noto Sans Symbols"/>
              <a:sym typeface="Noto Sans Symbols"/>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 calcmode="lin" valueType="num">
                                      <p:cBhvr additive="base">
                                        <p:cTn dur="500"/>
                                        <p:tgtEl>
                                          <p:spTgt spid="32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 calcmode="lin" valueType="num">
                                      <p:cBhvr additive="base">
                                        <p:cTn dur="500"/>
                                        <p:tgtEl>
                                          <p:spTgt spid="32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 calcmode="lin" valueType="num">
                                      <p:cBhvr additive="base">
                                        <p:cTn dur="500"/>
                                        <p:tgtEl>
                                          <p:spTgt spid="32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anim calcmode="lin" valueType="num">
                                      <p:cBhvr additive="base">
                                        <p:cTn dur="500"/>
                                        <p:tgtEl>
                                          <p:spTgt spid="32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4" st="4"/>
                                            </p:txEl>
                                          </p:spTgt>
                                        </p:tgtEl>
                                        <p:attrNameLst>
                                          <p:attrName>style.visibility</p:attrName>
                                        </p:attrNameLst>
                                      </p:cBhvr>
                                      <p:to>
                                        <p:strVal val="visible"/>
                                      </p:to>
                                    </p:set>
                                    <p:anim calcmode="lin" valueType="num">
                                      <p:cBhvr additive="base">
                                        <p:cTn dur="500"/>
                                        <p:tgtEl>
                                          <p:spTgt spid="32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5" st="5"/>
                                            </p:txEl>
                                          </p:spTgt>
                                        </p:tgtEl>
                                        <p:attrNameLst>
                                          <p:attrName>style.visibility</p:attrName>
                                        </p:attrNameLst>
                                      </p:cBhvr>
                                      <p:to>
                                        <p:strVal val="visible"/>
                                      </p:to>
                                    </p:set>
                                    <p:anim calcmode="lin" valueType="num">
                                      <p:cBhvr additive="base">
                                        <p:cTn dur="500"/>
                                        <p:tgtEl>
                                          <p:spTgt spid="32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6" st="6"/>
                                            </p:txEl>
                                          </p:spTgt>
                                        </p:tgtEl>
                                        <p:attrNameLst>
                                          <p:attrName>style.visibility</p:attrName>
                                        </p:attrNameLst>
                                      </p:cBhvr>
                                      <p:to>
                                        <p:strVal val="visible"/>
                                      </p:to>
                                    </p:set>
                                    <p:anim calcmode="lin" valueType="num">
                                      <p:cBhvr additive="base">
                                        <p:cTn dur="500"/>
                                        <p:tgtEl>
                                          <p:spTgt spid="32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7" st="7"/>
                                            </p:txEl>
                                          </p:spTgt>
                                        </p:tgtEl>
                                        <p:attrNameLst>
                                          <p:attrName>style.visibility</p:attrName>
                                        </p:attrNameLst>
                                      </p:cBhvr>
                                      <p:to>
                                        <p:strVal val="visible"/>
                                      </p:to>
                                    </p:set>
                                    <p:anim calcmode="lin" valueType="num">
                                      <p:cBhvr additive="base">
                                        <p:cTn dur="500"/>
                                        <p:tgtEl>
                                          <p:spTgt spid="32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8" st="8"/>
                                            </p:txEl>
                                          </p:spTgt>
                                        </p:tgtEl>
                                        <p:attrNameLst>
                                          <p:attrName>style.visibility</p:attrName>
                                        </p:attrNameLst>
                                      </p:cBhvr>
                                      <p:to>
                                        <p:strVal val="visible"/>
                                      </p:to>
                                    </p:set>
                                    <p:anim calcmode="lin" valueType="num">
                                      <p:cBhvr additive="base">
                                        <p:cTn dur="500"/>
                                        <p:tgtEl>
                                          <p:spTgt spid="32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9" st="9"/>
                                            </p:txEl>
                                          </p:spTgt>
                                        </p:tgtEl>
                                        <p:attrNameLst>
                                          <p:attrName>style.visibility</p:attrName>
                                        </p:attrNameLst>
                                      </p:cBhvr>
                                      <p:to>
                                        <p:strVal val="visible"/>
                                      </p:to>
                                    </p:set>
                                    <p:anim calcmode="lin" valueType="num">
                                      <p:cBhvr additive="base">
                                        <p:cTn dur="500"/>
                                        <p:tgtEl>
                                          <p:spTgt spid="32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0"/>
          <p:cNvSpPr txBox="1"/>
          <p:nvPr>
            <p:ph idx="1" type="body"/>
          </p:nvPr>
        </p:nvSpPr>
        <p:spPr>
          <a:xfrm>
            <a:off x="478971" y="522514"/>
            <a:ext cx="10874829" cy="5654449"/>
          </a:xfrm>
          <a:prstGeom prst="rect">
            <a:avLst/>
          </a:prstGeom>
          <a:noFill/>
          <a:ln>
            <a:noFill/>
          </a:ln>
        </p:spPr>
        <p:txBody>
          <a:bodyPr anchorCtr="0" anchor="t" bIns="45700" lIns="91425" spcFirstLastPara="1" rIns="91425" wrap="square" tIns="45700">
            <a:normAutofit/>
          </a:bodyPr>
          <a:lstStyle/>
          <a:p>
            <a:pPr indent="-253799" lvl="0" marL="365760" rtl="0" algn="just">
              <a:lnSpc>
                <a:spcPct val="100000"/>
              </a:lnSpc>
              <a:spcBef>
                <a:spcPts val="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Sub class and Super class relationship leads the concept of Inheritance.</a:t>
            </a:r>
            <a:endParaRPr b="0" sz="2800" strike="noStrike">
              <a:latin typeface="Arial"/>
              <a:ea typeface="Arial"/>
              <a:cs typeface="Arial"/>
              <a:sym typeface="Arial"/>
            </a:endParaRPr>
          </a:p>
          <a:p>
            <a:pPr indent="-50800" lvl="0" marL="228600" rtl="0" algn="just">
              <a:lnSpc>
                <a:spcPct val="100000"/>
              </a:lnSpc>
              <a:spcBef>
                <a:spcPts val="400"/>
              </a:spcBef>
              <a:spcAft>
                <a:spcPts val="0"/>
              </a:spcAft>
              <a:buClr>
                <a:schemeClr val="dk1"/>
              </a:buClr>
              <a:buSzPts val="2800"/>
              <a:buNone/>
            </a:pPr>
            <a:r>
              <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1" lang="en-US" sz="2800" strike="noStrike">
                <a:solidFill>
                  <a:srgbClr val="000000"/>
                </a:solidFill>
                <a:latin typeface="Times New Roman"/>
                <a:ea typeface="Times New Roman"/>
                <a:cs typeface="Times New Roman"/>
                <a:sym typeface="Times New Roman"/>
              </a:rPr>
              <a:t>1. Super Class: </a:t>
            </a:r>
            <a:r>
              <a:rPr b="0" lang="en-US" sz="2800" strike="noStrike">
                <a:solidFill>
                  <a:srgbClr val="000000"/>
                </a:solidFill>
                <a:latin typeface="Times New Roman"/>
                <a:ea typeface="Times New Roman"/>
                <a:cs typeface="Times New Roman"/>
                <a:sym typeface="Times New Roman"/>
              </a:rPr>
              <a:t>Super class is an entity type that has a relationship with one or more subtypes.</a:t>
            </a:r>
            <a:endParaRPr b="0" sz="2800" strike="noStrike">
              <a:solidFill>
                <a:srgbClr val="000000"/>
              </a:solidFill>
              <a:latin typeface="Arial"/>
              <a:ea typeface="Arial"/>
              <a:cs typeface="Arial"/>
              <a:sym typeface="Arial"/>
            </a:endParaRPr>
          </a:p>
          <a:p>
            <a:pPr indent="0" lvl="0" marL="111960" rtl="0" algn="l">
              <a:lnSpc>
                <a:spcPct val="100000"/>
              </a:lnSpc>
              <a:spcBef>
                <a:spcPts val="400"/>
              </a:spcBef>
              <a:spcAft>
                <a:spcPts val="0"/>
              </a:spcAft>
              <a:buClr>
                <a:srgbClr val="2DA2BF"/>
              </a:buClr>
              <a:buSzPts val="1904"/>
              <a:buNone/>
            </a:pPr>
            <a:br>
              <a:rPr lang="en-US"/>
            </a:br>
            <a:r>
              <a:rPr b="1" lang="en-US" sz="2800" strike="noStrike">
                <a:solidFill>
                  <a:srgbClr val="000000"/>
                </a:solidFill>
                <a:latin typeface="Times New Roman"/>
                <a:ea typeface="Times New Roman"/>
                <a:cs typeface="Times New Roman"/>
                <a:sym typeface="Times New Roman"/>
              </a:rPr>
              <a:t>For example:</a:t>
            </a:r>
            <a:r>
              <a:rPr b="0" lang="en-US" sz="2800" strike="noStrike">
                <a:solidFill>
                  <a:srgbClr val="000000"/>
                </a:solidFill>
                <a:latin typeface="Times New Roman"/>
                <a:ea typeface="Times New Roman"/>
                <a:cs typeface="Times New Roman"/>
                <a:sym typeface="Times New Roman"/>
              </a:rPr>
              <a:t> Shape super class is having sub groups as Square, Circle, Triangle.</a:t>
            </a:r>
            <a:endParaRPr/>
          </a:p>
          <a:p>
            <a:pPr indent="-253799" lvl="0" marL="365760" rtl="0" algn="just">
              <a:lnSpc>
                <a:spcPct val="100000"/>
              </a:lnSpc>
              <a:spcBef>
                <a:spcPts val="400"/>
              </a:spcBef>
              <a:spcAft>
                <a:spcPts val="0"/>
              </a:spcAft>
              <a:buClr>
                <a:srgbClr val="2DA2BF"/>
              </a:buClr>
              <a:buSzPts val="1904"/>
              <a:buFont typeface="Noto Sans Symbols"/>
              <a:buChar char="🞂"/>
            </a:pPr>
            <a:r>
              <a:rPr b="1" lang="en-US" sz="2800" strike="noStrike">
                <a:solidFill>
                  <a:schemeClr val="dk1"/>
                </a:solidFill>
                <a:latin typeface="Times New Roman"/>
                <a:ea typeface="Times New Roman"/>
                <a:cs typeface="Times New Roman"/>
                <a:sym typeface="Times New Roman"/>
              </a:rPr>
              <a:t>2. Sub Class: It </a:t>
            </a:r>
            <a:r>
              <a:rPr b="0" lang="en-US" sz="2800" strike="noStrike">
                <a:solidFill>
                  <a:schemeClr val="dk1"/>
                </a:solidFill>
                <a:latin typeface="Times New Roman"/>
                <a:ea typeface="Times New Roman"/>
                <a:cs typeface="Times New Roman"/>
                <a:sym typeface="Times New Roman"/>
              </a:rPr>
              <a:t> is a group of entities with unique attributes.</a:t>
            </a:r>
            <a:endParaRPr b="0" sz="2800" strike="noStrike">
              <a:solidFill>
                <a:schemeClr val="dk1"/>
              </a:solidFill>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chemeClr val="dk1"/>
                </a:solidFill>
                <a:latin typeface="Times New Roman"/>
                <a:ea typeface="Times New Roman"/>
                <a:cs typeface="Times New Roman"/>
                <a:sym typeface="Times New Roman"/>
              </a:rPr>
              <a:t>Sub class inherits properties and attributes from its super class.</a:t>
            </a:r>
            <a:br>
              <a:rPr lang="en-US">
                <a:solidFill>
                  <a:schemeClr val="dk1"/>
                </a:solidFill>
              </a:rPr>
            </a:br>
            <a:r>
              <a:rPr b="1" lang="en-US" sz="2800" strike="noStrike">
                <a:solidFill>
                  <a:schemeClr val="dk1"/>
                </a:solidFill>
                <a:latin typeface="Times New Roman"/>
                <a:ea typeface="Times New Roman"/>
                <a:cs typeface="Times New Roman"/>
                <a:sym typeface="Times New Roman"/>
              </a:rPr>
              <a:t>For example:</a:t>
            </a:r>
            <a:r>
              <a:rPr b="0" lang="en-US" sz="2800" strike="noStrike">
                <a:solidFill>
                  <a:schemeClr val="dk1"/>
                </a:solidFill>
                <a:latin typeface="Times New Roman"/>
                <a:ea typeface="Times New Roman"/>
                <a:cs typeface="Times New Roman"/>
                <a:sym typeface="Times New Roman"/>
              </a:rPr>
              <a:t> Square, Circle, Triangle are the sub class of Shape super class.</a:t>
            </a:r>
            <a:endParaRPr b="0" sz="2800" strike="noStrike">
              <a:solidFill>
                <a:schemeClr val="dk1"/>
              </a:solidFill>
              <a:latin typeface="Arial"/>
              <a:ea typeface="Arial"/>
              <a:cs typeface="Arial"/>
              <a:sym typeface="Arial"/>
            </a:endParaRPr>
          </a:p>
          <a:p>
            <a:pPr indent="-50800" lvl="0" marL="228600" rtl="0" algn="l">
              <a:lnSpc>
                <a:spcPct val="100000"/>
              </a:lnSpc>
              <a:spcBef>
                <a:spcPts val="400"/>
              </a:spcBef>
              <a:spcAft>
                <a:spcPts val="0"/>
              </a:spcAft>
              <a:buClr>
                <a:schemeClr val="dk1"/>
              </a:buClr>
              <a:buSzPts val="2800"/>
              <a:buNone/>
            </a:pPr>
            <a:r>
              <a:t/>
            </a:r>
            <a:endParaRPr b="0" sz="2800" strike="noStrike">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pic>
        <p:nvPicPr>
          <p:cNvPr id="330" name="Google Shape;330;p50"/>
          <p:cNvPicPr preferRelativeResize="0"/>
          <p:nvPr/>
        </p:nvPicPr>
        <p:blipFill rotWithShape="1">
          <a:blip r:embed="rId3">
            <a:alphaModFix/>
          </a:blip>
          <a:srcRect b="0" l="0" r="0" t="0"/>
          <a:stretch/>
        </p:blipFill>
        <p:spPr>
          <a:xfrm>
            <a:off x="7637365" y="2121589"/>
            <a:ext cx="3716435" cy="3684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0" st="0"/>
                                            </p:txEl>
                                          </p:spTgt>
                                        </p:tgtEl>
                                        <p:attrNameLst>
                                          <p:attrName>style.visibility</p:attrName>
                                        </p:attrNameLst>
                                      </p:cBhvr>
                                      <p:to>
                                        <p:strVal val="visible"/>
                                      </p:to>
                                    </p:set>
                                    <p:anim calcmode="lin" valueType="num">
                                      <p:cBhvr additive="base">
                                        <p:cTn dur="500"/>
                                        <p:tgtEl>
                                          <p:spTgt spid="32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1" st="1"/>
                                            </p:txEl>
                                          </p:spTgt>
                                        </p:tgtEl>
                                        <p:attrNameLst>
                                          <p:attrName>style.visibility</p:attrName>
                                        </p:attrNameLst>
                                      </p:cBhvr>
                                      <p:to>
                                        <p:strVal val="visible"/>
                                      </p:to>
                                    </p:set>
                                    <p:anim calcmode="lin" valueType="num">
                                      <p:cBhvr additive="base">
                                        <p:cTn dur="500"/>
                                        <p:tgtEl>
                                          <p:spTgt spid="32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2" st="2"/>
                                            </p:txEl>
                                          </p:spTgt>
                                        </p:tgtEl>
                                        <p:attrNameLst>
                                          <p:attrName>style.visibility</p:attrName>
                                        </p:attrNameLst>
                                      </p:cBhvr>
                                      <p:to>
                                        <p:strVal val="visible"/>
                                      </p:to>
                                    </p:set>
                                    <p:anim calcmode="lin" valueType="num">
                                      <p:cBhvr additive="base">
                                        <p:cTn dur="500"/>
                                        <p:tgtEl>
                                          <p:spTgt spid="32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3" st="3"/>
                                            </p:txEl>
                                          </p:spTgt>
                                        </p:tgtEl>
                                        <p:attrNameLst>
                                          <p:attrName>style.visibility</p:attrName>
                                        </p:attrNameLst>
                                      </p:cBhvr>
                                      <p:to>
                                        <p:strVal val="visible"/>
                                      </p:to>
                                    </p:set>
                                    <p:anim calcmode="lin" valueType="num">
                                      <p:cBhvr additive="base">
                                        <p:cTn dur="500"/>
                                        <p:tgtEl>
                                          <p:spTgt spid="32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4" st="4"/>
                                            </p:txEl>
                                          </p:spTgt>
                                        </p:tgtEl>
                                        <p:attrNameLst>
                                          <p:attrName>style.visibility</p:attrName>
                                        </p:attrNameLst>
                                      </p:cBhvr>
                                      <p:to>
                                        <p:strVal val="visible"/>
                                      </p:to>
                                    </p:set>
                                    <p:anim calcmode="lin" valueType="num">
                                      <p:cBhvr additive="base">
                                        <p:cTn dur="500"/>
                                        <p:tgtEl>
                                          <p:spTgt spid="32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5" st="5"/>
                                            </p:txEl>
                                          </p:spTgt>
                                        </p:tgtEl>
                                        <p:attrNameLst>
                                          <p:attrName>style.visibility</p:attrName>
                                        </p:attrNameLst>
                                      </p:cBhvr>
                                      <p:to>
                                        <p:strVal val="visible"/>
                                      </p:to>
                                    </p:set>
                                    <p:anim calcmode="lin" valueType="num">
                                      <p:cBhvr additive="base">
                                        <p:cTn dur="500"/>
                                        <p:tgtEl>
                                          <p:spTgt spid="32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6" st="6"/>
                                            </p:txEl>
                                          </p:spTgt>
                                        </p:tgtEl>
                                        <p:attrNameLst>
                                          <p:attrName>style.visibility</p:attrName>
                                        </p:attrNameLst>
                                      </p:cBhvr>
                                      <p:to>
                                        <p:strVal val="visible"/>
                                      </p:to>
                                    </p:set>
                                    <p:anim calcmode="lin" valueType="num">
                                      <p:cBhvr additive="base">
                                        <p:cTn dur="500"/>
                                        <p:tgtEl>
                                          <p:spTgt spid="32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7" st="7"/>
                                            </p:txEl>
                                          </p:spTgt>
                                        </p:tgtEl>
                                        <p:attrNameLst>
                                          <p:attrName>style.visibility</p:attrName>
                                        </p:attrNameLst>
                                      </p:cBhvr>
                                      <p:to>
                                        <p:strVal val="visible"/>
                                      </p:to>
                                    </p:set>
                                    <p:anim calcmode="lin" valueType="num">
                                      <p:cBhvr additive="base">
                                        <p:cTn dur="500"/>
                                        <p:tgtEl>
                                          <p:spTgt spid="32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20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Representing Specialization in EER Diagrams</a:t>
            </a:r>
            <a:endParaRPr/>
          </a:p>
        </p:txBody>
      </p:sp>
      <p:sp>
        <p:nvSpPr>
          <p:cNvPr id="336" name="Google Shape;336;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37" name="Google Shape;337;p51"/>
          <p:cNvPicPr preferRelativeResize="0"/>
          <p:nvPr/>
        </p:nvPicPr>
        <p:blipFill rotWithShape="1">
          <a:blip r:embed="rId3">
            <a:alphaModFix/>
          </a:blip>
          <a:srcRect b="0" l="0" r="0" t="0"/>
          <a:stretch/>
        </p:blipFill>
        <p:spPr>
          <a:xfrm>
            <a:off x="2902858" y="2024492"/>
            <a:ext cx="5585290" cy="354720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44" name="Google Shape;344;p52"/>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Attribute Inheritance in Superclass / Subclass Relationships </a:t>
            </a:r>
            <a:endParaRPr/>
          </a:p>
        </p:txBody>
      </p:sp>
      <p:sp>
        <p:nvSpPr>
          <p:cNvPr id="345" name="Google Shape;345;p52"/>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An entity that is member of a subclass </a:t>
            </a:r>
            <a:r>
              <a:rPr i="1" lang="en-US">
                <a:solidFill>
                  <a:schemeClr val="dk2"/>
                </a:solidFill>
                <a:latin typeface="Arial"/>
                <a:ea typeface="Arial"/>
                <a:cs typeface="Arial"/>
                <a:sym typeface="Arial"/>
              </a:rPr>
              <a:t>inherits</a:t>
            </a:r>
            <a:r>
              <a:rPr lang="en-US">
                <a:solidFill>
                  <a:schemeClr val="dk2"/>
                </a:solidFill>
                <a:latin typeface="Arial"/>
                <a:ea typeface="Arial"/>
                <a:cs typeface="Arial"/>
                <a:sym typeface="Arial"/>
              </a:rPr>
              <a:t>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All attributes of the entity as a member of the superclass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All relationships of the entity as a member of the superclass</a:t>
            </a:r>
            <a:endParaRPr/>
          </a:p>
          <a:p>
            <a:pPr indent="-342900" lvl="0" marL="342900" rtl="0" algn="l">
              <a:lnSpc>
                <a:spcPct val="90000"/>
              </a:lnSpc>
              <a:spcBef>
                <a:spcPts val="56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Example:</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In the previous slide, SECRETARY (as well as TECHNICIAN and ENGINEER) inherit the attributes Name, SSN, …, from EMPLOYEE</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Every SECRETARY entity will have values for the inherited attributes</a:t>
            </a:r>
            <a:endParaRPr/>
          </a:p>
          <a:p>
            <a:pPr indent="-243840" lvl="0" marL="342900" rtl="0" algn="l">
              <a:lnSpc>
                <a:spcPct val="90000"/>
              </a:lnSpc>
              <a:spcBef>
                <a:spcPts val="520"/>
              </a:spcBef>
              <a:spcAft>
                <a:spcPts val="0"/>
              </a:spcAft>
              <a:buClr>
                <a:schemeClr val="dk1"/>
              </a:buClr>
              <a:buSzPts val="1560"/>
              <a:buNone/>
            </a:pPr>
            <a:r>
              <a:t/>
            </a:r>
            <a:endParaRPr sz="2600">
              <a:solidFill>
                <a:srgbClr val="8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 calcmode="lin" valueType="num">
                                      <p:cBhvr additive="base">
                                        <p:cTn dur="500"/>
                                        <p:tgtEl>
                                          <p:spTgt spid="34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anim calcmode="lin" valueType="num">
                                      <p:cBhvr additive="base">
                                        <p:cTn dur="500"/>
                                        <p:tgtEl>
                                          <p:spTgt spid="34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anim calcmode="lin" valueType="num">
                                      <p:cBhvr additive="base">
                                        <p:cTn dur="500"/>
                                        <p:tgtEl>
                                          <p:spTgt spid="34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anim calcmode="lin" valueType="num">
                                      <p:cBhvr additive="base">
                                        <p:cTn dur="500"/>
                                        <p:tgtEl>
                                          <p:spTgt spid="34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4" st="4"/>
                                            </p:txEl>
                                          </p:spTgt>
                                        </p:tgtEl>
                                        <p:attrNameLst>
                                          <p:attrName>style.visibility</p:attrName>
                                        </p:attrNameLst>
                                      </p:cBhvr>
                                      <p:to>
                                        <p:strVal val="visible"/>
                                      </p:to>
                                    </p:set>
                                    <p:anim calcmode="lin" valueType="num">
                                      <p:cBhvr additive="base">
                                        <p:cTn dur="500"/>
                                        <p:tgtEl>
                                          <p:spTgt spid="34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5" st="5"/>
                                            </p:txEl>
                                          </p:spTgt>
                                        </p:tgtEl>
                                        <p:attrNameLst>
                                          <p:attrName>style.visibility</p:attrName>
                                        </p:attrNameLst>
                                      </p:cBhvr>
                                      <p:to>
                                        <p:strVal val="visible"/>
                                      </p:to>
                                    </p:set>
                                    <p:anim calcmode="lin" valueType="num">
                                      <p:cBhvr additive="base">
                                        <p:cTn dur="500"/>
                                        <p:tgtEl>
                                          <p:spTgt spid="34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6" st="6"/>
                                            </p:txEl>
                                          </p:spTgt>
                                        </p:tgtEl>
                                        <p:attrNameLst>
                                          <p:attrName>style.visibility</p:attrName>
                                        </p:attrNameLst>
                                      </p:cBhvr>
                                      <p:to>
                                        <p:strVal val="visible"/>
                                      </p:to>
                                    </p:set>
                                    <p:anim calcmode="lin" valueType="num">
                                      <p:cBhvr additive="base">
                                        <p:cTn dur="500"/>
                                        <p:tgtEl>
                                          <p:spTgt spid="34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52" name="Google Shape;352;p53"/>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Specialization (1)</a:t>
            </a:r>
            <a:endParaRPr/>
          </a:p>
        </p:txBody>
      </p:sp>
      <p:sp>
        <p:nvSpPr>
          <p:cNvPr id="353" name="Google Shape;353;p53"/>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Specialization is the process of defining a set of subclasses of a superclass </a:t>
            </a:r>
            <a:endParaRPr/>
          </a:p>
          <a:p>
            <a:pPr indent="-342900" lvl="0" marL="342900" rtl="0" algn="l">
              <a:lnSpc>
                <a:spcPct val="100000"/>
              </a:lnSpc>
              <a:spcBef>
                <a:spcPts val="56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The set of subclasses is based upon some distinguishing characteristics of the entities in the superclass</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Example: {SECRETARY, ENGINEER, TECHNICIAN} is a specialization of EMPLOYEE based upon </a:t>
            </a:r>
            <a:r>
              <a:rPr i="1" lang="en-US" sz="2600">
                <a:solidFill>
                  <a:srgbClr val="800000"/>
                </a:solidFill>
                <a:latin typeface="Arial"/>
                <a:ea typeface="Arial"/>
                <a:cs typeface="Arial"/>
                <a:sym typeface="Arial"/>
              </a:rPr>
              <a:t>job type.</a:t>
            </a:r>
            <a:endParaRPr/>
          </a:p>
          <a:p>
            <a:pPr indent="-228600" lvl="2" marL="1143000" rtl="0" algn="l">
              <a:lnSpc>
                <a:spcPct val="100000"/>
              </a:lnSpc>
              <a:spcBef>
                <a:spcPts val="480"/>
              </a:spcBef>
              <a:spcAft>
                <a:spcPts val="0"/>
              </a:spcAft>
              <a:buClr>
                <a:srgbClr val="990033"/>
              </a:buClr>
              <a:buSzPts val="1200"/>
              <a:buFont typeface="Noto Sans Symbols"/>
              <a:buChar char="■"/>
            </a:pPr>
            <a:r>
              <a:rPr lang="en-US" sz="2400">
                <a:solidFill>
                  <a:schemeClr val="dk2"/>
                </a:solidFill>
                <a:latin typeface="Arial"/>
                <a:ea typeface="Arial"/>
                <a:cs typeface="Arial"/>
                <a:sym typeface="Arial"/>
              </a:rPr>
              <a:t>May have several specializations of the same superclass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anim calcmode="lin" valueType="num">
                                      <p:cBhvr additive="base">
                                        <p:cTn dur="500"/>
                                        <p:tgtEl>
                                          <p:spTgt spid="3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1" st="1"/>
                                            </p:txEl>
                                          </p:spTgt>
                                        </p:tgtEl>
                                        <p:attrNameLst>
                                          <p:attrName>style.visibility</p:attrName>
                                        </p:attrNameLst>
                                      </p:cBhvr>
                                      <p:to>
                                        <p:strVal val="visible"/>
                                      </p:to>
                                    </p:set>
                                    <p:anim calcmode="lin" valueType="num">
                                      <p:cBhvr additive="base">
                                        <p:cTn dur="500"/>
                                        <p:tgtEl>
                                          <p:spTgt spid="35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2" st="2"/>
                                            </p:txEl>
                                          </p:spTgt>
                                        </p:tgtEl>
                                        <p:attrNameLst>
                                          <p:attrName>style.visibility</p:attrName>
                                        </p:attrNameLst>
                                      </p:cBhvr>
                                      <p:to>
                                        <p:strVal val="visible"/>
                                      </p:to>
                                    </p:set>
                                    <p:anim calcmode="lin" valueType="num">
                                      <p:cBhvr additive="base">
                                        <p:cTn dur="500"/>
                                        <p:tgtEl>
                                          <p:spTgt spid="35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3" st="3"/>
                                            </p:txEl>
                                          </p:spTgt>
                                        </p:tgtEl>
                                        <p:attrNameLst>
                                          <p:attrName>style.visibility</p:attrName>
                                        </p:attrNameLst>
                                      </p:cBhvr>
                                      <p:to>
                                        <p:strVal val="visible"/>
                                      </p:to>
                                    </p:set>
                                    <p:anim calcmode="lin" valueType="num">
                                      <p:cBhvr additive="base">
                                        <p:cTn dur="500"/>
                                        <p:tgtEl>
                                          <p:spTgt spid="35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4"/>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60" name="Google Shape;360;p54"/>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Specialization (2)</a:t>
            </a:r>
            <a:endParaRPr/>
          </a:p>
        </p:txBody>
      </p:sp>
      <p:sp>
        <p:nvSpPr>
          <p:cNvPr id="361" name="Google Shape;361;p54"/>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Example: Another specialization of EMPLOYEE based on </a:t>
            </a:r>
            <a:r>
              <a:rPr i="1" lang="en-US" sz="2400">
                <a:solidFill>
                  <a:schemeClr val="dk2"/>
                </a:solidFill>
                <a:latin typeface="Arial"/>
                <a:ea typeface="Arial"/>
                <a:cs typeface="Arial"/>
                <a:sym typeface="Arial"/>
              </a:rPr>
              <a:t>method of pay</a:t>
            </a:r>
            <a:r>
              <a:rPr lang="en-US" sz="2400">
                <a:solidFill>
                  <a:schemeClr val="dk2"/>
                </a:solidFill>
                <a:latin typeface="Arial"/>
                <a:ea typeface="Arial"/>
                <a:cs typeface="Arial"/>
                <a:sym typeface="Arial"/>
              </a:rPr>
              <a:t> is {SALARIED_EMPLOYEE, HOURLY_EMPLOYEE}.</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Superclass/subclass relationships and specialization can be diagrammatically represented in EER diagrams</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Attributes of a subclass are called </a:t>
            </a:r>
            <a:r>
              <a:rPr i="1" lang="en-US" sz="2200">
                <a:solidFill>
                  <a:srgbClr val="800000"/>
                </a:solidFill>
                <a:latin typeface="Arial"/>
                <a:ea typeface="Arial"/>
                <a:cs typeface="Arial"/>
                <a:sym typeface="Arial"/>
              </a:rPr>
              <a:t>specific</a:t>
            </a:r>
            <a:r>
              <a:rPr lang="en-US" sz="2200">
                <a:solidFill>
                  <a:srgbClr val="800000"/>
                </a:solidFill>
                <a:latin typeface="Arial"/>
                <a:ea typeface="Arial"/>
                <a:cs typeface="Arial"/>
                <a:sym typeface="Arial"/>
              </a:rPr>
              <a:t> or </a:t>
            </a:r>
            <a:r>
              <a:rPr i="1" lang="en-US" sz="2200">
                <a:solidFill>
                  <a:srgbClr val="800000"/>
                </a:solidFill>
                <a:latin typeface="Arial"/>
                <a:ea typeface="Arial"/>
                <a:cs typeface="Arial"/>
                <a:sym typeface="Arial"/>
              </a:rPr>
              <a:t>local</a:t>
            </a:r>
            <a:r>
              <a:rPr lang="en-US" sz="2200">
                <a:solidFill>
                  <a:srgbClr val="800000"/>
                </a:solidFill>
                <a:latin typeface="Arial"/>
                <a:ea typeface="Arial"/>
                <a:cs typeface="Arial"/>
                <a:sym typeface="Arial"/>
              </a:rPr>
              <a:t> attributes.</a:t>
            </a:r>
            <a:endParaRPr/>
          </a:p>
          <a:p>
            <a:pPr indent="-228600" lvl="2" marL="1143000" rtl="0" algn="l">
              <a:lnSpc>
                <a:spcPct val="100000"/>
              </a:lnSpc>
              <a:spcBef>
                <a:spcPts val="400"/>
              </a:spcBef>
              <a:spcAft>
                <a:spcPts val="0"/>
              </a:spcAft>
              <a:buClr>
                <a:srgbClr val="990033"/>
              </a:buClr>
              <a:buSzPts val="1000"/>
              <a:buFont typeface="Noto Sans Symbols"/>
              <a:buChar char="■"/>
            </a:pPr>
            <a:r>
              <a:rPr lang="en-US">
                <a:solidFill>
                  <a:schemeClr val="dk2"/>
                </a:solidFill>
                <a:latin typeface="Arial"/>
                <a:ea typeface="Arial"/>
                <a:cs typeface="Arial"/>
                <a:sym typeface="Arial"/>
              </a:rPr>
              <a:t>For example, the attribute TypingSpeed of SECRETARY</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The subclass can also participate in specific relationship types.</a:t>
            </a:r>
            <a:endParaRPr/>
          </a:p>
          <a:p>
            <a:pPr indent="-228600" lvl="2" marL="1143000" rtl="0" algn="l">
              <a:lnSpc>
                <a:spcPct val="100000"/>
              </a:lnSpc>
              <a:spcBef>
                <a:spcPts val="400"/>
              </a:spcBef>
              <a:spcAft>
                <a:spcPts val="0"/>
              </a:spcAft>
              <a:buClr>
                <a:srgbClr val="990033"/>
              </a:buClr>
              <a:buSzPts val="1000"/>
              <a:buFont typeface="Noto Sans Symbols"/>
              <a:buChar char="■"/>
            </a:pPr>
            <a:r>
              <a:rPr lang="en-US">
                <a:solidFill>
                  <a:schemeClr val="dk2"/>
                </a:solidFill>
                <a:latin typeface="Arial"/>
                <a:ea typeface="Arial"/>
                <a:cs typeface="Arial"/>
                <a:sym typeface="Arial"/>
              </a:rPr>
              <a:t>For example, a relationship BELONGS_TO of HOURLY_EMPLOYEE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0" st="0"/>
                                            </p:txEl>
                                          </p:spTgt>
                                        </p:tgtEl>
                                        <p:attrNameLst>
                                          <p:attrName>style.visibility</p:attrName>
                                        </p:attrNameLst>
                                      </p:cBhvr>
                                      <p:to>
                                        <p:strVal val="visible"/>
                                      </p:to>
                                    </p:set>
                                    <p:anim calcmode="lin" valueType="num">
                                      <p:cBhvr additive="base">
                                        <p:cTn dur="500"/>
                                        <p:tgtEl>
                                          <p:spTgt spid="3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1" st="1"/>
                                            </p:txEl>
                                          </p:spTgt>
                                        </p:tgtEl>
                                        <p:attrNameLst>
                                          <p:attrName>style.visibility</p:attrName>
                                        </p:attrNameLst>
                                      </p:cBhvr>
                                      <p:to>
                                        <p:strVal val="visible"/>
                                      </p:to>
                                    </p:set>
                                    <p:anim calcmode="lin" valueType="num">
                                      <p:cBhvr additive="base">
                                        <p:cTn dur="500"/>
                                        <p:tgtEl>
                                          <p:spTgt spid="3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2" st="2"/>
                                            </p:txEl>
                                          </p:spTgt>
                                        </p:tgtEl>
                                        <p:attrNameLst>
                                          <p:attrName>style.visibility</p:attrName>
                                        </p:attrNameLst>
                                      </p:cBhvr>
                                      <p:to>
                                        <p:strVal val="visible"/>
                                      </p:to>
                                    </p:set>
                                    <p:anim calcmode="lin" valueType="num">
                                      <p:cBhvr additive="base">
                                        <p:cTn dur="500"/>
                                        <p:tgtEl>
                                          <p:spTgt spid="36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3" st="3"/>
                                            </p:txEl>
                                          </p:spTgt>
                                        </p:tgtEl>
                                        <p:attrNameLst>
                                          <p:attrName>style.visibility</p:attrName>
                                        </p:attrNameLst>
                                      </p:cBhvr>
                                      <p:to>
                                        <p:strVal val="visible"/>
                                      </p:to>
                                    </p:set>
                                    <p:anim calcmode="lin" valueType="num">
                                      <p:cBhvr additive="base">
                                        <p:cTn dur="500"/>
                                        <p:tgtEl>
                                          <p:spTgt spid="36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4" st="4"/>
                                            </p:txEl>
                                          </p:spTgt>
                                        </p:tgtEl>
                                        <p:attrNameLst>
                                          <p:attrName>style.visibility</p:attrName>
                                        </p:attrNameLst>
                                      </p:cBhvr>
                                      <p:to>
                                        <p:strVal val="visible"/>
                                      </p:to>
                                    </p:set>
                                    <p:anim calcmode="lin" valueType="num">
                                      <p:cBhvr additive="base">
                                        <p:cTn dur="500"/>
                                        <p:tgtEl>
                                          <p:spTgt spid="36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5" st="5"/>
                                            </p:txEl>
                                          </p:spTgt>
                                        </p:tgtEl>
                                        <p:attrNameLst>
                                          <p:attrName>style.visibility</p:attrName>
                                        </p:attrNameLst>
                                      </p:cBhvr>
                                      <p:to>
                                        <p:strVal val="visible"/>
                                      </p:to>
                                    </p:set>
                                    <p:anim calcmode="lin" valueType="num">
                                      <p:cBhvr additive="base">
                                        <p:cTn dur="500"/>
                                        <p:tgtEl>
                                          <p:spTgt spid="36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5"/>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pic>
        <p:nvPicPr>
          <p:cNvPr descr="fig04_01" id="368" name="Google Shape;368;p55"/>
          <p:cNvPicPr preferRelativeResize="0"/>
          <p:nvPr/>
        </p:nvPicPr>
        <p:blipFill rotWithShape="1">
          <a:blip r:embed="rId3">
            <a:alphaModFix/>
          </a:blip>
          <a:srcRect b="0" l="0" r="0" t="0"/>
          <a:stretch/>
        </p:blipFill>
        <p:spPr>
          <a:xfrm>
            <a:off x="2133600" y="1524001"/>
            <a:ext cx="7772400" cy="4937125"/>
          </a:xfrm>
          <a:prstGeom prst="rect">
            <a:avLst/>
          </a:prstGeom>
          <a:noFill/>
          <a:ln>
            <a:noFill/>
          </a:ln>
        </p:spPr>
      </p:pic>
      <p:sp>
        <p:nvSpPr>
          <p:cNvPr descr="Pink tissue paper" id="369" name="Google Shape;369;p55"/>
          <p:cNvSpPr txBox="1"/>
          <p:nvPr/>
        </p:nvSpPr>
        <p:spPr>
          <a:xfrm>
            <a:off x="1828800" y="822326"/>
            <a:ext cx="6934200" cy="5794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rgbClr val="800000"/>
                </a:solidFill>
                <a:latin typeface="Arial"/>
                <a:ea typeface="Arial"/>
                <a:cs typeface="Arial"/>
                <a:sym typeface="Arial"/>
              </a:rPr>
              <a:t>Specialization (3)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of Specialization</a:t>
            </a:r>
            <a:endParaRPr/>
          </a:p>
        </p:txBody>
      </p:sp>
      <p:pic>
        <p:nvPicPr>
          <p:cNvPr id="375" name="Google Shape;375;p56"/>
          <p:cNvPicPr preferRelativeResize="0"/>
          <p:nvPr>
            <p:ph idx="1" type="body"/>
          </p:nvPr>
        </p:nvPicPr>
        <p:blipFill rotWithShape="1">
          <a:blip r:embed="rId3">
            <a:alphaModFix/>
          </a:blip>
          <a:srcRect b="0" l="0" r="0" t="0"/>
          <a:stretch/>
        </p:blipFill>
        <p:spPr>
          <a:xfrm>
            <a:off x="1197599" y="4840132"/>
            <a:ext cx="3324689" cy="1819529"/>
          </a:xfrm>
          <a:prstGeom prst="rect">
            <a:avLst/>
          </a:prstGeom>
          <a:noFill/>
          <a:ln>
            <a:noFill/>
          </a:ln>
        </p:spPr>
      </p:pic>
      <p:pic>
        <p:nvPicPr>
          <p:cNvPr id="376" name="Google Shape;376;p56"/>
          <p:cNvPicPr preferRelativeResize="0"/>
          <p:nvPr/>
        </p:nvPicPr>
        <p:blipFill rotWithShape="1">
          <a:blip r:embed="rId4">
            <a:alphaModFix/>
          </a:blip>
          <a:srcRect b="0" l="0" r="0" t="0"/>
          <a:stretch/>
        </p:blipFill>
        <p:spPr>
          <a:xfrm>
            <a:off x="1056572" y="1537324"/>
            <a:ext cx="4770225" cy="1325563"/>
          </a:xfrm>
          <a:prstGeom prst="rect">
            <a:avLst/>
          </a:prstGeom>
          <a:noFill/>
          <a:ln>
            <a:noFill/>
          </a:ln>
        </p:spPr>
      </p:pic>
      <p:pic>
        <p:nvPicPr>
          <p:cNvPr id="377" name="Google Shape;377;p56"/>
          <p:cNvPicPr preferRelativeResize="0"/>
          <p:nvPr/>
        </p:nvPicPr>
        <p:blipFill rotWithShape="1">
          <a:blip r:embed="rId5">
            <a:alphaModFix/>
          </a:blip>
          <a:srcRect b="0" l="0" r="0" t="0"/>
          <a:stretch/>
        </p:blipFill>
        <p:spPr>
          <a:xfrm>
            <a:off x="5826797" y="3140826"/>
            <a:ext cx="5506848" cy="3005081"/>
          </a:xfrm>
          <a:prstGeom prst="rect">
            <a:avLst/>
          </a:prstGeom>
          <a:noFill/>
          <a:ln>
            <a:noFill/>
          </a:ln>
        </p:spPr>
      </p:pic>
      <p:pic>
        <p:nvPicPr>
          <p:cNvPr id="378" name="Google Shape;378;p56"/>
          <p:cNvPicPr preferRelativeResize="0"/>
          <p:nvPr/>
        </p:nvPicPr>
        <p:blipFill rotWithShape="1">
          <a:blip r:embed="rId6">
            <a:alphaModFix/>
          </a:blip>
          <a:srcRect b="0" l="0" r="0" t="0"/>
          <a:stretch/>
        </p:blipFill>
        <p:spPr>
          <a:xfrm>
            <a:off x="1546815" y="3051558"/>
            <a:ext cx="2626255" cy="15999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2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7"/>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85" name="Google Shape;385;p57"/>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Generalization</a:t>
            </a:r>
            <a:endParaRPr/>
          </a:p>
        </p:txBody>
      </p:sp>
      <p:sp>
        <p:nvSpPr>
          <p:cNvPr id="386" name="Google Shape;386;p57"/>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Generalization is the reverse of the specialization process </a:t>
            </a:r>
            <a:endParaRPr/>
          </a:p>
          <a:p>
            <a:pPr indent="-342900" lvl="0" marL="342900" rtl="0" algn="l">
              <a:lnSpc>
                <a:spcPct val="100000"/>
              </a:lnSpc>
              <a:spcBef>
                <a:spcPts val="48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Several classes with common features are generalized into a superclass; </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original classes become its subclasses</a:t>
            </a:r>
            <a:endParaRPr/>
          </a:p>
          <a:p>
            <a:pPr indent="-342900" lvl="0" marL="342900" rtl="0" algn="l">
              <a:lnSpc>
                <a:spcPct val="100000"/>
              </a:lnSpc>
              <a:spcBef>
                <a:spcPts val="48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Example: CAR, TRUCK generalized into VEHICLE; </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both CAR, TRUCK become subclasses of the superclass VEHICLE.</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We can view {CAR, TRUCK} as a specialization of VEHICLE </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Alternatively, we can view VEHICLE as a generalization of CAR and TRUCK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anim calcmode="lin" valueType="num">
                                      <p:cBhvr additive="base">
                                        <p:cTn dur="500"/>
                                        <p:tgtEl>
                                          <p:spTgt spid="38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anim calcmode="lin" valueType="num">
                                      <p:cBhvr additive="base">
                                        <p:cTn dur="500"/>
                                        <p:tgtEl>
                                          <p:spTgt spid="38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anim calcmode="lin" valueType="num">
                                      <p:cBhvr additive="base">
                                        <p:cTn dur="500"/>
                                        <p:tgtEl>
                                          <p:spTgt spid="38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3" st="3"/>
                                            </p:txEl>
                                          </p:spTgt>
                                        </p:tgtEl>
                                        <p:attrNameLst>
                                          <p:attrName>style.visibility</p:attrName>
                                        </p:attrNameLst>
                                      </p:cBhvr>
                                      <p:to>
                                        <p:strVal val="visible"/>
                                      </p:to>
                                    </p:set>
                                    <p:anim calcmode="lin" valueType="num">
                                      <p:cBhvr additive="base">
                                        <p:cTn dur="500"/>
                                        <p:tgtEl>
                                          <p:spTgt spid="38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4" st="4"/>
                                            </p:txEl>
                                          </p:spTgt>
                                        </p:tgtEl>
                                        <p:attrNameLst>
                                          <p:attrName>style.visibility</p:attrName>
                                        </p:attrNameLst>
                                      </p:cBhvr>
                                      <p:to>
                                        <p:strVal val="visible"/>
                                      </p:to>
                                    </p:set>
                                    <p:anim calcmode="lin" valueType="num">
                                      <p:cBhvr additive="base">
                                        <p:cTn dur="500"/>
                                        <p:tgtEl>
                                          <p:spTgt spid="38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5" st="5"/>
                                            </p:txEl>
                                          </p:spTgt>
                                        </p:tgtEl>
                                        <p:attrNameLst>
                                          <p:attrName>style.visibility</p:attrName>
                                        </p:attrNameLst>
                                      </p:cBhvr>
                                      <p:to>
                                        <p:strVal val="visible"/>
                                      </p:to>
                                    </p:set>
                                    <p:anim calcmode="lin" valueType="num">
                                      <p:cBhvr additive="base">
                                        <p:cTn dur="500"/>
                                        <p:tgtEl>
                                          <p:spTgt spid="38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6" st="6"/>
                                            </p:txEl>
                                          </p:spTgt>
                                        </p:tgtEl>
                                        <p:attrNameLst>
                                          <p:attrName>style.visibility</p:attrName>
                                        </p:attrNameLst>
                                      </p:cBhvr>
                                      <p:to>
                                        <p:strVal val="visible"/>
                                      </p:to>
                                    </p:set>
                                    <p:anim calcmode="lin" valueType="num">
                                      <p:cBhvr additive="base">
                                        <p:cTn dur="500"/>
                                        <p:tgtEl>
                                          <p:spTgt spid="38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8"/>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descr="Pink tissue paper" id="393" name="Google Shape;393;p58"/>
          <p:cNvSpPr txBox="1"/>
          <p:nvPr/>
        </p:nvSpPr>
        <p:spPr>
          <a:xfrm>
            <a:off x="2057400" y="715962"/>
            <a:ext cx="5638800"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800000"/>
                </a:solidFill>
                <a:latin typeface="Arial"/>
                <a:ea typeface="Arial"/>
                <a:cs typeface="Arial"/>
                <a:sym typeface="Arial"/>
              </a:rPr>
              <a:t>Generalization (2)</a:t>
            </a:r>
            <a:endParaRPr b="0" i="0" sz="1800" u="none" cap="none" strike="noStrike">
              <a:solidFill>
                <a:schemeClr val="dk1"/>
              </a:solidFill>
              <a:latin typeface="Calibri"/>
              <a:ea typeface="Calibri"/>
              <a:cs typeface="Calibri"/>
              <a:sym typeface="Calibri"/>
            </a:endParaRPr>
          </a:p>
        </p:txBody>
      </p:sp>
      <p:pic>
        <p:nvPicPr>
          <p:cNvPr id="394" name="Google Shape;394;p58"/>
          <p:cNvPicPr preferRelativeResize="0"/>
          <p:nvPr/>
        </p:nvPicPr>
        <p:blipFill rotWithShape="1">
          <a:blip r:embed="rId3">
            <a:alphaModFix/>
          </a:blip>
          <a:srcRect b="0" l="0" r="0" t="0"/>
          <a:stretch/>
        </p:blipFill>
        <p:spPr>
          <a:xfrm>
            <a:off x="2057400" y="715962"/>
            <a:ext cx="7748042" cy="2202244"/>
          </a:xfrm>
          <a:prstGeom prst="rect">
            <a:avLst/>
          </a:prstGeom>
          <a:noFill/>
          <a:ln>
            <a:noFill/>
          </a:ln>
        </p:spPr>
      </p:pic>
      <p:pic>
        <p:nvPicPr>
          <p:cNvPr id="395" name="Google Shape;395;p58"/>
          <p:cNvPicPr preferRelativeResize="0"/>
          <p:nvPr/>
        </p:nvPicPr>
        <p:blipFill rotWithShape="1">
          <a:blip r:embed="rId4">
            <a:alphaModFix/>
          </a:blip>
          <a:srcRect b="0" l="0" r="0" t="0"/>
          <a:stretch/>
        </p:blipFill>
        <p:spPr>
          <a:xfrm>
            <a:off x="2296390" y="3492264"/>
            <a:ext cx="7017327" cy="2334477"/>
          </a:xfrm>
          <a:prstGeom prst="rect">
            <a:avLst/>
          </a:prstGeom>
          <a:noFill/>
          <a:ln>
            <a:noFill/>
          </a:ln>
        </p:spPr>
      </p:pic>
      <p:pic>
        <p:nvPicPr>
          <p:cNvPr id="396" name="Google Shape;396;p58"/>
          <p:cNvPicPr preferRelativeResize="0"/>
          <p:nvPr/>
        </p:nvPicPr>
        <p:blipFill rotWithShape="1">
          <a:blip r:embed="rId5">
            <a:alphaModFix/>
          </a:blip>
          <a:srcRect b="0" l="0" r="0" t="0"/>
          <a:stretch/>
        </p:blipFill>
        <p:spPr>
          <a:xfrm>
            <a:off x="2951017" y="6110288"/>
            <a:ext cx="5018081" cy="5191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9"/>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403" name="Google Shape;403;p59"/>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Generalization and Specialization (1)</a:t>
            </a:r>
            <a:endParaRPr/>
          </a:p>
        </p:txBody>
      </p:sp>
      <p:sp>
        <p:nvSpPr>
          <p:cNvPr id="404" name="Google Shape;404;p59"/>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Diagrammatic notation are sometimes used to distinguish between generalization and specialization</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Arrow pointing to the generalized superclass represents a generalization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Arrows pointing to the specialized subclasses represent a specialization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We </a:t>
            </a:r>
            <a:r>
              <a:rPr i="1" lang="en-US" sz="2600">
                <a:solidFill>
                  <a:srgbClr val="800000"/>
                </a:solidFill>
                <a:latin typeface="Arial"/>
                <a:ea typeface="Arial"/>
                <a:cs typeface="Arial"/>
                <a:sym typeface="Arial"/>
              </a:rPr>
              <a:t>do not use</a:t>
            </a:r>
            <a:r>
              <a:rPr lang="en-US" sz="2600">
                <a:solidFill>
                  <a:srgbClr val="800000"/>
                </a:solidFill>
                <a:latin typeface="Arial"/>
                <a:ea typeface="Arial"/>
                <a:cs typeface="Arial"/>
                <a:sym typeface="Arial"/>
              </a:rPr>
              <a:t> this notation because it is often subjective as to which process is more appropriate for a particular situation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We advocate not drawing any arrows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0"/>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411" name="Google Shape;411;p60"/>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Generalization and Specialization (2)</a:t>
            </a:r>
            <a:endParaRPr/>
          </a:p>
        </p:txBody>
      </p:sp>
      <p:sp>
        <p:nvSpPr>
          <p:cNvPr id="412" name="Google Shape;412;p60"/>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Data Modeling with Specialization and 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 superclass or subclass represents a collection (or set or grouping) of entities</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It also represents a particular </a:t>
            </a:r>
            <a:r>
              <a:rPr i="1" lang="en-US" sz="2600">
                <a:solidFill>
                  <a:srgbClr val="800000"/>
                </a:solidFill>
                <a:latin typeface="Arial"/>
                <a:ea typeface="Arial"/>
                <a:cs typeface="Arial"/>
                <a:sym typeface="Arial"/>
              </a:rPr>
              <a:t>type of entity</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Shown in rectangles in EER diagrams (as are entity types) </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We can call all entity types (and their corresponding collections) </a:t>
            </a:r>
            <a:r>
              <a:rPr b="1" i="1" lang="en-US" sz="2600">
                <a:solidFill>
                  <a:srgbClr val="800000"/>
                </a:solidFill>
                <a:latin typeface="Arial"/>
                <a:ea typeface="Arial"/>
                <a:cs typeface="Arial"/>
                <a:sym typeface="Arial"/>
              </a:rPr>
              <a:t>classes</a:t>
            </a:r>
            <a:r>
              <a:rPr lang="en-US" sz="2600">
                <a:solidFill>
                  <a:srgbClr val="800000"/>
                </a:solidFill>
                <a:latin typeface="Arial"/>
                <a:ea typeface="Arial"/>
                <a:cs typeface="Arial"/>
                <a:sym typeface="Arial"/>
              </a:rPr>
              <a:t>, whether they are entity types, superclasses, or subclasses</a:t>
            </a:r>
            <a:endParaRPr/>
          </a:p>
          <a:p>
            <a:pPr indent="-243840" lvl="0" marL="342900" rtl="0" algn="l">
              <a:lnSpc>
                <a:spcPct val="90000"/>
              </a:lnSpc>
              <a:spcBef>
                <a:spcPts val="520"/>
              </a:spcBef>
              <a:spcAft>
                <a:spcPts val="0"/>
              </a:spcAft>
              <a:buClr>
                <a:schemeClr val="dk1"/>
              </a:buClr>
              <a:buSzPts val="1560"/>
              <a:buNone/>
            </a:pPr>
            <a:r>
              <a:t/>
            </a:r>
            <a:endParaRPr sz="2600">
              <a:solidFill>
                <a:srgbClr val="8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8" name="Google Shape;418;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419" name="Google Shape;419;p61"/>
          <p:cNvPicPr preferRelativeResize="0"/>
          <p:nvPr/>
        </p:nvPicPr>
        <p:blipFill rotWithShape="1">
          <a:blip r:embed="rId3">
            <a:alphaModFix/>
          </a:blip>
          <a:srcRect b="0" l="0" r="0" t="0"/>
          <a:stretch/>
        </p:blipFill>
        <p:spPr>
          <a:xfrm>
            <a:off x="1749882" y="1180786"/>
            <a:ext cx="7916380" cy="449642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62"/>
          <p:cNvPicPr preferRelativeResize="0"/>
          <p:nvPr/>
        </p:nvPicPr>
        <p:blipFill rotWithShape="1">
          <a:blip r:embed="rId3">
            <a:alphaModFix/>
          </a:blip>
          <a:srcRect b="0" l="0" r="0" t="0"/>
          <a:stretch/>
        </p:blipFill>
        <p:spPr>
          <a:xfrm>
            <a:off x="946362" y="772171"/>
            <a:ext cx="5426018" cy="5114177"/>
          </a:xfrm>
          <a:prstGeom prst="rect">
            <a:avLst/>
          </a:prstGeom>
          <a:noFill/>
          <a:ln>
            <a:noFill/>
          </a:ln>
        </p:spPr>
      </p:pic>
      <p:sp>
        <p:nvSpPr>
          <p:cNvPr id="425" name="Google Shape;425;p62"/>
          <p:cNvSpPr txBox="1"/>
          <p:nvPr/>
        </p:nvSpPr>
        <p:spPr>
          <a:xfrm>
            <a:off x="5583382" y="3311236"/>
            <a:ext cx="627916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Four tables can be formed:</a:t>
            </a:r>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Customer</a:t>
            </a:r>
            <a:r>
              <a:rPr lang="en-US" sz="1800">
                <a:solidFill>
                  <a:schemeClr val="dk1"/>
                </a:solidFill>
                <a:latin typeface="Calibri"/>
                <a:ea typeface="Calibri"/>
                <a:cs typeface="Calibri"/>
                <a:sym typeface="Calibri"/>
              </a:rPr>
              <a:t>(name,street,city,credit_rating)</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Officer</a:t>
            </a:r>
            <a:r>
              <a:rPr lang="en-US" sz="1800">
                <a:solidFill>
                  <a:schemeClr val="dk1"/>
                </a:solidFill>
                <a:latin typeface="Calibri"/>
                <a:ea typeface="Calibri"/>
                <a:cs typeface="Calibri"/>
                <a:sym typeface="Calibri"/>
              </a:rPr>
              <a:t>(name,street,city,salary,office_number)</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Teller</a:t>
            </a:r>
            <a:r>
              <a:rPr lang="en-US" sz="1800">
                <a:solidFill>
                  <a:schemeClr val="dk1"/>
                </a:solidFill>
                <a:latin typeface="Calibri"/>
                <a:ea typeface="Calibri"/>
                <a:cs typeface="Calibri"/>
                <a:sym typeface="Calibri"/>
              </a:rPr>
              <a:t>(name,street,city,salary,station_number,hours_worked)</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Secretary</a:t>
            </a:r>
            <a:r>
              <a:rPr lang="en-US" sz="1800">
                <a:solidFill>
                  <a:schemeClr val="dk1"/>
                </a:solidFill>
                <a:latin typeface="Calibri"/>
                <a:ea typeface="Calibri"/>
                <a:cs typeface="Calibri"/>
                <a:sym typeface="Calibri"/>
              </a:rPr>
              <a:t>(name,strret,city,hours_worked)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3"/>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lang="en-US" sz="1400">
                <a:solidFill>
                  <a:srgbClr val="990033"/>
                </a:solidFill>
                <a:latin typeface="Arial"/>
                <a:ea typeface="Arial"/>
                <a:cs typeface="Arial"/>
                <a:sym typeface="Arial"/>
              </a:rPr>
              <a:t>Slide 4- </a:t>
            </a:r>
            <a:fld id="{00000000-1234-1234-1234-123412341234}" type="slidenum">
              <a:rPr b="1" lang="en-US" sz="1400">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32" name="Google Shape;432;p63"/>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Constraints on Specialization and Generalization </a:t>
            </a:r>
            <a:endParaRPr/>
          </a:p>
        </p:txBody>
      </p:sp>
      <p:sp>
        <p:nvSpPr>
          <p:cNvPr id="433" name="Google Shape;433;p63"/>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Two basic constraints can apply to a specialization/generalization: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Disjoint Constraint: </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Completeness/Participation Constraint: </a:t>
            </a:r>
            <a:endParaRPr/>
          </a:p>
          <a:p>
            <a:pPr indent="-243840" lvl="0" marL="342900" rtl="0" algn="l">
              <a:lnSpc>
                <a:spcPct val="90000"/>
              </a:lnSpc>
              <a:spcBef>
                <a:spcPts val="520"/>
              </a:spcBef>
              <a:spcAft>
                <a:spcPts val="0"/>
              </a:spcAft>
              <a:buClr>
                <a:schemeClr val="dk1"/>
              </a:buClr>
              <a:buSzPts val="1560"/>
              <a:buNone/>
            </a:pPr>
            <a:r>
              <a:t/>
            </a:r>
            <a:endParaRPr sz="2600">
              <a:solidFill>
                <a:srgbClr val="800000"/>
              </a:solidFill>
              <a:latin typeface="Arial"/>
              <a:ea typeface="Arial"/>
              <a:cs typeface="Arial"/>
              <a:sym typeface="Arial"/>
            </a:endParaRPr>
          </a:p>
        </p:txBody>
      </p:sp>
      <p:pic>
        <p:nvPicPr>
          <p:cNvPr id="434" name="Google Shape;434;p63"/>
          <p:cNvPicPr preferRelativeResize="0"/>
          <p:nvPr/>
        </p:nvPicPr>
        <p:blipFill rotWithShape="1">
          <a:blip r:embed="rId3">
            <a:alphaModFix/>
          </a:blip>
          <a:srcRect b="0" l="0" r="0" t="0"/>
          <a:stretch/>
        </p:blipFill>
        <p:spPr>
          <a:xfrm>
            <a:off x="3214253" y="3886200"/>
            <a:ext cx="4350523" cy="239980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4"/>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41" name="Google Shape;441;p64"/>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Constraints on Specialization and Generalization (4)</a:t>
            </a:r>
            <a:endParaRPr/>
          </a:p>
        </p:txBody>
      </p:sp>
      <p:sp>
        <p:nvSpPr>
          <p:cNvPr id="442" name="Google Shape;442;p64"/>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Disjointness Constraint: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Specifies that the subclasses of the specialization must be </a:t>
            </a:r>
            <a:r>
              <a:rPr b="0" i="1" lang="en-US" sz="2600" u="none">
                <a:solidFill>
                  <a:srgbClr val="800000"/>
                </a:solidFill>
                <a:latin typeface="Arial"/>
                <a:ea typeface="Arial"/>
                <a:cs typeface="Arial"/>
                <a:sym typeface="Arial"/>
              </a:rPr>
              <a:t>disjoint</a:t>
            </a:r>
            <a:r>
              <a:rPr b="0" i="0" lang="en-US" sz="2600" u="none">
                <a:solidFill>
                  <a:srgbClr val="800000"/>
                </a:solidFill>
                <a:latin typeface="Arial"/>
                <a:ea typeface="Arial"/>
                <a:cs typeface="Arial"/>
                <a:sym typeface="Arial"/>
              </a:rPr>
              <a:t>:</a:t>
            </a:r>
            <a:endParaRPr b="0" i="1" sz="2600" u="none">
              <a:solidFill>
                <a:srgbClr val="800000"/>
              </a:solidFill>
              <a:latin typeface="Arial"/>
              <a:ea typeface="Arial"/>
              <a:cs typeface="Arial"/>
              <a:sym typeface="Arial"/>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an entity can be a member of at most one of the subclasses of the specialization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Specified by </a:t>
            </a:r>
            <a:r>
              <a:rPr b="1" i="1" lang="en-US" sz="2600" u="sng">
                <a:solidFill>
                  <a:srgbClr val="800000"/>
                </a:solidFill>
                <a:latin typeface="Arial"/>
                <a:ea typeface="Arial"/>
                <a:cs typeface="Arial"/>
                <a:sym typeface="Arial"/>
              </a:rPr>
              <a:t>d</a:t>
            </a:r>
            <a:r>
              <a:rPr b="0" i="0" lang="en-US" sz="2600" u="none">
                <a:solidFill>
                  <a:srgbClr val="800000"/>
                </a:solidFill>
                <a:latin typeface="Arial"/>
                <a:ea typeface="Arial"/>
                <a:cs typeface="Arial"/>
                <a:sym typeface="Arial"/>
              </a:rPr>
              <a:t> in EER diagram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If not disjoint, specialization is </a:t>
            </a:r>
            <a:r>
              <a:rPr b="0" i="1" lang="en-US" sz="2600" u="none">
                <a:solidFill>
                  <a:srgbClr val="800000"/>
                </a:solidFill>
                <a:latin typeface="Arial"/>
                <a:ea typeface="Arial"/>
                <a:cs typeface="Arial"/>
                <a:sym typeface="Arial"/>
              </a:rPr>
              <a:t>overlapping</a:t>
            </a:r>
            <a:r>
              <a:rPr b="0" i="0" lang="en-US" sz="2600" u="none">
                <a:solidFill>
                  <a:srgbClr val="800000"/>
                </a:solidFill>
                <a:latin typeface="Arial"/>
                <a:ea typeface="Arial"/>
                <a:cs typeface="Arial"/>
                <a:sym typeface="Arial"/>
              </a:rPr>
              <a:t>:</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that is the same entity may be a member of more than one subclass of the specialization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Specified by </a:t>
            </a:r>
            <a:r>
              <a:rPr b="1" i="1" lang="en-US" sz="2600" u="sng">
                <a:solidFill>
                  <a:srgbClr val="800000"/>
                </a:solidFill>
                <a:latin typeface="Arial"/>
                <a:ea typeface="Arial"/>
                <a:cs typeface="Arial"/>
                <a:sym typeface="Arial"/>
              </a:rPr>
              <a:t>o</a:t>
            </a:r>
            <a:r>
              <a:rPr b="0" i="0" lang="en-US" sz="2600" u="none">
                <a:solidFill>
                  <a:srgbClr val="800000"/>
                </a:solidFill>
                <a:latin typeface="Arial"/>
                <a:ea typeface="Arial"/>
                <a:cs typeface="Arial"/>
                <a:sym typeface="Arial"/>
              </a:rPr>
              <a:t> in EER diagram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5"/>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49" name="Google Shape;449;p65"/>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Constraints on Specialization and Generalization (5)</a:t>
            </a:r>
            <a:endParaRPr/>
          </a:p>
        </p:txBody>
      </p:sp>
      <p:sp>
        <p:nvSpPr>
          <p:cNvPr id="450" name="Google Shape;450;p65"/>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Completeness Constraint: </a:t>
            </a:r>
            <a:endParaRPr/>
          </a:p>
          <a:p>
            <a:pPr indent="-285750" lvl="1" marL="742950" rtl="0" algn="l">
              <a:lnSpc>
                <a:spcPct val="100000"/>
              </a:lnSpc>
              <a:spcBef>
                <a:spcPts val="520"/>
              </a:spcBef>
              <a:spcAft>
                <a:spcPts val="0"/>
              </a:spcAft>
              <a:buClr>
                <a:schemeClr val="dk2"/>
              </a:buClr>
              <a:buSzPts val="1430"/>
              <a:buFont typeface="Noto Sans Symbols"/>
              <a:buChar char="■"/>
            </a:pPr>
            <a:r>
              <a:rPr b="0" i="1" lang="en-US" sz="2600" u="none">
                <a:solidFill>
                  <a:srgbClr val="800000"/>
                </a:solidFill>
                <a:latin typeface="Arial"/>
                <a:ea typeface="Arial"/>
                <a:cs typeface="Arial"/>
                <a:sym typeface="Arial"/>
              </a:rPr>
              <a:t>Total</a:t>
            </a:r>
            <a:r>
              <a:rPr b="0" i="0" lang="en-US" sz="2600" u="none">
                <a:solidFill>
                  <a:srgbClr val="800000"/>
                </a:solidFill>
                <a:latin typeface="Arial"/>
                <a:ea typeface="Arial"/>
                <a:cs typeface="Arial"/>
                <a:sym typeface="Arial"/>
              </a:rPr>
              <a:t> specifies that every entity in the superclass must be a member of some subclass in the specialization/generalization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Shown in EER diagrams by a </a:t>
            </a:r>
            <a:r>
              <a:rPr b="1" i="1" lang="en-US" sz="2600" u="sng">
                <a:solidFill>
                  <a:srgbClr val="800000"/>
                </a:solidFill>
                <a:latin typeface="Arial"/>
                <a:ea typeface="Arial"/>
                <a:cs typeface="Arial"/>
                <a:sym typeface="Arial"/>
              </a:rPr>
              <a:t>double line</a:t>
            </a:r>
            <a:r>
              <a:rPr b="0" i="0" lang="en-US" sz="2600" u="none">
                <a:solidFill>
                  <a:srgbClr val="800000"/>
                </a:solidFill>
                <a:latin typeface="Arial"/>
                <a:ea typeface="Arial"/>
                <a:cs typeface="Arial"/>
                <a:sym typeface="Arial"/>
              </a:rPr>
              <a:t> </a:t>
            </a:r>
            <a:endParaRPr/>
          </a:p>
          <a:p>
            <a:pPr indent="-285750" lvl="1" marL="742950" rtl="0" algn="l">
              <a:lnSpc>
                <a:spcPct val="100000"/>
              </a:lnSpc>
              <a:spcBef>
                <a:spcPts val="520"/>
              </a:spcBef>
              <a:spcAft>
                <a:spcPts val="0"/>
              </a:spcAft>
              <a:buClr>
                <a:schemeClr val="dk2"/>
              </a:buClr>
              <a:buSzPts val="1430"/>
              <a:buFont typeface="Noto Sans Symbols"/>
              <a:buChar char="■"/>
            </a:pPr>
            <a:r>
              <a:rPr b="0" i="1" lang="en-US" sz="2600" u="none">
                <a:solidFill>
                  <a:srgbClr val="800000"/>
                </a:solidFill>
                <a:latin typeface="Arial"/>
                <a:ea typeface="Arial"/>
                <a:cs typeface="Arial"/>
                <a:sym typeface="Arial"/>
              </a:rPr>
              <a:t>Partial</a:t>
            </a:r>
            <a:r>
              <a:rPr b="0" i="0" lang="en-US" sz="2600" u="none">
                <a:solidFill>
                  <a:srgbClr val="800000"/>
                </a:solidFill>
                <a:latin typeface="Arial"/>
                <a:ea typeface="Arial"/>
                <a:cs typeface="Arial"/>
                <a:sym typeface="Arial"/>
              </a:rPr>
              <a:t> allows an entity not to belong to any of the subclasses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Shown in EER diagrams by a single line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6"/>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57" name="Google Shape;457;p66"/>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Constraints on Specialization and Generalization (6)</a:t>
            </a:r>
            <a:endParaRPr/>
          </a:p>
        </p:txBody>
      </p:sp>
      <p:sp>
        <p:nvSpPr>
          <p:cNvPr id="458" name="Google Shape;458;p66"/>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Hence, we have four types of specialization/generalization: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Disjoint, total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Disjoint, partial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Overlapping, total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Overlapping, partial</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Note: Generalization usually is total because the superclass is derived from the subclasses.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7"/>
          <p:cNvSpPr/>
          <p:nvPr/>
        </p:nvSpPr>
        <p:spPr>
          <a:xfrm>
            <a:off x="6448440" y="1018104"/>
            <a:ext cx="4036320" cy="5374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It specifies that the subclasses of the specialization must be disjoint. </a:t>
            </a:r>
            <a:endParaRPr sz="22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This means that an entity can be a member of at most one of the</a:t>
            </a:r>
            <a:endParaRPr sz="22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subclasses of the specialization.  It is denoted by ‘d’in circle.</a:t>
            </a:r>
            <a:endParaRPr sz="2200">
              <a:solidFill>
                <a:schemeClr val="dk1"/>
              </a:solidFill>
              <a:latin typeface="Arial"/>
              <a:ea typeface="Arial"/>
              <a:cs typeface="Arial"/>
              <a:sym typeface="Arial"/>
            </a:endParaRPr>
          </a:p>
          <a:p>
            <a:pPr indent="0" lvl="0" marL="0" marR="0" rtl="0" algn="just">
              <a:spcBef>
                <a:spcPts val="400"/>
              </a:spcBef>
              <a:spcAft>
                <a:spcPts val="0"/>
              </a:spcAft>
              <a:buNone/>
            </a:pPr>
            <a:r>
              <a:t/>
            </a:r>
            <a:endParaRPr sz="2200">
              <a:solidFill>
                <a:schemeClr val="dk1"/>
              </a:solidFill>
              <a:latin typeface="Arial"/>
              <a:ea typeface="Arial"/>
              <a:cs typeface="Arial"/>
              <a:sym typeface="Arial"/>
            </a:endParaRPr>
          </a:p>
          <a:p>
            <a:pPr indent="-253799" lvl="0" marL="365760" marR="0" rtl="0" algn="just">
              <a:spcBef>
                <a:spcPts val="400"/>
              </a:spcBef>
              <a:spcAft>
                <a:spcPts val="0"/>
              </a:spcAft>
              <a:buClr>
                <a:srgbClr val="2DA2BF"/>
              </a:buClr>
              <a:buSzPts val="1360"/>
              <a:buFont typeface="Noto Sans Symbols"/>
              <a:buChar char="🞂"/>
            </a:pPr>
            <a:r>
              <a:rPr lang="en-US" sz="2000">
                <a:solidFill>
                  <a:schemeClr val="dk1"/>
                </a:solidFill>
                <a:latin typeface="Times New Roman"/>
                <a:ea typeface="Times New Roman"/>
                <a:cs typeface="Times New Roman"/>
                <a:sym typeface="Times New Roman"/>
              </a:rPr>
              <a:t>In the diagram  Employee can be either Secretary or Technician or Engineer</a:t>
            </a:r>
            <a:endParaRPr sz="2000">
              <a:solidFill>
                <a:schemeClr val="dk1"/>
              </a:solidFill>
              <a:latin typeface="Arial"/>
              <a:ea typeface="Arial"/>
              <a:cs typeface="Arial"/>
              <a:sym typeface="Arial"/>
            </a:endParaRPr>
          </a:p>
          <a:p>
            <a:pPr indent="-253799" lvl="0" marL="365760" marR="0" rtl="0" algn="just">
              <a:spcBef>
                <a:spcPts val="400"/>
              </a:spcBef>
              <a:spcAft>
                <a:spcPts val="0"/>
              </a:spcAft>
              <a:buNone/>
            </a:pPr>
            <a:br>
              <a:rPr lang="en-US" sz="1800">
                <a:solidFill>
                  <a:schemeClr val="dk1"/>
                </a:solidFill>
                <a:latin typeface="Calibri"/>
                <a:ea typeface="Calibri"/>
                <a:cs typeface="Calibri"/>
                <a:sym typeface="Calibri"/>
              </a:rPr>
            </a:br>
            <a:endParaRPr sz="2000">
              <a:solidFill>
                <a:schemeClr val="dk1"/>
              </a:solidFill>
              <a:latin typeface="Arial"/>
              <a:ea typeface="Arial"/>
              <a:cs typeface="Arial"/>
              <a:sym typeface="Arial"/>
            </a:endParaRPr>
          </a:p>
        </p:txBody>
      </p:sp>
      <p:sp>
        <p:nvSpPr>
          <p:cNvPr id="464" name="Google Shape;464;p67"/>
          <p:cNvSpPr/>
          <p:nvPr/>
        </p:nvSpPr>
        <p:spPr>
          <a:xfrm>
            <a:off x="1981200" y="274680"/>
            <a:ext cx="8227440" cy="1140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67"/>
          <p:cNvSpPr/>
          <p:nvPr/>
        </p:nvSpPr>
        <p:spPr>
          <a:xfrm>
            <a:off x="2483220" y="256872"/>
            <a:ext cx="7223400" cy="1110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3200">
                <a:solidFill>
                  <a:schemeClr val="dk1"/>
                </a:solidFill>
                <a:latin typeface="Arial"/>
                <a:ea typeface="Arial"/>
                <a:cs typeface="Arial"/>
                <a:sym typeface="Arial"/>
              </a:rPr>
              <a:t>                Disjoint   Constraint</a:t>
            </a:r>
            <a:endParaRPr sz="3200">
              <a:solidFill>
                <a:schemeClr val="dk1"/>
              </a:solidFill>
              <a:latin typeface="Arial"/>
              <a:ea typeface="Arial"/>
              <a:cs typeface="Arial"/>
              <a:sym typeface="Arial"/>
            </a:endParaRPr>
          </a:p>
        </p:txBody>
      </p:sp>
      <p:pic>
        <p:nvPicPr>
          <p:cNvPr id="466" name="Google Shape;466;p67"/>
          <p:cNvPicPr preferRelativeResize="0"/>
          <p:nvPr/>
        </p:nvPicPr>
        <p:blipFill rotWithShape="1">
          <a:blip r:embed="rId3">
            <a:alphaModFix/>
          </a:blip>
          <a:srcRect b="0" l="0" r="0" t="0"/>
          <a:stretch/>
        </p:blipFill>
        <p:spPr>
          <a:xfrm>
            <a:off x="375588" y="2388197"/>
            <a:ext cx="4620270" cy="1676634"/>
          </a:xfrm>
          <a:prstGeom prst="rect">
            <a:avLst/>
          </a:prstGeom>
          <a:noFill/>
          <a:ln>
            <a:noFill/>
          </a:ln>
        </p:spPr>
      </p:pic>
      <p:pic>
        <p:nvPicPr>
          <p:cNvPr id="467" name="Google Shape;467;p67"/>
          <p:cNvPicPr preferRelativeResize="0"/>
          <p:nvPr/>
        </p:nvPicPr>
        <p:blipFill rotWithShape="1">
          <a:blip r:embed="rId4">
            <a:alphaModFix/>
          </a:blip>
          <a:srcRect b="0" l="0" r="0" t="0"/>
          <a:stretch/>
        </p:blipFill>
        <p:spPr>
          <a:xfrm>
            <a:off x="3643745" y="2179726"/>
            <a:ext cx="2685342" cy="857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20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8"/>
          <p:cNvSpPr/>
          <p:nvPr/>
        </p:nvSpPr>
        <p:spPr>
          <a:xfrm>
            <a:off x="6096000" y="1391760"/>
            <a:ext cx="4036320" cy="5374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If the subclasses are not constrained to be disjoint, their sets of entities may be overlapping; that is, the same entity may be a member of more than one subclass of the specialization. </a:t>
            </a:r>
            <a:endParaRPr sz="22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This case, which is the default, is displayed by placing an ‘o’ in the circle.</a:t>
            </a:r>
            <a:endParaRPr sz="2200">
              <a:solidFill>
                <a:schemeClr val="dk1"/>
              </a:solidFill>
              <a:latin typeface="Arial"/>
              <a:ea typeface="Arial"/>
              <a:cs typeface="Arial"/>
              <a:sym typeface="Arial"/>
            </a:endParaRPr>
          </a:p>
          <a:p>
            <a:pPr indent="0" lvl="0" marL="0" marR="0" rtl="0" algn="l">
              <a:spcBef>
                <a:spcPts val="400"/>
              </a:spcBef>
              <a:spcAft>
                <a:spcPts val="0"/>
              </a:spcAft>
              <a:buNone/>
            </a:pPr>
            <a:r>
              <a:t/>
            </a:r>
            <a:endParaRPr sz="2200">
              <a:solidFill>
                <a:schemeClr val="dk1"/>
              </a:solidFill>
              <a:latin typeface="Arial"/>
              <a:ea typeface="Arial"/>
              <a:cs typeface="Arial"/>
              <a:sym typeface="Arial"/>
            </a:endParaRPr>
          </a:p>
          <a:p>
            <a:pPr indent="0" lvl="0" marL="0" marR="0" rtl="0" algn="l">
              <a:spcBef>
                <a:spcPts val="400"/>
              </a:spcBef>
              <a:spcAft>
                <a:spcPts val="0"/>
              </a:spcAft>
              <a:buNone/>
            </a:pPr>
            <a:r>
              <a:t/>
            </a:r>
            <a:endParaRPr sz="2200">
              <a:solidFill>
                <a:schemeClr val="dk1"/>
              </a:solidFill>
              <a:latin typeface="Arial"/>
              <a:ea typeface="Arial"/>
              <a:cs typeface="Arial"/>
              <a:sym typeface="Arial"/>
            </a:endParaRPr>
          </a:p>
          <a:p>
            <a:pPr indent="0" lvl="0" marL="0" marR="0" rtl="0" algn="l">
              <a:spcBef>
                <a:spcPts val="400"/>
              </a:spcBef>
              <a:spcAft>
                <a:spcPts val="0"/>
              </a:spcAft>
              <a:buNone/>
            </a:pPr>
            <a:r>
              <a:t/>
            </a:r>
            <a:endParaRPr sz="2200">
              <a:solidFill>
                <a:schemeClr val="dk1"/>
              </a:solidFill>
              <a:latin typeface="Arial"/>
              <a:ea typeface="Arial"/>
              <a:cs typeface="Arial"/>
              <a:sym typeface="Arial"/>
            </a:endParaRPr>
          </a:p>
          <a:p>
            <a:pPr indent="-253799" lvl="0" marL="365760" marR="0" rtl="0" algn="l">
              <a:spcBef>
                <a:spcPts val="400"/>
              </a:spcBef>
              <a:spcAft>
                <a:spcPts val="0"/>
              </a:spcAft>
              <a:buNone/>
            </a:pPr>
            <a:r>
              <a:t/>
            </a:r>
            <a:endParaRPr sz="2200">
              <a:solidFill>
                <a:schemeClr val="dk1"/>
              </a:solidFill>
              <a:latin typeface="Arial"/>
              <a:ea typeface="Arial"/>
              <a:cs typeface="Arial"/>
              <a:sym typeface="Arial"/>
            </a:endParaRPr>
          </a:p>
          <a:p>
            <a:pPr indent="0" lvl="0" marL="0" marR="0" rtl="0" algn="l">
              <a:spcBef>
                <a:spcPts val="400"/>
              </a:spcBef>
              <a:spcAft>
                <a:spcPts val="0"/>
              </a:spcAft>
              <a:buNone/>
            </a:pPr>
            <a:br>
              <a:rPr lang="en-US" sz="1800">
                <a:solidFill>
                  <a:schemeClr val="dk1"/>
                </a:solidFill>
                <a:latin typeface="Calibri"/>
                <a:ea typeface="Calibri"/>
                <a:cs typeface="Calibri"/>
                <a:sym typeface="Calibri"/>
              </a:rPr>
            </a:br>
            <a:endParaRPr sz="2200">
              <a:solidFill>
                <a:schemeClr val="dk1"/>
              </a:solidFill>
              <a:latin typeface="Arial"/>
              <a:ea typeface="Arial"/>
              <a:cs typeface="Arial"/>
              <a:sym typeface="Arial"/>
            </a:endParaRPr>
          </a:p>
        </p:txBody>
      </p:sp>
      <p:sp>
        <p:nvSpPr>
          <p:cNvPr id="473" name="Google Shape;473;p68"/>
          <p:cNvSpPr/>
          <p:nvPr/>
        </p:nvSpPr>
        <p:spPr>
          <a:xfrm>
            <a:off x="1981200" y="274680"/>
            <a:ext cx="8227440" cy="1140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68"/>
          <p:cNvSpPr/>
          <p:nvPr/>
        </p:nvSpPr>
        <p:spPr>
          <a:xfrm>
            <a:off x="3261360" y="579600"/>
            <a:ext cx="7223400" cy="1110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3200">
                <a:solidFill>
                  <a:schemeClr val="dk1"/>
                </a:solidFill>
                <a:latin typeface="Times New Roman"/>
                <a:ea typeface="Times New Roman"/>
                <a:cs typeface="Times New Roman"/>
                <a:sym typeface="Times New Roman"/>
              </a:rPr>
              <a:t>        Overlapping  Constraint</a:t>
            </a:r>
            <a:endParaRPr sz="3200">
              <a:solidFill>
                <a:schemeClr val="dk1"/>
              </a:solidFill>
              <a:latin typeface="Arial"/>
              <a:ea typeface="Arial"/>
              <a:cs typeface="Arial"/>
              <a:sym typeface="Arial"/>
            </a:endParaRPr>
          </a:p>
        </p:txBody>
      </p:sp>
      <p:pic>
        <p:nvPicPr>
          <p:cNvPr id="475" name="Google Shape;475;p68"/>
          <p:cNvPicPr preferRelativeResize="0"/>
          <p:nvPr/>
        </p:nvPicPr>
        <p:blipFill rotWithShape="1">
          <a:blip r:embed="rId3">
            <a:alphaModFix/>
          </a:blip>
          <a:srcRect b="0" l="0" r="0" t="0"/>
          <a:stretch/>
        </p:blipFill>
        <p:spPr>
          <a:xfrm>
            <a:off x="286297" y="2782434"/>
            <a:ext cx="5025726" cy="1939754"/>
          </a:xfrm>
          <a:prstGeom prst="rect">
            <a:avLst/>
          </a:prstGeom>
          <a:noFill/>
          <a:ln>
            <a:noFill/>
          </a:ln>
        </p:spPr>
      </p:pic>
      <p:pic>
        <p:nvPicPr>
          <p:cNvPr id="476" name="Google Shape;476;p68"/>
          <p:cNvPicPr preferRelativeResize="0"/>
          <p:nvPr/>
        </p:nvPicPr>
        <p:blipFill rotWithShape="1">
          <a:blip r:embed="rId4">
            <a:alphaModFix/>
          </a:blip>
          <a:srcRect b="0" l="0" r="0" t="0"/>
          <a:stretch/>
        </p:blipFill>
        <p:spPr>
          <a:xfrm>
            <a:off x="3710841" y="2856524"/>
            <a:ext cx="2219635" cy="7430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2000"/>
                                        <p:tgtEl>
                                          <p:spTgt spid="4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9"/>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83" name="Google Shape;483;p69"/>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disjoint partial Specialization</a:t>
            </a:r>
            <a:endParaRPr/>
          </a:p>
        </p:txBody>
      </p:sp>
      <p:pic>
        <p:nvPicPr>
          <p:cNvPr descr="fig04_04" id="484" name="Google Shape;484;p69"/>
          <p:cNvPicPr preferRelativeResize="0"/>
          <p:nvPr/>
        </p:nvPicPr>
        <p:blipFill rotWithShape="1">
          <a:blip r:embed="rId3">
            <a:alphaModFix/>
          </a:blip>
          <a:srcRect b="0" l="0" r="0" t="0"/>
          <a:stretch/>
        </p:blipFill>
        <p:spPr>
          <a:xfrm>
            <a:off x="508000" y="1847850"/>
            <a:ext cx="11074400" cy="38671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0"/>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pic>
        <p:nvPicPr>
          <p:cNvPr descr="fig04_05" id="491" name="Google Shape;491;p70"/>
          <p:cNvPicPr preferRelativeResize="0"/>
          <p:nvPr/>
        </p:nvPicPr>
        <p:blipFill rotWithShape="1">
          <a:blip r:embed="rId3">
            <a:alphaModFix/>
          </a:blip>
          <a:srcRect b="0" l="0" r="0" t="0"/>
          <a:stretch/>
        </p:blipFill>
        <p:spPr>
          <a:xfrm>
            <a:off x="196850" y="2432051"/>
            <a:ext cx="11385549" cy="2376487"/>
          </a:xfrm>
          <a:prstGeom prst="rect">
            <a:avLst/>
          </a:prstGeom>
          <a:noFill/>
          <a:ln>
            <a:noFill/>
          </a:ln>
        </p:spPr>
      </p:pic>
      <p:sp>
        <p:nvSpPr>
          <p:cNvPr descr="Pink tissue paper" id="492" name="Google Shape;492;p70"/>
          <p:cNvSpPr txBox="1"/>
          <p:nvPr/>
        </p:nvSpPr>
        <p:spPr>
          <a:xfrm>
            <a:off x="406400" y="868362"/>
            <a:ext cx="96520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00"/>
              </a:buClr>
              <a:buSzPts val="2800"/>
              <a:buFont typeface="Arial"/>
              <a:buNone/>
            </a:pPr>
            <a:r>
              <a:rPr b="0" i="0" lang="en-US" sz="2800" u="none">
                <a:solidFill>
                  <a:srgbClr val="800000"/>
                </a:solidFill>
                <a:latin typeface="Arial"/>
                <a:ea typeface="Arial"/>
                <a:cs typeface="Arial"/>
                <a:sym typeface="Arial"/>
              </a:rPr>
              <a:t>Example of overlapping total Specialization</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1"/>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99" name="Google Shape;499;p71"/>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Specialization/Generalization Hierarchies, Lattices &amp; Shared Subclasses (1)</a:t>
            </a:r>
            <a:endParaRPr/>
          </a:p>
        </p:txBody>
      </p:sp>
      <p:sp>
        <p:nvSpPr>
          <p:cNvPr id="500" name="Google Shape;500;p71"/>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subclass may itself have further subclasses specified on it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forms a hierarchy or a lattice</a:t>
            </a:r>
            <a:endParaRPr/>
          </a:p>
          <a:p>
            <a:pPr indent="-342900" lvl="0" marL="342900" rtl="0" algn="l">
              <a:lnSpc>
                <a:spcPct val="100000"/>
              </a:lnSpc>
              <a:spcBef>
                <a:spcPts val="560"/>
              </a:spcBef>
              <a:spcAft>
                <a:spcPts val="0"/>
              </a:spcAft>
              <a:buClr>
                <a:srgbClr val="990033"/>
              </a:buClr>
              <a:buSzPts val="1680"/>
              <a:buFont typeface="Noto Sans Symbols"/>
              <a:buChar char="■"/>
            </a:pPr>
            <a:r>
              <a:rPr b="1" i="1" lang="en-US" sz="2800" u="none">
                <a:solidFill>
                  <a:schemeClr val="dk2"/>
                </a:solidFill>
                <a:latin typeface="Arial"/>
                <a:ea typeface="Arial"/>
                <a:cs typeface="Arial"/>
                <a:sym typeface="Arial"/>
              </a:rPr>
              <a:t>Hierarchy</a:t>
            </a:r>
            <a:r>
              <a:rPr b="0" i="0" lang="en-US" sz="2800" u="none">
                <a:solidFill>
                  <a:schemeClr val="dk2"/>
                </a:solidFill>
                <a:latin typeface="Arial"/>
                <a:ea typeface="Arial"/>
                <a:cs typeface="Arial"/>
                <a:sym typeface="Arial"/>
              </a:rPr>
              <a:t> has a constraint that every subclass has only one superclass (called </a:t>
            </a:r>
            <a:r>
              <a:rPr b="1" i="1" lang="en-US" sz="2800" u="none">
                <a:solidFill>
                  <a:schemeClr val="dk2"/>
                </a:solidFill>
                <a:latin typeface="Arial"/>
                <a:ea typeface="Arial"/>
                <a:cs typeface="Arial"/>
                <a:sym typeface="Arial"/>
              </a:rPr>
              <a:t>single inheritance</a:t>
            </a:r>
            <a:r>
              <a:rPr b="0" i="0" lang="en-US" sz="2800" u="none">
                <a:solidFill>
                  <a:schemeClr val="dk2"/>
                </a:solidFill>
                <a:latin typeface="Arial"/>
                <a:ea typeface="Arial"/>
                <a:cs typeface="Arial"/>
                <a:sym typeface="Arial"/>
              </a:rPr>
              <a:t>); this is basically a </a:t>
            </a:r>
            <a:r>
              <a:rPr b="1" i="1" lang="en-US" sz="2800" u="none">
                <a:solidFill>
                  <a:schemeClr val="dk2"/>
                </a:solidFill>
                <a:latin typeface="Arial"/>
                <a:ea typeface="Arial"/>
                <a:cs typeface="Arial"/>
                <a:sym typeface="Arial"/>
              </a:rPr>
              <a:t>tree structure</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a </a:t>
            </a:r>
            <a:r>
              <a:rPr b="1" i="1" lang="en-US" sz="2800" u="none">
                <a:solidFill>
                  <a:schemeClr val="dk2"/>
                </a:solidFill>
                <a:latin typeface="Arial"/>
                <a:ea typeface="Arial"/>
                <a:cs typeface="Arial"/>
                <a:sym typeface="Arial"/>
              </a:rPr>
              <a:t>lattice</a:t>
            </a:r>
            <a:r>
              <a:rPr b="0" i="0" lang="en-US" sz="2800" u="none">
                <a:solidFill>
                  <a:schemeClr val="dk2"/>
                </a:solidFill>
                <a:latin typeface="Arial"/>
                <a:ea typeface="Arial"/>
                <a:cs typeface="Arial"/>
                <a:sym typeface="Arial"/>
              </a:rPr>
              <a:t>, a subclass can be subclass of more than one superclass (called </a:t>
            </a:r>
            <a:r>
              <a:rPr b="1" i="1" lang="en-US" sz="2800" u="none">
                <a:solidFill>
                  <a:schemeClr val="dk2"/>
                </a:solidFill>
                <a:latin typeface="Arial"/>
                <a:ea typeface="Arial"/>
                <a:cs typeface="Arial"/>
                <a:sym typeface="Arial"/>
              </a:rPr>
              <a:t>multiple inheritance</a:t>
            </a:r>
            <a:r>
              <a:rPr b="0" i="0" lang="en-US" sz="2800" u="none">
                <a:solidFill>
                  <a:schemeClr val="dk2"/>
                </a:solidFill>
                <a:latin typeface="Arial"/>
                <a:ea typeface="Arial"/>
                <a:cs typeface="Arial"/>
                <a:sym typeface="Arial"/>
              </a:rPr>
              <a: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2"/>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pic>
        <p:nvPicPr>
          <p:cNvPr descr="fig04_06" id="507" name="Google Shape;507;p72"/>
          <p:cNvPicPr preferRelativeResize="0"/>
          <p:nvPr/>
        </p:nvPicPr>
        <p:blipFill rotWithShape="1">
          <a:blip r:embed="rId3">
            <a:alphaModFix/>
          </a:blip>
          <a:srcRect b="0" l="0" r="0" t="0"/>
          <a:stretch/>
        </p:blipFill>
        <p:spPr>
          <a:xfrm>
            <a:off x="304801" y="2192338"/>
            <a:ext cx="11254316" cy="3424237"/>
          </a:xfrm>
          <a:prstGeom prst="rect">
            <a:avLst/>
          </a:prstGeom>
          <a:noFill/>
          <a:ln>
            <a:noFill/>
          </a:ln>
        </p:spPr>
      </p:pic>
      <p:sp>
        <p:nvSpPr>
          <p:cNvPr descr="Pink tissue paper" id="508" name="Google Shape;508;p72"/>
          <p:cNvSpPr txBox="1"/>
          <p:nvPr/>
        </p:nvSpPr>
        <p:spPr>
          <a:xfrm>
            <a:off x="609600" y="838200"/>
            <a:ext cx="7924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00"/>
              </a:buClr>
              <a:buSzPts val="2400"/>
              <a:buFont typeface="Arial"/>
              <a:buNone/>
            </a:pPr>
            <a:r>
              <a:rPr b="0" i="0" lang="en-US" sz="2400" u="none">
                <a:solidFill>
                  <a:srgbClr val="800000"/>
                </a:solidFill>
                <a:latin typeface="Arial"/>
                <a:ea typeface="Arial"/>
                <a:cs typeface="Arial"/>
                <a:sym typeface="Arial"/>
              </a:rPr>
              <a:t>Shared Subclass “Engineering_Manager”</a:t>
            </a:r>
            <a:endParaRPr sz="18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3"/>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15" name="Google Shape;515;p73"/>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Specialization/Generalization Hierarchies, Lattices &amp; Shared Subclasses (2)</a:t>
            </a:r>
            <a:endParaRPr/>
          </a:p>
        </p:txBody>
      </p:sp>
      <p:sp>
        <p:nvSpPr>
          <p:cNvPr id="516" name="Google Shape;516;p73"/>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In a lattice or hierarchy, a subclass inherits attributes not only of its direct superclass, but also of all its predecessor superclasses</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subclass with more than one superclass is called a shared subclass (multiple inheritance)</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Can have:</a:t>
            </a:r>
            <a:endParaRPr/>
          </a:p>
          <a:p>
            <a:pPr indent="-285750" lvl="1" marL="742950" rtl="0" algn="l">
              <a:lnSpc>
                <a:spcPct val="100000"/>
              </a:lnSpc>
              <a:spcBef>
                <a:spcPts val="440"/>
              </a:spcBef>
              <a:spcAft>
                <a:spcPts val="0"/>
              </a:spcAft>
              <a:buClr>
                <a:schemeClr val="dk2"/>
              </a:buClr>
              <a:buSzPts val="1210"/>
              <a:buFont typeface="Noto Sans Symbols"/>
              <a:buChar char="■"/>
            </a:pPr>
            <a:r>
              <a:rPr b="0" i="1" lang="en-US" sz="2200" u="none">
                <a:solidFill>
                  <a:srgbClr val="800000"/>
                </a:solidFill>
                <a:latin typeface="Arial"/>
                <a:ea typeface="Arial"/>
                <a:cs typeface="Arial"/>
                <a:sym typeface="Arial"/>
              </a:rPr>
              <a:t>specialization</a:t>
            </a:r>
            <a:r>
              <a:rPr b="0" i="0" lang="en-US" sz="2200" u="none">
                <a:solidFill>
                  <a:srgbClr val="800000"/>
                </a:solidFill>
                <a:latin typeface="Arial"/>
                <a:ea typeface="Arial"/>
                <a:cs typeface="Arial"/>
                <a:sym typeface="Arial"/>
              </a:rPr>
              <a:t> hierarchies or lattices, or </a:t>
            </a:r>
            <a:endParaRPr/>
          </a:p>
          <a:p>
            <a:pPr indent="-285750" lvl="1" marL="742950" rtl="0" algn="l">
              <a:lnSpc>
                <a:spcPct val="100000"/>
              </a:lnSpc>
              <a:spcBef>
                <a:spcPts val="440"/>
              </a:spcBef>
              <a:spcAft>
                <a:spcPts val="0"/>
              </a:spcAft>
              <a:buClr>
                <a:schemeClr val="dk2"/>
              </a:buClr>
              <a:buSzPts val="1210"/>
              <a:buFont typeface="Noto Sans Symbols"/>
              <a:buChar char="■"/>
            </a:pPr>
            <a:r>
              <a:rPr b="0" i="1" lang="en-US" sz="2200" u="none">
                <a:solidFill>
                  <a:srgbClr val="800000"/>
                </a:solidFill>
                <a:latin typeface="Arial"/>
                <a:ea typeface="Arial"/>
                <a:cs typeface="Arial"/>
                <a:sym typeface="Arial"/>
              </a:rPr>
              <a:t>generalization</a:t>
            </a:r>
            <a:r>
              <a:rPr b="0" i="0" lang="en-US" sz="2200" u="none">
                <a:solidFill>
                  <a:srgbClr val="800000"/>
                </a:solidFill>
                <a:latin typeface="Arial"/>
                <a:ea typeface="Arial"/>
                <a:cs typeface="Arial"/>
                <a:sym typeface="Arial"/>
              </a:rPr>
              <a:t> hierarchies or lattices,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depending on how they were </a:t>
            </a:r>
            <a:r>
              <a:rPr b="0" i="1" lang="en-US" sz="2200" u="none">
                <a:solidFill>
                  <a:srgbClr val="800000"/>
                </a:solidFill>
                <a:latin typeface="Arial"/>
                <a:ea typeface="Arial"/>
                <a:cs typeface="Arial"/>
                <a:sym typeface="Arial"/>
              </a:rPr>
              <a:t>derived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We just use </a:t>
            </a:r>
            <a:r>
              <a:rPr b="0" i="1" lang="en-US" sz="2400" u="none">
                <a:solidFill>
                  <a:schemeClr val="dk2"/>
                </a:solidFill>
                <a:latin typeface="Arial"/>
                <a:ea typeface="Arial"/>
                <a:cs typeface="Arial"/>
                <a:sym typeface="Arial"/>
              </a:rPr>
              <a:t>specialization</a:t>
            </a:r>
            <a:r>
              <a:rPr b="0" i="0" lang="en-US" sz="2400" u="none">
                <a:solidFill>
                  <a:schemeClr val="dk2"/>
                </a:solidFill>
                <a:latin typeface="Arial"/>
                <a:ea typeface="Arial"/>
                <a:cs typeface="Arial"/>
                <a:sym typeface="Arial"/>
              </a:rPr>
              <a:t> (to stand for the end result of either specialization or generalization)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4"/>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23" name="Google Shape;523;p74"/>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Specialization/Generalization Hierarchies, Lattices &amp; Shared Subclasses (3)</a:t>
            </a:r>
            <a:endParaRPr/>
          </a:p>
        </p:txBody>
      </p:sp>
      <p:sp>
        <p:nvSpPr>
          <p:cNvPr id="524" name="Google Shape;524;p74"/>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a:t>
            </a:r>
            <a:r>
              <a:rPr b="0" i="1" lang="en-US" sz="2800" u="none">
                <a:solidFill>
                  <a:schemeClr val="dk2"/>
                </a:solidFill>
                <a:latin typeface="Arial"/>
                <a:ea typeface="Arial"/>
                <a:cs typeface="Arial"/>
                <a:sym typeface="Arial"/>
              </a:rPr>
              <a:t>specialization</a:t>
            </a:r>
            <a:r>
              <a:rPr b="0" i="0" lang="en-US" sz="2800" u="none">
                <a:solidFill>
                  <a:schemeClr val="dk2"/>
                </a:solidFill>
                <a:latin typeface="Arial"/>
                <a:ea typeface="Arial"/>
                <a:cs typeface="Arial"/>
                <a:sym typeface="Arial"/>
              </a:rPr>
              <a:t>, start with an entity type and then define subclasses of the entity type by successive specialization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called a </a:t>
            </a:r>
            <a:r>
              <a:rPr b="0" i="1" lang="en-US" sz="2600" u="none">
                <a:solidFill>
                  <a:srgbClr val="800000"/>
                </a:solidFill>
                <a:latin typeface="Arial"/>
                <a:ea typeface="Arial"/>
                <a:cs typeface="Arial"/>
                <a:sym typeface="Arial"/>
              </a:rPr>
              <a:t>top down</a:t>
            </a:r>
            <a:r>
              <a:rPr b="0" i="0" lang="en-US" sz="2600" u="none">
                <a:solidFill>
                  <a:srgbClr val="800000"/>
                </a:solidFill>
                <a:latin typeface="Arial"/>
                <a:ea typeface="Arial"/>
                <a:cs typeface="Arial"/>
                <a:sym typeface="Arial"/>
              </a:rPr>
              <a:t> conceptual refinement process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a:t>
            </a:r>
            <a:r>
              <a:rPr b="0" i="1" lang="en-US" sz="2800" u="none">
                <a:solidFill>
                  <a:schemeClr val="dk2"/>
                </a:solidFill>
                <a:latin typeface="Arial"/>
                <a:ea typeface="Arial"/>
                <a:cs typeface="Arial"/>
                <a:sym typeface="Arial"/>
              </a:rPr>
              <a:t>generalization</a:t>
            </a:r>
            <a:r>
              <a:rPr b="0" i="0" lang="en-US" sz="2800" u="none">
                <a:solidFill>
                  <a:schemeClr val="dk2"/>
                </a:solidFill>
                <a:latin typeface="Arial"/>
                <a:ea typeface="Arial"/>
                <a:cs typeface="Arial"/>
                <a:sym typeface="Arial"/>
              </a:rPr>
              <a:t>, start with many entity types and generalize those that have common properties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Called a </a:t>
            </a:r>
            <a:r>
              <a:rPr b="0" i="1" lang="en-US" sz="2600" u="none">
                <a:solidFill>
                  <a:srgbClr val="800000"/>
                </a:solidFill>
                <a:latin typeface="Arial"/>
                <a:ea typeface="Arial"/>
                <a:cs typeface="Arial"/>
                <a:sym typeface="Arial"/>
              </a:rPr>
              <a:t>bottom up</a:t>
            </a:r>
            <a:r>
              <a:rPr b="0" i="0" lang="en-US" sz="2600" u="none">
                <a:solidFill>
                  <a:srgbClr val="800000"/>
                </a:solidFill>
                <a:latin typeface="Arial"/>
                <a:ea typeface="Arial"/>
                <a:cs typeface="Arial"/>
                <a:sym typeface="Arial"/>
              </a:rPr>
              <a:t> conceptual synthesis process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practice, a </a:t>
            </a:r>
            <a:r>
              <a:rPr b="0" i="1" lang="en-US" sz="2800" u="none">
                <a:solidFill>
                  <a:schemeClr val="dk2"/>
                </a:solidFill>
                <a:latin typeface="Arial"/>
                <a:ea typeface="Arial"/>
                <a:cs typeface="Arial"/>
                <a:sym typeface="Arial"/>
              </a:rPr>
              <a:t>combination of both processes</a:t>
            </a:r>
            <a:r>
              <a:rPr b="0" i="0" lang="en-US" sz="2800" u="none">
                <a:solidFill>
                  <a:schemeClr val="dk2"/>
                </a:solidFill>
                <a:latin typeface="Arial"/>
                <a:ea typeface="Arial"/>
                <a:cs typeface="Arial"/>
                <a:sym typeface="Arial"/>
              </a:rPr>
              <a:t> is usually employed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5"/>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31" name="Google Shape;531;p75"/>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 / Generalization Lattice Example </a:t>
            </a:r>
            <a:r>
              <a:rPr b="0" i="0" lang="en-US" sz="2400" u="none">
                <a:solidFill>
                  <a:srgbClr val="800000"/>
                </a:solidFill>
                <a:latin typeface="Arial"/>
                <a:ea typeface="Arial"/>
                <a:cs typeface="Arial"/>
                <a:sym typeface="Arial"/>
              </a:rPr>
              <a:t>(UNIVERSITY)</a:t>
            </a:r>
            <a:endParaRPr/>
          </a:p>
        </p:txBody>
      </p:sp>
      <p:pic>
        <p:nvPicPr>
          <p:cNvPr descr="fig04_07" id="532" name="Google Shape;532;p75"/>
          <p:cNvPicPr preferRelativeResize="0"/>
          <p:nvPr/>
        </p:nvPicPr>
        <p:blipFill rotWithShape="1">
          <a:blip r:embed="rId3">
            <a:alphaModFix/>
          </a:blip>
          <a:srcRect b="0" l="0" r="0" t="0"/>
          <a:stretch/>
        </p:blipFill>
        <p:spPr>
          <a:xfrm>
            <a:off x="2235200" y="1600200"/>
            <a:ext cx="7823200" cy="48752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6"/>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39" name="Google Shape;539;p76"/>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Categories (UNION TYPES) (1)</a:t>
            </a:r>
            <a:endParaRPr/>
          </a:p>
        </p:txBody>
      </p:sp>
      <p:sp>
        <p:nvSpPr>
          <p:cNvPr id="540" name="Google Shape;540;p76"/>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All of the </a:t>
            </a:r>
            <a:r>
              <a:rPr b="0" i="1" lang="en-US" sz="2400" u="none">
                <a:solidFill>
                  <a:schemeClr val="dk2"/>
                </a:solidFill>
                <a:latin typeface="Arial"/>
                <a:ea typeface="Arial"/>
                <a:cs typeface="Arial"/>
                <a:sym typeface="Arial"/>
              </a:rPr>
              <a:t>superclass/subclass relationships</a:t>
            </a:r>
            <a:r>
              <a:rPr b="0" i="0" lang="en-US" sz="2400" u="none">
                <a:solidFill>
                  <a:schemeClr val="dk2"/>
                </a:solidFill>
                <a:latin typeface="Arial"/>
                <a:ea typeface="Arial"/>
                <a:cs typeface="Arial"/>
                <a:sym typeface="Arial"/>
              </a:rPr>
              <a:t> we have seen thus far have a single superclass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shared subclass is a subclass in:</a:t>
            </a:r>
            <a:endParaRPr/>
          </a:p>
          <a:p>
            <a:pPr indent="-285750" lvl="1" marL="742950" rtl="0" algn="l">
              <a:lnSpc>
                <a:spcPct val="100000"/>
              </a:lnSpc>
              <a:spcBef>
                <a:spcPts val="440"/>
              </a:spcBef>
              <a:spcAft>
                <a:spcPts val="0"/>
              </a:spcAft>
              <a:buClr>
                <a:schemeClr val="dk2"/>
              </a:buClr>
              <a:buSzPts val="1210"/>
              <a:buFont typeface="Noto Sans Symbols"/>
              <a:buChar char="■"/>
            </a:pPr>
            <a:r>
              <a:rPr b="0" i="1" lang="en-US" sz="2200" u="none">
                <a:solidFill>
                  <a:srgbClr val="800000"/>
                </a:solidFill>
                <a:latin typeface="Arial"/>
                <a:ea typeface="Arial"/>
                <a:cs typeface="Arial"/>
                <a:sym typeface="Arial"/>
              </a:rPr>
              <a:t>more than one</a:t>
            </a:r>
            <a:r>
              <a:rPr b="0" i="0" lang="en-US" sz="2200" u="none">
                <a:solidFill>
                  <a:srgbClr val="800000"/>
                </a:solidFill>
                <a:latin typeface="Arial"/>
                <a:ea typeface="Arial"/>
                <a:cs typeface="Arial"/>
                <a:sym typeface="Arial"/>
              </a:rPr>
              <a:t> distinct superclass/subclass relationships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each relationships has a single superclass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shared subclass leads to multiple inheritance</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In some cases, we need to model a </a:t>
            </a:r>
            <a:r>
              <a:rPr b="0" i="1" lang="en-US" sz="2400" u="none">
                <a:solidFill>
                  <a:schemeClr val="dk2"/>
                </a:solidFill>
                <a:latin typeface="Arial"/>
                <a:ea typeface="Arial"/>
                <a:cs typeface="Arial"/>
                <a:sym typeface="Arial"/>
              </a:rPr>
              <a:t>single superclass/subclass relationship</a:t>
            </a:r>
            <a:r>
              <a:rPr b="0" i="0" lang="en-US" sz="2400" u="none">
                <a:solidFill>
                  <a:schemeClr val="dk2"/>
                </a:solidFill>
                <a:latin typeface="Arial"/>
                <a:ea typeface="Arial"/>
                <a:cs typeface="Arial"/>
                <a:sym typeface="Arial"/>
              </a:rPr>
              <a:t> with </a:t>
            </a:r>
            <a:r>
              <a:rPr b="0" i="1" lang="en-US" sz="2400" u="none">
                <a:solidFill>
                  <a:schemeClr val="dk2"/>
                </a:solidFill>
                <a:latin typeface="Arial"/>
                <a:ea typeface="Arial"/>
                <a:cs typeface="Arial"/>
                <a:sym typeface="Arial"/>
              </a:rPr>
              <a:t>more than one</a:t>
            </a:r>
            <a:r>
              <a:rPr b="0" i="0" lang="en-US" sz="2400" u="none">
                <a:solidFill>
                  <a:schemeClr val="dk2"/>
                </a:solidFill>
                <a:latin typeface="Arial"/>
                <a:ea typeface="Arial"/>
                <a:cs typeface="Arial"/>
                <a:sym typeface="Arial"/>
              </a:rPr>
              <a:t> superclass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Superclasses can represent different entity types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Such a subclass is called a category or UNION TYPE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7"/>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47" name="Google Shape;547;p77"/>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Categories (UNION TYPES) (2)</a:t>
            </a:r>
            <a:endParaRPr/>
          </a:p>
        </p:txBody>
      </p:sp>
      <p:sp>
        <p:nvSpPr>
          <p:cNvPr id="548" name="Google Shape;548;p77"/>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In a database for vehicle registration, a vehicle owner can be a PERSON, a BANK (holding a lien on a vehicle) or a COMPANY.</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a:t>
            </a:r>
            <a:r>
              <a:rPr b="0" i="1" lang="en-US" sz="2200" u="none">
                <a:solidFill>
                  <a:srgbClr val="800000"/>
                </a:solidFill>
                <a:latin typeface="Arial"/>
                <a:ea typeface="Arial"/>
                <a:cs typeface="Arial"/>
                <a:sym typeface="Arial"/>
              </a:rPr>
              <a:t>category</a:t>
            </a:r>
            <a:r>
              <a:rPr b="0" i="0" lang="en-US" sz="2200" u="none">
                <a:solidFill>
                  <a:srgbClr val="800000"/>
                </a:solidFill>
                <a:latin typeface="Arial"/>
                <a:ea typeface="Arial"/>
                <a:cs typeface="Arial"/>
                <a:sym typeface="Arial"/>
              </a:rPr>
              <a:t> (UNION type) called OWNER is created to represent a subset of the </a:t>
            </a:r>
            <a:r>
              <a:rPr b="0" i="1" lang="en-US" sz="2200" u="none">
                <a:solidFill>
                  <a:srgbClr val="800000"/>
                </a:solidFill>
                <a:latin typeface="Arial"/>
                <a:ea typeface="Arial"/>
                <a:cs typeface="Arial"/>
                <a:sym typeface="Arial"/>
              </a:rPr>
              <a:t>union</a:t>
            </a:r>
            <a:r>
              <a:rPr b="0" i="0" lang="en-US" sz="2200" u="none">
                <a:solidFill>
                  <a:srgbClr val="800000"/>
                </a:solidFill>
                <a:latin typeface="Arial"/>
                <a:ea typeface="Arial"/>
                <a:cs typeface="Arial"/>
                <a:sym typeface="Arial"/>
              </a:rPr>
              <a:t> of the three superclasses COMPANY, BANK, and PERSON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category member must exist in </a:t>
            </a:r>
            <a:r>
              <a:rPr b="1" i="1" lang="en-US" sz="2200" u="none">
                <a:solidFill>
                  <a:srgbClr val="800000"/>
                </a:solidFill>
                <a:latin typeface="Arial"/>
                <a:ea typeface="Arial"/>
                <a:cs typeface="Arial"/>
                <a:sym typeface="Arial"/>
              </a:rPr>
              <a:t>at least one</a:t>
            </a:r>
            <a:r>
              <a:rPr b="0" i="0" lang="en-US" sz="2200" u="none">
                <a:solidFill>
                  <a:srgbClr val="800000"/>
                </a:solidFill>
                <a:latin typeface="Arial"/>
                <a:ea typeface="Arial"/>
                <a:cs typeface="Arial"/>
                <a:sym typeface="Arial"/>
              </a:rPr>
              <a:t> of its superclasses</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Difference from </a:t>
            </a:r>
            <a:r>
              <a:rPr b="0" i="1" lang="en-US" sz="2400" u="none">
                <a:solidFill>
                  <a:schemeClr val="dk2"/>
                </a:solidFill>
                <a:latin typeface="Arial"/>
                <a:ea typeface="Arial"/>
                <a:cs typeface="Arial"/>
                <a:sym typeface="Arial"/>
              </a:rPr>
              <a:t>shared subclass</a:t>
            </a:r>
            <a:r>
              <a:rPr b="0" i="0" lang="en-US" sz="2400" u="none">
                <a:solidFill>
                  <a:schemeClr val="dk2"/>
                </a:solidFill>
                <a:latin typeface="Arial"/>
                <a:ea typeface="Arial"/>
                <a:cs typeface="Arial"/>
                <a:sym typeface="Arial"/>
              </a:rPr>
              <a:t>, which is a:</a:t>
            </a:r>
            <a:endParaRPr b="0" i="1" sz="2400" u="none">
              <a:solidFill>
                <a:schemeClr val="dk2"/>
              </a:solidFill>
              <a:latin typeface="Arial"/>
              <a:ea typeface="Arial"/>
              <a:cs typeface="Arial"/>
              <a:sym typeface="Arial"/>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subset of the </a:t>
            </a:r>
            <a:r>
              <a:rPr b="0" i="1" lang="en-US" sz="2200" u="none">
                <a:solidFill>
                  <a:srgbClr val="800000"/>
                </a:solidFill>
                <a:latin typeface="Arial"/>
                <a:ea typeface="Arial"/>
                <a:cs typeface="Arial"/>
                <a:sym typeface="Arial"/>
              </a:rPr>
              <a:t>intersection</a:t>
            </a:r>
            <a:r>
              <a:rPr b="0" i="0" lang="en-US" sz="2200" u="none">
                <a:solidFill>
                  <a:srgbClr val="800000"/>
                </a:solidFill>
                <a:latin typeface="Arial"/>
                <a:ea typeface="Arial"/>
                <a:cs typeface="Arial"/>
                <a:sym typeface="Arial"/>
              </a:rPr>
              <a:t> of its superclasses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shared subclass member must exist in </a:t>
            </a:r>
            <a:r>
              <a:rPr b="1" i="1" lang="en-US" sz="2200" u="none">
                <a:solidFill>
                  <a:srgbClr val="800000"/>
                </a:solidFill>
                <a:latin typeface="Arial"/>
                <a:ea typeface="Arial"/>
                <a:cs typeface="Arial"/>
                <a:sym typeface="Arial"/>
              </a:rPr>
              <a:t>all</a:t>
            </a:r>
            <a:r>
              <a:rPr b="0" i="0" lang="en-US" sz="2200" u="none">
                <a:solidFill>
                  <a:srgbClr val="800000"/>
                </a:solidFill>
                <a:latin typeface="Arial"/>
                <a:ea typeface="Arial"/>
                <a:cs typeface="Arial"/>
                <a:sym typeface="Arial"/>
              </a:rPr>
              <a:t> of its superclasses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8"/>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55" name="Google Shape;555;p78"/>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(1)</a:t>
            </a:r>
            <a:endParaRPr/>
          </a:p>
        </p:txBody>
      </p:sp>
      <p:sp>
        <p:nvSpPr>
          <p:cNvPr id="556" name="Google Shape;556;p78"/>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Class C: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type of entity with a corresponding set of entities:</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could be entity type, subclass, superclass, or category</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Note: The definition of </a:t>
            </a:r>
            <a:r>
              <a:rPr b="0" i="1" lang="en-US" sz="2400" u="none">
                <a:solidFill>
                  <a:schemeClr val="dk2"/>
                </a:solidFill>
                <a:latin typeface="Arial"/>
                <a:ea typeface="Arial"/>
                <a:cs typeface="Arial"/>
                <a:sym typeface="Arial"/>
              </a:rPr>
              <a:t>relationship type</a:t>
            </a:r>
            <a:r>
              <a:rPr b="0" i="0" lang="en-US" sz="2400" u="none">
                <a:solidFill>
                  <a:schemeClr val="dk2"/>
                </a:solidFill>
                <a:latin typeface="Arial"/>
                <a:ea typeface="Arial"/>
                <a:cs typeface="Arial"/>
                <a:sym typeface="Arial"/>
              </a:rPr>
              <a:t> in ER/EER should have 'entity type' replaced with 'class‘ to allow relationships among classes in general</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Subclass S is a class whose:</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Type inherits all the attributes and relationship of a class C</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Set of entities must always be a subset of the set of entities of the other class C</a:t>
            </a:r>
            <a:endParaRPr/>
          </a:p>
          <a:p>
            <a:pPr indent="-228600" lvl="3" marL="1600200" rtl="0" algn="l">
              <a:lnSpc>
                <a:spcPct val="90000"/>
              </a:lnSpc>
              <a:spcBef>
                <a:spcPts val="360"/>
              </a:spcBef>
              <a:spcAft>
                <a:spcPts val="0"/>
              </a:spcAft>
              <a:buClr>
                <a:schemeClr val="dk2"/>
              </a:buClr>
              <a:buSzPts val="990"/>
              <a:buFont typeface="Noto Sans Symbols"/>
              <a:buChar char="■"/>
            </a:pPr>
            <a:r>
              <a:rPr b="0" i="0" lang="en-US" sz="1800" u="none">
                <a:solidFill>
                  <a:srgbClr val="800000"/>
                </a:solidFill>
                <a:latin typeface="Arial"/>
                <a:ea typeface="Arial"/>
                <a:cs typeface="Arial"/>
                <a:sym typeface="Arial"/>
              </a:rPr>
              <a:t>S ⊆ C</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 is called the superclass of S</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A superclass/subclass relationship exists between S and C</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9"/>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63" name="Google Shape;563;p79"/>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(2)</a:t>
            </a:r>
            <a:endParaRPr/>
          </a:p>
        </p:txBody>
      </p:sp>
      <p:sp>
        <p:nvSpPr>
          <p:cNvPr id="564" name="Google Shape;564;p79"/>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Specialization Z: Z = {S1, S2,…, Sn} is a set of subclasses with same superclass G; hence, G/Si is a superclass relationship for i = 1, …., n.</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G is called a generalization of the subclasses {S1, S2,…, Sn} </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Z is total if we always have:</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S1 ∪ S2 ∪ … ∪ Sn = G;</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Otherwise, Z is partial.</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Z is disjoint if we always have:</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Si ∩ Sj empty-set for i ≠ j;</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Otherwise, Z is overlapping.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0"/>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71" name="Google Shape;571;p80"/>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(3)</a:t>
            </a:r>
            <a:endParaRPr/>
          </a:p>
        </p:txBody>
      </p:sp>
      <p:sp>
        <p:nvSpPr>
          <p:cNvPr id="572" name="Google Shape;572;p80"/>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Subclass S of C is predicate defined if predicate (condition)  p on attributes of C is used to specify membership in S;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that is, S = C[p], where C[p] is the set of entities in C that satisfy condition p</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subclass not defined by a predicate is called user-defined </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Attribute-defined specialization: if a predicate A = ci (where A is an attribute of G and ci is a constant value from the domain of A) is used to specify membership in each subclass Si in Z</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Note: If ci ≠ cj for i ≠ j, and A is single-valued, then the attribute-defined specialization will be disjoint.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1"/>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79" name="Google Shape;579;p81"/>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Two categories (UNION types): OWNER, REGISTERED_VEHICLE</a:t>
            </a:r>
            <a:endParaRPr/>
          </a:p>
        </p:txBody>
      </p:sp>
      <p:pic>
        <p:nvPicPr>
          <p:cNvPr descr="fig04_08" id="580" name="Google Shape;580;p81"/>
          <p:cNvPicPr preferRelativeResize="0"/>
          <p:nvPr/>
        </p:nvPicPr>
        <p:blipFill rotWithShape="1">
          <a:blip r:embed="rId3">
            <a:alphaModFix/>
          </a:blip>
          <a:srcRect b="0" l="0" r="0" t="0"/>
          <a:stretch/>
        </p:blipFill>
        <p:spPr>
          <a:xfrm>
            <a:off x="609600" y="1371600"/>
            <a:ext cx="11074400" cy="51816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2"/>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87" name="Google Shape;587;p82"/>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(4)</a:t>
            </a:r>
            <a:endParaRPr/>
          </a:p>
        </p:txBody>
      </p:sp>
      <p:sp>
        <p:nvSpPr>
          <p:cNvPr id="588" name="Google Shape;588;p82"/>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Category or UNION type T</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 class that is a subset of the </a:t>
            </a:r>
            <a:r>
              <a:rPr b="0" i="1" lang="en-US" sz="2600" u="none">
                <a:solidFill>
                  <a:srgbClr val="800000"/>
                </a:solidFill>
                <a:latin typeface="Arial"/>
                <a:ea typeface="Arial"/>
                <a:cs typeface="Arial"/>
                <a:sym typeface="Arial"/>
              </a:rPr>
              <a:t>union</a:t>
            </a:r>
            <a:r>
              <a:rPr b="0" i="0" lang="en-US" sz="2600" u="none">
                <a:solidFill>
                  <a:srgbClr val="800000"/>
                </a:solidFill>
                <a:latin typeface="Arial"/>
                <a:ea typeface="Arial"/>
                <a:cs typeface="Arial"/>
                <a:sym typeface="Arial"/>
              </a:rPr>
              <a:t> of n defining superclasses </a:t>
            </a:r>
            <a:br>
              <a:rPr b="0" i="0" lang="en-US" sz="2600" u="none">
                <a:solidFill>
                  <a:srgbClr val="800000"/>
                </a:solidFill>
                <a:latin typeface="Arial"/>
                <a:ea typeface="Arial"/>
                <a:cs typeface="Arial"/>
                <a:sym typeface="Arial"/>
              </a:rPr>
            </a:br>
            <a:r>
              <a:rPr b="0" i="0" lang="en-US" sz="2600" u="none">
                <a:solidFill>
                  <a:srgbClr val="800000"/>
                </a:solidFill>
                <a:latin typeface="Arial"/>
                <a:ea typeface="Arial"/>
                <a:cs typeface="Arial"/>
                <a:sym typeface="Arial"/>
              </a:rPr>
              <a:t>D1, D2,…Dn, n&gt;1:</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 ⊆ (D1 ∪ D2 ∪ … ∪ Dn)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Can have a predicate pi on the attributes of Di to specify entities of Di that are members of T.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If a predicate is specified on every Di: T = (D1[p1] ∪ D2[p2] ∪…∪ Dn[pn])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3"/>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94" name="Google Shape;594;p83"/>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Alternative diagrammatic notations</a:t>
            </a:r>
            <a:endParaRPr/>
          </a:p>
        </p:txBody>
      </p:sp>
      <p:sp>
        <p:nvSpPr>
          <p:cNvPr id="595" name="Google Shape;595;p83"/>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ER/EER diagrams are a specific notation for displaying the concepts of the model diagrammatically</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DB design tools use many alternative notations for the same or similar concepts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One popular alternative notation uses </a:t>
            </a:r>
            <a:r>
              <a:rPr b="0" i="1" lang="en-US" sz="2800" u="none">
                <a:solidFill>
                  <a:schemeClr val="dk2"/>
                </a:solidFill>
                <a:latin typeface="Arial"/>
                <a:ea typeface="Arial"/>
                <a:cs typeface="Arial"/>
                <a:sym typeface="Arial"/>
              </a:rPr>
              <a:t>UML class diagrams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see next slides for UML class diagrams and other alternative notations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4"/>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02" name="Google Shape;602;p84"/>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UML Example for Displaying Specialization / Generalization</a:t>
            </a:r>
            <a:endParaRPr/>
          </a:p>
        </p:txBody>
      </p:sp>
      <p:pic>
        <p:nvPicPr>
          <p:cNvPr descr="fig04_10" id="603" name="Google Shape;603;p84"/>
          <p:cNvPicPr preferRelativeResize="0"/>
          <p:nvPr/>
        </p:nvPicPr>
        <p:blipFill rotWithShape="1">
          <a:blip r:embed="rId3">
            <a:alphaModFix/>
          </a:blip>
          <a:srcRect b="0" l="0" r="0" t="0"/>
          <a:stretch/>
        </p:blipFill>
        <p:spPr>
          <a:xfrm>
            <a:off x="2950634" y="1590676"/>
            <a:ext cx="6193367" cy="49625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85"/>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10" name="Google Shape;610;p85"/>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Alternative Diagrammatic Notations</a:t>
            </a:r>
            <a:endParaRPr/>
          </a:p>
        </p:txBody>
      </p:sp>
      <p:pic>
        <p:nvPicPr>
          <p:cNvPr descr="figA_01" id="611" name="Google Shape;611;p85"/>
          <p:cNvPicPr preferRelativeResize="0"/>
          <p:nvPr/>
        </p:nvPicPr>
        <p:blipFill rotWithShape="1">
          <a:blip r:embed="rId3">
            <a:alphaModFix/>
          </a:blip>
          <a:srcRect b="0" l="0" r="0" t="0"/>
          <a:stretch/>
        </p:blipFill>
        <p:spPr>
          <a:xfrm>
            <a:off x="0" y="-1539875"/>
            <a:ext cx="12192000" cy="814863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86"/>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18" name="Google Shape;618;p86"/>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General Conceptual Modeling Concepts</a:t>
            </a:r>
            <a:endParaRPr/>
          </a:p>
        </p:txBody>
      </p:sp>
      <p:sp>
        <p:nvSpPr>
          <p:cNvPr id="619" name="Google Shape;619;p86"/>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GENERAL DATA ABSTRACTIONS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CLASSIFICATION and INSTANTIATION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AGGREGATION and ASSOCIATION (relationships)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GENERALIZATION and SPECIALIZATION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IDENTIFICATION</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CONSTRAINTS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CARDINALITY (Min and Max)</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COVERAGE (Total vs. Partial, and Exclusive (disjoint) vs. Overlapping)</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87"/>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25" name="Google Shape;625;p87"/>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Ontologies</a:t>
            </a:r>
            <a:endParaRPr/>
          </a:p>
        </p:txBody>
      </p:sp>
      <p:sp>
        <p:nvSpPr>
          <p:cNvPr id="626" name="Google Shape;626;p87"/>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Use conceptual modeling and other tools to develop “a specification of a conceptualization”</a:t>
            </a:r>
            <a:endParaRPr/>
          </a:p>
          <a:p>
            <a:pPr indent="-285750" lvl="1" marL="742950" rtl="0" algn="l">
              <a:lnSpc>
                <a:spcPct val="90000"/>
              </a:lnSpc>
              <a:spcBef>
                <a:spcPts val="520"/>
              </a:spcBef>
              <a:spcAft>
                <a:spcPts val="0"/>
              </a:spcAft>
              <a:buClr>
                <a:schemeClr val="dk2"/>
              </a:buClr>
              <a:buSzPts val="1430"/>
              <a:buFont typeface="Noto Sans Symbols"/>
              <a:buChar char="■"/>
            </a:pPr>
            <a:r>
              <a:rPr b="1" i="0" lang="en-US" sz="2600" u="none">
                <a:solidFill>
                  <a:srgbClr val="800000"/>
                </a:solidFill>
                <a:latin typeface="Arial"/>
                <a:ea typeface="Arial"/>
                <a:cs typeface="Arial"/>
                <a:sym typeface="Arial"/>
              </a:rPr>
              <a:t>Specification </a:t>
            </a:r>
            <a:r>
              <a:rPr b="0" i="0" lang="en-US" sz="2600" u="none">
                <a:solidFill>
                  <a:srgbClr val="800000"/>
                </a:solidFill>
                <a:latin typeface="Arial"/>
                <a:ea typeface="Arial"/>
                <a:cs typeface="Arial"/>
                <a:sym typeface="Arial"/>
              </a:rPr>
              <a:t>refers to the language and vocabulary (data model concepts) used</a:t>
            </a:r>
            <a:endParaRPr/>
          </a:p>
          <a:p>
            <a:pPr indent="-285750" lvl="1" marL="742950" rtl="0" algn="l">
              <a:lnSpc>
                <a:spcPct val="90000"/>
              </a:lnSpc>
              <a:spcBef>
                <a:spcPts val="520"/>
              </a:spcBef>
              <a:spcAft>
                <a:spcPts val="0"/>
              </a:spcAft>
              <a:buClr>
                <a:schemeClr val="dk2"/>
              </a:buClr>
              <a:buSzPts val="1430"/>
              <a:buFont typeface="Noto Sans Symbols"/>
              <a:buChar char="■"/>
            </a:pPr>
            <a:r>
              <a:rPr b="1" i="0" lang="en-US" sz="2600" u="none">
                <a:solidFill>
                  <a:srgbClr val="800000"/>
                </a:solidFill>
                <a:latin typeface="Arial"/>
                <a:ea typeface="Arial"/>
                <a:cs typeface="Arial"/>
                <a:sym typeface="Arial"/>
              </a:rPr>
              <a:t>Conceptualization</a:t>
            </a:r>
            <a:r>
              <a:rPr b="0" i="0" lang="en-US" sz="2600" u="none">
                <a:solidFill>
                  <a:srgbClr val="800000"/>
                </a:solidFill>
                <a:latin typeface="Arial"/>
                <a:ea typeface="Arial"/>
                <a:cs typeface="Arial"/>
                <a:sym typeface="Arial"/>
              </a:rPr>
              <a:t> refers to the description (schema) of the concepts of a particular field of knowledge and the relationships among these concepts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Many medical, scientific, and engineering ontologies are being developed as a means of standardizing concepts and terminology</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8"/>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32" name="Google Shape;632;p88"/>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Summary</a:t>
            </a:r>
            <a:endParaRPr/>
          </a:p>
        </p:txBody>
      </p:sp>
      <p:sp>
        <p:nvSpPr>
          <p:cNvPr id="633" name="Google Shape;633;p88"/>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Introduced the EER model concepts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Class/subclass relationships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Specialization and 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Inheritance</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These augment the basic ER model concepts introduced in Chapter 3</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EER diagrams and alternative notations were presented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