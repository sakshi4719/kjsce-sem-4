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y="6858000" cx="9144000"/>
  <p:notesSz cx="6858000" cy="9144000"/>
  <p:embeddedFontLst>
    <p:embeddedFont>
      <p:font typeface="Arial Narrow"/>
      <p:regular r:id="rId64"/>
      <p:bold r:id="rId65"/>
      <p:italic r:id="rId66"/>
      <p:boldItalic r:id="rId67"/>
    </p:embeddedFont>
    <p:embeddedFont>
      <p:font typeface="Tahoma"/>
      <p:regular r:id="rId68"/>
      <p:bold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064359-F8B9-4145-A019-016984FE23F4}">
  <a:tblStyle styleId="{43064359-F8B9-4145-A019-016984FE23F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font" Target="fonts/ArialNarrow-regular.fntdata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font" Target="fonts/ArialNarrow-italic.fntdata"/><Relationship Id="rId21" Type="http://schemas.openxmlformats.org/officeDocument/2006/relationships/slide" Target="slides/slide14.xml"/><Relationship Id="rId65" Type="http://schemas.openxmlformats.org/officeDocument/2006/relationships/font" Target="fonts/ArialNarrow-bold.fntdata"/><Relationship Id="rId24" Type="http://schemas.openxmlformats.org/officeDocument/2006/relationships/slide" Target="slides/slide17.xml"/><Relationship Id="rId68" Type="http://schemas.openxmlformats.org/officeDocument/2006/relationships/font" Target="fonts/Tahoma-regular.fntdata"/><Relationship Id="rId23" Type="http://schemas.openxmlformats.org/officeDocument/2006/relationships/slide" Target="slides/slide16.xml"/><Relationship Id="rId67" Type="http://schemas.openxmlformats.org/officeDocument/2006/relationships/font" Target="fonts/ArialNarrow-boldItalic.fntdata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Tahoma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1" name="Google Shape;22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9" name="Google Shape;22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7" name="Google Shape;23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7" name="Google Shape;26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3" name="Google Shape;28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9" name="Google Shape;29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7" name="Google Shape;30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5" name="Google Shape;31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3" name="Google Shape;32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1" name="Google Shape;33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9" name="Google Shape;33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7" name="Google Shape;34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5" name="Google Shape;35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3" name="Google Shape;36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1" name="Google Shape;371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9" name="Google Shape;37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8" name="Google Shape;38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31" name="Google Shape;43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74" name="Google Shape;474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5" name="Google Shape;475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82" name="Google Shape;482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90" name="Google Shape;490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98" name="Google Shape;498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9" name="Google Shape;499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13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13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1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1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 and Shamkant B. Navathei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921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masri_cov" id="83" name="Google Shape;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  <p:sp>
        <p:nvSpPr>
          <p:cNvPr descr="Pink tissue paper" id="90" name="Google Shape;90;p15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6600"/>
              <a:buFont typeface="Arial"/>
              <a:buNone/>
            </a:pPr>
            <a:r>
              <a:rPr b="0" i="0" lang="en-US" sz="66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Chapter 3</a:t>
            </a:r>
            <a:endParaRPr/>
          </a:p>
        </p:txBody>
      </p:sp>
      <p:sp>
        <p:nvSpPr>
          <p:cNvPr descr="Pink tissue paper" id="91" name="Google Shape;91;p15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Modeling Using the Entity-Relationship (ER) Model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Outline</a:t>
            </a:r>
            <a:endParaRPr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Overview of Database Design Process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Database Application (COMPANY)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Model Concepts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Entities and Attributes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Types, Value Sets, and Key Attributes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 and Relationship Types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Weak Entity Types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Roles and Attributes in Relationship Types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Diagrams - Notation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Diagram for COMPANY Schema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Alternative Notations – UML class diagrams, others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Overview of Database Design Process</a:t>
            </a:r>
            <a:endParaRPr/>
          </a:p>
        </p:txBody>
      </p:sp>
      <p:pic>
        <p:nvPicPr>
          <p:cNvPr descr="fig03_01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524000"/>
            <a:ext cx="5272087" cy="506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Overview of Database Design Process</a:t>
            </a:r>
            <a:endParaRPr/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main activities: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design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Applications design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Focus in this chapter on database design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To design the conceptual schema for a database application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Applications design focuses on the programs and interfaces that access the database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Generally considered part of software engineering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0" name="Google Shape;120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COMPANY Database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need to create a database schema design based on the following (simplified)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the COMPANY Database: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company is organized into DEPARTMENTs. Each department has a name, number and an employee who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manages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department. We keep track of the start date of the department manager. A department may have several locations.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department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 number of PROJECTs. Each project has a unique name, unique number and is located at a single location.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COMPANY Database (Contd.)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store each EMPLOYEE’s social security number, address, salary, sex, and birthdate.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employee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works for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one department but may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work on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several projects.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keep track of the number of hours per week that an employee currently works on each project.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also keep track of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direct supervisor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each employee.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employee may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 number of DEPENDENTs.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each dependent, we keep track of their name, sex, birthdate, and relationship to the employee.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6" name="Google Shape;136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ER Model Concepts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Entities and Attributes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Entities(noun) are specific objects or things in the mini-world that are represented in the database.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 the EMPLOYEE John Smith, the Research DEPARTMENT, the ProductX PROJECT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are properties used to describe an entity.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 an EMPLOYEE entity may have the attributes Name, SSN, Address, Sex, BirthDate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specific entity will have a value for each of its attributes.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 a specific employee entity may have Name='John Smith', SSN='123456789', Address ='731, Fondren, Houston, TX', Sex='M', BirthDate='09-JAN-55‘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attribute has a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value set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(or data type) associated with it – e.g. integer, string, subrange, enumerated type, …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4" name="Google Shape;144;p2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Types of Attributes (1)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entity has a single atomic value for the attribute. For example, SSN or Sex.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Composite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attribute may be composed of several components. For example: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rgbClr val="990033"/>
              </a:buClr>
              <a:buSzPts val="950"/>
              <a:buFont typeface="Noto Sans Symbols"/>
              <a:buChar char="■"/>
            </a:pPr>
            <a:r>
              <a:rPr b="0" i="0" lang="en-US" sz="1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Address(Apt#, House#, Street, City, State, ZipCode, Country), or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rgbClr val="990033"/>
              </a:buClr>
              <a:buSzPts val="950"/>
              <a:buFont typeface="Noto Sans Symbols"/>
              <a:buChar char="■"/>
            </a:pPr>
            <a:r>
              <a:rPr b="0" i="0" lang="en-US" sz="1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Name(FirstName, MiddleName, LastName).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Composition may form a hierarchy where some components are themselves composite.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Multi-valued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entity may have multiple values for that attribute. For example, Color of a CAR or PreviousDegrees of a STUDENT.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Denoted as {Color} or {PreviousDegrees}.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2" name="Google Shape;152;p2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Types of Attributes (2)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composite and multi-valued attributes may be nested arbitrarily to any number of levels, although this is rare.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PreviousDegrees of a STUDENT is a composite multi-valued attribute denoted by {PreviousDegrees (College, Year, Degree, Field)}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Multiple PreviousDegrees values can exist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has four subcomponent attributes: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College, Year, Degree, Field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9" name="Google Shape;159;p2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composite attribute</a:t>
            </a:r>
            <a:endParaRPr/>
          </a:p>
        </p:txBody>
      </p:sp>
      <p:pic>
        <p:nvPicPr>
          <p:cNvPr descr="fig03_04" id="160" name="Google Shape;1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337" y="2362200"/>
            <a:ext cx="8061325" cy="32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Types and Key Attributes (1)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Entities with the same basic attributes are grouped or typed into an entity type.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■"/>
            </a:pPr>
            <a:r>
              <a:rPr b="0" i="0" lang="en-US" sz="3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the entity type EMPLOYEE and PROJECT.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990033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attribute of an entity type for which each entity must have a unique value is called a key attribute of the entity type.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■"/>
            </a:pPr>
            <a:r>
              <a:rPr b="0" i="0" lang="en-US" sz="3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SSN of EMPLOYEE.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5" name="Google Shape;175;p2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Types and Key Attributes (2)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key attribute may be composite.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VehicleTagNumber is a key of the CAR entity type with components (Number, State).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entity type may have more than one key.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CAR entity type may have two keys: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VehicleIdentificationNumber (popularly called VIN)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VehicleTagNumber (Number, State), aka license plate number.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key is </a:t>
            </a:r>
            <a:r>
              <a:rPr b="0" i="0" lang="en-US" sz="28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underlined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Displaying an Entity type</a:t>
            </a:r>
            <a:endParaRPr/>
          </a:p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ER diagrams, an entity type is displayed in a rectangular box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Attributes are displayed in ovals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attribute is connected to its entity type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Components of a composite attribute are connected to the oval representing the composite attribute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key attribute is underlined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Multivalued attributes displayed in double ovals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See CAR example on next slide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9" name="Google Shape;189;p2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Type CAR with two keys and a corresponding Entity Set</a:t>
            </a:r>
            <a:endParaRPr/>
          </a:p>
        </p:txBody>
      </p:sp>
      <p:pic>
        <p:nvPicPr>
          <p:cNvPr descr="fig03_07" id="190" name="Google Shape;1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00200"/>
            <a:ext cx="7010400" cy="49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6" name="Google Shape;196;p2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Set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entity type will have a collection of entities stored in the database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Called the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set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Previous slide shows three CAR entity instances in the entity set for CAR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Same name (CAR) used to refer to both the entity type and the entity set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Entity set is the current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the entities of that type that are stored in the database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3" name="Google Shape;203;p3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Initial Design of Entity Types for the </a:t>
            </a: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COMPANY </a:t>
            </a: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Schema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Based on the requirements, we can identify four initial entity types in the COMPANY database: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DEPENDENT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Their initial design is shown on the following slide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initial attributes shown are derived from the requirements description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0" name="Google Shape;210;p3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Initial Design of Entity Types: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EMPLOYEE, DEPARTMENT, PROJECT, DEPENDENT</a:t>
            </a:r>
            <a:endParaRPr/>
          </a:p>
        </p:txBody>
      </p:sp>
      <p:pic>
        <p:nvPicPr>
          <p:cNvPr descr="fig03_08" id="211" name="Google Shape;2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600200"/>
            <a:ext cx="4859337" cy="4799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7" name="Google Shape;217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Refining the initial design by introducing </a:t>
            </a:r>
            <a:r>
              <a:rPr b="1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initial design is typically not complete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aspects in the requirements will be represented as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model has three main concepts: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Entities (and their entity types and entity sets)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(simple, composite, multivalued)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 (and their relationship types and relationship sets)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introduce relationship concepts next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5" name="Google Shape;225;p3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 and Relationship Types (1)</a:t>
            </a:r>
            <a:endParaRPr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relates two or more distinct entities with a specific meaning.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EMPLOYEE John Smith </a:t>
            </a:r>
            <a:r>
              <a:rPr b="0" i="1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works on</a:t>
            </a: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ProductX PROJECT, or EMPLOYEE Franklin Wong </a:t>
            </a:r>
            <a:r>
              <a:rPr b="0" i="1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manages</a:t>
            </a: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Research DEPARTMENT.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Relationships of the same type are grouped or typed into a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the WORKS_ON relationship type in which EMPLOYEEs and PROJECTs participate, or the MANAGES relationship type in which EMPLOYEEs and DEPARTMENTs participate.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degree of a relationship type is the number of participating entity types.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Both MANAGES and WORKS_ON are </a:t>
            </a:r>
            <a:r>
              <a:rPr b="0" i="1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relationships.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3" name="Google Shape;233;p34"/>
          <p:cNvSpPr txBox="1"/>
          <p:nvPr>
            <p:ph type="title"/>
          </p:nvPr>
        </p:nvSpPr>
        <p:spPr>
          <a:xfrm>
            <a:off x="152400" y="290512"/>
            <a:ext cx="8763000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 instances of the WORKS_FOR N:1 relationship between EMPLOYEE and DEPARTMENT</a:t>
            </a:r>
            <a:endParaRPr/>
          </a:p>
        </p:txBody>
      </p:sp>
      <p:pic>
        <p:nvPicPr>
          <p:cNvPr descr="fig03_09" id="234" name="Google Shape;23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08137"/>
            <a:ext cx="79248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1" name="Google Shape;241;p35"/>
          <p:cNvSpPr txBox="1"/>
          <p:nvPr>
            <p:ph type="title"/>
          </p:nvPr>
        </p:nvSpPr>
        <p:spPr>
          <a:xfrm>
            <a:off x="296862" y="85725"/>
            <a:ext cx="8496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 instances of the M:N  WORKS_ON relationship between EMPLOYEE and PROJECT</a:t>
            </a:r>
            <a:endParaRPr/>
          </a:p>
        </p:txBody>
      </p:sp>
      <p:sp>
        <p:nvSpPr>
          <p:cNvPr id="242" name="Google Shape;242;p35"/>
          <p:cNvSpPr txBox="1"/>
          <p:nvPr/>
        </p:nvSpPr>
        <p:spPr>
          <a:xfrm>
            <a:off x="685800" y="1822450"/>
            <a:ext cx="8099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03_13" id="243" name="Google Shape;24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1112" y="1644650"/>
            <a:ext cx="6948487" cy="4783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9" name="Google Shape;249;p3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 type vs. relationship set (1)</a:t>
            </a:r>
            <a:endParaRPr/>
          </a:p>
        </p:txBody>
      </p:sp>
      <p:sp>
        <p:nvSpPr>
          <p:cNvPr id="250" name="Google Shape;250;p3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Is the schema description of a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Identifies the relationship name and the participating entity types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Also identifies certain relationship constraints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Set: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current set of relationship instances represented in the database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current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a relationship type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6" name="Google Shape;256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 type vs. relationship set (2)</a:t>
            </a:r>
            <a:endParaRPr/>
          </a:p>
        </p:txBody>
      </p:sp>
      <p:sp>
        <p:nvSpPr>
          <p:cNvPr id="257" name="Google Shape;257;p3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Previous figures displayed the relationship sets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instance in the set relates individual participating entities – one from each participating entity type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ER diagrams, we represent the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 follows: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Diamond-shaped box is used to display a relationship type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Connected to the participating entity types via straight lines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3" name="Google Shape;263;p3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Refining the COMPANY database schema by introducing relationships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 examining the requirements, six relationship types are identified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are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relationships( degree 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Listed below with their participating entity types: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WORKS_FOR (between EMPLOYEE, DEPARTMENT)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MANAGES (also between EMPLOYEE, DEPARTMENT)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CONTROLS (between DEPARTMENT, PROJECT)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WORKS_ON (between EMPLOYEE, PROJECT)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SUPERVISION (between EMPLOYEE (as subordinate), EMPLOYEE (as supervisor))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DEPENDENTS_OF (between EMPLOYEE, DEPENDENT)</a:t>
            </a:r>
            <a:endParaRPr/>
          </a:p>
          <a:p>
            <a:pPr indent="-259080" lvl="0" marL="342900" rtl="0" algn="l">
              <a:spcBef>
                <a:spcPts val="44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1" name="Google Shape;271;p39"/>
          <p:cNvSpPr txBox="1"/>
          <p:nvPr>
            <p:ph type="title"/>
          </p:nvPr>
        </p:nvSpPr>
        <p:spPr>
          <a:xfrm>
            <a:off x="622300" y="215900"/>
            <a:ext cx="7940675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ER DIAGRAM – Relationship Types are:</a:t>
            </a:r>
            <a:b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WORKS_FOR, MANAGES, WORKS_ON, CONTROLS, SUPERVISION, DEPENDENTS_OF</a:t>
            </a:r>
            <a:endParaRPr/>
          </a:p>
        </p:txBody>
      </p:sp>
      <p:pic>
        <p:nvPicPr>
          <p:cNvPr descr="fig03_02" id="272" name="Google Shape;27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635125"/>
            <a:ext cx="5181600" cy="49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9" name="Google Shape;279;p4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Discussion on Relationship Types</a:t>
            </a:r>
            <a:endParaRPr/>
          </a:p>
        </p:txBody>
      </p:sp>
      <p:sp>
        <p:nvSpPr>
          <p:cNvPr id="280" name="Google Shape;280;p4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the refined design, some attributes from the initial entity types are refined into relationships: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Manager of DEPARTMENT -&gt; MANAGES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Works_on of EMPLOYEE -&gt; WORKS_ON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Department of EMPLOYEE -&gt; WORKS_FOR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etc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more than one relationship type can exist between the same participating entity types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MANAGES and WORKS_FOR are distinct relationship types between EMPLOYEE and DEPARTMENT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Different meanings and different relationship instances.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7" name="Google Shape;287;p4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Recursive Relationship Type</a:t>
            </a:r>
            <a:endParaRPr/>
          </a:p>
        </p:txBody>
      </p:sp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relationship type whose with the same participating entity type in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distinct roles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the SUPERVISION relationship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EMPLOYEE participates twice in two distinct roles: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supervisor (or boss) role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supervisee (or subordinate) role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relationship instance relates two distinct EMPLOYEE entities: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One employee in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role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One employee in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supervisee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role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5" name="Google Shape;295;p4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Weak Entity Types</a:t>
            </a:r>
            <a:endParaRPr/>
          </a:p>
        </p:txBody>
      </p:sp>
      <p:sp>
        <p:nvSpPr>
          <p:cNvPr id="296" name="Google Shape;296;p4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entity that does not have a key attribute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weak entity must participate in an identifying relationship type with an owner or identifying entity type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Entities are identified by the combination of: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partial key of the weak entity type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particular entity they are related to in the identifying entity type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DEPENDENT entity is identified by the dependent’s first name,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specific EMPLOYEE with whom the dependent is related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Name of DEPENDENT is the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partial key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DEPENDENT is a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weak entity type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 is its identifying entity type via the identifying relationship type DEPENDENT_OF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3" name="Google Shape;303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Relationships</a:t>
            </a:r>
            <a:endParaRPr/>
          </a:p>
        </p:txBody>
      </p:sp>
      <p:sp>
        <p:nvSpPr>
          <p:cNvPr id="304" name="Google Shape;304;p4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Constraints on Relationship Types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(Also known as ratio constraints)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Cardinality Ratio (specifies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maximum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participation)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One-to-one (1:1)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One-to-many (1:N) or Many-to-one (N:1)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Many-to-many (M:N)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Existence Dependency Constraint (specifies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minimum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participation) (also called participation constraint)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zero (optional participation, not existence-dependent)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 or more (mandatory participation, existence-dependent)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1" name="Google Shape;311;p44"/>
          <p:cNvSpPr txBox="1"/>
          <p:nvPr>
            <p:ph type="title"/>
          </p:nvPr>
        </p:nvSpPr>
        <p:spPr>
          <a:xfrm>
            <a:off x="228600" y="325437"/>
            <a:ext cx="8418512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Many-to-one (N:1) Relationship</a:t>
            </a:r>
            <a:endParaRPr/>
          </a:p>
        </p:txBody>
      </p:sp>
      <p:pic>
        <p:nvPicPr>
          <p:cNvPr descr="fig03_09" id="312" name="Google Shape;31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692275"/>
            <a:ext cx="7772400" cy="463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9" name="Google Shape;319;p45"/>
          <p:cNvSpPr txBox="1"/>
          <p:nvPr>
            <p:ph type="title"/>
          </p:nvPr>
        </p:nvSpPr>
        <p:spPr>
          <a:xfrm>
            <a:off x="296862" y="85725"/>
            <a:ext cx="8496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Many-to-many (M:N) Relationship</a:t>
            </a:r>
            <a:endParaRPr/>
          </a:p>
        </p:txBody>
      </p:sp>
      <p:pic>
        <p:nvPicPr>
          <p:cNvPr descr="fig03_13" id="320" name="Google Shape;32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676400"/>
            <a:ext cx="6781800" cy="4668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7" name="Google Shape;327;p4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Displaying a recursive relationship</a:t>
            </a:r>
            <a:endParaRPr/>
          </a:p>
        </p:txBody>
      </p:sp>
      <p:sp>
        <p:nvSpPr>
          <p:cNvPr id="328" name="Google Shape;328;p4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a recursive relationship type.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Both participations are same entity type in different roles.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SUPERVISION relationships between EMPLOYEE (in role of supervisor or boss) and (another) EMPLOYEE (in role of subordinate or worker).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following figure, first role participation labeled with 1 and second role participation labeled with 2.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ER diagram, need to display role names to distinguish participations.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5" name="Google Shape;335;p47"/>
          <p:cNvSpPr txBox="1"/>
          <p:nvPr>
            <p:ph type="title"/>
          </p:nvPr>
        </p:nvSpPr>
        <p:spPr>
          <a:xfrm>
            <a:off x="474662" y="-76200"/>
            <a:ext cx="8364537" cy="1052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Recursive Relationship Supervision`</a:t>
            </a:r>
            <a:endParaRPr/>
          </a:p>
        </p:txBody>
      </p:sp>
      <p:pic>
        <p:nvPicPr>
          <p:cNvPr descr="fig03_11" id="336" name="Google Shape;33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2" y="1752600"/>
            <a:ext cx="7754937" cy="4576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3" name="Google Shape;343;p48"/>
          <p:cNvSpPr txBox="1"/>
          <p:nvPr>
            <p:ph type="title"/>
          </p:nvPr>
        </p:nvSpPr>
        <p:spPr>
          <a:xfrm>
            <a:off x="622300" y="215900"/>
            <a:ext cx="7940675" cy="768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Recursive Relationship Type is: </a:t>
            </a:r>
            <a:r>
              <a:rPr b="1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SUPERVISION</a:t>
            </a:r>
            <a:br>
              <a:rPr b="1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(participation role names are shown)</a:t>
            </a:r>
            <a:endParaRPr/>
          </a:p>
        </p:txBody>
      </p:sp>
      <p:pic>
        <p:nvPicPr>
          <p:cNvPr descr="fig03_02" id="344" name="Google Shape;34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524000"/>
            <a:ext cx="5156200" cy="4970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1" name="Google Shape;351;p4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of Relationship types</a:t>
            </a:r>
            <a:endParaRPr/>
          </a:p>
        </p:txBody>
      </p:sp>
      <p:sp>
        <p:nvSpPr>
          <p:cNvPr id="352" name="Google Shape;352;p4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relationship type can have attributes: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HoursPerWeek of WORKS_ON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Its value for each relationship instance describes the number of hours per week that an EMPLOYEE works on a PROJECT.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value of HoursPerWeek depends on a particular (employee, project) combination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Most relationship attributes are used with M:N relationships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1:N relationships, they can be transferred to the entity type on the N-side of the relationship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9" name="Google Shape;359;p50"/>
          <p:cNvSpPr txBox="1"/>
          <p:nvPr>
            <p:ph type="title"/>
          </p:nvPr>
        </p:nvSpPr>
        <p:spPr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Attribute of a Relationship Type: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Hours of WORKS_ON</a:t>
            </a:r>
            <a:endParaRPr/>
          </a:p>
        </p:txBody>
      </p:sp>
      <p:pic>
        <p:nvPicPr>
          <p:cNvPr descr="fig03_02" id="360" name="Google Shape;36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579562"/>
            <a:ext cx="5080000" cy="4897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7" name="Google Shape;367;p5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Notation for Constraints on Relationships</a:t>
            </a:r>
            <a:endParaRPr/>
          </a:p>
        </p:txBody>
      </p:sp>
      <p:sp>
        <p:nvSpPr>
          <p:cNvPr id="368" name="Google Shape;368;p5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Cardinality ratio (of a binary relationship): 1:1, 1:N, N:1, or M:N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Shown by placing appropriate numbers on the relationship edges.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Participation constraint (on each participating entity type): total (called existence dependency) or partial.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Total shown by double line, partial by single line.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These are easy to specify for Binary Relationship Types.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5" name="Google Shape;375;p5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 (min, max) notation for relationship structural constraints:</a:t>
            </a:r>
            <a:endParaRPr/>
          </a:p>
        </p:txBody>
      </p:sp>
      <p:sp>
        <p:nvSpPr>
          <p:cNvPr id="376" name="Google Shape;376;p5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Specified on each participation of an entity type E in a relationship type R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Specifies that each entity e in E participates in at least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at most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relationship instances in R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Default(no constraint): min=0, max=n (signifying no limit)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Must have min≤max, min≥0, max ≥1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Derived from the knowledge of mini-world constraints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department has exactly one manager and an employee can manage at most one department.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990033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Specify (0,1) for participation of EMPLOYEE in MANAGES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990033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Specify (1,1) for participation of DEPARTMENT in MANAGES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employee can work for exactly one department but a department can have any number of employees.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990033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Specify (1,1) for participation of EMPLOYEE in WORKS_FOR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990033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Specify (0,n) for participation of DEPARTMENT in WORKS_FOR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3" name="Google Shape;383;p5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(min,max) notation for relationship constraints</a:t>
            </a:r>
            <a:endParaRPr/>
          </a:p>
        </p:txBody>
      </p:sp>
      <p:pic>
        <p:nvPicPr>
          <p:cNvPr descr="Slide3-40" id="384" name="Google Shape;38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12" y="2209800"/>
            <a:ext cx="7773987" cy="2868612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385" name="Google Shape;385;p53"/>
          <p:cNvSpPr txBox="1"/>
          <p:nvPr/>
        </p:nvSpPr>
        <p:spPr>
          <a:xfrm>
            <a:off x="1295400" y="5410200"/>
            <a:ext cx="6477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the min,max numbers next to the entity type and looking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away from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entity type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2" name="Google Shape;392;p54"/>
          <p:cNvSpPr txBox="1"/>
          <p:nvPr>
            <p:ph type="title"/>
          </p:nvPr>
        </p:nvSpPr>
        <p:spPr>
          <a:xfrm>
            <a:off x="250825" y="303212"/>
            <a:ext cx="8534400" cy="842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COMPANY ER Schema Diagram using (min, max) notation</a:t>
            </a:r>
            <a:endParaRPr/>
          </a:p>
        </p:txBody>
      </p:sp>
      <p:pic>
        <p:nvPicPr>
          <p:cNvPr descr="fig03_15" id="393" name="Google Shape;39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9200"/>
            <a:ext cx="8785225" cy="486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9" name="Google Shape;399;p5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 diagrammatic notation</a:t>
            </a:r>
            <a:endParaRPr/>
          </a:p>
        </p:txBody>
      </p:sp>
      <p:sp>
        <p:nvSpPr>
          <p:cNvPr id="400" name="Google Shape;400;p5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diagrams is one popular example for displaying database schemas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Many other notations exist in the literature and in various database design and modeling tools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Appendix A illustrates some of the alternative notations that have been used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UML class diagrams is representative of another way of displaying ER concepts that is used in several commercial design tools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6" name="Google Shape;406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 of notation for ER diagrams</a:t>
            </a:r>
            <a:endParaRPr/>
          </a:p>
        </p:txBody>
      </p:sp>
      <p:pic>
        <p:nvPicPr>
          <p:cNvPr descr="fig03_14" id="407" name="Google Shape;4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162" y="1600200"/>
            <a:ext cx="3754437" cy="499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3" name="Google Shape;413;p5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UML class diagrams</a:t>
            </a:r>
            <a:endParaRPr/>
          </a:p>
        </p:txBody>
      </p:sp>
      <p:sp>
        <p:nvSpPr>
          <p:cNvPr id="414" name="Google Shape;414;p5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Represent classes (similar to entity types) as large  boxes with three sections: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Top section includes entity type (class) name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Second section includes attributes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Third section includes class operations (operations are not in basic ER model)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Relationships (called associations) represented as lines connecting the classes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UML terminology also differs from ER terminology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Used in database design and object-oriented software design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UML has many other types of diagrams for software design (see Chapter 12)</a:t>
            </a:r>
            <a:endParaRPr/>
          </a:p>
          <a:p>
            <a:pPr indent="-251459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0" name="Google Shape;420;p5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UML class diagram for COMPANY database schema</a:t>
            </a:r>
            <a:endParaRPr/>
          </a:p>
        </p:txBody>
      </p:sp>
      <p:pic>
        <p:nvPicPr>
          <p:cNvPr descr="fig03_16" id="421" name="Google Shape;42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987" y="1600200"/>
            <a:ext cx="6854825" cy="48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7" name="Google Shape;427;p5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alternative diagrammatic notations</a:t>
            </a:r>
            <a:endParaRPr/>
          </a:p>
        </p:txBody>
      </p:sp>
      <p:pic>
        <p:nvPicPr>
          <p:cNvPr descr="figA_01" id="428" name="Google Shape;42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524000"/>
            <a:ext cx="7772401" cy="5086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5" name="Google Shape;435;p6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 of Higher Degree</a:t>
            </a:r>
            <a:endParaRPr/>
          </a:p>
        </p:txBody>
      </p:sp>
      <p:sp>
        <p:nvSpPr>
          <p:cNvPr id="436" name="Google Shape;436;p6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types of degree 2 are called binary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types of degree 3 are called ternary and of degree n are called n-ary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an n-ary relationship is not equivalent to n binary relationships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Constraints are harder to specify for higher-degree relationships (n &gt; 2) than for binary relationships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2" name="Google Shape;442;p6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Discussion of n-ary relationships (n &gt; 2)</a:t>
            </a:r>
            <a:endParaRPr/>
          </a:p>
        </p:txBody>
      </p:sp>
      <p:sp>
        <p:nvSpPr>
          <p:cNvPr id="443" name="Google Shape;443;p6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3 binary relationships can represent different information than a single ternary relationship (see Figure 3.17a and b on next slide)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needed, the binary and n-ary relationships can all be included in the schema design (see Figure 3.17a and b, where all relationships convey different meanings)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some cases, a ternary relationship can be represented as a weak entity if the data model allows a weak entity type to have multiple identifying relationships (and hence multiple owner entity types) (see Figure 3.17c)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9" name="Google Shape;449;p6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ternary relationship</a:t>
            </a:r>
            <a:endParaRPr/>
          </a:p>
        </p:txBody>
      </p:sp>
      <p:pic>
        <p:nvPicPr>
          <p:cNvPr descr="fig03_17" id="450" name="Google Shape;45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1524000"/>
            <a:ext cx="4195762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6" name="Google Shape;456;p6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Discussion of n-ary relationships (n &gt; 2)</a:t>
            </a:r>
            <a:endParaRPr/>
          </a:p>
        </p:txBody>
      </p:sp>
      <p:sp>
        <p:nvSpPr>
          <p:cNvPr id="457" name="Google Shape;457;p6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 particular binary relationship can be derived from a higher-degree relationship at all times, then it is redundant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example, the TAUGHT_DURING binary relationship in Figure 3.18 (see next slide) can be derived from the ternary relationship OFFERS (based on the meaning of the relationships)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3" name="Google Shape;463;p6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Another example of a ternary relationship</a:t>
            </a:r>
            <a:endParaRPr/>
          </a:p>
        </p:txBody>
      </p:sp>
      <p:pic>
        <p:nvPicPr>
          <p:cNvPr descr="fig03_18" id="464" name="Google Shape;46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912" y="1905000"/>
            <a:ext cx="7989887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0" name="Google Shape;470;p6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Displaying constraints on higher-degree relationships</a:t>
            </a:r>
            <a:endParaRPr/>
          </a:p>
        </p:txBody>
      </p:sp>
      <p:sp>
        <p:nvSpPr>
          <p:cNvPr id="471" name="Google Shape;471;p6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(min, max) constraints can be displayed on the edges – however, they do not fully describe the constraints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Displaying a 1, M, or N indicates additional constraints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M or N indicates no constraint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1 indicates that an entity can participate in at most one relationship instance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that has a particular combination of the other participating entities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both (min, max) and 1, M, or N are needed to describe fully the constraints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8" name="Google Shape;478;p6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Modeling Tools</a:t>
            </a:r>
            <a:endParaRPr/>
          </a:p>
        </p:txBody>
      </p:sp>
      <p:sp>
        <p:nvSpPr>
          <p:cNvPr id="479" name="Google Shape;479;p6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number of popular tools that cover conceptual modeling and mapping into relational schema design.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Examples: ERWin, S- Designer (Enterprise Application Suite), ER- Studio,  etc.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POSITIVES: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Serves as documentation of application requirements, easy user interface - mostly graphics editor support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NEGATIVES: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Most tools lack a proper distinct notation for relationships with relationship attributes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Mostly represent a relational design in a diagrammatic form rather than a conceptual ER-based design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(See Chapter 12 for details)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6" name="Google Shape;486;p67"/>
          <p:cNvSpPr txBox="1"/>
          <p:nvPr/>
        </p:nvSpPr>
        <p:spPr>
          <a:xfrm>
            <a:off x="914400" y="396875"/>
            <a:ext cx="7288212" cy="822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Some of the Currently Available Automated Database Design Tools</a:t>
            </a:r>
            <a:endParaRPr/>
          </a:p>
        </p:txBody>
      </p:sp>
      <p:graphicFrame>
        <p:nvGraphicFramePr>
          <p:cNvPr id="487" name="Google Shape;487;p67"/>
          <p:cNvGraphicFramePr/>
          <p:nvPr/>
        </p:nvGraphicFramePr>
        <p:xfrm>
          <a:off x="228600" y="14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{43064359-F8B9-4145-A019-016984FE23F4}</a:tableStyleId>
              </a:tblPr>
              <a:tblGrid>
                <a:gridCol w="1446200"/>
                <a:gridCol w="2713025"/>
                <a:gridCol w="4505325"/>
              </a:tblGrid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COMPANY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FUNCTIONALITY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Embarcadero Technologies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ER Studio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Database Modeling in ER and IDEF1X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DB Artisan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Database administration, space and security management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Oracle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Developer 2000/Designer 2000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Database modeling, application development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Popkin Software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System Architect 2001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 modeling, object modeling, process modeling, structured analysis/design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Platinum (Computer Associates)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Enterprise Modeling Suite: Erwin, BPWin, Paradigm Plus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Data, process, and business component modeling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Persistence Inc.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Pwertier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Mapping from O-O to relational model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Rational (IBM)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Rational Rose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UML Modeling &amp; application generation in C++/JAVA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Resolution Ltd.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Xcase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Conceptual modeling up to code maintenance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Sybase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Enterprise Application Suite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 modeling, business logic modeling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Visio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Visio Enterprise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 modeling, design/reengineering Visual Basic/C++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4" name="Google Shape;494;p6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Extended Entity-Relationship (EER) Model (in next chapter)</a:t>
            </a:r>
            <a:endParaRPr/>
          </a:p>
        </p:txBody>
      </p:sp>
      <p:sp>
        <p:nvSpPr>
          <p:cNvPr id="495" name="Google Shape;495;p6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entity relationship model in its original form did not support the specialization and generalization abstractions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Next chapter illustrates how the ER model can be extended with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Type-subtype and set-subset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Specialization/Generalization Hierarchies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Notation to display them in EER diagrams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2" name="Google Shape;502;p6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Summary</a:t>
            </a:r>
            <a:endParaRPr/>
          </a:p>
        </p:txBody>
      </p:sp>
      <p:sp>
        <p:nvSpPr>
          <p:cNvPr id="503" name="Google Shape;503;p6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Model Concepts: Entities, attributes, relationships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Constraints in the ER model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Using ER in step-by-step conceptual schema design for the COMPANY database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Diagrams - Notation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Alternative Notations – UML class diagrams, others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