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6858000" cx="9144000"/>
  <p:notesSz cx="6858000" cy="9144000"/>
  <p:embeddedFontLst>
    <p:embeddedFont>
      <p:font typeface="Tahoma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85C890-7A7A-4745-A4EE-FBCB01CA819C}">
  <a:tblStyle styleId="{C185C890-7A7A-4745-A4EE-FBCB01CA81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Tahoma-regular.fntdata"/><Relationship Id="rId50" Type="http://schemas.openxmlformats.org/officeDocument/2006/relationships/slide" Target="slides/slide43.xml"/><Relationship Id="rId52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5" name="Google Shape;22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1" name="Google Shape;24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9" name="Google Shape;24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3" name="Google Shape;27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9" name="Google Shape;28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7" name="Google Shape;29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5" name="Google Shape;30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3" name="Google Shape;31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1" name="Google Shape;32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9" name="Google Shape;32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7" name="Google Shape;33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5" name="Google Shape;34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0" name="Google Shape;36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8" name="Google Shape;36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6" name="Google Shape;37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5" name="Google Shape;405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3" name="Google Shape;413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13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13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1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921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masri_cov" id="83" name="Google Shape;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  <p:sp>
        <p:nvSpPr>
          <p:cNvPr descr="Pink tissue paper" id="90" name="Google Shape;90;p15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6600"/>
              <a:buFont typeface="Arial"/>
              <a:buNone/>
            </a:pPr>
            <a:r>
              <a:rPr b="0" i="0" lang="en-US" sz="66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Chapter 5</a:t>
            </a:r>
            <a:endParaRPr/>
          </a:p>
        </p:txBody>
      </p:sp>
      <p:sp>
        <p:nvSpPr>
          <p:cNvPr descr="Pink tissue paper" id="91" name="Google Shape;91;p15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Relational Data Model and Relational Database Constraints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Outline</a:t>
            </a:r>
            <a:endParaRPr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Relational Model Concepts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Relational Model Constraints and Relational Database Schemas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 Operations and Dealing with Constraint Violations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Relational Model Concepts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relational Model of Data is based on the concept of 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strength of the relational approach to data management comes from the formal foundation provided by the theory of relations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review the essentials of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formal relational model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this chapter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practice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there is 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standard model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based on SQL – this is described in Chapters 8 and 9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There are several important differences between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formal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model and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practical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model, as we shall see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Relational Model Concepts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 is a mathematical concept based on the ideas of sets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model was first proposed by Dr. E.F. Codd of IBM Research in 1970 in the following paper: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"A Relational Model for Large Shared Data Banks," Communications of the ACM, June 1970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above paper caused a major revolution in the field of database management and earned Dr. Codd the coveted ACM Turing Award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1600200" y="11334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3" name="Google Shape;123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Informal Definitions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rgbClr val="990033"/>
              </a:buClr>
              <a:buSzPts val="1380"/>
              <a:buFont typeface="Noto Sans Symbols"/>
              <a:buChar char="■"/>
            </a:pP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Informally, a </a:t>
            </a:r>
            <a:r>
              <a:rPr b="1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looks like a </a:t>
            </a:r>
            <a:r>
              <a:rPr b="1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values.</a:t>
            </a:r>
            <a:endParaRPr/>
          </a:p>
          <a:p>
            <a:pPr indent="-25527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rgbClr val="990033"/>
              </a:buClr>
              <a:buSzPts val="1380"/>
              <a:buFont typeface="Noto Sans Symbols"/>
              <a:buNone/>
            </a:pPr>
            <a:r>
              <a:t/>
            </a:r>
            <a:endParaRPr b="0" i="0" sz="23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rgbClr val="990033"/>
              </a:buClr>
              <a:buSzPts val="1380"/>
              <a:buFont typeface="Noto Sans Symbols"/>
              <a:buChar char="■"/>
            </a:pP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 typically contains a </a:t>
            </a:r>
            <a:r>
              <a:rPr b="1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set of rows</a:t>
            </a: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5527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rgbClr val="990033"/>
              </a:buClr>
              <a:buSzPts val="1380"/>
              <a:buFont typeface="Noto Sans Symbols"/>
              <a:buNone/>
            </a:pPr>
            <a:r>
              <a:t/>
            </a:r>
            <a:endParaRPr b="0" i="0" sz="23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rgbClr val="990033"/>
              </a:buClr>
              <a:buSzPts val="1380"/>
              <a:buFont typeface="Noto Sans Symbols"/>
              <a:buChar char="■"/>
            </a:pP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data elements in each </a:t>
            </a:r>
            <a:r>
              <a:rPr b="1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row</a:t>
            </a: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represent certain facts that correspond to a real-world </a:t>
            </a:r>
            <a:r>
              <a:rPr b="1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endParaRPr b="0" i="0" sz="23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chemeClr val="dk2"/>
              </a:buClr>
              <a:buSzPts val="1265"/>
              <a:buFont typeface="Noto Sans Symbols"/>
              <a:buChar char="■"/>
            </a:pPr>
            <a:r>
              <a:rPr b="0" i="0" lang="en-US" sz="23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the formal model, rows are called </a:t>
            </a:r>
            <a:r>
              <a:rPr b="1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tuples</a:t>
            </a:r>
            <a:endParaRPr/>
          </a:p>
          <a:p>
            <a:pPr indent="-212407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None/>
            </a:pPr>
            <a:r>
              <a:t/>
            </a:r>
            <a:endParaRPr b="0" i="0" sz="21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60"/>
              </a:spcBef>
              <a:spcAft>
                <a:spcPts val="0"/>
              </a:spcAft>
              <a:buClr>
                <a:srgbClr val="990033"/>
              </a:buClr>
              <a:buSzPts val="1380"/>
              <a:buFont typeface="Noto Sans Symbols"/>
              <a:buChar char="■"/>
            </a:pP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has a column header that gives an indication of the meaning of the data items in that column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the formal model, the column header is called an </a:t>
            </a:r>
            <a:r>
              <a:rPr b="1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 name</a:t>
            </a: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(or just </a:t>
            </a:r>
            <a:r>
              <a:rPr b="1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r>
              <a:rPr b="0" i="0" lang="en-US" sz="21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1" name="Google Shape;131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a Relation</a:t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8886825" y="6159500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05_01" id="133" name="Google Shape;1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295525"/>
            <a:ext cx="8489950" cy="3078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Informal Definitions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of a Relation: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row has a value of a data item (or set of items) that uniquely identifies that row in the table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rgbClr val="990033"/>
              </a:buClr>
              <a:buSzPts val="1150"/>
              <a:buFont typeface="Noto Sans Symbols"/>
              <a:buChar char="■"/>
            </a:pP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Called the </a:t>
            </a:r>
            <a:r>
              <a:rPr b="0" i="1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the STUDENT table, SSN is the key</a:t>
            </a:r>
            <a:endParaRPr/>
          </a:p>
          <a:p>
            <a:pPr indent="-198437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Noto Sans Symbols"/>
              <a:buNone/>
            </a:pPr>
            <a:r>
              <a:t/>
            </a:r>
            <a:endParaRPr b="0" i="0" sz="25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Sometimes row-ids or sequential numbers are assigned as keys to identify the rows in a table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rgbClr val="990033"/>
              </a:buClr>
              <a:buSzPts val="1150"/>
              <a:buFont typeface="Noto Sans Symbols"/>
              <a:buChar char="■"/>
            </a:pP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b="0" i="1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artificial key</a:t>
            </a: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1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surrogate key</a:t>
            </a:r>
            <a:endParaRPr/>
          </a:p>
          <a:p>
            <a:pPr indent="-255270" lvl="0" marL="342900" rtl="0" algn="l">
              <a:spcBef>
                <a:spcPts val="460"/>
              </a:spcBef>
              <a:spcAft>
                <a:spcPts val="0"/>
              </a:spcAft>
              <a:buSzPts val="1380"/>
              <a:buNone/>
            </a:pPr>
            <a:r>
              <a:t/>
            </a:r>
            <a:endParaRPr b="0" i="1" sz="23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- Schema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(or description) of a Relation: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Denoted by R(A1, A2, .....An)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 is the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relation are A1, A2, ..., 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CUSTOMER (Cust-id, Cust-name, Address, Phone#)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CUSTOMER is the relation name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Defined over the four attributes: Cust-id, Cust-name, Address, Phone#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attribute has a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domain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a set of valid values.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 example, the domain of Cust-id is 6 digit numbers.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- Tuple</a:t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an ordered set of values (enclosed in angled brackets ‘&lt; … &gt;’)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value is derived from an appropriate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domain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row in the CUSTOMER relation is a 4-tuple and would consist of four values, for example: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&lt;632895, "John Smith", "101 Main St. Atlanta, GA  30332", "(404) 894-2000"&gt;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is called a 4-tuple as it has 4 values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tuple (row) in the CUSTOMER relation.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 is a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set 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of such tuples (rows)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- Domain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domain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has a logical definition: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045"/>
              <a:buFont typeface="Noto Sans Symbols"/>
              <a:buChar char="■"/>
            </a:pPr>
            <a:r>
              <a:rPr b="0" i="0" lang="en-US" sz="19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“USA_phone_numbers” are the set of 10 digit phone numbers valid in the U.S.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domain also has a data-type or a format defined for it.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045"/>
              <a:buFont typeface="Noto Sans Symbols"/>
              <a:buChar char="■"/>
            </a:pPr>
            <a:r>
              <a:rPr b="0" i="0" lang="en-US" sz="19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USA_phone_numbers may have a format: (ddd)ddd-dddd where each d is a decimal digit.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Dates have various formats such as year, month, date formatted as yyyy-mm-dd, or as dd mm,yyyy etc.</a:t>
            </a:r>
            <a:endParaRPr/>
          </a:p>
          <a:p>
            <a:pPr indent="-17145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990033"/>
              </a:buClr>
              <a:buSzPts val="9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attribute name designates the role played by a domain in a relation: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Used to interpret the meaning of the data elements corresponding to that attribute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chemeClr val="dk2"/>
              </a:buClr>
              <a:buSzPts val="1045"/>
              <a:buFont typeface="Noto Sans Symbols"/>
              <a:buChar char="■"/>
            </a:pPr>
            <a:r>
              <a:rPr b="0" i="0" lang="en-US" sz="19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The domain Date may be used to define two attributes named “Invoice-date” and “Payment-date” with different meanings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- State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 state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a subset of the Cartesian product of the domains of its attributes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domain contains the set of all possible values the attribute can take.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attribute Cust-name is defined over the domain of character strings of maximum length 25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dom(Cust-name) is varchar(25)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role these strings play in the CUSTOMER relation is that of the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name of a customer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0" name="Google Shape;180;p2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- Summary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Formally,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Given R(A1, A2, .........., An)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	r(R) ⊂ dom (A1) X dom (A2) X ....X dom(An)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R(A1, A2, …, An) is 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the relation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 is 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the relation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A1, A2, …, An are 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the relation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r(R):  a specific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(or "value" or “population”) of relation R – this is 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set of tuples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(rows)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r(R) = {t1, t2, …, tn} where each ti is an n-tuple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ti = &lt;v1, v2, …, vn&gt; where each vj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element-of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dom(Aj)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8" name="Google Shape;188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- Example</a:t>
            </a:r>
            <a:endParaRPr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 R(A1, A2) be a relation schema: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Let dom(A1) = {0,1}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Let  dom(A2) =  {a,b,c}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Then: dom(A1) X dom(A2) is all possible combinations: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{&lt;0,a&gt; , &lt;0,b&gt; , &lt;0,c&gt;, &lt;1,a&gt;, &lt;1,b&gt;, &lt;1,c&gt; }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relation state r(R) ⊂ dom(A1) X dom(A2)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example: r(R) could be {&lt;0,a&gt; , &lt;0,b&gt; , &lt;1,c&gt; 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is one possible state (or “population” or “extension”) r of the relation R, defined over A1 and A2.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It has three 2-tuples: &lt;0,a&gt; , &lt;0,b&gt; , &lt;1,c&gt;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6" name="Google Shape;196;p2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Definition Summary</a:t>
            </a:r>
            <a:endParaRPr/>
          </a:p>
        </p:txBody>
      </p:sp>
      <p:graphicFrame>
        <p:nvGraphicFramePr>
          <p:cNvPr id="197" name="Google Shape;197;p28"/>
          <p:cNvGraphicFramePr/>
          <p:nvPr/>
        </p:nvGraphicFramePr>
        <p:xfrm>
          <a:off x="6096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{C185C890-7A7A-4745-A4EE-FBCB01CA819C}</a:tableStyleId>
              </a:tblPr>
              <a:tblGrid>
                <a:gridCol w="3438525"/>
                <a:gridCol w="1111250"/>
                <a:gridCol w="3500425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sng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Informal Terms</a:t>
                      </a:r>
                      <a:r>
                        <a:rPr b="0" i="0" lang="en-US" sz="2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sng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Formal Terms</a:t>
                      </a: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Relation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 Header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possible Column Values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Domain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Row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Tuple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Table Definition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Schema of a Relation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Populated Table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 of the Relation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4" name="Google Shape;204;p2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– A relation STUDENT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8886825" y="6159500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05_01" id="206" name="Google Shape;2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219325"/>
            <a:ext cx="8589962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3" name="Google Shape;213;p3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Characteristics Of Relations</a:t>
            </a:r>
            <a:endParaRPr/>
          </a:p>
        </p:txBody>
      </p:sp>
      <p:sp>
        <p:nvSpPr>
          <p:cNvPr id="214" name="Google Shape;214;p3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Ordering of tuples in a relation r(R):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tuples are </a:t>
            </a:r>
            <a:r>
              <a:rPr b="0" i="1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 considered to be ordered</a:t>
            </a: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even though they appear to be in the tabular form.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Ordering of attributes in a relation schema R (and of values within each tuple):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will consider the attributes in R(A1, A2, ..., An) and the values in t=&lt;v1, v2, ..., vn&gt; to be ordered 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(However, a more general alternative definition  of relation does not require this ordering).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1" name="Google Shape;221;p3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Same state as previous Figure (but with different order of tuples)</a:t>
            </a:r>
            <a:endParaRPr/>
          </a:p>
        </p:txBody>
      </p:sp>
      <p:pic>
        <p:nvPicPr>
          <p:cNvPr descr="fig05_02" id="222" name="Google Shape;22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444750"/>
            <a:ext cx="8450262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9" name="Google Shape;229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Key Constraints</a:t>
            </a:r>
            <a:endParaRPr/>
          </a:p>
        </p:txBody>
      </p:sp>
      <p:sp>
        <p:nvSpPr>
          <p:cNvPr id="230" name="Google Shape;230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R: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Is a set of attributes SK of R with the following condition: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 two tuples in any valid relation state r(R) will have the same value for SK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That is, for any distinct tuples t1 and t2 in r(R), t1[SK] ≠ t2[SK]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This condition must hold in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any valid state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r(R)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"minimal" superkey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That is, a key is a superkey K such that removal of any attribute from K results in a set of attributes that is not a superkey (does not possess the superkey uniqueness property)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Characteristics Of Relations</a:t>
            </a:r>
            <a:endParaRPr/>
          </a:p>
        </p:txBody>
      </p:sp>
      <p:sp>
        <p:nvSpPr>
          <p:cNvPr id="238" name="Google Shape;238;p3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Values in a tuple: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values are considered atomic (indivisible).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value in a tuple must be from the domain of the attribute for that column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tuple t = &lt;v1, v2, …, vn&gt; is a tuple (row) in the relation state r of R(A1, A2, …, An)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Then each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must be a value from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dom(Ai)</a:t>
            </a:r>
            <a:endParaRPr/>
          </a:p>
          <a:p>
            <a:pPr indent="-1524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special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value is used to represent values that are unknown or inapplicable to certain tuples.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5" name="Google Shape;245;p3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Characteristics Of Relations</a:t>
            </a:r>
            <a:endParaRPr/>
          </a:p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refer to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component values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a tuple t by: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t[Ai] or t.Ai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This is the value vi of attribute Ai for tuple 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Similarly, t[Au, Av, ..., Aw] refers to the subtuple of t containing the values of attributes Au, Av, ..., Aw, respectively in 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3" name="Google Shape;253;p3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Relational Integrity Constraints</a:t>
            </a:r>
            <a:endParaRPr/>
          </a:p>
        </p:txBody>
      </p: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Constraints are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conditions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that must hold on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valid relation states.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are three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main types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constraints in the relational model: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constraints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integrity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constraints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constraints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Another implicit constraint is 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domain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constraint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value in a tuple must be from the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domain of its attribute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(or it could be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if allowed for that attribute)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1" name="Google Shape;261;p3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Key Constraints (continued)</a:t>
            </a:r>
            <a:endParaRPr/>
          </a:p>
        </p:txBody>
      </p:sp>
      <p:sp>
        <p:nvSpPr>
          <p:cNvPr id="262" name="Google Shape;262;p3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Consider the CAR relation schema: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CAR(State, Reg#, SerialNo, Make, Model, Year)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CAR has two keys: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Key1 = {State, Reg#}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Key2 = {SerialNo}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Both are also superkeys of CAR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{SerialNo, Make} is a superkey but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 key.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Any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superkey 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(but not vice versa)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Any set of attributes that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includes a key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superkey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minimal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superkey is also a key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9" name="Google Shape;269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Key Constraints (continued)</a:t>
            </a:r>
            <a:endParaRPr/>
          </a:p>
        </p:txBody>
      </p:sp>
      <p:sp>
        <p:nvSpPr>
          <p:cNvPr id="270" name="Google Shape;270;p3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 relation has several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candidate keys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one is chosen arbitrarily to be 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primary key attributes are </a:t>
            </a:r>
            <a:r>
              <a:rPr b="0" i="0" lang="en-US" sz="22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underlined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Consider the CAR relation schema: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CAR(State, Reg#, </a:t>
            </a:r>
            <a:r>
              <a:rPr b="0" i="0" lang="en-US" sz="22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SerialNo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Make, Model, Year)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chose SerialNo as the primary key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primary key value is used to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uniquely identify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each tuple in a relation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Provides the tuple identity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Also used to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tuple from another tuple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 rule: Choose as primary key the smallest of the candidate keys (in terms of size)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 always applicable – choice is sometimes subjective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7" name="Google Shape;277;p3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CAR table with two candidate keys – LicenseNumber chosen as Primary Key</a:t>
            </a:r>
            <a:endParaRPr/>
          </a:p>
        </p:txBody>
      </p:sp>
      <p:pic>
        <p:nvPicPr>
          <p:cNvPr descr="fig05_04" id="278" name="Google Shape;27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59050"/>
            <a:ext cx="841375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5" name="Google Shape;285;p3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Relational Database Schema</a:t>
            </a:r>
            <a:endParaRPr/>
          </a:p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Relational Database Schema: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set S of relation schemas that belong to the same database.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 is the name of the whole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database schema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 = {R1, R2, ..., Rn}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R1, R2, …, Rn are the names of the individual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 schemas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within the database 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Following slide shows a COMPANY database schema with 6 relation schemas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5_05" id="293" name="Google Shape;29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524000"/>
            <a:ext cx="8074025" cy="49022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294" name="Google Shape;294;p40"/>
          <p:cNvSpPr txBox="1"/>
          <p:nvPr/>
        </p:nvSpPr>
        <p:spPr>
          <a:xfrm>
            <a:off x="381000" y="762000"/>
            <a:ext cx="6934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COMPANY Database Schema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1" name="Google Shape;301;p4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Integrity</a:t>
            </a:r>
            <a:endParaRPr/>
          </a:p>
        </p:txBody>
      </p:sp>
      <p:sp>
        <p:nvSpPr>
          <p:cNvPr id="302" name="Google Shape;302;p4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Entity Integrity: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1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primary key attributes</a:t>
            </a: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PK of each relation schema R in S cannot have null values in any tuple of r(R).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This is because primary key values are used to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identify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individual tuples.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t[PK] ≠ null for any tuple t in r(R)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PK has several attributes, null is not allowed in any of these attributes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Note: Other attributes of R may be constrained  to disallow null values, even though they are not members of the primary key.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9" name="Google Shape;309;p4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</a:t>
            </a:r>
            <a:endParaRPr/>
          </a:p>
        </p:txBody>
      </p:sp>
      <p:sp>
        <p:nvSpPr>
          <p:cNvPr id="310" name="Google Shape;310;p4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constraint involving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relations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previous constraints involve a single  relation.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Used to specify 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among tuples in two relations: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referencing relation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referenced relation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7" name="Google Shape;317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</a:t>
            </a:r>
            <a:endParaRPr/>
          </a:p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Tuples in 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referencing relation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R1 have attributes FK (called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attributes) that reference the primary key attributes PK of 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referenced relation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R2.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tuple t1 in R1 is said to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 tuple t2 in R2 if t1[FK] = t2[PK].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referential integrity constraint can be displayed in a relational database schema as a directed arc from R1.FK to R2.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5" name="Google Shape;325;p4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 (or foreign key)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</a:t>
            </a:r>
            <a:endParaRPr/>
          </a:p>
        </p:txBody>
      </p:sp>
      <p:sp>
        <p:nvSpPr>
          <p:cNvPr id="326" name="Google Shape;326;p4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Statement of the constraint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value in the foreign key column (or columns) FK of the the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referencing relation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R1 can be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either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(1) a value of an existing primary key value of a corresponding primary key PK in 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referenced relation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R2, </a:t>
            </a:r>
            <a:r>
              <a:rPr b="0" i="0" lang="en-US" sz="24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(2) a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case (2), the FK in R1 should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be a part of its own primary key.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3" name="Google Shape;333;p4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Displaying a relational database schema and its constraints</a:t>
            </a:r>
            <a:endParaRPr/>
          </a:p>
        </p:txBody>
      </p:sp>
      <p:sp>
        <p:nvSpPr>
          <p:cNvPr id="334" name="Google Shape;334;p4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relation schema can be displayed as a row of attribute names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name of the relation is written above the attribute names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primary key attribute (or attributes) will be underlined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foreign key (referential integrity) constraints is displayed as a directed arc (arrow) from the foreign key attributes to the referenced table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 also point the the primary key of the referenced relation for clarity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Next slide shows the COMPANY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relational schema diagram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5_07" id="341" name="Google Shape;34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592262"/>
            <a:ext cx="6477000" cy="48085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342" name="Google Shape;342;p46"/>
          <p:cNvSpPr txBox="1"/>
          <p:nvPr/>
        </p:nvSpPr>
        <p:spPr>
          <a:xfrm>
            <a:off x="457200" y="762000"/>
            <a:ext cx="830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 Constraints for COMPANY database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9" name="Google Shape;349;p4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 Types of Constraints</a:t>
            </a:r>
            <a:endParaRPr/>
          </a:p>
        </p:txBody>
      </p:sp>
      <p:sp>
        <p:nvSpPr>
          <p:cNvPr id="350" name="Google Shape;350;p4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Semantic Integrity Constraints: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based on application semantics and cannot be expressed by the model per 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“the max. no. of hours per employee for all projects he or she works on is 56 hrs per week”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 specification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language may have to be used to express these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SQL-99 allows triggers and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ASSERTIONS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express for some of these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6" name="Google Shape;356;p4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Populated database state</a:t>
            </a:r>
            <a:endParaRPr/>
          </a:p>
        </p:txBody>
      </p:sp>
      <p:sp>
        <p:nvSpPr>
          <p:cNvPr id="357" name="Google Shape;357;p4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will have many tuples in its current relation state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relational database state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a union of all the individual relation states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Whenever the database is changed, a new state arises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operations for changing the database: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 a new tuple in a 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DELETE an existing tuple from a 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MODIFY an attribute of an existing tuple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Next slide shows an example state for the COMPANY database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5_06" id="364" name="Google Shape;3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524000"/>
            <a:ext cx="3948112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365" name="Google Shape;365;p49"/>
          <p:cNvSpPr txBox="1"/>
          <p:nvPr/>
        </p:nvSpPr>
        <p:spPr>
          <a:xfrm>
            <a:off x="381000" y="838200"/>
            <a:ext cx="708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Populated database state for COMPANY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2" name="Google Shape;372;p5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Update Operations on Relations</a:t>
            </a:r>
            <a:endParaRPr/>
          </a:p>
        </p:txBody>
      </p:sp>
      <p:sp>
        <p:nvSpPr>
          <p:cNvPr id="373" name="Google Shape;373;p5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INSERT a tuple.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DELETE a tuple.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MODIFY a tuple.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Integrity constraints should not be violated by the update operations.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Several update operations may have to be grouped together.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Updates may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propagate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to cause other updates automatically. This may be necessary to maintain integrity constraints.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0" name="Google Shape;380;p5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Update Operations on Relations</a:t>
            </a:r>
            <a:endParaRPr/>
          </a:p>
        </p:txBody>
      </p:sp>
      <p:sp>
        <p:nvSpPr>
          <p:cNvPr id="381" name="Google Shape;381;p5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case of integrity violation, several actions can be taken: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Cancel the operation that causes the violation (RESTRICT or REJECT option)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Perform the operation but inform the user of the violation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Trigger additional updates so the violation is corrected (CASCADE option, SET NULL option)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Execute a user-specified error-correction routine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7" name="Google Shape;387;p5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Possible violations for each operation</a:t>
            </a:r>
            <a:endParaRPr/>
          </a:p>
        </p:txBody>
      </p:sp>
      <p:sp>
        <p:nvSpPr>
          <p:cNvPr id="388" name="Google Shape;388;p5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INSERT may violate any of the constraints: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Domain constraint: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one of the attribute values provided for the new tuple is not of the specified attribute domain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Key constraint: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the value of a key attribute in the new tuple already exists in another tuple in the 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 foreign key value in the new tuple references a primary key value that does not exist in the referenced 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integrity: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the primary key value is null in the new tuple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4" name="Google Shape;394;p5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Possible violations for each operation</a:t>
            </a:r>
            <a:endParaRPr/>
          </a:p>
        </p:txBody>
      </p:sp>
      <p:sp>
        <p:nvSpPr>
          <p:cNvPr id="395" name="Google Shape;395;p5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DELETE may violate only referential integrity: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the primary key value of the tuple being deleted is referenced from other tuples in the database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be remedied by several actions: RESTRICT, CASCADE, SET NULL (see Chapter 8 for more details)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RESTRICT option: reject the deletion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CASCADE option: propagate the new primary key value into the foreign keys of the referencing tuples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SET NULL option: set the foreign keys of the referencing tuples to NULL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One of the above options must be specified during database design for each foreign key constraint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1" name="Google Shape;401;p5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Possible violations for each operation</a:t>
            </a:r>
            <a:endParaRPr/>
          </a:p>
        </p:txBody>
      </p:sp>
      <p:sp>
        <p:nvSpPr>
          <p:cNvPr id="402" name="Google Shape;402;p5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 may violate domain constraint and NOT NULL constraint on an attribute being modified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Any of the other constraints may also be violated, depending on the attribute being updated: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Updating the primary key (PK):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Similar to a DELETE followed by an INSERT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Need to specify similar options to DELETE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Updating a foreign key (FK):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May violate referential integrity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Updating an ordinary attribute (neither PK nor FK):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only violate domain constraints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9" name="Google Shape;409;p5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410" name="Google Shape;410;p5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Presented Relational Model Concepts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Definitions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Characteristics of relations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Discussed Relational Model Constraints and Relational Database Schemas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Domain constraints’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Key constraints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Entity integrity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Described the Relational Update Operations and Dealing with Constraint Violations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5-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7" name="Google Shape;417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In-Class Exercise</a:t>
            </a:r>
            <a:endParaRPr/>
          </a:p>
        </p:txBody>
      </p:sp>
      <p:sp>
        <p:nvSpPr>
          <p:cNvPr id="418" name="Google Shape;418;p56"/>
          <p:cNvSpPr txBox="1"/>
          <p:nvPr/>
        </p:nvSpPr>
        <p:spPr>
          <a:xfrm>
            <a:off x="228600" y="1606550"/>
            <a:ext cx="8534400" cy="4216400"/>
          </a:xfrm>
          <a:prstGeom prst="rect">
            <a:avLst/>
          </a:prstGeom>
          <a:noFill/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(Taken from Exercise 5.15)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relations for a database that keeps track of student enrollment in courses and the books adopted for each course: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STUDENT(</a:t>
            </a:r>
            <a:r>
              <a:rPr b="0" i="0"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Name, Major, Bdate)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COURSE(</a:t>
            </a:r>
            <a:r>
              <a:rPr b="0" i="0"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Course#</a:t>
            </a: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Cname, Dept)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ENROLL(</a:t>
            </a:r>
            <a:r>
              <a:rPr b="0" i="0"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SSN</a:t>
            </a: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Course#</a:t>
            </a: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Quarter</a:t>
            </a: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Grade)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BOOK_ADOPTION(</a:t>
            </a:r>
            <a:r>
              <a:rPr b="0" i="0"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Course#</a:t>
            </a: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0"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Quarter</a:t>
            </a: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Book_ISBN)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TEXT(</a:t>
            </a:r>
            <a:r>
              <a:rPr b="0" i="0" lang="en-US" sz="20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Book_ISBN</a:t>
            </a: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Book_Title, Publisher, Author)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a relational schema diagram specifying the foreign keys for this schema.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