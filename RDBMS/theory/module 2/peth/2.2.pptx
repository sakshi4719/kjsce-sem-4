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embeddedFontLst>
    <p:embeddedFont>
      <p:font typeface="Tahoma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Tahoma-bold.fntdata"/><Relationship Id="rId52" Type="http://schemas.openxmlformats.org/officeDocument/2006/relationships/font" Target="fonts/Tahom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5" name="Google Shape;32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9" name="Google Shape;34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7" name="Google Shape;35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5" name="Google Shape;36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5" name="Google Shape;39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3" name="Google Shape;40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1" name="Google Shape;41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Enhanced Entity-Relationship (EER) Modeling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stands for Enhanced ER or Extended ER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Model Concepts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all modeling concepts of basic ER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concepts: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subclasses/superclasses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specialization/generalization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categories (UNION types)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 and relationship inheritance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are fundamental to conceptual modeling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additional EER concepts are used to model applications more completely and more accurately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EER includes some object-oriented concepts, such as inheritance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(1)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type may have additional meaningful subgroupings of its entities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EMPLOYEE may be further grouped into: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SECRETARY, ENGINEER, TECHNICIAN, …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the EMPLOYEE’s Job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EMPLOYEEs who are managers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SALARIED_EMPLOYEE, HOURLY_EMPLOYEE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the EMPLOYEE’s method of pay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diagrams extend ER diagrams to represent these additional subgroupings, called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1"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19250"/>
            <a:ext cx="74676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15" name="Google Shape;115;p18"/>
          <p:cNvSpPr txBox="1"/>
          <p:nvPr/>
        </p:nvSpPr>
        <p:spPr>
          <a:xfrm>
            <a:off x="838200" y="593725"/>
            <a:ext cx="70104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(2)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of these subgroupings is a subset of EMPLOYEE entities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is called a subclass of EMPLOYEE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is the superclass for each of these subclasses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are called superclass/subclass relationships: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EMPLOYEE/SECRETARY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EMPLOYEE/TECHNICIAN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EMPLOYEE/MANAGER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(3)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are also called IS-A relationships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SECRETARY IS-A EMPLOYEE, TECHNICIAN IS-A EMPLOYEE, ….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An entity that is member of a subclass represents the same real-world entity as some member of the superclass: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subclass member is the same entity in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distinct specific role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entity cannot exist in the database merely by being a member of a subclass; it must also be a member of the superclass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member of the superclass can be optionally included as a member of any number of its subclasses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(4)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salaried employee who is also an engineer belongs to the two subclasses: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ENGINEER, 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salaried employee who is also an engineering manager belongs to the three subclasses: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MANAGER,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ENGINEER, 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not necessary that every entity in a superclass be a member of some subclass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Representing Specialization in EER Diagrams</a:t>
            </a:r>
            <a:endParaRPr/>
          </a:p>
        </p:txBody>
      </p:sp>
      <p:pic>
        <p:nvPicPr>
          <p:cNvPr descr="fig04_04"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37" y="1820862"/>
            <a:ext cx="8285162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Inheritance in Superclass / Subclass Relationships 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that is member of a subclass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inherits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of the entity as a member of the superclass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relationships of the entity as a member of the superclass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the previous slide, SECRETARY (as well as TECHNICIAN and ENGINEER) inherit the attributes Name, SSN, …, from EMPLOYEE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SECRETARY entity will have values for the inherited attributes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(1)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 is the process of defining a set of subclasses of a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of subclasses is based upon some distinguishing characteristics of the entities in the superclass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{SECRETARY, ENGINEER, TECHNICIAN} is a specialization of EMPLOYEE based upon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job type.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have several specializations of the same superclass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(2)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Another specialization of EMPLOYEE based on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 of pay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{SALARIED_EMPLOYEE, HOURLY_EMPLOYEE}.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Superclass/subclass relationships and specialization can be diagrammatically represented in EER diagrams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a subclass are called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attributes.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attribute TypingSpeed of SECRETARY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subclass can also participate in specific relationship types.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a relationship BELONGS_TO of HOURLY_EMPLOYEE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1"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7772400" cy="49371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79" name="Google Shape;179;p26"/>
          <p:cNvSpPr txBox="1"/>
          <p:nvPr/>
        </p:nvSpPr>
        <p:spPr>
          <a:xfrm>
            <a:off x="304800" y="822325"/>
            <a:ext cx="6934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(3)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Generalization is the reverse of the specialization process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Several classes with common features are generalized into a superclass;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original classes become its subclasses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CAR, TRUCK generalized into VEHICLE;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CAR, TRUCK become subclasses of the superclass VEHICLE.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view {CAR, TRUCK} as a specialization of VEHICLE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Alternatively, we can view VEHICLE as a generalization of CAR and TRUCK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3" id="194" name="Google Shape;1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723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95" name="Google Shape;195;p28"/>
          <p:cNvSpPr txBox="1"/>
          <p:nvPr/>
        </p:nvSpPr>
        <p:spPr>
          <a:xfrm>
            <a:off x="533400" y="715962"/>
            <a:ext cx="5638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(2)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2" name="Google Shape;202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 (1)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Diagrammatic notation are sometimes used to distinguish between generalization and specialization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Arrow pointing to the generalized superclass represents a generalization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Arrows pointing to the specialized subclasses represent a specialization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 not use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this notation because it is often subjective as to which process is more appropriate for a particular situation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advocate not drawing any arrows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 (2)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Modeling with Specialization and Generalization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superclass or subclass represents a collection (or set or grouping) of entities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also represents a particular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 of entity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rectangles in EER diagrams (as are entity types)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call all entity types (and their corresponding collections)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whether they are entity types, superclasses, or subclasses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(1)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we can determine exactly those entities that will become members of each subclass by a condition, the subclasses are called predicate-defined (or condition-defined) subclasses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Condition is a constraint that determines subclass members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 a predicate-defined subclass by writing the predicate condition next to the line attaching the subclass to its superclass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6" name="Google Shape;226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(2)</a:t>
            </a:r>
            <a:endParaRPr/>
          </a:p>
        </p:txBody>
      </p:sp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all subclasses in a specialization have membership condition on same attribute of the superclass, specialization is called an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attribute-defined specialization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is called the defining attribute of the specialization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JobType is the defining attribute of the specialization {SECRETARY, TECHNICIAN, ENGINEER} of EMPLOYEE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no condition determines membership, the subclass is called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user-defined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Membership in a subclass is determined by the database users by applying an operation to add an entity to the subclass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Membership in the subclass is specified individually for each entity in the superclass by the user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an attribute-defined specialization in EER diagrams</a:t>
            </a:r>
            <a:endParaRPr/>
          </a:p>
        </p:txBody>
      </p:sp>
      <p:pic>
        <p:nvPicPr>
          <p:cNvPr descr="fig04_04"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50" y="1962150"/>
            <a:ext cx="8413750" cy="3916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(3)</a:t>
            </a:r>
            <a:endParaRPr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basic constraints can apply to a specialization/generalization: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Completeness Constraint: 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(4)</a:t>
            </a:r>
            <a:endParaRPr/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Disjointness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Specifies that the subclasses of the specialization must be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1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can be a member of at most one of the subclasses of the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Specified by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EER diagram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not disjoint, specialization is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that is the same entity may be a member of more than one subclass of the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Specified by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EER diagram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7" name="Google Shape;257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(5)</a:t>
            </a: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specifies that every entity in the superclass must be a member of some subclass in the specialization/generalization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EER diagrams by a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double line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allows an entity not to belong to any of the subclasses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EER diagrams by a single line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(6)</a:t>
            </a:r>
            <a:endParaRPr/>
          </a:p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Hence, we have four types of specialization/generalization: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Disjoint, total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Disjoint, partial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Overlapping, total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Overlapping, partial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Generalization usually is total because the superclass is derived from the subclasses.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3" name="Google Shape;273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disjoint partial Specialization</a:t>
            </a:r>
            <a:endParaRPr/>
          </a:p>
        </p:txBody>
      </p:sp>
      <p:pic>
        <p:nvPicPr>
          <p:cNvPr descr="fig04_04" id="274" name="Google Shape;2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7850"/>
            <a:ext cx="830580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5"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" y="2432050"/>
            <a:ext cx="8539162" cy="237648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82" name="Google Shape;282;p39"/>
          <p:cNvSpPr txBox="1"/>
          <p:nvPr/>
        </p:nvSpPr>
        <p:spPr>
          <a:xfrm>
            <a:off x="304800" y="868362"/>
            <a:ext cx="72390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overlapping total Specialization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9" name="Google Shape;289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(1)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may itself have further subclasses specified on it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forms a hierarchy or a lattice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Hierarchy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has a constraint that every subclass has only one superclass (called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inheritance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); this is basically a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tree structure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lattice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 subclass can be subclass of more than one superclass (called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 inheritance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6" id="297" name="Google Shape;2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192337"/>
            <a:ext cx="8440737" cy="34242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98" name="Google Shape;298;p41"/>
          <p:cNvSpPr txBox="1"/>
          <p:nvPr/>
        </p:nvSpPr>
        <p:spPr>
          <a:xfrm>
            <a:off x="457200" y="8382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“Engineering_Manager”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5" name="Google Shape;305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(2)</a:t>
            </a:r>
            <a:endParaRPr/>
          </a:p>
        </p:txBody>
      </p:sp>
      <p:sp>
        <p:nvSpPr>
          <p:cNvPr id="306" name="Google Shape;306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lattice or hierarchy, a subclass inherits attributes not only of its direct superclass, but also of all its predecessor superclasses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with more than one superclass is called a shared subclass (multiple inheritance)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have: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hierarchies or lattices, 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hierarchies or lattices,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depending on how they were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derived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just use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(to stand for the end result of either specialization or generalization)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3" name="Google Shape;313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(3)</a:t>
            </a:r>
            <a:endParaRPr/>
          </a:p>
        </p:txBody>
      </p:sp>
      <p:sp>
        <p:nvSpPr>
          <p:cNvPr id="314" name="Google Shape;314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start with an entity type and then define subclasses of the entity type by successive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top down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conceptual refinement process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start with many entity types and generalize those that have common properties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bottom up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conceptual synthesis process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practice, a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 of both processes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usually employed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/ Generalization Lattice Example </a:t>
            </a: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(UNIVERSITY)</a:t>
            </a:r>
            <a:endParaRPr/>
          </a:p>
        </p:txBody>
      </p:sp>
      <p:pic>
        <p:nvPicPr>
          <p:cNvPr descr="fig04_07" id="322" name="Google Shape;32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5867400" cy="487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9" name="Google Shape;329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(UNION TYPES) (1)</a:t>
            </a:r>
            <a:endParaRPr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of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superclass/subclass relationships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we have seen thus far have a single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shared subclass is a subclass in: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more than one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distinct superclass/subclass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relationships has a single superclass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leads to multiple 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some cases, we need to model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superclass/subclass relationship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than one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Superclasses can represent different entity types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Such a subclass is called a category or UNION TYPE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7" name="Google Shape;337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(UNION TYPES) (2)</a:t>
            </a:r>
            <a:endParaRPr/>
          </a:p>
        </p:txBody>
      </p:sp>
      <p:sp>
        <p:nvSpPr>
          <p:cNvPr id="338" name="Google Shape;338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In a database for vehicle registration, a vehicle owner can be a PERSON, a BANK (holding a lien on a vehicle) or a COMPANY.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(UNION type) called OWNER is created to represent a subset of the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three superclasses COMPANY, BANK, and PERSON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category member must exist 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 least one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Difference from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shared subclass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which is a:</a:t>
            </a:r>
            <a:endParaRPr b="0" i="1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subset of the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intersection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member must exist 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5" name="Google Shape;345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(1)</a:t>
            </a:r>
            <a:endParaRPr/>
          </a:p>
        </p:txBody>
      </p:sp>
      <p:sp>
        <p:nvSpPr>
          <p:cNvPr id="346" name="Google Shape;346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C: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type of entity with a corresponding set of entities: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could be entity type, subclass, superclass, or category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 definition of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ER/EER should have 'entity type' replaced with 'class‘ to allow relationships among classes in general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 S is a class whose: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 inherits all the attributes and relationship of a class 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of entities must always be a subset of the set of entities of the other class C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 ⊆ 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is called the superclass of 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superclass/subclass relationship exists between S and C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(2)</a:t>
            </a:r>
            <a:endParaRPr/>
          </a:p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 Z: Z = {S1, S2,…, Sn} is a set of subclasses with same superclass G; hence, G/Si is a superclass relationship for i = 1, …., n.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 is called a generalization of the subclasses {S1, S2,…, Sn}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Z is total if we always have: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 ∪ S2 ∪ … ∪ Sn = G;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Otherwise, Z is partial.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Z is disjoint if we always have: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 ∩ Sj empty-set for i ≠ j;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Otherwise, Z is overlapping.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1" name="Google Shape;36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(3)</a:t>
            </a:r>
            <a:endParaRPr/>
          </a:p>
        </p:txBody>
      </p:sp>
      <p:sp>
        <p:nvSpPr>
          <p:cNvPr id="362" name="Google Shape;362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 S of C is predicate defined if predicate (condition)  p on attributes of C is used to specify membership in S;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that is, S = C[p], where C[p] is the set of entities in C that satisfy condition 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not defined by a predicate is called user-defined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Attribute-defined specialization: if a predicate A = ci (where A is an attribute of G and ci is a constant value from the domain of A) is used to specify membership in each subclass Si in Z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Note: If ci ≠ cj for i ≠ j, and A is single-valued, then the attribute-defined specialization will be disjoint.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9" name="Google Shape;369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categories (UNION types): OWNER, REGISTERED_VEHICLE</a:t>
            </a:r>
            <a:endParaRPr/>
          </a:p>
        </p:txBody>
      </p:sp>
      <p:pic>
        <p:nvPicPr>
          <p:cNvPr descr="fig04_08" id="370" name="Google Shape;3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3058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(4)</a:t>
            </a:r>
            <a:endParaRPr/>
          </a:p>
        </p:txBody>
      </p:sp>
      <p:sp>
        <p:nvSpPr>
          <p:cNvPr id="385" name="Google Shape;385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Category or UNION type 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class that is a subset of the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n defining superclasses 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D1, D2,…Dn, n&gt;1: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 ⊆ (D1 ∪ D2 ∪ … ∪ Dn)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have a predicate pi on the attributes of Di to specify entities of Di that are members of T.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a predicate is specified on every Di: T = (D1[p1] ∪ D2[p2] ∪…∪ Dn[pn])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1" name="Google Shape;391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notations</a:t>
            </a:r>
            <a:endParaRPr/>
          </a:p>
        </p:txBody>
      </p:sp>
      <p:sp>
        <p:nvSpPr>
          <p:cNvPr id="392" name="Google Shape;392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ER/EER diagrams are a specific notation for displaying the concepts of the model diagrammatically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DB design tools use many alternative notations for the same or similar concepts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popular alternative notation uses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 next slides for UML class diagrams and other alternative notations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Example for Displaying Specialization / Generalization</a:t>
            </a:r>
            <a:endParaRPr/>
          </a:p>
        </p:txBody>
      </p:sp>
      <p:pic>
        <p:nvPicPr>
          <p:cNvPr descr="fig04_10" id="400" name="Google Shape;4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975" y="1590675"/>
            <a:ext cx="4645025" cy="49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7" name="Google Shape;407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Notations</a:t>
            </a:r>
            <a:endParaRPr/>
          </a:p>
        </p:txBody>
      </p:sp>
      <p:pic>
        <p:nvPicPr>
          <p:cNvPr descr="figA_01" id="408" name="Google Shape;40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39875"/>
            <a:ext cx="9144000" cy="814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5" name="Google Shape;415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Conceptual Modeling Concepts</a:t>
            </a:r>
            <a:endParaRPr/>
          </a:p>
        </p:txBody>
      </p:sp>
      <p:sp>
        <p:nvSpPr>
          <p:cNvPr id="416" name="Google Shape;416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 DATA ABSTRACTIONS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CLASSIFICATION and INSTANTIATION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AGGREGATION and ASSOCIATION (relationships)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IDENTIFICATION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CARDINALITY (Min and Max)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COVERAGE (Total vs. Partial, and Exclusive (disjoint) vs. Overlapping)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2" name="Google Shape;422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Ontologies</a:t>
            </a:r>
            <a:endParaRPr/>
          </a:p>
        </p:txBody>
      </p:sp>
      <p:sp>
        <p:nvSpPr>
          <p:cNvPr id="423" name="Google Shape;423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conceptual modeling and other tools to develop “a specification of a conceptualization”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Specification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language and vocabulary (data model concepts)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Conceptualization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refers to the description (schema) of the concepts of a particular field of knowledge and the relationships among these concepts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medical, scientific, and engineering ontologies are being developed as a means of standardizing concepts and terminology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9" name="Google Shape;429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430" name="Google Shape;430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Introduced the EER model concepts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Class/subclass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and generalization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augment the basic ER model concepts introduced in Chapter 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diagrams and alternative notations were presented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