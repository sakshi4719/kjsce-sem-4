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y="6858000" cx="9144000"/>
  <p:notesSz cx="6858000" cy="9144000"/>
  <p:embeddedFontLst>
    <p:embeddedFont>
      <p:font typeface="Tahoma"/>
      <p:regular r:id="rId72"/>
      <p:bold r:id="rId73"/>
    </p:embeddedFont>
    <p:embeddedFont>
      <p:font typeface="Noto Sans Symbols"/>
      <p:regular r:id="rId74"/>
      <p:bold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2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76" roundtripDataSignature="AMtx7mgtoTJm5mhi1h6JvPPKkA94c8v6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397CF18-6104-4703-8A57-D6D186A770D4}">
  <a:tblStyle styleId="{E397CF18-6104-4703-8A57-D6D186A770D4}"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FAF1"/>
          </a:solidFill>
        </a:fill>
      </a:tcStyle>
    </a:wholeTbl>
    <a:band1H>
      <a:tcTxStyle/>
      <a:tcStyle>
        <a:fill>
          <a:solidFill>
            <a:srgbClr val="CAF5E1"/>
          </a:solidFill>
        </a:fill>
      </a:tcStyle>
    </a:band1H>
    <a:band2H>
      <a:tcTxStyle/>
    </a:band2H>
    <a:band1V>
      <a:tcTxStyle/>
      <a:tcStyle>
        <a:fill>
          <a:solidFill>
            <a:srgbClr val="CAF5E1"/>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2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Tahoma-bold.fntdata"/><Relationship Id="rId72" Type="http://schemas.openxmlformats.org/officeDocument/2006/relationships/font" Target="fonts/Tahoma-regular.fntdata"/><Relationship Id="rId31" Type="http://schemas.openxmlformats.org/officeDocument/2006/relationships/slide" Target="slides/slide24.xml"/><Relationship Id="rId75" Type="http://schemas.openxmlformats.org/officeDocument/2006/relationships/font" Target="fonts/NotoSansSymbols-bold.fntdata"/><Relationship Id="rId30" Type="http://schemas.openxmlformats.org/officeDocument/2006/relationships/slide" Target="slides/slide23.xml"/><Relationship Id="rId74" Type="http://schemas.openxmlformats.org/officeDocument/2006/relationships/font" Target="fonts/NotoSansSymbols-regular.fntdata"/><Relationship Id="rId33" Type="http://schemas.openxmlformats.org/officeDocument/2006/relationships/slide" Target="slides/slide26.xml"/><Relationship Id="rId32" Type="http://schemas.openxmlformats.org/officeDocument/2006/relationships/slide" Target="slides/slide25.xml"/><Relationship Id="rId76" Type="http://customschemas.google.com/relationships/presentationmetadata" Target="metadata"/><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78" name="Google Shape;7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86" name="Google Shape;8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94" name="Google Shape;9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02" name="Google Shape;10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10" name="Google Shape;11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18" name="Google Shape;118;p6: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26" name="Google Shape;12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34" name="Google Shape;13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43" name="Google Shape;14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51" name="Google Shape;15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59" name="Google Shape;15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67" name="Google Shape;16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75" name="Google Shape;17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83" name="Google Shape;18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91" name="Google Shape;19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01" name="Google Shape;20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12" name="Google Shape;21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20" name="Google Shape;22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30" name="Google Shape;23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40" name="Google Shape;24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56" name="Google Shape;25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64" name="Google Shape;26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72" name="Google Shape;27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80" name="Google Shape;28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88" name="Google Shape;28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298" name="Google Shape;29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306" name="Google Shape;30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314" name="Google Shape;31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322" name="Google Shape;32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339" name="Google Shape;33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348" name="Google Shape;348;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9" name="Google Shape;349;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356" name="Google Shape;356;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 name="Google Shape;357;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366" name="Google Shape;36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385" name="Google Shape;38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6" name="Google Shape;386;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399" name="Google Shape;399;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17" name="Google Shape;417;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4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29" name="Google Shape;429;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0" name="Google Shape;430;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42" name="Google Shape;442;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3" name="Google Shape;443;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comparing the attributes of the relations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4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70" name="Google Shape;470;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4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78" name="Google Shape;478;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9" name="Google Shape;479;p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4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86" name="Google Shape;48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509" name="Google Shape;509;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4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518" name="Google Shape;518;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9" name="Google Shape;519;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4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531" name="Google Shape;53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2" name="Google Shape;532;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5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575" name="Google Shape;575;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6" name="Google Shape;576;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5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583" name="Google Shape;583;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4" name="Google Shape;584;p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5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591" name="Google Shape;591;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2" name="Google Shape;592;p5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5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599" name="Google Shape;599;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0" name="Google Shape;600;p5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5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607" name="Google Shape;607;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8" name="Google Shape;608;p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5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615" name="Google Shape;615;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6" name="Google Shape;616;p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5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625" name="Google Shape;625;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6" name="Google Shape;626;p5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6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637" name="Google Shape;637;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8" name="Google Shape;638;p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6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649" name="Google Shape;649;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0" name="Google Shape;650;p6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6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2" name="Google Shape;682;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6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700" name="Google Shape;700;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1" name="Google Shape;701;p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6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713" name="Google Shape;713;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4" name="Google Shape;714;p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 name="Shape 20"/>
        <p:cNvGrpSpPr/>
        <p:nvPr/>
      </p:nvGrpSpPr>
      <p:grpSpPr>
        <a:xfrm>
          <a:off x="0" y="0"/>
          <a:ext cx="0" cy="0"/>
          <a:chOff x="0" y="0"/>
          <a:chExt cx="0" cy="0"/>
        </a:xfrm>
      </p:grpSpPr>
      <p:sp>
        <p:nvSpPr>
          <p:cNvPr id="21" name="Google Shape;21;p6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6"/>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6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6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lvl1pPr indent="-297180" lvl="0" marL="457200" algn="l">
              <a:lnSpc>
                <a:spcPct val="100000"/>
              </a:lnSpc>
              <a:spcBef>
                <a:spcPts val="360"/>
              </a:spcBef>
              <a:spcAft>
                <a:spcPts val="0"/>
              </a:spcAft>
              <a:buSzPts val="1080"/>
              <a:buChar char="■"/>
              <a:defRPr/>
            </a:lvl1pPr>
            <a:lvl2pPr indent="-291465" lvl="1" marL="914400" algn="l">
              <a:lnSpc>
                <a:spcPct val="100000"/>
              </a:lnSpc>
              <a:spcBef>
                <a:spcPts val="360"/>
              </a:spcBef>
              <a:spcAft>
                <a:spcPts val="0"/>
              </a:spcAft>
              <a:buSzPts val="990"/>
              <a:buChar char="■"/>
              <a:defRPr/>
            </a:lvl2pPr>
            <a:lvl3pPr indent="-285750" lvl="2" marL="1371600" algn="l">
              <a:lnSpc>
                <a:spcPct val="100000"/>
              </a:lnSpc>
              <a:spcBef>
                <a:spcPts val="360"/>
              </a:spcBef>
              <a:spcAft>
                <a:spcPts val="0"/>
              </a:spcAft>
              <a:buSzPts val="900"/>
              <a:buChar char="■"/>
              <a:defRPr/>
            </a:lvl3pPr>
            <a:lvl4pPr indent="-291464" lvl="3" marL="1828800" algn="l">
              <a:lnSpc>
                <a:spcPct val="100000"/>
              </a:lnSpc>
              <a:spcBef>
                <a:spcPts val="360"/>
              </a:spcBef>
              <a:spcAft>
                <a:spcPts val="0"/>
              </a:spcAft>
              <a:buSzPts val="990"/>
              <a:buChar char="■"/>
              <a:defRPr/>
            </a:lvl4pPr>
            <a:lvl5pPr indent="-285750" lvl="4" marL="2286000" algn="l">
              <a:lnSpc>
                <a:spcPct val="100000"/>
              </a:lnSpc>
              <a:spcBef>
                <a:spcPts val="360"/>
              </a:spcBef>
              <a:spcAft>
                <a:spcPts val="0"/>
              </a:spcAft>
              <a:buSzPts val="900"/>
              <a:buChar char="■"/>
              <a:defRPr/>
            </a:lvl5pPr>
            <a:lvl6pPr indent="-285750" lvl="5" marL="2743200" algn="l">
              <a:lnSpc>
                <a:spcPct val="100000"/>
              </a:lnSpc>
              <a:spcBef>
                <a:spcPts val="360"/>
              </a:spcBef>
              <a:spcAft>
                <a:spcPts val="0"/>
              </a:spcAft>
              <a:buSzPts val="900"/>
              <a:buChar char="■"/>
              <a:defRPr/>
            </a:lvl6pPr>
            <a:lvl7pPr indent="-285750" lvl="6" marL="3200400" algn="l">
              <a:lnSpc>
                <a:spcPct val="100000"/>
              </a:lnSpc>
              <a:spcBef>
                <a:spcPts val="360"/>
              </a:spcBef>
              <a:spcAft>
                <a:spcPts val="0"/>
              </a:spcAft>
              <a:buSzPts val="900"/>
              <a:buChar char="■"/>
              <a:defRPr/>
            </a:lvl7pPr>
            <a:lvl8pPr indent="-285750" lvl="7" marL="3657600" algn="l">
              <a:lnSpc>
                <a:spcPct val="100000"/>
              </a:lnSpc>
              <a:spcBef>
                <a:spcPts val="360"/>
              </a:spcBef>
              <a:spcAft>
                <a:spcPts val="0"/>
              </a:spcAft>
              <a:buSzPts val="900"/>
              <a:buChar char="■"/>
              <a:defRPr/>
            </a:lvl8pPr>
            <a:lvl9pPr indent="-285750" lvl="8" marL="4114800" algn="l">
              <a:lnSpc>
                <a:spcPct val="100000"/>
              </a:lnSpc>
              <a:spcBef>
                <a:spcPts val="360"/>
              </a:spcBef>
              <a:spcAft>
                <a:spcPts val="0"/>
              </a:spcAft>
              <a:buSzPts val="900"/>
              <a:buChar char="■"/>
              <a:defRPr/>
            </a:lvl9pPr>
          </a:lstStyle>
          <a:p/>
        </p:txBody>
      </p:sp>
      <p:sp>
        <p:nvSpPr>
          <p:cNvPr id="26" name="Google Shape;26;p69"/>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70"/>
          <p:cNvSpPr txBox="1"/>
          <p:nvPr>
            <p:ph type="title"/>
          </p:nvPr>
        </p:nvSpPr>
        <p:spPr>
          <a:xfrm rot="5400000">
            <a:off x="4561682" y="2199482"/>
            <a:ext cx="5868987" cy="20764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70"/>
          <p:cNvSpPr txBox="1"/>
          <p:nvPr>
            <p:ph idx="1" type="body"/>
          </p:nvPr>
        </p:nvSpPr>
        <p:spPr>
          <a:xfrm rot="5400000">
            <a:off x="332582" y="199231"/>
            <a:ext cx="5868987" cy="6076950"/>
          </a:xfrm>
          <a:prstGeom prst="rect">
            <a:avLst/>
          </a:prstGeom>
          <a:noFill/>
          <a:ln>
            <a:noFill/>
          </a:ln>
        </p:spPr>
        <p:txBody>
          <a:bodyPr anchorCtr="0" anchor="t" bIns="45700" lIns="91425" spcFirstLastPara="1" rIns="0" wrap="square" tIns="45700">
            <a:noAutofit/>
          </a:bodyPr>
          <a:lstStyle>
            <a:lvl1pPr indent="-297180" lvl="0" marL="457200" algn="l">
              <a:lnSpc>
                <a:spcPct val="100000"/>
              </a:lnSpc>
              <a:spcBef>
                <a:spcPts val="360"/>
              </a:spcBef>
              <a:spcAft>
                <a:spcPts val="0"/>
              </a:spcAft>
              <a:buSzPts val="1080"/>
              <a:buChar char="■"/>
              <a:defRPr/>
            </a:lvl1pPr>
            <a:lvl2pPr indent="-291465" lvl="1" marL="914400" algn="l">
              <a:lnSpc>
                <a:spcPct val="100000"/>
              </a:lnSpc>
              <a:spcBef>
                <a:spcPts val="360"/>
              </a:spcBef>
              <a:spcAft>
                <a:spcPts val="0"/>
              </a:spcAft>
              <a:buSzPts val="990"/>
              <a:buChar char="■"/>
              <a:defRPr/>
            </a:lvl2pPr>
            <a:lvl3pPr indent="-285750" lvl="2" marL="1371600" algn="l">
              <a:lnSpc>
                <a:spcPct val="100000"/>
              </a:lnSpc>
              <a:spcBef>
                <a:spcPts val="360"/>
              </a:spcBef>
              <a:spcAft>
                <a:spcPts val="0"/>
              </a:spcAft>
              <a:buSzPts val="900"/>
              <a:buChar char="■"/>
              <a:defRPr/>
            </a:lvl3pPr>
            <a:lvl4pPr indent="-291464" lvl="3" marL="1828800" algn="l">
              <a:lnSpc>
                <a:spcPct val="100000"/>
              </a:lnSpc>
              <a:spcBef>
                <a:spcPts val="360"/>
              </a:spcBef>
              <a:spcAft>
                <a:spcPts val="0"/>
              </a:spcAft>
              <a:buSzPts val="990"/>
              <a:buChar char="■"/>
              <a:defRPr/>
            </a:lvl4pPr>
            <a:lvl5pPr indent="-285750" lvl="4" marL="2286000" algn="l">
              <a:lnSpc>
                <a:spcPct val="100000"/>
              </a:lnSpc>
              <a:spcBef>
                <a:spcPts val="360"/>
              </a:spcBef>
              <a:spcAft>
                <a:spcPts val="0"/>
              </a:spcAft>
              <a:buSzPts val="900"/>
              <a:buChar char="■"/>
              <a:defRPr/>
            </a:lvl5pPr>
            <a:lvl6pPr indent="-285750" lvl="5" marL="2743200" algn="l">
              <a:lnSpc>
                <a:spcPct val="100000"/>
              </a:lnSpc>
              <a:spcBef>
                <a:spcPts val="360"/>
              </a:spcBef>
              <a:spcAft>
                <a:spcPts val="0"/>
              </a:spcAft>
              <a:buSzPts val="900"/>
              <a:buChar char="■"/>
              <a:defRPr/>
            </a:lvl6pPr>
            <a:lvl7pPr indent="-285750" lvl="6" marL="3200400" algn="l">
              <a:lnSpc>
                <a:spcPct val="100000"/>
              </a:lnSpc>
              <a:spcBef>
                <a:spcPts val="360"/>
              </a:spcBef>
              <a:spcAft>
                <a:spcPts val="0"/>
              </a:spcAft>
              <a:buSzPts val="900"/>
              <a:buChar char="■"/>
              <a:defRPr/>
            </a:lvl7pPr>
            <a:lvl8pPr indent="-285750" lvl="7" marL="3657600" algn="l">
              <a:lnSpc>
                <a:spcPct val="100000"/>
              </a:lnSpc>
              <a:spcBef>
                <a:spcPts val="360"/>
              </a:spcBef>
              <a:spcAft>
                <a:spcPts val="0"/>
              </a:spcAft>
              <a:buSzPts val="900"/>
              <a:buChar char="■"/>
              <a:defRPr/>
            </a:lvl8pPr>
            <a:lvl9pPr indent="-285750" lvl="8" marL="4114800" algn="l">
              <a:lnSpc>
                <a:spcPct val="100000"/>
              </a:lnSpc>
              <a:spcBef>
                <a:spcPts val="360"/>
              </a:spcBef>
              <a:spcAft>
                <a:spcPts val="0"/>
              </a:spcAft>
              <a:buSzPts val="900"/>
              <a:buChar char="■"/>
              <a:defRPr/>
            </a:lvl9pPr>
          </a:lstStyle>
          <a:p/>
        </p:txBody>
      </p:sp>
      <p:sp>
        <p:nvSpPr>
          <p:cNvPr id="30" name="Google Shape;30;p70"/>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1" name="Shape 31"/>
        <p:cNvGrpSpPr/>
        <p:nvPr/>
      </p:nvGrpSpPr>
      <p:grpSpPr>
        <a:xfrm>
          <a:off x="0" y="0"/>
          <a:ext cx="0" cy="0"/>
          <a:chOff x="0" y="0"/>
          <a:chExt cx="0" cy="0"/>
        </a:xfrm>
      </p:grpSpPr>
      <p:sp>
        <p:nvSpPr>
          <p:cNvPr id="32" name="Google Shape;32;p7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71"/>
          <p:cNvSpPr txBox="1"/>
          <p:nvPr>
            <p:ph idx="1" type="body"/>
          </p:nvPr>
        </p:nvSpPr>
        <p:spPr>
          <a:xfrm rot="5400000">
            <a:off x="2101055" y="-261143"/>
            <a:ext cx="4572000" cy="8294687"/>
          </a:xfrm>
          <a:prstGeom prst="rect">
            <a:avLst/>
          </a:prstGeom>
          <a:noFill/>
          <a:ln>
            <a:noFill/>
          </a:ln>
        </p:spPr>
        <p:txBody>
          <a:bodyPr anchorCtr="0" anchor="t" bIns="45700" lIns="91425" spcFirstLastPara="1" rIns="0" wrap="square" tIns="45700">
            <a:noAutofit/>
          </a:bodyPr>
          <a:lstStyle>
            <a:lvl1pPr indent="-297180" lvl="0" marL="457200" algn="l">
              <a:lnSpc>
                <a:spcPct val="100000"/>
              </a:lnSpc>
              <a:spcBef>
                <a:spcPts val="360"/>
              </a:spcBef>
              <a:spcAft>
                <a:spcPts val="0"/>
              </a:spcAft>
              <a:buSzPts val="1080"/>
              <a:buChar char="■"/>
              <a:defRPr/>
            </a:lvl1pPr>
            <a:lvl2pPr indent="-291465" lvl="1" marL="914400" algn="l">
              <a:lnSpc>
                <a:spcPct val="100000"/>
              </a:lnSpc>
              <a:spcBef>
                <a:spcPts val="360"/>
              </a:spcBef>
              <a:spcAft>
                <a:spcPts val="0"/>
              </a:spcAft>
              <a:buSzPts val="990"/>
              <a:buChar char="■"/>
              <a:defRPr/>
            </a:lvl2pPr>
            <a:lvl3pPr indent="-285750" lvl="2" marL="1371600" algn="l">
              <a:lnSpc>
                <a:spcPct val="100000"/>
              </a:lnSpc>
              <a:spcBef>
                <a:spcPts val="360"/>
              </a:spcBef>
              <a:spcAft>
                <a:spcPts val="0"/>
              </a:spcAft>
              <a:buSzPts val="900"/>
              <a:buChar char="■"/>
              <a:defRPr/>
            </a:lvl3pPr>
            <a:lvl4pPr indent="-291464" lvl="3" marL="1828800" algn="l">
              <a:lnSpc>
                <a:spcPct val="100000"/>
              </a:lnSpc>
              <a:spcBef>
                <a:spcPts val="360"/>
              </a:spcBef>
              <a:spcAft>
                <a:spcPts val="0"/>
              </a:spcAft>
              <a:buSzPts val="990"/>
              <a:buChar char="■"/>
              <a:defRPr/>
            </a:lvl4pPr>
            <a:lvl5pPr indent="-285750" lvl="4" marL="2286000" algn="l">
              <a:lnSpc>
                <a:spcPct val="100000"/>
              </a:lnSpc>
              <a:spcBef>
                <a:spcPts val="360"/>
              </a:spcBef>
              <a:spcAft>
                <a:spcPts val="0"/>
              </a:spcAft>
              <a:buSzPts val="900"/>
              <a:buChar char="■"/>
              <a:defRPr/>
            </a:lvl5pPr>
            <a:lvl6pPr indent="-285750" lvl="5" marL="2743200" algn="l">
              <a:lnSpc>
                <a:spcPct val="100000"/>
              </a:lnSpc>
              <a:spcBef>
                <a:spcPts val="360"/>
              </a:spcBef>
              <a:spcAft>
                <a:spcPts val="0"/>
              </a:spcAft>
              <a:buSzPts val="900"/>
              <a:buChar char="■"/>
              <a:defRPr/>
            </a:lvl6pPr>
            <a:lvl7pPr indent="-285750" lvl="6" marL="3200400" algn="l">
              <a:lnSpc>
                <a:spcPct val="100000"/>
              </a:lnSpc>
              <a:spcBef>
                <a:spcPts val="360"/>
              </a:spcBef>
              <a:spcAft>
                <a:spcPts val="0"/>
              </a:spcAft>
              <a:buSzPts val="900"/>
              <a:buChar char="■"/>
              <a:defRPr/>
            </a:lvl7pPr>
            <a:lvl8pPr indent="-285750" lvl="7" marL="3657600" algn="l">
              <a:lnSpc>
                <a:spcPct val="100000"/>
              </a:lnSpc>
              <a:spcBef>
                <a:spcPts val="360"/>
              </a:spcBef>
              <a:spcAft>
                <a:spcPts val="0"/>
              </a:spcAft>
              <a:buSzPts val="900"/>
              <a:buChar char="■"/>
              <a:defRPr/>
            </a:lvl8pPr>
            <a:lvl9pPr indent="-285750" lvl="8" marL="4114800" algn="l">
              <a:lnSpc>
                <a:spcPct val="100000"/>
              </a:lnSpc>
              <a:spcBef>
                <a:spcPts val="360"/>
              </a:spcBef>
              <a:spcAft>
                <a:spcPts val="0"/>
              </a:spcAft>
              <a:buSzPts val="900"/>
              <a:buChar char="■"/>
              <a:defRPr/>
            </a:lvl9pPr>
          </a:lstStyle>
          <a:p/>
        </p:txBody>
      </p:sp>
      <p:sp>
        <p:nvSpPr>
          <p:cNvPr id="34" name="Google Shape;34;p71"/>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5" name="Shape 35"/>
        <p:cNvGrpSpPr/>
        <p:nvPr/>
      </p:nvGrpSpPr>
      <p:grpSpPr>
        <a:xfrm>
          <a:off x="0" y="0"/>
          <a:ext cx="0" cy="0"/>
          <a:chOff x="0" y="0"/>
          <a:chExt cx="0" cy="0"/>
        </a:xfrm>
      </p:grpSpPr>
      <p:sp>
        <p:nvSpPr>
          <p:cNvPr id="36" name="Google Shape;36;p7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72"/>
          <p:cNvSpPr/>
          <p:nvPr>
            <p:ph idx="2" type="pic"/>
          </p:nvPr>
        </p:nvSpPr>
        <p:spPr>
          <a:xfrm>
            <a:off x="1792288" y="612775"/>
            <a:ext cx="5486400" cy="4114800"/>
          </a:xfrm>
          <a:prstGeom prst="rect">
            <a:avLst/>
          </a:prstGeom>
          <a:noFill/>
          <a:ln>
            <a:noFill/>
          </a:ln>
        </p:spPr>
      </p:sp>
      <p:sp>
        <p:nvSpPr>
          <p:cNvPr id="38" name="Google Shape;38;p72"/>
          <p:cNvSpPr txBox="1"/>
          <p:nvPr>
            <p:ph idx="1" type="body"/>
          </p:nvPr>
        </p:nvSpPr>
        <p:spPr>
          <a:xfrm>
            <a:off x="1792288" y="5367338"/>
            <a:ext cx="5486400" cy="804862"/>
          </a:xfrm>
          <a:prstGeom prst="rect">
            <a:avLst/>
          </a:prstGeom>
          <a:noFill/>
          <a:ln>
            <a:noFill/>
          </a:ln>
        </p:spPr>
        <p:txBody>
          <a:bodyPr anchorCtr="0" anchor="t" bIns="45700" lIns="91425" spcFirstLastPara="1" rIns="0" wrap="square" tIns="45700">
            <a:noAutofit/>
          </a:bodyPr>
          <a:lstStyle>
            <a:lvl1pPr indent="-228600" lvl="0" marL="457200" algn="l">
              <a:lnSpc>
                <a:spcPct val="100000"/>
              </a:lnSpc>
              <a:spcBef>
                <a:spcPts val="280"/>
              </a:spcBef>
              <a:spcAft>
                <a:spcPts val="0"/>
              </a:spcAft>
              <a:buSzPts val="840"/>
              <a:buNone/>
              <a:defRPr sz="1400"/>
            </a:lvl1pPr>
            <a:lvl2pPr indent="-228600" lvl="1" marL="914400" algn="l">
              <a:lnSpc>
                <a:spcPct val="100000"/>
              </a:lnSpc>
              <a:spcBef>
                <a:spcPts val="240"/>
              </a:spcBef>
              <a:spcAft>
                <a:spcPts val="0"/>
              </a:spcAft>
              <a:buSzPts val="660"/>
              <a:buNone/>
              <a:defRPr sz="1200"/>
            </a:lvl2pPr>
            <a:lvl3pPr indent="-228600" lvl="2" marL="1371600" algn="l">
              <a:lnSpc>
                <a:spcPct val="100000"/>
              </a:lnSpc>
              <a:spcBef>
                <a:spcPts val="200"/>
              </a:spcBef>
              <a:spcAft>
                <a:spcPts val="0"/>
              </a:spcAft>
              <a:buSzPts val="500"/>
              <a:buNone/>
              <a:defRPr sz="1000"/>
            </a:lvl3pPr>
            <a:lvl4pPr indent="-228600" lvl="3" marL="1828800" algn="l">
              <a:lnSpc>
                <a:spcPct val="100000"/>
              </a:lnSpc>
              <a:spcBef>
                <a:spcPts val="180"/>
              </a:spcBef>
              <a:spcAft>
                <a:spcPts val="0"/>
              </a:spcAft>
              <a:buSzPts val="495"/>
              <a:buNone/>
              <a:defRPr sz="900"/>
            </a:lvl4pPr>
            <a:lvl5pPr indent="-228600" lvl="4" marL="2286000" algn="l">
              <a:lnSpc>
                <a:spcPct val="100000"/>
              </a:lnSpc>
              <a:spcBef>
                <a:spcPts val="180"/>
              </a:spcBef>
              <a:spcAft>
                <a:spcPts val="0"/>
              </a:spcAft>
              <a:buSzPts val="450"/>
              <a:buNone/>
              <a:defRPr sz="900"/>
            </a:lvl5pPr>
            <a:lvl6pPr indent="-228600" lvl="5" marL="2743200" algn="l">
              <a:lnSpc>
                <a:spcPct val="100000"/>
              </a:lnSpc>
              <a:spcBef>
                <a:spcPts val="180"/>
              </a:spcBef>
              <a:spcAft>
                <a:spcPts val="0"/>
              </a:spcAft>
              <a:buSzPts val="450"/>
              <a:buNone/>
              <a:defRPr sz="900"/>
            </a:lvl6pPr>
            <a:lvl7pPr indent="-228600" lvl="6" marL="3200400" algn="l">
              <a:lnSpc>
                <a:spcPct val="100000"/>
              </a:lnSpc>
              <a:spcBef>
                <a:spcPts val="180"/>
              </a:spcBef>
              <a:spcAft>
                <a:spcPts val="0"/>
              </a:spcAft>
              <a:buSzPts val="450"/>
              <a:buNone/>
              <a:defRPr sz="900"/>
            </a:lvl7pPr>
            <a:lvl8pPr indent="-228600" lvl="7" marL="3657600" algn="l">
              <a:lnSpc>
                <a:spcPct val="100000"/>
              </a:lnSpc>
              <a:spcBef>
                <a:spcPts val="180"/>
              </a:spcBef>
              <a:spcAft>
                <a:spcPts val="0"/>
              </a:spcAft>
              <a:buSzPts val="450"/>
              <a:buNone/>
              <a:defRPr sz="900"/>
            </a:lvl8pPr>
            <a:lvl9pPr indent="-228600" lvl="8" marL="4114800" algn="l">
              <a:lnSpc>
                <a:spcPct val="100000"/>
              </a:lnSpc>
              <a:spcBef>
                <a:spcPts val="180"/>
              </a:spcBef>
              <a:spcAft>
                <a:spcPts val="0"/>
              </a:spcAft>
              <a:buSzPts val="450"/>
              <a:buNone/>
              <a:defRPr sz="900"/>
            </a:lvl9pPr>
          </a:lstStyle>
          <a:p/>
        </p:txBody>
      </p:sp>
      <p:sp>
        <p:nvSpPr>
          <p:cNvPr id="39" name="Google Shape;39;p72"/>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0" name="Shape 40"/>
        <p:cNvGrpSpPr/>
        <p:nvPr/>
      </p:nvGrpSpPr>
      <p:grpSpPr>
        <a:xfrm>
          <a:off x="0" y="0"/>
          <a:ext cx="0" cy="0"/>
          <a:chOff x="0" y="0"/>
          <a:chExt cx="0" cy="0"/>
        </a:xfrm>
      </p:grpSpPr>
      <p:sp>
        <p:nvSpPr>
          <p:cNvPr id="41" name="Google Shape;41;p7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3"/>
          <p:cNvSpPr txBox="1"/>
          <p:nvPr>
            <p:ph idx="1" type="body"/>
          </p:nvPr>
        </p:nvSpPr>
        <p:spPr>
          <a:xfrm>
            <a:off x="3575050" y="273050"/>
            <a:ext cx="5111750" cy="5853113"/>
          </a:xfrm>
          <a:prstGeom prst="rect">
            <a:avLst/>
          </a:prstGeom>
          <a:noFill/>
          <a:ln>
            <a:noFill/>
          </a:ln>
        </p:spPr>
        <p:txBody>
          <a:bodyPr anchorCtr="0" anchor="t" bIns="45700" lIns="91425" spcFirstLastPara="1" rIns="0" wrap="square" tIns="45700">
            <a:noAutofit/>
          </a:bodyPr>
          <a:lstStyle>
            <a:lvl1pPr indent="-350520" lvl="0" marL="457200" algn="l">
              <a:lnSpc>
                <a:spcPct val="100000"/>
              </a:lnSpc>
              <a:spcBef>
                <a:spcPts val="640"/>
              </a:spcBef>
              <a:spcAft>
                <a:spcPts val="0"/>
              </a:spcAft>
              <a:buSzPts val="1920"/>
              <a:buChar char="■"/>
              <a:defRPr sz="3200"/>
            </a:lvl1pPr>
            <a:lvl2pPr indent="-326390" lvl="1" marL="914400" algn="l">
              <a:lnSpc>
                <a:spcPct val="100000"/>
              </a:lnSpc>
              <a:spcBef>
                <a:spcPts val="560"/>
              </a:spcBef>
              <a:spcAft>
                <a:spcPts val="0"/>
              </a:spcAft>
              <a:buSzPts val="1540"/>
              <a:buChar char="■"/>
              <a:defRPr sz="2800"/>
            </a:lvl2pPr>
            <a:lvl3pPr indent="-304800" lvl="2" marL="1371600" algn="l">
              <a:lnSpc>
                <a:spcPct val="100000"/>
              </a:lnSpc>
              <a:spcBef>
                <a:spcPts val="480"/>
              </a:spcBef>
              <a:spcAft>
                <a:spcPts val="0"/>
              </a:spcAft>
              <a:buSzPts val="1200"/>
              <a:buChar char="■"/>
              <a:defRPr sz="2400"/>
            </a:lvl3pPr>
            <a:lvl4pPr indent="-298450" lvl="3" marL="1828800" algn="l">
              <a:lnSpc>
                <a:spcPct val="100000"/>
              </a:lnSpc>
              <a:spcBef>
                <a:spcPts val="400"/>
              </a:spcBef>
              <a:spcAft>
                <a:spcPts val="0"/>
              </a:spcAft>
              <a:buSzPts val="1100"/>
              <a:buChar char="■"/>
              <a:defRPr sz="2000"/>
            </a:lvl4pPr>
            <a:lvl5pPr indent="-292100" lvl="4" marL="2286000" algn="l">
              <a:lnSpc>
                <a:spcPct val="100000"/>
              </a:lnSpc>
              <a:spcBef>
                <a:spcPts val="400"/>
              </a:spcBef>
              <a:spcAft>
                <a:spcPts val="0"/>
              </a:spcAft>
              <a:buSzPts val="1000"/>
              <a:buChar char="■"/>
              <a:defRPr sz="2000"/>
            </a:lvl5pPr>
            <a:lvl6pPr indent="-292100" lvl="5" marL="2743200" algn="l">
              <a:lnSpc>
                <a:spcPct val="100000"/>
              </a:lnSpc>
              <a:spcBef>
                <a:spcPts val="400"/>
              </a:spcBef>
              <a:spcAft>
                <a:spcPts val="0"/>
              </a:spcAft>
              <a:buSzPts val="1000"/>
              <a:buChar char="■"/>
              <a:defRPr sz="2000"/>
            </a:lvl6pPr>
            <a:lvl7pPr indent="-292100" lvl="6" marL="3200400" algn="l">
              <a:lnSpc>
                <a:spcPct val="100000"/>
              </a:lnSpc>
              <a:spcBef>
                <a:spcPts val="400"/>
              </a:spcBef>
              <a:spcAft>
                <a:spcPts val="0"/>
              </a:spcAft>
              <a:buSzPts val="1000"/>
              <a:buChar char="■"/>
              <a:defRPr sz="2000"/>
            </a:lvl7pPr>
            <a:lvl8pPr indent="-292100" lvl="7" marL="3657600" algn="l">
              <a:lnSpc>
                <a:spcPct val="100000"/>
              </a:lnSpc>
              <a:spcBef>
                <a:spcPts val="400"/>
              </a:spcBef>
              <a:spcAft>
                <a:spcPts val="0"/>
              </a:spcAft>
              <a:buSzPts val="1000"/>
              <a:buChar char="■"/>
              <a:defRPr sz="2000"/>
            </a:lvl8pPr>
            <a:lvl9pPr indent="-292100" lvl="8" marL="4114800" algn="l">
              <a:lnSpc>
                <a:spcPct val="100000"/>
              </a:lnSpc>
              <a:spcBef>
                <a:spcPts val="400"/>
              </a:spcBef>
              <a:spcAft>
                <a:spcPts val="0"/>
              </a:spcAft>
              <a:buSzPts val="1000"/>
              <a:buChar char="■"/>
              <a:defRPr sz="2000"/>
            </a:lvl9pPr>
          </a:lstStyle>
          <a:p/>
        </p:txBody>
      </p:sp>
      <p:sp>
        <p:nvSpPr>
          <p:cNvPr id="43" name="Google Shape;43;p73"/>
          <p:cNvSpPr txBox="1"/>
          <p:nvPr>
            <p:ph idx="2" type="body"/>
          </p:nvPr>
        </p:nvSpPr>
        <p:spPr>
          <a:xfrm>
            <a:off x="457200" y="1435100"/>
            <a:ext cx="3008313" cy="4691063"/>
          </a:xfrm>
          <a:prstGeom prst="rect">
            <a:avLst/>
          </a:prstGeom>
          <a:noFill/>
          <a:ln>
            <a:noFill/>
          </a:ln>
        </p:spPr>
        <p:txBody>
          <a:bodyPr anchorCtr="0" anchor="t" bIns="45700" lIns="91425" spcFirstLastPara="1" rIns="0" wrap="square" tIns="45700">
            <a:noAutofit/>
          </a:bodyPr>
          <a:lstStyle>
            <a:lvl1pPr indent="-228600" lvl="0" marL="457200" algn="l">
              <a:lnSpc>
                <a:spcPct val="100000"/>
              </a:lnSpc>
              <a:spcBef>
                <a:spcPts val="280"/>
              </a:spcBef>
              <a:spcAft>
                <a:spcPts val="0"/>
              </a:spcAft>
              <a:buSzPts val="840"/>
              <a:buNone/>
              <a:defRPr sz="1400"/>
            </a:lvl1pPr>
            <a:lvl2pPr indent="-228600" lvl="1" marL="914400" algn="l">
              <a:lnSpc>
                <a:spcPct val="100000"/>
              </a:lnSpc>
              <a:spcBef>
                <a:spcPts val="240"/>
              </a:spcBef>
              <a:spcAft>
                <a:spcPts val="0"/>
              </a:spcAft>
              <a:buSzPts val="660"/>
              <a:buNone/>
              <a:defRPr sz="1200"/>
            </a:lvl2pPr>
            <a:lvl3pPr indent="-228600" lvl="2" marL="1371600" algn="l">
              <a:lnSpc>
                <a:spcPct val="100000"/>
              </a:lnSpc>
              <a:spcBef>
                <a:spcPts val="200"/>
              </a:spcBef>
              <a:spcAft>
                <a:spcPts val="0"/>
              </a:spcAft>
              <a:buSzPts val="500"/>
              <a:buNone/>
              <a:defRPr sz="1000"/>
            </a:lvl3pPr>
            <a:lvl4pPr indent="-228600" lvl="3" marL="1828800" algn="l">
              <a:lnSpc>
                <a:spcPct val="100000"/>
              </a:lnSpc>
              <a:spcBef>
                <a:spcPts val="180"/>
              </a:spcBef>
              <a:spcAft>
                <a:spcPts val="0"/>
              </a:spcAft>
              <a:buSzPts val="495"/>
              <a:buNone/>
              <a:defRPr sz="900"/>
            </a:lvl4pPr>
            <a:lvl5pPr indent="-228600" lvl="4" marL="2286000" algn="l">
              <a:lnSpc>
                <a:spcPct val="100000"/>
              </a:lnSpc>
              <a:spcBef>
                <a:spcPts val="180"/>
              </a:spcBef>
              <a:spcAft>
                <a:spcPts val="0"/>
              </a:spcAft>
              <a:buSzPts val="450"/>
              <a:buNone/>
              <a:defRPr sz="900"/>
            </a:lvl5pPr>
            <a:lvl6pPr indent="-228600" lvl="5" marL="2743200" algn="l">
              <a:lnSpc>
                <a:spcPct val="100000"/>
              </a:lnSpc>
              <a:spcBef>
                <a:spcPts val="180"/>
              </a:spcBef>
              <a:spcAft>
                <a:spcPts val="0"/>
              </a:spcAft>
              <a:buSzPts val="450"/>
              <a:buNone/>
              <a:defRPr sz="900"/>
            </a:lvl6pPr>
            <a:lvl7pPr indent="-228600" lvl="6" marL="3200400" algn="l">
              <a:lnSpc>
                <a:spcPct val="100000"/>
              </a:lnSpc>
              <a:spcBef>
                <a:spcPts val="180"/>
              </a:spcBef>
              <a:spcAft>
                <a:spcPts val="0"/>
              </a:spcAft>
              <a:buSzPts val="450"/>
              <a:buNone/>
              <a:defRPr sz="900"/>
            </a:lvl7pPr>
            <a:lvl8pPr indent="-228600" lvl="7" marL="3657600" algn="l">
              <a:lnSpc>
                <a:spcPct val="100000"/>
              </a:lnSpc>
              <a:spcBef>
                <a:spcPts val="180"/>
              </a:spcBef>
              <a:spcAft>
                <a:spcPts val="0"/>
              </a:spcAft>
              <a:buSzPts val="450"/>
              <a:buNone/>
              <a:defRPr sz="900"/>
            </a:lvl8pPr>
            <a:lvl9pPr indent="-228600" lvl="8" marL="4114800" algn="l">
              <a:lnSpc>
                <a:spcPct val="100000"/>
              </a:lnSpc>
              <a:spcBef>
                <a:spcPts val="180"/>
              </a:spcBef>
              <a:spcAft>
                <a:spcPts val="0"/>
              </a:spcAft>
              <a:buSzPts val="450"/>
              <a:buNone/>
              <a:defRPr sz="900"/>
            </a:lvl9pPr>
          </a:lstStyle>
          <a:p/>
        </p:txBody>
      </p:sp>
      <p:sp>
        <p:nvSpPr>
          <p:cNvPr id="44" name="Google Shape;44;p73"/>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74"/>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75"/>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5"/>
          <p:cNvSpPr txBox="1"/>
          <p:nvPr>
            <p:ph idx="1" type="body"/>
          </p:nvPr>
        </p:nvSpPr>
        <p:spPr>
          <a:xfrm>
            <a:off x="457200" y="1535113"/>
            <a:ext cx="4040188" cy="639762"/>
          </a:xfrm>
          <a:prstGeom prst="rect">
            <a:avLst/>
          </a:prstGeom>
          <a:noFill/>
          <a:ln>
            <a:noFill/>
          </a:ln>
        </p:spPr>
        <p:txBody>
          <a:bodyPr anchorCtr="0" anchor="b" bIns="45700" lIns="91425" spcFirstLastPara="1" rIns="0" wrap="square" tIns="45700">
            <a:noAutofit/>
          </a:bodyPr>
          <a:lstStyle>
            <a:lvl1pPr indent="-228600" lvl="0" marL="457200" algn="l">
              <a:lnSpc>
                <a:spcPct val="100000"/>
              </a:lnSpc>
              <a:spcBef>
                <a:spcPts val="480"/>
              </a:spcBef>
              <a:spcAft>
                <a:spcPts val="0"/>
              </a:spcAft>
              <a:buSzPts val="1440"/>
              <a:buNone/>
              <a:defRPr b="1" sz="2400"/>
            </a:lvl1pPr>
            <a:lvl2pPr indent="-228600" lvl="1" marL="914400" algn="l">
              <a:lnSpc>
                <a:spcPct val="100000"/>
              </a:lnSpc>
              <a:spcBef>
                <a:spcPts val="400"/>
              </a:spcBef>
              <a:spcAft>
                <a:spcPts val="0"/>
              </a:spcAft>
              <a:buSzPts val="1100"/>
              <a:buNone/>
              <a:defRPr b="1" sz="2000"/>
            </a:lvl2pPr>
            <a:lvl3pPr indent="-228600" lvl="2" marL="1371600" algn="l">
              <a:lnSpc>
                <a:spcPct val="100000"/>
              </a:lnSpc>
              <a:spcBef>
                <a:spcPts val="360"/>
              </a:spcBef>
              <a:spcAft>
                <a:spcPts val="0"/>
              </a:spcAft>
              <a:buSzPts val="900"/>
              <a:buNone/>
              <a:defRPr b="1" sz="1800"/>
            </a:lvl3pPr>
            <a:lvl4pPr indent="-228600" lvl="3" marL="1828800" algn="l">
              <a:lnSpc>
                <a:spcPct val="100000"/>
              </a:lnSpc>
              <a:spcBef>
                <a:spcPts val="320"/>
              </a:spcBef>
              <a:spcAft>
                <a:spcPts val="0"/>
              </a:spcAft>
              <a:buSzPts val="880"/>
              <a:buNone/>
              <a:defRPr b="1" sz="1600"/>
            </a:lvl4pPr>
            <a:lvl5pPr indent="-228600" lvl="4" marL="2286000" algn="l">
              <a:lnSpc>
                <a:spcPct val="100000"/>
              </a:lnSpc>
              <a:spcBef>
                <a:spcPts val="320"/>
              </a:spcBef>
              <a:spcAft>
                <a:spcPts val="0"/>
              </a:spcAft>
              <a:buSzPts val="800"/>
              <a:buNone/>
              <a:defRPr b="1" sz="1600"/>
            </a:lvl5pPr>
            <a:lvl6pPr indent="-228600" lvl="5" marL="2743200" algn="l">
              <a:lnSpc>
                <a:spcPct val="100000"/>
              </a:lnSpc>
              <a:spcBef>
                <a:spcPts val="320"/>
              </a:spcBef>
              <a:spcAft>
                <a:spcPts val="0"/>
              </a:spcAft>
              <a:buSzPts val="800"/>
              <a:buNone/>
              <a:defRPr b="1" sz="1600"/>
            </a:lvl6pPr>
            <a:lvl7pPr indent="-228600" lvl="6" marL="3200400" algn="l">
              <a:lnSpc>
                <a:spcPct val="100000"/>
              </a:lnSpc>
              <a:spcBef>
                <a:spcPts val="320"/>
              </a:spcBef>
              <a:spcAft>
                <a:spcPts val="0"/>
              </a:spcAft>
              <a:buSzPts val="800"/>
              <a:buNone/>
              <a:defRPr b="1" sz="1600"/>
            </a:lvl7pPr>
            <a:lvl8pPr indent="-228600" lvl="7" marL="3657600" algn="l">
              <a:lnSpc>
                <a:spcPct val="100000"/>
              </a:lnSpc>
              <a:spcBef>
                <a:spcPts val="320"/>
              </a:spcBef>
              <a:spcAft>
                <a:spcPts val="0"/>
              </a:spcAft>
              <a:buSzPts val="800"/>
              <a:buNone/>
              <a:defRPr b="1" sz="1600"/>
            </a:lvl8pPr>
            <a:lvl9pPr indent="-228600" lvl="8" marL="4114800" algn="l">
              <a:lnSpc>
                <a:spcPct val="100000"/>
              </a:lnSpc>
              <a:spcBef>
                <a:spcPts val="320"/>
              </a:spcBef>
              <a:spcAft>
                <a:spcPts val="0"/>
              </a:spcAft>
              <a:buSzPts val="800"/>
              <a:buNone/>
              <a:defRPr b="1" sz="1600"/>
            </a:lvl9pPr>
          </a:lstStyle>
          <a:p/>
        </p:txBody>
      </p:sp>
      <p:sp>
        <p:nvSpPr>
          <p:cNvPr id="50" name="Google Shape;50;p75"/>
          <p:cNvSpPr txBox="1"/>
          <p:nvPr>
            <p:ph idx="2" type="body"/>
          </p:nvPr>
        </p:nvSpPr>
        <p:spPr>
          <a:xfrm>
            <a:off x="457200" y="2174875"/>
            <a:ext cx="4040188" cy="3951288"/>
          </a:xfrm>
          <a:prstGeom prst="rect">
            <a:avLst/>
          </a:prstGeom>
          <a:noFill/>
          <a:ln>
            <a:noFill/>
          </a:ln>
        </p:spPr>
        <p:txBody>
          <a:bodyPr anchorCtr="0" anchor="t" bIns="45700" lIns="91425" spcFirstLastPara="1" rIns="0" wrap="square" tIns="45700">
            <a:noAutofit/>
          </a:bodyPr>
          <a:lstStyle>
            <a:lvl1pPr indent="-320040" lvl="0" marL="457200" algn="l">
              <a:lnSpc>
                <a:spcPct val="100000"/>
              </a:lnSpc>
              <a:spcBef>
                <a:spcPts val="480"/>
              </a:spcBef>
              <a:spcAft>
                <a:spcPts val="0"/>
              </a:spcAft>
              <a:buSzPts val="1440"/>
              <a:buChar char="■"/>
              <a:defRPr sz="2400"/>
            </a:lvl1pPr>
            <a:lvl2pPr indent="-298450" lvl="1" marL="914400" algn="l">
              <a:lnSpc>
                <a:spcPct val="100000"/>
              </a:lnSpc>
              <a:spcBef>
                <a:spcPts val="400"/>
              </a:spcBef>
              <a:spcAft>
                <a:spcPts val="0"/>
              </a:spcAft>
              <a:buSzPts val="1100"/>
              <a:buChar char="■"/>
              <a:defRPr sz="2000"/>
            </a:lvl2pPr>
            <a:lvl3pPr indent="-285750" lvl="2" marL="1371600" algn="l">
              <a:lnSpc>
                <a:spcPct val="100000"/>
              </a:lnSpc>
              <a:spcBef>
                <a:spcPts val="360"/>
              </a:spcBef>
              <a:spcAft>
                <a:spcPts val="0"/>
              </a:spcAft>
              <a:buSzPts val="900"/>
              <a:buChar char="■"/>
              <a:defRPr sz="1800"/>
            </a:lvl3pPr>
            <a:lvl4pPr indent="-284480" lvl="3" marL="1828800" algn="l">
              <a:lnSpc>
                <a:spcPct val="100000"/>
              </a:lnSpc>
              <a:spcBef>
                <a:spcPts val="320"/>
              </a:spcBef>
              <a:spcAft>
                <a:spcPts val="0"/>
              </a:spcAft>
              <a:buSzPts val="880"/>
              <a:buChar char="■"/>
              <a:defRPr sz="1600"/>
            </a:lvl4pPr>
            <a:lvl5pPr indent="-279400" lvl="4" marL="2286000" algn="l">
              <a:lnSpc>
                <a:spcPct val="100000"/>
              </a:lnSpc>
              <a:spcBef>
                <a:spcPts val="320"/>
              </a:spcBef>
              <a:spcAft>
                <a:spcPts val="0"/>
              </a:spcAft>
              <a:buSzPts val="800"/>
              <a:buChar char="■"/>
              <a:defRPr sz="1600"/>
            </a:lvl5pPr>
            <a:lvl6pPr indent="-279400" lvl="5" marL="2743200" algn="l">
              <a:lnSpc>
                <a:spcPct val="100000"/>
              </a:lnSpc>
              <a:spcBef>
                <a:spcPts val="320"/>
              </a:spcBef>
              <a:spcAft>
                <a:spcPts val="0"/>
              </a:spcAft>
              <a:buSzPts val="800"/>
              <a:buChar char="■"/>
              <a:defRPr sz="1600"/>
            </a:lvl6pPr>
            <a:lvl7pPr indent="-279400" lvl="6" marL="3200400" algn="l">
              <a:lnSpc>
                <a:spcPct val="100000"/>
              </a:lnSpc>
              <a:spcBef>
                <a:spcPts val="320"/>
              </a:spcBef>
              <a:spcAft>
                <a:spcPts val="0"/>
              </a:spcAft>
              <a:buSzPts val="800"/>
              <a:buChar char="■"/>
              <a:defRPr sz="1600"/>
            </a:lvl7pPr>
            <a:lvl8pPr indent="-279400" lvl="7" marL="3657600" algn="l">
              <a:lnSpc>
                <a:spcPct val="100000"/>
              </a:lnSpc>
              <a:spcBef>
                <a:spcPts val="320"/>
              </a:spcBef>
              <a:spcAft>
                <a:spcPts val="0"/>
              </a:spcAft>
              <a:buSzPts val="800"/>
              <a:buChar char="■"/>
              <a:defRPr sz="1600"/>
            </a:lvl8pPr>
            <a:lvl9pPr indent="-279400" lvl="8" marL="4114800" algn="l">
              <a:lnSpc>
                <a:spcPct val="100000"/>
              </a:lnSpc>
              <a:spcBef>
                <a:spcPts val="320"/>
              </a:spcBef>
              <a:spcAft>
                <a:spcPts val="0"/>
              </a:spcAft>
              <a:buSzPts val="800"/>
              <a:buChar char="■"/>
              <a:defRPr sz="1600"/>
            </a:lvl9pPr>
          </a:lstStyle>
          <a:p/>
        </p:txBody>
      </p:sp>
      <p:sp>
        <p:nvSpPr>
          <p:cNvPr id="51" name="Google Shape;51;p75"/>
          <p:cNvSpPr txBox="1"/>
          <p:nvPr>
            <p:ph idx="3" type="body"/>
          </p:nvPr>
        </p:nvSpPr>
        <p:spPr>
          <a:xfrm>
            <a:off x="4645025" y="1535113"/>
            <a:ext cx="4041775" cy="639762"/>
          </a:xfrm>
          <a:prstGeom prst="rect">
            <a:avLst/>
          </a:prstGeom>
          <a:noFill/>
          <a:ln>
            <a:noFill/>
          </a:ln>
        </p:spPr>
        <p:txBody>
          <a:bodyPr anchorCtr="0" anchor="b" bIns="45700" lIns="91425" spcFirstLastPara="1" rIns="0" wrap="square" tIns="45700">
            <a:noAutofit/>
          </a:bodyPr>
          <a:lstStyle>
            <a:lvl1pPr indent="-228600" lvl="0" marL="457200" algn="l">
              <a:lnSpc>
                <a:spcPct val="100000"/>
              </a:lnSpc>
              <a:spcBef>
                <a:spcPts val="480"/>
              </a:spcBef>
              <a:spcAft>
                <a:spcPts val="0"/>
              </a:spcAft>
              <a:buSzPts val="1440"/>
              <a:buNone/>
              <a:defRPr b="1" sz="2400"/>
            </a:lvl1pPr>
            <a:lvl2pPr indent="-228600" lvl="1" marL="914400" algn="l">
              <a:lnSpc>
                <a:spcPct val="100000"/>
              </a:lnSpc>
              <a:spcBef>
                <a:spcPts val="400"/>
              </a:spcBef>
              <a:spcAft>
                <a:spcPts val="0"/>
              </a:spcAft>
              <a:buSzPts val="1100"/>
              <a:buNone/>
              <a:defRPr b="1" sz="2000"/>
            </a:lvl2pPr>
            <a:lvl3pPr indent="-228600" lvl="2" marL="1371600" algn="l">
              <a:lnSpc>
                <a:spcPct val="100000"/>
              </a:lnSpc>
              <a:spcBef>
                <a:spcPts val="360"/>
              </a:spcBef>
              <a:spcAft>
                <a:spcPts val="0"/>
              </a:spcAft>
              <a:buSzPts val="900"/>
              <a:buNone/>
              <a:defRPr b="1" sz="1800"/>
            </a:lvl3pPr>
            <a:lvl4pPr indent="-228600" lvl="3" marL="1828800" algn="l">
              <a:lnSpc>
                <a:spcPct val="100000"/>
              </a:lnSpc>
              <a:spcBef>
                <a:spcPts val="320"/>
              </a:spcBef>
              <a:spcAft>
                <a:spcPts val="0"/>
              </a:spcAft>
              <a:buSzPts val="880"/>
              <a:buNone/>
              <a:defRPr b="1" sz="1600"/>
            </a:lvl4pPr>
            <a:lvl5pPr indent="-228600" lvl="4" marL="2286000" algn="l">
              <a:lnSpc>
                <a:spcPct val="100000"/>
              </a:lnSpc>
              <a:spcBef>
                <a:spcPts val="320"/>
              </a:spcBef>
              <a:spcAft>
                <a:spcPts val="0"/>
              </a:spcAft>
              <a:buSzPts val="800"/>
              <a:buNone/>
              <a:defRPr b="1" sz="1600"/>
            </a:lvl5pPr>
            <a:lvl6pPr indent="-228600" lvl="5" marL="2743200" algn="l">
              <a:lnSpc>
                <a:spcPct val="100000"/>
              </a:lnSpc>
              <a:spcBef>
                <a:spcPts val="320"/>
              </a:spcBef>
              <a:spcAft>
                <a:spcPts val="0"/>
              </a:spcAft>
              <a:buSzPts val="800"/>
              <a:buNone/>
              <a:defRPr b="1" sz="1600"/>
            </a:lvl6pPr>
            <a:lvl7pPr indent="-228600" lvl="6" marL="3200400" algn="l">
              <a:lnSpc>
                <a:spcPct val="100000"/>
              </a:lnSpc>
              <a:spcBef>
                <a:spcPts val="320"/>
              </a:spcBef>
              <a:spcAft>
                <a:spcPts val="0"/>
              </a:spcAft>
              <a:buSzPts val="800"/>
              <a:buNone/>
              <a:defRPr b="1" sz="1600"/>
            </a:lvl7pPr>
            <a:lvl8pPr indent="-228600" lvl="7" marL="3657600" algn="l">
              <a:lnSpc>
                <a:spcPct val="100000"/>
              </a:lnSpc>
              <a:spcBef>
                <a:spcPts val="320"/>
              </a:spcBef>
              <a:spcAft>
                <a:spcPts val="0"/>
              </a:spcAft>
              <a:buSzPts val="800"/>
              <a:buNone/>
              <a:defRPr b="1" sz="1600"/>
            </a:lvl8pPr>
            <a:lvl9pPr indent="-228600" lvl="8" marL="4114800" algn="l">
              <a:lnSpc>
                <a:spcPct val="100000"/>
              </a:lnSpc>
              <a:spcBef>
                <a:spcPts val="320"/>
              </a:spcBef>
              <a:spcAft>
                <a:spcPts val="0"/>
              </a:spcAft>
              <a:buSzPts val="800"/>
              <a:buNone/>
              <a:defRPr b="1" sz="1600"/>
            </a:lvl9pPr>
          </a:lstStyle>
          <a:p/>
        </p:txBody>
      </p:sp>
      <p:sp>
        <p:nvSpPr>
          <p:cNvPr id="52" name="Google Shape;52;p75"/>
          <p:cNvSpPr txBox="1"/>
          <p:nvPr>
            <p:ph idx="4" type="body"/>
          </p:nvPr>
        </p:nvSpPr>
        <p:spPr>
          <a:xfrm>
            <a:off x="4645025" y="2174875"/>
            <a:ext cx="4041775" cy="3951288"/>
          </a:xfrm>
          <a:prstGeom prst="rect">
            <a:avLst/>
          </a:prstGeom>
          <a:noFill/>
          <a:ln>
            <a:noFill/>
          </a:ln>
        </p:spPr>
        <p:txBody>
          <a:bodyPr anchorCtr="0" anchor="t" bIns="45700" lIns="91425" spcFirstLastPara="1" rIns="0" wrap="square" tIns="45700">
            <a:noAutofit/>
          </a:bodyPr>
          <a:lstStyle>
            <a:lvl1pPr indent="-320040" lvl="0" marL="457200" algn="l">
              <a:lnSpc>
                <a:spcPct val="100000"/>
              </a:lnSpc>
              <a:spcBef>
                <a:spcPts val="480"/>
              </a:spcBef>
              <a:spcAft>
                <a:spcPts val="0"/>
              </a:spcAft>
              <a:buSzPts val="1440"/>
              <a:buChar char="■"/>
              <a:defRPr sz="2400"/>
            </a:lvl1pPr>
            <a:lvl2pPr indent="-298450" lvl="1" marL="914400" algn="l">
              <a:lnSpc>
                <a:spcPct val="100000"/>
              </a:lnSpc>
              <a:spcBef>
                <a:spcPts val="400"/>
              </a:spcBef>
              <a:spcAft>
                <a:spcPts val="0"/>
              </a:spcAft>
              <a:buSzPts val="1100"/>
              <a:buChar char="■"/>
              <a:defRPr sz="2000"/>
            </a:lvl2pPr>
            <a:lvl3pPr indent="-285750" lvl="2" marL="1371600" algn="l">
              <a:lnSpc>
                <a:spcPct val="100000"/>
              </a:lnSpc>
              <a:spcBef>
                <a:spcPts val="360"/>
              </a:spcBef>
              <a:spcAft>
                <a:spcPts val="0"/>
              </a:spcAft>
              <a:buSzPts val="900"/>
              <a:buChar char="■"/>
              <a:defRPr sz="1800"/>
            </a:lvl3pPr>
            <a:lvl4pPr indent="-284480" lvl="3" marL="1828800" algn="l">
              <a:lnSpc>
                <a:spcPct val="100000"/>
              </a:lnSpc>
              <a:spcBef>
                <a:spcPts val="320"/>
              </a:spcBef>
              <a:spcAft>
                <a:spcPts val="0"/>
              </a:spcAft>
              <a:buSzPts val="880"/>
              <a:buChar char="■"/>
              <a:defRPr sz="1600"/>
            </a:lvl4pPr>
            <a:lvl5pPr indent="-279400" lvl="4" marL="2286000" algn="l">
              <a:lnSpc>
                <a:spcPct val="100000"/>
              </a:lnSpc>
              <a:spcBef>
                <a:spcPts val="320"/>
              </a:spcBef>
              <a:spcAft>
                <a:spcPts val="0"/>
              </a:spcAft>
              <a:buSzPts val="800"/>
              <a:buChar char="■"/>
              <a:defRPr sz="1600"/>
            </a:lvl5pPr>
            <a:lvl6pPr indent="-279400" lvl="5" marL="2743200" algn="l">
              <a:lnSpc>
                <a:spcPct val="100000"/>
              </a:lnSpc>
              <a:spcBef>
                <a:spcPts val="320"/>
              </a:spcBef>
              <a:spcAft>
                <a:spcPts val="0"/>
              </a:spcAft>
              <a:buSzPts val="800"/>
              <a:buChar char="■"/>
              <a:defRPr sz="1600"/>
            </a:lvl6pPr>
            <a:lvl7pPr indent="-279400" lvl="6" marL="3200400" algn="l">
              <a:lnSpc>
                <a:spcPct val="100000"/>
              </a:lnSpc>
              <a:spcBef>
                <a:spcPts val="320"/>
              </a:spcBef>
              <a:spcAft>
                <a:spcPts val="0"/>
              </a:spcAft>
              <a:buSzPts val="800"/>
              <a:buChar char="■"/>
              <a:defRPr sz="1600"/>
            </a:lvl7pPr>
            <a:lvl8pPr indent="-279400" lvl="7" marL="3657600" algn="l">
              <a:lnSpc>
                <a:spcPct val="100000"/>
              </a:lnSpc>
              <a:spcBef>
                <a:spcPts val="320"/>
              </a:spcBef>
              <a:spcAft>
                <a:spcPts val="0"/>
              </a:spcAft>
              <a:buSzPts val="800"/>
              <a:buChar char="■"/>
              <a:defRPr sz="1600"/>
            </a:lvl8pPr>
            <a:lvl9pPr indent="-279400" lvl="8" marL="4114800" algn="l">
              <a:lnSpc>
                <a:spcPct val="100000"/>
              </a:lnSpc>
              <a:spcBef>
                <a:spcPts val="320"/>
              </a:spcBef>
              <a:spcAft>
                <a:spcPts val="0"/>
              </a:spcAft>
              <a:buSzPts val="800"/>
              <a:buChar char="■"/>
              <a:defRPr sz="1600"/>
            </a:lvl9pPr>
          </a:lstStyle>
          <a:p/>
        </p:txBody>
      </p:sp>
      <p:sp>
        <p:nvSpPr>
          <p:cNvPr id="53" name="Google Shape;53;p75"/>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4" name="Shape 54"/>
        <p:cNvGrpSpPr/>
        <p:nvPr/>
      </p:nvGrpSpPr>
      <p:grpSpPr>
        <a:xfrm>
          <a:off x="0" y="0"/>
          <a:ext cx="0" cy="0"/>
          <a:chOff x="0" y="0"/>
          <a:chExt cx="0" cy="0"/>
        </a:xfrm>
      </p:grpSpPr>
      <p:sp>
        <p:nvSpPr>
          <p:cNvPr id="55" name="Google Shape;55;p7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6"/>
          <p:cNvSpPr txBox="1"/>
          <p:nvPr>
            <p:ph idx="1" type="body"/>
          </p:nvPr>
        </p:nvSpPr>
        <p:spPr>
          <a:xfrm>
            <a:off x="239713" y="1600200"/>
            <a:ext cx="4070350" cy="4572000"/>
          </a:xfrm>
          <a:prstGeom prst="rect">
            <a:avLst/>
          </a:prstGeom>
          <a:noFill/>
          <a:ln>
            <a:noFill/>
          </a:ln>
        </p:spPr>
        <p:txBody>
          <a:bodyPr anchorCtr="0" anchor="t" bIns="45700" lIns="91425" spcFirstLastPara="1" rIns="0" wrap="square" tIns="45700">
            <a:noAutofit/>
          </a:bodyPr>
          <a:lstStyle>
            <a:lvl1pPr indent="-335280" lvl="0" marL="457200" algn="l">
              <a:lnSpc>
                <a:spcPct val="100000"/>
              </a:lnSpc>
              <a:spcBef>
                <a:spcPts val="560"/>
              </a:spcBef>
              <a:spcAft>
                <a:spcPts val="0"/>
              </a:spcAft>
              <a:buSzPts val="1680"/>
              <a:buChar char="■"/>
              <a:defRPr sz="2800"/>
            </a:lvl1pPr>
            <a:lvl2pPr indent="-312419" lvl="1" marL="914400" algn="l">
              <a:lnSpc>
                <a:spcPct val="100000"/>
              </a:lnSpc>
              <a:spcBef>
                <a:spcPts val="480"/>
              </a:spcBef>
              <a:spcAft>
                <a:spcPts val="0"/>
              </a:spcAft>
              <a:buSzPts val="1320"/>
              <a:buChar char="■"/>
              <a:defRPr sz="2400"/>
            </a:lvl2pPr>
            <a:lvl3pPr indent="-292100" lvl="2" marL="1371600" algn="l">
              <a:lnSpc>
                <a:spcPct val="100000"/>
              </a:lnSpc>
              <a:spcBef>
                <a:spcPts val="400"/>
              </a:spcBef>
              <a:spcAft>
                <a:spcPts val="0"/>
              </a:spcAft>
              <a:buSzPts val="1000"/>
              <a:buChar char="■"/>
              <a:defRPr sz="2000"/>
            </a:lvl3pPr>
            <a:lvl4pPr indent="-291464" lvl="3" marL="1828800" algn="l">
              <a:lnSpc>
                <a:spcPct val="100000"/>
              </a:lnSpc>
              <a:spcBef>
                <a:spcPts val="360"/>
              </a:spcBef>
              <a:spcAft>
                <a:spcPts val="0"/>
              </a:spcAft>
              <a:buSzPts val="990"/>
              <a:buChar char="■"/>
              <a:defRPr sz="1800"/>
            </a:lvl4pPr>
            <a:lvl5pPr indent="-285750" lvl="4" marL="2286000" algn="l">
              <a:lnSpc>
                <a:spcPct val="100000"/>
              </a:lnSpc>
              <a:spcBef>
                <a:spcPts val="360"/>
              </a:spcBef>
              <a:spcAft>
                <a:spcPts val="0"/>
              </a:spcAft>
              <a:buSzPts val="900"/>
              <a:buChar char="■"/>
              <a:defRPr sz="1800"/>
            </a:lvl5pPr>
            <a:lvl6pPr indent="-285750" lvl="5" marL="2743200" algn="l">
              <a:lnSpc>
                <a:spcPct val="100000"/>
              </a:lnSpc>
              <a:spcBef>
                <a:spcPts val="360"/>
              </a:spcBef>
              <a:spcAft>
                <a:spcPts val="0"/>
              </a:spcAft>
              <a:buSzPts val="900"/>
              <a:buChar char="■"/>
              <a:defRPr sz="1800"/>
            </a:lvl6pPr>
            <a:lvl7pPr indent="-285750" lvl="6" marL="3200400" algn="l">
              <a:lnSpc>
                <a:spcPct val="100000"/>
              </a:lnSpc>
              <a:spcBef>
                <a:spcPts val="360"/>
              </a:spcBef>
              <a:spcAft>
                <a:spcPts val="0"/>
              </a:spcAft>
              <a:buSzPts val="900"/>
              <a:buChar char="■"/>
              <a:defRPr sz="1800"/>
            </a:lvl7pPr>
            <a:lvl8pPr indent="-285750" lvl="7" marL="3657600" algn="l">
              <a:lnSpc>
                <a:spcPct val="100000"/>
              </a:lnSpc>
              <a:spcBef>
                <a:spcPts val="360"/>
              </a:spcBef>
              <a:spcAft>
                <a:spcPts val="0"/>
              </a:spcAft>
              <a:buSzPts val="900"/>
              <a:buChar char="■"/>
              <a:defRPr sz="1800"/>
            </a:lvl8pPr>
            <a:lvl9pPr indent="-285750" lvl="8" marL="4114800" algn="l">
              <a:lnSpc>
                <a:spcPct val="100000"/>
              </a:lnSpc>
              <a:spcBef>
                <a:spcPts val="360"/>
              </a:spcBef>
              <a:spcAft>
                <a:spcPts val="0"/>
              </a:spcAft>
              <a:buSzPts val="900"/>
              <a:buChar char="■"/>
              <a:defRPr sz="1800"/>
            </a:lvl9pPr>
          </a:lstStyle>
          <a:p/>
        </p:txBody>
      </p:sp>
      <p:sp>
        <p:nvSpPr>
          <p:cNvPr id="57" name="Google Shape;57;p76"/>
          <p:cNvSpPr txBox="1"/>
          <p:nvPr>
            <p:ph idx="2" type="body"/>
          </p:nvPr>
        </p:nvSpPr>
        <p:spPr>
          <a:xfrm>
            <a:off x="4462463" y="1600200"/>
            <a:ext cx="4071937" cy="4572000"/>
          </a:xfrm>
          <a:prstGeom prst="rect">
            <a:avLst/>
          </a:prstGeom>
          <a:noFill/>
          <a:ln>
            <a:noFill/>
          </a:ln>
        </p:spPr>
        <p:txBody>
          <a:bodyPr anchorCtr="0" anchor="t" bIns="45700" lIns="91425" spcFirstLastPara="1" rIns="0" wrap="square" tIns="45700">
            <a:noAutofit/>
          </a:bodyPr>
          <a:lstStyle>
            <a:lvl1pPr indent="-335280" lvl="0" marL="457200" algn="l">
              <a:lnSpc>
                <a:spcPct val="100000"/>
              </a:lnSpc>
              <a:spcBef>
                <a:spcPts val="560"/>
              </a:spcBef>
              <a:spcAft>
                <a:spcPts val="0"/>
              </a:spcAft>
              <a:buSzPts val="1680"/>
              <a:buChar char="■"/>
              <a:defRPr sz="2800"/>
            </a:lvl1pPr>
            <a:lvl2pPr indent="-312419" lvl="1" marL="914400" algn="l">
              <a:lnSpc>
                <a:spcPct val="100000"/>
              </a:lnSpc>
              <a:spcBef>
                <a:spcPts val="480"/>
              </a:spcBef>
              <a:spcAft>
                <a:spcPts val="0"/>
              </a:spcAft>
              <a:buSzPts val="1320"/>
              <a:buChar char="■"/>
              <a:defRPr sz="2400"/>
            </a:lvl2pPr>
            <a:lvl3pPr indent="-292100" lvl="2" marL="1371600" algn="l">
              <a:lnSpc>
                <a:spcPct val="100000"/>
              </a:lnSpc>
              <a:spcBef>
                <a:spcPts val="400"/>
              </a:spcBef>
              <a:spcAft>
                <a:spcPts val="0"/>
              </a:spcAft>
              <a:buSzPts val="1000"/>
              <a:buChar char="■"/>
              <a:defRPr sz="2000"/>
            </a:lvl3pPr>
            <a:lvl4pPr indent="-291464" lvl="3" marL="1828800" algn="l">
              <a:lnSpc>
                <a:spcPct val="100000"/>
              </a:lnSpc>
              <a:spcBef>
                <a:spcPts val="360"/>
              </a:spcBef>
              <a:spcAft>
                <a:spcPts val="0"/>
              </a:spcAft>
              <a:buSzPts val="990"/>
              <a:buChar char="■"/>
              <a:defRPr sz="1800"/>
            </a:lvl4pPr>
            <a:lvl5pPr indent="-285750" lvl="4" marL="2286000" algn="l">
              <a:lnSpc>
                <a:spcPct val="100000"/>
              </a:lnSpc>
              <a:spcBef>
                <a:spcPts val="360"/>
              </a:spcBef>
              <a:spcAft>
                <a:spcPts val="0"/>
              </a:spcAft>
              <a:buSzPts val="900"/>
              <a:buChar char="■"/>
              <a:defRPr sz="1800"/>
            </a:lvl5pPr>
            <a:lvl6pPr indent="-285750" lvl="5" marL="2743200" algn="l">
              <a:lnSpc>
                <a:spcPct val="100000"/>
              </a:lnSpc>
              <a:spcBef>
                <a:spcPts val="360"/>
              </a:spcBef>
              <a:spcAft>
                <a:spcPts val="0"/>
              </a:spcAft>
              <a:buSzPts val="900"/>
              <a:buChar char="■"/>
              <a:defRPr sz="1800"/>
            </a:lvl6pPr>
            <a:lvl7pPr indent="-285750" lvl="6" marL="3200400" algn="l">
              <a:lnSpc>
                <a:spcPct val="100000"/>
              </a:lnSpc>
              <a:spcBef>
                <a:spcPts val="360"/>
              </a:spcBef>
              <a:spcAft>
                <a:spcPts val="0"/>
              </a:spcAft>
              <a:buSzPts val="900"/>
              <a:buChar char="■"/>
              <a:defRPr sz="1800"/>
            </a:lvl7pPr>
            <a:lvl8pPr indent="-285750" lvl="7" marL="3657600" algn="l">
              <a:lnSpc>
                <a:spcPct val="100000"/>
              </a:lnSpc>
              <a:spcBef>
                <a:spcPts val="360"/>
              </a:spcBef>
              <a:spcAft>
                <a:spcPts val="0"/>
              </a:spcAft>
              <a:buSzPts val="900"/>
              <a:buChar char="■"/>
              <a:defRPr sz="1800"/>
            </a:lvl8pPr>
            <a:lvl9pPr indent="-285750" lvl="8" marL="4114800" algn="l">
              <a:lnSpc>
                <a:spcPct val="100000"/>
              </a:lnSpc>
              <a:spcBef>
                <a:spcPts val="360"/>
              </a:spcBef>
              <a:spcAft>
                <a:spcPts val="0"/>
              </a:spcAft>
              <a:buSzPts val="900"/>
              <a:buChar char="■"/>
              <a:defRPr sz="1800"/>
            </a:lvl9pPr>
          </a:lstStyle>
          <a:p/>
        </p:txBody>
      </p:sp>
      <p:sp>
        <p:nvSpPr>
          <p:cNvPr id="58" name="Google Shape;58;p76"/>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p7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77"/>
          <p:cNvSpPr txBox="1"/>
          <p:nvPr>
            <p:ph idx="1" type="body"/>
          </p:nvPr>
        </p:nvSpPr>
        <p:spPr>
          <a:xfrm>
            <a:off x="722313" y="2906713"/>
            <a:ext cx="7772400" cy="1500187"/>
          </a:xfrm>
          <a:prstGeom prst="rect">
            <a:avLst/>
          </a:prstGeom>
          <a:noFill/>
          <a:ln>
            <a:noFill/>
          </a:ln>
        </p:spPr>
        <p:txBody>
          <a:bodyPr anchorCtr="0" anchor="b" bIns="45700" lIns="91425" spcFirstLastPara="1" rIns="0" wrap="square" tIns="45700">
            <a:noAutofit/>
          </a:bodyPr>
          <a:lstStyle>
            <a:lvl1pPr indent="-228600" lvl="0" marL="457200" algn="l">
              <a:lnSpc>
                <a:spcPct val="100000"/>
              </a:lnSpc>
              <a:spcBef>
                <a:spcPts val="400"/>
              </a:spcBef>
              <a:spcAft>
                <a:spcPts val="0"/>
              </a:spcAft>
              <a:buSzPts val="1200"/>
              <a:buNone/>
              <a:defRPr sz="2000"/>
            </a:lvl1pPr>
            <a:lvl2pPr indent="-228600" lvl="1" marL="914400" algn="l">
              <a:lnSpc>
                <a:spcPct val="100000"/>
              </a:lnSpc>
              <a:spcBef>
                <a:spcPts val="360"/>
              </a:spcBef>
              <a:spcAft>
                <a:spcPts val="0"/>
              </a:spcAft>
              <a:buSzPts val="990"/>
              <a:buNone/>
              <a:defRPr sz="1800"/>
            </a:lvl2pPr>
            <a:lvl3pPr indent="-228600" lvl="2" marL="1371600" algn="l">
              <a:lnSpc>
                <a:spcPct val="100000"/>
              </a:lnSpc>
              <a:spcBef>
                <a:spcPts val="320"/>
              </a:spcBef>
              <a:spcAft>
                <a:spcPts val="0"/>
              </a:spcAft>
              <a:buSzPts val="800"/>
              <a:buNone/>
              <a:defRPr sz="1600"/>
            </a:lvl3pPr>
            <a:lvl4pPr indent="-228600" lvl="3" marL="1828800" algn="l">
              <a:lnSpc>
                <a:spcPct val="100000"/>
              </a:lnSpc>
              <a:spcBef>
                <a:spcPts val="280"/>
              </a:spcBef>
              <a:spcAft>
                <a:spcPts val="0"/>
              </a:spcAft>
              <a:buSzPts val="770"/>
              <a:buNone/>
              <a:defRPr sz="1400"/>
            </a:lvl4pPr>
            <a:lvl5pPr indent="-228600" lvl="4" marL="2286000" algn="l">
              <a:lnSpc>
                <a:spcPct val="100000"/>
              </a:lnSpc>
              <a:spcBef>
                <a:spcPts val="280"/>
              </a:spcBef>
              <a:spcAft>
                <a:spcPts val="0"/>
              </a:spcAft>
              <a:buSzPts val="700"/>
              <a:buNone/>
              <a:defRPr sz="1400"/>
            </a:lvl5pPr>
            <a:lvl6pPr indent="-228600" lvl="5" marL="2743200" algn="l">
              <a:lnSpc>
                <a:spcPct val="100000"/>
              </a:lnSpc>
              <a:spcBef>
                <a:spcPts val="280"/>
              </a:spcBef>
              <a:spcAft>
                <a:spcPts val="0"/>
              </a:spcAft>
              <a:buSzPts val="700"/>
              <a:buNone/>
              <a:defRPr sz="1400"/>
            </a:lvl6pPr>
            <a:lvl7pPr indent="-228600" lvl="6" marL="3200400" algn="l">
              <a:lnSpc>
                <a:spcPct val="100000"/>
              </a:lnSpc>
              <a:spcBef>
                <a:spcPts val="280"/>
              </a:spcBef>
              <a:spcAft>
                <a:spcPts val="0"/>
              </a:spcAft>
              <a:buSzPts val="700"/>
              <a:buNone/>
              <a:defRPr sz="1400"/>
            </a:lvl7pPr>
            <a:lvl8pPr indent="-228600" lvl="7" marL="3657600" algn="l">
              <a:lnSpc>
                <a:spcPct val="100000"/>
              </a:lnSpc>
              <a:spcBef>
                <a:spcPts val="280"/>
              </a:spcBef>
              <a:spcAft>
                <a:spcPts val="0"/>
              </a:spcAft>
              <a:buSzPts val="700"/>
              <a:buNone/>
              <a:defRPr sz="1400"/>
            </a:lvl8pPr>
            <a:lvl9pPr indent="-228600" lvl="8" marL="4114800" algn="l">
              <a:lnSpc>
                <a:spcPct val="100000"/>
              </a:lnSpc>
              <a:spcBef>
                <a:spcPts val="280"/>
              </a:spcBef>
              <a:spcAft>
                <a:spcPts val="0"/>
              </a:spcAft>
              <a:buSzPts val="700"/>
              <a:buNone/>
              <a:defRPr sz="1400"/>
            </a:lvl9pPr>
          </a:lstStyle>
          <a:p/>
        </p:txBody>
      </p:sp>
      <p:sp>
        <p:nvSpPr>
          <p:cNvPr id="62" name="Google Shape;62;p77"/>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2" name="Shape 72"/>
        <p:cNvGrpSpPr/>
        <p:nvPr/>
      </p:nvGrpSpPr>
      <p:grpSpPr>
        <a:xfrm>
          <a:off x="0" y="0"/>
          <a:ext cx="0" cy="0"/>
          <a:chOff x="0" y="0"/>
          <a:chExt cx="0" cy="0"/>
        </a:xfrm>
      </p:grpSpPr>
      <p:sp>
        <p:nvSpPr>
          <p:cNvPr descr="Pink tissue paper" id="73" name="Google Shape;73;p68"/>
          <p:cNvSpPr txBox="1"/>
          <p:nvPr>
            <p:ph type="ctrTitle"/>
          </p:nvPr>
        </p:nvSpPr>
        <p:spPr>
          <a:xfrm>
            <a:off x="228600" y="152400"/>
            <a:ext cx="7086600" cy="2286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6600">
                <a:solidFill>
                  <a:srgbClr val="99003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descr="Pink tissue paper" id="74" name="Google Shape;74;p68"/>
          <p:cNvSpPr txBox="1"/>
          <p:nvPr>
            <p:ph idx="1" type="subTitle"/>
          </p:nvPr>
        </p:nvSpPr>
        <p:spPr>
          <a:xfrm>
            <a:off x="304800" y="2590800"/>
            <a:ext cx="6629400" cy="1905000"/>
          </a:xfrm>
          <a:prstGeom prst="rect">
            <a:avLst/>
          </a:prstGeom>
          <a:noFill/>
          <a:ln>
            <a:noFill/>
          </a:ln>
        </p:spPr>
        <p:txBody>
          <a:bodyPr anchorCtr="0" anchor="t" bIns="45700" lIns="91425" spcFirstLastPara="1" rIns="0" wrap="square" tIns="45700">
            <a:noAutofit/>
          </a:bodyPr>
          <a:lstStyle>
            <a:lvl1pPr lvl="0" algn="l">
              <a:lnSpc>
                <a:spcPct val="100000"/>
              </a:lnSpc>
              <a:spcBef>
                <a:spcPts val="640"/>
              </a:spcBef>
              <a:spcAft>
                <a:spcPts val="0"/>
              </a:spcAft>
              <a:buSzPts val="1920"/>
              <a:buFont typeface="Noto Sans Symbols"/>
              <a:buNone/>
              <a:defRPr sz="3200"/>
            </a:lvl1pPr>
            <a:lvl2pPr lvl="1" algn="l">
              <a:lnSpc>
                <a:spcPct val="100000"/>
              </a:lnSpc>
              <a:spcBef>
                <a:spcPts val="360"/>
              </a:spcBef>
              <a:spcAft>
                <a:spcPts val="0"/>
              </a:spcAft>
              <a:buSzPts val="990"/>
              <a:buChar char="■"/>
              <a:defRPr/>
            </a:lvl2pPr>
            <a:lvl3pPr lvl="2" algn="l">
              <a:lnSpc>
                <a:spcPct val="100000"/>
              </a:lnSpc>
              <a:spcBef>
                <a:spcPts val="360"/>
              </a:spcBef>
              <a:spcAft>
                <a:spcPts val="0"/>
              </a:spcAft>
              <a:buSzPts val="900"/>
              <a:buChar char="■"/>
              <a:defRPr/>
            </a:lvl3pPr>
            <a:lvl4pPr lvl="3" algn="l">
              <a:lnSpc>
                <a:spcPct val="100000"/>
              </a:lnSpc>
              <a:spcBef>
                <a:spcPts val="360"/>
              </a:spcBef>
              <a:spcAft>
                <a:spcPts val="0"/>
              </a:spcAft>
              <a:buSzPts val="990"/>
              <a:buChar char="■"/>
              <a:defRPr/>
            </a:lvl4pPr>
            <a:lvl5pPr lvl="4" algn="l">
              <a:lnSpc>
                <a:spcPct val="100000"/>
              </a:lnSpc>
              <a:spcBef>
                <a:spcPts val="360"/>
              </a:spcBef>
              <a:spcAft>
                <a:spcPts val="0"/>
              </a:spcAft>
              <a:buSzPts val="900"/>
              <a:buChar char="■"/>
              <a:defRPr/>
            </a:lvl5pPr>
            <a:lvl6pPr lvl="5" algn="l">
              <a:lnSpc>
                <a:spcPct val="100000"/>
              </a:lnSpc>
              <a:spcBef>
                <a:spcPts val="360"/>
              </a:spcBef>
              <a:spcAft>
                <a:spcPts val="0"/>
              </a:spcAft>
              <a:buSzPts val="900"/>
              <a:buChar char="■"/>
              <a:defRPr/>
            </a:lvl6pPr>
            <a:lvl7pPr lvl="6" algn="l">
              <a:lnSpc>
                <a:spcPct val="100000"/>
              </a:lnSpc>
              <a:spcBef>
                <a:spcPts val="360"/>
              </a:spcBef>
              <a:spcAft>
                <a:spcPts val="0"/>
              </a:spcAft>
              <a:buSzPts val="900"/>
              <a:buChar char="■"/>
              <a:defRPr/>
            </a:lvl7pPr>
            <a:lvl8pPr lvl="7" algn="l">
              <a:lnSpc>
                <a:spcPct val="100000"/>
              </a:lnSpc>
              <a:spcBef>
                <a:spcPts val="360"/>
              </a:spcBef>
              <a:spcAft>
                <a:spcPts val="0"/>
              </a:spcAft>
              <a:buSzPts val="900"/>
              <a:buChar char="■"/>
              <a:defRPr/>
            </a:lvl8pPr>
            <a:lvl9pPr lvl="8" algn="l">
              <a:lnSpc>
                <a:spcPct val="100000"/>
              </a:lnSpc>
              <a:spcBef>
                <a:spcPts val="360"/>
              </a:spcBef>
              <a:spcAft>
                <a:spcPts val="0"/>
              </a:spcAft>
              <a:buSzPts val="900"/>
              <a:buChar char="■"/>
              <a:defRPr/>
            </a:lvl9pPr>
          </a:lstStyle>
          <a:p/>
        </p:txBody>
      </p:sp>
      <p:sp>
        <p:nvSpPr>
          <p:cNvPr id="75" name="Google Shape;75;p68"/>
          <p:cNvSpPr txBox="1"/>
          <p:nvPr>
            <p:ph idx="11" type="ftr"/>
          </p:nvPr>
        </p:nvSpPr>
        <p:spPr>
          <a:xfrm>
            <a:off x="838200" y="6397625"/>
            <a:ext cx="44958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jpg"/><Relationship Id="rId3" Type="http://schemas.openxmlformats.org/officeDocument/2006/relationships/slideLayout" Target="../slideLayouts/slideLayout11.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65"/>
          <p:cNvGrpSpPr/>
          <p:nvPr/>
        </p:nvGrpSpPr>
        <p:grpSpPr>
          <a:xfrm>
            <a:off x="8936037" y="1449387"/>
            <a:ext cx="207962" cy="5408612"/>
            <a:chOff x="5606" y="889"/>
            <a:chExt cx="154" cy="3431"/>
          </a:xfrm>
        </p:grpSpPr>
        <p:sp>
          <p:nvSpPr>
            <p:cNvPr id="11" name="Google Shape;11;p65"/>
            <p:cNvSpPr txBox="1"/>
            <p:nvPr/>
          </p:nvSpPr>
          <p:spPr>
            <a:xfrm flipH="1">
              <a:off x="5685" y="889"/>
              <a:ext cx="75" cy="3431"/>
            </a:xfrm>
            <a:prstGeom prst="rect">
              <a:avLst/>
            </a:prstGeom>
            <a:solidFill>
              <a:srgbClr val="67722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2" name="Google Shape;12;p65"/>
            <p:cNvGrpSpPr/>
            <p:nvPr/>
          </p:nvGrpSpPr>
          <p:grpSpPr>
            <a:xfrm>
              <a:off x="5606" y="889"/>
              <a:ext cx="106" cy="3431"/>
              <a:chOff x="5606" y="889"/>
              <a:chExt cx="106" cy="3431"/>
            </a:xfrm>
          </p:grpSpPr>
          <p:sp>
            <p:nvSpPr>
              <p:cNvPr id="13" name="Google Shape;13;p65"/>
              <p:cNvSpPr txBox="1"/>
              <p:nvPr/>
            </p:nvSpPr>
            <p:spPr>
              <a:xfrm flipH="1" rot="10800000">
                <a:off x="5606" y="889"/>
                <a:ext cx="58" cy="343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 name="Google Shape;14;p65"/>
              <p:cNvSpPr txBox="1"/>
              <p:nvPr/>
            </p:nvSpPr>
            <p:spPr>
              <a:xfrm flipH="1" rot="10800000">
                <a:off x="5654" y="889"/>
                <a:ext cx="58" cy="3431"/>
              </a:xfrm>
              <a:prstGeom prst="rect">
                <a:avLst/>
              </a:prstGeom>
              <a:solidFill>
                <a:srgbClr val="9900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sp>
        <p:nvSpPr>
          <p:cNvPr id="15" name="Google Shape;15;p65"/>
          <p:cNvSpPr txBox="1"/>
          <p:nvPr/>
        </p:nvSpPr>
        <p:spPr>
          <a:xfrm>
            <a:off x="-1" y="1"/>
            <a:ext cx="9140825" cy="1449387"/>
          </a:xfrm>
          <a:prstGeom prst="rect">
            <a:avLst/>
          </a:prstGeom>
          <a:solidFill>
            <a:srgbClr val="677228">
              <a:alpha val="35294"/>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 name="Google Shape;16;p6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9pPr>
          </a:lstStyle>
          <a:p/>
        </p:txBody>
      </p:sp>
      <p:sp>
        <p:nvSpPr>
          <p:cNvPr id="17" name="Google Shape;17;p65"/>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b="0">
              <a:solidFill>
                <a:srgbClr val="000000"/>
              </a:solidFill>
            </a:endParaRPr>
          </a:p>
        </p:txBody>
      </p:sp>
      <p:sp>
        <p:nvSpPr>
          <p:cNvPr id="18" name="Google Shape;18;p6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lvl1pPr indent="-335280" lvl="0" marL="457200" marR="0" rtl="0" algn="l">
              <a:lnSpc>
                <a:spcPct val="100000"/>
              </a:lnSpc>
              <a:spcBef>
                <a:spcPts val="560"/>
              </a:spcBef>
              <a:spcAft>
                <a:spcPts val="0"/>
              </a:spcAft>
              <a:buClr>
                <a:srgbClr val="990033"/>
              </a:buClr>
              <a:buSzPts val="1680"/>
              <a:buFont typeface="Noto Sans Symbols"/>
              <a:buChar char="■"/>
              <a:defRPr b="0" i="0" sz="2800" u="none" cap="none" strike="noStrike">
                <a:solidFill>
                  <a:schemeClr val="dk2"/>
                </a:solidFill>
                <a:latin typeface="Arial"/>
                <a:ea typeface="Arial"/>
                <a:cs typeface="Arial"/>
                <a:sym typeface="Arial"/>
              </a:defRPr>
            </a:lvl1pPr>
            <a:lvl2pPr indent="-319405" lvl="1" marL="914400" marR="0" rtl="0" algn="l">
              <a:lnSpc>
                <a:spcPct val="100000"/>
              </a:lnSpc>
              <a:spcBef>
                <a:spcPts val="520"/>
              </a:spcBef>
              <a:spcAft>
                <a:spcPts val="0"/>
              </a:spcAft>
              <a:buClr>
                <a:schemeClr val="dk2"/>
              </a:buClr>
              <a:buSzPts val="1430"/>
              <a:buFont typeface="Noto Sans Symbols"/>
              <a:buChar char="■"/>
              <a:defRPr b="0" i="0" sz="2600" u="none" cap="none" strike="noStrike">
                <a:solidFill>
                  <a:srgbClr val="800000"/>
                </a:solidFill>
                <a:latin typeface="Arial"/>
                <a:ea typeface="Arial"/>
                <a:cs typeface="Arial"/>
                <a:sym typeface="Arial"/>
              </a:defRPr>
            </a:lvl2pPr>
            <a:lvl3pPr indent="-304800" lvl="2" marL="1371600" marR="0" rtl="0" algn="l">
              <a:lnSpc>
                <a:spcPct val="100000"/>
              </a:lnSpc>
              <a:spcBef>
                <a:spcPts val="480"/>
              </a:spcBef>
              <a:spcAft>
                <a:spcPts val="0"/>
              </a:spcAft>
              <a:buClr>
                <a:srgbClr val="990033"/>
              </a:buClr>
              <a:buSzPts val="1200"/>
              <a:buFont typeface="Noto Sans Symbols"/>
              <a:buChar char="■"/>
              <a:defRPr b="0" i="0" sz="2400" u="none" cap="none" strike="noStrike">
                <a:solidFill>
                  <a:schemeClr val="dk2"/>
                </a:solidFill>
                <a:latin typeface="Arial"/>
                <a:ea typeface="Arial"/>
                <a:cs typeface="Arial"/>
                <a:sym typeface="Arial"/>
              </a:defRPr>
            </a:lvl3pPr>
            <a:lvl4pPr indent="-298450" lvl="3" marL="1828800" marR="0" rtl="0" algn="l">
              <a:lnSpc>
                <a:spcPct val="100000"/>
              </a:lnSpc>
              <a:spcBef>
                <a:spcPts val="400"/>
              </a:spcBef>
              <a:spcAft>
                <a:spcPts val="0"/>
              </a:spcAft>
              <a:buClr>
                <a:schemeClr val="dk2"/>
              </a:buClr>
              <a:buSzPts val="1100"/>
              <a:buFont typeface="Noto Sans Symbols"/>
              <a:buChar char="■"/>
              <a:defRPr b="0" i="0" sz="2000" u="none" cap="none" strike="noStrike">
                <a:solidFill>
                  <a:srgbClr val="800000"/>
                </a:solidFill>
                <a:latin typeface="Arial"/>
                <a:ea typeface="Arial"/>
                <a:cs typeface="Arial"/>
                <a:sym typeface="Arial"/>
              </a:defRPr>
            </a:lvl4pPr>
            <a:lvl5pPr indent="-292100" lvl="4" marL="22860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5pPr>
            <a:lvl6pPr indent="-292100" lvl="5" marL="27432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6pPr>
            <a:lvl7pPr indent="-292100" lvl="6" marL="32004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7pPr>
            <a:lvl8pPr indent="-292100" lvl="7" marL="36576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8pPr>
            <a:lvl9pPr indent="-292100" lvl="8" marL="41148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9pPr>
          </a:lstStyle>
          <a:p/>
        </p:txBody>
      </p:sp>
      <p:sp>
        <p:nvSpPr>
          <p:cNvPr id="19" name="Google Shape;19;p65"/>
          <p:cNvSpPr txBox="1"/>
          <p:nvPr/>
        </p:nvSpPr>
        <p:spPr>
          <a:xfrm>
            <a:off x="838200" y="6397625"/>
            <a:ext cx="4495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rPr b="0" i="0" lang="en-US" sz="900" u="none" cap="none" strike="noStrike">
                <a:solidFill>
                  <a:schemeClr val="dk1"/>
                </a:solidFill>
                <a:latin typeface="Arial"/>
                <a:ea typeface="Arial"/>
                <a:cs typeface="Arial"/>
                <a:sym typeface="Arial"/>
              </a:rPr>
              <a:t>Copyright © 2007 </a:t>
            </a:r>
            <a:r>
              <a:rPr b="0" i="0" lang="en-US" sz="900" u="none" cap="none" strike="noStrike">
                <a:solidFill>
                  <a:srgbClr val="000000"/>
                </a:solidFill>
                <a:latin typeface="Arial"/>
                <a:ea typeface="Arial"/>
                <a:cs typeface="Arial"/>
                <a:sym typeface="Arial"/>
              </a:rPr>
              <a:t>Ramez Elmasri and Shamkant B. Navathe</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67"/>
          <p:cNvSpPr txBox="1"/>
          <p:nvPr/>
        </p:nvSpPr>
        <p:spPr>
          <a:xfrm>
            <a:off x="8305800" y="0"/>
            <a:ext cx="609600" cy="6858000"/>
          </a:xfrm>
          <a:prstGeom prst="rect">
            <a:avLst/>
          </a:prstGeom>
          <a:gradFill>
            <a:gsLst>
              <a:gs pos="0">
                <a:srgbClr val="677228">
                  <a:alpha val="43529"/>
                </a:srgbClr>
              </a:gs>
              <a:gs pos="100000">
                <a:srgbClr val="5A6423"/>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5" name="Google Shape;65;p67"/>
          <p:cNvSpPr txBox="1"/>
          <p:nvPr/>
        </p:nvSpPr>
        <p:spPr>
          <a:xfrm rot="-5400000">
            <a:off x="3500437" y="-985837"/>
            <a:ext cx="2143125" cy="9144000"/>
          </a:xfrm>
          <a:prstGeom prst="rect">
            <a:avLst/>
          </a:prstGeom>
          <a:solidFill>
            <a:srgbClr val="677228">
              <a:alpha val="4313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6" name="Google Shape;66;p67"/>
          <p:cNvSpPr txBox="1"/>
          <p:nvPr/>
        </p:nvSpPr>
        <p:spPr>
          <a:xfrm>
            <a:off x="7315200" y="2438400"/>
            <a:ext cx="1828800" cy="22907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descr="awtri_4c UPDATE_color" id="67" name="Google Shape;67;p67"/>
          <p:cNvPicPr preferRelativeResize="0"/>
          <p:nvPr/>
        </p:nvPicPr>
        <p:blipFill rotWithShape="1">
          <a:blip r:embed="rId1">
            <a:alphaModFix/>
          </a:blip>
          <a:srcRect b="0" l="0" r="0" t="0"/>
          <a:stretch/>
        </p:blipFill>
        <p:spPr>
          <a:xfrm>
            <a:off x="76200" y="5949950"/>
            <a:ext cx="684212" cy="831850"/>
          </a:xfrm>
          <a:prstGeom prst="rect">
            <a:avLst/>
          </a:prstGeom>
          <a:noFill/>
          <a:ln>
            <a:noFill/>
          </a:ln>
        </p:spPr>
      </p:pic>
      <p:pic>
        <p:nvPicPr>
          <p:cNvPr descr="elmasri_thumb" id="68" name="Google Shape;68;p67"/>
          <p:cNvPicPr preferRelativeResize="0"/>
          <p:nvPr/>
        </p:nvPicPr>
        <p:blipFill rotWithShape="1">
          <a:blip r:embed="rId2">
            <a:alphaModFix/>
          </a:blip>
          <a:srcRect b="0" l="0" r="0" t="0"/>
          <a:stretch/>
        </p:blipFill>
        <p:spPr>
          <a:xfrm>
            <a:off x="7419975" y="2514600"/>
            <a:ext cx="1724025" cy="2143125"/>
          </a:xfrm>
          <a:prstGeom prst="rect">
            <a:avLst/>
          </a:prstGeom>
          <a:noFill/>
          <a:ln>
            <a:noFill/>
          </a:ln>
        </p:spPr>
      </p:pic>
      <p:sp>
        <p:nvSpPr>
          <p:cNvPr id="69" name="Google Shape;69;p6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9pPr>
          </a:lstStyle>
          <a:p/>
        </p:txBody>
      </p:sp>
      <p:sp>
        <p:nvSpPr>
          <p:cNvPr id="70" name="Google Shape;70;p6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lvl1pPr indent="-335280" lvl="0" marL="457200" marR="0" rtl="0" algn="l">
              <a:lnSpc>
                <a:spcPct val="100000"/>
              </a:lnSpc>
              <a:spcBef>
                <a:spcPts val="560"/>
              </a:spcBef>
              <a:spcAft>
                <a:spcPts val="0"/>
              </a:spcAft>
              <a:buClr>
                <a:srgbClr val="990033"/>
              </a:buClr>
              <a:buSzPts val="1680"/>
              <a:buFont typeface="Noto Sans Symbols"/>
              <a:buChar char="■"/>
              <a:defRPr b="0" i="0" sz="2800" u="none" cap="none" strike="noStrike">
                <a:solidFill>
                  <a:schemeClr val="dk2"/>
                </a:solidFill>
                <a:latin typeface="Arial"/>
                <a:ea typeface="Arial"/>
                <a:cs typeface="Arial"/>
                <a:sym typeface="Arial"/>
              </a:defRPr>
            </a:lvl1pPr>
            <a:lvl2pPr indent="-319405" lvl="1" marL="914400" marR="0" rtl="0" algn="l">
              <a:lnSpc>
                <a:spcPct val="100000"/>
              </a:lnSpc>
              <a:spcBef>
                <a:spcPts val="520"/>
              </a:spcBef>
              <a:spcAft>
                <a:spcPts val="0"/>
              </a:spcAft>
              <a:buClr>
                <a:schemeClr val="dk2"/>
              </a:buClr>
              <a:buSzPts val="1430"/>
              <a:buFont typeface="Noto Sans Symbols"/>
              <a:buChar char="■"/>
              <a:defRPr b="0" i="0" sz="2600" u="none" cap="none" strike="noStrike">
                <a:solidFill>
                  <a:srgbClr val="800000"/>
                </a:solidFill>
                <a:latin typeface="Arial"/>
                <a:ea typeface="Arial"/>
                <a:cs typeface="Arial"/>
                <a:sym typeface="Arial"/>
              </a:defRPr>
            </a:lvl2pPr>
            <a:lvl3pPr indent="-304800" lvl="2" marL="1371600" marR="0" rtl="0" algn="l">
              <a:lnSpc>
                <a:spcPct val="100000"/>
              </a:lnSpc>
              <a:spcBef>
                <a:spcPts val="480"/>
              </a:spcBef>
              <a:spcAft>
                <a:spcPts val="0"/>
              </a:spcAft>
              <a:buClr>
                <a:srgbClr val="990033"/>
              </a:buClr>
              <a:buSzPts val="1200"/>
              <a:buFont typeface="Noto Sans Symbols"/>
              <a:buChar char="■"/>
              <a:defRPr b="0" i="0" sz="2400" u="none" cap="none" strike="noStrike">
                <a:solidFill>
                  <a:schemeClr val="dk2"/>
                </a:solidFill>
                <a:latin typeface="Arial"/>
                <a:ea typeface="Arial"/>
                <a:cs typeface="Arial"/>
                <a:sym typeface="Arial"/>
              </a:defRPr>
            </a:lvl3pPr>
            <a:lvl4pPr indent="-298450" lvl="3" marL="1828800" marR="0" rtl="0" algn="l">
              <a:lnSpc>
                <a:spcPct val="100000"/>
              </a:lnSpc>
              <a:spcBef>
                <a:spcPts val="400"/>
              </a:spcBef>
              <a:spcAft>
                <a:spcPts val="0"/>
              </a:spcAft>
              <a:buClr>
                <a:schemeClr val="dk2"/>
              </a:buClr>
              <a:buSzPts val="1100"/>
              <a:buFont typeface="Noto Sans Symbols"/>
              <a:buChar char="■"/>
              <a:defRPr b="0" i="0" sz="2000" u="none" cap="none" strike="noStrike">
                <a:solidFill>
                  <a:srgbClr val="800000"/>
                </a:solidFill>
                <a:latin typeface="Arial"/>
                <a:ea typeface="Arial"/>
                <a:cs typeface="Arial"/>
                <a:sym typeface="Arial"/>
              </a:defRPr>
            </a:lvl4pPr>
            <a:lvl5pPr indent="-292100" lvl="4" marL="22860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5pPr>
            <a:lvl6pPr indent="-292100" lvl="5" marL="27432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6pPr>
            <a:lvl7pPr indent="-292100" lvl="6" marL="32004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7pPr>
            <a:lvl8pPr indent="-292100" lvl="7" marL="36576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8pPr>
            <a:lvl9pPr indent="-292100" lvl="8" marL="41148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9pPr>
          </a:lstStyle>
          <a:p/>
        </p:txBody>
      </p:sp>
      <p:sp>
        <p:nvSpPr>
          <p:cNvPr id="71" name="Google Shape;71;p67"/>
          <p:cNvSpPr txBox="1"/>
          <p:nvPr>
            <p:ph idx="11" type="ftr"/>
          </p:nvPr>
        </p:nvSpPr>
        <p:spPr>
          <a:xfrm>
            <a:off x="838200" y="6397625"/>
            <a:ext cx="4495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0"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www.pbs.org/empires/islam/innoalgebra.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17.png"/><Relationship Id="rId6"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4.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8.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23.png"/><Relationship Id="rId6"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2.png"/><Relationship Id="rId4" Type="http://schemas.openxmlformats.org/officeDocument/2006/relationships/image" Target="../media/image36.png"/><Relationship Id="rId10" Type="http://schemas.openxmlformats.org/officeDocument/2006/relationships/image" Target="../media/image34.png"/><Relationship Id="rId9" Type="http://schemas.openxmlformats.org/officeDocument/2006/relationships/image" Target="../media/image29.png"/><Relationship Id="rId5" Type="http://schemas.openxmlformats.org/officeDocument/2006/relationships/image" Target="../media/image15.png"/><Relationship Id="rId6" Type="http://schemas.openxmlformats.org/officeDocument/2006/relationships/image" Target="../media/image48.png"/><Relationship Id="rId7" Type="http://schemas.openxmlformats.org/officeDocument/2006/relationships/image" Target="../media/image53.png"/><Relationship Id="rId8"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2.png"/><Relationship Id="rId4" Type="http://schemas.openxmlformats.org/officeDocument/2006/relationships/image" Target="../media/image27.png"/><Relationship Id="rId5" Type="http://schemas.openxmlformats.org/officeDocument/2006/relationships/image" Target="../media/image46.png"/><Relationship Id="rId6" Type="http://schemas.openxmlformats.org/officeDocument/2006/relationships/image" Target="../media/image45.png"/><Relationship Id="rId7"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0.png"/><Relationship Id="rId4" Type="http://schemas.openxmlformats.org/officeDocument/2006/relationships/image" Target="../media/image38.png"/><Relationship Id="rId5"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3.png"/><Relationship Id="rId4" Type="http://schemas.openxmlformats.org/officeDocument/2006/relationships/image" Target="../media/image43.png"/><Relationship Id="rId5" Type="http://schemas.openxmlformats.org/officeDocument/2006/relationships/image" Target="../media/image4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44.png"/><Relationship Id="rId4" Type="http://schemas.openxmlformats.org/officeDocument/2006/relationships/image" Target="../media/image65.png"/><Relationship Id="rId5" Type="http://schemas.openxmlformats.org/officeDocument/2006/relationships/image" Target="../media/image55.png"/><Relationship Id="rId6" Type="http://schemas.openxmlformats.org/officeDocument/2006/relationships/image" Target="../media/image4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0.png"/><Relationship Id="rId4" Type="http://schemas.openxmlformats.org/officeDocument/2006/relationships/image" Target="../media/image56.png"/><Relationship Id="rId10" Type="http://schemas.openxmlformats.org/officeDocument/2006/relationships/image" Target="../media/image52.png"/><Relationship Id="rId9" Type="http://schemas.openxmlformats.org/officeDocument/2006/relationships/image" Target="../media/image54.png"/><Relationship Id="rId5" Type="http://schemas.openxmlformats.org/officeDocument/2006/relationships/image" Target="../media/image58.png"/><Relationship Id="rId6" Type="http://schemas.openxmlformats.org/officeDocument/2006/relationships/image" Target="../media/image42.png"/><Relationship Id="rId7" Type="http://schemas.openxmlformats.org/officeDocument/2006/relationships/image" Target="../media/image50.png"/><Relationship Id="rId8" Type="http://schemas.openxmlformats.org/officeDocument/2006/relationships/image" Target="../media/image6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6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7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3.png"/><Relationship Id="rId4" Type="http://schemas.openxmlformats.org/officeDocument/2006/relationships/image" Target="../media/image66.png"/><Relationship Id="rId5" Type="http://schemas.openxmlformats.org/officeDocument/2006/relationships/image" Target="../media/image57.png"/><Relationship Id="rId6" Type="http://schemas.openxmlformats.org/officeDocument/2006/relationships/image" Target="../media/image4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1" Type="http://schemas.openxmlformats.org/officeDocument/2006/relationships/image" Target="../media/image71.png"/><Relationship Id="rId10" Type="http://schemas.openxmlformats.org/officeDocument/2006/relationships/image" Target="../media/image68.png"/><Relationship Id="rId13" Type="http://schemas.openxmlformats.org/officeDocument/2006/relationships/image" Target="../media/image74.png"/><Relationship Id="rId12" Type="http://schemas.openxmlformats.org/officeDocument/2006/relationships/image" Target="../media/image67.png"/><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60.png"/><Relationship Id="rId4" Type="http://schemas.openxmlformats.org/officeDocument/2006/relationships/image" Target="../media/image72.png"/><Relationship Id="rId9" Type="http://schemas.openxmlformats.org/officeDocument/2006/relationships/image" Target="../media/image62.png"/><Relationship Id="rId5" Type="http://schemas.openxmlformats.org/officeDocument/2006/relationships/image" Target="../media/image59.png"/><Relationship Id="rId6" Type="http://schemas.openxmlformats.org/officeDocument/2006/relationships/image" Target="../media/image51.png"/><Relationship Id="rId7" Type="http://schemas.openxmlformats.org/officeDocument/2006/relationships/image" Target="../media/image73.png"/><Relationship Id="rId8" Type="http://schemas.openxmlformats.org/officeDocument/2006/relationships/image" Target="../media/image6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2" name="Google Shape;82;p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3600">
              <a:solidFill>
                <a:srgbClr val="800000"/>
              </a:solidFill>
              <a:latin typeface="Arial"/>
              <a:ea typeface="Arial"/>
              <a:cs typeface="Arial"/>
              <a:sym typeface="Arial"/>
            </a:endParaRPr>
          </a:p>
        </p:txBody>
      </p:sp>
      <p:pic>
        <p:nvPicPr>
          <p:cNvPr descr="Elmasri_cov" id="83" name="Google Shape;83;p1"/>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nvSpPr>
        <p:spPr>
          <a:xfrm>
            <a:off x="838200" y="6397625"/>
            <a:ext cx="4495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rPr b="0" i="0" lang="en-US" sz="900" u="none" cap="none" strike="noStrike">
                <a:solidFill>
                  <a:schemeClr val="dk1"/>
                </a:solidFill>
                <a:latin typeface="Arial"/>
                <a:ea typeface="Arial"/>
                <a:cs typeface="Arial"/>
                <a:sym typeface="Arial"/>
              </a:rPr>
              <a:t>Copyright © 2007 </a:t>
            </a:r>
            <a:r>
              <a:rPr b="0" i="0" lang="en-US" sz="900" u="none" cap="none" strike="noStrike">
                <a:solidFill>
                  <a:srgbClr val="000000"/>
                </a:solidFill>
                <a:latin typeface="Arial"/>
                <a:ea typeface="Arial"/>
                <a:cs typeface="Arial"/>
                <a:sym typeface="Arial"/>
              </a:rPr>
              <a:t>Ramez Elmasri and Shamkant B. Navathe</a:t>
            </a:r>
            <a:endParaRPr b="0" i="0" sz="1400" u="none" cap="none" strike="noStrike">
              <a:solidFill>
                <a:srgbClr val="000000"/>
              </a:solidFill>
              <a:latin typeface="Arial"/>
              <a:ea typeface="Arial"/>
              <a:cs typeface="Arial"/>
              <a:sym typeface="Arial"/>
            </a:endParaRPr>
          </a:p>
        </p:txBody>
      </p:sp>
      <p:sp>
        <p:nvSpPr>
          <p:cNvPr descr="Pink tissue paper" id="90" name="Google Shape;90;p2"/>
          <p:cNvSpPr txBox="1"/>
          <p:nvPr>
            <p:ph type="ctrTitle"/>
          </p:nvPr>
        </p:nvSpPr>
        <p:spPr>
          <a:xfrm>
            <a:off x="228600" y="152400"/>
            <a:ext cx="7086600" cy="2286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990033"/>
              </a:buClr>
              <a:buSzPts val="6600"/>
              <a:buFont typeface="Arial"/>
              <a:buNone/>
            </a:pPr>
            <a:r>
              <a:rPr b="0" i="0" lang="en-US" sz="6600" u="none">
                <a:solidFill>
                  <a:srgbClr val="990033"/>
                </a:solidFill>
                <a:latin typeface="Arial"/>
                <a:ea typeface="Arial"/>
                <a:cs typeface="Arial"/>
                <a:sym typeface="Arial"/>
              </a:rPr>
              <a:t>Chapter 6</a:t>
            </a:r>
            <a:endParaRPr/>
          </a:p>
        </p:txBody>
      </p:sp>
      <p:sp>
        <p:nvSpPr>
          <p:cNvPr descr="Pink tissue paper" id="91" name="Google Shape;91;p2"/>
          <p:cNvSpPr txBox="1"/>
          <p:nvPr>
            <p:ph idx="1" type="subTitle"/>
          </p:nvPr>
        </p:nvSpPr>
        <p:spPr>
          <a:xfrm>
            <a:off x="304800" y="2590800"/>
            <a:ext cx="6629400" cy="1905000"/>
          </a:xfrm>
          <a:prstGeom prst="rect">
            <a:avLst/>
          </a:prstGeom>
          <a:noFill/>
          <a:ln>
            <a:noFill/>
          </a:ln>
        </p:spPr>
        <p:txBody>
          <a:bodyPr anchorCtr="0" anchor="t" bIns="45700" lIns="91425" spcFirstLastPara="1" rIns="0" wrap="square" tIns="45700">
            <a:noAutofit/>
          </a:bodyPr>
          <a:lstStyle/>
          <a:p>
            <a:pPr indent="0" lvl="0" marL="0" rtl="0" algn="l">
              <a:lnSpc>
                <a:spcPct val="100000"/>
              </a:lnSpc>
              <a:spcBef>
                <a:spcPts val="0"/>
              </a:spcBef>
              <a:spcAft>
                <a:spcPts val="0"/>
              </a:spcAft>
              <a:buSzPts val="1920"/>
              <a:buNone/>
            </a:pPr>
            <a:r>
              <a:rPr b="0" i="0" lang="en-US" sz="3200" u="none">
                <a:solidFill>
                  <a:schemeClr val="dk2"/>
                </a:solidFill>
                <a:latin typeface="Arial"/>
                <a:ea typeface="Arial"/>
                <a:cs typeface="Arial"/>
                <a:sym typeface="Arial"/>
              </a:rPr>
              <a:t>The Relational Algebra and Calculus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8" name="Google Shape;98;p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Chapter Outline</a:t>
            </a:r>
            <a:endParaRPr/>
          </a:p>
        </p:txBody>
      </p:sp>
      <p:sp>
        <p:nvSpPr>
          <p:cNvPr id="99" name="Google Shape;99;p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Relational Algebra</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Unary Relational Operations </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Relational Algebra Operations From Set Theory</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Binary Relational Operations</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Additional Relational Operations</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Examples of Queries in Relational Algebra</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Relational Calculus</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Tuple Relational Calculus</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Domain Relational Calculus</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 Database Application (COMPANY)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6" name="Google Shape;106;p4"/>
          <p:cNvSpPr txBox="1"/>
          <p:nvPr>
            <p:ph type="title"/>
          </p:nvPr>
        </p:nvSpPr>
        <p:spPr>
          <a:xfrm>
            <a:off x="228600" y="303212"/>
            <a:ext cx="7791138" cy="687389"/>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Overview</a:t>
            </a:r>
            <a:endParaRPr/>
          </a:p>
        </p:txBody>
      </p:sp>
      <p:sp>
        <p:nvSpPr>
          <p:cNvPr id="107" name="Google Shape;107;p4"/>
          <p:cNvSpPr txBox="1"/>
          <p:nvPr>
            <p:ph idx="1" type="body"/>
          </p:nvPr>
        </p:nvSpPr>
        <p:spPr>
          <a:xfrm>
            <a:off x="228600" y="1872520"/>
            <a:ext cx="8150902" cy="3726306"/>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Relational algebra is the basic set of operations for the relational model</a:t>
            </a:r>
            <a:endParaRPr/>
          </a:p>
          <a:p>
            <a:pPr indent="-236220" lvl="0" marL="342900" rtl="0" algn="l">
              <a:lnSpc>
                <a:spcPct val="100000"/>
              </a:lnSpc>
              <a:spcBef>
                <a:spcPts val="0"/>
              </a:spcBef>
              <a:spcAft>
                <a:spcPts val="0"/>
              </a:spcAft>
              <a:buClr>
                <a:srgbClr val="990033"/>
              </a:buClr>
              <a:buSzPts val="1680"/>
              <a:buFont typeface="Noto Sans Symbols"/>
              <a:buNone/>
            </a:pPr>
            <a:r>
              <a:t/>
            </a:r>
            <a:endParaRPr/>
          </a:p>
          <a:p>
            <a:pPr indent="-342900" lvl="0" marL="342900" rtl="0" algn="l">
              <a:lnSpc>
                <a:spcPct val="100000"/>
              </a:lnSpc>
              <a:spcBef>
                <a:spcPts val="540"/>
              </a:spcBef>
              <a:spcAft>
                <a:spcPts val="0"/>
              </a:spcAft>
              <a:buClr>
                <a:srgbClr val="990033"/>
              </a:buClr>
              <a:buSzPts val="1620"/>
              <a:buFont typeface="Noto Sans Symbols"/>
              <a:buChar char="■"/>
            </a:pPr>
            <a:r>
              <a:rPr b="0" i="0" lang="en-US" sz="2700" u="none">
                <a:solidFill>
                  <a:schemeClr val="dk2"/>
                </a:solidFill>
                <a:latin typeface="Arial"/>
                <a:ea typeface="Arial"/>
                <a:cs typeface="Arial"/>
                <a:sym typeface="Arial"/>
              </a:rPr>
              <a:t>These operations enable a user to specify </a:t>
            </a:r>
            <a:r>
              <a:rPr b="1" i="0" lang="en-US" sz="2700" u="none">
                <a:solidFill>
                  <a:schemeClr val="dk2"/>
                </a:solidFill>
                <a:latin typeface="Arial"/>
                <a:ea typeface="Arial"/>
                <a:cs typeface="Arial"/>
                <a:sym typeface="Arial"/>
              </a:rPr>
              <a:t>basic retrieval requests</a:t>
            </a:r>
            <a:r>
              <a:rPr b="0" i="0" lang="en-US" sz="2700" u="none">
                <a:solidFill>
                  <a:schemeClr val="dk2"/>
                </a:solidFill>
                <a:latin typeface="Arial"/>
                <a:ea typeface="Arial"/>
                <a:cs typeface="Arial"/>
                <a:sym typeface="Arial"/>
              </a:rPr>
              <a:t> (or </a:t>
            </a:r>
            <a:r>
              <a:rPr b="1" i="0" lang="en-US" sz="2700" u="none">
                <a:solidFill>
                  <a:schemeClr val="dk2"/>
                </a:solidFill>
                <a:latin typeface="Arial"/>
                <a:ea typeface="Arial"/>
                <a:cs typeface="Arial"/>
                <a:sym typeface="Arial"/>
              </a:rPr>
              <a:t>queries</a:t>
            </a:r>
            <a:r>
              <a:rPr b="0" i="0" lang="en-US" sz="2700" u="none">
                <a:solidFill>
                  <a:schemeClr val="dk2"/>
                </a:solidFill>
                <a:latin typeface="Arial"/>
                <a:ea typeface="Arial"/>
                <a:cs typeface="Arial"/>
                <a:sym typeface="Arial"/>
              </a:rPr>
              <a:t>)</a:t>
            </a:r>
            <a:endParaRPr/>
          </a:p>
          <a:p>
            <a:pPr indent="-236220" lvl="0" marL="342900" rtl="0" algn="l">
              <a:lnSpc>
                <a:spcPct val="100000"/>
              </a:lnSpc>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result of an operation is a </a:t>
            </a:r>
            <a:r>
              <a:rPr b="0" i="1" lang="en-US" sz="2800" u="none">
                <a:solidFill>
                  <a:schemeClr val="dk2"/>
                </a:solidFill>
                <a:latin typeface="Arial"/>
                <a:ea typeface="Arial"/>
                <a:cs typeface="Arial"/>
                <a:sym typeface="Arial"/>
              </a:rPr>
              <a:t>new relation</a:t>
            </a:r>
            <a:r>
              <a:rPr b="0" i="0" lang="en-US" sz="2800" u="none">
                <a:solidFill>
                  <a:schemeClr val="dk2"/>
                </a:solidFill>
                <a:latin typeface="Arial"/>
                <a:ea typeface="Arial"/>
                <a:cs typeface="Arial"/>
                <a:sym typeface="Arial"/>
              </a:rPr>
              <a:t>, which may have been formed from one or more </a:t>
            </a:r>
            <a:r>
              <a:rPr b="0" i="1" lang="en-US" sz="2800" u="none">
                <a:solidFill>
                  <a:schemeClr val="dk2"/>
                </a:solidFill>
                <a:latin typeface="Arial"/>
                <a:ea typeface="Arial"/>
                <a:cs typeface="Arial"/>
                <a:sym typeface="Arial"/>
              </a:rPr>
              <a:t>input</a:t>
            </a:r>
            <a:r>
              <a:rPr b="0" i="0" lang="en-US" sz="2800" u="none">
                <a:solidFill>
                  <a:schemeClr val="dk2"/>
                </a:solidFill>
                <a:latin typeface="Arial"/>
                <a:ea typeface="Arial"/>
                <a:cs typeface="Arial"/>
                <a:sym typeface="Arial"/>
              </a:rPr>
              <a:t> relations.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4" name="Google Shape;114;p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Overview (continued)</a:t>
            </a:r>
            <a:endParaRPr/>
          </a:p>
        </p:txBody>
      </p:sp>
      <p:sp>
        <p:nvSpPr>
          <p:cNvPr id="115" name="Google Shape;115;p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a:t>
            </a:r>
            <a:r>
              <a:rPr b="1" i="0" lang="en-US" sz="2800" u="none">
                <a:solidFill>
                  <a:schemeClr val="dk2"/>
                </a:solidFill>
                <a:latin typeface="Arial"/>
                <a:ea typeface="Arial"/>
                <a:cs typeface="Arial"/>
                <a:sym typeface="Arial"/>
              </a:rPr>
              <a:t>algebra operations</a:t>
            </a:r>
            <a:r>
              <a:rPr b="0" i="0" lang="en-US" sz="2800" u="none">
                <a:solidFill>
                  <a:schemeClr val="dk2"/>
                </a:solidFill>
                <a:latin typeface="Arial"/>
                <a:ea typeface="Arial"/>
                <a:cs typeface="Arial"/>
                <a:sym typeface="Arial"/>
              </a:rPr>
              <a:t> thus produce new relations</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These can be further manipulated using operations of the same algebra</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A sequence of relational algebra operations forms a </a:t>
            </a:r>
            <a:r>
              <a:rPr b="1" i="0" lang="en-US" sz="2800" u="none">
                <a:solidFill>
                  <a:schemeClr val="dk2"/>
                </a:solidFill>
                <a:latin typeface="Arial"/>
                <a:ea typeface="Arial"/>
                <a:cs typeface="Arial"/>
                <a:sym typeface="Arial"/>
              </a:rPr>
              <a:t>relational algebra expression</a:t>
            </a:r>
            <a:endParaRPr/>
          </a:p>
          <a:p>
            <a:pPr indent="-285750" lvl="1" marL="742950" rtl="0" algn="l">
              <a:lnSpc>
                <a:spcPct val="100000"/>
              </a:lnSpc>
              <a:spcBef>
                <a:spcPts val="500"/>
              </a:spcBef>
              <a:spcAft>
                <a:spcPts val="0"/>
              </a:spcAft>
              <a:buClr>
                <a:schemeClr val="dk2"/>
              </a:buClr>
              <a:buSzPts val="1375"/>
              <a:buFont typeface="Noto Sans Symbols"/>
              <a:buChar char="■"/>
            </a:pPr>
            <a:r>
              <a:rPr b="0" i="0" lang="en-US" sz="2500" u="none">
                <a:solidFill>
                  <a:srgbClr val="800000"/>
                </a:solidFill>
                <a:latin typeface="Arial"/>
                <a:ea typeface="Arial"/>
                <a:cs typeface="Arial"/>
                <a:sym typeface="Arial"/>
              </a:rPr>
              <a:t>The result of a relational algebra expression is also a relation that represents the result of a database query (or retrieval request)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2" name="Google Shape;122;p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Brief History of Origins of Algebra</a:t>
            </a:r>
            <a:endParaRPr/>
          </a:p>
        </p:txBody>
      </p:sp>
      <p:sp>
        <p:nvSpPr>
          <p:cNvPr id="123" name="Google Shape;123;p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Muhammad ibn Musa al-Khwarizmi (800-847 CE) wrote a book titled al-jabr about arithmetic of variables</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Book was translated into Latin.</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Its title (al-jabr) gave Algebra its name.</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Al-Khwarizmi called variables “shay”</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“Shay” is Arabic for “thing”.</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Spanish transliterated “shay” as “xay” (“x” was “sh” in Spain).</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In time this word was abbreviated as x.</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Where does the word Algorithm come from?</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Algorithm originates from “al-Khwarizmi"</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Reference: PBS (</a:t>
            </a:r>
            <a:r>
              <a:rPr b="0" i="0" lang="en-US" sz="1700" u="sng">
                <a:solidFill>
                  <a:schemeClr val="hlink"/>
                </a:solidFill>
                <a:hlinkClick r:id="rId3"/>
              </a:rPr>
              <a:t>http://www.pbs.org/empires/islam/innoalgebra.html</a:t>
            </a:r>
            <a:r>
              <a:rPr b="0" i="0" lang="en-US" sz="2100" u="none">
                <a:solidFill>
                  <a:srgbClr val="800000"/>
                </a:solidFill>
                <a:latin typeface="Arial"/>
                <a:ea typeface="Arial"/>
                <a:cs typeface="Arial"/>
                <a:sym typeface="Arial"/>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0" name="Google Shape;130;p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Overview</a:t>
            </a:r>
            <a:endParaRPr/>
          </a:p>
        </p:txBody>
      </p:sp>
      <p:sp>
        <p:nvSpPr>
          <p:cNvPr id="131" name="Google Shape;131;p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Relational Algebra consists of several groups of operations</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Unary Relational Operations</a:t>
            </a:r>
            <a:endParaRPr/>
          </a:p>
          <a:p>
            <a:pPr indent="-228600" lvl="2" marL="1143000" rtl="0" algn="l">
              <a:lnSpc>
                <a:spcPct val="80000"/>
              </a:lnSpc>
              <a:spcBef>
                <a:spcPts val="48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SELECT (symbol: </a:t>
            </a:r>
            <a:r>
              <a:rPr b="1" i="0" lang="en-US" sz="2400" u="none">
                <a:solidFill>
                  <a:schemeClr val="dk2"/>
                </a:solidFill>
                <a:latin typeface="Noto Sans Symbols"/>
                <a:ea typeface="Noto Sans Symbols"/>
                <a:cs typeface="Noto Sans Symbols"/>
                <a:sym typeface="Noto Sans Symbols"/>
              </a:rPr>
              <a:t>σ</a:t>
            </a:r>
            <a:r>
              <a:rPr b="0" i="0" lang="en-US" sz="1800" u="none">
                <a:solidFill>
                  <a:schemeClr val="dk2"/>
                </a:solidFill>
                <a:latin typeface="Arial"/>
                <a:ea typeface="Arial"/>
                <a:cs typeface="Arial"/>
                <a:sym typeface="Arial"/>
              </a:rPr>
              <a:t> (sigma))</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PROJECT (symbol: </a:t>
            </a:r>
            <a:r>
              <a:rPr b="1" i="0" lang="en-US" sz="1800" u="none">
                <a:solidFill>
                  <a:schemeClr val="dk2"/>
                </a:solidFill>
                <a:latin typeface="Noto Sans Symbols"/>
                <a:ea typeface="Noto Sans Symbols"/>
                <a:cs typeface="Noto Sans Symbols"/>
                <a:sym typeface="Noto Sans Symbols"/>
              </a:rPr>
              <a:t>π </a:t>
            </a:r>
            <a:r>
              <a:rPr b="0" i="0" lang="en-US" sz="1800" u="none">
                <a:solidFill>
                  <a:schemeClr val="dk2"/>
                </a:solidFill>
                <a:latin typeface="Arial"/>
                <a:ea typeface="Arial"/>
                <a:cs typeface="Arial"/>
                <a:sym typeface="Arial"/>
              </a:rPr>
              <a:t>(pi))</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RENAME (symbol: </a:t>
            </a:r>
            <a:r>
              <a:rPr b="1" i="0" lang="en-US" sz="1800" u="none">
                <a:solidFill>
                  <a:schemeClr val="dk2"/>
                </a:solidFill>
                <a:latin typeface="Arial"/>
                <a:ea typeface="Arial"/>
                <a:cs typeface="Arial"/>
                <a:sym typeface="Arial"/>
              </a:rPr>
              <a:t>ρ</a:t>
            </a:r>
            <a:r>
              <a:rPr b="0" i="0" lang="en-US" sz="1800" u="none">
                <a:solidFill>
                  <a:schemeClr val="dk2"/>
                </a:solidFill>
                <a:latin typeface="Arial"/>
                <a:ea typeface="Arial"/>
                <a:cs typeface="Arial"/>
                <a:sym typeface="Arial"/>
              </a:rPr>
              <a:t> (rho))</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Relational Algebra Operations From Set Theory</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UNION ( </a:t>
            </a:r>
            <a:r>
              <a:rPr b="1" i="0" lang="en-US" sz="1800" u="none">
                <a:solidFill>
                  <a:schemeClr val="dk2"/>
                </a:solidFill>
                <a:latin typeface="Noto Sans Symbols"/>
                <a:ea typeface="Noto Sans Symbols"/>
                <a:cs typeface="Noto Sans Symbols"/>
                <a:sym typeface="Noto Sans Symbols"/>
              </a:rPr>
              <a:t>∪</a:t>
            </a:r>
            <a:r>
              <a:rPr b="0" i="0" lang="en-US" sz="1800" u="none">
                <a:solidFill>
                  <a:schemeClr val="dk2"/>
                </a:solidFill>
                <a:latin typeface="Arial"/>
                <a:ea typeface="Arial"/>
                <a:cs typeface="Arial"/>
                <a:sym typeface="Arial"/>
              </a:rPr>
              <a:t> ), INTERSECTION ( </a:t>
            </a:r>
            <a:r>
              <a:rPr b="1" i="0" lang="en-US" sz="1800" u="none">
                <a:solidFill>
                  <a:schemeClr val="dk2"/>
                </a:solidFill>
                <a:latin typeface="Noto Sans Symbols"/>
                <a:ea typeface="Noto Sans Symbols"/>
                <a:cs typeface="Noto Sans Symbols"/>
                <a:sym typeface="Noto Sans Symbols"/>
              </a:rPr>
              <a:t>∩</a:t>
            </a:r>
            <a:r>
              <a:rPr b="0" i="0" lang="en-US" sz="1800" u="none">
                <a:solidFill>
                  <a:schemeClr val="dk2"/>
                </a:solidFill>
                <a:latin typeface="Noto Sans Symbols"/>
                <a:ea typeface="Noto Sans Symbols"/>
                <a:cs typeface="Noto Sans Symbols"/>
                <a:sym typeface="Noto Sans Symbols"/>
              </a:rPr>
              <a:t> </a:t>
            </a:r>
            <a:r>
              <a:rPr b="0" i="0" lang="en-US" sz="1800" u="none">
                <a:solidFill>
                  <a:schemeClr val="dk2"/>
                </a:solidFill>
                <a:latin typeface="Arial"/>
                <a:ea typeface="Arial"/>
                <a:cs typeface="Arial"/>
                <a:sym typeface="Arial"/>
              </a:rPr>
              <a:t>), DIFFERENCE (or MINUS, </a:t>
            </a:r>
            <a:r>
              <a:rPr b="1" i="0" lang="en-US" sz="1800" u="none">
                <a:solidFill>
                  <a:schemeClr val="dk2"/>
                </a:solidFill>
                <a:latin typeface="Arial"/>
                <a:ea typeface="Arial"/>
                <a:cs typeface="Arial"/>
                <a:sym typeface="Arial"/>
              </a:rPr>
              <a:t>–</a:t>
            </a:r>
            <a:r>
              <a:rPr b="0" i="0" lang="en-US" sz="1800" u="none">
                <a:solidFill>
                  <a:schemeClr val="dk2"/>
                </a:solidFill>
                <a:latin typeface="Arial"/>
                <a:ea typeface="Arial"/>
                <a:cs typeface="Arial"/>
                <a:sym typeface="Arial"/>
              </a:rPr>
              <a:t> )</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CARTESIAN PRODUCT ( </a:t>
            </a:r>
            <a:r>
              <a:rPr b="1" i="0" lang="en-US" sz="1800" u="none">
                <a:solidFill>
                  <a:schemeClr val="dk2"/>
                </a:solidFill>
                <a:latin typeface="Arial"/>
                <a:ea typeface="Arial"/>
                <a:cs typeface="Arial"/>
                <a:sym typeface="Arial"/>
              </a:rPr>
              <a:t>x</a:t>
            </a:r>
            <a:r>
              <a:rPr b="0" i="0" lang="en-US" sz="1800" u="none">
                <a:solidFill>
                  <a:schemeClr val="dk2"/>
                </a:solidFill>
                <a:latin typeface="Arial"/>
                <a:ea typeface="Arial"/>
                <a:cs typeface="Arial"/>
                <a:sym typeface="Arial"/>
              </a:rPr>
              <a:t> )</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Binary Relational Operations</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JOIN (several variations of JOIN exist)</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DIVISION</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Additional Relational Operations</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OUTER JOINS, OUTER UNION</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AGGREGATE FUNCTIONS (These compute summary of information: for example, SUM, COUNT, AVG, MIN, MAX)</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8" name="Google Shape;138;p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Database State for COMPANY</a:t>
            </a:r>
            <a:endParaRPr/>
          </a:p>
        </p:txBody>
      </p:sp>
      <p:sp>
        <p:nvSpPr>
          <p:cNvPr id="139" name="Google Shape;139;p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All examples discussed below refer to the COMPANY database shown here.</a:t>
            </a:r>
            <a:endParaRPr/>
          </a:p>
          <a:p>
            <a:pPr indent="-266700" lvl="0" marL="342900" rtl="0" algn="l">
              <a:lnSpc>
                <a:spcPct val="100000"/>
              </a:lnSpc>
              <a:spcBef>
                <a:spcPts val="400"/>
              </a:spcBef>
              <a:spcAft>
                <a:spcPts val="0"/>
              </a:spcAft>
              <a:buSzPts val="1200"/>
              <a:buNone/>
            </a:pPr>
            <a:r>
              <a:t/>
            </a:r>
            <a:endParaRPr b="0" i="0" sz="2000" u="none">
              <a:solidFill>
                <a:schemeClr val="dk2"/>
              </a:solidFill>
              <a:latin typeface="Arial"/>
              <a:ea typeface="Arial"/>
              <a:cs typeface="Arial"/>
              <a:sym typeface="Arial"/>
            </a:endParaRPr>
          </a:p>
        </p:txBody>
      </p:sp>
      <p:pic>
        <p:nvPicPr>
          <p:cNvPr descr="fig05_07" id="140" name="Google Shape;140;p8"/>
          <p:cNvPicPr preferRelativeResize="0"/>
          <p:nvPr/>
        </p:nvPicPr>
        <p:blipFill rotWithShape="1">
          <a:blip r:embed="rId3">
            <a:alphaModFix/>
          </a:blip>
          <a:srcRect b="0" l="0" r="0" t="0"/>
          <a:stretch/>
        </p:blipFill>
        <p:spPr>
          <a:xfrm>
            <a:off x="2538412" y="2057400"/>
            <a:ext cx="5995987" cy="4451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47" name="Google Shape;147;p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SELECT</a:t>
            </a:r>
            <a:endParaRPr/>
          </a:p>
        </p:txBody>
      </p:sp>
      <p:sp>
        <p:nvSpPr>
          <p:cNvPr id="148" name="Google Shape;148;p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The SELECT operation (denoted by </a:t>
            </a:r>
            <a:r>
              <a:rPr b="1" i="0" lang="en-US" sz="28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(sigma)) is used to select a </a:t>
            </a:r>
            <a:r>
              <a:rPr b="0" i="1" lang="en-US" sz="2000" u="none">
                <a:solidFill>
                  <a:schemeClr val="dk2"/>
                </a:solidFill>
                <a:latin typeface="Arial"/>
                <a:ea typeface="Arial"/>
                <a:cs typeface="Arial"/>
                <a:sym typeface="Arial"/>
              </a:rPr>
              <a:t>subset</a:t>
            </a:r>
            <a:r>
              <a:rPr b="0" i="0" lang="en-US" sz="2000" u="none">
                <a:solidFill>
                  <a:schemeClr val="dk2"/>
                </a:solidFill>
                <a:latin typeface="Arial"/>
                <a:ea typeface="Arial"/>
                <a:cs typeface="Arial"/>
                <a:sym typeface="Arial"/>
              </a:rPr>
              <a:t> of the tuples from a relation based on a </a:t>
            </a:r>
            <a:r>
              <a:rPr b="1" i="0" lang="en-US" sz="2000" u="none">
                <a:solidFill>
                  <a:schemeClr val="dk2"/>
                </a:solidFill>
                <a:latin typeface="Arial"/>
                <a:ea typeface="Arial"/>
                <a:cs typeface="Arial"/>
                <a:sym typeface="Arial"/>
              </a:rPr>
              <a:t>selection condition</a:t>
            </a:r>
            <a:r>
              <a:rPr b="0" i="0" lang="en-US" sz="2000" u="none">
                <a:solidFill>
                  <a:schemeClr val="dk2"/>
                </a:solidFill>
                <a:latin typeface="Arial"/>
                <a:ea typeface="Arial"/>
                <a:cs typeface="Arial"/>
                <a:sym typeface="Arial"/>
              </a:rPr>
              <a:t>.</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selection condition acts as a </a:t>
            </a:r>
            <a:r>
              <a:rPr b="1" i="0" lang="en-US" sz="2200" u="none">
                <a:solidFill>
                  <a:srgbClr val="800000"/>
                </a:solidFill>
                <a:latin typeface="Arial"/>
                <a:ea typeface="Arial"/>
                <a:cs typeface="Arial"/>
                <a:sym typeface="Arial"/>
              </a:rPr>
              <a:t>filter</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Keeps only those tuples that satisfy the qualifying condition</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Tuples satisfying the condition are </a:t>
            </a:r>
            <a:r>
              <a:rPr b="0" i="1" lang="en-US" sz="2200" u="none">
                <a:solidFill>
                  <a:srgbClr val="800000"/>
                </a:solidFill>
                <a:latin typeface="Arial"/>
                <a:ea typeface="Arial"/>
                <a:cs typeface="Arial"/>
                <a:sym typeface="Arial"/>
              </a:rPr>
              <a:t>selected</a:t>
            </a:r>
            <a:r>
              <a:rPr b="0" i="0" lang="en-US" sz="2200" u="none">
                <a:solidFill>
                  <a:srgbClr val="800000"/>
                </a:solidFill>
                <a:latin typeface="Arial"/>
                <a:ea typeface="Arial"/>
                <a:cs typeface="Arial"/>
                <a:sym typeface="Arial"/>
              </a:rPr>
              <a:t> whereas the other tuples are discarded (</a:t>
            </a:r>
            <a:r>
              <a:rPr b="0" i="1" lang="en-US" sz="2200" u="none">
                <a:solidFill>
                  <a:srgbClr val="800000"/>
                </a:solidFill>
                <a:latin typeface="Arial"/>
                <a:ea typeface="Arial"/>
                <a:cs typeface="Arial"/>
                <a:sym typeface="Arial"/>
              </a:rPr>
              <a:t>filtered out</a:t>
            </a:r>
            <a:r>
              <a:rPr b="0" i="0" lang="en-US" sz="2200" u="none">
                <a:solidFill>
                  <a:srgbClr val="800000"/>
                </a:solidFill>
                <a:latin typeface="Arial"/>
                <a:ea typeface="Arial"/>
                <a:cs typeface="Arial"/>
                <a:sym typeface="Arial"/>
              </a:rPr>
              <a:t>)</a:t>
            </a:r>
            <a:endParaRPr/>
          </a:p>
          <a:p>
            <a:pPr indent="-342900" lvl="0" marL="342900" rtl="0" algn="l">
              <a:lnSpc>
                <a:spcPct val="9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Examples: </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Select the EMPLOYEE tuples whose department number is 4:</a:t>
            </a:r>
            <a:endParaRPr/>
          </a:p>
          <a:p>
            <a:pPr indent="-342900" lvl="0" marL="342900" rtl="0" algn="ctr">
              <a:lnSpc>
                <a:spcPct val="90000"/>
              </a:lnSpc>
              <a:spcBef>
                <a:spcPts val="560"/>
              </a:spcBef>
              <a:spcAft>
                <a:spcPts val="0"/>
              </a:spcAft>
              <a:buSzPts val="1680"/>
              <a:buNone/>
            </a:pPr>
            <a:r>
              <a:rPr b="1" i="0" lang="en-US" sz="28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a:t>
            </a:r>
            <a:r>
              <a:rPr b="0" baseline="-25000" i="0" lang="en-US" sz="2000" u="none">
                <a:solidFill>
                  <a:schemeClr val="dk2"/>
                </a:solidFill>
                <a:latin typeface="Arial"/>
                <a:ea typeface="Arial"/>
                <a:cs typeface="Arial"/>
                <a:sym typeface="Arial"/>
              </a:rPr>
              <a:t>DNO = 4</a:t>
            </a:r>
            <a:r>
              <a:rPr b="0" i="0" lang="en-US" sz="2000" u="none">
                <a:solidFill>
                  <a:schemeClr val="dk2"/>
                </a:solidFill>
                <a:latin typeface="Arial"/>
                <a:ea typeface="Arial"/>
                <a:cs typeface="Arial"/>
                <a:sym typeface="Arial"/>
              </a:rPr>
              <a:t> (EMPLOYEE)</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Select the employee tuples whose salary is greater than $30,000:</a:t>
            </a:r>
            <a:endParaRPr/>
          </a:p>
          <a:p>
            <a:pPr indent="-342900" lvl="0" marL="342900" rtl="0" algn="ctr">
              <a:lnSpc>
                <a:spcPct val="90000"/>
              </a:lnSpc>
              <a:spcBef>
                <a:spcPts val="560"/>
              </a:spcBef>
              <a:spcAft>
                <a:spcPts val="0"/>
              </a:spcAft>
              <a:buSzPts val="1680"/>
              <a:buNone/>
            </a:pPr>
            <a:r>
              <a:rPr b="1" i="0" lang="en-US" sz="28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a:t>
            </a:r>
            <a:r>
              <a:rPr b="0" baseline="-25000" i="0" lang="en-US" sz="2000" u="none">
                <a:solidFill>
                  <a:schemeClr val="dk2"/>
                </a:solidFill>
                <a:latin typeface="Arial"/>
                <a:ea typeface="Arial"/>
                <a:cs typeface="Arial"/>
                <a:sym typeface="Arial"/>
              </a:rPr>
              <a:t>SALARY &gt; 30,000</a:t>
            </a:r>
            <a:r>
              <a:rPr b="0" i="0" lang="en-US" sz="2000" u="none">
                <a:solidFill>
                  <a:schemeClr val="dk2"/>
                </a:solidFill>
                <a:latin typeface="Arial"/>
                <a:ea typeface="Arial"/>
                <a:cs typeface="Arial"/>
                <a:sym typeface="Arial"/>
              </a:rPr>
              <a:t> (EMPLOYEE)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animEffect filter="fade" transition="in">
                                      <p:cBhvr>
                                        <p:cTn dur="1000"/>
                                        <p:tgtEl>
                                          <p:spTgt spid="14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animEffect filter="fade" transition="in">
                                      <p:cBhvr>
                                        <p:cTn dur="1000"/>
                                        <p:tgtEl>
                                          <p:spTgt spid="14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animEffect filter="fade" transition="in">
                                      <p:cBhvr>
                                        <p:cTn dur="1000"/>
                                        <p:tgtEl>
                                          <p:spTgt spid="14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3" st="3"/>
                                            </p:txEl>
                                          </p:spTgt>
                                        </p:tgtEl>
                                        <p:attrNameLst>
                                          <p:attrName>style.visibility</p:attrName>
                                        </p:attrNameLst>
                                      </p:cBhvr>
                                      <p:to>
                                        <p:strVal val="visible"/>
                                      </p:to>
                                    </p:set>
                                    <p:animEffect filter="fade" transition="in">
                                      <p:cBhvr>
                                        <p:cTn dur="1000"/>
                                        <p:tgtEl>
                                          <p:spTgt spid="14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4" st="4"/>
                                            </p:txEl>
                                          </p:spTgt>
                                        </p:tgtEl>
                                        <p:attrNameLst>
                                          <p:attrName>style.visibility</p:attrName>
                                        </p:attrNameLst>
                                      </p:cBhvr>
                                      <p:to>
                                        <p:strVal val="visible"/>
                                      </p:to>
                                    </p:set>
                                    <p:animEffect filter="fade" transition="in">
                                      <p:cBhvr>
                                        <p:cTn dur="1000"/>
                                        <p:tgtEl>
                                          <p:spTgt spid="14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5" st="5"/>
                                            </p:txEl>
                                          </p:spTgt>
                                        </p:tgtEl>
                                        <p:attrNameLst>
                                          <p:attrName>style.visibility</p:attrName>
                                        </p:attrNameLst>
                                      </p:cBhvr>
                                      <p:to>
                                        <p:strVal val="visible"/>
                                      </p:to>
                                    </p:set>
                                    <p:animEffect filter="fade" transition="in">
                                      <p:cBhvr>
                                        <p:cTn dur="1000"/>
                                        <p:tgtEl>
                                          <p:spTgt spid="14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6" st="6"/>
                                            </p:txEl>
                                          </p:spTgt>
                                        </p:tgtEl>
                                        <p:attrNameLst>
                                          <p:attrName>style.visibility</p:attrName>
                                        </p:attrNameLst>
                                      </p:cBhvr>
                                      <p:to>
                                        <p:strVal val="visible"/>
                                      </p:to>
                                    </p:set>
                                    <p:animEffect filter="fade" transition="in">
                                      <p:cBhvr>
                                        <p:cTn dur="1000"/>
                                        <p:tgtEl>
                                          <p:spTgt spid="14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7" st="7"/>
                                            </p:txEl>
                                          </p:spTgt>
                                        </p:tgtEl>
                                        <p:attrNameLst>
                                          <p:attrName>style.visibility</p:attrName>
                                        </p:attrNameLst>
                                      </p:cBhvr>
                                      <p:to>
                                        <p:strVal val="visible"/>
                                      </p:to>
                                    </p:set>
                                    <p:animEffect filter="fade" transition="in">
                                      <p:cBhvr>
                                        <p:cTn dur="1000"/>
                                        <p:tgtEl>
                                          <p:spTgt spid="14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8" st="8"/>
                                            </p:txEl>
                                          </p:spTgt>
                                        </p:tgtEl>
                                        <p:attrNameLst>
                                          <p:attrName>style.visibility</p:attrName>
                                        </p:attrNameLst>
                                      </p:cBhvr>
                                      <p:to>
                                        <p:strVal val="visible"/>
                                      </p:to>
                                    </p:set>
                                    <p:animEffect filter="fade" transition="in">
                                      <p:cBhvr>
                                        <p:cTn dur="1000"/>
                                        <p:tgtEl>
                                          <p:spTgt spid="148">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55" name="Google Shape;155;p1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SELECT</a:t>
            </a:r>
            <a:endParaRPr/>
          </a:p>
        </p:txBody>
      </p:sp>
      <p:sp>
        <p:nvSpPr>
          <p:cNvPr id="156" name="Google Shape;156;p1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85750" lvl="1" marL="742950" rtl="0" algn="l">
              <a:lnSpc>
                <a:spcPct val="100000"/>
              </a:lnSpc>
              <a:spcBef>
                <a:spcPts val="0"/>
              </a:spcBef>
              <a:spcAft>
                <a:spcPts val="0"/>
              </a:spcAft>
              <a:buSzPts val="1540"/>
              <a:buChar char="■"/>
            </a:pPr>
            <a:r>
              <a:rPr b="0" i="0" lang="en-US" sz="2800" u="none">
                <a:solidFill>
                  <a:srgbClr val="800000"/>
                </a:solidFill>
                <a:latin typeface="Arial"/>
                <a:ea typeface="Arial"/>
                <a:cs typeface="Arial"/>
                <a:sym typeface="Arial"/>
              </a:rPr>
              <a:t>In general, the </a:t>
            </a:r>
            <a:r>
              <a:rPr b="0" i="1" lang="en-US" sz="2800" u="none">
                <a:solidFill>
                  <a:srgbClr val="800000"/>
                </a:solidFill>
                <a:latin typeface="Arial"/>
                <a:ea typeface="Arial"/>
                <a:cs typeface="Arial"/>
                <a:sym typeface="Arial"/>
              </a:rPr>
              <a:t>select</a:t>
            </a:r>
            <a:r>
              <a:rPr b="0" i="0" lang="en-US" sz="2800" u="none">
                <a:solidFill>
                  <a:srgbClr val="800000"/>
                </a:solidFill>
                <a:latin typeface="Arial"/>
                <a:ea typeface="Arial"/>
                <a:cs typeface="Arial"/>
                <a:sym typeface="Arial"/>
              </a:rPr>
              <a:t> operation is denoted by </a:t>
            </a:r>
            <a:r>
              <a:rPr b="1" lang="en-US" sz="2800">
                <a:latin typeface="Noto Sans Symbols"/>
                <a:ea typeface="Noto Sans Symbols"/>
                <a:cs typeface="Noto Sans Symbols"/>
                <a:sym typeface="Noto Sans Symbols"/>
              </a:rPr>
              <a:t>σ</a:t>
            </a:r>
            <a:endParaRPr b="0" i="0" sz="2800" u="none">
              <a:solidFill>
                <a:srgbClr val="800000"/>
              </a:solidFill>
              <a:latin typeface="Arial"/>
              <a:ea typeface="Arial"/>
              <a:cs typeface="Arial"/>
              <a:sym typeface="Arial"/>
            </a:endParaRPr>
          </a:p>
          <a:p>
            <a:pPr indent="-285750" lvl="1" marL="742950" rtl="0" algn="l">
              <a:lnSpc>
                <a:spcPct val="100000"/>
              </a:lnSpc>
              <a:spcBef>
                <a:spcPts val="0"/>
              </a:spcBef>
              <a:spcAft>
                <a:spcPts val="0"/>
              </a:spcAft>
              <a:buClr>
                <a:schemeClr val="dk2"/>
              </a:buClr>
              <a:buSzPts val="1540"/>
              <a:buFont typeface="Noto Sans Symbols"/>
              <a:buChar char="■"/>
            </a:pPr>
            <a:r>
              <a:rPr b="1" lang="en-US" sz="2800">
                <a:latin typeface="Noto Sans Symbols"/>
                <a:ea typeface="Noto Sans Symbols"/>
                <a:cs typeface="Noto Sans Symbols"/>
                <a:sym typeface="Noto Sans Symbols"/>
              </a:rPr>
              <a:t>Syntax:</a:t>
            </a:r>
            <a:r>
              <a:rPr b="1" lang="en-US" sz="3600">
                <a:latin typeface="Noto Sans Symbols"/>
                <a:ea typeface="Noto Sans Symbols"/>
                <a:cs typeface="Noto Sans Symbols"/>
                <a:sym typeface="Noto Sans Symbols"/>
              </a:rPr>
              <a:t> </a:t>
            </a:r>
            <a:r>
              <a:rPr b="1" i="0" lang="en-US" sz="3600" u="none">
                <a:solidFill>
                  <a:srgbClr val="800000"/>
                </a:solidFill>
                <a:latin typeface="Noto Sans Symbols"/>
                <a:ea typeface="Noto Sans Symbols"/>
                <a:cs typeface="Noto Sans Symbols"/>
                <a:sym typeface="Noto Sans Symbols"/>
              </a:rPr>
              <a:t>σ</a:t>
            </a:r>
            <a:r>
              <a:rPr b="0" i="0" lang="en-US" sz="2800" u="none">
                <a:solidFill>
                  <a:srgbClr val="800000"/>
                </a:solidFill>
                <a:latin typeface="Arial"/>
                <a:ea typeface="Arial"/>
                <a:cs typeface="Arial"/>
                <a:sym typeface="Arial"/>
              </a:rPr>
              <a:t> </a:t>
            </a:r>
            <a:r>
              <a:rPr b="0" baseline="-25000" i="0" lang="en-US" sz="2800" u="none">
                <a:solidFill>
                  <a:srgbClr val="800000"/>
                </a:solidFill>
                <a:latin typeface="Arial"/>
                <a:ea typeface="Arial"/>
                <a:cs typeface="Arial"/>
                <a:sym typeface="Arial"/>
              </a:rPr>
              <a:t>&lt;selection condition&gt;</a:t>
            </a:r>
            <a:r>
              <a:rPr b="0" i="0" lang="en-US" sz="2800" u="none">
                <a:solidFill>
                  <a:srgbClr val="800000"/>
                </a:solidFill>
                <a:latin typeface="Arial"/>
                <a:ea typeface="Arial"/>
                <a:cs typeface="Arial"/>
                <a:sym typeface="Arial"/>
              </a:rPr>
              <a:t>(R) </a:t>
            </a:r>
            <a:endParaRPr b="0" i="0" sz="2800" u="none">
              <a:solidFill>
                <a:srgbClr val="800000"/>
              </a:solidFill>
              <a:latin typeface="Arial"/>
              <a:ea typeface="Arial"/>
              <a:cs typeface="Arial"/>
              <a:sym typeface="Arial"/>
            </a:endParaRPr>
          </a:p>
          <a:p>
            <a:pPr indent="-285750" lvl="1" marL="742950" rtl="0" algn="l">
              <a:lnSpc>
                <a:spcPct val="100000"/>
              </a:lnSpc>
              <a:spcBef>
                <a:spcPts val="0"/>
              </a:spcBef>
              <a:spcAft>
                <a:spcPts val="0"/>
              </a:spcAft>
              <a:buClr>
                <a:schemeClr val="dk2"/>
              </a:buClr>
              <a:buSzPts val="1540"/>
              <a:buFont typeface="Noto Sans Symbols"/>
              <a:buChar char="■"/>
            </a:pPr>
            <a:r>
              <a:rPr b="0" i="0" lang="en-US" sz="2800" u="none">
                <a:solidFill>
                  <a:srgbClr val="800000"/>
                </a:solidFill>
                <a:latin typeface="Arial"/>
                <a:ea typeface="Arial"/>
                <a:cs typeface="Arial"/>
                <a:sym typeface="Arial"/>
              </a:rPr>
              <a:t>where</a:t>
            </a:r>
            <a:endParaRPr/>
          </a:p>
          <a:p>
            <a:pPr indent="-228600" lvl="2" marL="1143000" rtl="0" algn="l">
              <a:lnSpc>
                <a:spcPct val="100000"/>
              </a:lnSpc>
              <a:spcBef>
                <a:spcPts val="64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the symbol </a:t>
            </a:r>
            <a:r>
              <a:rPr b="1" i="0" lang="en-US" sz="3200" u="none">
                <a:solidFill>
                  <a:schemeClr val="dk2"/>
                </a:solidFill>
                <a:latin typeface="Noto Sans Symbols"/>
                <a:ea typeface="Noto Sans Symbols"/>
                <a:cs typeface="Noto Sans Symbols"/>
                <a:sym typeface="Noto Sans Symbols"/>
              </a:rPr>
              <a:t>σ</a:t>
            </a:r>
            <a:r>
              <a:rPr b="0" i="0" lang="en-US" sz="2400" u="none">
                <a:solidFill>
                  <a:schemeClr val="dk2"/>
                </a:solidFill>
                <a:latin typeface="Arial"/>
                <a:ea typeface="Arial"/>
                <a:cs typeface="Arial"/>
                <a:sym typeface="Arial"/>
              </a:rPr>
              <a:t> (sigma) is used to denote the </a:t>
            </a:r>
            <a:r>
              <a:rPr b="0" i="1" lang="en-US" sz="2400" u="none">
                <a:solidFill>
                  <a:schemeClr val="dk2"/>
                </a:solidFill>
                <a:latin typeface="Arial"/>
                <a:ea typeface="Arial"/>
                <a:cs typeface="Arial"/>
                <a:sym typeface="Arial"/>
              </a:rPr>
              <a:t>select</a:t>
            </a:r>
            <a:r>
              <a:rPr b="0" i="0" lang="en-US" sz="2400" u="none">
                <a:solidFill>
                  <a:schemeClr val="dk2"/>
                </a:solidFill>
                <a:latin typeface="Arial"/>
                <a:ea typeface="Arial"/>
                <a:cs typeface="Arial"/>
                <a:sym typeface="Arial"/>
              </a:rPr>
              <a:t> operator</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the selection condition is a Boolean (conditional) expression specified on the attributes of relation R</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tuples that make the condition </a:t>
            </a:r>
            <a:r>
              <a:rPr b="1" i="0" lang="en-US" sz="2400" u="none">
                <a:solidFill>
                  <a:schemeClr val="dk2"/>
                </a:solidFill>
                <a:latin typeface="Arial"/>
                <a:ea typeface="Arial"/>
                <a:cs typeface="Arial"/>
                <a:sym typeface="Arial"/>
              </a:rPr>
              <a:t>true </a:t>
            </a:r>
            <a:r>
              <a:rPr b="0" i="0" lang="en-US" sz="2400" u="none">
                <a:solidFill>
                  <a:schemeClr val="dk2"/>
                </a:solidFill>
                <a:latin typeface="Arial"/>
                <a:ea typeface="Arial"/>
                <a:cs typeface="Arial"/>
                <a:sym typeface="Arial"/>
              </a:rPr>
              <a:t>are selected</a:t>
            </a:r>
            <a:endParaRPr/>
          </a:p>
          <a:p>
            <a:pPr indent="-228600" lvl="3" marL="1600200" rtl="0" algn="l">
              <a:lnSpc>
                <a:spcPct val="10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appear in the result of the operation</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tuples that make the condition </a:t>
            </a:r>
            <a:r>
              <a:rPr b="1" i="0" lang="en-US" sz="2400" u="none">
                <a:solidFill>
                  <a:schemeClr val="dk2"/>
                </a:solidFill>
                <a:latin typeface="Arial"/>
                <a:ea typeface="Arial"/>
                <a:cs typeface="Arial"/>
                <a:sym typeface="Arial"/>
              </a:rPr>
              <a:t>false </a:t>
            </a:r>
            <a:r>
              <a:rPr b="0" i="0" lang="en-US" sz="2400" u="none">
                <a:solidFill>
                  <a:schemeClr val="dk2"/>
                </a:solidFill>
                <a:latin typeface="Arial"/>
                <a:ea typeface="Arial"/>
                <a:cs typeface="Arial"/>
                <a:sym typeface="Arial"/>
              </a:rPr>
              <a:t>are filtered out</a:t>
            </a:r>
            <a:endParaRPr/>
          </a:p>
          <a:p>
            <a:pPr indent="-228600" lvl="3" marL="1600200" rtl="0" algn="l">
              <a:lnSpc>
                <a:spcPct val="10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discarded from the result of the operation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0" st="0"/>
                                            </p:txEl>
                                          </p:spTgt>
                                        </p:tgtEl>
                                        <p:attrNameLst>
                                          <p:attrName>style.visibility</p:attrName>
                                        </p:attrNameLst>
                                      </p:cBhvr>
                                      <p:to>
                                        <p:strVal val="visible"/>
                                      </p:to>
                                    </p:set>
                                    <p:anim calcmode="lin" valueType="num">
                                      <p:cBhvr additive="base">
                                        <p:cTn dur="500"/>
                                        <p:tgtEl>
                                          <p:spTgt spid="15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1" st="1"/>
                                            </p:txEl>
                                          </p:spTgt>
                                        </p:tgtEl>
                                        <p:attrNameLst>
                                          <p:attrName>style.visibility</p:attrName>
                                        </p:attrNameLst>
                                      </p:cBhvr>
                                      <p:to>
                                        <p:strVal val="visible"/>
                                      </p:to>
                                    </p:set>
                                    <p:anim calcmode="lin" valueType="num">
                                      <p:cBhvr additive="base">
                                        <p:cTn dur="500"/>
                                        <p:tgtEl>
                                          <p:spTgt spid="15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2" st="2"/>
                                            </p:txEl>
                                          </p:spTgt>
                                        </p:tgtEl>
                                        <p:attrNameLst>
                                          <p:attrName>style.visibility</p:attrName>
                                        </p:attrNameLst>
                                      </p:cBhvr>
                                      <p:to>
                                        <p:strVal val="visible"/>
                                      </p:to>
                                    </p:set>
                                    <p:anim calcmode="lin" valueType="num">
                                      <p:cBhvr additive="base">
                                        <p:cTn dur="500"/>
                                        <p:tgtEl>
                                          <p:spTgt spid="15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3" st="3"/>
                                            </p:txEl>
                                          </p:spTgt>
                                        </p:tgtEl>
                                        <p:attrNameLst>
                                          <p:attrName>style.visibility</p:attrName>
                                        </p:attrNameLst>
                                      </p:cBhvr>
                                      <p:to>
                                        <p:strVal val="visible"/>
                                      </p:to>
                                    </p:set>
                                    <p:anim calcmode="lin" valueType="num">
                                      <p:cBhvr additive="base">
                                        <p:cTn dur="500"/>
                                        <p:tgtEl>
                                          <p:spTgt spid="15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4" st="4"/>
                                            </p:txEl>
                                          </p:spTgt>
                                        </p:tgtEl>
                                        <p:attrNameLst>
                                          <p:attrName>style.visibility</p:attrName>
                                        </p:attrNameLst>
                                      </p:cBhvr>
                                      <p:to>
                                        <p:strVal val="visible"/>
                                      </p:to>
                                    </p:set>
                                    <p:anim calcmode="lin" valueType="num">
                                      <p:cBhvr additive="base">
                                        <p:cTn dur="500"/>
                                        <p:tgtEl>
                                          <p:spTgt spid="15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5" st="5"/>
                                            </p:txEl>
                                          </p:spTgt>
                                        </p:tgtEl>
                                        <p:attrNameLst>
                                          <p:attrName>style.visibility</p:attrName>
                                        </p:attrNameLst>
                                      </p:cBhvr>
                                      <p:to>
                                        <p:strVal val="visible"/>
                                      </p:to>
                                    </p:set>
                                    <p:anim calcmode="lin" valueType="num">
                                      <p:cBhvr additive="base">
                                        <p:cTn dur="500"/>
                                        <p:tgtEl>
                                          <p:spTgt spid="15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6" st="6"/>
                                            </p:txEl>
                                          </p:spTgt>
                                        </p:tgtEl>
                                        <p:attrNameLst>
                                          <p:attrName>style.visibility</p:attrName>
                                        </p:attrNameLst>
                                      </p:cBhvr>
                                      <p:to>
                                        <p:strVal val="visible"/>
                                      </p:to>
                                    </p:set>
                                    <p:anim calcmode="lin" valueType="num">
                                      <p:cBhvr additive="base">
                                        <p:cTn dur="500"/>
                                        <p:tgtEl>
                                          <p:spTgt spid="15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7" st="7"/>
                                            </p:txEl>
                                          </p:spTgt>
                                        </p:tgtEl>
                                        <p:attrNameLst>
                                          <p:attrName>style.visibility</p:attrName>
                                        </p:attrNameLst>
                                      </p:cBhvr>
                                      <p:to>
                                        <p:strVal val="visible"/>
                                      </p:to>
                                    </p:set>
                                    <p:anim calcmode="lin" valueType="num">
                                      <p:cBhvr additive="base">
                                        <p:cTn dur="500"/>
                                        <p:tgtEl>
                                          <p:spTgt spid="156">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8" st="8"/>
                                            </p:txEl>
                                          </p:spTgt>
                                        </p:tgtEl>
                                        <p:attrNameLst>
                                          <p:attrName>style.visibility</p:attrName>
                                        </p:attrNameLst>
                                      </p:cBhvr>
                                      <p:to>
                                        <p:strVal val="visible"/>
                                      </p:to>
                                    </p:set>
                                    <p:anim calcmode="lin" valueType="num">
                                      <p:cBhvr additive="base">
                                        <p:cTn dur="500"/>
                                        <p:tgtEl>
                                          <p:spTgt spid="156">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63" name="Google Shape;163;p1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SELECT (contd.)</a:t>
            </a:r>
            <a:endParaRPr/>
          </a:p>
        </p:txBody>
      </p:sp>
      <p:sp>
        <p:nvSpPr>
          <p:cNvPr id="164" name="Google Shape;164;p1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SELECT Operation Properties</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The SELECT operation </a:t>
            </a:r>
            <a:r>
              <a:rPr b="0" i="0" lang="en-US" sz="2100" u="none">
                <a:solidFill>
                  <a:srgbClr val="800000"/>
                </a:solidFill>
                <a:latin typeface="Noto Sans Symbols"/>
                <a:ea typeface="Noto Sans Symbols"/>
                <a:cs typeface="Noto Sans Symbols"/>
                <a:sym typeface="Noto Sans Symbols"/>
              </a:rPr>
              <a:t>σ</a:t>
            </a:r>
            <a:r>
              <a:rPr b="0" i="0" lang="en-US" sz="2100" u="none">
                <a:solidFill>
                  <a:srgbClr val="800000"/>
                </a:solidFill>
                <a:latin typeface="Arial"/>
                <a:ea typeface="Arial"/>
                <a:cs typeface="Arial"/>
                <a:sym typeface="Arial"/>
              </a:rPr>
              <a:t> </a:t>
            </a:r>
            <a:r>
              <a:rPr b="0" baseline="-25000" i="0" lang="en-US" sz="2100" u="none">
                <a:solidFill>
                  <a:srgbClr val="800000"/>
                </a:solidFill>
                <a:latin typeface="Arial"/>
                <a:ea typeface="Arial"/>
                <a:cs typeface="Arial"/>
                <a:sym typeface="Arial"/>
              </a:rPr>
              <a:t>&lt;selection condition&gt;</a:t>
            </a:r>
            <a:r>
              <a:rPr b="0" i="0" lang="en-US" sz="2100" u="none">
                <a:solidFill>
                  <a:srgbClr val="800000"/>
                </a:solidFill>
                <a:latin typeface="Arial"/>
                <a:ea typeface="Arial"/>
                <a:cs typeface="Arial"/>
                <a:sym typeface="Arial"/>
              </a:rPr>
              <a:t>(R) produces a relation S that has the same schema (same attributes) as R</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SELECT </a:t>
            </a:r>
            <a:r>
              <a:rPr b="0" i="0" lang="en-US" sz="2100" u="none">
                <a:solidFill>
                  <a:srgbClr val="800000"/>
                </a:solidFill>
                <a:latin typeface="Noto Sans Symbols"/>
                <a:ea typeface="Noto Sans Symbols"/>
                <a:cs typeface="Noto Sans Symbols"/>
                <a:sym typeface="Noto Sans Symbols"/>
              </a:rPr>
              <a:t>σ</a:t>
            </a:r>
            <a:r>
              <a:rPr b="0" i="0" lang="en-US" sz="2100" u="none">
                <a:solidFill>
                  <a:srgbClr val="800000"/>
                </a:solidFill>
                <a:latin typeface="Arial"/>
                <a:ea typeface="Arial"/>
                <a:cs typeface="Arial"/>
                <a:sym typeface="Arial"/>
              </a:rPr>
              <a:t> is commutative:</a:t>
            </a:r>
            <a:endParaRPr/>
          </a:p>
          <a:p>
            <a:pPr indent="-228600" lvl="2" marL="1143000" rtl="0" algn="l">
              <a:lnSpc>
                <a:spcPct val="80000"/>
              </a:lnSpc>
              <a:spcBef>
                <a:spcPts val="420"/>
              </a:spcBef>
              <a:spcAft>
                <a:spcPts val="0"/>
              </a:spcAft>
              <a:buClr>
                <a:srgbClr val="990033"/>
              </a:buClr>
              <a:buSzPts val="1000"/>
              <a:buFont typeface="Noto Sans Symbols"/>
              <a:buChar char="■"/>
            </a:pPr>
            <a:r>
              <a:rPr b="0" i="0" lang="en-US" sz="20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a:t>
            </a:r>
            <a:r>
              <a:rPr b="0" baseline="-25000" i="0" lang="en-US" sz="2100" u="none">
                <a:solidFill>
                  <a:schemeClr val="dk2"/>
                </a:solidFill>
                <a:latin typeface="Arial"/>
                <a:ea typeface="Arial"/>
                <a:cs typeface="Arial"/>
                <a:sym typeface="Arial"/>
              </a:rPr>
              <a:t>&lt;condition1&gt;</a:t>
            </a:r>
            <a:r>
              <a:rPr b="0" i="0" lang="en-US" sz="2000" u="none">
                <a:solidFill>
                  <a:schemeClr val="dk2"/>
                </a:solidFill>
                <a:latin typeface="Arial"/>
                <a:ea typeface="Arial"/>
                <a:cs typeface="Arial"/>
                <a:sym typeface="Arial"/>
              </a:rPr>
              <a:t>(</a:t>
            </a:r>
            <a:r>
              <a:rPr b="0" i="0" lang="en-US" sz="20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a:t>
            </a:r>
            <a:r>
              <a:rPr b="0" baseline="-25000" i="0" lang="en-US" sz="2100" u="none">
                <a:solidFill>
                  <a:schemeClr val="dk2"/>
                </a:solidFill>
                <a:latin typeface="Arial"/>
                <a:ea typeface="Arial"/>
                <a:cs typeface="Arial"/>
                <a:sym typeface="Arial"/>
              </a:rPr>
              <a:t>&lt; condition2&gt;</a:t>
            </a:r>
            <a:r>
              <a:rPr b="0" i="0" lang="en-US" sz="2000" u="none">
                <a:solidFill>
                  <a:schemeClr val="dk2"/>
                </a:solidFill>
                <a:latin typeface="Arial"/>
                <a:ea typeface="Arial"/>
                <a:cs typeface="Arial"/>
                <a:sym typeface="Arial"/>
              </a:rPr>
              <a:t> (R)) = </a:t>
            </a:r>
            <a:r>
              <a:rPr b="0" i="0" lang="en-US" sz="20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a:t>
            </a:r>
            <a:r>
              <a:rPr b="0" baseline="-25000" i="0" lang="en-US" sz="2100" u="none">
                <a:solidFill>
                  <a:schemeClr val="dk2"/>
                </a:solidFill>
                <a:latin typeface="Arial"/>
                <a:ea typeface="Arial"/>
                <a:cs typeface="Arial"/>
                <a:sym typeface="Arial"/>
              </a:rPr>
              <a:t>&lt;condition2&gt;</a:t>
            </a:r>
            <a:r>
              <a:rPr b="0" i="0" lang="en-US" sz="2000" u="none">
                <a:solidFill>
                  <a:schemeClr val="dk2"/>
                </a:solidFill>
                <a:latin typeface="Arial"/>
                <a:ea typeface="Arial"/>
                <a:cs typeface="Arial"/>
                <a:sym typeface="Arial"/>
              </a:rPr>
              <a:t> (</a:t>
            </a:r>
            <a:r>
              <a:rPr b="0" i="0" lang="en-US" sz="20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a:t>
            </a:r>
            <a:r>
              <a:rPr b="0" baseline="-25000" i="0" lang="en-US" sz="2100" u="none">
                <a:solidFill>
                  <a:schemeClr val="dk2"/>
                </a:solidFill>
                <a:latin typeface="Arial"/>
                <a:ea typeface="Arial"/>
                <a:cs typeface="Arial"/>
                <a:sym typeface="Arial"/>
              </a:rPr>
              <a:t>&lt; condition1&gt;</a:t>
            </a:r>
            <a:r>
              <a:rPr b="0" i="0" lang="en-US" sz="2000" u="none">
                <a:solidFill>
                  <a:schemeClr val="dk2"/>
                </a:solidFill>
                <a:latin typeface="Arial"/>
                <a:ea typeface="Arial"/>
                <a:cs typeface="Arial"/>
                <a:sym typeface="Arial"/>
              </a:rPr>
              <a:t> (R))</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Because of commutativity property, a cascade (sequence) of SELECT operations may be applied in any order:</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&lt;cond1&gt;</a:t>
            </a:r>
            <a:r>
              <a:rPr b="0" i="0" lang="en-US" sz="2000" u="none">
                <a:solidFill>
                  <a:schemeClr val="dk2"/>
                </a:solidFill>
                <a:latin typeface="Arial"/>
                <a:ea typeface="Arial"/>
                <a:cs typeface="Arial"/>
                <a:sym typeface="Arial"/>
              </a:rPr>
              <a:t>(</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&lt;cond2&gt;</a:t>
            </a:r>
            <a:r>
              <a:rPr b="0" i="0" lang="en-US" sz="2000" u="none">
                <a:solidFill>
                  <a:schemeClr val="dk2"/>
                </a:solidFill>
                <a:latin typeface="Arial"/>
                <a:ea typeface="Arial"/>
                <a:cs typeface="Arial"/>
                <a:sym typeface="Arial"/>
              </a:rPr>
              <a:t> (</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&lt;cond3&gt;</a:t>
            </a:r>
            <a:r>
              <a:rPr b="0" i="0" lang="en-US" sz="2000" u="none">
                <a:solidFill>
                  <a:schemeClr val="dk2"/>
                </a:solidFill>
                <a:latin typeface="Arial"/>
                <a:ea typeface="Arial"/>
                <a:cs typeface="Arial"/>
                <a:sym typeface="Arial"/>
              </a:rPr>
              <a:t> (R)) = </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&lt;cond2&gt;</a:t>
            </a:r>
            <a:r>
              <a:rPr b="0" i="0" lang="en-US" sz="2000" u="none">
                <a:solidFill>
                  <a:schemeClr val="dk2"/>
                </a:solidFill>
                <a:latin typeface="Arial"/>
                <a:ea typeface="Arial"/>
                <a:cs typeface="Arial"/>
                <a:sym typeface="Arial"/>
              </a:rPr>
              <a:t> (</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&lt;cond3&gt;</a:t>
            </a:r>
            <a:r>
              <a:rPr b="0" i="0" lang="en-US" sz="2000" u="none">
                <a:solidFill>
                  <a:schemeClr val="dk2"/>
                </a:solidFill>
                <a:latin typeface="Arial"/>
                <a:ea typeface="Arial"/>
                <a:cs typeface="Arial"/>
                <a:sym typeface="Arial"/>
              </a:rPr>
              <a:t> (</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&lt;cond1&gt;</a:t>
            </a:r>
            <a:r>
              <a:rPr b="0" i="0" lang="en-US" sz="2000" u="none">
                <a:solidFill>
                  <a:schemeClr val="dk2"/>
                </a:solidFill>
                <a:latin typeface="Arial"/>
                <a:ea typeface="Arial"/>
                <a:cs typeface="Arial"/>
                <a:sym typeface="Arial"/>
              </a:rPr>
              <a:t> ( R)))</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A cascade of SELECT operations may be replaced by a single selection with a conjunction of all the conditions:</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&lt;cond1&gt;</a:t>
            </a:r>
            <a:r>
              <a:rPr b="0" i="0" lang="en-US" sz="2000" u="none">
                <a:solidFill>
                  <a:schemeClr val="dk2"/>
                </a:solidFill>
                <a:latin typeface="Arial"/>
                <a:ea typeface="Arial"/>
                <a:cs typeface="Arial"/>
                <a:sym typeface="Arial"/>
              </a:rPr>
              <a:t>(</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 cond2&gt;</a:t>
            </a:r>
            <a:r>
              <a:rPr b="0" i="0" lang="en-US" sz="2000" u="none">
                <a:solidFill>
                  <a:schemeClr val="dk2"/>
                </a:solidFill>
                <a:latin typeface="Arial"/>
                <a:ea typeface="Arial"/>
                <a:cs typeface="Arial"/>
                <a:sym typeface="Arial"/>
              </a:rPr>
              <a:t> (</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&lt;cond3&gt;</a:t>
            </a:r>
            <a:r>
              <a:rPr b="0" i="0" lang="en-US" sz="2000" u="none">
                <a:solidFill>
                  <a:schemeClr val="dk2"/>
                </a:solidFill>
                <a:latin typeface="Arial"/>
                <a:ea typeface="Arial"/>
                <a:cs typeface="Arial"/>
                <a:sym typeface="Arial"/>
              </a:rPr>
              <a:t>(R)) = </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 &lt;cond1&gt; AND &lt; cond2&gt; AND &lt; cond3&gt;</a:t>
            </a:r>
            <a:r>
              <a:rPr b="0" i="0" lang="en-US" sz="2000" u="none">
                <a:solidFill>
                  <a:schemeClr val="dk2"/>
                </a:solidFill>
                <a:latin typeface="Arial"/>
                <a:ea typeface="Arial"/>
                <a:cs typeface="Arial"/>
                <a:sym typeface="Arial"/>
              </a:rPr>
              <a:t>(R)</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number of tuples in the result of a SELECT is less than (or equal to) the number of tuples in the input relation R</a:t>
            </a:r>
            <a:endParaRPr/>
          </a:p>
          <a:p>
            <a:pPr indent="-212407" lvl="1" marL="742950" rtl="0" algn="l">
              <a:lnSpc>
                <a:spcPct val="80000"/>
              </a:lnSpc>
              <a:spcBef>
                <a:spcPts val="420"/>
              </a:spcBef>
              <a:spcAft>
                <a:spcPts val="0"/>
              </a:spcAft>
              <a:buClr>
                <a:schemeClr val="dk2"/>
              </a:buClr>
              <a:buSzPts val="1155"/>
              <a:buFont typeface="Noto Sans Symbols"/>
              <a:buNone/>
            </a:pPr>
            <a:r>
              <a:t/>
            </a:r>
            <a:endParaRPr b="0" i="0" sz="2100" u="none">
              <a:solidFill>
                <a:srgbClr val="800000"/>
              </a:solidFill>
              <a:latin typeface="Arial"/>
              <a:ea typeface="Arial"/>
              <a:cs typeface="Arial"/>
              <a:sym typeface="Arial"/>
            </a:endParaRPr>
          </a:p>
          <a:p>
            <a:pPr indent="-262890" lvl="0" marL="342900" rtl="0" algn="l">
              <a:lnSpc>
                <a:spcPct val="100000"/>
              </a:lnSpc>
              <a:spcBef>
                <a:spcPts val="420"/>
              </a:spcBef>
              <a:spcAft>
                <a:spcPts val="0"/>
              </a:spcAft>
              <a:buSzPts val="1260"/>
              <a:buNone/>
            </a:pPr>
            <a:r>
              <a:t/>
            </a:r>
            <a:endParaRPr b="0" i="0" sz="2100" u="none">
              <a:solidFill>
                <a:srgbClr val="8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71" name="Google Shape;171;p1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PROJECT</a:t>
            </a:r>
            <a:endParaRPr/>
          </a:p>
        </p:txBody>
      </p:sp>
      <p:sp>
        <p:nvSpPr>
          <p:cNvPr id="172" name="Google Shape;172;p1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400" u="none">
                <a:solidFill>
                  <a:schemeClr val="dk2"/>
                </a:solidFill>
              </a:rPr>
              <a:t>PROJECT Operation is denoted by </a:t>
            </a:r>
            <a:r>
              <a:rPr b="1" i="0" lang="en-US" sz="2400" u="none">
                <a:solidFill>
                  <a:schemeClr val="dk2"/>
                </a:solidFill>
                <a:latin typeface="Noto Sans Symbols"/>
                <a:ea typeface="Noto Sans Symbols"/>
                <a:cs typeface="Noto Sans Symbols"/>
                <a:sym typeface="Noto Sans Symbols"/>
              </a:rPr>
              <a:t>π</a:t>
            </a:r>
            <a:r>
              <a:rPr b="0" i="0" lang="en-US" sz="2400" u="none">
                <a:solidFill>
                  <a:schemeClr val="dk2"/>
                </a:solidFill>
                <a:latin typeface="Noto Sans Symbols"/>
                <a:ea typeface="Noto Sans Symbols"/>
                <a:cs typeface="Noto Sans Symbols"/>
                <a:sym typeface="Noto Sans Symbols"/>
              </a:rPr>
              <a:t> </a:t>
            </a:r>
            <a:r>
              <a:rPr b="0" i="0" lang="en-US" sz="2400" u="none">
                <a:solidFill>
                  <a:schemeClr val="dk2"/>
                </a:solidFill>
              </a:rPr>
              <a:t>(pi) </a:t>
            </a:r>
            <a:endParaRPr sz="2400"/>
          </a:p>
          <a:p>
            <a:pPr indent="-342900" lvl="0" marL="342900" rtl="0" algn="l">
              <a:lnSpc>
                <a:spcPct val="90000"/>
              </a:lnSpc>
              <a:spcBef>
                <a:spcPts val="560"/>
              </a:spcBef>
              <a:spcAft>
                <a:spcPts val="0"/>
              </a:spcAft>
              <a:buClr>
                <a:srgbClr val="990033"/>
              </a:buClr>
              <a:buSzPts val="1680"/>
              <a:buFont typeface="Noto Sans Symbols"/>
              <a:buChar char="■"/>
            </a:pPr>
            <a:r>
              <a:rPr b="0" i="0" lang="en-US" sz="2400" u="none">
                <a:solidFill>
                  <a:schemeClr val="dk2"/>
                </a:solidFill>
                <a:latin typeface="Arial"/>
                <a:ea typeface="Arial"/>
                <a:cs typeface="Arial"/>
                <a:sym typeface="Arial"/>
              </a:rPr>
              <a:t>This operation keeps certain </a:t>
            </a:r>
            <a:r>
              <a:rPr b="0" i="1" lang="en-US" sz="2400" u="none">
                <a:solidFill>
                  <a:schemeClr val="dk2"/>
                </a:solidFill>
                <a:latin typeface="Arial"/>
                <a:ea typeface="Arial"/>
                <a:cs typeface="Arial"/>
                <a:sym typeface="Arial"/>
              </a:rPr>
              <a:t>columns</a:t>
            </a:r>
            <a:r>
              <a:rPr b="0" i="0" lang="en-US" sz="2400" u="none">
                <a:solidFill>
                  <a:schemeClr val="dk2"/>
                </a:solidFill>
                <a:latin typeface="Arial"/>
                <a:ea typeface="Arial"/>
                <a:cs typeface="Arial"/>
                <a:sym typeface="Arial"/>
              </a:rPr>
              <a:t> (attributes) from a relation and discards the other columns.</a:t>
            </a:r>
            <a:endParaRPr sz="2400"/>
          </a:p>
          <a:p>
            <a:pPr indent="-285750" lvl="1" marL="742950" rtl="0" algn="l">
              <a:lnSpc>
                <a:spcPct val="90000"/>
              </a:lnSpc>
              <a:spcBef>
                <a:spcPts val="520"/>
              </a:spcBef>
              <a:spcAft>
                <a:spcPts val="0"/>
              </a:spcAft>
              <a:buClr>
                <a:schemeClr val="dk2"/>
              </a:buClr>
              <a:buSzPts val="1430"/>
              <a:buFont typeface="Noto Sans Symbols"/>
              <a:buChar char="■"/>
            </a:pPr>
            <a:r>
              <a:rPr b="0" i="0" lang="en-US" sz="2400" u="none">
                <a:solidFill>
                  <a:srgbClr val="800000"/>
                </a:solidFill>
                <a:latin typeface="Arial"/>
                <a:ea typeface="Arial"/>
                <a:cs typeface="Arial"/>
                <a:sym typeface="Arial"/>
              </a:rPr>
              <a:t>PROJECT creates a vertical partitioning</a:t>
            </a:r>
            <a:endParaRPr sz="2400"/>
          </a:p>
          <a:p>
            <a:pPr indent="-228600" lvl="2" marL="1143000" rtl="0" algn="l">
              <a:lnSpc>
                <a:spcPct val="90000"/>
              </a:lnSpc>
              <a:spcBef>
                <a:spcPts val="48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The list of specified columns (attributes) is kept in each tuple</a:t>
            </a:r>
            <a:endParaRPr sz="2000"/>
          </a:p>
          <a:p>
            <a:pPr indent="-228600" lvl="2" marL="1143000" rtl="0" algn="l">
              <a:lnSpc>
                <a:spcPct val="90000"/>
              </a:lnSpc>
              <a:spcBef>
                <a:spcPts val="48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The other attributes in each tuple are discarded</a:t>
            </a:r>
            <a:endParaRPr/>
          </a:p>
          <a:p>
            <a:pPr indent="-236220" lvl="0" marL="342900" rtl="0" algn="l">
              <a:lnSpc>
                <a:spcPct val="80000"/>
              </a:lnSpc>
              <a:spcBef>
                <a:spcPts val="560"/>
              </a:spcBef>
              <a:spcAft>
                <a:spcPts val="0"/>
              </a:spcAft>
              <a:buSzPts val="1680"/>
              <a:buNone/>
            </a:pPr>
            <a:r>
              <a:t/>
            </a:r>
            <a:endParaRPr sz="2400"/>
          </a:p>
          <a:p>
            <a:pPr indent="-342900" lvl="0" marL="342900" rtl="0" algn="l">
              <a:lnSpc>
                <a:spcPct val="80000"/>
              </a:lnSpc>
              <a:spcBef>
                <a:spcPts val="560"/>
              </a:spcBef>
              <a:spcAft>
                <a:spcPts val="0"/>
              </a:spcAft>
              <a:buSzPts val="1680"/>
              <a:buChar char="■"/>
            </a:pPr>
            <a:r>
              <a:rPr lang="en-US" sz="2400"/>
              <a:t>The general form of the </a:t>
            </a:r>
            <a:r>
              <a:rPr i="1" lang="en-US" sz="2400"/>
              <a:t>project</a:t>
            </a:r>
            <a:r>
              <a:rPr lang="en-US" sz="2400"/>
              <a:t> operation is:</a:t>
            </a:r>
            <a:endParaRPr/>
          </a:p>
          <a:p>
            <a:pPr indent="-342900" lvl="0" marL="342900" rtl="0" algn="ctr">
              <a:lnSpc>
                <a:spcPct val="80000"/>
              </a:lnSpc>
              <a:spcBef>
                <a:spcPts val="560"/>
              </a:spcBef>
              <a:spcAft>
                <a:spcPts val="0"/>
              </a:spcAft>
              <a:buSzPts val="1680"/>
              <a:buNone/>
            </a:pPr>
            <a:r>
              <a:rPr lang="en-US" sz="2400">
                <a:latin typeface="Noto Sans Symbols"/>
                <a:ea typeface="Noto Sans Symbols"/>
                <a:cs typeface="Noto Sans Symbols"/>
                <a:sym typeface="Noto Sans Symbols"/>
              </a:rPr>
              <a:t>π</a:t>
            </a:r>
            <a:r>
              <a:rPr baseline="-25000" lang="en-US" sz="2400"/>
              <a:t>&lt;attribute list&gt;</a:t>
            </a:r>
            <a:r>
              <a:rPr lang="en-US" sz="2400"/>
              <a:t>(R)</a:t>
            </a:r>
            <a:endParaRPr/>
          </a:p>
          <a:p>
            <a:pPr indent="-285750" lvl="1" marL="742950" rtl="0" algn="l">
              <a:lnSpc>
                <a:spcPct val="80000"/>
              </a:lnSpc>
              <a:spcBef>
                <a:spcPts val="520"/>
              </a:spcBef>
              <a:spcAft>
                <a:spcPts val="0"/>
              </a:spcAft>
              <a:buSzPts val="1430"/>
              <a:buChar char="■"/>
            </a:pPr>
            <a:r>
              <a:rPr lang="en-US" sz="2400">
                <a:latin typeface="Noto Sans Symbols"/>
                <a:ea typeface="Noto Sans Symbols"/>
                <a:cs typeface="Noto Sans Symbols"/>
                <a:sym typeface="Noto Sans Symbols"/>
              </a:rPr>
              <a:t>π</a:t>
            </a:r>
            <a:r>
              <a:rPr lang="en-US" sz="2400"/>
              <a:t> (pi) is the symbol used to represent the </a:t>
            </a:r>
            <a:r>
              <a:rPr i="1" lang="en-US" sz="2400"/>
              <a:t>project</a:t>
            </a:r>
            <a:r>
              <a:rPr lang="en-US" sz="2400"/>
              <a:t> operation</a:t>
            </a:r>
            <a:endParaRPr/>
          </a:p>
          <a:p>
            <a:pPr indent="-285750" lvl="1" marL="742950" rtl="0" algn="l">
              <a:lnSpc>
                <a:spcPct val="80000"/>
              </a:lnSpc>
              <a:spcBef>
                <a:spcPts val="520"/>
              </a:spcBef>
              <a:spcAft>
                <a:spcPts val="0"/>
              </a:spcAft>
              <a:buSzPts val="1430"/>
              <a:buChar char="■"/>
            </a:pPr>
            <a:r>
              <a:rPr lang="en-US" sz="2400"/>
              <a:t>&lt;attribute list&gt; is the desired list of attributes from relation R. </a:t>
            </a:r>
            <a:endParaRPr/>
          </a:p>
          <a:p>
            <a:pPr indent="0" lvl="2" marL="914400" rtl="0" algn="l">
              <a:lnSpc>
                <a:spcPct val="90000"/>
              </a:lnSpc>
              <a:spcBef>
                <a:spcPts val="480"/>
              </a:spcBef>
              <a:spcAft>
                <a:spcPts val="0"/>
              </a:spcAft>
              <a:buClr>
                <a:srgbClr val="990033"/>
              </a:buClr>
              <a:buSzPts val="12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0" st="0"/>
                                            </p:txEl>
                                          </p:spTgt>
                                        </p:tgtEl>
                                        <p:attrNameLst>
                                          <p:attrName>style.visibility</p:attrName>
                                        </p:attrNameLst>
                                      </p:cBhvr>
                                      <p:to>
                                        <p:strVal val="visible"/>
                                      </p:to>
                                    </p:set>
                                    <p:animEffect filter="fade" transition="in">
                                      <p:cBhvr>
                                        <p:cTn dur="1000"/>
                                        <p:tgtEl>
                                          <p:spTgt spid="1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 st="1"/>
                                            </p:txEl>
                                          </p:spTgt>
                                        </p:tgtEl>
                                        <p:attrNameLst>
                                          <p:attrName>style.visibility</p:attrName>
                                        </p:attrNameLst>
                                      </p:cBhvr>
                                      <p:to>
                                        <p:strVal val="visible"/>
                                      </p:to>
                                    </p:set>
                                    <p:animEffect filter="fade" transition="in">
                                      <p:cBhvr>
                                        <p:cTn dur="1000"/>
                                        <p:tgtEl>
                                          <p:spTgt spid="1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2" st="2"/>
                                            </p:txEl>
                                          </p:spTgt>
                                        </p:tgtEl>
                                        <p:attrNameLst>
                                          <p:attrName>style.visibility</p:attrName>
                                        </p:attrNameLst>
                                      </p:cBhvr>
                                      <p:to>
                                        <p:strVal val="visible"/>
                                      </p:to>
                                    </p:set>
                                    <p:animEffect filter="fade" transition="in">
                                      <p:cBhvr>
                                        <p:cTn dur="1000"/>
                                        <p:tgtEl>
                                          <p:spTgt spid="1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3" st="3"/>
                                            </p:txEl>
                                          </p:spTgt>
                                        </p:tgtEl>
                                        <p:attrNameLst>
                                          <p:attrName>style.visibility</p:attrName>
                                        </p:attrNameLst>
                                      </p:cBhvr>
                                      <p:to>
                                        <p:strVal val="visible"/>
                                      </p:to>
                                    </p:set>
                                    <p:animEffect filter="fade" transition="in">
                                      <p:cBhvr>
                                        <p:cTn dur="1000"/>
                                        <p:tgtEl>
                                          <p:spTgt spid="1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4" st="4"/>
                                            </p:txEl>
                                          </p:spTgt>
                                        </p:tgtEl>
                                        <p:attrNameLst>
                                          <p:attrName>style.visibility</p:attrName>
                                        </p:attrNameLst>
                                      </p:cBhvr>
                                      <p:to>
                                        <p:strVal val="visible"/>
                                      </p:to>
                                    </p:set>
                                    <p:animEffect filter="fade" transition="in">
                                      <p:cBhvr>
                                        <p:cTn dur="1000"/>
                                        <p:tgtEl>
                                          <p:spTgt spid="1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5" st="5"/>
                                            </p:txEl>
                                          </p:spTgt>
                                        </p:tgtEl>
                                        <p:attrNameLst>
                                          <p:attrName>style.visibility</p:attrName>
                                        </p:attrNameLst>
                                      </p:cBhvr>
                                      <p:to>
                                        <p:strVal val="visible"/>
                                      </p:to>
                                    </p:set>
                                    <p:animEffect filter="fade" transition="in">
                                      <p:cBhvr>
                                        <p:cTn dur="1000"/>
                                        <p:tgtEl>
                                          <p:spTgt spid="17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6" st="6"/>
                                            </p:txEl>
                                          </p:spTgt>
                                        </p:tgtEl>
                                        <p:attrNameLst>
                                          <p:attrName>style.visibility</p:attrName>
                                        </p:attrNameLst>
                                      </p:cBhvr>
                                      <p:to>
                                        <p:strVal val="visible"/>
                                      </p:to>
                                    </p:set>
                                    <p:animEffect filter="fade" transition="in">
                                      <p:cBhvr>
                                        <p:cTn dur="1000"/>
                                        <p:tgtEl>
                                          <p:spTgt spid="17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7" st="7"/>
                                            </p:txEl>
                                          </p:spTgt>
                                        </p:tgtEl>
                                        <p:attrNameLst>
                                          <p:attrName>style.visibility</p:attrName>
                                        </p:attrNameLst>
                                      </p:cBhvr>
                                      <p:to>
                                        <p:strVal val="visible"/>
                                      </p:to>
                                    </p:set>
                                    <p:animEffect filter="fade" transition="in">
                                      <p:cBhvr>
                                        <p:cTn dur="1000"/>
                                        <p:tgtEl>
                                          <p:spTgt spid="17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8" st="8"/>
                                            </p:txEl>
                                          </p:spTgt>
                                        </p:tgtEl>
                                        <p:attrNameLst>
                                          <p:attrName>style.visibility</p:attrName>
                                        </p:attrNameLst>
                                      </p:cBhvr>
                                      <p:to>
                                        <p:strVal val="visible"/>
                                      </p:to>
                                    </p:set>
                                    <p:animEffect filter="fade" transition="in">
                                      <p:cBhvr>
                                        <p:cTn dur="1000"/>
                                        <p:tgtEl>
                                          <p:spTgt spid="17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9" st="9"/>
                                            </p:txEl>
                                          </p:spTgt>
                                        </p:tgtEl>
                                        <p:attrNameLst>
                                          <p:attrName>style.visibility</p:attrName>
                                        </p:attrNameLst>
                                      </p:cBhvr>
                                      <p:to>
                                        <p:strVal val="visible"/>
                                      </p:to>
                                    </p:set>
                                    <p:animEffect filter="fade" transition="in">
                                      <p:cBhvr>
                                        <p:cTn dur="1000"/>
                                        <p:tgtEl>
                                          <p:spTgt spid="17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0" st="10"/>
                                            </p:txEl>
                                          </p:spTgt>
                                        </p:tgtEl>
                                        <p:attrNameLst>
                                          <p:attrName>style.visibility</p:attrName>
                                        </p:attrNameLst>
                                      </p:cBhvr>
                                      <p:to>
                                        <p:strVal val="visible"/>
                                      </p:to>
                                    </p:set>
                                    <p:animEffect filter="fade" transition="in">
                                      <p:cBhvr>
                                        <p:cTn dur="1000"/>
                                        <p:tgtEl>
                                          <p:spTgt spid="172">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79" name="Google Shape;179;p1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PROJECT (cont.)</a:t>
            </a:r>
            <a:endParaRPr/>
          </a:p>
        </p:txBody>
      </p:sp>
      <p:sp>
        <p:nvSpPr>
          <p:cNvPr id="180" name="Google Shape;180;p1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project operation </a:t>
            </a:r>
            <a:r>
              <a:rPr b="0" i="1" lang="en-US" sz="2800" u="none">
                <a:solidFill>
                  <a:schemeClr val="dk2"/>
                </a:solidFill>
                <a:latin typeface="Arial"/>
                <a:ea typeface="Arial"/>
                <a:cs typeface="Arial"/>
                <a:sym typeface="Arial"/>
              </a:rPr>
              <a:t>removes any duplicate tuples</a:t>
            </a:r>
            <a:endParaRPr/>
          </a:p>
          <a:p>
            <a:pPr indent="-285750" lvl="1" marL="742950" rtl="0" algn="l">
              <a:lnSpc>
                <a:spcPct val="80000"/>
              </a:lnSpc>
              <a:spcBef>
                <a:spcPts val="520"/>
              </a:spcBef>
              <a:spcAft>
                <a:spcPts val="0"/>
              </a:spcAft>
              <a:buSzPts val="1430"/>
              <a:buChar char="■"/>
            </a:pPr>
            <a:r>
              <a:rPr lang="en-US"/>
              <a:t>This is because the result of the </a:t>
            </a:r>
            <a:r>
              <a:rPr i="1" lang="en-US"/>
              <a:t>project</a:t>
            </a:r>
            <a:r>
              <a:rPr lang="en-US"/>
              <a:t> operation must be a </a:t>
            </a:r>
            <a:r>
              <a:rPr i="1" lang="en-US"/>
              <a:t>set of tuples</a:t>
            </a:r>
            <a:endParaRPr/>
          </a:p>
          <a:p>
            <a:pPr indent="-228600" lvl="2" marL="1143000" rtl="0" algn="l">
              <a:lnSpc>
                <a:spcPct val="80000"/>
              </a:lnSpc>
              <a:spcBef>
                <a:spcPts val="480"/>
              </a:spcBef>
              <a:spcAft>
                <a:spcPts val="0"/>
              </a:spcAft>
              <a:buSzPts val="1200"/>
              <a:buChar char="■"/>
            </a:pPr>
            <a:r>
              <a:rPr lang="en-US"/>
              <a:t>Mathematical sets </a:t>
            </a:r>
            <a:r>
              <a:rPr i="1" lang="en-US"/>
              <a:t>do not allow</a:t>
            </a:r>
            <a:r>
              <a:rPr lang="en-US"/>
              <a:t> duplicate elements</a:t>
            </a:r>
            <a:endParaRPr b="0" i="1" sz="2800" u="none">
              <a:solidFill>
                <a:schemeClr val="dk2"/>
              </a:solidFill>
              <a:latin typeface="Arial"/>
              <a:ea typeface="Arial"/>
              <a:cs typeface="Arial"/>
              <a:sym typeface="Arial"/>
            </a:endParaRPr>
          </a:p>
          <a:p>
            <a:pPr indent="-342900" lvl="0" marL="342900" rtl="0" algn="l">
              <a:lnSpc>
                <a:spcPct val="90000"/>
              </a:lnSpc>
              <a:spcBef>
                <a:spcPts val="560"/>
              </a:spcBef>
              <a:spcAft>
                <a:spcPts val="0"/>
              </a:spcAft>
              <a:buSzPts val="1680"/>
              <a:buChar char="■"/>
            </a:pPr>
            <a:r>
              <a:rPr lang="en-US"/>
              <a:t>Example: To list each employee’s first and last name and salary, the following is used:</a:t>
            </a:r>
            <a:endParaRPr/>
          </a:p>
          <a:p>
            <a:pPr indent="-285750" lvl="1" marL="742950" rtl="0" algn="ctr">
              <a:lnSpc>
                <a:spcPct val="90000"/>
              </a:lnSpc>
              <a:spcBef>
                <a:spcPts val="520"/>
              </a:spcBef>
              <a:spcAft>
                <a:spcPts val="0"/>
              </a:spcAft>
              <a:buSzPts val="1430"/>
              <a:buNone/>
            </a:pPr>
            <a:r>
              <a:rPr lang="en-US">
                <a:latin typeface="Noto Sans Symbols"/>
                <a:ea typeface="Noto Sans Symbols"/>
                <a:cs typeface="Noto Sans Symbols"/>
                <a:sym typeface="Noto Sans Symbols"/>
              </a:rPr>
              <a:t>π</a:t>
            </a:r>
            <a:r>
              <a:rPr baseline="-25000" lang="en-US"/>
              <a:t>LNAME, FNAME,SALARY</a:t>
            </a:r>
            <a:r>
              <a:rPr lang="en-US"/>
              <a:t>(EMPLOYEE)</a:t>
            </a:r>
            <a:endParaRPr/>
          </a:p>
          <a:p>
            <a:pPr indent="-236220" lvl="0" marL="342900" rtl="0" algn="l">
              <a:lnSpc>
                <a:spcPct val="80000"/>
              </a:lnSpc>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a:p>
            <a:pPr indent="-236220" lvl="0" marL="342900" rtl="0" algn="l">
              <a:lnSpc>
                <a:spcPct val="100000"/>
              </a:lnSpc>
              <a:spcBef>
                <a:spcPts val="560"/>
              </a:spcBef>
              <a:spcAft>
                <a:spcPts val="0"/>
              </a:spcAft>
              <a:buSzPts val="1680"/>
              <a:buNone/>
            </a:pPr>
            <a:r>
              <a:t/>
            </a:r>
            <a:endParaRPr b="0" i="0" sz="2800" u="none">
              <a:solidFill>
                <a:schemeClr val="dk2"/>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87" name="Google Shape;187;p1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PROJECT (contd.)</a:t>
            </a:r>
            <a:endParaRPr/>
          </a:p>
        </p:txBody>
      </p:sp>
      <p:sp>
        <p:nvSpPr>
          <p:cNvPr id="188" name="Google Shape;188;p1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PROJECT Operation Properties</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The number of tuples in the result of projection </a:t>
            </a:r>
            <a:r>
              <a:rPr b="0" i="0" lang="en-US" sz="2600" u="none">
                <a:solidFill>
                  <a:srgbClr val="800000"/>
                </a:solidFill>
                <a:latin typeface="Noto Sans Symbols"/>
                <a:ea typeface="Noto Sans Symbols"/>
                <a:cs typeface="Noto Sans Symbols"/>
                <a:sym typeface="Noto Sans Symbols"/>
              </a:rPr>
              <a:t>π</a:t>
            </a:r>
            <a:r>
              <a:rPr b="0" baseline="-25000" i="0" lang="en-US" sz="2600" u="none">
                <a:solidFill>
                  <a:srgbClr val="800000"/>
                </a:solidFill>
                <a:latin typeface="Arial"/>
                <a:ea typeface="Arial"/>
                <a:cs typeface="Arial"/>
                <a:sym typeface="Arial"/>
              </a:rPr>
              <a:t>&lt;list&gt;</a:t>
            </a:r>
            <a:r>
              <a:rPr b="0" i="0" lang="en-US" sz="2600" u="none">
                <a:solidFill>
                  <a:srgbClr val="800000"/>
                </a:solidFill>
                <a:latin typeface="Arial"/>
                <a:ea typeface="Arial"/>
                <a:cs typeface="Arial"/>
                <a:sym typeface="Arial"/>
              </a:rPr>
              <a:t>(R) is always less or equal to the number of tuples in R</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If the list of attributes includes a </a:t>
            </a:r>
            <a:r>
              <a:rPr b="0" i="1" lang="en-US" sz="2400" u="none">
                <a:solidFill>
                  <a:schemeClr val="dk2"/>
                </a:solidFill>
                <a:latin typeface="Arial"/>
                <a:ea typeface="Arial"/>
                <a:cs typeface="Arial"/>
                <a:sym typeface="Arial"/>
              </a:rPr>
              <a:t>key</a:t>
            </a:r>
            <a:r>
              <a:rPr b="0" i="0" lang="en-US" sz="2400" u="none">
                <a:solidFill>
                  <a:schemeClr val="dk2"/>
                </a:solidFill>
                <a:latin typeface="Arial"/>
                <a:ea typeface="Arial"/>
                <a:cs typeface="Arial"/>
                <a:sym typeface="Arial"/>
              </a:rPr>
              <a:t> of R, then the number of tuples in the result of PROJECT is </a:t>
            </a:r>
            <a:r>
              <a:rPr b="0" i="1" lang="en-US" sz="2400" u="none">
                <a:solidFill>
                  <a:schemeClr val="dk2"/>
                </a:solidFill>
                <a:latin typeface="Arial"/>
                <a:ea typeface="Arial"/>
                <a:cs typeface="Arial"/>
                <a:sym typeface="Arial"/>
              </a:rPr>
              <a:t>equal</a:t>
            </a:r>
            <a:r>
              <a:rPr b="0" i="0" lang="en-US" sz="2400" u="none">
                <a:solidFill>
                  <a:schemeClr val="dk2"/>
                </a:solidFill>
                <a:latin typeface="Arial"/>
                <a:ea typeface="Arial"/>
                <a:cs typeface="Arial"/>
                <a:sym typeface="Arial"/>
              </a:rPr>
              <a:t> to the number of tuples in R</a:t>
            </a:r>
            <a:endParaRPr/>
          </a:p>
          <a:p>
            <a:pPr indent="0" lvl="2" marL="914400" rtl="0" algn="l">
              <a:lnSpc>
                <a:spcPct val="100000"/>
              </a:lnSpc>
              <a:spcBef>
                <a:spcPts val="480"/>
              </a:spcBef>
              <a:spcAft>
                <a:spcPts val="0"/>
              </a:spcAft>
              <a:buClr>
                <a:srgbClr val="990033"/>
              </a:buClr>
              <a:buSzPts val="1200"/>
              <a:buNone/>
            </a:pPr>
            <a:r>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PROJECT is </a:t>
            </a:r>
            <a:r>
              <a:rPr b="0" i="1" lang="en-US" sz="2600" u="none">
                <a:solidFill>
                  <a:srgbClr val="800000"/>
                </a:solidFill>
                <a:latin typeface="Arial"/>
                <a:ea typeface="Arial"/>
                <a:cs typeface="Arial"/>
                <a:sym typeface="Arial"/>
              </a:rPr>
              <a:t>not</a:t>
            </a:r>
            <a:r>
              <a:rPr b="0" i="0" lang="en-US" sz="2600" u="none">
                <a:solidFill>
                  <a:srgbClr val="800000"/>
                </a:solidFill>
                <a:latin typeface="Arial"/>
                <a:ea typeface="Arial"/>
                <a:cs typeface="Arial"/>
                <a:sym typeface="Arial"/>
              </a:rPr>
              <a:t> commutative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95" name="Google Shape;195;p1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The following query results refer to this database state</a:t>
            </a:r>
            <a:endParaRPr/>
          </a:p>
        </p:txBody>
      </p:sp>
      <p:sp>
        <p:nvSpPr>
          <p:cNvPr id="196" name="Google Shape;196;p15"/>
          <p:cNvSpPr txBox="1"/>
          <p:nvPr/>
        </p:nvSpPr>
        <p:spPr>
          <a:xfrm>
            <a:off x="1833562" y="13096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97" name="Google Shape;197;p15"/>
          <p:cNvSpPr txBox="1"/>
          <p:nvPr/>
        </p:nvSpPr>
        <p:spPr>
          <a:xfrm>
            <a:off x="1066800" y="2286000"/>
            <a:ext cx="7239000" cy="53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descr="fig05_06" id="198" name="Google Shape;198;p15"/>
          <p:cNvPicPr preferRelativeResize="0"/>
          <p:nvPr/>
        </p:nvPicPr>
        <p:blipFill rotWithShape="1">
          <a:blip r:embed="rId3">
            <a:alphaModFix/>
          </a:blip>
          <a:srcRect b="0" l="0" r="0" t="0"/>
          <a:stretch/>
        </p:blipFill>
        <p:spPr>
          <a:xfrm>
            <a:off x="0" y="-76200"/>
            <a:ext cx="9144000" cy="6934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05" name="Google Shape;205;p1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Examples of applying SELECT and PROJECT operations</a:t>
            </a:r>
            <a:endParaRPr/>
          </a:p>
        </p:txBody>
      </p:sp>
      <p:pic>
        <p:nvPicPr>
          <p:cNvPr id="206" name="Google Shape;206;p16"/>
          <p:cNvPicPr preferRelativeResize="0"/>
          <p:nvPr/>
        </p:nvPicPr>
        <p:blipFill rotWithShape="1">
          <a:blip r:embed="rId3">
            <a:alphaModFix/>
          </a:blip>
          <a:srcRect b="0" l="0" r="0" t="0"/>
          <a:stretch/>
        </p:blipFill>
        <p:spPr>
          <a:xfrm>
            <a:off x="228600" y="1593934"/>
            <a:ext cx="8344525" cy="714910"/>
          </a:xfrm>
          <a:prstGeom prst="rect">
            <a:avLst/>
          </a:prstGeom>
          <a:noFill/>
          <a:ln>
            <a:noFill/>
          </a:ln>
        </p:spPr>
      </p:pic>
      <p:pic>
        <p:nvPicPr>
          <p:cNvPr id="207" name="Google Shape;207;p16"/>
          <p:cNvPicPr preferRelativeResize="0"/>
          <p:nvPr/>
        </p:nvPicPr>
        <p:blipFill rotWithShape="1">
          <a:blip r:embed="rId4">
            <a:alphaModFix/>
          </a:blip>
          <a:srcRect b="0" l="0" r="0" t="0"/>
          <a:stretch/>
        </p:blipFill>
        <p:spPr>
          <a:xfrm>
            <a:off x="0" y="2575213"/>
            <a:ext cx="8925836" cy="992187"/>
          </a:xfrm>
          <a:prstGeom prst="rect">
            <a:avLst/>
          </a:prstGeom>
          <a:noFill/>
          <a:ln>
            <a:noFill/>
          </a:ln>
        </p:spPr>
      </p:pic>
      <p:pic>
        <p:nvPicPr>
          <p:cNvPr id="208" name="Google Shape;208;p16"/>
          <p:cNvPicPr preferRelativeResize="0"/>
          <p:nvPr/>
        </p:nvPicPr>
        <p:blipFill rotWithShape="1">
          <a:blip r:embed="rId5">
            <a:alphaModFix/>
          </a:blip>
          <a:srcRect b="0" l="0" r="0" t="0"/>
          <a:stretch/>
        </p:blipFill>
        <p:spPr>
          <a:xfrm>
            <a:off x="0" y="3770915"/>
            <a:ext cx="3689755" cy="1754569"/>
          </a:xfrm>
          <a:prstGeom prst="rect">
            <a:avLst/>
          </a:prstGeom>
          <a:noFill/>
          <a:ln>
            <a:noFill/>
          </a:ln>
        </p:spPr>
      </p:pic>
      <p:pic>
        <p:nvPicPr>
          <p:cNvPr id="209" name="Google Shape;209;p16"/>
          <p:cNvPicPr preferRelativeResize="0"/>
          <p:nvPr/>
        </p:nvPicPr>
        <p:blipFill rotWithShape="1">
          <a:blip r:embed="rId6">
            <a:alphaModFix/>
          </a:blip>
          <a:srcRect b="0" l="0" r="0" t="0"/>
          <a:stretch/>
        </p:blipFill>
        <p:spPr>
          <a:xfrm>
            <a:off x="4130511" y="3882992"/>
            <a:ext cx="2210371" cy="156782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500"/>
                                        <p:tgtEl>
                                          <p:spTgt spid="20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5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16" name="Google Shape;216;p1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Relational Algebra Expressions</a:t>
            </a:r>
            <a:endParaRPr/>
          </a:p>
        </p:txBody>
      </p:sp>
      <p:sp>
        <p:nvSpPr>
          <p:cNvPr id="217" name="Google Shape;217;p1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We may want to apply several relational algebra operations one after the other</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Either we can write the operations as a single </a:t>
            </a:r>
            <a:r>
              <a:rPr b="1" i="0" lang="en-US" sz="2600" u="none">
                <a:solidFill>
                  <a:srgbClr val="800000"/>
                </a:solidFill>
                <a:latin typeface="Arial"/>
                <a:ea typeface="Arial"/>
                <a:cs typeface="Arial"/>
                <a:sym typeface="Arial"/>
              </a:rPr>
              <a:t>relational algebra expression</a:t>
            </a:r>
            <a:r>
              <a:rPr b="0" i="0" lang="en-US" sz="2600" u="none">
                <a:solidFill>
                  <a:srgbClr val="800000"/>
                </a:solidFill>
                <a:latin typeface="Arial"/>
                <a:ea typeface="Arial"/>
                <a:cs typeface="Arial"/>
                <a:sym typeface="Arial"/>
              </a:rPr>
              <a:t> by nesting the operations, or</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We can apply one operation at a time and create </a:t>
            </a:r>
            <a:r>
              <a:rPr b="1" i="0" lang="en-US" sz="2600" u="none">
                <a:solidFill>
                  <a:srgbClr val="800000"/>
                </a:solidFill>
                <a:latin typeface="Arial"/>
                <a:ea typeface="Arial"/>
                <a:cs typeface="Arial"/>
                <a:sym typeface="Arial"/>
              </a:rPr>
              <a:t>intermediate result relations</a:t>
            </a:r>
            <a:r>
              <a:rPr b="0" i="0" lang="en-US" sz="2600" u="none">
                <a:solidFill>
                  <a:srgbClr val="800000"/>
                </a:solidFill>
                <a:latin typeface="Arial"/>
                <a:ea typeface="Arial"/>
                <a:cs typeface="Arial"/>
                <a:sym typeface="Arial"/>
              </a:rPr>
              <a:t>.</a:t>
            </a:r>
            <a:endParaRPr/>
          </a:p>
          <a:p>
            <a:pPr indent="-342900" lvl="0" marL="342900" rtl="0" algn="l">
              <a:lnSpc>
                <a:spcPct val="100000"/>
              </a:lnSpc>
              <a:spcBef>
                <a:spcPts val="620"/>
              </a:spcBef>
              <a:spcAft>
                <a:spcPts val="0"/>
              </a:spcAft>
              <a:buClr>
                <a:srgbClr val="990033"/>
              </a:buClr>
              <a:buSzPts val="1800"/>
              <a:buFont typeface="Noto Sans Symbols"/>
              <a:buChar char="■"/>
            </a:pPr>
            <a:r>
              <a:rPr b="0" i="0" lang="en-US" sz="3000" u="none">
                <a:solidFill>
                  <a:schemeClr val="dk2"/>
                </a:solidFill>
                <a:latin typeface="Arial"/>
                <a:ea typeface="Arial"/>
                <a:cs typeface="Arial"/>
                <a:sym typeface="Arial"/>
              </a:rPr>
              <a:t>In the latter case, we must give names to the relations that hold the intermediate results. </a:t>
            </a:r>
            <a:r>
              <a:rPr b="0" i="0" lang="en-US" sz="3100" u="none">
                <a:solidFill>
                  <a:schemeClr val="dk2"/>
                </a:solidFill>
                <a:latin typeface="Arial"/>
                <a:ea typeface="Arial"/>
                <a:cs typeface="Arial"/>
                <a:sym typeface="Arial"/>
              </a:rPr>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24" name="Google Shape;224;p1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Single expression versus sequence of relational operations (Example)</a:t>
            </a:r>
            <a:endParaRPr/>
          </a:p>
        </p:txBody>
      </p:sp>
      <p:sp>
        <p:nvSpPr>
          <p:cNvPr id="225" name="Google Shape;225;p1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To retrieve the first name, last name, and salary of all employees who work in department number 5, we must apply a select and a project operation</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We can write a </a:t>
            </a:r>
            <a:r>
              <a:rPr b="0" i="1" lang="en-US" sz="2400" u="none">
                <a:solidFill>
                  <a:schemeClr val="dk2"/>
                </a:solidFill>
                <a:latin typeface="Arial"/>
                <a:ea typeface="Arial"/>
                <a:cs typeface="Arial"/>
                <a:sym typeface="Arial"/>
              </a:rPr>
              <a:t>single relational algebra expression</a:t>
            </a:r>
            <a:r>
              <a:rPr b="0" i="0" lang="en-US" sz="2400" u="none">
                <a:solidFill>
                  <a:schemeClr val="dk2"/>
                </a:solidFill>
                <a:latin typeface="Arial"/>
                <a:ea typeface="Arial"/>
                <a:cs typeface="Arial"/>
                <a:sym typeface="Arial"/>
              </a:rPr>
              <a:t> as follows: </a:t>
            </a:r>
            <a:endParaRPr/>
          </a:p>
          <a:p>
            <a:pPr indent="-285750" lvl="1" marL="742950" rtl="0" algn="l">
              <a:lnSpc>
                <a:spcPct val="100000"/>
              </a:lnSpc>
              <a:spcBef>
                <a:spcPts val="480"/>
              </a:spcBef>
              <a:spcAft>
                <a:spcPts val="0"/>
              </a:spcAft>
              <a:buClr>
                <a:schemeClr val="dk2"/>
              </a:buClr>
              <a:buSzPts val="1320"/>
              <a:buFont typeface="Noto Sans Symbols"/>
              <a:buChar char="■"/>
            </a:pPr>
            <a:r>
              <a:rPr b="1" i="0" lang="en-US" sz="2400" u="none">
                <a:solidFill>
                  <a:srgbClr val="800000"/>
                </a:solidFill>
                <a:latin typeface="Noto Sans Symbols"/>
                <a:ea typeface="Noto Sans Symbols"/>
                <a:cs typeface="Noto Sans Symbols"/>
                <a:sym typeface="Noto Sans Symbols"/>
              </a:rPr>
              <a:t>π</a:t>
            </a:r>
            <a:r>
              <a:rPr b="0" baseline="-25000" i="0" lang="en-US" sz="2400" u="none">
                <a:solidFill>
                  <a:srgbClr val="800000"/>
                </a:solidFill>
                <a:latin typeface="Arial"/>
                <a:ea typeface="Arial"/>
                <a:cs typeface="Arial"/>
                <a:sym typeface="Arial"/>
              </a:rPr>
              <a:t>FNAME, LNAME, SALARY</a:t>
            </a:r>
            <a:r>
              <a:rPr b="0" i="0" lang="en-US" sz="2400" u="none">
                <a:solidFill>
                  <a:srgbClr val="800000"/>
                </a:solidFill>
                <a:latin typeface="Arial"/>
                <a:ea typeface="Arial"/>
                <a:cs typeface="Arial"/>
                <a:sym typeface="Arial"/>
              </a:rPr>
              <a:t>(</a:t>
            </a:r>
            <a:r>
              <a:rPr b="1" i="0" lang="en-US" sz="2400" u="none">
                <a:solidFill>
                  <a:srgbClr val="800000"/>
                </a:solidFill>
                <a:latin typeface="Noto Sans Symbols"/>
                <a:ea typeface="Noto Sans Symbols"/>
                <a:cs typeface="Noto Sans Symbols"/>
                <a:sym typeface="Noto Sans Symbols"/>
              </a:rPr>
              <a:t>σ</a:t>
            </a:r>
            <a:r>
              <a:rPr b="0" i="0" lang="en-US" sz="2400" u="none">
                <a:solidFill>
                  <a:srgbClr val="800000"/>
                </a:solidFill>
                <a:latin typeface="Arial"/>
                <a:ea typeface="Arial"/>
                <a:cs typeface="Arial"/>
                <a:sym typeface="Arial"/>
              </a:rPr>
              <a:t> </a:t>
            </a:r>
            <a:r>
              <a:rPr b="0" baseline="-25000" i="0" lang="en-US" sz="2400" u="none">
                <a:solidFill>
                  <a:srgbClr val="800000"/>
                </a:solidFill>
                <a:latin typeface="Arial"/>
                <a:ea typeface="Arial"/>
                <a:cs typeface="Arial"/>
                <a:sym typeface="Arial"/>
              </a:rPr>
              <a:t>DNO=5</a:t>
            </a:r>
            <a:r>
              <a:rPr b="0" i="0" lang="en-US" sz="2400" u="none">
                <a:solidFill>
                  <a:srgbClr val="800000"/>
                </a:solidFill>
                <a:latin typeface="Arial"/>
                <a:ea typeface="Arial"/>
                <a:cs typeface="Arial"/>
                <a:sym typeface="Arial"/>
              </a:rPr>
              <a:t>(EMPLOYEE))</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OR We can explicitly show the </a:t>
            </a:r>
            <a:r>
              <a:rPr b="0" i="1" lang="en-US" sz="2400" u="none">
                <a:solidFill>
                  <a:schemeClr val="dk2"/>
                </a:solidFill>
                <a:latin typeface="Arial"/>
                <a:ea typeface="Arial"/>
                <a:cs typeface="Arial"/>
                <a:sym typeface="Arial"/>
              </a:rPr>
              <a:t>sequence of operations</a:t>
            </a:r>
            <a:r>
              <a:rPr b="0" i="0" lang="en-US" sz="2400" u="none">
                <a:solidFill>
                  <a:schemeClr val="dk2"/>
                </a:solidFill>
                <a:latin typeface="Arial"/>
                <a:ea typeface="Arial"/>
                <a:cs typeface="Arial"/>
                <a:sym typeface="Arial"/>
              </a:rPr>
              <a:t>, giving a name to each intermediate relation:</a:t>
            </a:r>
            <a:endParaRPr/>
          </a:p>
          <a:p>
            <a:pPr indent="-285750" lvl="1" marL="742950" rtl="0" algn="l">
              <a:lnSpc>
                <a:spcPct val="100000"/>
              </a:lnSpc>
              <a:spcBef>
                <a:spcPts val="480"/>
              </a:spcBef>
              <a:spcAft>
                <a:spcPts val="0"/>
              </a:spcAft>
              <a:buClr>
                <a:schemeClr val="dk2"/>
              </a:buClr>
              <a:buSzPts val="1320"/>
              <a:buFont typeface="Noto Sans Symbols"/>
              <a:buChar char="■"/>
            </a:pPr>
            <a:r>
              <a:rPr b="0" i="0" lang="en-US" sz="2400" u="none">
                <a:solidFill>
                  <a:srgbClr val="800000"/>
                </a:solidFill>
                <a:latin typeface="Arial"/>
                <a:ea typeface="Arial"/>
                <a:cs typeface="Arial"/>
                <a:sym typeface="Arial"/>
              </a:rPr>
              <a:t>DEP5_EMPS ← </a:t>
            </a:r>
            <a:r>
              <a:rPr b="1" i="0" lang="en-US" sz="2400" u="none">
                <a:solidFill>
                  <a:srgbClr val="800000"/>
                </a:solidFill>
                <a:latin typeface="Noto Sans Symbols"/>
                <a:ea typeface="Noto Sans Symbols"/>
                <a:cs typeface="Noto Sans Symbols"/>
                <a:sym typeface="Noto Sans Symbols"/>
              </a:rPr>
              <a:t>σ</a:t>
            </a:r>
            <a:r>
              <a:rPr b="0" i="0" lang="en-US" sz="2400" u="none">
                <a:solidFill>
                  <a:srgbClr val="800000"/>
                </a:solidFill>
                <a:latin typeface="Arial"/>
                <a:ea typeface="Arial"/>
                <a:cs typeface="Arial"/>
                <a:sym typeface="Arial"/>
              </a:rPr>
              <a:t> </a:t>
            </a:r>
            <a:r>
              <a:rPr b="0" baseline="-25000" i="0" lang="en-US" sz="2400" u="none">
                <a:solidFill>
                  <a:srgbClr val="800000"/>
                </a:solidFill>
                <a:latin typeface="Arial"/>
                <a:ea typeface="Arial"/>
                <a:cs typeface="Arial"/>
                <a:sym typeface="Arial"/>
              </a:rPr>
              <a:t>DNO=5</a:t>
            </a:r>
            <a:r>
              <a:rPr b="0" i="0" lang="en-US" sz="2400" u="none">
                <a:solidFill>
                  <a:srgbClr val="800000"/>
                </a:solidFill>
                <a:latin typeface="Arial"/>
                <a:ea typeface="Arial"/>
                <a:cs typeface="Arial"/>
                <a:sym typeface="Arial"/>
              </a:rPr>
              <a:t>(EMPLOYEE)</a:t>
            </a:r>
            <a:endParaRPr/>
          </a:p>
          <a:p>
            <a:pPr indent="-285750" lvl="1" marL="742950" rtl="0" algn="l">
              <a:lnSpc>
                <a:spcPct val="100000"/>
              </a:lnSpc>
              <a:spcBef>
                <a:spcPts val="480"/>
              </a:spcBef>
              <a:spcAft>
                <a:spcPts val="0"/>
              </a:spcAft>
              <a:buClr>
                <a:schemeClr val="dk2"/>
              </a:buClr>
              <a:buSzPts val="1320"/>
              <a:buFont typeface="Noto Sans Symbols"/>
              <a:buChar char="■"/>
            </a:pPr>
            <a:r>
              <a:rPr b="0" i="0" lang="en-US" sz="2400" u="none">
                <a:solidFill>
                  <a:srgbClr val="800000"/>
                </a:solidFill>
                <a:latin typeface="Arial"/>
                <a:ea typeface="Arial"/>
                <a:cs typeface="Arial"/>
                <a:sym typeface="Arial"/>
              </a:rPr>
              <a:t>RESULT ← </a:t>
            </a:r>
            <a:r>
              <a:rPr b="1" i="0" lang="en-US" sz="2400" u="none">
                <a:solidFill>
                  <a:srgbClr val="800000"/>
                </a:solidFill>
                <a:latin typeface="Noto Sans Symbols"/>
                <a:ea typeface="Noto Sans Symbols"/>
                <a:cs typeface="Noto Sans Symbols"/>
                <a:sym typeface="Noto Sans Symbols"/>
              </a:rPr>
              <a:t>π</a:t>
            </a:r>
            <a:r>
              <a:rPr b="0" i="0" lang="en-US" sz="2400" u="none">
                <a:solidFill>
                  <a:srgbClr val="800000"/>
                </a:solidFill>
                <a:latin typeface="Arial"/>
                <a:ea typeface="Arial"/>
                <a:cs typeface="Arial"/>
                <a:sym typeface="Arial"/>
              </a:rPr>
              <a:t> </a:t>
            </a:r>
            <a:r>
              <a:rPr b="0" baseline="-25000" i="0" lang="en-US" sz="2400" u="none">
                <a:solidFill>
                  <a:srgbClr val="800000"/>
                </a:solidFill>
                <a:latin typeface="Arial"/>
                <a:ea typeface="Arial"/>
                <a:cs typeface="Arial"/>
                <a:sym typeface="Arial"/>
              </a:rPr>
              <a:t>FNAME, LNAME, SALARY</a:t>
            </a:r>
            <a:r>
              <a:rPr b="0" i="0" lang="en-US" sz="2400" u="none">
                <a:solidFill>
                  <a:srgbClr val="800000"/>
                </a:solidFill>
                <a:latin typeface="Arial"/>
                <a:ea typeface="Arial"/>
                <a:cs typeface="Arial"/>
                <a:sym typeface="Arial"/>
              </a:rPr>
              <a:t> (DEP5_EMPS)	</a:t>
            </a:r>
            <a:endParaRPr/>
          </a:p>
        </p:txBody>
      </p:sp>
      <p:sp>
        <p:nvSpPr>
          <p:cNvPr id="226" name="Google Shape;226;p18"/>
          <p:cNvSpPr txBox="1"/>
          <p:nvPr/>
        </p:nvSpPr>
        <p:spPr>
          <a:xfrm>
            <a:off x="990600" y="4914900"/>
            <a:ext cx="2057400" cy="381000"/>
          </a:xfrm>
          <a:prstGeom prst="rect">
            <a:avLst/>
          </a:prstGeom>
          <a:solidFill>
            <a:srgbClr val="FFFF00">
              <a:alpha val="24313"/>
            </a:srgbClr>
          </a:solidFill>
          <a:ln cap="flat" cmpd="sng" w="9525">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27" name="Google Shape;227;p18"/>
          <p:cNvSpPr txBox="1"/>
          <p:nvPr/>
        </p:nvSpPr>
        <p:spPr>
          <a:xfrm>
            <a:off x="5592762" y="5295900"/>
            <a:ext cx="1951037" cy="419100"/>
          </a:xfrm>
          <a:prstGeom prst="rect">
            <a:avLst/>
          </a:prstGeom>
          <a:solidFill>
            <a:srgbClr val="FFFF00">
              <a:alpha val="24313"/>
            </a:srgbClr>
          </a:solidFill>
          <a:ln cap="flat" cmpd="sng" w="9525">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0" st="0"/>
                                            </p:txEl>
                                          </p:spTgt>
                                        </p:tgtEl>
                                        <p:attrNameLst>
                                          <p:attrName>style.visibility</p:attrName>
                                        </p:attrNameLst>
                                      </p:cBhvr>
                                      <p:to>
                                        <p:strVal val="visible"/>
                                      </p:to>
                                    </p:set>
                                    <p:animEffect filter="fade" transition="in">
                                      <p:cBhvr>
                                        <p:cTn dur="1000"/>
                                        <p:tgtEl>
                                          <p:spTgt spid="2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1" st="1"/>
                                            </p:txEl>
                                          </p:spTgt>
                                        </p:tgtEl>
                                        <p:attrNameLst>
                                          <p:attrName>style.visibility</p:attrName>
                                        </p:attrNameLst>
                                      </p:cBhvr>
                                      <p:to>
                                        <p:strVal val="visible"/>
                                      </p:to>
                                    </p:set>
                                    <p:animEffect filter="fade" transition="in">
                                      <p:cBhvr>
                                        <p:cTn dur="1000"/>
                                        <p:tgtEl>
                                          <p:spTgt spid="2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2" st="2"/>
                                            </p:txEl>
                                          </p:spTgt>
                                        </p:tgtEl>
                                        <p:attrNameLst>
                                          <p:attrName>style.visibility</p:attrName>
                                        </p:attrNameLst>
                                      </p:cBhvr>
                                      <p:to>
                                        <p:strVal val="visible"/>
                                      </p:to>
                                    </p:set>
                                    <p:animEffect filter="fade" transition="in">
                                      <p:cBhvr>
                                        <p:cTn dur="1000"/>
                                        <p:tgtEl>
                                          <p:spTgt spid="2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3" st="3"/>
                                            </p:txEl>
                                          </p:spTgt>
                                        </p:tgtEl>
                                        <p:attrNameLst>
                                          <p:attrName>style.visibility</p:attrName>
                                        </p:attrNameLst>
                                      </p:cBhvr>
                                      <p:to>
                                        <p:strVal val="visible"/>
                                      </p:to>
                                    </p:set>
                                    <p:animEffect filter="fade" transition="in">
                                      <p:cBhvr>
                                        <p:cTn dur="1000"/>
                                        <p:tgtEl>
                                          <p:spTgt spid="22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4" st="4"/>
                                            </p:txEl>
                                          </p:spTgt>
                                        </p:tgtEl>
                                        <p:attrNameLst>
                                          <p:attrName>style.visibility</p:attrName>
                                        </p:attrNameLst>
                                      </p:cBhvr>
                                      <p:to>
                                        <p:strVal val="visible"/>
                                      </p:to>
                                    </p:set>
                                    <p:animEffect filter="fade" transition="in">
                                      <p:cBhvr>
                                        <p:cTn dur="1000"/>
                                        <p:tgtEl>
                                          <p:spTgt spid="22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5" st="5"/>
                                            </p:txEl>
                                          </p:spTgt>
                                        </p:tgtEl>
                                        <p:attrNameLst>
                                          <p:attrName>style.visibility</p:attrName>
                                        </p:attrNameLst>
                                      </p:cBhvr>
                                      <p:to>
                                        <p:strVal val="visible"/>
                                      </p:to>
                                    </p:set>
                                    <p:animEffect filter="fade" transition="in">
                                      <p:cBhvr>
                                        <p:cTn dur="1000"/>
                                        <p:tgtEl>
                                          <p:spTgt spid="225">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34" name="Google Shape;234;p1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of applying multiple operations and RENAME</a:t>
            </a:r>
            <a:endParaRPr/>
          </a:p>
        </p:txBody>
      </p:sp>
      <p:sp>
        <p:nvSpPr>
          <p:cNvPr id="235" name="Google Shape;235;p19"/>
          <p:cNvSpPr txBox="1"/>
          <p:nvPr/>
        </p:nvSpPr>
        <p:spPr>
          <a:xfrm>
            <a:off x="1833562" y="13096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descr="fig06_02" id="236" name="Google Shape;236;p19"/>
          <p:cNvPicPr preferRelativeResize="0"/>
          <p:nvPr/>
        </p:nvPicPr>
        <p:blipFill rotWithShape="1">
          <a:blip r:embed="rId3">
            <a:alphaModFix/>
          </a:blip>
          <a:srcRect b="0" l="0" r="0" t="0"/>
          <a:stretch/>
        </p:blipFill>
        <p:spPr>
          <a:xfrm>
            <a:off x="571500" y="1886564"/>
            <a:ext cx="8001000" cy="4643437"/>
          </a:xfrm>
          <a:prstGeom prst="rect">
            <a:avLst/>
          </a:prstGeom>
          <a:noFill/>
          <a:ln>
            <a:noFill/>
          </a:ln>
        </p:spPr>
      </p:pic>
      <p:pic>
        <p:nvPicPr>
          <p:cNvPr id="237" name="Google Shape;237;p19"/>
          <p:cNvPicPr preferRelativeResize="0"/>
          <p:nvPr/>
        </p:nvPicPr>
        <p:blipFill rotWithShape="1">
          <a:blip r:embed="rId4">
            <a:alphaModFix/>
          </a:blip>
          <a:srcRect b="0" l="0" r="0" t="0"/>
          <a:stretch/>
        </p:blipFill>
        <p:spPr>
          <a:xfrm>
            <a:off x="1161016" y="1375040"/>
            <a:ext cx="7411484" cy="4096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
                                        </p:tgtEl>
                                        <p:attrNameLst>
                                          <p:attrName>style.visibility</p:attrName>
                                        </p:attrNameLst>
                                      </p:cBhvr>
                                      <p:to>
                                        <p:strVal val="visible"/>
                                      </p:to>
                                    </p:set>
                                    <p:anim calcmode="lin" valueType="num">
                                      <p:cBhvr additive="base">
                                        <p:cTn dur="500"/>
                                        <p:tgtEl>
                                          <p:spTgt spid="23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44" name="Google Shape;244;p2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RENAME</a:t>
            </a:r>
            <a:endParaRPr/>
          </a:p>
        </p:txBody>
      </p:sp>
      <p:sp>
        <p:nvSpPr>
          <p:cNvPr id="245" name="Google Shape;245;p2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RENAME operator is denoted by ρ (rho)</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In some cases, we may want to </a:t>
            </a:r>
            <a:r>
              <a:rPr b="0" i="1" lang="en-US" sz="2800" u="none">
                <a:solidFill>
                  <a:schemeClr val="dk2"/>
                </a:solidFill>
                <a:latin typeface="Arial"/>
                <a:ea typeface="Arial"/>
                <a:cs typeface="Arial"/>
                <a:sym typeface="Arial"/>
              </a:rPr>
              <a:t>rename </a:t>
            </a:r>
            <a:r>
              <a:rPr b="0" i="0" lang="en-US" sz="2800" u="none">
                <a:solidFill>
                  <a:schemeClr val="dk2"/>
                </a:solidFill>
                <a:latin typeface="Arial"/>
                <a:ea typeface="Arial"/>
                <a:cs typeface="Arial"/>
                <a:sym typeface="Arial"/>
              </a:rPr>
              <a:t>the attributes of a relation or the relation name or both</a:t>
            </a:r>
            <a:endParaRPr/>
          </a:p>
          <a:p>
            <a:pPr indent="-285750" lvl="1" marL="742950" rtl="0" algn="l">
              <a:lnSpc>
                <a:spcPct val="100000"/>
              </a:lnSpc>
              <a:spcBef>
                <a:spcPts val="560"/>
              </a:spcBef>
              <a:spcAft>
                <a:spcPts val="0"/>
              </a:spcAft>
              <a:buClr>
                <a:schemeClr val="dk2"/>
              </a:buClr>
              <a:buSzPts val="1540"/>
              <a:buFont typeface="Noto Sans Symbols"/>
              <a:buChar char="■"/>
            </a:pPr>
            <a:r>
              <a:rPr b="0" i="0" lang="en-US" sz="2800" u="none">
                <a:solidFill>
                  <a:srgbClr val="800000"/>
                </a:solidFill>
                <a:latin typeface="Arial"/>
                <a:ea typeface="Arial"/>
                <a:cs typeface="Arial"/>
                <a:sym typeface="Arial"/>
              </a:rPr>
              <a:t>Useful when a query requires multiple operations</a:t>
            </a:r>
            <a:endParaRPr/>
          </a:p>
          <a:p>
            <a:pPr indent="-236220" lvl="0" marL="342900" rtl="0" algn="l">
              <a:lnSpc>
                <a:spcPct val="100000"/>
              </a:lnSpc>
              <a:spcBef>
                <a:spcPts val="560"/>
              </a:spcBef>
              <a:spcAft>
                <a:spcPts val="0"/>
              </a:spcAft>
              <a:buSzPts val="1680"/>
              <a:buNone/>
            </a:pPr>
            <a:r>
              <a:t/>
            </a:r>
            <a:endParaRPr b="0" i="1" sz="2800" u="none">
              <a:solidFill>
                <a:srgbClr val="8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 </a:t>
            </a:r>
            <a:endParaRPr/>
          </a:p>
        </p:txBody>
      </p:sp>
      <p:sp>
        <p:nvSpPr>
          <p:cNvPr id="251" name="Google Shape;251;p2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p:txBody>
      </p:sp>
      <p:sp>
        <p:nvSpPr>
          <p:cNvPr id="252" name="Google Shape;252;p21"/>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6- </a:t>
            </a:r>
            <a:fld id="{00000000-1234-1234-1234-123412341234}" type="slidenum">
              <a:rPr lang="en-US"/>
              <a:t>‹#›</a:t>
            </a:fld>
            <a:endParaRPr/>
          </a:p>
        </p:txBody>
      </p:sp>
      <p:pic>
        <p:nvPicPr>
          <p:cNvPr id="253" name="Google Shape;253;p21"/>
          <p:cNvPicPr preferRelativeResize="0"/>
          <p:nvPr/>
        </p:nvPicPr>
        <p:blipFill rotWithShape="1">
          <a:blip r:embed="rId3">
            <a:alphaModFix/>
          </a:blip>
          <a:srcRect b="0" l="0" r="0" t="0"/>
          <a:stretch/>
        </p:blipFill>
        <p:spPr>
          <a:xfrm>
            <a:off x="281575" y="1585912"/>
            <a:ext cx="8080664" cy="40507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60" name="Google Shape;260;p2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RENAME (contd.)</a:t>
            </a:r>
            <a:endParaRPr/>
          </a:p>
        </p:txBody>
      </p:sp>
      <p:sp>
        <p:nvSpPr>
          <p:cNvPr id="261" name="Google Shape;261;p2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general RENAME operation ρ can be expressed by any of the following forms:</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ρ</a:t>
            </a:r>
            <a:r>
              <a:rPr b="0" baseline="-25000" i="0" lang="en-US" sz="2600" u="none">
                <a:solidFill>
                  <a:srgbClr val="800000"/>
                </a:solidFill>
                <a:latin typeface="Arial"/>
                <a:ea typeface="Arial"/>
                <a:cs typeface="Arial"/>
                <a:sym typeface="Arial"/>
              </a:rPr>
              <a:t>S (B1, B2, …, Bn )</a:t>
            </a:r>
            <a:r>
              <a:rPr b="0" i="0" lang="en-US" sz="2600" u="none">
                <a:solidFill>
                  <a:srgbClr val="800000"/>
                </a:solidFill>
                <a:latin typeface="Arial"/>
                <a:ea typeface="Arial"/>
                <a:cs typeface="Arial"/>
                <a:sym typeface="Arial"/>
              </a:rPr>
              <a:t>(R) changes both:</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the relation name to S, </a:t>
            </a:r>
            <a:r>
              <a:rPr b="0" i="1" lang="en-US" sz="2400" u="none">
                <a:solidFill>
                  <a:schemeClr val="dk2"/>
                </a:solidFill>
                <a:latin typeface="Arial"/>
                <a:ea typeface="Arial"/>
                <a:cs typeface="Arial"/>
                <a:sym typeface="Arial"/>
              </a:rPr>
              <a:t>and </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the column (attribute) names to B1, B1, …..Bn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ρ</a:t>
            </a:r>
            <a:r>
              <a:rPr b="0" baseline="-25000" i="0" lang="en-US" sz="2600" u="none">
                <a:solidFill>
                  <a:srgbClr val="800000"/>
                </a:solidFill>
                <a:latin typeface="Arial"/>
                <a:ea typeface="Arial"/>
                <a:cs typeface="Arial"/>
                <a:sym typeface="Arial"/>
              </a:rPr>
              <a:t>S</a:t>
            </a:r>
            <a:r>
              <a:rPr b="0" i="0" lang="en-US" sz="2600" u="none">
                <a:solidFill>
                  <a:srgbClr val="800000"/>
                </a:solidFill>
                <a:latin typeface="Arial"/>
                <a:ea typeface="Arial"/>
                <a:cs typeface="Arial"/>
                <a:sym typeface="Arial"/>
              </a:rPr>
              <a:t>(R) changes:</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the </a:t>
            </a:r>
            <a:r>
              <a:rPr b="0" i="1" lang="en-US" sz="2400" u="none">
                <a:solidFill>
                  <a:schemeClr val="dk2"/>
                </a:solidFill>
                <a:latin typeface="Arial"/>
                <a:ea typeface="Arial"/>
                <a:cs typeface="Arial"/>
                <a:sym typeface="Arial"/>
              </a:rPr>
              <a:t>relation name</a:t>
            </a:r>
            <a:r>
              <a:rPr b="0" i="0" lang="en-US" sz="2400" u="none">
                <a:solidFill>
                  <a:schemeClr val="dk2"/>
                </a:solidFill>
                <a:latin typeface="Arial"/>
                <a:ea typeface="Arial"/>
                <a:cs typeface="Arial"/>
                <a:sym typeface="Arial"/>
              </a:rPr>
              <a:t> only to S</a:t>
            </a:r>
            <a:endParaRPr b="0" i="0" sz="2400" u="none">
              <a:solidFill>
                <a:schemeClr val="dk2"/>
              </a:solidFill>
              <a:latin typeface="Arial"/>
              <a:ea typeface="Arial"/>
              <a:cs typeface="Arial"/>
              <a:sym typeface="Arial"/>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ρ</a:t>
            </a:r>
            <a:r>
              <a:rPr b="0" baseline="-25000" i="0" lang="en-US" sz="2600" u="none">
                <a:solidFill>
                  <a:srgbClr val="800000"/>
                </a:solidFill>
                <a:latin typeface="Arial"/>
                <a:ea typeface="Arial"/>
                <a:cs typeface="Arial"/>
                <a:sym typeface="Arial"/>
              </a:rPr>
              <a:t>(B1, B2, …, Bn )</a:t>
            </a:r>
            <a:r>
              <a:rPr b="0" i="0" lang="en-US" sz="2600" u="none">
                <a:solidFill>
                  <a:srgbClr val="800000"/>
                </a:solidFill>
                <a:latin typeface="Arial"/>
                <a:ea typeface="Arial"/>
                <a:cs typeface="Arial"/>
                <a:sym typeface="Arial"/>
              </a:rPr>
              <a:t>(R) changes:</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the </a:t>
            </a:r>
            <a:r>
              <a:rPr b="0" i="1" lang="en-US" sz="2400" u="none">
                <a:solidFill>
                  <a:schemeClr val="dk2"/>
                </a:solidFill>
                <a:latin typeface="Arial"/>
                <a:ea typeface="Arial"/>
                <a:cs typeface="Arial"/>
                <a:sym typeface="Arial"/>
              </a:rPr>
              <a:t>column (attribute) names</a:t>
            </a:r>
            <a:r>
              <a:rPr b="0" i="0" lang="en-US" sz="2400" u="none">
                <a:solidFill>
                  <a:schemeClr val="dk2"/>
                </a:solidFill>
                <a:latin typeface="Arial"/>
                <a:ea typeface="Arial"/>
                <a:cs typeface="Arial"/>
                <a:sym typeface="Arial"/>
              </a:rPr>
              <a:t> only to B1, B1, …..Bn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68" name="Google Shape;268;p2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RENAME (contd.)</a:t>
            </a:r>
            <a:endParaRPr/>
          </a:p>
        </p:txBody>
      </p:sp>
      <p:sp>
        <p:nvSpPr>
          <p:cNvPr id="269" name="Google Shape;269;p2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For convenience, we also use a </a:t>
            </a:r>
            <a:r>
              <a:rPr b="0" i="1" lang="en-US" sz="2800" u="none">
                <a:solidFill>
                  <a:schemeClr val="dk2"/>
                </a:solidFill>
                <a:latin typeface="Arial"/>
                <a:ea typeface="Arial"/>
                <a:cs typeface="Arial"/>
                <a:sym typeface="Arial"/>
              </a:rPr>
              <a:t>shorthand</a:t>
            </a:r>
            <a:r>
              <a:rPr b="0" i="0" lang="en-US" sz="2800" u="none">
                <a:solidFill>
                  <a:schemeClr val="dk2"/>
                </a:solidFill>
                <a:latin typeface="Arial"/>
                <a:ea typeface="Arial"/>
                <a:cs typeface="Arial"/>
                <a:sym typeface="Arial"/>
              </a:rPr>
              <a:t> for renaming attributes in an intermediate relation: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If we write:</a:t>
            </a:r>
            <a:endParaRPr/>
          </a:p>
          <a:p>
            <a:pPr indent="-228600" lvl="2" marL="1143000" rtl="0" algn="l">
              <a:lnSpc>
                <a:spcPct val="100000"/>
              </a:lnSpc>
              <a:spcBef>
                <a:spcPts val="0"/>
              </a:spcBef>
              <a:spcAft>
                <a:spcPts val="0"/>
              </a:spcAft>
              <a:buSzPts val="1250"/>
              <a:buChar char="•"/>
            </a:pPr>
            <a:r>
              <a:rPr b="0" i="0" lang="en-US" sz="2500" u="none">
                <a:solidFill>
                  <a:schemeClr val="dk2"/>
                </a:solidFill>
                <a:latin typeface="Arial"/>
                <a:ea typeface="Arial"/>
                <a:cs typeface="Arial"/>
                <a:sym typeface="Arial"/>
              </a:rPr>
              <a:t>RESULT ← </a:t>
            </a:r>
            <a:r>
              <a:rPr b="1" i="0" lang="en-US" sz="2500" u="none">
                <a:solidFill>
                  <a:schemeClr val="dk2"/>
                </a:solidFill>
                <a:latin typeface="Noto Sans Symbols"/>
                <a:ea typeface="Noto Sans Symbols"/>
                <a:cs typeface="Noto Sans Symbols"/>
                <a:sym typeface="Noto Sans Symbols"/>
              </a:rPr>
              <a:t>π</a:t>
            </a:r>
            <a:r>
              <a:rPr b="0" i="0" lang="en-US" sz="2500" u="none">
                <a:solidFill>
                  <a:schemeClr val="dk2"/>
                </a:solidFill>
                <a:latin typeface="Arial"/>
                <a:ea typeface="Arial"/>
                <a:cs typeface="Arial"/>
                <a:sym typeface="Arial"/>
              </a:rPr>
              <a:t> </a:t>
            </a:r>
            <a:r>
              <a:rPr b="0" baseline="-25000" i="0" lang="en-US" sz="2500" u="none">
                <a:solidFill>
                  <a:schemeClr val="dk2"/>
                </a:solidFill>
                <a:latin typeface="Arial"/>
                <a:ea typeface="Arial"/>
                <a:cs typeface="Arial"/>
                <a:sym typeface="Arial"/>
              </a:rPr>
              <a:t>FNAME, LNAME, SALARY</a:t>
            </a:r>
            <a:r>
              <a:rPr b="0" i="0" lang="en-US" sz="2500" u="none">
                <a:solidFill>
                  <a:schemeClr val="dk2"/>
                </a:solidFill>
                <a:latin typeface="Arial"/>
                <a:ea typeface="Arial"/>
                <a:cs typeface="Arial"/>
                <a:sym typeface="Arial"/>
              </a:rPr>
              <a:t> (DEP5_EMPS)</a:t>
            </a:r>
            <a:endParaRPr/>
          </a:p>
          <a:p>
            <a:pPr indent="-228600" lvl="2" marL="1143000" rtl="0" algn="l">
              <a:lnSpc>
                <a:spcPct val="100000"/>
              </a:lnSpc>
              <a:spcBef>
                <a:spcPts val="0"/>
              </a:spcBef>
              <a:spcAft>
                <a:spcPts val="0"/>
              </a:spcAft>
              <a:buSzPts val="1250"/>
              <a:buChar char="•"/>
            </a:pPr>
            <a:r>
              <a:rPr b="0" i="0" lang="en-US" sz="2500" u="none">
                <a:solidFill>
                  <a:schemeClr val="dk2"/>
                </a:solidFill>
                <a:latin typeface="Arial"/>
                <a:ea typeface="Arial"/>
                <a:cs typeface="Arial"/>
                <a:sym typeface="Arial"/>
              </a:rPr>
              <a:t>RESULT will have the </a:t>
            </a:r>
            <a:r>
              <a:rPr b="0" i="1" lang="en-US" sz="2500" u="none">
                <a:solidFill>
                  <a:schemeClr val="dk2"/>
                </a:solidFill>
                <a:latin typeface="Arial"/>
                <a:ea typeface="Arial"/>
                <a:cs typeface="Arial"/>
                <a:sym typeface="Arial"/>
              </a:rPr>
              <a:t>same attribute names</a:t>
            </a:r>
            <a:r>
              <a:rPr b="0" i="0" lang="en-US" sz="2500" u="none">
                <a:solidFill>
                  <a:schemeClr val="dk2"/>
                </a:solidFill>
                <a:latin typeface="Arial"/>
                <a:ea typeface="Arial"/>
                <a:cs typeface="Arial"/>
                <a:sym typeface="Arial"/>
              </a:rPr>
              <a:t> as DEP5_EMPS (same attributes as EMPLOYEE)</a:t>
            </a:r>
            <a:endParaRPr/>
          </a:p>
          <a:p>
            <a:pPr indent="-285750" lvl="1" marL="742950" rtl="0" algn="l">
              <a:lnSpc>
                <a:spcPct val="100000"/>
              </a:lnSpc>
              <a:spcBef>
                <a:spcPts val="0"/>
              </a:spcBef>
              <a:spcAft>
                <a:spcPts val="0"/>
              </a:spcAft>
              <a:buSzPts val="1540"/>
              <a:buChar char="•"/>
            </a:pPr>
            <a:r>
              <a:rPr b="0" i="0" lang="en-US" sz="2800" u="none">
                <a:solidFill>
                  <a:srgbClr val="800000"/>
                </a:solidFill>
                <a:latin typeface="Arial"/>
                <a:ea typeface="Arial"/>
                <a:cs typeface="Arial"/>
                <a:sym typeface="Arial"/>
              </a:rPr>
              <a:t>If we write:</a:t>
            </a:r>
            <a:endParaRPr/>
          </a:p>
          <a:p>
            <a:pPr indent="-228600" lvl="2" marL="1143000" rtl="0" algn="l">
              <a:lnSpc>
                <a:spcPct val="100000"/>
              </a:lnSpc>
              <a:spcBef>
                <a:spcPts val="0"/>
              </a:spcBef>
              <a:spcAft>
                <a:spcPts val="0"/>
              </a:spcAft>
              <a:buSzPts val="1250"/>
              <a:buChar char="•"/>
            </a:pPr>
            <a:r>
              <a:rPr b="0" i="0" lang="en-US" sz="2500" u="none">
                <a:solidFill>
                  <a:schemeClr val="dk2"/>
                </a:solidFill>
                <a:latin typeface="Arial"/>
                <a:ea typeface="Arial"/>
                <a:cs typeface="Arial"/>
                <a:sym typeface="Arial"/>
              </a:rPr>
              <a:t>RESULT (FN, LN, Sal,)← </a:t>
            </a:r>
            <a:r>
              <a:rPr b="1" i="0" lang="en-US" sz="2500" u="none">
                <a:solidFill>
                  <a:schemeClr val="dk2"/>
                </a:solidFill>
                <a:latin typeface="Noto Sans Symbols"/>
                <a:ea typeface="Noto Sans Symbols"/>
                <a:cs typeface="Noto Sans Symbols"/>
                <a:sym typeface="Noto Sans Symbols"/>
              </a:rPr>
              <a:t>π</a:t>
            </a:r>
            <a:r>
              <a:rPr b="0" i="0" lang="en-US" sz="2500" u="none">
                <a:solidFill>
                  <a:schemeClr val="dk2"/>
                </a:solidFill>
                <a:latin typeface="Arial"/>
                <a:ea typeface="Arial"/>
                <a:cs typeface="Arial"/>
                <a:sym typeface="Arial"/>
              </a:rPr>
              <a:t> </a:t>
            </a:r>
            <a:r>
              <a:rPr b="0" baseline="-25000" i="0" lang="en-US" sz="2500" u="none">
                <a:solidFill>
                  <a:schemeClr val="dk2"/>
                </a:solidFill>
                <a:latin typeface="Arial"/>
                <a:ea typeface="Arial"/>
                <a:cs typeface="Arial"/>
                <a:sym typeface="Arial"/>
              </a:rPr>
              <a:t>FNAME, LNAME, SALARY</a:t>
            </a:r>
            <a:r>
              <a:rPr b="0" i="0" lang="en-US" sz="2500" u="none">
                <a:solidFill>
                  <a:schemeClr val="dk2"/>
                </a:solidFill>
                <a:latin typeface="Arial"/>
                <a:ea typeface="Arial"/>
                <a:cs typeface="Arial"/>
                <a:sym typeface="Arial"/>
              </a:rPr>
              <a:t> (DEP5_EMPS)</a:t>
            </a:r>
            <a:endParaRPr/>
          </a:p>
          <a:p>
            <a:pPr indent="-228600" lvl="2" marL="1143000" rtl="0" algn="l">
              <a:lnSpc>
                <a:spcPct val="100000"/>
              </a:lnSpc>
              <a:spcBef>
                <a:spcPts val="0"/>
              </a:spcBef>
              <a:spcAft>
                <a:spcPts val="0"/>
              </a:spcAft>
              <a:buSzPts val="1250"/>
              <a:buChar char="•"/>
            </a:pPr>
            <a:r>
              <a:rPr b="0" i="0" lang="en-US" sz="2500" u="none">
                <a:solidFill>
                  <a:schemeClr val="dk2"/>
                </a:solidFill>
                <a:latin typeface="Arial"/>
                <a:ea typeface="Arial"/>
                <a:cs typeface="Arial"/>
                <a:sym typeface="Arial"/>
              </a:rPr>
              <a:t>3 attributes of RESULT are </a:t>
            </a:r>
            <a:r>
              <a:rPr b="0" i="1" lang="en-US" sz="2500" u="none">
                <a:solidFill>
                  <a:schemeClr val="dk2"/>
                </a:solidFill>
                <a:latin typeface="Arial"/>
                <a:ea typeface="Arial"/>
                <a:cs typeface="Arial"/>
                <a:sym typeface="Arial"/>
              </a:rPr>
              <a:t>renamed</a:t>
            </a:r>
            <a:r>
              <a:rPr b="0" i="0" lang="en-US" sz="2500" u="none">
                <a:solidFill>
                  <a:schemeClr val="dk2"/>
                </a:solidFill>
                <a:latin typeface="Arial"/>
                <a:ea typeface="Arial"/>
                <a:cs typeface="Arial"/>
                <a:sym typeface="Arial"/>
              </a:rPr>
              <a:t> to FN, LN, Sal respectively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76" name="Google Shape;276;p2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Operations from</a:t>
            </a:r>
            <a:br>
              <a:rPr b="0" i="0" lang="en-US" sz="3200" u="none">
                <a:solidFill>
                  <a:srgbClr val="800000"/>
                </a:solidFill>
                <a:latin typeface="Arial"/>
                <a:ea typeface="Arial"/>
                <a:cs typeface="Arial"/>
                <a:sym typeface="Arial"/>
              </a:rPr>
            </a:br>
            <a:r>
              <a:rPr b="0" i="0" lang="en-US" sz="3200" u="none">
                <a:solidFill>
                  <a:srgbClr val="800000"/>
                </a:solidFill>
                <a:latin typeface="Arial"/>
                <a:ea typeface="Arial"/>
                <a:cs typeface="Arial"/>
                <a:sym typeface="Arial"/>
              </a:rPr>
              <a:t>Set Theory </a:t>
            </a:r>
            <a:endParaRPr/>
          </a:p>
        </p:txBody>
      </p:sp>
      <p:sp>
        <p:nvSpPr>
          <p:cNvPr id="277" name="Google Shape;277;p2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Type Compatibility of operands is required for the binary set operation UNION </a:t>
            </a:r>
            <a:r>
              <a:rPr b="0" i="0" lang="en-US" sz="2400" u="none">
                <a:solidFill>
                  <a:schemeClr val="dk2"/>
                </a:solidFill>
                <a:latin typeface="Noto Sans Symbols"/>
                <a:ea typeface="Noto Sans Symbols"/>
                <a:cs typeface="Noto Sans Symbols"/>
                <a:sym typeface="Noto Sans Symbols"/>
              </a:rPr>
              <a:t>∪</a:t>
            </a:r>
            <a:r>
              <a:rPr b="0" i="0" lang="en-US" sz="2400" u="none">
                <a:solidFill>
                  <a:schemeClr val="dk2"/>
                </a:solidFill>
                <a:latin typeface="Arial"/>
                <a:ea typeface="Arial"/>
                <a:cs typeface="Arial"/>
                <a:sym typeface="Arial"/>
              </a:rPr>
              <a:t>, INTERSECTION </a:t>
            </a:r>
            <a:r>
              <a:rPr b="0" i="0" lang="en-US" sz="2400" u="none">
                <a:solidFill>
                  <a:schemeClr val="dk2"/>
                </a:solidFill>
                <a:latin typeface="Noto Sans Symbols"/>
                <a:ea typeface="Noto Sans Symbols"/>
                <a:cs typeface="Noto Sans Symbols"/>
                <a:sym typeface="Noto Sans Symbols"/>
              </a:rPr>
              <a:t>∩</a:t>
            </a:r>
            <a:r>
              <a:rPr b="0" i="0" lang="en-US" sz="2400" u="none">
                <a:solidFill>
                  <a:schemeClr val="dk2"/>
                </a:solidFill>
                <a:latin typeface="Arial"/>
                <a:ea typeface="Arial"/>
                <a:cs typeface="Arial"/>
                <a:sym typeface="Arial"/>
              </a:rPr>
              <a:t>, and SET DIFFERENCE –, </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R1(A1, A2, ..., An) and R2(B1, B2, ..., Bn) are type compatible if:</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they have the same number of attributes, and</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domains of corresponding attributes are type compatible (i.e. dom(Ai)=dom(Bi) for i=1, 2, ..., n). </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The resulting relation for R1</a:t>
            </a:r>
            <a:r>
              <a:rPr b="0" i="0" lang="en-US" sz="2400" u="none">
                <a:solidFill>
                  <a:schemeClr val="dk2"/>
                </a:solidFill>
                <a:latin typeface="Noto Sans Symbols"/>
                <a:ea typeface="Noto Sans Symbols"/>
                <a:cs typeface="Noto Sans Symbols"/>
                <a:sym typeface="Noto Sans Symbols"/>
              </a:rPr>
              <a:t>∪</a:t>
            </a:r>
            <a:r>
              <a:rPr b="0" i="0" lang="en-US" sz="2400" u="none">
                <a:solidFill>
                  <a:schemeClr val="dk2"/>
                </a:solidFill>
                <a:latin typeface="Arial"/>
                <a:ea typeface="Arial"/>
                <a:cs typeface="Arial"/>
                <a:sym typeface="Arial"/>
              </a:rPr>
              <a:t>R2 (also for R1</a:t>
            </a:r>
            <a:r>
              <a:rPr b="0" i="0" lang="en-US" sz="2400" u="none">
                <a:solidFill>
                  <a:schemeClr val="dk2"/>
                </a:solidFill>
                <a:latin typeface="Noto Sans Symbols"/>
                <a:ea typeface="Noto Sans Symbols"/>
                <a:cs typeface="Noto Sans Symbols"/>
                <a:sym typeface="Noto Sans Symbols"/>
              </a:rPr>
              <a:t>∩</a:t>
            </a:r>
            <a:r>
              <a:rPr b="0" i="0" lang="en-US" sz="2400" u="none">
                <a:solidFill>
                  <a:schemeClr val="dk2"/>
                </a:solidFill>
                <a:latin typeface="Arial"/>
                <a:ea typeface="Arial"/>
                <a:cs typeface="Arial"/>
                <a:sym typeface="Arial"/>
              </a:rPr>
              <a:t>R2, or R1–R2, see next slides) has the same attribute names as the </a:t>
            </a:r>
            <a:r>
              <a:rPr b="0" i="1" lang="en-US" sz="2400" u="none">
                <a:solidFill>
                  <a:schemeClr val="dk2"/>
                </a:solidFill>
                <a:latin typeface="Arial"/>
                <a:ea typeface="Arial"/>
                <a:cs typeface="Arial"/>
                <a:sym typeface="Arial"/>
              </a:rPr>
              <a:t>first</a:t>
            </a:r>
            <a:r>
              <a:rPr b="0" i="0" lang="en-US" sz="2400" u="none">
                <a:solidFill>
                  <a:schemeClr val="dk2"/>
                </a:solidFill>
                <a:latin typeface="Arial"/>
                <a:ea typeface="Arial"/>
                <a:cs typeface="Arial"/>
                <a:sym typeface="Arial"/>
              </a:rPr>
              <a:t> operand relation R1 (by convention)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0" st="0"/>
                                            </p:txEl>
                                          </p:spTgt>
                                        </p:tgtEl>
                                        <p:attrNameLst>
                                          <p:attrName>style.visibility</p:attrName>
                                        </p:attrNameLst>
                                      </p:cBhvr>
                                      <p:to>
                                        <p:strVal val="visible"/>
                                      </p:to>
                                    </p:set>
                                    <p:anim calcmode="lin" valueType="num">
                                      <p:cBhvr additive="base">
                                        <p:cTn dur="500"/>
                                        <p:tgtEl>
                                          <p:spTgt spid="27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1" st="1"/>
                                            </p:txEl>
                                          </p:spTgt>
                                        </p:tgtEl>
                                        <p:attrNameLst>
                                          <p:attrName>style.visibility</p:attrName>
                                        </p:attrNameLst>
                                      </p:cBhvr>
                                      <p:to>
                                        <p:strVal val="visible"/>
                                      </p:to>
                                    </p:set>
                                    <p:anim calcmode="lin" valueType="num">
                                      <p:cBhvr additive="base">
                                        <p:cTn dur="500"/>
                                        <p:tgtEl>
                                          <p:spTgt spid="27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2" st="2"/>
                                            </p:txEl>
                                          </p:spTgt>
                                        </p:tgtEl>
                                        <p:attrNameLst>
                                          <p:attrName>style.visibility</p:attrName>
                                        </p:attrNameLst>
                                      </p:cBhvr>
                                      <p:to>
                                        <p:strVal val="visible"/>
                                      </p:to>
                                    </p:set>
                                    <p:anim calcmode="lin" valueType="num">
                                      <p:cBhvr additive="base">
                                        <p:cTn dur="500"/>
                                        <p:tgtEl>
                                          <p:spTgt spid="27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3" st="3"/>
                                            </p:txEl>
                                          </p:spTgt>
                                        </p:tgtEl>
                                        <p:attrNameLst>
                                          <p:attrName>style.visibility</p:attrName>
                                        </p:attrNameLst>
                                      </p:cBhvr>
                                      <p:to>
                                        <p:strVal val="visible"/>
                                      </p:to>
                                    </p:set>
                                    <p:anim calcmode="lin" valueType="num">
                                      <p:cBhvr additive="base">
                                        <p:cTn dur="500"/>
                                        <p:tgtEl>
                                          <p:spTgt spid="27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4" st="4"/>
                                            </p:txEl>
                                          </p:spTgt>
                                        </p:tgtEl>
                                        <p:attrNameLst>
                                          <p:attrName>style.visibility</p:attrName>
                                        </p:attrNameLst>
                                      </p:cBhvr>
                                      <p:to>
                                        <p:strVal val="visible"/>
                                      </p:to>
                                    </p:set>
                                    <p:anim calcmode="lin" valueType="num">
                                      <p:cBhvr additive="base">
                                        <p:cTn dur="500"/>
                                        <p:tgtEl>
                                          <p:spTgt spid="27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84" name="Google Shape;284;p2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Operations from</a:t>
            </a:r>
            <a:br>
              <a:rPr b="0" i="0" lang="en-US" sz="3200" u="none">
                <a:solidFill>
                  <a:srgbClr val="800000"/>
                </a:solidFill>
                <a:latin typeface="Arial"/>
                <a:ea typeface="Arial"/>
                <a:cs typeface="Arial"/>
                <a:sym typeface="Arial"/>
              </a:rPr>
            </a:br>
            <a:r>
              <a:rPr b="0" i="0" lang="en-US" sz="3200" u="none">
                <a:solidFill>
                  <a:srgbClr val="800000"/>
                </a:solidFill>
                <a:latin typeface="Arial"/>
                <a:ea typeface="Arial"/>
                <a:cs typeface="Arial"/>
                <a:sym typeface="Arial"/>
              </a:rPr>
              <a:t>Set Theory: </a:t>
            </a:r>
            <a:endParaRPr/>
          </a:p>
        </p:txBody>
      </p:sp>
      <p:sp>
        <p:nvSpPr>
          <p:cNvPr id="285" name="Google Shape;285;p2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UNION Operation</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Binary operation, denoted by </a:t>
            </a:r>
            <a:r>
              <a:rPr b="0" i="0" lang="en-US" sz="2600" u="none">
                <a:solidFill>
                  <a:srgbClr val="800000"/>
                </a:solidFill>
                <a:latin typeface="Noto Sans Symbols"/>
                <a:ea typeface="Noto Sans Symbols"/>
                <a:cs typeface="Noto Sans Symbols"/>
                <a:sym typeface="Noto Sans Symbols"/>
              </a:rPr>
              <a:t>∪</a:t>
            </a:r>
            <a:r>
              <a:rPr b="0" i="0" lang="en-US" sz="2600" u="none">
                <a:solidFill>
                  <a:srgbClr val="800000"/>
                </a:solidFill>
                <a:latin typeface="Arial"/>
                <a:ea typeface="Arial"/>
                <a:cs typeface="Arial"/>
                <a:sym typeface="Arial"/>
              </a:rPr>
              <a:t> </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The result of R </a:t>
            </a:r>
            <a:r>
              <a:rPr b="0" i="0" lang="en-US" sz="2600" u="none">
                <a:solidFill>
                  <a:srgbClr val="800000"/>
                </a:solidFill>
                <a:latin typeface="Noto Sans Symbols"/>
                <a:ea typeface="Noto Sans Symbols"/>
                <a:cs typeface="Noto Sans Symbols"/>
                <a:sym typeface="Noto Sans Symbols"/>
              </a:rPr>
              <a:t>∪</a:t>
            </a:r>
            <a:r>
              <a:rPr b="0" i="0" lang="en-US" sz="2600" u="none">
                <a:solidFill>
                  <a:srgbClr val="800000"/>
                </a:solidFill>
                <a:latin typeface="Arial"/>
                <a:ea typeface="Arial"/>
                <a:cs typeface="Arial"/>
                <a:sym typeface="Arial"/>
              </a:rPr>
              <a:t> S, is a relation that includes all tuples that are either in R or in S or in both R and S</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Duplicate tuples are eliminated</a:t>
            </a:r>
            <a:endParaRPr/>
          </a:p>
          <a:p>
            <a:pPr indent="-285750" lvl="1" marL="742950" rtl="0" algn="l">
              <a:lnSpc>
                <a:spcPct val="90000"/>
              </a:lnSpc>
              <a:spcBef>
                <a:spcPts val="500"/>
              </a:spcBef>
              <a:spcAft>
                <a:spcPts val="0"/>
              </a:spcAft>
              <a:buClr>
                <a:schemeClr val="dk2"/>
              </a:buClr>
              <a:buSzPts val="1375"/>
              <a:buFont typeface="Noto Sans Symbols"/>
              <a:buChar char="■"/>
            </a:pPr>
            <a:r>
              <a:rPr b="0" i="0" lang="en-US" sz="2500" u="none">
                <a:solidFill>
                  <a:srgbClr val="800000"/>
                </a:solidFill>
                <a:latin typeface="Arial"/>
                <a:ea typeface="Arial"/>
                <a:cs typeface="Arial"/>
                <a:sym typeface="Arial"/>
              </a:rPr>
              <a:t>The two operand relations R and S must be “type compatible” (or UNION compatible)</a:t>
            </a:r>
            <a:endParaRPr/>
          </a:p>
          <a:p>
            <a:pPr indent="-228600" lvl="2" marL="1143000" rtl="0" algn="l">
              <a:lnSpc>
                <a:spcPct val="90000"/>
              </a:lnSpc>
              <a:spcBef>
                <a:spcPts val="460"/>
              </a:spcBef>
              <a:spcAft>
                <a:spcPts val="0"/>
              </a:spcAft>
              <a:buClr>
                <a:srgbClr val="990033"/>
              </a:buClr>
              <a:buSzPts val="1150"/>
              <a:buFont typeface="Noto Sans Symbols"/>
              <a:buChar char="■"/>
            </a:pPr>
            <a:r>
              <a:rPr b="0" i="0" lang="en-US" sz="2300" u="none">
                <a:solidFill>
                  <a:schemeClr val="dk2"/>
                </a:solidFill>
                <a:latin typeface="Arial"/>
                <a:ea typeface="Arial"/>
                <a:cs typeface="Arial"/>
                <a:sym typeface="Arial"/>
              </a:rPr>
              <a:t>R and S must have same number of attributes</a:t>
            </a:r>
            <a:endParaRPr/>
          </a:p>
          <a:p>
            <a:pPr indent="-228600" lvl="2" marL="1143000" rtl="0" algn="l">
              <a:lnSpc>
                <a:spcPct val="90000"/>
              </a:lnSpc>
              <a:spcBef>
                <a:spcPts val="460"/>
              </a:spcBef>
              <a:spcAft>
                <a:spcPts val="0"/>
              </a:spcAft>
              <a:buClr>
                <a:srgbClr val="990033"/>
              </a:buClr>
              <a:buSzPts val="1150"/>
              <a:buFont typeface="Noto Sans Symbols"/>
              <a:buChar char="■"/>
            </a:pPr>
            <a:r>
              <a:rPr b="0" i="0" lang="en-US" sz="2300" u="none">
                <a:solidFill>
                  <a:schemeClr val="dk2"/>
                </a:solidFill>
                <a:latin typeface="Arial"/>
                <a:ea typeface="Arial"/>
                <a:cs typeface="Arial"/>
                <a:sym typeface="Arial"/>
              </a:rPr>
              <a:t>Each pair of corresponding attributes must be type compatible (have same or compatible domains)</a:t>
            </a:r>
            <a:endParaRPr/>
          </a:p>
          <a:p>
            <a:pPr indent="-255270" lvl="0" marL="342900" rtl="0" algn="l">
              <a:lnSpc>
                <a:spcPct val="100000"/>
              </a:lnSpc>
              <a:spcBef>
                <a:spcPts val="460"/>
              </a:spcBef>
              <a:spcAft>
                <a:spcPts val="0"/>
              </a:spcAft>
              <a:buSzPts val="1380"/>
              <a:buNone/>
            </a:pPr>
            <a:r>
              <a:t/>
            </a:r>
            <a:endParaRPr b="0" i="0" sz="2300" u="non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5">
                                            <p:txEl>
                                              <p:pRg end="0" st="0"/>
                                            </p:txEl>
                                          </p:spTgt>
                                        </p:tgtEl>
                                        <p:attrNameLst>
                                          <p:attrName>style.visibility</p:attrName>
                                        </p:attrNameLst>
                                      </p:cBhvr>
                                      <p:to>
                                        <p:strVal val="visible"/>
                                      </p:to>
                                    </p:set>
                                    <p:anim calcmode="lin" valueType="num">
                                      <p:cBhvr additive="base">
                                        <p:cTn dur="500"/>
                                        <p:tgtEl>
                                          <p:spTgt spid="28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5">
                                            <p:txEl>
                                              <p:pRg end="1" st="1"/>
                                            </p:txEl>
                                          </p:spTgt>
                                        </p:tgtEl>
                                        <p:attrNameLst>
                                          <p:attrName>style.visibility</p:attrName>
                                        </p:attrNameLst>
                                      </p:cBhvr>
                                      <p:to>
                                        <p:strVal val="visible"/>
                                      </p:to>
                                    </p:set>
                                    <p:anim calcmode="lin" valueType="num">
                                      <p:cBhvr additive="base">
                                        <p:cTn dur="500"/>
                                        <p:tgtEl>
                                          <p:spTgt spid="28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5">
                                            <p:txEl>
                                              <p:pRg end="2" st="2"/>
                                            </p:txEl>
                                          </p:spTgt>
                                        </p:tgtEl>
                                        <p:attrNameLst>
                                          <p:attrName>style.visibility</p:attrName>
                                        </p:attrNameLst>
                                      </p:cBhvr>
                                      <p:to>
                                        <p:strVal val="visible"/>
                                      </p:to>
                                    </p:set>
                                    <p:anim calcmode="lin" valueType="num">
                                      <p:cBhvr additive="base">
                                        <p:cTn dur="500"/>
                                        <p:tgtEl>
                                          <p:spTgt spid="28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5">
                                            <p:txEl>
                                              <p:pRg end="3" st="3"/>
                                            </p:txEl>
                                          </p:spTgt>
                                        </p:tgtEl>
                                        <p:attrNameLst>
                                          <p:attrName>style.visibility</p:attrName>
                                        </p:attrNameLst>
                                      </p:cBhvr>
                                      <p:to>
                                        <p:strVal val="visible"/>
                                      </p:to>
                                    </p:set>
                                    <p:anim calcmode="lin" valueType="num">
                                      <p:cBhvr additive="base">
                                        <p:cTn dur="500"/>
                                        <p:tgtEl>
                                          <p:spTgt spid="28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5">
                                            <p:txEl>
                                              <p:pRg end="4" st="4"/>
                                            </p:txEl>
                                          </p:spTgt>
                                        </p:tgtEl>
                                        <p:attrNameLst>
                                          <p:attrName>style.visibility</p:attrName>
                                        </p:attrNameLst>
                                      </p:cBhvr>
                                      <p:to>
                                        <p:strVal val="visible"/>
                                      </p:to>
                                    </p:set>
                                    <p:anim calcmode="lin" valueType="num">
                                      <p:cBhvr additive="base">
                                        <p:cTn dur="500"/>
                                        <p:tgtEl>
                                          <p:spTgt spid="28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5">
                                            <p:txEl>
                                              <p:pRg end="5" st="5"/>
                                            </p:txEl>
                                          </p:spTgt>
                                        </p:tgtEl>
                                        <p:attrNameLst>
                                          <p:attrName>style.visibility</p:attrName>
                                        </p:attrNameLst>
                                      </p:cBhvr>
                                      <p:to>
                                        <p:strVal val="visible"/>
                                      </p:to>
                                    </p:set>
                                    <p:anim calcmode="lin" valueType="num">
                                      <p:cBhvr additive="base">
                                        <p:cTn dur="500"/>
                                        <p:tgtEl>
                                          <p:spTgt spid="28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5">
                                            <p:txEl>
                                              <p:pRg end="6" st="6"/>
                                            </p:txEl>
                                          </p:spTgt>
                                        </p:tgtEl>
                                        <p:attrNameLst>
                                          <p:attrName>style.visibility</p:attrName>
                                        </p:attrNameLst>
                                      </p:cBhvr>
                                      <p:to>
                                        <p:strVal val="visible"/>
                                      </p:to>
                                    </p:set>
                                    <p:anim calcmode="lin" valueType="num">
                                      <p:cBhvr additive="base">
                                        <p:cTn dur="500"/>
                                        <p:tgtEl>
                                          <p:spTgt spid="28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5">
                                            <p:txEl>
                                              <p:pRg end="7" st="7"/>
                                            </p:txEl>
                                          </p:spTgt>
                                        </p:tgtEl>
                                        <p:attrNameLst>
                                          <p:attrName>style.visibility</p:attrName>
                                        </p:attrNameLst>
                                      </p:cBhvr>
                                      <p:to>
                                        <p:strVal val="visible"/>
                                      </p:to>
                                    </p:set>
                                    <p:anim calcmode="lin" valueType="num">
                                      <p:cBhvr additive="base">
                                        <p:cTn dur="500"/>
                                        <p:tgtEl>
                                          <p:spTgt spid="28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92" name="Google Shape;292;p2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of the result of a UNION operation</a:t>
            </a:r>
            <a:endParaRPr/>
          </a:p>
        </p:txBody>
      </p:sp>
      <p:sp>
        <p:nvSpPr>
          <p:cNvPr id="293" name="Google Shape;293;p2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UNION Example</a:t>
            </a:r>
            <a:endParaRPr/>
          </a:p>
          <a:p>
            <a:pPr indent="-236220" lvl="0" marL="342900" rtl="0" algn="l">
              <a:lnSpc>
                <a:spcPct val="100000"/>
              </a:lnSpc>
              <a:spcBef>
                <a:spcPts val="560"/>
              </a:spcBef>
              <a:spcAft>
                <a:spcPts val="0"/>
              </a:spcAft>
              <a:buSzPts val="1680"/>
              <a:buNone/>
            </a:pPr>
            <a:r>
              <a:t/>
            </a:r>
            <a:endParaRPr b="0" i="0" sz="2800" u="none">
              <a:solidFill>
                <a:schemeClr val="dk2"/>
              </a:solidFill>
              <a:latin typeface="Arial"/>
              <a:ea typeface="Arial"/>
              <a:cs typeface="Arial"/>
              <a:sym typeface="Arial"/>
            </a:endParaRPr>
          </a:p>
        </p:txBody>
      </p:sp>
      <p:sp>
        <p:nvSpPr>
          <p:cNvPr id="294" name="Google Shape;294;p26"/>
          <p:cNvSpPr txBox="1"/>
          <p:nvPr/>
        </p:nvSpPr>
        <p:spPr>
          <a:xfrm>
            <a:off x="6516687" y="2166937"/>
            <a:ext cx="460375" cy="5762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descr="fig06_03" id="295" name="Google Shape;295;p26"/>
          <p:cNvPicPr preferRelativeResize="0"/>
          <p:nvPr/>
        </p:nvPicPr>
        <p:blipFill rotWithShape="1">
          <a:blip r:embed="rId3">
            <a:alphaModFix/>
          </a:blip>
          <a:srcRect b="0" l="0" r="0" t="0"/>
          <a:stretch/>
        </p:blipFill>
        <p:spPr>
          <a:xfrm>
            <a:off x="315912" y="2971800"/>
            <a:ext cx="8294687" cy="21955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02" name="Google Shape;302;p2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Operations from</a:t>
            </a:r>
            <a:br>
              <a:rPr b="0" i="0" lang="en-US" sz="3200" u="none">
                <a:solidFill>
                  <a:srgbClr val="800000"/>
                </a:solidFill>
                <a:latin typeface="Arial"/>
                <a:ea typeface="Arial"/>
                <a:cs typeface="Arial"/>
                <a:sym typeface="Arial"/>
              </a:rPr>
            </a:br>
            <a:r>
              <a:rPr b="0" i="0" lang="en-US" sz="3200" u="none">
                <a:solidFill>
                  <a:srgbClr val="800000"/>
                </a:solidFill>
                <a:latin typeface="Arial"/>
                <a:ea typeface="Arial"/>
                <a:cs typeface="Arial"/>
                <a:sym typeface="Arial"/>
              </a:rPr>
              <a:t>Set Theory: UNION </a:t>
            </a:r>
            <a:endParaRPr/>
          </a:p>
        </p:txBody>
      </p:sp>
      <p:sp>
        <p:nvSpPr>
          <p:cNvPr id="303" name="Google Shape;303;p27"/>
          <p:cNvSpPr txBox="1"/>
          <p:nvPr>
            <p:ph idx="1" type="body"/>
          </p:nvPr>
        </p:nvSpPr>
        <p:spPr>
          <a:xfrm>
            <a:off x="239712" y="1600200"/>
            <a:ext cx="87518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 </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To retrieve the social security numbers of all employees who either </a:t>
            </a:r>
            <a:r>
              <a:rPr b="0" i="1" lang="en-US" sz="2100" u="none">
                <a:solidFill>
                  <a:srgbClr val="800000"/>
                </a:solidFill>
                <a:latin typeface="Arial"/>
                <a:ea typeface="Arial"/>
                <a:cs typeface="Arial"/>
                <a:sym typeface="Arial"/>
              </a:rPr>
              <a:t>work in department 5</a:t>
            </a:r>
            <a:r>
              <a:rPr b="0" i="0" lang="en-US" sz="2100" u="none">
                <a:solidFill>
                  <a:srgbClr val="800000"/>
                </a:solidFill>
                <a:latin typeface="Arial"/>
                <a:ea typeface="Arial"/>
                <a:cs typeface="Arial"/>
                <a:sym typeface="Arial"/>
              </a:rPr>
              <a:t> (RESULT1 below) or </a:t>
            </a:r>
            <a:r>
              <a:rPr b="0" i="1" lang="en-US" sz="2100" u="none">
                <a:solidFill>
                  <a:srgbClr val="800000"/>
                </a:solidFill>
                <a:latin typeface="Arial"/>
                <a:ea typeface="Arial"/>
                <a:cs typeface="Arial"/>
                <a:sym typeface="Arial"/>
              </a:rPr>
              <a:t>directly supervise an employee who works in department 5</a:t>
            </a:r>
            <a:r>
              <a:rPr b="0" i="0" lang="en-US" sz="2100" u="none">
                <a:solidFill>
                  <a:srgbClr val="800000"/>
                </a:solidFill>
                <a:latin typeface="Arial"/>
                <a:ea typeface="Arial"/>
                <a:cs typeface="Arial"/>
                <a:sym typeface="Arial"/>
              </a:rPr>
              <a:t> (RESULT2 below)</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We can use the UNION operation as follows:</a:t>
            </a:r>
            <a:endParaRPr/>
          </a:p>
          <a:p>
            <a:pPr indent="-342900" lvl="0" marL="342900" rtl="0" algn="ctr">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DEP5_EMPS ← </a:t>
            </a:r>
            <a:r>
              <a:rPr b="0" i="0" lang="en-US" sz="2400" u="none">
                <a:solidFill>
                  <a:schemeClr val="dk2"/>
                </a:solidFill>
                <a:latin typeface="Noto Sans Symbols"/>
                <a:ea typeface="Noto Sans Symbols"/>
                <a:cs typeface="Noto Sans Symbols"/>
                <a:sym typeface="Noto Sans Symbols"/>
              </a:rPr>
              <a:t>σ</a:t>
            </a:r>
            <a:r>
              <a:rPr b="0" baseline="-25000" i="0" lang="en-US" sz="2400" u="none">
                <a:solidFill>
                  <a:schemeClr val="dk2"/>
                </a:solidFill>
                <a:latin typeface="Arial"/>
                <a:ea typeface="Arial"/>
                <a:cs typeface="Arial"/>
                <a:sym typeface="Arial"/>
              </a:rPr>
              <a:t>DNO=5</a:t>
            </a:r>
            <a:r>
              <a:rPr b="0" i="0" lang="en-US" sz="2400" u="none">
                <a:solidFill>
                  <a:schemeClr val="dk2"/>
                </a:solidFill>
                <a:latin typeface="Arial"/>
                <a:ea typeface="Arial"/>
                <a:cs typeface="Arial"/>
                <a:sym typeface="Arial"/>
              </a:rPr>
              <a:t> (EMPLOYEE)</a:t>
            </a:r>
            <a:endParaRPr/>
          </a:p>
          <a:p>
            <a:pPr indent="-342900" lvl="0" marL="342900" rtl="0" algn="ctr">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RESULT1 ← </a:t>
            </a:r>
            <a:r>
              <a:rPr b="0" i="0" lang="en-US" sz="2400" u="none">
                <a:solidFill>
                  <a:schemeClr val="dk2"/>
                </a:solidFill>
                <a:latin typeface="Noto Sans Symbols"/>
                <a:ea typeface="Noto Sans Symbols"/>
                <a:cs typeface="Noto Sans Symbols"/>
                <a:sym typeface="Noto Sans Symbols"/>
              </a:rPr>
              <a:t>π</a:t>
            </a:r>
            <a:r>
              <a:rPr b="0" i="0" lang="en-US" sz="2400" u="none">
                <a:solidFill>
                  <a:schemeClr val="dk2"/>
                </a:solidFill>
                <a:latin typeface="Arial"/>
                <a:ea typeface="Arial"/>
                <a:cs typeface="Arial"/>
                <a:sym typeface="Arial"/>
              </a:rPr>
              <a:t> </a:t>
            </a:r>
            <a:r>
              <a:rPr b="0" baseline="-25000" i="0" lang="en-US" sz="2400" u="none">
                <a:solidFill>
                  <a:schemeClr val="dk2"/>
                </a:solidFill>
                <a:latin typeface="Arial"/>
                <a:ea typeface="Arial"/>
                <a:cs typeface="Arial"/>
                <a:sym typeface="Arial"/>
              </a:rPr>
              <a:t>SSN</a:t>
            </a:r>
            <a:r>
              <a:rPr b="0" i="0" lang="en-US" sz="2400" u="none">
                <a:solidFill>
                  <a:schemeClr val="dk2"/>
                </a:solidFill>
                <a:latin typeface="Arial"/>
                <a:ea typeface="Arial"/>
                <a:cs typeface="Arial"/>
                <a:sym typeface="Arial"/>
              </a:rPr>
              <a:t>(DEP5_EMPS)</a:t>
            </a:r>
            <a:endParaRPr/>
          </a:p>
          <a:p>
            <a:pPr indent="-342900" lvl="0" marL="342900" rtl="0" algn="ctr">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RESULT2(SSN) ← </a:t>
            </a:r>
            <a:r>
              <a:rPr b="0" i="0" lang="en-US" sz="2400" u="none">
                <a:solidFill>
                  <a:schemeClr val="dk2"/>
                </a:solidFill>
                <a:latin typeface="Noto Sans Symbols"/>
                <a:ea typeface="Noto Sans Symbols"/>
                <a:cs typeface="Noto Sans Symbols"/>
                <a:sym typeface="Noto Sans Symbols"/>
              </a:rPr>
              <a:t>π</a:t>
            </a:r>
            <a:r>
              <a:rPr b="0" baseline="-25000" i="0" lang="en-US" sz="2400" u="none">
                <a:solidFill>
                  <a:schemeClr val="dk2"/>
                </a:solidFill>
                <a:latin typeface="Arial"/>
                <a:ea typeface="Arial"/>
                <a:cs typeface="Arial"/>
                <a:sym typeface="Arial"/>
              </a:rPr>
              <a:t>SUPERSSN</a:t>
            </a:r>
            <a:r>
              <a:rPr b="0" i="0" lang="en-US" sz="2400" u="none">
                <a:solidFill>
                  <a:schemeClr val="dk2"/>
                </a:solidFill>
                <a:latin typeface="Arial"/>
                <a:ea typeface="Arial"/>
                <a:cs typeface="Arial"/>
                <a:sym typeface="Arial"/>
              </a:rPr>
              <a:t>(DEP5_EMPS)</a:t>
            </a:r>
            <a:endParaRPr/>
          </a:p>
          <a:p>
            <a:pPr indent="-342900" lvl="0" marL="342900" rtl="0" algn="ctr">
              <a:lnSpc>
                <a:spcPct val="80000"/>
              </a:lnSpc>
              <a:spcBef>
                <a:spcPts val="480"/>
              </a:spcBef>
              <a:spcAft>
                <a:spcPts val="0"/>
              </a:spcAft>
              <a:buSzPts val="1440"/>
              <a:buNone/>
            </a:pPr>
            <a:r>
              <a:t/>
            </a:r>
            <a:endParaRPr b="0" i="0" sz="2400" u="none">
              <a:solidFill>
                <a:schemeClr val="dk2"/>
              </a:solidFill>
              <a:latin typeface="Arial"/>
              <a:ea typeface="Arial"/>
              <a:cs typeface="Arial"/>
              <a:sym typeface="Arial"/>
            </a:endParaRPr>
          </a:p>
          <a:p>
            <a:pPr indent="-342900" lvl="0" marL="342900" rtl="0" algn="ctr">
              <a:lnSpc>
                <a:spcPct val="80000"/>
              </a:lnSpc>
              <a:spcBef>
                <a:spcPts val="480"/>
              </a:spcBef>
              <a:spcAft>
                <a:spcPts val="0"/>
              </a:spcAft>
              <a:buSzPts val="1440"/>
              <a:buNone/>
            </a:pPr>
            <a:r>
              <a:rPr b="0" i="0" lang="en-US" sz="2400" u="none">
                <a:solidFill>
                  <a:srgbClr val="FF0000"/>
                </a:solidFill>
                <a:latin typeface="Arial"/>
                <a:ea typeface="Arial"/>
                <a:cs typeface="Arial"/>
                <a:sym typeface="Arial"/>
              </a:rPr>
              <a:t>RESULT ← RESULT1 </a:t>
            </a:r>
            <a:r>
              <a:rPr b="0" i="0" lang="en-US" sz="2400" u="none">
                <a:solidFill>
                  <a:srgbClr val="FF0000"/>
                </a:solidFill>
                <a:latin typeface="Noto Sans Symbols"/>
                <a:ea typeface="Noto Sans Symbols"/>
                <a:cs typeface="Noto Sans Symbols"/>
                <a:sym typeface="Noto Sans Symbols"/>
              </a:rPr>
              <a:t>∪</a:t>
            </a:r>
            <a:r>
              <a:rPr b="0" i="0" lang="en-US" sz="2400" u="none">
                <a:solidFill>
                  <a:srgbClr val="FF0000"/>
                </a:solidFill>
                <a:latin typeface="Arial"/>
                <a:ea typeface="Arial"/>
                <a:cs typeface="Arial"/>
                <a:sym typeface="Arial"/>
              </a:rPr>
              <a:t> RESULT2</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FF0000"/>
                </a:solidFill>
                <a:latin typeface="Arial"/>
                <a:ea typeface="Arial"/>
                <a:cs typeface="Arial"/>
                <a:sym typeface="Arial"/>
              </a:rPr>
              <a:t>The union operation produces the tuples that are in either RESULT1 or RESULT2 or both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anim calcmode="lin" valueType="num">
                                      <p:cBhvr additive="base">
                                        <p:cTn dur="500"/>
                                        <p:tgtEl>
                                          <p:spTgt spid="30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3">
                                            <p:txEl>
                                              <p:pRg end="1" st="1"/>
                                            </p:txEl>
                                          </p:spTgt>
                                        </p:tgtEl>
                                        <p:attrNameLst>
                                          <p:attrName>style.visibility</p:attrName>
                                        </p:attrNameLst>
                                      </p:cBhvr>
                                      <p:to>
                                        <p:strVal val="visible"/>
                                      </p:to>
                                    </p:set>
                                    <p:anim calcmode="lin" valueType="num">
                                      <p:cBhvr additive="base">
                                        <p:cTn dur="500"/>
                                        <p:tgtEl>
                                          <p:spTgt spid="30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3">
                                            <p:txEl>
                                              <p:pRg end="2" st="2"/>
                                            </p:txEl>
                                          </p:spTgt>
                                        </p:tgtEl>
                                        <p:attrNameLst>
                                          <p:attrName>style.visibility</p:attrName>
                                        </p:attrNameLst>
                                      </p:cBhvr>
                                      <p:to>
                                        <p:strVal val="visible"/>
                                      </p:to>
                                    </p:set>
                                    <p:anim calcmode="lin" valueType="num">
                                      <p:cBhvr additive="base">
                                        <p:cTn dur="500"/>
                                        <p:tgtEl>
                                          <p:spTgt spid="30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3">
                                            <p:txEl>
                                              <p:pRg end="3" st="3"/>
                                            </p:txEl>
                                          </p:spTgt>
                                        </p:tgtEl>
                                        <p:attrNameLst>
                                          <p:attrName>style.visibility</p:attrName>
                                        </p:attrNameLst>
                                      </p:cBhvr>
                                      <p:to>
                                        <p:strVal val="visible"/>
                                      </p:to>
                                    </p:set>
                                    <p:anim calcmode="lin" valueType="num">
                                      <p:cBhvr additive="base">
                                        <p:cTn dur="500"/>
                                        <p:tgtEl>
                                          <p:spTgt spid="30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3">
                                            <p:txEl>
                                              <p:pRg end="4" st="4"/>
                                            </p:txEl>
                                          </p:spTgt>
                                        </p:tgtEl>
                                        <p:attrNameLst>
                                          <p:attrName>style.visibility</p:attrName>
                                        </p:attrNameLst>
                                      </p:cBhvr>
                                      <p:to>
                                        <p:strVal val="visible"/>
                                      </p:to>
                                    </p:set>
                                    <p:anim calcmode="lin" valueType="num">
                                      <p:cBhvr additive="base">
                                        <p:cTn dur="500"/>
                                        <p:tgtEl>
                                          <p:spTgt spid="30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3">
                                            <p:txEl>
                                              <p:pRg end="5" st="5"/>
                                            </p:txEl>
                                          </p:spTgt>
                                        </p:tgtEl>
                                        <p:attrNameLst>
                                          <p:attrName>style.visibility</p:attrName>
                                        </p:attrNameLst>
                                      </p:cBhvr>
                                      <p:to>
                                        <p:strVal val="visible"/>
                                      </p:to>
                                    </p:set>
                                    <p:anim calcmode="lin" valueType="num">
                                      <p:cBhvr additive="base">
                                        <p:cTn dur="500"/>
                                        <p:tgtEl>
                                          <p:spTgt spid="30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3">
                                            <p:txEl>
                                              <p:pRg end="6" st="6"/>
                                            </p:txEl>
                                          </p:spTgt>
                                        </p:tgtEl>
                                        <p:attrNameLst>
                                          <p:attrName>style.visibility</p:attrName>
                                        </p:attrNameLst>
                                      </p:cBhvr>
                                      <p:to>
                                        <p:strVal val="visible"/>
                                      </p:to>
                                    </p:set>
                                    <p:anim calcmode="lin" valueType="num">
                                      <p:cBhvr additive="base">
                                        <p:cTn dur="500"/>
                                        <p:tgtEl>
                                          <p:spTgt spid="30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3">
                                            <p:txEl>
                                              <p:pRg end="7" st="7"/>
                                            </p:txEl>
                                          </p:spTgt>
                                        </p:tgtEl>
                                        <p:attrNameLst>
                                          <p:attrName>style.visibility</p:attrName>
                                        </p:attrNameLst>
                                      </p:cBhvr>
                                      <p:to>
                                        <p:strVal val="visible"/>
                                      </p:to>
                                    </p:set>
                                    <p:anim calcmode="lin" valueType="num">
                                      <p:cBhvr additive="base">
                                        <p:cTn dur="500"/>
                                        <p:tgtEl>
                                          <p:spTgt spid="303">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3">
                                            <p:txEl>
                                              <p:pRg end="8" st="8"/>
                                            </p:txEl>
                                          </p:spTgt>
                                        </p:tgtEl>
                                        <p:attrNameLst>
                                          <p:attrName>style.visibility</p:attrName>
                                        </p:attrNameLst>
                                      </p:cBhvr>
                                      <p:to>
                                        <p:strVal val="visible"/>
                                      </p:to>
                                    </p:set>
                                    <p:anim calcmode="lin" valueType="num">
                                      <p:cBhvr additive="base">
                                        <p:cTn dur="500"/>
                                        <p:tgtEl>
                                          <p:spTgt spid="303">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10" name="Google Shape;310;p2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Operations from Set Theory: INTERSECTION</a:t>
            </a:r>
            <a:endParaRPr/>
          </a:p>
        </p:txBody>
      </p:sp>
      <p:sp>
        <p:nvSpPr>
          <p:cNvPr id="311" name="Google Shape;311;p28"/>
          <p:cNvSpPr txBox="1"/>
          <p:nvPr>
            <p:ph idx="1" type="body"/>
          </p:nvPr>
        </p:nvSpPr>
        <p:spPr>
          <a:xfrm>
            <a:off x="239712" y="1600200"/>
            <a:ext cx="8294687" cy="46482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920"/>
              <a:buFont typeface="Noto Sans Symbols"/>
              <a:buChar char="■"/>
            </a:pPr>
            <a:r>
              <a:rPr b="0" i="0" lang="en-US" sz="3200" u="none">
                <a:solidFill>
                  <a:schemeClr val="dk2"/>
                </a:solidFill>
                <a:latin typeface="Arial"/>
                <a:ea typeface="Arial"/>
                <a:cs typeface="Arial"/>
                <a:sym typeface="Arial"/>
              </a:rPr>
              <a:t>INTERSECTION is denoted by </a:t>
            </a:r>
            <a:r>
              <a:rPr b="0" i="0" lang="en-US" sz="3200" u="none">
                <a:solidFill>
                  <a:schemeClr val="dk2"/>
                </a:solidFill>
                <a:latin typeface="Noto Sans Symbols"/>
                <a:ea typeface="Noto Sans Symbols"/>
                <a:cs typeface="Noto Sans Symbols"/>
                <a:sym typeface="Noto Sans Symbols"/>
              </a:rPr>
              <a:t>∩</a:t>
            </a:r>
            <a:endParaRPr/>
          </a:p>
          <a:p>
            <a:pPr indent="-342900" lvl="0" marL="342900" rtl="0" algn="l">
              <a:lnSpc>
                <a:spcPct val="100000"/>
              </a:lnSpc>
              <a:spcBef>
                <a:spcPts val="640"/>
              </a:spcBef>
              <a:spcAft>
                <a:spcPts val="0"/>
              </a:spcAft>
              <a:buClr>
                <a:srgbClr val="990033"/>
              </a:buClr>
              <a:buSzPts val="1920"/>
              <a:buFont typeface="Noto Sans Symbols"/>
              <a:buChar char="■"/>
            </a:pPr>
            <a:r>
              <a:rPr b="0" i="0" lang="en-US" sz="3200" u="none">
                <a:solidFill>
                  <a:schemeClr val="dk2"/>
                </a:solidFill>
                <a:latin typeface="Arial"/>
                <a:ea typeface="Arial"/>
                <a:cs typeface="Arial"/>
                <a:sym typeface="Arial"/>
              </a:rPr>
              <a:t>The result of the operation R </a:t>
            </a:r>
            <a:r>
              <a:rPr b="0" i="0" lang="en-US" sz="3200" u="none">
                <a:solidFill>
                  <a:schemeClr val="dk2"/>
                </a:solidFill>
                <a:latin typeface="Noto Sans Symbols"/>
                <a:ea typeface="Noto Sans Symbols"/>
                <a:cs typeface="Noto Sans Symbols"/>
                <a:sym typeface="Noto Sans Symbols"/>
              </a:rPr>
              <a:t>∩</a:t>
            </a:r>
            <a:r>
              <a:rPr b="0" i="0" lang="en-US" sz="3200" u="none">
                <a:solidFill>
                  <a:schemeClr val="dk2"/>
                </a:solidFill>
                <a:latin typeface="Arial"/>
                <a:ea typeface="Arial"/>
                <a:cs typeface="Arial"/>
                <a:sym typeface="Arial"/>
              </a:rPr>
              <a:t> S, is a relation that includes all tuples that are in both R and S</a:t>
            </a:r>
            <a:endParaRPr/>
          </a:p>
          <a:p>
            <a:pPr indent="-285750" lvl="1" marL="742950" rtl="0" algn="l">
              <a:lnSpc>
                <a:spcPct val="100000"/>
              </a:lnSpc>
              <a:spcBef>
                <a:spcPts val="600"/>
              </a:spcBef>
              <a:spcAft>
                <a:spcPts val="0"/>
              </a:spcAft>
              <a:buClr>
                <a:schemeClr val="dk2"/>
              </a:buClr>
              <a:buSzPts val="1650"/>
              <a:buFont typeface="Noto Sans Symbols"/>
              <a:buChar char="■"/>
            </a:pPr>
            <a:r>
              <a:rPr b="0" i="0" lang="en-US" sz="3000" u="none">
                <a:solidFill>
                  <a:srgbClr val="800000"/>
                </a:solidFill>
                <a:latin typeface="Arial"/>
                <a:ea typeface="Arial"/>
                <a:cs typeface="Arial"/>
                <a:sym typeface="Arial"/>
              </a:rPr>
              <a:t>The attribute names in the result will be the same as the attribute names in R</a:t>
            </a:r>
            <a:endParaRPr/>
          </a:p>
          <a:p>
            <a:pPr indent="-342900" lvl="0" marL="342900" rtl="0" algn="l">
              <a:lnSpc>
                <a:spcPct val="100000"/>
              </a:lnSpc>
              <a:spcBef>
                <a:spcPts val="640"/>
              </a:spcBef>
              <a:spcAft>
                <a:spcPts val="0"/>
              </a:spcAft>
              <a:buClr>
                <a:srgbClr val="990033"/>
              </a:buClr>
              <a:buSzPts val="1920"/>
              <a:buFont typeface="Noto Sans Symbols"/>
              <a:buChar char="■"/>
            </a:pPr>
            <a:r>
              <a:rPr b="0" i="0" lang="en-US" sz="3200" u="none">
                <a:solidFill>
                  <a:schemeClr val="dk2"/>
                </a:solidFill>
                <a:latin typeface="Arial"/>
                <a:ea typeface="Arial"/>
                <a:cs typeface="Arial"/>
                <a:sym typeface="Arial"/>
              </a:rPr>
              <a:t>The two operand relations R and S must be “type compatible”</a:t>
            </a:r>
            <a:endParaRPr/>
          </a:p>
          <a:p>
            <a:pPr indent="-220980" lvl="0" marL="342900" rtl="0" algn="l">
              <a:lnSpc>
                <a:spcPct val="100000"/>
              </a:lnSpc>
              <a:spcBef>
                <a:spcPts val="640"/>
              </a:spcBef>
              <a:spcAft>
                <a:spcPts val="0"/>
              </a:spcAft>
              <a:buSzPts val="1920"/>
              <a:buNone/>
            </a:pPr>
            <a:r>
              <a:t/>
            </a:r>
            <a:endParaRPr b="0" i="0" sz="3200" u="none">
              <a:solidFill>
                <a:schemeClr val="dk2"/>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18" name="Google Shape;318;p2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Operations from Set Theory: SET DIFFERENCE (cont.) </a:t>
            </a:r>
            <a:endParaRPr/>
          </a:p>
        </p:txBody>
      </p:sp>
      <p:sp>
        <p:nvSpPr>
          <p:cNvPr id="319" name="Google Shape;319;p29"/>
          <p:cNvSpPr txBox="1"/>
          <p:nvPr>
            <p:ph idx="1" type="body"/>
          </p:nvPr>
        </p:nvSpPr>
        <p:spPr>
          <a:xfrm>
            <a:off x="239712" y="1600200"/>
            <a:ext cx="8294687" cy="44958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SET DIFFERENCE (also called MINUS or EXCEPT) is denoted by – </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result of R – S, is a relation that includes all tuples that are in R but not in S</a:t>
            </a:r>
            <a:endParaRPr/>
          </a:p>
          <a:p>
            <a:pPr indent="-285750" lvl="1" marL="742950" rtl="0" algn="l">
              <a:lnSpc>
                <a:spcPct val="100000"/>
              </a:lnSpc>
              <a:spcBef>
                <a:spcPts val="600"/>
              </a:spcBef>
              <a:spcAft>
                <a:spcPts val="0"/>
              </a:spcAft>
              <a:buClr>
                <a:schemeClr val="dk2"/>
              </a:buClr>
              <a:buSzPts val="1650"/>
              <a:buFont typeface="Noto Sans Symbols"/>
              <a:buChar char="■"/>
            </a:pPr>
            <a:r>
              <a:rPr b="0" i="0" lang="en-US" sz="3000" u="none">
                <a:solidFill>
                  <a:srgbClr val="800000"/>
                </a:solidFill>
                <a:latin typeface="Arial"/>
                <a:ea typeface="Arial"/>
                <a:cs typeface="Arial"/>
                <a:sym typeface="Arial"/>
              </a:rPr>
              <a:t>The attribute names in the result will be the same as the attribute names in R</a:t>
            </a:r>
            <a:endParaRPr/>
          </a:p>
          <a:p>
            <a:pPr indent="-342900" lvl="0" marL="342900" rtl="0" algn="l">
              <a:lnSpc>
                <a:spcPct val="100000"/>
              </a:lnSpc>
              <a:spcBef>
                <a:spcPts val="640"/>
              </a:spcBef>
              <a:spcAft>
                <a:spcPts val="0"/>
              </a:spcAft>
              <a:buClr>
                <a:srgbClr val="990033"/>
              </a:buClr>
              <a:buSzPts val="1920"/>
              <a:buFont typeface="Noto Sans Symbols"/>
              <a:buChar char="■"/>
            </a:pPr>
            <a:r>
              <a:rPr b="0" i="0" lang="en-US" sz="3200" u="none">
                <a:solidFill>
                  <a:schemeClr val="dk2"/>
                </a:solidFill>
                <a:latin typeface="Arial"/>
                <a:ea typeface="Arial"/>
                <a:cs typeface="Arial"/>
                <a:sym typeface="Arial"/>
              </a:rPr>
              <a:t>The two operand relations R and S must be “type compatible”</a:t>
            </a:r>
            <a:endParaRPr b="0" i="0" sz="2800" u="none">
              <a:solidFill>
                <a:schemeClr val="dk2"/>
              </a:solidFill>
              <a:latin typeface="Arial"/>
              <a:ea typeface="Arial"/>
              <a:cs typeface="Arial"/>
              <a:sym typeface="Arial"/>
            </a:endParaRPr>
          </a:p>
          <a:p>
            <a:pPr indent="-236220" lvl="0" marL="342900" rtl="0" algn="l">
              <a:lnSpc>
                <a:spcPct val="100000"/>
              </a:lnSpc>
              <a:spcBef>
                <a:spcPts val="560"/>
              </a:spcBef>
              <a:spcAft>
                <a:spcPts val="0"/>
              </a:spcAft>
              <a:buSzPts val="1680"/>
              <a:buNone/>
            </a:pPr>
            <a:r>
              <a:t/>
            </a:r>
            <a:endParaRPr b="0" i="0" sz="2800" u="none">
              <a:solidFill>
                <a:schemeClr val="dk2"/>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26" name="Google Shape;326;p3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Some properties of UNION, INTERSECT, and DIFFERENCE</a:t>
            </a:r>
            <a:endParaRPr/>
          </a:p>
        </p:txBody>
      </p:sp>
      <p:sp>
        <p:nvSpPr>
          <p:cNvPr id="327" name="Google Shape;327;p3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Notice that both union and intersection are </a:t>
            </a:r>
            <a:r>
              <a:rPr b="0" i="1" lang="en-US" sz="2400" u="none">
                <a:solidFill>
                  <a:schemeClr val="dk2"/>
                </a:solidFill>
                <a:latin typeface="Arial"/>
                <a:ea typeface="Arial"/>
                <a:cs typeface="Arial"/>
                <a:sym typeface="Arial"/>
              </a:rPr>
              <a:t>commutative</a:t>
            </a:r>
            <a:r>
              <a:rPr b="0" i="0" lang="en-US" sz="2400" u="none">
                <a:solidFill>
                  <a:schemeClr val="dk2"/>
                </a:solidFill>
                <a:latin typeface="Arial"/>
                <a:ea typeface="Arial"/>
                <a:cs typeface="Arial"/>
                <a:sym typeface="Arial"/>
              </a:rPr>
              <a:t> operations; that is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S = S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R, and R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S = S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R</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Both union and intersection can be treated as n-ary operations applicable to any number of relations as both are </a:t>
            </a:r>
            <a:r>
              <a:rPr b="0" i="1" lang="en-US" sz="2400" u="none">
                <a:solidFill>
                  <a:schemeClr val="dk2"/>
                </a:solidFill>
                <a:latin typeface="Arial"/>
                <a:ea typeface="Arial"/>
                <a:cs typeface="Arial"/>
                <a:sym typeface="Arial"/>
              </a:rPr>
              <a:t>associative</a:t>
            </a:r>
            <a:r>
              <a:rPr b="0" i="0" lang="en-US" sz="2400" u="none">
                <a:solidFill>
                  <a:schemeClr val="dk2"/>
                </a:solidFill>
                <a:latin typeface="Arial"/>
                <a:ea typeface="Arial"/>
                <a:cs typeface="Arial"/>
                <a:sym typeface="Arial"/>
              </a:rPr>
              <a:t> operations; that is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(S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T) = (R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S)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T</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S)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T = R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(S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T)</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The minus operation is not commutative; that is, in general</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 – S ≠ S – 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
                                            <p:txEl>
                                              <p:pRg end="0" st="0"/>
                                            </p:txEl>
                                          </p:spTgt>
                                        </p:tgtEl>
                                        <p:attrNameLst>
                                          <p:attrName>style.visibility</p:attrName>
                                        </p:attrNameLst>
                                      </p:cBhvr>
                                      <p:to>
                                        <p:strVal val="visible"/>
                                      </p:to>
                                    </p:set>
                                    <p:anim calcmode="lin" valueType="num">
                                      <p:cBhvr additive="base">
                                        <p:cTn dur="500"/>
                                        <p:tgtEl>
                                          <p:spTgt spid="32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
                                            <p:txEl>
                                              <p:pRg end="1" st="1"/>
                                            </p:txEl>
                                          </p:spTgt>
                                        </p:tgtEl>
                                        <p:attrNameLst>
                                          <p:attrName>style.visibility</p:attrName>
                                        </p:attrNameLst>
                                      </p:cBhvr>
                                      <p:to>
                                        <p:strVal val="visible"/>
                                      </p:to>
                                    </p:set>
                                    <p:anim calcmode="lin" valueType="num">
                                      <p:cBhvr additive="base">
                                        <p:cTn dur="500"/>
                                        <p:tgtEl>
                                          <p:spTgt spid="32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
                                            <p:txEl>
                                              <p:pRg end="2" st="2"/>
                                            </p:txEl>
                                          </p:spTgt>
                                        </p:tgtEl>
                                        <p:attrNameLst>
                                          <p:attrName>style.visibility</p:attrName>
                                        </p:attrNameLst>
                                      </p:cBhvr>
                                      <p:to>
                                        <p:strVal val="visible"/>
                                      </p:to>
                                    </p:set>
                                    <p:anim calcmode="lin" valueType="num">
                                      <p:cBhvr additive="base">
                                        <p:cTn dur="500"/>
                                        <p:tgtEl>
                                          <p:spTgt spid="32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
                                            <p:txEl>
                                              <p:pRg end="3" st="3"/>
                                            </p:txEl>
                                          </p:spTgt>
                                        </p:tgtEl>
                                        <p:attrNameLst>
                                          <p:attrName>style.visibility</p:attrName>
                                        </p:attrNameLst>
                                      </p:cBhvr>
                                      <p:to>
                                        <p:strVal val="visible"/>
                                      </p:to>
                                    </p:set>
                                    <p:anim calcmode="lin" valueType="num">
                                      <p:cBhvr additive="base">
                                        <p:cTn dur="500"/>
                                        <p:tgtEl>
                                          <p:spTgt spid="32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
                                            <p:txEl>
                                              <p:pRg end="4" st="4"/>
                                            </p:txEl>
                                          </p:spTgt>
                                        </p:tgtEl>
                                        <p:attrNameLst>
                                          <p:attrName>style.visibility</p:attrName>
                                        </p:attrNameLst>
                                      </p:cBhvr>
                                      <p:to>
                                        <p:strVal val="visible"/>
                                      </p:to>
                                    </p:set>
                                    <p:anim calcmode="lin" valueType="num">
                                      <p:cBhvr additive="base">
                                        <p:cTn dur="500"/>
                                        <p:tgtEl>
                                          <p:spTgt spid="32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
                                            <p:txEl>
                                              <p:pRg end="5" st="5"/>
                                            </p:txEl>
                                          </p:spTgt>
                                        </p:tgtEl>
                                        <p:attrNameLst>
                                          <p:attrName>style.visibility</p:attrName>
                                        </p:attrNameLst>
                                      </p:cBhvr>
                                      <p:to>
                                        <p:strVal val="visible"/>
                                      </p:to>
                                    </p:set>
                                    <p:anim calcmode="lin" valueType="num">
                                      <p:cBhvr additive="base">
                                        <p:cTn dur="500"/>
                                        <p:tgtEl>
                                          <p:spTgt spid="32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
                                            <p:txEl>
                                              <p:pRg end="6" st="6"/>
                                            </p:txEl>
                                          </p:spTgt>
                                        </p:tgtEl>
                                        <p:attrNameLst>
                                          <p:attrName>style.visibility</p:attrName>
                                        </p:attrNameLst>
                                      </p:cBhvr>
                                      <p:to>
                                        <p:strVal val="visible"/>
                                      </p:to>
                                    </p:set>
                                    <p:anim calcmode="lin" valueType="num">
                                      <p:cBhvr additive="base">
                                        <p:cTn dur="500"/>
                                        <p:tgtEl>
                                          <p:spTgt spid="32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p:txBody>
      </p:sp>
      <p:sp>
        <p:nvSpPr>
          <p:cNvPr id="333" name="Google Shape;333;p31"/>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6- </a:t>
            </a:r>
            <a:fld id="{00000000-1234-1234-1234-123412341234}" type="slidenum">
              <a:rPr lang="en-US"/>
              <a:t>‹#›</a:t>
            </a:fld>
            <a:endParaRPr/>
          </a:p>
        </p:txBody>
      </p:sp>
      <p:sp>
        <p:nvSpPr>
          <p:cNvPr id="334" name="Google Shape;334;p31"/>
          <p:cNvSpPr txBox="1"/>
          <p:nvPr/>
        </p:nvSpPr>
        <p:spPr>
          <a:xfrm>
            <a:off x="363511" y="317500"/>
            <a:ext cx="7796212" cy="992187"/>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800000"/>
              </a:buClr>
              <a:buSzPts val="3200"/>
              <a:buFont typeface="Arial"/>
              <a:buNone/>
            </a:pPr>
            <a:r>
              <a:rPr b="0" i="0" lang="en-US" sz="3200" u="none" cap="none" strike="noStrike">
                <a:solidFill>
                  <a:srgbClr val="800000"/>
                </a:solidFill>
                <a:latin typeface="Arial"/>
                <a:ea typeface="Arial"/>
                <a:cs typeface="Arial"/>
                <a:sym typeface="Arial"/>
              </a:rPr>
              <a:t>Example to illustrate the result of UNION, INTERSECT, and DIFFERENCE</a:t>
            </a:r>
            <a:endParaRPr b="0" i="0" sz="3600" u="none" cap="none" strike="noStrike">
              <a:solidFill>
                <a:srgbClr val="800000"/>
              </a:solidFill>
              <a:latin typeface="Arial"/>
              <a:ea typeface="Arial"/>
              <a:cs typeface="Arial"/>
              <a:sym typeface="Arial"/>
            </a:endParaRPr>
          </a:p>
        </p:txBody>
      </p:sp>
      <p:pic>
        <p:nvPicPr>
          <p:cNvPr id="335" name="Google Shape;335;p31"/>
          <p:cNvPicPr preferRelativeResize="0"/>
          <p:nvPr/>
        </p:nvPicPr>
        <p:blipFill rotWithShape="1">
          <a:blip r:embed="rId3">
            <a:alphaModFix/>
          </a:blip>
          <a:srcRect b="0" l="0" r="0" t="0"/>
          <a:stretch/>
        </p:blipFill>
        <p:spPr>
          <a:xfrm>
            <a:off x="482656" y="1600200"/>
            <a:ext cx="6679277" cy="1373444"/>
          </a:xfrm>
          <a:prstGeom prst="rect">
            <a:avLst/>
          </a:prstGeom>
          <a:noFill/>
          <a:ln>
            <a:noFill/>
          </a:ln>
        </p:spPr>
      </p:pic>
      <p:pic>
        <p:nvPicPr>
          <p:cNvPr id="336" name="Google Shape;336;p31"/>
          <p:cNvPicPr preferRelativeResize="0"/>
          <p:nvPr/>
        </p:nvPicPr>
        <p:blipFill rotWithShape="1">
          <a:blip r:embed="rId4">
            <a:alphaModFix/>
          </a:blip>
          <a:srcRect b="0" l="0" r="0" t="0"/>
          <a:stretch/>
        </p:blipFill>
        <p:spPr>
          <a:xfrm>
            <a:off x="1231827" y="3264157"/>
            <a:ext cx="3340173" cy="22470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500"/>
                                        <p:tgtEl>
                                          <p:spTgt spid="3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43" name="Google Shape;343;p32"/>
          <p:cNvSpPr txBox="1"/>
          <p:nvPr>
            <p:ph type="title"/>
          </p:nvPr>
        </p:nvSpPr>
        <p:spPr>
          <a:xfrm>
            <a:off x="363511" y="317500"/>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to illustrate the result of UNION, INTERSECT, and DIFFERENCE</a:t>
            </a:r>
            <a:endParaRPr/>
          </a:p>
        </p:txBody>
      </p:sp>
      <p:sp>
        <p:nvSpPr>
          <p:cNvPr id="344" name="Google Shape;344;p32"/>
          <p:cNvSpPr txBox="1"/>
          <p:nvPr/>
        </p:nvSpPr>
        <p:spPr>
          <a:xfrm>
            <a:off x="1833562" y="13096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descr="fig06_04" id="345" name="Google Shape;345;p32"/>
          <p:cNvPicPr preferRelativeResize="0"/>
          <p:nvPr/>
        </p:nvPicPr>
        <p:blipFill rotWithShape="1">
          <a:blip r:embed="rId3">
            <a:alphaModFix/>
          </a:blip>
          <a:srcRect b="0" l="0" r="0" t="0"/>
          <a:stretch/>
        </p:blipFill>
        <p:spPr>
          <a:xfrm>
            <a:off x="1833562" y="1576387"/>
            <a:ext cx="5486400" cy="47498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52" name="Google Shape;352;p3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Operations from Set Theory: CARTESIAN PRODUCT</a:t>
            </a:r>
            <a:endParaRPr/>
          </a:p>
        </p:txBody>
      </p:sp>
      <p:sp>
        <p:nvSpPr>
          <p:cNvPr id="353" name="Google Shape;353;p3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CARTESIAN (or CROSS) PRODUCT Operation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This operation is used to combine tuples from two relations in a combinatorial fashion.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Denoted by R(A1, A2, . . ., An) x S(B1, B2, . . ., Bm)</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Result is a relation Q with degree n + m attributes:</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Q(A1, A2, . . ., An, B1, B2, . . ., Bm), in that order.</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resulting relation state has one tuple for each combination of tuples—one from R and one from S.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Hence, if R has n</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tuples (denoted as |R| = n</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 and S has n</a:t>
            </a:r>
            <a:r>
              <a:rPr b="0" baseline="-25000" i="0" lang="en-US" sz="2200" u="none">
                <a:solidFill>
                  <a:srgbClr val="800000"/>
                </a:solidFill>
                <a:latin typeface="Arial"/>
                <a:ea typeface="Arial"/>
                <a:cs typeface="Arial"/>
                <a:sym typeface="Arial"/>
              </a:rPr>
              <a:t>S</a:t>
            </a:r>
            <a:r>
              <a:rPr b="0" i="0" lang="en-US" sz="2200" u="none">
                <a:solidFill>
                  <a:srgbClr val="800000"/>
                </a:solidFill>
                <a:latin typeface="Arial"/>
                <a:ea typeface="Arial"/>
                <a:cs typeface="Arial"/>
                <a:sym typeface="Arial"/>
              </a:rPr>
              <a:t> tuples, then R x S will have n</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 n</a:t>
            </a:r>
            <a:r>
              <a:rPr b="0" baseline="-25000" i="0" lang="en-US" sz="2200" u="none">
                <a:solidFill>
                  <a:srgbClr val="800000"/>
                </a:solidFill>
                <a:latin typeface="Arial"/>
                <a:ea typeface="Arial"/>
                <a:cs typeface="Arial"/>
                <a:sym typeface="Arial"/>
              </a:rPr>
              <a:t>S</a:t>
            </a:r>
            <a:r>
              <a:rPr b="0" i="0" lang="en-US" sz="2200" u="none">
                <a:solidFill>
                  <a:srgbClr val="800000"/>
                </a:solidFill>
                <a:latin typeface="Arial"/>
                <a:ea typeface="Arial"/>
                <a:cs typeface="Arial"/>
                <a:sym typeface="Arial"/>
              </a:rPr>
              <a:t> tuples.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00B050"/>
                </a:solidFill>
                <a:latin typeface="Arial"/>
                <a:ea typeface="Arial"/>
                <a:cs typeface="Arial"/>
                <a:sym typeface="Arial"/>
              </a:rPr>
              <a:t>The two operands do NOT have to be "type compatible</a:t>
            </a:r>
            <a:r>
              <a:rPr b="0" i="0" lang="en-US" sz="2200" u="none">
                <a:solidFill>
                  <a:srgbClr val="800000"/>
                </a:solidFill>
                <a:latin typeface="Arial"/>
                <a:ea typeface="Arial"/>
                <a:cs typeface="Arial"/>
                <a:sym typeface="Arial"/>
              </a:rPr>
              <a: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60" name="Google Shape;360;p3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The following query results refer to this database state</a:t>
            </a:r>
            <a:endParaRPr/>
          </a:p>
        </p:txBody>
      </p:sp>
      <p:sp>
        <p:nvSpPr>
          <p:cNvPr id="361" name="Google Shape;361;p34"/>
          <p:cNvSpPr txBox="1"/>
          <p:nvPr/>
        </p:nvSpPr>
        <p:spPr>
          <a:xfrm>
            <a:off x="1833562" y="13096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62" name="Google Shape;362;p34"/>
          <p:cNvSpPr txBox="1"/>
          <p:nvPr/>
        </p:nvSpPr>
        <p:spPr>
          <a:xfrm>
            <a:off x="1066800" y="2286000"/>
            <a:ext cx="7239000" cy="53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descr="fig05_06" id="363" name="Google Shape;363;p34"/>
          <p:cNvPicPr preferRelativeResize="0"/>
          <p:nvPr/>
        </p:nvPicPr>
        <p:blipFill rotWithShape="1">
          <a:blip r:embed="rId3">
            <a:alphaModFix/>
          </a:blip>
          <a:srcRect b="0" l="0" r="0" t="0"/>
          <a:stretch/>
        </p:blipFill>
        <p:spPr>
          <a:xfrm>
            <a:off x="0" y="-76200"/>
            <a:ext cx="9144000" cy="6934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70" name="Google Shape;370;p3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of applying CARTESIAN PRODUCT</a:t>
            </a:r>
            <a:endParaRPr/>
          </a:p>
        </p:txBody>
      </p:sp>
      <p:sp>
        <p:nvSpPr>
          <p:cNvPr id="371" name="Google Shape;371;p35"/>
          <p:cNvSpPr txBox="1"/>
          <p:nvPr/>
        </p:nvSpPr>
        <p:spPr>
          <a:xfrm>
            <a:off x="1833562" y="13096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descr="fig06_05" id="372" name="Google Shape;372;p35"/>
          <p:cNvPicPr preferRelativeResize="0"/>
          <p:nvPr/>
        </p:nvPicPr>
        <p:blipFill rotWithShape="1">
          <a:blip r:embed="rId3">
            <a:alphaModFix/>
          </a:blip>
          <a:srcRect b="0" l="0" r="0" t="0"/>
          <a:stretch/>
        </p:blipFill>
        <p:spPr>
          <a:xfrm>
            <a:off x="403225" y="1652588"/>
            <a:ext cx="7621587" cy="49022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sz="3200"/>
              <a:t>Example: Department X Employee</a:t>
            </a:r>
            <a:endParaRPr sz="3200"/>
          </a:p>
        </p:txBody>
      </p:sp>
      <p:sp>
        <p:nvSpPr>
          <p:cNvPr id="378" name="Google Shape;378;p3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p:txBody>
      </p:sp>
      <p:sp>
        <p:nvSpPr>
          <p:cNvPr id="379" name="Google Shape;379;p36"/>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6- </a:t>
            </a:r>
            <a:fld id="{00000000-1234-1234-1234-123412341234}" type="slidenum">
              <a:rPr lang="en-US"/>
              <a:t>‹#›</a:t>
            </a:fld>
            <a:endParaRPr/>
          </a:p>
        </p:txBody>
      </p:sp>
      <p:pic>
        <p:nvPicPr>
          <p:cNvPr id="380" name="Google Shape;380;p36"/>
          <p:cNvPicPr preferRelativeResize="0"/>
          <p:nvPr/>
        </p:nvPicPr>
        <p:blipFill rotWithShape="1">
          <a:blip r:embed="rId3">
            <a:alphaModFix/>
          </a:blip>
          <a:srcRect b="0" l="0" r="0" t="0"/>
          <a:stretch/>
        </p:blipFill>
        <p:spPr>
          <a:xfrm>
            <a:off x="185274" y="1590805"/>
            <a:ext cx="5371454" cy="1258214"/>
          </a:xfrm>
          <a:prstGeom prst="rect">
            <a:avLst/>
          </a:prstGeom>
          <a:noFill/>
          <a:ln>
            <a:noFill/>
          </a:ln>
        </p:spPr>
      </p:pic>
      <p:graphicFrame>
        <p:nvGraphicFramePr>
          <p:cNvPr id="381" name="Google Shape;381;p36"/>
          <p:cNvGraphicFramePr/>
          <p:nvPr/>
        </p:nvGraphicFramePr>
        <p:xfrm>
          <a:off x="306889" y="2997827"/>
          <a:ext cx="3000000" cy="3000000"/>
        </p:xfrm>
        <a:graphic>
          <a:graphicData uri="http://schemas.openxmlformats.org/drawingml/2006/table">
            <a:tbl>
              <a:tblPr bandRow="1" firstRow="1">
                <a:noFill/>
                <a:tableStyleId>{E397CF18-6104-4703-8A57-D6D186A770D4}</a:tableStyleId>
              </a:tblPr>
              <a:tblGrid>
                <a:gridCol w="1421700"/>
                <a:gridCol w="1390400"/>
                <a:gridCol w="1465550"/>
                <a:gridCol w="1240075"/>
                <a:gridCol w="1168050"/>
                <a:gridCol w="1337150"/>
              </a:tblGrid>
              <a:tr h="619925">
                <a:tc>
                  <a:txBody>
                    <a:bodyPr/>
                    <a:lstStyle/>
                    <a:p>
                      <a:pPr indent="0" lvl="0" marL="0" marR="0" rtl="0" algn="l">
                        <a:lnSpc>
                          <a:spcPct val="100000"/>
                        </a:lnSpc>
                        <a:spcBef>
                          <a:spcPts val="0"/>
                        </a:spcBef>
                        <a:spcAft>
                          <a:spcPts val="0"/>
                        </a:spcAft>
                        <a:buNone/>
                      </a:pPr>
                      <a:r>
                        <a:rPr lang="en-US" sz="1800" u="none" cap="none" strike="noStrike"/>
                        <a:t>Dname</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Dnumber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Mgr_ssn</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Fname</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Lname</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Ssn</a:t>
                      </a:r>
                      <a:endParaRPr sz="1800" u="none" cap="none" strike="noStrike"/>
                    </a:p>
                  </a:txBody>
                  <a:tcPr marT="45725" marB="45725" marR="91450" marL="91450"/>
                </a:tc>
              </a:tr>
              <a:tr h="388075">
                <a:tc>
                  <a:txBody>
                    <a:bodyPr/>
                    <a:lstStyle/>
                    <a:p>
                      <a:pPr indent="0" lvl="0" marL="0" marR="0" rtl="0" algn="l">
                        <a:lnSpc>
                          <a:spcPct val="100000"/>
                        </a:lnSpc>
                        <a:spcBef>
                          <a:spcPts val="0"/>
                        </a:spcBef>
                        <a:spcAft>
                          <a:spcPts val="0"/>
                        </a:spcAft>
                        <a:buNone/>
                      </a:pPr>
                      <a:r>
                        <a:rPr lang="en-US" sz="1800" u="none" cap="none" strike="noStrike"/>
                        <a:t>Research</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5</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333445555</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John</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Smith</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123456789</a:t>
                      </a:r>
                      <a:endParaRPr sz="1800" u="none" cap="none" strike="noStrike"/>
                    </a:p>
                  </a:txBody>
                  <a:tcPr marT="45725" marB="45725" marR="91450" marL="91450"/>
                </a:tc>
              </a:tr>
              <a:tr h="338200">
                <a:tc>
                  <a:txBody>
                    <a:bodyPr/>
                    <a:lstStyle/>
                    <a:p>
                      <a:pPr indent="0" lvl="0" marL="0" marR="0" rtl="0" algn="l">
                        <a:lnSpc>
                          <a:spcPct val="100000"/>
                        </a:lnSpc>
                        <a:spcBef>
                          <a:spcPts val="0"/>
                        </a:spcBef>
                        <a:spcAft>
                          <a:spcPts val="0"/>
                        </a:spcAft>
                        <a:buNone/>
                      </a:pPr>
                      <a:r>
                        <a:rPr lang="en-US" sz="1800" u="none" cap="none" strike="noStrike"/>
                        <a:t>Research</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5</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333445555</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Franklin</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Wong</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333344555</a:t>
                      </a:r>
                      <a:endParaRPr sz="1800" u="none" cap="none" strike="noStrike"/>
                    </a:p>
                  </a:txBody>
                  <a:tcPr marT="45725" marB="45725" marR="91450" marL="91450"/>
                </a:tc>
              </a:tr>
              <a:tr h="338200">
                <a:tc>
                  <a:txBody>
                    <a:bodyPr/>
                    <a:lstStyle/>
                    <a:p>
                      <a:pPr indent="0" lvl="0" marL="0" marR="0" rtl="0" algn="l">
                        <a:lnSpc>
                          <a:spcPct val="100000"/>
                        </a:lnSpc>
                        <a:spcBef>
                          <a:spcPts val="0"/>
                        </a:spcBef>
                        <a:spcAft>
                          <a:spcPts val="0"/>
                        </a:spcAft>
                        <a:buNone/>
                      </a:pPr>
                      <a:r>
                        <a:rPr lang="en-US" sz="1800" u="none" cap="none" strike="noStrike"/>
                        <a:t>Administration</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4</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987565757</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John</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Smith</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123456789</a:t>
                      </a:r>
                      <a:endParaRPr sz="1800" u="none" cap="none" strike="noStrike"/>
                    </a:p>
                  </a:txBody>
                  <a:tcPr marT="45725" marB="45725" marR="91450" marL="91450"/>
                </a:tc>
              </a:tr>
              <a:tr h="338200">
                <a:tc>
                  <a:txBody>
                    <a:bodyPr/>
                    <a:lstStyle/>
                    <a:p>
                      <a:pPr indent="0" lvl="0" marL="0" marR="0" rtl="0" algn="l">
                        <a:lnSpc>
                          <a:spcPct val="100000"/>
                        </a:lnSpc>
                        <a:spcBef>
                          <a:spcPts val="0"/>
                        </a:spcBef>
                        <a:spcAft>
                          <a:spcPts val="0"/>
                        </a:spcAft>
                        <a:buNone/>
                      </a:pPr>
                      <a:r>
                        <a:rPr lang="en-US" sz="1800" u="none" cap="none" strike="noStrike"/>
                        <a:t>Administration</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4</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987565757</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Franklin</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Wong</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333344555</a:t>
                      </a:r>
                      <a:endParaRPr sz="1800" u="none" cap="none" strike="noStrike"/>
                    </a:p>
                  </a:txBody>
                  <a:tcPr marT="45725" marB="45725" marR="91450" marL="91450"/>
                </a:tc>
              </a:tr>
              <a:tr h="338200">
                <a:tc>
                  <a:txBody>
                    <a:bodyPr/>
                    <a:lstStyle/>
                    <a:p>
                      <a:pPr indent="0" lvl="0" marL="0" marR="0" rtl="0" algn="l">
                        <a:lnSpc>
                          <a:spcPct val="100000"/>
                        </a:lnSpc>
                        <a:spcBef>
                          <a:spcPts val="0"/>
                        </a:spcBef>
                        <a:spcAft>
                          <a:spcPts val="0"/>
                        </a:spcAft>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t/>
                      </a:r>
                      <a:endParaRPr sz="1800" u="none" cap="none" strike="noStrike"/>
                    </a:p>
                  </a:txBody>
                  <a:tcPr marT="45725" marB="45725" marR="91450" marL="91450"/>
                </a:tc>
              </a:tr>
              <a:tr h="338200">
                <a:tc>
                  <a:txBody>
                    <a:bodyPr/>
                    <a:lstStyle/>
                    <a:p>
                      <a:pPr indent="0" lvl="0" marL="0" marR="0" rtl="0" algn="l">
                        <a:lnSpc>
                          <a:spcPct val="100000"/>
                        </a:lnSpc>
                        <a:spcBef>
                          <a:spcPts val="0"/>
                        </a:spcBef>
                        <a:spcAft>
                          <a:spcPts val="0"/>
                        </a:spcAft>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None/>
                      </a:pPr>
                      <a:r>
                        <a:t/>
                      </a:r>
                      <a:endParaRPr sz="1800" u="none" cap="none" strike="noStrike"/>
                    </a:p>
                  </a:txBody>
                  <a:tcPr marT="45725" marB="45725" marR="91450" marL="91450"/>
                </a:tc>
              </a:tr>
            </a:tbl>
          </a:graphicData>
        </a:graphic>
      </p:graphicFrame>
      <p:pic>
        <p:nvPicPr>
          <p:cNvPr id="382" name="Google Shape;382;p36"/>
          <p:cNvPicPr preferRelativeResize="0"/>
          <p:nvPr/>
        </p:nvPicPr>
        <p:blipFill rotWithShape="1">
          <a:blip r:embed="rId4">
            <a:alphaModFix/>
          </a:blip>
          <a:srcRect b="0" l="0" r="0" t="0"/>
          <a:stretch/>
        </p:blipFill>
        <p:spPr>
          <a:xfrm>
            <a:off x="5556728" y="1886507"/>
            <a:ext cx="3236543" cy="5435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500"/>
                                        <p:tgtEl>
                                          <p:spTgt spid="3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89" name="Google Shape;389;p3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Binary Relational Operations: JOIN</a:t>
            </a:r>
            <a:endParaRPr/>
          </a:p>
        </p:txBody>
      </p:sp>
      <p:sp>
        <p:nvSpPr>
          <p:cNvPr id="390" name="Google Shape;390;p3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JOIN Operation (denoted by     )</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sequence of CARTESIAN PRODECT followed by SELECT is used quite commonly to identify and select related tuples from two relations</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special operation, called JOIN combines this sequence into a single operation</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This operation is very important for any relational database with more than a single relation, because it allows us </a:t>
            </a:r>
            <a:r>
              <a:rPr b="0" i="1" lang="en-US" sz="2200" u="none">
                <a:solidFill>
                  <a:srgbClr val="800000"/>
                </a:solidFill>
                <a:latin typeface="Arial"/>
                <a:ea typeface="Arial"/>
                <a:cs typeface="Arial"/>
                <a:sym typeface="Arial"/>
              </a:rPr>
              <a:t>combine related tuples</a:t>
            </a:r>
            <a:r>
              <a:rPr b="0" i="0" lang="en-US" sz="2200" u="none">
                <a:solidFill>
                  <a:srgbClr val="800000"/>
                </a:solidFill>
                <a:latin typeface="Arial"/>
                <a:ea typeface="Arial"/>
                <a:cs typeface="Arial"/>
                <a:sym typeface="Arial"/>
              </a:rPr>
              <a:t> from various relations </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general form of a join operation on two relations R(A1, A2, . . ., An) and S(B1, B2, . . ., Bm) is:</a:t>
            </a:r>
            <a:endParaRPr/>
          </a:p>
          <a:p>
            <a:pPr indent="-208915" lvl="1" marL="742950" rtl="0" algn="l">
              <a:lnSpc>
                <a:spcPct val="80000"/>
              </a:lnSpc>
              <a:spcBef>
                <a:spcPts val="440"/>
              </a:spcBef>
              <a:spcAft>
                <a:spcPts val="0"/>
              </a:spcAft>
              <a:buClr>
                <a:schemeClr val="dk2"/>
              </a:buClr>
              <a:buSzPts val="1210"/>
              <a:buFont typeface="Noto Sans Symbols"/>
              <a:buNone/>
            </a:pPr>
            <a:r>
              <a:t/>
            </a:r>
            <a:endParaRPr b="0" i="0" sz="2200" u="none">
              <a:solidFill>
                <a:srgbClr val="800000"/>
              </a:solidFill>
              <a:latin typeface="Arial"/>
              <a:ea typeface="Arial"/>
              <a:cs typeface="Arial"/>
              <a:sym typeface="Arial"/>
            </a:endParaRPr>
          </a:p>
          <a:p>
            <a:pPr indent="-208915" lvl="1" marL="742950" rtl="0" algn="l">
              <a:lnSpc>
                <a:spcPct val="80000"/>
              </a:lnSpc>
              <a:spcBef>
                <a:spcPts val="440"/>
              </a:spcBef>
              <a:spcAft>
                <a:spcPts val="0"/>
              </a:spcAft>
              <a:buClr>
                <a:schemeClr val="dk2"/>
              </a:buClr>
              <a:buSzPts val="1210"/>
              <a:buFont typeface="Noto Sans Symbols"/>
              <a:buNone/>
            </a:pPr>
            <a:r>
              <a:t/>
            </a:r>
            <a:endParaRPr b="0" i="0" sz="2200" u="none">
              <a:solidFill>
                <a:srgbClr val="800000"/>
              </a:solidFill>
              <a:latin typeface="Arial"/>
              <a:ea typeface="Arial"/>
              <a:cs typeface="Arial"/>
              <a:sym typeface="Arial"/>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where R and S can be any relations that result from general </a:t>
            </a:r>
            <a:r>
              <a:rPr b="0" i="1" lang="en-US" sz="2200" u="none">
                <a:solidFill>
                  <a:srgbClr val="800000"/>
                </a:solidFill>
                <a:latin typeface="Arial"/>
                <a:ea typeface="Arial"/>
                <a:cs typeface="Arial"/>
                <a:sym typeface="Arial"/>
              </a:rPr>
              <a:t>relational algebra expressions</a:t>
            </a:r>
            <a:r>
              <a:rPr b="0" i="0" lang="en-US" sz="2200" u="none">
                <a:solidFill>
                  <a:srgbClr val="800000"/>
                </a:solidFill>
                <a:latin typeface="Arial"/>
                <a:ea typeface="Arial"/>
                <a:cs typeface="Arial"/>
                <a:sym typeface="Arial"/>
              </a:rPr>
              <a:t>.</a:t>
            </a:r>
            <a:endParaRPr/>
          </a:p>
          <a:p>
            <a:pPr indent="-259080" lvl="0" marL="342900" rtl="0" algn="l">
              <a:lnSpc>
                <a:spcPct val="100000"/>
              </a:lnSpc>
              <a:spcBef>
                <a:spcPts val="440"/>
              </a:spcBef>
              <a:spcAft>
                <a:spcPts val="0"/>
              </a:spcAft>
              <a:buSzPts val="1320"/>
              <a:buNone/>
            </a:pPr>
            <a:r>
              <a:t/>
            </a:r>
            <a:endParaRPr b="0" i="0" sz="2200" u="none">
              <a:solidFill>
                <a:srgbClr val="800000"/>
              </a:solidFill>
              <a:latin typeface="Arial"/>
              <a:ea typeface="Arial"/>
              <a:cs typeface="Arial"/>
              <a:sym typeface="Arial"/>
            </a:endParaRPr>
          </a:p>
        </p:txBody>
      </p:sp>
      <p:grpSp>
        <p:nvGrpSpPr>
          <p:cNvPr id="391" name="Google Shape;391;p37"/>
          <p:cNvGrpSpPr/>
          <p:nvPr/>
        </p:nvGrpSpPr>
        <p:grpSpPr>
          <a:xfrm>
            <a:off x="4648200" y="1687512"/>
            <a:ext cx="219075" cy="174625"/>
            <a:chOff x="377" y="2904"/>
            <a:chExt cx="154" cy="110"/>
          </a:xfrm>
        </p:grpSpPr>
        <p:cxnSp>
          <p:nvCxnSpPr>
            <p:cNvPr id="392" name="Google Shape;392;p37"/>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393" name="Google Shape;393;p37"/>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394" name="Google Shape;394;p37"/>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395" name="Google Shape;395;p37"/>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pic>
        <p:nvPicPr>
          <p:cNvPr id="396" name="Google Shape;396;p37"/>
          <p:cNvPicPr preferRelativeResize="0"/>
          <p:nvPr/>
        </p:nvPicPr>
        <p:blipFill rotWithShape="1">
          <a:blip r:embed="rId3">
            <a:alphaModFix/>
          </a:blip>
          <a:srcRect b="0" l="0" r="0" t="0"/>
          <a:stretch/>
        </p:blipFill>
        <p:spPr>
          <a:xfrm>
            <a:off x="2769204" y="4965672"/>
            <a:ext cx="2715004" cy="4096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1000"/>
                                        <p:tgtEl>
                                          <p:spTgt spid="3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03" name="Google Shape;403;p3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Binary Relational Operations: JOIN (cont.)</a:t>
            </a:r>
            <a:endParaRPr/>
          </a:p>
        </p:txBody>
      </p:sp>
      <p:sp>
        <p:nvSpPr>
          <p:cNvPr id="404" name="Google Shape;404;p38"/>
          <p:cNvSpPr txBox="1"/>
          <p:nvPr>
            <p:ph idx="1" type="body"/>
          </p:nvPr>
        </p:nvSpPr>
        <p:spPr>
          <a:xfrm>
            <a:off x="239712" y="1600200"/>
            <a:ext cx="8447087" cy="42672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 Suppose that we want to retrieve the name of the manager of each department.</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To get the manager’s name, we need to combine each DEPARTMENT tuple with the EMPLOYEE tuple whose SSN value matches the MGRSSN value in the department tuple. </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We do this by using the join           operation.</a:t>
            </a:r>
            <a:endParaRPr/>
          </a:p>
          <a:p>
            <a:pPr indent="-208915" lvl="1" marL="742950" rtl="0" algn="l">
              <a:lnSpc>
                <a:spcPct val="80000"/>
              </a:lnSpc>
              <a:spcBef>
                <a:spcPts val="440"/>
              </a:spcBef>
              <a:spcAft>
                <a:spcPts val="0"/>
              </a:spcAft>
              <a:buClr>
                <a:schemeClr val="dk2"/>
              </a:buClr>
              <a:buSzPts val="1210"/>
              <a:buFont typeface="Noto Sans Symbols"/>
              <a:buNone/>
            </a:pPr>
            <a:r>
              <a:t/>
            </a:r>
            <a:endParaRPr b="0" i="0" sz="2200" u="none">
              <a:solidFill>
                <a:srgbClr val="800000"/>
              </a:solidFill>
              <a:latin typeface="Arial"/>
              <a:ea typeface="Arial"/>
              <a:cs typeface="Arial"/>
              <a:sym typeface="Arial"/>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DEPT_MGR ← DEPARTMENT         </a:t>
            </a:r>
            <a:r>
              <a:rPr b="0" baseline="-25000" i="0" lang="en-US" sz="2200" u="none">
                <a:solidFill>
                  <a:srgbClr val="800000"/>
                </a:solidFill>
                <a:latin typeface="Arial"/>
                <a:ea typeface="Arial"/>
                <a:cs typeface="Arial"/>
                <a:sym typeface="Arial"/>
              </a:rPr>
              <a:t>MGRSSN=SSN </a:t>
            </a:r>
            <a:r>
              <a:rPr b="0" i="0" lang="en-US" sz="2200" u="none">
                <a:solidFill>
                  <a:srgbClr val="800000"/>
                </a:solidFill>
                <a:latin typeface="Arial"/>
                <a:ea typeface="Arial"/>
                <a:cs typeface="Arial"/>
                <a:sym typeface="Arial"/>
              </a:rPr>
              <a:t>EMPLOYEE</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MGRSSN=SSN is the join condition</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Combines each department record with the employee who manages the department</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join condition can also be specified as DEPARTMENT.MGRSSN= EMPLOYEE.SSN</a:t>
            </a:r>
            <a:endParaRPr/>
          </a:p>
          <a:p>
            <a:pPr indent="-342900" lvl="0" marL="342900" rtl="0" algn="l">
              <a:lnSpc>
                <a:spcPct val="80000"/>
              </a:lnSpc>
              <a:spcBef>
                <a:spcPts val="480"/>
              </a:spcBef>
              <a:spcAft>
                <a:spcPts val="0"/>
              </a:spcAft>
              <a:buSzPts val="1440"/>
              <a:buNone/>
            </a:pPr>
            <a:r>
              <a:t/>
            </a:r>
            <a:endParaRPr b="0" i="0" sz="2400" u="none">
              <a:solidFill>
                <a:schemeClr val="dk2"/>
              </a:solidFill>
              <a:latin typeface="Arial"/>
              <a:ea typeface="Arial"/>
              <a:cs typeface="Arial"/>
              <a:sym typeface="Arial"/>
            </a:endParaRPr>
          </a:p>
          <a:p>
            <a:pPr indent="-251459" lvl="0" marL="342900" rtl="0" algn="l">
              <a:lnSpc>
                <a:spcPct val="100000"/>
              </a:lnSpc>
              <a:spcBef>
                <a:spcPts val="480"/>
              </a:spcBef>
              <a:spcAft>
                <a:spcPts val="0"/>
              </a:spcAft>
              <a:buSzPts val="1440"/>
              <a:buNone/>
            </a:pPr>
            <a:r>
              <a:t/>
            </a:r>
            <a:endParaRPr b="0" i="0" sz="2400" u="none">
              <a:solidFill>
                <a:schemeClr val="dk2"/>
              </a:solidFill>
              <a:latin typeface="Arial"/>
              <a:ea typeface="Arial"/>
              <a:cs typeface="Arial"/>
              <a:sym typeface="Arial"/>
            </a:endParaRPr>
          </a:p>
        </p:txBody>
      </p:sp>
      <p:grpSp>
        <p:nvGrpSpPr>
          <p:cNvPr id="405" name="Google Shape;405;p38"/>
          <p:cNvGrpSpPr/>
          <p:nvPr/>
        </p:nvGrpSpPr>
        <p:grpSpPr>
          <a:xfrm>
            <a:off x="4660900" y="3200400"/>
            <a:ext cx="487362" cy="174625"/>
            <a:chOff x="377" y="2904"/>
            <a:chExt cx="154" cy="110"/>
          </a:xfrm>
        </p:grpSpPr>
        <p:cxnSp>
          <p:nvCxnSpPr>
            <p:cNvPr id="406" name="Google Shape;406;p38"/>
            <p:cNvCxnSpPr/>
            <p:nvPr/>
          </p:nvCxnSpPr>
          <p:spPr>
            <a:xfrm>
              <a:off x="381" y="2904"/>
              <a:ext cx="0" cy="110"/>
            </a:xfrm>
            <a:prstGeom prst="straightConnector1">
              <a:avLst/>
            </a:prstGeom>
            <a:noFill/>
            <a:ln cap="flat" cmpd="sng" w="22225">
              <a:solidFill>
                <a:schemeClr val="lt2"/>
              </a:solidFill>
              <a:prstDash val="solid"/>
              <a:miter lim="800000"/>
              <a:headEnd len="sm" w="sm" type="none"/>
              <a:tailEnd len="sm" w="sm" type="none"/>
            </a:ln>
          </p:spPr>
        </p:cxnSp>
        <p:cxnSp>
          <p:nvCxnSpPr>
            <p:cNvPr id="407" name="Google Shape;407;p38"/>
            <p:cNvCxnSpPr/>
            <p:nvPr/>
          </p:nvCxnSpPr>
          <p:spPr>
            <a:xfrm>
              <a:off x="527" y="2904"/>
              <a:ext cx="0" cy="110"/>
            </a:xfrm>
            <a:prstGeom prst="straightConnector1">
              <a:avLst/>
            </a:prstGeom>
            <a:noFill/>
            <a:ln cap="flat" cmpd="sng" w="22225">
              <a:solidFill>
                <a:schemeClr val="lt2"/>
              </a:solidFill>
              <a:prstDash val="solid"/>
              <a:miter lim="800000"/>
              <a:headEnd len="sm" w="sm" type="none"/>
              <a:tailEnd len="sm" w="sm" type="none"/>
            </a:ln>
          </p:spPr>
        </p:cxnSp>
        <p:cxnSp>
          <p:nvCxnSpPr>
            <p:cNvPr id="408" name="Google Shape;408;p38"/>
            <p:cNvCxnSpPr/>
            <p:nvPr/>
          </p:nvCxnSpPr>
          <p:spPr>
            <a:xfrm>
              <a:off x="385" y="2904"/>
              <a:ext cx="138" cy="110"/>
            </a:xfrm>
            <a:prstGeom prst="straightConnector1">
              <a:avLst/>
            </a:prstGeom>
            <a:noFill/>
            <a:ln cap="flat" cmpd="sng" w="22225">
              <a:solidFill>
                <a:schemeClr val="lt2"/>
              </a:solidFill>
              <a:prstDash val="solid"/>
              <a:miter lim="800000"/>
              <a:headEnd len="sm" w="sm" type="none"/>
              <a:tailEnd len="sm" w="sm" type="none"/>
            </a:ln>
          </p:spPr>
        </p:cxnSp>
        <p:cxnSp>
          <p:nvCxnSpPr>
            <p:cNvPr id="409" name="Google Shape;409;p38"/>
            <p:cNvCxnSpPr/>
            <p:nvPr/>
          </p:nvCxnSpPr>
          <p:spPr>
            <a:xfrm flipH="1">
              <a:off x="377" y="2904"/>
              <a:ext cx="154" cy="110"/>
            </a:xfrm>
            <a:prstGeom prst="straightConnector1">
              <a:avLst/>
            </a:prstGeom>
            <a:noFill/>
            <a:ln cap="flat" cmpd="sng" w="22225">
              <a:solidFill>
                <a:schemeClr val="lt2"/>
              </a:solidFill>
              <a:prstDash val="solid"/>
              <a:miter lim="800000"/>
              <a:headEnd len="sm" w="sm" type="none"/>
              <a:tailEnd len="sm" w="sm" type="none"/>
            </a:ln>
          </p:spPr>
        </p:cxnSp>
      </p:grpSp>
      <p:grpSp>
        <p:nvGrpSpPr>
          <p:cNvPr id="410" name="Google Shape;410;p38"/>
          <p:cNvGrpSpPr/>
          <p:nvPr/>
        </p:nvGrpSpPr>
        <p:grpSpPr>
          <a:xfrm>
            <a:off x="5148262" y="3679826"/>
            <a:ext cx="415925" cy="325436"/>
            <a:chOff x="377" y="2904"/>
            <a:chExt cx="154" cy="110"/>
          </a:xfrm>
        </p:grpSpPr>
        <p:cxnSp>
          <p:nvCxnSpPr>
            <p:cNvPr id="411" name="Google Shape;411;p38"/>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412" name="Google Shape;412;p38"/>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413" name="Google Shape;413;p38"/>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414" name="Google Shape;414;p38"/>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21" name="Google Shape;421;p3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of applying the JOIN operation</a:t>
            </a:r>
            <a:endParaRPr/>
          </a:p>
        </p:txBody>
      </p:sp>
      <p:sp>
        <p:nvSpPr>
          <p:cNvPr id="422" name="Google Shape;422;p39"/>
          <p:cNvSpPr txBox="1"/>
          <p:nvPr/>
        </p:nvSpPr>
        <p:spPr>
          <a:xfrm>
            <a:off x="1833562" y="13096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423" name="Google Shape;423;p39"/>
          <p:cNvPicPr preferRelativeResize="0"/>
          <p:nvPr/>
        </p:nvPicPr>
        <p:blipFill rotWithShape="1">
          <a:blip r:embed="rId3">
            <a:alphaModFix/>
          </a:blip>
          <a:srcRect b="0" l="0" r="0" t="0"/>
          <a:stretch/>
        </p:blipFill>
        <p:spPr>
          <a:xfrm>
            <a:off x="732860" y="1688407"/>
            <a:ext cx="3600953" cy="1257475"/>
          </a:xfrm>
          <a:prstGeom prst="rect">
            <a:avLst/>
          </a:prstGeom>
          <a:noFill/>
          <a:ln>
            <a:noFill/>
          </a:ln>
        </p:spPr>
      </p:pic>
      <p:pic>
        <p:nvPicPr>
          <p:cNvPr id="424" name="Google Shape;424;p39"/>
          <p:cNvPicPr preferRelativeResize="0"/>
          <p:nvPr/>
        </p:nvPicPr>
        <p:blipFill rotWithShape="1">
          <a:blip r:embed="rId4">
            <a:alphaModFix/>
          </a:blip>
          <a:srcRect b="0" l="0" r="0" t="0"/>
          <a:stretch/>
        </p:blipFill>
        <p:spPr>
          <a:xfrm>
            <a:off x="4733379" y="1582106"/>
            <a:ext cx="3915321" cy="1810003"/>
          </a:xfrm>
          <a:prstGeom prst="rect">
            <a:avLst/>
          </a:prstGeom>
          <a:noFill/>
          <a:ln>
            <a:noFill/>
          </a:ln>
        </p:spPr>
      </p:pic>
      <p:pic>
        <p:nvPicPr>
          <p:cNvPr id="425" name="Google Shape;425;p39"/>
          <p:cNvPicPr preferRelativeResize="0"/>
          <p:nvPr/>
        </p:nvPicPr>
        <p:blipFill rotWithShape="1">
          <a:blip r:embed="rId5">
            <a:alphaModFix/>
          </a:blip>
          <a:srcRect b="0" l="0" r="0" t="0"/>
          <a:stretch/>
        </p:blipFill>
        <p:spPr>
          <a:xfrm>
            <a:off x="594111" y="3532833"/>
            <a:ext cx="4305901" cy="962159"/>
          </a:xfrm>
          <a:prstGeom prst="rect">
            <a:avLst/>
          </a:prstGeom>
          <a:noFill/>
          <a:ln>
            <a:noFill/>
          </a:ln>
        </p:spPr>
      </p:pic>
      <p:pic>
        <p:nvPicPr>
          <p:cNvPr id="426" name="Google Shape;426;p39"/>
          <p:cNvPicPr preferRelativeResize="0"/>
          <p:nvPr/>
        </p:nvPicPr>
        <p:blipFill rotWithShape="1">
          <a:blip r:embed="rId6">
            <a:alphaModFix/>
          </a:blip>
          <a:srcRect b="0" l="0" r="0" t="0"/>
          <a:stretch/>
        </p:blipFill>
        <p:spPr>
          <a:xfrm>
            <a:off x="594112" y="4857937"/>
            <a:ext cx="7430700" cy="15428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500"/>
                                        <p:tgtEl>
                                          <p:spTgt spid="4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500"/>
                                        <p:tgtEl>
                                          <p:spTgt spid="4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500"/>
                                        <p:tgtEl>
                                          <p:spTgt spid="4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33" name="Google Shape;433;p4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Some properties of JOIN</a:t>
            </a:r>
            <a:endParaRPr/>
          </a:p>
        </p:txBody>
      </p:sp>
      <p:sp>
        <p:nvSpPr>
          <p:cNvPr id="434" name="Google Shape;434;p4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Consider the following JOIN operation: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R(A1, A2, . . ., An)                   S(B1, B2, . . ., Bm)</a:t>
            </a:r>
            <a:endParaRPr/>
          </a:p>
          <a:p>
            <a:pPr indent="-228600" lvl="2" marL="1143000" rtl="0" algn="l">
              <a:lnSpc>
                <a:spcPct val="100000"/>
              </a:lnSpc>
              <a:spcBef>
                <a:spcPts val="400"/>
              </a:spcBef>
              <a:spcAft>
                <a:spcPts val="0"/>
              </a:spcAft>
              <a:buSzPts val="1000"/>
              <a:buNone/>
            </a:pPr>
            <a:r>
              <a:rPr b="0" i="0" lang="en-US" sz="2000" u="none">
                <a:solidFill>
                  <a:schemeClr val="dk2"/>
                </a:solidFill>
                <a:latin typeface="Arial"/>
                <a:ea typeface="Arial"/>
                <a:cs typeface="Arial"/>
                <a:sym typeface="Arial"/>
              </a:rPr>
              <a:t>                                       R.Ai=S.Bj</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Result is a relation Q with degree n + m attributes:</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Q(A1, A2, . . ., An, B1, B2, . . ., Bm), in that order.</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resulting relation state has one tuple for each combination of tuples—r from R and s from S, but </a:t>
            </a:r>
            <a:r>
              <a:rPr b="0" i="1" lang="en-US" sz="2200" u="none">
                <a:solidFill>
                  <a:srgbClr val="800000"/>
                </a:solidFill>
                <a:latin typeface="Arial"/>
                <a:ea typeface="Arial"/>
                <a:cs typeface="Arial"/>
                <a:sym typeface="Arial"/>
              </a:rPr>
              <a:t>only if they satisfy the join condition</a:t>
            </a:r>
            <a:r>
              <a:rPr b="0" i="0" lang="en-US" sz="2200" u="none">
                <a:solidFill>
                  <a:srgbClr val="800000"/>
                </a:solidFill>
                <a:latin typeface="Arial"/>
                <a:ea typeface="Arial"/>
                <a:cs typeface="Arial"/>
                <a:sym typeface="Arial"/>
              </a:rPr>
              <a:t> r[Ai]=s[Bj]</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Hence, if R has n</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tuples, and S has n</a:t>
            </a:r>
            <a:r>
              <a:rPr b="0" baseline="-25000" i="0" lang="en-US" sz="2200" u="none">
                <a:solidFill>
                  <a:srgbClr val="800000"/>
                </a:solidFill>
                <a:latin typeface="Arial"/>
                <a:ea typeface="Arial"/>
                <a:cs typeface="Arial"/>
                <a:sym typeface="Arial"/>
              </a:rPr>
              <a:t>S</a:t>
            </a:r>
            <a:r>
              <a:rPr b="0" i="0" lang="en-US" sz="2200" u="none">
                <a:solidFill>
                  <a:srgbClr val="800000"/>
                </a:solidFill>
                <a:latin typeface="Arial"/>
                <a:ea typeface="Arial"/>
                <a:cs typeface="Arial"/>
                <a:sym typeface="Arial"/>
              </a:rPr>
              <a:t> tuples, then the join result will generally have </a:t>
            </a:r>
            <a:r>
              <a:rPr b="0" i="1" lang="en-US" sz="2200" u="none">
                <a:solidFill>
                  <a:srgbClr val="800000"/>
                </a:solidFill>
                <a:latin typeface="Arial"/>
                <a:ea typeface="Arial"/>
                <a:cs typeface="Arial"/>
                <a:sym typeface="Arial"/>
              </a:rPr>
              <a:t>less than</a:t>
            </a:r>
            <a:r>
              <a:rPr b="0" i="0" lang="en-US" sz="2200" u="none">
                <a:solidFill>
                  <a:srgbClr val="800000"/>
                </a:solidFill>
                <a:latin typeface="Arial"/>
                <a:ea typeface="Arial"/>
                <a:cs typeface="Arial"/>
                <a:sym typeface="Arial"/>
              </a:rPr>
              <a:t> n</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 n</a:t>
            </a:r>
            <a:r>
              <a:rPr b="0" baseline="-25000" i="0" lang="en-US" sz="2200" u="none">
                <a:solidFill>
                  <a:srgbClr val="800000"/>
                </a:solidFill>
                <a:latin typeface="Arial"/>
                <a:ea typeface="Arial"/>
                <a:cs typeface="Arial"/>
                <a:sym typeface="Arial"/>
              </a:rPr>
              <a:t>S</a:t>
            </a:r>
            <a:r>
              <a:rPr b="0" i="0" lang="en-US" sz="2200" u="none">
                <a:solidFill>
                  <a:srgbClr val="800000"/>
                </a:solidFill>
                <a:latin typeface="Arial"/>
                <a:ea typeface="Arial"/>
                <a:cs typeface="Arial"/>
                <a:sym typeface="Arial"/>
              </a:rPr>
              <a:t> tuples.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Only related tuples (based on the join condition) will appear in the result</a:t>
            </a:r>
            <a:endParaRPr/>
          </a:p>
        </p:txBody>
      </p:sp>
      <p:grpSp>
        <p:nvGrpSpPr>
          <p:cNvPr id="435" name="Google Shape;435;p40"/>
          <p:cNvGrpSpPr/>
          <p:nvPr/>
        </p:nvGrpSpPr>
        <p:grpSpPr>
          <a:xfrm>
            <a:off x="3810000" y="2133600"/>
            <a:ext cx="441325" cy="347662"/>
            <a:chOff x="377" y="2904"/>
            <a:chExt cx="154" cy="110"/>
          </a:xfrm>
        </p:grpSpPr>
        <p:cxnSp>
          <p:nvCxnSpPr>
            <p:cNvPr id="436" name="Google Shape;436;p40"/>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437" name="Google Shape;437;p40"/>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438" name="Google Shape;438;p40"/>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439" name="Google Shape;439;p40"/>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46" name="Google Shape;446;p4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Theta JOIN</a:t>
            </a:r>
            <a:endParaRPr/>
          </a:p>
        </p:txBody>
      </p:sp>
      <p:sp>
        <p:nvSpPr>
          <p:cNvPr id="447" name="Google Shape;447;p4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general case of JOIN operation is called a Theta-join: R              S</a:t>
            </a:r>
            <a:endParaRPr/>
          </a:p>
          <a:p>
            <a:pPr indent="-228600" lvl="2" marL="1143000" rtl="0" algn="l">
              <a:lnSpc>
                <a:spcPct val="90000"/>
              </a:lnSpc>
              <a:spcBef>
                <a:spcPts val="480"/>
              </a:spcBef>
              <a:spcAft>
                <a:spcPts val="0"/>
              </a:spcAft>
              <a:buSzPts val="1200"/>
              <a:buNone/>
            </a:pPr>
            <a:r>
              <a:rPr b="0" i="0" lang="en-US" sz="2400" u="none">
                <a:solidFill>
                  <a:schemeClr val="dk2"/>
                </a:solidFill>
                <a:latin typeface="Arial"/>
                <a:ea typeface="Arial"/>
                <a:cs typeface="Arial"/>
                <a:sym typeface="Arial"/>
              </a:rPr>
              <a:t>                        </a:t>
            </a:r>
            <a:r>
              <a:rPr b="0" i="1" lang="en-US" sz="2400" u="none">
                <a:solidFill>
                  <a:schemeClr val="dk2"/>
                </a:solidFill>
                <a:latin typeface="Arial"/>
                <a:ea typeface="Arial"/>
                <a:cs typeface="Arial"/>
                <a:sym typeface="Arial"/>
              </a:rPr>
              <a:t>theta</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join condition is called </a:t>
            </a:r>
            <a:r>
              <a:rPr b="0" i="1" lang="en-US" sz="2800" u="none">
                <a:solidFill>
                  <a:schemeClr val="dk2"/>
                </a:solidFill>
                <a:latin typeface="Arial"/>
                <a:ea typeface="Arial"/>
                <a:cs typeface="Arial"/>
                <a:sym typeface="Arial"/>
              </a:rPr>
              <a:t>theta</a:t>
            </a:r>
            <a:endParaRPr/>
          </a:p>
          <a:p>
            <a:pPr indent="-342900" lvl="0" marL="342900" rtl="0" algn="l">
              <a:lnSpc>
                <a:spcPct val="90000"/>
              </a:lnSpc>
              <a:spcBef>
                <a:spcPts val="560"/>
              </a:spcBef>
              <a:spcAft>
                <a:spcPts val="0"/>
              </a:spcAft>
              <a:buClr>
                <a:srgbClr val="990033"/>
              </a:buClr>
              <a:buSzPts val="1680"/>
              <a:buFont typeface="Noto Sans Symbols"/>
              <a:buChar char="■"/>
            </a:pPr>
            <a:r>
              <a:rPr b="0" i="1" lang="en-US" sz="2800" u="none">
                <a:solidFill>
                  <a:schemeClr val="dk2"/>
                </a:solidFill>
                <a:latin typeface="Arial"/>
                <a:ea typeface="Arial"/>
                <a:cs typeface="Arial"/>
                <a:sym typeface="Arial"/>
              </a:rPr>
              <a:t>Theta</a:t>
            </a:r>
            <a:r>
              <a:rPr b="0" i="0" lang="en-US" sz="2800" u="none">
                <a:solidFill>
                  <a:schemeClr val="dk2"/>
                </a:solidFill>
                <a:latin typeface="Arial"/>
                <a:ea typeface="Arial"/>
                <a:cs typeface="Arial"/>
                <a:sym typeface="Arial"/>
              </a:rPr>
              <a:t> can be any general boolean expression on the attributes of R and S; for example:</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R.Ai&lt;S.Bj AND (R.Ak=S.Bl OR R.Ap&lt;S.Bq)</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Most join conditions involve one or more equality conditions “AND”ed together; for example:</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R.Ai=S.Bj AND R.Ak=S.Bl AND R.Ap=S.Bq</a:t>
            </a:r>
            <a:endParaRPr/>
          </a:p>
          <a:p>
            <a:pPr indent="-243840" lvl="0" marL="342900" rtl="0" algn="l">
              <a:lnSpc>
                <a:spcPct val="100000"/>
              </a:lnSpc>
              <a:spcBef>
                <a:spcPts val="520"/>
              </a:spcBef>
              <a:spcAft>
                <a:spcPts val="0"/>
              </a:spcAft>
              <a:buSzPts val="1560"/>
              <a:buNone/>
            </a:pPr>
            <a:r>
              <a:t/>
            </a:r>
            <a:endParaRPr b="0" i="0" sz="2600" u="none">
              <a:solidFill>
                <a:srgbClr val="800000"/>
              </a:solidFill>
              <a:latin typeface="Arial"/>
              <a:ea typeface="Arial"/>
              <a:cs typeface="Arial"/>
              <a:sym typeface="Arial"/>
            </a:endParaRPr>
          </a:p>
        </p:txBody>
      </p:sp>
      <p:grpSp>
        <p:nvGrpSpPr>
          <p:cNvPr id="448" name="Google Shape;448;p41"/>
          <p:cNvGrpSpPr/>
          <p:nvPr/>
        </p:nvGrpSpPr>
        <p:grpSpPr>
          <a:xfrm>
            <a:off x="3124200" y="2133600"/>
            <a:ext cx="441325" cy="347662"/>
            <a:chOff x="377" y="2904"/>
            <a:chExt cx="154" cy="110"/>
          </a:xfrm>
        </p:grpSpPr>
        <p:cxnSp>
          <p:nvCxnSpPr>
            <p:cNvPr id="449" name="Google Shape;449;p41"/>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450" name="Google Shape;450;p41"/>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451" name="Google Shape;451;p41"/>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452" name="Google Shape;452;p41"/>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 </a:t>
            </a:r>
            <a:endParaRPr/>
          </a:p>
        </p:txBody>
      </p:sp>
      <p:sp>
        <p:nvSpPr>
          <p:cNvPr id="458" name="Google Shape;458;p4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p:txBody>
      </p:sp>
      <p:sp>
        <p:nvSpPr>
          <p:cNvPr id="459" name="Google Shape;459;p42"/>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6- </a:t>
            </a:r>
            <a:fld id="{00000000-1234-1234-1234-123412341234}" type="slidenum">
              <a:rPr lang="en-US"/>
              <a:t>‹#›</a:t>
            </a:fld>
            <a:endParaRPr/>
          </a:p>
        </p:txBody>
      </p:sp>
      <p:pic>
        <p:nvPicPr>
          <p:cNvPr id="460" name="Google Shape;460;p42"/>
          <p:cNvPicPr preferRelativeResize="0"/>
          <p:nvPr/>
        </p:nvPicPr>
        <p:blipFill rotWithShape="1">
          <a:blip r:embed="rId3">
            <a:alphaModFix/>
          </a:blip>
          <a:srcRect b="0" l="0" r="0" t="0"/>
          <a:stretch/>
        </p:blipFill>
        <p:spPr>
          <a:xfrm>
            <a:off x="441029" y="1419318"/>
            <a:ext cx="2648320" cy="419158"/>
          </a:xfrm>
          <a:prstGeom prst="rect">
            <a:avLst/>
          </a:prstGeom>
          <a:noFill/>
          <a:ln>
            <a:noFill/>
          </a:ln>
        </p:spPr>
      </p:pic>
      <p:pic>
        <p:nvPicPr>
          <p:cNvPr id="461" name="Google Shape;461;p42"/>
          <p:cNvPicPr preferRelativeResize="0"/>
          <p:nvPr/>
        </p:nvPicPr>
        <p:blipFill rotWithShape="1">
          <a:blip r:embed="rId4">
            <a:alphaModFix/>
          </a:blip>
          <a:srcRect b="0" l="0" r="0" t="0"/>
          <a:stretch/>
        </p:blipFill>
        <p:spPr>
          <a:xfrm>
            <a:off x="441029" y="2296486"/>
            <a:ext cx="2534004" cy="485843"/>
          </a:xfrm>
          <a:prstGeom prst="rect">
            <a:avLst/>
          </a:prstGeom>
          <a:noFill/>
          <a:ln>
            <a:noFill/>
          </a:ln>
        </p:spPr>
      </p:pic>
      <p:pic>
        <p:nvPicPr>
          <p:cNvPr id="462" name="Google Shape;462;p42"/>
          <p:cNvPicPr preferRelativeResize="0"/>
          <p:nvPr/>
        </p:nvPicPr>
        <p:blipFill rotWithShape="1">
          <a:blip r:embed="rId5">
            <a:alphaModFix/>
          </a:blip>
          <a:srcRect b="0" l="0" r="0" t="0"/>
          <a:stretch/>
        </p:blipFill>
        <p:spPr>
          <a:xfrm>
            <a:off x="3706123" y="1215248"/>
            <a:ext cx="3238952" cy="1324160"/>
          </a:xfrm>
          <a:prstGeom prst="rect">
            <a:avLst/>
          </a:prstGeom>
          <a:noFill/>
          <a:ln>
            <a:noFill/>
          </a:ln>
        </p:spPr>
      </p:pic>
      <p:pic>
        <p:nvPicPr>
          <p:cNvPr id="463" name="Google Shape;463;p42"/>
          <p:cNvPicPr preferRelativeResize="0"/>
          <p:nvPr/>
        </p:nvPicPr>
        <p:blipFill rotWithShape="1">
          <a:blip r:embed="rId6">
            <a:alphaModFix/>
          </a:blip>
          <a:srcRect b="0" l="0" r="0" t="0"/>
          <a:stretch/>
        </p:blipFill>
        <p:spPr>
          <a:xfrm>
            <a:off x="441029" y="3237392"/>
            <a:ext cx="3124636" cy="1171739"/>
          </a:xfrm>
          <a:prstGeom prst="rect">
            <a:avLst/>
          </a:prstGeom>
          <a:noFill/>
          <a:ln>
            <a:noFill/>
          </a:ln>
        </p:spPr>
      </p:pic>
      <p:pic>
        <p:nvPicPr>
          <p:cNvPr id="464" name="Google Shape;464;p42"/>
          <p:cNvPicPr preferRelativeResize="0"/>
          <p:nvPr/>
        </p:nvPicPr>
        <p:blipFill rotWithShape="1">
          <a:blip r:embed="rId7">
            <a:alphaModFix/>
          </a:blip>
          <a:srcRect b="0" l="0" r="0" t="0"/>
          <a:stretch/>
        </p:blipFill>
        <p:spPr>
          <a:xfrm>
            <a:off x="4966524" y="2782329"/>
            <a:ext cx="3458058" cy="1476581"/>
          </a:xfrm>
          <a:prstGeom prst="rect">
            <a:avLst/>
          </a:prstGeom>
          <a:noFill/>
          <a:ln>
            <a:noFill/>
          </a:ln>
        </p:spPr>
      </p:pic>
      <p:pic>
        <p:nvPicPr>
          <p:cNvPr id="465" name="Google Shape;465;p42"/>
          <p:cNvPicPr preferRelativeResize="0"/>
          <p:nvPr/>
        </p:nvPicPr>
        <p:blipFill rotWithShape="1">
          <a:blip r:embed="rId8">
            <a:alphaModFix/>
          </a:blip>
          <a:srcRect b="0" l="0" r="0" t="0"/>
          <a:stretch/>
        </p:blipFill>
        <p:spPr>
          <a:xfrm>
            <a:off x="845934" y="4733852"/>
            <a:ext cx="1648055" cy="523948"/>
          </a:xfrm>
          <a:prstGeom prst="rect">
            <a:avLst/>
          </a:prstGeom>
          <a:noFill/>
          <a:ln>
            <a:noFill/>
          </a:ln>
        </p:spPr>
      </p:pic>
      <p:pic>
        <p:nvPicPr>
          <p:cNvPr id="466" name="Google Shape;466;p42"/>
          <p:cNvPicPr preferRelativeResize="0"/>
          <p:nvPr/>
        </p:nvPicPr>
        <p:blipFill rotWithShape="1">
          <a:blip r:embed="rId9">
            <a:alphaModFix/>
          </a:blip>
          <a:srcRect b="0" l="0" r="0" t="0"/>
          <a:stretch/>
        </p:blipFill>
        <p:spPr>
          <a:xfrm>
            <a:off x="5036791" y="4695033"/>
            <a:ext cx="2715004" cy="1848108"/>
          </a:xfrm>
          <a:prstGeom prst="rect">
            <a:avLst/>
          </a:prstGeom>
          <a:noFill/>
          <a:ln>
            <a:noFill/>
          </a:ln>
        </p:spPr>
      </p:pic>
      <p:pic>
        <p:nvPicPr>
          <p:cNvPr id="467" name="Google Shape;467;p42"/>
          <p:cNvPicPr preferRelativeResize="0"/>
          <p:nvPr/>
        </p:nvPicPr>
        <p:blipFill rotWithShape="1">
          <a:blip r:embed="rId10">
            <a:alphaModFix/>
          </a:blip>
          <a:srcRect b="0" l="0" r="0" t="0"/>
          <a:stretch/>
        </p:blipFill>
        <p:spPr>
          <a:xfrm>
            <a:off x="781540" y="5431923"/>
            <a:ext cx="2924583" cy="8002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1000"/>
                                        <p:tgtEl>
                                          <p:spTgt spid="4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500"/>
                                        <p:tgtEl>
                                          <p:spTgt spid="4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500"/>
                                        <p:tgtEl>
                                          <p:spTgt spid="4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gtEl>
                                        <p:attrNameLst>
                                          <p:attrName>style.visibility</p:attrName>
                                        </p:attrNameLst>
                                      </p:cBhvr>
                                      <p:to>
                                        <p:strVal val="visible"/>
                                      </p:to>
                                    </p:set>
                                    <p:animEffect filter="fade" transition="in">
                                      <p:cBhvr>
                                        <p:cTn dur="500"/>
                                        <p:tgtEl>
                                          <p:spTgt spid="4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500"/>
                                        <p:tgtEl>
                                          <p:spTgt spid="4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500"/>
                                        <p:tgtEl>
                                          <p:spTgt spid="4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500"/>
                                        <p:tgtEl>
                                          <p:spTgt spid="4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500"/>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74" name="Google Shape;474;p4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Binary Relational Operations: EQUIJOIN</a:t>
            </a:r>
            <a:endParaRPr/>
          </a:p>
        </p:txBody>
      </p:sp>
      <p:sp>
        <p:nvSpPr>
          <p:cNvPr id="475" name="Google Shape;475;p4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EQUIJOIN Operation</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most common use of join involves join conditions with </a:t>
            </a:r>
            <a:r>
              <a:rPr b="0" i="1" lang="en-US" sz="2800" u="none">
                <a:solidFill>
                  <a:schemeClr val="dk2"/>
                </a:solidFill>
                <a:latin typeface="Arial"/>
                <a:ea typeface="Arial"/>
                <a:cs typeface="Arial"/>
                <a:sym typeface="Arial"/>
              </a:rPr>
              <a:t>equality comparisons</a:t>
            </a:r>
            <a:r>
              <a:rPr b="0" i="0" lang="en-US" sz="2800" u="none">
                <a:solidFill>
                  <a:schemeClr val="dk2"/>
                </a:solidFill>
                <a:latin typeface="Arial"/>
                <a:ea typeface="Arial"/>
                <a:cs typeface="Arial"/>
                <a:sym typeface="Arial"/>
              </a:rPr>
              <a:t> only</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Such a join, where the only comparison operator used is =, is called an EQUIJOIN.</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In the result of an EQUIJOIN we always have one or more pairs of attributes (whose names need not be  identical) that have identical values in every tuple. </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The JOIN seen in the previous example was an EQUIJOIN.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82" name="Google Shape;482;p4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Binary Relational Operations: </a:t>
            </a:r>
            <a:br>
              <a:rPr b="0" i="0" lang="en-US" sz="3200" u="none">
                <a:solidFill>
                  <a:srgbClr val="800000"/>
                </a:solidFill>
                <a:latin typeface="Arial"/>
                <a:ea typeface="Arial"/>
                <a:cs typeface="Arial"/>
                <a:sym typeface="Arial"/>
              </a:rPr>
            </a:br>
            <a:r>
              <a:rPr b="0" i="0" lang="en-US" sz="3200" u="none">
                <a:solidFill>
                  <a:srgbClr val="800000"/>
                </a:solidFill>
                <a:latin typeface="Arial"/>
                <a:ea typeface="Arial"/>
                <a:cs typeface="Arial"/>
                <a:sym typeface="Arial"/>
              </a:rPr>
              <a:t>NATURAL JOIN Operation</a:t>
            </a:r>
            <a:endParaRPr/>
          </a:p>
        </p:txBody>
      </p:sp>
      <p:sp>
        <p:nvSpPr>
          <p:cNvPr id="483" name="Google Shape;483;p4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NATURAL JOIN Operation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Another variation of JOIN called NATURAL JOIN — denoted by * — was created to get rid of the second (superfluous) attribute in an EQUIJOIN condition.</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because one of each pair of attributes with identical values is superfluous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standard definition of natural join requires that the two join attributes, or each pair of corresponding join attributes, </a:t>
            </a:r>
            <a:r>
              <a:rPr b="0" i="1" lang="en-US" sz="2200" u="none">
                <a:solidFill>
                  <a:srgbClr val="800000"/>
                </a:solidFill>
                <a:latin typeface="Arial"/>
                <a:ea typeface="Arial"/>
                <a:cs typeface="Arial"/>
                <a:sym typeface="Arial"/>
              </a:rPr>
              <a:t>have the same name</a:t>
            </a:r>
            <a:r>
              <a:rPr b="0" i="0" lang="en-US" sz="2200" u="none">
                <a:solidFill>
                  <a:srgbClr val="800000"/>
                </a:solidFill>
                <a:latin typeface="Arial"/>
                <a:ea typeface="Arial"/>
                <a:cs typeface="Arial"/>
                <a:sym typeface="Arial"/>
              </a:rPr>
              <a:t> in both relations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If this is not the case, a renaming operation is applied first.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90" name="Google Shape;490;p4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Binary Relational Operations </a:t>
            </a:r>
            <a:r>
              <a:rPr b="0" i="0" lang="en-US" sz="3200" u="none">
                <a:solidFill>
                  <a:srgbClr val="800000"/>
                </a:solidFill>
                <a:latin typeface="Arial"/>
                <a:ea typeface="Arial"/>
                <a:cs typeface="Arial"/>
                <a:sym typeface="Arial"/>
              </a:rPr>
              <a:t>NATURAL JOIN </a:t>
            </a:r>
            <a:r>
              <a:rPr b="0" i="0" lang="en-US" sz="3600" u="none">
                <a:solidFill>
                  <a:srgbClr val="800000"/>
                </a:solidFill>
                <a:latin typeface="Arial"/>
                <a:ea typeface="Arial"/>
                <a:cs typeface="Arial"/>
                <a:sym typeface="Arial"/>
              </a:rPr>
              <a:t>(contd.)</a:t>
            </a:r>
            <a:endParaRPr/>
          </a:p>
        </p:txBody>
      </p:sp>
      <p:sp>
        <p:nvSpPr>
          <p:cNvPr id="491" name="Google Shape;491;p45"/>
          <p:cNvSpPr txBox="1"/>
          <p:nvPr>
            <p:ph idx="1" type="body"/>
          </p:nvPr>
        </p:nvSpPr>
        <p:spPr>
          <a:xfrm>
            <a:off x="239712" y="1600200"/>
            <a:ext cx="8294687" cy="44958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Example:</a:t>
            </a:r>
            <a:endParaRPr/>
          </a:p>
          <a:p>
            <a:pPr indent="-266700" lvl="0" marL="342900" rtl="0" algn="l">
              <a:lnSpc>
                <a:spcPct val="90000"/>
              </a:lnSpc>
              <a:spcBef>
                <a:spcPts val="0"/>
              </a:spcBef>
              <a:spcAft>
                <a:spcPts val="0"/>
              </a:spcAft>
              <a:buClr>
                <a:srgbClr val="990033"/>
              </a:buClr>
              <a:buSzPts val="1200"/>
              <a:buFont typeface="Noto Sans Symbols"/>
              <a:buNone/>
            </a:pPr>
            <a:r>
              <a:t/>
            </a:r>
            <a:endParaRPr/>
          </a:p>
        </p:txBody>
      </p:sp>
      <p:pic>
        <p:nvPicPr>
          <p:cNvPr id="492" name="Google Shape;492;p45"/>
          <p:cNvPicPr preferRelativeResize="0"/>
          <p:nvPr/>
        </p:nvPicPr>
        <p:blipFill rotWithShape="1">
          <a:blip r:embed="rId3">
            <a:alphaModFix/>
          </a:blip>
          <a:srcRect b="0" l="0" r="0" t="0"/>
          <a:stretch/>
        </p:blipFill>
        <p:spPr>
          <a:xfrm>
            <a:off x="1736943" y="1378196"/>
            <a:ext cx="3277057" cy="1486107"/>
          </a:xfrm>
          <a:prstGeom prst="rect">
            <a:avLst/>
          </a:prstGeom>
          <a:noFill/>
          <a:ln>
            <a:noFill/>
          </a:ln>
        </p:spPr>
      </p:pic>
      <p:pic>
        <p:nvPicPr>
          <p:cNvPr id="493" name="Google Shape;493;p45"/>
          <p:cNvPicPr preferRelativeResize="0"/>
          <p:nvPr/>
        </p:nvPicPr>
        <p:blipFill rotWithShape="1">
          <a:blip r:embed="rId4">
            <a:alphaModFix/>
          </a:blip>
          <a:srcRect b="0" l="0" r="0" t="0"/>
          <a:stretch/>
        </p:blipFill>
        <p:spPr>
          <a:xfrm>
            <a:off x="5260802" y="1378196"/>
            <a:ext cx="2800741" cy="1133633"/>
          </a:xfrm>
          <a:prstGeom prst="rect">
            <a:avLst/>
          </a:prstGeom>
          <a:noFill/>
          <a:ln>
            <a:noFill/>
          </a:ln>
        </p:spPr>
      </p:pic>
      <p:pic>
        <p:nvPicPr>
          <p:cNvPr id="494" name="Google Shape;494;p45"/>
          <p:cNvPicPr preferRelativeResize="0"/>
          <p:nvPr/>
        </p:nvPicPr>
        <p:blipFill rotWithShape="1">
          <a:blip r:embed="rId5">
            <a:alphaModFix/>
          </a:blip>
          <a:srcRect b="0" l="0" r="0" t="0"/>
          <a:stretch/>
        </p:blipFill>
        <p:spPr>
          <a:xfrm>
            <a:off x="1232051" y="4914693"/>
            <a:ext cx="5382376" cy="1486107"/>
          </a:xfrm>
          <a:prstGeom prst="rect">
            <a:avLst/>
          </a:prstGeom>
          <a:noFill/>
          <a:ln>
            <a:noFill/>
          </a:ln>
        </p:spPr>
      </p:pic>
      <p:pic>
        <p:nvPicPr>
          <p:cNvPr id="495" name="Google Shape;495;p45"/>
          <p:cNvPicPr preferRelativeResize="0"/>
          <p:nvPr/>
        </p:nvPicPr>
        <p:blipFill rotWithShape="1">
          <a:blip r:embed="rId6">
            <a:alphaModFix/>
          </a:blip>
          <a:srcRect b="0" l="0" r="0" t="0"/>
          <a:stretch/>
        </p:blipFill>
        <p:spPr>
          <a:xfrm>
            <a:off x="779550" y="2925948"/>
            <a:ext cx="6182588" cy="752580"/>
          </a:xfrm>
          <a:prstGeom prst="rect">
            <a:avLst/>
          </a:prstGeom>
          <a:noFill/>
          <a:ln>
            <a:noFill/>
          </a:ln>
        </p:spPr>
      </p:pic>
      <p:pic>
        <p:nvPicPr>
          <p:cNvPr id="496" name="Google Shape;496;p45"/>
          <p:cNvPicPr preferRelativeResize="0"/>
          <p:nvPr/>
        </p:nvPicPr>
        <p:blipFill rotWithShape="1">
          <a:blip r:embed="rId7">
            <a:alphaModFix/>
          </a:blip>
          <a:srcRect b="0" l="0" r="0" t="0"/>
          <a:stretch/>
        </p:blipFill>
        <p:spPr>
          <a:xfrm>
            <a:off x="884340" y="3791262"/>
            <a:ext cx="6077798" cy="9145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500"/>
                                        <p:tgtEl>
                                          <p:spTgt spid="4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500"/>
                                        <p:tgtEl>
                                          <p:spTgt spid="4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500"/>
                                        <p:tgtEl>
                                          <p:spTgt spid="4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500"/>
                                        <p:tgtEl>
                                          <p:spTgt spid="4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 Operation: (EMPLOYEE * SALARY) </a:t>
            </a:r>
            <a:endParaRPr/>
          </a:p>
        </p:txBody>
      </p:sp>
      <p:sp>
        <p:nvSpPr>
          <p:cNvPr id="502" name="Google Shape;502;p4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p:txBody>
      </p:sp>
      <p:sp>
        <p:nvSpPr>
          <p:cNvPr id="503" name="Google Shape;503;p46"/>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6- </a:t>
            </a:r>
            <a:fld id="{00000000-1234-1234-1234-123412341234}" type="slidenum">
              <a:rPr lang="en-US"/>
              <a:t>‹#›</a:t>
            </a:fld>
            <a:endParaRPr/>
          </a:p>
        </p:txBody>
      </p:sp>
      <p:pic>
        <p:nvPicPr>
          <p:cNvPr id="504" name="Google Shape;504;p46"/>
          <p:cNvPicPr preferRelativeResize="0"/>
          <p:nvPr/>
        </p:nvPicPr>
        <p:blipFill rotWithShape="1">
          <a:blip r:embed="rId3">
            <a:alphaModFix/>
          </a:blip>
          <a:srcRect b="0" l="0" r="0" t="0"/>
          <a:stretch/>
        </p:blipFill>
        <p:spPr>
          <a:xfrm>
            <a:off x="469595" y="1670986"/>
            <a:ext cx="3219450" cy="2238375"/>
          </a:xfrm>
          <a:prstGeom prst="rect">
            <a:avLst/>
          </a:prstGeom>
          <a:noFill/>
          <a:ln>
            <a:noFill/>
          </a:ln>
        </p:spPr>
      </p:pic>
      <p:pic>
        <p:nvPicPr>
          <p:cNvPr id="505" name="Google Shape;505;p46"/>
          <p:cNvPicPr preferRelativeResize="0"/>
          <p:nvPr/>
        </p:nvPicPr>
        <p:blipFill rotWithShape="1">
          <a:blip r:embed="rId4">
            <a:alphaModFix/>
          </a:blip>
          <a:srcRect b="0" l="0" r="0" t="0"/>
          <a:stretch/>
        </p:blipFill>
        <p:spPr>
          <a:xfrm>
            <a:off x="4013678" y="1670986"/>
            <a:ext cx="2419350" cy="2276475"/>
          </a:xfrm>
          <a:prstGeom prst="rect">
            <a:avLst/>
          </a:prstGeom>
          <a:noFill/>
          <a:ln>
            <a:noFill/>
          </a:ln>
        </p:spPr>
      </p:pic>
      <p:pic>
        <p:nvPicPr>
          <p:cNvPr id="506" name="Google Shape;506;p46"/>
          <p:cNvPicPr preferRelativeResize="0"/>
          <p:nvPr/>
        </p:nvPicPr>
        <p:blipFill rotWithShape="1">
          <a:blip r:embed="rId5">
            <a:alphaModFix/>
          </a:blip>
          <a:srcRect b="0" l="0" r="0" t="0"/>
          <a:stretch/>
        </p:blipFill>
        <p:spPr>
          <a:xfrm>
            <a:off x="608555" y="4324350"/>
            <a:ext cx="3448050" cy="1790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500"/>
                                        <p:tgtEl>
                                          <p:spTgt spid="5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500"/>
                                        <p:tgtEl>
                                          <p:spTgt spid="5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500"/>
                                        <p:tgtEl>
                                          <p:spTgt spid="5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4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13" name="Google Shape;513;p4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of NATURAL JOIN operation</a:t>
            </a:r>
            <a:endParaRPr/>
          </a:p>
        </p:txBody>
      </p:sp>
      <p:sp>
        <p:nvSpPr>
          <p:cNvPr id="514" name="Google Shape;514;p47"/>
          <p:cNvSpPr txBox="1"/>
          <p:nvPr/>
        </p:nvSpPr>
        <p:spPr>
          <a:xfrm>
            <a:off x="1833562" y="13096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descr="fig06_07" id="515" name="Google Shape;515;p47"/>
          <p:cNvPicPr preferRelativeResize="0"/>
          <p:nvPr/>
        </p:nvPicPr>
        <p:blipFill rotWithShape="1">
          <a:blip r:embed="rId3">
            <a:alphaModFix/>
          </a:blip>
          <a:srcRect b="0" l="0" r="0" t="0"/>
          <a:stretch/>
        </p:blipFill>
        <p:spPr>
          <a:xfrm>
            <a:off x="1066800" y="1598612"/>
            <a:ext cx="7086600" cy="4802187"/>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22" name="Google Shape;522;p4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Complete Set of Relational Operations</a:t>
            </a:r>
            <a:endParaRPr/>
          </a:p>
        </p:txBody>
      </p:sp>
      <p:sp>
        <p:nvSpPr>
          <p:cNvPr id="523" name="Google Shape;523;p4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set of operations including SELECT </a:t>
            </a:r>
            <a:r>
              <a:rPr b="0" i="0" lang="en-US" sz="2800" u="none">
                <a:solidFill>
                  <a:schemeClr val="dk2"/>
                </a:solidFill>
                <a:latin typeface="Noto Sans Symbols"/>
                <a:ea typeface="Noto Sans Symbols"/>
                <a:cs typeface="Noto Sans Symbols"/>
                <a:sym typeface="Noto Sans Symbols"/>
              </a:rPr>
              <a:t>σ</a:t>
            </a:r>
            <a:r>
              <a:rPr b="0" i="0" lang="en-US" sz="2800" u="none">
                <a:solidFill>
                  <a:schemeClr val="dk2"/>
                </a:solidFill>
                <a:latin typeface="Arial"/>
                <a:ea typeface="Arial"/>
                <a:cs typeface="Arial"/>
                <a:sym typeface="Arial"/>
              </a:rPr>
              <a:t>, PROJECT </a:t>
            </a:r>
            <a:r>
              <a:rPr b="0" i="0" lang="en-US" sz="2800" u="none">
                <a:solidFill>
                  <a:schemeClr val="dk2"/>
                </a:solidFill>
                <a:latin typeface="Noto Sans Symbols"/>
                <a:ea typeface="Noto Sans Symbols"/>
                <a:cs typeface="Noto Sans Symbols"/>
                <a:sym typeface="Noto Sans Symbols"/>
              </a:rPr>
              <a:t>π</a:t>
            </a:r>
            <a:r>
              <a:rPr b="0" i="0" lang="en-US" sz="2800" u="none">
                <a:solidFill>
                  <a:schemeClr val="dk2"/>
                </a:solidFill>
                <a:latin typeface="Arial"/>
                <a:ea typeface="Arial"/>
                <a:cs typeface="Arial"/>
                <a:sym typeface="Arial"/>
              </a:rPr>
              <a:t> , UNION </a:t>
            </a:r>
            <a:r>
              <a:rPr b="0" i="0" lang="en-US" sz="2800" u="none">
                <a:solidFill>
                  <a:schemeClr val="dk2"/>
                </a:solidFill>
                <a:latin typeface="Noto Sans Symbols"/>
                <a:ea typeface="Noto Sans Symbols"/>
                <a:cs typeface="Noto Sans Symbols"/>
                <a:sym typeface="Noto Sans Symbols"/>
              </a:rPr>
              <a:t>∪</a:t>
            </a:r>
            <a:r>
              <a:rPr b="0" i="0" lang="en-US" sz="2800" u="none">
                <a:solidFill>
                  <a:schemeClr val="dk2"/>
                </a:solidFill>
                <a:latin typeface="Arial"/>
                <a:ea typeface="Arial"/>
                <a:cs typeface="Arial"/>
                <a:sym typeface="Arial"/>
              </a:rPr>
              <a:t>, DIFFERENCE </a:t>
            </a:r>
            <a:r>
              <a:rPr b="0" i="0" lang="en-US" sz="2800" u="none">
                <a:solidFill>
                  <a:schemeClr val="dk2"/>
                </a:solidFill>
                <a:latin typeface="Noto Sans Symbols"/>
                <a:ea typeface="Noto Sans Symbols"/>
                <a:cs typeface="Noto Sans Symbols"/>
                <a:sym typeface="Noto Sans Symbols"/>
              </a:rPr>
              <a:t>−</a:t>
            </a:r>
            <a:r>
              <a:rPr b="0" i="0" lang="en-US" sz="2800" u="none">
                <a:solidFill>
                  <a:schemeClr val="dk2"/>
                </a:solidFill>
                <a:latin typeface="Arial"/>
                <a:ea typeface="Arial"/>
                <a:cs typeface="Arial"/>
                <a:sym typeface="Arial"/>
              </a:rPr>
              <a:t> , RENAME ρ, and CARTESIAN PRODUCT X is called a </a:t>
            </a:r>
            <a:r>
              <a:rPr b="0" i="1" lang="en-US" sz="2800" u="none">
                <a:solidFill>
                  <a:schemeClr val="dk2"/>
                </a:solidFill>
                <a:latin typeface="Arial"/>
                <a:ea typeface="Arial"/>
                <a:cs typeface="Arial"/>
                <a:sym typeface="Arial"/>
              </a:rPr>
              <a:t>complete set</a:t>
            </a:r>
            <a:r>
              <a:rPr b="0" i="0" lang="en-US" sz="2800" u="none">
                <a:solidFill>
                  <a:schemeClr val="dk2"/>
                </a:solidFill>
                <a:latin typeface="Arial"/>
                <a:ea typeface="Arial"/>
                <a:cs typeface="Arial"/>
                <a:sym typeface="Arial"/>
              </a:rPr>
              <a:t> because any other relational algebra expression can be expressed by a combination of these five operations.</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For example: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R </a:t>
            </a:r>
            <a:r>
              <a:rPr b="0" i="0" lang="en-US" sz="2600" u="none">
                <a:solidFill>
                  <a:srgbClr val="800000"/>
                </a:solidFill>
                <a:latin typeface="Noto Sans Symbols"/>
                <a:ea typeface="Noto Sans Symbols"/>
                <a:cs typeface="Noto Sans Symbols"/>
                <a:sym typeface="Noto Sans Symbols"/>
              </a:rPr>
              <a:t>∩</a:t>
            </a:r>
            <a:r>
              <a:rPr b="0" i="0" lang="en-US" sz="2600" u="none">
                <a:solidFill>
                  <a:srgbClr val="800000"/>
                </a:solidFill>
                <a:latin typeface="Arial"/>
                <a:ea typeface="Arial"/>
                <a:cs typeface="Arial"/>
                <a:sym typeface="Arial"/>
              </a:rPr>
              <a:t> S = (R </a:t>
            </a:r>
            <a:r>
              <a:rPr b="0" i="0" lang="en-US" sz="2600" u="none">
                <a:solidFill>
                  <a:srgbClr val="800000"/>
                </a:solidFill>
                <a:latin typeface="Noto Sans Symbols"/>
                <a:ea typeface="Noto Sans Symbols"/>
                <a:cs typeface="Noto Sans Symbols"/>
                <a:sym typeface="Noto Sans Symbols"/>
              </a:rPr>
              <a:t>∪</a:t>
            </a:r>
            <a:r>
              <a:rPr b="0" i="0" lang="en-US" sz="2600" u="none">
                <a:solidFill>
                  <a:srgbClr val="800000"/>
                </a:solidFill>
                <a:latin typeface="Arial"/>
                <a:ea typeface="Arial"/>
                <a:cs typeface="Arial"/>
                <a:sym typeface="Arial"/>
              </a:rPr>
              <a:t> S ) – ((R </a:t>
            </a:r>
            <a:r>
              <a:rPr b="0" i="0" lang="en-US" sz="2600" u="none">
                <a:solidFill>
                  <a:srgbClr val="800000"/>
                </a:solidFill>
                <a:latin typeface="Noto Sans Symbols"/>
                <a:ea typeface="Noto Sans Symbols"/>
                <a:cs typeface="Noto Sans Symbols"/>
                <a:sym typeface="Noto Sans Symbols"/>
              </a:rPr>
              <a:t>−</a:t>
            </a:r>
            <a:r>
              <a:rPr b="0" i="0" lang="en-US" sz="2600" u="none">
                <a:solidFill>
                  <a:srgbClr val="800000"/>
                </a:solidFill>
                <a:latin typeface="Arial"/>
                <a:ea typeface="Arial"/>
                <a:cs typeface="Arial"/>
                <a:sym typeface="Arial"/>
              </a:rPr>
              <a:t> S) </a:t>
            </a:r>
            <a:r>
              <a:rPr b="0" i="0" lang="en-US" sz="2600" u="none">
                <a:solidFill>
                  <a:srgbClr val="800000"/>
                </a:solidFill>
                <a:latin typeface="Noto Sans Symbols"/>
                <a:ea typeface="Noto Sans Symbols"/>
                <a:cs typeface="Noto Sans Symbols"/>
                <a:sym typeface="Noto Sans Symbols"/>
              </a:rPr>
              <a:t>∪</a:t>
            </a:r>
            <a:r>
              <a:rPr b="0" i="0" lang="en-US" sz="2600" u="none">
                <a:solidFill>
                  <a:srgbClr val="800000"/>
                </a:solidFill>
                <a:latin typeface="Arial"/>
                <a:ea typeface="Arial"/>
                <a:cs typeface="Arial"/>
                <a:sym typeface="Arial"/>
              </a:rPr>
              <a:t> (S </a:t>
            </a:r>
            <a:r>
              <a:rPr b="0" i="0" lang="en-US" sz="2600" u="none">
                <a:solidFill>
                  <a:srgbClr val="800000"/>
                </a:solidFill>
                <a:latin typeface="Noto Sans Symbols"/>
                <a:ea typeface="Noto Sans Symbols"/>
                <a:cs typeface="Noto Sans Symbols"/>
                <a:sym typeface="Noto Sans Symbols"/>
              </a:rPr>
              <a:t>−</a:t>
            </a:r>
            <a:r>
              <a:rPr b="0" i="0" lang="en-US" sz="2600" u="none">
                <a:solidFill>
                  <a:srgbClr val="800000"/>
                </a:solidFill>
                <a:latin typeface="Arial"/>
                <a:ea typeface="Arial"/>
                <a:cs typeface="Arial"/>
                <a:sym typeface="Arial"/>
              </a:rPr>
              <a:t> R))</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R       </a:t>
            </a:r>
            <a:r>
              <a:rPr b="0" baseline="-25000" i="0" lang="en-US" sz="2600" u="none">
                <a:solidFill>
                  <a:srgbClr val="800000"/>
                </a:solidFill>
                <a:latin typeface="Arial"/>
                <a:ea typeface="Arial"/>
                <a:cs typeface="Arial"/>
                <a:sym typeface="Arial"/>
              </a:rPr>
              <a:t>&lt;join condition&gt;</a:t>
            </a:r>
            <a:r>
              <a:rPr b="0" i="0" lang="en-US" sz="2600" u="none">
                <a:solidFill>
                  <a:srgbClr val="800000"/>
                </a:solidFill>
                <a:latin typeface="Arial"/>
                <a:ea typeface="Arial"/>
                <a:cs typeface="Arial"/>
                <a:sym typeface="Arial"/>
              </a:rPr>
              <a:t>S = </a:t>
            </a:r>
            <a:r>
              <a:rPr b="0" i="0" lang="en-US" sz="2600" u="none">
                <a:solidFill>
                  <a:srgbClr val="800000"/>
                </a:solidFill>
                <a:latin typeface="Noto Sans Symbols"/>
                <a:ea typeface="Noto Sans Symbols"/>
                <a:cs typeface="Noto Sans Symbols"/>
                <a:sym typeface="Noto Sans Symbols"/>
              </a:rPr>
              <a:t>σ</a:t>
            </a:r>
            <a:r>
              <a:rPr b="0" i="0" lang="en-US" sz="2600" u="none">
                <a:solidFill>
                  <a:srgbClr val="800000"/>
                </a:solidFill>
                <a:latin typeface="Arial"/>
                <a:ea typeface="Arial"/>
                <a:cs typeface="Arial"/>
                <a:sym typeface="Arial"/>
              </a:rPr>
              <a:t> </a:t>
            </a:r>
            <a:r>
              <a:rPr b="0" baseline="-25000" i="0" lang="en-US" sz="2600" u="none">
                <a:solidFill>
                  <a:srgbClr val="800000"/>
                </a:solidFill>
                <a:latin typeface="Arial"/>
                <a:ea typeface="Arial"/>
                <a:cs typeface="Arial"/>
                <a:sym typeface="Arial"/>
              </a:rPr>
              <a:t>&lt;join condition&gt;</a:t>
            </a:r>
            <a:r>
              <a:rPr b="0" i="0" lang="en-US" sz="2600" u="none">
                <a:solidFill>
                  <a:srgbClr val="800000"/>
                </a:solidFill>
                <a:latin typeface="Arial"/>
                <a:ea typeface="Arial"/>
                <a:cs typeface="Arial"/>
                <a:sym typeface="Arial"/>
              </a:rPr>
              <a:t> (R X S)</a:t>
            </a:r>
            <a:endParaRPr/>
          </a:p>
        </p:txBody>
      </p:sp>
      <p:grpSp>
        <p:nvGrpSpPr>
          <p:cNvPr id="524" name="Google Shape;524;p48"/>
          <p:cNvGrpSpPr/>
          <p:nvPr/>
        </p:nvGrpSpPr>
        <p:grpSpPr>
          <a:xfrm>
            <a:off x="1417637" y="5410200"/>
            <a:ext cx="487362" cy="174625"/>
            <a:chOff x="377" y="2904"/>
            <a:chExt cx="154" cy="110"/>
          </a:xfrm>
        </p:grpSpPr>
        <p:cxnSp>
          <p:nvCxnSpPr>
            <p:cNvPr id="525" name="Google Shape;525;p48"/>
            <p:cNvCxnSpPr/>
            <p:nvPr/>
          </p:nvCxnSpPr>
          <p:spPr>
            <a:xfrm>
              <a:off x="381" y="2904"/>
              <a:ext cx="0" cy="110"/>
            </a:xfrm>
            <a:prstGeom prst="straightConnector1">
              <a:avLst/>
            </a:prstGeom>
            <a:noFill/>
            <a:ln cap="flat" cmpd="sng" w="22225">
              <a:solidFill>
                <a:schemeClr val="lt2"/>
              </a:solidFill>
              <a:prstDash val="solid"/>
              <a:miter lim="800000"/>
              <a:headEnd len="sm" w="sm" type="none"/>
              <a:tailEnd len="sm" w="sm" type="none"/>
            </a:ln>
          </p:spPr>
        </p:cxnSp>
        <p:cxnSp>
          <p:nvCxnSpPr>
            <p:cNvPr id="526" name="Google Shape;526;p48"/>
            <p:cNvCxnSpPr/>
            <p:nvPr/>
          </p:nvCxnSpPr>
          <p:spPr>
            <a:xfrm>
              <a:off x="527" y="2904"/>
              <a:ext cx="0" cy="110"/>
            </a:xfrm>
            <a:prstGeom prst="straightConnector1">
              <a:avLst/>
            </a:prstGeom>
            <a:noFill/>
            <a:ln cap="flat" cmpd="sng" w="22225">
              <a:solidFill>
                <a:schemeClr val="lt2"/>
              </a:solidFill>
              <a:prstDash val="solid"/>
              <a:miter lim="800000"/>
              <a:headEnd len="sm" w="sm" type="none"/>
              <a:tailEnd len="sm" w="sm" type="none"/>
            </a:ln>
          </p:spPr>
        </p:cxnSp>
        <p:cxnSp>
          <p:nvCxnSpPr>
            <p:cNvPr id="527" name="Google Shape;527;p48"/>
            <p:cNvCxnSpPr/>
            <p:nvPr/>
          </p:nvCxnSpPr>
          <p:spPr>
            <a:xfrm>
              <a:off x="385" y="2904"/>
              <a:ext cx="138" cy="110"/>
            </a:xfrm>
            <a:prstGeom prst="straightConnector1">
              <a:avLst/>
            </a:prstGeom>
            <a:noFill/>
            <a:ln cap="flat" cmpd="sng" w="22225">
              <a:solidFill>
                <a:schemeClr val="lt2"/>
              </a:solidFill>
              <a:prstDash val="solid"/>
              <a:miter lim="800000"/>
              <a:headEnd len="sm" w="sm" type="none"/>
              <a:tailEnd len="sm" w="sm" type="none"/>
            </a:ln>
          </p:spPr>
        </p:cxnSp>
        <p:cxnSp>
          <p:nvCxnSpPr>
            <p:cNvPr id="528" name="Google Shape;528;p48"/>
            <p:cNvCxnSpPr/>
            <p:nvPr/>
          </p:nvCxnSpPr>
          <p:spPr>
            <a:xfrm flipH="1">
              <a:off x="377" y="2904"/>
              <a:ext cx="154" cy="110"/>
            </a:xfrm>
            <a:prstGeom prst="straightConnector1">
              <a:avLst/>
            </a:prstGeom>
            <a:noFill/>
            <a:ln cap="flat" cmpd="sng" w="22225">
              <a:solidFill>
                <a:schemeClr val="lt2"/>
              </a:solidFill>
              <a:prstDash val="solid"/>
              <a:miter lim="800000"/>
              <a:headEnd len="sm" w="sm" type="none"/>
              <a:tailEnd len="sm" w="sm" type="none"/>
            </a:ln>
          </p:spPr>
        </p:cxn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4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35" name="Google Shape;535;p4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Binary Relational Operations: DIVISION</a:t>
            </a:r>
            <a:endParaRPr/>
          </a:p>
        </p:txBody>
      </p:sp>
      <p:sp>
        <p:nvSpPr>
          <p:cNvPr id="536" name="Google Shape;536;p4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DIVISION Operation</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division operation is applied to two relations R and S</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R(Z)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S(X), where X is subset of Z. </a:t>
            </a:r>
            <a:endParaRPr b="0" i="0" sz="2200" u="none">
              <a:solidFill>
                <a:srgbClr val="800000"/>
              </a:solidFill>
              <a:latin typeface="Arial"/>
              <a:ea typeface="Arial"/>
              <a:cs typeface="Arial"/>
              <a:sym typeface="Arial"/>
            </a:endParaRPr>
          </a:p>
          <a:p>
            <a:pPr indent="-208915" lvl="1" marL="742950" rtl="0" algn="l">
              <a:lnSpc>
                <a:spcPct val="90000"/>
              </a:lnSpc>
              <a:spcBef>
                <a:spcPts val="440"/>
              </a:spcBef>
              <a:spcAft>
                <a:spcPts val="0"/>
              </a:spcAft>
              <a:buClr>
                <a:schemeClr val="dk2"/>
              </a:buClr>
              <a:buSzPts val="1210"/>
              <a:buFont typeface="Noto Sans Symbols"/>
              <a:buNone/>
            </a:pPr>
            <a:r>
              <a:t/>
            </a:r>
            <a:endParaRPr b="0" i="0" sz="2200" u="none">
              <a:solidFill>
                <a:srgbClr val="800000"/>
              </a:solidFill>
              <a:latin typeface="Arial"/>
              <a:ea typeface="Arial"/>
              <a:cs typeface="Arial"/>
              <a:sym typeface="Arial"/>
            </a:endParaRPr>
          </a:p>
          <a:p>
            <a:pPr indent="-297180" lvl="0" marL="457200" rtl="0" algn="l">
              <a:lnSpc>
                <a:spcPct val="100000"/>
              </a:lnSpc>
              <a:spcBef>
                <a:spcPts val="360"/>
              </a:spcBef>
              <a:spcAft>
                <a:spcPts val="0"/>
              </a:spcAft>
              <a:buSzPts val="1080"/>
              <a:buChar char="■"/>
            </a:pPr>
            <a:r>
              <a:rPr lang="en-US"/>
              <a:t>The division operator is used for queries which involve the 'all'.</a:t>
            </a:r>
            <a:endParaRPr/>
          </a:p>
          <a:p>
            <a:pPr indent="-291465" lvl="1" marL="914400" rtl="0" algn="l">
              <a:lnSpc>
                <a:spcPct val="100000"/>
              </a:lnSpc>
              <a:spcBef>
                <a:spcPts val="360"/>
              </a:spcBef>
              <a:spcAft>
                <a:spcPts val="0"/>
              </a:spcAft>
              <a:buSzPts val="990"/>
              <a:buChar char="■"/>
            </a:pPr>
            <a:r>
              <a:rPr lang="en-US"/>
              <a:t>R1 ÷ R2 = tuples of R1 associated with all tuples of R2.</a:t>
            </a:r>
            <a:endParaRPr/>
          </a:p>
          <a:p>
            <a:pPr indent="-297180" lvl="0" marL="457200" rtl="0" algn="l">
              <a:lnSpc>
                <a:spcPct val="100000"/>
              </a:lnSpc>
              <a:spcBef>
                <a:spcPts val="360"/>
              </a:spcBef>
              <a:spcAft>
                <a:spcPts val="0"/>
              </a:spcAft>
              <a:buSzPts val="1080"/>
              <a:buChar char="■"/>
            </a:pPr>
            <a:r>
              <a:rPr lang="en-US"/>
              <a:t>Example</a:t>
            </a:r>
            <a:endParaRPr/>
          </a:p>
          <a:p>
            <a:pPr indent="-291465" lvl="1" marL="914400" rtl="0" algn="l">
              <a:lnSpc>
                <a:spcPct val="100000"/>
              </a:lnSpc>
              <a:spcBef>
                <a:spcPts val="360"/>
              </a:spcBef>
              <a:spcAft>
                <a:spcPts val="0"/>
              </a:spcAft>
              <a:buSzPts val="990"/>
              <a:buChar char="■"/>
            </a:pPr>
            <a:r>
              <a:rPr lang="en-US"/>
              <a:t>Retrieve the name of the subject that is taught in all courses.</a:t>
            </a:r>
            <a:endParaRPr/>
          </a:p>
          <a:p>
            <a:pPr indent="-228600" lvl="0" marL="457200" rtl="0" algn="l">
              <a:lnSpc>
                <a:spcPct val="100000"/>
              </a:lnSpc>
              <a:spcBef>
                <a:spcPts val="360"/>
              </a:spcBef>
              <a:spcAft>
                <a:spcPts val="0"/>
              </a:spcAft>
              <a:buSzPts val="108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5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2" name="Google Shape;542;p5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p:txBody>
      </p:sp>
      <p:sp>
        <p:nvSpPr>
          <p:cNvPr id="543" name="Google Shape;543;p50"/>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6- </a:t>
            </a:r>
            <a:fld id="{00000000-1234-1234-1234-123412341234}" type="slidenum">
              <a:rPr lang="en-US"/>
              <a:t>‹#›</a:t>
            </a:fld>
            <a:endParaRPr/>
          </a:p>
        </p:txBody>
      </p:sp>
      <p:pic>
        <p:nvPicPr>
          <p:cNvPr id="544" name="Google Shape;544;p50"/>
          <p:cNvPicPr preferRelativeResize="0"/>
          <p:nvPr/>
        </p:nvPicPr>
        <p:blipFill rotWithShape="1">
          <a:blip r:embed="rId3">
            <a:alphaModFix/>
          </a:blip>
          <a:srcRect b="0" l="0" r="0" t="0"/>
          <a:stretch/>
        </p:blipFill>
        <p:spPr>
          <a:xfrm>
            <a:off x="789141" y="2183925"/>
            <a:ext cx="2188206" cy="1644639"/>
          </a:xfrm>
          <a:prstGeom prst="rect">
            <a:avLst/>
          </a:prstGeom>
          <a:noFill/>
          <a:ln>
            <a:noFill/>
          </a:ln>
        </p:spPr>
      </p:pic>
      <p:pic>
        <p:nvPicPr>
          <p:cNvPr id="545" name="Google Shape;545;p50"/>
          <p:cNvPicPr preferRelativeResize="0"/>
          <p:nvPr/>
        </p:nvPicPr>
        <p:blipFill rotWithShape="1">
          <a:blip r:embed="rId4">
            <a:alphaModFix/>
          </a:blip>
          <a:srcRect b="0" l="0" r="0" t="0"/>
          <a:stretch/>
        </p:blipFill>
        <p:spPr>
          <a:xfrm>
            <a:off x="789141" y="3997497"/>
            <a:ext cx="1264150" cy="1420664"/>
          </a:xfrm>
          <a:prstGeom prst="rect">
            <a:avLst/>
          </a:prstGeom>
          <a:noFill/>
          <a:ln>
            <a:noFill/>
          </a:ln>
        </p:spPr>
      </p:pic>
      <p:pic>
        <p:nvPicPr>
          <p:cNvPr id="546" name="Google Shape;546;p50"/>
          <p:cNvPicPr preferRelativeResize="0"/>
          <p:nvPr/>
        </p:nvPicPr>
        <p:blipFill rotWithShape="1">
          <a:blip r:embed="rId5">
            <a:alphaModFix/>
          </a:blip>
          <a:srcRect b="0" l="0" r="0" t="0"/>
          <a:stretch/>
        </p:blipFill>
        <p:spPr>
          <a:xfrm>
            <a:off x="3443190" y="3401868"/>
            <a:ext cx="1428945" cy="137967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5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2" name="Google Shape;552;p5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To retrieve the Employee ID(EID) of all employees works on all projects. </a:t>
            </a:r>
            <a:endParaRPr/>
          </a:p>
        </p:txBody>
      </p:sp>
      <p:sp>
        <p:nvSpPr>
          <p:cNvPr id="553" name="Google Shape;553;p51"/>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6- </a:t>
            </a:r>
            <a:fld id="{00000000-1234-1234-1234-123412341234}" type="slidenum">
              <a:rPr lang="en-US"/>
              <a:t>‹#›</a:t>
            </a:fld>
            <a:endParaRPr/>
          </a:p>
        </p:txBody>
      </p:sp>
      <p:pic>
        <p:nvPicPr>
          <p:cNvPr id="554" name="Google Shape;554;p51"/>
          <p:cNvPicPr preferRelativeResize="0"/>
          <p:nvPr/>
        </p:nvPicPr>
        <p:blipFill rotWithShape="1">
          <a:blip r:embed="rId3">
            <a:alphaModFix/>
          </a:blip>
          <a:srcRect b="0" l="0" r="0" t="0"/>
          <a:stretch/>
        </p:blipFill>
        <p:spPr>
          <a:xfrm>
            <a:off x="459289" y="2630928"/>
            <a:ext cx="2638793" cy="1829055"/>
          </a:xfrm>
          <a:prstGeom prst="rect">
            <a:avLst/>
          </a:prstGeom>
          <a:noFill/>
          <a:ln>
            <a:noFill/>
          </a:ln>
        </p:spPr>
      </p:pic>
      <p:pic>
        <p:nvPicPr>
          <p:cNvPr id="555" name="Google Shape;555;p51"/>
          <p:cNvPicPr preferRelativeResize="0"/>
          <p:nvPr/>
        </p:nvPicPr>
        <p:blipFill rotWithShape="1">
          <a:blip r:embed="rId4">
            <a:alphaModFix/>
          </a:blip>
          <a:srcRect b="0" l="0" r="0" t="0"/>
          <a:stretch/>
        </p:blipFill>
        <p:spPr>
          <a:xfrm>
            <a:off x="3510632" y="2630928"/>
            <a:ext cx="1752845" cy="1114581"/>
          </a:xfrm>
          <a:prstGeom prst="rect">
            <a:avLst/>
          </a:prstGeom>
          <a:noFill/>
          <a:ln>
            <a:noFill/>
          </a:ln>
        </p:spPr>
      </p:pic>
      <p:pic>
        <p:nvPicPr>
          <p:cNvPr id="556" name="Google Shape;556;p51"/>
          <p:cNvPicPr preferRelativeResize="0"/>
          <p:nvPr/>
        </p:nvPicPr>
        <p:blipFill rotWithShape="1">
          <a:blip r:embed="rId5">
            <a:alphaModFix/>
          </a:blip>
          <a:srcRect b="0" l="0" r="0" t="0"/>
          <a:stretch/>
        </p:blipFill>
        <p:spPr>
          <a:xfrm>
            <a:off x="3510632" y="4302798"/>
            <a:ext cx="3524742" cy="314369"/>
          </a:xfrm>
          <a:prstGeom prst="rect">
            <a:avLst/>
          </a:prstGeom>
          <a:noFill/>
          <a:ln>
            <a:noFill/>
          </a:ln>
        </p:spPr>
      </p:pic>
      <p:pic>
        <p:nvPicPr>
          <p:cNvPr id="557" name="Google Shape;557;p51"/>
          <p:cNvPicPr preferRelativeResize="0"/>
          <p:nvPr/>
        </p:nvPicPr>
        <p:blipFill rotWithShape="1">
          <a:blip r:embed="rId6">
            <a:alphaModFix/>
          </a:blip>
          <a:srcRect b="0" l="0" r="0" t="0"/>
          <a:stretch/>
        </p:blipFill>
        <p:spPr>
          <a:xfrm>
            <a:off x="534390" y="4805378"/>
            <a:ext cx="2629267" cy="81926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500"/>
                                        <p:tgtEl>
                                          <p:spTgt spid="5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5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 R and S Relation</a:t>
            </a:r>
            <a:endParaRPr/>
          </a:p>
        </p:txBody>
      </p:sp>
      <p:sp>
        <p:nvSpPr>
          <p:cNvPr id="563" name="Google Shape;563;p5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p:txBody>
      </p:sp>
      <p:sp>
        <p:nvSpPr>
          <p:cNvPr id="564" name="Google Shape;564;p52"/>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6- </a:t>
            </a:r>
            <a:fld id="{00000000-1234-1234-1234-123412341234}" type="slidenum">
              <a:rPr lang="en-US"/>
              <a:t>‹#›</a:t>
            </a:fld>
            <a:endParaRPr/>
          </a:p>
        </p:txBody>
      </p:sp>
      <p:pic>
        <p:nvPicPr>
          <p:cNvPr id="565" name="Google Shape;565;p52"/>
          <p:cNvPicPr preferRelativeResize="0"/>
          <p:nvPr/>
        </p:nvPicPr>
        <p:blipFill rotWithShape="1">
          <a:blip r:embed="rId3">
            <a:alphaModFix/>
          </a:blip>
          <a:srcRect b="0" l="0" r="0" t="0"/>
          <a:stretch/>
        </p:blipFill>
        <p:spPr>
          <a:xfrm>
            <a:off x="308977" y="1598922"/>
            <a:ext cx="2610214" cy="2124371"/>
          </a:xfrm>
          <a:prstGeom prst="rect">
            <a:avLst/>
          </a:prstGeom>
          <a:noFill/>
          <a:ln>
            <a:noFill/>
          </a:ln>
        </p:spPr>
      </p:pic>
      <p:pic>
        <p:nvPicPr>
          <p:cNvPr id="566" name="Google Shape;566;p52"/>
          <p:cNvPicPr preferRelativeResize="0"/>
          <p:nvPr/>
        </p:nvPicPr>
        <p:blipFill rotWithShape="1">
          <a:blip r:embed="rId4">
            <a:alphaModFix/>
          </a:blip>
          <a:srcRect b="0" l="0" r="0" t="0"/>
          <a:stretch/>
        </p:blipFill>
        <p:spPr>
          <a:xfrm>
            <a:off x="3115799" y="1598922"/>
            <a:ext cx="1790950" cy="1143160"/>
          </a:xfrm>
          <a:prstGeom prst="rect">
            <a:avLst/>
          </a:prstGeom>
          <a:noFill/>
          <a:ln>
            <a:noFill/>
          </a:ln>
        </p:spPr>
      </p:pic>
      <p:pic>
        <p:nvPicPr>
          <p:cNvPr id="567" name="Google Shape;567;p52"/>
          <p:cNvPicPr preferRelativeResize="0"/>
          <p:nvPr/>
        </p:nvPicPr>
        <p:blipFill rotWithShape="1">
          <a:blip r:embed="rId5">
            <a:alphaModFix/>
          </a:blip>
          <a:srcRect b="0" l="0" r="0" t="0"/>
          <a:stretch/>
        </p:blipFill>
        <p:spPr>
          <a:xfrm>
            <a:off x="442345" y="3964601"/>
            <a:ext cx="1171739" cy="1467055"/>
          </a:xfrm>
          <a:prstGeom prst="rect">
            <a:avLst/>
          </a:prstGeom>
          <a:noFill/>
          <a:ln>
            <a:noFill/>
          </a:ln>
        </p:spPr>
      </p:pic>
      <p:pic>
        <p:nvPicPr>
          <p:cNvPr id="568" name="Google Shape;568;p52"/>
          <p:cNvPicPr preferRelativeResize="0"/>
          <p:nvPr/>
        </p:nvPicPr>
        <p:blipFill rotWithShape="1">
          <a:blip r:embed="rId6">
            <a:alphaModFix/>
          </a:blip>
          <a:srcRect b="0" l="0" r="0" t="0"/>
          <a:stretch/>
        </p:blipFill>
        <p:spPr>
          <a:xfrm>
            <a:off x="1899313" y="3852666"/>
            <a:ext cx="1381318" cy="2810267"/>
          </a:xfrm>
          <a:prstGeom prst="rect">
            <a:avLst/>
          </a:prstGeom>
          <a:noFill/>
          <a:ln>
            <a:noFill/>
          </a:ln>
        </p:spPr>
      </p:pic>
      <p:pic>
        <p:nvPicPr>
          <p:cNvPr id="569" name="Google Shape;569;p52"/>
          <p:cNvPicPr preferRelativeResize="0"/>
          <p:nvPr/>
        </p:nvPicPr>
        <p:blipFill rotWithShape="1">
          <a:blip r:embed="rId7">
            <a:alphaModFix/>
          </a:blip>
          <a:srcRect b="0" l="0" r="0" t="0"/>
          <a:stretch/>
        </p:blipFill>
        <p:spPr>
          <a:xfrm>
            <a:off x="5083964" y="1598922"/>
            <a:ext cx="2676899" cy="1000265"/>
          </a:xfrm>
          <a:prstGeom prst="rect">
            <a:avLst/>
          </a:prstGeom>
          <a:noFill/>
          <a:ln>
            <a:noFill/>
          </a:ln>
        </p:spPr>
      </p:pic>
      <p:pic>
        <p:nvPicPr>
          <p:cNvPr id="570" name="Google Shape;570;p52"/>
          <p:cNvPicPr preferRelativeResize="0"/>
          <p:nvPr/>
        </p:nvPicPr>
        <p:blipFill rotWithShape="1">
          <a:blip r:embed="rId8">
            <a:alphaModFix/>
          </a:blip>
          <a:srcRect b="0" l="0" r="0" t="0"/>
          <a:stretch/>
        </p:blipFill>
        <p:spPr>
          <a:xfrm>
            <a:off x="3393549" y="3852666"/>
            <a:ext cx="2743583" cy="1143160"/>
          </a:xfrm>
          <a:prstGeom prst="rect">
            <a:avLst/>
          </a:prstGeom>
          <a:noFill/>
          <a:ln>
            <a:noFill/>
          </a:ln>
        </p:spPr>
      </p:pic>
      <p:pic>
        <p:nvPicPr>
          <p:cNvPr id="571" name="Google Shape;571;p52"/>
          <p:cNvPicPr preferRelativeResize="0"/>
          <p:nvPr/>
        </p:nvPicPr>
        <p:blipFill rotWithShape="1">
          <a:blip r:embed="rId9">
            <a:alphaModFix/>
          </a:blip>
          <a:srcRect b="0" l="0" r="0" t="0"/>
          <a:stretch/>
        </p:blipFill>
        <p:spPr>
          <a:xfrm>
            <a:off x="6512913" y="3852666"/>
            <a:ext cx="1362265" cy="1162212"/>
          </a:xfrm>
          <a:prstGeom prst="rect">
            <a:avLst/>
          </a:prstGeom>
          <a:noFill/>
          <a:ln>
            <a:noFill/>
          </a:ln>
        </p:spPr>
      </p:pic>
      <p:pic>
        <p:nvPicPr>
          <p:cNvPr id="572" name="Google Shape;572;p52"/>
          <p:cNvPicPr preferRelativeResize="0"/>
          <p:nvPr/>
        </p:nvPicPr>
        <p:blipFill rotWithShape="1">
          <a:blip r:embed="rId10">
            <a:alphaModFix/>
          </a:blip>
          <a:srcRect b="0" l="0" r="0" t="0"/>
          <a:stretch/>
        </p:blipFill>
        <p:spPr>
          <a:xfrm>
            <a:off x="3830379" y="5487428"/>
            <a:ext cx="1428949" cy="81926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5"/>
                                        </p:tgtEl>
                                        <p:attrNameLst>
                                          <p:attrName>style.visibility</p:attrName>
                                        </p:attrNameLst>
                                      </p:cBhvr>
                                      <p:to>
                                        <p:strVal val="visible"/>
                                      </p:to>
                                    </p:set>
                                    <p:anim calcmode="lin" valueType="num">
                                      <p:cBhvr additive="base">
                                        <p:cTn dur="500"/>
                                        <p:tgtEl>
                                          <p:spTgt spid="56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6"/>
                                        </p:tgtEl>
                                        <p:attrNameLst>
                                          <p:attrName>style.visibility</p:attrName>
                                        </p:attrNameLst>
                                      </p:cBhvr>
                                      <p:to>
                                        <p:strVal val="visible"/>
                                      </p:to>
                                    </p:set>
                                    <p:anim calcmode="lin" valueType="num">
                                      <p:cBhvr additive="base">
                                        <p:cTn dur="500"/>
                                        <p:tgtEl>
                                          <p:spTgt spid="56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gtEl>
                                        <p:attrNameLst>
                                          <p:attrName>style.visibility</p:attrName>
                                        </p:attrNameLst>
                                      </p:cBhvr>
                                      <p:to>
                                        <p:strVal val="visible"/>
                                      </p:to>
                                    </p:set>
                                    <p:animEffect filter="fade" transition="in">
                                      <p:cBhvr>
                                        <p:cTn dur="500"/>
                                        <p:tgtEl>
                                          <p:spTgt spid="5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7"/>
                                        </p:tgtEl>
                                        <p:attrNameLst>
                                          <p:attrName>style.visibility</p:attrName>
                                        </p:attrNameLst>
                                      </p:cBhvr>
                                      <p:to>
                                        <p:strVal val="visible"/>
                                      </p:to>
                                    </p:set>
                                    <p:animEffect filter="fade" transition="in">
                                      <p:cBhvr>
                                        <p:cTn dur="500"/>
                                        <p:tgtEl>
                                          <p:spTgt spid="5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8"/>
                                        </p:tgtEl>
                                        <p:attrNameLst>
                                          <p:attrName>style.visibility</p:attrName>
                                        </p:attrNameLst>
                                      </p:cBhvr>
                                      <p:to>
                                        <p:strVal val="visible"/>
                                      </p:to>
                                    </p:set>
                                    <p:animEffect filter="fade" transition="in">
                                      <p:cBhvr>
                                        <p:cTn dur="500"/>
                                        <p:tgtEl>
                                          <p:spTgt spid="5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500"/>
                                        <p:tgtEl>
                                          <p:spTgt spid="5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500"/>
                                        <p:tgtEl>
                                          <p:spTgt spid="5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gtEl>
                                        <p:attrNameLst>
                                          <p:attrName>style.visibility</p:attrName>
                                        </p:attrNameLst>
                                      </p:cBhvr>
                                      <p:to>
                                        <p:strVal val="visible"/>
                                      </p:to>
                                    </p:set>
                                    <p:animEffect filter="fade" transition="in">
                                      <p:cBhvr>
                                        <p:cTn dur="500"/>
                                        <p:tgtEl>
                                          <p:spTgt spid="5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79" name="Google Shape;579;p5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of DIVISION</a:t>
            </a:r>
            <a:endParaRPr/>
          </a:p>
        </p:txBody>
      </p:sp>
      <p:pic>
        <p:nvPicPr>
          <p:cNvPr descr="fig06_08" id="580" name="Google Shape;580;p53"/>
          <p:cNvPicPr preferRelativeResize="0"/>
          <p:nvPr/>
        </p:nvPicPr>
        <p:blipFill rotWithShape="1">
          <a:blip r:embed="rId3">
            <a:alphaModFix/>
          </a:blip>
          <a:srcRect b="0" l="0" r="0" t="0"/>
          <a:stretch/>
        </p:blipFill>
        <p:spPr>
          <a:xfrm>
            <a:off x="1295400" y="1660525"/>
            <a:ext cx="6400800" cy="47402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87" name="Google Shape;587;p5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Recap of Relational Algebra Operations</a:t>
            </a:r>
            <a:endParaRPr/>
          </a:p>
        </p:txBody>
      </p:sp>
      <p:pic>
        <p:nvPicPr>
          <p:cNvPr descr="tbl06_01" id="588" name="Google Shape;588;p54"/>
          <p:cNvPicPr preferRelativeResize="0"/>
          <p:nvPr/>
        </p:nvPicPr>
        <p:blipFill rotWithShape="1">
          <a:blip r:embed="rId3">
            <a:alphaModFix/>
          </a:blip>
          <a:srcRect b="0" l="0" r="0" t="0"/>
          <a:stretch/>
        </p:blipFill>
        <p:spPr>
          <a:xfrm>
            <a:off x="2057400" y="1600200"/>
            <a:ext cx="4876800" cy="48768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5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95" name="Google Shape;595;p5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Additional Relational Operations: Aggregate Functions and Grouping</a:t>
            </a:r>
            <a:endParaRPr/>
          </a:p>
        </p:txBody>
      </p:sp>
      <p:sp>
        <p:nvSpPr>
          <p:cNvPr id="596" name="Google Shape;596;p5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 type of request that cannot be expressed in the basic relational algebra is to specify mathematical </a:t>
            </a:r>
            <a:r>
              <a:rPr b="1" i="0" lang="en-US" sz="2400" u="none">
                <a:solidFill>
                  <a:schemeClr val="dk2"/>
                </a:solidFill>
                <a:latin typeface="Arial"/>
                <a:ea typeface="Arial"/>
                <a:cs typeface="Arial"/>
                <a:sym typeface="Arial"/>
              </a:rPr>
              <a:t>aggregate functions</a:t>
            </a:r>
            <a:r>
              <a:rPr b="0" i="0" lang="en-US" sz="2400" u="none">
                <a:solidFill>
                  <a:schemeClr val="dk2"/>
                </a:solidFill>
                <a:latin typeface="Arial"/>
                <a:ea typeface="Arial"/>
                <a:cs typeface="Arial"/>
                <a:sym typeface="Arial"/>
              </a:rPr>
              <a:t> on collections of values from the database. </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Examples of such functions include retrieving the average or total salary of all employees or the total number of employee tuples.</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These functions are used in simple statistical queries that summarize information from the database tuples.</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Common functions applied to collections of numeric values include</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SUM, AVERAGE, MAXIMUM, and MINIMUM.</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The COUNT function is used for counting tuples or values.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5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03" name="Google Shape;603;p5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Aggregate Function Operation</a:t>
            </a:r>
            <a:endParaRPr/>
          </a:p>
        </p:txBody>
      </p:sp>
      <p:sp>
        <p:nvSpPr>
          <p:cNvPr id="604" name="Google Shape;604;p5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Use of the Aggregate Functional operation ℱ</a:t>
            </a:r>
            <a:endParaRPr b="0" i="0" sz="2400" u="none">
              <a:solidFill>
                <a:schemeClr val="dk2"/>
              </a:solidFill>
              <a:latin typeface="Arial"/>
              <a:ea typeface="Arial"/>
              <a:cs typeface="Arial"/>
              <a:sym typeface="Arial"/>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ℱ</a:t>
            </a:r>
            <a:r>
              <a:rPr b="0" baseline="-25000" i="0" lang="en-US" sz="2200" u="none">
                <a:solidFill>
                  <a:srgbClr val="800000"/>
                </a:solidFill>
                <a:latin typeface="Arial"/>
                <a:ea typeface="Arial"/>
                <a:cs typeface="Arial"/>
                <a:sym typeface="Arial"/>
              </a:rPr>
              <a:t>MAX Salary</a:t>
            </a:r>
            <a:r>
              <a:rPr b="0" i="0" lang="en-US" sz="2200" u="none">
                <a:solidFill>
                  <a:srgbClr val="800000"/>
                </a:solidFill>
                <a:latin typeface="Arial"/>
                <a:ea typeface="Arial"/>
                <a:cs typeface="Arial"/>
                <a:sym typeface="Arial"/>
              </a:rPr>
              <a:t> (EMPLOYEE) retrieves the maximum salary value from the EMPLOYEE relation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ℱ</a:t>
            </a:r>
            <a:r>
              <a:rPr b="0" baseline="-25000" i="0" lang="en-US" sz="2200" u="none">
                <a:solidFill>
                  <a:srgbClr val="800000"/>
                </a:solidFill>
                <a:latin typeface="Arial"/>
                <a:ea typeface="Arial"/>
                <a:cs typeface="Arial"/>
                <a:sym typeface="Arial"/>
              </a:rPr>
              <a:t>MIN Salary</a:t>
            </a:r>
            <a:r>
              <a:rPr b="0" i="0" lang="en-US" sz="2200" u="none">
                <a:solidFill>
                  <a:srgbClr val="800000"/>
                </a:solidFill>
                <a:latin typeface="Arial"/>
                <a:ea typeface="Arial"/>
                <a:cs typeface="Arial"/>
                <a:sym typeface="Arial"/>
              </a:rPr>
              <a:t> (EMPLOYEE) retrieves the minimum Salary value from the EMPLOYEE relation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ℱ</a:t>
            </a:r>
            <a:r>
              <a:rPr b="0" baseline="-25000" i="0" lang="en-US" sz="2200" u="none">
                <a:solidFill>
                  <a:srgbClr val="800000"/>
                </a:solidFill>
                <a:latin typeface="Arial"/>
                <a:ea typeface="Arial"/>
                <a:cs typeface="Arial"/>
                <a:sym typeface="Arial"/>
              </a:rPr>
              <a:t>SUM Salary</a:t>
            </a:r>
            <a:r>
              <a:rPr b="0" i="0" lang="en-US" sz="2200" u="none">
                <a:solidFill>
                  <a:srgbClr val="800000"/>
                </a:solidFill>
                <a:latin typeface="Arial"/>
                <a:ea typeface="Arial"/>
                <a:cs typeface="Arial"/>
                <a:sym typeface="Arial"/>
              </a:rPr>
              <a:t> (EMPLOYEE) retrieves the sum of the Salary from the EMPLOYEE relation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 ℱ</a:t>
            </a:r>
            <a:r>
              <a:rPr b="0" baseline="-25000" i="0" lang="en-US" sz="2200" u="none">
                <a:solidFill>
                  <a:srgbClr val="800000"/>
                </a:solidFill>
                <a:latin typeface="Arial"/>
                <a:ea typeface="Arial"/>
                <a:cs typeface="Arial"/>
                <a:sym typeface="Arial"/>
              </a:rPr>
              <a:t>COUNT SSN, AVERAGE Salary</a:t>
            </a:r>
            <a:r>
              <a:rPr b="0" i="0" lang="en-US" sz="2200" u="none">
                <a:solidFill>
                  <a:srgbClr val="800000"/>
                </a:solidFill>
                <a:latin typeface="Arial"/>
                <a:ea typeface="Arial"/>
                <a:cs typeface="Arial"/>
                <a:sym typeface="Arial"/>
              </a:rPr>
              <a:t> (EMPLOYEE) computes the count (number) of employees and their average salary</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Note: count just counts the number of rows, without removing duplicates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5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11" name="Google Shape;611;p5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Using Grouping with Aggregation</a:t>
            </a:r>
            <a:endParaRPr/>
          </a:p>
        </p:txBody>
      </p:sp>
      <p:sp>
        <p:nvSpPr>
          <p:cNvPr id="612" name="Google Shape;612;p5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The previous examples all summarized one or more attributes for a set of tuples</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Maximum Salary or Count (number of) Ssn</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Grouping can be combined with Aggregate Functions</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 For each department, retrieve the DNO, COUNT SSN, and AVERAGE SALARY</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 variation of aggregate operation ℱ allows this:</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Grouping attribute placed to left of symbol</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Aggregate functions to right of symbol</a:t>
            </a:r>
            <a:endParaRPr/>
          </a:p>
          <a:p>
            <a:pPr indent="-285750" lvl="1" marL="742950" rtl="0" algn="l">
              <a:lnSpc>
                <a:spcPct val="80000"/>
              </a:lnSpc>
              <a:spcBef>
                <a:spcPts val="440"/>
              </a:spcBef>
              <a:spcAft>
                <a:spcPts val="0"/>
              </a:spcAft>
              <a:buClr>
                <a:schemeClr val="dk2"/>
              </a:buClr>
              <a:buSzPts val="1210"/>
              <a:buFont typeface="Noto Sans Symbols"/>
              <a:buChar char="■"/>
            </a:pPr>
            <a:r>
              <a:rPr b="0" baseline="-25000" i="0" lang="en-US" sz="2200" u="none">
                <a:solidFill>
                  <a:srgbClr val="800000"/>
                </a:solidFill>
                <a:latin typeface="Arial"/>
                <a:ea typeface="Arial"/>
                <a:cs typeface="Arial"/>
                <a:sym typeface="Arial"/>
              </a:rPr>
              <a:t>DNO</a:t>
            </a:r>
            <a:r>
              <a:rPr b="0" i="0" lang="en-US" sz="2200" u="none">
                <a:solidFill>
                  <a:srgbClr val="800000"/>
                </a:solidFill>
                <a:latin typeface="Arial"/>
                <a:ea typeface="Arial"/>
                <a:cs typeface="Arial"/>
                <a:sym typeface="Arial"/>
              </a:rPr>
              <a:t> ℱ</a:t>
            </a:r>
            <a:r>
              <a:rPr b="0" baseline="-25000" i="0" lang="en-US" sz="2200" u="none">
                <a:solidFill>
                  <a:srgbClr val="800000"/>
                </a:solidFill>
                <a:latin typeface="Arial"/>
                <a:ea typeface="Arial"/>
                <a:cs typeface="Arial"/>
                <a:sym typeface="Arial"/>
              </a:rPr>
              <a:t>COUNT SSN, AVERAGE Salary</a:t>
            </a:r>
            <a:r>
              <a:rPr b="0" i="0" lang="en-US" sz="2200" u="none">
                <a:solidFill>
                  <a:srgbClr val="800000"/>
                </a:solidFill>
                <a:latin typeface="Arial"/>
                <a:ea typeface="Arial"/>
                <a:cs typeface="Arial"/>
                <a:sym typeface="Arial"/>
              </a:rPr>
              <a:t> (EMPLOYEE)</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Above operation groups employees by DNO (department number) and computes the count of employees and average salary per department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2">
                                            <p:txEl>
                                              <p:pRg end="0" st="0"/>
                                            </p:txEl>
                                          </p:spTgt>
                                        </p:tgtEl>
                                        <p:attrNameLst>
                                          <p:attrName>style.visibility</p:attrName>
                                        </p:attrNameLst>
                                      </p:cBhvr>
                                      <p:to>
                                        <p:strVal val="visible"/>
                                      </p:to>
                                    </p:set>
                                    <p:anim calcmode="lin" valueType="num">
                                      <p:cBhvr additive="base">
                                        <p:cTn dur="500"/>
                                        <p:tgtEl>
                                          <p:spTgt spid="61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2">
                                            <p:txEl>
                                              <p:pRg end="1" st="1"/>
                                            </p:txEl>
                                          </p:spTgt>
                                        </p:tgtEl>
                                        <p:attrNameLst>
                                          <p:attrName>style.visibility</p:attrName>
                                        </p:attrNameLst>
                                      </p:cBhvr>
                                      <p:to>
                                        <p:strVal val="visible"/>
                                      </p:to>
                                    </p:set>
                                    <p:anim calcmode="lin" valueType="num">
                                      <p:cBhvr additive="base">
                                        <p:cTn dur="500"/>
                                        <p:tgtEl>
                                          <p:spTgt spid="61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2">
                                            <p:txEl>
                                              <p:pRg end="2" st="2"/>
                                            </p:txEl>
                                          </p:spTgt>
                                        </p:tgtEl>
                                        <p:attrNameLst>
                                          <p:attrName>style.visibility</p:attrName>
                                        </p:attrNameLst>
                                      </p:cBhvr>
                                      <p:to>
                                        <p:strVal val="visible"/>
                                      </p:to>
                                    </p:set>
                                    <p:anim calcmode="lin" valueType="num">
                                      <p:cBhvr additive="base">
                                        <p:cTn dur="500"/>
                                        <p:tgtEl>
                                          <p:spTgt spid="61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2">
                                            <p:txEl>
                                              <p:pRg end="3" st="3"/>
                                            </p:txEl>
                                          </p:spTgt>
                                        </p:tgtEl>
                                        <p:attrNameLst>
                                          <p:attrName>style.visibility</p:attrName>
                                        </p:attrNameLst>
                                      </p:cBhvr>
                                      <p:to>
                                        <p:strVal val="visible"/>
                                      </p:to>
                                    </p:set>
                                    <p:anim calcmode="lin" valueType="num">
                                      <p:cBhvr additive="base">
                                        <p:cTn dur="500"/>
                                        <p:tgtEl>
                                          <p:spTgt spid="61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2">
                                            <p:txEl>
                                              <p:pRg end="4" st="4"/>
                                            </p:txEl>
                                          </p:spTgt>
                                        </p:tgtEl>
                                        <p:attrNameLst>
                                          <p:attrName>style.visibility</p:attrName>
                                        </p:attrNameLst>
                                      </p:cBhvr>
                                      <p:to>
                                        <p:strVal val="visible"/>
                                      </p:to>
                                    </p:set>
                                    <p:anim calcmode="lin" valueType="num">
                                      <p:cBhvr additive="base">
                                        <p:cTn dur="500"/>
                                        <p:tgtEl>
                                          <p:spTgt spid="61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2">
                                            <p:txEl>
                                              <p:pRg end="5" st="5"/>
                                            </p:txEl>
                                          </p:spTgt>
                                        </p:tgtEl>
                                        <p:attrNameLst>
                                          <p:attrName>style.visibility</p:attrName>
                                        </p:attrNameLst>
                                      </p:cBhvr>
                                      <p:to>
                                        <p:strVal val="visible"/>
                                      </p:to>
                                    </p:set>
                                    <p:anim calcmode="lin" valueType="num">
                                      <p:cBhvr additive="base">
                                        <p:cTn dur="500"/>
                                        <p:tgtEl>
                                          <p:spTgt spid="61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2">
                                            <p:txEl>
                                              <p:pRg end="6" st="6"/>
                                            </p:txEl>
                                          </p:spTgt>
                                        </p:tgtEl>
                                        <p:attrNameLst>
                                          <p:attrName>style.visibility</p:attrName>
                                        </p:attrNameLst>
                                      </p:cBhvr>
                                      <p:to>
                                        <p:strVal val="visible"/>
                                      </p:to>
                                    </p:set>
                                    <p:anim calcmode="lin" valueType="num">
                                      <p:cBhvr additive="base">
                                        <p:cTn dur="500"/>
                                        <p:tgtEl>
                                          <p:spTgt spid="61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2">
                                            <p:txEl>
                                              <p:pRg end="7" st="7"/>
                                            </p:txEl>
                                          </p:spTgt>
                                        </p:tgtEl>
                                        <p:attrNameLst>
                                          <p:attrName>style.visibility</p:attrName>
                                        </p:attrNameLst>
                                      </p:cBhvr>
                                      <p:to>
                                        <p:strVal val="visible"/>
                                      </p:to>
                                    </p:set>
                                    <p:anim calcmode="lin" valueType="num">
                                      <p:cBhvr additive="base">
                                        <p:cTn dur="500"/>
                                        <p:tgtEl>
                                          <p:spTgt spid="612">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2">
                                            <p:txEl>
                                              <p:pRg end="8" st="8"/>
                                            </p:txEl>
                                          </p:spTgt>
                                        </p:tgtEl>
                                        <p:attrNameLst>
                                          <p:attrName>style.visibility</p:attrName>
                                        </p:attrNameLst>
                                      </p:cBhvr>
                                      <p:to>
                                        <p:strVal val="visible"/>
                                      </p:to>
                                    </p:set>
                                    <p:anim calcmode="lin" valueType="num">
                                      <p:cBhvr additive="base">
                                        <p:cTn dur="500"/>
                                        <p:tgtEl>
                                          <p:spTgt spid="612">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5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19" name="Google Shape;619;p5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The following query results refer to this database state</a:t>
            </a:r>
            <a:endParaRPr/>
          </a:p>
        </p:txBody>
      </p:sp>
      <p:sp>
        <p:nvSpPr>
          <p:cNvPr id="620" name="Google Shape;620;p58"/>
          <p:cNvSpPr txBox="1"/>
          <p:nvPr/>
        </p:nvSpPr>
        <p:spPr>
          <a:xfrm>
            <a:off x="1833562" y="13096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21" name="Google Shape;621;p58"/>
          <p:cNvSpPr txBox="1"/>
          <p:nvPr/>
        </p:nvSpPr>
        <p:spPr>
          <a:xfrm>
            <a:off x="1066800" y="2286000"/>
            <a:ext cx="7239000" cy="53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descr="fig05_06" id="622" name="Google Shape;622;p58"/>
          <p:cNvPicPr preferRelativeResize="0"/>
          <p:nvPr/>
        </p:nvPicPr>
        <p:blipFill rotWithShape="1">
          <a:blip r:embed="rId3">
            <a:alphaModFix/>
          </a:blip>
          <a:srcRect b="0" l="0" r="0" t="0"/>
          <a:stretch/>
        </p:blipFill>
        <p:spPr>
          <a:xfrm>
            <a:off x="0" y="-76200"/>
            <a:ext cx="9144000" cy="69342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5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29" name="Google Shape;629;p5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Examples of applying aggregate functions and grouping</a:t>
            </a:r>
            <a:endParaRPr/>
          </a:p>
        </p:txBody>
      </p:sp>
      <p:sp>
        <p:nvSpPr>
          <p:cNvPr id="630" name="Google Shape;630;p5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152400" lvl="2" marL="1143000" rtl="0" algn="l">
              <a:lnSpc>
                <a:spcPct val="100000"/>
              </a:lnSpc>
              <a:spcBef>
                <a:spcPts val="0"/>
              </a:spcBef>
              <a:spcAft>
                <a:spcPts val="0"/>
              </a:spcAft>
              <a:buClr>
                <a:srgbClr val="990033"/>
              </a:buClr>
              <a:buSzPts val="1200"/>
              <a:buFont typeface="Noto Sans Symbols"/>
              <a:buNone/>
            </a:pPr>
            <a:r>
              <a:t/>
            </a:r>
            <a:endParaRPr b="0" i="0" sz="2400" u="none">
              <a:solidFill>
                <a:schemeClr val="dk2"/>
              </a:solidFill>
              <a:latin typeface="Arial"/>
              <a:ea typeface="Arial"/>
              <a:cs typeface="Arial"/>
              <a:sym typeface="Arial"/>
            </a:endParaRPr>
          </a:p>
          <a:p>
            <a:pPr indent="-251459" lvl="0" marL="342900" rtl="0" algn="l">
              <a:lnSpc>
                <a:spcPct val="100000"/>
              </a:lnSpc>
              <a:spcBef>
                <a:spcPts val="480"/>
              </a:spcBef>
              <a:spcAft>
                <a:spcPts val="0"/>
              </a:spcAft>
              <a:buSzPts val="1440"/>
              <a:buNone/>
            </a:pPr>
            <a:r>
              <a:t/>
            </a:r>
            <a:endParaRPr b="0" i="0" sz="2400" u="none">
              <a:solidFill>
                <a:schemeClr val="dk2"/>
              </a:solidFill>
              <a:latin typeface="Arial"/>
              <a:ea typeface="Arial"/>
              <a:cs typeface="Arial"/>
              <a:sym typeface="Arial"/>
            </a:endParaRPr>
          </a:p>
        </p:txBody>
      </p:sp>
      <p:pic>
        <p:nvPicPr>
          <p:cNvPr id="631" name="Google Shape;631;p59"/>
          <p:cNvPicPr preferRelativeResize="0"/>
          <p:nvPr/>
        </p:nvPicPr>
        <p:blipFill rotWithShape="1">
          <a:blip r:embed="rId3">
            <a:alphaModFix/>
          </a:blip>
          <a:srcRect b="0" l="0" r="0" t="0"/>
          <a:stretch/>
        </p:blipFill>
        <p:spPr>
          <a:xfrm>
            <a:off x="510762" y="1599416"/>
            <a:ext cx="6715451" cy="1218939"/>
          </a:xfrm>
          <a:prstGeom prst="rect">
            <a:avLst/>
          </a:prstGeom>
          <a:noFill/>
          <a:ln>
            <a:noFill/>
          </a:ln>
        </p:spPr>
      </p:pic>
      <p:pic>
        <p:nvPicPr>
          <p:cNvPr id="632" name="Google Shape;632;p59"/>
          <p:cNvPicPr preferRelativeResize="0"/>
          <p:nvPr/>
        </p:nvPicPr>
        <p:blipFill rotWithShape="1">
          <a:blip r:embed="rId4">
            <a:alphaModFix/>
          </a:blip>
          <a:srcRect b="0" l="0" r="0" t="0"/>
          <a:stretch/>
        </p:blipFill>
        <p:spPr>
          <a:xfrm>
            <a:off x="4672208" y="5290673"/>
            <a:ext cx="4166992" cy="959813"/>
          </a:xfrm>
          <a:prstGeom prst="rect">
            <a:avLst/>
          </a:prstGeom>
          <a:noFill/>
          <a:ln>
            <a:noFill/>
          </a:ln>
        </p:spPr>
      </p:pic>
      <p:pic>
        <p:nvPicPr>
          <p:cNvPr id="633" name="Google Shape;633;p59"/>
          <p:cNvPicPr preferRelativeResize="0"/>
          <p:nvPr/>
        </p:nvPicPr>
        <p:blipFill rotWithShape="1">
          <a:blip r:embed="rId5">
            <a:alphaModFix/>
          </a:blip>
          <a:srcRect b="0" l="0" r="0" t="0"/>
          <a:stretch/>
        </p:blipFill>
        <p:spPr>
          <a:xfrm>
            <a:off x="510762" y="4859836"/>
            <a:ext cx="4038600" cy="1390650"/>
          </a:xfrm>
          <a:prstGeom prst="rect">
            <a:avLst/>
          </a:prstGeom>
          <a:noFill/>
          <a:ln>
            <a:noFill/>
          </a:ln>
        </p:spPr>
      </p:pic>
      <p:pic>
        <p:nvPicPr>
          <p:cNvPr id="634" name="Google Shape;634;p59"/>
          <p:cNvPicPr preferRelativeResize="0"/>
          <p:nvPr/>
        </p:nvPicPr>
        <p:blipFill rotWithShape="1">
          <a:blip r:embed="rId6">
            <a:alphaModFix/>
          </a:blip>
          <a:srcRect b="0" l="0" r="0" t="0"/>
          <a:stretch/>
        </p:blipFill>
        <p:spPr>
          <a:xfrm>
            <a:off x="648548" y="3259408"/>
            <a:ext cx="3651175" cy="1361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2"/>
                                        </p:tgtEl>
                                        <p:attrNameLst>
                                          <p:attrName>style.visibility</p:attrName>
                                        </p:attrNameLst>
                                      </p:cBhvr>
                                      <p:to>
                                        <p:strVal val="visible"/>
                                      </p:to>
                                    </p:set>
                                    <p:animEffect filter="fade" transition="in">
                                      <p:cBhvr>
                                        <p:cTn dur="500"/>
                                        <p:tgtEl>
                                          <p:spTgt spid="6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500"/>
                                        <p:tgtEl>
                                          <p:spTgt spid="6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500"/>
                                        <p:tgtEl>
                                          <p:spTgt spid="6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6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41" name="Google Shape;641;p6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Additional Relational Operations (cont.)</a:t>
            </a:r>
            <a:endParaRPr/>
          </a:p>
        </p:txBody>
      </p:sp>
      <p:sp>
        <p:nvSpPr>
          <p:cNvPr id="642" name="Google Shape;642;p6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The OUTER JOIN Operation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In EQUIJOIN, tuples without a </a:t>
            </a:r>
            <a:r>
              <a:rPr b="0" i="1" lang="en-US" sz="2200" u="none">
                <a:solidFill>
                  <a:srgbClr val="800000"/>
                </a:solidFill>
                <a:latin typeface="Arial"/>
                <a:ea typeface="Arial"/>
                <a:cs typeface="Arial"/>
                <a:sym typeface="Arial"/>
              </a:rPr>
              <a:t>matching</a:t>
            </a:r>
            <a:r>
              <a:rPr b="0" i="0" lang="en-US" sz="2200" u="none">
                <a:solidFill>
                  <a:srgbClr val="800000"/>
                </a:solidFill>
                <a:latin typeface="Arial"/>
                <a:ea typeface="Arial"/>
                <a:cs typeface="Arial"/>
                <a:sym typeface="Arial"/>
              </a:rPr>
              <a:t> (or </a:t>
            </a:r>
            <a:r>
              <a:rPr b="0" i="1" lang="en-US" sz="2200" u="none">
                <a:solidFill>
                  <a:srgbClr val="800000"/>
                </a:solidFill>
                <a:latin typeface="Arial"/>
                <a:ea typeface="Arial"/>
                <a:cs typeface="Arial"/>
                <a:sym typeface="Arial"/>
              </a:rPr>
              <a:t>related</a:t>
            </a:r>
            <a:r>
              <a:rPr b="0" i="0" lang="en-US" sz="2200" u="none">
                <a:solidFill>
                  <a:srgbClr val="800000"/>
                </a:solidFill>
                <a:latin typeface="Arial"/>
                <a:ea typeface="Arial"/>
                <a:cs typeface="Arial"/>
                <a:sym typeface="Arial"/>
              </a:rPr>
              <a:t>) tuple are eliminated from the join result</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Tuples with null in the join attributes are also eliminated</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This amounts to loss of information.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set of operations, called OUTER joins, can be used when we want to keep all the tuples in R, or all those in S, or all those in both relations in the result of the join, regardless of whether or not they have matching tuples in the other relation.</a:t>
            </a:r>
            <a:endParaRPr/>
          </a:p>
        </p:txBody>
      </p:sp>
      <p:cxnSp>
        <p:nvCxnSpPr>
          <p:cNvPr id="643" name="Google Shape;643;p60"/>
          <p:cNvCxnSpPr/>
          <p:nvPr/>
        </p:nvCxnSpPr>
        <p:spPr>
          <a:xfrm>
            <a:off x="6157912" y="5245100"/>
            <a:ext cx="203200" cy="0"/>
          </a:xfrm>
          <a:prstGeom prst="straightConnector1">
            <a:avLst/>
          </a:prstGeom>
          <a:noFill/>
          <a:ln cap="flat" cmpd="sng" w="9525">
            <a:solidFill>
              <a:schemeClr val="lt2"/>
            </a:solidFill>
            <a:prstDash val="solid"/>
            <a:miter lim="800000"/>
            <a:headEnd len="sm" w="sm" type="none"/>
            <a:tailEnd len="sm" w="sm" type="none"/>
          </a:ln>
        </p:spPr>
      </p:cxnSp>
      <p:cxnSp>
        <p:nvCxnSpPr>
          <p:cNvPr id="644" name="Google Shape;644;p60"/>
          <p:cNvCxnSpPr/>
          <p:nvPr/>
        </p:nvCxnSpPr>
        <p:spPr>
          <a:xfrm>
            <a:off x="6157912" y="5511800"/>
            <a:ext cx="203200" cy="0"/>
          </a:xfrm>
          <a:prstGeom prst="straightConnector1">
            <a:avLst/>
          </a:prstGeom>
          <a:noFill/>
          <a:ln cap="flat" cmpd="sng" w="9525">
            <a:solidFill>
              <a:schemeClr val="lt2"/>
            </a:solidFill>
            <a:prstDash val="solid"/>
            <a:miter lim="800000"/>
            <a:headEnd len="sm" w="sm" type="none"/>
            <a:tailEnd len="sm" w="sm" type="none"/>
          </a:ln>
        </p:spPr>
      </p:cxnSp>
      <p:cxnSp>
        <p:nvCxnSpPr>
          <p:cNvPr id="645" name="Google Shape;645;p60"/>
          <p:cNvCxnSpPr/>
          <p:nvPr/>
        </p:nvCxnSpPr>
        <p:spPr>
          <a:xfrm>
            <a:off x="5664200" y="5257800"/>
            <a:ext cx="203200" cy="0"/>
          </a:xfrm>
          <a:prstGeom prst="straightConnector1">
            <a:avLst/>
          </a:prstGeom>
          <a:noFill/>
          <a:ln cap="flat" cmpd="sng" w="9525">
            <a:solidFill>
              <a:schemeClr val="lt2"/>
            </a:solidFill>
            <a:prstDash val="solid"/>
            <a:miter lim="800000"/>
            <a:headEnd len="sm" w="sm" type="none"/>
            <a:tailEnd len="sm" w="sm" type="none"/>
          </a:ln>
        </p:spPr>
      </p:cxnSp>
      <p:cxnSp>
        <p:nvCxnSpPr>
          <p:cNvPr id="646" name="Google Shape;646;p60"/>
          <p:cNvCxnSpPr/>
          <p:nvPr/>
        </p:nvCxnSpPr>
        <p:spPr>
          <a:xfrm>
            <a:off x="5664200" y="5511800"/>
            <a:ext cx="203200" cy="0"/>
          </a:xfrm>
          <a:prstGeom prst="straightConnector1">
            <a:avLst/>
          </a:prstGeom>
          <a:noFill/>
          <a:ln cap="flat" cmpd="sng" w="9525">
            <a:solidFill>
              <a:schemeClr val="lt2"/>
            </a:solidFill>
            <a:prstDash val="solid"/>
            <a:miter lim="800000"/>
            <a:headEnd len="sm" w="sm" type="none"/>
            <a:tailEnd len="sm" w="sm" type="none"/>
          </a:ln>
        </p:spPr>
      </p:cxn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6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53" name="Google Shape;653;p6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Additional Relational Operations (cont.)</a:t>
            </a:r>
            <a:endParaRPr/>
          </a:p>
        </p:txBody>
      </p:sp>
      <p:sp>
        <p:nvSpPr>
          <p:cNvPr id="654" name="Google Shape;654;p6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left outer join operation keeps every tuple in the first or left relation R in R      S; if no matching tuple is found in S, then the attributes of S in the join result are filled or “padded” with null values.</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A similar operation, right outer join, keeps every tuple in the second or right relation S in the result of R       S.</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A third operation, full outer join, denoted by               keeps all tuples in both the left and the right relations when no matching tuples are found, padding them with null values as needed. </a:t>
            </a:r>
            <a:endParaRPr/>
          </a:p>
        </p:txBody>
      </p:sp>
      <p:grpSp>
        <p:nvGrpSpPr>
          <p:cNvPr id="655" name="Google Shape;655;p61"/>
          <p:cNvGrpSpPr/>
          <p:nvPr/>
        </p:nvGrpSpPr>
        <p:grpSpPr>
          <a:xfrm>
            <a:off x="5321300" y="2095500"/>
            <a:ext cx="393700" cy="266700"/>
            <a:chOff x="2672" y="1534"/>
            <a:chExt cx="1670" cy="666"/>
          </a:xfrm>
        </p:grpSpPr>
        <p:grpSp>
          <p:nvGrpSpPr>
            <p:cNvPr id="656" name="Google Shape;656;p61"/>
            <p:cNvGrpSpPr/>
            <p:nvPr/>
          </p:nvGrpSpPr>
          <p:grpSpPr>
            <a:xfrm>
              <a:off x="3112" y="1534"/>
              <a:ext cx="1230" cy="666"/>
              <a:chOff x="377" y="2904"/>
              <a:chExt cx="154" cy="110"/>
            </a:xfrm>
          </p:grpSpPr>
          <p:cxnSp>
            <p:nvCxnSpPr>
              <p:cNvPr id="657" name="Google Shape;657;p61"/>
              <p:cNvCxnSpPr/>
              <p:nvPr/>
            </p:nvCxnSpPr>
            <p:spPr>
              <a:xfrm>
                <a:off x="381" y="2904"/>
                <a:ext cx="0" cy="110"/>
              </a:xfrm>
              <a:prstGeom prst="straightConnector1">
                <a:avLst/>
              </a:prstGeom>
              <a:noFill/>
              <a:ln cap="flat" cmpd="sng" w="9525">
                <a:solidFill>
                  <a:schemeClr val="lt2"/>
                </a:solidFill>
                <a:prstDash val="solid"/>
                <a:miter lim="800000"/>
                <a:headEnd len="sm" w="sm" type="none"/>
                <a:tailEnd len="sm" w="sm" type="none"/>
              </a:ln>
            </p:spPr>
          </p:cxnSp>
          <p:cxnSp>
            <p:nvCxnSpPr>
              <p:cNvPr id="658" name="Google Shape;658;p61"/>
              <p:cNvCxnSpPr/>
              <p:nvPr/>
            </p:nvCxnSpPr>
            <p:spPr>
              <a:xfrm>
                <a:off x="527" y="2904"/>
                <a:ext cx="0" cy="110"/>
              </a:xfrm>
              <a:prstGeom prst="straightConnector1">
                <a:avLst/>
              </a:prstGeom>
              <a:noFill/>
              <a:ln cap="flat" cmpd="sng" w="9525">
                <a:solidFill>
                  <a:schemeClr val="lt2"/>
                </a:solidFill>
                <a:prstDash val="solid"/>
                <a:miter lim="800000"/>
                <a:headEnd len="sm" w="sm" type="none"/>
                <a:tailEnd len="sm" w="sm" type="none"/>
              </a:ln>
            </p:spPr>
          </p:cxnSp>
          <p:cxnSp>
            <p:nvCxnSpPr>
              <p:cNvPr id="659" name="Google Shape;659;p61"/>
              <p:cNvCxnSpPr/>
              <p:nvPr/>
            </p:nvCxnSpPr>
            <p:spPr>
              <a:xfrm>
                <a:off x="385" y="2904"/>
                <a:ext cx="138" cy="110"/>
              </a:xfrm>
              <a:prstGeom prst="straightConnector1">
                <a:avLst/>
              </a:prstGeom>
              <a:noFill/>
              <a:ln cap="flat" cmpd="sng" w="9525">
                <a:solidFill>
                  <a:schemeClr val="lt2"/>
                </a:solidFill>
                <a:prstDash val="solid"/>
                <a:miter lim="800000"/>
                <a:headEnd len="sm" w="sm" type="none"/>
                <a:tailEnd len="sm" w="sm" type="none"/>
              </a:ln>
            </p:spPr>
          </p:cxnSp>
          <p:cxnSp>
            <p:nvCxnSpPr>
              <p:cNvPr id="660" name="Google Shape;660;p61"/>
              <p:cNvCxnSpPr/>
              <p:nvPr/>
            </p:nvCxnSpPr>
            <p:spPr>
              <a:xfrm flipH="1">
                <a:off x="377" y="2904"/>
                <a:ext cx="154" cy="110"/>
              </a:xfrm>
              <a:prstGeom prst="straightConnector1">
                <a:avLst/>
              </a:prstGeom>
              <a:noFill/>
              <a:ln cap="flat" cmpd="sng" w="9525">
                <a:solidFill>
                  <a:schemeClr val="lt2"/>
                </a:solidFill>
                <a:prstDash val="solid"/>
                <a:miter lim="800000"/>
                <a:headEnd len="sm" w="sm" type="none"/>
                <a:tailEnd len="sm" w="sm" type="none"/>
              </a:ln>
            </p:spPr>
          </p:cxnSp>
        </p:grpSp>
        <p:cxnSp>
          <p:nvCxnSpPr>
            <p:cNvPr id="661" name="Google Shape;661;p61"/>
            <p:cNvCxnSpPr/>
            <p:nvPr/>
          </p:nvCxnSpPr>
          <p:spPr>
            <a:xfrm rot="10800000">
              <a:off x="2672" y="2200"/>
              <a:ext cx="440" cy="0"/>
            </a:xfrm>
            <a:prstGeom prst="straightConnector1">
              <a:avLst/>
            </a:prstGeom>
            <a:noFill/>
            <a:ln cap="flat" cmpd="sng" w="9525">
              <a:solidFill>
                <a:schemeClr val="lt2"/>
              </a:solidFill>
              <a:prstDash val="solid"/>
              <a:miter lim="800000"/>
              <a:headEnd len="sm" w="sm" type="none"/>
              <a:tailEnd len="sm" w="sm" type="none"/>
            </a:ln>
          </p:spPr>
        </p:cxnSp>
        <p:cxnSp>
          <p:nvCxnSpPr>
            <p:cNvPr id="662" name="Google Shape;662;p61"/>
            <p:cNvCxnSpPr/>
            <p:nvPr/>
          </p:nvCxnSpPr>
          <p:spPr>
            <a:xfrm rot="10800000">
              <a:off x="2672" y="1534"/>
              <a:ext cx="440" cy="0"/>
            </a:xfrm>
            <a:prstGeom prst="straightConnector1">
              <a:avLst/>
            </a:prstGeom>
            <a:noFill/>
            <a:ln cap="flat" cmpd="sng" w="9525">
              <a:solidFill>
                <a:schemeClr val="lt2"/>
              </a:solidFill>
              <a:prstDash val="solid"/>
              <a:miter lim="800000"/>
              <a:headEnd len="sm" w="sm" type="none"/>
              <a:tailEnd len="sm" w="sm" type="none"/>
            </a:ln>
          </p:spPr>
        </p:cxnSp>
      </p:grpSp>
      <p:grpSp>
        <p:nvGrpSpPr>
          <p:cNvPr id="663" name="Google Shape;663;p61"/>
          <p:cNvGrpSpPr/>
          <p:nvPr/>
        </p:nvGrpSpPr>
        <p:grpSpPr>
          <a:xfrm>
            <a:off x="1447800" y="4114800"/>
            <a:ext cx="493712" cy="266700"/>
            <a:chOff x="2537" y="3040"/>
            <a:chExt cx="311" cy="168"/>
          </a:xfrm>
        </p:grpSpPr>
        <p:grpSp>
          <p:nvGrpSpPr>
            <p:cNvPr id="664" name="Google Shape;664;p61"/>
            <p:cNvGrpSpPr/>
            <p:nvPr/>
          </p:nvGrpSpPr>
          <p:grpSpPr>
            <a:xfrm>
              <a:off x="2537" y="3040"/>
              <a:ext cx="183" cy="168"/>
              <a:chOff x="377" y="2904"/>
              <a:chExt cx="154" cy="110"/>
            </a:xfrm>
          </p:grpSpPr>
          <p:cxnSp>
            <p:nvCxnSpPr>
              <p:cNvPr id="665" name="Google Shape;665;p61"/>
              <p:cNvCxnSpPr/>
              <p:nvPr/>
            </p:nvCxnSpPr>
            <p:spPr>
              <a:xfrm>
                <a:off x="381" y="2904"/>
                <a:ext cx="0" cy="110"/>
              </a:xfrm>
              <a:prstGeom prst="straightConnector1">
                <a:avLst/>
              </a:prstGeom>
              <a:noFill/>
              <a:ln cap="flat" cmpd="sng" w="9525">
                <a:solidFill>
                  <a:schemeClr val="lt2"/>
                </a:solidFill>
                <a:prstDash val="solid"/>
                <a:miter lim="800000"/>
                <a:headEnd len="sm" w="sm" type="none"/>
                <a:tailEnd len="sm" w="sm" type="none"/>
              </a:ln>
            </p:spPr>
          </p:cxnSp>
          <p:cxnSp>
            <p:nvCxnSpPr>
              <p:cNvPr id="666" name="Google Shape;666;p61"/>
              <p:cNvCxnSpPr/>
              <p:nvPr/>
            </p:nvCxnSpPr>
            <p:spPr>
              <a:xfrm>
                <a:off x="527" y="2904"/>
                <a:ext cx="0" cy="110"/>
              </a:xfrm>
              <a:prstGeom prst="straightConnector1">
                <a:avLst/>
              </a:prstGeom>
              <a:noFill/>
              <a:ln cap="flat" cmpd="sng" w="9525">
                <a:solidFill>
                  <a:schemeClr val="lt2"/>
                </a:solidFill>
                <a:prstDash val="solid"/>
                <a:miter lim="800000"/>
                <a:headEnd len="sm" w="sm" type="none"/>
                <a:tailEnd len="sm" w="sm" type="none"/>
              </a:ln>
            </p:spPr>
          </p:cxnSp>
          <p:cxnSp>
            <p:nvCxnSpPr>
              <p:cNvPr id="667" name="Google Shape;667;p61"/>
              <p:cNvCxnSpPr/>
              <p:nvPr/>
            </p:nvCxnSpPr>
            <p:spPr>
              <a:xfrm>
                <a:off x="385" y="2904"/>
                <a:ext cx="138" cy="110"/>
              </a:xfrm>
              <a:prstGeom prst="straightConnector1">
                <a:avLst/>
              </a:prstGeom>
              <a:noFill/>
              <a:ln cap="flat" cmpd="sng" w="9525">
                <a:solidFill>
                  <a:schemeClr val="lt2"/>
                </a:solidFill>
                <a:prstDash val="solid"/>
                <a:miter lim="800000"/>
                <a:headEnd len="sm" w="sm" type="none"/>
                <a:tailEnd len="sm" w="sm" type="none"/>
              </a:ln>
            </p:spPr>
          </p:cxnSp>
          <p:cxnSp>
            <p:nvCxnSpPr>
              <p:cNvPr id="668" name="Google Shape;668;p61"/>
              <p:cNvCxnSpPr/>
              <p:nvPr/>
            </p:nvCxnSpPr>
            <p:spPr>
              <a:xfrm flipH="1">
                <a:off x="377" y="2904"/>
                <a:ext cx="154" cy="110"/>
              </a:xfrm>
              <a:prstGeom prst="straightConnector1">
                <a:avLst/>
              </a:prstGeom>
              <a:noFill/>
              <a:ln cap="flat" cmpd="sng" w="9525">
                <a:solidFill>
                  <a:schemeClr val="lt2"/>
                </a:solidFill>
                <a:prstDash val="solid"/>
                <a:miter lim="800000"/>
                <a:headEnd len="sm" w="sm" type="none"/>
                <a:tailEnd len="sm" w="sm" type="none"/>
              </a:ln>
            </p:spPr>
          </p:cxnSp>
        </p:grpSp>
        <p:cxnSp>
          <p:nvCxnSpPr>
            <p:cNvPr id="669" name="Google Shape;669;p61"/>
            <p:cNvCxnSpPr/>
            <p:nvPr/>
          </p:nvCxnSpPr>
          <p:spPr>
            <a:xfrm>
              <a:off x="2720" y="3040"/>
              <a:ext cx="128" cy="0"/>
            </a:xfrm>
            <a:prstGeom prst="straightConnector1">
              <a:avLst/>
            </a:prstGeom>
            <a:noFill/>
            <a:ln cap="flat" cmpd="sng" w="9525">
              <a:solidFill>
                <a:schemeClr val="lt2"/>
              </a:solidFill>
              <a:prstDash val="solid"/>
              <a:miter lim="800000"/>
              <a:headEnd len="sm" w="sm" type="none"/>
              <a:tailEnd len="sm" w="sm" type="none"/>
            </a:ln>
          </p:spPr>
        </p:cxnSp>
        <p:cxnSp>
          <p:nvCxnSpPr>
            <p:cNvPr id="670" name="Google Shape;670;p61"/>
            <p:cNvCxnSpPr/>
            <p:nvPr/>
          </p:nvCxnSpPr>
          <p:spPr>
            <a:xfrm>
              <a:off x="2720" y="3208"/>
              <a:ext cx="128" cy="0"/>
            </a:xfrm>
            <a:prstGeom prst="straightConnector1">
              <a:avLst/>
            </a:prstGeom>
            <a:noFill/>
            <a:ln cap="flat" cmpd="sng" w="9525">
              <a:solidFill>
                <a:schemeClr val="lt2"/>
              </a:solidFill>
              <a:prstDash val="solid"/>
              <a:miter lim="800000"/>
              <a:headEnd len="sm" w="sm" type="none"/>
              <a:tailEnd len="sm" w="sm" type="none"/>
            </a:ln>
          </p:spPr>
        </p:cxnSp>
      </p:grpSp>
      <p:grpSp>
        <p:nvGrpSpPr>
          <p:cNvPr id="671" name="Google Shape;671;p61"/>
          <p:cNvGrpSpPr/>
          <p:nvPr/>
        </p:nvGrpSpPr>
        <p:grpSpPr>
          <a:xfrm>
            <a:off x="7913687" y="4572000"/>
            <a:ext cx="290512" cy="266700"/>
            <a:chOff x="377" y="2904"/>
            <a:chExt cx="154" cy="110"/>
          </a:xfrm>
        </p:grpSpPr>
        <p:cxnSp>
          <p:nvCxnSpPr>
            <p:cNvPr id="672" name="Google Shape;672;p61"/>
            <p:cNvCxnSpPr/>
            <p:nvPr/>
          </p:nvCxnSpPr>
          <p:spPr>
            <a:xfrm>
              <a:off x="381" y="2904"/>
              <a:ext cx="0" cy="110"/>
            </a:xfrm>
            <a:prstGeom prst="straightConnector1">
              <a:avLst/>
            </a:prstGeom>
            <a:noFill/>
            <a:ln cap="flat" cmpd="sng" w="9525">
              <a:solidFill>
                <a:schemeClr val="lt2"/>
              </a:solidFill>
              <a:prstDash val="solid"/>
              <a:miter lim="800000"/>
              <a:headEnd len="sm" w="sm" type="none"/>
              <a:tailEnd len="sm" w="sm" type="none"/>
            </a:ln>
          </p:spPr>
        </p:cxnSp>
        <p:cxnSp>
          <p:nvCxnSpPr>
            <p:cNvPr id="673" name="Google Shape;673;p61"/>
            <p:cNvCxnSpPr/>
            <p:nvPr/>
          </p:nvCxnSpPr>
          <p:spPr>
            <a:xfrm>
              <a:off x="527" y="2904"/>
              <a:ext cx="0" cy="110"/>
            </a:xfrm>
            <a:prstGeom prst="straightConnector1">
              <a:avLst/>
            </a:prstGeom>
            <a:noFill/>
            <a:ln cap="flat" cmpd="sng" w="9525">
              <a:solidFill>
                <a:schemeClr val="lt2"/>
              </a:solidFill>
              <a:prstDash val="solid"/>
              <a:miter lim="800000"/>
              <a:headEnd len="sm" w="sm" type="none"/>
              <a:tailEnd len="sm" w="sm" type="none"/>
            </a:ln>
          </p:spPr>
        </p:cxnSp>
        <p:cxnSp>
          <p:nvCxnSpPr>
            <p:cNvPr id="674" name="Google Shape;674;p61"/>
            <p:cNvCxnSpPr/>
            <p:nvPr/>
          </p:nvCxnSpPr>
          <p:spPr>
            <a:xfrm>
              <a:off x="385" y="2904"/>
              <a:ext cx="138" cy="110"/>
            </a:xfrm>
            <a:prstGeom prst="straightConnector1">
              <a:avLst/>
            </a:prstGeom>
            <a:noFill/>
            <a:ln cap="flat" cmpd="sng" w="9525">
              <a:solidFill>
                <a:schemeClr val="lt2"/>
              </a:solidFill>
              <a:prstDash val="solid"/>
              <a:miter lim="800000"/>
              <a:headEnd len="sm" w="sm" type="none"/>
              <a:tailEnd len="sm" w="sm" type="none"/>
            </a:ln>
          </p:spPr>
        </p:cxnSp>
        <p:cxnSp>
          <p:nvCxnSpPr>
            <p:cNvPr id="675" name="Google Shape;675;p61"/>
            <p:cNvCxnSpPr/>
            <p:nvPr/>
          </p:nvCxnSpPr>
          <p:spPr>
            <a:xfrm flipH="1">
              <a:off x="377" y="2904"/>
              <a:ext cx="154" cy="110"/>
            </a:xfrm>
            <a:prstGeom prst="straightConnector1">
              <a:avLst/>
            </a:prstGeom>
            <a:noFill/>
            <a:ln cap="flat" cmpd="sng" w="9525">
              <a:solidFill>
                <a:schemeClr val="lt2"/>
              </a:solidFill>
              <a:prstDash val="solid"/>
              <a:miter lim="800000"/>
              <a:headEnd len="sm" w="sm" type="none"/>
              <a:tailEnd len="sm" w="sm" type="none"/>
            </a:ln>
          </p:spPr>
        </p:cxnSp>
      </p:grpSp>
      <p:cxnSp>
        <p:nvCxnSpPr>
          <p:cNvPr id="676" name="Google Shape;676;p61"/>
          <p:cNvCxnSpPr/>
          <p:nvPr/>
        </p:nvCxnSpPr>
        <p:spPr>
          <a:xfrm>
            <a:off x="8189912" y="4572000"/>
            <a:ext cx="203200" cy="0"/>
          </a:xfrm>
          <a:prstGeom prst="straightConnector1">
            <a:avLst/>
          </a:prstGeom>
          <a:noFill/>
          <a:ln cap="flat" cmpd="sng" w="9525">
            <a:solidFill>
              <a:schemeClr val="lt2"/>
            </a:solidFill>
            <a:prstDash val="solid"/>
            <a:miter lim="800000"/>
            <a:headEnd len="sm" w="sm" type="none"/>
            <a:tailEnd len="sm" w="sm" type="none"/>
          </a:ln>
        </p:spPr>
      </p:cxnSp>
      <p:cxnSp>
        <p:nvCxnSpPr>
          <p:cNvPr id="677" name="Google Shape;677;p61"/>
          <p:cNvCxnSpPr/>
          <p:nvPr/>
        </p:nvCxnSpPr>
        <p:spPr>
          <a:xfrm>
            <a:off x="8189912" y="4838700"/>
            <a:ext cx="203200" cy="0"/>
          </a:xfrm>
          <a:prstGeom prst="straightConnector1">
            <a:avLst/>
          </a:prstGeom>
          <a:noFill/>
          <a:ln cap="flat" cmpd="sng" w="9525">
            <a:solidFill>
              <a:schemeClr val="lt2"/>
            </a:solidFill>
            <a:prstDash val="solid"/>
            <a:miter lim="800000"/>
            <a:headEnd len="sm" w="sm" type="none"/>
            <a:tailEnd len="sm" w="sm" type="none"/>
          </a:ln>
        </p:spPr>
      </p:cxnSp>
      <p:cxnSp>
        <p:nvCxnSpPr>
          <p:cNvPr id="678" name="Google Shape;678;p61"/>
          <p:cNvCxnSpPr/>
          <p:nvPr/>
        </p:nvCxnSpPr>
        <p:spPr>
          <a:xfrm>
            <a:off x="7696200" y="4584700"/>
            <a:ext cx="203200" cy="0"/>
          </a:xfrm>
          <a:prstGeom prst="straightConnector1">
            <a:avLst/>
          </a:prstGeom>
          <a:noFill/>
          <a:ln cap="flat" cmpd="sng" w="9525">
            <a:solidFill>
              <a:schemeClr val="lt2"/>
            </a:solidFill>
            <a:prstDash val="solid"/>
            <a:miter lim="800000"/>
            <a:headEnd len="sm" w="sm" type="none"/>
            <a:tailEnd len="sm" w="sm" type="none"/>
          </a:ln>
        </p:spPr>
      </p:cxnSp>
      <p:cxnSp>
        <p:nvCxnSpPr>
          <p:cNvPr id="679" name="Google Shape;679;p61"/>
          <p:cNvCxnSpPr/>
          <p:nvPr/>
        </p:nvCxnSpPr>
        <p:spPr>
          <a:xfrm>
            <a:off x="7696200" y="4838700"/>
            <a:ext cx="203200" cy="0"/>
          </a:xfrm>
          <a:prstGeom prst="straightConnector1">
            <a:avLst/>
          </a:prstGeom>
          <a:noFill/>
          <a:ln cap="flat" cmpd="sng" w="9525">
            <a:solidFill>
              <a:schemeClr val="lt2"/>
            </a:solidFill>
            <a:prstDash val="solid"/>
            <a:miter lim="800000"/>
            <a:headEnd len="sm" w="sm" type="none"/>
            <a:tailEnd len="sm" w="sm" type="none"/>
          </a:ln>
        </p:spPr>
      </p:cxn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6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Outer join operations</a:t>
            </a:r>
            <a:endParaRPr/>
          </a:p>
        </p:txBody>
      </p:sp>
      <p:sp>
        <p:nvSpPr>
          <p:cNvPr id="685" name="Google Shape;685;p6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Example:</a:t>
            </a:r>
            <a:endParaRPr/>
          </a:p>
        </p:txBody>
      </p:sp>
      <p:sp>
        <p:nvSpPr>
          <p:cNvPr id="686" name="Google Shape;686;p62"/>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6- </a:t>
            </a:r>
            <a:fld id="{00000000-1234-1234-1234-123412341234}" type="slidenum">
              <a:rPr lang="en-US"/>
              <a:t>‹#›</a:t>
            </a:fld>
            <a:endParaRPr/>
          </a:p>
        </p:txBody>
      </p:sp>
      <p:pic>
        <p:nvPicPr>
          <p:cNvPr id="687" name="Google Shape;687;p62"/>
          <p:cNvPicPr preferRelativeResize="0"/>
          <p:nvPr/>
        </p:nvPicPr>
        <p:blipFill rotWithShape="1">
          <a:blip r:embed="rId3">
            <a:alphaModFix/>
          </a:blip>
          <a:srcRect b="0" l="0" r="0" t="0"/>
          <a:stretch/>
        </p:blipFill>
        <p:spPr>
          <a:xfrm>
            <a:off x="477238" y="2173200"/>
            <a:ext cx="1571844" cy="1171739"/>
          </a:xfrm>
          <a:prstGeom prst="rect">
            <a:avLst/>
          </a:prstGeom>
          <a:noFill/>
          <a:ln>
            <a:noFill/>
          </a:ln>
        </p:spPr>
      </p:pic>
      <p:pic>
        <p:nvPicPr>
          <p:cNvPr id="688" name="Google Shape;688;p62"/>
          <p:cNvPicPr preferRelativeResize="0"/>
          <p:nvPr/>
        </p:nvPicPr>
        <p:blipFill rotWithShape="1">
          <a:blip r:embed="rId4">
            <a:alphaModFix/>
          </a:blip>
          <a:srcRect b="0" l="0" r="0" t="0"/>
          <a:stretch/>
        </p:blipFill>
        <p:spPr>
          <a:xfrm>
            <a:off x="2101520" y="2197016"/>
            <a:ext cx="1657581" cy="1124107"/>
          </a:xfrm>
          <a:prstGeom prst="rect">
            <a:avLst/>
          </a:prstGeom>
          <a:noFill/>
          <a:ln>
            <a:noFill/>
          </a:ln>
        </p:spPr>
      </p:pic>
      <p:pic>
        <p:nvPicPr>
          <p:cNvPr id="689" name="Google Shape;689;p62"/>
          <p:cNvPicPr preferRelativeResize="0"/>
          <p:nvPr/>
        </p:nvPicPr>
        <p:blipFill rotWithShape="1">
          <a:blip r:embed="rId5">
            <a:alphaModFix/>
          </a:blip>
          <a:srcRect b="0" l="0" r="0" t="0"/>
          <a:stretch/>
        </p:blipFill>
        <p:spPr>
          <a:xfrm>
            <a:off x="4378234" y="4070563"/>
            <a:ext cx="2238687" cy="352474"/>
          </a:xfrm>
          <a:prstGeom prst="rect">
            <a:avLst/>
          </a:prstGeom>
          <a:noFill/>
          <a:ln>
            <a:noFill/>
          </a:ln>
        </p:spPr>
      </p:pic>
      <p:pic>
        <p:nvPicPr>
          <p:cNvPr id="690" name="Google Shape;690;p62"/>
          <p:cNvPicPr preferRelativeResize="0"/>
          <p:nvPr/>
        </p:nvPicPr>
        <p:blipFill rotWithShape="1">
          <a:blip r:embed="rId6">
            <a:alphaModFix/>
          </a:blip>
          <a:srcRect b="0" l="0" r="0" t="0"/>
          <a:stretch/>
        </p:blipFill>
        <p:spPr>
          <a:xfrm>
            <a:off x="4293082" y="4604402"/>
            <a:ext cx="3372321" cy="1152686"/>
          </a:xfrm>
          <a:prstGeom prst="rect">
            <a:avLst/>
          </a:prstGeom>
          <a:noFill/>
          <a:ln>
            <a:noFill/>
          </a:ln>
        </p:spPr>
      </p:pic>
      <p:pic>
        <p:nvPicPr>
          <p:cNvPr id="691" name="Google Shape;691;p62"/>
          <p:cNvPicPr preferRelativeResize="0"/>
          <p:nvPr/>
        </p:nvPicPr>
        <p:blipFill rotWithShape="1">
          <a:blip r:embed="rId7">
            <a:alphaModFix/>
          </a:blip>
          <a:srcRect b="0" l="0" r="0" t="0"/>
          <a:stretch/>
        </p:blipFill>
        <p:spPr>
          <a:xfrm>
            <a:off x="477238" y="3865747"/>
            <a:ext cx="2200582" cy="409632"/>
          </a:xfrm>
          <a:prstGeom prst="rect">
            <a:avLst/>
          </a:prstGeom>
          <a:noFill/>
          <a:ln>
            <a:noFill/>
          </a:ln>
        </p:spPr>
      </p:pic>
      <p:pic>
        <p:nvPicPr>
          <p:cNvPr id="692" name="Google Shape;692;p62"/>
          <p:cNvPicPr preferRelativeResize="0"/>
          <p:nvPr/>
        </p:nvPicPr>
        <p:blipFill rotWithShape="1">
          <a:blip r:embed="rId8">
            <a:alphaModFix/>
          </a:blip>
          <a:srcRect b="0" l="0" r="0" t="0"/>
          <a:stretch/>
        </p:blipFill>
        <p:spPr>
          <a:xfrm>
            <a:off x="329622" y="4604402"/>
            <a:ext cx="3429479" cy="1114581"/>
          </a:xfrm>
          <a:prstGeom prst="rect">
            <a:avLst/>
          </a:prstGeom>
          <a:noFill/>
          <a:ln>
            <a:noFill/>
          </a:ln>
        </p:spPr>
      </p:pic>
      <p:pic>
        <p:nvPicPr>
          <p:cNvPr id="693" name="Google Shape;693;p62"/>
          <p:cNvPicPr preferRelativeResize="0"/>
          <p:nvPr/>
        </p:nvPicPr>
        <p:blipFill rotWithShape="1">
          <a:blip r:embed="rId9">
            <a:alphaModFix/>
          </a:blip>
          <a:srcRect b="0" l="0" r="0" t="0"/>
          <a:stretch/>
        </p:blipFill>
        <p:spPr>
          <a:xfrm>
            <a:off x="4642459" y="1592699"/>
            <a:ext cx="2229161" cy="409632"/>
          </a:xfrm>
          <a:prstGeom prst="rect">
            <a:avLst/>
          </a:prstGeom>
          <a:noFill/>
          <a:ln>
            <a:noFill/>
          </a:ln>
        </p:spPr>
      </p:pic>
      <p:pic>
        <p:nvPicPr>
          <p:cNvPr id="694" name="Google Shape;694;p62"/>
          <p:cNvPicPr preferRelativeResize="0"/>
          <p:nvPr/>
        </p:nvPicPr>
        <p:blipFill rotWithShape="1">
          <a:blip r:embed="rId10">
            <a:alphaModFix/>
          </a:blip>
          <a:srcRect b="0" l="0" r="0" t="0"/>
          <a:stretch/>
        </p:blipFill>
        <p:spPr>
          <a:xfrm>
            <a:off x="4321004" y="2155262"/>
            <a:ext cx="3400900" cy="1457528"/>
          </a:xfrm>
          <a:prstGeom prst="rect">
            <a:avLst/>
          </a:prstGeom>
          <a:noFill/>
          <a:ln>
            <a:noFill/>
          </a:ln>
        </p:spPr>
      </p:pic>
      <p:pic>
        <p:nvPicPr>
          <p:cNvPr id="695" name="Google Shape;695;p62"/>
          <p:cNvPicPr preferRelativeResize="0"/>
          <p:nvPr/>
        </p:nvPicPr>
        <p:blipFill rotWithShape="1">
          <a:blip r:embed="rId11">
            <a:alphaModFix/>
          </a:blip>
          <a:srcRect b="0" l="0" r="0" t="0"/>
          <a:stretch/>
        </p:blipFill>
        <p:spPr>
          <a:xfrm>
            <a:off x="6426980" y="544664"/>
            <a:ext cx="1238423" cy="809738"/>
          </a:xfrm>
          <a:prstGeom prst="rect">
            <a:avLst/>
          </a:prstGeom>
          <a:noFill/>
          <a:ln>
            <a:noFill/>
          </a:ln>
        </p:spPr>
      </p:pic>
      <p:pic>
        <p:nvPicPr>
          <p:cNvPr id="696" name="Google Shape;696;p62"/>
          <p:cNvPicPr preferRelativeResize="0"/>
          <p:nvPr/>
        </p:nvPicPr>
        <p:blipFill rotWithShape="1">
          <a:blip r:embed="rId12">
            <a:alphaModFix/>
          </a:blip>
          <a:srcRect b="0" l="0" r="0" t="0"/>
          <a:stretch/>
        </p:blipFill>
        <p:spPr>
          <a:xfrm>
            <a:off x="7886700" y="544664"/>
            <a:ext cx="1038370" cy="800212"/>
          </a:xfrm>
          <a:prstGeom prst="rect">
            <a:avLst/>
          </a:prstGeom>
          <a:noFill/>
          <a:ln>
            <a:noFill/>
          </a:ln>
        </p:spPr>
      </p:pic>
      <p:pic>
        <p:nvPicPr>
          <p:cNvPr id="697" name="Google Shape;697;p62"/>
          <p:cNvPicPr preferRelativeResize="0"/>
          <p:nvPr/>
        </p:nvPicPr>
        <p:blipFill rotWithShape="1">
          <a:blip r:embed="rId13">
            <a:alphaModFix/>
          </a:blip>
          <a:srcRect b="0" l="0" r="0" t="0"/>
          <a:stretch/>
        </p:blipFill>
        <p:spPr>
          <a:xfrm>
            <a:off x="4973704" y="573352"/>
            <a:ext cx="1047750" cy="781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gtEl>
                                        <p:attrNameLst>
                                          <p:attrName>style.visibility</p:attrName>
                                        </p:attrNameLst>
                                      </p:cBhvr>
                                      <p:to>
                                        <p:strVal val="visible"/>
                                      </p:to>
                                    </p:set>
                                    <p:animEffect filter="fade" transition="in">
                                      <p:cBhvr>
                                        <p:cTn dur="1000"/>
                                        <p:tgtEl>
                                          <p:spTgt spid="6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5"/>
                                        </p:tgtEl>
                                        <p:attrNameLst>
                                          <p:attrName>style.visibility</p:attrName>
                                        </p:attrNameLst>
                                      </p:cBhvr>
                                      <p:to>
                                        <p:strVal val="visible"/>
                                      </p:to>
                                    </p:set>
                                    <p:animEffect filter="fade" transition="in">
                                      <p:cBhvr>
                                        <p:cTn dur="1000"/>
                                        <p:tgtEl>
                                          <p:spTgt spid="6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6"/>
                                        </p:tgtEl>
                                        <p:attrNameLst>
                                          <p:attrName>style.visibility</p:attrName>
                                        </p:attrNameLst>
                                      </p:cBhvr>
                                      <p:to>
                                        <p:strVal val="visible"/>
                                      </p:to>
                                    </p:set>
                                    <p:animEffect filter="fade" transition="in">
                                      <p:cBhvr>
                                        <p:cTn dur="1000"/>
                                        <p:tgtEl>
                                          <p:spTgt spid="6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500"/>
                                        <p:tgtEl>
                                          <p:spTgt spid="6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500"/>
                                        <p:tgtEl>
                                          <p:spTgt spid="6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500"/>
                                        <p:tgtEl>
                                          <p:spTgt spid="6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500"/>
                                        <p:tgtEl>
                                          <p:spTgt spid="6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3"/>
                                        </p:tgtEl>
                                        <p:attrNameLst>
                                          <p:attrName>style.visibility</p:attrName>
                                        </p:attrNameLst>
                                      </p:cBhvr>
                                      <p:to>
                                        <p:strVal val="visible"/>
                                      </p:to>
                                    </p:set>
                                    <p:animEffect filter="fade" transition="in">
                                      <p:cBhvr>
                                        <p:cTn dur="500"/>
                                        <p:tgtEl>
                                          <p:spTgt spid="6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2000"/>
                                        <p:tgtEl>
                                          <p:spTgt spid="6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6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04" name="Google Shape;704;p6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Examples of Queries in Relational Algebra</a:t>
            </a:r>
            <a:endParaRPr/>
          </a:p>
        </p:txBody>
      </p:sp>
      <p:sp>
        <p:nvSpPr>
          <p:cNvPr id="705" name="Google Shape;705;p63"/>
          <p:cNvSpPr txBox="1"/>
          <p:nvPr/>
        </p:nvSpPr>
        <p:spPr>
          <a:xfrm>
            <a:off x="228600" y="1652587"/>
            <a:ext cx="8547100" cy="44434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0033"/>
              </a:buClr>
              <a:buSzPts val="1200"/>
              <a:buFont typeface="Noto Sans Symbols"/>
              <a:buChar char="■"/>
            </a:pPr>
            <a:r>
              <a:rPr b="1" i="0" lang="en-US" sz="2000" u="none" cap="none" strike="noStrike">
                <a:solidFill>
                  <a:schemeClr val="dk2"/>
                </a:solidFill>
                <a:latin typeface="Times New Roman"/>
                <a:ea typeface="Times New Roman"/>
                <a:cs typeface="Times New Roman"/>
                <a:sym typeface="Times New Roman"/>
              </a:rPr>
              <a:t>Q1: Retrieve the name and address of all employees who work for the ‘Research’ department.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00"/>
              </a:spcBef>
              <a:spcAft>
                <a:spcPts val="0"/>
              </a:spcAft>
              <a:buClr>
                <a:schemeClr val="dk2"/>
              </a:buClr>
              <a:buSzPts val="1800"/>
              <a:buFont typeface="Times New Roman"/>
              <a:buNone/>
            </a:pPr>
            <a:r>
              <a:rPr b="0" i="0" lang="en-US" sz="1800" u="none" cap="none" strike="noStrike">
                <a:solidFill>
                  <a:schemeClr val="dk2"/>
                </a:solidFill>
                <a:latin typeface="Times New Roman"/>
                <a:ea typeface="Times New Roman"/>
                <a:cs typeface="Times New Roman"/>
                <a:sym typeface="Times New Roman"/>
              </a:rPr>
              <a:t>	RESEARCH_DEPT ← </a:t>
            </a:r>
            <a:r>
              <a:rPr b="1" i="0" lang="en-US" sz="2000" u="none" cap="none" strike="noStrike">
                <a:solidFill>
                  <a:schemeClr val="dk2"/>
                </a:solidFill>
                <a:latin typeface="Noto Sans Symbols"/>
                <a:ea typeface="Noto Sans Symbols"/>
                <a:cs typeface="Noto Sans Symbols"/>
                <a:sym typeface="Noto Sans Symbols"/>
              </a:rPr>
              <a:t>σ</a:t>
            </a:r>
            <a:r>
              <a:rPr b="0" i="0" lang="en-US" sz="1800" u="none" cap="none" strike="noStrike">
                <a:solidFill>
                  <a:schemeClr val="dk2"/>
                </a:solidFill>
                <a:latin typeface="Times New Roman"/>
                <a:ea typeface="Times New Roman"/>
                <a:cs typeface="Times New Roman"/>
                <a:sym typeface="Times New Roman"/>
              </a:rPr>
              <a:t> </a:t>
            </a:r>
            <a:r>
              <a:rPr b="0" i="0" lang="en-US" sz="1200" u="none" cap="none" strike="noStrike">
                <a:solidFill>
                  <a:schemeClr val="dk2"/>
                </a:solidFill>
                <a:latin typeface="Times New Roman"/>
                <a:ea typeface="Times New Roman"/>
                <a:cs typeface="Times New Roman"/>
                <a:sym typeface="Times New Roman"/>
              </a:rPr>
              <a:t>DNAME=’Research’ </a:t>
            </a:r>
            <a:r>
              <a:rPr b="0" i="0" lang="en-US" sz="1800" u="none" cap="none" strike="noStrike">
                <a:solidFill>
                  <a:schemeClr val="dk2"/>
                </a:solidFill>
                <a:latin typeface="Times New Roman"/>
                <a:ea typeface="Times New Roman"/>
                <a:cs typeface="Times New Roman"/>
                <a:sym typeface="Times New Roman"/>
              </a:rPr>
              <a:t>(DEPARTMENT)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360"/>
              </a:spcBef>
              <a:spcAft>
                <a:spcPts val="0"/>
              </a:spcAft>
              <a:buClr>
                <a:schemeClr val="dk2"/>
              </a:buClr>
              <a:buSzPts val="1800"/>
              <a:buFont typeface="Times New Roman"/>
              <a:buNone/>
            </a:pPr>
            <a:r>
              <a:rPr b="0" i="0" lang="en-US" sz="1800" u="none" cap="none" strike="noStrike">
                <a:solidFill>
                  <a:schemeClr val="dk2"/>
                </a:solidFill>
                <a:latin typeface="Times New Roman"/>
                <a:ea typeface="Times New Roman"/>
                <a:cs typeface="Times New Roman"/>
                <a:sym typeface="Times New Roman"/>
              </a:rPr>
              <a:t>	RESEARCH_EMPS ← (RESEARCH_DEPT        </a:t>
            </a:r>
            <a:r>
              <a:rPr b="0" baseline="-25000" i="0" lang="en-US" sz="1200" u="none" cap="none" strike="noStrike">
                <a:solidFill>
                  <a:schemeClr val="dk2"/>
                </a:solidFill>
                <a:latin typeface="Times New Roman"/>
                <a:ea typeface="Times New Roman"/>
                <a:cs typeface="Times New Roman"/>
                <a:sym typeface="Times New Roman"/>
              </a:rPr>
              <a:t>DNUMBER= DNOEMPLOYEE</a:t>
            </a:r>
            <a:r>
              <a:rPr b="0" i="0" lang="en-US" sz="1800" u="none" cap="none" strike="noStrike">
                <a:solidFill>
                  <a:schemeClr val="dk2"/>
                </a:solidFill>
                <a:latin typeface="Times New Roman"/>
                <a:ea typeface="Times New Roman"/>
                <a:cs typeface="Times New Roman"/>
                <a:sym typeface="Times New Roman"/>
              </a:rPr>
              <a:t>EMPLOYEE)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dk2"/>
              </a:buClr>
              <a:buSzPts val="1800"/>
              <a:buFont typeface="Times New Roman"/>
              <a:buNone/>
            </a:pPr>
            <a:r>
              <a:rPr b="0" i="0" lang="en-US" sz="1800" u="none" cap="none" strike="noStrike">
                <a:solidFill>
                  <a:schemeClr val="dk2"/>
                </a:solidFill>
                <a:latin typeface="Times New Roman"/>
                <a:ea typeface="Times New Roman"/>
                <a:cs typeface="Times New Roman"/>
                <a:sym typeface="Times New Roman"/>
              </a:rPr>
              <a:t>	RESULT ← </a:t>
            </a:r>
            <a:r>
              <a:rPr b="0" i="0" lang="en-US" sz="2400" u="none" cap="none" strike="noStrike">
                <a:solidFill>
                  <a:schemeClr val="dk2"/>
                </a:solidFill>
                <a:latin typeface="Noto Sans Symbols"/>
                <a:ea typeface="Noto Sans Symbols"/>
                <a:cs typeface="Noto Sans Symbols"/>
                <a:sym typeface="Noto Sans Symbols"/>
              </a:rPr>
              <a:t>π</a:t>
            </a:r>
            <a:r>
              <a:rPr b="0" i="0" lang="en-US" sz="1800" u="none" cap="none" strike="noStrike">
                <a:solidFill>
                  <a:schemeClr val="dk2"/>
                </a:solidFill>
                <a:latin typeface="Times New Roman"/>
                <a:ea typeface="Times New Roman"/>
                <a:cs typeface="Times New Roman"/>
                <a:sym typeface="Times New Roman"/>
              </a:rPr>
              <a:t> </a:t>
            </a:r>
            <a:r>
              <a:rPr b="0" i="0" lang="en-US" sz="1200" u="none" cap="none" strike="noStrike">
                <a:solidFill>
                  <a:schemeClr val="dk2"/>
                </a:solidFill>
                <a:latin typeface="Times New Roman"/>
                <a:ea typeface="Times New Roman"/>
                <a:cs typeface="Times New Roman"/>
                <a:sym typeface="Times New Roman"/>
              </a:rPr>
              <a:t>FNAME, LNAME, ADDRESS</a:t>
            </a:r>
            <a:r>
              <a:rPr b="0" i="0" lang="en-US" sz="1800" u="none" cap="none" strike="noStrike">
                <a:solidFill>
                  <a:schemeClr val="dk2"/>
                </a:solidFill>
                <a:latin typeface="Times New Roman"/>
                <a:ea typeface="Times New Roman"/>
                <a:cs typeface="Times New Roman"/>
                <a:sym typeface="Times New Roman"/>
              </a:rPr>
              <a:t> (RESEARCH_EMPS)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180"/>
              </a:spcBef>
              <a:spcAft>
                <a:spcPts val="0"/>
              </a:spcAft>
              <a:buClr>
                <a:schemeClr val="dk1"/>
              </a:buClr>
              <a:buSzPts val="900"/>
              <a:buFont typeface="Arial"/>
              <a:buNone/>
            </a:pPr>
            <a:r>
              <a:t/>
            </a:r>
            <a:endParaRPr b="0" i="0" sz="900" u="none" cap="none" strike="noStrike">
              <a:solidFill>
                <a:schemeClr val="dk2"/>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990033"/>
              </a:buClr>
              <a:buSzPts val="1200"/>
              <a:buFont typeface="Noto Sans Symbols"/>
              <a:buChar char="■"/>
            </a:pPr>
            <a:r>
              <a:rPr b="1" i="0" lang="en-US" sz="2000" u="none" cap="none" strike="noStrike">
                <a:solidFill>
                  <a:schemeClr val="dk2"/>
                </a:solidFill>
                <a:latin typeface="Times New Roman"/>
                <a:ea typeface="Times New Roman"/>
                <a:cs typeface="Times New Roman"/>
                <a:sym typeface="Times New Roman"/>
              </a:rPr>
              <a:t>Q2: Retrieve the names of employees who have no dependents.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dk2"/>
              </a:buClr>
              <a:buSzPts val="1600"/>
              <a:buFont typeface="Times New Roman"/>
              <a:buNone/>
            </a:pPr>
            <a:r>
              <a:rPr b="0" i="0" lang="en-US" sz="1600" u="none" cap="none" strike="noStrike">
                <a:solidFill>
                  <a:schemeClr val="dk2"/>
                </a:solidFill>
                <a:latin typeface="Times New Roman"/>
                <a:ea typeface="Times New Roman"/>
                <a:cs typeface="Times New Roman"/>
                <a:sym typeface="Times New Roman"/>
              </a:rPr>
              <a:t>	</a:t>
            </a:r>
            <a:r>
              <a:rPr b="0" i="0" lang="en-US" sz="1800" u="none" cap="none" strike="noStrike">
                <a:solidFill>
                  <a:schemeClr val="dk2"/>
                </a:solidFill>
                <a:latin typeface="Times New Roman"/>
                <a:ea typeface="Times New Roman"/>
                <a:cs typeface="Times New Roman"/>
                <a:sym typeface="Times New Roman"/>
              </a:rPr>
              <a:t>ALL_EMPS ←</a:t>
            </a:r>
            <a:r>
              <a:rPr b="0" i="0" lang="en-US" sz="1600" u="none" cap="none" strike="noStrike">
                <a:solidFill>
                  <a:schemeClr val="dk2"/>
                </a:solidFill>
                <a:latin typeface="Times New Roman"/>
                <a:ea typeface="Times New Roman"/>
                <a:cs typeface="Times New Roman"/>
                <a:sym typeface="Times New Roman"/>
              </a:rPr>
              <a:t> </a:t>
            </a:r>
            <a:r>
              <a:rPr b="0" i="0" lang="en-US" sz="2400" u="none" cap="none" strike="noStrike">
                <a:solidFill>
                  <a:schemeClr val="dk2"/>
                </a:solidFill>
                <a:latin typeface="Noto Sans Symbols"/>
                <a:ea typeface="Noto Sans Symbols"/>
                <a:cs typeface="Noto Sans Symbols"/>
                <a:sym typeface="Noto Sans Symbols"/>
              </a:rPr>
              <a:t>π</a:t>
            </a:r>
            <a:r>
              <a:rPr b="0" i="0" lang="en-US" sz="1600" u="none" cap="none" strike="noStrike">
                <a:solidFill>
                  <a:schemeClr val="dk2"/>
                </a:solidFill>
                <a:latin typeface="Times New Roman"/>
                <a:ea typeface="Times New Roman"/>
                <a:cs typeface="Times New Roman"/>
                <a:sym typeface="Times New Roman"/>
              </a:rPr>
              <a:t> </a:t>
            </a:r>
            <a:r>
              <a:rPr b="0" i="0" lang="en-US" sz="1200" u="none" cap="none" strike="noStrike">
                <a:solidFill>
                  <a:schemeClr val="dk2"/>
                </a:solidFill>
                <a:latin typeface="Times New Roman"/>
                <a:ea typeface="Times New Roman"/>
                <a:cs typeface="Times New Roman"/>
                <a:sym typeface="Times New Roman"/>
              </a:rPr>
              <a:t>SSN</a:t>
            </a:r>
            <a:r>
              <a:rPr b="0" i="0" lang="en-US" sz="1800" u="none" cap="none" strike="noStrike">
                <a:solidFill>
                  <a:schemeClr val="dk2"/>
                </a:solidFill>
                <a:latin typeface="Times New Roman"/>
                <a:ea typeface="Times New Roman"/>
                <a:cs typeface="Times New Roman"/>
                <a:sym typeface="Times New Roman"/>
              </a:rPr>
              <a:t>(EMPLOYEE)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dk2"/>
              </a:buClr>
              <a:buSzPts val="1800"/>
              <a:buFont typeface="Times New Roman"/>
              <a:buNone/>
            </a:pPr>
            <a:r>
              <a:rPr b="0" i="0" lang="en-US" sz="1800" u="none" cap="none" strike="noStrike">
                <a:solidFill>
                  <a:schemeClr val="dk2"/>
                </a:solidFill>
                <a:latin typeface="Times New Roman"/>
                <a:ea typeface="Times New Roman"/>
                <a:cs typeface="Times New Roman"/>
                <a:sym typeface="Times New Roman"/>
              </a:rPr>
              <a:t>	EMPS_WITH_DEPS</a:t>
            </a:r>
            <a:r>
              <a:rPr b="0" i="0" lang="en-US" sz="2000" u="none" cap="none" strike="noStrike">
                <a:solidFill>
                  <a:schemeClr val="dk2"/>
                </a:solidFill>
                <a:latin typeface="Times New Roman"/>
                <a:ea typeface="Times New Roman"/>
                <a:cs typeface="Times New Roman"/>
                <a:sym typeface="Times New Roman"/>
              </a:rPr>
              <a:t>(</a:t>
            </a:r>
            <a:r>
              <a:rPr b="0" i="0" lang="en-US" sz="1800" u="none" cap="none" strike="noStrike">
                <a:solidFill>
                  <a:schemeClr val="dk2"/>
                </a:solidFill>
                <a:latin typeface="Times New Roman"/>
                <a:ea typeface="Times New Roman"/>
                <a:cs typeface="Times New Roman"/>
                <a:sym typeface="Times New Roman"/>
              </a:rPr>
              <a:t>SSN</a:t>
            </a:r>
            <a:r>
              <a:rPr b="0" i="0" lang="en-US" sz="2000" u="none" cap="none" strike="noStrike">
                <a:solidFill>
                  <a:schemeClr val="dk2"/>
                </a:solidFill>
                <a:latin typeface="Times New Roman"/>
                <a:ea typeface="Times New Roman"/>
                <a:cs typeface="Times New Roman"/>
                <a:sym typeface="Times New Roman"/>
              </a:rPr>
              <a:t>) ←</a:t>
            </a:r>
            <a:r>
              <a:rPr b="0" i="0" lang="en-US" sz="1600" u="none" cap="none" strike="noStrike">
                <a:solidFill>
                  <a:schemeClr val="dk2"/>
                </a:solidFill>
                <a:latin typeface="Times New Roman"/>
                <a:ea typeface="Times New Roman"/>
                <a:cs typeface="Times New Roman"/>
                <a:sym typeface="Times New Roman"/>
              </a:rPr>
              <a:t> </a:t>
            </a:r>
            <a:r>
              <a:rPr b="0" i="0" lang="en-US" sz="2400" u="none" cap="none" strike="noStrike">
                <a:solidFill>
                  <a:schemeClr val="dk2"/>
                </a:solidFill>
                <a:latin typeface="Noto Sans Symbols"/>
                <a:ea typeface="Noto Sans Symbols"/>
                <a:cs typeface="Noto Sans Symbols"/>
                <a:sym typeface="Noto Sans Symbols"/>
              </a:rPr>
              <a:t>π</a:t>
            </a:r>
            <a:r>
              <a:rPr b="0" i="0" lang="en-US" sz="1600" u="none" cap="none" strike="noStrike">
                <a:solidFill>
                  <a:schemeClr val="dk2"/>
                </a:solidFill>
                <a:latin typeface="Times New Roman"/>
                <a:ea typeface="Times New Roman"/>
                <a:cs typeface="Times New Roman"/>
                <a:sym typeface="Times New Roman"/>
              </a:rPr>
              <a:t> </a:t>
            </a:r>
            <a:r>
              <a:rPr b="0" i="0" lang="en-US" sz="1200" u="none" cap="none" strike="noStrike">
                <a:solidFill>
                  <a:schemeClr val="dk2"/>
                </a:solidFill>
                <a:latin typeface="Times New Roman"/>
                <a:ea typeface="Times New Roman"/>
                <a:cs typeface="Times New Roman"/>
                <a:sym typeface="Times New Roman"/>
              </a:rPr>
              <a:t>ESSN</a:t>
            </a:r>
            <a:r>
              <a:rPr b="0" i="0" lang="en-US" sz="2000" u="none" cap="none" strike="noStrike">
                <a:solidFill>
                  <a:schemeClr val="dk2"/>
                </a:solidFill>
                <a:latin typeface="Times New Roman"/>
                <a:ea typeface="Times New Roman"/>
                <a:cs typeface="Times New Roman"/>
                <a:sym typeface="Times New Roman"/>
              </a:rPr>
              <a:t>(</a:t>
            </a:r>
            <a:r>
              <a:rPr b="0" i="0" lang="en-US" sz="1800" u="none" cap="none" strike="noStrike">
                <a:solidFill>
                  <a:schemeClr val="dk2"/>
                </a:solidFill>
                <a:latin typeface="Times New Roman"/>
                <a:ea typeface="Times New Roman"/>
                <a:cs typeface="Times New Roman"/>
                <a:sym typeface="Times New Roman"/>
              </a:rPr>
              <a:t>DEPENDENT</a:t>
            </a:r>
            <a:r>
              <a:rPr b="0" i="0" lang="en-US" sz="2000" u="none" cap="none" strike="noStrike">
                <a:solidFill>
                  <a:schemeClr val="dk2"/>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00"/>
              </a:spcBef>
              <a:spcAft>
                <a:spcPts val="0"/>
              </a:spcAft>
              <a:buClr>
                <a:schemeClr val="dk2"/>
              </a:buClr>
              <a:buSzPts val="2000"/>
              <a:buFont typeface="Times New Roman"/>
              <a:buNone/>
            </a:pPr>
            <a:r>
              <a:rPr b="0" i="0" lang="en-US" sz="2000" u="none" cap="none" strike="noStrike">
                <a:solidFill>
                  <a:schemeClr val="dk2"/>
                </a:solidFill>
                <a:latin typeface="Times New Roman"/>
                <a:ea typeface="Times New Roman"/>
                <a:cs typeface="Times New Roman"/>
                <a:sym typeface="Times New Roman"/>
              </a:rPr>
              <a:t>	</a:t>
            </a:r>
            <a:r>
              <a:rPr b="0" i="0" lang="en-US" sz="1800" u="none" cap="none" strike="noStrike">
                <a:solidFill>
                  <a:schemeClr val="dk2"/>
                </a:solidFill>
                <a:latin typeface="Times New Roman"/>
                <a:ea typeface="Times New Roman"/>
                <a:cs typeface="Times New Roman"/>
                <a:sym typeface="Times New Roman"/>
              </a:rPr>
              <a:t>EMPS_WITHOUT_DEPS ← (ALL_EMPS </a:t>
            </a:r>
            <a:r>
              <a:rPr b="0" i="0" lang="en-US" sz="1800" u="none" cap="none" strike="noStrike">
                <a:solidFill>
                  <a:schemeClr val="dk2"/>
                </a:solidFill>
                <a:latin typeface="Arial"/>
                <a:ea typeface="Arial"/>
                <a:cs typeface="Arial"/>
                <a:sym typeface="Arial"/>
              </a:rPr>
              <a:t>-</a:t>
            </a:r>
            <a:r>
              <a:rPr b="0" i="0" lang="en-US" sz="1800" u="none" cap="none" strike="noStrike">
                <a:solidFill>
                  <a:schemeClr val="dk2"/>
                </a:solidFill>
                <a:latin typeface="Times New Roman"/>
                <a:ea typeface="Times New Roman"/>
                <a:cs typeface="Times New Roman"/>
                <a:sym typeface="Times New Roman"/>
              </a:rPr>
              <a:t> EMPS_WITH_DEPS)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dk2"/>
              </a:buClr>
              <a:buSzPts val="2000"/>
              <a:buFont typeface="Times New Roman"/>
              <a:buNone/>
            </a:pPr>
            <a:r>
              <a:rPr b="0" i="0" lang="en-US" sz="2000" u="none" cap="none" strike="noStrike">
                <a:solidFill>
                  <a:schemeClr val="dk2"/>
                </a:solidFill>
                <a:latin typeface="Times New Roman"/>
                <a:ea typeface="Times New Roman"/>
                <a:cs typeface="Times New Roman"/>
                <a:sym typeface="Times New Roman"/>
              </a:rPr>
              <a:t>	</a:t>
            </a:r>
            <a:r>
              <a:rPr b="0" i="0" lang="en-US" sz="1800" u="none" cap="none" strike="noStrike">
                <a:solidFill>
                  <a:schemeClr val="dk2"/>
                </a:solidFill>
                <a:latin typeface="Times New Roman"/>
                <a:ea typeface="Times New Roman"/>
                <a:cs typeface="Times New Roman"/>
                <a:sym typeface="Times New Roman"/>
              </a:rPr>
              <a:t>RESULT ← </a:t>
            </a:r>
            <a:r>
              <a:rPr b="0" i="0" lang="en-US" sz="2400" u="none" cap="none" strike="noStrike">
                <a:solidFill>
                  <a:schemeClr val="dk2"/>
                </a:solidFill>
                <a:latin typeface="Noto Sans Symbols"/>
                <a:ea typeface="Noto Sans Symbols"/>
                <a:cs typeface="Noto Sans Symbols"/>
                <a:sym typeface="Noto Sans Symbols"/>
              </a:rPr>
              <a:t>π</a:t>
            </a:r>
            <a:r>
              <a:rPr b="0" i="0" lang="en-US" sz="1800" u="none" cap="none" strike="noStrike">
                <a:solidFill>
                  <a:schemeClr val="dk2"/>
                </a:solidFill>
                <a:latin typeface="Times New Roman"/>
                <a:ea typeface="Times New Roman"/>
                <a:cs typeface="Times New Roman"/>
                <a:sym typeface="Times New Roman"/>
              </a:rPr>
              <a:t> </a:t>
            </a:r>
            <a:r>
              <a:rPr b="0" i="0" lang="en-US" sz="1400" u="none" cap="none" strike="noStrike">
                <a:solidFill>
                  <a:schemeClr val="dk2"/>
                </a:solidFill>
                <a:latin typeface="Times New Roman"/>
                <a:ea typeface="Times New Roman"/>
                <a:cs typeface="Times New Roman"/>
                <a:sym typeface="Times New Roman"/>
              </a:rPr>
              <a:t>LNAME, FNAME</a:t>
            </a:r>
            <a:r>
              <a:rPr b="0" i="0" lang="en-US" sz="1800" u="none" cap="none" strike="noStrike">
                <a:solidFill>
                  <a:schemeClr val="dk2"/>
                </a:solidFill>
                <a:latin typeface="Times New Roman"/>
                <a:ea typeface="Times New Roman"/>
                <a:cs typeface="Times New Roman"/>
                <a:sym typeface="Times New Roman"/>
              </a:rPr>
              <a:t> (EMPS_WITHOUT_DEPS * EMPLOYEE)</a:t>
            </a:r>
            <a:endParaRPr b="0" i="0" sz="1400" u="none" cap="none" strike="noStrike">
              <a:solidFill>
                <a:srgbClr val="000000"/>
              </a:solidFill>
              <a:latin typeface="Arial"/>
              <a:ea typeface="Arial"/>
              <a:cs typeface="Arial"/>
              <a:sym typeface="Arial"/>
            </a:endParaRPr>
          </a:p>
        </p:txBody>
      </p:sp>
      <p:grpSp>
        <p:nvGrpSpPr>
          <p:cNvPr id="706" name="Google Shape;706;p63"/>
          <p:cNvGrpSpPr/>
          <p:nvPr/>
        </p:nvGrpSpPr>
        <p:grpSpPr>
          <a:xfrm>
            <a:off x="4953000" y="2720975"/>
            <a:ext cx="374650" cy="174625"/>
            <a:chOff x="377" y="2904"/>
            <a:chExt cx="154" cy="110"/>
          </a:xfrm>
        </p:grpSpPr>
        <p:cxnSp>
          <p:nvCxnSpPr>
            <p:cNvPr id="707" name="Google Shape;707;p63"/>
            <p:cNvCxnSpPr/>
            <p:nvPr/>
          </p:nvCxnSpPr>
          <p:spPr>
            <a:xfrm>
              <a:off x="381"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08" name="Google Shape;708;p63"/>
            <p:cNvCxnSpPr/>
            <p:nvPr/>
          </p:nvCxnSpPr>
          <p:spPr>
            <a:xfrm>
              <a:off x="527" y="2904"/>
              <a:ext cx="0" cy="110"/>
            </a:xfrm>
            <a:prstGeom prst="straightConnector1">
              <a:avLst/>
            </a:prstGeom>
            <a:noFill/>
            <a:ln cap="flat" cmpd="sng" w="15875">
              <a:solidFill>
                <a:schemeClr val="lt2"/>
              </a:solidFill>
              <a:prstDash val="solid"/>
              <a:miter lim="800000"/>
              <a:headEnd len="sm" w="sm" type="none"/>
              <a:tailEnd len="sm" w="sm" type="none"/>
            </a:ln>
          </p:spPr>
        </p:cxnSp>
        <p:cxnSp>
          <p:nvCxnSpPr>
            <p:cNvPr id="709" name="Google Shape;709;p63"/>
            <p:cNvCxnSpPr/>
            <p:nvPr/>
          </p:nvCxnSpPr>
          <p:spPr>
            <a:xfrm>
              <a:off x="385" y="2904"/>
              <a:ext cx="138" cy="110"/>
            </a:xfrm>
            <a:prstGeom prst="straightConnector1">
              <a:avLst/>
            </a:prstGeom>
            <a:noFill/>
            <a:ln cap="flat" cmpd="sng" w="15875">
              <a:solidFill>
                <a:schemeClr val="lt2"/>
              </a:solidFill>
              <a:prstDash val="solid"/>
              <a:miter lim="800000"/>
              <a:headEnd len="sm" w="sm" type="none"/>
              <a:tailEnd len="sm" w="sm" type="none"/>
            </a:ln>
          </p:spPr>
        </p:cxnSp>
        <p:cxnSp>
          <p:nvCxnSpPr>
            <p:cNvPr id="710" name="Google Shape;710;p63"/>
            <p:cNvCxnSpPr/>
            <p:nvPr/>
          </p:nvCxnSpPr>
          <p:spPr>
            <a:xfrm flipH="1">
              <a:off x="377" y="2904"/>
              <a:ext cx="154" cy="110"/>
            </a:xfrm>
            <a:prstGeom prst="straightConnector1">
              <a:avLst/>
            </a:prstGeom>
            <a:noFill/>
            <a:ln cap="flat" cmpd="sng" w="15875">
              <a:solidFill>
                <a:schemeClr val="lt2"/>
              </a:solidFill>
              <a:prstDash val="solid"/>
              <a:miter lim="800000"/>
              <a:headEnd len="sm" w="sm" type="none"/>
              <a:tailEnd len="sm" w="sm" type="none"/>
            </a:ln>
          </p:spPr>
        </p:cxnSp>
      </p:gr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6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6-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17" name="Google Shape;717;p6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Chapter Summary</a:t>
            </a:r>
            <a:endParaRPr/>
          </a:p>
        </p:txBody>
      </p:sp>
      <p:sp>
        <p:nvSpPr>
          <p:cNvPr id="718" name="Google Shape;718;p6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Relational Algebra</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Unary Relational Operations </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Relational Algebra Operations From Set Theory</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Binary Relational Operations</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Additional Relational Operations</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Examples of Queries in Relational Algebra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