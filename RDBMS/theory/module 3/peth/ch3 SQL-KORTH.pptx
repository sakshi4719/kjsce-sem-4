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y="6858000" cx="9144000"/>
  <p:notesSz cx="7315200" cy="9601200"/>
  <p:embeddedFontLst>
    <p:embeddedFont>
      <p:font typeface="Helvetica Neue"/>
      <p:regular r:id="rId78"/>
      <p:bold r:id="rId79"/>
      <p:italic r:id="rId80"/>
      <p:boldItalic r:id="rId81"/>
    </p:embeddedFont>
    <p:embeddedFont>
      <p:font typeface="Noto Sans Symbols"/>
      <p:regular r:id="rId82"/>
      <p:bold r:id="rId83"/>
    </p:embeddedFont>
    <p:embeddedFont>
      <p:font typeface="Century Gothic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7">
          <p15:clr>
            <a:srgbClr val="000000"/>
          </p15:clr>
        </p15:guide>
        <p15:guide id="2" pos="46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7" orient="horz"/>
        <p:guide pos="4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enturyGothic-regular.fntdata"/><Relationship Id="rId83" Type="http://schemas.openxmlformats.org/officeDocument/2006/relationships/font" Target="fonts/NotoSansSymbols-bold.fntdata"/><Relationship Id="rId42" Type="http://schemas.openxmlformats.org/officeDocument/2006/relationships/slide" Target="slides/slide36.xml"/><Relationship Id="rId86" Type="http://schemas.openxmlformats.org/officeDocument/2006/relationships/font" Target="fonts/CenturyGothic-italic.fntdata"/><Relationship Id="rId41" Type="http://schemas.openxmlformats.org/officeDocument/2006/relationships/slide" Target="slides/slide35.xml"/><Relationship Id="rId85" Type="http://schemas.openxmlformats.org/officeDocument/2006/relationships/font" Target="fonts/CenturyGothic-bold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schemas.openxmlformats.org/officeDocument/2006/relationships/font" Target="fonts/CenturyGothic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HelveticaNeue-italic.fntdata"/><Relationship Id="rId82" Type="http://schemas.openxmlformats.org/officeDocument/2006/relationships/font" Target="fonts/NotoSansSymbols-regular.fntdata"/><Relationship Id="rId81" Type="http://schemas.openxmlformats.org/officeDocument/2006/relationships/font" Target="fonts/HelveticaNeue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font" Target="fonts/HelveticaNeue-bold.fntdata"/><Relationship Id="rId34" Type="http://schemas.openxmlformats.org/officeDocument/2006/relationships/slide" Target="slides/slide28.xml"/><Relationship Id="rId78" Type="http://schemas.openxmlformats.org/officeDocument/2006/relationships/font" Target="fonts/HelveticaNeue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1258887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0" name="Google Shape;80;p2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35" name="Google Shape;135;p10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0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46" name="Google Shape;146;p11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1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56" name="Google Shape;156;p12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2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66" name="Google Shape;166;p13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13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76" name="Google Shape;176;p14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14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86" name="Google Shape;186;p15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5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98" name="Google Shape;198;p16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16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09" name="Google Shape;209;p17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17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6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6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p6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8" name="Google Shape;548;p6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49" name="Google Shape;549;p65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65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6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6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6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 rot="5400000">
            <a:off x="2193131" y="-284957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0" name="Google Shape;6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1" name="Google Shape;6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www.db-book.com/" TargetMode="External"/><Relationship Id="rId2" Type="http://schemas.openxmlformats.org/officeDocument/2006/relationships/image" Target="../media/image2.jpg"/><Relationship Id="rId3" Type="http://schemas.openxmlformats.org/officeDocument/2006/relationships/image" Target="../media/image12.jp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image" Target="../media/image12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Google Shape;7;p1"/>
          <p:cNvSpPr txBox="1"/>
          <p:nvPr/>
        </p:nvSpPr>
        <p:spPr>
          <a:xfrm>
            <a:off x="2673350" y="5726112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1"/>
              </a:rPr>
              <a:t>www.db-book.com</a:t>
            </a: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descr="Icon11"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9" name="Google Shape;9;p1"/>
          <p:cNvPicPr preferRelativeResize="0"/>
          <p:nvPr/>
        </p:nvPicPr>
        <p:blipFill rotWithShape="1">
          <a:blip r:embed="rId3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759575" y="6613525"/>
            <a:ext cx="2387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4481512" y="6613525"/>
            <a:ext cx="4460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</a:t>
            </a:r>
            <a:fld id="{00000000-1234-1234-1234-123412341234}" type="slidenum"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3"/>
          <p:cNvSpPr txBox="1"/>
          <p:nvPr/>
        </p:nvSpPr>
        <p:spPr>
          <a:xfrm>
            <a:off x="0" y="6613525"/>
            <a:ext cx="30289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 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Ed.,  June 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2006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con11"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28" name="Google Shape;28;p3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3: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3:  SQL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809625" y="1104900"/>
            <a:ext cx="7413625" cy="473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Query Structure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Nested Subqueries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 Queries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Relations**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History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IBM Sequel language developed as part of System R project at the IBM San Jose Research Laboratory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Renamed Structured Query Language (SQL)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ANSI and ISO standard SQL: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SQL-86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SQL-89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SQL-92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(language name became Y2K compliant!)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Commercial systems offer most, if not all, SQL-92 features, plus varying feature sets from later standards and special proprietary features.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all examples here may work on your particular system.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Definition Language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23962" y="1898650"/>
            <a:ext cx="6637337" cy="2633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schema for each relation, including attribute types.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 information for each relation.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Non-standard SQL extensions also allow specification of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of indices to be maintained for each relations.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physical storage structure of each relation on disk.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739775" y="1106487"/>
            <a:ext cx="7239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the specification of: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Construct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823912" y="1127125"/>
            <a:ext cx="7162800" cy="456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SQL relation is defined using 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command: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(integrity-constraint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...,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(integrity-constraint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the relation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an attribute name in the schema of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data type of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Types in SQL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739775" y="1106487"/>
            <a:ext cx="81915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char(n).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Fixed length character string, with user-specified length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varchar(n).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Variable length character strings, with user-specified maximum length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int.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(a finite subset of the integers that is machine-dependent).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smallint.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Small integer (a machine-dependent subset of the integer domain type).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numeric(p,d).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Fixed point number, with user-specified precision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digits,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digits to the right of decimal point.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real, double precision.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Floating point and double-precision floating point numbers, with machine-dependent precision.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float(n).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Floating point number, with user-specified precision of at least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are covered in Chapter 4.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on Tables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823912" y="1098550"/>
            <a:ext cx="6638925" cy="125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771525" y="2395537"/>
            <a:ext cx="68008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primary key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char(30)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declaration on an attribute automatically ensures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null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SQL-92 onwards, needs to be explicitly stated in SQL-89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969962" y="1778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Insertion and Deletion of Tuples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739775" y="1106487"/>
            <a:ext cx="7848600" cy="501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Newly created table is empty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('A-9732', 'Perryridge', 1200)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fails if any integrity constraint is violated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tuples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Note: Will see later how to delete selected tuples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and Alter Table Constructs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739775" y="1106487"/>
            <a:ext cx="7385050" cy="515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table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command deletes all information about the dropped relation from the database.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command is used to add attributes to an existing relation: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the attribute to be added to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domain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tuples in the relation are assigned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value for the new attribute.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command can also be used to drop attributes of a relation: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drop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  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an attribute of relation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Dropping of attributes not supported by many databases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Query Structure 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739775" y="1106487"/>
            <a:ext cx="7640637" cy="510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typical SQL query has the form: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an attribute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a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predicate.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query is equivalent to the relational algebra expression.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of an SQL query is a relation.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900" y="4452937"/>
            <a:ext cx="3886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select Clause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739775" y="1106487"/>
            <a:ext cx="8066087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 the attributes desired in the result of a query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corresponds to the projection operation of the relational algebra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the names of all branches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relational algebra, the query would be: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SQL names are case insensitive (i.e., you may use upper- or lower-case letters.)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people use upper case wherever we use bold font.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select Clause (Cont.)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allows duplicates in relations as well as in query results.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force the elimination of duplicates, insert the keyword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distinct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after select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branches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relations, and remove duplicates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keyword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specifies that duplicates not be removed.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select Clause (Cont.)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asterisk in the select clause denotes “all attributes”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can contain arithmetic expressions involving the operation, +, –,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/, and operating on constants or attributes of tuples.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amount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where Clause</a:t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specifies conditions that the result must satisfy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Corresponds to the selection predicate of the relational algebra.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find all loan number for loans made at the Perryridge branch with loan amounts greater than $1200.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Perryridge'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1200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Comparison results can be combined using the logical connectives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and, or,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from Clause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739775" y="1106487"/>
            <a:ext cx="8763000" cy="22494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lists the relations involved in the query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Corresponds to the Cartesian product operation of the relational algebra.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Cartesian product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X loan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select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769937" y="2838450"/>
            <a:ext cx="82518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name, loan number and loan amount of all customers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having a loan at the Perryridge branch.</a:t>
            </a:r>
            <a:endParaRPr/>
          </a:p>
        </p:txBody>
      </p:sp>
      <p:sp>
        <p:nvSpPr>
          <p:cNvPr id="194" name="Google Shape;194;p28"/>
          <p:cNvSpPr txBox="1"/>
          <p:nvPr/>
        </p:nvSpPr>
        <p:spPr>
          <a:xfrm>
            <a:off x="1096962" y="3717925"/>
            <a:ext cx="6654800" cy="146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borrower.loan_number, 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'Perryridge'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Rename Operation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739775" y="1106487"/>
            <a:ext cx="8115300" cy="248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allows renaming relations and attributes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old-name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new-name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Find the name, loan number and loan amount of all customers; rename the column name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loan_id.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1254125" y="2835275"/>
            <a:ext cx="757396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borrower.loan_number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loan_id, 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Variables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815975" y="1108075"/>
            <a:ext cx="7661275" cy="14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variables are defined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via the use of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customer names and their loan numbers and amount for all customers having a loan at some branch.</a:t>
            </a:r>
            <a:endParaRPr/>
          </a:p>
        </p:txBody>
      </p:sp>
      <p:sp>
        <p:nvSpPr>
          <p:cNvPr id="216" name="Google Shape;216;p30"/>
          <p:cNvSpPr txBox="1"/>
          <p:nvPr/>
        </p:nvSpPr>
        <p:spPr>
          <a:xfrm>
            <a:off x="758825" y="3636962"/>
            <a:ext cx="7564437" cy="2767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Find the names of all branches that have greater assets than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some branch located in Brooklyn.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select distinct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T.branch_name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branch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T.assets &gt; S.assets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S.branch_city = 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Brooklyn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 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287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Keyword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optional and may be omitted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≡ borrower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/>
          </a:p>
          <a:p>
            <a:pPr indent="-9144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Some database such as Oracle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omitted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1654175" y="2652712"/>
            <a:ext cx="53038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T.loan_number, S.amount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T.loan_number = S.loan_number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Operations</a:t>
            </a:r>
            <a:endParaRPr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739775" y="1106487"/>
            <a:ext cx="7848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includes a string-matching operator for comparisons on character strings.  The operator “like” uses patterns that are described using two special characters: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percent (%).  The % character matches any substring.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underscore (_).  The _ character matches any character.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whose street includes the substring “Main”.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1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customer_street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</a:t>
            </a:r>
            <a:r>
              <a:rPr b="1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 Main%</a:t>
            </a:r>
            <a:r>
              <a:rPr b="0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 the name “Main%”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</a:t>
            </a:r>
            <a:r>
              <a:rPr b="1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Main\%</a:t>
            </a:r>
            <a:r>
              <a:rPr b="0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escape  </a:t>
            </a:r>
            <a:r>
              <a:rPr b="1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\</a:t>
            </a:r>
            <a:r>
              <a:rPr b="0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supports a variety of string operations such 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concatenation (using “||”)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converting from upper to lower case (and vice versa)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finding string length, extracting substrings, etc.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Ordering the Display of Tuples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814387" y="1108075"/>
            <a:ext cx="7661275" cy="420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in alphabetic order the names of all customers having a loan in Perryridge branch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loan_number = loan.loan_number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branch_name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may specify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descending order or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ascending order, for each attribute; ascending order is the default.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 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Duplicates</a:t>
            </a:r>
            <a:endParaRPr/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809625" y="10953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relations with duplicates, SQL can define how many copies of tuples appear in the result.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Multiset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versions of some of the relational algebra operators – given multiset relations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 </a:t>
            </a: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1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θ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satisfies selections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θ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copies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θ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Π</a:t>
            </a:r>
            <a:r>
              <a:rPr b="1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each copy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copy of tuple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where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denotes the projection of the single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the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Duplicates (Cont.)</a:t>
            </a:r>
            <a:endParaRPr/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814387" y="1104900"/>
            <a:ext cx="6991350" cy="45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Suppose multiset relations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are as follows: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{(1,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(2,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{(2), (3), (3)}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would be {(a), (a)}, while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{(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,2),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,2),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duplicate semantics: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equivalent to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version of the expression: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</p:txBody>
      </p:sp>
      <p:pic>
        <p:nvPicPr>
          <p:cNvPr id="242" name="Google Shape;2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2875" y="5108575"/>
            <a:ext cx="3640137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809625" y="10953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operations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operate on relations and correspond to the relational algebra operations ∪, ∩, −.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of the above operations automatically eliminates duplicates; to retain all duplicates use the corresponding multiset versions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 all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 all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 all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a tuple occurs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then, it occurs: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m,n)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max(0,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– n)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552450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814387" y="1108075"/>
            <a:ext cx="76612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 loan, an account, or both:</a:t>
            </a:r>
            <a:endParaRPr/>
          </a:p>
        </p:txBody>
      </p:sp>
      <p:sp>
        <p:nvSpPr>
          <p:cNvPr id="255" name="Google Shape;255;p36"/>
          <p:cNvSpPr txBox="1"/>
          <p:nvPr/>
        </p:nvSpPr>
        <p:spPr>
          <a:xfrm>
            <a:off x="1574800" y="4706937"/>
            <a:ext cx="6227762" cy="110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1619250" y="3136900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257" name="Google Shape;257;p36"/>
          <p:cNvSpPr txBox="1"/>
          <p:nvPr/>
        </p:nvSpPr>
        <p:spPr>
          <a:xfrm>
            <a:off x="742950" y="4222750"/>
            <a:ext cx="658495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an account but no loan.	</a:t>
            </a:r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1585912" y="1560512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259" name="Google Shape;259;p36"/>
          <p:cNvSpPr txBox="1"/>
          <p:nvPr/>
        </p:nvSpPr>
        <p:spPr>
          <a:xfrm>
            <a:off x="742950" y="2678112"/>
            <a:ext cx="62468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both a loan and an account.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</a:t>
            </a:r>
            <a:endParaRPr/>
          </a:p>
        </p:txBody>
      </p:sp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814387" y="1093787"/>
            <a:ext cx="7010400" cy="389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functions operate on the multiset of values of a column of a relation, and return a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avg: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value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value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maximum value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of values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values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 (Cont.)</a:t>
            </a:r>
            <a:endParaRPr/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814387" y="1108075"/>
            <a:ext cx="76612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average account balance at the Perryridge branch.</a:t>
            </a:r>
            <a:endParaRPr/>
          </a:p>
        </p:txBody>
      </p:sp>
      <p:sp>
        <p:nvSpPr>
          <p:cNvPr id="272" name="Google Shape;272;p38"/>
          <p:cNvSpPr txBox="1"/>
          <p:nvPr/>
        </p:nvSpPr>
        <p:spPr>
          <a:xfrm>
            <a:off x="746125" y="4214812"/>
            <a:ext cx="48117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depositors in the bank.</a:t>
            </a:r>
            <a:endParaRPr/>
          </a:p>
        </p:txBody>
      </p:sp>
      <p:sp>
        <p:nvSpPr>
          <p:cNvPr id="273" name="Google Shape;273;p38"/>
          <p:cNvSpPr txBox="1"/>
          <p:nvPr/>
        </p:nvSpPr>
        <p:spPr>
          <a:xfrm>
            <a:off x="758825" y="2813050"/>
            <a:ext cx="704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tuples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relation.</a:t>
            </a:r>
            <a:endParaRPr/>
          </a:p>
        </p:txBody>
      </p:sp>
      <p:sp>
        <p:nvSpPr>
          <p:cNvPr id="274" name="Google Shape;274;p38"/>
          <p:cNvSpPr txBox="1"/>
          <p:nvPr/>
        </p:nvSpPr>
        <p:spPr>
          <a:xfrm>
            <a:off x="1966912" y="1660525"/>
            <a:ext cx="46831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(balance)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endParaRPr/>
          </a:p>
        </p:txBody>
      </p:sp>
      <p:sp>
        <p:nvSpPr>
          <p:cNvPr id="275" name="Google Shape;275;p38"/>
          <p:cNvSpPr txBox="1"/>
          <p:nvPr/>
        </p:nvSpPr>
        <p:spPr>
          <a:xfrm>
            <a:off x="2047875" y="3341687"/>
            <a:ext cx="2609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/>
          </a:p>
        </p:txBody>
      </p:sp>
      <p:sp>
        <p:nvSpPr>
          <p:cNvPr id="276" name="Google Shape;276;p38"/>
          <p:cNvSpPr txBox="1"/>
          <p:nvPr/>
        </p:nvSpPr>
        <p:spPr>
          <a:xfrm>
            <a:off x="2068512" y="4724400"/>
            <a:ext cx="4248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(distinct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 – Group By</a:t>
            </a:r>
            <a:endParaRPr/>
          </a:p>
        </p:txBody>
      </p:sp>
      <p:sp>
        <p:nvSpPr>
          <p:cNvPr id="282" name="Google Shape;282;p39"/>
          <p:cNvSpPr txBox="1"/>
          <p:nvPr>
            <p:ph idx="1" type="body"/>
          </p:nvPr>
        </p:nvSpPr>
        <p:spPr>
          <a:xfrm>
            <a:off x="760412" y="1160462"/>
            <a:ext cx="8070850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number of depositors for each branch.</a:t>
            </a:r>
            <a:endParaRPr/>
          </a:p>
        </p:txBody>
      </p:sp>
      <p:sp>
        <p:nvSpPr>
          <p:cNvPr id="283" name="Google Shape;283;p39"/>
          <p:cNvSpPr txBox="1"/>
          <p:nvPr/>
        </p:nvSpPr>
        <p:spPr>
          <a:xfrm>
            <a:off x="915987" y="3503612"/>
            <a:ext cx="79867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Attributes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outside of aggregate functions must      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appear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list</a:t>
            </a:r>
            <a:endParaRPr/>
          </a:p>
        </p:txBody>
      </p:sp>
      <p:sp>
        <p:nvSpPr>
          <p:cNvPr id="284" name="Google Shape;284;p39"/>
          <p:cNvSpPr txBox="1"/>
          <p:nvPr/>
        </p:nvSpPr>
        <p:spPr>
          <a:xfrm>
            <a:off x="1008062" y="1758950"/>
            <a:ext cx="7842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(distinct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RESULT(SEATNO, NAME, BRANCH,)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*, MAX  (ATTEMPTS)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RESULT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type="title"/>
          </p:nvPr>
        </p:nvSpPr>
        <p:spPr>
          <a:xfrm>
            <a:off x="923925" y="333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 – Having Clause</a:t>
            </a:r>
            <a:endParaRPr/>
          </a:p>
        </p:txBody>
      </p:sp>
      <p:sp>
        <p:nvSpPr>
          <p:cNvPr id="296" name="Google Shape;296;p41"/>
          <p:cNvSpPr txBox="1"/>
          <p:nvPr>
            <p:ph idx="1" type="body"/>
          </p:nvPr>
        </p:nvSpPr>
        <p:spPr>
          <a:xfrm>
            <a:off x="814387" y="1193800"/>
            <a:ext cx="7661275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branches where the average account balance is more than $1,200.</a:t>
            </a:r>
            <a:endParaRPr/>
          </a:p>
        </p:txBody>
      </p:sp>
      <p:sp>
        <p:nvSpPr>
          <p:cNvPr id="297" name="Google Shape;297;p41"/>
          <p:cNvSpPr txBox="1"/>
          <p:nvPr/>
        </p:nvSpPr>
        <p:spPr>
          <a:xfrm>
            <a:off x="658812" y="3659187"/>
            <a:ext cx="765968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are applied after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formation of groups whereas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clause are applied before forming groups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1677987" y="2114550"/>
            <a:ext cx="561657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Nested Subqueries</a:t>
            </a:r>
            <a:endParaRPr/>
          </a:p>
        </p:txBody>
      </p:sp>
      <p:sp>
        <p:nvSpPr>
          <p:cNvPr id="304" name="Google Shape;304;p42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provides a mechanism for the nesting of subqueries.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subquery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select-from-where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expression that is nested within another query.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common use of subqueries is to perform tests for set membership, set comparisons, and set cardinality.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“In” Construct</a:t>
            </a:r>
            <a:endParaRPr/>
          </a:p>
        </p:txBody>
      </p:sp>
      <p:sp>
        <p:nvSpPr>
          <p:cNvPr id="310" name="Google Shape;310;p43"/>
          <p:cNvSpPr txBox="1"/>
          <p:nvPr>
            <p:ph idx="1" type="body"/>
          </p:nvPr>
        </p:nvSpPr>
        <p:spPr>
          <a:xfrm>
            <a:off x="811212" y="1109662"/>
            <a:ext cx="7661275" cy="9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both an account and a loan at the bank.</a:t>
            </a:r>
            <a:endParaRPr/>
          </a:p>
        </p:txBody>
      </p:sp>
      <p:sp>
        <p:nvSpPr>
          <p:cNvPr id="311" name="Google Shape;311;p43"/>
          <p:cNvSpPr txBox="1"/>
          <p:nvPr/>
        </p:nvSpPr>
        <p:spPr>
          <a:xfrm>
            <a:off x="758825" y="3595687"/>
            <a:ext cx="76882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all customers who have a loan at the bank but do not have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an account at the bank</a:t>
            </a:r>
            <a:endParaRPr/>
          </a:p>
        </p:txBody>
      </p:sp>
      <p:sp>
        <p:nvSpPr>
          <p:cNvPr id="312" name="Google Shape;312;p43"/>
          <p:cNvSpPr txBox="1"/>
          <p:nvPr/>
        </p:nvSpPr>
        <p:spPr>
          <a:xfrm>
            <a:off x="1470025" y="4519612"/>
            <a:ext cx="6635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13" name="Google Shape;313;p43"/>
          <p:cNvSpPr txBox="1"/>
          <p:nvPr/>
        </p:nvSpPr>
        <p:spPr>
          <a:xfrm>
            <a:off x="1849437" y="1952625"/>
            <a:ext cx="62166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739775" y="1106487"/>
            <a:ext cx="7661275" cy="76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both an account and a loan at the Perryridge branch</a:t>
            </a:r>
            <a:endParaRPr/>
          </a:p>
        </p:txBody>
      </p:sp>
      <p:sp>
        <p:nvSpPr>
          <p:cNvPr id="320" name="Google Shape;320;p44"/>
          <p:cNvSpPr txBox="1"/>
          <p:nvPr/>
        </p:nvSpPr>
        <p:spPr>
          <a:xfrm>
            <a:off x="742950" y="5086350"/>
            <a:ext cx="80565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Note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Above query can be written in a much simpler manner. 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formulation above is simply to illustrate SQL features.</a:t>
            </a:r>
            <a:endParaRPr/>
          </a:p>
        </p:txBody>
      </p:sp>
      <p:sp>
        <p:nvSpPr>
          <p:cNvPr id="321" name="Google Shape;321;p44"/>
          <p:cNvSpPr txBox="1"/>
          <p:nvPr/>
        </p:nvSpPr>
        <p:spPr>
          <a:xfrm>
            <a:off x="1443037" y="2066925"/>
            <a:ext cx="6680200" cy="256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	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(select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account.account_number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552450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“Some” Construct</a:t>
            </a:r>
            <a:endParaRPr/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739775" y="1106487"/>
            <a:ext cx="76612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branches that have greater assets than some branch located in Brooklyn.</a:t>
            </a:r>
            <a:endParaRPr/>
          </a:p>
        </p:txBody>
      </p:sp>
      <p:sp>
        <p:nvSpPr>
          <p:cNvPr id="328" name="Google Shape;328;p45"/>
          <p:cNvSpPr txBox="1"/>
          <p:nvPr/>
        </p:nvSpPr>
        <p:spPr>
          <a:xfrm>
            <a:off x="739775" y="3411537"/>
            <a:ext cx="72358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Same query using 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</a:t>
            </a:r>
            <a:endParaRPr/>
          </a:p>
        </p:txBody>
      </p:sp>
      <p:sp>
        <p:nvSpPr>
          <p:cNvPr id="329" name="Google Shape;329;p45"/>
          <p:cNvSpPr txBox="1"/>
          <p:nvPr/>
        </p:nvSpPr>
        <p:spPr>
          <a:xfrm>
            <a:off x="1824037" y="3970337"/>
            <a:ext cx="5346700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	(select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branch_city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Brooklyn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30" name="Google Shape;330;p45"/>
          <p:cNvSpPr txBox="1"/>
          <p:nvPr/>
        </p:nvSpPr>
        <p:spPr>
          <a:xfrm>
            <a:off x="1952625" y="1957387"/>
            <a:ext cx="5275262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T, 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T.assets &gt; S.assets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S.branch_city = </a:t>
            </a:r>
            <a:r>
              <a:rPr b="0" i="1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Brooklyn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“All” Construct</a:t>
            </a:r>
            <a:endParaRPr/>
          </a:p>
        </p:txBody>
      </p:sp>
      <p:sp>
        <p:nvSpPr>
          <p:cNvPr id="336" name="Google Shape;336;p46"/>
          <p:cNvSpPr txBox="1"/>
          <p:nvPr>
            <p:ph idx="1" type="body"/>
          </p:nvPr>
        </p:nvSpPr>
        <p:spPr>
          <a:xfrm>
            <a:off x="814387" y="1108075"/>
            <a:ext cx="7661275" cy="97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branches that have greater assets than all branches located in Brooklyn.</a:t>
            </a:r>
            <a:endParaRPr/>
          </a:p>
        </p:txBody>
      </p:sp>
      <p:sp>
        <p:nvSpPr>
          <p:cNvPr id="337" name="Google Shape;337;p46"/>
          <p:cNvSpPr txBox="1"/>
          <p:nvPr/>
        </p:nvSpPr>
        <p:spPr>
          <a:xfrm>
            <a:off x="1836737" y="2039937"/>
            <a:ext cx="5280025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(select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'Brooklyn')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“Exists” Construct</a:t>
            </a:r>
            <a:endParaRPr/>
          </a:p>
        </p:txBody>
      </p: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739775" y="1106487"/>
            <a:ext cx="76612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an account at all branches located in Brooklyn.</a:t>
            </a:r>
            <a:endParaRPr/>
          </a:p>
        </p:txBody>
      </p:sp>
      <p:sp>
        <p:nvSpPr>
          <p:cNvPr id="344" name="Google Shape;344;p47"/>
          <p:cNvSpPr txBox="1"/>
          <p:nvPr/>
        </p:nvSpPr>
        <p:spPr>
          <a:xfrm>
            <a:off x="1054100" y="1951037"/>
            <a:ext cx="7304087" cy="31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not exists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'Brooklyn')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account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T.account_number = R.account_number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S.customer_name = T.customer_name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  <p:sp>
        <p:nvSpPr>
          <p:cNvPr id="345" name="Google Shape;345;p47"/>
          <p:cNvSpPr txBox="1"/>
          <p:nvPr/>
        </p:nvSpPr>
        <p:spPr>
          <a:xfrm>
            <a:off x="739775" y="5230812"/>
            <a:ext cx="6200775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Note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– Y = Ø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⇔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⊆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  <a:p>
            <a:pPr indent="-10287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Note: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Cannot write this query using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its variants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>
            <p:ph type="title"/>
          </p:nvPr>
        </p:nvSpPr>
        <p:spPr>
          <a:xfrm>
            <a:off x="781050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Absence of Duplicate Tuples</a:t>
            </a:r>
            <a:endParaRPr/>
          </a:p>
        </p:txBody>
      </p:sp>
      <p:sp>
        <p:nvSpPr>
          <p:cNvPr id="351" name="Google Shape;351;p48"/>
          <p:cNvSpPr txBox="1"/>
          <p:nvPr>
            <p:ph idx="1" type="body"/>
          </p:nvPr>
        </p:nvSpPr>
        <p:spPr>
          <a:xfrm>
            <a:off x="814387" y="1112837"/>
            <a:ext cx="7586662" cy="436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 tests whether a subquery has any duplicate tuples in its result.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at most one account at the Perryridge branch.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T.customer_name</a:t>
            </a:r>
            <a:endParaRPr/>
          </a:p>
          <a:p>
            <a:pPr indent="-342900" lvl="0" marL="34290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/>
          </a:p>
          <a:p>
            <a:pPr indent="-342900" lvl="0" marL="34290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where unique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account, 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T.customer_name = R.customer_name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R.account_number = account.account_number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'Perryridge') 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814387" y="1093787"/>
            <a:ext cx="7661275" cy="87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at least two accounts at the Perryridge branch. </a:t>
            </a:r>
            <a:endParaRPr/>
          </a:p>
        </p:txBody>
      </p:sp>
      <p:sp>
        <p:nvSpPr>
          <p:cNvPr id="358" name="Google Shape;358;p49"/>
          <p:cNvSpPr txBox="1"/>
          <p:nvPr/>
        </p:nvSpPr>
        <p:spPr>
          <a:xfrm>
            <a:off x="1443037" y="2003425"/>
            <a:ext cx="728980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T.customer_name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not unique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R.customer_name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account, 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T.customer_name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R.customer_name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R.account_number = account.account_number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account.branch_name =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59" name="Google Shape;359;p49"/>
          <p:cNvSpPr txBox="1"/>
          <p:nvPr/>
        </p:nvSpPr>
        <p:spPr>
          <a:xfrm>
            <a:off x="779462" y="4440237"/>
            <a:ext cx="7661275" cy="87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from outer level is known as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correlation variable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909637" y="333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Deletion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739775" y="1106487"/>
            <a:ext cx="77470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all account tuples at the Perryridge branch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all accounts at every branch located in the city ‘Needham’.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Needham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371" name="Google Shape;371;p51"/>
          <p:cNvSpPr txBox="1"/>
          <p:nvPr>
            <p:ph idx="1" type="body"/>
          </p:nvPr>
        </p:nvSpPr>
        <p:spPr>
          <a:xfrm>
            <a:off x="809625" y="1109662"/>
            <a:ext cx="7661275" cy="12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the record of all accounts with balances below the average at the bank.</a:t>
            </a:r>
            <a:endParaRPr/>
          </a:p>
        </p:txBody>
      </p:sp>
      <p:sp>
        <p:nvSpPr>
          <p:cNvPr id="372" name="Google Shape;372;p51"/>
          <p:cNvSpPr txBox="1"/>
          <p:nvPr/>
        </p:nvSpPr>
        <p:spPr>
          <a:xfrm>
            <a:off x="920750" y="2160587"/>
            <a:ext cx="741521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73" name="Google Shape;373;p51"/>
          <p:cNvSpPr txBox="1"/>
          <p:nvPr/>
        </p:nvSpPr>
        <p:spPr>
          <a:xfrm>
            <a:off x="676275" y="3521075"/>
            <a:ext cx="8140700" cy="203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1" marL="793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 as we delete tuples from deposit, the average balance changes</a:t>
            </a:r>
            <a:endParaRPr/>
          </a:p>
          <a:p>
            <a:pPr indent="-336550" lvl="1" marL="793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used in SQL:</a:t>
            </a:r>
            <a:endParaRPr/>
          </a:p>
          <a:p>
            <a:pPr indent="-336550" lvl="1" marL="793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1.   First, compute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and find all tuples to delete</a:t>
            </a:r>
            <a:endParaRPr/>
          </a:p>
          <a:p>
            <a:pPr indent="-336550" lvl="1" marL="793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2.   Next, delete all tuples found above (without recomputing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 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retesting the tuples)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>
            <p:ph type="title"/>
          </p:nvPr>
        </p:nvSpPr>
        <p:spPr>
          <a:xfrm>
            <a:off x="969962" y="1778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Insertion</a:t>
            </a:r>
            <a:endParaRPr/>
          </a:p>
        </p:txBody>
      </p:sp>
      <p:sp>
        <p:nvSpPr>
          <p:cNvPr id="379" name="Google Shape;379;p52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('A-9732', 'Perryridge', 1200)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or equivalently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balance, 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('Perryridge',  1200, 'A-9732')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set to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('A-777','Perryridge',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type="title"/>
          </p:nvPr>
        </p:nvSpPr>
        <p:spPr>
          <a:xfrm>
            <a:off x="889000" y="203200"/>
            <a:ext cx="805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Insertion</a:t>
            </a:r>
            <a:endParaRPr/>
          </a:p>
        </p:txBody>
      </p:sp>
      <p:sp>
        <p:nvSpPr>
          <p:cNvPr id="385" name="Google Shape;385;p53"/>
          <p:cNvSpPr txBox="1"/>
          <p:nvPr>
            <p:ph idx="1" type="body"/>
          </p:nvPr>
        </p:nvSpPr>
        <p:spPr>
          <a:xfrm>
            <a:off x="739775" y="1106487"/>
            <a:ext cx="8115300" cy="5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as a gift for all loan customers of the Perryridge branch, a $200 savings account.  Let the loan number serve as the account number for the new savings 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loan, borrower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Perryridge'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loan.account_number = borrower.account_number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from 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is evaluated fully before any of its results are inserted into the relation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881062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Updates</a:t>
            </a:r>
            <a:endParaRPr/>
          </a:p>
        </p:txBody>
      </p:sp>
      <p:sp>
        <p:nvSpPr>
          <p:cNvPr id="391" name="Google Shape;391;p54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all accounts with balances over $10,000 by 6%, all other accounts receive 5%.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two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= 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1.06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10000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= 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1.05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≤ 10000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order is important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done better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(next slide)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>
            <p:ph type="title"/>
          </p:nvPr>
        </p:nvSpPr>
        <p:spPr>
          <a:xfrm>
            <a:off x="1066800" y="-476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Statement for Conditional Updates</a:t>
            </a:r>
            <a:endParaRPr/>
          </a:p>
        </p:txBody>
      </p:sp>
      <p:sp>
        <p:nvSpPr>
          <p:cNvPr id="397" name="Google Shape;397;p55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query as before: Increase all accounts with balances over $10,000 by 6%, all other accounts receive 5%.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&lt;= 10000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*1.05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1.06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Features</a:t>
            </a:r>
            <a:endParaRPr/>
          </a:p>
        </p:txBody>
      </p:sp>
      <p:sp>
        <p:nvSpPr>
          <p:cNvPr id="403" name="Google Shape;403;p5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Relations**</a:t>
            </a:r>
            <a:endParaRPr/>
          </a:p>
        </p:txBody>
      </p:sp>
      <p:sp>
        <p:nvSpPr>
          <p:cNvPr id="409" name="Google Shape;409;p57"/>
          <p:cNvSpPr txBox="1"/>
          <p:nvPr>
            <p:ph idx="1" type="body"/>
          </p:nvPr>
        </p:nvSpPr>
        <p:spPr>
          <a:xfrm>
            <a:off x="739775" y="1106487"/>
            <a:ext cx="7661275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operations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take two relations and return as a result another relation.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additional operations are typically used as subquery expressions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condition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defines which tuples in the two relations match, and what attributes are present in the result of the join.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type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defines how tuples in each relation that do not match any tuple in the other relation (based on the join condition) are treated.</a:t>
            </a:r>
            <a:endParaRPr/>
          </a:p>
        </p:txBody>
      </p:sp>
      <p:pic>
        <p:nvPicPr>
          <p:cNvPr id="410" name="Google Shape;410;p57"/>
          <p:cNvPicPr preferRelativeResize="0"/>
          <p:nvPr/>
        </p:nvPicPr>
        <p:blipFill rotWithShape="1">
          <a:blip r:embed="rId3">
            <a:alphaModFix/>
          </a:blip>
          <a:srcRect b="31503" l="375" r="375" t="32002"/>
          <a:stretch/>
        </p:blipFill>
        <p:spPr>
          <a:xfrm>
            <a:off x="1247775" y="4418012"/>
            <a:ext cx="5826125" cy="16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8"/>
          <p:cNvSpPr txBox="1"/>
          <p:nvPr>
            <p:ph type="title"/>
          </p:nvPr>
        </p:nvSpPr>
        <p:spPr>
          <a:xfrm>
            <a:off x="906462" y="165100"/>
            <a:ext cx="828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Datasets for Examples</a:t>
            </a:r>
            <a:endParaRPr/>
          </a:p>
        </p:txBody>
      </p:sp>
      <p:sp>
        <p:nvSpPr>
          <p:cNvPr id="416" name="Google Shape;416;p58"/>
          <p:cNvSpPr txBox="1"/>
          <p:nvPr>
            <p:ph idx="1" type="body"/>
          </p:nvPr>
        </p:nvSpPr>
        <p:spPr>
          <a:xfrm>
            <a:off x="817562" y="1109662"/>
            <a:ext cx="66389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  <p:sp>
        <p:nvSpPr>
          <p:cNvPr id="417" name="Google Shape;417;p58"/>
          <p:cNvSpPr txBox="1"/>
          <p:nvPr/>
        </p:nvSpPr>
        <p:spPr>
          <a:xfrm>
            <a:off x="803275" y="1571625"/>
            <a:ext cx="6800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sp>
        <p:nvSpPr>
          <p:cNvPr id="418" name="Google Shape;418;p58"/>
          <p:cNvSpPr txBox="1"/>
          <p:nvPr/>
        </p:nvSpPr>
        <p:spPr>
          <a:xfrm>
            <a:off x="760412" y="4189412"/>
            <a:ext cx="6800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borrower information missing for L-260 and loan information missing for L-155</a:t>
            </a:r>
            <a:endParaRPr/>
          </a:p>
        </p:txBody>
      </p:sp>
      <p:pic>
        <p:nvPicPr>
          <p:cNvPr id="419" name="Google Shape;419;p58"/>
          <p:cNvPicPr preferRelativeResize="0"/>
          <p:nvPr/>
        </p:nvPicPr>
        <p:blipFill rotWithShape="1">
          <a:blip r:embed="rId3">
            <a:alphaModFix/>
          </a:blip>
          <a:srcRect b="37253" l="374" r="563" t="36254"/>
          <a:stretch/>
        </p:blipFill>
        <p:spPr>
          <a:xfrm>
            <a:off x="979487" y="2266950"/>
            <a:ext cx="7585075" cy="152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9"/>
          <p:cNvSpPr txBox="1"/>
          <p:nvPr>
            <p:ph type="title"/>
          </p:nvPr>
        </p:nvSpPr>
        <p:spPr>
          <a:xfrm>
            <a:off x="738187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 </a:t>
            </a:r>
            <a:endParaRPr/>
          </a:p>
        </p:txBody>
      </p:sp>
      <p:sp>
        <p:nvSpPr>
          <p:cNvPr id="425" name="Google Shape;425;p59"/>
          <p:cNvSpPr txBox="1"/>
          <p:nvPr>
            <p:ph idx="1" type="body"/>
          </p:nvPr>
        </p:nvSpPr>
        <p:spPr>
          <a:xfrm>
            <a:off x="828675" y="1098550"/>
            <a:ext cx="6619875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inner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loan.loan_number = borrower.loan_number</a:t>
            </a:r>
            <a:endParaRPr/>
          </a:p>
        </p:txBody>
      </p:sp>
      <p:sp>
        <p:nvSpPr>
          <p:cNvPr id="426" name="Google Shape;426;p59"/>
          <p:cNvSpPr txBox="1"/>
          <p:nvPr/>
        </p:nvSpPr>
        <p:spPr>
          <a:xfrm>
            <a:off x="757237" y="3300412"/>
            <a:ext cx="6800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left outer join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loan.loan_number = borrower.loan_number</a:t>
            </a:r>
            <a:endParaRPr/>
          </a:p>
        </p:txBody>
      </p:sp>
      <p:pic>
        <p:nvPicPr>
          <p:cNvPr id="427" name="Google Shape;427;p59"/>
          <p:cNvPicPr preferRelativeResize="0"/>
          <p:nvPr/>
        </p:nvPicPr>
        <p:blipFill rotWithShape="1">
          <a:blip r:embed="rId3">
            <a:alphaModFix/>
          </a:blip>
          <a:srcRect b="39227" l="827" r="414" t="38673"/>
          <a:stretch/>
        </p:blipFill>
        <p:spPr>
          <a:xfrm>
            <a:off x="947737" y="4181475"/>
            <a:ext cx="7235825" cy="1214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28" name="Google Shape;428;p59"/>
          <p:cNvPicPr preferRelativeResize="0"/>
          <p:nvPr/>
        </p:nvPicPr>
        <p:blipFill rotWithShape="1">
          <a:blip r:embed="rId4">
            <a:alphaModFix/>
          </a:blip>
          <a:srcRect b="41992" l="589" r="393" t="41470"/>
          <a:stretch/>
        </p:blipFill>
        <p:spPr>
          <a:xfrm>
            <a:off x="947737" y="1928812"/>
            <a:ext cx="7985125" cy="10001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</a:t>
            </a:r>
            <a:endParaRPr/>
          </a:p>
        </p:txBody>
      </p:sp>
      <p:sp>
        <p:nvSpPr>
          <p:cNvPr id="434" name="Google Shape;434;p60"/>
          <p:cNvSpPr txBox="1"/>
          <p:nvPr>
            <p:ph idx="1" type="body"/>
          </p:nvPr>
        </p:nvSpPr>
        <p:spPr>
          <a:xfrm>
            <a:off x="828675" y="1093787"/>
            <a:ext cx="66389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inner join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sp>
        <p:nvSpPr>
          <p:cNvPr id="435" name="Google Shape;435;p60"/>
          <p:cNvSpPr txBox="1"/>
          <p:nvPr/>
        </p:nvSpPr>
        <p:spPr>
          <a:xfrm>
            <a:off x="755650" y="2900362"/>
            <a:ext cx="6800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natural right outer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436" name="Google Shape;436;p60"/>
          <p:cNvPicPr preferRelativeResize="0"/>
          <p:nvPr/>
        </p:nvPicPr>
        <p:blipFill rotWithShape="1">
          <a:blip r:embed="rId3">
            <a:alphaModFix/>
          </a:blip>
          <a:srcRect b="41992" l="590" r="21089" t="41470"/>
          <a:stretch/>
        </p:blipFill>
        <p:spPr>
          <a:xfrm>
            <a:off x="1190625" y="1676400"/>
            <a:ext cx="5959475" cy="9429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37" name="Google Shape;437;p60"/>
          <p:cNvPicPr preferRelativeResize="0"/>
          <p:nvPr/>
        </p:nvPicPr>
        <p:blipFill rotWithShape="1">
          <a:blip r:embed="rId4">
            <a:alphaModFix/>
          </a:blip>
          <a:srcRect b="36206" l="645" r="646" t="36494"/>
          <a:stretch/>
        </p:blipFill>
        <p:spPr>
          <a:xfrm>
            <a:off x="2103437" y="3441700"/>
            <a:ext cx="6280150" cy="13017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</a:t>
            </a:r>
            <a:endParaRPr/>
          </a:p>
        </p:txBody>
      </p:sp>
      <p:sp>
        <p:nvSpPr>
          <p:cNvPr id="443" name="Google Shape;443;p61"/>
          <p:cNvSpPr txBox="1"/>
          <p:nvPr>
            <p:ph idx="1" type="body"/>
          </p:nvPr>
        </p:nvSpPr>
        <p:spPr>
          <a:xfrm>
            <a:off x="681037" y="1117600"/>
            <a:ext cx="8107362" cy="247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join can get into trouble if two relations have an attribute with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same name that should not affect the join condition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an attribute such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remarks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be present in many tables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Solution: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outer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pic>
        <p:nvPicPr>
          <p:cNvPr id="444" name="Google Shape;444;p61"/>
          <p:cNvPicPr preferRelativeResize="0"/>
          <p:nvPr/>
        </p:nvPicPr>
        <p:blipFill rotWithShape="1">
          <a:blip r:embed="rId3">
            <a:alphaModFix/>
          </a:blip>
          <a:srcRect b="33093" l="386" r="581" t="32835"/>
          <a:stretch/>
        </p:blipFill>
        <p:spPr>
          <a:xfrm>
            <a:off x="930275" y="3357562"/>
            <a:ext cx="7296150" cy="18827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</a:t>
            </a:r>
            <a:endParaRPr/>
          </a:p>
        </p:txBody>
      </p:sp>
      <p:sp>
        <p:nvSpPr>
          <p:cNvPr id="450" name="Google Shape;450;p62"/>
          <p:cNvSpPr txBox="1"/>
          <p:nvPr/>
        </p:nvSpPr>
        <p:spPr>
          <a:xfrm>
            <a:off x="828675" y="1757362"/>
            <a:ext cx="78200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 all customers who have either an account or a loan (but not both) at the bank.</a:t>
            </a:r>
            <a:endParaRPr/>
          </a:p>
        </p:txBody>
      </p:sp>
      <p:sp>
        <p:nvSpPr>
          <p:cNvPr id="451" name="Google Shape;451;p62"/>
          <p:cNvSpPr txBox="1"/>
          <p:nvPr/>
        </p:nvSpPr>
        <p:spPr>
          <a:xfrm>
            <a:off x="1168400" y="2386012"/>
            <a:ext cx="66643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full outer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null 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null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p6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branch , avg(balance)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(select branch, avg(balance)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from account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groupby branch)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avg(balance)&gt;1200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Definition</a:t>
            </a:r>
            <a:endParaRPr/>
          </a:p>
        </p:txBody>
      </p:sp>
      <p:sp>
        <p:nvSpPr>
          <p:cNvPr id="463" name="Google Shape;463;p64"/>
          <p:cNvSpPr txBox="1"/>
          <p:nvPr>
            <p:ph idx="1" type="body"/>
          </p:nvPr>
        </p:nvSpPr>
        <p:spPr>
          <a:xfrm>
            <a:off x="814387" y="1093787"/>
            <a:ext cx="7305675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relation that is not of the conceptual model but is made visible to a user as a “virtual relation” is called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is defined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which has the form</a:t>
            </a:r>
            <a:endParaRPr/>
          </a:p>
          <a:p>
            <a:pPr indent="-240030" lvl="0" marL="342900" rtl="0" algn="l">
              <a:lnSpc>
                <a:spcPct val="4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4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expression &gt;</a:t>
            </a:r>
            <a:endParaRPr/>
          </a:p>
          <a:p>
            <a:pPr indent="-342900" lvl="0" marL="342900" rtl="0" algn="l">
              <a:lnSpc>
                <a:spcPct val="2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where &lt;query expression&gt; is any legal SQL expression.  The view name is represented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Once a view is defined, the view name can be used to refer to the virtual relation that the view generates.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65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D5-emp 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select *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emp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Dno=5)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475" name="Google Shape;475;p66"/>
          <p:cNvSpPr txBox="1"/>
          <p:nvPr>
            <p:ph idx="1" type="body"/>
          </p:nvPr>
        </p:nvSpPr>
        <p:spPr>
          <a:xfrm>
            <a:off x="739775" y="1106487"/>
            <a:ext cx="79629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consisting of branches and their customers</a:t>
            </a:r>
            <a:endParaRPr/>
          </a:p>
        </p:txBody>
      </p:sp>
      <p:sp>
        <p:nvSpPr>
          <p:cNvPr id="476" name="Google Shape;476;p66"/>
          <p:cNvSpPr txBox="1"/>
          <p:nvPr/>
        </p:nvSpPr>
        <p:spPr>
          <a:xfrm>
            <a:off x="750887" y="4338637"/>
            <a:ext cx="63103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all customers of the Perryridge branch</a:t>
            </a:r>
            <a:endParaRPr/>
          </a:p>
        </p:txBody>
      </p:sp>
      <p:sp>
        <p:nvSpPr>
          <p:cNvPr id="477" name="Google Shape;477;p66"/>
          <p:cNvSpPr txBox="1"/>
          <p:nvPr/>
        </p:nvSpPr>
        <p:spPr>
          <a:xfrm>
            <a:off x="1152525" y="1574800"/>
            <a:ext cx="6970712" cy="256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all_customer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account.account_number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478" name="Google Shape;478;p66"/>
          <p:cNvSpPr txBox="1"/>
          <p:nvPr/>
        </p:nvSpPr>
        <p:spPr>
          <a:xfrm>
            <a:off x="1733550" y="4738687"/>
            <a:ext cx="46831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all_customer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of Views</a:t>
            </a:r>
            <a:endParaRPr/>
          </a:p>
        </p:txBody>
      </p:sp>
      <p:sp>
        <p:nvSpPr>
          <p:cNvPr id="484" name="Google Shape;484;p67"/>
          <p:cNvSpPr txBox="1"/>
          <p:nvPr>
            <p:ph idx="1" type="body"/>
          </p:nvPr>
        </p:nvSpPr>
        <p:spPr>
          <a:xfrm>
            <a:off x="739775" y="1106487"/>
            <a:ext cx="8088312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Hiding some information from some users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 user who needs to know a customer’s name, loan number and branch name, but has no need to see the loan amount.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a view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cust_loan_data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borrower.loan_number,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 the user permission to read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cust_loan_data,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not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or loan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Predefined queries to make writing of other queries easier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example: Aggregate queries used for statistical analysis of data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Processing of Views</a:t>
            </a:r>
            <a:endParaRPr/>
          </a:p>
        </p:txBody>
      </p:sp>
      <p:sp>
        <p:nvSpPr>
          <p:cNvPr id="490" name="Google Shape;490;p68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view is created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query expression is stored in  the database along with the view 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expression is substituted into any query using the view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Views definitions containing views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view may be used in the expression defining another view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 directly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used in the expression defining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9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 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either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depends directly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there is a path of dependencies from </a:t>
            </a:r>
            <a:r>
              <a:rPr b="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be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it depends on itself.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Expansion</a:t>
            </a:r>
            <a:endParaRPr/>
          </a:p>
        </p:txBody>
      </p:sp>
      <p:sp>
        <p:nvSpPr>
          <p:cNvPr id="496" name="Google Shape;496;p69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way to define the meaning of views defined in terms of other views.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defined by an expression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may itself contain uses of view relations.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expansion of an expression repeats the following replacement step: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any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Replace the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 the expression defining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until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more view relations are present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9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long as the view definitions are not recursive, this loop will terminate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Clause</a:t>
            </a:r>
            <a:endParaRPr/>
          </a:p>
        </p:txBody>
      </p:sp>
      <p:sp>
        <p:nvSpPr>
          <p:cNvPr id="502" name="Google Shape;502;p70"/>
          <p:cNvSpPr txBox="1"/>
          <p:nvPr>
            <p:ph idx="1" type="body"/>
          </p:nvPr>
        </p:nvSpPr>
        <p:spPr>
          <a:xfrm>
            <a:off x="739775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provides a way of defining a temporary view whose definition is available only to the query in which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occurs.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accounts with the maximum balance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max_balance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account, max_balance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= max_balance.value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 Queries using With Clause</a:t>
            </a:r>
            <a:endParaRPr/>
          </a:p>
        </p:txBody>
      </p:sp>
      <p:sp>
        <p:nvSpPr>
          <p:cNvPr id="508" name="Google Shape;508;p71"/>
          <p:cNvSpPr txBox="1"/>
          <p:nvPr>
            <p:ph idx="1" type="body"/>
          </p:nvPr>
        </p:nvSpPr>
        <p:spPr>
          <a:xfrm>
            <a:off x="814387" y="1147762"/>
            <a:ext cx="766127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branches where the total account deposit is greater than the average of the total account deposits at all branches.</a:t>
            </a:r>
            <a:endParaRPr/>
          </a:p>
        </p:txBody>
      </p:sp>
      <p:sp>
        <p:nvSpPr>
          <p:cNvPr id="509" name="Google Shape;509;p71"/>
          <p:cNvSpPr txBox="1"/>
          <p:nvPr/>
        </p:nvSpPr>
        <p:spPr>
          <a:xfrm>
            <a:off x="1036637" y="1931987"/>
            <a:ext cx="7324725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total_avg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branch_total.value &gt;= branch_total_avg.value</a:t>
            </a:r>
            <a:endParaRPr/>
          </a:p>
        </p:txBody>
      </p:sp>
      <p:sp>
        <p:nvSpPr>
          <p:cNvPr id="510" name="Google Shape;510;p71"/>
          <p:cNvSpPr txBox="1"/>
          <p:nvPr/>
        </p:nvSpPr>
        <p:spPr>
          <a:xfrm>
            <a:off x="820737" y="4926012"/>
            <a:ext cx="766127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exact syntax supported by your database may vary slightly.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Oracle syntax is of the form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..   ),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branch_total_avg</a:t>
            </a: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.. 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of a View</a:t>
            </a:r>
            <a:endParaRPr/>
          </a:p>
        </p:txBody>
      </p:sp>
      <p:sp>
        <p:nvSpPr>
          <p:cNvPr id="516" name="Google Shape;516;p72"/>
          <p:cNvSpPr txBox="1"/>
          <p:nvPr>
            <p:ph idx="1" type="body"/>
          </p:nvPr>
        </p:nvSpPr>
        <p:spPr>
          <a:xfrm>
            <a:off x="739775" y="1106487"/>
            <a:ext cx="7651750" cy="50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view of all loan data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relation, hiding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loan_branch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loan_branch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('L-37‘, 'Perryridge‘)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This insertion must be represented by the insertion of the tuple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('L-37', 'Perryridge',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into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 Through Views (Cont.)</a:t>
            </a:r>
            <a:endParaRPr/>
          </a:p>
        </p:txBody>
      </p:sp>
      <p:sp>
        <p:nvSpPr>
          <p:cNvPr id="522" name="Google Shape;522;p73"/>
          <p:cNvSpPr txBox="1"/>
          <p:nvPr>
            <p:ph idx="1" type="body"/>
          </p:nvPr>
        </p:nvSpPr>
        <p:spPr>
          <a:xfrm>
            <a:off x="814387" y="1147762"/>
            <a:ext cx="7065962" cy="48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updates through views are impossible to translate into updates on the database relations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‘Perryridge’</a:t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'L-99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','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Downtown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', '23'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Others cannot be translated uniquely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all_customer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values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Perryridge'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John')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Have to choose loan or account, and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loan/account number!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SQL implementations allow updates only on simple views (without aggregates) defined on a single relation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</a:t>
            </a:r>
            <a:endParaRPr/>
          </a:p>
        </p:txBody>
      </p:sp>
      <p:sp>
        <p:nvSpPr>
          <p:cNvPr id="528" name="Google Shape;528;p74"/>
          <p:cNvSpPr txBox="1"/>
          <p:nvPr>
            <p:ph idx="1" type="body"/>
          </p:nvPr>
        </p:nvSpPr>
        <p:spPr>
          <a:xfrm>
            <a:off x="739775" y="1106487"/>
            <a:ext cx="7689850" cy="5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possible for tuples to have a null value, denoted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for some of their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signifies an unknown value or that a value does not exist.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predicate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used to check for null values.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all loan number which appear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 with null values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null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of any arithmetic expression involving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5 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returns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aggregate functions simply ignore nulls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on next slide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5"/>
          <p:cNvSpPr txBox="1"/>
          <p:nvPr>
            <p:ph type="title"/>
          </p:nvPr>
        </p:nvSpPr>
        <p:spPr>
          <a:xfrm>
            <a:off x="871537" y="5715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 and Three Valued Logic</a:t>
            </a:r>
            <a:endParaRPr/>
          </a:p>
        </p:txBody>
      </p:sp>
      <p:sp>
        <p:nvSpPr>
          <p:cNvPr id="534" name="Google Shape;534;p75"/>
          <p:cNvSpPr txBox="1"/>
          <p:nvPr>
            <p:ph idx="1" type="body"/>
          </p:nvPr>
        </p:nvSpPr>
        <p:spPr>
          <a:xfrm>
            <a:off x="739775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comparison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returns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5 &lt; null   or   null &lt;&gt; null    or    null =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Three-valued logic using the truth value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OR: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unknown) = 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AND: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(true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unknown)  = unknown,   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(false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unknown) = false,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(unknown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unknown) = 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unknown) = 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evaluates to true if predicate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evaluates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predicate is treated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it evaluates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 and Aggregates</a:t>
            </a:r>
            <a:endParaRPr/>
          </a:p>
        </p:txBody>
      </p:sp>
      <p:sp>
        <p:nvSpPr>
          <p:cNvPr id="540" name="Google Shape;540;p76"/>
          <p:cNvSpPr txBox="1"/>
          <p:nvPr>
            <p:ph idx="1" type="body"/>
          </p:nvPr>
        </p:nvSpPr>
        <p:spPr>
          <a:xfrm>
            <a:off x="739775" y="1106487"/>
            <a:ext cx="7094537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all loan amounts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sum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Above statement ignores null amounts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is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there is no non-null amount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aggregate operations except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count(*)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ignore tuples with null values on the aggregated attributes.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7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3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where Clause (Cont.)</a:t>
            </a:r>
            <a:endParaRPr/>
          </a:p>
        </p:txBody>
      </p:sp>
      <p:sp>
        <p:nvSpPr>
          <p:cNvPr id="555" name="Google Shape;555;p78"/>
          <p:cNvSpPr txBox="1"/>
          <p:nvPr>
            <p:ph idx="1" type="body"/>
          </p:nvPr>
        </p:nvSpPr>
        <p:spPr>
          <a:xfrm>
            <a:off x="739775" y="1106487"/>
            <a:ext cx="80899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includes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comparison operator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Find the loan number of those loans with loan amounts between $90,000 and $100,000 (that is,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$90,000 and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$100,000)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78"/>
          <p:cNvSpPr txBox="1"/>
          <p:nvPr/>
        </p:nvSpPr>
        <p:spPr>
          <a:xfrm>
            <a:off x="1185862" y="2181225"/>
            <a:ext cx="7137400" cy="146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loan_number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90000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3.1: Database Schema</a:t>
            </a:r>
            <a:endParaRPr/>
          </a:p>
        </p:txBody>
      </p:sp>
      <p:sp>
        <p:nvSpPr>
          <p:cNvPr id="562" name="Google Shape;562;p79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branch_city, assets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customer_street, customer_city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branch_name, 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loan_number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0"/>
          <p:cNvSpPr txBox="1"/>
          <p:nvPr>
            <p:ph type="title"/>
          </p:nvPr>
        </p:nvSpPr>
        <p:spPr>
          <a:xfrm>
            <a:off x="623887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 of  Some Clause</a:t>
            </a:r>
            <a:endParaRPr/>
          </a:p>
        </p:txBody>
      </p:sp>
      <p:sp>
        <p:nvSpPr>
          <p:cNvPr id="568" name="Google Shape;568;p80"/>
          <p:cNvSpPr txBox="1"/>
          <p:nvPr/>
        </p:nvSpPr>
        <p:spPr>
          <a:xfrm>
            <a:off x="2105025" y="2144712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69" name="Google Shape;569;p80"/>
          <p:cNvSpPr txBox="1"/>
          <p:nvPr/>
        </p:nvSpPr>
        <p:spPr>
          <a:xfrm>
            <a:off x="2105025" y="2449512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0" name="Google Shape;570;p80"/>
          <p:cNvSpPr txBox="1"/>
          <p:nvPr/>
        </p:nvSpPr>
        <p:spPr>
          <a:xfrm>
            <a:off x="2105025" y="2986087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71" name="Google Shape;571;p80"/>
          <p:cNvSpPr txBox="1"/>
          <p:nvPr/>
        </p:nvSpPr>
        <p:spPr>
          <a:xfrm>
            <a:off x="2105025" y="3290887"/>
            <a:ext cx="457200" cy="3095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2" name="Google Shape;572;p80"/>
          <p:cNvSpPr txBox="1"/>
          <p:nvPr/>
        </p:nvSpPr>
        <p:spPr>
          <a:xfrm>
            <a:off x="809625" y="3214687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endParaRPr/>
          </a:p>
        </p:txBody>
      </p:sp>
      <p:sp>
        <p:nvSpPr>
          <p:cNvPr id="573" name="Google Shape;573;p80"/>
          <p:cNvSpPr txBox="1"/>
          <p:nvPr/>
        </p:nvSpPr>
        <p:spPr>
          <a:xfrm>
            <a:off x="2638425" y="3214687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 (since 0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</a:t>
            </a:r>
            <a:endParaRPr/>
          </a:p>
        </p:txBody>
      </p:sp>
      <p:sp>
        <p:nvSpPr>
          <p:cNvPr id="574" name="Google Shape;574;p80"/>
          <p:cNvSpPr txBox="1"/>
          <p:nvPr/>
        </p:nvSpPr>
        <p:spPr>
          <a:xfrm>
            <a:off x="2638425" y="237331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</a:t>
            </a:r>
            <a:endParaRPr/>
          </a:p>
        </p:txBody>
      </p:sp>
      <p:sp>
        <p:nvSpPr>
          <p:cNvPr id="575" name="Google Shape;575;p80"/>
          <p:cNvSpPr txBox="1"/>
          <p:nvPr/>
        </p:nvSpPr>
        <p:spPr>
          <a:xfrm>
            <a:off x="885825" y="2376487"/>
            <a:ext cx="1524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endParaRPr/>
          </a:p>
        </p:txBody>
      </p:sp>
      <p:sp>
        <p:nvSpPr>
          <p:cNvPr id="576" name="Google Shape;576;p80"/>
          <p:cNvSpPr txBox="1"/>
          <p:nvPr/>
        </p:nvSpPr>
        <p:spPr>
          <a:xfrm>
            <a:off x="738187" y="3686175"/>
            <a:ext cx="6800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7" name="Google Shape;577;p80"/>
          <p:cNvSpPr txBox="1"/>
          <p:nvPr>
            <p:ph idx="1" type="body"/>
          </p:nvPr>
        </p:nvSpPr>
        <p:spPr>
          <a:xfrm>
            <a:off x="636587" y="3968750"/>
            <a:ext cx="7661275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≡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(≠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is not equivalent to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 of all Clause</a:t>
            </a:r>
            <a:endParaRPr/>
          </a:p>
        </p:txBody>
      </p:sp>
      <p:grpSp>
        <p:nvGrpSpPr>
          <p:cNvPr id="583" name="Google Shape;583;p81"/>
          <p:cNvGrpSpPr/>
          <p:nvPr/>
        </p:nvGrpSpPr>
        <p:grpSpPr>
          <a:xfrm>
            <a:off x="2619375" y="1338262"/>
            <a:ext cx="457200" cy="1066800"/>
            <a:chOff x="2448" y="1296"/>
            <a:chExt cx="288" cy="960"/>
          </a:xfrm>
        </p:grpSpPr>
        <p:sp>
          <p:nvSpPr>
            <p:cNvPr id="584" name="Google Shape;584;p81"/>
            <p:cNvSpPr txBox="1"/>
            <p:nvPr/>
          </p:nvSpPr>
          <p:spPr>
            <a:xfrm>
              <a:off x="2448" y="1296"/>
              <a:ext cx="288" cy="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585" name="Google Shape;585;p81"/>
            <p:cNvSpPr txBox="1"/>
            <p:nvPr/>
          </p:nvSpPr>
          <p:spPr>
            <a:xfrm>
              <a:off x="2448" y="1584"/>
              <a:ext cx="288" cy="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586" name="Google Shape;586;p81"/>
            <p:cNvSpPr txBox="1"/>
            <p:nvPr/>
          </p:nvSpPr>
          <p:spPr>
            <a:xfrm>
              <a:off x="2448" y="1920"/>
              <a:ext cx="288" cy="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</p:grpSp>
      <p:sp>
        <p:nvSpPr>
          <p:cNvPr id="587" name="Google Shape;587;p81"/>
          <p:cNvSpPr txBox="1"/>
          <p:nvPr/>
        </p:nvSpPr>
        <p:spPr>
          <a:xfrm>
            <a:off x="1593850" y="164306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&lt;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88" name="Google Shape;588;p81"/>
          <p:cNvSpPr txBox="1"/>
          <p:nvPr/>
        </p:nvSpPr>
        <p:spPr>
          <a:xfrm>
            <a:off x="3152775" y="164306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false</a:t>
            </a:r>
            <a:endParaRPr/>
          </a:p>
        </p:txBody>
      </p:sp>
      <p:sp>
        <p:nvSpPr>
          <p:cNvPr id="589" name="Google Shape;589;p81"/>
          <p:cNvSpPr txBox="1"/>
          <p:nvPr/>
        </p:nvSpPr>
        <p:spPr>
          <a:xfrm>
            <a:off x="2619375" y="2557462"/>
            <a:ext cx="457200" cy="381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90" name="Google Shape;590;p81"/>
          <p:cNvSpPr txBox="1"/>
          <p:nvPr/>
        </p:nvSpPr>
        <p:spPr>
          <a:xfrm>
            <a:off x="2619375" y="2862262"/>
            <a:ext cx="457200" cy="2968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591" name="Google Shape;591;p81"/>
          <p:cNvSpPr txBox="1"/>
          <p:nvPr/>
        </p:nvSpPr>
        <p:spPr>
          <a:xfrm>
            <a:off x="2619375" y="3316287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92" name="Google Shape;592;p81"/>
          <p:cNvSpPr txBox="1"/>
          <p:nvPr/>
        </p:nvSpPr>
        <p:spPr>
          <a:xfrm>
            <a:off x="3152775" y="2801937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</a:t>
            </a:r>
            <a:endParaRPr/>
          </a:p>
        </p:txBody>
      </p:sp>
      <p:sp>
        <p:nvSpPr>
          <p:cNvPr id="593" name="Google Shape;593;p81"/>
          <p:cNvSpPr txBox="1"/>
          <p:nvPr/>
        </p:nvSpPr>
        <p:spPr>
          <a:xfrm>
            <a:off x="2619375" y="3621087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94" name="Google Shape;594;p81"/>
          <p:cNvSpPr txBox="1"/>
          <p:nvPr/>
        </p:nvSpPr>
        <p:spPr>
          <a:xfrm>
            <a:off x="2619375" y="4157662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95" name="Google Shape;595;p81"/>
          <p:cNvSpPr txBox="1"/>
          <p:nvPr/>
        </p:nvSpPr>
        <p:spPr>
          <a:xfrm>
            <a:off x="2619375" y="4462462"/>
            <a:ext cx="457200" cy="3095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96" name="Google Shape;596;p81"/>
          <p:cNvSpPr txBox="1"/>
          <p:nvPr/>
        </p:nvSpPr>
        <p:spPr>
          <a:xfrm>
            <a:off x="1704975" y="4386262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97" name="Google Shape;597;p81"/>
          <p:cNvSpPr txBox="1"/>
          <p:nvPr/>
        </p:nvSpPr>
        <p:spPr>
          <a:xfrm>
            <a:off x="3073400" y="4368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 (since 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and 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6)</a:t>
            </a:r>
            <a:endParaRPr/>
          </a:p>
        </p:txBody>
      </p:sp>
      <p:sp>
        <p:nvSpPr>
          <p:cNvPr id="598" name="Google Shape;598;p81"/>
          <p:cNvSpPr txBox="1"/>
          <p:nvPr/>
        </p:nvSpPr>
        <p:spPr>
          <a:xfrm>
            <a:off x="1651000" y="2814637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&lt;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99" name="Google Shape;599;p81"/>
          <p:cNvSpPr txBox="1"/>
          <p:nvPr/>
        </p:nvSpPr>
        <p:spPr>
          <a:xfrm>
            <a:off x="3152775" y="3544887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false</a:t>
            </a:r>
            <a:endParaRPr/>
          </a:p>
        </p:txBody>
      </p:sp>
      <p:sp>
        <p:nvSpPr>
          <p:cNvPr id="600" name="Google Shape;600;p81"/>
          <p:cNvSpPr txBox="1"/>
          <p:nvPr/>
        </p:nvSpPr>
        <p:spPr>
          <a:xfrm>
            <a:off x="1704975" y="354806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601" name="Google Shape;601;p81"/>
          <p:cNvSpPr txBox="1"/>
          <p:nvPr/>
        </p:nvSpPr>
        <p:spPr>
          <a:xfrm>
            <a:off x="1238250" y="5257800"/>
            <a:ext cx="6800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81"/>
          <p:cNvSpPr txBox="1"/>
          <p:nvPr>
            <p:ph idx="1" type="body"/>
          </p:nvPr>
        </p:nvSpPr>
        <p:spPr>
          <a:xfrm>
            <a:off x="920750" y="5297487"/>
            <a:ext cx="7661275" cy="76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(≠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≡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(=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not equivalent to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for Empty Relations</a:t>
            </a:r>
            <a:endParaRPr/>
          </a:p>
        </p:txBody>
      </p:sp>
      <p:sp>
        <p:nvSpPr>
          <p:cNvPr id="608" name="Google Shape;608;p82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 returns the value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 argument subquery is nonempty.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⇔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≠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Ø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exists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⇔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Ø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3"/>
          <p:cNvSpPr txBox="1"/>
          <p:nvPr>
            <p:ph type="title"/>
          </p:nvPr>
        </p:nvSpPr>
        <p:spPr>
          <a:xfrm>
            <a:off x="741362" y="6588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3.3: Tuples inserted into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614" name="Google Shape;614;p83"/>
          <p:cNvPicPr preferRelativeResize="0"/>
          <p:nvPr/>
        </p:nvPicPr>
        <p:blipFill rotWithShape="1">
          <a:blip r:embed="rId3">
            <a:alphaModFix/>
          </a:blip>
          <a:srcRect b="20285" l="428" r="641" t="19429"/>
          <a:stretch/>
        </p:blipFill>
        <p:spPr>
          <a:xfrm>
            <a:off x="1106487" y="1528762"/>
            <a:ext cx="7127875" cy="32575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4"/>
          <p:cNvSpPr txBox="1"/>
          <p:nvPr>
            <p:ph type="title"/>
          </p:nvPr>
        </p:nvSpPr>
        <p:spPr>
          <a:xfrm>
            <a:off x="749300" y="4730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3.4:</a:t>
            </a:r>
            <a:b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</a:t>
            </a:r>
            <a:endParaRPr/>
          </a:p>
        </p:txBody>
      </p:sp>
      <p:pic>
        <p:nvPicPr>
          <p:cNvPr id="620" name="Google Shape;620;p84"/>
          <p:cNvPicPr preferRelativeResize="0"/>
          <p:nvPr/>
        </p:nvPicPr>
        <p:blipFill rotWithShape="1">
          <a:blip r:embed="rId3">
            <a:alphaModFix/>
          </a:blip>
          <a:srcRect b="37276" l="399" r="598" t="36213"/>
          <a:stretch/>
        </p:blipFill>
        <p:spPr>
          <a:xfrm>
            <a:off x="1054100" y="2149475"/>
            <a:ext cx="7580312" cy="15224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