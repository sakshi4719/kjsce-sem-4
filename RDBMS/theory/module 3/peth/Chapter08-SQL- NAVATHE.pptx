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y="6858000" cx="9144000"/>
  <p:notesSz cx="6858000" cy="9144000"/>
  <p:embeddedFontLst>
    <p:embeddedFont>
      <p:font typeface="Tahoma"/>
      <p:regular r:id="rId95"/>
      <p:bold r:id="rId96"/>
    </p:embeddedFont>
    <p:embeddedFont>
      <p:font typeface="Helvetica Neue"/>
      <p:regular r:id="rId97"/>
      <p:bold r:id="rId98"/>
      <p:italic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0" Type="http://schemas.openxmlformats.org/officeDocument/2006/relationships/font" Target="fonts/HelveticaNeue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Tahoma-regular.fntdata"/><Relationship Id="rId94" Type="http://schemas.openxmlformats.org/officeDocument/2006/relationships/slide" Target="slides/slide88.xml"/><Relationship Id="rId97" Type="http://schemas.openxmlformats.org/officeDocument/2006/relationships/font" Target="fonts/HelveticaNeue-regular.fntdata"/><Relationship Id="rId96" Type="http://schemas.openxmlformats.org/officeDocument/2006/relationships/font" Target="fonts/Tahoma-bold.fntdata"/><Relationship Id="rId11" Type="http://schemas.openxmlformats.org/officeDocument/2006/relationships/slide" Target="slides/slide5.xml"/><Relationship Id="rId99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98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update multiple at once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4" name="Google Shape;32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2" name="Google Shape;33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4" name="Google Shape;36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6" name="Google Shape;39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4" name="Google Shape;40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2" name="Google Shape;41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0" name="Google Shape;42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8" name="Google Shape;42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2" name="Google Shape;492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0" name="Google Shape;50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8" name="Google Shape;50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6" name="Google Shape;51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4" name="Google Shape;524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2" name="Google Shape;532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0" name="Google Shape;54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8" name="Google Shape;548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56" name="Google Shape;55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4" name="Google Shape;56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72" name="Google Shape;57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80" name="Google Shape;580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88" name="Google Shape;588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96" name="Google Shape;596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04" name="Google Shape;604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12" name="Google Shape;61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27" name="Google Shape;627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42" name="Google Shape;642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50" name="Google Shape;650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58" name="Google Shape;65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66" name="Google Shape;666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82" name="Google Shape;682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90" name="Google Shape;690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p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98" name="Google Shape;698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9" name="Google Shape;699;p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06" name="Google Shape;706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14" name="Google Shape;714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5" name="Google Shape;715;p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22" name="Google Shape;722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3" name="Google Shape;723;p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0" name="Google Shape;730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8" name="Google Shape;738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46" name="Google Shape;746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54" name="Google Shape;754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62" name="Google Shape;76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70" name="Google Shape;770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1" name="Google Shape;771;p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8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SQL-99: SchemaDefinition, Constraints, and Queries and Views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SQL COMMANDS</a:t>
            </a:r>
            <a:endParaRPr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LANGUAGE(DML)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CONTROL LANGUAGE(DCL)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DDL- Data Definition, Constraints, and Schema Changes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239712" y="15240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CREATE, DROP, and ALTER the descriptions of the tables (relations) of a database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39712" y="1600200"/>
            <a:ext cx="87518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Specifies a new base relation by giving it a name, and specifying each of its attributes and their data types –(INTEGER, FLOAT, DECIMAL(i,j), CHAR(n), VARCHAR(n))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240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constraint NOT NULL may be specified on an attribute</a:t>
            </a:r>
            <a:b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DEPARTMENT (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DNAME			VARCHAR(10)	NOT NULL,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  );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239712" y="1600200"/>
            <a:ext cx="85994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SQL2, can use the CREATE TABLE command for specifying the primary key attributes, secondary keys, and referential integrity constraints (foreign keys).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attributes can be specified via the PRIMARY KEY and UNIQUE phrases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DEPT (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DNAME			VARCHAR(10)	NOT NULL,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PRIMARY KEY (DNUMBER),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UNIQUE (DNAME),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 (MGRSSN) REFERENCES EMP  );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DROP TABLE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remove a relation (base table) and its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relation can no longer be used in queries, updates, or any other commands since its description no longer exists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 DEPENDENT;</a:t>
            </a:r>
            <a:br>
              <a:rPr b="1" i="0" lang="en-US" sz="30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 TABLE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add an attribute to one of the base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 attribute will have NULLs in all the tuples of the relation right after the command is executed; hence, the NOT NULL constraint is not allowed  for such an attribute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600" u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EMPLOYEE ADD JOB VARCHAR(12);</a:t>
            </a:r>
            <a:br>
              <a:rPr b="1" i="0" lang="en-US" sz="2600" u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database users must still enter a value for the new attribute JOB for each EMPLOYEE tuple.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be done using the UPDATE command.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Features Added in SQL2 and SQL-99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schema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Referential integrity options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SCHEMA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Specifies a new database schema by giving it a name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OPTIONS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specify RESTRICT, CASCADE, SET NULL or SET DEFAULT on referential integrity constraints (foreign keys)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DEPT (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 DNAME		VARCHAR(10)	NOT NULL,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PRIMARY KEY (DNUMBER),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UNIQUE (DNAME),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 (MGRSSN) REFERENCES EMP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ON DELETE SET DEFAULT ON UPDATE CASCADE);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OPTIONS (continued)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EMP(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ENAME		VARCHAR(30)	NOT NULL,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ESSN		CHAR(9),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BDATE		DATE,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DNO		INTEGER  DEFAULT 1,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SUPERSSN	CHAR(9),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 (ESSN),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(DNO) REFERENCES DEPT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ON DELETE SET DEFAULT ON UPDATE  CASCADE,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(SUPERSSN) REFERENCES EMP ON DELETE SET NULL ON UPDATE CASCADE);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Data Types in SQL2 and SQL-99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Has DATE, TIME, and TIMESTAMP data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year-month-day in the format yyyy-mm-dd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hour:minute:second in the format hh:mm:ss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TIME(i):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hour:minute:second plus i additional digits specifying fractions of a second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format is hh:mm:ss:ii...i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5" name="Google Shape;185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Data Types in SQL2 and SQL-99 (contd.)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TIMESTAMP: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Has both DATE and TIME components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INTERVAL: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Specifies a relative value rather than an absolute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be DAY/TIME intervals or YEAR/MONTH intervals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be positive or negative when added to or subtracted from an absolute value, the result is an absolute value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one basic statement for retrieving information from a database;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statement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 the same as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SELECT operation of the relational algebra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Important distinction between SQL and the formal relational model: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SQL allows a table (relation) to have two or more tuples that are identical in all their attribute values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an SQL relation (table) is  a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multi-set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(sometimes called a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of tuples; it is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 set of tuples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relations can be constrained to be sets by specifying PRIMARY KEY or UNIQUE attributes, or by using the DISTINCT option in a query</a:t>
            </a:r>
            <a:endParaRPr/>
          </a:p>
          <a:p>
            <a:pPr indent="-23622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Specifying Updates in SQL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three SQL commands to modify the database: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its simplest form, it is used to add one or more tuples to a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 values should be listed in the same order as the attributes were specified in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4" name="Google Shape;224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U1:	INSERT INTO  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VALUES ('Richard','K','Marini', '653298653', '30-DEC-52',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'98 Oak Forest,Katy,TX', 'M', 37000,'987654321', 4 )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alternate form of INSERT specifies explicitly the attribute names that correspond to the values in the new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with NULL values can be left out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Insert a tuple for a new EMPLOYEE for whom we only know the FNAME, LNAME, and SSN attributes.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U1A:   INSERT INTO 	EMPLOYEE (FNAME, LNAME, 						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   VALUES ('Richard', 'Marini', '653298653')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2" name="Google Shape;232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Important Note: Only the constraints specified in the DDL commands are automatically enforced by the DBMS when updates are applied to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Another variation of INSERT allows insertion of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tuples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resulting from a query into a relation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Suppose we want to create a temporary table that has the name, number of employees, and total salaries for each department.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table DEPTS_INFO is created by U3A, and is loaded with the summary information retrieved from the database by the query in U3B.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U3A:	CREATE TABLE  DEPTS_INFO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(DEPT_NAME		VARCHAR(10),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NO_OF_EMPS		INTEGER,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TOTAL_SAL		INTEGER);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U3B:	INSERT INTO	DEPTS_INFO (DEPT_NAME, 					NO_OF_EMPS, TOTAL_SAL)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SELECT	DNAME, COUNT (*), SUM (SALARY)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DEPARTMENT,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DNUMBER=DNO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DNAME 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8" name="Google Shape;248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 DEPTS_INFO table may not be up-to-date if we change the tuples in either the DEPARTMENT or the EMPLOYEE relations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issuing U3B. We have to create a view (see later) to keep such a table up to date.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/>
          </a:p>
        </p:txBody>
      </p:sp>
      <p:sp>
        <p:nvSpPr>
          <p:cNvPr id="257" name="Google Shape;257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Removes tuples from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a WHERE-clause to select the tuples to be deleted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should be enforced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Tuples are deleted from only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table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a time (unless CASCADE is specified on a referential integrity constraint)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missing WHERE-clause specifies that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tuples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the relation are to be deleted; the table then becomes an empty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number of tuples deleted depends on the number of tuples in the relation that satisfy the WHERE-clause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4" name="Google Shape;264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DELETE (contd.)</a:t>
            </a:r>
            <a:endParaRPr/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U4A: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LNAME='Brown’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U4B: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SSN='123456789’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U4C: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DNO  IN				  			(SELECT	DNUMBER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	DEPARTMENT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							DNAME='Research')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U4D:	DELETE FROM 	EMPLOYEE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2" name="Google Shape;272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modify attribute values of one or more selected tuples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WHERE-clause selects the tuples to be modified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additional SET-clause specifies the attributes to be modified and their new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command modifies tuples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the same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Referential integrity should be enforced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0" name="Google Shape;280;p3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(contd.)</a:t>
            </a:r>
            <a:endParaRPr/>
          </a:p>
        </p:txBody>
      </p:sp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Change the location and controlling department number of project number 10 to 'Bellaire' and 5, respectively.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U5:	UPDATE 	PROJECT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		PLOCATION = 'Bellaire', 					DNUM = 5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PNUMBER=10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8" name="Google Shape;288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(contd.)</a:t>
            </a:r>
            <a:endParaRPr/>
          </a:p>
        </p:txBody>
      </p:sp>
      <p:sp>
        <p:nvSpPr>
          <p:cNvPr id="289" name="Google Shape;289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Give all employees in the 'Research' department a 10% raise in salary.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U6:	UPDATE 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SET		SALARY = SALARY *1.1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DNO  IN (SELECT	DNUMBER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   FROM	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   WHERE	DNAME='Research')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this request, the modified SALARY value depends on the original SALARY value in each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reference to the SALARY attribute on the right of = refers to the old SALARY value before modification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reference to the SALARY attribute on the left of = refers to the new SALARY value after modification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6" name="Google Shape;296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 (contd.)</a:t>
            </a:r>
            <a:endParaRPr/>
          </a:p>
        </p:txBody>
      </p:sp>
      <p:sp>
        <p:nvSpPr>
          <p:cNvPr id="297" name="Google Shape;297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form of the SQL SELECT statement is called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a SELECT-FROM-WHERE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&lt;table list&gt;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&lt;condition&gt;</a:t>
            </a:r>
            <a:endParaRPr/>
          </a:p>
          <a:p>
            <a:pPr indent="-208915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&lt;attribute list&gt; is a list of attribute names whose values are to be retrieved by the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&lt;table list&gt; is a list of the relation names required to process the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&lt;condition&gt; is a conditional (Boolean) expression that identifies the tuples to be retrieved by the query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4" name="Google Shape;304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 (contd.)</a:t>
            </a:r>
            <a:endParaRPr/>
          </a:p>
        </p:txBody>
      </p:sp>
      <p:sp>
        <p:nvSpPr>
          <p:cNvPr id="305" name="Google Shape;305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multi-set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like a set, but an element may appear more than once.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{A, B, C, A} is a bag.  {A, B, C} is also a bag that also is a set.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Bags also resemble lists, but the order is irrelevant in a bag.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{A, B, A} = {B, A, A} as bags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However, [A, B, A] is not equal to [B, A, A] as 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Database Schema--Figure 5.5  </a:t>
            </a:r>
            <a:endParaRPr/>
          </a:p>
        </p:txBody>
      </p:sp>
      <p:pic>
        <p:nvPicPr>
          <p:cNvPr id="313" name="Google Shape;3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0"/>
            <a:ext cx="8024812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0" name="Google Shape;320;p44"/>
          <p:cNvSpPr txBox="1"/>
          <p:nvPr>
            <p:ph type="title"/>
          </p:nvPr>
        </p:nvSpPr>
        <p:spPr>
          <a:xfrm>
            <a:off x="4038600" y="5060950"/>
            <a:ext cx="5410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Populated Database--Fig.5.6</a:t>
            </a:r>
            <a:endParaRPr/>
          </a:p>
        </p:txBody>
      </p:sp>
      <p:pic>
        <p:nvPicPr>
          <p:cNvPr id="321" name="Google Shape;321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9175750" cy="6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</a:t>
            </a:r>
            <a:endParaRPr/>
          </a:p>
        </p:txBody>
      </p:sp>
      <p:sp>
        <p:nvSpPr>
          <p:cNvPr id="329" name="Google Shape;329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SQL queries correspond to using the following operations of the relational algebra: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subsequent examples use the COMPANY database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37" name="Google Shape;337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simple query on one  relation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0: Retrieve the birthdate and address of the employee whose name is 'John B. Smith'.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Q0:	SELECT 	BDATE,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FNAME='John' AND MINIT='B’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AND 		LNAME='Smith’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Similar to a SELECT-PROJECT pair of relational algebra operations: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SELECT-clause specifies the projection attributes and the WHERE-clause specifies the selection condition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However, the result of the query may contain  duplicate tuples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4" name="Google Shape;344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45" name="Google Shape;345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1: Retrieve the name and address of all employees who work for the 'Research' department.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DNAME='Research' AND DNUMBER=DNO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Similar to a SELECT-PROJECT-JOIN sequence of relational algebra operations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(DNAME='Research') is a selection condition  (corresponds to a SELECT operation in relational algebra)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(DNUMBER=DNO) is a join condition (corresponds to a JOIN operation in relational algebra)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2" name="Google Shape;352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53" name="Google Shape;353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2: For every project located in 'Stafford', list the project number, the controlling department number, and the department manager's last name, address, and birthdate.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Q2: SELECT   	PNUMBER, DNUM, LNAME, BDATE, ADDRESS 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		PROJECT, DEPARTMENT,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 	DNUM=DNUMBER AND MGRSSN=SSN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AND PLOCATION='Stafford'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Q2, there are two  join conditions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join condition DNUM=DNUMBER relates a project to its controlling department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join condition MGRSSN=SSN relates the controlling department to the employee who manages that department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0" name="Google Shape;360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Aliases, * and DISTINCT, Empty WHERE-clause</a:t>
            </a:r>
            <a:endParaRPr/>
          </a:p>
        </p:txBody>
      </p:sp>
      <p:sp>
        <p:nvSpPr>
          <p:cNvPr id="361" name="Google Shape;361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SQL, we can use the same name for two (or more) attributes as long as the attributes are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relations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that refers to two or more attributes with the same name must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qualify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attribute name with the relation name by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prefixing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relation name to the attribute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EMPLOYEE.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LNAME, </a:t>
            </a:r>
            <a:r>
              <a:rPr b="1" i="0" lang="en-US" sz="28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DEPARTMENT.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DNAME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8" name="Google Shape;368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endParaRPr/>
          </a:p>
        </p:txBody>
      </p:sp>
      <p:sp>
        <p:nvSpPr>
          <p:cNvPr id="369" name="Google Shape;369;p5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queries need to refer to the same relation twice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this case,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are given to the relation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8: For each employee, retrieve the employee's name, and the name of his or her immediate supervisor.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FROM 		EMPLOYEE </a:t>
            </a:r>
            <a:r>
              <a:rPr b="0" i="0" lang="en-US" sz="20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WHERE	E.SUPERSSN=S.SSN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Q8, the alternate relation names E and S are called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tuple variables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for the EMPLOYEE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think of E and S as two different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copies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EMPLOYEE; E represents employees in role of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and S represents employees in role of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6" name="Google Shape;376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 (contd.)</a:t>
            </a:r>
            <a:endParaRPr/>
          </a:p>
        </p:txBody>
      </p:sp>
      <p:sp>
        <p:nvSpPr>
          <p:cNvPr id="377" name="Google Shape;377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Aliasing can also be used in any SQL query for convenience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also use the AS keyword to specify aliases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					S.FNAME, S.LNAME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 	EMPLOYEE AS E, 					EMPLOYEE AS S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E.SUPERSSN=S.SSN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UNSPECIFIED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WHERE-clause</a:t>
            </a:r>
            <a:endParaRPr/>
          </a:p>
        </p:txBody>
      </p:sp>
      <p:sp>
        <p:nvSpPr>
          <p:cNvPr id="385" name="Google Shape;385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missing WHERE-clause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indicates no condition; hence, all tuples of the relations in the FROM-clause are selected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equivalent to the condition WHERE TRUE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9: Retrieve the SSN values for all employees.</a:t>
            </a:r>
            <a:endParaRPr/>
          </a:p>
          <a:p>
            <a:pPr indent="-208915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Q9:	SELECT 	SSN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more than one relation is specified in the FROM-clause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there is no join condition, then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CARTESIAN PRODUCT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tuples is selected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UNSPECIFIED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WHERE-clause (contd.)</a:t>
            </a:r>
            <a:endParaRPr/>
          </a:p>
        </p:txBody>
      </p:sp>
      <p:sp>
        <p:nvSpPr>
          <p:cNvPr id="393" name="Google Shape;393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Q10:	SELECT	SSN, DNAME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EMPLOYEE, DEPARTMENT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is extremely important not to overlook specifying any selection and join conditions in the WHERE-clause; otherwise, incorrect and very large relations may result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0" name="Google Shape;400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UNSPECIFIED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WHERE-clause (contd.)</a:t>
            </a:r>
            <a:endParaRPr/>
          </a:p>
        </p:txBody>
      </p:sp>
      <p:sp>
        <p:nvSpPr>
          <p:cNvPr id="401" name="Google Shape;401;p5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Q11:	SELECT	SSN, DNAME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EMPLOYEE, DEPARTMENT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DNUMBER=DNO</a:t>
            </a:r>
            <a:b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is extremely important not to overlook specifying any selection and join conditions in the WHERE-clause; otherwise, incorrect and very large relations may result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8" name="Google Shape;408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 OF *</a:t>
            </a:r>
            <a:endParaRPr/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retrieve all the attribute values of the selected tuples, a * is used, which stands for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the attributes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Q1C:	SELECT 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DNO=5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Q1D:	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DNAME='Research' AND 					DNO=DNUMBER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6" name="Google Shape;416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 OF DISTINCT</a:t>
            </a:r>
            <a:endParaRPr/>
          </a:p>
        </p:txBody>
      </p:sp>
      <p:sp>
        <p:nvSpPr>
          <p:cNvPr id="417" name="Google Shape;417;p56"/>
          <p:cNvSpPr txBox="1"/>
          <p:nvPr>
            <p:ph idx="1" type="body"/>
          </p:nvPr>
        </p:nvSpPr>
        <p:spPr>
          <a:xfrm>
            <a:off x="239712" y="1371600"/>
            <a:ext cx="829468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does not treat a relation as a set; duplicate tuples can appear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eliminate duplicate tuples in a query result, the keyword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result of Q11 may have duplicate SALARY values whereas Q11A does not have any duplicate values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Q11:	SELECT 	SALARY</a:t>
            </a:r>
            <a:br>
              <a:rPr b="0" i="0" lang="en-US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Q11A: 	SELECT 	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SALARY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25" name="Google Shape;425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directly incorporated some set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a union operation (UNION), and in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versions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SQL there are set difference (MINUS) and intersection (INTERSECT)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resulting relations of these set operations are sets of tuples;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duplicate tuples are eliminated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the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operations apply only to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 compatible relations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the two relations must have the same attributes and the attributes must appear in the same order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2" name="Google Shape;432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 (contd.) </a:t>
            </a:r>
            <a:endParaRPr/>
          </a:p>
        </p:txBody>
      </p:sp>
      <p:sp>
        <p:nvSpPr>
          <p:cNvPr id="433" name="Google Shape;433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4: Make a list of all project numbers for projects that involve an employee whose last name is 'Smith' as a worker or as a manager of the department that controls the project.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Q4:		(SELECT 	PNAME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DEPARTMENT, 					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DNUM=DNUMBER AND 					MGRSSN=SSN AND LNAME='Smith')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UNION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(SELECT  	PNAME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WORKS_ON,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 AND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ESSN=SSN AND NAME='Smith')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/>
          <p:nvPr>
            <p:ph type="title"/>
          </p:nvPr>
        </p:nvSpPr>
        <p:spPr>
          <a:xfrm>
            <a:off x="228600" y="-619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39" name="Google Shape;439;p59"/>
          <p:cNvSpPr txBox="1"/>
          <p:nvPr>
            <p:ph idx="1" type="body"/>
          </p:nvPr>
        </p:nvSpPr>
        <p:spPr>
          <a:xfrm>
            <a:off x="0" y="1095375"/>
            <a:ext cx="9296400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operations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union, intersect,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operate on relations and correspond to the relational algebra operations ∪, ∩, −.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of the above operations automatically eliminates duplicates; to retain all duplicates use multiset versions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 all, intersect all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 all.</a:t>
            </a: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Suppose a tuple occurs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times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s,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then, it occurs: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baseline="-2500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 n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min(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m,n)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intersect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max(0,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 – n)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except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0"/>
          <p:cNvSpPr txBox="1"/>
          <p:nvPr>
            <p:ph type="title"/>
          </p:nvPr>
        </p:nvSpPr>
        <p:spPr>
          <a:xfrm>
            <a:off x="552450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45" name="Google Shape;445;p60"/>
          <p:cNvSpPr txBox="1"/>
          <p:nvPr>
            <p:ph idx="1" type="body"/>
          </p:nvPr>
        </p:nvSpPr>
        <p:spPr>
          <a:xfrm>
            <a:off x="0" y="396875"/>
            <a:ext cx="91440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bank has Tables  - Depositor,  Borrower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all customers who have a loan, an account, or both:</a:t>
            </a:r>
            <a:endParaRPr/>
          </a:p>
        </p:txBody>
      </p:sp>
      <p:sp>
        <p:nvSpPr>
          <p:cNvPr id="446" name="Google Shape;446;p60"/>
          <p:cNvSpPr txBox="1"/>
          <p:nvPr/>
        </p:nvSpPr>
        <p:spPr>
          <a:xfrm>
            <a:off x="1574800" y="4706937"/>
            <a:ext cx="6227762" cy="110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60"/>
          <p:cNvSpPr txBox="1"/>
          <p:nvPr/>
        </p:nvSpPr>
        <p:spPr>
          <a:xfrm>
            <a:off x="1619250" y="3136900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448" name="Google Shape;448;p60"/>
          <p:cNvSpPr txBox="1"/>
          <p:nvPr/>
        </p:nvSpPr>
        <p:spPr>
          <a:xfrm>
            <a:off x="742950" y="4222750"/>
            <a:ext cx="658495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an account but no loan.	</a:t>
            </a:r>
            <a:endParaRPr/>
          </a:p>
        </p:txBody>
      </p:sp>
      <p:sp>
        <p:nvSpPr>
          <p:cNvPr id="449" name="Google Shape;449;p60"/>
          <p:cNvSpPr txBox="1"/>
          <p:nvPr/>
        </p:nvSpPr>
        <p:spPr>
          <a:xfrm>
            <a:off x="1585912" y="1560512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450" name="Google Shape;450;p60"/>
          <p:cNvSpPr txBox="1"/>
          <p:nvPr/>
        </p:nvSpPr>
        <p:spPr>
          <a:xfrm>
            <a:off x="742950" y="2678112"/>
            <a:ext cx="62468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both a loan and an account.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456" name="Google Shape;456;p61"/>
          <p:cNvSpPr txBox="1"/>
          <p:nvPr>
            <p:ph idx="1" type="body"/>
          </p:nvPr>
        </p:nvSpPr>
        <p:spPr>
          <a:xfrm>
            <a:off x="381000" y="2209800"/>
            <a:ext cx="8610600" cy="389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functions operate on the multiset of values of a column of a relation, and return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avg: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minimum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maximum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 of values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values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2"/>
          <p:cNvSpPr txBox="1"/>
          <p:nvPr>
            <p:ph type="title"/>
          </p:nvPr>
        </p:nvSpPr>
        <p:spPr>
          <a:xfrm>
            <a:off x="228600" y="303212"/>
            <a:ext cx="7796212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(Cont.)</a:t>
            </a:r>
            <a:endParaRPr/>
          </a:p>
        </p:txBody>
      </p:sp>
      <p:sp>
        <p:nvSpPr>
          <p:cNvPr id="462" name="Google Shape;462;p62"/>
          <p:cNvSpPr txBox="1"/>
          <p:nvPr>
            <p:ph idx="1" type="body"/>
          </p:nvPr>
        </p:nvSpPr>
        <p:spPr>
          <a:xfrm>
            <a:off x="76200" y="1108075"/>
            <a:ext cx="8915400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average account balance at the Perryridge branch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63" name="Google Shape;463;p62"/>
          <p:cNvSpPr txBox="1"/>
          <p:nvPr/>
        </p:nvSpPr>
        <p:spPr>
          <a:xfrm>
            <a:off x="746125" y="4214812"/>
            <a:ext cx="48117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depositors in the bank.</a:t>
            </a:r>
            <a:endParaRPr/>
          </a:p>
        </p:txBody>
      </p:sp>
      <p:sp>
        <p:nvSpPr>
          <p:cNvPr id="464" name="Google Shape;464;p62"/>
          <p:cNvSpPr txBox="1"/>
          <p:nvPr/>
        </p:nvSpPr>
        <p:spPr>
          <a:xfrm>
            <a:off x="758825" y="2813050"/>
            <a:ext cx="704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relation.</a:t>
            </a:r>
            <a:endParaRPr/>
          </a:p>
        </p:txBody>
      </p:sp>
      <p:sp>
        <p:nvSpPr>
          <p:cNvPr id="465" name="Google Shape;465;p62"/>
          <p:cNvSpPr txBox="1"/>
          <p:nvPr/>
        </p:nvSpPr>
        <p:spPr>
          <a:xfrm>
            <a:off x="1966912" y="1660525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(balance)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  <p:sp>
        <p:nvSpPr>
          <p:cNvPr id="466" name="Google Shape;466;p62"/>
          <p:cNvSpPr txBox="1"/>
          <p:nvPr/>
        </p:nvSpPr>
        <p:spPr>
          <a:xfrm>
            <a:off x="2047875" y="3341687"/>
            <a:ext cx="2609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/>
          </a:p>
        </p:txBody>
      </p:sp>
      <p:sp>
        <p:nvSpPr>
          <p:cNvPr id="467" name="Google Shape;467;p62"/>
          <p:cNvSpPr txBox="1"/>
          <p:nvPr/>
        </p:nvSpPr>
        <p:spPr>
          <a:xfrm>
            <a:off x="2068512" y="4724400"/>
            <a:ext cx="4248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(distinct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– Group By</a:t>
            </a:r>
            <a:endParaRPr/>
          </a:p>
        </p:txBody>
      </p:sp>
      <p:sp>
        <p:nvSpPr>
          <p:cNvPr id="473" name="Google Shape;473;p63"/>
          <p:cNvSpPr txBox="1"/>
          <p:nvPr>
            <p:ph idx="1" type="body"/>
          </p:nvPr>
        </p:nvSpPr>
        <p:spPr>
          <a:xfrm>
            <a:off x="760412" y="1160462"/>
            <a:ext cx="8070850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number of depositors for each branch.</a:t>
            </a:r>
            <a:endParaRPr/>
          </a:p>
        </p:txBody>
      </p:sp>
      <p:sp>
        <p:nvSpPr>
          <p:cNvPr id="474" name="Google Shape;474;p63"/>
          <p:cNvSpPr txBox="1"/>
          <p:nvPr/>
        </p:nvSpPr>
        <p:spPr>
          <a:xfrm>
            <a:off x="915987" y="3503612"/>
            <a:ext cx="79867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Attributes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outside of aggregate functions must     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appear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list</a:t>
            </a:r>
            <a:endParaRPr/>
          </a:p>
        </p:txBody>
      </p:sp>
      <p:sp>
        <p:nvSpPr>
          <p:cNvPr id="475" name="Google Shape;475;p63"/>
          <p:cNvSpPr txBox="1"/>
          <p:nvPr/>
        </p:nvSpPr>
        <p:spPr>
          <a:xfrm>
            <a:off x="1008062" y="1758950"/>
            <a:ext cx="7842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RESULT(SEATNO, NAME, BRANCH,)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 *, MAX  (ATTEMPTS)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RESULT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5"/>
          <p:cNvSpPr txBox="1"/>
          <p:nvPr>
            <p:ph type="title"/>
          </p:nvPr>
        </p:nvSpPr>
        <p:spPr>
          <a:xfrm>
            <a:off x="923925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– Having Clause</a:t>
            </a:r>
            <a:endParaRPr/>
          </a:p>
        </p:txBody>
      </p:sp>
      <p:sp>
        <p:nvSpPr>
          <p:cNvPr id="487" name="Google Shape;487;p65"/>
          <p:cNvSpPr txBox="1"/>
          <p:nvPr>
            <p:ph idx="1" type="body"/>
          </p:nvPr>
        </p:nvSpPr>
        <p:spPr>
          <a:xfrm>
            <a:off x="0" y="1284287"/>
            <a:ext cx="9296400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names of all branches where the average account balance is more than $1,200.</a:t>
            </a:r>
            <a:endParaRPr/>
          </a:p>
        </p:txBody>
      </p:sp>
      <p:sp>
        <p:nvSpPr>
          <p:cNvPr id="488" name="Google Shape;488;p65"/>
          <p:cNvSpPr txBox="1"/>
          <p:nvPr/>
        </p:nvSpPr>
        <p:spPr>
          <a:xfrm>
            <a:off x="658812" y="3659187"/>
            <a:ext cx="765968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are applied after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formation of groups whereas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clause are applied before forming groups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65"/>
          <p:cNvSpPr txBox="1"/>
          <p:nvPr/>
        </p:nvSpPr>
        <p:spPr>
          <a:xfrm>
            <a:off x="1677987" y="2114550"/>
            <a:ext cx="56165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6" name="Google Shape;496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NESTING OF QUERIES</a:t>
            </a:r>
            <a:endParaRPr/>
          </a:p>
        </p:txBody>
      </p:sp>
      <p:sp>
        <p:nvSpPr>
          <p:cNvPr id="497" name="Google Shape;497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complete SELECT query, called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nested query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can be specified within the WHERE-clause of another query, called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outer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 of the previous queries can be specified in an alternative form using nesting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1: Retrieve the name and address of all employees who work for the 'Research' department.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DNO IN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   (SELECT  DNUMBER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	FROM		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            WHERE 	DNAME='Research' 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4" name="Google Shape;504;p6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NESTING OF QUERIES (contd.)</a:t>
            </a:r>
            <a:endParaRPr/>
          </a:p>
        </p:txBody>
      </p:sp>
      <p:sp>
        <p:nvSpPr>
          <p:cNvPr id="505" name="Google Shape;505;p6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nested query selects the number of the 'Research' department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outer query select an EMPLOYEE tuple if its DNO value is in the result of either nested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comparison operator IN compares a value v with a set (or multi-set) of values V, and evaluates to TRUE if v is one of the elements in 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we can have several levels of nested queries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reference to an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unqualified attribute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refers to the relation declared in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innermost nested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this example, the nested query is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correlated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the outer query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2" name="Google Shape;512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</a:t>
            </a:r>
            <a:endParaRPr/>
          </a:p>
        </p:txBody>
      </p:sp>
      <p:sp>
        <p:nvSpPr>
          <p:cNvPr id="513" name="Google Shape;513;p6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condition in the WHERE-clause of a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nested query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references an attribute of a relation declared in the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outer query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the two queries are said to be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correlated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result of a correlated nested query is different for each tuple (or combination of tuples) of the relation(s) the outer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12: Retrieve the name of each employee who has a dependent with the same first name as the employee.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Q12: SELECT  	E.FNAME, E.LNAME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FROM		EMPLOYEE AS 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WHERE	E.SSN IN 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(SELECT 	ESSN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FROM		DEPENDENT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WHERE	ESSN=E.SSN AND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 	E.FNAME=DEPENDENT_NAME)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0" name="Google Shape;520;p6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21" name="Google Shape;521;p6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Q12, the nested query has a different result in the outer query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written with nested SELECT... FROM... WHERE... blocks and using the = or IN comparison operators can </a:t>
            </a: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 expressed as a single block query. For example, Q12 may be written as in Q12A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Q12A:	SELECT 	E.FNAME, E.LNAME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 E, DEPENDENT D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E.SSN=D.ESSN AND						E.FNAME=D.DEPENDENT_NAME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8" name="Google Shape;528;p7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29" name="Google Shape;529;p7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original SQL as specified for SYSTEM R also had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CONTAINS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comparison operator, which is used in conjunction with nested correlated queries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operator was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dropped from the language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possibly because of the difficulty in implementing it efficiently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implementations of SQL do not  have this operator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CONTAINS operator compares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sets of values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and returns TRUE if one set contains all values in the other set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Reminiscent of the division operation of algebra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6" name="Google Shape;536;p7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37" name="Google Shape;537;p7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3: Retrieve the name of each employee who works on all  the projects controlled by department number 5.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Q3:	SELECT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  ( 	(SELECT	PNO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FROM		WORKS_ON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WHERE	SSN=ESSN)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	CONTAINS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		(SELECT	PNUMBER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FROM		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WHERE	DNUM=5) 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4" name="Google Shape;544;p7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45" name="Google Shape;545;p7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Q3, the second nested query, which is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correlated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the outer query, retrieves the project numbers of all projects controlled by department 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first nested query, which is correlated, retrieves the project numbers on which the employee works, which is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for each employee tuple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because of the correlation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2" name="Google Shape;552;p7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</a:t>
            </a:r>
            <a:endParaRPr/>
          </a:p>
        </p:txBody>
      </p:sp>
      <p:sp>
        <p:nvSpPr>
          <p:cNvPr id="553" name="Google Shape;553;p7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EXISTS is used to check whether the result of a correlated nested query is empty (contains no tuples) or not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formulate Query 12 in an alternative form that uses EXISTS as Q12B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0" name="Google Shape;560;p7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 (contd.)</a:t>
            </a:r>
            <a:endParaRPr/>
          </a:p>
        </p:txBody>
      </p:sp>
      <p:sp>
        <p:nvSpPr>
          <p:cNvPr id="561" name="Google Shape;561;p7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12: Retrieve the name of each employee who has a dependent with the same first name as the employee.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Q12B: 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EXISTS  (SELECT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		DEPENDENT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	SSN=ESSN 						AND 							FNAME=DEPENDENT_NAME)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8" name="Google Shape;568;p7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 (contd.)</a:t>
            </a:r>
            <a:endParaRPr/>
          </a:p>
        </p:txBody>
      </p:sp>
      <p:sp>
        <p:nvSpPr>
          <p:cNvPr id="569" name="Google Shape;569;p7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6: Retrieve the names of employees who have no dependents.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Q6: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NOT EXISTS   (SELECT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  	DEPENDENT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 	SSN=ESSN)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Q6, the correlated nested query retrieves all DEPENDENT tuples related to an EMPLOYEE tuple. If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none exist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the EMPLOYEE tuple is selected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EXISTS is necessary for the expressive power of SQL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6" name="Google Shape;576;p7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EXPLICIT SETS</a:t>
            </a:r>
            <a:endParaRPr/>
          </a:p>
        </p:txBody>
      </p:sp>
      <p:sp>
        <p:nvSpPr>
          <p:cNvPr id="577" name="Google Shape;577;p7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also possible to use an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explicit (enumerated) set of values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 WHERE-clause rather than a nested query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13: Retrieve the social security numbers of all employees who work on project number 1, 2, or 3.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Q13:	SELECT  	DISTINCT ESSN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WORKS_ON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PNO IN  (1, 2, 3)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4" name="Google Shape;584;p7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NULLS IN SQL QUERIES</a:t>
            </a:r>
            <a:endParaRPr/>
          </a:p>
        </p:txBody>
      </p:sp>
      <p:sp>
        <p:nvSpPr>
          <p:cNvPr id="585" name="Google Shape;585;p7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allows queries that check if a value is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(missing or undefined or not applicable)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uses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NOT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compare NULLs because it considers each NULL value distinct from other NULL values, so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equality comparison is not appropriate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14: Retrieve the names of all employees who do not have supervisors.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Q14: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SUPERSSN  IS  NULL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Note: If a join condition is specified, tuples with NULL values for the join attributes are not included in the result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2" name="Google Shape;592;p7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</a:t>
            </a:r>
            <a:endParaRPr/>
          </a:p>
        </p:txBody>
      </p:sp>
      <p:sp>
        <p:nvSpPr>
          <p:cNvPr id="593" name="Google Shape;593;p7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specify a "joined relation" in the FROM-clause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Looks like any other relation but is the result of a join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Allows the user to specify different types of joins (regular "theta" JOIN, NATURAL JOIN, LEFT OUTER JOIN, RIGHT OUTER JOIN, CROSS JOIN, etc)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0" name="Google Shape;600;p7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601" name="Google Shape;601;p7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  as E 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E.SUPERSSN=S.SSN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be written 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E LEFT OUTER JOIN 				EMPLOYEES ON  E.SUPERSSN=S.SSN)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8" name="Google Shape;608;p8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609" name="Google Shape;609;p8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DNAME='Research' AND DNUMBER=DNO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could be written as: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JOIN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	ON DNUMBER=DNO)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DNAME='Research’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as: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NATURAL JOIN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	AS DEPT(DNAME, DNO, MSSN, MSDATE)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DNAME='Research’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6" name="Google Shape;616;p8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617" name="Google Shape;617;p8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Another Example: Q2 could be written as follows; this illustrates multiple joins in the joined tables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Q2:	SELECT 	PNUMBER, DNUM, LNAME, 					BDATE, ADDRESS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(PROJECT JOIN 						DEPARTMENT ON 					DNUM=DNUMBER) JOIN 					EMPLOYEE ON 						MGRSSN=SSN) 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 	PLOCATION='Stafford’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8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8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1" name="Google Shape;631;p8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632" name="Google Shape;632;p83"/>
          <p:cNvSpPr txBox="1"/>
          <p:nvPr>
            <p:ph idx="1" type="body"/>
          </p:nvPr>
        </p:nvSpPr>
        <p:spPr>
          <a:xfrm>
            <a:off x="239712" y="1600200"/>
            <a:ext cx="829468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Include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COUNT, SUM, MAX, MIN, and AVG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15: Find the maximum salary, the minimum salary, and the average salary among all employees.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Q15:	SELECT  	MAX(SALARY), 						MIN(SALARY), AVG(SALARY)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SQL implementations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not allow more than one function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 SELECT-clause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8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6" name="Google Shape;646;p8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(contd.)</a:t>
            </a:r>
            <a:endParaRPr/>
          </a:p>
        </p:txBody>
      </p:sp>
      <p:sp>
        <p:nvSpPr>
          <p:cNvPr id="647" name="Google Shape;647;p85"/>
          <p:cNvSpPr txBox="1"/>
          <p:nvPr>
            <p:ph idx="1" type="body"/>
          </p:nvPr>
        </p:nvSpPr>
        <p:spPr>
          <a:xfrm>
            <a:off x="0" y="1447800"/>
            <a:ext cx="8534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16: Find the maximum salary, the minimum salary, and the average salary among employees who work for the 'Research' department.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Q16: 	SELECT 	MAX(SALARY), 						MIN(SALARY), AVG(SALARY)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EMPLOYEE, DEPARTMENT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DNO=DNUMBER AND 					DNAME='Research'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4" name="Google Shape;654;p8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(contd.)</a:t>
            </a:r>
            <a:endParaRPr/>
          </a:p>
        </p:txBody>
      </p:sp>
      <p:sp>
        <p:nvSpPr>
          <p:cNvPr id="655" name="Google Shape;655;p8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Queries 17 and 18: Retrieve the total number of employees in the company (Q17), and the number of employees in the 'Research' department (Q18).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Q17:	SELECT  	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Q18:	SELECT  	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DNO=DNUMBER AND 					DNAME='Research’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2" name="Google Shape;662;p8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</a:t>
            </a:r>
            <a:endParaRPr/>
          </a:p>
        </p:txBody>
      </p:sp>
      <p:sp>
        <p:nvSpPr>
          <p:cNvPr id="663" name="Google Shape;663;p87"/>
          <p:cNvSpPr txBox="1"/>
          <p:nvPr>
            <p:ph idx="1" type="body"/>
          </p:nvPr>
        </p:nvSpPr>
        <p:spPr>
          <a:xfrm>
            <a:off x="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many cases, we want to apply the aggregate functions to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subgroups of tuples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a relation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subgroup of tuples consists of the set of tuples that have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value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grouping attribute(s)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function is applied to each subgroup independently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-clause for specifying the grouping attributes, which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also appear in the SELECT-clause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0" name="Google Shape;670;p8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 (contd.)</a:t>
            </a:r>
            <a:endParaRPr/>
          </a:p>
        </p:txBody>
      </p:sp>
      <p:sp>
        <p:nvSpPr>
          <p:cNvPr id="671" name="Google Shape;671;p8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20: For each department, retrieve the department number, the number of employees in the department, and their average salary.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Q20:	SELECT 	</a:t>
            </a:r>
            <a:r>
              <a:rPr b="0" i="0" lang="en-US" sz="22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DNO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COUNT (*), AVG (SALARY)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</a:t>
            </a:r>
            <a:r>
              <a:rPr b="0" i="0" lang="en-US" sz="22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Q20, the EMPLOYEE tuples are divided into groups-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group having the same value for the grouping attribute DNO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8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9" name="Google Shape;679;p89"/>
          <p:cNvSpPr txBox="1"/>
          <p:nvPr/>
        </p:nvSpPr>
        <p:spPr>
          <a:xfrm>
            <a:off x="228600" y="2163762"/>
            <a:ext cx="8610600" cy="403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COUNT and AVG functions are applied to each such group of tuples separately</a:t>
            </a:r>
            <a:endParaRPr/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SELECT-clause includes only the </a:t>
            </a:r>
            <a:endParaRPr/>
          </a:p>
          <a:p>
            <a:pPr indent="-2540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grouping attribute and the functions to be applied on each group of tuples</a:t>
            </a:r>
            <a:endParaRPr/>
          </a:p>
          <a:p>
            <a:pPr indent="-2540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join condition can be used in conjunction with grouping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6" name="Google Shape;686;p9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 (contd.)</a:t>
            </a:r>
            <a:endParaRPr/>
          </a:p>
        </p:txBody>
      </p:sp>
      <p:sp>
        <p:nvSpPr>
          <p:cNvPr id="687" name="Google Shape;687;p9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21: For each project, retrieve the project number, project name, and the number of employees who work on that project.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Q21:	SELECT 	PNUMBER, PNAME, 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WORKS_ON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PNUMBER, PNAME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this case, the grouping and functions are applied after  the joining of the two relations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4" name="Google Shape;694;p9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HAVING-CLAUSE</a:t>
            </a:r>
            <a:endParaRPr/>
          </a:p>
        </p:txBody>
      </p:sp>
      <p:sp>
        <p:nvSpPr>
          <p:cNvPr id="695" name="Google Shape;695;p9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Sometimes we want to retrieve the values of these functions for only those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groups that satisfy certain conditions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-clause is used for specifying a selection condition on groups (rather than on individual tuples)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2" name="Google Shape;702;p9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HAVING-CLAUSE (contd.)</a:t>
            </a:r>
            <a:endParaRPr/>
          </a:p>
        </p:txBody>
      </p:sp>
      <p:sp>
        <p:nvSpPr>
          <p:cNvPr id="703" name="Google Shape;703;p9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22: For each project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 which more than two employees work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retrieve the project number, project name, and the number of employees who work on that project.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Q22:     	SELECT 	PNUMBER, PNAME, 					COUNT(*)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PROJECT, WORKS_ON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PNUMBER, PNAME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HAVING	COUNT (*) &gt; 2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0" name="Google Shape;710;p9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</a:t>
            </a:r>
            <a:endParaRPr/>
          </a:p>
        </p:txBody>
      </p:sp>
      <p:sp>
        <p:nvSpPr>
          <p:cNvPr id="711" name="Google Shape;711;p9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comparison operator is used to compare partial strings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reserved characters are used: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(or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in some implementations) replaces an arbitrary number of characters, and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replaces a single arbitrary character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8" name="Google Shape;718;p9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 (contd.)</a:t>
            </a:r>
            <a:endParaRPr/>
          </a:p>
        </p:txBody>
      </p:sp>
      <p:sp>
        <p:nvSpPr>
          <p:cNvPr id="719" name="Google Shape;719;p9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25:  Retrieve all employees whose address is in Houston, Texas. Here, the value of the ADDRESS attribute must contain the substring 'Houston,TX‘ in it.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Q25:	SELECT 	FNAME, LNAME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ADDRESS LIKE 						'%Houston,TX%'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26" name="Google Shape;726;p9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 (contd.)</a:t>
            </a:r>
            <a:endParaRPr/>
          </a:p>
        </p:txBody>
      </p:sp>
      <p:sp>
        <p:nvSpPr>
          <p:cNvPr id="727" name="Google Shape;727;p9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26: Retrieve all employees who were born during the 1950s.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Here, '5' must be the 7th character of the string (according to our format for date), so the BDATE value is '_______5_', with each underscore as a place holder for a single arbitrary character.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Q26:	SELECT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BDATE LIKE	'_______5_’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LIKE operator allows us to get around the fact that each value is considered atomic and indivisible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in SQL, character string attribute values are not atomic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4" name="Google Shape;734;p9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735" name="Google Shape;735;p9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standard arithmetic operators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'+', '-'. '*', and '/'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(for addition, subtraction, multiplication, and division, respectively) can be applied to numeric values in an SQL query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27: Show the effect of giving all employees who work on the 'ProductX' project a 10% raise.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Q27:	SELECT 	FNAME, LNAME, 1.1*SALARY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WORKS_ON, 					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SSN=ESSN AND PNO=PNUMBER 					AND PNAME='ProductX’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42" name="Google Shape;742;p9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endParaRPr/>
          </a:p>
        </p:txBody>
      </p:sp>
      <p:sp>
        <p:nvSpPr>
          <p:cNvPr id="743" name="Google Shape;743;p9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clause is used to sort the tuples in a query result based on the values of some attribute(s)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28: Retrieve a list of employees and the projects each works in, ordered by the employee's department, and within each department ordered alphabetically by employee last name.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Q28: 	SELECT 	DNAME, LNAME, FNAME, PNAME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	FROM 		DEPARTMENT, EMPLOYEE, 					WORKS_ON, 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DNUMBER=DNO AND SSN=ESSN 					AND PNO=PNUMBER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ORDER BY	DNAME, LNAME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0" name="Google Shape;750;p9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ORDER BY (contd.)</a:t>
            </a:r>
            <a:endParaRPr/>
          </a:p>
        </p:txBody>
      </p:sp>
      <p:sp>
        <p:nvSpPr>
          <p:cNvPr id="751" name="Google Shape;751;p9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default order is in ascending order of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specify the keyword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we want a descending order; the keyword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ASC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used to explicitly specify ascending order, even though it is the default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8" name="Google Shape;758;p9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SQL Queries</a:t>
            </a:r>
            <a:endParaRPr/>
          </a:p>
        </p:txBody>
      </p:sp>
      <p:sp>
        <p:nvSpPr>
          <p:cNvPr id="759" name="Google Shape;759;p9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in SQL can consist of up to six clauses, but only the first two, SELECT and FROM, are mandatory. The clauses are specified in the following order: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		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&lt;attribute list&gt;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&lt;table list&gt;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&lt;condition&gt;]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&lt;grouping attribute(s)&gt;]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&lt;group condition&gt;]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list&gt;]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0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6" name="Google Shape;766;p10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SQL Queries (contd.)</a:t>
            </a:r>
            <a:endParaRPr/>
          </a:p>
        </p:txBody>
      </p:sp>
      <p:sp>
        <p:nvSpPr>
          <p:cNvPr id="767" name="Google Shape;767;p10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SELECT-clause lists the attributes or functions to be retrieved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FROM-clause specifies all relations (or aliases) needed in the query but not those needed in nested queries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WHERE-clause specifies the conditions for selection and join of tuples from the relations specified in the FROM-clause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 BY specifies grouping attributes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 specifies a condition for selection of groups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 specifies an order for displaying the result of a query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query is evaluated by first applying the WHERE-clause, then GROUP BY and HAVING, and finally the SELECT-clause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0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4" name="Google Shape;774;p10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Recap of SQL Queries</a:t>
            </a:r>
            <a:endParaRPr/>
          </a:p>
        </p:txBody>
      </p:sp>
      <p:sp>
        <p:nvSpPr>
          <p:cNvPr id="775" name="Google Shape;775;p10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in SQL can consist of up to six clauses, but only the first two, SELECT and FROM, are mandatory. The clauses are specified in the following order: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		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&lt;attribute list&gt;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&lt;table list&gt;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&lt;condition&gt;]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&lt;grouping attribute(s)&gt;]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&lt;group condition&gt;]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three SQL commands to modify the database: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