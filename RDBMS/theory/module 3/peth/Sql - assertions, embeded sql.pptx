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</p:sldIdLst>
  <p:sldSz cy="6858000" cx="9144000"/>
  <p:notesSz cx="6858000" cy="9144000"/>
  <p:embeddedFontLst>
    <p:embeddedFont>
      <p:font typeface="Tahoma"/>
      <p:regular r:id="rId71"/>
      <p:bold r:id="rId72"/>
    </p:embeddedFont>
    <p:embeddedFont>
      <p:font typeface="Helvetica Neue"/>
      <p:regular r:id="rId73"/>
      <p:bold r:id="rId74"/>
      <p:italic r:id="rId75"/>
      <p:boldItalic r:id="rId7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15">
          <p15:clr>
            <a:srgbClr val="000000"/>
          </p15:clr>
        </p15:guide>
        <p15:guide id="2" pos="53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15" orient="horz"/>
        <p:guide pos="53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HelveticaNeue-regular.fntdata"/><Relationship Id="rId72" Type="http://schemas.openxmlformats.org/officeDocument/2006/relationships/font" Target="fonts/Tahoma-bold.fntdata"/><Relationship Id="rId31" Type="http://schemas.openxmlformats.org/officeDocument/2006/relationships/slide" Target="slides/slide25.xml"/><Relationship Id="rId75" Type="http://schemas.openxmlformats.org/officeDocument/2006/relationships/font" Target="fonts/HelveticaNeue-italic.fntdata"/><Relationship Id="rId30" Type="http://schemas.openxmlformats.org/officeDocument/2006/relationships/slide" Target="slides/slide24.xml"/><Relationship Id="rId74" Type="http://schemas.openxmlformats.org/officeDocument/2006/relationships/font" Target="fonts/HelveticaNeue-bold.fntdata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76" Type="http://schemas.openxmlformats.org/officeDocument/2006/relationships/font" Target="fonts/HelveticaNeue-boldItalic.fntdata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Tahoma-regular.fntdata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60" name="Google Shape;260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" name="Google Shape;261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  <a:defRPr/>
            </a:lvl1pPr>
            <a:lvl2pPr lvl="1" algn="l"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lvl="2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lvl="3" algn="l"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lvl="5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lvl="6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lvl="7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lvl="8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1" type="ftr"/>
          </p:nvPr>
        </p:nvSpPr>
        <p:spPr>
          <a:xfrm>
            <a:off x="2862262" y="5780087"/>
            <a:ext cx="34480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6596062" y="62182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20040" lvl="1" marL="914400" algn="l"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 rot="5400000">
            <a:off x="4895850" y="2047875"/>
            <a:ext cx="5880100" cy="2019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 rot="5400000">
            <a:off x="781050" y="104775"/>
            <a:ext cx="5880100" cy="59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20040" lvl="1" marL="914400" algn="l"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 rot="5400000">
            <a:off x="2193131" y="-284957"/>
            <a:ext cx="4903787" cy="766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20040" lvl="1" marL="914400" algn="l"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90"/>
              </a:spcBef>
              <a:spcAft>
                <a:spcPts val="0"/>
              </a:spcAft>
              <a:buSzPts val="1260"/>
              <a:buNone/>
              <a:defRPr sz="14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315"/>
              </a:spcBef>
              <a:spcAft>
                <a:spcPts val="0"/>
              </a:spcAft>
              <a:buSzPts val="900"/>
              <a:buFont typeface="Helvetica Neue"/>
              <a:buNone/>
              <a:defRPr sz="900"/>
            </a:lvl4pPr>
            <a:lvl5pPr indent="-228600" lvl="4" marL="22860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5pPr>
            <a:lvl6pPr indent="-228600" lvl="5" marL="27432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6pPr>
            <a:lvl7pPr indent="-228600" lvl="6" marL="32004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7pPr>
            <a:lvl8pPr indent="-228600" lvl="7" marL="36576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8pPr>
            <a:lvl9pPr indent="-228600" lvl="8" marL="41148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9pPr>
          </a:lstStyle>
          <a:p/>
        </p:txBody>
      </p:sp>
      <p:sp>
        <p:nvSpPr>
          <p:cNvPr id="52" name="Google Shape;52;p8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1480" lvl="0" marL="457200" algn="l">
              <a:spcBef>
                <a:spcPts val="1120"/>
              </a:spcBef>
              <a:spcAft>
                <a:spcPts val="0"/>
              </a:spcAft>
              <a:buSzPts val="2880"/>
              <a:buChar char="●"/>
              <a:defRPr sz="3200"/>
            </a:lvl1pPr>
            <a:lvl2pPr indent="-370840" lvl="1" marL="914400" algn="l">
              <a:spcBef>
                <a:spcPts val="980"/>
              </a:spcBef>
              <a:spcAft>
                <a:spcPts val="0"/>
              </a:spcAft>
              <a:buSzPts val="2240"/>
              <a:buChar char="●"/>
              <a:defRPr sz="2800"/>
            </a:lvl2pPr>
            <a:lvl3pPr indent="-342900" lvl="2" marL="1371600" algn="l">
              <a:spcBef>
                <a:spcPts val="840"/>
              </a:spcBef>
              <a:spcAft>
                <a:spcPts val="0"/>
              </a:spcAft>
              <a:buSzPts val="1800"/>
              <a:buChar char="4"/>
              <a:defRPr sz="2400"/>
            </a:lvl3pPr>
            <a:lvl4pPr indent="-355600" lvl="3" marL="1828800" algn="l">
              <a:spcBef>
                <a:spcPts val="700"/>
              </a:spcBef>
              <a:spcAft>
                <a:spcPts val="0"/>
              </a:spcAft>
              <a:buSzPts val="2000"/>
              <a:buFont typeface="Helvetica Neue"/>
              <a:buChar char="–"/>
              <a:defRPr sz="2000"/>
            </a:lvl4pPr>
            <a:lvl5pPr indent="-323850" lvl="4" marL="22860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5pPr>
            <a:lvl6pPr indent="-323850" lvl="5" marL="27432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6pPr>
            <a:lvl7pPr indent="-323850" lvl="6" marL="32004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7pPr>
            <a:lvl8pPr indent="-323850" lvl="7" marL="36576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8pPr>
            <a:lvl9pPr indent="-323850" lvl="8" marL="41148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9pPr>
          </a:lstStyle>
          <a:p/>
        </p:txBody>
      </p:sp>
      <p:sp>
        <p:nvSpPr>
          <p:cNvPr id="56" name="Google Shape;56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90"/>
              </a:spcBef>
              <a:spcAft>
                <a:spcPts val="0"/>
              </a:spcAft>
              <a:buSzPts val="1260"/>
              <a:buNone/>
              <a:defRPr sz="14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315"/>
              </a:spcBef>
              <a:spcAft>
                <a:spcPts val="0"/>
              </a:spcAft>
              <a:buSzPts val="900"/>
              <a:buFont typeface="Helvetica Neue"/>
              <a:buNone/>
              <a:defRPr sz="900"/>
            </a:lvl4pPr>
            <a:lvl5pPr indent="-228600" lvl="4" marL="22860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5pPr>
            <a:lvl6pPr indent="-228600" lvl="5" marL="27432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6pPr>
            <a:lvl7pPr indent="-228600" lvl="6" marL="32004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7pPr>
            <a:lvl8pPr indent="-228600" lvl="7" marL="36576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8pPr>
            <a:lvl9pPr indent="-228600" lvl="8" marL="41148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840"/>
              </a:spcBef>
              <a:spcAft>
                <a:spcPts val="0"/>
              </a:spcAft>
              <a:buSzPts val="2160"/>
              <a:buNone/>
              <a:defRPr b="1" sz="2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630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None/>
              <a:defRPr b="1" sz="1600"/>
            </a:lvl4pPr>
            <a:lvl5pPr indent="-2286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5pPr>
            <a:lvl6pPr indent="-2286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6pPr>
            <a:lvl7pPr indent="-2286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7pPr>
            <a:lvl8pPr indent="-2286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8pPr>
            <a:lvl9pPr indent="-2286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63" name="Google Shape;63;p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spcBef>
                <a:spcPts val="840"/>
              </a:spcBef>
              <a:spcAft>
                <a:spcPts val="0"/>
              </a:spcAft>
              <a:buSzPts val="2160"/>
              <a:buChar char="●"/>
              <a:defRPr sz="2400"/>
            </a:lvl1pPr>
            <a:lvl2pPr indent="-330200" lvl="1" marL="914400" algn="l"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2000"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 sz="1800"/>
            </a:lvl3pPr>
            <a:lvl4pPr indent="-330200" lvl="3" marL="18288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Char char="–"/>
              <a:defRPr sz="1600"/>
            </a:lvl4pPr>
            <a:lvl5pPr indent="-3048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5pPr>
            <a:lvl6pPr indent="-3048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6pPr>
            <a:lvl7pPr indent="-3048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7pPr>
            <a:lvl8pPr indent="-3048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8pPr>
            <a:lvl9pPr indent="-3048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9pPr>
          </a:lstStyle>
          <a:p/>
        </p:txBody>
      </p:sp>
      <p:sp>
        <p:nvSpPr>
          <p:cNvPr id="64" name="Google Shape;64;p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840"/>
              </a:spcBef>
              <a:spcAft>
                <a:spcPts val="0"/>
              </a:spcAft>
              <a:buSzPts val="2160"/>
              <a:buNone/>
              <a:defRPr b="1" sz="2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630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None/>
              <a:defRPr b="1" sz="1600"/>
            </a:lvl4pPr>
            <a:lvl5pPr indent="-2286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5pPr>
            <a:lvl6pPr indent="-2286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6pPr>
            <a:lvl7pPr indent="-2286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7pPr>
            <a:lvl8pPr indent="-2286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8pPr>
            <a:lvl9pPr indent="-2286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65" name="Google Shape;65;p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spcBef>
                <a:spcPts val="840"/>
              </a:spcBef>
              <a:spcAft>
                <a:spcPts val="0"/>
              </a:spcAft>
              <a:buSzPts val="2160"/>
              <a:buChar char="●"/>
              <a:defRPr sz="2400"/>
            </a:lvl1pPr>
            <a:lvl2pPr indent="-330200" lvl="1" marL="914400" algn="l"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2000"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 sz="1800"/>
            </a:lvl3pPr>
            <a:lvl4pPr indent="-330200" lvl="3" marL="18288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Char char="–"/>
              <a:defRPr sz="1600"/>
            </a:lvl4pPr>
            <a:lvl5pPr indent="-3048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5pPr>
            <a:lvl6pPr indent="-3048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6pPr>
            <a:lvl7pPr indent="-3048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7pPr>
            <a:lvl8pPr indent="-3048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8pPr>
            <a:lvl9pPr indent="-3048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9pPr>
          </a:lstStyle>
          <a:p/>
        </p:txBody>
      </p:sp>
      <p:sp>
        <p:nvSpPr>
          <p:cNvPr id="66" name="Google Shape;66;p1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814388" y="1093788"/>
            <a:ext cx="3754437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8620" lvl="0" marL="457200" algn="l">
              <a:spcBef>
                <a:spcPts val="980"/>
              </a:spcBef>
              <a:spcAft>
                <a:spcPts val="0"/>
              </a:spcAft>
              <a:buSzPts val="2520"/>
              <a:buChar char="●"/>
              <a:defRPr sz="2800"/>
            </a:lvl1pPr>
            <a:lvl2pPr indent="-350519" lvl="1" marL="914400" algn="l">
              <a:spcBef>
                <a:spcPts val="840"/>
              </a:spcBef>
              <a:spcAft>
                <a:spcPts val="0"/>
              </a:spcAft>
              <a:buSzPts val="1920"/>
              <a:buChar char="●"/>
              <a:defRPr sz="2400"/>
            </a:lvl2pPr>
            <a:lvl3pPr indent="-323850" lvl="2" marL="1371600" algn="l">
              <a:spcBef>
                <a:spcPts val="700"/>
              </a:spcBef>
              <a:spcAft>
                <a:spcPts val="0"/>
              </a:spcAft>
              <a:buSzPts val="1500"/>
              <a:buChar char="4"/>
              <a:defRPr sz="2000"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Font typeface="Helvetica Neue"/>
              <a:buChar char="–"/>
              <a:defRPr sz="1800"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9pPr>
          </a:lstStyle>
          <a:p/>
        </p:txBody>
      </p:sp>
      <p:sp>
        <p:nvSpPr>
          <p:cNvPr id="70" name="Google Shape;70;p12"/>
          <p:cNvSpPr txBox="1"/>
          <p:nvPr>
            <p:ph idx="2" type="body"/>
          </p:nvPr>
        </p:nvSpPr>
        <p:spPr>
          <a:xfrm>
            <a:off x="4721225" y="1093788"/>
            <a:ext cx="3754438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8620" lvl="0" marL="457200" algn="l">
              <a:spcBef>
                <a:spcPts val="980"/>
              </a:spcBef>
              <a:spcAft>
                <a:spcPts val="0"/>
              </a:spcAft>
              <a:buSzPts val="2520"/>
              <a:buChar char="●"/>
              <a:defRPr sz="2800"/>
            </a:lvl1pPr>
            <a:lvl2pPr indent="-350519" lvl="1" marL="914400" algn="l">
              <a:spcBef>
                <a:spcPts val="840"/>
              </a:spcBef>
              <a:spcAft>
                <a:spcPts val="0"/>
              </a:spcAft>
              <a:buSzPts val="1920"/>
              <a:buChar char="●"/>
              <a:defRPr sz="2400"/>
            </a:lvl2pPr>
            <a:lvl3pPr indent="-323850" lvl="2" marL="1371600" algn="l">
              <a:spcBef>
                <a:spcPts val="700"/>
              </a:spcBef>
              <a:spcAft>
                <a:spcPts val="0"/>
              </a:spcAft>
              <a:buSzPts val="1500"/>
              <a:buChar char="4"/>
              <a:defRPr sz="2000"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Font typeface="Helvetica Neue"/>
              <a:buChar char="–"/>
              <a:defRPr sz="1800"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9pPr>
          </a:lstStyle>
          <a:p/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800"/>
              <a:buNone/>
              <a:defRPr sz="2000"/>
            </a:lvl1pPr>
            <a:lvl2pPr indent="-228600" lvl="1" marL="914400" algn="l">
              <a:spcBef>
                <a:spcPts val="630"/>
              </a:spcBef>
              <a:spcAft>
                <a:spcPts val="0"/>
              </a:spcAft>
              <a:buSzPts val="1440"/>
              <a:buNone/>
              <a:defRPr sz="1800"/>
            </a:lvl2pPr>
            <a:lvl3pPr indent="-228600" lvl="2" marL="1371600" algn="l">
              <a:spcBef>
                <a:spcPts val="560"/>
              </a:spcBef>
              <a:spcAft>
                <a:spcPts val="0"/>
              </a:spcAft>
              <a:buSzPts val="1200"/>
              <a:buNone/>
              <a:defRPr sz="1600"/>
            </a:lvl3pPr>
            <a:lvl4pPr indent="-228600" lvl="3" marL="1828800" algn="l">
              <a:spcBef>
                <a:spcPts val="490"/>
              </a:spcBef>
              <a:spcAft>
                <a:spcPts val="0"/>
              </a:spcAft>
              <a:buSzPts val="1400"/>
              <a:buFont typeface="Helvetica Neue"/>
              <a:buNone/>
              <a:defRPr sz="1400"/>
            </a:lvl4pPr>
            <a:lvl5pPr indent="-228600" lvl="4" marL="22860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5pPr>
            <a:lvl6pPr indent="-228600" lvl="5" marL="27432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6pPr>
            <a:lvl7pPr indent="-228600" lvl="6" marL="32004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7pPr>
            <a:lvl8pPr indent="-228600" lvl="7" marL="36576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8pPr>
            <a:lvl9pPr indent="-228600" lvl="8" marL="41148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9pPr>
          </a:lstStyle>
          <a:p/>
        </p:txBody>
      </p:sp>
      <p:sp>
        <p:nvSpPr>
          <p:cNvPr id="75" name="Google Shape;75;p1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hyperlink" Target="http://www.db-book.com/" TargetMode="External"/><Relationship Id="rId2" Type="http://schemas.openxmlformats.org/officeDocument/2006/relationships/image" Target="../media/image4.jpg"/><Relationship Id="rId3" Type="http://schemas.openxmlformats.org/officeDocument/2006/relationships/image" Target="../media/image2.jpg"/><Relationship Id="rId4" Type="http://schemas.openxmlformats.org/officeDocument/2006/relationships/slideLayout" Target="../slideLayouts/slideLayout1.xml"/><Relationship Id="rId5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jpg"/><Relationship Id="rId2" Type="http://schemas.openxmlformats.org/officeDocument/2006/relationships/image" Target="../media/image2.jpg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1524000" y="1397000"/>
            <a:ext cx="6096000" cy="4064000"/>
          </a:xfrm>
          <a:prstGeom prst="rect">
            <a:avLst/>
          </a:prstGeom>
          <a:noFill/>
          <a:ln>
            <a:noFill/>
          </a:ln>
        </p:spPr>
      </p:sp>
      <p:sp>
        <p:nvSpPr>
          <p:cNvPr id="11" name="Google Shape;11;p1"/>
          <p:cNvSpPr txBox="1"/>
          <p:nvPr/>
        </p:nvSpPr>
        <p:spPr>
          <a:xfrm>
            <a:off x="2679700" y="5726112"/>
            <a:ext cx="3679825" cy="7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Helvetica Neue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 System Concepts, 5th Ed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Helvetica Neue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©Silberschatz, Korth and Sudarshan</a:t>
            </a:r>
            <a:br>
              <a:rPr b="1" i="0" lang="en-US" sz="1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See </a:t>
            </a:r>
            <a:r>
              <a:rPr b="1" i="0" lang="en-US" sz="1200" u="sng" cap="none" strike="noStrike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1"/>
              </a:rPr>
              <a:t>www.db-book.com</a:t>
            </a:r>
            <a:r>
              <a:rPr b="1" i="0" lang="en-US" sz="1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 conditions on re-use </a:t>
            </a:r>
            <a:endParaRPr/>
          </a:p>
        </p:txBody>
      </p:sp>
      <p:pic>
        <p:nvPicPr>
          <p:cNvPr descr="Icon11" id="12" name="Google Shape;12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55880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H01266J" id="13" name="Google Shape;13;p1"/>
          <p:cNvPicPr preferRelativeResize="0"/>
          <p:nvPr/>
        </p:nvPicPr>
        <p:blipFill rotWithShape="1">
          <a:blip r:embed="rId3">
            <a:alphaModFix/>
          </a:blip>
          <a:srcRect b="26144" l="0" r="0" t="0"/>
          <a:stretch/>
        </p:blipFill>
        <p:spPr>
          <a:xfrm>
            <a:off x="8528050" y="6053137"/>
            <a:ext cx="615950" cy="614362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20040" lvl="1" marL="914400" marR="0" rtl="0" algn="l"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4325" lvl="2" marL="1371600" marR="0" rtl="0" algn="l"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Helvetica Neue"/>
              <a:buChar char="–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4325" lvl="4" marL="22860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4325" lvl="5" marL="27432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4325" lvl="6" marL="32004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4325" lvl="7" marL="36576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4325" lvl="8" marL="41148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6" name="Google Shape;16;p1"/>
          <p:cNvSpPr txBox="1"/>
          <p:nvPr>
            <p:ph idx="11" type="ftr"/>
          </p:nvPr>
        </p:nvSpPr>
        <p:spPr>
          <a:xfrm>
            <a:off x="2862262" y="5780087"/>
            <a:ext cx="34480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7" name="Google Shape;17;p1"/>
          <p:cNvSpPr txBox="1"/>
          <p:nvPr>
            <p:ph idx="12" type="sldNum"/>
          </p:nvPr>
        </p:nvSpPr>
        <p:spPr>
          <a:xfrm>
            <a:off x="6596062" y="62182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20040" lvl="1" marL="914400" marR="0" rtl="0" algn="l"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4325" lvl="2" marL="1371600" marR="0" rtl="0" algn="l"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Helvetica Neue"/>
              <a:buChar char="–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4325" lvl="4" marL="22860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4325" lvl="5" marL="27432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4325" lvl="6" marL="32004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4325" lvl="7" marL="36576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4325" lvl="8" marL="41148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6759575" y="6613525"/>
            <a:ext cx="23876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©Silberschatz, Korth and Sudarshan</a:t>
            </a:r>
            <a:endParaRPr/>
          </a:p>
        </p:txBody>
      </p:sp>
      <p:sp>
        <p:nvSpPr>
          <p:cNvPr id="27" name="Google Shape;27;p3"/>
          <p:cNvSpPr txBox="1"/>
          <p:nvPr/>
        </p:nvSpPr>
        <p:spPr>
          <a:xfrm>
            <a:off x="4481512" y="6613525"/>
            <a:ext cx="446087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4.</a:t>
            </a:r>
            <a:fld id="{00000000-1234-1234-1234-123412341234}" type="slidenum">
              <a:rPr b="1" i="0" lang="en-US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28" name="Google Shape;28;p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9" name="Google Shape;29;p3"/>
          <p:cNvSpPr txBox="1"/>
          <p:nvPr/>
        </p:nvSpPr>
        <p:spPr>
          <a:xfrm>
            <a:off x="0" y="6613525"/>
            <a:ext cx="2970212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 System Concepts, 5</a:t>
            </a:r>
            <a:r>
              <a:rPr b="1" baseline="30000" i="0" lang="en-US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b="1" i="0" lang="en-US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Ed., July  2005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000" u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61" w="285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Icon11" id="31" name="Google Shape;31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660400" cy="8778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H01266J" id="32" name="Google Shape;32;p3"/>
          <p:cNvPicPr preferRelativeResize="0"/>
          <p:nvPr/>
        </p:nvPicPr>
        <p:blipFill rotWithShape="1">
          <a:blip r:embed="rId2">
            <a:alphaModFix/>
          </a:blip>
          <a:srcRect b="26144" l="0" r="0" t="0"/>
          <a:stretch/>
        </p:blipFill>
        <p:spPr>
          <a:xfrm>
            <a:off x="8528050" y="6053137"/>
            <a:ext cx="615950" cy="61436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Chapter 4: Advanced SQL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Chapter 4:  Advanced SQL</a:t>
            </a:r>
            <a:endParaRPr/>
          </a:p>
        </p:txBody>
      </p:sp>
      <p:sp>
        <p:nvSpPr>
          <p:cNvPr id="87" name="Google Shape;87;p15"/>
          <p:cNvSpPr txBox="1"/>
          <p:nvPr>
            <p:ph idx="1" type="body"/>
          </p:nvPr>
        </p:nvSpPr>
        <p:spPr>
          <a:xfrm>
            <a:off x="841375" y="1135062"/>
            <a:ext cx="6843712" cy="4887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 Data Types and Schemas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Integrity Constraints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Authorization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Embedded SQL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Dynamic SQL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Functions and Procedural Constructs**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Recursive Queries**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Advanced SQL Features**</a:t>
            </a:r>
            <a:endParaRPr/>
          </a:p>
          <a:p>
            <a:pPr indent="-24003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1435100" y="-763587"/>
            <a:ext cx="1841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1217612" y="306387"/>
            <a:ext cx="7264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Built-in Data Types in SQL </a:t>
            </a:r>
            <a:endParaRPr/>
          </a:p>
        </p:txBody>
      </p:sp>
      <p:sp>
        <p:nvSpPr>
          <p:cNvPr id="94" name="Google Shape;94;p16"/>
          <p:cNvSpPr txBox="1"/>
          <p:nvPr>
            <p:ph idx="1" type="body"/>
          </p:nvPr>
        </p:nvSpPr>
        <p:spPr>
          <a:xfrm>
            <a:off x="841375" y="1135062"/>
            <a:ext cx="7848600" cy="4862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date: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Dates, containing a (4 digit) year, month and date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‘2005-7-27’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time: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Time of day, in hours, minutes and seconds.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time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‘09:00:30’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time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‘09:00:30.75’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timestamp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date plus time of day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timestamp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‘2005-7-27 09:00:30.75’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interval: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period of time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  interval  ‘1’ day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Subtracting a date/time/timestamp value from another gives an interval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Interval values can be added to date/time/timestamp values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1290637" y="117475"/>
            <a:ext cx="7554912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Build-in Data Types in SQL (Cont.)</a:t>
            </a:r>
            <a:endParaRPr/>
          </a:p>
        </p:txBody>
      </p:sp>
      <p:sp>
        <p:nvSpPr>
          <p:cNvPr id="100" name="Google Shape;100;p17"/>
          <p:cNvSpPr txBox="1"/>
          <p:nvPr>
            <p:ph idx="1" type="body"/>
          </p:nvPr>
        </p:nvSpPr>
        <p:spPr>
          <a:xfrm>
            <a:off x="841375" y="1135062"/>
            <a:ext cx="6991350" cy="4730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extract values of individual fields from date/time/timestamp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extract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year from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r.starttime)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cast string types to date/time/timestamp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cast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&lt;string-valued-expression&gt;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date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cast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&lt;string-valued-expression&gt;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time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User-Defined Types</a:t>
            </a:r>
            <a:endParaRPr/>
          </a:p>
        </p:txBody>
      </p:sp>
      <p:sp>
        <p:nvSpPr>
          <p:cNvPr id="106" name="Google Shape;106;p18"/>
          <p:cNvSpPr txBox="1"/>
          <p:nvPr>
            <p:ph idx="1" type="body"/>
          </p:nvPr>
        </p:nvSpPr>
        <p:spPr>
          <a:xfrm>
            <a:off x="841375" y="1135062"/>
            <a:ext cx="7600950" cy="5083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type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construct in SQL creates user-defined type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create type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Dollars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as numeric (12,2) final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domain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construct in SQL-92 creates user-defined domain types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create domain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person_name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(20)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null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Types and domains are similar.  Domains can have constraints, such as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null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specified on them.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Domain Constraints</a:t>
            </a:r>
            <a:endParaRPr/>
          </a:p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841375" y="1135062"/>
            <a:ext cx="7661275" cy="4441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Domain constraints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are the most elementary form of integrity constraint. They test values inserted in the database, and test queries to ensure that the comparisons make sense.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 domains can be created from existing data types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domain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Dollars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numeric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(12, 2)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domain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Pounds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numeric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(12,2)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cannot assign or compare a value of type Dollars to a value of type Pounds. 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However, we can convert type as below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cast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Pounds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(Should also multiply by the dollar-to-pound conversion-rate)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Large-Object Types</a:t>
            </a:r>
            <a:endParaRPr/>
          </a:p>
        </p:txBody>
      </p:sp>
      <p:sp>
        <p:nvSpPr>
          <p:cNvPr id="118" name="Google Shape;118;p20"/>
          <p:cNvSpPr txBox="1"/>
          <p:nvPr>
            <p:ph idx="1" type="body"/>
          </p:nvPr>
        </p:nvSpPr>
        <p:spPr>
          <a:xfrm>
            <a:off x="814387" y="1093787"/>
            <a:ext cx="7661400" cy="49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Large objects (photos, videos, CAD files, etc.) are stored as a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large object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blob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binary large object -- object is a large collection of uninterpreted binary data (whose interpretation is left to an application outside of the database system)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clob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character large object -- object is a large collection of character data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a query returns a large object, a pointer is returned rather than the large object itself.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Integrity Constraints</a:t>
            </a:r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841375" y="1135062"/>
            <a:ext cx="6630987" cy="50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Integrity constraints guard against accidental damage to the database, by ensuring that authorized changes to the database do not result in a loss of data consistency.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checking account must have a balance greater than $10,000.00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salary of a bank employee must be at least $4.00 an hour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customer must have a (non-null) phone number</a:t>
            </a:r>
            <a:endParaRPr/>
          </a:p>
          <a:p>
            <a:pPr indent="-194309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738187" y="95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Constraints on a Single Relation </a:t>
            </a:r>
            <a:endParaRPr/>
          </a:p>
        </p:txBody>
      </p:sp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841375" y="1135062"/>
            <a:ext cx="7573962" cy="2640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null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primary key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unique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check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predicate</a:t>
            </a:r>
            <a:endParaRPr/>
          </a:p>
        </p:txBody>
      </p:sp>
      <p:sp>
        <p:nvSpPr>
          <p:cNvPr id="131" name="Google Shape;131;p22"/>
          <p:cNvSpPr txBox="1"/>
          <p:nvPr/>
        </p:nvSpPr>
        <p:spPr>
          <a:xfrm>
            <a:off x="804862" y="5229225"/>
            <a:ext cx="68008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738187" y="95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Null Constraint </a:t>
            </a:r>
            <a:endParaRPr/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841375" y="1135062"/>
            <a:ext cx="7948612" cy="3787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Declare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null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branch_name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(15)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null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Declare the domain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Dollars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be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null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</a:t>
            </a:r>
            <a:endParaRPr/>
          </a:p>
          <a:p>
            <a:pPr indent="-24003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1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domain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Dollars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numeric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(12,2)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null</a:t>
            </a:r>
            <a:endParaRPr/>
          </a:p>
          <a:p>
            <a:pPr indent="-24003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8" name="Google Shape;138;p23"/>
          <p:cNvSpPr txBox="1"/>
          <p:nvPr/>
        </p:nvSpPr>
        <p:spPr>
          <a:xfrm>
            <a:off x="804862" y="5229225"/>
            <a:ext cx="68008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738187" y="95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Unique Constraint</a:t>
            </a:r>
            <a:endParaRPr/>
          </a:p>
        </p:txBody>
      </p:sp>
      <p:sp>
        <p:nvSpPr>
          <p:cNvPr id="144" name="Google Shape;144;p24"/>
          <p:cNvSpPr txBox="1"/>
          <p:nvPr>
            <p:ph idx="1" type="body"/>
          </p:nvPr>
        </p:nvSpPr>
        <p:spPr>
          <a:xfrm>
            <a:off x="841375" y="1135062"/>
            <a:ext cx="7947025" cy="4594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unique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baseline="-2500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baseline="-2500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…,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baseline="-2500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unique specification states that the attributes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2, …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form a candidate key.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Candidate keys are permitted to be null (in contrast to primary keys).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1022350" y="1960562"/>
            <a:ext cx="7678737" cy="29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" name="Google Shape;146;p24"/>
          <p:cNvSpPr txBox="1"/>
          <p:nvPr/>
        </p:nvSpPr>
        <p:spPr>
          <a:xfrm>
            <a:off x="804862" y="5229225"/>
            <a:ext cx="68008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738187" y="95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check clause</a:t>
            </a:r>
            <a:endParaRPr/>
          </a:p>
        </p:txBody>
      </p:sp>
      <p:sp>
        <p:nvSpPr>
          <p:cNvPr id="152" name="Google Shape;152;p25"/>
          <p:cNvSpPr txBox="1"/>
          <p:nvPr>
            <p:ph idx="1" type="body"/>
          </p:nvPr>
        </p:nvSpPr>
        <p:spPr>
          <a:xfrm>
            <a:off x="823912" y="1098550"/>
            <a:ext cx="6384925" cy="8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check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predicate</a:t>
            </a:r>
            <a:endParaRPr/>
          </a:p>
        </p:txBody>
      </p:sp>
      <p:sp>
        <p:nvSpPr>
          <p:cNvPr id="153" name="Google Shape;153;p25"/>
          <p:cNvSpPr txBox="1"/>
          <p:nvPr/>
        </p:nvSpPr>
        <p:spPr>
          <a:xfrm>
            <a:off x="1214437" y="1638300"/>
            <a:ext cx="6802437" cy="286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 Declare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as the primary key for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ensure that the values of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assets 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are non-negative.</a:t>
            </a:r>
            <a:endParaRPr b="1" i="0" sz="20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table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b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     </a:t>
            </a: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(15)</a:t>
            </a: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b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branch_city	       </a:t>
            </a: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(30),</a:t>
            </a:r>
            <a:b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assets	            </a:t>
            </a: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integer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b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</a:t>
            </a: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primary key 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b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</a:t>
            </a: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check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assets &gt;= 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0))</a:t>
            </a:r>
            <a:endParaRPr/>
          </a:p>
        </p:txBody>
      </p:sp>
      <p:sp>
        <p:nvSpPr>
          <p:cNvPr id="154" name="Google Shape;154;p25"/>
          <p:cNvSpPr txBox="1"/>
          <p:nvPr/>
        </p:nvSpPr>
        <p:spPr>
          <a:xfrm>
            <a:off x="804862" y="5229225"/>
            <a:ext cx="68008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1465262" y="117475"/>
            <a:ext cx="7380287" cy="5953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check clause (Cont.)</a:t>
            </a:r>
            <a:endParaRPr/>
          </a:p>
        </p:txBody>
      </p:sp>
      <p:sp>
        <p:nvSpPr>
          <p:cNvPr id="160" name="Google Shape;160;p26"/>
          <p:cNvSpPr txBox="1"/>
          <p:nvPr>
            <p:ph idx="1" type="body"/>
          </p:nvPr>
        </p:nvSpPr>
        <p:spPr>
          <a:xfrm>
            <a:off x="841375" y="1135062"/>
            <a:ext cx="7848600" cy="4981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check</a:t>
            </a:r>
            <a:r>
              <a:rPr b="0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clause in SQL-92 permits domains to be restricted: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check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clause to ensure that an hourly_wage domain allows only values greater than a specified value.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domain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hourly_wage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numeric(5,2)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constraint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value_test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check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(hourly_wage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&gt; = 4.00)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domain has a constraint that ensures that the hourly_wage is greater than 4.00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clause </a:t>
            </a:r>
            <a:r>
              <a:rPr b="1" i="0" lang="en-US" sz="2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constraint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value_test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optional; useful to indicate which constraint an update violated.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Referential Integrity</a:t>
            </a:r>
            <a:endParaRPr/>
          </a:p>
        </p:txBody>
      </p:sp>
      <p:sp>
        <p:nvSpPr>
          <p:cNvPr id="166" name="Google Shape;166;p27"/>
          <p:cNvSpPr txBox="1"/>
          <p:nvPr>
            <p:ph idx="1" type="body"/>
          </p:nvPr>
        </p:nvSpPr>
        <p:spPr>
          <a:xfrm>
            <a:off x="841375" y="1135062"/>
            <a:ext cx="7886700" cy="5210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Ensures that a value that appears in one relation for a given set of attributes also appears for a certain set of attributes in another relation.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 If “Perryridge” is a branch name appearing in one of the tuples in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relation, then there exists a tuple in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relation for branch “Perryridge”.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Primary and candidate keys and foreign keys can be specified as part of the SQL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table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statement: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0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primary key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clause lists attributes that comprise the primary key.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0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unique key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clause lists attributes that comprise a candidate key.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0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foreign key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clause lists the attributes that comprise the foreign key and the name of the relation referenced by the foreign key. By default, a foreign key references the primary key attributes of the referenced table.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>
            <p:ph type="title"/>
          </p:nvPr>
        </p:nvSpPr>
        <p:spPr>
          <a:xfrm>
            <a:off x="866775" y="666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Referential Integrity in SQL – Example</a:t>
            </a:r>
            <a:endParaRPr/>
          </a:p>
        </p:txBody>
      </p:sp>
      <p:sp>
        <p:nvSpPr>
          <p:cNvPr id="172" name="Google Shape;172;p28"/>
          <p:cNvSpPr txBox="1"/>
          <p:nvPr>
            <p:ph idx="1" type="body"/>
          </p:nvPr>
        </p:nvSpPr>
        <p:spPr>
          <a:xfrm>
            <a:off x="841375" y="1135062"/>
            <a:ext cx="6564312" cy="4137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table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(20)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customer_street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(30),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customer_city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(30),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primary key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table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(branch_name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(15)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branch_city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(30),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assets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numeric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(12,2),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primary key</a:t>
            </a:r>
            <a:r>
              <a:rPr b="1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/>
          <p:nvPr>
            <p:ph type="title"/>
          </p:nvPr>
        </p:nvSpPr>
        <p:spPr>
          <a:xfrm>
            <a:off x="800100" y="228600"/>
            <a:ext cx="8539162" cy="4270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Referential Integrity in SQL – Example (Cont.)</a:t>
            </a:r>
            <a:endParaRPr/>
          </a:p>
        </p:txBody>
      </p:sp>
      <p:sp>
        <p:nvSpPr>
          <p:cNvPr id="178" name="Google Shape;178;p29"/>
          <p:cNvSpPr txBox="1"/>
          <p:nvPr>
            <p:ph idx="1" type="body"/>
          </p:nvPr>
        </p:nvSpPr>
        <p:spPr>
          <a:xfrm>
            <a:off x="841375" y="1135062"/>
            <a:ext cx="6564312" cy="4138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table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account_number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(10)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(15),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primary key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account_number), 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foreign key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references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b="0" i="1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table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(20)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account_number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(10)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primary key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customer_name, account_number),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foreign key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account_number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references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account,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foreign key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references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Assertions</a:t>
            </a:r>
            <a:endParaRPr/>
          </a:p>
        </p:txBody>
      </p:sp>
      <p:sp>
        <p:nvSpPr>
          <p:cNvPr id="184" name="Google Shape;184;p30"/>
          <p:cNvSpPr txBox="1"/>
          <p:nvPr>
            <p:ph idx="1" type="body"/>
          </p:nvPr>
        </p:nvSpPr>
        <p:spPr>
          <a:xfrm>
            <a:off x="841375" y="1135062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assertion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a predicate expressing a condition that we wish the database always to satisfy.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assertion in SQL takes the form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assertion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&lt;assertion-name&gt;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check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&lt;predicate&gt;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an assertion is made, the system tests it for validity, and tests it again on every update that may violate the assertion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testing may introduce a significant amount of overhead; hence assertions should be used with great care.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Asserting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for all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achieved in a round-about fashion using  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not exists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such that not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0" name="Google Shape;190;p31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assertion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&lt;assertion-name&gt;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check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&lt;predicate&gt;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STUDENT(Roll no, name, Batch)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assertion Batch-size CHECK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(  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( SELECT BATCH , COUNT()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FROM STUDENT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GROUP BY  BATCH HAVING COUNT &lt;=20 )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)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Assertion Example</a:t>
            </a:r>
            <a:endParaRPr/>
          </a:p>
        </p:txBody>
      </p:sp>
      <p:sp>
        <p:nvSpPr>
          <p:cNvPr id="196" name="Google Shape;196;p32"/>
          <p:cNvSpPr txBox="1"/>
          <p:nvPr>
            <p:ph idx="1" type="body"/>
          </p:nvPr>
        </p:nvSpPr>
        <p:spPr>
          <a:xfrm>
            <a:off x="838200" y="1135062"/>
            <a:ext cx="83058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Every loan has at least one borrower who maintains an account with a minimum balance or $1000.00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create assertion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balance_constraint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check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(not exists (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select *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not exists ( 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select *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  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borrower, depositor, 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loan.loan_number = borrower.loan_number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borrower.customer_name = depositor.customer_name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depositor.account_number = account.account_number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account.balance &gt;=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1000)))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Assertion Example</a:t>
            </a:r>
            <a:endParaRPr/>
          </a:p>
        </p:txBody>
      </p:sp>
      <p:sp>
        <p:nvSpPr>
          <p:cNvPr id="202" name="Google Shape;202;p33"/>
          <p:cNvSpPr txBox="1"/>
          <p:nvPr>
            <p:ph idx="1" type="body"/>
          </p:nvPr>
        </p:nvSpPr>
        <p:spPr>
          <a:xfrm>
            <a:off x="841375" y="1135062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6075" lvl="0" marL="3460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sum of all loan amounts for each branch must be less than the sum of all account balances at the branch.</a:t>
            </a:r>
            <a:endParaRPr/>
          </a:p>
          <a:p>
            <a:pPr indent="-346075" lvl="0" marL="346075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create assertion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sum_constraint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check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exists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* 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sum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amount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     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       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loan.branch_name = 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                 branch.branch_name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                 &gt;=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sum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amount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      from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       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loan.branch_name = 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                 branch.branch_name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)))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Authorization</a:t>
            </a:r>
            <a:endParaRPr/>
          </a:p>
        </p:txBody>
      </p:sp>
      <p:sp>
        <p:nvSpPr>
          <p:cNvPr id="208" name="Google Shape;208;p34"/>
          <p:cNvSpPr txBox="1"/>
          <p:nvPr>
            <p:ph idx="4294967295" type="body"/>
          </p:nvPr>
        </p:nvSpPr>
        <p:spPr>
          <a:xfrm>
            <a:off x="841375" y="1135062"/>
            <a:ext cx="81153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Forms of authorization on parts of  the database:</a:t>
            </a:r>
            <a:endParaRPr/>
          </a:p>
          <a:p>
            <a:pPr indent="-342900" lvl="0" marL="342900" marR="0" rtl="0" algn="l">
              <a:lnSpc>
                <a:spcPct val="16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allows reading, but not modification of data.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allows insertion of new data, but not modification of existing data.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Update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allows modification, but not deletion of data.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allows deletion of data.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Forms of authorization to modify the database schema (covered in Chapter 8):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Index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allows creation and deletion of indices.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Resources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allows creation of new relations.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Alteration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allows addition or deletion of attributes in a relation.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Drop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allows deletion of relations.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Authorization Specification in SQL</a:t>
            </a:r>
            <a:endParaRPr/>
          </a:p>
        </p:txBody>
      </p:sp>
      <p:sp>
        <p:nvSpPr>
          <p:cNvPr id="214" name="Google Shape;214;p35"/>
          <p:cNvSpPr txBox="1"/>
          <p:nvPr>
            <p:ph idx="4294967295" type="body"/>
          </p:nvPr>
        </p:nvSpPr>
        <p:spPr>
          <a:xfrm>
            <a:off x="841375" y="1135062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statement is used to confer authorization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&lt;privilege list&gt;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&lt;relation name or view name&gt;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&lt;user list&gt;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&lt;user list&gt; is: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user-id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public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which allows all valid users the privilege granted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role (more on this in Chapter 8)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Granting a privilege on a view does not imply granting any privileges on the underlying relations.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grantor of the privilege must already hold the privilege on the specified item (or be the database administrator).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Privileges in SQL</a:t>
            </a:r>
            <a:endParaRPr/>
          </a:p>
        </p:txBody>
      </p:sp>
      <p:sp>
        <p:nvSpPr>
          <p:cNvPr id="220" name="Google Shape;220;p36"/>
          <p:cNvSpPr txBox="1"/>
          <p:nvPr>
            <p:ph idx="4294967295" type="body"/>
          </p:nvPr>
        </p:nvSpPr>
        <p:spPr>
          <a:xfrm>
            <a:off x="841375" y="1135062"/>
            <a:ext cx="7289800" cy="44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allows read access to relation,or the ability to query using the view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grant users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and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authorization on the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grant select on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U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U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the ability to insert tuples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update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the ability  to update using the SQL update statement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the ability to delete tuples.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privileges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used as a short form for all the allowable privileges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more in Chapter 8</a:t>
            </a:r>
            <a:endParaRPr/>
          </a:p>
          <a:p>
            <a:pPr indent="-240030" lvl="0" marL="3429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Revoking Authorization in SQL</a:t>
            </a:r>
            <a:endParaRPr/>
          </a:p>
        </p:txBody>
      </p:sp>
      <p:sp>
        <p:nvSpPr>
          <p:cNvPr id="226" name="Google Shape;226;p37"/>
          <p:cNvSpPr txBox="1"/>
          <p:nvPr>
            <p:ph idx="4294967295" type="body"/>
          </p:nvPr>
        </p:nvSpPr>
        <p:spPr>
          <a:xfrm>
            <a:off x="841375" y="1135062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revoke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statement is used to revoke authorization.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revoke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&lt;privilege list&gt;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&lt;relation name or view name&gt;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&lt;user list&gt;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revoke select 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 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U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U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privileges that depend on the privilege being revoked are also revoked.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&lt;privilege-list&gt; may be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revoke all privileges the revokee may hold.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the same privilege was granted twice to the same user by different grantees, the user may retain the privilege after the revocation.</a:t>
            </a:r>
            <a:endParaRPr/>
          </a:p>
          <a:p>
            <a:pPr indent="-240030" lvl="0" marL="3429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Embedded SQL</a:t>
            </a:r>
            <a:endParaRPr/>
          </a:p>
        </p:txBody>
      </p:sp>
      <p:sp>
        <p:nvSpPr>
          <p:cNvPr id="232" name="Google Shape;232;p38"/>
          <p:cNvSpPr txBox="1"/>
          <p:nvPr>
            <p:ph idx="1" type="body"/>
          </p:nvPr>
        </p:nvSpPr>
        <p:spPr>
          <a:xfrm>
            <a:off x="841375" y="1135062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SQL standard defines embeddings of SQL in a variety of programming languages such as C, Java, and Cobol.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language to which SQL queries are embedded is referred to as a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host language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and the SQL structures permitted in the host language comprise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embedded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basic form of these languages follows that of the System R embedding of SQL into PL/I.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 SQL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statement is used to identify embedded SQL request to the preprocessor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EXEC SQL &lt;embedded SQL statement &gt; END_EXEC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Note: this varies by language (for example, the Java embedding uses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                                        # SQL { …. }; )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8" name="Google Shape;238;p39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Specify the query in SQL and declare a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cursor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for it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Eg: To find the customer names and their city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EXEC SQL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declare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cursor for 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select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name, city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customer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END_EXEC</a:t>
            </a:r>
            <a:endParaRPr/>
          </a:p>
          <a:p>
            <a:pPr indent="-240030" lvl="0" marL="3429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Query</a:t>
            </a:r>
            <a:endParaRPr/>
          </a:p>
        </p:txBody>
      </p:sp>
      <p:sp>
        <p:nvSpPr>
          <p:cNvPr id="244" name="Google Shape;244;p40"/>
          <p:cNvSpPr txBox="1"/>
          <p:nvPr>
            <p:ph idx="1" type="body"/>
          </p:nvPr>
        </p:nvSpPr>
        <p:spPr>
          <a:xfrm>
            <a:off x="828675" y="2233612"/>
            <a:ext cx="7970837" cy="333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Specify the query in SQL and declare a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cursor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for it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EXEC SQL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declare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cursor for 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depositor.customer_name, customer_city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depositor, customer, 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depositor.customer_name = customer.customer_name        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depositor account_number = account.account_number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account.balance &gt; :amount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END_EXEC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5" name="Google Shape;245;p40"/>
          <p:cNvSpPr txBox="1"/>
          <p:nvPr/>
        </p:nvSpPr>
        <p:spPr>
          <a:xfrm>
            <a:off x="841375" y="1135062"/>
            <a:ext cx="7239000" cy="100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within a host language, find the names and cities of customers with more than the variable </a:t>
            </a:r>
            <a:r>
              <a:rPr b="0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amount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dollars in some account.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Embedded SQL (Cont.)</a:t>
            </a:r>
            <a:endParaRPr/>
          </a:p>
        </p:txBody>
      </p:sp>
      <p:sp>
        <p:nvSpPr>
          <p:cNvPr id="251" name="Google Shape;251;p41"/>
          <p:cNvSpPr txBox="1"/>
          <p:nvPr>
            <p:ph idx="1" type="body"/>
          </p:nvPr>
        </p:nvSpPr>
        <p:spPr>
          <a:xfrm>
            <a:off x="841375" y="1135062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open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statement causes the query to be evaluated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EXEC SQL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b="1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END_EXEC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fetch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statement causes the values of one tuple in the query result to be placed on host language variables.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EXEC SQL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fetch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into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cn, :cc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END_EXEC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Repeated calls to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fetch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get successive tuples in the query result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variable called SQLSTATE in the SQL communication area (SQLCA) gets set to ‘02000’ to indicate no more data is available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close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statement causes the database system to delete the temporary relation that holds the result of the query.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EXEC SQL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close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END_EXEC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Note: above details vary with language.  For example, the Java embedding defines Java iterators to step through result tuples.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Updates Through Cursors</a:t>
            </a:r>
            <a:endParaRPr/>
          </a:p>
        </p:txBody>
      </p:sp>
      <p:sp>
        <p:nvSpPr>
          <p:cNvPr id="257" name="Google Shape;257;p42"/>
          <p:cNvSpPr txBox="1"/>
          <p:nvPr/>
        </p:nvSpPr>
        <p:spPr>
          <a:xfrm>
            <a:off x="841375" y="1135062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update tuples fetched by cursor by declaring that the cursor is for update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declare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cursor for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select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‘Perryridge’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update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update tuple at the current location of cursor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 b="1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update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 = balance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+ 100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current of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Dynamic SQL</a:t>
            </a:r>
            <a:endParaRPr/>
          </a:p>
        </p:txBody>
      </p:sp>
      <p:sp>
        <p:nvSpPr>
          <p:cNvPr id="264" name="Google Shape;264;p43"/>
          <p:cNvSpPr txBox="1"/>
          <p:nvPr>
            <p:ph idx="1" type="body"/>
          </p:nvPr>
        </p:nvSpPr>
        <p:spPr>
          <a:xfrm>
            <a:off x="841375" y="1135062"/>
            <a:ext cx="782955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Allows programs to construct and submit SQL queries at run time.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of the use of dynamic SQL from within a C program.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 *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sqlprog = “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update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 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balance = balance *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1.05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account_number = ?”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 SQL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prepare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dynprog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:sqlprog;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account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[10] = “A-101”;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 SQL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execute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dynprog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using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:account;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dynamic SQL program contains a ?, which is a place holder for a value that is provided when the SQL program is executed.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ODBC and JDBC</a:t>
            </a:r>
            <a:endParaRPr/>
          </a:p>
        </p:txBody>
      </p:sp>
      <p:sp>
        <p:nvSpPr>
          <p:cNvPr id="270" name="Google Shape;270;p44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API (application-program interface) for a program to interact with a database server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Application makes calls to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Connect with the database server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Send SQL commands to the database server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Fetch tuples of result one-by-one into program variables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ODBC (Open Database Connectivity) works with C, C++, C#, and Visual Basic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JDBC (Java Database Connectivity) works with Java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ODBC</a:t>
            </a:r>
            <a:endParaRPr/>
          </a:p>
        </p:txBody>
      </p:sp>
      <p:sp>
        <p:nvSpPr>
          <p:cNvPr id="276" name="Google Shape;276;p45"/>
          <p:cNvSpPr txBox="1"/>
          <p:nvPr>
            <p:ph idx="4294967295" type="body"/>
          </p:nvPr>
        </p:nvSpPr>
        <p:spPr>
          <a:xfrm>
            <a:off x="841375" y="1135062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Open DataBase Connectivity(ODBC) standard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standard for application program to communicate with a database server.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application program interface (API) to 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open a connection with a database, 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send queries and updates, 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get back results.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Applications such as GUI, spreadsheets, etc. can use ODBC</a:t>
            </a:r>
            <a:endParaRPr/>
          </a:p>
          <a:p>
            <a:pPr indent="-240030" lvl="0" marL="3429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ODBC  (Cont.)</a:t>
            </a:r>
            <a:endParaRPr/>
          </a:p>
        </p:txBody>
      </p:sp>
      <p:sp>
        <p:nvSpPr>
          <p:cNvPr id="282" name="Google Shape;282;p46"/>
          <p:cNvSpPr txBox="1"/>
          <p:nvPr>
            <p:ph idx="4294967295" type="body"/>
          </p:nvPr>
        </p:nvSpPr>
        <p:spPr>
          <a:xfrm>
            <a:off x="841375" y="1135062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database system supporting ODBC provides a "driver" library that must be linked with the client program.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client program makes an ODBC API call, the code in the library communicates with the server to carry out the requested action, and fetch results.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ODBC program first allocates an SQL environment, then a database connection handle.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Opens database connection using SQLConnect().  Parameters for SQLConnect: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connection handle,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server to which to connect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user identifier,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password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Must also specify types of arguments: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SQL_NTS denotes previous argument is a null-terminated string.</a:t>
            </a:r>
            <a:endParaRPr/>
          </a:p>
          <a:p>
            <a:pPr indent="-251459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7"/>
          <p:cNvSpPr txBox="1"/>
          <p:nvPr>
            <p:ph type="title"/>
          </p:nvPr>
        </p:nvSpPr>
        <p:spPr>
          <a:xfrm>
            <a:off x="552450" y="-95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ODBC Code</a:t>
            </a:r>
            <a:endParaRPr/>
          </a:p>
        </p:txBody>
      </p:sp>
      <p:sp>
        <p:nvSpPr>
          <p:cNvPr id="288" name="Google Shape;288;p47"/>
          <p:cNvSpPr txBox="1"/>
          <p:nvPr>
            <p:ph idx="4294967295" type="body"/>
          </p:nvPr>
        </p:nvSpPr>
        <p:spPr>
          <a:xfrm>
            <a:off x="876300" y="1135062"/>
            <a:ext cx="82677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 ODBCexample()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{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RETCODE error;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HENV    env;     /* environment */ 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HDBC    conn;  /* database connection */ 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SQLAllocEnv(&amp;env);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SQLAllocConnect(env, &amp;conn);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SQLConnect(conn, "aura.bell-labs.com", SQL_NTS, "avi", SQL_NTS, "avipasswd", SQL_NTS); 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{ …. Do actual work … }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SQLDisconnect(conn); 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SQLFreeConnect(conn); 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SQLFreeEnv(env);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}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ODBC Code (Cont.)</a:t>
            </a:r>
            <a:endParaRPr/>
          </a:p>
        </p:txBody>
      </p:sp>
      <p:sp>
        <p:nvSpPr>
          <p:cNvPr id="294" name="Google Shape;294;p48"/>
          <p:cNvSpPr txBox="1"/>
          <p:nvPr>
            <p:ph idx="1" type="body"/>
          </p:nvPr>
        </p:nvSpPr>
        <p:spPr>
          <a:xfrm>
            <a:off x="841375" y="1135062"/>
            <a:ext cx="8026400" cy="5545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Program sends SQL commands to the database by using SQLExecDirect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 tuples are fetched using SQLFetch()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SQLBindCol() binds C language variables to attributes of the query result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a tuple is fetched, its attribute values are automatically stored in corresponding C variables.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Arguments to SQLBindCol()</a:t>
            </a:r>
            <a:endParaRPr/>
          </a:p>
          <a:p>
            <a:pPr indent="-228600" lvl="2" marL="10858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CC33"/>
              </a:buClr>
              <a:buSzPts val="1200"/>
              <a:buFont typeface="Arimo"/>
              <a:buChar char="4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ODBC stmt variable, attribute position in query result</a:t>
            </a:r>
            <a:endParaRPr/>
          </a:p>
          <a:p>
            <a:pPr indent="-228600" lvl="2" marL="10858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CC33"/>
              </a:buClr>
              <a:buSzPts val="1200"/>
              <a:buFont typeface="Arimo"/>
              <a:buChar char="4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type conversion from SQL to C.  </a:t>
            </a:r>
            <a:endParaRPr/>
          </a:p>
          <a:p>
            <a:pPr indent="-228600" lvl="2" marL="10858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CC33"/>
              </a:buClr>
              <a:buSzPts val="1200"/>
              <a:buFont typeface="Arimo"/>
              <a:buChar char="4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address of the variable. </a:t>
            </a:r>
            <a:endParaRPr/>
          </a:p>
          <a:p>
            <a:pPr indent="-228600" lvl="2" marL="10858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CC33"/>
              </a:buClr>
              <a:buSzPts val="1200"/>
              <a:buFont typeface="Arimo"/>
              <a:buChar char="4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variable-length types like character arrays, </a:t>
            </a:r>
            <a:endParaRPr/>
          </a:p>
          <a:p>
            <a:pPr indent="-228600" lvl="3" marL="14287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Helvetica Neue"/>
              <a:buChar char="–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maximum length of the variable </a:t>
            </a:r>
            <a:endParaRPr/>
          </a:p>
          <a:p>
            <a:pPr indent="-228600" lvl="3" marL="14287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Helvetica Neue"/>
              <a:buChar char="–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Location to store actual length when a tuple is fetched.</a:t>
            </a:r>
            <a:endParaRPr/>
          </a:p>
          <a:p>
            <a:pPr indent="-228600" lvl="3" marL="14287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Helvetica Neue"/>
              <a:buChar char="–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Note: A negative value returned for the length field indicates null value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Good programming requires checking results of every function call for errors; we have omitted most checks for brevity.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ODBC Code (Cont.)</a:t>
            </a:r>
            <a:endParaRPr/>
          </a:p>
        </p:txBody>
      </p:sp>
      <p:sp>
        <p:nvSpPr>
          <p:cNvPr id="300" name="Google Shape;300;p49"/>
          <p:cNvSpPr txBox="1"/>
          <p:nvPr>
            <p:ph idx="1" type="body"/>
          </p:nvPr>
        </p:nvSpPr>
        <p:spPr>
          <a:xfrm>
            <a:off x="887412" y="1135062"/>
            <a:ext cx="8356600" cy="559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Main body of program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 branchname[80];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float  balance;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  lenOut1, lenOut2;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HSTMT   stmt; 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SQLAllocStmt(conn, &amp;stmt);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 * sqlquery = "select branch_name, sum (balance) 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from account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group by branch_name";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error = SQLExecDirect(stmt, sqlquery, SQL_NTS);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if (error == SQL_SUCCESS) {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SQLBindCol(stmt, 1, SQL_C_CHAR,   branchname , 80, &amp;lenOut1);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SQLBindCol(stmt, 2, SQL_C_FLOAT, &amp;balance,         0 , &amp;lenOut2);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while (SQLFetch(stmt) &gt;= SQL_SUCCESS) {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printf (" %s  %g\n", branchname, balance);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}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}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SQLFreeStmt(stmt, SQL_DROP); 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0"/>
          <p:cNvSpPr txBox="1"/>
          <p:nvPr>
            <p:ph type="title"/>
          </p:nvPr>
        </p:nvSpPr>
        <p:spPr>
          <a:xfrm>
            <a:off x="552450" y="857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More ODBC Features</a:t>
            </a:r>
            <a:endParaRPr/>
          </a:p>
        </p:txBody>
      </p:sp>
      <p:sp>
        <p:nvSpPr>
          <p:cNvPr id="306" name="Google Shape;306;p50"/>
          <p:cNvSpPr txBox="1"/>
          <p:nvPr>
            <p:ph idx="4294967295" type="body"/>
          </p:nvPr>
        </p:nvSpPr>
        <p:spPr>
          <a:xfrm>
            <a:off x="841375" y="1162050"/>
            <a:ext cx="8515350" cy="5695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Prepared Statement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 statement prepared: compiled at the database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have placeholders:  E.g.  insert into account values(?,?,?)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Repeatedly executed with actual values for the placeholders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Metadata features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finding all the relations in the database and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finding the names and types of columns of a query result or a relation in the database.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By default, each SQL statement is treated as a separate transaction that is committed automatically.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turn off automatic commit on a connection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SQLSetConnectOption(conn, SQL_AUTOCOMMIT, 0)}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transactions must then be committed or rolled back explicitly by 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SQLTransact(conn, SQL_COMMIT) or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SQLTransact(conn, SQL_ROLLBACK)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ODBC Conformance Levels</a:t>
            </a:r>
            <a:endParaRPr/>
          </a:p>
        </p:txBody>
      </p:sp>
      <p:sp>
        <p:nvSpPr>
          <p:cNvPr id="312" name="Google Shape;312;p51"/>
          <p:cNvSpPr txBox="1"/>
          <p:nvPr>
            <p:ph idx="4294967295" type="body"/>
          </p:nvPr>
        </p:nvSpPr>
        <p:spPr>
          <a:xfrm>
            <a:off x="841375" y="1135062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Conformance levels specify subsets of the functionality defined by the standard.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Level 1 requires support for metadata querying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Level 2 requires ability to send and retrieve arrays of parameter values and more detailed catalog information.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 Call Level Interface (CLI) standard similar to ODBC interface, but with some minor differences.</a:t>
            </a:r>
            <a:endParaRPr/>
          </a:p>
          <a:p>
            <a:pPr indent="-240030" lvl="0" marL="3429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JDBC</a:t>
            </a:r>
            <a:endParaRPr/>
          </a:p>
        </p:txBody>
      </p:sp>
      <p:sp>
        <p:nvSpPr>
          <p:cNvPr id="318" name="Google Shape;318;p52"/>
          <p:cNvSpPr txBox="1"/>
          <p:nvPr>
            <p:ph idx="1" type="body"/>
          </p:nvPr>
        </p:nvSpPr>
        <p:spPr>
          <a:xfrm>
            <a:off x="841375" y="1135062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JDBC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Java API for communicating with database systems supporting SQL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JDBC supports a variety of features for querying and updating data, and for retrieving query results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JDBC also supports metadata retrieval, such as querying about relations present in the database and the names and types of relation attributes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 for communicating with the database: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Open a connection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a “statement” object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Execute queries using the Statement object to send queries and fetch results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Exception mechanism to handle errors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JDBC Code</a:t>
            </a:r>
            <a:endParaRPr/>
          </a:p>
        </p:txBody>
      </p:sp>
      <p:sp>
        <p:nvSpPr>
          <p:cNvPr id="324" name="Google Shape;324;p53"/>
          <p:cNvSpPr txBox="1"/>
          <p:nvPr>
            <p:ph idx="4294967295" type="body"/>
          </p:nvPr>
        </p:nvSpPr>
        <p:spPr>
          <a:xfrm>
            <a:off x="841375" y="1135062"/>
            <a:ext cx="8534400" cy="523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public static void JDBCexample(String dbid, String userid, String passwd)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None/>
            </a:pPr>
            <a:r>
              <a:rPr b="1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{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try { 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CC33"/>
              </a:buClr>
              <a:buSzPts val="1200"/>
              <a:buFont typeface="Arimo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Class.forName ("oracle.jdbc.driver.OracleDriver"); 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CC33"/>
              </a:buClr>
              <a:buSzPts val="1200"/>
              <a:buFont typeface="Arimo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Connection conn = DriverManager.getConnection(   "jdbc:oracle:thin:@aura.bell-labs.com:2000:bankdb", userid, passwd);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Statement stmt = conn.createStatement();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… Do Actual Work ….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stmt.close();	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conn.close();	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}		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catch (SQLException sqle) { 		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System.out.println("SQLException : " + sqle);		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}		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None/>
            </a:pPr>
            <a:r>
              <a:rPr b="1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}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JDBC Code (Cont.)</a:t>
            </a:r>
            <a:endParaRPr/>
          </a:p>
        </p:txBody>
      </p:sp>
      <p:sp>
        <p:nvSpPr>
          <p:cNvPr id="330" name="Google Shape;330;p54"/>
          <p:cNvSpPr txBox="1"/>
          <p:nvPr>
            <p:ph idx="1" type="body"/>
          </p:nvPr>
        </p:nvSpPr>
        <p:spPr>
          <a:xfrm>
            <a:off x="841375" y="1135062"/>
            <a:ext cx="8129587" cy="5341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Update to database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try {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stmt.executeUpdate(  "insert into account values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        ('A-9732', 'Perryridge', 1200)");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} catch (SQLException sqle) {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System.out.println("Could not insert tuple. " + sqle);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}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Execute query and fetch and print results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ResultSet rset = stmt.executeQuery( "select branch_name, avg(balance)  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                        from account 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                        group by branch_name");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while (rset.next()) {		</a:t>
            </a:r>
            <a:endParaRPr/>
          </a:p>
          <a:p>
            <a:pPr indent="-228600" lvl="2" marL="10858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35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System.out.println(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rset.getString("branch_name") + "  " + rset.getFloat(2));	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}		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JDBC Code Details       </a:t>
            </a:r>
            <a:endParaRPr/>
          </a:p>
        </p:txBody>
      </p:sp>
      <p:sp>
        <p:nvSpPr>
          <p:cNvPr id="336" name="Google Shape;336;p55"/>
          <p:cNvSpPr txBox="1"/>
          <p:nvPr>
            <p:ph idx="1" type="body"/>
          </p:nvPr>
        </p:nvSpPr>
        <p:spPr>
          <a:xfrm>
            <a:off x="841375" y="1135062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Getting result fields: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rs.getString(“branchname”) and rs.getString(1) equivalent if branchname is the first argument of select result.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Dealing with Null values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 a = rs.getInt(“a”);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(rs.wasNull()) Systems.out.println(“Got null value”);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6"/>
          <p:cNvSpPr txBox="1"/>
          <p:nvPr>
            <p:ph type="title"/>
          </p:nvPr>
        </p:nvSpPr>
        <p:spPr>
          <a:xfrm>
            <a:off x="990600" y="-419100"/>
            <a:ext cx="8077200" cy="10572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Procedural Extensions and Stored Procedures</a:t>
            </a:r>
            <a:endParaRPr/>
          </a:p>
        </p:txBody>
      </p:sp>
      <p:sp>
        <p:nvSpPr>
          <p:cNvPr id="342" name="Google Shape;342;p56"/>
          <p:cNvSpPr txBox="1"/>
          <p:nvPr>
            <p:ph idx="4294967295" type="body"/>
          </p:nvPr>
        </p:nvSpPr>
        <p:spPr>
          <a:xfrm>
            <a:off x="841375" y="1135062"/>
            <a:ext cx="7921625" cy="434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 provides a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module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language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Permits definition of procedures in SQL, with if-then-else statements, for and while loops, etc.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more in Chapter 9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Stored Procedures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store procedures in the database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 execute them using the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call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statement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permit external applications to operate on the database without knowing about internal details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These features are covered in Chapter 9 (Object Relational Databases)</a:t>
            </a:r>
            <a:endParaRPr/>
          </a:p>
          <a:p>
            <a:pPr indent="-240030" lvl="0" marL="3429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Functions and Procedures</a:t>
            </a:r>
            <a:endParaRPr/>
          </a:p>
        </p:txBody>
      </p:sp>
      <p:sp>
        <p:nvSpPr>
          <p:cNvPr id="348" name="Google Shape;348;p57"/>
          <p:cNvSpPr txBox="1"/>
          <p:nvPr>
            <p:ph idx="1" type="body"/>
          </p:nvPr>
        </p:nvSpPr>
        <p:spPr>
          <a:xfrm>
            <a:off x="841375" y="1135062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SQL:1999 supports functions and procedures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Functions/procedures can be written in SQL itself, or in an external programming language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Functions are particularly useful with specialized data types such as images and geometric objects</a:t>
            </a:r>
            <a:endParaRPr/>
          </a:p>
          <a:p>
            <a:pPr indent="-228600" lvl="2" marL="10858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functions to check if polygons overlap, or to compare images for similarity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Some database systems support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table-valued functions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which can return a relation as a result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SQL:1999 also supports a rich set of imperative constructs, including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Loops, if-then-else, assignment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Many databases have proprietary procedural extensions to SQL that differ from SQL:1999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 Functions</a:t>
            </a:r>
            <a:endParaRPr/>
          </a:p>
        </p:txBody>
      </p:sp>
      <p:sp>
        <p:nvSpPr>
          <p:cNvPr id="354" name="Google Shape;354;p58"/>
          <p:cNvSpPr txBox="1"/>
          <p:nvPr>
            <p:ph idx="1" type="body"/>
          </p:nvPr>
        </p:nvSpPr>
        <p:spPr>
          <a:xfrm>
            <a:off x="841375" y="1135062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Define a function that, given the name of a customer, returns the count of the number of accounts owned by the customer.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1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function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account_count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varchar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(20))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returns integer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begin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declare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a_count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integer;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select count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a_count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depositor.customer_name = customer_name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return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a_count;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name and address of each customer that has more than one account.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customer_name, customer_street, customer_city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customer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account_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count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&gt; 1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Table Functions</a:t>
            </a:r>
            <a:endParaRPr/>
          </a:p>
        </p:txBody>
      </p:sp>
      <p:sp>
        <p:nvSpPr>
          <p:cNvPr id="360" name="Google Shape;360;p59"/>
          <p:cNvSpPr txBox="1"/>
          <p:nvPr>
            <p:ph idx="1" type="body"/>
          </p:nvPr>
        </p:nvSpPr>
        <p:spPr>
          <a:xfrm>
            <a:off x="681037" y="857250"/>
            <a:ext cx="7794625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SQL:2003 added functions that return a relation as a result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Return all accounts owned by a given customer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function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accounts_of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(20)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returns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 	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account_number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(10),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(15)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numeric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(12,2))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return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table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account_number, branch_name, balance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 A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exists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*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 D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D.customer_name = accounts_of.customer_name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D.account_number = A.account_number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))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6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Table Functions (cont’d)</a:t>
            </a:r>
            <a:endParaRPr/>
          </a:p>
        </p:txBody>
      </p:sp>
      <p:sp>
        <p:nvSpPr>
          <p:cNvPr id="366" name="Google Shape;366;p60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Usage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*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from table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accounts_of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(‘Smith’))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1"/>
          <p:cNvSpPr txBox="1"/>
          <p:nvPr>
            <p:ph type="title"/>
          </p:nvPr>
        </p:nvSpPr>
        <p:spPr>
          <a:xfrm>
            <a:off x="1009650" y="666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 Procedures</a:t>
            </a:r>
            <a:endParaRPr/>
          </a:p>
        </p:txBody>
      </p:sp>
      <p:sp>
        <p:nvSpPr>
          <p:cNvPr id="372" name="Google Shape;372;p61"/>
          <p:cNvSpPr txBox="1"/>
          <p:nvPr>
            <p:ph idx="4294967295" type="body"/>
          </p:nvPr>
        </p:nvSpPr>
        <p:spPr>
          <a:xfrm>
            <a:off x="841375" y="1135062"/>
            <a:ext cx="8054975" cy="5281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author_count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function could instead be written as procedure: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create procedure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account_count_proc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title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varchar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(20),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              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a_count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integer)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begin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select count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author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a_count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depositor.customer_name = account_count_proc.customer_name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Procedures can be invoked either from an SQL procedure or from embedded SQL, using the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call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statement.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declare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a_count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call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account_count_proc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 ‘Smith’,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a_count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Procedures and functions can be invoked also from dynamic SQL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SQL:1999 allows more than one function/procedure of the same name (called name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overloading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as long as the number of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arguments differ, or at least the types of the arguments differ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Procedural Constructs</a:t>
            </a:r>
            <a:endParaRPr/>
          </a:p>
        </p:txBody>
      </p:sp>
      <p:sp>
        <p:nvSpPr>
          <p:cNvPr id="378" name="Google Shape;378;p62"/>
          <p:cNvSpPr txBox="1"/>
          <p:nvPr>
            <p:ph idx="4294967295" type="body"/>
          </p:nvPr>
        </p:nvSpPr>
        <p:spPr>
          <a:xfrm>
            <a:off x="841375" y="1135062"/>
            <a:ext cx="8364537" cy="572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Compound statement: </a:t>
            </a:r>
            <a:r>
              <a:rPr b="1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begin … end</a:t>
            </a: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May contain multiple SQL statements between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begin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and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end</a:t>
            </a: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Local variables can be declared within a compound statements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While </a:t>
            </a: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and </a:t>
            </a:r>
            <a:r>
              <a:rPr b="1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repeat</a:t>
            </a: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statements:</a:t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declare </a:t>
            </a:r>
            <a:r>
              <a:rPr b="0" i="1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 </a:t>
            </a:r>
            <a:r>
              <a:rPr b="1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integer default </a:t>
            </a: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0;</a:t>
            </a:r>
            <a:endParaRPr/>
          </a:p>
          <a:p>
            <a:pPr indent="-342900" lvl="0" marL="342900" marR="0" rtl="0" algn="l">
              <a:lnSpc>
                <a:spcPct val="7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while </a:t>
            </a:r>
            <a:r>
              <a:rPr b="0" i="1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 </a:t>
            </a: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&lt; 10 </a:t>
            </a:r>
            <a:r>
              <a:rPr b="1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do</a:t>
            </a:r>
            <a:endParaRPr/>
          </a:p>
          <a:p>
            <a:pPr indent="-285750" lvl="1" marL="742950" marR="0" rtl="0" algn="l">
              <a:lnSpc>
                <a:spcPct val="7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    set </a:t>
            </a:r>
            <a:r>
              <a:rPr b="0" i="1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b="0" i="1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+ 1</a:t>
            </a:r>
            <a:endParaRPr/>
          </a:p>
          <a:p>
            <a:pPr indent="-342900" lvl="0" marL="342900" marR="0" rtl="0" algn="l">
              <a:lnSpc>
                <a:spcPct val="7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end while</a:t>
            </a:r>
            <a:br>
              <a:rPr b="1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342900" lvl="0" marL="342900" marR="0" rtl="0" algn="l">
              <a:lnSpc>
                <a:spcPct val="7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repeat</a:t>
            </a:r>
            <a:endParaRPr/>
          </a:p>
          <a:p>
            <a:pPr indent="-285750" lvl="1" marL="742950" marR="0" rtl="0" algn="l">
              <a:lnSpc>
                <a:spcPct val="7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set </a:t>
            </a:r>
            <a:r>
              <a:rPr b="0" i="1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b="0" i="1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 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– 1</a:t>
            </a:r>
            <a:endParaRPr/>
          </a:p>
          <a:p>
            <a:pPr indent="-342900" lvl="0" marL="342900" marR="0" rtl="0" algn="l">
              <a:lnSpc>
                <a:spcPct val="7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until </a:t>
            </a:r>
            <a:r>
              <a:rPr b="0" i="1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= 0</a:t>
            </a:r>
            <a:endParaRPr/>
          </a:p>
          <a:p>
            <a:pPr indent="-342900" lvl="0" marL="342900" marR="0" rtl="0" algn="l">
              <a:lnSpc>
                <a:spcPct val="7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end repeat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Procedural Constructs (Cont.)</a:t>
            </a:r>
            <a:endParaRPr/>
          </a:p>
        </p:txBody>
      </p:sp>
      <p:sp>
        <p:nvSpPr>
          <p:cNvPr id="384" name="Google Shape;384;p63"/>
          <p:cNvSpPr txBox="1"/>
          <p:nvPr>
            <p:ph idx="1" type="body"/>
          </p:nvPr>
        </p:nvSpPr>
        <p:spPr>
          <a:xfrm>
            <a:off x="841375" y="1135062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</a:t>
            </a: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loop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Permits iteration over all results of a query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Example: find total of all balances at the Perryridge branch</a:t>
            </a:r>
            <a:b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declare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integer default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0;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‘Perryridge’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set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 r.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 for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Procedural Constructs (cont.)</a:t>
            </a:r>
            <a:endParaRPr/>
          </a:p>
        </p:txBody>
      </p:sp>
      <p:sp>
        <p:nvSpPr>
          <p:cNvPr id="390" name="Google Shape;390;p64"/>
          <p:cNvSpPr txBox="1"/>
          <p:nvPr>
            <p:ph idx="4294967295" type="body"/>
          </p:nvPr>
        </p:nvSpPr>
        <p:spPr>
          <a:xfrm>
            <a:off x="841375" y="1135062"/>
            <a:ext cx="79883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Conditional statements  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if-then-else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To find sum of balances for each of three categories of accounts (with balance &lt;1000, &gt;=1000 and &lt;5000, &gt;= 5000)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if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 1000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 set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elseif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1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 5000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 set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else set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 if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SQL:1999 also supports a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case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statement similar to C case statement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Signaling of exception conditions, and declaring handlers for exceptions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declare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out_of_stock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condition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declare exit handler for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out_of_stock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begin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..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signal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out-of-stock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handler here is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exit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-- causes enclosing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begin..end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to be exited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Other actions possible on exception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6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External Language Functions/Procedures</a:t>
            </a:r>
            <a:endParaRPr/>
          </a:p>
        </p:txBody>
      </p:sp>
      <p:sp>
        <p:nvSpPr>
          <p:cNvPr id="396" name="Google Shape;396;p65"/>
          <p:cNvSpPr txBox="1"/>
          <p:nvPr>
            <p:ph idx="1" type="body"/>
          </p:nvPr>
        </p:nvSpPr>
        <p:spPr>
          <a:xfrm>
            <a:off x="841375" y="1135062"/>
            <a:ext cx="8056562" cy="4729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SQL:1999 permits the use of functions and procedures written in other languages such as C or C++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Declaring external language procedures and functions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procedure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account_count_proc(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varchar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(20),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             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count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language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external 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’ /usr/avi/bin/account_count_proc’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function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account_count(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varchar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(20))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returns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integer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language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external 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‘/usr/avi/bin/author_count’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External Language Routines (Cont.)</a:t>
            </a:r>
            <a:endParaRPr/>
          </a:p>
        </p:txBody>
      </p:sp>
      <p:sp>
        <p:nvSpPr>
          <p:cNvPr id="402" name="Google Shape;402;p66"/>
          <p:cNvSpPr txBox="1"/>
          <p:nvPr>
            <p:ph idx="4294967295" type="body"/>
          </p:nvPr>
        </p:nvSpPr>
        <p:spPr>
          <a:xfrm>
            <a:off x="841375" y="1135062"/>
            <a:ext cx="79375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Benefits of external language functions/procedures: 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more efficient for many operations, and more expressive power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Drawbacks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 to implement function may need to be loaded into database system and executed in the database system’s address space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risk of accidental corruption of database structures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security risk, allowing users access to unauthorized data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There are alternatives, which give good security at the cost of potentially worse performance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Direct execution in the database system’s space is used when efficiency is more important than security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Security with External Language Routines</a:t>
            </a:r>
            <a:endParaRPr/>
          </a:p>
        </p:txBody>
      </p:sp>
      <p:sp>
        <p:nvSpPr>
          <p:cNvPr id="408" name="Google Shape;408;p67"/>
          <p:cNvSpPr txBox="1"/>
          <p:nvPr>
            <p:ph idx="1" type="body"/>
          </p:nvPr>
        </p:nvSpPr>
        <p:spPr>
          <a:xfrm>
            <a:off x="841375" y="1135062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deal with security problems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sandbox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techniques</a:t>
            </a:r>
            <a:endParaRPr/>
          </a:p>
          <a:p>
            <a:pPr indent="-228600" lvl="2" marL="10858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that is use a safe language like Java, which cannot be used to access/damage other parts of the database code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Or, run external language functions/procedures in a separate process, with no access to the database process’ memory</a:t>
            </a:r>
            <a:endParaRPr/>
          </a:p>
          <a:p>
            <a:pPr indent="-228600" lvl="2" marL="10858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Parameters and results communicated via inter-process communication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Both have performance overheads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Many database systems support both above approaches as well as direct executing in database system address space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Recursion in SQL</a:t>
            </a:r>
            <a:endParaRPr/>
          </a:p>
        </p:txBody>
      </p:sp>
      <p:sp>
        <p:nvSpPr>
          <p:cNvPr id="414" name="Google Shape;414;p68"/>
          <p:cNvSpPr txBox="1"/>
          <p:nvPr>
            <p:ph idx="1" type="body"/>
          </p:nvPr>
        </p:nvSpPr>
        <p:spPr>
          <a:xfrm>
            <a:off x="871537" y="1165225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SQL:1999 permits recursive view definition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find all employee-manager pairs, where the employee reports to the manager directly or indirectly (that is manager’s manager, manager’s manager’s manager, etc.)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 recursive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employee_name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manager_name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employee_name, manager_name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manager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union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manager.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employee_name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manager_name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manager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manager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manager_name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loye_name)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*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example view,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empl,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called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transitive closure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manager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Power of Recursion</a:t>
            </a:r>
            <a:endParaRPr/>
          </a:p>
        </p:txBody>
      </p:sp>
      <p:sp>
        <p:nvSpPr>
          <p:cNvPr id="420" name="Google Shape;420;p69"/>
          <p:cNvSpPr txBox="1"/>
          <p:nvPr>
            <p:ph idx="1" type="body"/>
          </p:nvPr>
        </p:nvSpPr>
        <p:spPr>
          <a:xfrm>
            <a:off x="871537" y="1165225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Recursive views make it possible to write queries, such as transitive closure queries, that cannot be written without recursion or iteration.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Intuition:  Without recursion, a non-recursive non-iterative program can perform only a fixed number of joins of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manager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with itself</a:t>
            </a:r>
            <a:endParaRPr/>
          </a:p>
          <a:p>
            <a:pPr indent="-228600" lvl="2" marL="10858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can give only a fixed number of levels of managers</a:t>
            </a:r>
            <a:endParaRPr/>
          </a:p>
          <a:p>
            <a:pPr indent="-228600" lvl="2" marL="10858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a program we can construct a database with a greater number of levels of managers on which the program will not work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Computing transitive closure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next slide shows a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manager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relation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step of the iterative process constructs an extended version of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its recursive definition. 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final result is called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fixed point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the recursive view definition.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Recursive views are required to be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monotonic. 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That is, if we add tuples 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manger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the view contains all of the tuples it contained before, plus possibly more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70"/>
          <p:cNvSpPr txBox="1"/>
          <p:nvPr>
            <p:ph type="title"/>
          </p:nvPr>
        </p:nvSpPr>
        <p:spPr>
          <a:xfrm>
            <a:off x="962025" y="730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of Fixed-Point Computation</a:t>
            </a:r>
            <a:endParaRPr/>
          </a:p>
        </p:txBody>
      </p:sp>
      <p:pic>
        <p:nvPicPr>
          <p:cNvPr id="426" name="Google Shape;426;p70"/>
          <p:cNvPicPr preferRelativeResize="0"/>
          <p:nvPr/>
        </p:nvPicPr>
        <p:blipFill rotWithShape="1">
          <a:blip r:embed="rId3">
            <a:alphaModFix/>
          </a:blip>
          <a:srcRect b="4022" l="463" r="697" t="3715"/>
          <a:stretch/>
        </p:blipFill>
        <p:spPr>
          <a:xfrm>
            <a:off x="2938462" y="1165225"/>
            <a:ext cx="3222625" cy="2255837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427" name="Google Shape;427;p70"/>
          <p:cNvPicPr preferRelativeResize="0"/>
          <p:nvPr/>
        </p:nvPicPr>
        <p:blipFill rotWithShape="1">
          <a:blip r:embed="rId4">
            <a:alphaModFix/>
          </a:blip>
          <a:srcRect b="35525" l="592" r="591" t="35000"/>
          <a:stretch/>
        </p:blipFill>
        <p:spPr>
          <a:xfrm>
            <a:off x="806450" y="3987800"/>
            <a:ext cx="7664450" cy="171450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7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Advanced SQL Features**</a:t>
            </a:r>
            <a:endParaRPr/>
          </a:p>
        </p:txBody>
      </p:sp>
      <p:sp>
        <p:nvSpPr>
          <p:cNvPr id="433" name="Google Shape;433;p71"/>
          <p:cNvSpPr txBox="1"/>
          <p:nvPr>
            <p:ph idx="1" type="body"/>
          </p:nvPr>
        </p:nvSpPr>
        <p:spPr>
          <a:xfrm>
            <a:off x="814387" y="1093787"/>
            <a:ext cx="8032750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a table with the same schema as an existing table: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table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temp_account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like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SQL:2003 allows subqueries to occur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anywhere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 value is required provided the subquery returns only one value.  This applies to updates as well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SQL:2003 allows subqueries in the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clause to access attributes of other relations in the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clause using the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lateral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construct: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C.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customer_name, num_accounts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 C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lateral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(*)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	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		   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A.customer_name = C.customer_name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this_customer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num_accounts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)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7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Advanced SQL Features (cont’d)</a:t>
            </a:r>
            <a:endParaRPr/>
          </a:p>
        </p:txBody>
      </p:sp>
      <p:sp>
        <p:nvSpPr>
          <p:cNvPr id="439" name="Google Shape;439;p72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Merge construct allows batch processing of updates.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relation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funds_received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account_number, amount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has batch of deposits to be added to the proper account in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relation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merge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into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using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*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	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funds_received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(A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.account_number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F.account_number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matched then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update set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balance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F.amount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7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TRIGGERS</a:t>
            </a:r>
            <a:endParaRPr/>
          </a:p>
        </p:txBody>
      </p:sp>
      <p:sp>
        <p:nvSpPr>
          <p:cNvPr id="445" name="Google Shape;445;p73"/>
          <p:cNvSpPr txBox="1"/>
          <p:nvPr>
            <p:ph idx="1" type="body"/>
          </p:nvPr>
        </p:nvSpPr>
        <p:spPr>
          <a:xfrm>
            <a:off x="0" y="1093787"/>
            <a:ext cx="9144000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OR REPLACE TRIGGER  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BEFORE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OR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UPDATE OF salary, department_id OR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ON 	employees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BEGIN CASE 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WHEN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INSERTING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THEN DBMS_OUTPUT.PUT_LINE('Inserting');  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WHEN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UPDATING('salary')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THEN DBMS_OUTPUT.PUT_LINE('Updating salary');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WHEN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UPDATING('department_id')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THEN DBMS_OUTPUT.PUT_LINE('Updating 	department ID'); 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WHEN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DELETING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THEN DBMS_OUTPUT.PUT_LINE('Deleting'); END CASE; END; /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1" name="Google Shape;451;p74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003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75"/>
          <p:cNvSpPr txBox="1"/>
          <p:nvPr>
            <p:ph type="title"/>
          </p:nvPr>
        </p:nvSpPr>
        <p:spPr>
          <a:xfrm>
            <a:off x="768350" y="117475"/>
            <a:ext cx="8375650" cy="13763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creates a log table and a trigger that inserts a row in the log table after any </a:t>
            </a:r>
            <a:r>
              <a:rPr b="1" i="0" lang="en-US" sz="2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UPDATE</a:t>
            </a:r>
            <a:r>
              <a:rPr b="0" i="0" lang="en-US" sz="2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 statement affects the </a:t>
            </a:r>
            <a:r>
              <a:rPr b="1" i="0" lang="en-US" sz="2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SALARY</a:t>
            </a:r>
            <a:r>
              <a:rPr b="0" i="0" lang="en-US" sz="2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 column of the </a:t>
            </a:r>
            <a:r>
              <a:rPr b="1" i="0" lang="en-US" sz="2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EMPLOYEES</a:t>
            </a:r>
            <a:r>
              <a:rPr b="0" i="0" lang="en-US" sz="2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 table, and then pdates </a:t>
            </a:r>
            <a:r>
              <a:rPr b="1" i="0" lang="en-US" sz="2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EMPLOYEES</a:t>
            </a:r>
            <a:r>
              <a:rPr b="0" i="0" lang="en-US" sz="2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b="1" i="0" lang="en-US" sz="2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SALARY</a:t>
            </a:r>
            <a:r>
              <a:rPr b="0" i="0" lang="en-US" sz="2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 and shows the log table</a:t>
            </a:r>
            <a:r>
              <a:rPr b="0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</p:txBody>
      </p:sp>
      <p:sp>
        <p:nvSpPr>
          <p:cNvPr id="457" name="Google Shape;457;p75"/>
          <p:cNvSpPr txBox="1"/>
          <p:nvPr>
            <p:ph idx="1" type="body"/>
          </p:nvPr>
        </p:nvSpPr>
        <p:spPr>
          <a:xfrm>
            <a:off x="141287" y="1546225"/>
            <a:ext cx="8334375" cy="445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TABLE Emp_log ( Emp_id NUMBER, Log_date DATE, New_salary NUMBER, Action VARCHAR2(20));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Create trigger that inserts row in log table after EMPLOYEES.SALARY is update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OR REPLACE TRIGGER log_salary_increase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AFTER UPDATE OF salary ON employees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FOR EACH ROW BEGIN INSERT INTO Emp_log (Emp_id, Log_date, New_salary, Action) VALUES (:NEW.employee_id, SYSDATE, :NEW.salary, 'New Salary');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END;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7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3" name="Google Shape;463;p76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Update EMPLOYEES.SALARY: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UPDATE employees SET salary = salary + 1000.0 WHERE Department_id = 20; Result: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 rows updated. Show log table: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* FROM Emp_log;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EMP_ID LOG_DATE NEW_SALARY ACTION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201 28-APR-10 15049.13 New Salary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202 28-APR-10 6945.75 New Salary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2 rows selected.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77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 of Chapter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