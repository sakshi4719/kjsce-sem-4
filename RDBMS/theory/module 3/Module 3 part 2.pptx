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y="6858000" cx="9144000"/>
  <p:notesSz cx="6858000" cy="9144000"/>
  <p:embeddedFontLst>
    <p:embeddedFont>
      <p:font typeface="Arim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6" roundtripDataSignature="AMtx7miBw1z+8xC0/i4pU6gY0aaThbKT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C6A4C3-3411-43D6-A0C7-9FCFE75087CD}">
  <a:tblStyle styleId="{CFC6A4C3-3411-43D6-A0C7-9FCFE75087C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Arimo-regular.fntdata"/><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font" Target="fonts/Arimo-italic.fntdata"/><Relationship Id="rId63" Type="http://schemas.openxmlformats.org/officeDocument/2006/relationships/font" Target="fonts/Arimo-bold.fntdata"/><Relationship Id="rId22" Type="http://schemas.openxmlformats.org/officeDocument/2006/relationships/slide" Target="slides/slide14.xml"/><Relationship Id="rId66" Type="http://customschemas.google.com/relationships/presentationmetadata" Target="metadata"/><Relationship Id="rId21" Type="http://schemas.openxmlformats.org/officeDocument/2006/relationships/slide" Target="slides/slide13.xml"/><Relationship Id="rId65" Type="http://schemas.openxmlformats.org/officeDocument/2006/relationships/font" Target="fonts/Arimo-boldItalic.fntdata"/><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6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7"/>
          <p:cNvSpPr/>
          <p:nvPr>
            <p:ph idx="2" type="pic"/>
          </p:nvPr>
        </p:nvSpPr>
        <p:spPr>
          <a:xfrm>
            <a:off x="1792288" y="612775"/>
            <a:ext cx="5486400" cy="4114800"/>
          </a:xfrm>
          <a:prstGeom prst="rect">
            <a:avLst/>
          </a:prstGeom>
          <a:noFill/>
          <a:ln>
            <a:noFill/>
          </a:ln>
        </p:spPr>
      </p:sp>
      <p:sp>
        <p:nvSpPr>
          <p:cNvPr id="64" name="Google Shape;64;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58"/>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58"/>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58"/>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8"/>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8"/>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70"/>
          <p:cNvSpPr txBox="1"/>
          <p:nvPr>
            <p:ph type="ctrTitle"/>
          </p:nvPr>
        </p:nvSpPr>
        <p:spPr>
          <a:xfrm>
            <a:off x="685800" y="1905000"/>
            <a:ext cx="7543800" cy="25939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6600"/>
              <a:buFont typeface="Cambria"/>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70"/>
          <p:cNvSpPr txBox="1"/>
          <p:nvPr>
            <p:ph idx="1" type="subTitle"/>
          </p:nvPr>
        </p:nvSpPr>
        <p:spPr>
          <a:xfrm>
            <a:off x="685800" y="4572000"/>
            <a:ext cx="6461760" cy="1066800"/>
          </a:xfrm>
          <a:prstGeom prst="rect">
            <a:avLst/>
          </a:prstGeom>
          <a:noFill/>
          <a:ln>
            <a:noFill/>
          </a:ln>
        </p:spPr>
        <p:txBody>
          <a:bodyPr anchorCtr="0" anchor="t" bIns="45700" lIns="91425" spcFirstLastPara="1" rIns="91425" wrap="square" tIns="45700">
            <a:normAutofit/>
          </a:bodyPr>
          <a:lstStyle>
            <a:lvl1pPr lvl="0" algn="l">
              <a:spcBef>
                <a:spcPts val="400"/>
              </a:spcBef>
              <a:spcAft>
                <a:spcPts val="0"/>
              </a:spcAft>
              <a:buSzPts val="2000"/>
              <a:buNone/>
              <a:defRPr sz="2000">
                <a:solidFill>
                  <a:srgbClr val="888888"/>
                </a:solidFill>
              </a:defRPr>
            </a:lvl1pPr>
            <a:lvl2pPr lvl="1" algn="ctr">
              <a:spcBef>
                <a:spcPts val="400"/>
              </a:spcBef>
              <a:spcAft>
                <a:spcPts val="0"/>
              </a:spcAft>
              <a:buSzPts val="2000"/>
              <a:buNone/>
              <a:defRPr>
                <a:solidFill>
                  <a:srgbClr val="888888"/>
                </a:solidFill>
              </a:defRPr>
            </a:lvl2pPr>
            <a:lvl3pPr lvl="2" algn="ctr">
              <a:spcBef>
                <a:spcPts val="360"/>
              </a:spcBef>
              <a:spcAft>
                <a:spcPts val="0"/>
              </a:spcAft>
              <a:buSzPts val="1800"/>
              <a:buNone/>
              <a:defRPr>
                <a:solidFill>
                  <a:srgbClr val="888888"/>
                </a:solidFill>
              </a:defRPr>
            </a:lvl3pPr>
            <a:lvl4pPr lvl="3" algn="ctr">
              <a:spcBef>
                <a:spcPts val="320"/>
              </a:spcBef>
              <a:spcAft>
                <a:spcPts val="0"/>
              </a:spcAft>
              <a:buSzPts val="1600"/>
              <a:buNone/>
              <a:defRPr>
                <a:solidFill>
                  <a:srgbClr val="888888"/>
                </a:solidFill>
              </a:defRPr>
            </a:lvl4pPr>
            <a:lvl5pPr lvl="4" algn="ctr">
              <a:spcBef>
                <a:spcPts val="280"/>
              </a:spcBef>
              <a:spcAft>
                <a:spcPts val="0"/>
              </a:spcAft>
              <a:buSzPts val="1400"/>
              <a:buNone/>
              <a:defRPr>
                <a:solidFill>
                  <a:srgbClr val="888888"/>
                </a:solidFill>
              </a:defRPr>
            </a:lvl5pPr>
            <a:lvl6pPr lvl="5" algn="ctr">
              <a:spcBef>
                <a:spcPts val="280"/>
              </a:spcBef>
              <a:spcAft>
                <a:spcPts val="0"/>
              </a:spcAft>
              <a:buSzPts val="1400"/>
              <a:buNone/>
              <a:defRPr>
                <a:solidFill>
                  <a:srgbClr val="888888"/>
                </a:solidFill>
              </a:defRPr>
            </a:lvl6pPr>
            <a:lvl7pPr lvl="6" algn="ctr">
              <a:spcBef>
                <a:spcPts val="280"/>
              </a:spcBef>
              <a:spcAft>
                <a:spcPts val="0"/>
              </a:spcAft>
              <a:buSzPts val="1400"/>
              <a:buNone/>
              <a:defRPr>
                <a:solidFill>
                  <a:srgbClr val="888888"/>
                </a:solidFill>
              </a:defRPr>
            </a:lvl7pPr>
            <a:lvl8pPr lvl="7" algn="ctr">
              <a:spcBef>
                <a:spcPts val="280"/>
              </a:spcBef>
              <a:spcAft>
                <a:spcPts val="0"/>
              </a:spcAft>
              <a:buSzPts val="1400"/>
              <a:buNone/>
              <a:defRPr>
                <a:solidFill>
                  <a:srgbClr val="888888"/>
                </a:solidFill>
              </a:defRPr>
            </a:lvl8pPr>
            <a:lvl9pPr lvl="8" algn="ctr">
              <a:spcBef>
                <a:spcPts val="280"/>
              </a:spcBef>
              <a:spcAft>
                <a:spcPts val="0"/>
              </a:spcAft>
              <a:buSzPts val="1400"/>
              <a:buNone/>
              <a:defRPr>
                <a:solidFill>
                  <a:srgbClr val="888888"/>
                </a:solidFill>
              </a:defRPr>
            </a:lvl9pPr>
          </a:lstStyle>
          <a:p/>
        </p:txBody>
      </p:sp>
      <p:sp>
        <p:nvSpPr>
          <p:cNvPr id="97" name="Google Shape;97;p70"/>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70"/>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0"/>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71"/>
          <p:cNvSpPr txBox="1"/>
          <p:nvPr>
            <p:ph type="title"/>
          </p:nvPr>
        </p:nvSpPr>
        <p:spPr>
          <a:xfrm>
            <a:off x="722313" y="5486400"/>
            <a:ext cx="7659687" cy="1168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3600"/>
              <a:buFont typeface="Cambria"/>
              <a:buNone/>
              <a:defRPr b="0"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71"/>
          <p:cNvSpPr txBox="1"/>
          <p:nvPr>
            <p:ph idx="1" type="body"/>
          </p:nvPr>
        </p:nvSpPr>
        <p:spPr>
          <a:xfrm>
            <a:off x="722313" y="3852863"/>
            <a:ext cx="6135687" cy="1633538"/>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SzPts val="1400"/>
              <a:buNone/>
              <a:defRPr sz="1400">
                <a:solidFill>
                  <a:srgbClr val="888888"/>
                </a:solidFill>
              </a:defRPr>
            </a:lvl6pPr>
            <a:lvl7pPr indent="-228600" lvl="6" marL="3200400" algn="l">
              <a:spcBef>
                <a:spcPts val="280"/>
              </a:spcBef>
              <a:spcAft>
                <a:spcPts val="0"/>
              </a:spcAft>
              <a:buSzPts val="1400"/>
              <a:buNone/>
              <a:defRPr sz="1400">
                <a:solidFill>
                  <a:srgbClr val="888888"/>
                </a:solidFill>
              </a:defRPr>
            </a:lvl7pPr>
            <a:lvl8pPr indent="-228600" lvl="7" marL="3657600" algn="l">
              <a:spcBef>
                <a:spcPts val="280"/>
              </a:spcBef>
              <a:spcAft>
                <a:spcPts val="0"/>
              </a:spcAft>
              <a:buSzPts val="1400"/>
              <a:buNone/>
              <a:defRPr sz="1400">
                <a:solidFill>
                  <a:srgbClr val="888888"/>
                </a:solidFill>
              </a:defRPr>
            </a:lvl8pPr>
            <a:lvl9pPr indent="-228600" lvl="8" marL="4114800" algn="l">
              <a:spcBef>
                <a:spcPts val="280"/>
              </a:spcBef>
              <a:spcAft>
                <a:spcPts val="0"/>
              </a:spcAft>
              <a:buSzPts val="1400"/>
              <a:buNone/>
              <a:defRPr sz="1400">
                <a:solidFill>
                  <a:srgbClr val="888888"/>
                </a:solidFill>
              </a:defRPr>
            </a:lvl9pPr>
          </a:lstStyle>
          <a:p/>
        </p:txBody>
      </p:sp>
      <p:sp>
        <p:nvSpPr>
          <p:cNvPr id="103" name="Google Shape;103;p71"/>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71"/>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71"/>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
        <p:nvSpPr>
          <p:cNvPr id="107" name="Google Shape;107;p72"/>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72"/>
          <p:cNvSpPr txBox="1"/>
          <p:nvPr>
            <p:ph idx="1" type="body"/>
          </p:nvPr>
        </p:nvSpPr>
        <p:spPr>
          <a:xfrm>
            <a:off x="457200" y="1536192"/>
            <a:ext cx="3657600" cy="459028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09" name="Google Shape;109;p72"/>
          <p:cNvSpPr txBox="1"/>
          <p:nvPr>
            <p:ph idx="2" type="body"/>
          </p:nvPr>
        </p:nvSpPr>
        <p:spPr>
          <a:xfrm>
            <a:off x="4419600" y="1536192"/>
            <a:ext cx="3657600" cy="459028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10" name="Google Shape;110;p72"/>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72"/>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2"/>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3" name="Shape 113"/>
        <p:cNvGrpSpPr/>
        <p:nvPr/>
      </p:nvGrpSpPr>
      <p:grpSpPr>
        <a:xfrm>
          <a:off x="0" y="0"/>
          <a:ext cx="0" cy="0"/>
          <a:chOff x="0" y="0"/>
          <a:chExt cx="0" cy="0"/>
        </a:xfrm>
      </p:grpSpPr>
      <p:sp>
        <p:nvSpPr>
          <p:cNvPr id="114" name="Google Shape;114;p73"/>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600"/>
              <a:buFont typeface="Cambr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73"/>
          <p:cNvSpPr txBox="1"/>
          <p:nvPr>
            <p:ph idx="1" type="body"/>
          </p:nvPr>
        </p:nvSpPr>
        <p:spPr>
          <a:xfrm>
            <a:off x="457200" y="1535113"/>
            <a:ext cx="3657600" cy="639762"/>
          </a:xfrm>
          <a:prstGeom prst="rect">
            <a:avLst/>
          </a:prstGeom>
          <a:noFill/>
          <a:ln>
            <a:noFill/>
          </a:ln>
        </p:spPr>
        <p:txBody>
          <a:bodyPr anchorCtr="0" anchor="b" bIns="45700" lIns="91425" spcFirstLastPara="1" rIns="91425" wrap="square" tIns="45700">
            <a:noAutofit/>
          </a:bodyPr>
          <a:lstStyle>
            <a:lvl1pPr indent="-228600" lvl="0" marL="457200" algn="ctr">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16" name="Google Shape;116;p73"/>
          <p:cNvSpPr txBox="1"/>
          <p:nvPr>
            <p:ph idx="2" type="body"/>
          </p:nvPr>
        </p:nvSpPr>
        <p:spPr>
          <a:xfrm>
            <a:off x="457200" y="2174875"/>
            <a:ext cx="3657600"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17" name="Google Shape;117;p73"/>
          <p:cNvSpPr txBox="1"/>
          <p:nvPr>
            <p:ph idx="3" type="body"/>
          </p:nvPr>
        </p:nvSpPr>
        <p:spPr>
          <a:xfrm>
            <a:off x="4419600" y="1535113"/>
            <a:ext cx="3657600" cy="639762"/>
          </a:xfrm>
          <a:prstGeom prst="rect">
            <a:avLst/>
          </a:prstGeom>
          <a:noFill/>
          <a:ln>
            <a:noFill/>
          </a:ln>
        </p:spPr>
        <p:txBody>
          <a:bodyPr anchorCtr="0" anchor="b" bIns="45700" lIns="91425" spcFirstLastPara="1" rIns="91425" wrap="square" tIns="45700">
            <a:noAutofit/>
          </a:bodyPr>
          <a:lstStyle>
            <a:lvl1pPr indent="-228600" lvl="0" marL="457200" algn="ctr">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18" name="Google Shape;118;p73"/>
          <p:cNvSpPr txBox="1"/>
          <p:nvPr>
            <p:ph idx="4" type="body"/>
          </p:nvPr>
        </p:nvSpPr>
        <p:spPr>
          <a:xfrm>
            <a:off x="4419600" y="2174875"/>
            <a:ext cx="3657600"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19" name="Google Shape;119;p73"/>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3"/>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73"/>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74"/>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74"/>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74"/>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74"/>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75"/>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5"/>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5"/>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p76"/>
          <p:cNvSpPr txBox="1"/>
          <p:nvPr>
            <p:ph type="title"/>
          </p:nvPr>
        </p:nvSpPr>
        <p:spPr>
          <a:xfrm>
            <a:off x="304801" y="5495544"/>
            <a:ext cx="7772400" cy="59436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2"/>
              </a:buClr>
              <a:buSzPts val="2200"/>
              <a:buFont typeface="Cambria"/>
              <a:buNone/>
              <a:defRPr b="1"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76"/>
          <p:cNvSpPr txBox="1"/>
          <p:nvPr>
            <p:ph idx="1" type="body"/>
          </p:nvPr>
        </p:nvSpPr>
        <p:spPr>
          <a:xfrm>
            <a:off x="304799" y="6096000"/>
            <a:ext cx="7772401" cy="60960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600"/>
              <a:buNone/>
              <a:defRPr sz="16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34" name="Google Shape;134;p76"/>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76"/>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76"/>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37" name="Google Shape;137;p76"/>
          <p:cNvSpPr txBox="1"/>
          <p:nvPr>
            <p:ph idx="2" type="body"/>
          </p:nvPr>
        </p:nvSpPr>
        <p:spPr>
          <a:xfrm>
            <a:off x="304800" y="381000"/>
            <a:ext cx="7772400" cy="494284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8" name="Shape 138"/>
        <p:cNvGrpSpPr/>
        <p:nvPr/>
      </p:nvGrpSpPr>
      <p:grpSpPr>
        <a:xfrm>
          <a:off x="0" y="0"/>
          <a:ext cx="0" cy="0"/>
          <a:chOff x="0" y="0"/>
          <a:chExt cx="0" cy="0"/>
        </a:xfrm>
      </p:grpSpPr>
      <p:sp>
        <p:nvSpPr>
          <p:cNvPr id="139" name="Google Shape;139;p77"/>
          <p:cNvSpPr txBox="1"/>
          <p:nvPr>
            <p:ph type="title"/>
          </p:nvPr>
        </p:nvSpPr>
        <p:spPr>
          <a:xfrm>
            <a:off x="301752" y="5495278"/>
            <a:ext cx="7772400" cy="59462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2"/>
              </a:buClr>
              <a:buSzPts val="2200"/>
              <a:buFont typeface="Cambria"/>
              <a:buNone/>
              <a:defRPr b="1" sz="2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77"/>
          <p:cNvSpPr/>
          <p:nvPr>
            <p:ph idx="2" type="pic"/>
          </p:nvPr>
        </p:nvSpPr>
        <p:spPr>
          <a:xfrm>
            <a:off x="0" y="0"/>
            <a:ext cx="8458200" cy="5486400"/>
          </a:xfrm>
          <a:prstGeom prst="rect">
            <a:avLst/>
          </a:prstGeom>
          <a:noFill/>
          <a:ln>
            <a:noFill/>
          </a:ln>
        </p:spPr>
      </p:sp>
      <p:sp>
        <p:nvSpPr>
          <p:cNvPr id="141" name="Google Shape;141;p77"/>
          <p:cNvSpPr txBox="1"/>
          <p:nvPr>
            <p:ph idx="1" type="body"/>
          </p:nvPr>
        </p:nvSpPr>
        <p:spPr>
          <a:xfrm>
            <a:off x="301752" y="6096000"/>
            <a:ext cx="7772400" cy="612648"/>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600"/>
              <a:buNone/>
              <a:defRPr sz="16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42" name="Google Shape;142;p77"/>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77"/>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4" name="Google Shape;144;p77"/>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5" name="Shape 145"/>
        <p:cNvGrpSpPr/>
        <p:nvPr/>
      </p:nvGrpSpPr>
      <p:grpSpPr>
        <a:xfrm>
          <a:off x="0" y="0"/>
          <a:ext cx="0" cy="0"/>
          <a:chOff x="0" y="0"/>
          <a:chExt cx="0" cy="0"/>
        </a:xfrm>
      </p:grpSpPr>
      <p:sp>
        <p:nvSpPr>
          <p:cNvPr id="146" name="Google Shape;146;p78"/>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78"/>
          <p:cNvSpPr txBox="1"/>
          <p:nvPr>
            <p:ph idx="1" type="body"/>
          </p:nvPr>
        </p:nvSpPr>
        <p:spPr>
          <a:xfrm rot="5400000">
            <a:off x="1866900" y="190500"/>
            <a:ext cx="4800600" cy="76200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8" name="Google Shape;148;p78"/>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78"/>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78"/>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1" name="Shape 151"/>
        <p:cNvGrpSpPr/>
        <p:nvPr/>
      </p:nvGrpSpPr>
      <p:grpSpPr>
        <a:xfrm>
          <a:off x="0" y="0"/>
          <a:ext cx="0" cy="0"/>
          <a:chOff x="0" y="0"/>
          <a:chExt cx="0" cy="0"/>
        </a:xfrm>
      </p:grpSpPr>
      <p:sp>
        <p:nvSpPr>
          <p:cNvPr id="152" name="Google Shape;152;p79"/>
          <p:cNvSpPr txBox="1"/>
          <p:nvPr>
            <p:ph type="title"/>
          </p:nvPr>
        </p:nvSpPr>
        <p:spPr>
          <a:xfrm rot="5400000">
            <a:off x="4579938" y="2324101"/>
            <a:ext cx="5851525" cy="1752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7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54" name="Google Shape;154;p79"/>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9"/>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79"/>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5" name="Shape 165"/>
        <p:cNvGrpSpPr/>
        <p:nvPr/>
      </p:nvGrpSpPr>
      <p:grpSpPr>
        <a:xfrm>
          <a:off x="0" y="0"/>
          <a:ext cx="0" cy="0"/>
          <a:chOff x="0" y="0"/>
          <a:chExt cx="0" cy="0"/>
        </a:xfrm>
      </p:grpSpPr>
      <p:sp>
        <p:nvSpPr>
          <p:cNvPr id="166" name="Google Shape;166;p60"/>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60"/>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8" name="Google Shape;168;p60"/>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60"/>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60"/>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1" name="Shape 171"/>
        <p:cNvGrpSpPr/>
        <p:nvPr/>
      </p:nvGrpSpPr>
      <p:grpSpPr>
        <a:xfrm>
          <a:off x="0" y="0"/>
          <a:ext cx="0" cy="0"/>
          <a:chOff x="0" y="0"/>
          <a:chExt cx="0" cy="0"/>
        </a:xfrm>
      </p:grpSpPr>
      <p:sp>
        <p:nvSpPr>
          <p:cNvPr id="172" name="Google Shape;172;p80"/>
          <p:cNvSpPr txBox="1"/>
          <p:nvPr>
            <p:ph type="ctrTitle"/>
          </p:nvPr>
        </p:nvSpPr>
        <p:spPr>
          <a:xfrm>
            <a:off x="685800" y="1905000"/>
            <a:ext cx="7543800" cy="25939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6600"/>
              <a:buFont typeface="Cambria"/>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80"/>
          <p:cNvSpPr txBox="1"/>
          <p:nvPr>
            <p:ph idx="1" type="subTitle"/>
          </p:nvPr>
        </p:nvSpPr>
        <p:spPr>
          <a:xfrm>
            <a:off x="685800" y="4572000"/>
            <a:ext cx="6461760" cy="1066800"/>
          </a:xfrm>
          <a:prstGeom prst="rect">
            <a:avLst/>
          </a:prstGeom>
          <a:noFill/>
          <a:ln>
            <a:noFill/>
          </a:ln>
        </p:spPr>
        <p:txBody>
          <a:bodyPr anchorCtr="0" anchor="t" bIns="45700" lIns="91425" spcFirstLastPara="1" rIns="91425" wrap="square" tIns="45700">
            <a:normAutofit/>
          </a:bodyPr>
          <a:lstStyle>
            <a:lvl1pPr lvl="0" algn="l">
              <a:spcBef>
                <a:spcPts val="400"/>
              </a:spcBef>
              <a:spcAft>
                <a:spcPts val="0"/>
              </a:spcAft>
              <a:buSzPts val="2000"/>
              <a:buNone/>
              <a:defRPr sz="2000">
                <a:solidFill>
                  <a:srgbClr val="888888"/>
                </a:solidFill>
              </a:defRPr>
            </a:lvl1pPr>
            <a:lvl2pPr lvl="1" algn="ctr">
              <a:spcBef>
                <a:spcPts val="400"/>
              </a:spcBef>
              <a:spcAft>
                <a:spcPts val="0"/>
              </a:spcAft>
              <a:buSzPts val="2000"/>
              <a:buNone/>
              <a:defRPr>
                <a:solidFill>
                  <a:srgbClr val="888888"/>
                </a:solidFill>
              </a:defRPr>
            </a:lvl2pPr>
            <a:lvl3pPr lvl="2" algn="ctr">
              <a:spcBef>
                <a:spcPts val="360"/>
              </a:spcBef>
              <a:spcAft>
                <a:spcPts val="0"/>
              </a:spcAft>
              <a:buSzPts val="1800"/>
              <a:buNone/>
              <a:defRPr>
                <a:solidFill>
                  <a:srgbClr val="888888"/>
                </a:solidFill>
              </a:defRPr>
            </a:lvl3pPr>
            <a:lvl4pPr lvl="3" algn="ctr">
              <a:spcBef>
                <a:spcPts val="320"/>
              </a:spcBef>
              <a:spcAft>
                <a:spcPts val="0"/>
              </a:spcAft>
              <a:buSzPts val="1600"/>
              <a:buNone/>
              <a:defRPr>
                <a:solidFill>
                  <a:srgbClr val="888888"/>
                </a:solidFill>
              </a:defRPr>
            </a:lvl4pPr>
            <a:lvl5pPr lvl="4" algn="ctr">
              <a:spcBef>
                <a:spcPts val="280"/>
              </a:spcBef>
              <a:spcAft>
                <a:spcPts val="0"/>
              </a:spcAft>
              <a:buSzPts val="1400"/>
              <a:buNone/>
              <a:defRPr>
                <a:solidFill>
                  <a:srgbClr val="888888"/>
                </a:solidFill>
              </a:defRPr>
            </a:lvl5pPr>
            <a:lvl6pPr lvl="5" algn="ctr">
              <a:spcBef>
                <a:spcPts val="280"/>
              </a:spcBef>
              <a:spcAft>
                <a:spcPts val="0"/>
              </a:spcAft>
              <a:buSzPts val="1400"/>
              <a:buNone/>
              <a:defRPr>
                <a:solidFill>
                  <a:srgbClr val="888888"/>
                </a:solidFill>
              </a:defRPr>
            </a:lvl6pPr>
            <a:lvl7pPr lvl="6" algn="ctr">
              <a:spcBef>
                <a:spcPts val="280"/>
              </a:spcBef>
              <a:spcAft>
                <a:spcPts val="0"/>
              </a:spcAft>
              <a:buSzPts val="1400"/>
              <a:buNone/>
              <a:defRPr>
                <a:solidFill>
                  <a:srgbClr val="888888"/>
                </a:solidFill>
              </a:defRPr>
            </a:lvl7pPr>
            <a:lvl8pPr lvl="7" algn="ctr">
              <a:spcBef>
                <a:spcPts val="280"/>
              </a:spcBef>
              <a:spcAft>
                <a:spcPts val="0"/>
              </a:spcAft>
              <a:buSzPts val="1400"/>
              <a:buNone/>
              <a:defRPr>
                <a:solidFill>
                  <a:srgbClr val="888888"/>
                </a:solidFill>
              </a:defRPr>
            </a:lvl8pPr>
            <a:lvl9pPr lvl="8" algn="ctr">
              <a:spcBef>
                <a:spcPts val="280"/>
              </a:spcBef>
              <a:spcAft>
                <a:spcPts val="0"/>
              </a:spcAft>
              <a:buSzPts val="1400"/>
              <a:buNone/>
              <a:defRPr>
                <a:solidFill>
                  <a:srgbClr val="888888"/>
                </a:solidFill>
              </a:defRPr>
            </a:lvl9pPr>
          </a:lstStyle>
          <a:p/>
        </p:txBody>
      </p:sp>
      <p:sp>
        <p:nvSpPr>
          <p:cNvPr id="174" name="Google Shape;174;p80"/>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80"/>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80"/>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p81"/>
          <p:cNvSpPr txBox="1"/>
          <p:nvPr>
            <p:ph type="title"/>
          </p:nvPr>
        </p:nvSpPr>
        <p:spPr>
          <a:xfrm>
            <a:off x="722313" y="5486400"/>
            <a:ext cx="7659687" cy="1168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3600"/>
              <a:buFont typeface="Cambria"/>
              <a:buNone/>
              <a:defRPr b="0"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81"/>
          <p:cNvSpPr txBox="1"/>
          <p:nvPr>
            <p:ph idx="1" type="body"/>
          </p:nvPr>
        </p:nvSpPr>
        <p:spPr>
          <a:xfrm>
            <a:off x="722313" y="3852863"/>
            <a:ext cx="6135687" cy="1633538"/>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SzPts val="1400"/>
              <a:buNone/>
              <a:defRPr sz="1400">
                <a:solidFill>
                  <a:srgbClr val="888888"/>
                </a:solidFill>
              </a:defRPr>
            </a:lvl6pPr>
            <a:lvl7pPr indent="-228600" lvl="6" marL="3200400" algn="l">
              <a:spcBef>
                <a:spcPts val="280"/>
              </a:spcBef>
              <a:spcAft>
                <a:spcPts val="0"/>
              </a:spcAft>
              <a:buSzPts val="1400"/>
              <a:buNone/>
              <a:defRPr sz="1400">
                <a:solidFill>
                  <a:srgbClr val="888888"/>
                </a:solidFill>
              </a:defRPr>
            </a:lvl7pPr>
            <a:lvl8pPr indent="-228600" lvl="7" marL="3657600" algn="l">
              <a:spcBef>
                <a:spcPts val="280"/>
              </a:spcBef>
              <a:spcAft>
                <a:spcPts val="0"/>
              </a:spcAft>
              <a:buSzPts val="1400"/>
              <a:buNone/>
              <a:defRPr sz="1400">
                <a:solidFill>
                  <a:srgbClr val="888888"/>
                </a:solidFill>
              </a:defRPr>
            </a:lvl8pPr>
            <a:lvl9pPr indent="-228600" lvl="8" marL="4114800" algn="l">
              <a:spcBef>
                <a:spcPts val="280"/>
              </a:spcBef>
              <a:spcAft>
                <a:spcPts val="0"/>
              </a:spcAft>
              <a:buSzPts val="1400"/>
              <a:buNone/>
              <a:defRPr sz="1400">
                <a:solidFill>
                  <a:srgbClr val="888888"/>
                </a:solidFill>
              </a:defRPr>
            </a:lvl9pPr>
          </a:lstStyle>
          <a:p/>
        </p:txBody>
      </p:sp>
      <p:sp>
        <p:nvSpPr>
          <p:cNvPr id="180" name="Google Shape;180;p81"/>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81"/>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81"/>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p82"/>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82"/>
          <p:cNvSpPr txBox="1"/>
          <p:nvPr>
            <p:ph idx="1" type="body"/>
          </p:nvPr>
        </p:nvSpPr>
        <p:spPr>
          <a:xfrm>
            <a:off x="457200" y="1536192"/>
            <a:ext cx="3657600" cy="459028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86" name="Google Shape;186;p82"/>
          <p:cNvSpPr txBox="1"/>
          <p:nvPr>
            <p:ph idx="2" type="body"/>
          </p:nvPr>
        </p:nvSpPr>
        <p:spPr>
          <a:xfrm>
            <a:off x="4419600" y="1536192"/>
            <a:ext cx="3657600" cy="459028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87" name="Google Shape;187;p82"/>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82"/>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82"/>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p83"/>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600"/>
              <a:buFont typeface="Cambr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83"/>
          <p:cNvSpPr txBox="1"/>
          <p:nvPr>
            <p:ph idx="1" type="body"/>
          </p:nvPr>
        </p:nvSpPr>
        <p:spPr>
          <a:xfrm>
            <a:off x="457200" y="1535113"/>
            <a:ext cx="3657600" cy="639762"/>
          </a:xfrm>
          <a:prstGeom prst="rect">
            <a:avLst/>
          </a:prstGeom>
          <a:noFill/>
          <a:ln>
            <a:noFill/>
          </a:ln>
        </p:spPr>
        <p:txBody>
          <a:bodyPr anchorCtr="0" anchor="b" bIns="45700" lIns="91425" spcFirstLastPara="1" rIns="91425" wrap="square" tIns="45700">
            <a:noAutofit/>
          </a:bodyPr>
          <a:lstStyle>
            <a:lvl1pPr indent="-228600" lvl="0" marL="457200" algn="ctr">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93" name="Google Shape;193;p83"/>
          <p:cNvSpPr txBox="1"/>
          <p:nvPr>
            <p:ph idx="2" type="body"/>
          </p:nvPr>
        </p:nvSpPr>
        <p:spPr>
          <a:xfrm>
            <a:off x="457200" y="2174875"/>
            <a:ext cx="3657600"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94" name="Google Shape;194;p83"/>
          <p:cNvSpPr txBox="1"/>
          <p:nvPr>
            <p:ph idx="3" type="body"/>
          </p:nvPr>
        </p:nvSpPr>
        <p:spPr>
          <a:xfrm>
            <a:off x="4419600" y="1535113"/>
            <a:ext cx="3657600" cy="639762"/>
          </a:xfrm>
          <a:prstGeom prst="rect">
            <a:avLst/>
          </a:prstGeom>
          <a:noFill/>
          <a:ln>
            <a:noFill/>
          </a:ln>
        </p:spPr>
        <p:txBody>
          <a:bodyPr anchorCtr="0" anchor="b" bIns="45700" lIns="91425" spcFirstLastPara="1" rIns="91425" wrap="square" tIns="45700">
            <a:noAutofit/>
          </a:bodyPr>
          <a:lstStyle>
            <a:lvl1pPr indent="-228600" lvl="0" marL="457200" algn="ctr">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95" name="Google Shape;195;p83"/>
          <p:cNvSpPr txBox="1"/>
          <p:nvPr>
            <p:ph idx="4" type="body"/>
          </p:nvPr>
        </p:nvSpPr>
        <p:spPr>
          <a:xfrm>
            <a:off x="4419600" y="2174875"/>
            <a:ext cx="3657600"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96" name="Google Shape;196;p83"/>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83"/>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83"/>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84"/>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84"/>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84"/>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84"/>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4" name="Shape 204"/>
        <p:cNvGrpSpPr/>
        <p:nvPr/>
      </p:nvGrpSpPr>
      <p:grpSpPr>
        <a:xfrm>
          <a:off x="0" y="0"/>
          <a:ext cx="0" cy="0"/>
          <a:chOff x="0" y="0"/>
          <a:chExt cx="0" cy="0"/>
        </a:xfrm>
      </p:grpSpPr>
      <p:sp>
        <p:nvSpPr>
          <p:cNvPr id="205" name="Google Shape;205;p85"/>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85"/>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85"/>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8" name="Shape 208"/>
        <p:cNvGrpSpPr/>
        <p:nvPr/>
      </p:nvGrpSpPr>
      <p:grpSpPr>
        <a:xfrm>
          <a:off x="0" y="0"/>
          <a:ext cx="0" cy="0"/>
          <a:chOff x="0" y="0"/>
          <a:chExt cx="0" cy="0"/>
        </a:xfrm>
      </p:grpSpPr>
      <p:sp>
        <p:nvSpPr>
          <p:cNvPr id="209" name="Google Shape;209;p86"/>
          <p:cNvSpPr txBox="1"/>
          <p:nvPr>
            <p:ph type="title"/>
          </p:nvPr>
        </p:nvSpPr>
        <p:spPr>
          <a:xfrm>
            <a:off x="304801" y="5495544"/>
            <a:ext cx="7772400" cy="59436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2"/>
              </a:buClr>
              <a:buSzPts val="2200"/>
              <a:buFont typeface="Cambria"/>
              <a:buNone/>
              <a:defRPr b="1"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86"/>
          <p:cNvSpPr txBox="1"/>
          <p:nvPr>
            <p:ph idx="1" type="body"/>
          </p:nvPr>
        </p:nvSpPr>
        <p:spPr>
          <a:xfrm>
            <a:off x="304799" y="6096000"/>
            <a:ext cx="7772401" cy="60960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600"/>
              <a:buNone/>
              <a:defRPr sz="16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211" name="Google Shape;211;p86"/>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86"/>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86"/>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14" name="Google Shape;214;p86"/>
          <p:cNvSpPr txBox="1"/>
          <p:nvPr>
            <p:ph idx="2" type="body"/>
          </p:nvPr>
        </p:nvSpPr>
        <p:spPr>
          <a:xfrm>
            <a:off x="304800" y="381000"/>
            <a:ext cx="7772400" cy="494284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5" name="Shape 215"/>
        <p:cNvGrpSpPr/>
        <p:nvPr/>
      </p:nvGrpSpPr>
      <p:grpSpPr>
        <a:xfrm>
          <a:off x="0" y="0"/>
          <a:ext cx="0" cy="0"/>
          <a:chOff x="0" y="0"/>
          <a:chExt cx="0" cy="0"/>
        </a:xfrm>
      </p:grpSpPr>
      <p:sp>
        <p:nvSpPr>
          <p:cNvPr id="216" name="Google Shape;216;p87"/>
          <p:cNvSpPr txBox="1"/>
          <p:nvPr>
            <p:ph type="title"/>
          </p:nvPr>
        </p:nvSpPr>
        <p:spPr>
          <a:xfrm>
            <a:off x="301752" y="5495278"/>
            <a:ext cx="7772400" cy="59462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2"/>
              </a:buClr>
              <a:buSzPts val="2200"/>
              <a:buFont typeface="Cambria"/>
              <a:buNone/>
              <a:defRPr b="1" sz="2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87"/>
          <p:cNvSpPr/>
          <p:nvPr>
            <p:ph idx="2" type="pic"/>
          </p:nvPr>
        </p:nvSpPr>
        <p:spPr>
          <a:xfrm>
            <a:off x="0" y="0"/>
            <a:ext cx="8458200" cy="5486400"/>
          </a:xfrm>
          <a:prstGeom prst="rect">
            <a:avLst/>
          </a:prstGeom>
          <a:noFill/>
          <a:ln>
            <a:noFill/>
          </a:ln>
        </p:spPr>
      </p:sp>
      <p:sp>
        <p:nvSpPr>
          <p:cNvPr id="218" name="Google Shape;218;p87"/>
          <p:cNvSpPr txBox="1"/>
          <p:nvPr>
            <p:ph idx="1" type="body"/>
          </p:nvPr>
        </p:nvSpPr>
        <p:spPr>
          <a:xfrm>
            <a:off x="301752" y="6096000"/>
            <a:ext cx="7772400" cy="612648"/>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600"/>
              <a:buNone/>
              <a:defRPr sz="16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219" name="Google Shape;219;p87"/>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87"/>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21" name="Google Shape;221;p87"/>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2" name="Shape 222"/>
        <p:cNvGrpSpPr/>
        <p:nvPr/>
      </p:nvGrpSpPr>
      <p:grpSpPr>
        <a:xfrm>
          <a:off x="0" y="0"/>
          <a:ext cx="0" cy="0"/>
          <a:chOff x="0" y="0"/>
          <a:chExt cx="0" cy="0"/>
        </a:xfrm>
      </p:grpSpPr>
      <p:sp>
        <p:nvSpPr>
          <p:cNvPr id="223" name="Google Shape;223;p88"/>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88"/>
          <p:cNvSpPr txBox="1"/>
          <p:nvPr>
            <p:ph idx="1" type="body"/>
          </p:nvPr>
        </p:nvSpPr>
        <p:spPr>
          <a:xfrm rot="5400000">
            <a:off x="1866900" y="190500"/>
            <a:ext cx="4800600" cy="76200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25" name="Google Shape;225;p88"/>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88"/>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88"/>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8" name="Shape 228"/>
        <p:cNvGrpSpPr/>
        <p:nvPr/>
      </p:nvGrpSpPr>
      <p:grpSpPr>
        <a:xfrm>
          <a:off x="0" y="0"/>
          <a:ext cx="0" cy="0"/>
          <a:chOff x="0" y="0"/>
          <a:chExt cx="0" cy="0"/>
        </a:xfrm>
      </p:grpSpPr>
      <p:sp>
        <p:nvSpPr>
          <p:cNvPr id="229" name="Google Shape;229;p89"/>
          <p:cNvSpPr txBox="1"/>
          <p:nvPr>
            <p:ph type="title"/>
          </p:nvPr>
        </p:nvSpPr>
        <p:spPr>
          <a:xfrm rot="5400000">
            <a:off x="4579938" y="2324101"/>
            <a:ext cx="5851525" cy="1752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8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31" name="Google Shape;231;p89"/>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89"/>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89"/>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57"/>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2"/>
              </a:buClr>
              <a:buSzPts val="4600"/>
              <a:buFont typeface="Cambria"/>
              <a:buNone/>
              <a:defRPr b="0" i="0" sz="4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57"/>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lvl1pPr indent="-368300" lvl="0" marL="457200" marR="0" rtl="0" algn="l">
              <a:spcBef>
                <a:spcPts val="440"/>
              </a:spcBef>
              <a:spcAft>
                <a:spcPts val="0"/>
              </a:spcAft>
              <a:buClr>
                <a:schemeClr val="accent1"/>
              </a:buClr>
              <a:buSzPts val="2200"/>
              <a:buFont typeface="Arial"/>
              <a:buChar char="•"/>
              <a:defRPr b="0" i="0" sz="22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accent2"/>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accent3"/>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accent4"/>
              </a:buClr>
              <a:buSzPts val="1600"/>
              <a:buFont typeface="Arial"/>
              <a:buChar char="•"/>
              <a:defRPr b="0" i="0" sz="1600" u="none" cap="none" strike="noStrike">
                <a:solidFill>
                  <a:schemeClr val="dk1"/>
                </a:solidFill>
                <a:latin typeface="Calibri"/>
                <a:ea typeface="Calibri"/>
                <a:cs typeface="Calibri"/>
                <a:sym typeface="Calibri"/>
              </a:defRPr>
            </a:lvl4pPr>
            <a:lvl5pPr indent="-317500" lvl="4" marL="2286000" marR="0" rtl="0" algn="l">
              <a:spcBef>
                <a:spcPts val="280"/>
              </a:spcBef>
              <a:spcAft>
                <a:spcPts val="0"/>
              </a:spcAft>
              <a:buClr>
                <a:schemeClr val="accent5"/>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spcBef>
                <a:spcPts val="28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spcBef>
                <a:spcPts val="280"/>
              </a:spcBef>
              <a:spcAft>
                <a:spcPts val="0"/>
              </a:spcAft>
              <a:buClr>
                <a:schemeClr val="accent2"/>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spcBef>
                <a:spcPts val="28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spcBef>
                <a:spcPts val="280"/>
              </a:spcBef>
              <a:spcAft>
                <a:spcPts val="0"/>
              </a:spcAft>
              <a:buClr>
                <a:schemeClr val="accent4"/>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3" name="Google Shape;83;p57"/>
          <p:cNvSpPr/>
          <p:nvPr/>
        </p:nvSpPr>
        <p:spPr>
          <a:xfrm>
            <a:off x="8458200" y="0"/>
            <a:ext cx="6858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84" name="Google Shape;84;p57"/>
          <p:cNvSpPr/>
          <p:nvPr/>
        </p:nvSpPr>
        <p:spPr>
          <a:xfrm>
            <a:off x="8458200" y="5486400"/>
            <a:ext cx="68580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85" name="Google Shape;85;p57"/>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marR="0" rtl="0" algn="ctr">
              <a:spcBef>
                <a:spcPts val="0"/>
              </a:spcBef>
              <a:buNone/>
              <a:defRPr sz="1800">
                <a:solidFill>
                  <a:srgbClr val="FFFFFF"/>
                </a:solidFill>
                <a:latin typeface="Calibri"/>
                <a:ea typeface="Calibri"/>
                <a:cs typeface="Calibri"/>
                <a:sym typeface="Calibri"/>
              </a:defRPr>
            </a:lvl1pPr>
            <a:lvl2pPr indent="0" lvl="1" marL="0" marR="0" rtl="0" algn="ctr">
              <a:spcBef>
                <a:spcPts val="0"/>
              </a:spcBef>
              <a:buNone/>
              <a:defRPr sz="1800">
                <a:solidFill>
                  <a:srgbClr val="FFFFFF"/>
                </a:solidFill>
                <a:latin typeface="Calibri"/>
                <a:ea typeface="Calibri"/>
                <a:cs typeface="Calibri"/>
                <a:sym typeface="Calibri"/>
              </a:defRPr>
            </a:lvl2pPr>
            <a:lvl3pPr indent="0" lvl="2" marL="0" marR="0" rtl="0" algn="ctr">
              <a:spcBef>
                <a:spcPts val="0"/>
              </a:spcBef>
              <a:buNone/>
              <a:defRPr sz="1800">
                <a:solidFill>
                  <a:srgbClr val="FFFFFF"/>
                </a:solidFill>
                <a:latin typeface="Calibri"/>
                <a:ea typeface="Calibri"/>
                <a:cs typeface="Calibri"/>
                <a:sym typeface="Calibri"/>
              </a:defRPr>
            </a:lvl3pPr>
            <a:lvl4pPr indent="0" lvl="3" marL="0" marR="0" rtl="0" algn="ctr">
              <a:spcBef>
                <a:spcPts val="0"/>
              </a:spcBef>
              <a:buNone/>
              <a:defRPr sz="1800">
                <a:solidFill>
                  <a:srgbClr val="FFFFFF"/>
                </a:solidFill>
                <a:latin typeface="Calibri"/>
                <a:ea typeface="Calibri"/>
                <a:cs typeface="Calibri"/>
                <a:sym typeface="Calibri"/>
              </a:defRPr>
            </a:lvl4pPr>
            <a:lvl5pPr indent="0" lvl="4" marL="0" marR="0" rtl="0" algn="ctr">
              <a:spcBef>
                <a:spcPts val="0"/>
              </a:spcBef>
              <a:buNone/>
              <a:defRPr sz="1800">
                <a:solidFill>
                  <a:srgbClr val="FFFFFF"/>
                </a:solidFill>
                <a:latin typeface="Calibri"/>
                <a:ea typeface="Calibri"/>
                <a:cs typeface="Calibri"/>
                <a:sym typeface="Calibri"/>
              </a:defRPr>
            </a:lvl5pPr>
            <a:lvl6pPr indent="0" lvl="5" marL="0" marR="0" rtl="0" algn="ctr">
              <a:spcBef>
                <a:spcPts val="0"/>
              </a:spcBef>
              <a:buNone/>
              <a:defRPr sz="1800">
                <a:solidFill>
                  <a:srgbClr val="FFFFFF"/>
                </a:solidFill>
                <a:latin typeface="Calibri"/>
                <a:ea typeface="Calibri"/>
                <a:cs typeface="Calibri"/>
                <a:sym typeface="Calibri"/>
              </a:defRPr>
            </a:lvl6pPr>
            <a:lvl7pPr indent="0" lvl="6" marL="0" marR="0" rtl="0" algn="ctr">
              <a:spcBef>
                <a:spcPts val="0"/>
              </a:spcBef>
              <a:buNone/>
              <a:defRPr sz="1800">
                <a:solidFill>
                  <a:srgbClr val="FFFFFF"/>
                </a:solidFill>
                <a:latin typeface="Calibri"/>
                <a:ea typeface="Calibri"/>
                <a:cs typeface="Calibri"/>
                <a:sym typeface="Calibri"/>
              </a:defRPr>
            </a:lvl7pPr>
            <a:lvl8pPr indent="0" lvl="7" marL="0" marR="0" rtl="0" algn="ctr">
              <a:spcBef>
                <a:spcPts val="0"/>
              </a:spcBef>
              <a:buNone/>
              <a:defRPr sz="1800">
                <a:solidFill>
                  <a:srgbClr val="FFFFFF"/>
                </a:solidFill>
                <a:latin typeface="Calibri"/>
                <a:ea typeface="Calibri"/>
                <a:cs typeface="Calibri"/>
                <a:sym typeface="Calibri"/>
              </a:defRPr>
            </a:lvl8pPr>
            <a:lvl9pPr indent="0" lvl="8" marL="0" marR="0" rtl="0" algn="ctr">
              <a:spcBef>
                <a:spcPts val="0"/>
              </a:spcBef>
              <a:buNone/>
              <a:defRPr sz="1800">
                <a:solidFill>
                  <a:srgbClr val="FFFFFF"/>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86" name="Google Shape;86;p57"/>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200">
                <a:solidFill>
                  <a:schemeClr val="lt2"/>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 name="Google Shape;87;p57"/>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2"/>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59"/>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2"/>
              </a:buClr>
              <a:buSzPts val="4600"/>
              <a:buFont typeface="Cambria"/>
              <a:buNone/>
              <a:defRPr b="0" i="0" sz="4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9" name="Google Shape;159;p59"/>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lvl1pPr indent="-368300" lvl="0" marL="457200" marR="0" rtl="0" algn="l">
              <a:spcBef>
                <a:spcPts val="440"/>
              </a:spcBef>
              <a:spcAft>
                <a:spcPts val="0"/>
              </a:spcAft>
              <a:buClr>
                <a:schemeClr val="accent1"/>
              </a:buClr>
              <a:buSzPts val="2200"/>
              <a:buFont typeface="Arial"/>
              <a:buChar char="•"/>
              <a:defRPr b="0" i="0" sz="22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accent2"/>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accent3"/>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accent4"/>
              </a:buClr>
              <a:buSzPts val="1600"/>
              <a:buFont typeface="Arial"/>
              <a:buChar char="•"/>
              <a:defRPr b="0" i="0" sz="1600" u="none" cap="none" strike="noStrike">
                <a:solidFill>
                  <a:schemeClr val="dk1"/>
                </a:solidFill>
                <a:latin typeface="Calibri"/>
                <a:ea typeface="Calibri"/>
                <a:cs typeface="Calibri"/>
                <a:sym typeface="Calibri"/>
              </a:defRPr>
            </a:lvl4pPr>
            <a:lvl5pPr indent="-317500" lvl="4" marL="2286000" marR="0" rtl="0" algn="l">
              <a:spcBef>
                <a:spcPts val="280"/>
              </a:spcBef>
              <a:spcAft>
                <a:spcPts val="0"/>
              </a:spcAft>
              <a:buClr>
                <a:schemeClr val="accent5"/>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spcBef>
                <a:spcPts val="28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spcBef>
                <a:spcPts val="280"/>
              </a:spcBef>
              <a:spcAft>
                <a:spcPts val="0"/>
              </a:spcAft>
              <a:buClr>
                <a:schemeClr val="accent2"/>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spcBef>
                <a:spcPts val="28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spcBef>
                <a:spcPts val="280"/>
              </a:spcBef>
              <a:spcAft>
                <a:spcPts val="0"/>
              </a:spcAft>
              <a:buClr>
                <a:schemeClr val="accent4"/>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60" name="Google Shape;160;p59"/>
          <p:cNvSpPr/>
          <p:nvPr/>
        </p:nvSpPr>
        <p:spPr>
          <a:xfrm>
            <a:off x="8458200" y="0"/>
            <a:ext cx="6858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61" name="Google Shape;161;p59"/>
          <p:cNvSpPr/>
          <p:nvPr/>
        </p:nvSpPr>
        <p:spPr>
          <a:xfrm>
            <a:off x="8458200" y="5486400"/>
            <a:ext cx="68580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62" name="Google Shape;162;p59"/>
          <p:cNvSpPr/>
          <p:nvPr>
            <p:ph idx="12" type="sldNum"/>
          </p:nvPr>
        </p:nvSpPr>
        <p:spPr>
          <a:xfrm>
            <a:off x="8531788" y="5648960"/>
            <a:ext cx="54864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marR="0" rtl="0" algn="ctr">
              <a:spcBef>
                <a:spcPts val="0"/>
              </a:spcBef>
              <a:buNone/>
              <a:defRPr sz="1800">
                <a:solidFill>
                  <a:srgbClr val="FFFFFF"/>
                </a:solidFill>
                <a:latin typeface="Calibri"/>
                <a:ea typeface="Calibri"/>
                <a:cs typeface="Calibri"/>
                <a:sym typeface="Calibri"/>
              </a:defRPr>
            </a:lvl1pPr>
            <a:lvl2pPr indent="0" lvl="1" marL="0" marR="0" rtl="0" algn="ctr">
              <a:spcBef>
                <a:spcPts val="0"/>
              </a:spcBef>
              <a:buNone/>
              <a:defRPr sz="1800">
                <a:solidFill>
                  <a:srgbClr val="FFFFFF"/>
                </a:solidFill>
                <a:latin typeface="Calibri"/>
                <a:ea typeface="Calibri"/>
                <a:cs typeface="Calibri"/>
                <a:sym typeface="Calibri"/>
              </a:defRPr>
            </a:lvl2pPr>
            <a:lvl3pPr indent="0" lvl="2" marL="0" marR="0" rtl="0" algn="ctr">
              <a:spcBef>
                <a:spcPts val="0"/>
              </a:spcBef>
              <a:buNone/>
              <a:defRPr sz="1800">
                <a:solidFill>
                  <a:srgbClr val="FFFFFF"/>
                </a:solidFill>
                <a:latin typeface="Calibri"/>
                <a:ea typeface="Calibri"/>
                <a:cs typeface="Calibri"/>
                <a:sym typeface="Calibri"/>
              </a:defRPr>
            </a:lvl3pPr>
            <a:lvl4pPr indent="0" lvl="3" marL="0" marR="0" rtl="0" algn="ctr">
              <a:spcBef>
                <a:spcPts val="0"/>
              </a:spcBef>
              <a:buNone/>
              <a:defRPr sz="1800">
                <a:solidFill>
                  <a:srgbClr val="FFFFFF"/>
                </a:solidFill>
                <a:latin typeface="Calibri"/>
                <a:ea typeface="Calibri"/>
                <a:cs typeface="Calibri"/>
                <a:sym typeface="Calibri"/>
              </a:defRPr>
            </a:lvl4pPr>
            <a:lvl5pPr indent="0" lvl="4" marL="0" marR="0" rtl="0" algn="ctr">
              <a:spcBef>
                <a:spcPts val="0"/>
              </a:spcBef>
              <a:buNone/>
              <a:defRPr sz="1800">
                <a:solidFill>
                  <a:srgbClr val="FFFFFF"/>
                </a:solidFill>
                <a:latin typeface="Calibri"/>
                <a:ea typeface="Calibri"/>
                <a:cs typeface="Calibri"/>
                <a:sym typeface="Calibri"/>
              </a:defRPr>
            </a:lvl5pPr>
            <a:lvl6pPr indent="0" lvl="5" marL="0" marR="0" rtl="0" algn="ctr">
              <a:spcBef>
                <a:spcPts val="0"/>
              </a:spcBef>
              <a:buNone/>
              <a:defRPr sz="1800">
                <a:solidFill>
                  <a:srgbClr val="FFFFFF"/>
                </a:solidFill>
                <a:latin typeface="Calibri"/>
                <a:ea typeface="Calibri"/>
                <a:cs typeface="Calibri"/>
                <a:sym typeface="Calibri"/>
              </a:defRPr>
            </a:lvl6pPr>
            <a:lvl7pPr indent="0" lvl="6" marL="0" marR="0" rtl="0" algn="ctr">
              <a:spcBef>
                <a:spcPts val="0"/>
              </a:spcBef>
              <a:buNone/>
              <a:defRPr sz="1800">
                <a:solidFill>
                  <a:srgbClr val="FFFFFF"/>
                </a:solidFill>
                <a:latin typeface="Calibri"/>
                <a:ea typeface="Calibri"/>
                <a:cs typeface="Calibri"/>
                <a:sym typeface="Calibri"/>
              </a:defRPr>
            </a:lvl7pPr>
            <a:lvl8pPr indent="0" lvl="7" marL="0" marR="0" rtl="0" algn="ctr">
              <a:spcBef>
                <a:spcPts val="0"/>
              </a:spcBef>
              <a:buNone/>
              <a:defRPr sz="1800">
                <a:solidFill>
                  <a:srgbClr val="FFFFFF"/>
                </a:solidFill>
                <a:latin typeface="Calibri"/>
                <a:ea typeface="Calibri"/>
                <a:cs typeface="Calibri"/>
                <a:sym typeface="Calibri"/>
              </a:defRPr>
            </a:lvl8pPr>
            <a:lvl9pPr indent="0" lvl="8" marL="0" marR="0" rtl="0" algn="ctr">
              <a:spcBef>
                <a:spcPts val="0"/>
              </a:spcBef>
              <a:buNone/>
              <a:defRPr sz="1800">
                <a:solidFill>
                  <a:srgbClr val="FFFFFF"/>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63" name="Google Shape;163;p59"/>
          <p:cNvSpPr txBox="1"/>
          <p:nvPr>
            <p:ph idx="11" type="ftr"/>
          </p:nvPr>
        </p:nvSpPr>
        <p:spPr>
          <a:xfrm rot="-5400000">
            <a:off x="7586910" y="4048760"/>
            <a:ext cx="2367281" cy="36576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200">
                <a:solidFill>
                  <a:schemeClr val="lt2"/>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4" name="Google Shape;164;p59"/>
          <p:cNvSpPr txBox="1"/>
          <p:nvPr>
            <p:ph idx="10" type="dt"/>
          </p:nvPr>
        </p:nvSpPr>
        <p:spPr>
          <a:xfrm rot="-5400000">
            <a:off x="7551351" y="1645920"/>
            <a:ext cx="2438399"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2"/>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 Id="rId3"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Module 3 (Part 2)  </a:t>
            </a:r>
            <a:endParaRPr/>
          </a:p>
        </p:txBody>
      </p:sp>
      <p:sp>
        <p:nvSpPr>
          <p:cNvPr id="239" name="Google Shape;23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Outline</a:t>
            </a:r>
            <a:endParaRPr/>
          </a:p>
        </p:txBody>
      </p:sp>
      <p:sp>
        <p:nvSpPr>
          <p:cNvPr id="245" name="Google Shape;245;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Data Control Commands</a:t>
            </a:r>
            <a:endParaRPr/>
          </a:p>
          <a:p>
            <a:pPr indent="-342900" lvl="0" marL="342900" rtl="0" algn="l">
              <a:spcBef>
                <a:spcPts val="640"/>
              </a:spcBef>
              <a:spcAft>
                <a:spcPts val="0"/>
              </a:spcAft>
              <a:buClr>
                <a:schemeClr val="dk1"/>
              </a:buClr>
              <a:buSzPts val="3200"/>
              <a:buChar char="•"/>
            </a:pPr>
            <a:r>
              <a:rPr lang="en-US"/>
              <a:t>Views in SQL</a:t>
            </a:r>
            <a:endParaRPr/>
          </a:p>
          <a:p>
            <a:pPr indent="-342900" lvl="0" marL="342900" rtl="0" algn="l">
              <a:spcBef>
                <a:spcPts val="640"/>
              </a:spcBef>
              <a:spcAft>
                <a:spcPts val="0"/>
              </a:spcAft>
              <a:buClr>
                <a:schemeClr val="dk1"/>
              </a:buClr>
              <a:buSzPts val="3200"/>
              <a:buChar char="•"/>
            </a:pPr>
            <a:r>
              <a:rPr lang="en-US"/>
              <a:t>Triggers</a:t>
            </a:r>
            <a:endParaRPr/>
          </a:p>
          <a:p>
            <a:pPr indent="-342900" lvl="0" marL="342900" rtl="0" algn="l">
              <a:spcBef>
                <a:spcPts val="640"/>
              </a:spcBef>
              <a:spcAft>
                <a:spcPts val="0"/>
              </a:spcAft>
              <a:buClr>
                <a:schemeClr val="dk1"/>
              </a:buClr>
              <a:buSzPts val="3200"/>
              <a:buChar char="•"/>
            </a:pPr>
            <a:r>
              <a:rPr lang="en-US"/>
              <a:t>Assertions</a:t>
            </a:r>
            <a:endParaRPr/>
          </a:p>
          <a:p>
            <a:pPr indent="-342900" lvl="0" marL="342900" rtl="0" algn="l">
              <a:spcBef>
                <a:spcPts val="640"/>
              </a:spcBef>
              <a:spcAft>
                <a:spcPts val="0"/>
              </a:spcAft>
              <a:buClr>
                <a:schemeClr val="dk1"/>
              </a:buClr>
              <a:buSzPts val="3200"/>
              <a:buChar char="•"/>
            </a:pPr>
            <a:r>
              <a:rPr lang="en-US"/>
              <a:t>Security and Authorization in SQL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Introduction to DCL</a:t>
            </a:r>
            <a:endParaRPr/>
          </a:p>
        </p:txBody>
      </p:sp>
      <p:sp>
        <p:nvSpPr>
          <p:cNvPr id="251" name="Google Shape;251;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DCL stands for Data Control Language.</a:t>
            </a:r>
            <a:endParaRPr/>
          </a:p>
          <a:p>
            <a:pPr indent="-342900" lvl="0" marL="342900" rtl="0" algn="l">
              <a:spcBef>
                <a:spcPts val="592"/>
              </a:spcBef>
              <a:spcAft>
                <a:spcPts val="0"/>
              </a:spcAft>
              <a:buClr>
                <a:schemeClr val="dk1"/>
              </a:buClr>
              <a:buSzPct val="100000"/>
              <a:buChar char="•"/>
            </a:pPr>
            <a:r>
              <a:rPr lang="en-US"/>
              <a:t>DCL is used to control user access in a database.</a:t>
            </a:r>
            <a:endParaRPr/>
          </a:p>
          <a:p>
            <a:pPr indent="-342900" lvl="0" marL="342900" rtl="0" algn="l">
              <a:spcBef>
                <a:spcPts val="592"/>
              </a:spcBef>
              <a:spcAft>
                <a:spcPts val="0"/>
              </a:spcAft>
              <a:buClr>
                <a:schemeClr val="dk1"/>
              </a:buClr>
              <a:buSzPct val="100000"/>
              <a:buChar char="•"/>
            </a:pPr>
            <a:r>
              <a:rPr lang="en-US"/>
              <a:t>This command is related to the security issues.</a:t>
            </a:r>
            <a:endParaRPr/>
          </a:p>
          <a:p>
            <a:pPr indent="-342900" lvl="0" marL="342900" rtl="0" algn="l">
              <a:spcBef>
                <a:spcPts val="592"/>
              </a:spcBef>
              <a:spcAft>
                <a:spcPts val="0"/>
              </a:spcAft>
              <a:buClr>
                <a:schemeClr val="dk1"/>
              </a:buClr>
              <a:buSzPct val="100000"/>
              <a:buChar char="•"/>
            </a:pPr>
            <a:r>
              <a:rPr lang="en-US"/>
              <a:t>Using DCL command, it allows or restricts the user from accessing data in database schema.</a:t>
            </a:r>
            <a:endParaRPr/>
          </a:p>
          <a:p>
            <a:pPr indent="-342900" lvl="0" marL="342900" rtl="0" algn="l">
              <a:spcBef>
                <a:spcPts val="592"/>
              </a:spcBef>
              <a:spcAft>
                <a:spcPts val="0"/>
              </a:spcAft>
              <a:buClr>
                <a:schemeClr val="dk1"/>
              </a:buClr>
              <a:buSzPct val="100000"/>
              <a:buChar char="•"/>
            </a:pPr>
            <a:r>
              <a:rPr lang="en-US"/>
              <a:t>DCL commands are as follows,</a:t>
            </a:r>
            <a:endParaRPr/>
          </a:p>
          <a:p>
            <a:pPr indent="-285750" lvl="1" marL="742950" rtl="0" algn="l">
              <a:spcBef>
                <a:spcPts val="518"/>
              </a:spcBef>
              <a:spcAft>
                <a:spcPts val="0"/>
              </a:spcAft>
              <a:buClr>
                <a:schemeClr val="dk1"/>
              </a:buClr>
              <a:buSzPct val="100000"/>
              <a:buChar char="–"/>
            </a:pPr>
            <a:r>
              <a:rPr lang="en-US"/>
              <a:t>GRANT</a:t>
            </a:r>
            <a:endParaRPr/>
          </a:p>
          <a:p>
            <a:pPr indent="-285750" lvl="1" marL="742950" rtl="0" algn="l">
              <a:spcBef>
                <a:spcPts val="518"/>
              </a:spcBef>
              <a:spcAft>
                <a:spcPts val="0"/>
              </a:spcAft>
              <a:buClr>
                <a:schemeClr val="dk1"/>
              </a:buClr>
              <a:buSzPct val="100000"/>
              <a:buChar char="–"/>
            </a:pPr>
            <a:r>
              <a:rPr lang="en-US"/>
              <a:t>REVOKE</a:t>
            </a:r>
            <a:endParaRPr/>
          </a:p>
          <a:p>
            <a:pPr indent="-342900" lvl="0" marL="342900" rtl="0" algn="l">
              <a:spcBef>
                <a:spcPts val="592"/>
              </a:spcBef>
              <a:spcAft>
                <a:spcPts val="0"/>
              </a:spcAft>
              <a:buClr>
                <a:schemeClr val="dk1"/>
              </a:buClr>
              <a:buSzPct val="100000"/>
              <a:buChar char="•"/>
            </a:pPr>
            <a:r>
              <a:rPr lang="en-US"/>
              <a:t>It is used to grant or revoke access permissions from any database user.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 GRANT COMMAND</a:t>
            </a:r>
            <a:endParaRPr/>
          </a:p>
        </p:txBody>
      </p:sp>
      <p:sp>
        <p:nvSpPr>
          <p:cNvPr id="257" name="Google Shape;25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GRANT command</a:t>
            </a:r>
            <a:r>
              <a:rPr lang="en-US"/>
              <a:t> gives user's access privileges to the database.</a:t>
            </a:r>
            <a:endParaRPr/>
          </a:p>
          <a:p>
            <a:pPr indent="-342900" lvl="0" marL="342900" rtl="0" algn="l">
              <a:spcBef>
                <a:spcPts val="640"/>
              </a:spcBef>
              <a:spcAft>
                <a:spcPts val="0"/>
              </a:spcAft>
              <a:buClr>
                <a:schemeClr val="dk1"/>
              </a:buClr>
              <a:buSzPts val="3200"/>
              <a:buChar char="•"/>
            </a:pPr>
            <a:r>
              <a:rPr lang="en-US"/>
              <a:t>This command allows specified users to perform specific tasks.</a:t>
            </a:r>
            <a:endParaRPr/>
          </a:p>
          <a:p>
            <a:pPr indent="-139700" lvl="0" marL="342900" rtl="0" algn="l">
              <a:spcBef>
                <a:spcPts val="640"/>
              </a:spcBef>
              <a:spcAft>
                <a:spcPts val="0"/>
              </a:spcAft>
              <a:buClr>
                <a:schemeClr val="dk1"/>
              </a:buClr>
              <a:buSzPts val="3200"/>
              <a:buNone/>
            </a:pPr>
            <a:r>
              <a:t/>
            </a:r>
            <a:endParaRPr/>
          </a:p>
        </p:txBody>
      </p:sp>
      <p:sp>
        <p:nvSpPr>
          <p:cNvPr id="258" name="Google Shape;258;p4"/>
          <p:cNvSpPr/>
          <p:nvPr/>
        </p:nvSpPr>
        <p:spPr>
          <a:xfrm>
            <a:off x="611560" y="3587532"/>
            <a:ext cx="468052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Syntax:</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GRANT &lt;privilege list&gt;</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ON &lt;relation name or view name&gt;</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TO &lt;user/role list&gt;;</a:t>
            </a:r>
            <a:endParaRPr/>
          </a:p>
        </p:txBody>
      </p:sp>
      <p:sp>
        <p:nvSpPr>
          <p:cNvPr id="259" name="Google Shape;259;p4"/>
          <p:cNvSpPr/>
          <p:nvPr/>
        </p:nvSpPr>
        <p:spPr>
          <a:xfrm>
            <a:off x="5796136" y="3905761"/>
            <a:ext cx="2592288"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GRANT ALL ON employee</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TO ABC;</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[WITH GRANT OPTION]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REVOKE COMMAND</a:t>
            </a:r>
            <a:endParaRPr/>
          </a:p>
        </p:txBody>
      </p:sp>
      <p:sp>
        <p:nvSpPr>
          <p:cNvPr id="265" name="Google Shape;265;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REVOKE command</a:t>
            </a:r>
            <a:r>
              <a:rPr lang="en-US"/>
              <a:t> is used to cancel previously granted or denied permissions.</a:t>
            </a:r>
            <a:endParaRPr/>
          </a:p>
          <a:p>
            <a:pPr indent="-342900" lvl="0" marL="342900" rtl="0" algn="l">
              <a:spcBef>
                <a:spcPts val="640"/>
              </a:spcBef>
              <a:spcAft>
                <a:spcPts val="0"/>
              </a:spcAft>
              <a:buClr>
                <a:schemeClr val="dk1"/>
              </a:buClr>
              <a:buSzPts val="3200"/>
              <a:buChar char="•"/>
            </a:pPr>
            <a:r>
              <a:rPr lang="en-US"/>
              <a:t>This command withdraw access privileges given with the GRANT command.</a:t>
            </a:r>
            <a:endParaRPr/>
          </a:p>
          <a:p>
            <a:pPr indent="-342900" lvl="0" marL="342900" rtl="0" algn="l">
              <a:spcBef>
                <a:spcPts val="640"/>
              </a:spcBef>
              <a:spcAft>
                <a:spcPts val="0"/>
              </a:spcAft>
              <a:buClr>
                <a:schemeClr val="dk1"/>
              </a:buClr>
              <a:buSzPts val="3200"/>
              <a:buChar char="•"/>
            </a:pPr>
            <a:r>
              <a:rPr lang="en-US"/>
              <a:t>It takes back permissions from user.</a:t>
            </a:r>
            <a:br>
              <a:rPr lang="en-US"/>
            </a:br>
            <a:endParaRPr/>
          </a:p>
        </p:txBody>
      </p:sp>
      <p:sp>
        <p:nvSpPr>
          <p:cNvPr id="266" name="Google Shape;266;p5"/>
          <p:cNvSpPr/>
          <p:nvPr/>
        </p:nvSpPr>
        <p:spPr>
          <a:xfrm>
            <a:off x="323528" y="4365104"/>
            <a:ext cx="4572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Syntax: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REVOKE &lt;privilege list&gt;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ON &lt;relation name or view name&gt;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FROM &lt;user name&gt;;</a:t>
            </a:r>
            <a:endParaRPr sz="1800">
              <a:solidFill>
                <a:schemeClr val="dk1"/>
              </a:solidFill>
              <a:latin typeface="Calibri"/>
              <a:ea typeface="Calibri"/>
              <a:cs typeface="Calibri"/>
              <a:sym typeface="Calibri"/>
            </a:endParaRPr>
          </a:p>
        </p:txBody>
      </p:sp>
      <p:sp>
        <p:nvSpPr>
          <p:cNvPr id="267" name="Google Shape;267;p5"/>
          <p:cNvSpPr/>
          <p:nvPr/>
        </p:nvSpPr>
        <p:spPr>
          <a:xfrm>
            <a:off x="3923928" y="4503603"/>
            <a:ext cx="457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REVOKE UPDATE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ON employee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FROM ABC;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Difference between GRANT and REVOKE command.</a:t>
            </a:r>
            <a:endParaRPr/>
          </a:p>
        </p:txBody>
      </p:sp>
      <p:graphicFrame>
        <p:nvGraphicFramePr>
          <p:cNvPr id="273" name="Google Shape;273;p6"/>
          <p:cNvGraphicFramePr/>
          <p:nvPr/>
        </p:nvGraphicFramePr>
        <p:xfrm>
          <a:off x="539552" y="1549400"/>
          <a:ext cx="3000000" cy="3000000"/>
        </p:xfrm>
        <a:graphic>
          <a:graphicData uri="http://schemas.openxmlformats.org/drawingml/2006/table">
            <a:tbl>
              <a:tblPr>
                <a:noFill/>
                <a:tableStyleId>{CFC6A4C3-3411-43D6-A0C7-9FCFE75087CD}</a:tableStyleId>
              </a:tblPr>
              <a:tblGrid>
                <a:gridCol w="4068450"/>
                <a:gridCol w="4068450"/>
              </a:tblGrid>
              <a:tr h="289875">
                <a:tc>
                  <a:txBody>
                    <a:bodyPr/>
                    <a:lstStyle/>
                    <a:p>
                      <a:pPr indent="0" lvl="0" marL="0" marR="0" rtl="0" algn="ctr">
                        <a:spcBef>
                          <a:spcPts val="0"/>
                        </a:spcBef>
                        <a:spcAft>
                          <a:spcPts val="0"/>
                        </a:spcAft>
                        <a:buNone/>
                      </a:pPr>
                      <a:r>
                        <a:rPr b="1" lang="en-US" sz="1600" u="none" cap="none" strike="noStrike">
                          <a:solidFill>
                            <a:srgbClr val="333333"/>
                          </a:solidFill>
                        </a:rPr>
                        <a:t>GRANT</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solidFill>
                      <a:srgbClr val="E3FEAB"/>
                    </a:solidFill>
                  </a:tcPr>
                </a:tc>
                <a:tc>
                  <a:txBody>
                    <a:bodyPr/>
                    <a:lstStyle/>
                    <a:p>
                      <a:pPr indent="0" lvl="0" marL="0" marR="0" rtl="0" algn="ctr">
                        <a:spcBef>
                          <a:spcPts val="0"/>
                        </a:spcBef>
                        <a:spcAft>
                          <a:spcPts val="0"/>
                        </a:spcAft>
                        <a:buNone/>
                      </a:pPr>
                      <a:r>
                        <a:rPr b="1" lang="en-US" sz="1600" u="none" cap="none" strike="noStrike">
                          <a:solidFill>
                            <a:srgbClr val="333333"/>
                          </a:solidFill>
                        </a:rPr>
                        <a:t>REVOKE</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solidFill>
                      <a:srgbClr val="E3FEAB"/>
                    </a:solidFill>
                  </a:tcPr>
                </a:tc>
              </a:tr>
              <a:tr h="776250">
                <a:tc>
                  <a:txBody>
                    <a:bodyPr/>
                    <a:lstStyle/>
                    <a:p>
                      <a:pPr indent="0" lvl="0" marL="0" marR="0" rtl="0" algn="l">
                        <a:spcBef>
                          <a:spcPts val="0"/>
                        </a:spcBef>
                        <a:spcAft>
                          <a:spcPts val="0"/>
                        </a:spcAft>
                        <a:buNone/>
                      </a:pPr>
                      <a:r>
                        <a:rPr b="1" lang="en-US" sz="1600" u="none" cap="none" strike="noStrike"/>
                        <a:t>GRANT command</a:t>
                      </a:r>
                      <a:r>
                        <a:rPr b="0" lang="en-US" sz="1600" u="none" cap="none" strike="noStrike"/>
                        <a:t> allows a user to perform certain activities on the database.</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tcPr>
                </a:tc>
                <a:tc>
                  <a:txBody>
                    <a:bodyPr/>
                    <a:lstStyle/>
                    <a:p>
                      <a:pPr indent="0" lvl="0" marL="0" marR="0" rtl="0" algn="l">
                        <a:spcBef>
                          <a:spcPts val="0"/>
                        </a:spcBef>
                        <a:spcAft>
                          <a:spcPts val="0"/>
                        </a:spcAft>
                        <a:buNone/>
                      </a:pPr>
                      <a:r>
                        <a:rPr b="1" lang="en-US" sz="1600" u="none" cap="none" strike="noStrike"/>
                        <a:t>REVOKE command</a:t>
                      </a:r>
                      <a:r>
                        <a:rPr b="0" lang="en-US" sz="1600" u="none" cap="none" strike="noStrike"/>
                        <a:t> disallows a user to perform certain activities.</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tcPr>
                </a:tc>
              </a:tr>
              <a:tr h="776250">
                <a:tc>
                  <a:txBody>
                    <a:bodyPr/>
                    <a:lstStyle/>
                    <a:p>
                      <a:pPr indent="0" lvl="0" marL="0" marR="0" rtl="0" algn="l">
                        <a:spcBef>
                          <a:spcPts val="0"/>
                        </a:spcBef>
                        <a:spcAft>
                          <a:spcPts val="0"/>
                        </a:spcAft>
                        <a:buNone/>
                      </a:pPr>
                      <a:r>
                        <a:rPr b="0" lang="en-US" sz="1600" u="none" cap="none" strike="noStrike"/>
                        <a:t>It grants access privileges for database objects to other users.</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tcPr>
                </a:tc>
                <a:tc>
                  <a:txBody>
                    <a:bodyPr/>
                    <a:lstStyle/>
                    <a:p>
                      <a:pPr indent="0" lvl="0" marL="0" marR="0" rtl="0" algn="l">
                        <a:spcBef>
                          <a:spcPts val="0"/>
                        </a:spcBef>
                        <a:spcAft>
                          <a:spcPts val="0"/>
                        </a:spcAft>
                        <a:buNone/>
                      </a:pPr>
                      <a:r>
                        <a:rPr b="0" lang="en-US" sz="1600" u="none" cap="none" strike="noStrike"/>
                        <a:t>It revokes access privileges for database objects previously granted to other users.</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tcPr>
                </a:tc>
              </a:tr>
              <a:tr h="2670850">
                <a:tc>
                  <a:txBody>
                    <a:bodyPr/>
                    <a:lstStyle/>
                    <a:p>
                      <a:pPr indent="0" lvl="0" marL="0" marR="0" rtl="0" algn="l">
                        <a:spcBef>
                          <a:spcPts val="0"/>
                        </a:spcBef>
                        <a:spcAft>
                          <a:spcPts val="0"/>
                        </a:spcAft>
                        <a:buNone/>
                      </a:pPr>
                      <a:r>
                        <a:rPr b="1" lang="en-US" sz="1600" u="none" cap="none" strike="noStrike"/>
                        <a:t>Example:</a:t>
                      </a:r>
                      <a:br>
                        <a:rPr b="0" lang="en-US" sz="1600" u="none" cap="none" strike="noStrike"/>
                      </a:br>
                      <a:br>
                        <a:rPr b="0" lang="en-US" sz="1600" u="none" cap="none" strike="noStrike"/>
                      </a:br>
                      <a:r>
                        <a:rPr b="0" lang="en-US" sz="1600" u="none" cap="none" strike="noStrike"/>
                        <a:t>GRANT privilege_name</a:t>
                      </a:r>
                      <a:br>
                        <a:rPr b="0" lang="en-US" sz="1600" u="none" cap="none" strike="noStrike"/>
                      </a:br>
                      <a:r>
                        <a:rPr b="0" lang="en-US" sz="1600" u="none" cap="none" strike="noStrike"/>
                        <a:t>ON object_name</a:t>
                      </a:r>
                      <a:br>
                        <a:rPr b="0" lang="en-US" sz="1600" u="none" cap="none" strike="noStrike"/>
                      </a:br>
                      <a:r>
                        <a:rPr b="0" lang="en-US" sz="1600" u="none" cap="none" strike="noStrike"/>
                        <a:t>TO</a:t>
                      </a:r>
                      <a:br>
                        <a:rPr b="0" lang="en-US" sz="1600" u="none" cap="none" strike="noStrike"/>
                      </a:br>
                      <a:br>
                        <a:rPr b="0" lang="en-US" sz="1600" u="none" cap="none" strike="noStrike"/>
                      </a:br>
                      <a:r>
                        <a:rPr b="0" lang="en-US" sz="1600" u="none" cap="none" strike="noStrike"/>
                        <a:t>{</a:t>
                      </a:r>
                      <a:br>
                        <a:rPr b="0" lang="en-US" sz="1600" u="none" cap="none" strike="noStrike"/>
                      </a:br>
                      <a:r>
                        <a:rPr b="0" lang="en-US" sz="1600" u="none" cap="none" strike="noStrike"/>
                        <a:t>     user_name|PUBLIC|role_name</a:t>
                      </a:r>
                      <a:br>
                        <a:rPr b="0" lang="en-US" sz="1600" u="none" cap="none" strike="noStrike"/>
                      </a:br>
                      <a:r>
                        <a:rPr b="0" lang="en-US" sz="1600" u="none" cap="none" strike="noStrike"/>
                        <a:t>}</a:t>
                      </a:r>
                      <a:br>
                        <a:rPr b="0" lang="en-US" sz="1600" u="none" cap="none" strike="noStrike"/>
                      </a:br>
                      <a:br>
                        <a:rPr b="0" lang="en-US" sz="1600" u="none" cap="none" strike="noStrike"/>
                      </a:br>
                      <a:r>
                        <a:rPr b="0" lang="en-US" sz="1600" u="none" cap="none" strike="noStrike"/>
                        <a:t>[WITH GRANT OPTION];</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tcPr>
                </a:tc>
                <a:tc>
                  <a:txBody>
                    <a:bodyPr/>
                    <a:lstStyle/>
                    <a:p>
                      <a:pPr indent="0" lvl="0" marL="0" marR="0" rtl="0" algn="l">
                        <a:spcBef>
                          <a:spcPts val="0"/>
                        </a:spcBef>
                        <a:spcAft>
                          <a:spcPts val="0"/>
                        </a:spcAft>
                        <a:buNone/>
                      </a:pPr>
                      <a:r>
                        <a:rPr b="1" lang="en-US" sz="1600" u="none" cap="none" strike="noStrike"/>
                        <a:t>Example:</a:t>
                      </a:r>
                      <a:br>
                        <a:rPr b="0" lang="en-US" sz="1600" u="none" cap="none" strike="noStrike"/>
                      </a:br>
                      <a:br>
                        <a:rPr b="0" lang="en-US" sz="1600" u="none" cap="none" strike="noStrike"/>
                      </a:br>
                      <a:r>
                        <a:rPr b="0" lang="en-US" sz="1600" u="none" cap="none" strike="noStrike"/>
                        <a:t>REVOKE privilege_name</a:t>
                      </a:r>
                      <a:br>
                        <a:rPr b="0" lang="en-US" sz="1600" u="none" cap="none" strike="noStrike"/>
                      </a:br>
                      <a:r>
                        <a:rPr b="0" lang="en-US" sz="1600" u="none" cap="none" strike="noStrike"/>
                        <a:t>ON object_name</a:t>
                      </a:r>
                      <a:br>
                        <a:rPr b="0" lang="en-US" sz="1600" u="none" cap="none" strike="noStrike"/>
                      </a:br>
                      <a:br>
                        <a:rPr b="0" lang="en-US" sz="1600" u="none" cap="none" strike="noStrike"/>
                      </a:br>
                      <a:r>
                        <a:rPr b="0" lang="en-US" sz="1600" u="none" cap="none" strike="noStrike"/>
                        <a:t>FROM</a:t>
                      </a:r>
                      <a:br>
                        <a:rPr b="0" lang="en-US" sz="1600" u="none" cap="none" strike="noStrike"/>
                      </a:br>
                      <a:r>
                        <a:rPr b="0" lang="en-US" sz="1600" u="none" cap="none" strike="noStrike"/>
                        <a:t>{</a:t>
                      </a:r>
                      <a:br>
                        <a:rPr b="0" lang="en-US" sz="1600" u="none" cap="none" strike="noStrike"/>
                      </a:br>
                      <a:r>
                        <a:rPr b="0" lang="en-US" sz="1600" u="none" cap="none" strike="noStrike"/>
                        <a:t>     user_name|PUBLIC|role_name</a:t>
                      </a:r>
                      <a:br>
                        <a:rPr b="0" lang="en-US" sz="1600" u="none" cap="none" strike="noStrike"/>
                      </a:br>
                      <a:r>
                        <a:rPr b="0" lang="en-US" sz="1600" u="none" cap="none" strike="noStrike"/>
                        <a:t>}</a:t>
                      </a:r>
                      <a:endParaRPr/>
                    </a:p>
                  </a:txBody>
                  <a:tcPr marT="32900" marB="32900" marR="32900" marL="32900">
                    <a:lnL cap="flat" cmpd="sng" w="9525">
                      <a:solidFill>
                        <a:srgbClr val="008080"/>
                      </a:solidFill>
                      <a:prstDash val="solid"/>
                      <a:round/>
                      <a:headEnd len="sm" w="sm" type="none"/>
                      <a:tailEnd len="sm" w="sm" type="none"/>
                    </a:lnL>
                    <a:lnR cap="flat" cmpd="sng" w="9525">
                      <a:solidFill>
                        <a:srgbClr val="008080"/>
                      </a:solidFill>
                      <a:prstDash val="solid"/>
                      <a:round/>
                      <a:headEnd len="sm" w="sm" type="none"/>
                      <a:tailEnd len="sm" w="sm" type="none"/>
                    </a:lnR>
                    <a:lnT cap="flat" cmpd="sng" w="9525">
                      <a:solidFill>
                        <a:srgbClr val="008080"/>
                      </a:solidFill>
                      <a:prstDash val="solid"/>
                      <a:round/>
                      <a:headEnd len="sm" w="sm" type="none"/>
                      <a:tailEnd len="sm" w="sm" type="none"/>
                    </a:lnT>
                    <a:lnB cap="flat" cmpd="sng" w="9525">
                      <a:solidFill>
                        <a:srgbClr val="008080"/>
                      </a:solidFill>
                      <a:prstDash val="solid"/>
                      <a:round/>
                      <a:headEnd len="sm" w="sm" type="none"/>
                      <a:tailEnd len="sm" w="sm" type="none"/>
                    </a:lnB>
                  </a:tcPr>
                </a:tc>
              </a:tr>
            </a:tbl>
          </a:graphicData>
        </a:graphic>
      </p:graphicFrame>
      <p:sp>
        <p:nvSpPr>
          <p:cNvPr id="274" name="Google Shape;274;p6"/>
          <p:cNvSpPr/>
          <p:nvPr/>
        </p:nvSpPr>
        <p:spPr>
          <a:xfrm>
            <a:off x="1290638" y="15367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Introduction to Views</a:t>
            </a:r>
            <a:endParaRPr/>
          </a:p>
        </p:txBody>
      </p:sp>
      <p:sp>
        <p:nvSpPr>
          <p:cNvPr id="280" name="Google Shape;280;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View is a virtual table that contains rows and columns, just like a real table.</a:t>
            </a:r>
            <a:endParaRPr/>
          </a:p>
          <a:p>
            <a:pPr indent="-342900" lvl="0" marL="342900" rtl="0" algn="l">
              <a:spcBef>
                <a:spcPts val="640"/>
              </a:spcBef>
              <a:spcAft>
                <a:spcPts val="0"/>
              </a:spcAft>
              <a:buClr>
                <a:schemeClr val="dk1"/>
              </a:buClr>
              <a:buSzPts val="3200"/>
              <a:buChar char="•"/>
            </a:pPr>
            <a:r>
              <a:rPr lang="en-US"/>
              <a:t>It is used to hide complexity of query from user.</a:t>
            </a:r>
            <a:endParaRPr/>
          </a:p>
          <a:p>
            <a:pPr indent="-342900" lvl="0" marL="342900" rtl="0" algn="l">
              <a:spcBef>
                <a:spcPts val="640"/>
              </a:spcBef>
              <a:spcAft>
                <a:spcPts val="0"/>
              </a:spcAft>
              <a:buClr>
                <a:schemeClr val="dk1"/>
              </a:buClr>
              <a:buSzPts val="3200"/>
              <a:buChar char="•"/>
            </a:pPr>
            <a:r>
              <a:rPr lang="en-US"/>
              <a:t>A virtual table does not exist physically, it is created by a SQL statement that joins one or more tables.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4" name="Shape 284"/>
        <p:cNvGrpSpPr/>
        <p:nvPr/>
      </p:nvGrpSpPr>
      <p:grpSpPr>
        <a:xfrm>
          <a:off x="0" y="0"/>
          <a:ext cx="0" cy="0"/>
          <a:chOff x="0" y="0"/>
          <a:chExt cx="0" cy="0"/>
        </a:xfrm>
      </p:grpSpPr>
      <p:sp>
        <p:nvSpPr>
          <p:cNvPr id="285" name="Google Shape;285;p8"/>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Views in SQL</a:t>
            </a:r>
            <a:endParaRPr b="1" sz="4000"/>
          </a:p>
        </p:txBody>
      </p:sp>
      <p:sp>
        <p:nvSpPr>
          <p:cNvPr id="286" name="Google Shape;286;p8"/>
          <p:cNvSpPr txBox="1"/>
          <p:nvPr>
            <p:ph idx="1" type="body"/>
          </p:nvPr>
        </p:nvSpPr>
        <p:spPr>
          <a:xfrm>
            <a:off x="381000" y="15240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In SQL, a view is a </a:t>
            </a:r>
            <a:r>
              <a:rPr b="1" lang="en-US"/>
              <a:t>virtual table </a:t>
            </a:r>
            <a:r>
              <a:rPr lang="en-US"/>
              <a:t>containing the records of one or more tables based on SQL statement executed. </a:t>
            </a:r>
            <a:endParaRPr/>
          </a:p>
          <a:p>
            <a:pPr indent="-228600" lvl="0" marL="342900" rtl="0" algn="l">
              <a:spcBef>
                <a:spcPts val="1040"/>
              </a:spcBef>
              <a:spcAft>
                <a:spcPts val="0"/>
              </a:spcAft>
              <a:buSzPts val="2200"/>
              <a:buChar char="•"/>
            </a:pPr>
            <a:r>
              <a:rPr lang="en-US"/>
              <a:t>Just like a real table, view contains rows and columns. </a:t>
            </a:r>
            <a:endParaRPr/>
          </a:p>
          <a:p>
            <a:pPr indent="-228600" lvl="0" marL="342900" rtl="0" algn="l">
              <a:spcBef>
                <a:spcPts val="1040"/>
              </a:spcBef>
              <a:spcAft>
                <a:spcPts val="0"/>
              </a:spcAft>
              <a:buSzPts val="2200"/>
              <a:buChar char="•"/>
            </a:pPr>
            <a:r>
              <a:rPr lang="en-US"/>
              <a:t>You can add SQL functions, WHERE, and JOIN statements to a view and present the data as if the data were coming from one single table</a:t>
            </a:r>
            <a:endParaRPr/>
          </a:p>
          <a:p>
            <a:pPr indent="-228600" lvl="0" marL="342900" rtl="0" algn="l">
              <a:spcBef>
                <a:spcPts val="1040"/>
              </a:spcBef>
              <a:spcAft>
                <a:spcPts val="0"/>
              </a:spcAft>
              <a:buSzPts val="2200"/>
              <a:buChar char="•"/>
            </a:pPr>
            <a:r>
              <a:rPr lang="en-US"/>
              <a:t>The changes made in the table get automatically reflected in original table and vice versa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0" name="Shape 290"/>
        <p:cNvGrpSpPr/>
        <p:nvPr/>
      </p:nvGrpSpPr>
      <p:grpSpPr>
        <a:xfrm>
          <a:off x="0" y="0"/>
          <a:ext cx="0" cy="0"/>
          <a:chOff x="0" y="0"/>
          <a:chExt cx="0" cy="0"/>
        </a:xfrm>
      </p:grpSpPr>
      <p:sp>
        <p:nvSpPr>
          <p:cNvPr id="291" name="Google Shape;291;p9"/>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Views in SQL</a:t>
            </a:r>
            <a:endParaRPr b="1" sz="4000"/>
          </a:p>
        </p:txBody>
      </p:sp>
      <p:sp>
        <p:nvSpPr>
          <p:cNvPr id="292" name="Google Shape;292;p9"/>
          <p:cNvSpPr txBox="1"/>
          <p:nvPr>
            <p:ph idx="1" type="body"/>
          </p:nvPr>
        </p:nvSpPr>
        <p:spPr>
          <a:xfrm>
            <a:off x="381000" y="1295400"/>
            <a:ext cx="7620000" cy="4800600"/>
          </a:xfrm>
          <a:prstGeom prst="rect">
            <a:avLst/>
          </a:prstGeom>
          <a:noFill/>
          <a:ln>
            <a:noFill/>
          </a:ln>
        </p:spPr>
        <p:txBody>
          <a:bodyPr anchorCtr="0" anchor="t" bIns="45700" lIns="91425" spcFirstLastPara="1" rIns="91425" wrap="square" tIns="45700">
            <a:normAutofit/>
          </a:bodyPr>
          <a:lstStyle/>
          <a:p>
            <a:pPr indent="0" lvl="0" marL="114300" rtl="0" algn="l">
              <a:spcBef>
                <a:spcPts val="0"/>
              </a:spcBef>
              <a:spcAft>
                <a:spcPts val="0"/>
              </a:spcAft>
              <a:buSzPts val="2200"/>
              <a:buNone/>
            </a:pPr>
            <a:r>
              <a:rPr b="1" lang="en-US" u="sng"/>
              <a:t>Purpose of View:</a:t>
            </a:r>
            <a:endParaRPr/>
          </a:p>
          <a:p>
            <a:pPr indent="-228600" lvl="0" marL="342900" rtl="0" algn="l">
              <a:spcBef>
                <a:spcPts val="440"/>
              </a:spcBef>
              <a:spcAft>
                <a:spcPts val="0"/>
              </a:spcAft>
              <a:buSzPts val="2200"/>
              <a:buChar char="•"/>
            </a:pPr>
            <a:r>
              <a:rPr lang="en-US"/>
              <a:t>View is very useful in maintaining the security of database</a:t>
            </a:r>
            <a:endParaRPr/>
          </a:p>
          <a:p>
            <a:pPr indent="-228600" lvl="0" marL="342900" rtl="0" algn="l">
              <a:spcBef>
                <a:spcPts val="440"/>
              </a:spcBef>
              <a:spcAft>
                <a:spcPts val="0"/>
              </a:spcAft>
              <a:buSzPts val="2200"/>
              <a:buChar char="•"/>
            </a:pPr>
            <a:r>
              <a:rPr lang="en-US"/>
              <a:t>Consider a base table employee having following data</a:t>
            </a:r>
            <a:endParaRPr/>
          </a:p>
        </p:txBody>
      </p:sp>
      <p:graphicFrame>
        <p:nvGraphicFramePr>
          <p:cNvPr id="293" name="Google Shape;293;p9"/>
          <p:cNvGraphicFramePr/>
          <p:nvPr/>
        </p:nvGraphicFramePr>
        <p:xfrm>
          <a:off x="838200" y="3048000"/>
          <a:ext cx="3000000" cy="3000000"/>
        </p:xfrm>
        <a:graphic>
          <a:graphicData uri="http://schemas.openxmlformats.org/drawingml/2006/table">
            <a:tbl>
              <a:tblPr bandRow="1" firstRow="1">
                <a:noFill/>
                <a:tableStyleId>{CFC6A4C3-3411-43D6-A0C7-9FCFE75087CD}</a:tableStyleId>
              </a:tblPr>
              <a:tblGrid>
                <a:gridCol w="1371600"/>
                <a:gridCol w="1905000"/>
                <a:gridCol w="1524000"/>
                <a:gridCol w="1905000"/>
              </a:tblGrid>
              <a:tr h="370850">
                <a:tc>
                  <a:txBody>
                    <a:bodyPr/>
                    <a:lstStyle/>
                    <a:p>
                      <a:pPr indent="0" lvl="0" marL="0" marR="0" rtl="0" algn="ctr">
                        <a:spcBef>
                          <a:spcPts val="0"/>
                        </a:spcBef>
                        <a:spcAft>
                          <a:spcPts val="0"/>
                        </a:spcAft>
                        <a:buNone/>
                      </a:pPr>
                      <a:r>
                        <a:rPr b="1" lang="en-US" sz="2200" u="none" cap="none" strike="noStrike"/>
                        <a:t>Emp_id</a:t>
                      </a:r>
                      <a:endParaRPr b="1" sz="2200" u="none" cap="none" strike="noStrike"/>
                    </a:p>
                  </a:txBody>
                  <a:tcPr marT="45725" marB="45725" marR="91450" marL="91450"/>
                </a:tc>
                <a:tc>
                  <a:txBody>
                    <a:bodyPr/>
                    <a:lstStyle/>
                    <a:p>
                      <a:pPr indent="0" lvl="0" marL="0" marR="0" rtl="0" algn="ctr">
                        <a:spcBef>
                          <a:spcPts val="0"/>
                        </a:spcBef>
                        <a:spcAft>
                          <a:spcPts val="0"/>
                        </a:spcAft>
                        <a:buNone/>
                      </a:pPr>
                      <a:r>
                        <a:rPr b="1" lang="en-US" sz="2200" u="none" cap="none" strike="noStrike"/>
                        <a:t>Emp_name</a:t>
                      </a:r>
                      <a:endParaRPr b="1" sz="2200" u="none" cap="none" strike="noStrike"/>
                    </a:p>
                  </a:txBody>
                  <a:tcPr marT="45725" marB="45725" marR="91450" marL="91450"/>
                </a:tc>
                <a:tc>
                  <a:txBody>
                    <a:bodyPr/>
                    <a:lstStyle/>
                    <a:p>
                      <a:pPr indent="0" lvl="0" marL="0" marR="0" rtl="0" algn="ctr">
                        <a:spcBef>
                          <a:spcPts val="0"/>
                        </a:spcBef>
                        <a:spcAft>
                          <a:spcPts val="0"/>
                        </a:spcAft>
                        <a:buNone/>
                      </a:pPr>
                      <a:r>
                        <a:rPr b="1" lang="en-US" sz="2200" u="none" cap="none" strike="noStrike"/>
                        <a:t>Salary </a:t>
                      </a:r>
                      <a:endParaRPr b="1" sz="2200" u="none" cap="none" strike="noStrike"/>
                    </a:p>
                  </a:txBody>
                  <a:tcPr marT="45725" marB="45725" marR="91450" marL="91450"/>
                </a:tc>
                <a:tc>
                  <a:txBody>
                    <a:bodyPr/>
                    <a:lstStyle/>
                    <a:p>
                      <a:pPr indent="0" lvl="0" marL="0" marR="0" rtl="0" algn="ctr">
                        <a:spcBef>
                          <a:spcPts val="0"/>
                        </a:spcBef>
                        <a:spcAft>
                          <a:spcPts val="0"/>
                        </a:spcAft>
                        <a:buNone/>
                      </a:pPr>
                      <a:r>
                        <a:rPr b="1" lang="en-US" sz="2200" u="none" cap="none" strike="noStrike"/>
                        <a:t>Address</a:t>
                      </a:r>
                      <a:endParaRPr b="1" sz="2200" u="none" cap="none" strike="noStrike"/>
                    </a:p>
                  </a:txBody>
                  <a:tcPr marT="45725" marB="45725" marR="91450" marL="91450"/>
                </a:tc>
              </a:tr>
              <a:tr h="162550">
                <a:tc>
                  <a:txBody>
                    <a:bodyPr/>
                    <a:lstStyle/>
                    <a:p>
                      <a:pPr indent="0" lvl="0" marL="0" marR="0" rtl="0" algn="ctr">
                        <a:spcBef>
                          <a:spcPts val="0"/>
                        </a:spcBef>
                        <a:spcAft>
                          <a:spcPts val="0"/>
                        </a:spcAft>
                        <a:buNone/>
                      </a:pPr>
                      <a:r>
                        <a:rPr lang="en-US" sz="2200" u="none" cap="none" strike="noStrike"/>
                        <a:t>E1</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Kunal</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8000</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Camp</a:t>
                      </a:r>
                      <a:endParaRPr sz="2200" u="none" cap="none" strike="noStrike"/>
                    </a:p>
                  </a:txBody>
                  <a:tcPr marT="45725" marB="45725" marR="91450" marL="91450"/>
                </a:tc>
              </a:tr>
              <a:tr h="238750">
                <a:tc>
                  <a:txBody>
                    <a:bodyPr/>
                    <a:lstStyle/>
                    <a:p>
                      <a:pPr indent="0" lvl="0" marL="0" marR="0" rtl="0" algn="ctr">
                        <a:spcBef>
                          <a:spcPts val="0"/>
                        </a:spcBef>
                        <a:spcAft>
                          <a:spcPts val="0"/>
                        </a:spcAft>
                        <a:buNone/>
                      </a:pPr>
                      <a:r>
                        <a:rPr lang="en-US" sz="2200" u="none" cap="none" strike="noStrike"/>
                        <a:t>E2</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Jay</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7000</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Tilak Road</a:t>
                      </a:r>
                      <a:endParaRPr sz="2200" u="none" cap="none" strike="noStrike"/>
                    </a:p>
                  </a:txBody>
                  <a:tcPr marT="45725" marB="45725" marR="91450" marL="91450"/>
                </a:tc>
              </a:tr>
              <a:tr h="238750">
                <a:tc>
                  <a:txBody>
                    <a:bodyPr/>
                    <a:lstStyle/>
                    <a:p>
                      <a:pPr indent="0" lvl="0" marL="0" marR="0" rtl="0" algn="ctr">
                        <a:spcBef>
                          <a:spcPts val="0"/>
                        </a:spcBef>
                        <a:spcAft>
                          <a:spcPts val="0"/>
                        </a:spcAft>
                        <a:buNone/>
                      </a:pPr>
                      <a:r>
                        <a:rPr lang="en-US" sz="2200" u="none" cap="none" strike="noStrike"/>
                        <a:t>E3</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Radha</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9000</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Somwar Peth</a:t>
                      </a:r>
                      <a:endParaRPr sz="2200" u="none" cap="none" strike="noStrike"/>
                    </a:p>
                  </a:txBody>
                  <a:tcPr marT="45725" marB="45725" marR="91450" marL="91450"/>
                </a:tc>
              </a:tr>
              <a:tr h="238750">
                <a:tc>
                  <a:txBody>
                    <a:bodyPr/>
                    <a:lstStyle/>
                    <a:p>
                      <a:pPr indent="0" lvl="0" marL="0" marR="0" rtl="0" algn="ctr">
                        <a:spcBef>
                          <a:spcPts val="0"/>
                        </a:spcBef>
                        <a:spcAft>
                          <a:spcPts val="0"/>
                        </a:spcAft>
                        <a:buNone/>
                      </a:pPr>
                      <a:r>
                        <a:rPr lang="en-US" sz="2200" u="none" cap="none" strike="noStrike"/>
                        <a:t>E4</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Sagar</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7800</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Warje</a:t>
                      </a:r>
                      <a:endParaRPr sz="2200" u="none" cap="none" strike="noStrike"/>
                    </a:p>
                  </a:txBody>
                  <a:tcPr marT="45725" marB="45725" marR="91450" marL="91450"/>
                </a:tc>
              </a:tr>
              <a:tr h="370850">
                <a:tc>
                  <a:txBody>
                    <a:bodyPr/>
                    <a:lstStyle/>
                    <a:p>
                      <a:pPr indent="0" lvl="0" marL="0" marR="0" rtl="0" algn="ctr">
                        <a:spcBef>
                          <a:spcPts val="0"/>
                        </a:spcBef>
                        <a:spcAft>
                          <a:spcPts val="0"/>
                        </a:spcAft>
                        <a:buNone/>
                      </a:pPr>
                      <a:r>
                        <a:rPr lang="en-US" sz="2200" u="none" cap="none" strike="noStrike"/>
                        <a:t>E5</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Supriya</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6700</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LS Road</a:t>
                      </a:r>
                      <a:endParaRPr sz="2200" u="none" cap="none" strike="noStrike"/>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7" name="Shape 297"/>
        <p:cNvGrpSpPr/>
        <p:nvPr/>
      </p:nvGrpSpPr>
      <p:grpSpPr>
        <a:xfrm>
          <a:off x="0" y="0"/>
          <a:ext cx="0" cy="0"/>
          <a:chOff x="0" y="0"/>
          <a:chExt cx="0" cy="0"/>
        </a:xfrm>
      </p:grpSpPr>
      <p:sp>
        <p:nvSpPr>
          <p:cNvPr id="298" name="Google Shape;298;p10"/>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457200" lvl="0" marL="571500" rtl="0" algn="l">
              <a:spcBef>
                <a:spcPts val="0"/>
              </a:spcBef>
              <a:spcAft>
                <a:spcPts val="0"/>
              </a:spcAft>
              <a:buSzPts val="2200"/>
              <a:buFont typeface="Cambria"/>
              <a:buAutoNum type="arabicPeriod"/>
            </a:pPr>
            <a:r>
              <a:rPr lang="en-US"/>
              <a:t>Now just consider we want to give this table to any user but </a:t>
            </a:r>
            <a:r>
              <a:rPr b="1" lang="en-US"/>
              <a:t>don’t want to show him salaries </a:t>
            </a:r>
            <a:r>
              <a:rPr lang="en-US"/>
              <a:t>of all the employees</a:t>
            </a:r>
            <a:endParaRPr/>
          </a:p>
          <a:p>
            <a:pPr indent="0" lvl="0" marL="114300" rtl="0" algn="l">
              <a:spcBef>
                <a:spcPts val="440"/>
              </a:spcBef>
              <a:spcAft>
                <a:spcPts val="0"/>
              </a:spcAft>
              <a:buSzPts val="2200"/>
              <a:buNone/>
            </a:pPr>
            <a:r>
              <a:rPr lang="en-US"/>
              <a:t>	In that we can create view from this table which will contain only the part of base table which we wish to show to user</a:t>
            </a:r>
            <a:endParaRPr/>
          </a:p>
        </p:txBody>
      </p:sp>
      <p:sp>
        <p:nvSpPr>
          <p:cNvPr id="299" name="Google Shape;299;p10"/>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Views in SQL</a:t>
            </a:r>
            <a:endParaRPr b="1" sz="4000"/>
          </a:p>
        </p:txBody>
      </p:sp>
      <p:graphicFrame>
        <p:nvGraphicFramePr>
          <p:cNvPr id="300" name="Google Shape;300;p10"/>
          <p:cNvGraphicFramePr/>
          <p:nvPr/>
        </p:nvGraphicFramePr>
        <p:xfrm>
          <a:off x="1447800" y="3886200"/>
          <a:ext cx="3000000" cy="3000000"/>
        </p:xfrm>
        <a:graphic>
          <a:graphicData uri="http://schemas.openxmlformats.org/drawingml/2006/table">
            <a:tbl>
              <a:tblPr bandRow="1" firstRow="1">
                <a:noFill/>
                <a:tableStyleId>{CFC6A4C3-3411-43D6-A0C7-9FCFE75087CD}</a:tableStyleId>
              </a:tblPr>
              <a:tblGrid>
                <a:gridCol w="1219200"/>
                <a:gridCol w="2133600"/>
                <a:gridCol w="1981200"/>
              </a:tblGrid>
              <a:tr h="370850">
                <a:tc>
                  <a:txBody>
                    <a:bodyPr/>
                    <a:lstStyle/>
                    <a:p>
                      <a:pPr indent="0" lvl="0" marL="0" marR="0" rtl="0" algn="ctr">
                        <a:spcBef>
                          <a:spcPts val="0"/>
                        </a:spcBef>
                        <a:spcAft>
                          <a:spcPts val="0"/>
                        </a:spcAft>
                        <a:buNone/>
                      </a:pPr>
                      <a:r>
                        <a:rPr b="1" lang="en-US" sz="2200" u="none" cap="none" strike="noStrike"/>
                        <a:t>Emp_id</a:t>
                      </a:r>
                      <a:endParaRPr b="1" sz="2200" u="none" cap="none" strike="noStrike"/>
                    </a:p>
                  </a:txBody>
                  <a:tcPr marT="45725" marB="45725" marR="91450" marL="91450"/>
                </a:tc>
                <a:tc>
                  <a:txBody>
                    <a:bodyPr/>
                    <a:lstStyle/>
                    <a:p>
                      <a:pPr indent="0" lvl="0" marL="0" marR="0" rtl="0" algn="ctr">
                        <a:spcBef>
                          <a:spcPts val="0"/>
                        </a:spcBef>
                        <a:spcAft>
                          <a:spcPts val="0"/>
                        </a:spcAft>
                        <a:buNone/>
                      </a:pPr>
                      <a:r>
                        <a:rPr b="1" lang="en-US" sz="2200" u="none" cap="none" strike="noStrike"/>
                        <a:t>Emp_name</a:t>
                      </a:r>
                      <a:endParaRPr b="1" sz="2200" u="none" cap="none" strike="noStrike"/>
                    </a:p>
                  </a:txBody>
                  <a:tcPr marT="45725" marB="45725" marR="91450" marL="91450"/>
                </a:tc>
                <a:tc>
                  <a:txBody>
                    <a:bodyPr/>
                    <a:lstStyle/>
                    <a:p>
                      <a:pPr indent="0" lvl="0" marL="0" marR="0" rtl="0" algn="ctr">
                        <a:spcBef>
                          <a:spcPts val="0"/>
                        </a:spcBef>
                        <a:spcAft>
                          <a:spcPts val="0"/>
                        </a:spcAft>
                        <a:buNone/>
                      </a:pPr>
                      <a:r>
                        <a:rPr b="1" lang="en-US" sz="2200" u="none" cap="none" strike="noStrike"/>
                        <a:t>Address</a:t>
                      </a:r>
                      <a:endParaRPr b="1" sz="2200" u="none" cap="none" strike="noStrike"/>
                    </a:p>
                  </a:txBody>
                  <a:tcPr marT="45725" marB="45725" marR="91450" marL="91450"/>
                </a:tc>
              </a:tr>
              <a:tr h="162550">
                <a:tc>
                  <a:txBody>
                    <a:bodyPr/>
                    <a:lstStyle/>
                    <a:p>
                      <a:pPr indent="0" lvl="0" marL="0" marR="0" rtl="0" algn="ctr">
                        <a:spcBef>
                          <a:spcPts val="0"/>
                        </a:spcBef>
                        <a:spcAft>
                          <a:spcPts val="0"/>
                        </a:spcAft>
                        <a:buNone/>
                      </a:pPr>
                      <a:r>
                        <a:rPr lang="en-US" sz="2200" u="none" cap="none" strike="noStrike"/>
                        <a:t>E1</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Kunal</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Camp</a:t>
                      </a:r>
                      <a:endParaRPr sz="2200" u="none" cap="none" strike="noStrike"/>
                    </a:p>
                  </a:txBody>
                  <a:tcPr marT="45725" marB="45725" marR="91450" marL="91450"/>
                </a:tc>
              </a:tr>
              <a:tr h="238750">
                <a:tc>
                  <a:txBody>
                    <a:bodyPr/>
                    <a:lstStyle/>
                    <a:p>
                      <a:pPr indent="0" lvl="0" marL="0" marR="0" rtl="0" algn="ctr">
                        <a:spcBef>
                          <a:spcPts val="0"/>
                        </a:spcBef>
                        <a:spcAft>
                          <a:spcPts val="0"/>
                        </a:spcAft>
                        <a:buNone/>
                      </a:pPr>
                      <a:r>
                        <a:rPr lang="en-US" sz="2200" u="none" cap="none" strike="noStrike"/>
                        <a:t>E2</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Jay</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Tilak Road</a:t>
                      </a:r>
                      <a:endParaRPr sz="2200" u="none" cap="none" strike="noStrike"/>
                    </a:p>
                  </a:txBody>
                  <a:tcPr marT="45725" marB="45725" marR="91450" marL="91450"/>
                </a:tc>
              </a:tr>
              <a:tr h="238750">
                <a:tc>
                  <a:txBody>
                    <a:bodyPr/>
                    <a:lstStyle/>
                    <a:p>
                      <a:pPr indent="0" lvl="0" marL="0" marR="0" rtl="0" algn="ctr">
                        <a:spcBef>
                          <a:spcPts val="0"/>
                        </a:spcBef>
                        <a:spcAft>
                          <a:spcPts val="0"/>
                        </a:spcAft>
                        <a:buNone/>
                      </a:pPr>
                      <a:r>
                        <a:rPr lang="en-US" sz="2200" u="none" cap="none" strike="noStrike"/>
                        <a:t>E3</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Radha</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Somwar Peth</a:t>
                      </a:r>
                      <a:endParaRPr sz="2200" u="none" cap="none" strike="noStrike"/>
                    </a:p>
                  </a:txBody>
                  <a:tcPr marT="45725" marB="45725" marR="91450" marL="91450"/>
                </a:tc>
              </a:tr>
              <a:tr h="238750">
                <a:tc>
                  <a:txBody>
                    <a:bodyPr/>
                    <a:lstStyle/>
                    <a:p>
                      <a:pPr indent="0" lvl="0" marL="0" marR="0" rtl="0" algn="ctr">
                        <a:spcBef>
                          <a:spcPts val="0"/>
                        </a:spcBef>
                        <a:spcAft>
                          <a:spcPts val="0"/>
                        </a:spcAft>
                        <a:buNone/>
                      </a:pPr>
                      <a:r>
                        <a:rPr lang="en-US" sz="2200" u="none" cap="none" strike="noStrike"/>
                        <a:t>E4</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Sagar</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Warje</a:t>
                      </a:r>
                      <a:endParaRPr sz="2200" u="none" cap="none" strike="noStrike"/>
                    </a:p>
                  </a:txBody>
                  <a:tcPr marT="45725" marB="45725" marR="91450" marL="91450"/>
                </a:tc>
              </a:tr>
              <a:tr h="370850">
                <a:tc>
                  <a:txBody>
                    <a:bodyPr/>
                    <a:lstStyle/>
                    <a:p>
                      <a:pPr indent="0" lvl="0" marL="0" marR="0" rtl="0" algn="ctr">
                        <a:spcBef>
                          <a:spcPts val="0"/>
                        </a:spcBef>
                        <a:spcAft>
                          <a:spcPts val="0"/>
                        </a:spcAft>
                        <a:buNone/>
                      </a:pPr>
                      <a:r>
                        <a:rPr lang="en-US" sz="2200" u="none" cap="none" strike="noStrike"/>
                        <a:t>E5</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Supriya</a:t>
                      </a:r>
                      <a:endParaRPr sz="2200" u="none" cap="none" strike="noStrike"/>
                    </a:p>
                  </a:txBody>
                  <a:tcPr marT="45725" marB="45725" marR="91450" marL="91450"/>
                </a:tc>
                <a:tc>
                  <a:txBody>
                    <a:bodyPr/>
                    <a:lstStyle/>
                    <a:p>
                      <a:pPr indent="0" lvl="0" marL="0" marR="0" rtl="0" algn="ctr">
                        <a:spcBef>
                          <a:spcPts val="0"/>
                        </a:spcBef>
                        <a:spcAft>
                          <a:spcPts val="0"/>
                        </a:spcAft>
                        <a:buNone/>
                      </a:pPr>
                      <a:r>
                        <a:rPr lang="en-US" sz="2200" u="none" cap="none" strike="noStrike"/>
                        <a:t>LS Road</a:t>
                      </a:r>
                      <a:endParaRPr sz="2200" u="none" cap="none" strike="noStrike"/>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4" name="Shape 304"/>
        <p:cNvGrpSpPr/>
        <p:nvPr/>
      </p:nvGrpSpPr>
      <p:grpSpPr>
        <a:xfrm>
          <a:off x="0" y="0"/>
          <a:ext cx="0" cy="0"/>
          <a:chOff x="0" y="0"/>
          <a:chExt cx="0" cy="0"/>
        </a:xfrm>
      </p:grpSpPr>
      <p:sp>
        <p:nvSpPr>
          <p:cNvPr id="305" name="Google Shape;305;p11"/>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457200" lvl="0" marL="571500" rtl="0" algn="l">
              <a:spcBef>
                <a:spcPts val="0"/>
              </a:spcBef>
              <a:spcAft>
                <a:spcPts val="0"/>
              </a:spcAft>
              <a:buSzPts val="2200"/>
              <a:buFont typeface="Cambria"/>
              <a:buAutoNum type="arabicPeriod" startAt="2"/>
            </a:pPr>
            <a:r>
              <a:rPr lang="en-US"/>
              <a:t>Also in multiuser system, it may be possible that more than one user may want to update the data of some table</a:t>
            </a:r>
            <a:endParaRPr/>
          </a:p>
          <a:p>
            <a:pPr indent="-228600" lvl="1" marL="640080" rtl="0" algn="l">
              <a:spcBef>
                <a:spcPts val="1040"/>
              </a:spcBef>
              <a:spcAft>
                <a:spcPts val="0"/>
              </a:spcAft>
              <a:buSzPts val="2200"/>
              <a:buChar char="•"/>
            </a:pPr>
            <a:r>
              <a:rPr lang="en-US" sz="2200"/>
              <a:t>Consider two users A and B want to update the employee table. </a:t>
            </a:r>
            <a:endParaRPr/>
          </a:p>
          <a:p>
            <a:pPr indent="0" lvl="1" marL="411480" rtl="0" algn="l">
              <a:spcBef>
                <a:spcPts val="1040"/>
              </a:spcBef>
              <a:spcAft>
                <a:spcPts val="0"/>
              </a:spcAft>
              <a:buSzPts val="2200"/>
              <a:buNone/>
            </a:pPr>
            <a:r>
              <a:rPr lang="en-US" sz="2200"/>
              <a:t>	In such case we can give views to both these users</a:t>
            </a:r>
            <a:endParaRPr/>
          </a:p>
          <a:p>
            <a:pPr indent="-228600" lvl="1" marL="640080" rtl="0" algn="l">
              <a:spcBef>
                <a:spcPts val="1040"/>
              </a:spcBef>
              <a:spcAft>
                <a:spcPts val="0"/>
              </a:spcAft>
              <a:buSzPts val="2200"/>
              <a:buChar char="•"/>
            </a:pPr>
            <a:r>
              <a:rPr lang="en-US" sz="2200"/>
              <a:t>These users will make changes in their respective views, and their respective changes are done in the base table automatically</a:t>
            </a:r>
            <a:endParaRPr sz="2200"/>
          </a:p>
        </p:txBody>
      </p:sp>
      <p:sp>
        <p:nvSpPr>
          <p:cNvPr id="306" name="Google Shape;306;p11"/>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Views in SQL</a:t>
            </a:r>
            <a:endParaRPr b="1" sz="4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p12"/>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1. Creating View</a:t>
            </a:r>
            <a:endParaRPr b="1" sz="4000"/>
          </a:p>
        </p:txBody>
      </p:sp>
      <p:sp>
        <p:nvSpPr>
          <p:cNvPr id="312" name="Google Shape;312;p12"/>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228600" lvl="0" marL="342900" rtl="0" algn="l">
              <a:spcBef>
                <a:spcPts val="440"/>
              </a:spcBef>
              <a:spcAft>
                <a:spcPts val="0"/>
              </a:spcAft>
              <a:buSzPts val="2200"/>
              <a:buChar char="•"/>
            </a:pPr>
            <a:r>
              <a:rPr lang="en-US"/>
              <a:t>A view can be created using the </a:t>
            </a:r>
            <a:r>
              <a:rPr b="1" lang="en-US"/>
              <a:t>CREATE VIEW</a:t>
            </a:r>
            <a:r>
              <a:rPr lang="en-US"/>
              <a:t> statement. </a:t>
            </a:r>
            <a:endParaRPr/>
          </a:p>
          <a:p>
            <a:pPr indent="-228600" lvl="0" marL="342900" rtl="0" algn="l">
              <a:spcBef>
                <a:spcPts val="440"/>
              </a:spcBef>
              <a:spcAft>
                <a:spcPts val="0"/>
              </a:spcAft>
              <a:buSzPts val="2200"/>
              <a:buChar char="•"/>
            </a:pPr>
            <a:r>
              <a:rPr lang="en-US"/>
              <a:t>We can create a view from a single table or multiple tables.</a:t>
            </a:r>
            <a:endParaRPr/>
          </a:p>
        </p:txBody>
      </p:sp>
      <p:pic>
        <p:nvPicPr>
          <p:cNvPr id="313" name="Google Shape;313;p12"/>
          <p:cNvPicPr preferRelativeResize="0"/>
          <p:nvPr/>
        </p:nvPicPr>
        <p:blipFill rotWithShape="1">
          <a:blip r:embed="rId3">
            <a:alphaModFix/>
          </a:blip>
          <a:srcRect b="0" l="0" r="0" t="0"/>
          <a:stretch/>
        </p:blipFill>
        <p:spPr>
          <a:xfrm>
            <a:off x="609600" y="1395248"/>
            <a:ext cx="7029450" cy="3124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7" name="Shape 317"/>
        <p:cNvGrpSpPr/>
        <p:nvPr/>
      </p:nvGrpSpPr>
      <p:grpSpPr>
        <a:xfrm>
          <a:off x="0" y="0"/>
          <a:ext cx="0" cy="0"/>
          <a:chOff x="0" y="0"/>
          <a:chExt cx="0" cy="0"/>
        </a:xfrm>
      </p:grpSpPr>
      <p:sp>
        <p:nvSpPr>
          <p:cNvPr id="318" name="Google Shape;318;p13"/>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1. Creating View</a:t>
            </a:r>
            <a:endParaRPr b="1" sz="4000"/>
          </a:p>
        </p:txBody>
      </p:sp>
      <p:pic>
        <p:nvPicPr>
          <p:cNvPr id="319" name="Google Shape;319;p13"/>
          <p:cNvPicPr preferRelativeResize="0"/>
          <p:nvPr>
            <p:ph idx="1" type="body"/>
          </p:nvPr>
        </p:nvPicPr>
        <p:blipFill rotWithShape="1">
          <a:blip r:embed="rId3">
            <a:alphaModFix/>
          </a:blip>
          <a:srcRect b="0" l="0" r="0" t="0"/>
          <a:stretch/>
        </p:blipFill>
        <p:spPr>
          <a:xfrm>
            <a:off x="228600" y="1279635"/>
            <a:ext cx="3810000" cy="2430517"/>
          </a:xfrm>
          <a:prstGeom prst="rect">
            <a:avLst/>
          </a:prstGeom>
          <a:noFill/>
          <a:ln>
            <a:noFill/>
          </a:ln>
        </p:spPr>
      </p:pic>
      <p:pic>
        <p:nvPicPr>
          <p:cNvPr id="320" name="Google Shape;320;p13"/>
          <p:cNvPicPr preferRelativeResize="0"/>
          <p:nvPr/>
        </p:nvPicPr>
        <p:blipFill rotWithShape="1">
          <a:blip r:embed="rId4">
            <a:alphaModFix/>
          </a:blip>
          <a:srcRect b="0" l="0" r="0" t="0"/>
          <a:stretch/>
        </p:blipFill>
        <p:spPr>
          <a:xfrm>
            <a:off x="228600" y="4038600"/>
            <a:ext cx="4078432" cy="2286000"/>
          </a:xfrm>
          <a:prstGeom prst="rect">
            <a:avLst/>
          </a:prstGeom>
          <a:noFill/>
          <a:ln>
            <a:noFill/>
          </a:ln>
        </p:spPr>
      </p:pic>
      <p:pic>
        <p:nvPicPr>
          <p:cNvPr id="321" name="Google Shape;321;p13"/>
          <p:cNvPicPr preferRelativeResize="0"/>
          <p:nvPr/>
        </p:nvPicPr>
        <p:blipFill rotWithShape="1">
          <a:blip r:embed="rId5">
            <a:alphaModFix/>
          </a:blip>
          <a:srcRect b="0" l="0" r="0" t="0"/>
          <a:stretch/>
        </p:blipFill>
        <p:spPr>
          <a:xfrm>
            <a:off x="4450146" y="3901636"/>
            <a:ext cx="4714875" cy="2943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5" name="Shape 325"/>
        <p:cNvGrpSpPr/>
        <p:nvPr/>
      </p:nvGrpSpPr>
      <p:grpSpPr>
        <a:xfrm>
          <a:off x="0" y="0"/>
          <a:ext cx="0" cy="0"/>
          <a:chOff x="0" y="0"/>
          <a:chExt cx="0" cy="0"/>
        </a:xfrm>
      </p:grpSpPr>
      <p:sp>
        <p:nvSpPr>
          <p:cNvPr id="326" name="Google Shape;326;p14"/>
          <p:cNvSpPr txBox="1"/>
          <p:nvPr>
            <p:ph idx="1" type="body"/>
          </p:nvPr>
        </p:nvSpPr>
        <p:spPr>
          <a:xfrm>
            <a:off x="457200" y="1371600"/>
            <a:ext cx="7620000" cy="4800600"/>
          </a:xfrm>
          <a:prstGeom prst="rect">
            <a:avLst/>
          </a:prstGeom>
          <a:noFill/>
          <a:ln>
            <a:noFill/>
          </a:ln>
        </p:spPr>
        <p:txBody>
          <a:bodyPr anchorCtr="0" anchor="t" bIns="45700" lIns="91425" spcFirstLastPara="1" rIns="91425" wrap="square" tIns="45700">
            <a:normAutofit/>
          </a:bodyPr>
          <a:lstStyle/>
          <a:p>
            <a:pPr indent="0" lvl="0" marL="114300" rtl="0" algn="l">
              <a:spcBef>
                <a:spcPts val="0"/>
              </a:spcBef>
              <a:spcAft>
                <a:spcPts val="0"/>
              </a:spcAft>
              <a:buSzPts val="2200"/>
              <a:buNone/>
            </a:pPr>
            <a:r>
              <a:rPr b="1" lang="en-US"/>
              <a:t>Creating View from multiple tables</a:t>
            </a:r>
            <a:endParaRPr/>
          </a:p>
          <a:p>
            <a:pPr indent="0" lvl="0" marL="114300" rtl="0" algn="l">
              <a:spcBef>
                <a:spcPts val="440"/>
              </a:spcBef>
              <a:spcAft>
                <a:spcPts val="0"/>
              </a:spcAft>
              <a:buSzPts val="2200"/>
              <a:buNone/>
            </a:pPr>
            <a:r>
              <a:t/>
            </a:r>
            <a:endParaRPr/>
          </a:p>
        </p:txBody>
      </p:sp>
      <p:sp>
        <p:nvSpPr>
          <p:cNvPr id="327" name="Google Shape;327;p14"/>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1. Creating View</a:t>
            </a:r>
            <a:endParaRPr b="1" sz="4000"/>
          </a:p>
        </p:txBody>
      </p:sp>
      <p:pic>
        <p:nvPicPr>
          <p:cNvPr id="328" name="Google Shape;328;p14"/>
          <p:cNvPicPr preferRelativeResize="0"/>
          <p:nvPr/>
        </p:nvPicPr>
        <p:blipFill rotWithShape="1">
          <a:blip r:embed="rId3">
            <a:alphaModFix/>
          </a:blip>
          <a:srcRect b="0" l="0" r="0" t="0"/>
          <a:stretch/>
        </p:blipFill>
        <p:spPr>
          <a:xfrm>
            <a:off x="609600" y="2141351"/>
            <a:ext cx="7239000" cy="42459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2" name="Shape 332"/>
        <p:cNvGrpSpPr/>
        <p:nvPr/>
      </p:nvGrpSpPr>
      <p:grpSpPr>
        <a:xfrm>
          <a:off x="0" y="0"/>
          <a:ext cx="0" cy="0"/>
          <a:chOff x="0" y="0"/>
          <a:chExt cx="0" cy="0"/>
        </a:xfrm>
      </p:grpSpPr>
      <p:pic>
        <p:nvPicPr>
          <p:cNvPr id="333" name="Google Shape;333;p15"/>
          <p:cNvPicPr preferRelativeResize="0"/>
          <p:nvPr/>
        </p:nvPicPr>
        <p:blipFill rotWithShape="1">
          <a:blip r:embed="rId3">
            <a:alphaModFix/>
          </a:blip>
          <a:srcRect b="0" l="0" r="0" t="0"/>
          <a:stretch/>
        </p:blipFill>
        <p:spPr>
          <a:xfrm>
            <a:off x="304800" y="2057400"/>
            <a:ext cx="8167337" cy="3844158"/>
          </a:xfrm>
          <a:prstGeom prst="rect">
            <a:avLst/>
          </a:prstGeom>
          <a:noFill/>
          <a:ln>
            <a:noFill/>
          </a:ln>
        </p:spPr>
      </p:pic>
      <p:sp>
        <p:nvSpPr>
          <p:cNvPr id="334" name="Google Shape;334;p15"/>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1. Creating View</a:t>
            </a:r>
            <a:endParaRPr b="1" sz="4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8" name="Shape 338"/>
        <p:cNvGrpSpPr/>
        <p:nvPr/>
      </p:nvGrpSpPr>
      <p:grpSpPr>
        <a:xfrm>
          <a:off x="0" y="0"/>
          <a:ext cx="0" cy="0"/>
          <a:chOff x="0" y="0"/>
          <a:chExt cx="0" cy="0"/>
        </a:xfrm>
      </p:grpSpPr>
      <p:sp>
        <p:nvSpPr>
          <p:cNvPr id="339" name="Google Shape;339;p16"/>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1. Creating View</a:t>
            </a:r>
            <a:endParaRPr b="1" sz="4000"/>
          </a:p>
        </p:txBody>
      </p:sp>
      <p:pic>
        <p:nvPicPr>
          <p:cNvPr id="340" name="Google Shape;340;p16"/>
          <p:cNvPicPr preferRelativeResize="0"/>
          <p:nvPr>
            <p:ph idx="1" type="body"/>
          </p:nvPr>
        </p:nvPicPr>
        <p:blipFill rotWithShape="1">
          <a:blip r:embed="rId3">
            <a:alphaModFix/>
          </a:blip>
          <a:srcRect b="0" l="0" r="0" t="0"/>
          <a:stretch/>
        </p:blipFill>
        <p:spPr>
          <a:xfrm>
            <a:off x="457200" y="1219200"/>
            <a:ext cx="7398099" cy="2286000"/>
          </a:xfrm>
          <a:prstGeom prst="rect">
            <a:avLst/>
          </a:prstGeom>
          <a:noFill/>
          <a:ln>
            <a:noFill/>
          </a:ln>
        </p:spPr>
      </p:pic>
      <p:pic>
        <p:nvPicPr>
          <p:cNvPr id="341" name="Google Shape;341;p16"/>
          <p:cNvPicPr preferRelativeResize="0"/>
          <p:nvPr/>
        </p:nvPicPr>
        <p:blipFill rotWithShape="1">
          <a:blip r:embed="rId4">
            <a:alphaModFix/>
          </a:blip>
          <a:srcRect b="0" l="0" r="0" t="0"/>
          <a:stretch/>
        </p:blipFill>
        <p:spPr>
          <a:xfrm>
            <a:off x="533400" y="3581400"/>
            <a:ext cx="7315200" cy="3276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5" name="Shape 345"/>
        <p:cNvGrpSpPr/>
        <p:nvPr/>
      </p:nvGrpSpPr>
      <p:grpSpPr>
        <a:xfrm>
          <a:off x="0" y="0"/>
          <a:ext cx="0" cy="0"/>
          <a:chOff x="0" y="0"/>
          <a:chExt cx="0" cy="0"/>
        </a:xfrm>
      </p:grpSpPr>
      <p:sp>
        <p:nvSpPr>
          <p:cNvPr id="346" name="Google Shape;346;p17"/>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2. Updating View</a:t>
            </a:r>
            <a:endParaRPr b="1" sz="4000"/>
          </a:p>
        </p:txBody>
      </p:sp>
      <p:sp>
        <p:nvSpPr>
          <p:cNvPr id="347" name="Google Shape;347;p17"/>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Update query is used to update the records of view</a:t>
            </a:r>
            <a:endParaRPr/>
          </a:p>
          <a:p>
            <a:pPr indent="-228600" lvl="0" marL="342900" rtl="0" algn="l">
              <a:spcBef>
                <a:spcPts val="440"/>
              </a:spcBef>
              <a:spcAft>
                <a:spcPts val="0"/>
              </a:spcAft>
              <a:buSzPts val="2200"/>
              <a:buChar char="•"/>
            </a:pPr>
            <a:r>
              <a:rPr lang="en-US"/>
              <a:t>Updation in view reflects the original table also means same changes will be made in the original table</a:t>
            </a:r>
            <a:endParaRPr/>
          </a:p>
          <a:p>
            <a:pPr indent="-88900" lvl="0" marL="342900" rtl="0" algn="l">
              <a:spcBef>
                <a:spcPts val="440"/>
              </a:spcBef>
              <a:spcAft>
                <a:spcPts val="0"/>
              </a:spcAft>
              <a:buSzPts val="2200"/>
              <a:buNone/>
            </a:pPr>
            <a:r>
              <a:t/>
            </a:r>
            <a:endParaRPr/>
          </a:p>
        </p:txBody>
      </p:sp>
      <p:pic>
        <p:nvPicPr>
          <p:cNvPr id="348" name="Google Shape;348;p17"/>
          <p:cNvPicPr preferRelativeResize="0"/>
          <p:nvPr/>
        </p:nvPicPr>
        <p:blipFill rotWithShape="1">
          <a:blip r:embed="rId3">
            <a:alphaModFix/>
          </a:blip>
          <a:srcRect b="0" l="0" r="0" t="0"/>
          <a:stretch/>
        </p:blipFill>
        <p:spPr>
          <a:xfrm>
            <a:off x="680545" y="3048000"/>
            <a:ext cx="7010400" cy="1102970"/>
          </a:xfrm>
          <a:prstGeom prst="rect">
            <a:avLst/>
          </a:prstGeom>
          <a:noFill/>
          <a:ln>
            <a:noFill/>
          </a:ln>
        </p:spPr>
      </p:pic>
      <p:pic>
        <p:nvPicPr>
          <p:cNvPr id="349" name="Google Shape;349;p17"/>
          <p:cNvPicPr preferRelativeResize="0"/>
          <p:nvPr/>
        </p:nvPicPr>
        <p:blipFill rotWithShape="1">
          <a:blip r:embed="rId4">
            <a:alphaModFix/>
          </a:blip>
          <a:srcRect b="0" l="0" r="0" t="0"/>
          <a:stretch/>
        </p:blipFill>
        <p:spPr>
          <a:xfrm>
            <a:off x="228600" y="4343400"/>
            <a:ext cx="8767510" cy="2362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3" name="Shape 353"/>
        <p:cNvGrpSpPr/>
        <p:nvPr/>
      </p:nvGrpSpPr>
      <p:grpSpPr>
        <a:xfrm>
          <a:off x="0" y="0"/>
          <a:ext cx="0" cy="0"/>
          <a:chOff x="0" y="0"/>
          <a:chExt cx="0" cy="0"/>
        </a:xfrm>
      </p:grpSpPr>
      <p:sp>
        <p:nvSpPr>
          <p:cNvPr id="354" name="Google Shape;354;p18"/>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2. Updating View</a:t>
            </a:r>
            <a:endParaRPr b="1" sz="4000"/>
          </a:p>
        </p:txBody>
      </p:sp>
      <p:pic>
        <p:nvPicPr>
          <p:cNvPr id="355" name="Google Shape;355;p18"/>
          <p:cNvPicPr preferRelativeResize="0"/>
          <p:nvPr/>
        </p:nvPicPr>
        <p:blipFill rotWithShape="1">
          <a:blip r:embed="rId3">
            <a:alphaModFix/>
          </a:blip>
          <a:srcRect b="0" l="0" r="0" t="0"/>
          <a:stretch/>
        </p:blipFill>
        <p:spPr>
          <a:xfrm>
            <a:off x="762000" y="1752599"/>
            <a:ext cx="5638800" cy="1494381"/>
          </a:xfrm>
          <a:prstGeom prst="rect">
            <a:avLst/>
          </a:prstGeom>
          <a:noFill/>
          <a:ln>
            <a:noFill/>
          </a:ln>
        </p:spPr>
      </p:pic>
      <p:pic>
        <p:nvPicPr>
          <p:cNvPr id="356" name="Google Shape;356;p18"/>
          <p:cNvPicPr preferRelativeResize="0"/>
          <p:nvPr/>
        </p:nvPicPr>
        <p:blipFill rotWithShape="1">
          <a:blip r:embed="rId4">
            <a:alphaModFix/>
          </a:blip>
          <a:srcRect b="0" l="0" r="0" t="0"/>
          <a:stretch/>
        </p:blipFill>
        <p:spPr>
          <a:xfrm>
            <a:off x="381000" y="3429000"/>
            <a:ext cx="8289636" cy="1905000"/>
          </a:xfrm>
          <a:prstGeom prst="rect">
            <a:avLst/>
          </a:prstGeom>
          <a:noFill/>
          <a:ln>
            <a:noFill/>
          </a:ln>
        </p:spPr>
      </p:pic>
      <p:sp>
        <p:nvSpPr>
          <p:cNvPr id="357" name="Google Shape;357;p18"/>
          <p:cNvSpPr/>
          <p:nvPr/>
        </p:nvSpPr>
        <p:spPr>
          <a:xfrm>
            <a:off x="6400800" y="4273740"/>
            <a:ext cx="457200" cy="190500"/>
          </a:xfrm>
          <a:prstGeom prst="rect">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1" name="Shape 361"/>
        <p:cNvGrpSpPr/>
        <p:nvPr/>
      </p:nvGrpSpPr>
      <p:grpSpPr>
        <a:xfrm>
          <a:off x="0" y="0"/>
          <a:ext cx="0" cy="0"/>
          <a:chOff x="0" y="0"/>
          <a:chExt cx="0" cy="0"/>
        </a:xfrm>
      </p:grpSpPr>
      <p:sp>
        <p:nvSpPr>
          <p:cNvPr id="362" name="Google Shape;362;p19"/>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In case of view containing </a:t>
            </a:r>
            <a:r>
              <a:rPr lang="en-US">
                <a:solidFill>
                  <a:srgbClr val="C00000"/>
                </a:solidFill>
              </a:rPr>
              <a:t>joins between multiple tables</a:t>
            </a:r>
            <a:r>
              <a:rPr lang="en-US"/>
              <a:t>, only insertion and updation in the view is allowed, deletion is not allowed</a:t>
            </a:r>
            <a:endParaRPr/>
          </a:p>
          <a:p>
            <a:pPr indent="-228600" lvl="0" marL="342900" rtl="0" algn="l">
              <a:spcBef>
                <a:spcPts val="1040"/>
              </a:spcBef>
              <a:spcAft>
                <a:spcPts val="0"/>
              </a:spcAft>
              <a:buSzPts val="2200"/>
              <a:buChar char="•"/>
            </a:pPr>
            <a:r>
              <a:rPr lang="en-US"/>
              <a:t>Data modification is </a:t>
            </a:r>
            <a:r>
              <a:rPr b="1" lang="en-US"/>
              <a:t>not allowed </a:t>
            </a:r>
            <a:r>
              <a:rPr lang="en-US"/>
              <a:t>in the view which is based on union queries</a:t>
            </a:r>
            <a:endParaRPr/>
          </a:p>
          <a:p>
            <a:pPr indent="-228600" lvl="0" marL="342900" rtl="0" algn="l">
              <a:spcBef>
                <a:spcPts val="1040"/>
              </a:spcBef>
              <a:spcAft>
                <a:spcPts val="0"/>
              </a:spcAft>
              <a:buSzPts val="2200"/>
              <a:buChar char="•"/>
            </a:pPr>
            <a:r>
              <a:rPr lang="en-US"/>
              <a:t>Data modification is </a:t>
            </a:r>
            <a:r>
              <a:rPr b="1" lang="en-US"/>
              <a:t>not allowed </a:t>
            </a:r>
            <a:r>
              <a:rPr lang="en-US"/>
              <a:t>in the view where GROUPBY or DISTINCT statements are used</a:t>
            </a:r>
            <a:endParaRPr/>
          </a:p>
          <a:p>
            <a:pPr indent="-228600" lvl="0" marL="342900" rtl="0" algn="l">
              <a:spcBef>
                <a:spcPts val="1040"/>
              </a:spcBef>
              <a:spcAft>
                <a:spcPts val="0"/>
              </a:spcAft>
              <a:buSzPts val="2200"/>
              <a:buChar char="•"/>
            </a:pPr>
            <a:r>
              <a:rPr lang="en-US"/>
              <a:t>In view, text and image columns </a:t>
            </a:r>
            <a:r>
              <a:rPr b="1" lang="en-US"/>
              <a:t>can’t be modified</a:t>
            </a:r>
            <a:endParaRPr b="1"/>
          </a:p>
        </p:txBody>
      </p:sp>
      <p:sp>
        <p:nvSpPr>
          <p:cNvPr id="363" name="Google Shape;363;p19"/>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2. Updating View</a:t>
            </a:r>
            <a:endParaRPr b="1" sz="4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7" name="Shape 367"/>
        <p:cNvGrpSpPr/>
        <p:nvPr/>
      </p:nvGrpSpPr>
      <p:grpSpPr>
        <a:xfrm>
          <a:off x="0" y="0"/>
          <a:ext cx="0" cy="0"/>
          <a:chOff x="0" y="0"/>
          <a:chExt cx="0" cy="0"/>
        </a:xfrm>
      </p:grpSpPr>
      <p:sp>
        <p:nvSpPr>
          <p:cNvPr id="368" name="Google Shape;368;p20"/>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Regarding view updates</a:t>
            </a:r>
            <a:endParaRPr/>
          </a:p>
        </p:txBody>
      </p:sp>
      <p:sp>
        <p:nvSpPr>
          <p:cNvPr id="369" name="Google Shape;369;p20"/>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View with single defining table is updatable only if  view attributes contains primary key of the base relation </a:t>
            </a:r>
            <a:endParaRPr/>
          </a:p>
          <a:p>
            <a:pPr indent="-228600" lvl="0" marL="342900" rtl="0" algn="l">
              <a:spcBef>
                <a:spcPts val="440"/>
              </a:spcBef>
              <a:spcAft>
                <a:spcPts val="0"/>
              </a:spcAft>
              <a:buSzPts val="2200"/>
              <a:buChar char="•"/>
            </a:pPr>
            <a:r>
              <a:rPr lang="en-US"/>
              <a:t>View defined on multiple tables using joins are generally not updatable</a:t>
            </a:r>
            <a:endParaRPr/>
          </a:p>
          <a:p>
            <a:pPr indent="-228600" lvl="0" marL="342900" rtl="0" algn="l">
              <a:spcBef>
                <a:spcPts val="440"/>
              </a:spcBef>
              <a:spcAft>
                <a:spcPts val="0"/>
              </a:spcAft>
              <a:buSzPts val="2200"/>
              <a:buChar char="•"/>
            </a:pPr>
            <a:r>
              <a:rPr lang="en-US"/>
              <a:t>Views defined using grouping and aggregate functions are not updatable.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3" name="Shape 373"/>
        <p:cNvGrpSpPr/>
        <p:nvPr/>
      </p:nvGrpSpPr>
      <p:grpSpPr>
        <a:xfrm>
          <a:off x="0" y="0"/>
          <a:ext cx="0" cy="0"/>
          <a:chOff x="0" y="0"/>
          <a:chExt cx="0" cy="0"/>
        </a:xfrm>
      </p:grpSpPr>
      <p:sp>
        <p:nvSpPr>
          <p:cNvPr id="374" name="Google Shape;374;p21"/>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3. Dropping View</a:t>
            </a:r>
            <a:endParaRPr b="1" sz="4000"/>
          </a:p>
        </p:txBody>
      </p:sp>
      <p:sp>
        <p:nvSpPr>
          <p:cNvPr id="375" name="Google Shape;375;p21"/>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Drop query is used to delete a view</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a:p>
            <a:pPr indent="-228600" lvl="0" marL="342900" rtl="0" algn="l">
              <a:spcBef>
                <a:spcPts val="440"/>
              </a:spcBef>
              <a:spcAft>
                <a:spcPts val="0"/>
              </a:spcAft>
              <a:buSzPts val="2200"/>
              <a:buChar char="•"/>
            </a:pPr>
            <a:r>
              <a:rPr b="1" lang="en-US"/>
              <a:t>Example</a:t>
            </a:r>
            <a:r>
              <a:rPr lang="en-US" sz="2000"/>
              <a:t>:</a:t>
            </a:r>
            <a:endParaRPr/>
          </a:p>
          <a:p>
            <a:pPr indent="-88900" lvl="0" marL="342900" rtl="0" algn="l">
              <a:spcBef>
                <a:spcPts val="440"/>
              </a:spcBef>
              <a:spcAft>
                <a:spcPts val="0"/>
              </a:spcAft>
              <a:buSzPts val="2200"/>
              <a:buNone/>
            </a:pPr>
            <a:r>
              <a:t/>
            </a:r>
            <a:endParaRPr/>
          </a:p>
          <a:p>
            <a:pPr indent="-88900" lvl="0" marL="342900" rtl="0" algn="l">
              <a:spcBef>
                <a:spcPts val="440"/>
              </a:spcBef>
              <a:spcAft>
                <a:spcPts val="0"/>
              </a:spcAft>
              <a:buSzPts val="2200"/>
              <a:buNone/>
            </a:pPr>
            <a:r>
              <a:t/>
            </a:r>
            <a:endParaRPr/>
          </a:p>
        </p:txBody>
      </p:sp>
      <p:pic>
        <p:nvPicPr>
          <p:cNvPr id="376" name="Google Shape;376;p21"/>
          <p:cNvPicPr preferRelativeResize="0"/>
          <p:nvPr/>
        </p:nvPicPr>
        <p:blipFill rotWithShape="1">
          <a:blip r:embed="rId3">
            <a:alphaModFix/>
          </a:blip>
          <a:srcRect b="0" l="0" r="0" t="0"/>
          <a:stretch/>
        </p:blipFill>
        <p:spPr>
          <a:xfrm>
            <a:off x="838200" y="2295099"/>
            <a:ext cx="3352800" cy="1516411"/>
          </a:xfrm>
          <a:prstGeom prst="rect">
            <a:avLst/>
          </a:prstGeom>
          <a:noFill/>
          <a:ln>
            <a:noFill/>
          </a:ln>
        </p:spPr>
      </p:pic>
      <p:pic>
        <p:nvPicPr>
          <p:cNvPr id="377" name="Google Shape;377;p21"/>
          <p:cNvPicPr preferRelativeResize="0"/>
          <p:nvPr/>
        </p:nvPicPr>
        <p:blipFill rotWithShape="1">
          <a:blip r:embed="rId4">
            <a:alphaModFix/>
          </a:blip>
          <a:srcRect b="0" l="0" r="0" t="0"/>
          <a:stretch/>
        </p:blipFill>
        <p:spPr>
          <a:xfrm>
            <a:off x="1328738" y="4876800"/>
            <a:ext cx="3218121" cy="609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1" name="Shape 381"/>
        <p:cNvGrpSpPr/>
        <p:nvPr/>
      </p:nvGrpSpPr>
      <p:grpSpPr>
        <a:xfrm>
          <a:off x="0" y="0"/>
          <a:ext cx="0" cy="0"/>
          <a:chOff x="0" y="0"/>
          <a:chExt cx="0" cy="0"/>
        </a:xfrm>
      </p:grpSpPr>
      <p:sp>
        <p:nvSpPr>
          <p:cNvPr id="382" name="Google Shape;382;p22"/>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Types of Views</a:t>
            </a:r>
            <a:endParaRPr b="1" sz="4000"/>
          </a:p>
        </p:txBody>
      </p:sp>
      <p:sp>
        <p:nvSpPr>
          <p:cNvPr id="383" name="Google Shape;383;p22"/>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300"/>
              <a:buChar char="•"/>
            </a:pPr>
            <a:r>
              <a:rPr lang="en-US" sz="2300"/>
              <a:t>There are </a:t>
            </a:r>
            <a:r>
              <a:rPr b="1" lang="en-US" sz="2300">
                <a:solidFill>
                  <a:srgbClr val="0070C0"/>
                </a:solidFill>
              </a:rPr>
              <a:t>two</a:t>
            </a:r>
            <a:r>
              <a:rPr lang="en-US" sz="2300"/>
              <a:t> types of Views:</a:t>
            </a:r>
            <a:endParaRPr/>
          </a:p>
          <a:p>
            <a:pPr indent="-457200" lvl="0" marL="571500" rtl="0" algn="l">
              <a:spcBef>
                <a:spcPts val="1060"/>
              </a:spcBef>
              <a:spcAft>
                <a:spcPts val="0"/>
              </a:spcAft>
              <a:buSzPts val="2300"/>
              <a:buFont typeface="Cambria"/>
              <a:buAutoNum type="arabicPeriod"/>
            </a:pPr>
            <a:r>
              <a:rPr b="1" lang="en-US" sz="2300">
                <a:solidFill>
                  <a:srgbClr val="C00000"/>
                </a:solidFill>
              </a:rPr>
              <a:t>Simple View</a:t>
            </a:r>
            <a:endParaRPr/>
          </a:p>
          <a:p>
            <a:pPr indent="-228600" lvl="0" marL="342900" rtl="0" algn="l">
              <a:spcBef>
                <a:spcPts val="1060"/>
              </a:spcBef>
              <a:spcAft>
                <a:spcPts val="0"/>
              </a:spcAft>
              <a:buSzPts val="2300"/>
              <a:buChar char="•"/>
            </a:pPr>
            <a:r>
              <a:rPr lang="en-US" sz="2300"/>
              <a:t>The views which are based on </a:t>
            </a:r>
            <a:r>
              <a:rPr b="1" lang="en-US" sz="2300"/>
              <a:t>only one table </a:t>
            </a:r>
            <a:r>
              <a:rPr lang="en-US" sz="2300"/>
              <a:t>called as Simple view. </a:t>
            </a:r>
            <a:endParaRPr/>
          </a:p>
          <a:p>
            <a:pPr indent="-228600" lvl="0" marL="342900" rtl="0" algn="l">
              <a:spcBef>
                <a:spcPts val="1060"/>
              </a:spcBef>
              <a:spcAft>
                <a:spcPts val="0"/>
              </a:spcAft>
              <a:buSzPts val="2300"/>
              <a:buChar char="•"/>
            </a:pPr>
            <a:r>
              <a:rPr lang="en-US" sz="2300"/>
              <a:t>Allow to perform DML (Data Manipulation Language) operations with some restrictions. </a:t>
            </a:r>
            <a:endParaRPr/>
          </a:p>
          <a:p>
            <a:pPr indent="-228600" lvl="0" marL="342900" rtl="0" algn="l">
              <a:spcBef>
                <a:spcPts val="1060"/>
              </a:spcBef>
              <a:spcAft>
                <a:spcPts val="0"/>
              </a:spcAft>
              <a:buSzPts val="2300"/>
              <a:buChar char="•"/>
            </a:pPr>
            <a:r>
              <a:rPr lang="en-US" sz="2300"/>
              <a:t>Query defining simple view </a:t>
            </a:r>
            <a:r>
              <a:rPr b="1" lang="en-US" sz="2300"/>
              <a:t>cannot have </a:t>
            </a:r>
            <a:r>
              <a:rPr lang="en-US" sz="2300"/>
              <a:t>any join or grouping condition.</a:t>
            </a:r>
            <a:endParaRPr/>
          </a:p>
          <a:p>
            <a:pPr indent="-304800" lvl="0" marL="571500" rtl="0" algn="l">
              <a:spcBef>
                <a:spcPts val="1080"/>
              </a:spcBef>
              <a:spcAft>
                <a:spcPts val="0"/>
              </a:spcAft>
              <a:buSzPts val="2400"/>
              <a:buFont typeface="Cambria"/>
              <a:buNone/>
            </a:pPr>
            <a:r>
              <a:t/>
            </a:r>
            <a:endParaRPr sz="2400">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7" name="Shape 387"/>
        <p:cNvGrpSpPr/>
        <p:nvPr/>
      </p:nvGrpSpPr>
      <p:grpSpPr>
        <a:xfrm>
          <a:off x="0" y="0"/>
          <a:ext cx="0" cy="0"/>
          <a:chOff x="0" y="0"/>
          <a:chExt cx="0" cy="0"/>
        </a:xfrm>
      </p:grpSpPr>
      <p:sp>
        <p:nvSpPr>
          <p:cNvPr id="388" name="Google Shape;388;p23"/>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0" lvl="0" marL="114300" rtl="0" algn="l">
              <a:spcBef>
                <a:spcPts val="0"/>
              </a:spcBef>
              <a:spcAft>
                <a:spcPts val="0"/>
              </a:spcAft>
              <a:buSzPts val="2300"/>
              <a:buNone/>
            </a:pPr>
            <a:r>
              <a:rPr b="1" lang="en-US" sz="2300">
                <a:solidFill>
                  <a:srgbClr val="C00000"/>
                </a:solidFill>
              </a:rPr>
              <a:t>2. Complex View</a:t>
            </a:r>
            <a:endParaRPr/>
          </a:p>
          <a:p>
            <a:pPr indent="-228600" lvl="0" marL="342900" rtl="0" algn="l">
              <a:spcBef>
                <a:spcPts val="1060"/>
              </a:spcBef>
              <a:spcAft>
                <a:spcPts val="0"/>
              </a:spcAft>
              <a:buSzPts val="2300"/>
              <a:buChar char="•"/>
            </a:pPr>
            <a:r>
              <a:rPr lang="en-US" sz="2300"/>
              <a:t>The views which are based on </a:t>
            </a:r>
            <a:r>
              <a:rPr b="1" lang="en-US" sz="2300"/>
              <a:t>more than one table </a:t>
            </a:r>
            <a:r>
              <a:rPr lang="en-US" sz="2300"/>
              <a:t>called as complex view. </a:t>
            </a:r>
            <a:endParaRPr/>
          </a:p>
          <a:p>
            <a:pPr indent="-228600" lvl="0" marL="342900" rtl="0" algn="l">
              <a:spcBef>
                <a:spcPts val="1060"/>
              </a:spcBef>
              <a:spcAft>
                <a:spcPts val="0"/>
              </a:spcAft>
              <a:buSzPts val="2300"/>
              <a:buChar char="•"/>
            </a:pPr>
            <a:r>
              <a:rPr lang="en-US" sz="2300"/>
              <a:t>Do not allow DML operations to be performed. </a:t>
            </a:r>
            <a:endParaRPr/>
          </a:p>
          <a:p>
            <a:pPr indent="-228600" lvl="0" marL="342900" rtl="0" algn="l">
              <a:spcBef>
                <a:spcPts val="1060"/>
              </a:spcBef>
              <a:spcAft>
                <a:spcPts val="0"/>
              </a:spcAft>
              <a:buSzPts val="2300"/>
              <a:buChar char="•"/>
            </a:pPr>
            <a:r>
              <a:rPr lang="en-US" sz="2300"/>
              <a:t>Query defining complex view can have join or grouping condition.</a:t>
            </a:r>
            <a:endParaRPr sz="2300"/>
          </a:p>
        </p:txBody>
      </p:sp>
      <p:sp>
        <p:nvSpPr>
          <p:cNvPr id="389" name="Google Shape;389;p23"/>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Types of Views</a:t>
            </a:r>
            <a:endParaRPr b="1" sz="4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3" name="Shape 393"/>
        <p:cNvGrpSpPr/>
        <p:nvPr/>
      </p:nvGrpSpPr>
      <p:grpSpPr>
        <a:xfrm>
          <a:off x="0" y="0"/>
          <a:ext cx="0" cy="0"/>
          <a:chOff x="0" y="0"/>
          <a:chExt cx="0" cy="0"/>
        </a:xfrm>
      </p:grpSpPr>
      <p:sp>
        <p:nvSpPr>
          <p:cNvPr id="394" name="Google Shape;394;p24"/>
          <p:cNvSpPr txBox="1"/>
          <p:nvPr>
            <p:ph type="title"/>
          </p:nvPr>
        </p:nvSpPr>
        <p:spPr>
          <a:xfrm>
            <a:off x="381000" y="304800"/>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200"/>
              <a:buFont typeface="Cambria"/>
              <a:buNone/>
            </a:pPr>
            <a:r>
              <a:rPr lang="en-US" sz="3200"/>
              <a:t>Difference: Simple and Complex View</a:t>
            </a:r>
            <a:endParaRPr sz="3200"/>
          </a:p>
        </p:txBody>
      </p:sp>
      <p:graphicFrame>
        <p:nvGraphicFramePr>
          <p:cNvPr id="395" name="Google Shape;395;p24"/>
          <p:cNvGraphicFramePr/>
          <p:nvPr/>
        </p:nvGraphicFramePr>
        <p:xfrm>
          <a:off x="228600" y="1600200"/>
          <a:ext cx="3000000" cy="3000000"/>
        </p:xfrm>
        <a:graphic>
          <a:graphicData uri="http://schemas.openxmlformats.org/drawingml/2006/table">
            <a:tbl>
              <a:tblPr bandRow="1" firstRow="1">
                <a:noFill/>
                <a:tableStyleId>{CFC6A4C3-3411-43D6-A0C7-9FCFE75087CD}</a:tableStyleId>
              </a:tblPr>
              <a:tblGrid>
                <a:gridCol w="3886200"/>
                <a:gridCol w="4114800"/>
              </a:tblGrid>
              <a:tr h="403850">
                <a:tc>
                  <a:txBody>
                    <a:bodyPr/>
                    <a:lstStyle/>
                    <a:p>
                      <a:pPr indent="0" lvl="0" marL="0" marR="0" rtl="0" algn="ctr">
                        <a:spcBef>
                          <a:spcPts val="0"/>
                        </a:spcBef>
                        <a:spcAft>
                          <a:spcPts val="0"/>
                        </a:spcAft>
                        <a:buNone/>
                      </a:pPr>
                      <a:r>
                        <a:rPr b="1" lang="en-US" sz="1800" u="none" cap="none" strike="noStrike"/>
                        <a:t>Simple View</a:t>
                      </a:r>
                      <a:endParaRPr b="1" sz="1800" u="none" cap="none" strike="noStrike"/>
                    </a:p>
                  </a:txBody>
                  <a:tcPr marT="45725" marB="45725" marR="91450" marL="91450"/>
                </a:tc>
                <a:tc>
                  <a:txBody>
                    <a:bodyPr/>
                    <a:lstStyle/>
                    <a:p>
                      <a:pPr indent="0" lvl="0" marL="0" marR="0" rtl="0" algn="ctr">
                        <a:spcBef>
                          <a:spcPts val="0"/>
                        </a:spcBef>
                        <a:spcAft>
                          <a:spcPts val="0"/>
                        </a:spcAft>
                        <a:buNone/>
                      </a:pPr>
                      <a:r>
                        <a:rPr b="1" lang="en-US" sz="1800" u="none" cap="none" strike="noStrike"/>
                        <a:t>Complex View</a:t>
                      </a:r>
                      <a:endParaRPr b="1" sz="1800" u="none" cap="none" strike="noStrike"/>
                    </a:p>
                  </a:txBody>
                  <a:tcPr marT="45725" marB="45725" marR="91450" marL="91450"/>
                </a:tc>
              </a:tr>
              <a:tr h="790025">
                <a:tc>
                  <a:txBody>
                    <a:bodyPr/>
                    <a:lstStyle/>
                    <a:p>
                      <a:pPr indent="0" lvl="0" marL="0" marR="0" rtl="0" algn="l">
                        <a:spcBef>
                          <a:spcPts val="0"/>
                        </a:spcBef>
                        <a:spcAft>
                          <a:spcPts val="0"/>
                        </a:spcAft>
                        <a:buNone/>
                      </a:pPr>
                      <a:r>
                        <a:rPr b="0" lang="en-US" sz="1800" u="none" cap="none" strike="noStrike"/>
                        <a:t>Contains only one single base table or is created from only one table. </a:t>
                      </a:r>
                      <a:endParaRPr/>
                    </a:p>
                  </a:txBody>
                  <a:tcPr marT="133350" marB="133350" marR="95250" marL="95250" anchor="ctr"/>
                </a:tc>
                <a:tc>
                  <a:txBody>
                    <a:bodyPr/>
                    <a:lstStyle/>
                    <a:p>
                      <a:pPr indent="0" lvl="0" marL="0" marR="0" rtl="0" algn="l">
                        <a:spcBef>
                          <a:spcPts val="0"/>
                        </a:spcBef>
                        <a:spcAft>
                          <a:spcPts val="0"/>
                        </a:spcAft>
                        <a:buNone/>
                      </a:pPr>
                      <a:r>
                        <a:rPr b="0" lang="en-US" sz="1800" u="none" cap="none" strike="noStrike"/>
                        <a:t>Contains more than one base table or is created from more than one table.</a:t>
                      </a:r>
                      <a:endParaRPr/>
                    </a:p>
                  </a:txBody>
                  <a:tcPr marT="133350" marB="133350" marR="95250" marL="95250" anchor="ctr"/>
                </a:tc>
              </a:tr>
              <a:tr h="790025">
                <a:tc>
                  <a:txBody>
                    <a:bodyPr/>
                    <a:lstStyle/>
                    <a:p>
                      <a:pPr indent="0" lvl="0" marL="0" marR="0" rtl="0" algn="l">
                        <a:spcBef>
                          <a:spcPts val="0"/>
                        </a:spcBef>
                        <a:spcAft>
                          <a:spcPts val="0"/>
                        </a:spcAft>
                        <a:buNone/>
                      </a:pPr>
                      <a:r>
                        <a:rPr b="0" lang="en-US" sz="1800" u="none" cap="none" strike="noStrike"/>
                        <a:t>We cannot use group functions like MAX(), COUNT(), etc. </a:t>
                      </a:r>
                      <a:endParaRPr/>
                    </a:p>
                  </a:txBody>
                  <a:tcPr marT="133350" marB="133350" marR="95250" marL="95250" anchor="ctr"/>
                </a:tc>
                <a:tc>
                  <a:txBody>
                    <a:bodyPr/>
                    <a:lstStyle/>
                    <a:p>
                      <a:pPr indent="0" lvl="0" marL="0" marR="0" rtl="0" algn="l">
                        <a:spcBef>
                          <a:spcPts val="0"/>
                        </a:spcBef>
                        <a:spcAft>
                          <a:spcPts val="0"/>
                        </a:spcAft>
                        <a:buNone/>
                      </a:pPr>
                      <a:r>
                        <a:rPr b="0" lang="en-US" sz="1800" u="none" cap="none" strike="noStrike"/>
                        <a:t>We can use group functions.</a:t>
                      </a:r>
                      <a:endParaRPr/>
                    </a:p>
                  </a:txBody>
                  <a:tcPr marT="133350" marB="133350" marR="95250" marL="95250" anchor="ctr"/>
                </a:tc>
              </a:tr>
              <a:tr h="790025">
                <a:tc>
                  <a:txBody>
                    <a:bodyPr/>
                    <a:lstStyle/>
                    <a:p>
                      <a:pPr indent="0" lvl="0" marL="0" marR="0" rtl="0" algn="l">
                        <a:spcBef>
                          <a:spcPts val="0"/>
                        </a:spcBef>
                        <a:spcAft>
                          <a:spcPts val="0"/>
                        </a:spcAft>
                        <a:buNone/>
                      </a:pPr>
                      <a:r>
                        <a:rPr b="0" lang="en-US" sz="1800" u="none" cap="none" strike="noStrike"/>
                        <a:t>INSERT, DELETE and UPDATE are directly possible on a simple view. </a:t>
                      </a:r>
                      <a:endParaRPr/>
                    </a:p>
                  </a:txBody>
                  <a:tcPr marT="133350" marB="133350" marR="95250" marL="95250" anchor="ctr"/>
                </a:tc>
                <a:tc>
                  <a:txBody>
                    <a:bodyPr/>
                    <a:lstStyle/>
                    <a:p>
                      <a:pPr indent="0" lvl="0" marL="0" marR="0" rtl="0" algn="l">
                        <a:spcBef>
                          <a:spcPts val="0"/>
                        </a:spcBef>
                        <a:spcAft>
                          <a:spcPts val="0"/>
                        </a:spcAft>
                        <a:buNone/>
                      </a:pPr>
                      <a:r>
                        <a:rPr b="0" lang="en-US" sz="1800" u="none" cap="none" strike="noStrike"/>
                        <a:t>We cannot apply INSERT, DELETE and UPDATE on complex view directly.</a:t>
                      </a:r>
                      <a:endParaRPr/>
                    </a:p>
                  </a:txBody>
                  <a:tcPr marT="133350" marB="133350" marR="95250" marL="95250" anchor="ctr"/>
                </a:tc>
              </a:tr>
              <a:tr h="1892050">
                <a:tc>
                  <a:txBody>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Example: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CREATE VIEW Employee AS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SELECT Empid, Empname</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FROM Employee</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WHERE Empid = ‘030314’;</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1" i="0" lang="en-US" sz="1800">
                          <a:solidFill>
                            <a:schemeClr val="dk1"/>
                          </a:solidFill>
                          <a:latin typeface="Calibri"/>
                          <a:ea typeface="Calibri"/>
                          <a:cs typeface="Calibri"/>
                          <a:sym typeface="Calibri"/>
                        </a:rPr>
                        <a:t>Example:</a:t>
                      </a:r>
                      <a:endParaRPr b="0" i="0"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a:solidFill>
                            <a:schemeClr val="dk1"/>
                          </a:solidFill>
                          <a:latin typeface="Calibri"/>
                          <a:ea typeface="Calibri"/>
                          <a:cs typeface="Calibri"/>
                          <a:sym typeface="Calibri"/>
                        </a:rPr>
                        <a:t>CREATE VIEW EmployeeByDepartment AS</a:t>
                      </a:r>
                      <a:endParaRPr/>
                    </a:p>
                    <a:p>
                      <a:pPr indent="0" lvl="0" marL="0" marR="0" rtl="0" algn="l">
                        <a:spcBef>
                          <a:spcPts val="0"/>
                        </a:spcBef>
                        <a:spcAft>
                          <a:spcPts val="0"/>
                        </a:spcAft>
                        <a:buNone/>
                      </a:pPr>
                      <a:r>
                        <a:rPr b="0" i="0" lang="en-US" sz="1800">
                          <a:solidFill>
                            <a:schemeClr val="dk1"/>
                          </a:solidFill>
                          <a:latin typeface="Calibri"/>
                          <a:ea typeface="Calibri"/>
                          <a:cs typeface="Calibri"/>
                          <a:sym typeface="Calibri"/>
                        </a:rPr>
                        <a:t>SELECT e.emp_id, d.dept_id, e.emp_name FROM Employee e, Department d WHERE e.dept_id=d.dept_id;</a:t>
                      </a:r>
                      <a:endParaRPr/>
                    </a:p>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9" name="Shape 399"/>
        <p:cNvGrpSpPr/>
        <p:nvPr/>
      </p:nvGrpSpPr>
      <p:grpSpPr>
        <a:xfrm>
          <a:off x="0" y="0"/>
          <a:ext cx="0" cy="0"/>
          <a:chOff x="0" y="0"/>
          <a:chExt cx="0" cy="0"/>
        </a:xfrm>
      </p:grpSpPr>
      <p:sp>
        <p:nvSpPr>
          <p:cNvPr id="400" name="Google Shape;400;p25"/>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ambria"/>
              <a:buNone/>
            </a:pPr>
            <a:r>
              <a:rPr lang="en-US"/>
              <a:t>Advantages of View</a:t>
            </a:r>
            <a:br>
              <a:rPr lang="en-US"/>
            </a:br>
            <a:endParaRPr/>
          </a:p>
        </p:txBody>
      </p:sp>
      <p:sp>
        <p:nvSpPr>
          <p:cNvPr id="401" name="Google Shape;401;p25"/>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View provides data security for the same base tables.</a:t>
            </a:r>
            <a:endParaRPr/>
          </a:p>
          <a:p>
            <a:pPr indent="-228600" lvl="0" marL="342900" rtl="0" algn="l">
              <a:spcBef>
                <a:spcPts val="440"/>
              </a:spcBef>
              <a:spcAft>
                <a:spcPts val="0"/>
              </a:spcAft>
              <a:buSzPts val="2200"/>
              <a:buChar char="•"/>
            </a:pPr>
            <a:r>
              <a:rPr lang="en-US"/>
              <a:t>It allows different users to view the same data in different ways at the same time.</a:t>
            </a:r>
            <a:endParaRPr/>
          </a:p>
          <a:p>
            <a:pPr indent="-228600" lvl="0" marL="342900" rtl="0" algn="l">
              <a:spcBef>
                <a:spcPts val="440"/>
              </a:spcBef>
              <a:spcAft>
                <a:spcPts val="0"/>
              </a:spcAft>
              <a:buSzPts val="2200"/>
              <a:buChar char="•"/>
            </a:pPr>
            <a:r>
              <a:rPr lang="en-US"/>
              <a:t>It is used to represent additional information like derived columns.</a:t>
            </a:r>
            <a:endParaRPr/>
          </a:p>
          <a:p>
            <a:pPr indent="-228600" lvl="0" marL="342900" rtl="0" algn="l">
              <a:spcBef>
                <a:spcPts val="440"/>
              </a:spcBef>
              <a:spcAft>
                <a:spcPts val="0"/>
              </a:spcAft>
              <a:buSzPts val="2200"/>
              <a:buChar char="•"/>
            </a:pPr>
            <a:r>
              <a:rPr lang="en-US"/>
              <a:t>It is used to hide complex queries.</a:t>
            </a:r>
            <a:endParaRPr/>
          </a:p>
          <a:p>
            <a:pPr indent="-228600" lvl="0" marL="342900" rtl="0" algn="l">
              <a:spcBef>
                <a:spcPts val="440"/>
              </a:spcBef>
              <a:spcAft>
                <a:spcPts val="0"/>
              </a:spcAft>
              <a:buSzPts val="2200"/>
              <a:buChar char="•"/>
            </a:pPr>
            <a:r>
              <a:rPr lang="en-US"/>
              <a:t>It presents a consistent, unchanged image of the database structure, even if the tables are split or renamed.</a:t>
            </a:r>
            <a:endParaRPr/>
          </a:p>
          <a:p>
            <a:pPr indent="-228600" lvl="0" marL="342900" rtl="0" algn="l">
              <a:spcBef>
                <a:spcPts val="440"/>
              </a:spcBef>
              <a:spcAft>
                <a:spcPts val="0"/>
              </a:spcAft>
              <a:buSzPts val="2200"/>
              <a:buChar char="•"/>
            </a:pPr>
            <a:r>
              <a:rPr lang="en-US"/>
              <a:t>It does not allow direct access to the tables of the data dictionary.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5" name="Shape 405"/>
        <p:cNvGrpSpPr/>
        <p:nvPr/>
      </p:nvGrpSpPr>
      <p:grpSpPr>
        <a:xfrm>
          <a:off x="0" y="0"/>
          <a:ext cx="0" cy="0"/>
          <a:chOff x="0" y="0"/>
          <a:chExt cx="0" cy="0"/>
        </a:xfrm>
      </p:grpSpPr>
      <p:sp>
        <p:nvSpPr>
          <p:cNvPr id="406" name="Google Shape;406;p26"/>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600"/>
              <a:buFont typeface="Cambria"/>
              <a:buNone/>
            </a:pPr>
            <a:r>
              <a:rPr lang="en-US"/>
              <a:t>Disadvantages of View</a:t>
            </a:r>
            <a:endParaRPr/>
          </a:p>
        </p:txBody>
      </p:sp>
      <p:sp>
        <p:nvSpPr>
          <p:cNvPr id="407" name="Google Shape;407;p26"/>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We cannot use DML operations on View, if there is more than one table.</a:t>
            </a:r>
            <a:endParaRPr/>
          </a:p>
          <a:p>
            <a:pPr indent="-228600" lvl="0" marL="342900" rtl="0" algn="l">
              <a:spcBef>
                <a:spcPts val="440"/>
              </a:spcBef>
              <a:spcAft>
                <a:spcPts val="0"/>
              </a:spcAft>
              <a:buSzPts val="2200"/>
              <a:buChar char="•"/>
            </a:pPr>
            <a:r>
              <a:rPr lang="en-US"/>
              <a:t>When table is dropped view becomes inactive.</a:t>
            </a:r>
            <a:endParaRPr/>
          </a:p>
          <a:p>
            <a:pPr indent="-228600" lvl="0" marL="342900" rtl="0" algn="l">
              <a:spcBef>
                <a:spcPts val="440"/>
              </a:spcBef>
              <a:spcAft>
                <a:spcPts val="0"/>
              </a:spcAft>
              <a:buSzPts val="2200"/>
              <a:buChar char="•"/>
            </a:pPr>
            <a:r>
              <a:rPr lang="en-US"/>
              <a:t>View is a database object, so it occupies the space.</a:t>
            </a:r>
            <a:endParaRPr/>
          </a:p>
          <a:p>
            <a:pPr indent="-228600" lvl="0" marL="342900" rtl="0" algn="l">
              <a:spcBef>
                <a:spcPts val="440"/>
              </a:spcBef>
              <a:spcAft>
                <a:spcPts val="0"/>
              </a:spcAft>
              <a:buSzPts val="2200"/>
              <a:buChar char="•"/>
            </a:pPr>
            <a:r>
              <a:rPr lang="en-US"/>
              <a:t>Without table, view will not work.</a:t>
            </a:r>
            <a:endParaRPr/>
          </a:p>
          <a:p>
            <a:pPr indent="-228600" lvl="0" marL="342900" rtl="0" algn="l">
              <a:spcBef>
                <a:spcPts val="440"/>
              </a:spcBef>
              <a:spcAft>
                <a:spcPts val="0"/>
              </a:spcAft>
              <a:buSzPts val="2200"/>
              <a:buChar char="•"/>
            </a:pPr>
            <a:r>
              <a:rPr lang="en-US"/>
              <a:t>Updating is possible for simple view but not for complex views, they are read only type of views.</a:t>
            </a:r>
            <a:endParaRPr/>
          </a:p>
          <a:p>
            <a:pPr indent="-88900" lvl="0" marL="342900" rtl="0" algn="l">
              <a:spcBef>
                <a:spcPts val="440"/>
              </a:spcBef>
              <a:spcAft>
                <a:spcPts val="0"/>
              </a:spcAft>
              <a:buSzPts val="22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1" name="Shape 411"/>
        <p:cNvGrpSpPr/>
        <p:nvPr/>
      </p:nvGrpSpPr>
      <p:grpSpPr>
        <a:xfrm>
          <a:off x="0" y="0"/>
          <a:ext cx="0" cy="0"/>
          <a:chOff x="0" y="0"/>
          <a:chExt cx="0" cy="0"/>
        </a:xfrm>
      </p:grpSpPr>
      <p:sp>
        <p:nvSpPr>
          <p:cNvPr id="412" name="Google Shape;412;p27"/>
          <p:cNvSpPr txBox="1"/>
          <p:nvPr>
            <p:ph type="title"/>
          </p:nvPr>
        </p:nvSpPr>
        <p:spPr>
          <a:xfrm>
            <a:off x="457200" y="0"/>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Triggers</a:t>
            </a:r>
            <a:endParaRPr b="1"/>
          </a:p>
        </p:txBody>
      </p:sp>
      <p:sp>
        <p:nvSpPr>
          <p:cNvPr id="413" name="Google Shape;413;p27"/>
          <p:cNvSpPr txBox="1"/>
          <p:nvPr>
            <p:ph idx="1" type="body"/>
          </p:nvPr>
        </p:nvSpPr>
        <p:spPr>
          <a:xfrm>
            <a:off x="533400" y="1371600"/>
            <a:ext cx="7620000" cy="4800600"/>
          </a:xfrm>
          <a:prstGeom prst="rect">
            <a:avLst/>
          </a:prstGeom>
          <a:noFill/>
          <a:ln>
            <a:noFill/>
          </a:ln>
        </p:spPr>
        <p:txBody>
          <a:bodyPr anchorCtr="0" anchor="t" bIns="45700" lIns="91425" spcFirstLastPara="1" rIns="91425" wrap="square" tIns="45700">
            <a:noAutofit/>
          </a:bodyPr>
          <a:lstStyle/>
          <a:p>
            <a:pPr indent="-228600" lvl="0" marL="342900" rtl="0" algn="l">
              <a:spcBef>
                <a:spcPts val="0"/>
              </a:spcBef>
              <a:spcAft>
                <a:spcPts val="0"/>
              </a:spcAft>
              <a:buSzPts val="2200"/>
              <a:buChar char="•"/>
            </a:pPr>
            <a:r>
              <a:rPr lang="en-US"/>
              <a:t>A trigger is a </a:t>
            </a:r>
            <a:r>
              <a:rPr b="1" lang="en-US"/>
              <a:t>procedure</a:t>
            </a:r>
            <a:r>
              <a:rPr lang="en-US"/>
              <a:t> that is automatically invoked by the DBMS in response to specific alteration database or a table in database. </a:t>
            </a:r>
            <a:endParaRPr/>
          </a:p>
          <a:p>
            <a:pPr indent="-228600" lvl="0" marL="342900" rtl="0" algn="l">
              <a:spcBef>
                <a:spcPts val="1800"/>
              </a:spcBef>
              <a:spcAft>
                <a:spcPts val="0"/>
              </a:spcAft>
              <a:buSzPts val="2200"/>
              <a:buChar char="•"/>
            </a:pPr>
            <a:r>
              <a:rPr lang="en-US"/>
              <a:t>Triggers are stored in database as a simple database object. </a:t>
            </a:r>
            <a:endParaRPr/>
          </a:p>
          <a:p>
            <a:pPr indent="-228600" lvl="0" marL="342900" rtl="0" algn="l">
              <a:spcBef>
                <a:spcPts val="1800"/>
              </a:spcBef>
              <a:spcAft>
                <a:spcPts val="0"/>
              </a:spcAft>
              <a:buSzPts val="2200"/>
              <a:buChar char="•"/>
            </a:pPr>
            <a:r>
              <a:rPr lang="en-US"/>
              <a:t>A database that has a set of associated triggers is called an </a:t>
            </a:r>
            <a:r>
              <a:rPr b="1" lang="en-US">
                <a:solidFill>
                  <a:srgbClr val="0070C0"/>
                </a:solidFill>
              </a:rPr>
              <a:t>active database. </a:t>
            </a:r>
            <a:endParaRPr b="1">
              <a:solidFill>
                <a:srgbClr val="0070C0"/>
              </a:solidFill>
            </a:endParaRPr>
          </a:p>
          <a:p>
            <a:pPr indent="-228600" lvl="0" marL="342900" rtl="0" algn="l">
              <a:spcBef>
                <a:spcPts val="1800"/>
              </a:spcBef>
              <a:spcAft>
                <a:spcPts val="0"/>
              </a:spcAft>
              <a:buSzPts val="2200"/>
              <a:buChar char="•"/>
            </a:pPr>
            <a:r>
              <a:rPr lang="en-US"/>
              <a:t>A database trigger enables DBA (Database Administrators) to create additional relationships between separate databases.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7" name="Shape 417"/>
        <p:cNvGrpSpPr/>
        <p:nvPr/>
      </p:nvGrpSpPr>
      <p:grpSpPr>
        <a:xfrm>
          <a:off x="0" y="0"/>
          <a:ext cx="0" cy="0"/>
          <a:chOff x="0" y="0"/>
          <a:chExt cx="0" cy="0"/>
        </a:xfrm>
      </p:grpSpPr>
      <p:sp>
        <p:nvSpPr>
          <p:cNvPr id="418" name="Google Shape;418;p28"/>
          <p:cNvSpPr txBox="1"/>
          <p:nvPr>
            <p:ph type="title"/>
          </p:nvPr>
        </p:nvSpPr>
        <p:spPr>
          <a:xfrm>
            <a:off x="457200" y="0"/>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Triggers</a:t>
            </a:r>
            <a:endParaRPr b="1"/>
          </a:p>
        </p:txBody>
      </p:sp>
      <p:sp>
        <p:nvSpPr>
          <p:cNvPr id="419" name="Google Shape;419;p28"/>
          <p:cNvSpPr txBox="1"/>
          <p:nvPr>
            <p:ph idx="1" type="body"/>
          </p:nvPr>
        </p:nvSpPr>
        <p:spPr>
          <a:xfrm>
            <a:off x="533400" y="1143000"/>
            <a:ext cx="7620000" cy="4800600"/>
          </a:xfrm>
          <a:prstGeom prst="rect">
            <a:avLst/>
          </a:prstGeom>
          <a:noFill/>
          <a:ln>
            <a:noFill/>
          </a:ln>
        </p:spPr>
        <p:txBody>
          <a:bodyPr anchorCtr="0" anchor="t" bIns="45700" lIns="91425" spcFirstLastPara="1" rIns="91425" wrap="square" tIns="45700">
            <a:noAutofit/>
          </a:bodyPr>
          <a:lstStyle/>
          <a:p>
            <a:pPr indent="-228600" lvl="0" marL="342900" rtl="0" algn="l">
              <a:spcBef>
                <a:spcPts val="0"/>
              </a:spcBef>
              <a:spcAft>
                <a:spcPts val="0"/>
              </a:spcAft>
              <a:buSzPts val="2200"/>
              <a:buChar char="•"/>
            </a:pPr>
            <a:r>
              <a:rPr b="1" lang="en-US">
                <a:solidFill>
                  <a:srgbClr val="C00000"/>
                </a:solidFill>
              </a:rPr>
              <a:t>Need/Purpose of Triggers</a:t>
            </a:r>
            <a:endParaRPr/>
          </a:p>
          <a:p>
            <a:pPr indent="-228600" lvl="1" marL="640080" rtl="0" algn="l">
              <a:spcBef>
                <a:spcPts val="1040"/>
              </a:spcBef>
              <a:spcAft>
                <a:spcPts val="0"/>
              </a:spcAft>
              <a:buSzPts val="2200"/>
              <a:buChar char="•"/>
            </a:pPr>
            <a:r>
              <a:rPr lang="en-US" sz="2200"/>
              <a:t>To generate data automatically</a:t>
            </a:r>
            <a:endParaRPr/>
          </a:p>
          <a:p>
            <a:pPr indent="-228600" lvl="1" marL="640080" rtl="0" algn="l">
              <a:spcBef>
                <a:spcPts val="440"/>
              </a:spcBef>
              <a:spcAft>
                <a:spcPts val="0"/>
              </a:spcAft>
              <a:buSzPts val="2200"/>
              <a:buChar char="•"/>
            </a:pPr>
            <a:r>
              <a:rPr lang="en-US" sz="2200"/>
              <a:t>Validate input data</a:t>
            </a:r>
            <a:endParaRPr/>
          </a:p>
          <a:p>
            <a:pPr indent="-228600" lvl="1" marL="640080" rtl="0" algn="l">
              <a:spcBef>
                <a:spcPts val="440"/>
              </a:spcBef>
              <a:spcAft>
                <a:spcPts val="0"/>
              </a:spcAft>
              <a:buSzPts val="2200"/>
              <a:buChar char="•"/>
            </a:pPr>
            <a:r>
              <a:rPr lang="en-US" sz="2200"/>
              <a:t>Replicate data to different files to achieve data consistency</a:t>
            </a:r>
            <a:endParaRPr sz="2200"/>
          </a:p>
          <a:p>
            <a:pPr indent="-88900" lvl="1" marL="640080" rtl="0" algn="l">
              <a:spcBef>
                <a:spcPts val="440"/>
              </a:spcBef>
              <a:spcAft>
                <a:spcPts val="0"/>
              </a:spcAft>
              <a:buSzPts val="2200"/>
              <a:buNone/>
            </a:pPr>
            <a:r>
              <a:t/>
            </a:r>
            <a:endParaRPr sz="2200"/>
          </a:p>
          <a:p>
            <a:pPr indent="0" lvl="0" marL="114300" rtl="0" algn="l">
              <a:spcBef>
                <a:spcPts val="440"/>
              </a:spcBef>
              <a:spcAft>
                <a:spcPts val="0"/>
              </a:spcAft>
              <a:buSzPts val="2200"/>
              <a:buNone/>
            </a:pPr>
            <a:r>
              <a:rPr b="1" lang="en-US">
                <a:solidFill>
                  <a:srgbClr val="C00000"/>
                </a:solidFill>
              </a:rPr>
              <a:t>Components of Trigger (E-C-A Model) </a:t>
            </a:r>
            <a:endParaRPr/>
          </a:p>
          <a:p>
            <a:pPr indent="-228600" lvl="0" marL="342900" rtl="0" algn="l">
              <a:spcBef>
                <a:spcPts val="1040"/>
              </a:spcBef>
              <a:spcAft>
                <a:spcPts val="0"/>
              </a:spcAft>
              <a:buSzPts val="2200"/>
              <a:buChar char="•"/>
            </a:pPr>
            <a:r>
              <a:rPr b="1" lang="en-US" u="sng"/>
              <a:t>Event (E): </a:t>
            </a:r>
            <a:r>
              <a:rPr lang="en-US"/>
              <a:t>SQL statement that causes the trigger to fire (or activate). This event may be insert, update or  delete operation database table. </a:t>
            </a:r>
            <a:endParaRPr/>
          </a:p>
          <a:p>
            <a:pPr indent="-228600" lvl="0" marL="342900" rtl="0" algn="l">
              <a:spcBef>
                <a:spcPts val="1040"/>
              </a:spcBef>
              <a:spcAft>
                <a:spcPts val="0"/>
              </a:spcAft>
              <a:buSzPts val="2200"/>
              <a:buChar char="•"/>
            </a:pPr>
            <a:r>
              <a:rPr b="1" lang="en-US" u="sng"/>
              <a:t>Condition (C)</a:t>
            </a:r>
            <a:r>
              <a:rPr lang="en-US"/>
              <a:t> : A condition that must be satisfied for execution of trigger. </a:t>
            </a:r>
            <a:endParaRPr/>
          </a:p>
          <a:p>
            <a:pPr indent="-228600" lvl="0" marL="342900" rtl="0" algn="l">
              <a:spcBef>
                <a:spcPts val="1040"/>
              </a:spcBef>
              <a:spcAft>
                <a:spcPts val="0"/>
              </a:spcAft>
              <a:buSzPts val="2200"/>
              <a:buChar char="•"/>
            </a:pPr>
            <a:r>
              <a:rPr b="1" lang="en-US" u="sng"/>
              <a:t>Action (A)</a:t>
            </a:r>
            <a:r>
              <a:rPr lang="en-US"/>
              <a:t> :  This is code or statement that execute when triggering condition is satisfied and trigger is activated on database table. </a:t>
            </a:r>
            <a:br>
              <a:rPr lang="en-US"/>
            </a:br>
            <a:endParaRPr/>
          </a:p>
          <a:p>
            <a:pPr indent="-76200" lvl="0" marL="342900" rtl="0" algn="l">
              <a:spcBef>
                <a:spcPts val="1080"/>
              </a:spcBef>
              <a:spcAft>
                <a:spcPts val="0"/>
              </a:spcAft>
              <a:buSzPts val="2400"/>
              <a:buNone/>
            </a:pPr>
            <a:r>
              <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3" name="Shape 423"/>
        <p:cNvGrpSpPr/>
        <p:nvPr/>
      </p:nvGrpSpPr>
      <p:grpSpPr>
        <a:xfrm>
          <a:off x="0" y="0"/>
          <a:ext cx="0" cy="0"/>
          <a:chOff x="0" y="0"/>
          <a:chExt cx="0" cy="0"/>
        </a:xfrm>
      </p:grpSpPr>
      <p:sp>
        <p:nvSpPr>
          <p:cNvPr id="424" name="Google Shape;424;p29"/>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lnSpcReduction="10000"/>
          </a:bodyPr>
          <a:lstStyle/>
          <a:p>
            <a:pPr indent="0" lvl="0" marL="114300" rtl="0" algn="l">
              <a:spcBef>
                <a:spcPts val="0"/>
              </a:spcBef>
              <a:spcAft>
                <a:spcPts val="0"/>
              </a:spcAft>
              <a:buSzPts val="2400"/>
              <a:buNone/>
            </a:pPr>
            <a:r>
              <a:rPr b="1" lang="en-US" sz="2400">
                <a:solidFill>
                  <a:srgbClr val="C00000"/>
                </a:solidFill>
              </a:rPr>
              <a:t>Trigger syntax </a:t>
            </a:r>
            <a:endParaRPr b="1" sz="2400">
              <a:solidFill>
                <a:srgbClr val="C00000"/>
              </a:solidFill>
            </a:endParaRPr>
          </a:p>
          <a:p>
            <a:pPr indent="0" lvl="0" marL="114300" rtl="0" algn="l">
              <a:spcBef>
                <a:spcPts val="440"/>
              </a:spcBef>
              <a:spcAft>
                <a:spcPts val="0"/>
              </a:spcAft>
              <a:buSzPts val="2200"/>
              <a:buNone/>
            </a:pPr>
            <a:r>
              <a:rPr lang="en-US"/>
              <a:t>CREATE [OR REPLACE] TRIGGER &lt;Trigger Name&gt; </a:t>
            </a:r>
            <a:endParaRPr/>
          </a:p>
          <a:p>
            <a:pPr indent="0" lvl="0" marL="114300" rtl="0" algn="l">
              <a:spcBef>
                <a:spcPts val="440"/>
              </a:spcBef>
              <a:spcAft>
                <a:spcPts val="0"/>
              </a:spcAft>
              <a:buSzPts val="2200"/>
              <a:buNone/>
            </a:pPr>
            <a:r>
              <a:rPr lang="en-US"/>
              <a:t>[&lt;ENABLE | DISABLE&gt;] </a:t>
            </a:r>
            <a:endParaRPr/>
          </a:p>
          <a:p>
            <a:pPr indent="0" lvl="0" marL="114300" rtl="0" algn="l">
              <a:spcBef>
                <a:spcPts val="440"/>
              </a:spcBef>
              <a:spcAft>
                <a:spcPts val="0"/>
              </a:spcAft>
              <a:buSzPts val="2200"/>
              <a:buNone/>
            </a:pPr>
            <a:r>
              <a:rPr lang="en-US"/>
              <a:t>&lt;BEFORE|AFTER&gt; </a:t>
            </a:r>
            <a:endParaRPr/>
          </a:p>
          <a:p>
            <a:pPr indent="0" lvl="0" marL="114300" rtl="0" algn="l">
              <a:spcBef>
                <a:spcPts val="440"/>
              </a:spcBef>
              <a:spcAft>
                <a:spcPts val="0"/>
              </a:spcAft>
              <a:buSzPts val="2200"/>
              <a:buNone/>
            </a:pPr>
            <a:r>
              <a:rPr lang="en-US"/>
              <a:t>&lt;INSERT|UPDATE | DELETE&gt; </a:t>
            </a:r>
            <a:endParaRPr/>
          </a:p>
          <a:p>
            <a:pPr indent="0" lvl="0" marL="114300" rtl="0" algn="l">
              <a:spcBef>
                <a:spcPts val="440"/>
              </a:spcBef>
              <a:spcAft>
                <a:spcPts val="0"/>
              </a:spcAft>
              <a:buSzPts val="2200"/>
              <a:buNone/>
            </a:pPr>
            <a:r>
              <a:rPr lang="en-US"/>
              <a:t>ON &lt;Table_ Name&gt; </a:t>
            </a:r>
            <a:endParaRPr/>
          </a:p>
          <a:p>
            <a:pPr indent="0" lvl="0" marL="114300" rtl="0" algn="l">
              <a:spcBef>
                <a:spcPts val="440"/>
              </a:spcBef>
              <a:spcAft>
                <a:spcPts val="0"/>
              </a:spcAft>
              <a:buSzPts val="2200"/>
              <a:buNone/>
            </a:pPr>
            <a:r>
              <a:rPr lang="en-US"/>
              <a:t>	[FOR EACH ROW]</a:t>
            </a:r>
            <a:endParaRPr/>
          </a:p>
          <a:p>
            <a:pPr indent="0" lvl="0" marL="114300" rtl="0" algn="l">
              <a:spcBef>
                <a:spcPts val="440"/>
              </a:spcBef>
              <a:spcAft>
                <a:spcPts val="0"/>
              </a:spcAft>
              <a:buSzPts val="2200"/>
              <a:buNone/>
            </a:pPr>
            <a:r>
              <a:rPr lang="en-US"/>
              <a:t>DECLARE </a:t>
            </a:r>
            <a:endParaRPr/>
          </a:p>
          <a:p>
            <a:pPr indent="0" lvl="0" marL="114300" rtl="0" algn="l">
              <a:spcBef>
                <a:spcPts val="440"/>
              </a:spcBef>
              <a:spcAft>
                <a:spcPts val="0"/>
              </a:spcAft>
              <a:buSzPts val="2200"/>
              <a:buNone/>
            </a:pPr>
            <a:r>
              <a:rPr lang="en-US"/>
              <a:t>	&lt;Variable_ Definitions&gt; </a:t>
            </a:r>
            <a:endParaRPr/>
          </a:p>
          <a:p>
            <a:pPr indent="0" lvl="0" marL="114300" rtl="0" algn="l">
              <a:spcBef>
                <a:spcPts val="440"/>
              </a:spcBef>
              <a:spcAft>
                <a:spcPts val="0"/>
              </a:spcAft>
              <a:buSzPts val="2200"/>
              <a:buNone/>
            </a:pPr>
            <a:r>
              <a:rPr lang="en-US"/>
              <a:t>BEGIN </a:t>
            </a:r>
            <a:endParaRPr/>
          </a:p>
          <a:p>
            <a:pPr indent="0" lvl="0" marL="114300" rtl="0" algn="l">
              <a:spcBef>
                <a:spcPts val="440"/>
              </a:spcBef>
              <a:spcAft>
                <a:spcPts val="0"/>
              </a:spcAft>
              <a:buSzPts val="2200"/>
              <a:buNone/>
            </a:pPr>
            <a:r>
              <a:rPr lang="en-US"/>
              <a:t>	&lt;TriggerCode&gt; ;</a:t>
            </a:r>
            <a:endParaRPr/>
          </a:p>
          <a:p>
            <a:pPr indent="0" lvl="0" marL="114300" rtl="0" algn="l">
              <a:spcBef>
                <a:spcPts val="440"/>
              </a:spcBef>
              <a:spcAft>
                <a:spcPts val="0"/>
              </a:spcAft>
              <a:buSzPts val="2200"/>
              <a:buNone/>
            </a:pPr>
            <a:r>
              <a:rPr lang="en-US"/>
              <a:t>END;</a:t>
            </a:r>
            <a:endParaRPr/>
          </a:p>
        </p:txBody>
      </p:sp>
      <p:sp>
        <p:nvSpPr>
          <p:cNvPr id="425" name="Google Shape;425;p29"/>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p30"/>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400"/>
              <a:buChar char="•"/>
            </a:pPr>
            <a:r>
              <a:rPr b="1" lang="en-US" sz="2400">
                <a:solidFill>
                  <a:srgbClr val="C00000"/>
                </a:solidFill>
              </a:rPr>
              <a:t>Trigger Parameters</a:t>
            </a:r>
            <a:endParaRPr b="1" sz="2400">
              <a:solidFill>
                <a:srgbClr val="C00000"/>
              </a:solidFill>
            </a:endParaRPr>
          </a:p>
        </p:txBody>
      </p:sp>
      <p:sp>
        <p:nvSpPr>
          <p:cNvPr id="431" name="Google Shape;431;p30"/>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Triggers</a:t>
            </a:r>
            <a:endParaRPr/>
          </a:p>
        </p:txBody>
      </p:sp>
      <p:graphicFrame>
        <p:nvGraphicFramePr>
          <p:cNvPr id="432" name="Google Shape;432;p30"/>
          <p:cNvGraphicFramePr/>
          <p:nvPr/>
        </p:nvGraphicFramePr>
        <p:xfrm>
          <a:off x="457201" y="2286000"/>
          <a:ext cx="3000000" cy="3000000"/>
        </p:xfrm>
        <a:graphic>
          <a:graphicData uri="http://schemas.openxmlformats.org/drawingml/2006/table">
            <a:tbl>
              <a:tblPr bandRow="1" firstRow="1">
                <a:noFill/>
                <a:tableStyleId>{CFC6A4C3-3411-43D6-A0C7-9FCFE75087CD}</a:tableStyleId>
              </a:tblPr>
              <a:tblGrid>
                <a:gridCol w="2209800"/>
                <a:gridCol w="5410200"/>
              </a:tblGrid>
              <a:tr h="370850">
                <a:tc>
                  <a:txBody>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OR REPLACE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If trigger is already present then drop and recreate the trigger</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&lt; Trigger Name&gt; </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Name of trigger to be created.</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BEFORE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Indicates that trigger is to be fired before the triggering event occurs</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AFTER</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Indicates that trigger is to be fired After the triggering event occurs </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INSERT</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Indicates that trigger is to be fired whenever insert statement adds a row to table</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UPDATE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Indicates that trigger is to be fired whenever Update statement modifies a row</a:t>
                      </a:r>
                      <a:r>
                        <a:rPr b="0" i="0" lang="en-US" sz="1800">
                          <a:solidFill>
                            <a:schemeClr val="dk1"/>
                          </a:solidFill>
                          <a:latin typeface="Calibri"/>
                          <a:ea typeface="Calibri"/>
                          <a:cs typeface="Calibri"/>
                          <a:sym typeface="Calibri"/>
                        </a:rPr>
                        <a:t> in a table</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DELETE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Indicates that trigger is to be fired whenever delete statement removes a</a:t>
                      </a:r>
                      <a:r>
                        <a:rPr b="0" i="0" lang="en-US" sz="1800">
                          <a:solidFill>
                            <a:schemeClr val="dk1"/>
                          </a:solidFill>
                          <a:latin typeface="Calibri"/>
                          <a:ea typeface="Calibri"/>
                          <a:cs typeface="Calibri"/>
                          <a:sym typeface="Calibri"/>
                        </a:rPr>
                        <a:t> row from table</a:t>
                      </a:r>
                      <a:endParaRPr sz="1800"/>
                    </a:p>
                  </a:txBody>
                  <a:tcPr marT="45725" marB="45725" marR="91450" marL="9145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6" name="Shape 436"/>
        <p:cNvGrpSpPr/>
        <p:nvPr/>
      </p:nvGrpSpPr>
      <p:grpSpPr>
        <a:xfrm>
          <a:off x="0" y="0"/>
          <a:ext cx="0" cy="0"/>
          <a:chOff x="0" y="0"/>
          <a:chExt cx="0" cy="0"/>
        </a:xfrm>
      </p:grpSpPr>
      <p:sp>
        <p:nvSpPr>
          <p:cNvPr id="437" name="Google Shape;437;p31"/>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400"/>
              <a:buChar char="•"/>
            </a:pPr>
            <a:r>
              <a:rPr b="1" lang="en-US" sz="2400">
                <a:solidFill>
                  <a:srgbClr val="C00000"/>
                </a:solidFill>
              </a:rPr>
              <a:t>Trigger Parameters</a:t>
            </a:r>
            <a:endParaRPr b="1" sz="2400">
              <a:solidFill>
                <a:srgbClr val="C00000"/>
              </a:solidFill>
            </a:endParaRPr>
          </a:p>
        </p:txBody>
      </p:sp>
      <p:sp>
        <p:nvSpPr>
          <p:cNvPr id="438" name="Google Shape;438;p31"/>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Triggers</a:t>
            </a:r>
            <a:endParaRPr/>
          </a:p>
        </p:txBody>
      </p:sp>
      <p:graphicFrame>
        <p:nvGraphicFramePr>
          <p:cNvPr id="439" name="Google Shape;439;p31"/>
          <p:cNvGraphicFramePr/>
          <p:nvPr/>
        </p:nvGraphicFramePr>
        <p:xfrm>
          <a:off x="457201" y="2286000"/>
          <a:ext cx="3000000" cy="3000000"/>
        </p:xfrm>
        <a:graphic>
          <a:graphicData uri="http://schemas.openxmlformats.org/drawingml/2006/table">
            <a:tbl>
              <a:tblPr bandRow="1" firstRow="1">
                <a:noFill/>
                <a:tableStyleId>{CFC6A4C3-3411-43D6-A0C7-9FCFE75087CD}</a:tableStyleId>
              </a:tblPr>
              <a:tblGrid>
                <a:gridCol w="2209800"/>
                <a:gridCol w="5410200"/>
              </a:tblGrid>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FOR EACH ROW</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Trigger will be fired only once for each row.</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WHEN</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Contains condition that must be satisfied to execute trigger</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&lt;trigger code&gt;</a:t>
                      </a:r>
                      <a:endParaRPr sz="1800"/>
                    </a:p>
                  </a:txBody>
                  <a:tcPr marT="45725" marB="45725" marR="91450" marL="91450"/>
                </a:tc>
                <a:tc>
                  <a:txBody>
                    <a:bodyPr/>
                    <a:lstStyle/>
                    <a:p>
                      <a:pPr indent="0" lvl="0" marL="0" marR="0" rtl="0" algn="l">
                        <a:spcBef>
                          <a:spcPts val="0"/>
                        </a:spcBef>
                        <a:spcAft>
                          <a:spcPts val="0"/>
                        </a:spcAft>
                        <a:buNone/>
                      </a:pPr>
                      <a:r>
                        <a:rPr lang="en-US" sz="1800"/>
                        <a:t>Code to be executed whenever triggering</a:t>
                      </a:r>
                      <a:r>
                        <a:rPr lang="en-US" sz="1800"/>
                        <a:t> event occurs</a:t>
                      </a:r>
                      <a:endParaRPr sz="1800"/>
                    </a:p>
                  </a:txBody>
                  <a:tcPr marT="45725" marB="45725" marR="91450" marL="9145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3" name="Shape 443"/>
        <p:cNvGrpSpPr/>
        <p:nvPr/>
      </p:nvGrpSpPr>
      <p:grpSpPr>
        <a:xfrm>
          <a:off x="0" y="0"/>
          <a:ext cx="0" cy="0"/>
          <a:chOff x="0" y="0"/>
          <a:chExt cx="0" cy="0"/>
        </a:xfrm>
      </p:grpSpPr>
      <p:sp>
        <p:nvSpPr>
          <p:cNvPr id="444" name="Google Shape;444;p32"/>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4000"/>
              <a:buFont typeface="Cambria"/>
              <a:buNone/>
            </a:pPr>
            <a:r>
              <a:rPr b="1" lang="en-US" sz="4000">
                <a:solidFill>
                  <a:srgbClr val="C00000"/>
                </a:solidFill>
              </a:rPr>
              <a:t>Trigger Types</a:t>
            </a:r>
            <a:endParaRPr b="1" sz="4000">
              <a:solidFill>
                <a:srgbClr val="C00000"/>
              </a:solidFill>
            </a:endParaRPr>
          </a:p>
        </p:txBody>
      </p:sp>
      <p:sp>
        <p:nvSpPr>
          <p:cNvPr id="445" name="Google Shape;445;p32"/>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457200" lvl="0" marL="571500" rtl="0" algn="l">
              <a:spcBef>
                <a:spcPts val="0"/>
              </a:spcBef>
              <a:spcAft>
                <a:spcPts val="0"/>
              </a:spcAft>
              <a:buSzPts val="2400"/>
              <a:buFont typeface="Cambria"/>
              <a:buAutoNum type="arabicPeriod"/>
            </a:pPr>
            <a:r>
              <a:rPr b="1" lang="en-US" sz="2400"/>
              <a:t>Row level Triggers</a:t>
            </a:r>
            <a:endParaRPr/>
          </a:p>
          <a:p>
            <a:pPr indent="-228600" lvl="0" marL="342900" rtl="0" algn="l">
              <a:spcBef>
                <a:spcPts val="440"/>
              </a:spcBef>
              <a:spcAft>
                <a:spcPts val="0"/>
              </a:spcAft>
              <a:buSzPts val="2200"/>
              <a:buChar char="•"/>
            </a:pPr>
            <a:r>
              <a:rPr lang="en-US"/>
              <a:t>A row level trigger is fired each time the table is affected by the triggering statement</a:t>
            </a:r>
            <a:endParaRPr/>
          </a:p>
          <a:p>
            <a:pPr indent="-228600" lvl="0" marL="342900" rtl="0" algn="l">
              <a:spcBef>
                <a:spcPts val="440"/>
              </a:spcBef>
              <a:spcAft>
                <a:spcPts val="0"/>
              </a:spcAft>
              <a:buSzPts val="2200"/>
              <a:buChar char="•"/>
            </a:pPr>
            <a:r>
              <a:rPr lang="en-US"/>
              <a:t>For example, if an UPDATE statement changes multiple rows in a table, a row trigger is fired once for each row affected by the UPDATE statement</a:t>
            </a:r>
            <a:endParaRPr/>
          </a:p>
          <a:p>
            <a:pPr indent="-228600" lvl="0" marL="342900" rtl="0" algn="l">
              <a:spcBef>
                <a:spcPts val="440"/>
              </a:spcBef>
              <a:spcAft>
                <a:spcPts val="0"/>
              </a:spcAft>
              <a:buSzPts val="2200"/>
              <a:buChar char="•"/>
            </a:pPr>
            <a:r>
              <a:rPr lang="en-US"/>
              <a:t>If a triggering statement do not affect any row then a row trigger will not run only. </a:t>
            </a:r>
            <a:endParaRPr/>
          </a:p>
          <a:p>
            <a:pPr indent="-228600" lvl="0" marL="342900" rtl="0" algn="l">
              <a:spcBef>
                <a:spcPts val="440"/>
              </a:spcBef>
              <a:spcAft>
                <a:spcPts val="0"/>
              </a:spcAft>
              <a:buSzPts val="2200"/>
              <a:buChar char="•"/>
            </a:pPr>
            <a:r>
              <a:rPr lang="en-US"/>
              <a:t>IF </a:t>
            </a:r>
            <a:r>
              <a:rPr b="1" lang="en-US">
                <a:solidFill>
                  <a:srgbClr val="002060"/>
                </a:solidFill>
              </a:rPr>
              <a:t>FOR EACH ROW</a:t>
            </a:r>
            <a:r>
              <a:rPr lang="en-US"/>
              <a:t> clause is written that means trigger is row level trigger.</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9" name="Shape 449"/>
        <p:cNvGrpSpPr/>
        <p:nvPr/>
      </p:nvGrpSpPr>
      <p:grpSpPr>
        <a:xfrm>
          <a:off x="0" y="0"/>
          <a:ext cx="0" cy="0"/>
          <a:chOff x="0" y="0"/>
          <a:chExt cx="0" cy="0"/>
        </a:xfrm>
      </p:grpSpPr>
      <p:sp>
        <p:nvSpPr>
          <p:cNvPr id="450" name="Google Shape;450;p33"/>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457200" lvl="0" marL="571500" rtl="0" algn="l">
              <a:spcBef>
                <a:spcPts val="0"/>
              </a:spcBef>
              <a:spcAft>
                <a:spcPts val="0"/>
              </a:spcAft>
              <a:buSzPts val="2400"/>
              <a:buFont typeface="Cambria"/>
              <a:buAutoNum type="arabicPeriod" startAt="2"/>
            </a:pPr>
            <a:r>
              <a:rPr b="1" lang="en-US" sz="2400"/>
              <a:t>Statement level triggers</a:t>
            </a:r>
            <a:endParaRPr/>
          </a:p>
          <a:p>
            <a:pPr indent="-228600" lvl="0" marL="342900" rtl="0" algn="l">
              <a:spcBef>
                <a:spcPts val="440"/>
              </a:spcBef>
              <a:spcAft>
                <a:spcPts val="0"/>
              </a:spcAft>
              <a:buSzPts val="2200"/>
              <a:buChar char="•"/>
            </a:pPr>
            <a:r>
              <a:rPr lang="en-US"/>
              <a:t>A statement level trigger is fired only once on behalf of the triggering statement, irrespective of the number of rows in the table that are affected by the triggering statement. </a:t>
            </a:r>
            <a:endParaRPr/>
          </a:p>
          <a:p>
            <a:pPr indent="-228600" lvl="0" marL="342900" rtl="0" algn="l">
              <a:spcBef>
                <a:spcPts val="440"/>
              </a:spcBef>
              <a:spcAft>
                <a:spcPts val="0"/>
              </a:spcAft>
              <a:buSzPts val="2200"/>
              <a:buChar char="•"/>
            </a:pPr>
            <a:r>
              <a:rPr lang="en-US"/>
              <a:t>This trigger executes once even if no rows are affected. </a:t>
            </a:r>
            <a:endParaRPr/>
          </a:p>
          <a:p>
            <a:pPr indent="-228600" lvl="0" marL="342900" rtl="0" algn="l">
              <a:spcBef>
                <a:spcPts val="440"/>
              </a:spcBef>
              <a:spcAft>
                <a:spcPts val="0"/>
              </a:spcAft>
              <a:buSzPts val="2200"/>
              <a:buChar char="•"/>
            </a:pPr>
            <a:r>
              <a:rPr lang="en-US"/>
              <a:t>For example, if a DELETE statement deletes several rows from a table, a statement-level DELETE trigger fired only one time</a:t>
            </a:r>
            <a:endParaRPr b="1"/>
          </a:p>
        </p:txBody>
      </p:sp>
      <p:sp>
        <p:nvSpPr>
          <p:cNvPr id="451" name="Google Shape;451;p33"/>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4000"/>
              <a:buFont typeface="Cambria"/>
              <a:buNone/>
            </a:pPr>
            <a:r>
              <a:rPr b="1" lang="en-US" sz="4000">
                <a:solidFill>
                  <a:srgbClr val="C00000"/>
                </a:solidFill>
              </a:rPr>
              <a:t>Trigger Types</a:t>
            </a:r>
            <a:endParaRPr b="1" sz="4000">
              <a:solidFill>
                <a:srgbClr val="C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5" name="Shape 455"/>
        <p:cNvGrpSpPr/>
        <p:nvPr/>
      </p:nvGrpSpPr>
      <p:grpSpPr>
        <a:xfrm>
          <a:off x="0" y="0"/>
          <a:ext cx="0" cy="0"/>
          <a:chOff x="0" y="0"/>
          <a:chExt cx="0" cy="0"/>
        </a:xfrm>
      </p:grpSpPr>
      <p:sp>
        <p:nvSpPr>
          <p:cNvPr id="456" name="Google Shape;456;p34"/>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 Classification</a:t>
            </a:r>
            <a:endParaRPr b="1" sz="4000"/>
          </a:p>
        </p:txBody>
      </p:sp>
      <p:sp>
        <p:nvSpPr>
          <p:cNvPr id="457" name="Google Shape;457;p34"/>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The classification of trigger is based on various parameters:</a:t>
            </a:r>
            <a:endParaRPr/>
          </a:p>
          <a:p>
            <a:pPr indent="-457200" lvl="0" marL="571500" rtl="0" algn="l">
              <a:spcBef>
                <a:spcPts val="440"/>
              </a:spcBef>
              <a:spcAft>
                <a:spcPts val="0"/>
              </a:spcAft>
              <a:buSzPts val="2200"/>
              <a:buFont typeface="Cambria"/>
              <a:buAutoNum type="arabicPeriod"/>
            </a:pPr>
            <a:r>
              <a:rPr b="1" lang="en-US"/>
              <a:t>Classification based on the timing </a:t>
            </a:r>
            <a:endParaRPr b="1"/>
          </a:p>
          <a:p>
            <a:pPr indent="-457200" lvl="1" marL="868680" rtl="0" algn="l">
              <a:spcBef>
                <a:spcPts val="440"/>
              </a:spcBef>
              <a:spcAft>
                <a:spcPts val="0"/>
              </a:spcAft>
              <a:buSzPts val="2200"/>
              <a:buFont typeface="Cambria"/>
              <a:buAutoNum type="alphaLcParenR"/>
            </a:pPr>
            <a:r>
              <a:rPr lang="en-US" sz="2200">
                <a:solidFill>
                  <a:srgbClr val="C00000"/>
                </a:solidFill>
              </a:rPr>
              <a:t>BEFORE Trigger</a:t>
            </a:r>
            <a:r>
              <a:rPr lang="en-US" sz="2200"/>
              <a:t>: This trigger is fired before the occurrence of specified event. </a:t>
            </a:r>
            <a:endParaRPr/>
          </a:p>
          <a:p>
            <a:pPr indent="-457200" lvl="1" marL="868680" rtl="0" algn="l">
              <a:spcBef>
                <a:spcPts val="440"/>
              </a:spcBef>
              <a:spcAft>
                <a:spcPts val="0"/>
              </a:spcAft>
              <a:buSzPts val="2200"/>
              <a:buFont typeface="Cambria"/>
              <a:buAutoNum type="alphaLcParenR"/>
            </a:pPr>
            <a:r>
              <a:rPr lang="en-US" sz="2200">
                <a:solidFill>
                  <a:srgbClr val="C00000"/>
                </a:solidFill>
              </a:rPr>
              <a:t>AFTER Trigger</a:t>
            </a:r>
            <a:r>
              <a:rPr lang="en-US" sz="2200"/>
              <a:t>: This trigger is fired after the occurrence of specified event. </a:t>
            </a:r>
            <a:endParaRPr sz="2200"/>
          </a:p>
          <a:p>
            <a:pPr indent="-457200" lvl="0" marL="571500" rtl="0" algn="l">
              <a:spcBef>
                <a:spcPts val="440"/>
              </a:spcBef>
              <a:spcAft>
                <a:spcPts val="0"/>
              </a:spcAft>
              <a:buSzPts val="2200"/>
              <a:buFont typeface="Cambria"/>
              <a:buAutoNum type="arabicPeriod"/>
            </a:pPr>
            <a:r>
              <a:rPr b="1" lang="en-US"/>
              <a:t>Classification based on the level </a:t>
            </a:r>
            <a:endParaRPr/>
          </a:p>
          <a:p>
            <a:pPr indent="-457200" lvl="1" marL="868680" rtl="0" algn="l">
              <a:spcBef>
                <a:spcPts val="440"/>
              </a:spcBef>
              <a:spcAft>
                <a:spcPts val="0"/>
              </a:spcAft>
              <a:buSzPts val="2200"/>
              <a:buFont typeface="Cambria"/>
              <a:buAutoNum type="alphaLcParenR"/>
            </a:pPr>
            <a:r>
              <a:rPr lang="en-US" sz="2200">
                <a:solidFill>
                  <a:srgbClr val="C00000"/>
                </a:solidFill>
              </a:rPr>
              <a:t>STATEMENT level Trigger </a:t>
            </a:r>
            <a:r>
              <a:rPr lang="en-US" sz="2200"/>
              <a:t>: This trigger is fired for once for the specified event statement. </a:t>
            </a:r>
            <a:endParaRPr/>
          </a:p>
          <a:p>
            <a:pPr indent="-457200" lvl="1" marL="868680" rtl="0" algn="l">
              <a:spcBef>
                <a:spcPts val="440"/>
              </a:spcBef>
              <a:spcAft>
                <a:spcPts val="0"/>
              </a:spcAft>
              <a:buSzPts val="2200"/>
              <a:buFont typeface="Cambria"/>
              <a:buAutoNum type="alphaLcParenR"/>
            </a:pPr>
            <a:r>
              <a:rPr lang="en-US" sz="2200">
                <a:solidFill>
                  <a:srgbClr val="C00000"/>
                </a:solidFill>
              </a:rPr>
              <a:t>ROW level Trigger </a:t>
            </a:r>
            <a:r>
              <a:rPr lang="en-US" sz="2200"/>
              <a:t>: This trigger is fired for all the records which are affected in the specified event. (only for DML)</a:t>
            </a:r>
            <a:endParaRPr sz="2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1" name="Shape 461"/>
        <p:cNvGrpSpPr/>
        <p:nvPr/>
      </p:nvGrpSpPr>
      <p:grpSpPr>
        <a:xfrm>
          <a:off x="0" y="0"/>
          <a:ext cx="0" cy="0"/>
          <a:chOff x="0" y="0"/>
          <a:chExt cx="0" cy="0"/>
        </a:xfrm>
      </p:grpSpPr>
      <p:sp>
        <p:nvSpPr>
          <p:cNvPr id="462" name="Google Shape;462;p35"/>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The DML triggers are fired in response to DML (Data Manipulation Language) command events that start with Insert, Update, and Delete. </a:t>
            </a:r>
            <a:endParaRPr/>
          </a:p>
          <a:p>
            <a:pPr indent="-228600" lvl="0" marL="342900" rtl="0" algn="l">
              <a:spcBef>
                <a:spcPts val="440"/>
              </a:spcBef>
              <a:spcAft>
                <a:spcPts val="0"/>
              </a:spcAft>
              <a:buSzPts val="2200"/>
              <a:buChar char="•"/>
            </a:pPr>
            <a:r>
              <a:rPr lang="en-US"/>
              <a:t>Like insert_table, Update_view and Delete_table.</a:t>
            </a:r>
            <a:br>
              <a:rPr lang="en-US"/>
            </a:br>
            <a:endParaRPr/>
          </a:p>
        </p:txBody>
      </p:sp>
      <p:sp>
        <p:nvSpPr>
          <p:cNvPr id="463" name="Google Shape;463;p35"/>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4000"/>
              <a:buFont typeface="Cambria"/>
              <a:buNone/>
            </a:pPr>
            <a:r>
              <a:rPr b="1" lang="en-US" sz="4000">
                <a:solidFill>
                  <a:srgbClr val="C00000"/>
                </a:solidFill>
              </a:rPr>
              <a:t>DML Trigger</a:t>
            </a:r>
            <a:endParaRPr b="1" sz="4000">
              <a:solidFill>
                <a:srgbClr val="C00000"/>
              </a:solidFill>
            </a:endParaRPr>
          </a:p>
        </p:txBody>
      </p:sp>
      <p:pic>
        <p:nvPicPr>
          <p:cNvPr id="464" name="Google Shape;464;p35"/>
          <p:cNvPicPr preferRelativeResize="0"/>
          <p:nvPr/>
        </p:nvPicPr>
        <p:blipFill rotWithShape="1">
          <a:blip r:embed="rId3">
            <a:alphaModFix/>
          </a:blip>
          <a:srcRect b="0" l="0" r="0" t="0"/>
          <a:stretch/>
        </p:blipFill>
        <p:spPr>
          <a:xfrm>
            <a:off x="304800" y="3581400"/>
            <a:ext cx="8046781" cy="2667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8" name="Shape 468"/>
        <p:cNvGrpSpPr/>
        <p:nvPr/>
      </p:nvGrpSpPr>
      <p:grpSpPr>
        <a:xfrm>
          <a:off x="0" y="0"/>
          <a:ext cx="0" cy="0"/>
          <a:chOff x="0" y="0"/>
          <a:chExt cx="0" cy="0"/>
        </a:xfrm>
      </p:grpSpPr>
      <p:sp>
        <p:nvSpPr>
          <p:cNvPr id="469" name="Google Shape;469;p36"/>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When we insert, update, or delete a table in a database, then the following message appears,</a:t>
            </a:r>
            <a:endParaRPr/>
          </a:p>
          <a:p>
            <a:pPr indent="-228600" lvl="0" marL="342900" rtl="0" algn="l">
              <a:spcBef>
                <a:spcPts val="440"/>
              </a:spcBef>
              <a:spcAft>
                <a:spcPts val="0"/>
              </a:spcAft>
              <a:buSzPts val="2200"/>
              <a:buChar char="•"/>
            </a:pPr>
            <a:br>
              <a:rPr lang="en-US"/>
            </a:br>
            <a:endParaRPr/>
          </a:p>
        </p:txBody>
      </p:sp>
      <p:sp>
        <p:nvSpPr>
          <p:cNvPr id="470" name="Google Shape;470;p36"/>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4000"/>
              <a:buFont typeface="Cambria"/>
              <a:buNone/>
            </a:pPr>
            <a:r>
              <a:rPr b="1" lang="en-US" sz="4000">
                <a:solidFill>
                  <a:srgbClr val="C00000"/>
                </a:solidFill>
              </a:rPr>
              <a:t>DML Trigger</a:t>
            </a:r>
            <a:endParaRPr b="1" sz="4000">
              <a:solidFill>
                <a:srgbClr val="C00000"/>
              </a:solidFill>
            </a:endParaRPr>
          </a:p>
        </p:txBody>
      </p:sp>
      <p:pic>
        <p:nvPicPr>
          <p:cNvPr id="471" name="Google Shape;471;p36"/>
          <p:cNvPicPr preferRelativeResize="0"/>
          <p:nvPr/>
        </p:nvPicPr>
        <p:blipFill rotWithShape="1">
          <a:blip r:embed="rId3">
            <a:alphaModFix/>
          </a:blip>
          <a:srcRect b="0" l="0" r="0" t="0"/>
          <a:stretch/>
        </p:blipFill>
        <p:spPr>
          <a:xfrm>
            <a:off x="914400" y="2509345"/>
            <a:ext cx="6822831" cy="1828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5" name="Shape 475"/>
        <p:cNvGrpSpPr/>
        <p:nvPr/>
      </p:nvGrpSpPr>
      <p:grpSpPr>
        <a:xfrm>
          <a:off x="0" y="0"/>
          <a:ext cx="0" cy="0"/>
          <a:chOff x="0" y="0"/>
          <a:chExt cx="0" cy="0"/>
        </a:xfrm>
      </p:grpSpPr>
      <p:sp>
        <p:nvSpPr>
          <p:cNvPr id="476" name="Google Shape;476;p37"/>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Cambria"/>
              <a:buNone/>
            </a:pPr>
            <a:r>
              <a:rPr b="1" lang="en-US" sz="3600"/>
              <a:t>Trigger Example: Row Level Trigger</a:t>
            </a:r>
            <a:endParaRPr/>
          </a:p>
        </p:txBody>
      </p:sp>
      <p:sp>
        <p:nvSpPr>
          <p:cNvPr id="477" name="Google Shape;477;p37"/>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Creating a trigger on employee table whenever a new employee added, a comment is written in EmpLog table</a:t>
            </a:r>
            <a:endParaRPr/>
          </a:p>
          <a:p>
            <a:pPr indent="-88900" lvl="0" marL="342900" rtl="0" algn="l">
              <a:spcBef>
                <a:spcPts val="440"/>
              </a:spcBef>
              <a:spcAft>
                <a:spcPts val="0"/>
              </a:spcAft>
              <a:buSzPts val="2200"/>
              <a:buNone/>
            </a:pPr>
            <a:r>
              <a:t/>
            </a:r>
            <a:endParaRPr/>
          </a:p>
          <a:p>
            <a:pPr indent="0" lvl="0" marL="114300" rtl="0" algn="l">
              <a:spcBef>
                <a:spcPts val="440"/>
              </a:spcBef>
              <a:spcAft>
                <a:spcPts val="0"/>
              </a:spcAft>
              <a:buSzPts val="2200"/>
              <a:buNone/>
            </a:pPr>
            <a:r>
              <a:rPr lang="en-US"/>
              <a:t>CREATE OR REPLACE TRIGGER AutoRecruit</a:t>
            </a:r>
            <a:endParaRPr/>
          </a:p>
          <a:p>
            <a:pPr indent="0" lvl="0" marL="114300" rtl="0" algn="l">
              <a:spcBef>
                <a:spcPts val="440"/>
              </a:spcBef>
              <a:spcAft>
                <a:spcPts val="0"/>
              </a:spcAft>
              <a:buSzPts val="2200"/>
              <a:buNone/>
            </a:pPr>
            <a:r>
              <a:rPr lang="en-US"/>
              <a:t>AFTER INSERT ON EMP</a:t>
            </a:r>
            <a:endParaRPr/>
          </a:p>
          <a:p>
            <a:pPr indent="0" lvl="0" marL="114300" rtl="0" algn="l">
              <a:spcBef>
                <a:spcPts val="440"/>
              </a:spcBef>
              <a:spcAft>
                <a:spcPts val="0"/>
              </a:spcAft>
              <a:buSzPts val="2200"/>
              <a:buNone/>
            </a:pPr>
            <a:r>
              <a:rPr lang="en-US"/>
              <a:t>FOR EACH ROW</a:t>
            </a:r>
            <a:endParaRPr/>
          </a:p>
          <a:p>
            <a:pPr indent="0" lvl="0" marL="114300" rtl="0" algn="l">
              <a:spcBef>
                <a:spcPts val="440"/>
              </a:spcBef>
              <a:spcAft>
                <a:spcPts val="0"/>
              </a:spcAft>
              <a:buSzPts val="2200"/>
              <a:buNone/>
            </a:pPr>
            <a:r>
              <a:rPr lang="en-US"/>
              <a:t>BEGIN</a:t>
            </a:r>
            <a:endParaRPr/>
          </a:p>
          <a:p>
            <a:pPr indent="0" lvl="0" marL="114300" rtl="0" algn="l">
              <a:spcBef>
                <a:spcPts val="440"/>
              </a:spcBef>
              <a:spcAft>
                <a:spcPts val="0"/>
              </a:spcAft>
              <a:buSzPts val="2200"/>
              <a:buNone/>
            </a:pPr>
            <a:r>
              <a:rPr lang="en-US"/>
              <a:t>	INSERT into EmpLog values(“Employee inserted”);</a:t>
            </a:r>
            <a:endParaRPr/>
          </a:p>
          <a:p>
            <a:pPr indent="0" lvl="0" marL="114300" rtl="0" algn="l">
              <a:spcBef>
                <a:spcPts val="440"/>
              </a:spcBef>
              <a:spcAft>
                <a:spcPts val="0"/>
              </a:spcAft>
              <a:buSzPts val="2200"/>
              <a:buNone/>
            </a:pPr>
            <a:r>
              <a:rPr lang="en-US"/>
              <a:t>END;</a:t>
            </a:r>
            <a:endParaRPr/>
          </a:p>
          <a:p>
            <a:pPr indent="0" lvl="0" marL="114300" rtl="0" algn="l">
              <a:spcBef>
                <a:spcPts val="440"/>
              </a:spcBef>
              <a:spcAft>
                <a:spcPts val="0"/>
              </a:spcAft>
              <a:buSzPts val="2200"/>
              <a:buNone/>
            </a:pPr>
            <a:r>
              <a:t/>
            </a:r>
            <a:endParaRPr/>
          </a:p>
          <a:p>
            <a:pPr indent="0" lvl="0" marL="114300" rtl="0" algn="l">
              <a:spcBef>
                <a:spcPts val="440"/>
              </a:spcBef>
              <a:spcAft>
                <a:spcPts val="0"/>
              </a:spcAft>
              <a:buSzPts val="2200"/>
              <a:buNone/>
            </a:pPr>
            <a:r>
              <a:rPr b="1" lang="en-US">
                <a:solidFill>
                  <a:srgbClr val="C00000"/>
                </a:solidFill>
              </a:rPr>
              <a:t>Trigger created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1" name="Shape 481"/>
        <p:cNvGrpSpPr/>
        <p:nvPr/>
      </p:nvGrpSpPr>
      <p:grpSpPr>
        <a:xfrm>
          <a:off x="0" y="0"/>
          <a:ext cx="0" cy="0"/>
          <a:chOff x="0" y="0"/>
          <a:chExt cx="0" cy="0"/>
        </a:xfrm>
      </p:grpSpPr>
      <p:sp>
        <p:nvSpPr>
          <p:cNvPr id="482" name="Google Shape;482;p38"/>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0" lvl="0" marL="114300" rtl="0" algn="l">
              <a:spcBef>
                <a:spcPts val="0"/>
              </a:spcBef>
              <a:spcAft>
                <a:spcPts val="0"/>
              </a:spcAft>
              <a:buSzPts val="2200"/>
              <a:buNone/>
            </a:pPr>
            <a:r>
              <a:rPr lang="en-US"/>
              <a:t>mysql&gt;INSERT into EMP (1, ‘abc’, ‘manager’, 30000);</a:t>
            </a:r>
            <a:endParaRPr/>
          </a:p>
          <a:p>
            <a:pPr indent="0" lvl="0" marL="114300" rtl="0" algn="l">
              <a:spcBef>
                <a:spcPts val="440"/>
              </a:spcBef>
              <a:spcAft>
                <a:spcPts val="0"/>
              </a:spcAft>
              <a:buSzPts val="2200"/>
              <a:buNone/>
            </a:pPr>
            <a:r>
              <a:rPr lang="en-US"/>
              <a:t>1 row created</a:t>
            </a:r>
            <a:endParaRPr/>
          </a:p>
          <a:p>
            <a:pPr indent="0" lvl="0" marL="114300" rtl="0" algn="l">
              <a:spcBef>
                <a:spcPts val="440"/>
              </a:spcBef>
              <a:spcAft>
                <a:spcPts val="0"/>
              </a:spcAft>
              <a:buSzPts val="2200"/>
              <a:buNone/>
            </a:pPr>
            <a:r>
              <a:t/>
            </a:r>
            <a:endParaRPr/>
          </a:p>
          <a:p>
            <a:pPr indent="0" lvl="0" marL="114300" rtl="0" algn="l">
              <a:spcBef>
                <a:spcPts val="440"/>
              </a:spcBef>
              <a:spcAft>
                <a:spcPts val="0"/>
              </a:spcAft>
              <a:buSzPts val="2200"/>
              <a:buNone/>
            </a:pPr>
            <a:r>
              <a:rPr lang="en-US"/>
              <a:t>mysql&gt; SELECT * from EmpLog;</a:t>
            </a:r>
            <a:endParaRPr/>
          </a:p>
          <a:p>
            <a:pPr indent="0" lvl="0" marL="114300" rtl="0" algn="l">
              <a:spcBef>
                <a:spcPts val="440"/>
              </a:spcBef>
              <a:spcAft>
                <a:spcPts val="0"/>
              </a:spcAft>
              <a:buSzPts val="2200"/>
              <a:buNone/>
            </a:pPr>
            <a:r>
              <a:t/>
            </a:r>
            <a:endParaRPr/>
          </a:p>
          <a:p>
            <a:pPr indent="0" lvl="0" marL="114300" rtl="0" algn="l">
              <a:spcBef>
                <a:spcPts val="440"/>
              </a:spcBef>
              <a:spcAft>
                <a:spcPts val="0"/>
              </a:spcAft>
              <a:buSzPts val="2200"/>
              <a:buNone/>
            </a:pPr>
            <a:r>
              <a:rPr lang="en-US"/>
              <a:t>STATUS</a:t>
            </a:r>
            <a:endParaRPr/>
          </a:p>
          <a:p>
            <a:pPr indent="0" lvl="0" marL="114300" rtl="0" algn="l">
              <a:spcBef>
                <a:spcPts val="440"/>
              </a:spcBef>
              <a:spcAft>
                <a:spcPts val="0"/>
              </a:spcAft>
              <a:buSzPts val="2200"/>
              <a:buNone/>
            </a:pPr>
            <a:r>
              <a:rPr lang="en-US"/>
              <a:t>--------------</a:t>
            </a:r>
            <a:endParaRPr/>
          </a:p>
          <a:p>
            <a:pPr indent="0" lvl="0" marL="114300" rtl="0" algn="l">
              <a:spcBef>
                <a:spcPts val="440"/>
              </a:spcBef>
              <a:spcAft>
                <a:spcPts val="0"/>
              </a:spcAft>
              <a:buSzPts val="2200"/>
              <a:buNone/>
            </a:pPr>
            <a:r>
              <a:rPr b="1" lang="en-US">
                <a:solidFill>
                  <a:srgbClr val="C00000"/>
                </a:solidFill>
              </a:rPr>
              <a:t>Employee inserted</a:t>
            </a:r>
            <a:endParaRPr/>
          </a:p>
          <a:p>
            <a:pPr indent="0" lvl="0" marL="114300" rtl="0" algn="l">
              <a:spcBef>
                <a:spcPts val="440"/>
              </a:spcBef>
              <a:spcAft>
                <a:spcPts val="0"/>
              </a:spcAft>
              <a:buSzPts val="2200"/>
              <a:buNone/>
            </a:pPr>
            <a:r>
              <a:t/>
            </a:r>
            <a:endParaRPr/>
          </a:p>
        </p:txBody>
      </p:sp>
      <p:sp>
        <p:nvSpPr>
          <p:cNvPr id="483" name="Google Shape;483;p38"/>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 Example</a:t>
            </a:r>
            <a:endParaRPr b="1" sz="4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7" name="Shape 487"/>
        <p:cNvGrpSpPr/>
        <p:nvPr/>
      </p:nvGrpSpPr>
      <p:grpSpPr>
        <a:xfrm>
          <a:off x="0" y="0"/>
          <a:ext cx="0" cy="0"/>
          <a:chOff x="0" y="0"/>
          <a:chExt cx="0" cy="0"/>
        </a:xfrm>
      </p:grpSpPr>
      <p:sp>
        <p:nvSpPr>
          <p:cNvPr id="488" name="Google Shape;488;p39"/>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There comes a new student add him to CS </a:t>
            </a:r>
            <a:endParaRPr/>
          </a:p>
          <a:p>
            <a:pPr indent="0" lvl="0" marL="114300" rtl="0" algn="l">
              <a:spcBef>
                <a:spcPts val="440"/>
              </a:spcBef>
              <a:spcAft>
                <a:spcPts val="0"/>
              </a:spcAft>
              <a:buSzPts val="2200"/>
              <a:buNone/>
            </a:pPr>
            <a:r>
              <a:rPr lang="en-US"/>
              <a:t>mysql&gt; </a:t>
            </a:r>
            <a:endParaRPr/>
          </a:p>
          <a:p>
            <a:pPr indent="0" lvl="0" marL="114300" rtl="0" algn="l">
              <a:spcBef>
                <a:spcPts val="440"/>
              </a:spcBef>
              <a:spcAft>
                <a:spcPts val="0"/>
              </a:spcAft>
              <a:buSzPts val="2200"/>
              <a:buNone/>
            </a:pPr>
            <a:r>
              <a:rPr lang="en-US"/>
              <a:t>CREATE TRIGGER CSAutoRecruit</a:t>
            </a:r>
            <a:endParaRPr/>
          </a:p>
          <a:p>
            <a:pPr indent="0" lvl="0" marL="114300" rtl="0" algn="l">
              <a:spcBef>
                <a:spcPts val="440"/>
              </a:spcBef>
              <a:spcAft>
                <a:spcPts val="0"/>
              </a:spcAft>
              <a:buSzPts val="2200"/>
              <a:buNone/>
            </a:pPr>
            <a:r>
              <a:rPr lang="en-US"/>
              <a:t>AFTER INSERT ON Student</a:t>
            </a:r>
            <a:endParaRPr/>
          </a:p>
          <a:p>
            <a:pPr indent="0" lvl="0" marL="114300" rtl="0" algn="l">
              <a:spcBef>
                <a:spcPts val="440"/>
              </a:spcBef>
              <a:spcAft>
                <a:spcPts val="0"/>
              </a:spcAft>
              <a:buSzPts val="2200"/>
              <a:buNone/>
            </a:pPr>
            <a:r>
              <a:rPr lang="en-US"/>
              <a:t>FOR EACH ROW</a:t>
            </a:r>
            <a:endParaRPr/>
          </a:p>
          <a:p>
            <a:pPr indent="0" lvl="0" marL="114300" rtl="0" algn="l">
              <a:spcBef>
                <a:spcPts val="440"/>
              </a:spcBef>
              <a:spcAft>
                <a:spcPts val="0"/>
              </a:spcAft>
              <a:buSzPts val="2200"/>
              <a:buNone/>
            </a:pPr>
            <a:r>
              <a:rPr lang="en-US"/>
              <a:t>BEGIN</a:t>
            </a:r>
            <a:endParaRPr/>
          </a:p>
          <a:p>
            <a:pPr indent="0" lvl="0" marL="114300" rtl="0" algn="l">
              <a:spcBef>
                <a:spcPts val="440"/>
              </a:spcBef>
              <a:spcAft>
                <a:spcPts val="0"/>
              </a:spcAft>
              <a:buSzPts val="2200"/>
              <a:buNone/>
            </a:pPr>
            <a:r>
              <a:rPr lang="en-US"/>
              <a:t>	INSERT into Recruit(1,’abc’,’CS’);</a:t>
            </a:r>
            <a:endParaRPr/>
          </a:p>
          <a:p>
            <a:pPr indent="0" lvl="0" marL="114300" rtl="0" algn="l">
              <a:spcBef>
                <a:spcPts val="440"/>
              </a:spcBef>
              <a:spcAft>
                <a:spcPts val="0"/>
              </a:spcAft>
              <a:buSzPts val="2200"/>
              <a:buNone/>
            </a:pPr>
            <a:r>
              <a:rPr lang="en-US"/>
              <a:t>END</a:t>
            </a:r>
            <a:endParaRPr/>
          </a:p>
          <a:p>
            <a:pPr indent="0" lvl="0" marL="114300" rtl="0" algn="l">
              <a:spcBef>
                <a:spcPts val="440"/>
              </a:spcBef>
              <a:spcAft>
                <a:spcPts val="0"/>
              </a:spcAft>
              <a:buSzPts val="2200"/>
              <a:buNone/>
            </a:pPr>
            <a:r>
              <a:t/>
            </a:r>
            <a:endParaRPr/>
          </a:p>
        </p:txBody>
      </p:sp>
      <p:sp>
        <p:nvSpPr>
          <p:cNvPr id="489" name="Google Shape;489;p39"/>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Cambria"/>
              <a:buNone/>
            </a:pPr>
            <a:r>
              <a:rPr b="1" lang="en-US" sz="3600"/>
              <a:t>Trigger Example: Row Level Trigger</a:t>
            </a:r>
            <a:endParaRPr b="1" sz="3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3" name="Shape 493"/>
        <p:cNvGrpSpPr/>
        <p:nvPr/>
      </p:nvGrpSpPr>
      <p:grpSpPr>
        <a:xfrm>
          <a:off x="0" y="0"/>
          <a:ext cx="0" cy="0"/>
          <a:chOff x="0" y="0"/>
          <a:chExt cx="0" cy="0"/>
        </a:xfrm>
      </p:grpSpPr>
      <p:sp>
        <p:nvSpPr>
          <p:cNvPr id="494" name="Google Shape;494;p40"/>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Cambria"/>
              <a:buNone/>
            </a:pPr>
            <a:r>
              <a:rPr lang="en-US" sz="3600"/>
              <a:t>Trigger Example:2</a:t>
            </a:r>
            <a:endParaRPr sz="3600"/>
          </a:p>
        </p:txBody>
      </p:sp>
      <p:pic>
        <p:nvPicPr>
          <p:cNvPr id="495" name="Google Shape;495;p40"/>
          <p:cNvPicPr preferRelativeResize="0"/>
          <p:nvPr>
            <p:ph idx="1" type="body"/>
          </p:nvPr>
        </p:nvPicPr>
        <p:blipFill rotWithShape="1">
          <a:blip r:embed="rId3">
            <a:alphaModFix/>
          </a:blip>
          <a:srcRect b="0" l="0" r="0" t="0"/>
          <a:stretch/>
        </p:blipFill>
        <p:spPr>
          <a:xfrm>
            <a:off x="609600" y="1447800"/>
            <a:ext cx="5867400" cy="25696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9" name="Shape 499"/>
        <p:cNvGrpSpPr/>
        <p:nvPr/>
      </p:nvGrpSpPr>
      <p:grpSpPr>
        <a:xfrm>
          <a:off x="0" y="0"/>
          <a:ext cx="0" cy="0"/>
          <a:chOff x="0" y="0"/>
          <a:chExt cx="0" cy="0"/>
        </a:xfrm>
      </p:grpSpPr>
      <p:sp>
        <p:nvSpPr>
          <p:cNvPr id="500" name="Google Shape;500;p41"/>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b="1" i="1" lang="en-US"/>
              <a:t>Before Insert</a:t>
            </a:r>
            <a:endParaRPr/>
          </a:p>
          <a:p>
            <a:pPr indent="-88900" lvl="0" marL="342900" rtl="0" algn="l">
              <a:spcBef>
                <a:spcPts val="440"/>
              </a:spcBef>
              <a:spcAft>
                <a:spcPts val="0"/>
              </a:spcAft>
              <a:buSzPts val="2200"/>
              <a:buNone/>
            </a:pPr>
            <a:r>
              <a:t/>
            </a:r>
            <a:endParaRPr b="1" i="1"/>
          </a:p>
          <a:p>
            <a:pPr indent="-88900" lvl="0" marL="342900" rtl="0" algn="l">
              <a:spcBef>
                <a:spcPts val="440"/>
              </a:spcBef>
              <a:spcAft>
                <a:spcPts val="0"/>
              </a:spcAft>
              <a:buSzPts val="2200"/>
              <a:buNone/>
            </a:pPr>
            <a:r>
              <a:t/>
            </a:r>
            <a:endParaRPr b="1" i="1"/>
          </a:p>
          <a:p>
            <a:pPr indent="-88900" lvl="0" marL="342900" rtl="0" algn="l">
              <a:spcBef>
                <a:spcPts val="440"/>
              </a:spcBef>
              <a:spcAft>
                <a:spcPts val="0"/>
              </a:spcAft>
              <a:buSzPts val="2200"/>
              <a:buNone/>
            </a:pPr>
            <a:r>
              <a:t/>
            </a:r>
            <a:endParaRPr b="1" i="1"/>
          </a:p>
          <a:p>
            <a:pPr indent="-88900" lvl="0" marL="342900" rtl="0" algn="l">
              <a:spcBef>
                <a:spcPts val="440"/>
              </a:spcBef>
              <a:spcAft>
                <a:spcPts val="0"/>
              </a:spcAft>
              <a:buSzPts val="2200"/>
              <a:buNone/>
            </a:pPr>
            <a:r>
              <a:t/>
            </a:r>
            <a:endParaRPr b="1" i="1"/>
          </a:p>
          <a:p>
            <a:pPr indent="-88900" lvl="0" marL="342900" rtl="0" algn="l">
              <a:spcBef>
                <a:spcPts val="440"/>
              </a:spcBef>
              <a:spcAft>
                <a:spcPts val="0"/>
              </a:spcAft>
              <a:buSzPts val="2200"/>
              <a:buNone/>
            </a:pPr>
            <a:r>
              <a:t/>
            </a:r>
            <a:endParaRPr b="1" i="1"/>
          </a:p>
          <a:p>
            <a:pPr indent="-88900" lvl="0" marL="342900" rtl="0" algn="l">
              <a:spcBef>
                <a:spcPts val="440"/>
              </a:spcBef>
              <a:spcAft>
                <a:spcPts val="0"/>
              </a:spcAft>
              <a:buSzPts val="2200"/>
              <a:buNone/>
            </a:pPr>
            <a:r>
              <a:t/>
            </a:r>
            <a:endParaRPr b="1" i="1"/>
          </a:p>
          <a:p>
            <a:pPr indent="-228600" lvl="0" marL="342900" rtl="0" algn="l">
              <a:spcBef>
                <a:spcPts val="440"/>
              </a:spcBef>
              <a:spcAft>
                <a:spcPts val="0"/>
              </a:spcAft>
              <a:buSzPts val="2200"/>
              <a:buChar char="•"/>
            </a:pPr>
            <a:r>
              <a:rPr lang="en-US"/>
              <a:t>Here when we insert data into the student table automatically the trigger will be invoked. </a:t>
            </a:r>
            <a:endParaRPr/>
          </a:p>
          <a:p>
            <a:pPr indent="-228600" lvl="0" marL="342900" rtl="0" algn="l">
              <a:spcBef>
                <a:spcPts val="440"/>
              </a:spcBef>
              <a:spcAft>
                <a:spcPts val="0"/>
              </a:spcAft>
              <a:buSzPts val="2200"/>
              <a:buChar char="•"/>
            </a:pPr>
            <a:r>
              <a:rPr lang="en-US"/>
              <a:t>The trigger will add 100 to the marks column into the student column.</a:t>
            </a:r>
            <a:endParaRPr b="1"/>
          </a:p>
        </p:txBody>
      </p:sp>
      <p:sp>
        <p:nvSpPr>
          <p:cNvPr id="501" name="Google Shape;501;p41"/>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Cambria"/>
              <a:buNone/>
            </a:pPr>
            <a:r>
              <a:rPr lang="en-US" sz="3600"/>
              <a:t>Trigger Example:2</a:t>
            </a:r>
            <a:endParaRPr sz="3600"/>
          </a:p>
        </p:txBody>
      </p:sp>
      <p:pic>
        <p:nvPicPr>
          <p:cNvPr id="502" name="Google Shape;502;p41"/>
          <p:cNvPicPr preferRelativeResize="0"/>
          <p:nvPr/>
        </p:nvPicPr>
        <p:blipFill rotWithShape="1">
          <a:blip r:embed="rId3">
            <a:alphaModFix/>
          </a:blip>
          <a:srcRect b="0" l="0" r="0" t="0"/>
          <a:stretch/>
        </p:blipFill>
        <p:spPr>
          <a:xfrm>
            <a:off x="609600" y="2209800"/>
            <a:ext cx="4919764" cy="1600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6" name="Shape 506"/>
        <p:cNvGrpSpPr/>
        <p:nvPr/>
      </p:nvGrpSpPr>
      <p:grpSpPr>
        <a:xfrm>
          <a:off x="0" y="0"/>
          <a:ext cx="0" cy="0"/>
          <a:chOff x="0" y="0"/>
          <a:chExt cx="0" cy="0"/>
        </a:xfrm>
      </p:grpSpPr>
      <p:sp>
        <p:nvSpPr>
          <p:cNvPr id="507" name="Google Shape;507;p42"/>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0" lvl="0" marL="114300" rtl="0" algn="l">
              <a:spcBef>
                <a:spcPts val="0"/>
              </a:spcBef>
              <a:spcAft>
                <a:spcPts val="0"/>
              </a:spcAft>
              <a:buSzPts val="2200"/>
              <a:buNone/>
            </a:pPr>
            <a:r>
              <a:rPr b="1" i="1" lang="en-US"/>
              <a:t>After Insert</a:t>
            </a:r>
            <a:endParaRPr/>
          </a:p>
          <a:p>
            <a:pPr indent="-228600" lvl="0" marL="342900" rtl="0" algn="l">
              <a:spcBef>
                <a:spcPts val="440"/>
              </a:spcBef>
              <a:spcAft>
                <a:spcPts val="0"/>
              </a:spcAft>
              <a:buSzPts val="2200"/>
              <a:buChar char="•"/>
            </a:pPr>
            <a:r>
              <a:rPr lang="en-US"/>
              <a:t>To use this variant we need one more table i.e, Percentage where the trigger will store the results. Use the below code to create the Percentage Table.</a:t>
            </a:r>
            <a:endParaRPr/>
          </a:p>
          <a:p>
            <a:pPr indent="-88900" lvl="0" marL="342900" rtl="0" algn="l">
              <a:spcBef>
                <a:spcPts val="440"/>
              </a:spcBef>
              <a:spcAft>
                <a:spcPts val="0"/>
              </a:spcAft>
              <a:buSzPts val="2200"/>
              <a:buNone/>
            </a:pPr>
            <a:r>
              <a:t/>
            </a:r>
            <a:endParaRPr/>
          </a:p>
        </p:txBody>
      </p:sp>
      <p:sp>
        <p:nvSpPr>
          <p:cNvPr id="508" name="Google Shape;508;p42"/>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Cambria"/>
              <a:buNone/>
            </a:pPr>
            <a:r>
              <a:rPr lang="en-US" sz="3600"/>
              <a:t>Trigger Example:2</a:t>
            </a:r>
            <a:endParaRPr sz="3600"/>
          </a:p>
        </p:txBody>
      </p:sp>
      <p:pic>
        <p:nvPicPr>
          <p:cNvPr id="509" name="Google Shape;509;p42"/>
          <p:cNvPicPr preferRelativeResize="0"/>
          <p:nvPr/>
        </p:nvPicPr>
        <p:blipFill rotWithShape="1">
          <a:blip r:embed="rId3">
            <a:alphaModFix/>
          </a:blip>
          <a:srcRect b="0" l="0" r="0" t="0"/>
          <a:stretch/>
        </p:blipFill>
        <p:spPr>
          <a:xfrm>
            <a:off x="478221" y="3492062"/>
            <a:ext cx="3401568" cy="685800"/>
          </a:xfrm>
          <a:prstGeom prst="rect">
            <a:avLst/>
          </a:prstGeom>
          <a:noFill/>
          <a:ln>
            <a:noFill/>
          </a:ln>
        </p:spPr>
      </p:pic>
      <p:pic>
        <p:nvPicPr>
          <p:cNvPr id="510" name="Google Shape;510;p42"/>
          <p:cNvPicPr preferRelativeResize="0"/>
          <p:nvPr/>
        </p:nvPicPr>
        <p:blipFill rotWithShape="1">
          <a:blip r:embed="rId4">
            <a:alphaModFix/>
          </a:blip>
          <a:srcRect b="0" l="0" r="0" t="0"/>
          <a:stretch/>
        </p:blipFill>
        <p:spPr>
          <a:xfrm>
            <a:off x="457200" y="4495800"/>
            <a:ext cx="6020554" cy="1524000"/>
          </a:xfrm>
          <a:prstGeom prst="rect">
            <a:avLst/>
          </a:prstGeom>
          <a:noFill/>
          <a:ln>
            <a:noFill/>
          </a:ln>
        </p:spPr>
      </p:pic>
      <p:sp>
        <p:nvSpPr>
          <p:cNvPr id="511" name="Google Shape;511;p42"/>
          <p:cNvSpPr/>
          <p:nvPr/>
        </p:nvSpPr>
        <p:spPr>
          <a:xfrm>
            <a:off x="4818433" y="3733800"/>
            <a:ext cx="3318641"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Here when we insert data to the table, </a:t>
            </a:r>
            <a:r>
              <a:rPr i="1" lang="en-US" sz="2000">
                <a:solidFill>
                  <a:srgbClr val="000000"/>
                </a:solidFill>
                <a:latin typeface="Calibri"/>
                <a:ea typeface="Calibri"/>
                <a:cs typeface="Calibri"/>
                <a:sym typeface="Calibri"/>
              </a:rPr>
              <a:t>total_mark trigger </a:t>
            </a:r>
            <a:r>
              <a:rPr lang="en-US" sz="2000">
                <a:solidFill>
                  <a:srgbClr val="000000"/>
                </a:solidFill>
                <a:latin typeface="Calibri"/>
                <a:ea typeface="Calibri"/>
                <a:cs typeface="Calibri"/>
                <a:sym typeface="Calibri"/>
              </a:rPr>
              <a:t>will store the result in the Final_mark table.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5" name="Shape 515"/>
        <p:cNvGrpSpPr/>
        <p:nvPr/>
      </p:nvGrpSpPr>
      <p:grpSpPr>
        <a:xfrm>
          <a:off x="0" y="0"/>
          <a:ext cx="0" cy="0"/>
          <a:chOff x="0" y="0"/>
          <a:chExt cx="0" cy="0"/>
        </a:xfrm>
      </p:grpSpPr>
      <p:sp>
        <p:nvSpPr>
          <p:cNvPr id="516" name="Google Shape;516;p43"/>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Triggers are useful for enforcing referential integrity, which preserves the defined relationships between tables when you add, update or delete the rows in those tables. </a:t>
            </a:r>
            <a:endParaRPr/>
          </a:p>
          <a:p>
            <a:pPr indent="-228600" lvl="0" marL="342900" rtl="0" algn="l">
              <a:spcBef>
                <a:spcPts val="1040"/>
              </a:spcBef>
              <a:spcAft>
                <a:spcPts val="0"/>
              </a:spcAft>
              <a:buSzPts val="2200"/>
              <a:buChar char="•"/>
            </a:pPr>
            <a:r>
              <a:rPr lang="en-US"/>
              <a:t>Make sure that a column is filled with default information. </a:t>
            </a:r>
            <a:endParaRPr/>
          </a:p>
          <a:p>
            <a:pPr indent="-228600" lvl="0" marL="342900" rtl="0" algn="l">
              <a:spcBef>
                <a:spcPts val="1040"/>
              </a:spcBef>
              <a:spcAft>
                <a:spcPts val="0"/>
              </a:spcAft>
              <a:buSzPts val="2200"/>
              <a:buChar char="•"/>
            </a:pPr>
            <a:r>
              <a:rPr lang="en-US"/>
              <a:t>After finding that the new information is inconsistent with the database, raise an error that will cause the entire transaction to roll back.</a:t>
            </a:r>
            <a:endParaRPr/>
          </a:p>
        </p:txBody>
      </p:sp>
      <p:sp>
        <p:nvSpPr>
          <p:cNvPr id="517" name="Google Shape;517;p43"/>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 Advantages</a:t>
            </a:r>
            <a:endParaRPr b="1" sz="4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1" name="Shape 521"/>
        <p:cNvGrpSpPr/>
        <p:nvPr/>
      </p:nvGrpSpPr>
      <p:grpSpPr>
        <a:xfrm>
          <a:off x="0" y="0"/>
          <a:ext cx="0" cy="0"/>
          <a:chOff x="0" y="0"/>
          <a:chExt cx="0" cy="0"/>
        </a:xfrm>
      </p:grpSpPr>
      <p:sp>
        <p:nvSpPr>
          <p:cNvPr id="522" name="Google Shape;522;p44"/>
          <p:cNvSpPr txBox="1"/>
          <p:nvPr>
            <p:ph idx="1" type="body"/>
          </p:nvPr>
        </p:nvSpPr>
        <p:spPr>
          <a:xfrm>
            <a:off x="457200" y="1600200"/>
            <a:ext cx="762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b="1" lang="en-US">
                <a:solidFill>
                  <a:srgbClr val="FF0000"/>
                </a:solidFill>
              </a:rPr>
              <a:t>Invisible from client applications −</a:t>
            </a:r>
            <a:r>
              <a:rPr b="1" lang="en-US"/>
              <a:t> </a:t>
            </a:r>
            <a:r>
              <a:rPr lang="en-US"/>
              <a:t>Basically MySQL triggers are invoked and executed invisible from the client applications hence it is very much difficult to figure out what happens in the database layer.</a:t>
            </a:r>
            <a:endParaRPr/>
          </a:p>
          <a:p>
            <a:pPr indent="-228600" lvl="0" marL="342900" rtl="0" algn="l">
              <a:spcBef>
                <a:spcPts val="1040"/>
              </a:spcBef>
              <a:spcAft>
                <a:spcPts val="0"/>
              </a:spcAft>
              <a:buSzPts val="2200"/>
              <a:buChar char="•"/>
            </a:pPr>
            <a:r>
              <a:rPr b="1" lang="en-US">
                <a:solidFill>
                  <a:srgbClr val="FF0000"/>
                </a:solidFill>
              </a:rPr>
              <a:t>Impose load on server </a:t>
            </a:r>
            <a:r>
              <a:rPr b="1" lang="en-US"/>
              <a:t>− </a:t>
            </a:r>
            <a:r>
              <a:rPr lang="en-US"/>
              <a:t>Triggers can impose a high load on the database server.</a:t>
            </a:r>
            <a:endParaRPr/>
          </a:p>
          <a:p>
            <a:pPr indent="-228600" lvl="0" marL="342900" rtl="0" algn="l">
              <a:spcBef>
                <a:spcPts val="1040"/>
              </a:spcBef>
              <a:spcAft>
                <a:spcPts val="0"/>
              </a:spcAft>
              <a:buSzPts val="2200"/>
              <a:buChar char="•"/>
            </a:pPr>
            <a:r>
              <a:rPr b="1" lang="en-US">
                <a:solidFill>
                  <a:srgbClr val="FF0000"/>
                </a:solidFill>
              </a:rPr>
              <a:t>Not recommended for high velocity of data </a:t>
            </a:r>
            <a:r>
              <a:rPr b="1" lang="en-US"/>
              <a:t>− </a:t>
            </a:r>
            <a:r>
              <a:rPr lang="en-US"/>
              <a:t>Triggers are not beneficial for use with high-velocity data i.e. the data when a number of events per second are high. It is because in case of high-velocity data the triggers get triggered all the time.</a:t>
            </a:r>
            <a:endParaRPr/>
          </a:p>
          <a:p>
            <a:pPr indent="-88900" lvl="0" marL="342900" rtl="0" algn="l">
              <a:spcBef>
                <a:spcPts val="1040"/>
              </a:spcBef>
              <a:spcAft>
                <a:spcPts val="0"/>
              </a:spcAft>
              <a:buSzPts val="2200"/>
              <a:buNone/>
            </a:pPr>
            <a:r>
              <a:t/>
            </a:r>
            <a:endParaRPr/>
          </a:p>
        </p:txBody>
      </p:sp>
      <p:sp>
        <p:nvSpPr>
          <p:cNvPr id="523" name="Google Shape;523;p44"/>
          <p:cNvSpPr txBox="1"/>
          <p:nvPr>
            <p:ph type="title"/>
          </p:nvPr>
        </p:nvSpPr>
        <p:spPr>
          <a:xfrm>
            <a:off x="457200" y="274638"/>
            <a:ext cx="762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mbria"/>
              <a:buNone/>
            </a:pPr>
            <a:r>
              <a:rPr b="1" lang="en-US" sz="4000"/>
              <a:t>Trigger Disadvantages</a:t>
            </a:r>
            <a:endParaRPr b="1" sz="4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Assertions</a:t>
            </a:r>
            <a:endParaRPr/>
          </a:p>
        </p:txBody>
      </p:sp>
      <p:sp>
        <p:nvSpPr>
          <p:cNvPr id="529" name="Google Shape;529;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An </a:t>
            </a:r>
            <a:r>
              <a:rPr b="1" lang="en-US"/>
              <a:t>assertion</a:t>
            </a:r>
            <a:r>
              <a:rPr lang="en-US"/>
              <a:t> is a predicate expressing a condition we wish the database to always satisfy.</a:t>
            </a:r>
            <a:endParaRPr/>
          </a:p>
          <a:p>
            <a:pPr indent="-342900" lvl="0" marL="342900" rtl="0" algn="l">
              <a:spcBef>
                <a:spcPts val="544"/>
              </a:spcBef>
              <a:spcAft>
                <a:spcPts val="0"/>
              </a:spcAft>
              <a:buClr>
                <a:schemeClr val="dk1"/>
              </a:buClr>
              <a:buSzPct val="100000"/>
              <a:buChar char="•"/>
            </a:pPr>
            <a:r>
              <a:rPr lang="en-US"/>
              <a:t>Domain constraints, functional dependency and referential integrity are special forms of assertion.</a:t>
            </a:r>
            <a:endParaRPr/>
          </a:p>
          <a:p>
            <a:pPr indent="-342900" lvl="0" marL="342900" rtl="0" algn="l">
              <a:spcBef>
                <a:spcPts val="544"/>
              </a:spcBef>
              <a:spcAft>
                <a:spcPts val="0"/>
              </a:spcAft>
              <a:buClr>
                <a:schemeClr val="dk1"/>
              </a:buClr>
              <a:buSzPct val="100000"/>
              <a:buChar char="•"/>
            </a:pPr>
            <a:r>
              <a:rPr lang="en-US"/>
              <a:t>Where a constraint cannot be expressed in these forms, we use an assertion, e.g.</a:t>
            </a:r>
            <a:endParaRPr/>
          </a:p>
          <a:p>
            <a:pPr indent="-285750" lvl="1" marL="742950" rtl="0" algn="l">
              <a:spcBef>
                <a:spcPts val="476"/>
              </a:spcBef>
              <a:spcAft>
                <a:spcPts val="0"/>
              </a:spcAft>
              <a:buClr>
                <a:schemeClr val="dk1"/>
              </a:buClr>
              <a:buSzPct val="100000"/>
              <a:buChar char="–"/>
            </a:pPr>
            <a:r>
              <a:rPr lang="en-US"/>
              <a:t>Ensuring the sum of loan amounts for each branch is less than the sum of all account balances at the branch.</a:t>
            </a:r>
            <a:endParaRPr/>
          </a:p>
          <a:p>
            <a:pPr indent="-285750" lvl="1" marL="742950" rtl="0" algn="l">
              <a:spcBef>
                <a:spcPts val="476"/>
              </a:spcBef>
              <a:spcAft>
                <a:spcPts val="0"/>
              </a:spcAft>
              <a:buClr>
                <a:schemeClr val="dk1"/>
              </a:buClr>
              <a:buSzPct val="100000"/>
              <a:buChar char="–"/>
            </a:pPr>
            <a:r>
              <a:rPr lang="en-US"/>
              <a:t>Ensuring every loan customer keeps a minimum of $1000 in an account.</a:t>
            </a:r>
            <a:endParaRPr/>
          </a:p>
          <a:p>
            <a:pPr indent="-342900" lvl="0" marL="342900" rtl="0" algn="l">
              <a:spcBef>
                <a:spcPts val="544"/>
              </a:spcBef>
              <a:spcAft>
                <a:spcPts val="0"/>
              </a:spcAft>
              <a:buClr>
                <a:schemeClr val="dk1"/>
              </a:buClr>
              <a:buSzPct val="100000"/>
              <a:buChar char="•"/>
            </a:pPr>
            <a:r>
              <a:rPr b="1" lang="en-US"/>
              <a:t>Syntax</a:t>
            </a:r>
            <a:endParaRPr/>
          </a:p>
          <a:p>
            <a:pPr indent="-285750" lvl="1" marL="742950" rtl="0" algn="l">
              <a:spcBef>
                <a:spcPts val="476"/>
              </a:spcBef>
              <a:spcAft>
                <a:spcPts val="0"/>
              </a:spcAft>
              <a:buClr>
                <a:schemeClr val="dk1"/>
              </a:buClr>
              <a:buSzPct val="100000"/>
              <a:buChar char="–"/>
            </a:pPr>
            <a:r>
              <a:rPr b="1" lang="en-US"/>
              <a:t>create assertion </a:t>
            </a:r>
            <a:r>
              <a:rPr lang="en-US"/>
              <a:t>assertion-name </a:t>
            </a:r>
            <a:r>
              <a:rPr b="1" lang="en-US"/>
              <a:t>check</a:t>
            </a:r>
            <a:r>
              <a:rPr lang="en-US"/>
              <a:t> predicate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6"/>
          <p:cNvSpPr txBox="1"/>
          <p:nvPr>
            <p:ph type="title"/>
          </p:nvPr>
        </p:nvSpPr>
        <p:spPr>
          <a:xfrm>
            <a:off x="467544" y="54868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Q. Ensuring the sum of loan amounts for each branch is less than the sum of all account balances at the branch.</a:t>
            </a:r>
            <a:endParaRPr/>
          </a:p>
        </p:txBody>
      </p:sp>
      <p:sp>
        <p:nvSpPr>
          <p:cNvPr id="535" name="Google Shape;535;p46"/>
          <p:cNvSpPr/>
          <p:nvPr/>
        </p:nvSpPr>
        <p:spPr>
          <a:xfrm>
            <a:off x="251520" y="3179584"/>
            <a:ext cx="8496944" cy="193899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mo"/>
              <a:buNone/>
            </a:pPr>
            <a:r>
              <a:rPr b="1" i="0" lang="en-US" sz="2000" u="none" cap="none" strike="noStrike">
                <a:solidFill>
                  <a:srgbClr val="000000"/>
                </a:solidFill>
                <a:latin typeface="Arimo"/>
                <a:ea typeface="Arimo"/>
                <a:cs typeface="Arimo"/>
                <a:sym typeface="Arimo"/>
              </a:rPr>
              <a:t>create assertion </a:t>
            </a:r>
            <a:r>
              <a:rPr b="0" i="1" lang="en-US" sz="2000" u="none" cap="none" strike="noStrike">
                <a:solidFill>
                  <a:srgbClr val="000000"/>
                </a:solidFill>
                <a:latin typeface="Arimo"/>
                <a:ea typeface="Arimo"/>
                <a:cs typeface="Arimo"/>
                <a:sym typeface="Arimo"/>
              </a:rPr>
              <a:t>sum-constraint</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check</a:t>
            </a:r>
            <a:r>
              <a:rPr b="0" i="0" lang="en-US" sz="2000" u="none" cap="none" strike="noStrike">
                <a:solidFill>
                  <a:srgbClr val="000000"/>
                </a:solidFill>
                <a:latin typeface="Arimo"/>
                <a:ea typeface="Arimo"/>
                <a:cs typeface="Arimo"/>
                <a:sym typeface="Arimo"/>
              </a:rPr>
              <a:t> </a:t>
            </a:r>
            <a:endParaRPr/>
          </a:p>
          <a:p>
            <a:pPr indent="0" lvl="0" marL="0" marR="0" rtl="0" algn="l">
              <a:lnSpc>
                <a:spcPct val="100000"/>
              </a:lnSpc>
              <a:spcBef>
                <a:spcPts val="0"/>
              </a:spcBef>
              <a:spcAft>
                <a:spcPts val="0"/>
              </a:spcAft>
              <a:buClr>
                <a:srgbClr val="000000"/>
              </a:buClr>
              <a:buSzPts val="2000"/>
              <a:buFont typeface="Arimo"/>
              <a:buNone/>
            </a:pPr>
            <a:r>
              <a:rPr lang="en-US" sz="2000">
                <a:solidFill>
                  <a:srgbClr val="000000"/>
                </a:solidFill>
                <a:latin typeface="Arimo"/>
                <a:ea typeface="Arimo"/>
                <a:cs typeface="Arimo"/>
                <a:sym typeface="Arimo"/>
              </a:rPr>
              <a:t>      </a:t>
            </a:r>
            <a:r>
              <a:rPr b="0" i="0" lang="en-US" sz="2000" u="none" cap="none" strike="noStrike">
                <a:solidFill>
                  <a:srgbClr val="000000"/>
                </a:solidFill>
                <a:latin typeface="Arimo"/>
                <a:ea typeface="Arimo"/>
                <a:cs typeface="Arimo"/>
                <a:sym typeface="Arimo"/>
              </a:rPr>
              <a:t>(</a:t>
            </a:r>
            <a:r>
              <a:rPr b="1" i="0" lang="en-US" sz="2000" u="none" cap="none" strike="noStrike">
                <a:solidFill>
                  <a:srgbClr val="000000"/>
                </a:solidFill>
                <a:latin typeface="Arimo"/>
                <a:ea typeface="Arimo"/>
                <a:cs typeface="Arimo"/>
                <a:sym typeface="Arimo"/>
              </a:rPr>
              <a:t>not exists</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select * from</a:t>
            </a:r>
            <a:r>
              <a:rPr b="0" i="0" lang="en-US" sz="2000" u="none" cap="none" strike="noStrike">
                <a:solidFill>
                  <a:srgbClr val="000000"/>
                </a:solidFill>
                <a:latin typeface="Arimo"/>
                <a:ea typeface="Arimo"/>
                <a:cs typeface="Arimo"/>
                <a:sym typeface="Arimo"/>
              </a:rPr>
              <a:t> </a:t>
            </a:r>
            <a:r>
              <a:rPr b="0" i="1" lang="en-US" sz="2000" u="none" cap="none" strike="noStrike">
                <a:solidFill>
                  <a:srgbClr val="000000"/>
                </a:solidFill>
                <a:latin typeface="Arimo"/>
                <a:ea typeface="Arimo"/>
                <a:cs typeface="Arimo"/>
                <a:sym typeface="Arimo"/>
              </a:rPr>
              <a:t>branch</a:t>
            </a:r>
            <a:r>
              <a:rPr b="0" i="0" lang="en-US" sz="2000" u="none" cap="none" strike="noStrike">
                <a:solidFill>
                  <a:srgbClr val="000000"/>
                </a:solidFill>
                <a:latin typeface="Arimo"/>
                <a:ea typeface="Arimo"/>
                <a:cs typeface="Arimo"/>
                <a:sym typeface="Arimo"/>
              </a:rPr>
              <a:t> </a:t>
            </a:r>
            <a:endParaRPr/>
          </a:p>
          <a:p>
            <a:pPr indent="0" lvl="0" marL="0" marR="0" rtl="0" algn="l">
              <a:lnSpc>
                <a:spcPct val="100000"/>
              </a:lnSpc>
              <a:spcBef>
                <a:spcPts val="0"/>
              </a:spcBef>
              <a:spcAft>
                <a:spcPts val="0"/>
              </a:spcAft>
              <a:buClr>
                <a:srgbClr val="000000"/>
              </a:buClr>
              <a:buSzPts val="2000"/>
              <a:buFont typeface="Arimo"/>
              <a:buNone/>
            </a:pPr>
            <a:r>
              <a:rPr b="1" i="0" lang="en-US" sz="2000" u="none" cap="none" strike="noStrike">
                <a:solidFill>
                  <a:srgbClr val="000000"/>
                </a:solidFill>
                <a:latin typeface="Arimo"/>
                <a:ea typeface="Arimo"/>
                <a:cs typeface="Arimo"/>
                <a:sym typeface="Arimo"/>
              </a:rPr>
              <a:t>	   where</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select</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sum</a:t>
            </a:r>
            <a:r>
              <a:rPr b="0" i="0" lang="en-US" sz="2000" u="none" cap="none" strike="noStrike">
                <a:solidFill>
                  <a:srgbClr val="000000"/>
                </a:solidFill>
                <a:latin typeface="Arimo"/>
                <a:ea typeface="Arimo"/>
                <a:cs typeface="Arimo"/>
                <a:sym typeface="Arimo"/>
              </a:rPr>
              <a:t>)</a:t>
            </a:r>
            <a:r>
              <a:rPr b="0" i="1" lang="en-US" sz="2000" u="none" cap="none" strike="noStrike">
                <a:solidFill>
                  <a:srgbClr val="000000"/>
                </a:solidFill>
                <a:latin typeface="Arimo"/>
                <a:ea typeface="Arimo"/>
                <a:cs typeface="Arimo"/>
                <a:sym typeface="Arimo"/>
              </a:rPr>
              <a:t>amount</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from</a:t>
            </a:r>
            <a:r>
              <a:rPr b="0" i="0" lang="en-US" sz="2000" u="none" cap="none" strike="noStrike">
                <a:solidFill>
                  <a:srgbClr val="000000"/>
                </a:solidFill>
                <a:latin typeface="Arimo"/>
                <a:ea typeface="Arimo"/>
                <a:cs typeface="Arimo"/>
                <a:sym typeface="Arimo"/>
              </a:rPr>
              <a:t> </a:t>
            </a:r>
            <a:r>
              <a:rPr b="0" i="1" lang="en-US" sz="2000" u="none" cap="none" strike="noStrike">
                <a:solidFill>
                  <a:srgbClr val="000000"/>
                </a:solidFill>
                <a:latin typeface="Arimo"/>
                <a:ea typeface="Arimo"/>
                <a:cs typeface="Arimo"/>
                <a:sym typeface="Arimo"/>
              </a:rPr>
              <a:t>loan</a:t>
            </a:r>
            <a:r>
              <a:rPr b="0" i="0" lang="en-US" sz="2000" u="none" cap="none" strike="noStrike">
                <a:solidFill>
                  <a:srgbClr val="000000"/>
                </a:solidFill>
                <a:latin typeface="Arimo"/>
                <a:ea typeface="Arimo"/>
                <a:cs typeface="Arimo"/>
                <a:sym typeface="Arimo"/>
              </a:rPr>
              <a:t> </a:t>
            </a:r>
            <a:endParaRPr/>
          </a:p>
          <a:p>
            <a:pPr indent="0" lvl="0" marL="0" marR="0" rtl="0" algn="l">
              <a:lnSpc>
                <a:spcPct val="100000"/>
              </a:lnSpc>
              <a:spcBef>
                <a:spcPts val="0"/>
              </a:spcBef>
              <a:spcAft>
                <a:spcPts val="0"/>
              </a:spcAft>
              <a:buClr>
                <a:srgbClr val="000000"/>
              </a:buClr>
              <a:buSzPts val="2000"/>
              <a:buFont typeface="Arimo"/>
              <a:buNone/>
            </a:pPr>
            <a:r>
              <a:rPr b="1" i="0" lang="en-US" sz="2000" u="none" cap="none" strike="noStrike">
                <a:solidFill>
                  <a:srgbClr val="000000"/>
                </a:solidFill>
                <a:latin typeface="Arimo"/>
                <a:ea typeface="Arimo"/>
                <a:cs typeface="Arimo"/>
                <a:sym typeface="Arimo"/>
              </a:rPr>
              <a:t>		where</a:t>
            </a:r>
            <a:r>
              <a:rPr b="0" i="0" lang="en-US" sz="2000" u="none" cap="none" strike="noStrike">
                <a:solidFill>
                  <a:srgbClr val="000000"/>
                </a:solidFill>
                <a:latin typeface="Arimo"/>
                <a:ea typeface="Arimo"/>
                <a:cs typeface="Arimo"/>
                <a:sym typeface="Arimo"/>
              </a:rPr>
              <a:t> (</a:t>
            </a:r>
            <a:r>
              <a:rPr b="0" i="1" lang="en-US" sz="2000" u="none" cap="none" strike="noStrike">
                <a:solidFill>
                  <a:srgbClr val="000000"/>
                </a:solidFill>
                <a:latin typeface="Arimo"/>
                <a:ea typeface="Arimo"/>
                <a:cs typeface="Arimo"/>
                <a:sym typeface="Arimo"/>
              </a:rPr>
              <a:t>loan.bname = branch.bname</a:t>
            </a:r>
            <a:r>
              <a:rPr b="0" i="0" lang="en-US" sz="2000" u="none" cap="none" strike="noStrike">
                <a:solidFill>
                  <a:srgbClr val="000000"/>
                </a:solidFill>
                <a:latin typeface="Arimo"/>
                <a:ea typeface="Arimo"/>
                <a:cs typeface="Arimo"/>
                <a:sym typeface="Arimo"/>
              </a:rPr>
              <a:t> &gt;= </a:t>
            </a:r>
            <a:endParaRPr/>
          </a:p>
          <a:p>
            <a:pPr indent="0" lvl="0" marL="0" marR="0" rtl="0" algn="l">
              <a:lnSpc>
                <a:spcPct val="100000"/>
              </a:lnSpc>
              <a:spcBef>
                <a:spcPts val="0"/>
              </a:spcBef>
              <a:spcAft>
                <a:spcPts val="0"/>
              </a:spcAft>
              <a:buClr>
                <a:srgbClr val="000000"/>
              </a:buClr>
              <a:buSzPts val="2000"/>
              <a:buFont typeface="Arimo"/>
              <a:buNone/>
            </a:pP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select</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sum</a:t>
            </a:r>
            <a:r>
              <a:rPr b="0" i="0" lang="en-US" sz="2000" u="none" cap="none" strike="noStrike">
                <a:solidFill>
                  <a:srgbClr val="000000"/>
                </a:solidFill>
                <a:latin typeface="Arimo"/>
                <a:ea typeface="Arimo"/>
                <a:cs typeface="Arimo"/>
                <a:sym typeface="Arimo"/>
              </a:rPr>
              <a:t>)</a:t>
            </a:r>
            <a:r>
              <a:rPr b="0" i="1" lang="en-US" sz="2000" u="none" cap="none" strike="noStrike">
                <a:solidFill>
                  <a:srgbClr val="000000"/>
                </a:solidFill>
                <a:latin typeface="Arimo"/>
                <a:ea typeface="Arimo"/>
                <a:cs typeface="Arimo"/>
                <a:sym typeface="Arimo"/>
              </a:rPr>
              <a:t>amount</a:t>
            </a:r>
            <a:r>
              <a:rPr b="0" i="0" lang="en-US" sz="2000" u="none" cap="none" strike="noStrike">
                <a:solidFill>
                  <a:srgbClr val="000000"/>
                </a:solidFill>
                <a:latin typeface="Arimo"/>
                <a:ea typeface="Arimo"/>
                <a:cs typeface="Arimo"/>
                <a:sym typeface="Arimo"/>
              </a:rPr>
              <a:t>) </a:t>
            </a:r>
            <a:r>
              <a:rPr b="1" i="0" lang="en-US" sz="2000" u="none" cap="none" strike="noStrike">
                <a:solidFill>
                  <a:srgbClr val="000000"/>
                </a:solidFill>
                <a:latin typeface="Arimo"/>
                <a:ea typeface="Arimo"/>
                <a:cs typeface="Arimo"/>
                <a:sym typeface="Arimo"/>
              </a:rPr>
              <a:t>from</a:t>
            </a:r>
            <a:r>
              <a:rPr b="0" i="0" lang="en-US" sz="2000" u="none" cap="none" strike="noStrike">
                <a:solidFill>
                  <a:srgbClr val="000000"/>
                </a:solidFill>
                <a:latin typeface="Arimo"/>
                <a:ea typeface="Arimo"/>
                <a:cs typeface="Arimo"/>
                <a:sym typeface="Arimo"/>
              </a:rPr>
              <a:t> </a:t>
            </a:r>
            <a:r>
              <a:rPr b="0" i="1" lang="en-US" sz="2000" u="none" cap="none" strike="noStrike">
                <a:solidFill>
                  <a:srgbClr val="000000"/>
                </a:solidFill>
                <a:latin typeface="Arimo"/>
                <a:ea typeface="Arimo"/>
                <a:cs typeface="Arimo"/>
                <a:sym typeface="Arimo"/>
              </a:rPr>
              <a:t>account</a:t>
            </a:r>
            <a:r>
              <a:rPr b="0" i="0" lang="en-US" sz="2000" u="none" cap="none" strike="noStrike">
                <a:solidFill>
                  <a:srgbClr val="000000"/>
                </a:solidFill>
                <a:latin typeface="Arimo"/>
                <a:ea typeface="Arimo"/>
                <a:cs typeface="Arimo"/>
                <a:sym typeface="Arimo"/>
              </a:rPr>
              <a:t> </a:t>
            </a:r>
            <a:endParaRPr/>
          </a:p>
          <a:p>
            <a:pPr indent="0" lvl="0" marL="0" marR="0" rtl="0" algn="l">
              <a:lnSpc>
                <a:spcPct val="100000"/>
              </a:lnSpc>
              <a:spcBef>
                <a:spcPts val="0"/>
              </a:spcBef>
              <a:spcAft>
                <a:spcPts val="0"/>
              </a:spcAft>
              <a:buClr>
                <a:srgbClr val="000000"/>
              </a:buClr>
              <a:buSzPts val="2000"/>
              <a:buFont typeface="Arimo"/>
              <a:buNone/>
            </a:pPr>
            <a:r>
              <a:rPr b="1" i="0" lang="en-US" sz="2000" u="none" cap="none" strike="noStrike">
                <a:solidFill>
                  <a:srgbClr val="000000"/>
                </a:solidFill>
                <a:latin typeface="Arimo"/>
                <a:ea typeface="Arimo"/>
                <a:cs typeface="Arimo"/>
                <a:sym typeface="Arimo"/>
              </a:rPr>
              <a:t>			where</a:t>
            </a:r>
            <a:r>
              <a:rPr b="0" i="0" lang="en-US" sz="2000" u="none" cap="none" strike="noStrike">
                <a:solidFill>
                  <a:srgbClr val="000000"/>
                </a:solidFill>
                <a:latin typeface="Arimo"/>
                <a:ea typeface="Arimo"/>
                <a:cs typeface="Arimo"/>
                <a:sym typeface="Arimo"/>
              </a:rPr>
              <a:t> (</a:t>
            </a:r>
            <a:r>
              <a:rPr b="0" i="1" lang="en-US" sz="2000" u="none" cap="none" strike="noStrike">
                <a:solidFill>
                  <a:srgbClr val="000000"/>
                </a:solidFill>
                <a:latin typeface="Arimo"/>
                <a:ea typeface="Arimo"/>
                <a:cs typeface="Arimo"/>
                <a:sym typeface="Arimo"/>
              </a:rPr>
              <a:t>account.bname = branch.bname</a:t>
            </a:r>
            <a:r>
              <a:rPr b="0" i="0" lang="en-US" sz="2000" u="none" cap="none" strike="noStrike">
                <a:solidFill>
                  <a:srgbClr val="000000"/>
                </a:solidFill>
                <a:latin typeface="Arimo"/>
                <a:ea typeface="Arimo"/>
                <a:cs typeface="Arimo"/>
                <a:sym typeface="Arimo"/>
              </a:rPr>
              <a:t>)))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Ensuring every loan customer keeps a minimum of $1000 in an account.</a:t>
            </a:r>
            <a:endParaRPr/>
          </a:p>
        </p:txBody>
      </p:sp>
      <p:sp>
        <p:nvSpPr>
          <p:cNvPr id="541" name="Google Shape;541;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b="1" lang="en-US" sz="2800"/>
              <a:t>create assertion </a:t>
            </a:r>
            <a:r>
              <a:rPr i="1" lang="en-US" sz="2800"/>
              <a:t>balance-constraint</a:t>
            </a:r>
            <a:r>
              <a:rPr lang="en-US" sz="2800"/>
              <a:t> </a:t>
            </a:r>
            <a:r>
              <a:rPr b="1" lang="en-US" sz="2800"/>
              <a:t>check</a:t>
            </a:r>
            <a:r>
              <a:rPr lang="en-US" sz="2800"/>
              <a:t> </a:t>
            </a:r>
            <a:endParaRPr/>
          </a:p>
          <a:p>
            <a:pPr indent="0" lvl="0" marL="0" rtl="0" algn="l">
              <a:spcBef>
                <a:spcPts val="560"/>
              </a:spcBef>
              <a:spcAft>
                <a:spcPts val="0"/>
              </a:spcAft>
              <a:buClr>
                <a:schemeClr val="dk1"/>
              </a:buClr>
              <a:buSzPts val="2800"/>
              <a:buNone/>
            </a:pPr>
            <a:r>
              <a:rPr lang="en-US" sz="2800"/>
              <a:t>    (</a:t>
            </a:r>
            <a:r>
              <a:rPr b="1" lang="en-US" sz="2800"/>
              <a:t>not exists</a:t>
            </a:r>
            <a:r>
              <a:rPr lang="en-US" sz="2800"/>
              <a:t> (</a:t>
            </a:r>
            <a:r>
              <a:rPr b="1" lang="en-US" sz="2800"/>
              <a:t>select * from</a:t>
            </a:r>
            <a:r>
              <a:rPr lang="en-US" sz="2800"/>
              <a:t> </a:t>
            </a:r>
            <a:r>
              <a:rPr i="1" lang="en-US" sz="2800"/>
              <a:t>loan L</a:t>
            </a:r>
            <a:r>
              <a:rPr lang="en-US" sz="2800"/>
              <a:t> </a:t>
            </a:r>
            <a:endParaRPr/>
          </a:p>
          <a:p>
            <a:pPr indent="0" lvl="0" marL="0" rtl="0" algn="l">
              <a:spcBef>
                <a:spcPts val="560"/>
              </a:spcBef>
              <a:spcAft>
                <a:spcPts val="0"/>
              </a:spcAft>
              <a:buClr>
                <a:schemeClr val="dk1"/>
              </a:buClr>
              <a:buSzPts val="2800"/>
              <a:buNone/>
            </a:pPr>
            <a:r>
              <a:rPr lang="en-US" sz="2800"/>
              <a:t>       (</a:t>
            </a:r>
            <a:r>
              <a:rPr b="1" lang="en-US" sz="2800"/>
              <a:t>where not exists</a:t>
            </a:r>
            <a:r>
              <a:rPr lang="en-US" sz="2800"/>
              <a:t> (</a:t>
            </a:r>
            <a:r>
              <a:rPr b="1" lang="en-US" sz="2800"/>
              <a:t>select *</a:t>
            </a:r>
            <a:r>
              <a:rPr lang="en-US" sz="2800"/>
              <a:t> </a:t>
            </a:r>
            <a:endParaRPr/>
          </a:p>
          <a:p>
            <a:pPr indent="0" lvl="0" marL="0" rtl="0" algn="l">
              <a:spcBef>
                <a:spcPts val="560"/>
              </a:spcBef>
              <a:spcAft>
                <a:spcPts val="0"/>
              </a:spcAft>
              <a:buClr>
                <a:schemeClr val="dk1"/>
              </a:buClr>
              <a:buSzPts val="2800"/>
              <a:buNone/>
            </a:pPr>
            <a:r>
              <a:rPr b="1" lang="en-US" sz="2800"/>
              <a:t>          from</a:t>
            </a:r>
            <a:r>
              <a:rPr lang="en-US" sz="2800"/>
              <a:t> </a:t>
            </a:r>
            <a:r>
              <a:rPr i="1" lang="en-US" sz="2800"/>
              <a:t>borrower B, depositor D, account A</a:t>
            </a:r>
            <a:r>
              <a:rPr lang="en-US" sz="2800"/>
              <a:t> </a:t>
            </a:r>
            <a:endParaRPr/>
          </a:p>
          <a:p>
            <a:pPr indent="0" lvl="0" marL="0" rtl="0" algn="l">
              <a:spcBef>
                <a:spcPts val="560"/>
              </a:spcBef>
              <a:spcAft>
                <a:spcPts val="0"/>
              </a:spcAft>
              <a:buClr>
                <a:schemeClr val="dk1"/>
              </a:buClr>
              <a:buSzPts val="2800"/>
              <a:buNone/>
            </a:pPr>
            <a:r>
              <a:rPr b="1" lang="en-US" sz="2800"/>
              <a:t>             where</a:t>
            </a:r>
            <a:r>
              <a:rPr lang="en-US" sz="2800"/>
              <a:t> </a:t>
            </a:r>
            <a:r>
              <a:rPr i="1" lang="en-US" sz="2800"/>
              <a:t>L.loan# = B.loan#</a:t>
            </a:r>
            <a:r>
              <a:rPr lang="en-US" sz="2800"/>
              <a:t> </a:t>
            </a:r>
            <a:r>
              <a:rPr b="1" lang="en-US" sz="2800"/>
              <a:t>and</a:t>
            </a:r>
            <a:r>
              <a:rPr lang="en-US" sz="2800"/>
              <a:t> </a:t>
            </a:r>
            <a:r>
              <a:rPr i="1" lang="en-US" sz="2800"/>
              <a:t>B.cname = D.cname</a:t>
            </a:r>
            <a:r>
              <a:rPr lang="en-US" sz="2800"/>
              <a:t>  </a:t>
            </a:r>
            <a:r>
              <a:rPr b="1" lang="en-US" sz="2800"/>
              <a:t>and</a:t>
            </a:r>
            <a:r>
              <a:rPr lang="en-US" sz="2800"/>
              <a:t> </a:t>
            </a:r>
            <a:r>
              <a:rPr i="1" lang="en-US" sz="2800"/>
              <a:t>D.account# = A.account#</a:t>
            </a:r>
            <a:r>
              <a:rPr lang="en-US" sz="2800"/>
              <a:t> </a:t>
            </a:r>
            <a:r>
              <a:rPr b="1" lang="en-US" sz="2800"/>
              <a:t>and</a:t>
            </a:r>
            <a:r>
              <a:rPr lang="en-US" sz="2800"/>
              <a:t> </a:t>
            </a:r>
            <a:r>
              <a:rPr i="1" lang="en-US" sz="2800"/>
              <a:t>A.balance</a:t>
            </a:r>
            <a:r>
              <a:rPr lang="en-US" sz="2800"/>
              <a:t> &gt;= 1000 )))</a:t>
            </a:r>
            <a:endParaRPr/>
          </a:p>
          <a:p>
            <a:pPr indent="0" lvl="0" marL="0" rtl="0" algn="l">
              <a:spcBef>
                <a:spcPts val="560"/>
              </a:spcBef>
              <a:spcAft>
                <a:spcPts val="0"/>
              </a:spcAft>
              <a:buClr>
                <a:schemeClr val="dk1"/>
              </a:buClr>
              <a:buSzPts val="2800"/>
              <a:buNone/>
            </a:pPr>
            <a:r>
              <a:t/>
            </a:r>
            <a:endParaRPr sz="28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547" name="Google Shape;547;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When an assertion is created, the system tests it for validity. If the assertion is valid, any further modification to the database is allowed only if it does not cause that assertion to be violated.</a:t>
            </a:r>
            <a:endParaRPr/>
          </a:p>
          <a:p>
            <a:pPr indent="-342900" lvl="0" marL="342900" rtl="0" algn="l">
              <a:spcBef>
                <a:spcPts val="592"/>
              </a:spcBef>
              <a:spcAft>
                <a:spcPts val="0"/>
              </a:spcAft>
              <a:buClr>
                <a:schemeClr val="dk1"/>
              </a:buClr>
              <a:buSzPct val="100000"/>
              <a:buChar char="•"/>
            </a:pPr>
            <a:r>
              <a:rPr lang="en-US"/>
              <a:t>This testing may result in significant overhead if the assertions are complex. Because of this, the </a:t>
            </a:r>
            <a:r>
              <a:rPr b="1" lang="en-US"/>
              <a:t>assert</a:t>
            </a:r>
            <a:r>
              <a:rPr lang="en-US"/>
              <a:t> should be used with great care.</a:t>
            </a:r>
            <a:endParaRPr/>
          </a:p>
          <a:p>
            <a:pPr indent="-342900" lvl="0" marL="342900" rtl="0" algn="l">
              <a:spcBef>
                <a:spcPts val="592"/>
              </a:spcBef>
              <a:spcAft>
                <a:spcPts val="0"/>
              </a:spcAft>
              <a:buClr>
                <a:schemeClr val="dk1"/>
              </a:buClr>
              <a:buSzPct val="100000"/>
              <a:buChar char="•"/>
            </a:pPr>
            <a:r>
              <a:rPr lang="en-US"/>
              <a:t>Some system developer omits support for general assertions or provides specialized form of assertions that are easier to test.</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Security and Authorization</a:t>
            </a:r>
            <a:endParaRPr/>
          </a:p>
        </p:txBody>
      </p:sp>
      <p:sp>
        <p:nvSpPr>
          <p:cNvPr id="553" name="Google Shape;553;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Authentication</a:t>
            </a:r>
            <a:endParaRPr/>
          </a:p>
          <a:p>
            <a:pPr indent="-285750" lvl="1" marL="742950" rtl="0" algn="l">
              <a:spcBef>
                <a:spcPts val="560"/>
              </a:spcBef>
              <a:spcAft>
                <a:spcPts val="0"/>
              </a:spcAft>
              <a:buClr>
                <a:schemeClr val="dk1"/>
              </a:buClr>
              <a:buSzPts val="2800"/>
              <a:buChar char="–"/>
            </a:pPr>
            <a:r>
              <a:rPr lang="en-US"/>
              <a:t>Authentication is the process of confirming that a user logs in only in accordance with the rights to perform the activities he is authorized to perform. User authentication can be performed at operating system level or database level itself.</a:t>
            </a:r>
            <a:endParaRPr/>
          </a:p>
          <a:p>
            <a:pPr indent="-342900" lvl="0" marL="342900" rtl="0" algn="l">
              <a:spcBef>
                <a:spcPts val="640"/>
              </a:spcBef>
              <a:spcAft>
                <a:spcPts val="0"/>
              </a:spcAft>
              <a:buClr>
                <a:schemeClr val="dk1"/>
              </a:buClr>
              <a:buSzPts val="3200"/>
              <a:buChar char="•"/>
            </a:pPr>
            <a:r>
              <a:rPr lang="en-US"/>
              <a:t> type of security authentication process</a:t>
            </a:r>
            <a:endParaRPr/>
          </a:p>
          <a:p>
            <a:pPr indent="-285750" lvl="1" marL="742950" rtl="0" algn="l">
              <a:spcBef>
                <a:spcPts val="560"/>
              </a:spcBef>
              <a:spcAft>
                <a:spcPts val="0"/>
              </a:spcAft>
              <a:buClr>
                <a:schemeClr val="dk1"/>
              </a:buClr>
              <a:buSzPts val="2800"/>
              <a:buChar char="–"/>
            </a:pPr>
            <a:r>
              <a:rPr lang="en-US"/>
              <a:t>Based on Operating System authentications.</a:t>
            </a:r>
            <a:endParaRPr/>
          </a:p>
          <a:p>
            <a:pPr indent="-285750" lvl="1" marL="742950" rtl="0" algn="l">
              <a:spcBef>
                <a:spcPts val="560"/>
              </a:spcBef>
              <a:spcAft>
                <a:spcPts val="0"/>
              </a:spcAft>
              <a:buClr>
                <a:schemeClr val="dk1"/>
              </a:buClr>
              <a:buSzPts val="2800"/>
              <a:buChar char="–"/>
            </a:pPr>
            <a:r>
              <a:rPr lang="en-US"/>
              <a:t>Lightweight Directory Access Protocol (LDAP)</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559" name="Google Shape;559;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Authorization</a:t>
            </a:r>
            <a:endParaRPr/>
          </a:p>
          <a:p>
            <a:pPr indent="-285750" lvl="1" marL="742950" rtl="0" algn="l">
              <a:spcBef>
                <a:spcPts val="518"/>
              </a:spcBef>
              <a:spcAft>
                <a:spcPts val="0"/>
              </a:spcAft>
              <a:buClr>
                <a:schemeClr val="dk1"/>
              </a:buClr>
              <a:buSzPct val="100000"/>
              <a:buChar char="–"/>
            </a:pPr>
            <a:r>
              <a:rPr lang="en-US"/>
              <a:t>access the Database and its functionality within the database system, which is managed by the Database manager. </a:t>
            </a:r>
            <a:endParaRPr/>
          </a:p>
          <a:p>
            <a:pPr indent="-342900" lvl="0" marL="342900" rtl="0" algn="l">
              <a:spcBef>
                <a:spcPts val="592"/>
              </a:spcBef>
              <a:spcAft>
                <a:spcPts val="0"/>
              </a:spcAft>
              <a:buClr>
                <a:schemeClr val="dk1"/>
              </a:buClr>
              <a:buSzPct val="100000"/>
              <a:buChar char="•"/>
            </a:pPr>
            <a:r>
              <a:rPr lang="en-US"/>
              <a:t>permissions available for authorization</a:t>
            </a:r>
            <a:endParaRPr/>
          </a:p>
          <a:p>
            <a:pPr indent="-285750" lvl="1" marL="742950" rtl="0" algn="l">
              <a:spcBef>
                <a:spcPts val="518"/>
              </a:spcBef>
              <a:spcAft>
                <a:spcPts val="0"/>
              </a:spcAft>
              <a:buClr>
                <a:schemeClr val="dk1"/>
              </a:buClr>
              <a:buSzPct val="100000"/>
              <a:buChar char="–"/>
            </a:pPr>
            <a:r>
              <a:rPr lang="en-US"/>
              <a:t>Primary permission: Grants the authorization ID directly.</a:t>
            </a:r>
            <a:endParaRPr/>
          </a:p>
          <a:p>
            <a:pPr indent="-285750" lvl="1" marL="742950" rtl="0" algn="l">
              <a:spcBef>
                <a:spcPts val="518"/>
              </a:spcBef>
              <a:spcAft>
                <a:spcPts val="0"/>
              </a:spcAft>
              <a:buClr>
                <a:schemeClr val="dk1"/>
              </a:buClr>
              <a:buSzPct val="100000"/>
              <a:buChar char="–"/>
            </a:pPr>
            <a:r>
              <a:rPr lang="en-US"/>
              <a:t>Secondary permission: Grants to the groups and roles if the user is a member</a:t>
            </a:r>
            <a:endParaRPr/>
          </a:p>
          <a:p>
            <a:pPr indent="-285750" lvl="1" marL="742950" rtl="0" algn="l">
              <a:spcBef>
                <a:spcPts val="518"/>
              </a:spcBef>
              <a:spcAft>
                <a:spcPts val="0"/>
              </a:spcAft>
              <a:buClr>
                <a:schemeClr val="dk1"/>
              </a:buClr>
              <a:buSzPct val="100000"/>
              <a:buChar char="–"/>
            </a:pPr>
            <a:r>
              <a:rPr lang="en-US"/>
              <a:t>Public permission: Grants to all users publicly.</a:t>
            </a:r>
            <a:endParaRPr/>
          </a:p>
          <a:p>
            <a:pPr indent="-285750" lvl="1" marL="742950" rtl="0" algn="l">
              <a:spcBef>
                <a:spcPts val="518"/>
              </a:spcBef>
              <a:spcAft>
                <a:spcPts val="0"/>
              </a:spcAft>
              <a:buClr>
                <a:schemeClr val="dk1"/>
              </a:buClr>
              <a:buSzPct val="100000"/>
              <a:buChar char="–"/>
            </a:pPr>
            <a:r>
              <a:rPr lang="en-US"/>
              <a:t>Context-sensitive permission: Grants to the trusted context role.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565" name="Google Shape;565;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Authorization can be given to users based on the categories</a:t>
            </a:r>
            <a:endParaRPr/>
          </a:p>
          <a:p>
            <a:pPr indent="-285750" lvl="1" marL="742950" rtl="0" algn="l">
              <a:spcBef>
                <a:spcPts val="560"/>
              </a:spcBef>
              <a:spcAft>
                <a:spcPts val="0"/>
              </a:spcAft>
              <a:buClr>
                <a:schemeClr val="dk1"/>
              </a:buClr>
              <a:buSzPts val="2800"/>
              <a:buChar char="–"/>
            </a:pPr>
            <a:r>
              <a:rPr lang="en-US"/>
              <a:t>System-level authorization</a:t>
            </a:r>
            <a:endParaRPr/>
          </a:p>
          <a:p>
            <a:pPr indent="-285750" lvl="1" marL="742950" rtl="0" algn="l">
              <a:spcBef>
                <a:spcPts val="560"/>
              </a:spcBef>
              <a:spcAft>
                <a:spcPts val="0"/>
              </a:spcAft>
              <a:buClr>
                <a:schemeClr val="dk1"/>
              </a:buClr>
              <a:buSzPts val="2800"/>
              <a:buChar char="–"/>
            </a:pPr>
            <a:r>
              <a:rPr lang="en-US"/>
              <a:t>System administrator [SYSADM]</a:t>
            </a:r>
            <a:endParaRPr/>
          </a:p>
          <a:p>
            <a:pPr indent="-285750" lvl="1" marL="742950" rtl="0" algn="l">
              <a:spcBef>
                <a:spcPts val="560"/>
              </a:spcBef>
              <a:spcAft>
                <a:spcPts val="0"/>
              </a:spcAft>
              <a:buClr>
                <a:schemeClr val="dk1"/>
              </a:buClr>
              <a:buSzPts val="2800"/>
              <a:buChar char="–"/>
            </a:pPr>
            <a:r>
              <a:rPr lang="en-US"/>
              <a:t>System Control [SYSCTRL]</a:t>
            </a:r>
            <a:endParaRPr/>
          </a:p>
          <a:p>
            <a:pPr indent="-285750" lvl="1" marL="742950" rtl="0" algn="l">
              <a:spcBef>
                <a:spcPts val="560"/>
              </a:spcBef>
              <a:spcAft>
                <a:spcPts val="0"/>
              </a:spcAft>
              <a:buClr>
                <a:schemeClr val="dk1"/>
              </a:buClr>
              <a:buSzPts val="2800"/>
              <a:buChar char="–"/>
            </a:pPr>
            <a:r>
              <a:rPr lang="en-US"/>
              <a:t>System maintenance [SYSMAINT]</a:t>
            </a:r>
            <a:endParaRPr/>
          </a:p>
          <a:p>
            <a:pPr indent="-285750" lvl="1" marL="742950" rtl="0" algn="l">
              <a:spcBef>
                <a:spcPts val="560"/>
              </a:spcBef>
              <a:spcAft>
                <a:spcPts val="0"/>
              </a:spcAft>
              <a:buClr>
                <a:schemeClr val="dk1"/>
              </a:buClr>
              <a:buSzPts val="2800"/>
              <a:buChar char="–"/>
            </a:pPr>
            <a:r>
              <a:rPr lang="en-US"/>
              <a:t>System monitor [SYSMON]</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571" name="Google Shape;571;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Authorities provide of control over instance-level functionality. Authority provide to group privileges, to control maintenance and authority operations. For instance, database and database objects.</a:t>
            </a:r>
            <a:endParaRPr/>
          </a:p>
          <a:p>
            <a:pPr indent="-285750" lvl="1" marL="742950" rtl="0" algn="l">
              <a:spcBef>
                <a:spcPts val="476"/>
              </a:spcBef>
              <a:spcAft>
                <a:spcPts val="0"/>
              </a:spcAft>
              <a:buClr>
                <a:schemeClr val="dk1"/>
              </a:buClr>
              <a:buSzPct val="100000"/>
              <a:buChar char="–"/>
            </a:pPr>
            <a:r>
              <a:rPr lang="en-US"/>
              <a:t>Database-level authorization</a:t>
            </a:r>
            <a:endParaRPr/>
          </a:p>
          <a:p>
            <a:pPr indent="-285750" lvl="1" marL="742950" rtl="0" algn="l">
              <a:spcBef>
                <a:spcPts val="476"/>
              </a:spcBef>
              <a:spcAft>
                <a:spcPts val="0"/>
              </a:spcAft>
              <a:buClr>
                <a:schemeClr val="dk1"/>
              </a:buClr>
              <a:buSzPct val="100000"/>
              <a:buChar char="–"/>
            </a:pPr>
            <a:r>
              <a:rPr lang="en-US"/>
              <a:t>Security Administrator [SECADM]</a:t>
            </a:r>
            <a:endParaRPr/>
          </a:p>
          <a:p>
            <a:pPr indent="-285750" lvl="1" marL="742950" rtl="0" algn="l">
              <a:spcBef>
                <a:spcPts val="476"/>
              </a:spcBef>
              <a:spcAft>
                <a:spcPts val="0"/>
              </a:spcAft>
              <a:buClr>
                <a:schemeClr val="dk1"/>
              </a:buClr>
              <a:buSzPct val="100000"/>
              <a:buChar char="–"/>
            </a:pPr>
            <a:r>
              <a:rPr lang="en-US"/>
              <a:t>Database Administrator [DBADM]</a:t>
            </a:r>
            <a:endParaRPr/>
          </a:p>
          <a:p>
            <a:pPr indent="-285750" lvl="1" marL="742950" rtl="0" algn="l">
              <a:spcBef>
                <a:spcPts val="476"/>
              </a:spcBef>
              <a:spcAft>
                <a:spcPts val="0"/>
              </a:spcAft>
              <a:buClr>
                <a:schemeClr val="dk1"/>
              </a:buClr>
              <a:buSzPct val="100000"/>
              <a:buChar char="–"/>
            </a:pPr>
            <a:r>
              <a:rPr lang="en-US"/>
              <a:t>Access Control [ACCESSCTRL]</a:t>
            </a:r>
            <a:endParaRPr/>
          </a:p>
          <a:p>
            <a:pPr indent="-285750" lvl="1" marL="742950" rtl="0" algn="l">
              <a:spcBef>
                <a:spcPts val="476"/>
              </a:spcBef>
              <a:spcAft>
                <a:spcPts val="0"/>
              </a:spcAft>
              <a:buClr>
                <a:schemeClr val="dk1"/>
              </a:buClr>
              <a:buSzPct val="100000"/>
              <a:buChar char="–"/>
            </a:pPr>
            <a:r>
              <a:rPr lang="en-US"/>
              <a:t>Data access [DATAACCESS]</a:t>
            </a:r>
            <a:endParaRPr/>
          </a:p>
          <a:p>
            <a:pPr indent="-285750" lvl="1" marL="742950" rtl="0" algn="l">
              <a:spcBef>
                <a:spcPts val="476"/>
              </a:spcBef>
              <a:spcAft>
                <a:spcPts val="0"/>
              </a:spcAft>
              <a:buClr>
                <a:schemeClr val="dk1"/>
              </a:buClr>
              <a:buSzPct val="100000"/>
              <a:buChar char="–"/>
            </a:pPr>
            <a:r>
              <a:rPr lang="en-US"/>
              <a:t>SQL administrator. [SQLADM]</a:t>
            </a:r>
            <a:endParaRPr/>
          </a:p>
          <a:p>
            <a:pPr indent="-285750" lvl="1" marL="742950" rtl="0" algn="l">
              <a:spcBef>
                <a:spcPts val="476"/>
              </a:spcBef>
              <a:spcAft>
                <a:spcPts val="0"/>
              </a:spcAft>
              <a:buClr>
                <a:schemeClr val="dk1"/>
              </a:buClr>
              <a:buSzPct val="100000"/>
              <a:buChar char="–"/>
            </a:pPr>
            <a:r>
              <a:rPr lang="en-US"/>
              <a:t>Workload management administrator [WLMADM]</a:t>
            </a:r>
            <a:endParaRPr/>
          </a:p>
          <a:p>
            <a:pPr indent="-285750" lvl="1" marL="742950" rtl="0" algn="l">
              <a:spcBef>
                <a:spcPts val="476"/>
              </a:spcBef>
              <a:spcAft>
                <a:spcPts val="0"/>
              </a:spcAft>
              <a:buClr>
                <a:schemeClr val="dk1"/>
              </a:buClr>
              <a:buSzPct val="100000"/>
              <a:buChar char="–"/>
            </a:pPr>
            <a:r>
              <a:rPr lang="en-US"/>
              <a:t>Explain [EXPLAIN]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577" name="Google Shape;577;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Authorities provide controls within the database.</a:t>
            </a:r>
            <a:endParaRPr/>
          </a:p>
          <a:p>
            <a:pPr indent="-285750" lvl="1" marL="742950" rtl="0" algn="l">
              <a:spcBef>
                <a:spcPts val="560"/>
              </a:spcBef>
              <a:spcAft>
                <a:spcPts val="0"/>
              </a:spcAft>
              <a:buClr>
                <a:schemeClr val="dk1"/>
              </a:buClr>
              <a:buSzPts val="2800"/>
              <a:buChar char="–"/>
            </a:pPr>
            <a:r>
              <a:rPr lang="en-US"/>
              <a:t>Object-Level Authorization: Object-Level authorization involves verifying privileges when an operation is performed on an object.</a:t>
            </a:r>
            <a:endParaRPr/>
          </a:p>
          <a:p>
            <a:pPr indent="-285750" lvl="1" marL="742950" rtl="0" algn="l">
              <a:spcBef>
                <a:spcPts val="560"/>
              </a:spcBef>
              <a:spcAft>
                <a:spcPts val="0"/>
              </a:spcAft>
              <a:buClr>
                <a:schemeClr val="dk1"/>
              </a:buClr>
              <a:buSzPts val="2800"/>
              <a:buChar char="–"/>
            </a:pPr>
            <a:r>
              <a:rPr lang="en-US"/>
              <a:t>Content-based Authorization: User can have read and write access to individual rows and columns on a particular table using Label-based access Control [LBAC].</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djacenc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Adjacenc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2019-02-15T04:08:25Z</dcterms:created>
  <dc:creator>Admin</dc:creator>
</cp:coreProperties>
</file>