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6858000" cx="9144000"/>
  <p:notesSz cx="6858000" cy="9144000"/>
  <p:embeddedFontLst>
    <p:embeddedFont>
      <p:font typeface="Tahoma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Tahoma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Tahoma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9" name="Google Shape;25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5" name="Google Shape;27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4" name="Google Shape;31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9" name="Google Shape;329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4" name="Google Shape;34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2" name="Google Shape;352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0" name="Google Shape;36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8" name="Google Shape;36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3" name="Google Shape;38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1" name="Google Shape;39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9" name="Google Shape;39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7" name="Google Shape;40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5" name="Google Shape;41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0" name="Google Shape;430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8" name="Google Shape;43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46" name="Google Shape;446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54" name="Google Shape;454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62" name="Google Shape;462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0" name="Google Shape;470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8" name="Google Shape;478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6" name="Google Shape;486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  <p:sp>
        <p:nvSpPr>
          <p:cNvPr descr="Pink tissue paper" id="90" name="Google Shape;90;p15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2</a:t>
            </a:r>
            <a:endParaRPr/>
          </a:p>
        </p:txBody>
      </p:sp>
      <p:sp>
        <p:nvSpPr>
          <p:cNvPr descr="Pink tissue paper" id="91" name="Google Shape;91;p15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 Concepts and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Models and Their Categories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History of Data Models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Schemas, Instances, and States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Independence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DBMS Languages and Interfaces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 Utilities and Tools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Centralized and Client-Server Architectures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Classification of DBMSs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Models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set of concepts to describe the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database, the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operations 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manipulating these structures, and certain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that the database should obey.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 Structure and Constraints: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Constructs are used to define the database structure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Constructs typically include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elements 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(and their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types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as well as groups of elements (e.g.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entity, record, table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), and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among such groups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specify some restrictions on valid data; these constraints must be enforced at all times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Models (continued)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 Operations: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These operations are used for specifying database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by referring to the constructs of the data model.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Operations on the data model may include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basic model operations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(e.g. generic insert, delete, update) and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user-defined operations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(e.g. compute_student_gpa, update_inventory)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of Data Models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Conceptual (high-level, semantic)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Provide concepts that are close to the way many users perceive data.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(Also called </a:t>
            </a:r>
            <a:r>
              <a:rPr b="1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entity-based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object-based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 models.)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Physical (low-level, internal)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Provide concepts that describe details of how data is stored in the computer. These are usually specified in an ad-hoc manner through DBMS design and administration manuals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Implementation (representational)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Provide concepts that fall between the above two, used by many commercial DBMS implementations (e.g. relational data models used in many commercial systems).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Schemas versus Instances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Schema: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database.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Includes descriptions of the database structure, data types, and the constraints on the database.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 Diagram: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illustrative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display of (most aspects of) a database schema.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 Construct: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schema or an object within the schema, e.g., STUDENT, COURSE.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Schemas versus Instances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State: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actual data stored in a database at a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particular moment in time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 This includes the collection of all the data in the database.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Also called database instance (or occurrence or snapshot).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term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instance 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also applied to individual database components, e.g.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record instance, table instance, entity instance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vs. Database State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State: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Refers to 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database at a moment in time.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Initial Database State: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Refers to the database state when it is initially loaded into the system.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Valid State: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state that satisfies the structure and constraints of the database.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4" name="Google Shape;154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vs. Database State (continued)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Distinction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changes very infrequently.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state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changes every time the database is updated. </a:t>
            </a:r>
            <a:endParaRPr/>
          </a:p>
          <a:p>
            <a:pPr indent="-194944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also called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intension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also called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extension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Database Schema</a:t>
            </a:r>
            <a:endParaRPr/>
          </a:p>
        </p:txBody>
      </p:sp>
      <p:pic>
        <p:nvPicPr>
          <p:cNvPr descr="fig02_01" id="162" name="Google Shape;1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05000"/>
            <a:ext cx="7772400" cy="42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8" name="Google Shape;168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database state</a:t>
            </a:r>
            <a:endParaRPr/>
          </a:p>
        </p:txBody>
      </p:sp>
      <p:pic>
        <p:nvPicPr>
          <p:cNvPr descr="fig01_02"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3425" y="1492250"/>
            <a:ext cx="4397375" cy="50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6" name="Google Shape;176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to support DBMS characteristics of: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Program-data independence.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Support of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multiple views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data.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explicitly used in commercial DBMS products, but has been useful in explaining database system organization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4" name="Google Shape;184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Defines DBMS schemas at </a:t>
            </a:r>
            <a:r>
              <a:rPr b="1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levels: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Internal schema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the internal level to describe physical storage structures and access paths (e.g indexes).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Typically uses a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 model.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Conceptual schema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the conceptual level to describe the structure and constraints for the whole database for a community of users.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Uses a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conceptual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an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data model.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External schemas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the external level to describe the various user views.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Usually uses the same data model as the conceptual schema.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1" name="Google Shape;191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three-schema architecture</a:t>
            </a:r>
            <a:endParaRPr/>
          </a:p>
        </p:txBody>
      </p:sp>
      <p:pic>
        <p:nvPicPr>
          <p:cNvPr descr="fig02_02" id="192" name="Google Shape;19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412" y="1762125"/>
            <a:ext cx="70104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9" name="Google Shape;199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Mappings among schema levels are needed to transform requests and data.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Programs refer to an external schema, and are mapped by the DBMS to the internal schema for execution.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extracted from the internal DBMS level is reformatted to match the user’s external view (e.g. formatting the results of an SQL query for display in a Web page)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7" name="Google Shape;207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Independence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Logical Data Independence: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capacity to change the conceptual schema without having to change the external schemas and their associated application programs.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Physical Data Independence: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capacity to change the internal schema without having to change the conceptual schema.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internal schema may be changed when certain file structures are reorganized or new indexes are created to improve database performance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5" name="Google Shape;215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 Independence (continued)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 a schema at a lower level is changed, only 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between this schema and higher-level schemas need to be changed in a DBMS that fully supports data independence.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higher-level schemas themselves are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unchanged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the application programs need not be changed since they refer to the external schemas.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3" name="Google Shape;223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Languages</a:t>
            </a:r>
            <a:endParaRPr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 (DDL)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 (DML)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High-Level or Non-procedural Languages: These include the relational language SQL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May be used in a standalone way or may be embedded in a programming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Low Level or Procedural Languages: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must be embedded in a programming language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1" name="Google Shape;231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Languages</a:t>
            </a:r>
            <a:endParaRPr/>
          </a:p>
        </p:txBody>
      </p:sp>
      <p:sp>
        <p:nvSpPr>
          <p:cNvPr id="232" name="Google Shape;232;p3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 (DDL):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Used by the DBA and database designers to specify the conceptual schema of a database.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many DBMSs, the DDL is also used to define internal and external schemas (views).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some DBMSs, separate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storage definition language (SDL)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view definition language (VDL)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are used to define internal and external schemas.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SDL is typically realized via DBMS commands provided to the DBA and database designers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9" name="Google Shape;239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Languages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 (DML):</a:t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Used to specify database retrievals and updates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DML commands (data sublanguage) can be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a general-purpose programming language (host language), such as COBOL, C, C++, or Java.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library of functions can also be provided to access the DBMS from a programming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Alternatively, stand-alone DML commands can be applied directly (called a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query language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7" name="Google Shape;247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Types of DML</a:t>
            </a:r>
            <a:endParaRPr/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Level or Non-procedural Language: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SQL relational language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Are “set”-oriented and specify what data to retrieve rather than how to retrieve it.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Also called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declarative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languages.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Level or Procedural Language: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Retrieve data one record-at-a-time;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Constructs such as looping are needed to retrieve multiple records, along with positioning pointers.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Interfaces</a:t>
            </a:r>
            <a:endParaRPr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Stand-alone query language interfaces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Entering SQL queries at the DBMS interactive SQL interface (e.g. SQL*Plus in ORACLE)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Programmer interfaces for embedding DML in programming languages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User-friendly interfaces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Menu-based, forms-based, graphics-based, etc.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3" name="Google Shape;263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Programming Language Interfaces</a:t>
            </a:r>
            <a:endParaRPr/>
          </a:p>
        </p:txBody>
      </p:sp>
      <p:sp>
        <p:nvSpPr>
          <p:cNvPr id="264" name="Google Shape;264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Programmer interfaces for embedding DML in a programming languages: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Embedded Approach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e.g embedded SQL (for C, C++, etc.), SQLJ (for Java)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Procedure Call Approach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e.g. JDBC for Java, ODBC for other programming languages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Programming Language Approach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 e.g. ORACLE has PL/SQL, a programming language based on SQL; language incorporates SQL and its data types as integral components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1" name="Google Shape;271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User-Friendly DBMS Interfaces</a:t>
            </a:r>
            <a:endParaRPr/>
          </a:p>
        </p:txBody>
      </p:sp>
      <p:sp>
        <p:nvSpPr>
          <p:cNvPr id="272" name="Google Shape;272;p3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Menu-based, popular for browsing on the web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Forms-based, designed for naïve users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Graphics-based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(Point and Click, Drag and Drop, etc.)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Natural language: requests in written English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Combinations of the above: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both menus and forms used extensively in Web database interfaces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9" name="Google Shape;279;p3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DBMS Interfaces</a:t>
            </a:r>
            <a:endParaRPr/>
          </a:p>
        </p:txBody>
      </p:sp>
      <p:sp>
        <p:nvSpPr>
          <p:cNvPr id="280" name="Google Shape;280;p3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Speech as Input and Output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Web Browser as an interface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Parametric interfaces, e.g., bank tellers using function keys.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Interfaces for the DBA: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user accounts, granting authorizations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Setting system parameters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Changing schemas or access paths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7" name="Google Shape;287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System Utilities</a:t>
            </a:r>
            <a:endParaRPr/>
          </a:p>
        </p:txBody>
      </p:sp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perform certain functions such 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Loading data stored in files into a database. Includes data conversion tools.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Backing up the database periodically on tape.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Reorganizing database file structures.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Report generation utilities.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Performance monitoring utilities.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functions, such as sorting, user monitoring, data compression, etc.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5" name="Google Shape;295;p4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Tools</a:t>
            </a:r>
            <a:endParaRPr/>
          </a:p>
        </p:txBody>
      </p:sp>
      <p:sp>
        <p:nvSpPr>
          <p:cNvPr id="296" name="Google Shape;296;p4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dictionary / repository: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Used to store schema descriptions and other information such as design decisions, application program descriptions, user information, usage standards, etc.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Active data dictionary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is accessed by DBMS software and users/DBA.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Passive data dictionary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is accessed by users/DBA only.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3" name="Google Shape;303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Tools</a:t>
            </a:r>
            <a:endParaRPr/>
          </a:p>
        </p:txBody>
      </p:sp>
      <p:sp>
        <p:nvSpPr>
          <p:cNvPr id="304" name="Google Shape;304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 Development Environments and CASE (computer-aided software engineering) tools: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PowerBuilder (Sybase)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JBuilder (Borland)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JDeveloper 10G (Oracle)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0" name="Google Shape;310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Typical DBMS Component Modules</a:t>
            </a:r>
            <a:endParaRPr/>
          </a:p>
        </p:txBody>
      </p:sp>
      <p:pic>
        <p:nvPicPr>
          <p:cNvPr descr="fig02_03" id="311" name="Google Shape;31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3400"/>
            <a:ext cx="8991600" cy="6396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8" name="Google Shape;318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Centralized and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Client-Server DBMS Architectures </a:t>
            </a:r>
            <a:endParaRPr/>
          </a:p>
        </p:txBody>
      </p:sp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Centralized DBMS: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Combines everything into single system including- DBMS software, hardware, application programs, and user interface processing software.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User can still connect through a remote terminal – however, all processing is done at centralized site.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5" name="Google Shape;325;p4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Physical Centralized Architecture</a:t>
            </a:r>
            <a:endParaRPr/>
          </a:p>
        </p:txBody>
      </p:sp>
      <p:pic>
        <p:nvPicPr>
          <p:cNvPr descr="fig02_04" id="326" name="Google Shape;3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97037"/>
            <a:ext cx="6477000" cy="447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3" name="Google Shape;333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Basic 2-tier Client-Server Architectures</a:t>
            </a:r>
            <a:endParaRPr/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Specialized Servers with Specialized functions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Print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File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Email server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Clients can access the specialized servers as needed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0" name="Google Shape;340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Logical two-tier client server architecture</a:t>
            </a:r>
            <a:endParaRPr/>
          </a:p>
        </p:txBody>
      </p:sp>
      <p:pic>
        <p:nvPicPr>
          <p:cNvPr descr="fig02_05" id="341" name="Google Shape;34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63812"/>
            <a:ext cx="7810500" cy="17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8" name="Google Shape;348;p4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Clients</a:t>
            </a:r>
            <a:endParaRPr/>
          </a:p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Provide appropriate interfaces through a client software module to access and utilize the various server resources.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Clients may be diskless machines or PCs or Workstations with disks with only the client software installed.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Connected to the servers via some form of a network.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(LAN: local area network, wireless network, etc.)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6" name="Google Shape;356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DBMS Server</a:t>
            </a:r>
            <a:endParaRPr/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Provides database query and transaction services to the clients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DBMS servers are often called SQL servers, query servers, or transaction servers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Applications running on clients utilize an Application Program Interface (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to access server databases via standard interface such as: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ODBC: Open Database Connectivity standard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JDBC: for Java programming access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Client and server must install appropriate client module and server module software for ODBC or JDBC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See Chapter 9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4" name="Google Shape;364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Two Tier Client-Server Architecture</a:t>
            </a:r>
            <a:endParaRPr/>
          </a:p>
        </p:txBody>
      </p:sp>
      <p:sp>
        <p:nvSpPr>
          <p:cNvPr id="365" name="Google Shape;365;p5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client program may connect to several DBMSs, sometimes called the data sources.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data sources can be files or other non-DBMS software that manages data.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variations of clients are possible: e.g., in some object DBMSs, more functionality is transferred to clients including data dictionary functions, optimization and recovery across multiple servers, etc.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2" name="Google Shape;372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 Tier Client-Server Architecture</a:t>
            </a:r>
            <a:endParaRPr/>
          </a:p>
        </p:txBody>
      </p:sp>
      <p:sp>
        <p:nvSpPr>
          <p:cNvPr id="373" name="Google Shape;373;p5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Common for Web applications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Intermediate Layer called Application Server or Web Server: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Stores the web connectivity software and the business logic part of the application used to access the corresponding data from the database server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Acts like a conduit for sending partially processed data between the database server and the client.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Three-tier Architecture Can Enhance Security: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server only accessible via middle tier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Clients cannot directly access database server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9" name="Google Shape;379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Three-tier client-server architecture</a:t>
            </a:r>
            <a:endParaRPr/>
          </a:p>
        </p:txBody>
      </p:sp>
      <p:pic>
        <p:nvPicPr>
          <p:cNvPr descr="fig02_07" id="380" name="Google Shape;38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725" y="1847850"/>
            <a:ext cx="819467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7" name="Google Shape;387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Classification of DBMSs</a:t>
            </a:r>
            <a:endParaRPr/>
          </a:p>
        </p:txBody>
      </p:sp>
      <p:sp>
        <p:nvSpPr>
          <p:cNvPr id="388" name="Google Shape;388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Based on the data model used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Traditional: Relational, Network, Hierarchical.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Emerging: Object-oriented, Object-relational.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classifications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Single-user (typically used with personal computers)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vs. multi-user (most DBMSs).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Centralized (uses a single computer with one database) 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vs. distributed (uses multiple computers, multiple databases)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5" name="Google Shape;395;p5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Variations of Distributed DBMSs (DDBMSs)</a:t>
            </a:r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Homogeneous DDBMS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Heterogeneous DDBMS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Federated or Multidatabase Systems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Distributed Database Systems have now come to be known as client-server based database systems because: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They do not support a totally distributed environment, but rather a set of database servers supporting a set of clients.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3" name="Google Shape;403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Cost considerations for DBMSs</a:t>
            </a:r>
            <a:endParaRPr/>
          </a:p>
        </p:txBody>
      </p:sp>
      <p:sp>
        <p:nvSpPr>
          <p:cNvPr id="404" name="Google Shape;404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 Range: from free open-source systems to configurations costing millions of dollars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 of free relational DBMSs: MySQL, PostgreSQL, others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Commercial DBMS offer additional specialized modules, e.g. time-series module, spatial data module, document module, XML module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These offer additional specialized functionality when purchased separately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Sometimes called cartridges (e.g., in Oracle) or blades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Different licensing options: site license, maximum number of concurrent users (seat license), single user, etc.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1" name="Google Shape;411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History of Data Models </a:t>
            </a:r>
            <a:endParaRPr/>
          </a:p>
        </p:txBody>
      </p:sp>
      <p:sp>
        <p:nvSpPr>
          <p:cNvPr id="412" name="Google Shape;412;p5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Hierarchical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Object-oriented Data Models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Object-Relational Models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9" name="Google Shape;419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History of Data Models </a:t>
            </a:r>
            <a:endParaRPr/>
          </a:p>
        </p:txBody>
      </p:sp>
      <p:sp>
        <p:nvSpPr>
          <p:cNvPr id="420" name="Google Shape;420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 Model: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first network DBMS was implemented by Honeywell in 1964-65 (IDS System).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Adopted heavily due to the support by CODASYL (Conference on Data Systems Languages) (CODASYL - DBTG report of 1971).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Later implemented in a large variety of systems - IDMS (Cullinet - now Computer Associates), DMS 1100 (Unisys), IMAGE (H.P. (Hewlett-Packard)), VAX -DBMS (Digital Equipment Corp., next COMPAQ, now H.P.).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6" name="Google Shape;426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Network Model Schema</a:t>
            </a:r>
            <a:endParaRPr/>
          </a:p>
        </p:txBody>
      </p:sp>
      <p:pic>
        <p:nvPicPr>
          <p:cNvPr descr="fig02_08" id="427" name="Google Shape;42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912" y="2224087"/>
            <a:ext cx="8294687" cy="3065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4" name="Google Shape;434;p5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Network Model</a:t>
            </a:r>
            <a:endParaRPr/>
          </a:p>
        </p:txBody>
      </p:sp>
      <p:sp>
        <p:nvSpPr>
          <p:cNvPr id="435" name="Google Shape;435;p5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Network Model is able to model complex relationships and represents semantics of add/delete on the relationships.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handle most situations for modeling using record types and relationship types.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Language is navigational; uses constructs like FIND, FIND member, FIND owner, FIND NEXT within set, GET, etc.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Programmers can do optimal navigation through the database.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2" name="Google Shape;442;p6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Network Model</a:t>
            </a:r>
            <a:endParaRPr/>
          </a:p>
        </p:txBody>
      </p:sp>
      <p:sp>
        <p:nvSpPr>
          <p:cNvPr id="443" name="Google Shape;443;p6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Navigational and procedural nature of processing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contains a complex array of pointers that thread through a set of records.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Little scope for automated “query optimization”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0" name="Google Shape;450;p6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History of Data Models </a:t>
            </a:r>
            <a:endParaRPr/>
          </a:p>
        </p:txBody>
      </p:sp>
      <p:sp>
        <p:nvSpPr>
          <p:cNvPr id="451" name="Google Shape;451;p6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Hierarchical Data Model: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Initially implemented in a joint effort by IBM and North American Rockwell around 1965. Resulted in the IMS family of systems.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IBM’s IMS product had (and still has) a very large customer base worldwide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Hierarchical model was formalized based on the IMS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systems based on this model: System 2k (SAS inc.)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8" name="Google Shape;458;p6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Hierarchical Model</a:t>
            </a:r>
            <a:endParaRPr/>
          </a:p>
        </p:txBody>
      </p:sp>
      <p:sp>
        <p:nvSpPr>
          <p:cNvPr id="459" name="Google Shape;459;p6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to construct and operate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Corresponds to a number of natural hierarchically organized domains, e.g., organization (“org”) chart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Language is simple: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Uses constructs like GET, GET UNIQUE, GET NEXT, GET NEXT WITHIN PARENT,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Navigational and procedural nature of processing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is visualized as a linear arrangement of records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Little scope for "query optimization"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6" name="Google Shape;466;p6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History of Data Models </a:t>
            </a:r>
            <a:endParaRPr/>
          </a:p>
        </p:txBody>
      </p:sp>
      <p:sp>
        <p:nvSpPr>
          <p:cNvPr id="467" name="Google Shape;467;p6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Model: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Proposed in 1970 by E.F. Codd (IBM), first commercial system in 1981-82.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Now in several commercial products (e.g. DB2, ORACLE, MS SQL Server, SYBASE, INFORMIX).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Several free open source implementations, e.g. MySQL, PostgreSQL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Currently most dominant for developing database applications.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SQL relational standards: SQL-89 (SQL1), SQL-92 (SQL2), SQL-99, SQL3,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Chapters 5 through 11 describe this model in detail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4" name="Google Shape;474;p6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History of Data Models</a:t>
            </a:r>
            <a:endParaRPr/>
          </a:p>
        </p:txBody>
      </p:sp>
      <p:sp>
        <p:nvSpPr>
          <p:cNvPr id="475" name="Google Shape;475;p6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Object-oriented Data Models: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Several models have been proposed for implementing in a database system.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set comprises models of persistent O-O Programming Languages such as C++ (e.g., in OBJECTSTORE or VERSANT), and Smalltalk (e.g., in GEMSTONE).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Additionally, systems like O2, ORION (at MCC - then ITASCA), IRIS (at H.P.- used in Open OODB).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Object Database Standard: ODMG-93, ODMG-version 2.0, ODMG-version 3.0.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Chapters 20 and 21 describe this model.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2" name="Google Shape;482;p6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History of Data Models</a:t>
            </a:r>
            <a:endParaRPr/>
          </a:p>
        </p:txBody>
      </p:sp>
      <p:sp>
        <p:nvSpPr>
          <p:cNvPr id="483" name="Google Shape;483;p6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Object-Relational Models: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 Recent Trend. Started with Informix Universal Server.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systems incorporate concepts from object databases leading to object-relational.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Exemplified in the latest versions of Oracle-10i, DB2, and SQL Server and other DBMSs.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Standards included in SQL-99 and expected to be enhanced in future SQL standards.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22 describes this model.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2-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0" name="Google Shape;490;p6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491" name="Google Shape;491;p6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Models and Their Categories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History of Data Models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Schemas, Instances, and States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Three-Schema Architecture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Independence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DBMS Languages and Interfaces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System Utilities and Tools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Centralized and Client-Server Architectures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Classification of DBMSs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