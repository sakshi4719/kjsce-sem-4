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9144000"/>
  <p:notesSz cx="6858000" cy="9144000"/>
  <p:embeddedFontLst>
    <p:embeddedFont>
      <p:font typeface="Inter"/>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2" roundtripDataSignature="AMtx7mhiLWGePo+VzbbCLQawofRFBSiF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regular.fntdata"/><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Inter-bold.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2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2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2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4"/>
          <p:cNvSpPr/>
          <p:nvPr>
            <p:ph idx="2" type="pic"/>
          </p:nvPr>
        </p:nvSpPr>
        <p:spPr>
          <a:xfrm>
            <a:off x="1792288" y="612775"/>
            <a:ext cx="5486400" cy="4114800"/>
          </a:xfrm>
          <a:prstGeom prst="rect">
            <a:avLst/>
          </a:prstGeom>
          <a:noFill/>
          <a:ln>
            <a:noFill/>
          </a:ln>
        </p:spPr>
      </p:sp>
      <p:sp>
        <p:nvSpPr>
          <p:cNvPr id="64" name="Google Shape;64;p2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 y="0"/>
            <a:ext cx="9141714"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Electronic System" id="85" name="Google Shape;85;p1"/>
          <p:cNvPicPr preferRelativeResize="0"/>
          <p:nvPr/>
        </p:nvPicPr>
        <p:blipFill rotWithShape="1">
          <a:blip r:embed="rId3">
            <a:alphaModFix/>
          </a:blip>
          <a:srcRect b="-1" l="0" r="-1" t="284"/>
          <a:stretch/>
        </p:blipFill>
        <p:spPr>
          <a:xfrm>
            <a:off x="15" y="-22"/>
            <a:ext cx="9143983" cy="6858022"/>
          </a:xfrm>
          <a:prstGeom prst="rect">
            <a:avLst/>
          </a:prstGeom>
          <a:noFill/>
          <a:ln>
            <a:noFill/>
          </a:ln>
        </p:spPr>
      </p:pic>
      <p:sp>
        <p:nvSpPr>
          <p:cNvPr id="86" name="Google Shape;86;p1"/>
          <p:cNvSpPr/>
          <p:nvPr/>
        </p:nvSpPr>
        <p:spPr>
          <a:xfrm rot="-5400000">
            <a:off x="-1684783" y="1682485"/>
            <a:ext cx="6858003" cy="3493010"/>
          </a:xfrm>
          <a:prstGeom prst="rect">
            <a:avLst/>
          </a:prstGeom>
          <a:gradFill>
            <a:gsLst>
              <a:gs pos="0">
                <a:srgbClr val="000000">
                  <a:alpha val="0"/>
                </a:srgbClr>
              </a:gs>
              <a:gs pos="48000">
                <a:srgbClr val="000000">
                  <a:alpha val="23921"/>
                </a:srgbClr>
              </a:gs>
              <a:gs pos="85000">
                <a:srgbClr val="000000">
                  <a:alpha val="44705"/>
                </a:srgbClr>
              </a:gs>
              <a:gs pos="100000">
                <a:srgbClr val="000000">
                  <a:alpha val="44705"/>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7" name="Google Shape;87;p1"/>
          <p:cNvSpPr txBox="1"/>
          <p:nvPr>
            <p:ph type="ctrTitle"/>
          </p:nvPr>
        </p:nvSpPr>
        <p:spPr>
          <a:xfrm>
            <a:off x="482600" y="643467"/>
            <a:ext cx="4089397" cy="356924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FFFFFF"/>
              </a:buClr>
              <a:buSzPts val="5200"/>
              <a:buFont typeface="Calibri"/>
              <a:buNone/>
            </a:pPr>
            <a:r>
              <a:rPr lang="en-US" sz="5200">
                <a:solidFill>
                  <a:srgbClr val="FFFFFF"/>
                </a:solidFill>
              </a:rPr>
              <a:t>DBMS – Database Users</a:t>
            </a:r>
            <a:endParaRPr/>
          </a:p>
        </p:txBody>
      </p:sp>
      <p:sp>
        <p:nvSpPr>
          <p:cNvPr id="88" name="Google Shape;88;p1"/>
          <p:cNvSpPr txBox="1"/>
          <p:nvPr>
            <p:ph idx="1" type="subTitle"/>
          </p:nvPr>
        </p:nvSpPr>
        <p:spPr>
          <a:xfrm>
            <a:off x="482600" y="4551037"/>
            <a:ext cx="4087109" cy="1578054"/>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888888"/>
              </a:buClr>
              <a:buSzPts val="3200"/>
              <a:buNone/>
            </a:pPr>
            <a:r>
              <a:t/>
            </a:r>
            <a:endParaRPr>
              <a:solidFill>
                <a:srgbClr val="FFFFFF"/>
              </a:solidFill>
            </a:endParaRPr>
          </a:p>
        </p:txBody>
      </p:sp>
      <p:sp>
        <p:nvSpPr>
          <p:cNvPr id="89" name="Google Shape;89;p1"/>
          <p:cNvSpPr/>
          <p:nvPr/>
        </p:nvSpPr>
        <p:spPr>
          <a:xfrm rot="5400000">
            <a:off x="4797890" y="2511887"/>
            <a:ext cx="6858003" cy="1834218"/>
          </a:xfrm>
          <a:prstGeom prst="rect">
            <a:avLst/>
          </a:prstGeom>
          <a:gradFill>
            <a:gsLst>
              <a:gs pos="0">
                <a:srgbClr val="000000">
                  <a:alpha val="0"/>
                </a:srgbClr>
              </a:gs>
              <a:gs pos="48000">
                <a:srgbClr val="000000">
                  <a:alpha val="23921"/>
                </a:srgbClr>
              </a:gs>
              <a:gs pos="85000">
                <a:srgbClr val="000000">
                  <a:alpha val="44705"/>
                </a:srgbClr>
              </a:gs>
              <a:gs pos="100000">
                <a:srgbClr val="000000">
                  <a:alpha val="44705"/>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5000"/>
                                        <p:tgtEl>
                                          <p:spTgt spid="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p:nvPr/>
        </p:nvSpPr>
        <p:spPr>
          <a:xfrm>
            <a:off x="0" y="651753"/>
            <a:ext cx="9144000" cy="736551"/>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5" name="Google Shape;95;p2"/>
          <p:cNvSpPr txBox="1"/>
          <p:nvPr>
            <p:ph type="title"/>
          </p:nvPr>
        </p:nvSpPr>
        <p:spPr>
          <a:xfrm>
            <a:off x="417399" y="643467"/>
            <a:ext cx="8408194" cy="74483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lang="en-US" sz="3200">
                <a:solidFill>
                  <a:schemeClr val="lt1"/>
                </a:solidFill>
                <a:latin typeface="Calibri"/>
                <a:ea typeface="Calibri"/>
                <a:cs typeface="Calibri"/>
                <a:sym typeface="Calibri"/>
              </a:rPr>
              <a:t>Database Users</a:t>
            </a:r>
            <a:endParaRPr/>
          </a:p>
        </p:txBody>
      </p:sp>
      <p:pic>
        <p:nvPicPr>
          <p:cNvPr id="96" name="Google Shape;96;p2"/>
          <p:cNvPicPr preferRelativeResize="0"/>
          <p:nvPr>
            <p:ph idx="1" type="body"/>
          </p:nvPr>
        </p:nvPicPr>
        <p:blipFill rotWithShape="1">
          <a:blip r:embed="rId3">
            <a:alphaModFix/>
          </a:blip>
          <a:srcRect b="0" l="0" r="0" t="0"/>
          <a:stretch/>
        </p:blipFill>
        <p:spPr>
          <a:xfrm>
            <a:off x="869024" y="1675228"/>
            <a:ext cx="7405952" cy="43941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p:nvPr/>
        </p:nvSpPr>
        <p:spPr>
          <a:xfrm>
            <a:off x="0" y="651753"/>
            <a:ext cx="9144000" cy="736551"/>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 name="Google Shape;102;p3"/>
          <p:cNvSpPr txBox="1"/>
          <p:nvPr>
            <p:ph type="title"/>
          </p:nvPr>
        </p:nvSpPr>
        <p:spPr>
          <a:xfrm>
            <a:off x="417399" y="643467"/>
            <a:ext cx="8408194" cy="74483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lang="en-US" sz="3200">
                <a:solidFill>
                  <a:schemeClr val="lt1"/>
                </a:solidFill>
                <a:latin typeface="Calibri"/>
                <a:ea typeface="Calibri"/>
                <a:cs typeface="Calibri"/>
                <a:sym typeface="Calibri"/>
              </a:rPr>
              <a:t>Front Actors (1/5)</a:t>
            </a:r>
            <a:endParaRPr/>
          </a:p>
        </p:txBody>
      </p:sp>
      <p:pic>
        <p:nvPicPr>
          <p:cNvPr id="103" name="Google Shape;103;p3"/>
          <p:cNvPicPr preferRelativeResize="0"/>
          <p:nvPr>
            <p:ph idx="1" type="body"/>
          </p:nvPr>
        </p:nvPicPr>
        <p:blipFill rotWithShape="1">
          <a:blip r:embed="rId3">
            <a:alphaModFix/>
          </a:blip>
          <a:srcRect b="0" l="0" r="0" t="0"/>
          <a:stretch/>
        </p:blipFill>
        <p:spPr>
          <a:xfrm>
            <a:off x="848102" y="1675228"/>
            <a:ext cx="7447796" cy="43941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4"/>
          <p:cNvSpPr/>
          <p:nvPr/>
        </p:nvSpPr>
        <p:spPr>
          <a:xfrm>
            <a:off x="0" y="651753"/>
            <a:ext cx="9144000" cy="736551"/>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4"/>
          <p:cNvSpPr txBox="1"/>
          <p:nvPr>
            <p:ph type="title"/>
          </p:nvPr>
        </p:nvSpPr>
        <p:spPr>
          <a:xfrm>
            <a:off x="417399" y="643467"/>
            <a:ext cx="8408194" cy="74483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lang="en-US" sz="3200">
                <a:solidFill>
                  <a:schemeClr val="lt1"/>
                </a:solidFill>
                <a:latin typeface="Calibri"/>
                <a:ea typeface="Calibri"/>
                <a:cs typeface="Calibri"/>
                <a:sym typeface="Calibri"/>
              </a:rPr>
              <a:t>Front Actors (2/5)</a:t>
            </a:r>
            <a:endParaRPr/>
          </a:p>
        </p:txBody>
      </p:sp>
      <p:pic>
        <p:nvPicPr>
          <p:cNvPr id="110" name="Google Shape;110;p4"/>
          <p:cNvPicPr preferRelativeResize="0"/>
          <p:nvPr>
            <p:ph idx="1" type="body"/>
          </p:nvPr>
        </p:nvPicPr>
        <p:blipFill rotWithShape="1">
          <a:blip r:embed="rId3">
            <a:alphaModFix/>
          </a:blip>
          <a:srcRect b="0" l="0" r="0" t="0"/>
          <a:stretch/>
        </p:blipFill>
        <p:spPr>
          <a:xfrm>
            <a:off x="717439" y="1675228"/>
            <a:ext cx="7709123" cy="43941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5"/>
          <p:cNvSpPr/>
          <p:nvPr/>
        </p:nvSpPr>
        <p:spPr>
          <a:xfrm>
            <a:off x="0" y="651753"/>
            <a:ext cx="9144000" cy="736551"/>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6" name="Google Shape;116;p5"/>
          <p:cNvSpPr txBox="1"/>
          <p:nvPr>
            <p:ph type="title"/>
          </p:nvPr>
        </p:nvSpPr>
        <p:spPr>
          <a:xfrm>
            <a:off x="417399" y="643467"/>
            <a:ext cx="8408194" cy="74483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lang="en-US" sz="3200">
                <a:solidFill>
                  <a:schemeClr val="lt1"/>
                </a:solidFill>
                <a:latin typeface="Calibri"/>
                <a:ea typeface="Calibri"/>
                <a:cs typeface="Calibri"/>
                <a:sym typeface="Calibri"/>
              </a:rPr>
              <a:t>Front Actors (3/5)</a:t>
            </a:r>
            <a:endParaRPr/>
          </a:p>
        </p:txBody>
      </p:sp>
      <p:pic>
        <p:nvPicPr>
          <p:cNvPr id="117" name="Google Shape;117;p5"/>
          <p:cNvPicPr preferRelativeResize="0"/>
          <p:nvPr>
            <p:ph idx="1" type="body"/>
          </p:nvPr>
        </p:nvPicPr>
        <p:blipFill rotWithShape="1">
          <a:blip r:embed="rId3">
            <a:alphaModFix/>
          </a:blip>
          <a:srcRect b="0" l="0" r="0" t="0"/>
          <a:stretch/>
        </p:blipFill>
        <p:spPr>
          <a:xfrm>
            <a:off x="482600" y="1718576"/>
            <a:ext cx="8178800" cy="4307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6"/>
          <p:cNvSpPr/>
          <p:nvPr/>
        </p:nvSpPr>
        <p:spPr>
          <a:xfrm>
            <a:off x="0" y="651753"/>
            <a:ext cx="9144000" cy="736551"/>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3" name="Google Shape;123;p6"/>
          <p:cNvSpPr txBox="1"/>
          <p:nvPr>
            <p:ph type="title"/>
          </p:nvPr>
        </p:nvSpPr>
        <p:spPr>
          <a:xfrm>
            <a:off x="417399" y="643467"/>
            <a:ext cx="8408194" cy="74483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lang="en-US" sz="3200">
                <a:solidFill>
                  <a:schemeClr val="lt1"/>
                </a:solidFill>
                <a:latin typeface="Calibri"/>
                <a:ea typeface="Calibri"/>
                <a:cs typeface="Calibri"/>
                <a:sym typeface="Calibri"/>
              </a:rPr>
              <a:t>Front Actors (4/5)</a:t>
            </a:r>
            <a:endParaRPr/>
          </a:p>
        </p:txBody>
      </p:sp>
      <p:pic>
        <p:nvPicPr>
          <p:cNvPr id="124" name="Google Shape;124;p6"/>
          <p:cNvPicPr preferRelativeResize="0"/>
          <p:nvPr>
            <p:ph idx="1" type="body"/>
          </p:nvPr>
        </p:nvPicPr>
        <p:blipFill rotWithShape="1">
          <a:blip r:embed="rId3">
            <a:alphaModFix/>
          </a:blip>
          <a:srcRect b="0" l="0" r="0" t="0"/>
          <a:stretch/>
        </p:blipFill>
        <p:spPr>
          <a:xfrm>
            <a:off x="1084540" y="1675228"/>
            <a:ext cx="6974920" cy="43941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7"/>
          <p:cNvSpPr/>
          <p:nvPr/>
        </p:nvSpPr>
        <p:spPr>
          <a:xfrm>
            <a:off x="0" y="651753"/>
            <a:ext cx="9144000" cy="736551"/>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0" name="Google Shape;130;p7"/>
          <p:cNvSpPr txBox="1"/>
          <p:nvPr>
            <p:ph type="title"/>
          </p:nvPr>
        </p:nvSpPr>
        <p:spPr>
          <a:xfrm>
            <a:off x="417399" y="643467"/>
            <a:ext cx="8408194" cy="74483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lang="en-US" sz="3200">
                <a:solidFill>
                  <a:schemeClr val="lt1"/>
                </a:solidFill>
                <a:latin typeface="Calibri"/>
                <a:ea typeface="Calibri"/>
                <a:cs typeface="Calibri"/>
                <a:sym typeface="Calibri"/>
              </a:rPr>
              <a:t>Front Actors (5/5)</a:t>
            </a:r>
            <a:endParaRPr/>
          </a:p>
        </p:txBody>
      </p:sp>
      <p:pic>
        <p:nvPicPr>
          <p:cNvPr id="131" name="Google Shape;131;p7"/>
          <p:cNvPicPr preferRelativeResize="0"/>
          <p:nvPr>
            <p:ph idx="1" type="body"/>
          </p:nvPr>
        </p:nvPicPr>
        <p:blipFill rotWithShape="1">
          <a:blip r:embed="rId3">
            <a:alphaModFix/>
          </a:blip>
          <a:srcRect b="0" l="0" r="0" t="0"/>
          <a:stretch/>
        </p:blipFill>
        <p:spPr>
          <a:xfrm>
            <a:off x="482600" y="2045728"/>
            <a:ext cx="8178800" cy="365319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8"/>
          <p:cNvSpPr/>
          <p:nvPr/>
        </p:nvSpPr>
        <p:spPr>
          <a:xfrm>
            <a:off x="0" y="651753"/>
            <a:ext cx="9144000" cy="736551"/>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7" name="Google Shape;137;p8"/>
          <p:cNvSpPr txBox="1"/>
          <p:nvPr>
            <p:ph type="title"/>
          </p:nvPr>
        </p:nvSpPr>
        <p:spPr>
          <a:xfrm>
            <a:off x="417399" y="643467"/>
            <a:ext cx="8408194" cy="74483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lang="en-US" sz="3200">
                <a:solidFill>
                  <a:schemeClr val="lt1"/>
                </a:solidFill>
                <a:latin typeface="Calibri"/>
                <a:ea typeface="Calibri"/>
                <a:cs typeface="Calibri"/>
                <a:sym typeface="Calibri"/>
              </a:rPr>
              <a:t>Workers</a:t>
            </a:r>
            <a:endParaRPr/>
          </a:p>
        </p:txBody>
      </p:sp>
      <p:pic>
        <p:nvPicPr>
          <p:cNvPr id="138" name="Google Shape;138;p8"/>
          <p:cNvPicPr preferRelativeResize="0"/>
          <p:nvPr>
            <p:ph idx="1" type="body"/>
          </p:nvPr>
        </p:nvPicPr>
        <p:blipFill rotWithShape="1">
          <a:blip r:embed="rId3">
            <a:alphaModFix/>
          </a:blip>
          <a:srcRect b="0" l="0" r="0" t="0"/>
          <a:stretch/>
        </p:blipFill>
        <p:spPr>
          <a:xfrm>
            <a:off x="482600" y="1936677"/>
            <a:ext cx="8178800" cy="387129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Data Independance</a:t>
            </a:r>
            <a:endParaRPr/>
          </a:p>
        </p:txBody>
      </p:sp>
      <p:sp>
        <p:nvSpPr>
          <p:cNvPr id="144" name="Google Shape;144;p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t/>
            </a:r>
            <a:endParaRPr/>
          </a:p>
        </p:txBody>
      </p:sp>
      <p:pic>
        <p:nvPicPr>
          <p:cNvPr id="145" name="Google Shape;145;p9"/>
          <p:cNvPicPr preferRelativeResize="0"/>
          <p:nvPr/>
        </p:nvPicPr>
        <p:blipFill rotWithShape="1">
          <a:blip r:embed="rId3">
            <a:alphaModFix/>
          </a:blip>
          <a:srcRect b="0" l="0" r="0" t="0"/>
          <a:stretch/>
        </p:blipFill>
        <p:spPr>
          <a:xfrm>
            <a:off x="142603" y="2799723"/>
            <a:ext cx="3035609" cy="392556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Data independence</a:t>
            </a:r>
            <a:endParaRPr/>
          </a:p>
        </p:txBody>
      </p:sp>
      <p:sp>
        <p:nvSpPr>
          <p:cNvPr id="151" name="Google Shape;151;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rgbClr val="484848"/>
              </a:buClr>
              <a:buSzPct val="100000"/>
              <a:buChar char="•"/>
            </a:pPr>
            <a:r>
              <a:rPr b="0" i="0" lang="en-US">
                <a:solidFill>
                  <a:srgbClr val="484848"/>
                </a:solidFill>
                <a:latin typeface="Inter"/>
                <a:ea typeface="Inter"/>
                <a:cs typeface="Inter"/>
                <a:sym typeface="Inter"/>
              </a:rPr>
              <a:t>Definition:</a:t>
            </a:r>
            <a:endParaRPr/>
          </a:p>
          <a:p>
            <a:pPr indent="-342900" lvl="0" marL="342900" rtl="0" algn="l">
              <a:spcBef>
                <a:spcPts val="592"/>
              </a:spcBef>
              <a:spcAft>
                <a:spcPts val="0"/>
              </a:spcAft>
              <a:buClr>
                <a:srgbClr val="484848"/>
              </a:buClr>
              <a:buSzPct val="100000"/>
              <a:buChar char="•"/>
            </a:pPr>
            <a:r>
              <a:rPr b="0" i="0" lang="en-US">
                <a:solidFill>
                  <a:srgbClr val="484848"/>
                </a:solidFill>
                <a:latin typeface="Inter"/>
                <a:ea typeface="Inter"/>
                <a:cs typeface="Inter"/>
                <a:sym typeface="Inter"/>
              </a:rPr>
              <a:t>The ability of the data to change the schema </a:t>
            </a:r>
            <a:endParaRPr/>
          </a:p>
          <a:p>
            <a:pPr indent="0" lvl="0" marL="0" rtl="0" algn="l">
              <a:spcBef>
                <a:spcPts val="592"/>
              </a:spcBef>
              <a:spcAft>
                <a:spcPts val="0"/>
              </a:spcAft>
              <a:buClr>
                <a:srgbClr val="484848"/>
              </a:buClr>
              <a:buSzPct val="100000"/>
              <a:buNone/>
            </a:pPr>
            <a:r>
              <a:rPr lang="en-US">
                <a:solidFill>
                  <a:srgbClr val="484848"/>
                </a:solidFill>
                <a:latin typeface="Inter"/>
                <a:ea typeface="Inter"/>
                <a:cs typeface="Inter"/>
                <a:sym typeface="Inter"/>
              </a:rPr>
              <a:t>   </a:t>
            </a:r>
            <a:r>
              <a:rPr b="0" i="0" lang="en-US">
                <a:solidFill>
                  <a:srgbClr val="484848"/>
                </a:solidFill>
                <a:latin typeface="Inter"/>
                <a:ea typeface="Inter"/>
                <a:cs typeface="Inter"/>
                <a:sym typeface="Inter"/>
              </a:rPr>
              <a:t>at one level of the database without having to</a:t>
            </a:r>
            <a:endParaRPr/>
          </a:p>
          <a:p>
            <a:pPr indent="0" lvl="0" marL="0" rtl="0" algn="l">
              <a:spcBef>
                <a:spcPts val="592"/>
              </a:spcBef>
              <a:spcAft>
                <a:spcPts val="0"/>
              </a:spcAft>
              <a:buClr>
                <a:srgbClr val="484848"/>
              </a:buClr>
              <a:buSzPct val="100000"/>
              <a:buNone/>
            </a:pPr>
            <a:r>
              <a:rPr b="0" i="0" lang="en-US">
                <a:solidFill>
                  <a:srgbClr val="484848"/>
                </a:solidFill>
                <a:latin typeface="Inter"/>
                <a:ea typeface="Inter"/>
                <a:cs typeface="Inter"/>
                <a:sym typeface="Inter"/>
              </a:rPr>
              <a:t>   change the schema at the next higher level</a:t>
            </a:r>
            <a:endParaRPr/>
          </a:p>
          <a:p>
            <a:pPr indent="0" lvl="0" marL="0" rtl="0" algn="l">
              <a:spcBef>
                <a:spcPts val="592"/>
              </a:spcBef>
              <a:spcAft>
                <a:spcPts val="0"/>
              </a:spcAft>
              <a:buClr>
                <a:schemeClr val="dk1"/>
              </a:buClr>
              <a:buSzPct val="100000"/>
              <a:buNone/>
            </a:pPr>
            <a:r>
              <a:t/>
            </a:r>
            <a:endParaRPr u="sng">
              <a:solidFill>
                <a:srgbClr val="484848"/>
              </a:solidFill>
              <a:latin typeface="Inter"/>
              <a:ea typeface="Inter"/>
              <a:cs typeface="Inter"/>
              <a:sym typeface="Inter"/>
            </a:endParaRPr>
          </a:p>
          <a:p>
            <a:pPr indent="0" lvl="0" marL="0" rtl="0" algn="l">
              <a:spcBef>
                <a:spcPts val="592"/>
              </a:spcBef>
              <a:spcAft>
                <a:spcPts val="0"/>
              </a:spcAft>
              <a:buClr>
                <a:srgbClr val="484848"/>
              </a:buClr>
              <a:buSzPct val="100000"/>
              <a:buNone/>
            </a:pPr>
            <a:r>
              <a:rPr lang="en-US" u="sng">
                <a:solidFill>
                  <a:srgbClr val="484848"/>
                </a:solidFill>
                <a:latin typeface="Inter"/>
                <a:ea typeface="Inter"/>
                <a:cs typeface="Inter"/>
                <a:sym typeface="Inter"/>
              </a:rPr>
              <a:t>In simple words:</a:t>
            </a:r>
            <a:endParaRPr/>
          </a:p>
          <a:p>
            <a:pPr indent="0" lvl="0" marL="0" rtl="0" algn="l">
              <a:spcBef>
                <a:spcPts val="592"/>
              </a:spcBef>
              <a:spcAft>
                <a:spcPts val="0"/>
              </a:spcAft>
              <a:buClr>
                <a:srgbClr val="484848"/>
              </a:buClr>
              <a:buSzPct val="100000"/>
              <a:buNone/>
            </a:pPr>
            <a:r>
              <a:rPr lang="en-US">
                <a:solidFill>
                  <a:srgbClr val="484848"/>
                </a:solidFill>
                <a:latin typeface="Inter"/>
                <a:ea typeface="Inter"/>
                <a:cs typeface="Inter"/>
                <a:sym typeface="Inter"/>
              </a:rPr>
              <a:t>It </a:t>
            </a:r>
            <a:r>
              <a:rPr b="0" i="0" lang="en-US">
                <a:solidFill>
                  <a:srgbClr val="484848"/>
                </a:solidFill>
                <a:latin typeface="Inter"/>
                <a:ea typeface="Inter"/>
                <a:cs typeface="Inter"/>
                <a:sym typeface="Inter"/>
              </a:rPr>
              <a:t>allows the User or Database Administrator to</a:t>
            </a:r>
            <a:endParaRPr/>
          </a:p>
          <a:p>
            <a:pPr indent="0" lvl="0" marL="0" rtl="0" algn="l">
              <a:spcBef>
                <a:spcPts val="592"/>
              </a:spcBef>
              <a:spcAft>
                <a:spcPts val="0"/>
              </a:spcAft>
              <a:buClr>
                <a:srgbClr val="484848"/>
              </a:buClr>
              <a:buSzPct val="100000"/>
              <a:buNone/>
            </a:pPr>
            <a:r>
              <a:rPr b="0" i="0" lang="en-US">
                <a:solidFill>
                  <a:srgbClr val="484848"/>
                </a:solidFill>
                <a:latin typeface="Inter"/>
                <a:ea typeface="Inter"/>
                <a:cs typeface="Inter"/>
                <a:sym typeface="Inter"/>
              </a:rPr>
              <a:t>change the schema at one level without </a:t>
            </a:r>
            <a:endParaRPr/>
          </a:p>
          <a:p>
            <a:pPr indent="0" lvl="0" marL="0" rtl="0" algn="l">
              <a:spcBef>
                <a:spcPts val="592"/>
              </a:spcBef>
              <a:spcAft>
                <a:spcPts val="0"/>
              </a:spcAft>
              <a:buClr>
                <a:srgbClr val="484848"/>
              </a:buClr>
              <a:buSzPct val="100000"/>
              <a:buNone/>
            </a:pPr>
            <a:r>
              <a:rPr b="0" i="0" lang="en-US">
                <a:solidFill>
                  <a:srgbClr val="484848"/>
                </a:solidFill>
                <a:latin typeface="Inter"/>
                <a:ea typeface="Inter"/>
                <a:cs typeface="Inter"/>
                <a:sym typeface="Inter"/>
              </a:rPr>
              <a:t>affecting the data or schema at another level.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anim calcmode="lin" valueType="num">
                                      <p:cBhvr additive="base">
                                        <p:cTn dur="500"/>
                                        <p:tgtEl>
                                          <p:spTgt spid="15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
                                            <p:txEl>
                                              <p:pRg end="1" st="1"/>
                                            </p:txEl>
                                          </p:spTgt>
                                        </p:tgtEl>
                                        <p:attrNameLst>
                                          <p:attrName>style.visibility</p:attrName>
                                        </p:attrNameLst>
                                      </p:cBhvr>
                                      <p:to>
                                        <p:strVal val="visible"/>
                                      </p:to>
                                    </p:set>
                                    <p:anim calcmode="lin" valueType="num">
                                      <p:cBhvr additive="base">
                                        <p:cTn dur="500"/>
                                        <p:tgtEl>
                                          <p:spTgt spid="15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
                                            <p:txEl>
                                              <p:pRg end="2" st="2"/>
                                            </p:txEl>
                                          </p:spTgt>
                                        </p:tgtEl>
                                        <p:attrNameLst>
                                          <p:attrName>style.visibility</p:attrName>
                                        </p:attrNameLst>
                                      </p:cBhvr>
                                      <p:to>
                                        <p:strVal val="visible"/>
                                      </p:to>
                                    </p:set>
                                    <p:anim calcmode="lin" valueType="num">
                                      <p:cBhvr additive="base">
                                        <p:cTn dur="500"/>
                                        <p:tgtEl>
                                          <p:spTgt spid="15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
                                            <p:txEl>
                                              <p:pRg end="3" st="3"/>
                                            </p:txEl>
                                          </p:spTgt>
                                        </p:tgtEl>
                                        <p:attrNameLst>
                                          <p:attrName>style.visibility</p:attrName>
                                        </p:attrNameLst>
                                      </p:cBhvr>
                                      <p:to>
                                        <p:strVal val="visible"/>
                                      </p:to>
                                    </p:set>
                                    <p:anim calcmode="lin" valueType="num">
                                      <p:cBhvr additive="base">
                                        <p:cTn dur="500"/>
                                        <p:tgtEl>
                                          <p:spTgt spid="15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
                                            <p:txEl>
                                              <p:pRg end="4" st="4"/>
                                            </p:txEl>
                                          </p:spTgt>
                                        </p:tgtEl>
                                        <p:attrNameLst>
                                          <p:attrName>style.visibility</p:attrName>
                                        </p:attrNameLst>
                                      </p:cBhvr>
                                      <p:to>
                                        <p:strVal val="visible"/>
                                      </p:to>
                                    </p:set>
                                    <p:anim calcmode="lin" valueType="num">
                                      <p:cBhvr additive="base">
                                        <p:cTn dur="500"/>
                                        <p:tgtEl>
                                          <p:spTgt spid="15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
                                            <p:txEl>
                                              <p:pRg end="5" st="5"/>
                                            </p:txEl>
                                          </p:spTgt>
                                        </p:tgtEl>
                                        <p:attrNameLst>
                                          <p:attrName>style.visibility</p:attrName>
                                        </p:attrNameLst>
                                      </p:cBhvr>
                                      <p:to>
                                        <p:strVal val="visible"/>
                                      </p:to>
                                    </p:set>
                                    <p:anim calcmode="lin" valueType="num">
                                      <p:cBhvr additive="base">
                                        <p:cTn dur="500"/>
                                        <p:tgtEl>
                                          <p:spTgt spid="15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
                                            <p:txEl>
                                              <p:pRg end="6" st="6"/>
                                            </p:txEl>
                                          </p:spTgt>
                                        </p:tgtEl>
                                        <p:attrNameLst>
                                          <p:attrName>style.visibility</p:attrName>
                                        </p:attrNameLst>
                                      </p:cBhvr>
                                      <p:to>
                                        <p:strVal val="visible"/>
                                      </p:to>
                                    </p:set>
                                    <p:anim calcmode="lin" valueType="num">
                                      <p:cBhvr additive="base">
                                        <p:cTn dur="500"/>
                                        <p:tgtEl>
                                          <p:spTgt spid="15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
                                            <p:txEl>
                                              <p:pRg end="7" st="7"/>
                                            </p:txEl>
                                          </p:spTgt>
                                        </p:tgtEl>
                                        <p:attrNameLst>
                                          <p:attrName>style.visibility</p:attrName>
                                        </p:attrNameLst>
                                      </p:cBhvr>
                                      <p:to>
                                        <p:strVal val="visible"/>
                                      </p:to>
                                    </p:set>
                                    <p:anim calcmode="lin" valueType="num">
                                      <p:cBhvr additive="base">
                                        <p:cTn dur="500"/>
                                        <p:tgtEl>
                                          <p:spTgt spid="151">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
                                            <p:txEl>
                                              <p:pRg end="8" st="8"/>
                                            </p:txEl>
                                          </p:spTgt>
                                        </p:tgtEl>
                                        <p:attrNameLst>
                                          <p:attrName>style.visibility</p:attrName>
                                        </p:attrNameLst>
                                      </p:cBhvr>
                                      <p:to>
                                        <p:strVal val="visible"/>
                                      </p:to>
                                    </p:set>
                                    <p:anim calcmode="lin" valueType="num">
                                      <p:cBhvr additive="base">
                                        <p:cTn dur="500"/>
                                        <p:tgtEl>
                                          <p:spTgt spid="151">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1"/>
          <p:cNvSpPr txBox="1"/>
          <p:nvPr>
            <p:ph idx="1" type="body"/>
          </p:nvPr>
        </p:nvSpPr>
        <p:spPr>
          <a:xfrm>
            <a:off x="529936" y="277091"/>
            <a:ext cx="7985414" cy="5899872"/>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just">
              <a:spcBef>
                <a:spcPts val="0"/>
              </a:spcBef>
              <a:spcAft>
                <a:spcPts val="0"/>
              </a:spcAft>
              <a:buClr>
                <a:srgbClr val="484848"/>
              </a:buClr>
              <a:buSzPct val="100000"/>
              <a:buChar char="•"/>
            </a:pPr>
            <a:r>
              <a:rPr b="0" i="0" lang="en-US">
                <a:solidFill>
                  <a:srgbClr val="484848"/>
                </a:solidFill>
                <a:latin typeface="Inter"/>
                <a:ea typeface="Inter"/>
                <a:cs typeface="Inter"/>
                <a:sym typeface="Inter"/>
              </a:rPr>
              <a:t>There are two levels of data independence in DBMS:</a:t>
            </a:r>
            <a:endParaRPr/>
          </a:p>
          <a:p>
            <a:pPr indent="-285750" lvl="1" marL="742950" rtl="0" algn="just">
              <a:spcBef>
                <a:spcPts val="350"/>
              </a:spcBef>
              <a:spcAft>
                <a:spcPts val="0"/>
              </a:spcAft>
              <a:buClr>
                <a:srgbClr val="484848"/>
              </a:buClr>
              <a:buSzPct val="100000"/>
              <a:buChar char="–"/>
            </a:pPr>
            <a:r>
              <a:rPr b="1" i="0" lang="en-US">
                <a:solidFill>
                  <a:srgbClr val="484848"/>
                </a:solidFill>
                <a:latin typeface="Inter"/>
                <a:ea typeface="Inter"/>
                <a:cs typeface="Inter"/>
                <a:sym typeface="Inter"/>
              </a:rPr>
              <a:t>Physical level data independence</a:t>
            </a:r>
            <a:endParaRPr b="0" i="0">
              <a:solidFill>
                <a:srgbClr val="484848"/>
              </a:solidFill>
              <a:latin typeface="Inter"/>
              <a:ea typeface="Inter"/>
              <a:cs typeface="Inter"/>
              <a:sym typeface="Inter"/>
            </a:endParaRPr>
          </a:p>
          <a:p>
            <a:pPr indent="-285750" lvl="1" marL="742950" rtl="0" algn="just">
              <a:spcBef>
                <a:spcPts val="350"/>
              </a:spcBef>
              <a:spcAft>
                <a:spcPts val="0"/>
              </a:spcAft>
              <a:buClr>
                <a:srgbClr val="484848"/>
              </a:buClr>
              <a:buSzPct val="100000"/>
              <a:buChar char="–"/>
            </a:pPr>
            <a:r>
              <a:rPr b="1" i="0" lang="en-US">
                <a:solidFill>
                  <a:srgbClr val="484848"/>
                </a:solidFill>
                <a:latin typeface="Inter"/>
                <a:ea typeface="Inter"/>
                <a:cs typeface="Inter"/>
                <a:sym typeface="Inter"/>
              </a:rPr>
              <a:t>Logical level data independence</a:t>
            </a:r>
            <a:endParaRPr b="0" i="0">
              <a:solidFill>
                <a:srgbClr val="484848"/>
              </a:solidFill>
              <a:latin typeface="Inter"/>
              <a:ea typeface="Inter"/>
              <a:cs typeface="Inter"/>
              <a:sym typeface="Inter"/>
            </a:endParaRPr>
          </a:p>
          <a:p>
            <a:pPr indent="-215900" lvl="0" marL="342900" rtl="0" algn="just">
              <a:spcBef>
                <a:spcPts val="400"/>
              </a:spcBef>
              <a:spcAft>
                <a:spcPts val="0"/>
              </a:spcAft>
              <a:buClr>
                <a:schemeClr val="dk1"/>
              </a:buClr>
              <a:buSzPct val="100000"/>
              <a:buNone/>
            </a:pPr>
            <a:r>
              <a:t/>
            </a:r>
            <a:endParaRPr b="1" i="0">
              <a:solidFill>
                <a:srgbClr val="101010"/>
              </a:solidFill>
              <a:latin typeface="Inter"/>
              <a:ea typeface="Inter"/>
              <a:cs typeface="Inter"/>
              <a:sym typeface="Inter"/>
            </a:endParaRPr>
          </a:p>
          <a:p>
            <a:pPr indent="0" lvl="0" marL="0" rtl="0" algn="just">
              <a:spcBef>
                <a:spcPts val="400"/>
              </a:spcBef>
              <a:spcAft>
                <a:spcPts val="0"/>
              </a:spcAft>
              <a:buClr>
                <a:srgbClr val="101010"/>
              </a:buClr>
              <a:buSzPct val="100000"/>
              <a:buNone/>
            </a:pPr>
            <a:r>
              <a:rPr b="1" i="0" lang="en-US">
                <a:solidFill>
                  <a:srgbClr val="101010"/>
                </a:solidFill>
                <a:latin typeface="Inter"/>
                <a:ea typeface="Inter"/>
                <a:cs typeface="Inter"/>
                <a:sym typeface="Inter"/>
              </a:rPr>
              <a:t>1. Physical Level Data Independence</a:t>
            </a:r>
            <a:endParaRPr/>
          </a:p>
          <a:p>
            <a:pPr indent="-342900" lvl="0" marL="342900" rtl="0" algn="just">
              <a:spcBef>
                <a:spcPts val="400"/>
              </a:spcBef>
              <a:spcAft>
                <a:spcPts val="0"/>
              </a:spcAft>
              <a:buClr>
                <a:srgbClr val="484848"/>
              </a:buClr>
              <a:buSzPct val="100000"/>
              <a:buChar char="•"/>
            </a:pPr>
            <a:r>
              <a:rPr b="0" i="0" lang="en-US">
                <a:solidFill>
                  <a:srgbClr val="484848"/>
                </a:solidFill>
                <a:latin typeface="Inter"/>
                <a:ea typeface="Inter"/>
                <a:cs typeface="Inter"/>
                <a:sym typeface="Inter"/>
              </a:rPr>
              <a:t>Physical Data Independence can be defined as the ability to change the physical level without affecting the logical or Conceptual level. </a:t>
            </a:r>
            <a:endParaRPr/>
          </a:p>
          <a:p>
            <a:pPr indent="-342900" lvl="0" marL="342900" rtl="0" algn="just">
              <a:spcBef>
                <a:spcPts val="400"/>
              </a:spcBef>
              <a:spcAft>
                <a:spcPts val="0"/>
              </a:spcAft>
              <a:buClr>
                <a:srgbClr val="484848"/>
              </a:buClr>
              <a:buSzPct val="100000"/>
              <a:buChar char="•"/>
            </a:pPr>
            <a:r>
              <a:rPr b="0" i="0" lang="en-US">
                <a:solidFill>
                  <a:srgbClr val="484848"/>
                </a:solidFill>
                <a:latin typeface="Inter"/>
                <a:ea typeface="Inter"/>
                <a:cs typeface="Inter"/>
                <a:sym typeface="Inter"/>
              </a:rPr>
              <a:t>Physical data independence gives us the freedom to modify the - Storage device, File structure, location of the database, etc. without changing the definition of conceptual or view level.</a:t>
            </a:r>
            <a:endParaRPr/>
          </a:p>
          <a:p>
            <a:pPr indent="-342900" lvl="0" marL="342900" rtl="0" algn="just">
              <a:spcBef>
                <a:spcPts val="400"/>
              </a:spcBef>
              <a:spcAft>
                <a:spcPts val="0"/>
              </a:spcAft>
              <a:buClr>
                <a:srgbClr val="484848"/>
              </a:buClr>
              <a:buSzPct val="100000"/>
              <a:buChar char="•"/>
            </a:pPr>
            <a:r>
              <a:rPr b="0" i="0" lang="en-US">
                <a:solidFill>
                  <a:srgbClr val="484848"/>
                </a:solidFill>
                <a:latin typeface="Inter"/>
                <a:ea typeface="Inter"/>
                <a:cs typeface="Inter"/>
                <a:sym typeface="Inter"/>
              </a:rPr>
              <a:t>Example: For example, if we take the database of the banking system and we want to scale up the database by changing the storage size and also want to change the file structure, we can do it without affecting any functionality of logical schema.</a:t>
            </a:r>
            <a:endParaRPr/>
          </a:p>
          <a:p>
            <a:pPr indent="-342900" lvl="0" marL="342900" rtl="0" algn="just">
              <a:spcBef>
                <a:spcPts val="400"/>
              </a:spcBef>
              <a:spcAft>
                <a:spcPts val="0"/>
              </a:spcAft>
              <a:buClr>
                <a:srgbClr val="484848"/>
              </a:buClr>
              <a:buSzPct val="100000"/>
              <a:buChar char="•"/>
            </a:pPr>
            <a:r>
              <a:rPr b="0" i="0" lang="en-US">
                <a:solidFill>
                  <a:srgbClr val="484848"/>
                </a:solidFill>
                <a:latin typeface="Inter"/>
                <a:ea typeface="Inter"/>
                <a:cs typeface="Inter"/>
                <a:sym typeface="Inter"/>
              </a:rPr>
              <a:t>Below changes can be done at the physical layer without affecting the conceptual layer -</a:t>
            </a:r>
            <a:endParaRPr/>
          </a:p>
          <a:p>
            <a:pPr indent="-285750" lvl="1" marL="742950" rtl="0" algn="just">
              <a:spcBef>
                <a:spcPts val="350"/>
              </a:spcBef>
              <a:spcAft>
                <a:spcPts val="0"/>
              </a:spcAft>
              <a:buClr>
                <a:srgbClr val="484848"/>
              </a:buClr>
              <a:buSzPct val="100000"/>
              <a:buChar char="–"/>
            </a:pPr>
            <a:r>
              <a:rPr b="0" i="0" lang="en-US">
                <a:solidFill>
                  <a:srgbClr val="484848"/>
                </a:solidFill>
                <a:latin typeface="Inter"/>
                <a:ea typeface="Inter"/>
                <a:cs typeface="Inter"/>
                <a:sym typeface="Inter"/>
              </a:rPr>
              <a:t>Changing the storage devices like SSD, hard disk and magnetic tapes, etc.</a:t>
            </a:r>
            <a:endParaRPr/>
          </a:p>
          <a:p>
            <a:pPr indent="-285750" lvl="1" marL="742950" rtl="0" algn="just">
              <a:spcBef>
                <a:spcPts val="350"/>
              </a:spcBef>
              <a:spcAft>
                <a:spcPts val="0"/>
              </a:spcAft>
              <a:buClr>
                <a:srgbClr val="484848"/>
              </a:buClr>
              <a:buSzPct val="100000"/>
              <a:buChar char="–"/>
            </a:pPr>
            <a:r>
              <a:rPr b="0" i="0" lang="en-US">
                <a:solidFill>
                  <a:srgbClr val="484848"/>
                </a:solidFill>
                <a:latin typeface="Inter"/>
                <a:ea typeface="Inter"/>
                <a:cs typeface="Inter"/>
                <a:sym typeface="Inter"/>
              </a:rPr>
              <a:t>Changing the access technique and modifying indexes.</a:t>
            </a:r>
            <a:endParaRPr/>
          </a:p>
          <a:p>
            <a:pPr indent="-285750" lvl="1" marL="742950" rtl="0" algn="just">
              <a:spcBef>
                <a:spcPts val="350"/>
              </a:spcBef>
              <a:spcAft>
                <a:spcPts val="0"/>
              </a:spcAft>
              <a:buClr>
                <a:srgbClr val="484848"/>
              </a:buClr>
              <a:buSzPct val="100000"/>
              <a:buChar char="–"/>
            </a:pPr>
            <a:r>
              <a:rPr b="0" i="0" lang="en-US">
                <a:solidFill>
                  <a:srgbClr val="484848"/>
                </a:solidFill>
                <a:latin typeface="Inter"/>
                <a:ea typeface="Inter"/>
                <a:cs typeface="Inter"/>
                <a:sym typeface="Inter"/>
              </a:rPr>
              <a:t>Changing the compression techniques or hashing algorithms.</a:t>
            </a:r>
            <a:endParaRPr/>
          </a:p>
          <a:p>
            <a:pPr indent="-215900" lvl="0" marL="342900" rtl="0" algn="l">
              <a:spcBef>
                <a:spcPts val="400"/>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0" st="0"/>
                                            </p:txEl>
                                          </p:spTgt>
                                        </p:tgtEl>
                                        <p:attrNameLst>
                                          <p:attrName>style.visibility</p:attrName>
                                        </p:attrNameLst>
                                      </p:cBhvr>
                                      <p:to>
                                        <p:strVal val="visible"/>
                                      </p:to>
                                    </p:set>
                                    <p:anim calcmode="lin" valueType="num">
                                      <p:cBhvr additive="base">
                                        <p:cTn dur="500"/>
                                        <p:tgtEl>
                                          <p:spTgt spid="15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1" st="1"/>
                                            </p:txEl>
                                          </p:spTgt>
                                        </p:tgtEl>
                                        <p:attrNameLst>
                                          <p:attrName>style.visibility</p:attrName>
                                        </p:attrNameLst>
                                      </p:cBhvr>
                                      <p:to>
                                        <p:strVal val="visible"/>
                                      </p:to>
                                    </p:set>
                                    <p:anim calcmode="lin" valueType="num">
                                      <p:cBhvr additive="base">
                                        <p:cTn dur="500"/>
                                        <p:tgtEl>
                                          <p:spTgt spid="15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2" st="2"/>
                                            </p:txEl>
                                          </p:spTgt>
                                        </p:tgtEl>
                                        <p:attrNameLst>
                                          <p:attrName>style.visibility</p:attrName>
                                        </p:attrNameLst>
                                      </p:cBhvr>
                                      <p:to>
                                        <p:strVal val="visible"/>
                                      </p:to>
                                    </p:set>
                                    <p:anim calcmode="lin" valueType="num">
                                      <p:cBhvr additive="base">
                                        <p:cTn dur="500"/>
                                        <p:tgtEl>
                                          <p:spTgt spid="15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3" st="3"/>
                                            </p:txEl>
                                          </p:spTgt>
                                        </p:tgtEl>
                                        <p:attrNameLst>
                                          <p:attrName>style.visibility</p:attrName>
                                        </p:attrNameLst>
                                      </p:cBhvr>
                                      <p:to>
                                        <p:strVal val="visible"/>
                                      </p:to>
                                    </p:set>
                                    <p:anim calcmode="lin" valueType="num">
                                      <p:cBhvr additive="base">
                                        <p:cTn dur="500"/>
                                        <p:tgtEl>
                                          <p:spTgt spid="15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4" st="4"/>
                                            </p:txEl>
                                          </p:spTgt>
                                        </p:tgtEl>
                                        <p:attrNameLst>
                                          <p:attrName>style.visibility</p:attrName>
                                        </p:attrNameLst>
                                      </p:cBhvr>
                                      <p:to>
                                        <p:strVal val="visible"/>
                                      </p:to>
                                    </p:set>
                                    <p:anim calcmode="lin" valueType="num">
                                      <p:cBhvr additive="base">
                                        <p:cTn dur="500"/>
                                        <p:tgtEl>
                                          <p:spTgt spid="15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5" st="5"/>
                                            </p:txEl>
                                          </p:spTgt>
                                        </p:tgtEl>
                                        <p:attrNameLst>
                                          <p:attrName>style.visibility</p:attrName>
                                        </p:attrNameLst>
                                      </p:cBhvr>
                                      <p:to>
                                        <p:strVal val="visible"/>
                                      </p:to>
                                    </p:set>
                                    <p:anim calcmode="lin" valueType="num">
                                      <p:cBhvr additive="base">
                                        <p:cTn dur="500"/>
                                        <p:tgtEl>
                                          <p:spTgt spid="15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6" st="6"/>
                                            </p:txEl>
                                          </p:spTgt>
                                        </p:tgtEl>
                                        <p:attrNameLst>
                                          <p:attrName>style.visibility</p:attrName>
                                        </p:attrNameLst>
                                      </p:cBhvr>
                                      <p:to>
                                        <p:strVal val="visible"/>
                                      </p:to>
                                    </p:set>
                                    <p:anim calcmode="lin" valueType="num">
                                      <p:cBhvr additive="base">
                                        <p:cTn dur="500"/>
                                        <p:tgtEl>
                                          <p:spTgt spid="15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7" st="7"/>
                                            </p:txEl>
                                          </p:spTgt>
                                        </p:tgtEl>
                                        <p:attrNameLst>
                                          <p:attrName>style.visibility</p:attrName>
                                        </p:attrNameLst>
                                      </p:cBhvr>
                                      <p:to>
                                        <p:strVal val="visible"/>
                                      </p:to>
                                    </p:set>
                                    <p:anim calcmode="lin" valueType="num">
                                      <p:cBhvr additive="base">
                                        <p:cTn dur="500"/>
                                        <p:tgtEl>
                                          <p:spTgt spid="156">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8" st="8"/>
                                            </p:txEl>
                                          </p:spTgt>
                                        </p:tgtEl>
                                        <p:attrNameLst>
                                          <p:attrName>style.visibility</p:attrName>
                                        </p:attrNameLst>
                                      </p:cBhvr>
                                      <p:to>
                                        <p:strVal val="visible"/>
                                      </p:to>
                                    </p:set>
                                    <p:anim calcmode="lin" valueType="num">
                                      <p:cBhvr additive="base">
                                        <p:cTn dur="500"/>
                                        <p:tgtEl>
                                          <p:spTgt spid="156">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9" st="9"/>
                                            </p:txEl>
                                          </p:spTgt>
                                        </p:tgtEl>
                                        <p:attrNameLst>
                                          <p:attrName>style.visibility</p:attrName>
                                        </p:attrNameLst>
                                      </p:cBhvr>
                                      <p:to>
                                        <p:strVal val="visible"/>
                                      </p:to>
                                    </p:set>
                                    <p:anim calcmode="lin" valueType="num">
                                      <p:cBhvr additive="base">
                                        <p:cTn dur="500"/>
                                        <p:tgtEl>
                                          <p:spTgt spid="156">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10" st="10"/>
                                            </p:txEl>
                                          </p:spTgt>
                                        </p:tgtEl>
                                        <p:attrNameLst>
                                          <p:attrName>style.visibility</p:attrName>
                                        </p:attrNameLst>
                                      </p:cBhvr>
                                      <p:to>
                                        <p:strVal val="visible"/>
                                      </p:to>
                                    </p:set>
                                    <p:anim calcmode="lin" valueType="num">
                                      <p:cBhvr additive="base">
                                        <p:cTn dur="500"/>
                                        <p:tgtEl>
                                          <p:spTgt spid="156">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11" st="11"/>
                                            </p:txEl>
                                          </p:spTgt>
                                        </p:tgtEl>
                                        <p:attrNameLst>
                                          <p:attrName>style.visibility</p:attrName>
                                        </p:attrNameLst>
                                      </p:cBhvr>
                                      <p:to>
                                        <p:strVal val="visible"/>
                                      </p:to>
                                    </p:set>
                                    <p:anim calcmode="lin" valueType="num">
                                      <p:cBhvr additive="base">
                                        <p:cTn dur="500"/>
                                        <p:tgtEl>
                                          <p:spTgt spid="156">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
                                            <p:txEl>
                                              <p:pRg end="12" st="12"/>
                                            </p:txEl>
                                          </p:spTgt>
                                        </p:tgtEl>
                                        <p:attrNameLst>
                                          <p:attrName>style.visibility</p:attrName>
                                        </p:attrNameLst>
                                      </p:cBhvr>
                                      <p:to>
                                        <p:strVal val="visible"/>
                                      </p:to>
                                    </p:set>
                                    <p:anim calcmode="lin" valueType="num">
                                      <p:cBhvr additive="base">
                                        <p:cTn dur="500"/>
                                        <p:tgtEl>
                                          <p:spTgt spid="156">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2"/>
          <p:cNvSpPr txBox="1"/>
          <p:nvPr>
            <p:ph type="title"/>
          </p:nvPr>
        </p:nvSpPr>
        <p:spPr>
          <a:xfrm>
            <a:off x="628650" y="365126"/>
            <a:ext cx="7886700" cy="31591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101010"/>
              </a:buClr>
              <a:buSzPts val="2800"/>
              <a:buFont typeface="Inter"/>
              <a:buNone/>
            </a:pPr>
            <a:r>
              <a:rPr b="1" i="0" lang="en-US" sz="2800">
                <a:solidFill>
                  <a:srgbClr val="101010"/>
                </a:solidFill>
                <a:latin typeface="Inter"/>
                <a:ea typeface="Inter"/>
                <a:cs typeface="Inter"/>
                <a:sym typeface="Inter"/>
              </a:rPr>
              <a:t>2. Logical Level Data Independence</a:t>
            </a:r>
            <a:endParaRPr sz="2800"/>
          </a:p>
        </p:txBody>
      </p:sp>
      <p:sp>
        <p:nvSpPr>
          <p:cNvPr id="162" name="Google Shape;162;p12"/>
          <p:cNvSpPr txBox="1"/>
          <p:nvPr>
            <p:ph idx="1" type="body"/>
          </p:nvPr>
        </p:nvSpPr>
        <p:spPr>
          <a:xfrm>
            <a:off x="628650" y="1025237"/>
            <a:ext cx="7886700" cy="5151727"/>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just">
              <a:spcBef>
                <a:spcPts val="0"/>
              </a:spcBef>
              <a:spcAft>
                <a:spcPts val="0"/>
              </a:spcAft>
              <a:buClr>
                <a:srgbClr val="484848"/>
              </a:buClr>
              <a:buSzPct val="100000"/>
              <a:buChar char="•"/>
            </a:pPr>
            <a:r>
              <a:rPr b="0" i="0" lang="en-US">
                <a:solidFill>
                  <a:srgbClr val="484848"/>
                </a:solidFill>
                <a:latin typeface="Inter"/>
                <a:ea typeface="Inter"/>
                <a:cs typeface="Inter"/>
                <a:sym typeface="Inter"/>
              </a:rPr>
              <a:t>Logical Data Independence is a property of a database that can be used to change the logic behind the logical level without affecting the other layers of the database. </a:t>
            </a:r>
            <a:endParaRPr/>
          </a:p>
          <a:p>
            <a:pPr indent="-342900" lvl="0" marL="342900" rtl="0" algn="just">
              <a:spcBef>
                <a:spcPts val="400"/>
              </a:spcBef>
              <a:spcAft>
                <a:spcPts val="0"/>
              </a:spcAft>
              <a:buClr>
                <a:srgbClr val="484848"/>
              </a:buClr>
              <a:buSzPct val="100000"/>
              <a:buChar char="•"/>
            </a:pPr>
            <a:r>
              <a:rPr b="0" i="0" lang="en-US">
                <a:solidFill>
                  <a:srgbClr val="484848"/>
                </a:solidFill>
                <a:latin typeface="Inter"/>
                <a:ea typeface="Inter"/>
                <a:cs typeface="Inter"/>
                <a:sym typeface="Inter"/>
              </a:rPr>
              <a:t>Logical data independence is usually required for changing the conceptual schema without having to change the external schema or application programs. </a:t>
            </a:r>
            <a:endParaRPr/>
          </a:p>
          <a:p>
            <a:pPr indent="-342900" lvl="0" marL="342900" rtl="0" algn="just">
              <a:spcBef>
                <a:spcPts val="400"/>
              </a:spcBef>
              <a:spcAft>
                <a:spcPts val="0"/>
              </a:spcAft>
              <a:buClr>
                <a:srgbClr val="484848"/>
              </a:buClr>
              <a:buSzPct val="100000"/>
              <a:buChar char="•"/>
            </a:pPr>
            <a:r>
              <a:rPr b="0" i="0" lang="en-US">
                <a:solidFill>
                  <a:srgbClr val="484848"/>
                </a:solidFill>
                <a:latin typeface="Inter"/>
                <a:ea typeface="Inter"/>
                <a:cs typeface="Inter"/>
                <a:sym typeface="Inter"/>
              </a:rPr>
              <a:t>It allows us to make changes in a conceptual structure like adding, modifying, or deleting an attribute in the database.</a:t>
            </a:r>
            <a:endParaRPr/>
          </a:p>
          <a:p>
            <a:pPr indent="-215900" lvl="0" marL="342900" rtl="0" algn="just">
              <a:spcBef>
                <a:spcPts val="400"/>
              </a:spcBef>
              <a:spcAft>
                <a:spcPts val="0"/>
              </a:spcAft>
              <a:buClr>
                <a:schemeClr val="dk1"/>
              </a:buClr>
              <a:buSzPct val="100000"/>
              <a:buNone/>
            </a:pPr>
            <a:r>
              <a:t/>
            </a:r>
            <a:endParaRPr b="0" i="0">
              <a:solidFill>
                <a:srgbClr val="484848"/>
              </a:solidFill>
              <a:latin typeface="Inter"/>
              <a:ea typeface="Inter"/>
              <a:cs typeface="Inter"/>
              <a:sym typeface="Inter"/>
            </a:endParaRPr>
          </a:p>
          <a:p>
            <a:pPr indent="-342900" lvl="0" marL="342900" rtl="0" algn="just">
              <a:spcBef>
                <a:spcPts val="400"/>
              </a:spcBef>
              <a:spcAft>
                <a:spcPts val="0"/>
              </a:spcAft>
              <a:buClr>
                <a:srgbClr val="484848"/>
              </a:buClr>
              <a:buSzPct val="100000"/>
              <a:buChar char="•"/>
            </a:pPr>
            <a:r>
              <a:rPr b="0" i="0" lang="en-US">
                <a:solidFill>
                  <a:srgbClr val="484848"/>
                </a:solidFill>
                <a:latin typeface="Inter"/>
                <a:ea typeface="Inter"/>
                <a:cs typeface="Inter"/>
                <a:sym typeface="Inter"/>
              </a:rPr>
              <a:t>Example: If there is a database of a banking system and we want to add the details of a new customer or we want to update or delete the data of a customer at the logical level data will be changed but it will not affect the Physical level or structure of the database.</a:t>
            </a:r>
            <a:endParaRPr/>
          </a:p>
          <a:p>
            <a:pPr indent="-342900" lvl="0" marL="342900" rtl="0" algn="just">
              <a:spcBef>
                <a:spcPts val="400"/>
              </a:spcBef>
              <a:spcAft>
                <a:spcPts val="0"/>
              </a:spcAft>
              <a:buClr>
                <a:srgbClr val="484848"/>
              </a:buClr>
              <a:buSzPct val="100000"/>
              <a:buChar char="•"/>
            </a:pPr>
            <a:r>
              <a:rPr b="0" i="0" lang="en-US">
                <a:solidFill>
                  <a:srgbClr val="484848"/>
                </a:solidFill>
                <a:latin typeface="Inter"/>
                <a:ea typeface="Inter"/>
                <a:cs typeface="Inter"/>
                <a:sym typeface="Inter"/>
              </a:rPr>
              <a:t>These changes can be done at a logical level without affecting the application program or external layer.</a:t>
            </a:r>
            <a:endParaRPr/>
          </a:p>
          <a:p>
            <a:pPr indent="-285750" lvl="1" marL="742950" rtl="0" algn="just">
              <a:spcBef>
                <a:spcPts val="350"/>
              </a:spcBef>
              <a:spcAft>
                <a:spcPts val="0"/>
              </a:spcAft>
              <a:buClr>
                <a:srgbClr val="484848"/>
              </a:buClr>
              <a:buSzPct val="100000"/>
              <a:buChar char="–"/>
            </a:pPr>
            <a:r>
              <a:rPr b="0" i="0" lang="en-US">
                <a:solidFill>
                  <a:srgbClr val="484848"/>
                </a:solidFill>
                <a:latin typeface="Inter"/>
                <a:ea typeface="Inter"/>
                <a:cs typeface="Inter"/>
                <a:sym typeface="Inter"/>
              </a:rPr>
              <a:t>Adding, deleting, or modifying the entity or relationship.</a:t>
            </a:r>
            <a:endParaRPr/>
          </a:p>
          <a:p>
            <a:pPr indent="-285750" lvl="1" marL="742950" rtl="0" algn="just">
              <a:spcBef>
                <a:spcPts val="350"/>
              </a:spcBef>
              <a:spcAft>
                <a:spcPts val="0"/>
              </a:spcAft>
              <a:buClr>
                <a:srgbClr val="484848"/>
              </a:buClr>
              <a:buSzPct val="100000"/>
              <a:buChar char="–"/>
            </a:pPr>
            <a:r>
              <a:rPr b="0" i="0" lang="en-US">
                <a:solidFill>
                  <a:srgbClr val="484848"/>
                </a:solidFill>
                <a:latin typeface="Inter"/>
                <a:ea typeface="Inter"/>
                <a:cs typeface="Inter"/>
                <a:sym typeface="Inter"/>
              </a:rPr>
              <a:t>Merging or breaking the record present in the database.</a:t>
            </a:r>
            <a:endParaRPr/>
          </a:p>
          <a:p>
            <a:pPr indent="-215900" lvl="0" marL="342900" rtl="0" algn="l">
              <a:spcBef>
                <a:spcPts val="400"/>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2">
                                            <p:txEl>
                                              <p:pRg end="0" st="0"/>
                                            </p:txEl>
                                          </p:spTgt>
                                        </p:tgtEl>
                                        <p:attrNameLst>
                                          <p:attrName>style.visibility</p:attrName>
                                        </p:attrNameLst>
                                      </p:cBhvr>
                                      <p:to>
                                        <p:strVal val="visible"/>
                                      </p:to>
                                    </p:set>
                                    <p:anim calcmode="lin" valueType="num">
                                      <p:cBhvr additive="base">
                                        <p:cTn dur="500"/>
                                        <p:tgtEl>
                                          <p:spTgt spid="16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2">
                                            <p:txEl>
                                              <p:pRg end="1" st="1"/>
                                            </p:txEl>
                                          </p:spTgt>
                                        </p:tgtEl>
                                        <p:attrNameLst>
                                          <p:attrName>style.visibility</p:attrName>
                                        </p:attrNameLst>
                                      </p:cBhvr>
                                      <p:to>
                                        <p:strVal val="visible"/>
                                      </p:to>
                                    </p:set>
                                    <p:anim calcmode="lin" valueType="num">
                                      <p:cBhvr additive="base">
                                        <p:cTn dur="500"/>
                                        <p:tgtEl>
                                          <p:spTgt spid="16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2">
                                            <p:txEl>
                                              <p:pRg end="2" st="2"/>
                                            </p:txEl>
                                          </p:spTgt>
                                        </p:tgtEl>
                                        <p:attrNameLst>
                                          <p:attrName>style.visibility</p:attrName>
                                        </p:attrNameLst>
                                      </p:cBhvr>
                                      <p:to>
                                        <p:strVal val="visible"/>
                                      </p:to>
                                    </p:set>
                                    <p:anim calcmode="lin" valueType="num">
                                      <p:cBhvr additive="base">
                                        <p:cTn dur="500"/>
                                        <p:tgtEl>
                                          <p:spTgt spid="16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2">
                                            <p:txEl>
                                              <p:pRg end="3" st="3"/>
                                            </p:txEl>
                                          </p:spTgt>
                                        </p:tgtEl>
                                        <p:attrNameLst>
                                          <p:attrName>style.visibility</p:attrName>
                                        </p:attrNameLst>
                                      </p:cBhvr>
                                      <p:to>
                                        <p:strVal val="visible"/>
                                      </p:to>
                                    </p:set>
                                    <p:anim calcmode="lin" valueType="num">
                                      <p:cBhvr additive="base">
                                        <p:cTn dur="500"/>
                                        <p:tgtEl>
                                          <p:spTgt spid="16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2">
                                            <p:txEl>
                                              <p:pRg end="4" st="4"/>
                                            </p:txEl>
                                          </p:spTgt>
                                        </p:tgtEl>
                                        <p:attrNameLst>
                                          <p:attrName>style.visibility</p:attrName>
                                        </p:attrNameLst>
                                      </p:cBhvr>
                                      <p:to>
                                        <p:strVal val="visible"/>
                                      </p:to>
                                    </p:set>
                                    <p:anim calcmode="lin" valueType="num">
                                      <p:cBhvr additive="base">
                                        <p:cTn dur="500"/>
                                        <p:tgtEl>
                                          <p:spTgt spid="16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2">
                                            <p:txEl>
                                              <p:pRg end="5" st="5"/>
                                            </p:txEl>
                                          </p:spTgt>
                                        </p:tgtEl>
                                        <p:attrNameLst>
                                          <p:attrName>style.visibility</p:attrName>
                                        </p:attrNameLst>
                                      </p:cBhvr>
                                      <p:to>
                                        <p:strVal val="visible"/>
                                      </p:to>
                                    </p:set>
                                    <p:anim calcmode="lin" valueType="num">
                                      <p:cBhvr additive="base">
                                        <p:cTn dur="500"/>
                                        <p:tgtEl>
                                          <p:spTgt spid="16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2">
                                            <p:txEl>
                                              <p:pRg end="6" st="6"/>
                                            </p:txEl>
                                          </p:spTgt>
                                        </p:tgtEl>
                                        <p:attrNameLst>
                                          <p:attrName>style.visibility</p:attrName>
                                        </p:attrNameLst>
                                      </p:cBhvr>
                                      <p:to>
                                        <p:strVal val="visible"/>
                                      </p:to>
                                    </p:set>
                                    <p:anim calcmode="lin" valueType="num">
                                      <p:cBhvr additive="base">
                                        <p:cTn dur="500"/>
                                        <p:tgtEl>
                                          <p:spTgt spid="162">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2">
                                            <p:txEl>
                                              <p:pRg end="7" st="7"/>
                                            </p:txEl>
                                          </p:spTgt>
                                        </p:tgtEl>
                                        <p:attrNameLst>
                                          <p:attrName>style.visibility</p:attrName>
                                        </p:attrNameLst>
                                      </p:cBhvr>
                                      <p:to>
                                        <p:strVal val="visible"/>
                                      </p:to>
                                    </p:set>
                                    <p:anim calcmode="lin" valueType="num">
                                      <p:cBhvr additive="base">
                                        <p:cTn dur="500"/>
                                        <p:tgtEl>
                                          <p:spTgt spid="162">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2">
                                            <p:txEl>
                                              <p:pRg end="8" st="8"/>
                                            </p:txEl>
                                          </p:spTgt>
                                        </p:tgtEl>
                                        <p:attrNameLst>
                                          <p:attrName>style.visibility</p:attrName>
                                        </p:attrNameLst>
                                      </p:cBhvr>
                                      <p:to>
                                        <p:strVal val="visible"/>
                                      </p:to>
                                    </p:set>
                                    <p:anim calcmode="lin" valueType="num">
                                      <p:cBhvr additive="base">
                                        <p:cTn dur="500"/>
                                        <p:tgtEl>
                                          <p:spTgt spid="162">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Data abstraction </a:t>
            </a:r>
            <a:endParaRPr/>
          </a:p>
        </p:txBody>
      </p:sp>
      <p:sp>
        <p:nvSpPr>
          <p:cNvPr id="168" name="Google Shape;168;p13"/>
          <p:cNvSpPr txBox="1"/>
          <p:nvPr>
            <p:ph idx="1" type="body"/>
          </p:nvPr>
        </p:nvSpPr>
        <p:spPr>
          <a:xfrm>
            <a:off x="628650" y="1520825"/>
            <a:ext cx="7886700" cy="4351338"/>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just">
              <a:spcBef>
                <a:spcPts val="0"/>
              </a:spcBef>
              <a:spcAft>
                <a:spcPts val="0"/>
              </a:spcAft>
              <a:buClr>
                <a:srgbClr val="101010"/>
              </a:buClr>
              <a:buSzPct val="100000"/>
              <a:buChar char="•"/>
            </a:pPr>
            <a:r>
              <a:rPr b="1" i="0" lang="en-US">
                <a:solidFill>
                  <a:srgbClr val="101010"/>
                </a:solidFill>
                <a:latin typeface="Inter"/>
                <a:ea typeface="Inter"/>
                <a:cs typeface="Inter"/>
                <a:sym typeface="Inter"/>
              </a:rPr>
              <a:t>Achieving Data Independence in DBMS Through Data Abstraction</a:t>
            </a:r>
            <a:endParaRPr/>
          </a:p>
          <a:p>
            <a:pPr indent="-342900" lvl="0" marL="342900" rtl="0" algn="l">
              <a:spcBef>
                <a:spcPts val="448"/>
              </a:spcBef>
              <a:spcAft>
                <a:spcPts val="0"/>
              </a:spcAft>
              <a:buClr>
                <a:srgbClr val="484848"/>
              </a:buClr>
              <a:buSzPct val="100000"/>
              <a:buChar char="•"/>
            </a:pPr>
            <a:r>
              <a:rPr b="0" i="0" lang="en-US">
                <a:solidFill>
                  <a:srgbClr val="484848"/>
                </a:solidFill>
                <a:latin typeface="Inter"/>
                <a:ea typeface="Inter"/>
                <a:cs typeface="Inter"/>
                <a:sym typeface="Inter"/>
              </a:rPr>
              <a:t>Data Abstraction can be defined as extracting the necessary data by ignoring the remaining irrelevant details. </a:t>
            </a:r>
            <a:endParaRPr/>
          </a:p>
          <a:p>
            <a:pPr indent="-200660" lvl="0" marL="342900" rtl="0" algn="l">
              <a:spcBef>
                <a:spcPts val="448"/>
              </a:spcBef>
              <a:spcAft>
                <a:spcPts val="0"/>
              </a:spcAft>
              <a:buClr>
                <a:schemeClr val="dk1"/>
              </a:buClr>
              <a:buSzPct val="100000"/>
              <a:buNone/>
            </a:pPr>
            <a:r>
              <a:t/>
            </a:r>
            <a:endParaRPr>
              <a:solidFill>
                <a:srgbClr val="484848"/>
              </a:solidFill>
              <a:latin typeface="Inter"/>
              <a:ea typeface="Inter"/>
              <a:cs typeface="Inter"/>
              <a:sym typeface="Inter"/>
            </a:endParaRPr>
          </a:p>
          <a:p>
            <a:pPr indent="-200660" lvl="0" marL="342900" rtl="0" algn="l">
              <a:spcBef>
                <a:spcPts val="448"/>
              </a:spcBef>
              <a:spcAft>
                <a:spcPts val="0"/>
              </a:spcAft>
              <a:buClr>
                <a:schemeClr val="dk1"/>
              </a:buClr>
              <a:buSzPct val="100000"/>
              <a:buNone/>
            </a:pPr>
            <a:r>
              <a:t/>
            </a:r>
            <a:endParaRPr>
              <a:solidFill>
                <a:srgbClr val="484848"/>
              </a:solidFill>
              <a:latin typeface="Inter"/>
              <a:ea typeface="Inter"/>
              <a:cs typeface="Inter"/>
              <a:sym typeface="Inter"/>
            </a:endParaRPr>
          </a:p>
          <a:p>
            <a:pPr indent="-200660" lvl="0" marL="342900" rtl="0" algn="l">
              <a:spcBef>
                <a:spcPts val="448"/>
              </a:spcBef>
              <a:spcAft>
                <a:spcPts val="0"/>
              </a:spcAft>
              <a:buClr>
                <a:schemeClr val="dk1"/>
              </a:buClr>
              <a:buSzPct val="100000"/>
              <a:buNone/>
            </a:pPr>
            <a:r>
              <a:t/>
            </a:r>
            <a:endParaRPr>
              <a:solidFill>
                <a:srgbClr val="484848"/>
              </a:solidFill>
              <a:latin typeface="Inter"/>
              <a:ea typeface="Inter"/>
              <a:cs typeface="Inter"/>
              <a:sym typeface="Inter"/>
            </a:endParaRPr>
          </a:p>
          <a:p>
            <a:pPr indent="-200660" lvl="0" marL="342900" rtl="0" algn="l">
              <a:spcBef>
                <a:spcPts val="448"/>
              </a:spcBef>
              <a:spcAft>
                <a:spcPts val="0"/>
              </a:spcAft>
              <a:buClr>
                <a:schemeClr val="dk1"/>
              </a:buClr>
              <a:buSzPct val="100000"/>
              <a:buNone/>
            </a:pPr>
            <a:r>
              <a:t/>
            </a:r>
            <a:endParaRPr>
              <a:solidFill>
                <a:srgbClr val="484848"/>
              </a:solidFill>
              <a:latin typeface="Inter"/>
              <a:ea typeface="Inter"/>
              <a:cs typeface="Inter"/>
              <a:sym typeface="Inter"/>
            </a:endParaRPr>
          </a:p>
          <a:p>
            <a:pPr indent="-200660" lvl="0" marL="342900" rtl="0" algn="l">
              <a:spcBef>
                <a:spcPts val="448"/>
              </a:spcBef>
              <a:spcAft>
                <a:spcPts val="0"/>
              </a:spcAft>
              <a:buClr>
                <a:schemeClr val="dk1"/>
              </a:buClr>
              <a:buSzPct val="100000"/>
              <a:buNone/>
            </a:pPr>
            <a:r>
              <a:t/>
            </a:r>
            <a:endParaRPr>
              <a:solidFill>
                <a:srgbClr val="484848"/>
              </a:solidFill>
              <a:latin typeface="Inter"/>
              <a:ea typeface="Inter"/>
              <a:cs typeface="Inter"/>
              <a:sym typeface="Inter"/>
            </a:endParaRPr>
          </a:p>
          <a:p>
            <a:pPr indent="-200660" lvl="0" marL="342900" rtl="0" algn="l">
              <a:spcBef>
                <a:spcPts val="448"/>
              </a:spcBef>
              <a:spcAft>
                <a:spcPts val="0"/>
              </a:spcAft>
              <a:buClr>
                <a:schemeClr val="dk1"/>
              </a:buClr>
              <a:buSzPct val="100000"/>
              <a:buNone/>
            </a:pPr>
            <a:r>
              <a:t/>
            </a:r>
            <a:endParaRPr/>
          </a:p>
          <a:p>
            <a:pPr indent="-342900" lvl="0" marL="342900" rtl="0" algn="l">
              <a:spcBef>
                <a:spcPts val="448"/>
              </a:spcBef>
              <a:spcAft>
                <a:spcPts val="0"/>
              </a:spcAft>
              <a:buClr>
                <a:srgbClr val="484848"/>
              </a:buClr>
              <a:buSzPct val="100000"/>
              <a:buChar char="•"/>
            </a:pPr>
            <a:r>
              <a:rPr lang="en-US">
                <a:solidFill>
                  <a:srgbClr val="484848"/>
                </a:solidFill>
                <a:latin typeface="Inter"/>
                <a:ea typeface="Inter"/>
                <a:cs typeface="Inter"/>
                <a:sym typeface="Inter"/>
              </a:rPr>
              <a:t>Example: ATM</a:t>
            </a:r>
            <a:endParaRPr/>
          </a:p>
        </p:txBody>
      </p:sp>
      <p:pic>
        <p:nvPicPr>
          <p:cNvPr id="169" name="Google Shape;169;p13"/>
          <p:cNvPicPr preferRelativeResize="0"/>
          <p:nvPr/>
        </p:nvPicPr>
        <p:blipFill rotWithShape="1">
          <a:blip r:embed="rId3">
            <a:alphaModFix/>
          </a:blip>
          <a:srcRect b="0" l="0" r="0" t="0"/>
          <a:stretch/>
        </p:blipFill>
        <p:spPr>
          <a:xfrm>
            <a:off x="3044535" y="2846388"/>
            <a:ext cx="3797155" cy="36017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4"/>
          <p:cNvSpPr txBox="1"/>
          <p:nvPr>
            <p:ph type="title"/>
          </p:nvPr>
        </p:nvSpPr>
        <p:spPr>
          <a:xfrm>
            <a:off x="628650" y="365126"/>
            <a:ext cx="7886700" cy="31591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484848"/>
              </a:buClr>
              <a:buSzPts val="3200"/>
              <a:buFont typeface="Inter"/>
              <a:buNone/>
            </a:pPr>
            <a:r>
              <a:rPr b="0" i="0" lang="en-US" sz="3200">
                <a:solidFill>
                  <a:srgbClr val="484848"/>
                </a:solidFill>
                <a:latin typeface="Inter"/>
                <a:ea typeface="Inter"/>
                <a:cs typeface="Inter"/>
                <a:sym typeface="Inter"/>
              </a:rPr>
              <a:t>There are three levels of abstraction</a:t>
            </a:r>
            <a:endParaRPr sz="3200"/>
          </a:p>
        </p:txBody>
      </p:sp>
      <p:sp>
        <p:nvSpPr>
          <p:cNvPr id="175" name="Google Shape;175;p14"/>
          <p:cNvSpPr txBox="1"/>
          <p:nvPr>
            <p:ph idx="1" type="body"/>
          </p:nvPr>
        </p:nvSpPr>
        <p:spPr>
          <a:xfrm>
            <a:off x="519546" y="914401"/>
            <a:ext cx="7995805" cy="5262563"/>
          </a:xfrm>
          <a:prstGeom prst="rect">
            <a:avLst/>
          </a:prstGeom>
          <a:noFill/>
          <a:ln>
            <a:noFill/>
          </a:ln>
        </p:spPr>
        <p:txBody>
          <a:bodyPr anchorCtr="0" anchor="t" bIns="45700" lIns="91425" spcFirstLastPara="1" rIns="91425" wrap="square" tIns="45700">
            <a:normAutofit fontScale="55000" lnSpcReduction="20000"/>
          </a:bodyPr>
          <a:lstStyle/>
          <a:p>
            <a:pPr indent="-342900" lvl="0" marL="342900" rtl="0" algn="just">
              <a:spcBef>
                <a:spcPts val="0"/>
              </a:spcBef>
              <a:spcAft>
                <a:spcPts val="0"/>
              </a:spcAft>
              <a:buClr>
                <a:srgbClr val="484848"/>
              </a:buClr>
              <a:buSzPct val="100000"/>
              <a:buFont typeface="Arial"/>
              <a:buChar char="•"/>
            </a:pPr>
            <a:r>
              <a:rPr b="1" i="0" lang="en-US">
                <a:solidFill>
                  <a:srgbClr val="484848"/>
                </a:solidFill>
                <a:latin typeface="Inter"/>
                <a:ea typeface="Inter"/>
                <a:cs typeface="Inter"/>
                <a:sym typeface="Inter"/>
              </a:rPr>
              <a:t>Physical or Internal Level - </a:t>
            </a:r>
            <a:endParaRPr/>
          </a:p>
          <a:p>
            <a:pPr indent="-342900" lvl="0" marL="342900" rtl="0" algn="just">
              <a:spcBef>
                <a:spcPts val="352"/>
              </a:spcBef>
              <a:spcAft>
                <a:spcPts val="0"/>
              </a:spcAft>
              <a:buClr>
                <a:srgbClr val="484848"/>
              </a:buClr>
              <a:buSzPct val="100000"/>
              <a:buFont typeface="Arial"/>
              <a:buChar char="•"/>
            </a:pPr>
            <a:r>
              <a:rPr b="0" i="0" lang="en-US">
                <a:solidFill>
                  <a:srgbClr val="484848"/>
                </a:solidFill>
                <a:latin typeface="Inter"/>
                <a:ea typeface="Inter"/>
                <a:cs typeface="Inter"/>
                <a:sym typeface="Inter"/>
              </a:rPr>
              <a:t>Physical level is the lowest level of data abstraction, and It indicates </a:t>
            </a:r>
            <a:r>
              <a:rPr lang="en-US">
                <a:solidFill>
                  <a:srgbClr val="0073E6"/>
                </a:solidFill>
                <a:latin typeface="Inter"/>
                <a:ea typeface="Inter"/>
                <a:cs typeface="Inter"/>
                <a:sym typeface="Inter"/>
              </a:rPr>
              <a:t>how the data will be stored and describes the complex data structures and access methods </a:t>
            </a:r>
            <a:r>
              <a:rPr b="0" i="0" lang="en-US">
                <a:solidFill>
                  <a:srgbClr val="484848"/>
                </a:solidFill>
                <a:latin typeface="Inter"/>
                <a:ea typeface="Inter"/>
                <a:cs typeface="Inter"/>
                <a:sym typeface="Inter"/>
              </a:rPr>
              <a:t>to be used by the database. </a:t>
            </a:r>
            <a:endParaRPr/>
          </a:p>
          <a:p>
            <a:pPr indent="-342900" lvl="0" marL="342900" rtl="0" algn="just">
              <a:spcBef>
                <a:spcPts val="352"/>
              </a:spcBef>
              <a:spcAft>
                <a:spcPts val="0"/>
              </a:spcAft>
              <a:buClr>
                <a:srgbClr val="484848"/>
              </a:buClr>
              <a:buSzPct val="100000"/>
              <a:buFont typeface="Arial"/>
              <a:buChar char="•"/>
            </a:pPr>
            <a:r>
              <a:rPr b="0" i="0" lang="en-US">
                <a:solidFill>
                  <a:srgbClr val="484848"/>
                </a:solidFill>
                <a:latin typeface="Inter"/>
                <a:ea typeface="Inter"/>
                <a:cs typeface="Inter"/>
                <a:sym typeface="Inter"/>
              </a:rPr>
              <a:t>The internal level is used to describe the entire database architecture.</a:t>
            </a:r>
            <a:endParaRPr/>
          </a:p>
          <a:p>
            <a:pPr indent="-342900" lvl="0" marL="342900" rtl="0" algn="just">
              <a:spcBef>
                <a:spcPts val="352"/>
              </a:spcBef>
              <a:spcAft>
                <a:spcPts val="0"/>
              </a:spcAft>
              <a:buClr>
                <a:srgbClr val="484848"/>
              </a:buClr>
              <a:buSzPct val="100000"/>
              <a:buFont typeface="Arial"/>
              <a:buChar char="•"/>
            </a:pPr>
            <a:r>
              <a:rPr b="1" i="0" lang="en-US">
                <a:solidFill>
                  <a:srgbClr val="484848"/>
                </a:solidFill>
                <a:latin typeface="Inter"/>
                <a:ea typeface="Inter"/>
                <a:cs typeface="Inter"/>
                <a:sym typeface="Inter"/>
              </a:rPr>
              <a:t>Conceptual or Logical Level - </a:t>
            </a:r>
            <a:endParaRPr/>
          </a:p>
          <a:p>
            <a:pPr indent="-342900" lvl="0" marL="342900" rtl="0" algn="just">
              <a:spcBef>
                <a:spcPts val="352"/>
              </a:spcBef>
              <a:spcAft>
                <a:spcPts val="0"/>
              </a:spcAft>
              <a:buClr>
                <a:srgbClr val="484848"/>
              </a:buClr>
              <a:buSzPct val="100000"/>
              <a:buFont typeface="Arial"/>
              <a:buChar char="•"/>
            </a:pPr>
            <a:r>
              <a:rPr b="0" i="0" lang="en-US">
                <a:solidFill>
                  <a:srgbClr val="484848"/>
                </a:solidFill>
                <a:latin typeface="Inter"/>
                <a:ea typeface="Inter"/>
                <a:cs typeface="Inter"/>
                <a:sym typeface="Inter"/>
              </a:rPr>
              <a:t>The separation of the conceptual view from the internal view enables us to provide a </a:t>
            </a:r>
            <a:r>
              <a:rPr lang="en-US">
                <a:solidFill>
                  <a:srgbClr val="0073E6"/>
                </a:solidFill>
                <a:latin typeface="Inter"/>
                <a:ea typeface="Inter"/>
                <a:cs typeface="Inter"/>
                <a:sym typeface="Inter"/>
              </a:rPr>
              <a:t>logical description of the database </a:t>
            </a:r>
            <a:r>
              <a:rPr b="0" i="0" lang="en-US">
                <a:solidFill>
                  <a:srgbClr val="484848"/>
                </a:solidFill>
                <a:latin typeface="Inter"/>
                <a:ea typeface="Inter"/>
                <a:cs typeface="Inter"/>
                <a:sym typeface="Inter"/>
              </a:rPr>
              <a:t>concepts without the need to specify physical structures. </a:t>
            </a:r>
            <a:endParaRPr/>
          </a:p>
          <a:p>
            <a:pPr indent="-342900" lvl="0" marL="342900" rtl="0" algn="just">
              <a:spcBef>
                <a:spcPts val="352"/>
              </a:spcBef>
              <a:spcAft>
                <a:spcPts val="0"/>
              </a:spcAft>
              <a:buClr>
                <a:srgbClr val="484848"/>
              </a:buClr>
              <a:buSzPct val="100000"/>
              <a:buFont typeface="Arial"/>
              <a:buChar char="•"/>
            </a:pPr>
            <a:r>
              <a:rPr b="0" i="0" lang="en-US">
                <a:solidFill>
                  <a:srgbClr val="484848"/>
                </a:solidFill>
                <a:latin typeface="Inter"/>
                <a:ea typeface="Inter"/>
                <a:cs typeface="Inter"/>
                <a:sym typeface="Inter"/>
              </a:rPr>
              <a:t>The conceptual level comes between the physical level and the view level. </a:t>
            </a:r>
            <a:endParaRPr/>
          </a:p>
          <a:p>
            <a:pPr indent="-342900" lvl="0" marL="342900" rtl="0" algn="just">
              <a:spcBef>
                <a:spcPts val="352"/>
              </a:spcBef>
              <a:spcAft>
                <a:spcPts val="0"/>
              </a:spcAft>
              <a:buClr>
                <a:srgbClr val="484848"/>
              </a:buClr>
              <a:buSzPct val="100000"/>
              <a:buFont typeface="Arial"/>
              <a:buChar char="•"/>
            </a:pPr>
            <a:r>
              <a:rPr b="0" i="0" lang="en-US">
                <a:solidFill>
                  <a:srgbClr val="484848"/>
                </a:solidFill>
                <a:latin typeface="Inter"/>
                <a:ea typeface="Inter"/>
                <a:cs typeface="Inter"/>
                <a:sym typeface="Inter"/>
              </a:rPr>
              <a:t>It provides the link between the external schema and the internal schema of the database.</a:t>
            </a:r>
            <a:endParaRPr/>
          </a:p>
          <a:p>
            <a:pPr indent="-342900" lvl="0" marL="342900" rtl="0" algn="just">
              <a:spcBef>
                <a:spcPts val="352"/>
              </a:spcBef>
              <a:spcAft>
                <a:spcPts val="0"/>
              </a:spcAft>
              <a:buClr>
                <a:srgbClr val="484848"/>
              </a:buClr>
              <a:buSzPct val="100000"/>
              <a:buFont typeface="Arial"/>
              <a:buChar char="•"/>
            </a:pPr>
            <a:r>
              <a:rPr b="1" i="0" lang="en-US">
                <a:solidFill>
                  <a:srgbClr val="484848"/>
                </a:solidFill>
                <a:latin typeface="Inter"/>
                <a:ea typeface="Inter"/>
                <a:cs typeface="Inter"/>
                <a:sym typeface="Inter"/>
              </a:rPr>
              <a:t>External or View Level - </a:t>
            </a:r>
            <a:r>
              <a:rPr b="0" i="0" lang="en-US">
                <a:solidFill>
                  <a:srgbClr val="484848"/>
                </a:solidFill>
                <a:latin typeface="Inter"/>
                <a:ea typeface="Inter"/>
                <a:cs typeface="Inter"/>
                <a:sym typeface="Inter"/>
              </a:rPr>
              <a:t>It is the highest level of data abstraction. </a:t>
            </a:r>
            <a:endParaRPr/>
          </a:p>
          <a:p>
            <a:pPr indent="-342900" lvl="0" marL="342900" rtl="0" algn="just">
              <a:spcBef>
                <a:spcPts val="352"/>
              </a:spcBef>
              <a:spcAft>
                <a:spcPts val="0"/>
              </a:spcAft>
              <a:buClr>
                <a:srgbClr val="484848"/>
              </a:buClr>
              <a:buSzPct val="100000"/>
              <a:buFont typeface="Arial"/>
              <a:buChar char="•"/>
            </a:pPr>
            <a:r>
              <a:rPr b="0" i="0" lang="en-US">
                <a:solidFill>
                  <a:srgbClr val="484848"/>
                </a:solidFill>
                <a:latin typeface="Inter"/>
                <a:ea typeface="Inter"/>
                <a:cs typeface="Inter"/>
                <a:sym typeface="Inter"/>
              </a:rPr>
              <a:t>The external level describes the user interaction with the centralized database management system. </a:t>
            </a:r>
            <a:endParaRPr/>
          </a:p>
          <a:p>
            <a:pPr indent="-342900" lvl="0" marL="342900" rtl="0" algn="just">
              <a:spcBef>
                <a:spcPts val="352"/>
              </a:spcBef>
              <a:spcAft>
                <a:spcPts val="0"/>
              </a:spcAft>
              <a:buClr>
                <a:srgbClr val="484848"/>
              </a:buClr>
              <a:buSzPct val="100000"/>
              <a:buFont typeface="Arial"/>
              <a:buChar char="•"/>
            </a:pPr>
            <a:r>
              <a:rPr b="0" i="0" lang="en-US">
                <a:solidFill>
                  <a:srgbClr val="484848"/>
                </a:solidFill>
                <a:latin typeface="Inter"/>
                <a:ea typeface="Inter"/>
                <a:cs typeface="Inter"/>
                <a:sym typeface="Inter"/>
              </a:rPr>
              <a:t>This level is used to provide a </a:t>
            </a:r>
            <a:r>
              <a:rPr b="0" i="0" lang="en-US" u="none" strike="noStrike">
                <a:solidFill>
                  <a:srgbClr val="0073E6"/>
                </a:solidFill>
                <a:latin typeface="Inter"/>
                <a:ea typeface="Inter"/>
                <a:cs typeface="Inter"/>
                <a:sym typeface="Inter"/>
              </a:rPr>
              <a:t>Graphical User Interface</a:t>
            </a:r>
            <a:r>
              <a:rPr b="0" i="0" lang="en-US">
                <a:solidFill>
                  <a:srgbClr val="484848"/>
                </a:solidFill>
                <a:latin typeface="Inter"/>
                <a:ea typeface="Inter"/>
                <a:cs typeface="Inter"/>
                <a:sym typeface="Inter"/>
              </a:rPr>
              <a:t> to the user, and the user does not know about the file structure, access method, and other internal details of the database.</a:t>
            </a:r>
            <a:endParaRPr/>
          </a:p>
          <a:p>
            <a:pPr indent="-231140" lvl="0" marL="342900" rtl="0" algn="l">
              <a:spcBef>
                <a:spcPts val="352"/>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0" st="0"/>
                                            </p:txEl>
                                          </p:spTgt>
                                        </p:tgtEl>
                                        <p:attrNameLst>
                                          <p:attrName>style.visibility</p:attrName>
                                        </p:attrNameLst>
                                      </p:cBhvr>
                                      <p:to>
                                        <p:strVal val="visible"/>
                                      </p:to>
                                    </p:set>
                                    <p:anim calcmode="lin" valueType="num">
                                      <p:cBhvr additive="base">
                                        <p:cTn dur="500"/>
                                        <p:tgtEl>
                                          <p:spTgt spid="17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1" st="1"/>
                                            </p:txEl>
                                          </p:spTgt>
                                        </p:tgtEl>
                                        <p:attrNameLst>
                                          <p:attrName>style.visibility</p:attrName>
                                        </p:attrNameLst>
                                      </p:cBhvr>
                                      <p:to>
                                        <p:strVal val="visible"/>
                                      </p:to>
                                    </p:set>
                                    <p:anim calcmode="lin" valueType="num">
                                      <p:cBhvr additive="base">
                                        <p:cTn dur="500"/>
                                        <p:tgtEl>
                                          <p:spTgt spid="17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2" st="2"/>
                                            </p:txEl>
                                          </p:spTgt>
                                        </p:tgtEl>
                                        <p:attrNameLst>
                                          <p:attrName>style.visibility</p:attrName>
                                        </p:attrNameLst>
                                      </p:cBhvr>
                                      <p:to>
                                        <p:strVal val="visible"/>
                                      </p:to>
                                    </p:set>
                                    <p:anim calcmode="lin" valueType="num">
                                      <p:cBhvr additive="base">
                                        <p:cTn dur="500"/>
                                        <p:tgtEl>
                                          <p:spTgt spid="17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3" st="3"/>
                                            </p:txEl>
                                          </p:spTgt>
                                        </p:tgtEl>
                                        <p:attrNameLst>
                                          <p:attrName>style.visibility</p:attrName>
                                        </p:attrNameLst>
                                      </p:cBhvr>
                                      <p:to>
                                        <p:strVal val="visible"/>
                                      </p:to>
                                    </p:set>
                                    <p:anim calcmode="lin" valueType="num">
                                      <p:cBhvr additive="base">
                                        <p:cTn dur="500"/>
                                        <p:tgtEl>
                                          <p:spTgt spid="17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4" st="4"/>
                                            </p:txEl>
                                          </p:spTgt>
                                        </p:tgtEl>
                                        <p:attrNameLst>
                                          <p:attrName>style.visibility</p:attrName>
                                        </p:attrNameLst>
                                      </p:cBhvr>
                                      <p:to>
                                        <p:strVal val="visible"/>
                                      </p:to>
                                    </p:set>
                                    <p:anim calcmode="lin" valueType="num">
                                      <p:cBhvr additive="base">
                                        <p:cTn dur="500"/>
                                        <p:tgtEl>
                                          <p:spTgt spid="17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5" st="5"/>
                                            </p:txEl>
                                          </p:spTgt>
                                        </p:tgtEl>
                                        <p:attrNameLst>
                                          <p:attrName>style.visibility</p:attrName>
                                        </p:attrNameLst>
                                      </p:cBhvr>
                                      <p:to>
                                        <p:strVal val="visible"/>
                                      </p:to>
                                    </p:set>
                                    <p:anim calcmode="lin" valueType="num">
                                      <p:cBhvr additive="base">
                                        <p:cTn dur="500"/>
                                        <p:tgtEl>
                                          <p:spTgt spid="17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6" st="6"/>
                                            </p:txEl>
                                          </p:spTgt>
                                        </p:tgtEl>
                                        <p:attrNameLst>
                                          <p:attrName>style.visibility</p:attrName>
                                        </p:attrNameLst>
                                      </p:cBhvr>
                                      <p:to>
                                        <p:strVal val="visible"/>
                                      </p:to>
                                    </p:set>
                                    <p:anim calcmode="lin" valueType="num">
                                      <p:cBhvr additive="base">
                                        <p:cTn dur="500"/>
                                        <p:tgtEl>
                                          <p:spTgt spid="17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7" st="7"/>
                                            </p:txEl>
                                          </p:spTgt>
                                        </p:tgtEl>
                                        <p:attrNameLst>
                                          <p:attrName>style.visibility</p:attrName>
                                        </p:attrNameLst>
                                      </p:cBhvr>
                                      <p:to>
                                        <p:strVal val="visible"/>
                                      </p:to>
                                    </p:set>
                                    <p:anim calcmode="lin" valueType="num">
                                      <p:cBhvr additive="base">
                                        <p:cTn dur="500"/>
                                        <p:tgtEl>
                                          <p:spTgt spid="175">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8" st="8"/>
                                            </p:txEl>
                                          </p:spTgt>
                                        </p:tgtEl>
                                        <p:attrNameLst>
                                          <p:attrName>style.visibility</p:attrName>
                                        </p:attrNameLst>
                                      </p:cBhvr>
                                      <p:to>
                                        <p:strVal val="visible"/>
                                      </p:to>
                                    </p:set>
                                    <p:anim calcmode="lin" valueType="num">
                                      <p:cBhvr additive="base">
                                        <p:cTn dur="500"/>
                                        <p:tgtEl>
                                          <p:spTgt spid="175">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9" st="9"/>
                                            </p:txEl>
                                          </p:spTgt>
                                        </p:tgtEl>
                                        <p:attrNameLst>
                                          <p:attrName>style.visibility</p:attrName>
                                        </p:attrNameLst>
                                      </p:cBhvr>
                                      <p:to>
                                        <p:strVal val="visible"/>
                                      </p:to>
                                    </p:set>
                                    <p:anim calcmode="lin" valueType="num">
                                      <p:cBhvr additive="base">
                                        <p:cTn dur="500"/>
                                        <p:tgtEl>
                                          <p:spTgt spid="175">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10" st="10"/>
                                            </p:txEl>
                                          </p:spTgt>
                                        </p:tgtEl>
                                        <p:attrNameLst>
                                          <p:attrName>style.visibility</p:attrName>
                                        </p:attrNameLst>
                                      </p:cBhvr>
                                      <p:to>
                                        <p:strVal val="visible"/>
                                      </p:to>
                                    </p:set>
                                    <p:anim calcmode="lin" valueType="num">
                                      <p:cBhvr additive="base">
                                        <p:cTn dur="500"/>
                                        <p:tgtEl>
                                          <p:spTgt spid="175">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2024-01-10T06:04:58Z</dcterms:created>
  <dc:creator>kjscecomp</dc:creator>
</cp:coreProperties>
</file>