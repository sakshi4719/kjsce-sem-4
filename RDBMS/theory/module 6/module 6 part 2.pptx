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6858000" cx="9144000"/>
  <p:notesSz cx="7315200" cy="9601200"/>
  <p:embeddedFontLst>
    <p:embeddedFont>
      <p:font typeface="Helvetica Neue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jLYDAu/63l7SGKH5ebXgu3O8qC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db73650da4_0_14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db73650da4_0_14:notes"/>
          <p:cNvSpPr txBox="1"/>
          <p:nvPr>
            <p:ph idx="1" type="body"/>
          </p:nvPr>
        </p:nvSpPr>
        <p:spPr>
          <a:xfrm>
            <a:off x="974725" y="4560888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db73650da4_0_14:notes"/>
          <p:cNvSpPr txBox="1"/>
          <p:nvPr>
            <p:ph idx="12" type="sldNum"/>
          </p:nvPr>
        </p:nvSpPr>
        <p:spPr>
          <a:xfrm>
            <a:off x="4144963" y="9121775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db73650da4_0_2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db73650da4_0_20:notes"/>
          <p:cNvSpPr txBox="1"/>
          <p:nvPr>
            <p:ph idx="1" type="body"/>
          </p:nvPr>
        </p:nvSpPr>
        <p:spPr>
          <a:xfrm>
            <a:off x="974725" y="4560888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db73650da4_0_20:notes"/>
          <p:cNvSpPr txBox="1"/>
          <p:nvPr>
            <p:ph idx="12" type="sldNum"/>
          </p:nvPr>
        </p:nvSpPr>
        <p:spPr>
          <a:xfrm>
            <a:off x="4144963" y="9121775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db73650da4_0_26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db73650da4_0_26:notes"/>
          <p:cNvSpPr txBox="1"/>
          <p:nvPr>
            <p:ph idx="1" type="body"/>
          </p:nvPr>
        </p:nvSpPr>
        <p:spPr>
          <a:xfrm>
            <a:off x="974725" y="4560888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2db73650da4_0_26:notes"/>
          <p:cNvSpPr txBox="1"/>
          <p:nvPr>
            <p:ph idx="12" type="sldNum"/>
          </p:nvPr>
        </p:nvSpPr>
        <p:spPr>
          <a:xfrm>
            <a:off x="4144963" y="9121775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vmlDrawing" Target="../drawings/vmlDrawing1.vml"/><Relationship Id="rId3" Type="http://schemas.openxmlformats.org/officeDocument/2006/relationships/oleObject" Target="../embeddings/oleObject1.bin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3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3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spcBef>
                <a:spcPts val="630"/>
              </a:spcBef>
              <a:spcAft>
                <a:spcPts val="0"/>
              </a:spcAft>
              <a:buSzPts val="1890"/>
              <a:buChar char="★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⮚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4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4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chemeClr val="lt1"/>
            </a:gs>
            <a:gs pos="100000">
              <a:srgbClr val="879CA9"/>
            </a:gs>
          </a:gsLst>
          <a:lin ang="540000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/>
          <p:nvPr/>
        </p:nvSpPr>
        <p:spPr>
          <a:xfrm>
            <a:off x="690563" y="3340100"/>
            <a:ext cx="7653337" cy="485775"/>
          </a:xfrm>
          <a:custGeom>
            <a:rect b="b" l="l" r="r" t="t"/>
            <a:pathLst>
              <a:path extrusionOk="0" h="479" w="4128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63" name="Google Shape;63;p45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>
              <mc:Choice Requires="v">
                <p:oleObj r:id="rId3" imgH="4064000" imgW="6096000" progId="MS_ClipArt_Gallery.2" spid="_x0000_s1">
                  <p:embed/>
                </p:oleObj>
              </mc:Choice>
              <mc:Fallback>
                <p:oleObj r:id="rId4" imgH="4064000" imgW="6096000" progId="MS_ClipArt_Gallery.2">
                  <p:embed/>
                </p:oleObj>
              </mc:Fallback>
            </mc:AlternateContent>
          </a:graphicData>
        </a:graphic>
      </p:graphicFrame>
      <p:sp>
        <p:nvSpPr>
          <p:cNvPr id="64" name="Google Shape;64;p4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lvl="1" algn="l">
              <a:spcBef>
                <a:spcPts val="630"/>
              </a:spcBef>
              <a:spcAft>
                <a:spcPts val="0"/>
              </a:spcAft>
              <a:buSzPts val="1890"/>
              <a:buChar char="★"/>
              <a:defRPr/>
            </a:lvl2pPr>
            <a:lvl3pPr lvl="2" algn="l">
              <a:spcBef>
                <a:spcPts val="630"/>
              </a:spcBef>
              <a:spcAft>
                <a:spcPts val="0"/>
              </a:spcAft>
              <a:buSzPts val="1530"/>
              <a:buChar char="⮚"/>
              <a:defRPr/>
            </a:lvl3pPr>
            <a:lvl4pPr lvl="3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>
                <a:solidFill>
                  <a:srgbClr val="57896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8" name="Google Shape;68;p4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89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9pPr>
          </a:lstStyle>
          <a:p/>
        </p:txBody>
      </p:sp>
      <p:sp>
        <p:nvSpPr>
          <p:cNvPr id="72" name="Google Shape;72;p4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>
            <a:off x="571500" y="1114425"/>
            <a:ext cx="38481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88619" lvl="1" marL="914400" algn="l">
              <a:spcBef>
                <a:spcPts val="840"/>
              </a:spcBef>
              <a:spcAft>
                <a:spcPts val="0"/>
              </a:spcAft>
              <a:buSzPts val="2520"/>
              <a:buChar char="★"/>
              <a:defRPr sz="2400"/>
            </a:lvl2pPr>
            <a:lvl3pPr indent="-336550" lvl="2" marL="1371600" algn="l">
              <a:spcBef>
                <a:spcPts val="700"/>
              </a:spcBef>
              <a:spcAft>
                <a:spcPts val="0"/>
              </a:spcAft>
              <a:buSzPts val="1700"/>
              <a:buChar char="⮚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77" name="Google Shape;77;p47"/>
          <p:cNvSpPr txBox="1"/>
          <p:nvPr>
            <p:ph idx="2" type="body"/>
          </p:nvPr>
        </p:nvSpPr>
        <p:spPr>
          <a:xfrm>
            <a:off x="4572000" y="1114425"/>
            <a:ext cx="38481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88619" lvl="1" marL="914400" algn="l">
              <a:spcBef>
                <a:spcPts val="840"/>
              </a:spcBef>
              <a:spcAft>
                <a:spcPts val="0"/>
              </a:spcAft>
              <a:buSzPts val="2520"/>
              <a:buChar char="★"/>
              <a:defRPr sz="2400"/>
            </a:lvl2pPr>
            <a:lvl3pPr indent="-336550" lvl="2" marL="1371600" algn="l">
              <a:spcBef>
                <a:spcPts val="700"/>
              </a:spcBef>
              <a:spcAft>
                <a:spcPts val="0"/>
              </a:spcAft>
              <a:buSzPts val="1700"/>
              <a:buChar char="⮚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78" name="Google Shape;78;p4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1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83" name="Google Shape;83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61950" lvl="1" marL="914400" algn="l">
              <a:spcBef>
                <a:spcPts val="700"/>
              </a:spcBef>
              <a:spcAft>
                <a:spcPts val="0"/>
              </a:spcAft>
              <a:buSzPts val="2100"/>
              <a:buChar char="★"/>
              <a:defRPr sz="2000"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⮚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5pPr>
            <a:lvl6pPr indent="-330200" lvl="5" marL="27432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6pPr>
            <a:lvl7pPr indent="-330200" lvl="6" marL="32004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7pPr>
            <a:lvl8pPr indent="-330200" lvl="7" marL="36576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8pPr>
            <a:lvl9pPr indent="-330200" lvl="8" marL="4114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84" name="Google Shape;84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1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85" name="Google Shape;85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61950" lvl="1" marL="914400" algn="l">
              <a:spcBef>
                <a:spcPts val="700"/>
              </a:spcBef>
              <a:spcAft>
                <a:spcPts val="0"/>
              </a:spcAft>
              <a:buSzPts val="2100"/>
              <a:buChar char="★"/>
              <a:defRPr sz="2000"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⮚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5pPr>
            <a:lvl6pPr indent="-330200" lvl="5" marL="27432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6pPr>
            <a:lvl7pPr indent="-330200" lvl="6" marL="32004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7pPr>
            <a:lvl8pPr indent="-330200" lvl="7" marL="36576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8pPr>
            <a:lvl9pPr indent="-330200" lvl="8" marL="4114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86" name="Google Shape;86;p4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415290" lvl="1" marL="914400" algn="l">
              <a:spcBef>
                <a:spcPts val="980"/>
              </a:spcBef>
              <a:spcAft>
                <a:spcPts val="0"/>
              </a:spcAft>
              <a:buSzPts val="2940"/>
              <a:buChar char="★"/>
              <a:defRPr sz="2800"/>
            </a:lvl2pPr>
            <a:lvl3pPr indent="-358139" lvl="2" marL="1371600" algn="l">
              <a:spcBef>
                <a:spcPts val="840"/>
              </a:spcBef>
              <a:spcAft>
                <a:spcPts val="0"/>
              </a:spcAft>
              <a:buSzPts val="2040"/>
              <a:buChar char="⮚"/>
              <a:defRPr sz="2400"/>
            </a:lvl3pPr>
            <a:lvl4pPr indent="-355600" lvl="3" marL="18288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–"/>
              <a:defRPr sz="2000"/>
            </a:lvl4pPr>
            <a:lvl5pPr indent="-355600" lvl="4" marL="22860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5pPr>
            <a:lvl6pPr indent="-355600" lvl="5" marL="27432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6pPr>
            <a:lvl7pPr indent="-355600" lvl="6" marL="32004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7pPr>
            <a:lvl8pPr indent="-355600" lvl="7" marL="36576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8pPr>
            <a:lvl9pPr indent="-355600" lvl="8" marL="41148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94" name="Google Shape;94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2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9pPr>
          </a:lstStyle>
          <a:p/>
        </p:txBody>
      </p:sp>
      <p:sp>
        <p:nvSpPr>
          <p:cNvPr id="95" name="Google Shape;95;p5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2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9pPr>
          </a:lstStyle>
          <a:p/>
        </p:txBody>
      </p:sp>
      <p:sp>
        <p:nvSpPr>
          <p:cNvPr id="101" name="Google Shape;101;p5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2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" type="body"/>
          </p:nvPr>
        </p:nvSpPr>
        <p:spPr>
          <a:xfrm rot="5400000">
            <a:off x="2057400" y="-371475"/>
            <a:ext cx="48768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spcBef>
                <a:spcPts val="630"/>
              </a:spcBef>
              <a:spcAft>
                <a:spcPts val="0"/>
              </a:spcAft>
              <a:buSzPts val="1890"/>
              <a:buChar char="★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⮚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 txBox="1"/>
          <p:nvPr>
            <p:ph type="title"/>
          </p:nvPr>
        </p:nvSpPr>
        <p:spPr>
          <a:xfrm rot="5400000">
            <a:off x="4718844" y="1975644"/>
            <a:ext cx="5991225" cy="203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3"/>
          <p:cNvSpPr txBox="1"/>
          <p:nvPr>
            <p:ph idx="1" type="body"/>
          </p:nvPr>
        </p:nvSpPr>
        <p:spPr>
          <a:xfrm rot="5400000">
            <a:off x="561182" y="10319"/>
            <a:ext cx="5991225" cy="5970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spcBef>
                <a:spcPts val="630"/>
              </a:spcBef>
              <a:spcAft>
                <a:spcPts val="0"/>
              </a:spcAft>
              <a:buSzPts val="1890"/>
              <a:buChar char="★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⮚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9BB4C2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/>
          <p:nvPr/>
        </p:nvSpPr>
        <p:spPr>
          <a:xfrm>
            <a:off x="0" y="-152400"/>
            <a:ext cx="9144000" cy="13144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8615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Noto Sans Symbols"/>
              <a:buChar char="★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575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Noto Sans Symbols"/>
              <a:buChar char="⮚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42"/>
          <p:cNvSpPr/>
          <p:nvPr/>
        </p:nvSpPr>
        <p:spPr>
          <a:xfrm>
            <a:off x="142875" y="0"/>
            <a:ext cx="838200" cy="78105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FFBE9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15;p42"/>
          <p:cNvSpPr/>
          <p:nvPr/>
        </p:nvSpPr>
        <p:spPr>
          <a:xfrm>
            <a:off x="31750" y="338138"/>
            <a:ext cx="390525" cy="149225"/>
          </a:xfrm>
          <a:custGeom>
            <a:rect b="b" l="l" r="r" t="t"/>
            <a:pathLst>
              <a:path extrusionOk="0" h="94" w="246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Google Shape;16;p42"/>
          <p:cNvSpPr/>
          <p:nvPr/>
        </p:nvSpPr>
        <p:spPr>
          <a:xfrm>
            <a:off x="619125" y="638175"/>
            <a:ext cx="468313" cy="177800"/>
          </a:xfrm>
          <a:custGeom>
            <a:rect b="b" l="l" r="r" t="t"/>
            <a:pathLst>
              <a:path extrusionOk="0" h="112" w="295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42"/>
          <p:cNvSpPr/>
          <p:nvPr/>
        </p:nvSpPr>
        <p:spPr>
          <a:xfrm>
            <a:off x="7515225" y="6257925"/>
            <a:ext cx="1524000" cy="533400"/>
          </a:xfrm>
          <a:custGeom>
            <a:rect b="b" l="l" r="r" t="t"/>
            <a:pathLst>
              <a:path extrusionOk="0" h="374" w="1453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>
            <a:gsLst>
              <a:gs pos="0">
                <a:srgbClr val="F5EACB"/>
              </a:gs>
              <a:gs pos="100000">
                <a:srgbClr val="CC9900"/>
              </a:gs>
            </a:gsLst>
            <a:lin ang="5400000" scaled="0"/>
          </a:gradFill>
          <a:ln cap="rnd" cmpd="sng" w="12700">
            <a:solidFill>
              <a:srgbClr val="9966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8" name="Google Shape;18;p42"/>
          <p:cNvGrpSpPr/>
          <p:nvPr/>
        </p:nvGrpSpPr>
        <p:grpSpPr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9" name="Google Shape;19;p42"/>
            <p:cNvGrpSpPr/>
            <p:nvPr/>
          </p:nvGrpSpPr>
          <p:grpSpPr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20" name="Google Shape;20;p42"/>
              <p:cNvSpPr/>
              <p:nvPr/>
            </p:nvSpPr>
            <p:spPr>
              <a:xfrm>
                <a:off x="1733" y="1329"/>
                <a:ext cx="76" cy="621"/>
              </a:xfrm>
              <a:custGeom>
                <a:rect b="b" l="l" r="r" t="t"/>
                <a:pathLst>
                  <a:path extrusionOk="0" h="621" w="76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4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1" name="Google Shape;21;p42"/>
              <p:cNvSpPr/>
              <p:nvPr/>
            </p:nvSpPr>
            <p:spPr>
              <a:xfrm>
                <a:off x="1790" y="1583"/>
                <a:ext cx="120" cy="349"/>
              </a:xfrm>
              <a:custGeom>
                <a:rect b="b" l="l" r="r" t="t"/>
                <a:pathLst>
                  <a:path extrusionOk="0" h="349" w="120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4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2" name="Google Shape;22;p42"/>
              <p:cNvSpPr/>
              <p:nvPr/>
            </p:nvSpPr>
            <p:spPr>
              <a:xfrm>
                <a:off x="1685" y="1239"/>
                <a:ext cx="266" cy="391"/>
              </a:xfrm>
              <a:custGeom>
                <a:rect b="b" l="l" r="r" t="t"/>
                <a:pathLst>
                  <a:path extrusionOk="0" h="391" w="266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4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grpSp>
            <p:nvGrpSpPr>
              <p:cNvPr id="23" name="Google Shape;23;p42"/>
              <p:cNvGrpSpPr/>
              <p:nvPr/>
            </p:nvGrpSpPr>
            <p:grpSpPr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24" name="Google Shape;24;p42"/>
                <p:cNvSpPr/>
                <p:nvPr/>
              </p:nvSpPr>
              <p:spPr>
                <a:xfrm>
                  <a:off x="1751" y="1466"/>
                  <a:ext cx="440" cy="342"/>
                </a:xfrm>
                <a:custGeom>
                  <a:rect b="b" l="l" r="r" t="t"/>
                  <a:pathLst>
                    <a:path extrusionOk="0" h="342" w="440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5" name="Google Shape;25;p42"/>
                <p:cNvSpPr/>
                <p:nvPr/>
              </p:nvSpPr>
              <p:spPr>
                <a:xfrm>
                  <a:off x="1900" y="1641"/>
                  <a:ext cx="39" cy="193"/>
                </a:xfrm>
                <a:custGeom>
                  <a:rect b="b" l="l" r="r" t="t"/>
                  <a:pathLst>
                    <a:path extrusionOk="0" h="193" w="39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6" name="Google Shape;26;p42"/>
                <p:cNvSpPr/>
                <p:nvPr/>
              </p:nvSpPr>
              <p:spPr>
                <a:xfrm>
                  <a:off x="1716" y="1535"/>
                  <a:ext cx="171" cy="50"/>
                </a:xfrm>
                <a:custGeom>
                  <a:rect b="b" l="l" r="r" t="t"/>
                  <a:pathLst>
                    <a:path extrusionOk="0" h="50" w="171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7" name="Google Shape;27;p42"/>
                <p:cNvSpPr/>
                <p:nvPr/>
              </p:nvSpPr>
              <p:spPr>
                <a:xfrm>
                  <a:off x="1707" y="1563"/>
                  <a:ext cx="177" cy="21"/>
                </a:xfrm>
                <a:custGeom>
                  <a:rect b="b" l="l" r="r" t="t"/>
                  <a:pathLst>
                    <a:path extrusionOk="0" h="21" w="177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sp>
            <p:nvSpPr>
              <p:cNvPr id="28" name="Google Shape;28;p42"/>
              <p:cNvSpPr/>
              <p:nvPr/>
            </p:nvSpPr>
            <p:spPr>
              <a:xfrm>
                <a:off x="1691" y="1023"/>
                <a:ext cx="261" cy="374"/>
              </a:xfrm>
              <a:custGeom>
                <a:rect b="b" l="l" r="r" t="t"/>
                <a:pathLst>
                  <a:path extrusionOk="0" h="374" w="261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4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grpSp>
          <p:nvGrpSpPr>
            <p:cNvPr id="29" name="Google Shape;29;p42"/>
            <p:cNvGrpSpPr/>
            <p:nvPr/>
          </p:nvGrpSpPr>
          <p:grpSpPr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30" name="Google Shape;30;p42"/>
              <p:cNvGrpSpPr/>
              <p:nvPr/>
            </p:nvGrpSpPr>
            <p:grpSpPr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31" name="Google Shape;31;p42"/>
                <p:cNvSpPr/>
                <p:nvPr/>
              </p:nvSpPr>
              <p:spPr>
                <a:xfrm>
                  <a:off x="2392" y="1373"/>
                  <a:ext cx="92" cy="638"/>
                </a:xfrm>
                <a:custGeom>
                  <a:rect b="b" l="l" r="r" t="t"/>
                  <a:pathLst>
                    <a:path extrusionOk="0" h="638" w="92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2" name="Google Shape;32;p42"/>
                <p:cNvSpPr/>
                <p:nvPr/>
              </p:nvSpPr>
              <p:spPr>
                <a:xfrm>
                  <a:off x="2247" y="1201"/>
                  <a:ext cx="246" cy="466"/>
                </a:xfrm>
                <a:custGeom>
                  <a:rect b="b" l="l" r="r" t="t"/>
                  <a:pathLst>
                    <a:path extrusionOk="0" h="466" w="24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grpSp>
            <p:nvGrpSpPr>
              <p:cNvPr id="33" name="Google Shape;33;p42"/>
              <p:cNvGrpSpPr/>
              <p:nvPr/>
            </p:nvGrpSpPr>
            <p:grpSpPr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34" name="Google Shape;34;p42"/>
                <p:cNvSpPr/>
                <p:nvPr/>
              </p:nvSpPr>
              <p:spPr>
                <a:xfrm>
                  <a:off x="2164" y="1525"/>
                  <a:ext cx="130" cy="496"/>
                </a:xfrm>
                <a:custGeom>
                  <a:rect b="b" l="l" r="r" t="t"/>
                  <a:pathLst>
                    <a:path extrusionOk="0" h="496" w="130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5" name="Google Shape;35;p42"/>
                <p:cNvSpPr/>
                <p:nvPr/>
              </p:nvSpPr>
              <p:spPr>
                <a:xfrm>
                  <a:off x="2204" y="1606"/>
                  <a:ext cx="229" cy="358"/>
                </a:xfrm>
                <a:custGeom>
                  <a:rect b="b" l="l" r="r" t="t"/>
                  <a:pathLst>
                    <a:path extrusionOk="0" h="358" w="229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grpSp>
              <p:nvGrpSpPr>
                <p:cNvPr id="36" name="Google Shape;36;p42"/>
                <p:cNvGrpSpPr/>
                <p:nvPr/>
              </p:nvGrpSpPr>
              <p:grpSpPr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37" name="Google Shape;37;p42"/>
                  <p:cNvSpPr/>
                  <p:nvPr/>
                </p:nvSpPr>
                <p:spPr>
                  <a:xfrm>
                    <a:off x="2030" y="1419"/>
                    <a:ext cx="420" cy="326"/>
                  </a:xfrm>
                  <a:custGeom>
                    <a:rect b="b" l="l" r="r" t="t"/>
                    <a:pathLst>
                      <a:path extrusionOk="0" h="326" w="420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38" name="Google Shape;38;p42"/>
                  <p:cNvSpPr/>
                  <p:nvPr/>
                </p:nvSpPr>
                <p:spPr>
                  <a:xfrm>
                    <a:off x="2175" y="1587"/>
                    <a:ext cx="38" cy="181"/>
                  </a:xfrm>
                  <a:custGeom>
                    <a:rect b="b" l="l" r="r" t="t"/>
                    <a:pathLst>
                      <a:path extrusionOk="0" h="181" w="38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39" name="Google Shape;39;p42"/>
                  <p:cNvSpPr/>
                  <p:nvPr/>
                </p:nvSpPr>
                <p:spPr>
                  <a:xfrm>
                    <a:off x="1991" y="1486"/>
                    <a:ext cx="168" cy="48"/>
                  </a:xfrm>
                  <a:custGeom>
                    <a:rect b="b" l="l" r="r" t="t"/>
                    <a:pathLst>
                      <a:path extrusionOk="0" h="48" w="16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40" name="Google Shape;40;p42"/>
                  <p:cNvSpPr/>
                  <p:nvPr/>
                </p:nvSpPr>
                <p:spPr>
                  <a:xfrm>
                    <a:off x="1985" y="1514"/>
                    <a:ext cx="173" cy="20"/>
                  </a:xfrm>
                  <a:custGeom>
                    <a:rect b="b" l="l" r="r" t="t"/>
                    <a:pathLst>
                      <a:path extrusionOk="0" h="20" w="173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</p:grpSp>
          </p:grpSp>
        </p:grpSp>
      </p:grpSp>
      <p:grpSp>
        <p:nvGrpSpPr>
          <p:cNvPr id="41" name="Google Shape;41;p42"/>
          <p:cNvGrpSpPr/>
          <p:nvPr/>
        </p:nvGrpSpPr>
        <p:grpSpPr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42" name="Google Shape;42;p42"/>
            <p:cNvGrpSpPr/>
            <p:nvPr/>
          </p:nvGrpSpPr>
          <p:grpSpPr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43" name="Google Shape;43;p42"/>
              <p:cNvSpPr/>
              <p:nvPr/>
            </p:nvSpPr>
            <p:spPr>
              <a:xfrm>
                <a:off x="260" y="4288"/>
                <a:ext cx="147" cy="478"/>
              </a:xfrm>
              <a:custGeom>
                <a:rect b="b" l="l" r="r" t="t"/>
                <a:pathLst>
                  <a:path extrusionOk="0" h="478" w="147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4" name="Google Shape;44;p42"/>
              <p:cNvSpPr/>
              <p:nvPr/>
            </p:nvSpPr>
            <p:spPr>
              <a:xfrm>
                <a:off x="259" y="4289"/>
                <a:ext cx="146" cy="477"/>
              </a:xfrm>
              <a:custGeom>
                <a:rect b="b" l="l" r="r" t="t"/>
                <a:pathLst>
                  <a:path extrusionOk="0" h="477" w="146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grpSp>
          <p:nvGrpSpPr>
            <p:cNvPr id="45" name="Google Shape;45;p42"/>
            <p:cNvGrpSpPr/>
            <p:nvPr/>
          </p:nvGrpSpPr>
          <p:grpSpPr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46" name="Google Shape;46;p42"/>
              <p:cNvSpPr/>
              <p:nvPr/>
            </p:nvSpPr>
            <p:spPr>
              <a:xfrm>
                <a:off x="191" y="4304"/>
                <a:ext cx="273" cy="276"/>
              </a:xfrm>
              <a:custGeom>
                <a:rect b="b" l="l" r="r" t="t"/>
                <a:pathLst>
                  <a:path extrusionOk="0" h="276" w="273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7" name="Google Shape;47;p42"/>
              <p:cNvSpPr/>
              <p:nvPr/>
            </p:nvSpPr>
            <p:spPr>
              <a:xfrm>
                <a:off x="112" y="4295"/>
                <a:ext cx="439" cy="321"/>
              </a:xfrm>
              <a:custGeom>
                <a:rect b="b" l="l" r="r" t="t"/>
                <a:pathLst>
                  <a:path extrusionOk="0" h="321" w="439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48" name="Google Shape;48;p42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49" name="Google Shape;49;p42"/>
          <p:cNvSpPr txBox="1"/>
          <p:nvPr/>
        </p:nvSpPr>
        <p:spPr>
          <a:xfrm>
            <a:off x="4446588" y="6613525"/>
            <a:ext cx="5143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15.</a:t>
            </a:r>
            <a:fld id="{00000000-1234-1234-1234-123412341234}" type="slidenum">
              <a:rPr b="1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10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42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1" name="Google Shape;51;p42"/>
          <p:cNvSpPr txBox="1"/>
          <p:nvPr/>
        </p:nvSpPr>
        <p:spPr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Transactions</a:t>
            </a:r>
            <a:endParaRPr/>
          </a:p>
        </p:txBody>
      </p:sp>
      <p:sp>
        <p:nvSpPr>
          <p:cNvPr id="118" name="Google Shape;118;p1"/>
          <p:cNvSpPr txBox="1"/>
          <p:nvPr>
            <p:ph idx="1" type="body"/>
          </p:nvPr>
        </p:nvSpPr>
        <p:spPr>
          <a:xfrm>
            <a:off x="1090613" y="1260475"/>
            <a:ext cx="67246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Transaction Concept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Transaction State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Implementation of Atomicity and Durability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Concurrent Executions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Serializability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Recoverability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Implementation of Isolation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Transaction Definition in SQL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Testing for Serializability.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 Concept</a:t>
            </a:r>
            <a:endParaRPr/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1154113" y="1150938"/>
            <a:ext cx="67246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</a:t>
            </a:r>
            <a:r>
              <a:rPr b="1" i="1" lang="en-US">
                <a:solidFill>
                  <a:schemeClr val="dk2"/>
                </a:solidFill>
              </a:rPr>
              <a:t>transaction</a:t>
            </a:r>
            <a:r>
              <a:rPr i="1" lang="en-US"/>
              <a:t> </a:t>
            </a:r>
            <a:r>
              <a:rPr lang="en-US"/>
              <a:t>is a </a:t>
            </a:r>
            <a:r>
              <a:rPr i="1" lang="en-US"/>
              <a:t>unit </a:t>
            </a:r>
            <a:r>
              <a:rPr lang="en-US"/>
              <a:t>of program execution that accesses and  possibly updates various data items.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transaction must see a consistent database.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During transaction execution the database may be inconsistent.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the transaction is committed, the database must be consistent.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Two main issues to deal with: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Failures of various kinds, such as hardware failures and system crashes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Concurrent execution of multiple transactions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ACID Properties</a:t>
            </a:r>
            <a:endParaRPr/>
          </a:p>
        </p:txBody>
      </p:sp>
      <p:sp>
        <p:nvSpPr>
          <p:cNvPr id="130" name="Google Shape;130;p3"/>
          <p:cNvSpPr txBox="1"/>
          <p:nvPr>
            <p:ph idx="1" type="body"/>
          </p:nvPr>
        </p:nvSpPr>
        <p:spPr>
          <a:xfrm>
            <a:off x="1014413" y="1214438"/>
            <a:ext cx="7262812" cy="48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chemeClr val="dk2"/>
                </a:solidFill>
              </a:rPr>
              <a:t>Atomicity</a:t>
            </a:r>
            <a:r>
              <a:rPr b="1" lang="en-US"/>
              <a:t>. </a:t>
            </a:r>
            <a:r>
              <a:rPr lang="en-US"/>
              <a:t> Either all operations of the transaction are properly reflected in the database or none are.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chemeClr val="dk2"/>
                </a:solidFill>
              </a:rPr>
              <a:t>Consistency</a:t>
            </a:r>
            <a:r>
              <a:rPr b="1" lang="en-US"/>
              <a:t>.</a:t>
            </a:r>
            <a:r>
              <a:rPr lang="en-US"/>
              <a:t>  Execution of a transaction in isolation preserves the consistency of the database.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chemeClr val="dk2"/>
                </a:solidFill>
              </a:rPr>
              <a:t>Isolation</a:t>
            </a:r>
            <a:r>
              <a:rPr b="1" lang="en-US"/>
              <a:t>.</a:t>
            </a:r>
            <a:r>
              <a:rPr lang="en-US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That is, for every pair of transactions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and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i="1" lang="en-US"/>
              <a:t>, </a:t>
            </a:r>
            <a:r>
              <a:rPr lang="en-US"/>
              <a:t>it appears to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that either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i="1" lang="en-US"/>
              <a:t>, </a:t>
            </a:r>
            <a:r>
              <a:rPr lang="en-US"/>
              <a:t>finished execution before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started, or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started execution after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finished.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chemeClr val="dk2"/>
                </a:solidFill>
              </a:rPr>
              <a:t>Durability</a:t>
            </a:r>
            <a:r>
              <a:rPr b="1" lang="en-US"/>
              <a:t>.  </a:t>
            </a:r>
            <a:r>
              <a:rPr lang="en-US"/>
              <a:t>After a transaction completes successfully, the changes it has made to the database persist, even if there are system failures. </a:t>
            </a:r>
            <a:endParaRPr i="1"/>
          </a:p>
        </p:txBody>
      </p:sp>
      <p:sp>
        <p:nvSpPr>
          <p:cNvPr id="131" name="Google Shape;131;p3"/>
          <p:cNvSpPr txBox="1"/>
          <p:nvPr/>
        </p:nvSpPr>
        <p:spPr>
          <a:xfrm>
            <a:off x="952500" y="852488"/>
            <a:ext cx="73564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preserve integrity of data, the database system must ensure: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Fund Transfer</a:t>
            </a:r>
            <a:endParaRPr/>
          </a:p>
        </p:txBody>
      </p:sp>
      <p:sp>
        <p:nvSpPr>
          <p:cNvPr id="137" name="Google Shape;137;p4"/>
          <p:cNvSpPr txBox="1"/>
          <p:nvPr>
            <p:ph idx="1" type="body"/>
          </p:nvPr>
        </p:nvSpPr>
        <p:spPr>
          <a:xfrm>
            <a:off x="1062038" y="1042988"/>
            <a:ext cx="688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 sz="1800"/>
              <a:t>Transaction to transfer $50 from account </a:t>
            </a:r>
            <a:r>
              <a:rPr i="1" lang="en-US" sz="1800"/>
              <a:t>A</a:t>
            </a:r>
            <a:r>
              <a:rPr lang="en-US" sz="1800"/>
              <a:t> to account </a:t>
            </a:r>
            <a:r>
              <a:rPr i="1" lang="en-US" sz="1800"/>
              <a:t>B</a:t>
            </a:r>
            <a:r>
              <a:rPr lang="en-US" sz="18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1600"/>
              <a:t>1.	</a:t>
            </a:r>
            <a:r>
              <a:rPr b="1" lang="en-US" sz="1600"/>
              <a:t>read</a:t>
            </a:r>
            <a:r>
              <a:rPr lang="en-US" sz="1600"/>
              <a:t>(</a:t>
            </a:r>
            <a:r>
              <a:rPr i="1" lang="en-US" sz="1600"/>
              <a:t>A</a:t>
            </a:r>
            <a:r>
              <a:rPr lang="en-US" sz="1600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1600"/>
              <a:t>2.	</a:t>
            </a:r>
            <a:r>
              <a:rPr i="1" lang="en-US" sz="1600"/>
              <a:t>A</a:t>
            </a:r>
            <a:r>
              <a:rPr lang="en-US" sz="1600"/>
              <a:t> := </a:t>
            </a:r>
            <a:r>
              <a:rPr i="1" lang="en-US" sz="1600"/>
              <a:t>A – </a:t>
            </a:r>
            <a:r>
              <a:rPr lang="en-US" sz="1600"/>
              <a:t>50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1600"/>
              <a:t>3.	</a:t>
            </a:r>
            <a:r>
              <a:rPr b="1" lang="en-US" sz="1600"/>
              <a:t>write</a:t>
            </a:r>
            <a:r>
              <a:rPr lang="en-US" sz="1600"/>
              <a:t>(</a:t>
            </a:r>
            <a:r>
              <a:rPr i="1" lang="en-US" sz="1600"/>
              <a:t>A</a:t>
            </a:r>
            <a:r>
              <a:rPr lang="en-US" sz="1600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1600"/>
              <a:t>4.	</a:t>
            </a:r>
            <a:r>
              <a:rPr b="1" lang="en-US" sz="1600"/>
              <a:t>read</a:t>
            </a:r>
            <a:r>
              <a:rPr lang="en-US" sz="1600"/>
              <a:t>(</a:t>
            </a:r>
            <a:r>
              <a:rPr i="1" lang="en-US" sz="1600"/>
              <a:t>B</a:t>
            </a:r>
            <a:r>
              <a:rPr lang="en-US" sz="1600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1600"/>
              <a:t>5.	</a:t>
            </a:r>
            <a:r>
              <a:rPr i="1" lang="en-US" sz="1600"/>
              <a:t>B</a:t>
            </a:r>
            <a:r>
              <a:rPr lang="en-US" sz="1600"/>
              <a:t> := </a:t>
            </a:r>
            <a:r>
              <a:rPr i="1" lang="en-US" sz="1600"/>
              <a:t>B + </a:t>
            </a:r>
            <a:r>
              <a:rPr lang="en-US" sz="1600"/>
              <a:t>50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1600"/>
              <a:t>6.	</a:t>
            </a:r>
            <a:r>
              <a:rPr b="1" lang="en-US" sz="1600"/>
              <a:t>write</a:t>
            </a:r>
            <a:r>
              <a:rPr lang="en-US" sz="1600"/>
              <a:t>(</a:t>
            </a:r>
            <a:r>
              <a:rPr i="1" lang="en-US" sz="1600"/>
              <a:t>B)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 sz="1800"/>
              <a:t>Consistency requirement – the sum of </a:t>
            </a:r>
            <a:r>
              <a:rPr i="1" lang="en-US" sz="1800"/>
              <a:t>A </a:t>
            </a:r>
            <a:r>
              <a:rPr lang="en-US" sz="1800"/>
              <a:t>and </a:t>
            </a:r>
            <a:r>
              <a:rPr i="1" lang="en-US" sz="1800"/>
              <a:t>B </a:t>
            </a:r>
            <a:r>
              <a:rPr lang="en-US" sz="1800"/>
              <a:t>is unchanged by the execution of the transaction.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 sz="1800"/>
              <a:t>Atomicity requirement — if the transaction fails after step 3 and before step 6, the system should ensure that its updates are not reflected in the database, else an inconsistency will result.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Fund Transfer (Cont.)</a:t>
            </a:r>
            <a:endParaRPr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1047750" y="1247775"/>
            <a:ext cx="713898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Durability requirement — once the user has been notified that the transaction has completed (i.e., the transfer of the $50 has taken place), the updates to the database by the transaction must persist despite failures.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Isolation requirement — if between steps 3 and 6, another transaction is allowed to access the partially updated database, it will see an inconsistent database </a:t>
            </a:r>
            <a:br>
              <a:rPr lang="en-US"/>
            </a:br>
            <a:r>
              <a:rPr lang="en-US"/>
              <a:t>(the sum </a:t>
            </a:r>
            <a:r>
              <a:rPr i="1" lang="en-US"/>
              <a:t>A + B</a:t>
            </a:r>
            <a:r>
              <a:rPr lang="en-US"/>
              <a:t> will be less than it should be).</a:t>
            </a:r>
            <a:br>
              <a:rPr lang="en-US"/>
            </a:br>
            <a:r>
              <a:rPr lang="en-US"/>
              <a:t>Can be ensured trivially by running transactions </a:t>
            </a:r>
            <a:r>
              <a:rPr b="1" i="1" lang="en-US">
                <a:solidFill>
                  <a:schemeClr val="dk2"/>
                </a:solidFill>
              </a:rPr>
              <a:t>serially</a:t>
            </a:r>
            <a:r>
              <a:rPr i="1" lang="en-US"/>
              <a:t>,</a:t>
            </a:r>
            <a:r>
              <a:rPr lang="en-US"/>
              <a:t> that is one after the other.  However, executing multiple transactions concurrently has significant benefits, as we will see.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 State</a:t>
            </a:r>
            <a:endParaRPr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1158875" y="1214438"/>
            <a:ext cx="67246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b="1" lang="en-US" sz="1800"/>
              <a:t>Active, </a:t>
            </a:r>
            <a:r>
              <a:rPr lang="en-US" sz="1800"/>
              <a:t>the initial state; the transaction stays in this state while it is executing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 sz="1800"/>
              <a:t>Partially committed,</a:t>
            </a:r>
            <a:r>
              <a:rPr lang="en-US" sz="1800"/>
              <a:t> after the final statement has been executed.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 sz="1800"/>
              <a:t>Failed, </a:t>
            </a:r>
            <a:r>
              <a:rPr lang="en-US" sz="1800"/>
              <a:t>after the discovery that normal execution can no longer proceed.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 sz="1800"/>
              <a:t>Aborted,</a:t>
            </a:r>
            <a:r>
              <a:rPr lang="en-US" sz="1800"/>
              <a:t> after the transaction has been rolled back and the database restored to its state prior to the start of the transaction.  Two options after it has been aborted: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680"/>
              <a:buChar char="★"/>
            </a:pPr>
            <a:r>
              <a:rPr lang="en-US" sz="1600"/>
              <a:t>restart the transaction – only if no internal logical error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680"/>
              <a:buChar char="★"/>
            </a:pPr>
            <a:r>
              <a:rPr lang="en-US" sz="1600"/>
              <a:t>kill the transaction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 sz="1800"/>
              <a:t>Committed,</a:t>
            </a:r>
            <a:r>
              <a:rPr lang="en-US" sz="1800"/>
              <a:t> after </a:t>
            </a:r>
            <a:r>
              <a:rPr i="1" lang="en-US" sz="1800"/>
              <a:t>successful completion</a:t>
            </a:r>
            <a:r>
              <a:rPr lang="en-US" sz="1800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 State (Cont.)</a:t>
            </a:r>
            <a:endParaRPr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 b="1633" l="10333" r="11909" t="3267"/>
          <a:stretch/>
        </p:blipFill>
        <p:spPr>
          <a:xfrm>
            <a:off x="1828800" y="1155700"/>
            <a:ext cx="5219700" cy="47879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801688" y="495300"/>
            <a:ext cx="7664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Atomicity and Durability</a:t>
            </a:r>
            <a:endParaRPr/>
          </a:p>
        </p:txBody>
      </p: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1209675" y="1120775"/>
            <a:ext cx="7115175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recovery-management component of a database system implements the support for atomicity and durability.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i="1" lang="en-US">
                <a:solidFill>
                  <a:schemeClr val="dk2"/>
                </a:solidFill>
              </a:rPr>
              <a:t>shadow-database</a:t>
            </a:r>
            <a:r>
              <a:rPr lang="en-US"/>
              <a:t> scheme: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assume that only one transaction is active at a time.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a pointer called db_pointer always points to the current consistent copy of the database.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all updates are made on a </a:t>
            </a:r>
            <a:r>
              <a:rPr i="1" lang="en-US"/>
              <a:t>shadow copy</a:t>
            </a:r>
            <a:r>
              <a:rPr lang="en-US"/>
              <a:t> of the database, and </a:t>
            </a:r>
            <a:r>
              <a:rPr b="1" lang="en-US"/>
              <a:t>db_pointer</a:t>
            </a:r>
            <a:r>
              <a:rPr lang="en-US"/>
              <a:t> is made to point to the updated shadow copy only after the transaction reaches partial commit and all updated pages have been flushed to disk.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in case transaction fails, old consistent copy pointed to by </a:t>
            </a:r>
            <a:r>
              <a:rPr b="1" lang="en-US"/>
              <a:t>db_pointer</a:t>
            </a:r>
            <a:r>
              <a:rPr lang="en-US"/>
              <a:t> can be used, and the shadow copy can be deleted.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1066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Implementation of Atomicity and Durability (Cont.)</a:t>
            </a:r>
            <a:endParaRPr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573088" y="4738688"/>
            <a:ext cx="7510462" cy="164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Assumes disks to not fail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Useful for text editors, but extremely inefficient for large databases: executing a single transaction requires copying the </a:t>
            </a:r>
            <a:r>
              <a:rPr i="1" lang="en-US"/>
              <a:t>entire </a:t>
            </a:r>
            <a:r>
              <a:rPr lang="en-US"/>
              <a:t>database.  Will see better schemes in Chapter 17.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268288" y="922338"/>
            <a:ext cx="37258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shadow-database scheme:</a:t>
            </a:r>
            <a:endParaRPr/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19217" l="2134" r="1779" t="18980"/>
          <a:stretch/>
        </p:blipFill>
        <p:spPr>
          <a:xfrm>
            <a:off x="1282700" y="1495425"/>
            <a:ext cx="6540500" cy="315595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Concurrent Executions</a:t>
            </a:r>
            <a:endParaRPr/>
          </a:p>
        </p:txBody>
      </p:sp>
      <p:sp>
        <p:nvSpPr>
          <p:cNvPr id="175" name="Google Shape;175;p10"/>
          <p:cNvSpPr txBox="1"/>
          <p:nvPr>
            <p:ph idx="1" type="body"/>
          </p:nvPr>
        </p:nvSpPr>
        <p:spPr>
          <a:xfrm>
            <a:off x="1054100" y="1120775"/>
            <a:ext cx="72866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Multiple transactions are allowed to run concurrently in the system.  Advantages are: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b="1" lang="en-US"/>
              <a:t>increased processor and disk utilization</a:t>
            </a:r>
            <a:r>
              <a:rPr lang="en-US"/>
              <a:t>, leading to better transaction </a:t>
            </a:r>
            <a:r>
              <a:rPr i="1" lang="en-US"/>
              <a:t>throughput:</a:t>
            </a:r>
            <a:r>
              <a:rPr lang="en-US"/>
              <a:t> one transaction can be using the CPU while another is reading from or writing to the disk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b="1" lang="en-US"/>
              <a:t>reduced average response time</a:t>
            </a:r>
            <a:r>
              <a:rPr lang="en-US"/>
              <a:t> for transactions: short transactions need not wait behind long ones.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i="1" lang="en-US">
                <a:solidFill>
                  <a:schemeClr val="dk2"/>
                </a:solidFill>
              </a:rPr>
              <a:t>Concurrency control schemes</a:t>
            </a:r>
            <a:r>
              <a:rPr i="1" lang="en-US"/>
              <a:t> </a:t>
            </a:r>
            <a:r>
              <a:rPr lang="en-US"/>
              <a:t>– mechanisms  to achieve isolation, i.e., to control the interaction among the concurrent transactions in order to prevent them from destroying the consistency of the database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Will study in Chapter 14, after studying notion of correctness of concurrent executions.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Schedules</a:t>
            </a:r>
            <a:endParaRPr/>
          </a:p>
        </p:txBody>
      </p:sp>
      <p:sp>
        <p:nvSpPr>
          <p:cNvPr id="181" name="Google Shape;181;p11"/>
          <p:cNvSpPr txBox="1"/>
          <p:nvPr>
            <p:ph idx="1" type="body"/>
          </p:nvPr>
        </p:nvSpPr>
        <p:spPr>
          <a:xfrm>
            <a:off x="571500" y="1185863"/>
            <a:ext cx="78486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-US">
                <a:solidFill>
                  <a:schemeClr val="dk2"/>
                </a:solidFill>
              </a:rPr>
              <a:t>Schedules</a:t>
            </a:r>
            <a:r>
              <a:rPr lang="en-US"/>
              <a:t> – sequences that indicate the chronological order in which instructions of concurrent transactions are executed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a schedule for a set of transactions must consist of all instructions of those transactions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lang="en-US"/>
              <a:t>must preserve the order in which the instructions appear in each individual transaction.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Schedules</a:t>
            </a:r>
            <a:endParaRPr/>
          </a:p>
        </p:txBody>
      </p:sp>
      <p:sp>
        <p:nvSpPr>
          <p:cNvPr id="187" name="Google Shape;187;p12"/>
          <p:cNvSpPr txBox="1"/>
          <p:nvPr>
            <p:ph idx="1" type="body"/>
          </p:nvPr>
        </p:nvSpPr>
        <p:spPr>
          <a:xfrm>
            <a:off x="1062038" y="793750"/>
            <a:ext cx="6724650" cy="118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Let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 transfer $50 from </a:t>
            </a:r>
            <a:r>
              <a:rPr i="1" lang="en-US"/>
              <a:t>A </a:t>
            </a:r>
            <a:r>
              <a:rPr lang="en-US"/>
              <a:t>to </a:t>
            </a:r>
            <a:r>
              <a:rPr i="1" lang="en-US"/>
              <a:t>B</a:t>
            </a:r>
            <a:r>
              <a:rPr lang="en-US"/>
              <a:t>, and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 transfer 10% of the balance from </a:t>
            </a:r>
            <a:r>
              <a:rPr i="1" lang="en-US"/>
              <a:t>A </a:t>
            </a:r>
            <a:r>
              <a:rPr lang="en-US"/>
              <a:t>to </a:t>
            </a:r>
            <a:r>
              <a:rPr i="1" lang="en-US"/>
              <a:t>B.</a:t>
            </a:r>
            <a:r>
              <a:rPr lang="en-US"/>
              <a:t>  The following is a serial schedule (Schedule 1 in the text), in which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 is followed by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		</a:t>
            </a:r>
            <a:endParaRPr i="1"/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3">
            <a:alphaModFix/>
          </a:blip>
          <a:srcRect b="2663" l="20467" r="23127" t="3106"/>
          <a:stretch/>
        </p:blipFill>
        <p:spPr>
          <a:xfrm>
            <a:off x="2971800" y="2425700"/>
            <a:ext cx="3162300" cy="39624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Schedule (Cont.)</a:t>
            </a:r>
            <a:endParaRPr/>
          </a:p>
        </p:txBody>
      </p:sp>
      <p:sp>
        <p:nvSpPr>
          <p:cNvPr id="194" name="Google Shape;194;p13"/>
          <p:cNvSpPr txBox="1"/>
          <p:nvPr>
            <p:ph idx="1" type="body"/>
          </p:nvPr>
        </p:nvSpPr>
        <p:spPr>
          <a:xfrm>
            <a:off x="1062038" y="798513"/>
            <a:ext cx="6724650" cy="118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 sz="1800"/>
              <a:t>Let </a:t>
            </a:r>
            <a:r>
              <a:rPr i="1" lang="en-US" sz="1800"/>
              <a:t>T</a:t>
            </a:r>
            <a:r>
              <a:rPr baseline="-25000" lang="en-US" sz="1800"/>
              <a:t>1</a:t>
            </a:r>
            <a:r>
              <a:rPr lang="en-US" sz="1800"/>
              <a:t> and </a:t>
            </a:r>
            <a:r>
              <a:rPr i="1" lang="en-US" sz="1800"/>
              <a:t>T</a:t>
            </a:r>
            <a:r>
              <a:rPr baseline="-25000" lang="en-US" sz="1800"/>
              <a:t>2</a:t>
            </a:r>
            <a:r>
              <a:rPr lang="en-US" sz="1800"/>
              <a:t> be the transactions defined previously</a:t>
            </a:r>
            <a:r>
              <a:rPr i="1" lang="en-US" sz="1800"/>
              <a:t>.</a:t>
            </a:r>
            <a:r>
              <a:rPr lang="en-US" sz="1800"/>
              <a:t>  The following schedule (Schedule 3 in the text) is not a serial schedule, but it is </a:t>
            </a:r>
            <a:r>
              <a:rPr i="1" lang="en-US" sz="1800">
                <a:solidFill>
                  <a:schemeClr val="dk2"/>
                </a:solidFill>
              </a:rPr>
              <a:t>equivalent</a:t>
            </a:r>
            <a:r>
              <a:rPr lang="en-US" sz="1800"/>
              <a:t> to Schedule 1.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 sz="1800"/>
              <a:t>		</a:t>
            </a:r>
            <a:endParaRPr i="1" sz="1800"/>
          </a:p>
        </p:txBody>
      </p:sp>
      <p:sp>
        <p:nvSpPr>
          <p:cNvPr id="195" name="Google Shape;195;p13"/>
          <p:cNvSpPr/>
          <p:nvPr/>
        </p:nvSpPr>
        <p:spPr>
          <a:xfrm>
            <a:off x="1014413" y="6189663"/>
            <a:ext cx="67246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Schedule 1 and 3, the sum A + B is preserved.</a:t>
            </a:r>
            <a:endParaRPr/>
          </a:p>
        </p:txBody>
      </p:sp>
      <p:pic>
        <p:nvPicPr>
          <p:cNvPr id="196" name="Google Shape;196;p13"/>
          <p:cNvPicPr preferRelativeResize="0"/>
          <p:nvPr/>
        </p:nvPicPr>
        <p:blipFill rotWithShape="1">
          <a:blip r:embed="rId3">
            <a:alphaModFix/>
          </a:blip>
          <a:srcRect b="5333" l="21800" r="23800" t="4266"/>
          <a:stretch/>
        </p:blipFill>
        <p:spPr>
          <a:xfrm>
            <a:off x="2959100" y="1971675"/>
            <a:ext cx="3146425" cy="39211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Schedules (Cont.)</a:t>
            </a:r>
            <a:endParaRPr/>
          </a:p>
        </p:txBody>
      </p:sp>
      <p:sp>
        <p:nvSpPr>
          <p:cNvPr id="202" name="Google Shape;202;p14"/>
          <p:cNvSpPr txBox="1"/>
          <p:nvPr>
            <p:ph idx="1" type="body"/>
          </p:nvPr>
        </p:nvSpPr>
        <p:spPr>
          <a:xfrm>
            <a:off x="1062038" y="731838"/>
            <a:ext cx="6724650" cy="118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following concurrent schedule (Schedule 4 in the text) does not preserve the value of the the sum </a:t>
            </a:r>
            <a:r>
              <a:rPr i="1" lang="en-US"/>
              <a:t>A </a:t>
            </a:r>
            <a:r>
              <a:rPr lang="en-US"/>
              <a:t>+ </a:t>
            </a:r>
            <a:r>
              <a:rPr i="1" lang="en-US"/>
              <a:t>B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			</a:t>
            </a:r>
            <a:endParaRPr i="1"/>
          </a:p>
        </p:txBody>
      </p:sp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 b="3966" l="20827" r="22644" t="2644"/>
          <a:stretch/>
        </p:blipFill>
        <p:spPr>
          <a:xfrm>
            <a:off x="2730500" y="1736725"/>
            <a:ext cx="3467100" cy="429577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Serializability</a:t>
            </a:r>
            <a:endParaRPr/>
          </a:p>
        </p:txBody>
      </p:sp>
      <p:sp>
        <p:nvSpPr>
          <p:cNvPr id="209" name="Google Shape;209;p15"/>
          <p:cNvSpPr txBox="1"/>
          <p:nvPr>
            <p:ph idx="1" type="body"/>
          </p:nvPr>
        </p:nvSpPr>
        <p:spPr>
          <a:xfrm>
            <a:off x="730250" y="911225"/>
            <a:ext cx="7515225" cy="4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Basic Assumption – Each transaction preserves database consistency.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Thus serial execution of a set of transactions preserves database consistency.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(possibly concurrent) schedule is serializable if it is equivalent to a serial schedule.  Different forms of schedule equivalence give rise to the notions of: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Font typeface="Noto Sans Symbols"/>
              <a:buNone/>
            </a:pPr>
            <a:r>
              <a:rPr lang="en-US"/>
              <a:t>1.	</a:t>
            </a:r>
            <a:r>
              <a:rPr lang="en-US">
                <a:solidFill>
                  <a:schemeClr val="dk2"/>
                </a:solidFill>
              </a:rPr>
              <a:t>conflict serializability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890"/>
              <a:buFont typeface="Noto Sans Symbols"/>
              <a:buNone/>
            </a:pPr>
            <a:r>
              <a:rPr lang="en-US"/>
              <a:t>2.	</a:t>
            </a:r>
            <a:r>
              <a:rPr lang="en-US">
                <a:solidFill>
                  <a:schemeClr val="dk2"/>
                </a:solidFill>
              </a:rPr>
              <a:t>view serializability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ignore operations other than </a:t>
            </a:r>
            <a:r>
              <a:rPr b="1" lang="en-US"/>
              <a:t>read</a:t>
            </a:r>
            <a:r>
              <a:rPr lang="en-US"/>
              <a:t> and </a:t>
            </a:r>
            <a:r>
              <a:rPr b="1" lang="en-US"/>
              <a:t>write</a:t>
            </a:r>
            <a:r>
              <a:rPr lang="en-US"/>
              <a:t> instructions, and we assume that transactions may perform arbitrary computations on data in local buffers in between reads and writes.  Our simplified schedules consist of only </a:t>
            </a:r>
            <a:r>
              <a:rPr b="1" lang="en-US"/>
              <a:t>read</a:t>
            </a:r>
            <a:r>
              <a:rPr lang="en-US"/>
              <a:t> and </a:t>
            </a:r>
            <a:r>
              <a:rPr b="1" lang="en-US"/>
              <a:t>write </a:t>
            </a:r>
            <a:r>
              <a:rPr lang="en-US"/>
              <a:t>instructions.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Conflict Serializability</a:t>
            </a:r>
            <a:endParaRPr/>
          </a:p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Instructions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lang="en-US"/>
              <a:t> of transactions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respectively, </a:t>
            </a:r>
            <a:r>
              <a:rPr b="1" lang="en-US">
                <a:solidFill>
                  <a:schemeClr val="dk2"/>
                </a:solidFill>
              </a:rPr>
              <a:t>conflict</a:t>
            </a:r>
            <a:r>
              <a:rPr lang="en-US"/>
              <a:t> if and only if there exists some item </a:t>
            </a:r>
            <a:r>
              <a:rPr i="1" lang="en-US"/>
              <a:t>Q</a:t>
            </a:r>
            <a:r>
              <a:rPr lang="en-US"/>
              <a:t> accessed by both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lang="en-US"/>
              <a:t>, and at least one of these instructions wrote </a:t>
            </a:r>
            <a:r>
              <a:rPr i="1" lang="en-US"/>
              <a:t>Q.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	1. 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Q), l</a:t>
            </a:r>
            <a:r>
              <a:rPr baseline="-25000" i="1" lang="en-US"/>
              <a:t>j</a:t>
            </a:r>
            <a:r>
              <a:rPr i="1" lang="en-US"/>
              <a:t> =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).  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i="1" lang="en-US"/>
              <a:t> </a:t>
            </a:r>
            <a:r>
              <a:rPr lang="en-US"/>
              <a:t>don’t conflict.</a:t>
            </a:r>
            <a:br>
              <a:rPr lang="en-US"/>
            </a:br>
            <a:r>
              <a:rPr lang="en-US"/>
              <a:t>2.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Q),  l</a:t>
            </a:r>
            <a:r>
              <a:rPr baseline="-25000" i="1" lang="en-US"/>
              <a:t>j</a:t>
            </a:r>
            <a:r>
              <a:rPr i="1" lang="en-US"/>
              <a:t> =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).  They conflict.</a:t>
            </a:r>
            <a:br>
              <a:rPr lang="en-US"/>
            </a:br>
            <a:r>
              <a:rPr lang="en-US"/>
              <a:t>3.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Q), l</a:t>
            </a:r>
            <a:r>
              <a:rPr baseline="-25000" i="1" lang="en-US"/>
              <a:t>j</a:t>
            </a:r>
            <a:r>
              <a:rPr i="1" lang="en-US"/>
              <a:t> =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).   They conflict</a:t>
            </a:r>
            <a:br>
              <a:rPr lang="en-US"/>
            </a:br>
            <a:r>
              <a:rPr lang="en-US"/>
              <a:t>4.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Q), l</a:t>
            </a:r>
            <a:r>
              <a:rPr baseline="-25000" i="1" lang="en-US"/>
              <a:t>j</a:t>
            </a:r>
            <a:r>
              <a:rPr i="1" lang="en-US"/>
              <a:t> =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).  They conflict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Intuitively, a conflict between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lang="en-US"/>
              <a:t> forces a (logical) temporal order between them.  If </a:t>
            </a:r>
            <a:r>
              <a:rPr i="1" lang="en-US"/>
              <a:t>l</a:t>
            </a:r>
            <a:r>
              <a:rPr baseline="-25000" i="1" lang="en-US"/>
              <a:t>i</a:t>
            </a:r>
            <a:r>
              <a:rPr lang="en-US"/>
              <a:t> and </a:t>
            </a:r>
            <a:r>
              <a:rPr i="1" lang="en-US"/>
              <a:t>l</a:t>
            </a:r>
            <a:r>
              <a:rPr baseline="-25000" i="1" lang="en-US"/>
              <a:t>j</a:t>
            </a:r>
            <a:r>
              <a:rPr lang="en-US"/>
              <a:t> are consecutive in a schedule and they do not conflict, their results would remain the same even if they had been interchanged in the schedule.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Conflict Serializability (Cont.)</a:t>
            </a:r>
            <a:endParaRPr/>
          </a:p>
        </p:txBody>
      </p:sp>
      <p:sp>
        <p:nvSpPr>
          <p:cNvPr id="221" name="Google Shape;221;p17"/>
          <p:cNvSpPr txBox="1"/>
          <p:nvPr>
            <p:ph idx="1" type="body"/>
          </p:nvPr>
        </p:nvSpPr>
        <p:spPr>
          <a:xfrm>
            <a:off x="1074738" y="949325"/>
            <a:ext cx="7258050" cy="469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a schedule </a:t>
            </a:r>
            <a:r>
              <a:rPr i="1" lang="en-US"/>
              <a:t>S</a:t>
            </a:r>
            <a:r>
              <a:rPr lang="en-US"/>
              <a:t> can be transformed into a schedule </a:t>
            </a:r>
            <a:r>
              <a:rPr i="1" lang="en-US"/>
              <a:t>S´ </a:t>
            </a:r>
            <a:r>
              <a:rPr lang="en-US"/>
              <a:t>by a series of swaps of non-conflicting instructions, we say that </a:t>
            </a:r>
            <a:r>
              <a:rPr i="1" lang="en-US"/>
              <a:t>S</a:t>
            </a:r>
            <a:r>
              <a:rPr lang="en-US"/>
              <a:t> and </a:t>
            </a:r>
            <a:r>
              <a:rPr i="1" lang="en-US"/>
              <a:t>S´ </a:t>
            </a:r>
            <a:r>
              <a:rPr lang="en-US"/>
              <a:t>are </a:t>
            </a:r>
            <a:r>
              <a:rPr b="1" lang="en-US">
                <a:solidFill>
                  <a:schemeClr val="dk2"/>
                </a:solidFill>
              </a:rPr>
              <a:t>conflict equivalent</a:t>
            </a:r>
            <a:r>
              <a:rPr i="1" lang="en-US"/>
              <a:t>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say that a schedule </a:t>
            </a:r>
            <a:r>
              <a:rPr i="1" lang="en-US"/>
              <a:t>S</a:t>
            </a:r>
            <a:r>
              <a:rPr lang="en-US"/>
              <a:t> is </a:t>
            </a:r>
            <a:r>
              <a:rPr b="1" lang="en-US">
                <a:solidFill>
                  <a:schemeClr val="dk2"/>
                </a:solidFill>
              </a:rPr>
              <a:t>conflict serializable</a:t>
            </a:r>
            <a:r>
              <a:rPr lang="en-US"/>
              <a:t> if it is conflict equivalent to a serial schedule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Example of a schedule that is not conflict serializable: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i="1" lang="en-US"/>
              <a:t>			T</a:t>
            </a:r>
            <a:r>
              <a:rPr baseline="-25000" lang="en-US"/>
              <a:t>3</a:t>
            </a:r>
            <a:r>
              <a:rPr lang="en-US"/>
              <a:t>		</a:t>
            </a:r>
            <a:r>
              <a:rPr i="1" lang="en-US"/>
              <a:t>T</a:t>
            </a:r>
            <a:r>
              <a:rPr baseline="-25000" lang="en-US"/>
              <a:t>4</a:t>
            </a:r>
            <a:br>
              <a:rPr baseline="-25000" lang="en-US"/>
            </a:br>
            <a:r>
              <a:rPr baseline="-25000" lang="en-US"/>
              <a:t>	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</a:t>
            </a:r>
            <a:br>
              <a:rPr lang="en-US"/>
            </a:br>
            <a:r>
              <a:rPr lang="en-US"/>
              <a:t>			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</a:t>
            </a:r>
            <a:br>
              <a:rPr lang="en-US"/>
            </a:br>
            <a:r>
              <a:rPr lang="en-US"/>
              <a:t>	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</a:t>
            </a:r>
            <a:br>
              <a:rPr lang="en-US"/>
            </a:br>
            <a:br>
              <a:rPr lang="en-US"/>
            </a:br>
            <a:r>
              <a:rPr lang="en-US"/>
              <a:t>We are unable to swap instructions in the above schedule to obtain either the serial schedule &lt; </a:t>
            </a:r>
            <a:r>
              <a:rPr i="1" lang="en-US"/>
              <a:t>T</a:t>
            </a:r>
            <a:r>
              <a:rPr baseline="-25000" lang="en-US"/>
              <a:t>3</a:t>
            </a:r>
            <a:r>
              <a:rPr lang="en-US"/>
              <a:t>, </a:t>
            </a:r>
            <a:r>
              <a:rPr i="1" lang="en-US"/>
              <a:t>T</a:t>
            </a:r>
            <a:r>
              <a:rPr baseline="-25000" lang="en-US"/>
              <a:t>4</a:t>
            </a:r>
            <a:r>
              <a:rPr lang="en-US"/>
              <a:t> &gt;, or the serial schedule &lt; </a:t>
            </a:r>
            <a:r>
              <a:rPr i="1" lang="en-US"/>
              <a:t>T</a:t>
            </a:r>
            <a:r>
              <a:rPr baseline="-25000" lang="en-US"/>
              <a:t>4</a:t>
            </a:r>
            <a:r>
              <a:rPr lang="en-US"/>
              <a:t>, </a:t>
            </a:r>
            <a:r>
              <a:rPr i="1" lang="en-US"/>
              <a:t>T</a:t>
            </a:r>
            <a:r>
              <a:rPr baseline="-25000" lang="en-US"/>
              <a:t>3</a:t>
            </a:r>
            <a:r>
              <a:rPr lang="en-US"/>
              <a:t> &gt;.</a:t>
            </a:r>
            <a:endParaRPr/>
          </a:p>
        </p:txBody>
      </p:sp>
      <p:cxnSp>
        <p:nvCxnSpPr>
          <p:cNvPr id="222" name="Google Shape;222;p17"/>
          <p:cNvCxnSpPr/>
          <p:nvPr/>
        </p:nvCxnSpPr>
        <p:spPr>
          <a:xfrm>
            <a:off x="4429125" y="3192463"/>
            <a:ext cx="0" cy="1355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7"/>
          <p:cNvCxnSpPr/>
          <p:nvPr/>
        </p:nvCxnSpPr>
        <p:spPr>
          <a:xfrm>
            <a:off x="3502025" y="3489325"/>
            <a:ext cx="18462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Conflict Serializability (Cont.)</a:t>
            </a:r>
            <a:endParaRPr/>
          </a:p>
        </p:txBody>
      </p:sp>
      <p:sp>
        <p:nvSpPr>
          <p:cNvPr id="229" name="Google Shape;229;p18"/>
          <p:cNvSpPr txBox="1"/>
          <p:nvPr>
            <p:ph idx="1" type="body"/>
          </p:nvPr>
        </p:nvSpPr>
        <p:spPr>
          <a:xfrm>
            <a:off x="1033463" y="1262063"/>
            <a:ext cx="7397750" cy="406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Schedule 3 below can be transformed into Schedule 1, a serial schedule where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 follows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, by series of swaps of non-conflicting instructions.  Therefore Schedule 3 is conflict serializable.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			</a:t>
            </a:r>
            <a:endParaRPr/>
          </a:p>
        </p:txBody>
      </p:sp>
      <p:pic>
        <p:nvPicPr>
          <p:cNvPr id="230" name="Google Shape;230;p18"/>
          <p:cNvPicPr preferRelativeResize="0"/>
          <p:nvPr/>
        </p:nvPicPr>
        <p:blipFill rotWithShape="1">
          <a:blip r:embed="rId3">
            <a:alphaModFix/>
          </a:blip>
          <a:srcRect b="5462" l="19771" r="19951" t="4988"/>
          <a:stretch/>
        </p:blipFill>
        <p:spPr>
          <a:xfrm>
            <a:off x="3111500" y="2686050"/>
            <a:ext cx="2913063" cy="324485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 Serializability</a:t>
            </a:r>
            <a:endParaRPr/>
          </a:p>
        </p:txBody>
      </p:sp>
      <p:sp>
        <p:nvSpPr>
          <p:cNvPr id="236" name="Google Shape;236;p19"/>
          <p:cNvSpPr txBox="1"/>
          <p:nvPr>
            <p:ph idx="1" type="body"/>
          </p:nvPr>
        </p:nvSpPr>
        <p:spPr>
          <a:xfrm>
            <a:off x="714375" y="852488"/>
            <a:ext cx="7745413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Let </a:t>
            </a:r>
            <a:r>
              <a:rPr i="1" lang="en-US"/>
              <a:t>S</a:t>
            </a:r>
            <a:r>
              <a:rPr lang="en-US"/>
              <a:t> and </a:t>
            </a:r>
            <a:r>
              <a:rPr i="1" lang="en-US"/>
              <a:t>S´</a:t>
            </a:r>
            <a:r>
              <a:rPr lang="en-US"/>
              <a:t> be two schedules with the same set of transactions.  </a:t>
            </a:r>
            <a:r>
              <a:rPr i="1" lang="en-US"/>
              <a:t>S</a:t>
            </a:r>
            <a:r>
              <a:rPr lang="en-US"/>
              <a:t> and </a:t>
            </a:r>
            <a:r>
              <a:rPr i="1" lang="en-US"/>
              <a:t>S´</a:t>
            </a:r>
            <a:r>
              <a:rPr lang="en-US"/>
              <a:t> are </a:t>
            </a:r>
            <a:r>
              <a:rPr b="1" lang="en-US">
                <a:solidFill>
                  <a:schemeClr val="dk2"/>
                </a:solidFill>
              </a:rPr>
              <a:t>view equivalent</a:t>
            </a:r>
            <a:r>
              <a:rPr i="1" lang="en-US"/>
              <a:t> </a:t>
            </a:r>
            <a:r>
              <a:rPr lang="en-US"/>
              <a:t>if the following three conditions are met: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Font typeface="Noto Sans Symbols"/>
              <a:buNone/>
            </a:pPr>
            <a:r>
              <a:rPr lang="en-US"/>
              <a:t>1.	For each data item </a:t>
            </a:r>
            <a:r>
              <a:rPr i="1" lang="en-US"/>
              <a:t>Q,</a:t>
            </a:r>
            <a:r>
              <a:rPr lang="en-US"/>
              <a:t> if transaction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reads the initial value of </a:t>
            </a:r>
            <a:r>
              <a:rPr i="1" lang="en-US"/>
              <a:t>Q</a:t>
            </a:r>
            <a:r>
              <a:rPr lang="en-US"/>
              <a:t> in schedule </a:t>
            </a:r>
            <a:r>
              <a:rPr i="1" lang="en-US"/>
              <a:t>S,</a:t>
            </a:r>
            <a:r>
              <a:rPr lang="en-US"/>
              <a:t> then transaction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 must, in schedule </a:t>
            </a:r>
            <a:r>
              <a:rPr i="1" lang="en-US"/>
              <a:t>S´</a:t>
            </a:r>
            <a:r>
              <a:rPr lang="en-US"/>
              <a:t>, also read the initial value of </a:t>
            </a:r>
            <a:r>
              <a:rPr i="1" lang="en-US"/>
              <a:t>Q.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Font typeface="Noto Sans Symbols"/>
              <a:buNone/>
            </a:pPr>
            <a:r>
              <a:rPr i="1" lang="en-US"/>
              <a:t>2.	</a:t>
            </a:r>
            <a:r>
              <a:rPr lang="en-US"/>
              <a:t>For each data item </a:t>
            </a:r>
            <a:r>
              <a:rPr i="1" lang="en-US"/>
              <a:t>Q</a:t>
            </a:r>
            <a:r>
              <a:rPr lang="en-US"/>
              <a:t> if transaction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executes </a:t>
            </a:r>
            <a:r>
              <a:rPr b="1" lang="en-US"/>
              <a:t>read</a:t>
            </a:r>
            <a:r>
              <a:rPr lang="en-US"/>
              <a:t>(</a:t>
            </a:r>
            <a:r>
              <a:rPr i="1" lang="en-US"/>
              <a:t>Q) </a:t>
            </a:r>
            <a:r>
              <a:rPr lang="en-US"/>
              <a:t>in schedule </a:t>
            </a:r>
            <a:r>
              <a:rPr i="1" lang="en-US"/>
              <a:t>S</a:t>
            </a:r>
            <a:r>
              <a:rPr lang="en-US"/>
              <a:t>, and that value was produced by transaction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</a:t>
            </a:r>
            <a:r>
              <a:rPr i="1" lang="en-US"/>
              <a:t> </a:t>
            </a:r>
            <a:r>
              <a:rPr lang="en-US"/>
              <a:t>(if any), then transaction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must in schedule </a:t>
            </a:r>
            <a:r>
              <a:rPr i="1" lang="en-US"/>
              <a:t>S´</a:t>
            </a:r>
            <a:r>
              <a:rPr lang="en-US"/>
              <a:t> also read the value of </a:t>
            </a:r>
            <a:r>
              <a:rPr i="1" lang="en-US"/>
              <a:t>Q</a:t>
            </a:r>
            <a:r>
              <a:rPr lang="en-US"/>
              <a:t> that was produced by transaction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Font typeface="Noto Sans Symbols"/>
              <a:buNone/>
            </a:pPr>
            <a:r>
              <a:rPr lang="en-US"/>
              <a:t>3.	For each data item </a:t>
            </a:r>
            <a:r>
              <a:rPr i="1" lang="en-US"/>
              <a:t>Q</a:t>
            </a:r>
            <a:r>
              <a:rPr lang="en-US"/>
              <a:t>, the transaction (if any) that performs the final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 operation in schedule </a:t>
            </a:r>
            <a:r>
              <a:rPr i="1" lang="en-US"/>
              <a:t>S </a:t>
            </a:r>
            <a:r>
              <a:rPr lang="en-US"/>
              <a:t>must perform the final</a:t>
            </a:r>
            <a:r>
              <a:rPr i="1" lang="en-US"/>
              <a:t> </a:t>
            </a:r>
            <a:r>
              <a:rPr b="1" lang="en-US"/>
              <a:t>write</a:t>
            </a:r>
            <a:r>
              <a:rPr lang="en-US"/>
              <a:t>(</a:t>
            </a:r>
            <a:r>
              <a:rPr i="1" lang="en-US"/>
              <a:t>Q</a:t>
            </a:r>
            <a:r>
              <a:rPr lang="en-US"/>
              <a:t>) operation in schedule </a:t>
            </a:r>
            <a:r>
              <a:rPr i="1" lang="en-US"/>
              <a:t>S´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As can be seen, view equivalence is also based purely on </a:t>
            </a:r>
            <a:r>
              <a:rPr b="1" lang="en-US"/>
              <a:t>reads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and </a:t>
            </a:r>
            <a:r>
              <a:rPr b="1" lang="en-US"/>
              <a:t>writes</a:t>
            </a:r>
            <a:r>
              <a:rPr lang="en-US"/>
              <a:t> alone.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 Serializability (Cont.)</a:t>
            </a:r>
            <a:endParaRPr/>
          </a:p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571500" y="1114425"/>
            <a:ext cx="7848600" cy="5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schedule </a:t>
            </a:r>
            <a:r>
              <a:rPr i="1" lang="en-US"/>
              <a:t>S</a:t>
            </a:r>
            <a:r>
              <a:rPr lang="en-US"/>
              <a:t> is </a:t>
            </a:r>
            <a:r>
              <a:rPr b="1" lang="en-US">
                <a:solidFill>
                  <a:schemeClr val="dk2"/>
                </a:solidFill>
              </a:rPr>
              <a:t>view serializable</a:t>
            </a:r>
            <a:r>
              <a:rPr i="1" lang="en-US"/>
              <a:t> </a:t>
            </a:r>
            <a:r>
              <a:rPr lang="en-US"/>
              <a:t> it is view equivalent to a serial schedule.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Every conflict serializable schedule is also view serializable.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Schedule 9 (from text) — a schedule which is view-serializable but </a:t>
            </a:r>
            <a:r>
              <a:rPr i="1" lang="en-US"/>
              <a:t>not </a:t>
            </a:r>
            <a:r>
              <a:rPr lang="en-US"/>
              <a:t>conflict serializable.</a:t>
            </a:r>
            <a:br>
              <a:rPr lang="en-US"/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	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Every view serializable schedule that is not conflict</a:t>
            </a:r>
            <a:br>
              <a:rPr lang="en-US"/>
            </a:br>
            <a:r>
              <a:rPr lang="en-US"/>
              <a:t> serializable has </a:t>
            </a:r>
            <a:r>
              <a:rPr b="1" lang="en-US">
                <a:solidFill>
                  <a:schemeClr val="dk2"/>
                </a:solidFill>
              </a:rPr>
              <a:t>blind writes.</a:t>
            </a:r>
            <a:endParaRPr/>
          </a:p>
        </p:txBody>
      </p:sp>
      <p:pic>
        <p:nvPicPr>
          <p:cNvPr id="243" name="Google Shape;243;p20"/>
          <p:cNvPicPr preferRelativeResize="0"/>
          <p:nvPr/>
        </p:nvPicPr>
        <p:blipFill rotWithShape="1">
          <a:blip r:embed="rId3">
            <a:alphaModFix/>
          </a:blip>
          <a:srcRect b="22174" l="438" r="1093" t="21298"/>
          <a:stretch/>
        </p:blipFill>
        <p:spPr>
          <a:xfrm>
            <a:off x="1905000" y="3071813"/>
            <a:ext cx="4838700" cy="208438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Notions of Serializability</a:t>
            </a:r>
            <a:endParaRPr/>
          </a:p>
        </p:txBody>
      </p:sp>
      <p:sp>
        <p:nvSpPr>
          <p:cNvPr id="249" name="Google Shape;249;p21"/>
          <p:cNvSpPr txBox="1"/>
          <p:nvPr>
            <p:ph idx="1" type="body"/>
          </p:nvPr>
        </p:nvSpPr>
        <p:spPr>
          <a:xfrm>
            <a:off x="1047750" y="688975"/>
            <a:ext cx="6724650" cy="5026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Schedule 8 (from text) given below produces same outcome as the serial schedule &lt;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,</a:t>
            </a:r>
            <a:r>
              <a:rPr baseline="-25000" lang="en-US"/>
              <a:t> </a:t>
            </a:r>
            <a:r>
              <a:rPr i="1" lang="en-US"/>
              <a:t>T</a:t>
            </a:r>
            <a:r>
              <a:rPr baseline="-25000" lang="en-US"/>
              <a:t>5</a:t>
            </a:r>
            <a:r>
              <a:rPr lang="en-US"/>
              <a:t> &gt;, yet is not conflict equivalent or view equivalent to it.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		</a:t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br>
              <a:rPr lang="en-US"/>
            </a:br>
            <a:br>
              <a:rPr lang="en-US"/>
            </a:b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Determining such equivalence requires analysis of operations other than read and write.</a:t>
            </a:r>
            <a:endParaRPr/>
          </a:p>
        </p:txBody>
      </p:sp>
      <p:pic>
        <p:nvPicPr>
          <p:cNvPr id="250" name="Google Shape;250;p21"/>
          <p:cNvPicPr preferRelativeResize="0"/>
          <p:nvPr/>
        </p:nvPicPr>
        <p:blipFill rotWithShape="1">
          <a:blip r:embed="rId3">
            <a:alphaModFix/>
          </a:blip>
          <a:srcRect b="1777" l="20762" r="23238" t="1270"/>
          <a:stretch/>
        </p:blipFill>
        <p:spPr>
          <a:xfrm>
            <a:off x="2781300" y="1806575"/>
            <a:ext cx="2873375" cy="37306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Recoverability</a:t>
            </a:r>
            <a:endParaRPr/>
          </a:p>
        </p:txBody>
      </p:sp>
      <p:sp>
        <p:nvSpPr>
          <p:cNvPr id="256" name="Google Shape;256;p22"/>
          <p:cNvSpPr txBox="1"/>
          <p:nvPr>
            <p:ph idx="1" type="body"/>
          </p:nvPr>
        </p:nvSpPr>
        <p:spPr>
          <a:xfrm>
            <a:off x="676275" y="158115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chemeClr val="dk2"/>
                </a:solidFill>
              </a:rPr>
              <a:t>Recoverable</a:t>
            </a:r>
            <a:r>
              <a:rPr b="1" i="1" lang="en-US">
                <a:solidFill>
                  <a:schemeClr val="dk2"/>
                </a:solidFill>
              </a:rPr>
              <a:t> </a:t>
            </a:r>
            <a:r>
              <a:rPr b="1" lang="en-US">
                <a:solidFill>
                  <a:schemeClr val="dk2"/>
                </a:solidFill>
              </a:rPr>
              <a:t>schedule</a:t>
            </a:r>
            <a:r>
              <a:rPr lang="en-US"/>
              <a:t> — if a transaction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reads a data items previously written by a transaction </a:t>
            </a:r>
            <a:r>
              <a:rPr i="1" lang="en-US"/>
              <a:t>T</a:t>
            </a:r>
            <a:r>
              <a:rPr baseline="-25000" i="1" lang="en-US"/>
              <a:t>i </a:t>
            </a:r>
            <a:r>
              <a:rPr lang="en-US"/>
              <a:t>, the commit operation of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 appears before the commit operation of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i="1" lang="en-US"/>
              <a:t>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following schedule (Schedule 11) is not recoverable if </a:t>
            </a:r>
            <a:r>
              <a:rPr i="1" lang="en-US"/>
              <a:t>T</a:t>
            </a:r>
            <a:r>
              <a:rPr baseline="-25000" i="1" lang="en-US"/>
              <a:t>9</a:t>
            </a:r>
            <a:r>
              <a:rPr i="1" lang="en-US"/>
              <a:t> </a:t>
            </a:r>
            <a:r>
              <a:rPr lang="en-US"/>
              <a:t>commits immediately after the read</a:t>
            </a:r>
            <a:br>
              <a:rPr lang="en-US"/>
            </a:br>
            <a:r>
              <a:rPr lang="en-US"/>
              <a:t>		</a:t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</a:t>
            </a:r>
            <a:r>
              <a:rPr i="1" lang="en-US"/>
              <a:t>T</a:t>
            </a:r>
            <a:r>
              <a:rPr baseline="-25000" lang="en-US"/>
              <a:t>8</a:t>
            </a:r>
            <a:r>
              <a:rPr lang="en-US" sz="1800"/>
              <a:t> </a:t>
            </a:r>
            <a:r>
              <a:rPr lang="en-US"/>
              <a:t>should abort, </a:t>
            </a:r>
            <a:r>
              <a:rPr i="1" lang="en-US"/>
              <a:t>T</a:t>
            </a:r>
            <a:r>
              <a:rPr baseline="-25000" lang="en-US"/>
              <a:t>9</a:t>
            </a:r>
            <a:r>
              <a:rPr lang="en-US"/>
              <a:t> would have read (and possibly shown to the user) an inconsistent database state.  Hence database must ensure that schedules are recoverable.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417513" y="909638"/>
            <a:ext cx="751363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address the effect of transaction failures on concurrently </a:t>
            </a:r>
            <a:b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 transactions.</a:t>
            </a:r>
            <a:endParaRPr/>
          </a:p>
        </p:txBody>
      </p:sp>
      <p:pic>
        <p:nvPicPr>
          <p:cNvPr id="258" name="Google Shape;258;p22"/>
          <p:cNvPicPr preferRelativeResize="0"/>
          <p:nvPr/>
        </p:nvPicPr>
        <p:blipFill rotWithShape="1">
          <a:blip r:embed="rId3">
            <a:alphaModFix/>
          </a:blip>
          <a:srcRect b="8073" l="865" r="5536" t="7152"/>
          <a:stretch/>
        </p:blipFill>
        <p:spPr>
          <a:xfrm>
            <a:off x="3022600" y="3440113"/>
            <a:ext cx="2489200" cy="169068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Recoverability (Cont.)</a:t>
            </a:r>
            <a:endParaRPr/>
          </a:p>
        </p:txBody>
      </p:sp>
      <p:sp>
        <p:nvSpPr>
          <p:cNvPr id="264" name="Google Shape;264;p23"/>
          <p:cNvSpPr txBox="1"/>
          <p:nvPr>
            <p:ph idx="1" type="body"/>
          </p:nvPr>
        </p:nvSpPr>
        <p:spPr>
          <a:xfrm>
            <a:off x="1047750" y="1392238"/>
            <a:ext cx="7169150" cy="4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chemeClr val="dk2"/>
                </a:solidFill>
              </a:rPr>
              <a:t>Cascading rollback</a:t>
            </a:r>
            <a:r>
              <a:rPr lang="en-US"/>
              <a:t> – a single transaction failure leads to a series of transaction rollbacks.  Consider the following schedule where none of the transactions has yet committed (so the schedule is recoverable)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If </a:t>
            </a:r>
            <a:r>
              <a:rPr i="1" lang="en-US"/>
              <a:t>T</a:t>
            </a:r>
            <a:r>
              <a:rPr baseline="-25000" lang="en-US"/>
              <a:t>10</a:t>
            </a:r>
            <a:r>
              <a:rPr lang="en-US"/>
              <a:t> fails, </a:t>
            </a:r>
            <a:r>
              <a:rPr i="1" lang="en-US"/>
              <a:t>T</a:t>
            </a:r>
            <a:r>
              <a:rPr baseline="-25000" lang="en-US"/>
              <a:t>11</a:t>
            </a:r>
            <a:r>
              <a:rPr lang="en-US"/>
              <a:t> and </a:t>
            </a:r>
            <a:r>
              <a:rPr i="1" lang="en-US"/>
              <a:t>T</a:t>
            </a:r>
            <a:r>
              <a:rPr baseline="-25000" lang="en-US"/>
              <a:t>12</a:t>
            </a:r>
            <a:r>
              <a:rPr lang="en-US"/>
              <a:t> must also be rolled back.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Can lead to the undoing of a significant amount of work</a:t>
            </a:r>
            <a:endParaRPr/>
          </a:p>
        </p:txBody>
      </p:sp>
      <p:pic>
        <p:nvPicPr>
          <p:cNvPr id="265" name="Google Shape;265;p23"/>
          <p:cNvPicPr preferRelativeResize="0"/>
          <p:nvPr/>
        </p:nvPicPr>
        <p:blipFill rotWithShape="1">
          <a:blip r:embed="rId3">
            <a:alphaModFix/>
          </a:blip>
          <a:srcRect b="11053" l="771" r="3470" t="10025"/>
          <a:stretch/>
        </p:blipFill>
        <p:spPr>
          <a:xfrm>
            <a:off x="2705100" y="2679700"/>
            <a:ext cx="3308350" cy="20447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Recoverability (Cont.)</a:t>
            </a:r>
            <a:endParaRPr/>
          </a:p>
        </p:txBody>
      </p:sp>
      <p:sp>
        <p:nvSpPr>
          <p:cNvPr id="271" name="Google Shape;271;p24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chemeClr val="dk2"/>
                </a:solidFill>
              </a:rPr>
              <a:t>Cascadeless</a:t>
            </a:r>
            <a:r>
              <a:rPr b="1" i="1" lang="en-US">
                <a:solidFill>
                  <a:schemeClr val="dk2"/>
                </a:solidFill>
              </a:rPr>
              <a:t> </a:t>
            </a:r>
            <a:r>
              <a:rPr b="1" lang="en-US">
                <a:solidFill>
                  <a:schemeClr val="dk2"/>
                </a:solidFill>
              </a:rPr>
              <a:t>schedules</a:t>
            </a:r>
            <a:r>
              <a:rPr lang="en-US"/>
              <a:t> — cascading rollbacks cannot occur; for each pair of transactions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and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such that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  reads a data item previously written by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, the commit operation of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 appears before the read operation of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Every cascadeless schedule is also recoverable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 is desirable to restrict the schedules to those that are cascadeless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Isolation</a:t>
            </a:r>
            <a:endParaRPr/>
          </a:p>
        </p:txBody>
      </p:sp>
      <p:sp>
        <p:nvSpPr>
          <p:cNvPr id="277" name="Google Shape;277;p25"/>
          <p:cNvSpPr txBox="1"/>
          <p:nvPr>
            <p:ph idx="1" type="body"/>
          </p:nvPr>
        </p:nvSpPr>
        <p:spPr>
          <a:xfrm>
            <a:off x="1047750" y="106362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Schedules must be conflict or view serializable, and recoverable, for the sake of database consistency, and preferably cascadeless.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policy in which only one transaction can execute at a time generates serial schedules, but provides a poor degree of concurrency..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Concurrency-control schemes tradeoff between the amount of concurrency they allow and the amount of overhead that they incur.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 schemes allow only conflict-serializable schedules to be generated, while others allow  view-serializable schedules that are not conflict-serializable.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 Definition in SQL</a:t>
            </a:r>
            <a:endParaRPr/>
          </a:p>
        </p:txBody>
      </p:sp>
      <p:sp>
        <p:nvSpPr>
          <p:cNvPr id="283" name="Google Shape;283;p26"/>
          <p:cNvSpPr txBox="1"/>
          <p:nvPr>
            <p:ph idx="1" type="body"/>
          </p:nvPr>
        </p:nvSpPr>
        <p:spPr>
          <a:xfrm>
            <a:off x="1000125" y="949325"/>
            <a:ext cx="72866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Data manipulation language must include a construct for specifying the set of actions that comprise a transaction.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 SQL, a transaction begins implicitly.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transaction in SQL ends by: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b="1" lang="en-US"/>
              <a:t>Commit work</a:t>
            </a:r>
            <a:r>
              <a:rPr lang="en-US"/>
              <a:t> commits current transaction and begins a new one.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b="1" lang="en-US"/>
              <a:t>Rollback work</a:t>
            </a:r>
            <a:r>
              <a:rPr lang="en-US"/>
              <a:t> causes current transaction to abort.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Levels of consistency specified by SQL-92: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b="1" lang="en-US"/>
              <a:t>Serializable </a:t>
            </a:r>
            <a:r>
              <a:rPr lang="en-US"/>
              <a:t>— default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b="1" lang="en-US"/>
              <a:t>Repeatable read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b="1" lang="en-US"/>
              <a:t>Read committed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890"/>
              <a:buChar char="★"/>
            </a:pPr>
            <a:r>
              <a:rPr b="1" lang="en-US"/>
              <a:t>Read uncommitted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Levels of Consistency in SQL-92</a:t>
            </a:r>
            <a:endParaRPr/>
          </a:p>
        </p:txBody>
      </p:sp>
      <p:sp>
        <p:nvSpPr>
          <p:cNvPr id="289" name="Google Shape;289;p27"/>
          <p:cNvSpPr txBox="1"/>
          <p:nvPr>
            <p:ph idx="1" type="body"/>
          </p:nvPr>
        </p:nvSpPr>
        <p:spPr>
          <a:xfrm>
            <a:off x="1028700" y="1016000"/>
            <a:ext cx="762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Serializable </a:t>
            </a:r>
            <a:r>
              <a:rPr lang="en-US"/>
              <a:t>— default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Repeatable read </a:t>
            </a:r>
            <a:r>
              <a:rPr lang="en-US"/>
              <a:t>—</a:t>
            </a:r>
            <a:r>
              <a:rPr b="1" lang="en-US"/>
              <a:t> </a:t>
            </a:r>
            <a:r>
              <a:rPr lang="en-US"/>
              <a:t>only committed records to be read, repeated reads of same record must return same value.  However, a transaction may not be serializable – it may find some records inserted by a transaction but not find others.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Read committed </a:t>
            </a:r>
            <a:r>
              <a:rPr lang="en-US"/>
              <a:t>—</a:t>
            </a:r>
            <a:r>
              <a:rPr b="1" lang="en-US"/>
              <a:t> </a:t>
            </a:r>
            <a:r>
              <a:rPr lang="en-US"/>
              <a:t>only committed records can be read, but successive reads of record may return different (but committed) values.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Read uncommitted</a:t>
            </a:r>
            <a:r>
              <a:rPr lang="en-US"/>
              <a:t> —</a:t>
            </a:r>
            <a:r>
              <a:rPr b="1" lang="en-US"/>
              <a:t> </a:t>
            </a:r>
            <a:r>
              <a:rPr lang="en-US"/>
              <a:t>even uncommitted records may be read. </a:t>
            </a:r>
            <a:endParaRPr b="1"/>
          </a:p>
        </p:txBody>
      </p:sp>
      <p:sp>
        <p:nvSpPr>
          <p:cNvPr id="290" name="Google Shape;290;p27"/>
          <p:cNvSpPr txBox="1"/>
          <p:nvPr/>
        </p:nvSpPr>
        <p:spPr>
          <a:xfrm>
            <a:off x="931863" y="4848225"/>
            <a:ext cx="75961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Lower degrees of consistency useful for gathering approximate</a:t>
            </a:r>
            <a:b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information about the database, e.g., statistics for query optimizer.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for Serializability</a:t>
            </a:r>
            <a:endParaRPr/>
          </a:p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1171575" y="904875"/>
            <a:ext cx="6724650" cy="310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Consider some schedule of a set of transactions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,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, ..., </a:t>
            </a:r>
            <a:r>
              <a:rPr i="1" lang="en-US"/>
              <a:t>T</a:t>
            </a:r>
            <a:r>
              <a:rPr baseline="-25000" i="1" lang="en-US"/>
              <a:t>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chemeClr val="dk2"/>
                </a:solidFill>
              </a:rPr>
              <a:t>Precedence graph</a:t>
            </a:r>
            <a:r>
              <a:rPr i="1" lang="en-US"/>
              <a:t> </a:t>
            </a:r>
            <a:r>
              <a:rPr lang="en-US"/>
              <a:t>— a direct graph where the vertices are the transactions (names).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draw an arc from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to </a:t>
            </a:r>
            <a:r>
              <a:rPr i="1" lang="en-US"/>
              <a:t>T</a:t>
            </a:r>
            <a:r>
              <a:rPr baseline="-25000" i="1" lang="en-US"/>
              <a:t>j</a:t>
            </a:r>
            <a:r>
              <a:rPr i="1" lang="en-US"/>
              <a:t> </a:t>
            </a:r>
            <a:r>
              <a:rPr lang="en-US"/>
              <a:t>if the two transaction conflict, and </a:t>
            </a:r>
            <a:r>
              <a:rPr i="1" lang="en-US"/>
              <a:t>T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accessed the data item on which the conflict arose earlier.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label the arc by the item that was accessed.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Example 1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4203700" y="3813175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4225925" y="6092825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 b="19947" l="3346" r="4724" t="19948"/>
          <a:stretch/>
        </p:blipFill>
        <p:spPr>
          <a:xfrm>
            <a:off x="2946400" y="4362450"/>
            <a:ext cx="2679700" cy="131445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db73650da4_0_14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db73650da4_0_14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g2db73650da4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b73650da4_0_20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2db73650da4_0_20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g2db73650da4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b73650da4_0_26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2db73650da4_0_26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g2db73650da4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Schedule (Schedule A)</a:t>
            </a:r>
            <a:endParaRPr/>
          </a:p>
        </p:txBody>
      </p:sp>
      <p:sp>
        <p:nvSpPr>
          <p:cNvPr id="329" name="Google Shape;329;p29"/>
          <p:cNvSpPr txBox="1"/>
          <p:nvPr>
            <p:ph idx="1" type="body"/>
          </p:nvPr>
        </p:nvSpPr>
        <p:spPr>
          <a:xfrm>
            <a:off x="1262063" y="731838"/>
            <a:ext cx="67246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607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	</a:t>
            </a:r>
            <a:r>
              <a:rPr i="1" lang="en-US"/>
              <a:t>T</a:t>
            </a:r>
            <a:r>
              <a:rPr baseline="-25000" lang="en-US"/>
              <a:t>1		 </a:t>
            </a:r>
            <a:r>
              <a:rPr i="1" lang="en-US"/>
              <a:t>T</a:t>
            </a:r>
            <a:r>
              <a:rPr baseline="-25000" lang="en-US"/>
              <a:t>2		 </a:t>
            </a:r>
            <a:r>
              <a:rPr i="1" lang="en-US"/>
              <a:t>T</a:t>
            </a:r>
            <a:r>
              <a:rPr baseline="-25000" lang="en-US"/>
              <a:t>3		 </a:t>
            </a:r>
            <a:r>
              <a:rPr i="1" lang="en-US"/>
              <a:t>T</a:t>
            </a:r>
            <a:r>
              <a:rPr baseline="-25000" lang="en-US"/>
              <a:t>4		 </a:t>
            </a:r>
            <a:r>
              <a:rPr i="1" lang="en-US"/>
              <a:t>T</a:t>
            </a:r>
            <a:r>
              <a:rPr baseline="-25000" lang="en-US"/>
              <a:t>5</a:t>
            </a:r>
            <a:br>
              <a:rPr lang="en-US"/>
            </a:br>
            <a:r>
              <a:rPr lang="en-US"/>
              <a:t>		read(X)</a:t>
            </a:r>
            <a:br>
              <a:rPr lang="en-US"/>
            </a:br>
            <a:r>
              <a:rPr lang="en-US"/>
              <a:t>read(Y)</a:t>
            </a:r>
            <a:br>
              <a:rPr lang="en-US"/>
            </a:br>
            <a:r>
              <a:rPr lang="en-US"/>
              <a:t>read(Z)</a:t>
            </a:r>
            <a:br>
              <a:rPr lang="en-US"/>
            </a:br>
            <a:r>
              <a:rPr lang="en-US"/>
              <a:t>								read(V)</a:t>
            </a:r>
            <a:br>
              <a:rPr lang="en-US"/>
            </a:br>
            <a:r>
              <a:rPr lang="en-US"/>
              <a:t>								read(W)</a:t>
            </a:r>
            <a:br>
              <a:rPr lang="en-US"/>
            </a:br>
            <a:r>
              <a:rPr lang="en-US"/>
              <a:t>								read(W)</a:t>
            </a:r>
            <a:br>
              <a:rPr lang="en-US"/>
            </a:br>
            <a:r>
              <a:rPr lang="en-US"/>
              <a:t>		read(Y)</a:t>
            </a:r>
            <a:br>
              <a:rPr lang="en-US"/>
            </a:br>
            <a:r>
              <a:rPr lang="en-US"/>
              <a:t>		write(Y)</a:t>
            </a:r>
            <a:br>
              <a:rPr lang="en-US"/>
            </a:br>
            <a:r>
              <a:rPr lang="en-US"/>
              <a:t>				write(Z)</a:t>
            </a:r>
            <a:br>
              <a:rPr lang="en-US"/>
            </a:br>
            <a:r>
              <a:rPr lang="en-US"/>
              <a:t>read(U)</a:t>
            </a:r>
            <a:br>
              <a:rPr lang="en-US"/>
            </a:br>
            <a:r>
              <a:rPr lang="en-US"/>
              <a:t>						read(Y)</a:t>
            </a:r>
            <a:br>
              <a:rPr lang="en-US"/>
            </a:br>
            <a:r>
              <a:rPr lang="en-US"/>
              <a:t>						write(Y)</a:t>
            </a:r>
            <a:br>
              <a:rPr lang="en-US"/>
            </a:br>
            <a:r>
              <a:rPr lang="en-US"/>
              <a:t>						read(Z)</a:t>
            </a:r>
            <a:br>
              <a:rPr lang="en-US"/>
            </a:br>
            <a:r>
              <a:rPr lang="en-US"/>
              <a:t>						write(Z)</a:t>
            </a:r>
            <a:endParaRPr/>
          </a:p>
          <a:p>
            <a:pPr indent="0" lvl="0" marL="346075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/>
              <a:t>read(U)</a:t>
            </a:r>
            <a:br>
              <a:rPr lang="en-US"/>
            </a:br>
            <a:r>
              <a:rPr lang="en-US"/>
              <a:t>write(U)</a:t>
            </a:r>
            <a:endParaRPr baseline="-25000"/>
          </a:p>
        </p:txBody>
      </p:sp>
      <p:cxnSp>
        <p:nvCxnSpPr>
          <p:cNvPr id="330" name="Google Shape;330;p29"/>
          <p:cNvCxnSpPr/>
          <p:nvPr/>
        </p:nvCxnSpPr>
        <p:spPr>
          <a:xfrm>
            <a:off x="1616075" y="1135063"/>
            <a:ext cx="54086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9"/>
          <p:cNvCxnSpPr/>
          <p:nvPr/>
        </p:nvCxnSpPr>
        <p:spPr>
          <a:xfrm>
            <a:off x="1595438" y="769938"/>
            <a:ext cx="0" cy="5810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9"/>
          <p:cNvCxnSpPr/>
          <p:nvPr/>
        </p:nvCxnSpPr>
        <p:spPr>
          <a:xfrm>
            <a:off x="2732088" y="769938"/>
            <a:ext cx="0" cy="5810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9"/>
          <p:cNvCxnSpPr/>
          <p:nvPr/>
        </p:nvCxnSpPr>
        <p:spPr>
          <a:xfrm>
            <a:off x="3854450" y="769938"/>
            <a:ext cx="0" cy="5800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9"/>
          <p:cNvCxnSpPr/>
          <p:nvPr/>
        </p:nvCxnSpPr>
        <p:spPr>
          <a:xfrm>
            <a:off x="4919663" y="769938"/>
            <a:ext cx="0" cy="582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9"/>
          <p:cNvCxnSpPr/>
          <p:nvPr/>
        </p:nvCxnSpPr>
        <p:spPr>
          <a:xfrm>
            <a:off x="5970588" y="769938"/>
            <a:ext cx="0" cy="586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29"/>
          <p:cNvCxnSpPr/>
          <p:nvPr/>
        </p:nvCxnSpPr>
        <p:spPr>
          <a:xfrm>
            <a:off x="7035800" y="769938"/>
            <a:ext cx="0" cy="58578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Precedence Graph for Schedule A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3179763" y="421005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i="1"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3" name="Google Shape;343;p30"/>
          <p:cNvSpPr/>
          <p:nvPr/>
        </p:nvSpPr>
        <p:spPr>
          <a:xfrm rot="10800000">
            <a:off x="3665538" y="4267200"/>
            <a:ext cx="1573212" cy="476250"/>
          </a:xfrm>
          <a:custGeom>
            <a:rect b="b" l="l" r="r" t="t"/>
            <a:pathLst>
              <a:path extrusionOk="0" fill="none" h="21600" w="36403">
                <a:moveTo>
                  <a:pt x="-1" y="14913"/>
                </a:moveTo>
                <a:cubicBezTo>
                  <a:pt x="2895" y="6020"/>
                  <a:pt x="11185" y="-1"/>
                  <a:pt x="20539" y="0"/>
                </a:cubicBezTo>
                <a:cubicBezTo>
                  <a:pt x="26563" y="0"/>
                  <a:pt x="32314" y="2516"/>
                  <a:pt x="36403" y="6940"/>
                </a:cubicBezTo>
              </a:path>
              <a:path extrusionOk="0" h="21600" w="36403">
                <a:moveTo>
                  <a:pt x="-1" y="14913"/>
                </a:moveTo>
                <a:cubicBezTo>
                  <a:pt x="2895" y="6020"/>
                  <a:pt x="11185" y="-1"/>
                  <a:pt x="20539" y="0"/>
                </a:cubicBezTo>
                <a:cubicBezTo>
                  <a:pt x="26563" y="0"/>
                  <a:pt x="32314" y="2516"/>
                  <a:pt x="36403" y="6940"/>
                </a:cubicBezTo>
                <a:lnTo>
                  <a:pt x="20539" y="21600"/>
                </a:lnTo>
                <a:lnTo>
                  <a:pt x="-1" y="14913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4" name="Google Shape;344;p30"/>
          <p:cNvSpPr txBox="1"/>
          <p:nvPr/>
        </p:nvSpPr>
        <p:spPr>
          <a:xfrm>
            <a:off x="5135563" y="4030663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i="1"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2944813" y="202565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i="1"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p30"/>
          <p:cNvSpPr/>
          <p:nvPr/>
        </p:nvSpPr>
        <p:spPr>
          <a:xfrm flipH="1" rot="5400000">
            <a:off x="4650582" y="2959894"/>
            <a:ext cx="1465262" cy="558800"/>
          </a:xfrm>
          <a:custGeom>
            <a:rect b="b" l="l" r="r" t="t"/>
            <a:pathLst>
              <a:path extrusionOk="0" fill="none" h="21600" w="33913">
                <a:moveTo>
                  <a:pt x="0" y="8547"/>
                </a:moveTo>
                <a:cubicBezTo>
                  <a:pt x="4083" y="3162"/>
                  <a:pt x="10452" y="-1"/>
                  <a:pt x="17210" y="0"/>
                </a:cubicBezTo>
                <a:cubicBezTo>
                  <a:pt x="23680" y="0"/>
                  <a:pt x="29810" y="2900"/>
                  <a:pt x="33912" y="7904"/>
                </a:cubicBezTo>
              </a:path>
              <a:path extrusionOk="0" h="21600" w="33913">
                <a:moveTo>
                  <a:pt x="0" y="8547"/>
                </a:moveTo>
                <a:cubicBezTo>
                  <a:pt x="4083" y="3162"/>
                  <a:pt x="10452" y="-1"/>
                  <a:pt x="17210" y="0"/>
                </a:cubicBezTo>
                <a:cubicBezTo>
                  <a:pt x="23680" y="0"/>
                  <a:pt x="29810" y="2900"/>
                  <a:pt x="33912" y="7904"/>
                </a:cubicBezTo>
                <a:lnTo>
                  <a:pt x="17210" y="21600"/>
                </a:lnTo>
                <a:lnTo>
                  <a:pt x="0" y="8547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5057775" y="202565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i="1"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8" name="Google Shape;348;p30"/>
          <p:cNvSpPr/>
          <p:nvPr/>
        </p:nvSpPr>
        <p:spPr>
          <a:xfrm flipH="1">
            <a:off x="3400425" y="1879600"/>
            <a:ext cx="1716088" cy="547688"/>
          </a:xfrm>
          <a:custGeom>
            <a:rect b="b" l="l" r="r" t="t"/>
            <a:pathLst>
              <a:path extrusionOk="0" fill="none" h="21600" w="39702">
                <a:moveTo>
                  <a:pt x="-1" y="14913"/>
                </a:moveTo>
                <a:cubicBezTo>
                  <a:pt x="2895" y="6020"/>
                  <a:pt x="11185" y="-1"/>
                  <a:pt x="20539" y="0"/>
                </a:cubicBezTo>
                <a:cubicBezTo>
                  <a:pt x="28596" y="0"/>
                  <a:pt x="35984" y="4484"/>
                  <a:pt x="39701" y="11633"/>
                </a:cubicBezTo>
              </a:path>
              <a:path extrusionOk="0" h="21600" w="39702">
                <a:moveTo>
                  <a:pt x="-1" y="14913"/>
                </a:moveTo>
                <a:cubicBezTo>
                  <a:pt x="2895" y="6020"/>
                  <a:pt x="11185" y="-1"/>
                  <a:pt x="20539" y="0"/>
                </a:cubicBezTo>
                <a:cubicBezTo>
                  <a:pt x="28596" y="0"/>
                  <a:pt x="35984" y="4484"/>
                  <a:pt x="39701" y="11633"/>
                </a:cubicBezTo>
                <a:lnTo>
                  <a:pt x="20539" y="21600"/>
                </a:lnTo>
                <a:lnTo>
                  <a:pt x="-1" y="14913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9" name="Google Shape;349;p30"/>
          <p:cNvSpPr/>
          <p:nvPr/>
        </p:nvSpPr>
        <p:spPr>
          <a:xfrm rot="-5400000">
            <a:off x="2218531" y="3085307"/>
            <a:ext cx="1827213" cy="444500"/>
          </a:xfrm>
          <a:custGeom>
            <a:rect b="b" l="l" r="r" t="t"/>
            <a:pathLst>
              <a:path extrusionOk="0" fill="none" h="22982" w="42266">
                <a:moveTo>
                  <a:pt x="44" y="22981"/>
                </a:moveTo>
                <a:cubicBezTo>
                  <a:pt x="14" y="22521"/>
                  <a:pt x="0" y="2206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108" y="-1"/>
                  <a:pt x="39499" y="6218"/>
                  <a:pt x="42265" y="15316"/>
                </a:cubicBezTo>
              </a:path>
              <a:path extrusionOk="0" h="22982" w="42266">
                <a:moveTo>
                  <a:pt x="44" y="22981"/>
                </a:moveTo>
                <a:cubicBezTo>
                  <a:pt x="14" y="22521"/>
                  <a:pt x="0" y="2206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108" y="-1"/>
                  <a:pt x="39499" y="6218"/>
                  <a:pt x="42265" y="15316"/>
                </a:cubicBezTo>
                <a:lnTo>
                  <a:pt x="21600" y="21600"/>
                </a:lnTo>
                <a:lnTo>
                  <a:pt x="44" y="2298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for Conflict Serializability</a:t>
            </a:r>
            <a:endParaRPr/>
          </a:p>
        </p:txBody>
      </p:sp>
      <p:sp>
        <p:nvSpPr>
          <p:cNvPr id="355" name="Google Shape;355;p31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schedule is conflict serializable if and only if its precedence graph is acyclic.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Cycle-detection algorithms exist which take order </a:t>
            </a:r>
            <a:r>
              <a:rPr i="1" lang="en-US"/>
              <a:t>n</a:t>
            </a:r>
            <a:r>
              <a:rPr baseline="30000" lang="en-US"/>
              <a:t>2</a:t>
            </a:r>
            <a:r>
              <a:rPr lang="en-US"/>
              <a:t> time, where </a:t>
            </a:r>
            <a:r>
              <a:rPr i="1" lang="en-US"/>
              <a:t>n </a:t>
            </a:r>
            <a:r>
              <a:rPr lang="en-US"/>
              <a:t>is the number of vertices in the graph.  (Better algorithms take order </a:t>
            </a:r>
            <a:r>
              <a:rPr i="1" lang="en-US"/>
              <a:t>n</a:t>
            </a:r>
            <a:r>
              <a:rPr lang="en-US"/>
              <a:t> + </a:t>
            </a:r>
            <a:r>
              <a:rPr i="1" lang="en-US"/>
              <a:t>e</a:t>
            </a:r>
            <a:r>
              <a:rPr lang="en-US"/>
              <a:t> where </a:t>
            </a:r>
            <a:r>
              <a:rPr i="1" lang="en-US"/>
              <a:t>e</a:t>
            </a:r>
            <a:r>
              <a:rPr lang="en-US"/>
              <a:t> is the number of edges.)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precedence graph is acyclic, the serializability order can be obtained by a </a:t>
            </a:r>
            <a:r>
              <a:rPr i="1" lang="en-US">
                <a:solidFill>
                  <a:schemeClr val="dk2"/>
                </a:solidFill>
              </a:rPr>
              <a:t>topological sorting</a:t>
            </a:r>
            <a:r>
              <a:rPr lang="en-US"/>
              <a:t> of the graph.  This is a linear order consistent with the partial order of the graph.</a:t>
            </a:r>
            <a:br>
              <a:rPr lang="en-US"/>
            </a:br>
            <a:r>
              <a:rPr lang="en-US"/>
              <a:t>For example, a serializability order for Schedule A would be</a:t>
            </a:r>
            <a:br>
              <a:rPr lang="en-US"/>
            </a:br>
            <a:r>
              <a:rPr i="1" lang="en-US"/>
              <a:t>T</a:t>
            </a:r>
            <a:r>
              <a:rPr baseline="-25000" lang="en-US"/>
              <a:t>5</a:t>
            </a:r>
            <a:r>
              <a:rPr lang="en-US"/>
              <a:t> → </a:t>
            </a:r>
            <a:r>
              <a:rPr i="1" lang="en-US"/>
              <a:t>T</a:t>
            </a:r>
            <a:r>
              <a:rPr baseline="-25000" lang="en-US"/>
              <a:t>1</a:t>
            </a:r>
            <a:r>
              <a:rPr lang="en-US"/>
              <a:t> → </a:t>
            </a:r>
            <a:r>
              <a:rPr i="1" lang="en-US"/>
              <a:t>T</a:t>
            </a:r>
            <a:r>
              <a:rPr baseline="-25000" lang="en-US"/>
              <a:t>3</a:t>
            </a:r>
            <a:r>
              <a:rPr lang="en-US"/>
              <a:t> → </a:t>
            </a:r>
            <a:r>
              <a:rPr i="1" lang="en-US"/>
              <a:t>T</a:t>
            </a:r>
            <a:r>
              <a:rPr baseline="-25000" lang="en-US"/>
              <a:t>2</a:t>
            </a:r>
            <a:r>
              <a:rPr lang="en-US"/>
              <a:t> → </a:t>
            </a:r>
            <a:r>
              <a:rPr i="1" lang="en-US"/>
              <a:t>T</a:t>
            </a:r>
            <a:r>
              <a:rPr baseline="-25000" lang="en-US"/>
              <a:t>4</a:t>
            </a:r>
            <a:r>
              <a:rPr lang="en-US"/>
              <a:t> 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for View Serializability</a:t>
            </a:r>
            <a:endParaRPr/>
          </a:p>
        </p:txBody>
      </p:sp>
      <p:sp>
        <p:nvSpPr>
          <p:cNvPr id="361" name="Google Shape;361;p32"/>
          <p:cNvSpPr txBox="1"/>
          <p:nvPr>
            <p:ph idx="1" type="body"/>
          </p:nvPr>
        </p:nvSpPr>
        <p:spPr>
          <a:xfrm>
            <a:off x="1096963" y="958850"/>
            <a:ext cx="76771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precedence graph test for conflict serializability must be modified to apply to a test for view serializability.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problem of checking if a schedule is view serializable falls in the class of </a:t>
            </a:r>
            <a:r>
              <a:rPr i="1" lang="en-US"/>
              <a:t>NP</a:t>
            </a:r>
            <a:r>
              <a:rPr lang="en-US"/>
              <a:t>-complete problems.  Thus existence of an efficient algorithm is unlikely.</a:t>
            </a:r>
            <a:br>
              <a:rPr lang="en-US"/>
            </a:br>
            <a:r>
              <a:rPr lang="en-US"/>
              <a:t>However practical algorithms that just check some </a:t>
            </a:r>
            <a:r>
              <a:rPr i="1" lang="en-US"/>
              <a:t>sufficient conditions</a:t>
            </a:r>
            <a:r>
              <a:rPr lang="en-US"/>
              <a:t> for view serializability can still be used.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"/>
          <p:cNvSpPr txBox="1"/>
          <p:nvPr>
            <p:ph type="title"/>
          </p:nvPr>
        </p:nvSpPr>
        <p:spPr>
          <a:xfrm>
            <a:off x="947738" y="133350"/>
            <a:ext cx="7753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Concurrency Control vs. Serializability Tests</a:t>
            </a:r>
            <a:endParaRPr/>
          </a:p>
        </p:txBody>
      </p:sp>
      <p:sp>
        <p:nvSpPr>
          <p:cNvPr id="367" name="Google Shape;367;p33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Testing a schedule for serializability </a:t>
            </a:r>
            <a:r>
              <a:rPr i="1" lang="en-US"/>
              <a:t>after</a:t>
            </a:r>
            <a:r>
              <a:rPr lang="en-US"/>
              <a:t> it has executed is a little too late!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Goal – to develop concurrency control protocols that will assure serializability.  They will generally not examine the precedence graph as it is being created; instead a protocol will impose a discipline that avoids nonseralizable schedules.</a:t>
            </a:r>
            <a:br>
              <a:rPr lang="en-US"/>
            </a:br>
            <a:r>
              <a:rPr lang="en-US"/>
              <a:t>Will study such protocols in Chapter 16.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Tests for serializability help understand why a concurrency control protocol is correct.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/>
          <p:nvPr>
            <p:ph type="title"/>
          </p:nvPr>
        </p:nvSpPr>
        <p:spPr>
          <a:xfrm>
            <a:off x="657225" y="3429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Schedule 2 --  A Serial Schedule in Which </a:t>
            </a:r>
            <a:br>
              <a:rPr lang="en-US" sz="2800"/>
            </a:br>
            <a:r>
              <a:rPr i="1" lang="en-US" sz="2800"/>
              <a:t>T</a:t>
            </a:r>
            <a:r>
              <a:rPr baseline="-25000" lang="en-US" sz="2800"/>
              <a:t>2</a:t>
            </a:r>
            <a:r>
              <a:rPr lang="en-US" sz="2800"/>
              <a:t> is Followed by </a:t>
            </a:r>
            <a:r>
              <a:rPr i="1" lang="en-US" sz="2800"/>
              <a:t>T</a:t>
            </a:r>
            <a:r>
              <a:rPr baseline="-25000" lang="en-US" sz="2800"/>
              <a:t>1</a:t>
            </a:r>
            <a:endParaRPr sz="2800"/>
          </a:p>
        </p:txBody>
      </p:sp>
      <p:pic>
        <p:nvPicPr>
          <p:cNvPr id="373" name="Google Shape;373;p34"/>
          <p:cNvPicPr preferRelativeResize="0"/>
          <p:nvPr/>
        </p:nvPicPr>
        <p:blipFill rotWithShape="1">
          <a:blip r:embed="rId3">
            <a:alphaModFix/>
          </a:blip>
          <a:srcRect b="4123" l="20413" r="23042" t="3299"/>
          <a:stretch/>
        </p:blipFill>
        <p:spPr>
          <a:xfrm>
            <a:off x="3060700" y="1565275"/>
            <a:ext cx="3513138" cy="43148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5"/>
          <p:cNvSpPr txBox="1"/>
          <p:nvPr>
            <p:ph type="title"/>
          </p:nvPr>
        </p:nvSpPr>
        <p:spPr>
          <a:xfrm>
            <a:off x="631825" y="2667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Schedule 5 -- Schedule  3 After Swapping A Pair of Instructions</a:t>
            </a:r>
            <a:endParaRPr/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1504" l="17833" r="18284" t="1505"/>
          <a:stretch/>
        </p:blipFill>
        <p:spPr>
          <a:xfrm>
            <a:off x="2870200" y="1362075"/>
            <a:ext cx="3598863" cy="40989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type="title"/>
          </p:nvPr>
        </p:nvSpPr>
        <p:spPr>
          <a:xfrm>
            <a:off x="657225" y="1905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Schedule 6 -- A Serial Schedule That is Equivalent to Schedule 3</a:t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 b="10662" l="22264" r="21616" t="4610"/>
          <a:stretch/>
        </p:blipFill>
        <p:spPr>
          <a:xfrm>
            <a:off x="2870200" y="1416050"/>
            <a:ext cx="3919538" cy="443865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 7</a:t>
            </a:r>
            <a:endParaRPr/>
          </a:p>
        </p:txBody>
      </p:sp>
      <p:pic>
        <p:nvPicPr>
          <p:cNvPr id="391" name="Google Shape;391;p37"/>
          <p:cNvPicPr preferRelativeResize="0"/>
          <p:nvPr/>
        </p:nvPicPr>
        <p:blipFill rotWithShape="1">
          <a:blip r:embed="rId3">
            <a:alphaModFix/>
          </a:blip>
          <a:srcRect b="17715" l="873" r="2623" t="16084"/>
          <a:stretch/>
        </p:blipFill>
        <p:spPr>
          <a:xfrm>
            <a:off x="2324100" y="1701800"/>
            <a:ext cx="5181600" cy="26670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657225" y="2540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Precedence Graph for </a:t>
            </a:r>
            <a:br>
              <a:rPr lang="en-US" sz="2800"/>
            </a:br>
            <a:r>
              <a:rPr lang="en-US" sz="2800"/>
              <a:t>(a) Schedule 1 and (b) Schedule 2</a:t>
            </a:r>
            <a:endParaRPr/>
          </a:p>
        </p:txBody>
      </p:sp>
      <p:pic>
        <p:nvPicPr>
          <p:cNvPr id="397" name="Google Shape;397;p38"/>
          <p:cNvPicPr preferRelativeResize="0"/>
          <p:nvPr/>
        </p:nvPicPr>
        <p:blipFill rotWithShape="1">
          <a:blip r:embed="rId3">
            <a:alphaModFix/>
          </a:blip>
          <a:srcRect b="39347" l="374" r="752" t="39098"/>
          <a:stretch/>
        </p:blipFill>
        <p:spPr>
          <a:xfrm>
            <a:off x="1562100" y="2057400"/>
            <a:ext cx="6843713" cy="1119188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Illustration of Topological Sorting</a:t>
            </a:r>
            <a:endParaRPr/>
          </a:p>
        </p:txBody>
      </p:sp>
      <p:pic>
        <p:nvPicPr>
          <p:cNvPr id="403" name="Google Shape;403;p39"/>
          <p:cNvPicPr preferRelativeResize="0"/>
          <p:nvPr/>
        </p:nvPicPr>
        <p:blipFill rotWithShape="1">
          <a:blip r:embed="rId3">
            <a:alphaModFix/>
          </a:blip>
          <a:srcRect b="1784" l="31639" r="32139" t="1563"/>
          <a:stretch/>
        </p:blipFill>
        <p:spPr>
          <a:xfrm>
            <a:off x="3517900" y="1498600"/>
            <a:ext cx="2125663" cy="42545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Precedence Graph</a:t>
            </a:r>
            <a:endParaRPr/>
          </a:p>
        </p:txBody>
      </p:sp>
      <p:pic>
        <p:nvPicPr>
          <p:cNvPr id="409" name="Google Shape;409;p40"/>
          <p:cNvPicPr preferRelativeResize="0"/>
          <p:nvPr/>
        </p:nvPicPr>
        <p:blipFill rotWithShape="1">
          <a:blip r:embed="rId3">
            <a:alphaModFix/>
          </a:blip>
          <a:srcRect b="3627" l="17294" r="17877" t="3107"/>
          <a:stretch/>
        </p:blipFill>
        <p:spPr>
          <a:xfrm>
            <a:off x="2870200" y="1236663"/>
            <a:ext cx="3538538" cy="381793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 txBox="1"/>
          <p:nvPr>
            <p:ph type="title"/>
          </p:nvPr>
        </p:nvSpPr>
        <p:spPr>
          <a:xfrm>
            <a:off x="6572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fig. 15.21</a:t>
            </a:r>
            <a:endParaRPr/>
          </a:p>
        </p:txBody>
      </p:sp>
      <p:pic>
        <p:nvPicPr>
          <p:cNvPr id="415" name="Google Shape;415;p41"/>
          <p:cNvPicPr preferRelativeResize="0"/>
          <p:nvPr/>
        </p:nvPicPr>
        <p:blipFill rotWithShape="1">
          <a:blip r:embed="rId3">
            <a:alphaModFix/>
          </a:blip>
          <a:srcRect b="18133" l="2800" r="4201" t="16533"/>
          <a:stretch/>
        </p:blipFill>
        <p:spPr>
          <a:xfrm>
            <a:off x="2374900" y="1735138"/>
            <a:ext cx="4949825" cy="260826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2000-02-23T18:58:38Z</dcterms:created>
  <dc:creator>Vaibhav Vasani</dc:creator>
</cp:coreProperties>
</file>