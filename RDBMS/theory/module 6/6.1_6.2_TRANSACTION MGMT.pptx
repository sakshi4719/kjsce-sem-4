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6858000" cx="9144000"/>
  <p:notesSz cx="7315200" cy="9601200"/>
  <p:embeddedFontLst>
    <p:embeddedFont>
      <p:font typeface="Helvetica Neue"/>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7">
          <p15:clr>
            <a:srgbClr val="000000"/>
          </p15:clr>
        </p15:guide>
        <p15:guide id="2" pos="576">
          <p15:clr>
            <a:srgbClr val="000000"/>
          </p15:clr>
        </p15:guide>
      </p15:sldGuideLst>
    </p:ext>
    <p:ext uri="GoogleSlidesCustomDataVersion2">
      <go:slidesCustomData xmlns:go="http://customooxmlschemas.google.com/" r:id="rId52" roundtripDataSignature="AMtx7mgLgjdEWTdMIBb39uqXNF34bztD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7" orient="horz"/>
        <p:guide pos="57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HelveticaNeue-regular.fntdata"/><Relationship Id="rId47" Type="http://schemas.openxmlformats.org/officeDocument/2006/relationships/slide" Target="slides/slide41.xml"/><Relationship Id="rId49" Type="http://schemas.openxmlformats.org/officeDocument/2006/relationships/font" Target="fonts/HelveticaNeue-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boldItalic.fntdata"/><Relationship Id="rId50" Type="http://schemas.openxmlformats.org/officeDocument/2006/relationships/font" Target="fonts/HelveticaNeue-italic.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7" cy="479425"/>
          </a:xfrm>
          <a:prstGeom prst="rect">
            <a:avLst/>
          </a:prstGeom>
          <a:noFill/>
          <a:ln>
            <a:noFill/>
          </a:ln>
        </p:spPr>
        <p:txBody>
          <a:bodyPr anchorCtr="0" anchor="ctr"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1pPr>
            <a:lvl2pPr lvl="1"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2pPr>
            <a:lvl3pPr lvl="2"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3pPr>
            <a:lvl4pPr lvl="3"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4pPr>
            <a:lvl5pPr lvl="4"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5pPr>
            <a:lvl6pPr lvl="5"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6pPr>
            <a:lvl7pPr lvl="6"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7pPr>
            <a:lvl8pPr lvl="7"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8pPr>
            <a:lvl9pPr lvl="8"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9pPr>
          </a:lstStyle>
          <a:p/>
        </p:txBody>
      </p:sp>
      <p:sp>
        <p:nvSpPr>
          <p:cNvPr id="4" name="Google Shape;4;n"/>
          <p:cNvSpPr txBox="1"/>
          <p:nvPr>
            <p:ph idx="10" type="dt"/>
          </p:nvPr>
        </p:nvSpPr>
        <p:spPr>
          <a:xfrm>
            <a:off x="4144962" y="0"/>
            <a:ext cx="3170237" cy="479425"/>
          </a:xfrm>
          <a:prstGeom prst="rect">
            <a:avLst/>
          </a:prstGeom>
          <a:noFill/>
          <a:ln>
            <a:noFill/>
          </a:ln>
        </p:spPr>
        <p:txBody>
          <a:bodyPr anchorCtr="0" anchor="ctr"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1pPr>
            <a:lvl2pPr lvl="1"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2pPr>
            <a:lvl3pPr lvl="2"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3pPr>
            <a:lvl4pPr lvl="3"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4pPr>
            <a:lvl5pPr lvl="4"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5pPr>
            <a:lvl6pPr lvl="5"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6pPr>
            <a:lvl7pPr lvl="6"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7pPr>
            <a:lvl8pPr lvl="7"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8pPr>
            <a:lvl9pPr lvl="8"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121775"/>
            <a:ext cx="3170237" cy="479425"/>
          </a:xfrm>
          <a:prstGeom prst="rect">
            <a:avLst/>
          </a:prstGeom>
          <a:noFill/>
          <a:ln>
            <a:noFill/>
          </a:ln>
        </p:spPr>
        <p:txBody>
          <a:bodyPr anchorCtr="0" anchor="b"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1pPr>
            <a:lvl2pPr lvl="1"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2pPr>
            <a:lvl3pPr lvl="2"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3pPr>
            <a:lvl4pPr lvl="3"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4pPr>
            <a:lvl5pPr lvl="4"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5pPr>
            <a:lvl6pPr lvl="5"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6pPr>
            <a:lvl7pPr lvl="6"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7pPr>
            <a:lvl8pPr lvl="7"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8pPr>
            <a:lvl9pPr lvl="8" marR="0" rtl="0" algn="r">
              <a:lnSpc>
                <a:spcPct val="100000"/>
              </a:lnSpc>
              <a:spcBef>
                <a:spcPts val="0"/>
              </a:spcBef>
              <a:spcAft>
                <a:spcPts val="0"/>
              </a:spcAft>
              <a:buClr>
                <a:srgbClr val="000000"/>
              </a:buClr>
              <a:buSzPts val="1400"/>
              <a:buFont typeface="Arial"/>
              <a:buNone/>
              <a:defRPr b="0" i="0" sz="1600" u="none" cap="none" strike="noStrike">
                <a:solidFill>
                  <a:srgbClr val="000000"/>
                </a:solidFill>
                <a:latin typeface="Helvetica Neue"/>
                <a:ea typeface="Helvetica Neue"/>
                <a:cs typeface="Helvetica Neue"/>
                <a:sym typeface="Helvetica Neue"/>
              </a:defRPr>
            </a:lvl9pPr>
          </a:lstStyle>
          <a:p/>
        </p:txBody>
      </p:sp>
      <p:sp>
        <p:nvSpPr>
          <p:cNvPr id="8" name="Google Shape;8;n"/>
          <p:cNvSpPr txBox="1"/>
          <p:nvPr>
            <p:ph idx="12" type="sldNum"/>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5" name="Google Shape;75;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1: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2" name="Google Shape;82;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2: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9" name="Google Shape;89;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3: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6" name="Google Shape;96;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4: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3" name="Google Shape;103;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5: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0" name="Google Shape;110;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6: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7" name="Google Shape;117;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7: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5" name="Google Shape;125;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8: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2" name="Google Shape;132;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9: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9" name="Google Shape;139;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0: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7" name="Google Shape;147;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1: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4" name="Google Shape;154;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2: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1" name="Google Shape;161;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13: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8" name="Google Shape;168;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14: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6" name="Google Shape;176;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5: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4" name="Google Shape;184;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6: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93" name="Google Shape;193;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7: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1" name="Google Shape;201;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8: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8" name="Google Shape;208;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9: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5" name="Google Shape;215;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20: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2" name="Google Shape;222;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21: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33" name="Google Shape;233;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2: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1" name="Google Shape;241;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3: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4: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248" name="Google Shape;248;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5: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4" name="Google Shape;254;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25: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6" name="Google Shape;266;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26: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7: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73" name="Google Shape;273;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7: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8: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1" name="Google Shape;281;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28: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9: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89" name="Google Shape;289;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96" name="Google Shape;296;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1: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04" name="Google Shape;304;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2: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10" name="Google Shape;310;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3: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8" name="Google Shape;318;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3: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4: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28" name="Google Shape;328;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34: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5: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37" name="Google Shape;337;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35: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6: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45" name="Google Shape;345;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36: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7: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2" name="Google Shape;352;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37: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8: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9" name="Google Shape;359;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38: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9: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66" name="Google Shape;366;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39: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0: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73" name="Google Shape;373;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40: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1:notes"/>
          <p:cNvSpPr txBox="1"/>
          <p:nvPr/>
        </p:nvSpPr>
        <p:spPr>
          <a:xfrm>
            <a:off x="4144962" y="9121775"/>
            <a:ext cx="3170237"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81" name="Google Shape;381;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41:notes"/>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43"/>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 name="Google Shape;20;p4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30"/>
              </a:spcBef>
              <a:spcAft>
                <a:spcPts val="0"/>
              </a:spcAft>
              <a:buSzPts val="1620"/>
              <a:buFont typeface="Arial"/>
              <a:buNone/>
              <a:defRPr/>
            </a:lvl1pPr>
            <a:lvl2pPr lvl="1" algn="l">
              <a:lnSpc>
                <a:spcPct val="100000"/>
              </a:lnSpc>
              <a:spcBef>
                <a:spcPts val="630"/>
              </a:spcBef>
              <a:spcAft>
                <a:spcPts val="0"/>
              </a:spcAft>
              <a:buSzPts val="1440"/>
              <a:buChar char="●"/>
              <a:defRPr/>
            </a:lvl2pPr>
            <a:lvl3pPr lvl="2" algn="l">
              <a:lnSpc>
                <a:spcPct val="100000"/>
              </a:lnSpc>
              <a:spcBef>
                <a:spcPts val="630"/>
              </a:spcBef>
              <a:spcAft>
                <a:spcPts val="0"/>
              </a:spcAft>
              <a:buSzPts val="1350"/>
              <a:buChar char="4"/>
              <a:defRPr/>
            </a:lvl3pPr>
            <a:lvl4pPr lvl="3" algn="l">
              <a:lnSpc>
                <a:spcPct val="100000"/>
              </a:lnSpc>
              <a:spcBef>
                <a:spcPts val="630"/>
              </a:spcBef>
              <a:spcAft>
                <a:spcPts val="0"/>
              </a:spcAft>
              <a:buSzPts val="1800"/>
              <a:buChar char="–"/>
              <a:defRPr/>
            </a:lvl4pPr>
            <a:lvl5pPr lvl="4" algn="l">
              <a:lnSpc>
                <a:spcPct val="100000"/>
              </a:lnSpc>
              <a:spcBef>
                <a:spcPts val="630"/>
              </a:spcBef>
              <a:spcAft>
                <a:spcPts val="0"/>
              </a:spcAft>
              <a:buSzPts val="1350"/>
              <a:buChar char="»"/>
              <a:defRPr/>
            </a:lvl5pPr>
            <a:lvl6pPr lvl="5" algn="l">
              <a:lnSpc>
                <a:spcPct val="100000"/>
              </a:lnSpc>
              <a:spcBef>
                <a:spcPts val="630"/>
              </a:spcBef>
              <a:spcAft>
                <a:spcPts val="0"/>
              </a:spcAft>
              <a:buSzPts val="1350"/>
              <a:buChar char="»"/>
              <a:defRPr/>
            </a:lvl6pPr>
            <a:lvl7pPr lvl="6" algn="l">
              <a:lnSpc>
                <a:spcPct val="100000"/>
              </a:lnSpc>
              <a:spcBef>
                <a:spcPts val="630"/>
              </a:spcBef>
              <a:spcAft>
                <a:spcPts val="0"/>
              </a:spcAft>
              <a:buSzPts val="1350"/>
              <a:buChar char="»"/>
              <a:defRPr/>
            </a:lvl7pPr>
            <a:lvl8pPr lvl="7" algn="l">
              <a:lnSpc>
                <a:spcPct val="100000"/>
              </a:lnSpc>
              <a:spcBef>
                <a:spcPts val="630"/>
              </a:spcBef>
              <a:spcAft>
                <a:spcPts val="0"/>
              </a:spcAft>
              <a:buSzPts val="1350"/>
              <a:buChar char="»"/>
              <a:defRPr/>
            </a:lvl8pPr>
            <a:lvl9pPr lvl="8" algn="l">
              <a:lnSpc>
                <a:spcPct val="100000"/>
              </a:lnSpc>
              <a:spcBef>
                <a:spcPts val="630"/>
              </a:spcBef>
              <a:spcAft>
                <a:spcPts val="0"/>
              </a:spcAft>
              <a:buSzPts val="1350"/>
              <a:buChar char="»"/>
              <a:defRPr/>
            </a:lvl9pPr>
          </a:lstStyle>
          <a:p/>
        </p:txBody>
      </p:sp>
      <p:sp>
        <p:nvSpPr>
          <p:cNvPr id="21" name="Google Shape;21;p43"/>
          <p:cNvSpPr txBox="1"/>
          <p:nvPr>
            <p:ph idx="11" type="ftr"/>
          </p:nvPr>
        </p:nvSpPr>
        <p:spPr>
          <a:xfrm>
            <a:off x="2862262" y="5780087"/>
            <a:ext cx="344805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2" name="Google Shape;22;p43"/>
          <p:cNvSpPr txBox="1"/>
          <p:nvPr>
            <p:ph idx="12" type="sldNum"/>
          </p:nvPr>
        </p:nvSpPr>
        <p:spPr>
          <a:xfrm>
            <a:off x="6596062" y="6218237"/>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4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45"/>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42900" lvl="3" marL="1828800" algn="l">
              <a:lnSpc>
                <a:spcPct val="100000"/>
              </a:lnSpc>
              <a:spcBef>
                <a:spcPts val="630"/>
              </a:spcBef>
              <a:spcAft>
                <a:spcPts val="0"/>
              </a:spcAft>
              <a:buSzPts val="180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6" name="Google Shape;36;p4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46"/>
          <p:cNvSpPr txBox="1"/>
          <p:nvPr>
            <p:ph idx="1" type="body"/>
          </p:nvPr>
        </p:nvSpPr>
        <p:spPr>
          <a:xfrm>
            <a:off x="914400" y="1106488"/>
            <a:ext cx="3754438" cy="4903787"/>
          </a:xfrm>
          <a:prstGeom prst="rect">
            <a:avLst/>
          </a:prstGeom>
          <a:noFill/>
          <a:ln>
            <a:noFill/>
          </a:ln>
        </p:spPr>
        <p:txBody>
          <a:bodyPr anchorCtr="0" anchor="t" bIns="45700" lIns="91425" spcFirstLastPara="1" rIns="91425" wrap="square" tIns="45700">
            <a:noAutofit/>
          </a:bodyPr>
          <a:lstStyle>
            <a:lvl1pPr indent="-388620" lvl="0" marL="457200" algn="l">
              <a:lnSpc>
                <a:spcPct val="100000"/>
              </a:lnSpc>
              <a:spcBef>
                <a:spcPts val="980"/>
              </a:spcBef>
              <a:spcAft>
                <a:spcPts val="0"/>
              </a:spcAft>
              <a:buSzPts val="2520"/>
              <a:buChar char="●"/>
              <a:defRPr sz="2800"/>
            </a:lvl1pPr>
            <a:lvl2pPr indent="-350519" lvl="1" marL="914400" algn="l">
              <a:lnSpc>
                <a:spcPct val="100000"/>
              </a:lnSpc>
              <a:spcBef>
                <a:spcPts val="840"/>
              </a:spcBef>
              <a:spcAft>
                <a:spcPts val="0"/>
              </a:spcAft>
              <a:buSzPts val="1920"/>
              <a:buChar char="●"/>
              <a:defRPr sz="2400"/>
            </a:lvl2pPr>
            <a:lvl3pPr indent="-323850" lvl="2" marL="1371600" algn="l">
              <a:lnSpc>
                <a:spcPct val="100000"/>
              </a:lnSpc>
              <a:spcBef>
                <a:spcPts val="700"/>
              </a:spcBef>
              <a:spcAft>
                <a:spcPts val="0"/>
              </a:spcAft>
              <a:buSzPts val="1500"/>
              <a:buChar char="4"/>
              <a:defRPr sz="2000"/>
            </a:lvl3pPr>
            <a:lvl4pPr indent="-342900" lvl="3" marL="1828800" algn="l">
              <a:lnSpc>
                <a:spcPct val="100000"/>
              </a:lnSpc>
              <a:spcBef>
                <a:spcPts val="630"/>
              </a:spcBef>
              <a:spcAft>
                <a:spcPts val="0"/>
              </a:spcAft>
              <a:buSzPts val="1800"/>
              <a:buFont typeface="Helvetica Neue"/>
              <a:buChar char="–"/>
              <a:defRPr sz="1800"/>
            </a:lvl4pPr>
            <a:lvl5pPr indent="-314325" lvl="4" marL="2286000" algn="l">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
        <p:nvSpPr>
          <p:cNvPr id="40" name="Google Shape;40;p46"/>
          <p:cNvSpPr txBox="1"/>
          <p:nvPr>
            <p:ph idx="2" type="body"/>
          </p:nvPr>
        </p:nvSpPr>
        <p:spPr>
          <a:xfrm>
            <a:off x="4821238" y="1106488"/>
            <a:ext cx="3754437" cy="4903787"/>
          </a:xfrm>
          <a:prstGeom prst="rect">
            <a:avLst/>
          </a:prstGeom>
          <a:noFill/>
          <a:ln>
            <a:noFill/>
          </a:ln>
        </p:spPr>
        <p:txBody>
          <a:bodyPr anchorCtr="0" anchor="t" bIns="45700" lIns="91425" spcFirstLastPara="1" rIns="91425" wrap="square" tIns="45700">
            <a:noAutofit/>
          </a:bodyPr>
          <a:lstStyle>
            <a:lvl1pPr indent="-388620" lvl="0" marL="457200" algn="l">
              <a:lnSpc>
                <a:spcPct val="100000"/>
              </a:lnSpc>
              <a:spcBef>
                <a:spcPts val="980"/>
              </a:spcBef>
              <a:spcAft>
                <a:spcPts val="0"/>
              </a:spcAft>
              <a:buSzPts val="2520"/>
              <a:buChar char="●"/>
              <a:defRPr sz="2800"/>
            </a:lvl1pPr>
            <a:lvl2pPr indent="-350519" lvl="1" marL="914400" algn="l">
              <a:lnSpc>
                <a:spcPct val="100000"/>
              </a:lnSpc>
              <a:spcBef>
                <a:spcPts val="840"/>
              </a:spcBef>
              <a:spcAft>
                <a:spcPts val="0"/>
              </a:spcAft>
              <a:buSzPts val="1920"/>
              <a:buChar char="●"/>
              <a:defRPr sz="2400"/>
            </a:lvl2pPr>
            <a:lvl3pPr indent="-323850" lvl="2" marL="1371600" algn="l">
              <a:lnSpc>
                <a:spcPct val="100000"/>
              </a:lnSpc>
              <a:spcBef>
                <a:spcPts val="700"/>
              </a:spcBef>
              <a:spcAft>
                <a:spcPts val="0"/>
              </a:spcAft>
              <a:buSzPts val="1500"/>
              <a:buChar char="4"/>
              <a:defRPr sz="2000"/>
            </a:lvl3pPr>
            <a:lvl4pPr indent="-342900" lvl="3" marL="1828800" algn="l">
              <a:lnSpc>
                <a:spcPct val="100000"/>
              </a:lnSpc>
              <a:spcBef>
                <a:spcPts val="630"/>
              </a:spcBef>
              <a:spcAft>
                <a:spcPts val="0"/>
              </a:spcAft>
              <a:buSzPts val="1800"/>
              <a:buFont typeface="Helvetica Neue"/>
              <a:buChar char="–"/>
              <a:defRPr sz="1800"/>
            </a:lvl4pPr>
            <a:lvl5pPr indent="-314325" lvl="4" marL="2286000" algn="l">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
        <p:nvSpPr>
          <p:cNvPr id="41" name="Google Shape;41;p4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2" name="Shape 42"/>
        <p:cNvGrpSpPr/>
        <p:nvPr/>
      </p:nvGrpSpPr>
      <p:grpSpPr>
        <a:xfrm>
          <a:off x="0" y="0"/>
          <a:ext cx="0" cy="0"/>
          <a:chOff x="0" y="0"/>
          <a:chExt cx="0" cy="0"/>
        </a:xfrm>
      </p:grpSpPr>
      <p:sp>
        <p:nvSpPr>
          <p:cNvPr id="43" name="Google Shape;43;p47"/>
          <p:cNvSpPr txBox="1"/>
          <p:nvPr>
            <p:ph type="title"/>
          </p:nvPr>
        </p:nvSpPr>
        <p:spPr>
          <a:xfrm rot="5400000">
            <a:off x="4889500" y="2054225"/>
            <a:ext cx="5892800" cy="20193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 name="Google Shape;44;p47"/>
          <p:cNvSpPr txBox="1"/>
          <p:nvPr>
            <p:ph idx="1" type="body"/>
          </p:nvPr>
        </p:nvSpPr>
        <p:spPr>
          <a:xfrm rot="5400000">
            <a:off x="774700" y="111125"/>
            <a:ext cx="5892800" cy="5905500"/>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42900" lvl="3" marL="1828800" algn="l">
              <a:lnSpc>
                <a:spcPct val="100000"/>
              </a:lnSpc>
              <a:spcBef>
                <a:spcPts val="630"/>
              </a:spcBef>
              <a:spcAft>
                <a:spcPts val="0"/>
              </a:spcAft>
              <a:buSzPts val="180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45" name="Google Shape;45;p4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6" name="Shape 46"/>
        <p:cNvGrpSpPr/>
        <p:nvPr/>
      </p:nvGrpSpPr>
      <p:grpSpPr>
        <a:xfrm>
          <a:off x="0" y="0"/>
          <a:ext cx="0" cy="0"/>
          <a:chOff x="0" y="0"/>
          <a:chExt cx="0" cy="0"/>
        </a:xfrm>
      </p:grpSpPr>
      <p:sp>
        <p:nvSpPr>
          <p:cNvPr id="47" name="Google Shape;47;p4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 name="Google Shape;48;p48"/>
          <p:cNvSpPr txBox="1"/>
          <p:nvPr>
            <p:ph idx="1" type="body"/>
          </p:nvPr>
        </p:nvSpPr>
        <p:spPr>
          <a:xfrm rot="5400000">
            <a:off x="2293144" y="-272257"/>
            <a:ext cx="4903787" cy="7661275"/>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42900" lvl="3" marL="1828800" algn="l">
              <a:lnSpc>
                <a:spcPct val="100000"/>
              </a:lnSpc>
              <a:spcBef>
                <a:spcPts val="630"/>
              </a:spcBef>
              <a:spcAft>
                <a:spcPts val="0"/>
              </a:spcAft>
              <a:buSzPts val="180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49" name="Google Shape;49;p4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0" name="Shape 50"/>
        <p:cNvGrpSpPr/>
        <p:nvPr/>
      </p:nvGrpSpPr>
      <p:grpSpPr>
        <a:xfrm>
          <a:off x="0" y="0"/>
          <a:ext cx="0" cy="0"/>
          <a:chOff x="0" y="0"/>
          <a:chExt cx="0" cy="0"/>
        </a:xfrm>
      </p:grpSpPr>
      <p:sp>
        <p:nvSpPr>
          <p:cNvPr id="51" name="Google Shape;51;p4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49"/>
          <p:cNvSpPr/>
          <p:nvPr>
            <p:ph idx="2" type="pic"/>
          </p:nvPr>
        </p:nvSpPr>
        <p:spPr>
          <a:xfrm>
            <a:off x="1792288" y="612775"/>
            <a:ext cx="5486400" cy="4114800"/>
          </a:xfrm>
          <a:prstGeom prst="rect">
            <a:avLst/>
          </a:prstGeom>
          <a:noFill/>
          <a:ln>
            <a:noFill/>
          </a:ln>
        </p:spPr>
      </p:sp>
      <p:sp>
        <p:nvSpPr>
          <p:cNvPr id="53" name="Google Shape;53;p4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90"/>
              </a:spcBef>
              <a:spcAft>
                <a:spcPts val="0"/>
              </a:spcAft>
              <a:buSzPts val="1260"/>
              <a:buNone/>
              <a:defRPr sz="1400"/>
            </a:lvl1pPr>
            <a:lvl2pPr indent="-228600" lvl="1" marL="914400" algn="l">
              <a:lnSpc>
                <a:spcPct val="100000"/>
              </a:lnSpc>
              <a:spcBef>
                <a:spcPts val="420"/>
              </a:spcBef>
              <a:spcAft>
                <a:spcPts val="0"/>
              </a:spcAft>
              <a:buSzPts val="960"/>
              <a:buNone/>
              <a:defRPr sz="1200"/>
            </a:lvl2pPr>
            <a:lvl3pPr indent="-228600" lvl="2" marL="1371600" algn="l">
              <a:lnSpc>
                <a:spcPct val="100000"/>
              </a:lnSpc>
              <a:spcBef>
                <a:spcPts val="350"/>
              </a:spcBef>
              <a:spcAft>
                <a:spcPts val="0"/>
              </a:spcAft>
              <a:buSzPts val="750"/>
              <a:buNone/>
              <a:defRPr sz="1000"/>
            </a:lvl3pPr>
            <a:lvl4pPr indent="-228600" lvl="3" marL="1828800" algn="l">
              <a:lnSpc>
                <a:spcPct val="100000"/>
              </a:lnSpc>
              <a:spcBef>
                <a:spcPts val="315"/>
              </a:spcBef>
              <a:spcAft>
                <a:spcPts val="0"/>
              </a:spcAft>
              <a:buSzPts val="900"/>
              <a:buFont typeface="Helvetica Neue"/>
              <a:buNone/>
              <a:defRPr sz="900"/>
            </a:lvl4pPr>
            <a:lvl5pPr indent="-228600" lvl="4" marL="2286000" algn="l">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
        <p:nvSpPr>
          <p:cNvPr id="54" name="Google Shape;54;p4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7" name="Google Shape;57;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lnSpc>
                <a:spcPct val="100000"/>
              </a:lnSpc>
              <a:spcBef>
                <a:spcPts val="1120"/>
              </a:spcBef>
              <a:spcAft>
                <a:spcPts val="0"/>
              </a:spcAft>
              <a:buSzPts val="2880"/>
              <a:buChar char="●"/>
              <a:defRPr sz="3200"/>
            </a:lvl1pPr>
            <a:lvl2pPr indent="-370840" lvl="1" marL="914400" algn="l">
              <a:lnSpc>
                <a:spcPct val="100000"/>
              </a:lnSpc>
              <a:spcBef>
                <a:spcPts val="980"/>
              </a:spcBef>
              <a:spcAft>
                <a:spcPts val="0"/>
              </a:spcAft>
              <a:buSzPts val="2240"/>
              <a:buChar char="●"/>
              <a:defRPr sz="2800"/>
            </a:lvl2pPr>
            <a:lvl3pPr indent="-342900" lvl="2" marL="1371600" algn="l">
              <a:lnSpc>
                <a:spcPct val="100000"/>
              </a:lnSpc>
              <a:spcBef>
                <a:spcPts val="840"/>
              </a:spcBef>
              <a:spcAft>
                <a:spcPts val="0"/>
              </a:spcAft>
              <a:buSzPts val="1800"/>
              <a:buChar char="4"/>
              <a:defRPr sz="2400"/>
            </a:lvl3pPr>
            <a:lvl4pPr indent="-355600" lvl="3" marL="1828800" algn="l">
              <a:lnSpc>
                <a:spcPct val="100000"/>
              </a:lnSpc>
              <a:spcBef>
                <a:spcPts val="700"/>
              </a:spcBef>
              <a:spcAft>
                <a:spcPts val="0"/>
              </a:spcAft>
              <a:buSzPts val="2000"/>
              <a:buFont typeface="Helvetica Neue"/>
              <a:buChar char="–"/>
              <a:defRPr sz="2000"/>
            </a:lvl4pPr>
            <a:lvl5pPr indent="-323850" lvl="4" marL="2286000" algn="l">
              <a:lnSpc>
                <a:spcPct val="100000"/>
              </a:lnSpc>
              <a:spcBef>
                <a:spcPts val="700"/>
              </a:spcBef>
              <a:spcAft>
                <a:spcPts val="0"/>
              </a:spcAft>
              <a:buSzPts val="1500"/>
              <a:buFont typeface="Helvetica Neue"/>
              <a:buChar char="»"/>
              <a:defRPr sz="2000"/>
            </a:lvl5pPr>
            <a:lvl6pPr indent="-323850" lvl="5" marL="2743200" algn="l">
              <a:lnSpc>
                <a:spcPct val="100000"/>
              </a:lnSpc>
              <a:spcBef>
                <a:spcPts val="700"/>
              </a:spcBef>
              <a:spcAft>
                <a:spcPts val="0"/>
              </a:spcAft>
              <a:buSzPts val="1500"/>
              <a:buFont typeface="Helvetica Neue"/>
              <a:buChar char="»"/>
              <a:defRPr sz="2000"/>
            </a:lvl6pPr>
            <a:lvl7pPr indent="-323850" lvl="6" marL="3200400" algn="l">
              <a:lnSpc>
                <a:spcPct val="100000"/>
              </a:lnSpc>
              <a:spcBef>
                <a:spcPts val="700"/>
              </a:spcBef>
              <a:spcAft>
                <a:spcPts val="0"/>
              </a:spcAft>
              <a:buSzPts val="1500"/>
              <a:buFont typeface="Helvetica Neue"/>
              <a:buChar char="»"/>
              <a:defRPr sz="2000"/>
            </a:lvl7pPr>
            <a:lvl8pPr indent="-323850" lvl="7" marL="3657600" algn="l">
              <a:lnSpc>
                <a:spcPct val="100000"/>
              </a:lnSpc>
              <a:spcBef>
                <a:spcPts val="700"/>
              </a:spcBef>
              <a:spcAft>
                <a:spcPts val="0"/>
              </a:spcAft>
              <a:buSzPts val="1500"/>
              <a:buFont typeface="Helvetica Neue"/>
              <a:buChar char="»"/>
              <a:defRPr sz="2000"/>
            </a:lvl8pPr>
            <a:lvl9pPr indent="-323850" lvl="8" marL="4114800" algn="l">
              <a:lnSpc>
                <a:spcPct val="100000"/>
              </a:lnSpc>
              <a:spcBef>
                <a:spcPts val="700"/>
              </a:spcBef>
              <a:spcAft>
                <a:spcPts val="0"/>
              </a:spcAft>
              <a:buSzPts val="1500"/>
              <a:buFont typeface="Helvetica Neue"/>
              <a:buChar char="»"/>
              <a:defRPr sz="2000"/>
            </a:lvl9pPr>
          </a:lstStyle>
          <a:p/>
        </p:txBody>
      </p:sp>
      <p:sp>
        <p:nvSpPr>
          <p:cNvPr id="58" name="Google Shape;58;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90"/>
              </a:spcBef>
              <a:spcAft>
                <a:spcPts val="0"/>
              </a:spcAft>
              <a:buSzPts val="1260"/>
              <a:buNone/>
              <a:defRPr sz="1400"/>
            </a:lvl1pPr>
            <a:lvl2pPr indent="-228600" lvl="1" marL="914400" algn="l">
              <a:lnSpc>
                <a:spcPct val="100000"/>
              </a:lnSpc>
              <a:spcBef>
                <a:spcPts val="420"/>
              </a:spcBef>
              <a:spcAft>
                <a:spcPts val="0"/>
              </a:spcAft>
              <a:buSzPts val="960"/>
              <a:buNone/>
              <a:defRPr sz="1200"/>
            </a:lvl2pPr>
            <a:lvl3pPr indent="-228600" lvl="2" marL="1371600" algn="l">
              <a:lnSpc>
                <a:spcPct val="100000"/>
              </a:lnSpc>
              <a:spcBef>
                <a:spcPts val="350"/>
              </a:spcBef>
              <a:spcAft>
                <a:spcPts val="0"/>
              </a:spcAft>
              <a:buSzPts val="750"/>
              <a:buNone/>
              <a:defRPr sz="1000"/>
            </a:lvl3pPr>
            <a:lvl4pPr indent="-228600" lvl="3" marL="1828800" algn="l">
              <a:lnSpc>
                <a:spcPct val="100000"/>
              </a:lnSpc>
              <a:spcBef>
                <a:spcPts val="315"/>
              </a:spcBef>
              <a:spcAft>
                <a:spcPts val="0"/>
              </a:spcAft>
              <a:buSzPts val="900"/>
              <a:buFont typeface="Helvetica Neue"/>
              <a:buNone/>
              <a:defRPr sz="900"/>
            </a:lvl4pPr>
            <a:lvl5pPr indent="-228600" lvl="4" marL="2286000" algn="l">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
        <p:nvSpPr>
          <p:cNvPr id="59" name="Google Shape;59;p5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5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52"/>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 name="Google Shape;64;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840"/>
              </a:spcBef>
              <a:spcAft>
                <a:spcPts val="0"/>
              </a:spcAft>
              <a:buSzPts val="2160"/>
              <a:buNone/>
              <a:defRPr b="1" sz="2400"/>
            </a:lvl1pPr>
            <a:lvl2pPr indent="-228600" lvl="1" marL="914400" algn="l">
              <a:lnSpc>
                <a:spcPct val="100000"/>
              </a:lnSpc>
              <a:spcBef>
                <a:spcPts val="700"/>
              </a:spcBef>
              <a:spcAft>
                <a:spcPts val="0"/>
              </a:spcAft>
              <a:buSzPts val="1600"/>
              <a:buNone/>
              <a:defRPr b="1" sz="2000"/>
            </a:lvl2pPr>
            <a:lvl3pPr indent="-228600" lvl="2" marL="1371600" algn="l">
              <a:lnSpc>
                <a:spcPct val="100000"/>
              </a:lnSpc>
              <a:spcBef>
                <a:spcPts val="630"/>
              </a:spcBef>
              <a:spcAft>
                <a:spcPts val="0"/>
              </a:spcAft>
              <a:buSzPts val="1350"/>
              <a:buNone/>
              <a:defRPr b="1" sz="1800"/>
            </a:lvl3pPr>
            <a:lvl4pPr indent="-228600" lvl="3" marL="1828800" algn="l">
              <a:lnSpc>
                <a:spcPct val="100000"/>
              </a:lnSpc>
              <a:spcBef>
                <a:spcPts val="560"/>
              </a:spcBef>
              <a:spcAft>
                <a:spcPts val="0"/>
              </a:spcAft>
              <a:buSzPts val="1600"/>
              <a:buFont typeface="Helvetica Neue"/>
              <a:buNone/>
              <a:defRPr b="1" sz="1600"/>
            </a:lvl4pPr>
            <a:lvl5pPr indent="-228600" lvl="4" marL="2286000" algn="l">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65" name="Google Shape;65;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lnSpc>
                <a:spcPct val="100000"/>
              </a:lnSpc>
              <a:spcBef>
                <a:spcPts val="840"/>
              </a:spcBef>
              <a:spcAft>
                <a:spcPts val="0"/>
              </a:spcAft>
              <a:buSzPts val="2160"/>
              <a:buChar char="●"/>
              <a:defRPr sz="2400"/>
            </a:lvl1pPr>
            <a:lvl2pPr indent="-330200" lvl="1" marL="914400" algn="l">
              <a:lnSpc>
                <a:spcPct val="100000"/>
              </a:lnSpc>
              <a:spcBef>
                <a:spcPts val="700"/>
              </a:spcBef>
              <a:spcAft>
                <a:spcPts val="0"/>
              </a:spcAft>
              <a:buSzPts val="1600"/>
              <a:buChar char="●"/>
              <a:defRPr sz="2000"/>
            </a:lvl2pPr>
            <a:lvl3pPr indent="-314325" lvl="2" marL="1371600" algn="l">
              <a:lnSpc>
                <a:spcPct val="100000"/>
              </a:lnSpc>
              <a:spcBef>
                <a:spcPts val="630"/>
              </a:spcBef>
              <a:spcAft>
                <a:spcPts val="0"/>
              </a:spcAft>
              <a:buSzPts val="1350"/>
              <a:buChar char="4"/>
              <a:defRPr sz="1800"/>
            </a:lvl3pPr>
            <a:lvl4pPr indent="-330200" lvl="3" marL="1828800" algn="l">
              <a:lnSpc>
                <a:spcPct val="100000"/>
              </a:lnSpc>
              <a:spcBef>
                <a:spcPts val="560"/>
              </a:spcBef>
              <a:spcAft>
                <a:spcPts val="0"/>
              </a:spcAft>
              <a:buSzPts val="1600"/>
              <a:buFont typeface="Helvetica Neue"/>
              <a:buChar char="–"/>
              <a:defRPr sz="1600"/>
            </a:lvl4pPr>
            <a:lvl5pPr indent="-304800" lvl="4" marL="2286000" algn="l">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
        <p:nvSpPr>
          <p:cNvPr id="66" name="Google Shape;66;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840"/>
              </a:spcBef>
              <a:spcAft>
                <a:spcPts val="0"/>
              </a:spcAft>
              <a:buSzPts val="2160"/>
              <a:buNone/>
              <a:defRPr b="1" sz="2400"/>
            </a:lvl1pPr>
            <a:lvl2pPr indent="-228600" lvl="1" marL="914400" algn="l">
              <a:lnSpc>
                <a:spcPct val="100000"/>
              </a:lnSpc>
              <a:spcBef>
                <a:spcPts val="700"/>
              </a:spcBef>
              <a:spcAft>
                <a:spcPts val="0"/>
              </a:spcAft>
              <a:buSzPts val="1600"/>
              <a:buNone/>
              <a:defRPr b="1" sz="2000"/>
            </a:lvl2pPr>
            <a:lvl3pPr indent="-228600" lvl="2" marL="1371600" algn="l">
              <a:lnSpc>
                <a:spcPct val="100000"/>
              </a:lnSpc>
              <a:spcBef>
                <a:spcPts val="630"/>
              </a:spcBef>
              <a:spcAft>
                <a:spcPts val="0"/>
              </a:spcAft>
              <a:buSzPts val="1350"/>
              <a:buNone/>
              <a:defRPr b="1" sz="1800"/>
            </a:lvl3pPr>
            <a:lvl4pPr indent="-228600" lvl="3" marL="1828800" algn="l">
              <a:lnSpc>
                <a:spcPct val="100000"/>
              </a:lnSpc>
              <a:spcBef>
                <a:spcPts val="560"/>
              </a:spcBef>
              <a:spcAft>
                <a:spcPts val="0"/>
              </a:spcAft>
              <a:buSzPts val="1600"/>
              <a:buFont typeface="Helvetica Neue"/>
              <a:buNone/>
              <a:defRPr b="1" sz="1600"/>
            </a:lvl4pPr>
            <a:lvl5pPr indent="-228600" lvl="4" marL="2286000" algn="l">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67" name="Google Shape;67;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lnSpc>
                <a:spcPct val="100000"/>
              </a:lnSpc>
              <a:spcBef>
                <a:spcPts val="840"/>
              </a:spcBef>
              <a:spcAft>
                <a:spcPts val="0"/>
              </a:spcAft>
              <a:buSzPts val="2160"/>
              <a:buChar char="●"/>
              <a:defRPr sz="2400"/>
            </a:lvl1pPr>
            <a:lvl2pPr indent="-330200" lvl="1" marL="914400" algn="l">
              <a:lnSpc>
                <a:spcPct val="100000"/>
              </a:lnSpc>
              <a:spcBef>
                <a:spcPts val="700"/>
              </a:spcBef>
              <a:spcAft>
                <a:spcPts val="0"/>
              </a:spcAft>
              <a:buSzPts val="1600"/>
              <a:buChar char="●"/>
              <a:defRPr sz="2000"/>
            </a:lvl2pPr>
            <a:lvl3pPr indent="-314325" lvl="2" marL="1371600" algn="l">
              <a:lnSpc>
                <a:spcPct val="100000"/>
              </a:lnSpc>
              <a:spcBef>
                <a:spcPts val="630"/>
              </a:spcBef>
              <a:spcAft>
                <a:spcPts val="0"/>
              </a:spcAft>
              <a:buSzPts val="1350"/>
              <a:buChar char="4"/>
              <a:defRPr sz="1800"/>
            </a:lvl3pPr>
            <a:lvl4pPr indent="-330200" lvl="3" marL="1828800" algn="l">
              <a:lnSpc>
                <a:spcPct val="100000"/>
              </a:lnSpc>
              <a:spcBef>
                <a:spcPts val="560"/>
              </a:spcBef>
              <a:spcAft>
                <a:spcPts val="0"/>
              </a:spcAft>
              <a:buSzPts val="1600"/>
              <a:buFont typeface="Helvetica Neue"/>
              <a:buChar char="–"/>
              <a:defRPr sz="1600"/>
            </a:lvl4pPr>
            <a:lvl5pPr indent="-304800" lvl="4" marL="2286000" algn="l">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
        <p:nvSpPr>
          <p:cNvPr id="68" name="Google Shape;68;p5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5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5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700"/>
              </a:spcBef>
              <a:spcAft>
                <a:spcPts val="0"/>
              </a:spcAft>
              <a:buSzPts val="1800"/>
              <a:buNone/>
              <a:defRPr sz="2000"/>
            </a:lvl1pPr>
            <a:lvl2pPr indent="-228600" lvl="1" marL="914400" algn="l">
              <a:lnSpc>
                <a:spcPct val="100000"/>
              </a:lnSpc>
              <a:spcBef>
                <a:spcPts val="630"/>
              </a:spcBef>
              <a:spcAft>
                <a:spcPts val="0"/>
              </a:spcAft>
              <a:buSzPts val="1440"/>
              <a:buNone/>
              <a:defRPr sz="1800"/>
            </a:lvl2pPr>
            <a:lvl3pPr indent="-228600" lvl="2" marL="1371600" algn="l">
              <a:lnSpc>
                <a:spcPct val="100000"/>
              </a:lnSpc>
              <a:spcBef>
                <a:spcPts val="560"/>
              </a:spcBef>
              <a:spcAft>
                <a:spcPts val="0"/>
              </a:spcAft>
              <a:buSzPts val="1200"/>
              <a:buNone/>
              <a:defRPr sz="1600"/>
            </a:lvl3pPr>
            <a:lvl4pPr indent="-228600" lvl="3" marL="1828800" algn="l">
              <a:lnSpc>
                <a:spcPct val="100000"/>
              </a:lnSpc>
              <a:spcBef>
                <a:spcPts val="490"/>
              </a:spcBef>
              <a:spcAft>
                <a:spcPts val="0"/>
              </a:spcAft>
              <a:buSzPts val="1400"/>
              <a:buFont typeface="Helvetica Neue"/>
              <a:buNone/>
              <a:defRPr sz="1400"/>
            </a:lvl4pPr>
            <a:lvl5pPr indent="-228600" lvl="4" marL="2286000" algn="l">
              <a:lnSpc>
                <a:spcPct val="100000"/>
              </a:lnSpc>
              <a:spcBef>
                <a:spcPts val="490"/>
              </a:spcBef>
              <a:spcAft>
                <a:spcPts val="0"/>
              </a:spcAft>
              <a:buSzPts val="1050"/>
              <a:buFont typeface="Helvetica Neue"/>
              <a:buNone/>
              <a:defRPr sz="1400"/>
            </a:lvl5pPr>
            <a:lvl6pPr indent="-228600" lvl="5" marL="2743200" algn="l">
              <a:lnSpc>
                <a:spcPct val="100000"/>
              </a:lnSpc>
              <a:spcBef>
                <a:spcPts val="490"/>
              </a:spcBef>
              <a:spcAft>
                <a:spcPts val="0"/>
              </a:spcAft>
              <a:buSzPts val="1050"/>
              <a:buFont typeface="Helvetica Neue"/>
              <a:buNone/>
              <a:defRPr sz="1400"/>
            </a:lvl6pPr>
            <a:lvl7pPr indent="-228600" lvl="6" marL="3200400" algn="l">
              <a:lnSpc>
                <a:spcPct val="100000"/>
              </a:lnSpc>
              <a:spcBef>
                <a:spcPts val="490"/>
              </a:spcBef>
              <a:spcAft>
                <a:spcPts val="0"/>
              </a:spcAft>
              <a:buSzPts val="1050"/>
              <a:buFont typeface="Helvetica Neue"/>
              <a:buNone/>
              <a:defRPr sz="1400"/>
            </a:lvl7pPr>
            <a:lvl8pPr indent="-228600" lvl="7" marL="3657600" algn="l">
              <a:lnSpc>
                <a:spcPct val="100000"/>
              </a:lnSpc>
              <a:spcBef>
                <a:spcPts val="490"/>
              </a:spcBef>
              <a:spcAft>
                <a:spcPts val="0"/>
              </a:spcAft>
              <a:buSzPts val="1050"/>
              <a:buFont typeface="Helvetica Neue"/>
              <a:buNone/>
              <a:defRPr sz="1400"/>
            </a:lvl8pPr>
            <a:lvl9pPr indent="-228600" lvl="8" marL="4114800" algn="l">
              <a:lnSpc>
                <a:spcPct val="100000"/>
              </a:lnSpc>
              <a:spcBef>
                <a:spcPts val="490"/>
              </a:spcBef>
              <a:spcAft>
                <a:spcPts val="0"/>
              </a:spcAft>
              <a:buSzPts val="1050"/>
              <a:buFont typeface="Helvetica Neue"/>
              <a:buNone/>
              <a:defRPr sz="1400"/>
            </a:lvl9pPr>
          </a:lstStyle>
          <a:p/>
        </p:txBody>
      </p:sp>
      <p:sp>
        <p:nvSpPr>
          <p:cNvPr id="72" name="Google Shape;72;p5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www.db-book.com/" TargetMode="Externa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slideLayout" Target="../slideLayouts/slideLayout1.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4.jp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 name="Shape 9"/>
        <p:cNvGrpSpPr/>
        <p:nvPr/>
      </p:nvGrpSpPr>
      <p:grpSpPr>
        <a:xfrm>
          <a:off x="0" y="0"/>
          <a:ext cx="0" cy="0"/>
          <a:chOff x="0" y="0"/>
          <a:chExt cx="0" cy="0"/>
        </a:xfrm>
      </p:grpSpPr>
      <p:sp>
        <p:nvSpPr>
          <p:cNvPr id="10" name="Google Shape;10;p42"/>
          <p:cNvSpPr/>
          <p:nvPr/>
        </p:nvSpPr>
        <p:spPr>
          <a:xfrm>
            <a:off x="1524000" y="1397000"/>
            <a:ext cx="6096000" cy="406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2"/>
          <p:cNvSpPr txBox="1"/>
          <p:nvPr/>
        </p:nvSpPr>
        <p:spPr>
          <a:xfrm>
            <a:off x="2673350" y="5726112"/>
            <a:ext cx="3694112" cy="793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600"/>
              <a:buFont typeface="Helvetica Neue"/>
              <a:buNone/>
            </a:pPr>
            <a:r>
              <a:rPr b="1" i="0" lang="en-US" sz="1600" u="none" cap="none" strike="noStrike">
                <a:solidFill>
                  <a:schemeClr val="dk2"/>
                </a:solidFill>
                <a:latin typeface="Helvetica Neue"/>
                <a:ea typeface="Helvetica Neue"/>
                <a:cs typeface="Helvetica Neue"/>
                <a:sym typeface="Helvetica Neue"/>
              </a:rPr>
              <a:t>Database System Concepts, 5th Ed</a:t>
            </a:r>
            <a:r>
              <a:rPr b="0" i="0" lang="en-US" sz="1600" u="none" cap="none" strike="noStrike">
                <a:solidFill>
                  <a:schemeClr val="dk1"/>
                </a:solidFill>
                <a:latin typeface="Helvetica Neue"/>
                <a:ea typeface="Helvetica Neue"/>
                <a:cs typeface="Helvetica Neue"/>
                <a:sym typeface="Helvetica Neue"/>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chemeClr val="dk2"/>
              </a:buClr>
              <a:buSzPts val="1200"/>
              <a:buFont typeface="Helvetica Neue"/>
              <a:buNone/>
            </a:pPr>
            <a:r>
              <a:rPr b="1" i="0" lang="en-US" sz="1200" u="none" cap="none" strike="noStrike">
                <a:solidFill>
                  <a:schemeClr val="dk2"/>
                </a:solidFill>
                <a:latin typeface="Helvetica Neue"/>
                <a:ea typeface="Helvetica Neue"/>
                <a:cs typeface="Helvetica Neue"/>
                <a:sym typeface="Helvetica Neue"/>
              </a:rPr>
              <a:t>©Silberschatz, Korth and Sudarshan</a:t>
            </a:r>
            <a:br>
              <a:rPr b="1" i="0" lang="en-US" sz="1200" u="none" cap="none" strike="noStrike">
                <a:solidFill>
                  <a:schemeClr val="dk2"/>
                </a:solidFill>
                <a:latin typeface="Helvetica Neue"/>
                <a:ea typeface="Helvetica Neue"/>
                <a:cs typeface="Helvetica Neue"/>
                <a:sym typeface="Helvetica Neue"/>
              </a:rPr>
            </a:br>
            <a:r>
              <a:rPr b="1" i="0" lang="en-US" sz="1200" u="none" cap="none" strike="noStrike">
                <a:solidFill>
                  <a:schemeClr val="dk2"/>
                </a:solidFill>
                <a:latin typeface="Helvetica Neue"/>
                <a:ea typeface="Helvetica Neue"/>
                <a:cs typeface="Helvetica Neue"/>
                <a:sym typeface="Helvetica Neue"/>
              </a:rPr>
              <a:t>See </a:t>
            </a:r>
            <a:r>
              <a:rPr b="1" i="0" lang="en-US" sz="1200" u="sng" cap="none" strike="noStrike">
                <a:solidFill>
                  <a:schemeClr val="hlink"/>
                </a:solidFill>
                <a:latin typeface="Helvetica Neue"/>
                <a:ea typeface="Helvetica Neue"/>
                <a:cs typeface="Helvetica Neue"/>
                <a:sym typeface="Helvetica Neue"/>
                <a:hlinkClick r:id="rId1"/>
              </a:rPr>
              <a:t>www.db-book.com</a:t>
            </a:r>
            <a:r>
              <a:rPr b="1" i="0" lang="en-US" sz="1200" u="none" cap="none" strike="noStrike">
                <a:solidFill>
                  <a:schemeClr val="dk2"/>
                </a:solidFill>
                <a:latin typeface="Helvetica Neue"/>
                <a:ea typeface="Helvetica Neue"/>
                <a:cs typeface="Helvetica Neue"/>
                <a:sym typeface="Helvetica Neue"/>
              </a:rPr>
              <a:t> for conditions on re-use </a:t>
            </a:r>
            <a:endParaRPr b="0" i="0" sz="1400" u="none" cap="none" strike="noStrike">
              <a:solidFill>
                <a:srgbClr val="000000"/>
              </a:solidFill>
              <a:latin typeface="Arial"/>
              <a:ea typeface="Arial"/>
              <a:cs typeface="Arial"/>
              <a:sym typeface="Arial"/>
            </a:endParaRPr>
          </a:p>
        </p:txBody>
      </p:sp>
      <p:pic>
        <p:nvPicPr>
          <p:cNvPr descr="Icon11" id="12" name="Google Shape;12;p42"/>
          <p:cNvPicPr preferRelativeResize="0"/>
          <p:nvPr/>
        </p:nvPicPr>
        <p:blipFill rotWithShape="1">
          <a:blip r:embed="rId2">
            <a:alphaModFix/>
          </a:blip>
          <a:srcRect b="0" l="0" r="0" t="0"/>
          <a:stretch/>
        </p:blipFill>
        <p:spPr>
          <a:xfrm>
            <a:off x="0" y="0"/>
            <a:ext cx="558800" cy="742950"/>
          </a:xfrm>
          <a:prstGeom prst="rect">
            <a:avLst/>
          </a:prstGeom>
          <a:noFill/>
          <a:ln>
            <a:noFill/>
          </a:ln>
        </p:spPr>
      </p:pic>
      <p:pic>
        <p:nvPicPr>
          <p:cNvPr descr="PH01266J" id="13" name="Google Shape;13;p42"/>
          <p:cNvPicPr preferRelativeResize="0"/>
          <p:nvPr/>
        </p:nvPicPr>
        <p:blipFill rotWithShape="1">
          <a:blip r:embed="rId3">
            <a:alphaModFix/>
          </a:blip>
          <a:srcRect b="26144" l="0" r="0" t="0"/>
          <a:stretch/>
        </p:blipFill>
        <p:spPr>
          <a:xfrm>
            <a:off x="8528050" y="6053137"/>
            <a:ext cx="615950" cy="614362"/>
          </a:xfrm>
          <a:prstGeom prst="rect">
            <a:avLst/>
          </a:prstGeom>
          <a:noFill/>
          <a:ln>
            <a:noFill/>
          </a:ln>
        </p:spPr>
      </p:pic>
      <p:sp>
        <p:nvSpPr>
          <p:cNvPr id="14" name="Google Shape;14;p42"/>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chemeClr va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rtl="0" algn="l">
              <a:lnSpc>
                <a:spcPct val="100000"/>
              </a:lnSpc>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5" name="Google Shape;15;p4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9pPr>
          </a:lstStyle>
          <a:p/>
        </p:txBody>
      </p:sp>
      <p:sp>
        <p:nvSpPr>
          <p:cNvPr id="16" name="Google Shape;16;p42"/>
          <p:cNvSpPr txBox="1"/>
          <p:nvPr>
            <p:ph idx="11" type="ftr"/>
          </p:nvPr>
        </p:nvSpPr>
        <p:spPr>
          <a:xfrm>
            <a:off x="2862262" y="5780087"/>
            <a:ext cx="344805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1pPr>
            <a:lvl2pPr lvl="1"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2pPr>
            <a:lvl3pPr lvl="2"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3pPr>
            <a:lvl4pPr lvl="3"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4pPr>
            <a:lvl5pPr lvl="4"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5pPr>
            <a:lvl6pPr lvl="5"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6pPr>
            <a:lvl7pPr lvl="6"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7pPr>
            <a:lvl8pPr lvl="7"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8pPr>
            <a:lvl9pPr lvl="8" marR="0" rtl="0" algn="r">
              <a:lnSpc>
                <a:spcPct val="100000"/>
              </a:lnSpc>
              <a:spcBef>
                <a:spcPts val="0"/>
              </a:spcBef>
              <a:spcAft>
                <a:spcPts val="0"/>
              </a:spcAft>
              <a:buClr>
                <a:srgbClr val="000000"/>
              </a:buClr>
              <a:buSzPts val="1400"/>
              <a:buFont typeface="Arial"/>
              <a:buNone/>
              <a:defRPr b="0" i="0" sz="1600" u="none" cap="none" strike="noStrike">
                <a:solidFill>
                  <a:schemeClr val="dk1"/>
                </a:solidFill>
                <a:latin typeface="Helvetica Neue"/>
                <a:ea typeface="Helvetica Neue"/>
                <a:cs typeface="Helvetica Neue"/>
                <a:sym typeface="Helvetica Neue"/>
              </a:defRPr>
            </a:lvl9pPr>
          </a:lstStyle>
          <a:p/>
        </p:txBody>
      </p:sp>
      <p:sp>
        <p:nvSpPr>
          <p:cNvPr id="17" name="Google Shape;17;p42"/>
          <p:cNvSpPr txBox="1"/>
          <p:nvPr>
            <p:ph idx="12" type="sldNum"/>
          </p:nvPr>
        </p:nvSpPr>
        <p:spPr>
          <a:xfrm>
            <a:off x="6596062" y="6218237"/>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578963"/>
              </a:buClr>
              <a:buSzPts val="1400"/>
              <a:buFont typeface="Times New Roman"/>
              <a:buNone/>
              <a:defRPr b="0" i="0" sz="1400" u="none" cap="none" strike="noStrike">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3" name="Shape 23"/>
        <p:cNvGrpSpPr/>
        <p:nvPr/>
      </p:nvGrpSpPr>
      <p:grpSpPr>
        <a:xfrm>
          <a:off x="0" y="0"/>
          <a:ext cx="0" cy="0"/>
          <a:chOff x="0" y="0"/>
          <a:chExt cx="0" cy="0"/>
        </a:xfrm>
      </p:grpSpPr>
      <p:sp>
        <p:nvSpPr>
          <p:cNvPr id="24" name="Google Shape;24;p44"/>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chemeClr va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rtl="0" algn="l">
              <a:lnSpc>
                <a:spcPct val="100000"/>
              </a:lnSpc>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25" name="Google Shape;25;p4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26" name="Google Shape;26;p44"/>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cap="none" strike="noStrike">
                <a:solidFill>
                  <a:schemeClr val="dk2"/>
                </a:solidFill>
                <a:latin typeface="Helvetica Neue"/>
                <a:ea typeface="Helvetica Neue"/>
                <a:cs typeface="Helvetica Neue"/>
                <a:sym typeface="Helvetica Neue"/>
              </a:rPr>
              <a:t>©Silberschatz, Korth and Sudarshan</a:t>
            </a:r>
            <a:endParaRPr b="0" i="0" sz="1400" u="none" cap="none" strike="noStrike">
              <a:solidFill>
                <a:srgbClr val="000000"/>
              </a:solidFill>
              <a:latin typeface="Arial"/>
              <a:ea typeface="Arial"/>
              <a:cs typeface="Arial"/>
              <a:sym typeface="Arial"/>
            </a:endParaRPr>
          </a:p>
        </p:txBody>
      </p:sp>
      <p:sp>
        <p:nvSpPr>
          <p:cNvPr id="27" name="Google Shape;27;p44"/>
          <p:cNvSpPr txBox="1"/>
          <p:nvPr/>
        </p:nvSpPr>
        <p:spPr>
          <a:xfrm>
            <a:off x="4446587" y="6613525"/>
            <a:ext cx="5143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cap="none" strike="noStrike">
                <a:solidFill>
                  <a:schemeClr val="dk2"/>
                </a:solidFill>
                <a:latin typeface="Helvetica Neue"/>
                <a:ea typeface="Helvetica Neue"/>
                <a:cs typeface="Helvetica Neue"/>
                <a:sym typeface="Helvetica Neue"/>
              </a:rPr>
              <a:t>15.</a:t>
            </a:r>
            <a:fld id="{00000000-1234-1234-1234-123412341234}" type="slidenum">
              <a:rPr b="1" i="0" lang="en-US" sz="1000" u="none" cap="none" strike="noStrike">
                <a:solidFill>
                  <a:schemeClr val="dk2"/>
                </a:solidFill>
                <a:latin typeface="Helvetica Neue"/>
                <a:ea typeface="Helvetica Neue"/>
                <a:cs typeface="Helvetica Neue"/>
                <a:sym typeface="Helvetica Neue"/>
              </a:rPr>
              <a:t>‹#›</a:t>
            </a:fld>
            <a:endParaRPr b="0" i="0" sz="1400" u="none" cap="none" strike="noStrike">
              <a:solidFill>
                <a:srgbClr val="000000"/>
              </a:solidFill>
              <a:latin typeface="Arial"/>
              <a:ea typeface="Arial"/>
              <a:cs typeface="Arial"/>
              <a:sym typeface="Arial"/>
            </a:endParaRPr>
          </a:p>
        </p:txBody>
      </p:sp>
      <p:sp>
        <p:nvSpPr>
          <p:cNvPr id="28" name="Google Shape;28;p4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400"/>
              <a:buFont typeface="Arial"/>
              <a:buNone/>
              <a:defRPr b="1" i="0" sz="3200" u="none" cap="none" strike="noStrike">
                <a:solidFill>
                  <a:schemeClr val="dk2"/>
                </a:solidFill>
                <a:latin typeface="Helvetica Neue"/>
                <a:ea typeface="Helvetica Neue"/>
                <a:cs typeface="Helvetica Neue"/>
                <a:sym typeface="Helvetica Neue"/>
              </a:defRPr>
            </a:lvl9pPr>
          </a:lstStyle>
          <a:p/>
        </p:txBody>
      </p:sp>
      <p:sp>
        <p:nvSpPr>
          <p:cNvPr id="29" name="Google Shape;29;p44"/>
          <p:cNvSpPr txBox="1"/>
          <p:nvPr/>
        </p:nvSpPr>
        <p:spPr>
          <a:xfrm>
            <a:off x="0" y="6613525"/>
            <a:ext cx="3435350"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Helvetica Neue"/>
              <a:buNone/>
            </a:pPr>
            <a:r>
              <a:rPr b="1" i="0" lang="en-US" sz="1000" u="none" cap="none" strike="noStrike">
                <a:solidFill>
                  <a:schemeClr val="dk2"/>
                </a:solidFill>
                <a:latin typeface="Helvetica Neue"/>
                <a:ea typeface="Helvetica Neue"/>
                <a:cs typeface="Helvetica Neue"/>
                <a:sym typeface="Helvetica Neue"/>
              </a:rPr>
              <a:t>Database System Concepts - 5</a:t>
            </a:r>
            <a:r>
              <a:rPr b="1" baseline="30000" i="0" lang="en-US" sz="1000" u="none" cap="none" strike="noStrike">
                <a:solidFill>
                  <a:schemeClr val="dk2"/>
                </a:solidFill>
                <a:latin typeface="Helvetica Neue"/>
                <a:ea typeface="Helvetica Neue"/>
                <a:cs typeface="Helvetica Neue"/>
                <a:sym typeface="Helvetica Neue"/>
              </a:rPr>
              <a:t>th</a:t>
            </a:r>
            <a:r>
              <a:rPr b="1" i="0" lang="en-US" sz="1000" u="none" cap="none" strike="noStrike">
                <a:solidFill>
                  <a:schemeClr val="dk2"/>
                </a:solidFill>
                <a:latin typeface="Helvetica Neue"/>
                <a:ea typeface="Helvetica Neue"/>
                <a:cs typeface="Helvetica Neue"/>
                <a:sym typeface="Helvetica Neue"/>
              </a:rPr>
              <a:t> Edition, Sep 12, 2006.</a:t>
            </a:r>
            <a:endParaRPr b="0" i="0" sz="1400" u="none" cap="none" strike="noStrike">
              <a:solidFill>
                <a:srgbClr val="000000"/>
              </a:solidFill>
              <a:latin typeface="Arial"/>
              <a:ea typeface="Arial"/>
              <a:cs typeface="Arial"/>
              <a:sym typeface="Arial"/>
            </a:endParaRPr>
          </a:p>
        </p:txBody>
      </p:sp>
      <p:sp>
        <p:nvSpPr>
          <p:cNvPr id="30" name="Google Shape;30;p44"/>
          <p:cNvSpPr/>
          <p:nvPr/>
        </p:nvSpPr>
        <p:spPr>
          <a:xfrm>
            <a:off x="8916987" y="5445125"/>
            <a:ext cx="227012" cy="47625"/>
          </a:xfrm>
          <a:custGeom>
            <a:rect b="b" l="l" r="r" t="t"/>
            <a:pathLst>
              <a:path extrusionOk="0" h="61" w="285">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Helvetica Neue"/>
              <a:ea typeface="Helvetica Neue"/>
              <a:cs typeface="Helvetica Neue"/>
              <a:sym typeface="Helvetica Neue"/>
            </a:endParaRPr>
          </a:p>
        </p:txBody>
      </p:sp>
      <p:pic>
        <p:nvPicPr>
          <p:cNvPr descr="Icon11" id="31" name="Google Shape;31;p44"/>
          <p:cNvPicPr preferRelativeResize="0"/>
          <p:nvPr/>
        </p:nvPicPr>
        <p:blipFill rotWithShape="1">
          <a:blip r:embed="rId1">
            <a:alphaModFix/>
          </a:blip>
          <a:srcRect b="0" l="0" r="0" t="0"/>
          <a:stretch/>
        </p:blipFill>
        <p:spPr>
          <a:xfrm>
            <a:off x="0" y="0"/>
            <a:ext cx="660400" cy="877887"/>
          </a:xfrm>
          <a:prstGeom prst="rect">
            <a:avLst/>
          </a:prstGeom>
          <a:noFill/>
          <a:ln>
            <a:noFill/>
          </a:ln>
        </p:spPr>
      </p:pic>
      <p:pic>
        <p:nvPicPr>
          <p:cNvPr descr="PH01266J" id="32" name="Google Shape;32;p44"/>
          <p:cNvPicPr preferRelativeResize="0"/>
          <p:nvPr/>
        </p:nvPicPr>
        <p:blipFill rotWithShape="1">
          <a:blip r:embed="rId2">
            <a:alphaModFix/>
          </a:blip>
          <a:srcRect b="26144" l="0" r="0" t="0"/>
          <a:stretch/>
        </p:blipFill>
        <p:spPr>
          <a:xfrm>
            <a:off x="8528050" y="6053137"/>
            <a:ext cx="615950" cy="6143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scaler.com/topics/dbms/serializability-in-dbm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Module 6</a:t>
            </a:r>
            <a:endParaRPr/>
          </a:p>
        </p:txBody>
      </p:sp>
      <p:sp>
        <p:nvSpPr>
          <p:cNvPr id="79" name="Google Shape;7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331470" lvl="0" marL="457200" rtl="0" algn="ctr">
              <a:lnSpc>
                <a:spcPct val="100000"/>
              </a:lnSpc>
              <a:spcBef>
                <a:spcPts val="630"/>
              </a:spcBef>
              <a:spcAft>
                <a:spcPts val="0"/>
              </a:spcAft>
              <a:buSzPts val="1620"/>
              <a:buFont typeface="Arial"/>
              <a:buNone/>
            </a:pPr>
            <a:r>
              <a:rPr lang="en-US"/>
              <a:t>Transaction Management, Concurrency Control and Recovery Protocols</a:t>
            </a:r>
            <a:endParaRPr/>
          </a:p>
          <a:p>
            <a:pPr indent="-331470" lvl="0" marL="457200" rtl="0" algn="ctr">
              <a:lnSpc>
                <a:spcPct val="100000"/>
              </a:lnSpc>
              <a:spcBef>
                <a:spcPts val="630"/>
              </a:spcBef>
              <a:spcAft>
                <a:spcPts val="0"/>
              </a:spcAft>
              <a:buSzPts val="162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Chapter 15:  Transactions</a:t>
            </a:r>
            <a:endParaRPr/>
          </a:p>
        </p:txBody>
      </p:sp>
      <p:sp>
        <p:nvSpPr>
          <p:cNvPr id="86" name="Google Shape;86;p2"/>
          <p:cNvSpPr txBox="1"/>
          <p:nvPr>
            <p:ph idx="1" type="body"/>
          </p:nvPr>
        </p:nvSpPr>
        <p:spPr>
          <a:xfrm>
            <a:off x="914400" y="1106487"/>
            <a:ext cx="6564312" cy="41370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Transaction Concept</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Transaction State</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Concurrent Executions</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Serializability</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Recoverability</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Implementation of Isolation</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Transaction Definition in SQL</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Testing for Serializability.</a:t>
            </a:r>
            <a:endParaRPr/>
          </a:p>
          <a:p>
            <a:pPr indent="-240030" lvl="0" marL="342900" rtl="0" algn="l">
              <a:lnSpc>
                <a:spcPct val="100000"/>
              </a:lnSpc>
              <a:spcBef>
                <a:spcPts val="630"/>
              </a:spcBef>
              <a:spcAft>
                <a:spcPts val="0"/>
              </a:spcAft>
              <a:buClr>
                <a:schemeClr val="dk2"/>
              </a:buClr>
              <a:buSzPts val="1620"/>
              <a:buFont typeface="Arial"/>
              <a:buNone/>
            </a:pPr>
            <a:r>
              <a:t/>
            </a:r>
            <a:endParaRPr/>
          </a:p>
          <a:p>
            <a:pPr indent="-240030" lvl="0" marL="342900" rtl="0" algn="l">
              <a:lnSpc>
                <a:spcPct val="100000"/>
              </a:lnSpc>
              <a:spcBef>
                <a:spcPts val="630"/>
              </a:spcBef>
              <a:spcAft>
                <a:spcPts val="0"/>
              </a:spcAft>
              <a:buClr>
                <a:schemeClr val="dk2"/>
              </a:buClr>
              <a:buSzPts val="1620"/>
              <a:buFont typeface="Arial"/>
              <a:buNone/>
            </a:pPr>
            <a:r>
              <a:t/>
            </a:r>
            <a:endParaRPr/>
          </a:p>
          <a:p>
            <a:pPr indent="-342900" lvl="0" marL="342900" rtl="0" algn="l">
              <a:lnSpc>
                <a:spcPct val="100000"/>
              </a:lnSpc>
              <a:spcBef>
                <a:spcPts val="630"/>
              </a:spcBef>
              <a:spcAft>
                <a:spcPts val="0"/>
              </a:spcAft>
              <a:buClr>
                <a:schemeClr val="dk2"/>
              </a:buClr>
              <a:buSzPts val="1620"/>
              <a:buFont typeface="Arial"/>
              <a:buChar char="●"/>
            </a:pPr>
            <a:r>
              <a:rPr b="1" lang="en-US"/>
              <a:t>Transaction</a:t>
            </a:r>
            <a:r>
              <a:rPr lang="en-US"/>
              <a:t>: </a:t>
            </a:r>
            <a:endParaRPr/>
          </a:p>
          <a:p>
            <a:pPr indent="-342900" lvl="0" marL="342900" rtl="0" algn="l">
              <a:lnSpc>
                <a:spcPct val="100000"/>
              </a:lnSpc>
              <a:spcBef>
                <a:spcPts val="630"/>
              </a:spcBef>
              <a:spcAft>
                <a:spcPts val="0"/>
              </a:spcAft>
              <a:buClr>
                <a:schemeClr val="dk2"/>
              </a:buClr>
              <a:buSzPts val="1620"/>
              <a:buFont typeface="Arial"/>
              <a:buChar char="●"/>
            </a:pPr>
            <a:r>
              <a:rPr lang="en-US"/>
              <a:t>set of operations used to perform a logical unit of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Transaction Concept</a:t>
            </a:r>
            <a:endParaRPr/>
          </a:p>
        </p:txBody>
      </p:sp>
      <p:sp>
        <p:nvSpPr>
          <p:cNvPr id="93" name="Google Shape;93;p3"/>
          <p:cNvSpPr txBox="1"/>
          <p:nvPr>
            <p:ph idx="1" type="body"/>
          </p:nvPr>
        </p:nvSpPr>
        <p:spPr>
          <a:xfrm>
            <a:off x="914400" y="1106487"/>
            <a:ext cx="7386637" cy="48672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1" i="0" lang="en-US" sz="1800" u="none">
                <a:solidFill>
                  <a:schemeClr val="dk2"/>
                </a:solidFill>
                <a:latin typeface="Helvetica Neue"/>
                <a:ea typeface="Helvetica Neue"/>
                <a:cs typeface="Helvetica Neue"/>
                <a:sym typeface="Helvetica Neue"/>
              </a:rPr>
              <a:t>transaction</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is a </a:t>
            </a:r>
            <a:r>
              <a:rPr b="0" i="1" lang="en-US" sz="1800" u="none">
                <a:solidFill>
                  <a:schemeClr val="dk1"/>
                </a:solidFill>
                <a:latin typeface="Helvetica Neue"/>
                <a:ea typeface="Helvetica Neue"/>
                <a:cs typeface="Helvetica Neue"/>
                <a:sym typeface="Helvetica Neue"/>
              </a:rPr>
              <a:t>unit </a:t>
            </a:r>
            <a:r>
              <a:rPr b="0" i="0" lang="en-US" sz="1800" u="none">
                <a:solidFill>
                  <a:schemeClr val="dk1"/>
                </a:solidFill>
                <a:latin typeface="Helvetica Neue"/>
                <a:ea typeface="Helvetica Neue"/>
                <a:cs typeface="Helvetica Neue"/>
                <a:sym typeface="Helvetica Neue"/>
              </a:rPr>
              <a:t>of program execution that accesses and  possibly updates various data items.</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E.g. transaction to transfer $50 from account A to account B:</a:t>
            </a:r>
            <a:endParaRPr/>
          </a:p>
          <a:p>
            <a:pPr indent="-285750" lvl="1" marL="742950" rtl="0" algn="l">
              <a:lnSpc>
                <a:spcPct val="10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1.	</a:t>
            </a:r>
            <a:r>
              <a:rPr b="1" i="0" lang="en-US" sz="1600" u="none">
                <a:solidFill>
                  <a:schemeClr val="dk1"/>
                </a:solidFill>
                <a:latin typeface="Helvetica Neue"/>
                <a:ea typeface="Helvetica Neue"/>
                <a:cs typeface="Helvetica Neue"/>
                <a:sym typeface="Helvetica Neue"/>
              </a:rPr>
              <a:t>read</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a:t>
            </a:r>
            <a:endParaRPr/>
          </a:p>
          <a:p>
            <a:pPr indent="-285750" lvl="1" marL="742950" rtl="0" algn="l">
              <a:lnSpc>
                <a:spcPct val="10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2.	</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A – </a:t>
            </a:r>
            <a:r>
              <a:rPr b="0" i="0" lang="en-US" sz="1600" u="none">
                <a:solidFill>
                  <a:schemeClr val="dk1"/>
                </a:solidFill>
                <a:latin typeface="Helvetica Neue"/>
                <a:ea typeface="Helvetica Neue"/>
                <a:cs typeface="Helvetica Neue"/>
                <a:sym typeface="Helvetica Neue"/>
              </a:rPr>
              <a:t>50</a:t>
            </a:r>
            <a:endParaRPr/>
          </a:p>
          <a:p>
            <a:pPr indent="-285750" lvl="1" marL="742950" rtl="0" algn="l">
              <a:lnSpc>
                <a:spcPct val="10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3.	</a:t>
            </a:r>
            <a:r>
              <a:rPr b="1" i="0" lang="en-US" sz="1600" u="none">
                <a:solidFill>
                  <a:schemeClr val="dk1"/>
                </a:solidFill>
                <a:latin typeface="Helvetica Neue"/>
                <a:ea typeface="Helvetica Neue"/>
                <a:cs typeface="Helvetica Neue"/>
                <a:sym typeface="Helvetica Neue"/>
              </a:rPr>
              <a:t>write</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a:t>
            </a:r>
            <a:endParaRPr/>
          </a:p>
          <a:p>
            <a:pPr indent="-285750" lvl="1" marL="742950" rtl="0" algn="l">
              <a:lnSpc>
                <a:spcPct val="10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4.	</a:t>
            </a:r>
            <a:r>
              <a:rPr b="1" i="0" lang="en-US" sz="1600" u="none">
                <a:solidFill>
                  <a:schemeClr val="dk1"/>
                </a:solidFill>
                <a:latin typeface="Helvetica Neue"/>
                <a:ea typeface="Helvetica Neue"/>
                <a:cs typeface="Helvetica Neue"/>
                <a:sym typeface="Helvetica Neue"/>
              </a:rPr>
              <a:t>read</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a:t>
            </a:r>
            <a:endParaRPr/>
          </a:p>
          <a:p>
            <a:pPr indent="-285750" lvl="1" marL="742950" rtl="0" algn="l">
              <a:lnSpc>
                <a:spcPct val="10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5.	</a:t>
            </a:r>
            <a:r>
              <a:rPr b="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B + </a:t>
            </a:r>
            <a:r>
              <a:rPr b="0" i="0" lang="en-US" sz="1600" u="none">
                <a:solidFill>
                  <a:schemeClr val="dk1"/>
                </a:solidFill>
                <a:latin typeface="Helvetica Neue"/>
                <a:ea typeface="Helvetica Neue"/>
                <a:cs typeface="Helvetica Neue"/>
                <a:sym typeface="Helvetica Neue"/>
              </a:rPr>
              <a:t>50</a:t>
            </a:r>
            <a:endParaRPr/>
          </a:p>
          <a:p>
            <a:pPr indent="-285750" lvl="1" marL="742950" rtl="0" algn="l">
              <a:lnSpc>
                <a:spcPct val="10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6.	</a:t>
            </a:r>
            <a:r>
              <a:rPr b="1" i="0" lang="en-US" sz="1600" u="none">
                <a:solidFill>
                  <a:schemeClr val="dk1"/>
                </a:solidFill>
                <a:latin typeface="Helvetica Neue"/>
                <a:ea typeface="Helvetica Neue"/>
                <a:cs typeface="Helvetica Neue"/>
                <a:sym typeface="Helvetica Neue"/>
              </a:rPr>
              <a:t>write</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B)</a:t>
            </a:r>
            <a:endParaRPr b="0" i="0" sz="1800" u="none">
              <a:solidFill>
                <a:schemeClr val="dk1"/>
              </a:solidFill>
              <a:latin typeface="Helvetica Neue"/>
              <a:ea typeface="Helvetica Neue"/>
              <a:cs typeface="Helvetica Neue"/>
              <a:sym typeface="Helvetica Neue"/>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Two main issues to deal with:</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Failures of various kinds, such as hardware failures and system crashes</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Concurrent execution of multiple transactions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Fund Transfer</a:t>
            </a:r>
            <a:endParaRPr/>
          </a:p>
        </p:txBody>
      </p:sp>
      <p:sp>
        <p:nvSpPr>
          <p:cNvPr id="100" name="Google Shape;100;p4"/>
          <p:cNvSpPr txBox="1"/>
          <p:nvPr>
            <p:ph idx="1" type="body"/>
          </p:nvPr>
        </p:nvSpPr>
        <p:spPr>
          <a:xfrm>
            <a:off x="914400" y="1106487"/>
            <a:ext cx="7653337" cy="50006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Transaction to transfer $50 from account A to account B:</a:t>
            </a:r>
            <a:endParaRPr/>
          </a:p>
          <a:p>
            <a:pPr indent="-285750" lvl="1" marL="742950" rtl="0" algn="l">
              <a:lnSpc>
                <a:spcPct val="10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1.	</a:t>
            </a:r>
            <a:r>
              <a:rPr b="1" i="0" lang="en-US" sz="1400" u="none">
                <a:solidFill>
                  <a:schemeClr val="dk1"/>
                </a:solidFill>
                <a:latin typeface="Helvetica Neue"/>
                <a:ea typeface="Helvetica Neue"/>
                <a:cs typeface="Helvetica Neue"/>
                <a:sym typeface="Helvetica Neue"/>
              </a:rPr>
              <a:t>read</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A</a:t>
            </a:r>
            <a:r>
              <a:rPr b="0" i="0" lang="en-US" sz="1400" u="none">
                <a:solidFill>
                  <a:schemeClr val="dk1"/>
                </a:solidFill>
                <a:latin typeface="Helvetica Neue"/>
                <a:ea typeface="Helvetica Neue"/>
                <a:cs typeface="Helvetica Neue"/>
                <a:sym typeface="Helvetica Neue"/>
              </a:rPr>
              <a:t>)</a:t>
            </a:r>
            <a:endParaRPr/>
          </a:p>
          <a:p>
            <a:pPr indent="-285750" lvl="1" marL="742950" rtl="0" algn="l">
              <a:lnSpc>
                <a:spcPct val="10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2.	</a:t>
            </a:r>
            <a:r>
              <a:rPr b="0" i="1" lang="en-US" sz="1400" u="none">
                <a:solidFill>
                  <a:schemeClr val="dk1"/>
                </a:solidFill>
                <a:latin typeface="Helvetica Neue"/>
                <a:ea typeface="Helvetica Neue"/>
                <a:cs typeface="Helvetica Neue"/>
                <a:sym typeface="Helvetica Neue"/>
              </a:rPr>
              <a:t>A</a:t>
            </a:r>
            <a:r>
              <a:rPr b="0" i="0" lang="en-US" sz="1400" u="none">
                <a:solidFill>
                  <a:schemeClr val="dk1"/>
                </a:solidFill>
                <a:latin typeface="Helvetica Neue"/>
                <a:ea typeface="Helvetica Neue"/>
                <a:cs typeface="Helvetica Neue"/>
                <a:sym typeface="Helvetica Neue"/>
              </a:rPr>
              <a:t> := </a:t>
            </a:r>
            <a:r>
              <a:rPr b="0" i="1" lang="en-US" sz="1400" u="none">
                <a:solidFill>
                  <a:schemeClr val="dk1"/>
                </a:solidFill>
                <a:latin typeface="Helvetica Neue"/>
                <a:ea typeface="Helvetica Neue"/>
                <a:cs typeface="Helvetica Neue"/>
                <a:sym typeface="Helvetica Neue"/>
              </a:rPr>
              <a:t>A – </a:t>
            </a:r>
            <a:r>
              <a:rPr b="0" i="0" lang="en-US" sz="1400" u="none">
                <a:solidFill>
                  <a:schemeClr val="dk1"/>
                </a:solidFill>
                <a:latin typeface="Helvetica Neue"/>
                <a:ea typeface="Helvetica Neue"/>
                <a:cs typeface="Helvetica Neue"/>
                <a:sym typeface="Helvetica Neue"/>
              </a:rPr>
              <a:t>50</a:t>
            </a:r>
            <a:endParaRPr/>
          </a:p>
          <a:p>
            <a:pPr indent="-285750" lvl="1" marL="742950" rtl="0" algn="l">
              <a:lnSpc>
                <a:spcPct val="10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3.	</a:t>
            </a:r>
            <a:r>
              <a:rPr b="1" i="0" lang="en-US" sz="1400" u="none">
                <a:solidFill>
                  <a:schemeClr val="dk1"/>
                </a:solidFill>
                <a:latin typeface="Helvetica Neue"/>
                <a:ea typeface="Helvetica Neue"/>
                <a:cs typeface="Helvetica Neue"/>
                <a:sym typeface="Helvetica Neue"/>
              </a:rPr>
              <a:t>write</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A</a:t>
            </a:r>
            <a:r>
              <a:rPr b="0" i="0" lang="en-US" sz="1400" u="none">
                <a:solidFill>
                  <a:schemeClr val="dk1"/>
                </a:solidFill>
                <a:latin typeface="Helvetica Neue"/>
                <a:ea typeface="Helvetica Neue"/>
                <a:cs typeface="Helvetica Neue"/>
                <a:sym typeface="Helvetica Neue"/>
              </a:rPr>
              <a:t>)</a:t>
            </a:r>
            <a:endParaRPr/>
          </a:p>
          <a:p>
            <a:pPr indent="-285750" lvl="1" marL="742950" rtl="0" algn="l">
              <a:lnSpc>
                <a:spcPct val="10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4.	</a:t>
            </a:r>
            <a:r>
              <a:rPr b="1" i="0" lang="en-US" sz="1400" u="none">
                <a:solidFill>
                  <a:schemeClr val="dk1"/>
                </a:solidFill>
                <a:latin typeface="Helvetica Neue"/>
                <a:ea typeface="Helvetica Neue"/>
                <a:cs typeface="Helvetica Neue"/>
                <a:sym typeface="Helvetica Neue"/>
              </a:rPr>
              <a:t>read</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B</a:t>
            </a:r>
            <a:r>
              <a:rPr b="0" i="0" lang="en-US" sz="1400" u="none">
                <a:solidFill>
                  <a:schemeClr val="dk1"/>
                </a:solidFill>
                <a:latin typeface="Helvetica Neue"/>
                <a:ea typeface="Helvetica Neue"/>
                <a:cs typeface="Helvetica Neue"/>
                <a:sym typeface="Helvetica Neue"/>
              </a:rPr>
              <a:t>)</a:t>
            </a:r>
            <a:endParaRPr/>
          </a:p>
          <a:p>
            <a:pPr indent="-285750" lvl="1" marL="742950" rtl="0" algn="l">
              <a:lnSpc>
                <a:spcPct val="10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5.	</a:t>
            </a:r>
            <a:r>
              <a:rPr b="0" i="1" lang="en-US" sz="1400" u="none">
                <a:solidFill>
                  <a:schemeClr val="dk1"/>
                </a:solidFill>
                <a:latin typeface="Helvetica Neue"/>
                <a:ea typeface="Helvetica Neue"/>
                <a:cs typeface="Helvetica Neue"/>
                <a:sym typeface="Helvetica Neue"/>
              </a:rPr>
              <a:t>B</a:t>
            </a:r>
            <a:r>
              <a:rPr b="0" i="0" lang="en-US" sz="1400" u="none">
                <a:solidFill>
                  <a:schemeClr val="dk1"/>
                </a:solidFill>
                <a:latin typeface="Helvetica Neue"/>
                <a:ea typeface="Helvetica Neue"/>
                <a:cs typeface="Helvetica Neue"/>
                <a:sym typeface="Helvetica Neue"/>
              </a:rPr>
              <a:t> := </a:t>
            </a:r>
            <a:r>
              <a:rPr b="0" i="1" lang="en-US" sz="1400" u="none">
                <a:solidFill>
                  <a:schemeClr val="dk1"/>
                </a:solidFill>
                <a:latin typeface="Helvetica Neue"/>
                <a:ea typeface="Helvetica Neue"/>
                <a:cs typeface="Helvetica Neue"/>
                <a:sym typeface="Helvetica Neue"/>
              </a:rPr>
              <a:t>B + </a:t>
            </a:r>
            <a:r>
              <a:rPr b="0" i="0" lang="en-US" sz="1400" u="none">
                <a:solidFill>
                  <a:schemeClr val="dk1"/>
                </a:solidFill>
                <a:latin typeface="Helvetica Neue"/>
                <a:ea typeface="Helvetica Neue"/>
                <a:cs typeface="Helvetica Neue"/>
                <a:sym typeface="Helvetica Neue"/>
              </a:rPr>
              <a:t>50</a:t>
            </a:r>
            <a:endParaRPr/>
          </a:p>
          <a:p>
            <a:pPr indent="-285750" lvl="1" marL="742950" rtl="0" algn="l">
              <a:lnSpc>
                <a:spcPct val="10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6.	</a:t>
            </a:r>
            <a:r>
              <a:rPr b="1" i="0" lang="en-US" sz="1400" u="none">
                <a:solidFill>
                  <a:schemeClr val="dk1"/>
                </a:solidFill>
                <a:latin typeface="Helvetica Neue"/>
                <a:ea typeface="Helvetica Neue"/>
                <a:cs typeface="Helvetica Neue"/>
                <a:sym typeface="Helvetica Neue"/>
              </a:rPr>
              <a:t>write</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B)</a:t>
            </a:r>
            <a:endParaRPr/>
          </a:p>
          <a:p>
            <a:pPr indent="-342900" lvl="0" marL="342900" rtl="0" algn="l">
              <a:lnSpc>
                <a:spcPct val="100000"/>
              </a:lnSpc>
              <a:spcBef>
                <a:spcPts val="560"/>
              </a:spcBef>
              <a:spcAft>
                <a:spcPts val="0"/>
              </a:spcAft>
              <a:buClr>
                <a:schemeClr val="dk2"/>
              </a:buClr>
              <a:buSzPts val="1440"/>
              <a:buFont typeface="Arial"/>
              <a:buChar char="●"/>
            </a:pPr>
            <a:r>
              <a:rPr b="1" i="0" lang="en-US" sz="1600" u="none">
                <a:solidFill>
                  <a:schemeClr val="dk2"/>
                </a:solidFill>
                <a:latin typeface="Helvetica Neue"/>
                <a:ea typeface="Helvetica Neue"/>
                <a:cs typeface="Helvetica Neue"/>
                <a:sym typeface="Helvetica Neue"/>
              </a:rPr>
              <a:t>Atomicity requirement</a:t>
            </a:r>
            <a:r>
              <a:rPr b="0" i="0" lang="en-US" sz="1600" u="none">
                <a:solidFill>
                  <a:schemeClr val="dk1"/>
                </a:solidFill>
                <a:latin typeface="Helvetica Neue"/>
                <a:ea typeface="Helvetica Neue"/>
                <a:cs typeface="Helvetica Neue"/>
                <a:sym typeface="Helvetica Neue"/>
              </a:rPr>
              <a:t> </a:t>
            </a:r>
            <a:endParaRPr/>
          </a:p>
          <a:p>
            <a:pPr indent="-285750" lvl="1" marL="742950" rtl="0" algn="l">
              <a:lnSpc>
                <a:spcPct val="100000"/>
              </a:lnSpc>
              <a:spcBef>
                <a:spcPts val="560"/>
              </a:spcBef>
              <a:spcAft>
                <a:spcPts val="0"/>
              </a:spcAft>
              <a:buClr>
                <a:schemeClr val="hlink"/>
              </a:buClr>
              <a:buSzPts val="1280"/>
              <a:buFont typeface="Arial"/>
              <a:buChar char="●"/>
            </a:pPr>
            <a:r>
              <a:rPr b="0" i="0" lang="en-US" sz="1600" u="none">
                <a:solidFill>
                  <a:schemeClr val="dk1"/>
                </a:solidFill>
                <a:latin typeface="Helvetica Neue"/>
                <a:ea typeface="Helvetica Neue"/>
                <a:cs typeface="Helvetica Neue"/>
                <a:sym typeface="Helvetica Neue"/>
              </a:rPr>
              <a:t>if the transaction fails after step 3 and before step 6, money will be “lost” leading to an inconsistent database state</a:t>
            </a:r>
            <a:endParaRPr/>
          </a:p>
          <a:p>
            <a:pPr indent="-228600" lvl="2" marL="1085850" rtl="0" algn="l">
              <a:lnSpc>
                <a:spcPct val="100000"/>
              </a:lnSpc>
              <a:spcBef>
                <a:spcPts val="560"/>
              </a:spcBef>
              <a:spcAft>
                <a:spcPts val="0"/>
              </a:spcAft>
              <a:buClr>
                <a:srgbClr val="33CC33"/>
              </a:buClr>
              <a:buSzPts val="1200"/>
              <a:buFont typeface="Arimo"/>
              <a:buChar char="4"/>
            </a:pPr>
            <a:r>
              <a:rPr b="0" i="0" lang="en-US" sz="1600" u="none">
                <a:solidFill>
                  <a:schemeClr val="dk1"/>
                </a:solidFill>
                <a:latin typeface="Helvetica Neue"/>
                <a:ea typeface="Helvetica Neue"/>
                <a:cs typeface="Helvetica Neue"/>
                <a:sym typeface="Helvetica Neue"/>
              </a:rPr>
              <a:t>Failure could be due to software or hardware</a:t>
            </a:r>
            <a:endParaRPr/>
          </a:p>
          <a:p>
            <a:pPr indent="-285750" lvl="1" marL="742950" rtl="0" algn="l">
              <a:lnSpc>
                <a:spcPct val="100000"/>
              </a:lnSpc>
              <a:spcBef>
                <a:spcPts val="560"/>
              </a:spcBef>
              <a:spcAft>
                <a:spcPts val="0"/>
              </a:spcAft>
              <a:buClr>
                <a:schemeClr val="hlink"/>
              </a:buClr>
              <a:buSzPts val="1280"/>
              <a:buFont typeface="Arial"/>
              <a:buChar char="●"/>
            </a:pPr>
            <a:r>
              <a:rPr b="0" i="0" lang="en-US" sz="1600" u="none">
                <a:solidFill>
                  <a:schemeClr val="dk1"/>
                </a:solidFill>
                <a:latin typeface="Helvetica Neue"/>
                <a:ea typeface="Helvetica Neue"/>
                <a:cs typeface="Helvetica Neue"/>
                <a:sym typeface="Helvetica Neue"/>
              </a:rPr>
              <a:t>the system should ensure that updates of a partially executed transaction are not reflected in the database</a:t>
            </a:r>
            <a:endParaRPr/>
          </a:p>
          <a:p>
            <a:pPr indent="-342900" lvl="0" marL="342900" rtl="0" algn="l">
              <a:lnSpc>
                <a:spcPct val="100000"/>
              </a:lnSpc>
              <a:spcBef>
                <a:spcPts val="560"/>
              </a:spcBef>
              <a:spcAft>
                <a:spcPts val="0"/>
              </a:spcAft>
              <a:buClr>
                <a:schemeClr val="dk2"/>
              </a:buClr>
              <a:buSzPts val="1440"/>
              <a:buFont typeface="Arial"/>
              <a:buChar char="●"/>
            </a:pPr>
            <a:r>
              <a:rPr b="1" i="0" lang="en-US" sz="1600" u="none">
                <a:solidFill>
                  <a:schemeClr val="dk2"/>
                </a:solidFill>
                <a:latin typeface="Helvetica Neue"/>
                <a:ea typeface="Helvetica Neue"/>
                <a:cs typeface="Helvetica Neue"/>
                <a:sym typeface="Helvetica Neue"/>
              </a:rPr>
              <a:t>Durability requirement</a:t>
            </a:r>
            <a:r>
              <a:rPr b="0" i="0" lang="en-US" sz="1600" u="none">
                <a:solidFill>
                  <a:schemeClr val="dk1"/>
                </a:solidFill>
                <a:latin typeface="Helvetica Neue"/>
                <a:ea typeface="Helvetica Neue"/>
                <a:cs typeface="Helvetica Neue"/>
                <a:sym typeface="Helvetica Neue"/>
              </a:rPr>
              <a:t> — once the user has been notified that the transaction has completed (i.e., the transfer of the $50 has taken place), the updates to the database by the transaction must persist even if there are software or hardware failures.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Fund Transfer (Cont.)</a:t>
            </a:r>
            <a:endParaRPr/>
          </a:p>
        </p:txBody>
      </p:sp>
      <p:sp>
        <p:nvSpPr>
          <p:cNvPr id="107" name="Google Shape;107;p5"/>
          <p:cNvSpPr txBox="1"/>
          <p:nvPr>
            <p:ph idx="1" type="body"/>
          </p:nvPr>
        </p:nvSpPr>
        <p:spPr>
          <a:xfrm>
            <a:off x="784225" y="1106487"/>
            <a:ext cx="7812087" cy="53625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Transaction to transfer $50 from account A to account B:</a:t>
            </a:r>
            <a:endParaRPr/>
          </a:p>
          <a:p>
            <a:pPr indent="-285750" lvl="1" marL="742950" rtl="0" algn="l">
              <a:lnSpc>
                <a:spcPct val="8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1.	</a:t>
            </a:r>
            <a:r>
              <a:rPr b="1" i="0" lang="en-US" sz="1400" u="none">
                <a:solidFill>
                  <a:schemeClr val="dk1"/>
                </a:solidFill>
                <a:latin typeface="Helvetica Neue"/>
                <a:ea typeface="Helvetica Neue"/>
                <a:cs typeface="Helvetica Neue"/>
                <a:sym typeface="Helvetica Neue"/>
              </a:rPr>
              <a:t>read</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A</a:t>
            </a:r>
            <a:r>
              <a:rPr b="0" i="0" lang="en-US" sz="1400" u="none">
                <a:solidFill>
                  <a:schemeClr val="dk1"/>
                </a:solidFill>
                <a:latin typeface="Helvetica Neue"/>
                <a:ea typeface="Helvetica Neue"/>
                <a:cs typeface="Helvetica Neue"/>
                <a:sym typeface="Helvetica Neue"/>
              </a:rPr>
              <a:t>)</a:t>
            </a:r>
            <a:endParaRPr/>
          </a:p>
          <a:p>
            <a:pPr indent="-285750" lvl="1" marL="742950" rtl="0" algn="l">
              <a:lnSpc>
                <a:spcPct val="8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2.	</a:t>
            </a:r>
            <a:r>
              <a:rPr b="0" i="1" lang="en-US" sz="1400" u="none">
                <a:solidFill>
                  <a:schemeClr val="dk1"/>
                </a:solidFill>
                <a:latin typeface="Helvetica Neue"/>
                <a:ea typeface="Helvetica Neue"/>
                <a:cs typeface="Helvetica Neue"/>
                <a:sym typeface="Helvetica Neue"/>
              </a:rPr>
              <a:t>A</a:t>
            </a:r>
            <a:r>
              <a:rPr b="0" i="0" lang="en-US" sz="1400" u="none">
                <a:solidFill>
                  <a:schemeClr val="dk1"/>
                </a:solidFill>
                <a:latin typeface="Helvetica Neue"/>
                <a:ea typeface="Helvetica Neue"/>
                <a:cs typeface="Helvetica Neue"/>
                <a:sym typeface="Helvetica Neue"/>
              </a:rPr>
              <a:t> := </a:t>
            </a:r>
            <a:r>
              <a:rPr b="0" i="1" lang="en-US" sz="1400" u="none">
                <a:solidFill>
                  <a:schemeClr val="dk1"/>
                </a:solidFill>
                <a:latin typeface="Helvetica Neue"/>
                <a:ea typeface="Helvetica Neue"/>
                <a:cs typeface="Helvetica Neue"/>
                <a:sym typeface="Helvetica Neue"/>
              </a:rPr>
              <a:t>A – </a:t>
            </a:r>
            <a:r>
              <a:rPr b="0" i="0" lang="en-US" sz="1400" u="none">
                <a:solidFill>
                  <a:schemeClr val="dk1"/>
                </a:solidFill>
                <a:latin typeface="Helvetica Neue"/>
                <a:ea typeface="Helvetica Neue"/>
                <a:cs typeface="Helvetica Neue"/>
                <a:sym typeface="Helvetica Neue"/>
              </a:rPr>
              <a:t>50</a:t>
            </a:r>
            <a:endParaRPr/>
          </a:p>
          <a:p>
            <a:pPr indent="-285750" lvl="1" marL="742950" rtl="0" algn="l">
              <a:lnSpc>
                <a:spcPct val="8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3.	</a:t>
            </a:r>
            <a:r>
              <a:rPr b="1" i="0" lang="en-US" sz="1400" u="none">
                <a:solidFill>
                  <a:schemeClr val="dk1"/>
                </a:solidFill>
                <a:latin typeface="Helvetica Neue"/>
                <a:ea typeface="Helvetica Neue"/>
                <a:cs typeface="Helvetica Neue"/>
                <a:sym typeface="Helvetica Neue"/>
              </a:rPr>
              <a:t>write</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A</a:t>
            </a:r>
            <a:r>
              <a:rPr b="0" i="0" lang="en-US" sz="1400" u="none">
                <a:solidFill>
                  <a:schemeClr val="dk1"/>
                </a:solidFill>
                <a:latin typeface="Helvetica Neue"/>
                <a:ea typeface="Helvetica Neue"/>
                <a:cs typeface="Helvetica Neue"/>
                <a:sym typeface="Helvetica Neue"/>
              </a:rPr>
              <a:t>)</a:t>
            </a:r>
            <a:endParaRPr/>
          </a:p>
          <a:p>
            <a:pPr indent="-285750" lvl="1" marL="742950" rtl="0" algn="l">
              <a:lnSpc>
                <a:spcPct val="8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4.	</a:t>
            </a:r>
            <a:r>
              <a:rPr b="1" i="0" lang="en-US" sz="1400" u="none">
                <a:solidFill>
                  <a:schemeClr val="dk1"/>
                </a:solidFill>
                <a:latin typeface="Helvetica Neue"/>
                <a:ea typeface="Helvetica Neue"/>
                <a:cs typeface="Helvetica Neue"/>
                <a:sym typeface="Helvetica Neue"/>
              </a:rPr>
              <a:t>read</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B</a:t>
            </a:r>
            <a:r>
              <a:rPr b="0" i="0" lang="en-US" sz="1400" u="none">
                <a:solidFill>
                  <a:schemeClr val="dk1"/>
                </a:solidFill>
                <a:latin typeface="Helvetica Neue"/>
                <a:ea typeface="Helvetica Neue"/>
                <a:cs typeface="Helvetica Neue"/>
                <a:sym typeface="Helvetica Neue"/>
              </a:rPr>
              <a:t>)</a:t>
            </a:r>
            <a:endParaRPr/>
          </a:p>
          <a:p>
            <a:pPr indent="-285750" lvl="1" marL="742950" rtl="0" algn="l">
              <a:lnSpc>
                <a:spcPct val="8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5.	</a:t>
            </a:r>
            <a:r>
              <a:rPr b="0" i="1" lang="en-US" sz="1400" u="none">
                <a:solidFill>
                  <a:schemeClr val="dk1"/>
                </a:solidFill>
                <a:latin typeface="Helvetica Neue"/>
                <a:ea typeface="Helvetica Neue"/>
                <a:cs typeface="Helvetica Neue"/>
                <a:sym typeface="Helvetica Neue"/>
              </a:rPr>
              <a:t>B</a:t>
            </a:r>
            <a:r>
              <a:rPr b="0" i="0" lang="en-US" sz="1400" u="none">
                <a:solidFill>
                  <a:schemeClr val="dk1"/>
                </a:solidFill>
                <a:latin typeface="Helvetica Neue"/>
                <a:ea typeface="Helvetica Neue"/>
                <a:cs typeface="Helvetica Neue"/>
                <a:sym typeface="Helvetica Neue"/>
              </a:rPr>
              <a:t> := </a:t>
            </a:r>
            <a:r>
              <a:rPr b="0" i="1" lang="en-US" sz="1400" u="none">
                <a:solidFill>
                  <a:schemeClr val="dk1"/>
                </a:solidFill>
                <a:latin typeface="Helvetica Neue"/>
                <a:ea typeface="Helvetica Neue"/>
                <a:cs typeface="Helvetica Neue"/>
                <a:sym typeface="Helvetica Neue"/>
              </a:rPr>
              <a:t>B + </a:t>
            </a:r>
            <a:r>
              <a:rPr b="0" i="0" lang="en-US" sz="1400" u="none">
                <a:solidFill>
                  <a:schemeClr val="dk1"/>
                </a:solidFill>
                <a:latin typeface="Helvetica Neue"/>
                <a:ea typeface="Helvetica Neue"/>
                <a:cs typeface="Helvetica Neue"/>
                <a:sym typeface="Helvetica Neue"/>
              </a:rPr>
              <a:t>50</a:t>
            </a:r>
            <a:endParaRPr/>
          </a:p>
          <a:p>
            <a:pPr indent="-285750" lvl="1" marL="742950" rtl="0" algn="l">
              <a:lnSpc>
                <a:spcPct val="80000"/>
              </a:lnSpc>
              <a:spcBef>
                <a:spcPts val="490"/>
              </a:spcBef>
              <a:spcAft>
                <a:spcPts val="0"/>
              </a:spcAft>
              <a:buSzPts val="1120"/>
              <a:buNone/>
            </a:pPr>
            <a:r>
              <a:rPr b="0" i="0" lang="en-US" sz="1400" u="none">
                <a:solidFill>
                  <a:schemeClr val="dk1"/>
                </a:solidFill>
                <a:latin typeface="Helvetica Neue"/>
                <a:ea typeface="Helvetica Neue"/>
                <a:cs typeface="Helvetica Neue"/>
                <a:sym typeface="Helvetica Neue"/>
              </a:rPr>
              <a:t>6.	</a:t>
            </a:r>
            <a:r>
              <a:rPr b="1" i="0" lang="en-US" sz="1400" u="none">
                <a:solidFill>
                  <a:schemeClr val="dk1"/>
                </a:solidFill>
                <a:latin typeface="Helvetica Neue"/>
                <a:ea typeface="Helvetica Neue"/>
                <a:cs typeface="Helvetica Neue"/>
                <a:sym typeface="Helvetica Neue"/>
              </a:rPr>
              <a:t>write</a:t>
            </a:r>
            <a:r>
              <a:rPr b="0" i="0" lang="en-US" sz="1400" u="none">
                <a:solidFill>
                  <a:schemeClr val="dk1"/>
                </a:solidFill>
                <a:latin typeface="Helvetica Neue"/>
                <a:ea typeface="Helvetica Neue"/>
                <a:cs typeface="Helvetica Neue"/>
                <a:sym typeface="Helvetica Neue"/>
              </a:rPr>
              <a:t>(</a:t>
            </a:r>
            <a:r>
              <a:rPr b="0" i="1" lang="en-US" sz="1400" u="none">
                <a:solidFill>
                  <a:schemeClr val="dk1"/>
                </a:solidFill>
                <a:latin typeface="Helvetica Neue"/>
                <a:ea typeface="Helvetica Neue"/>
                <a:cs typeface="Helvetica Neue"/>
                <a:sym typeface="Helvetica Neue"/>
              </a:rPr>
              <a:t>B)</a:t>
            </a:r>
            <a:endParaRPr/>
          </a:p>
          <a:p>
            <a:pPr indent="-342900" lvl="0" marL="342900" rtl="0" algn="l">
              <a:lnSpc>
                <a:spcPct val="80000"/>
              </a:lnSpc>
              <a:spcBef>
                <a:spcPts val="560"/>
              </a:spcBef>
              <a:spcAft>
                <a:spcPts val="0"/>
              </a:spcAft>
              <a:buClr>
                <a:schemeClr val="dk2"/>
              </a:buClr>
              <a:buSzPts val="1440"/>
              <a:buFont typeface="Arial"/>
              <a:buChar char="●"/>
            </a:pPr>
            <a:r>
              <a:rPr b="1" i="0" lang="en-US" sz="1600" u="none">
                <a:solidFill>
                  <a:schemeClr val="dk2"/>
                </a:solidFill>
                <a:latin typeface="Helvetica Neue"/>
                <a:ea typeface="Helvetica Neue"/>
                <a:cs typeface="Helvetica Neue"/>
                <a:sym typeface="Helvetica Neue"/>
              </a:rPr>
              <a:t>Consistency requirement</a:t>
            </a:r>
            <a:r>
              <a:rPr b="0" i="0" lang="en-US" sz="1600" u="none">
                <a:solidFill>
                  <a:schemeClr val="dk1"/>
                </a:solidFill>
                <a:latin typeface="Helvetica Neue"/>
                <a:ea typeface="Helvetica Neue"/>
                <a:cs typeface="Helvetica Neue"/>
                <a:sym typeface="Helvetica Neue"/>
              </a:rPr>
              <a:t> in above example:</a:t>
            </a:r>
            <a:endParaRPr/>
          </a:p>
          <a:p>
            <a:pPr indent="-285750" lvl="1" marL="742950" rtl="0" algn="l">
              <a:lnSpc>
                <a:spcPct val="80000"/>
              </a:lnSpc>
              <a:spcBef>
                <a:spcPts val="560"/>
              </a:spcBef>
              <a:spcAft>
                <a:spcPts val="0"/>
              </a:spcAft>
              <a:buClr>
                <a:schemeClr val="hlink"/>
              </a:buClr>
              <a:buSzPts val="1280"/>
              <a:buFont typeface="Arial"/>
              <a:buChar char="●"/>
            </a:pPr>
            <a:r>
              <a:rPr b="0" i="0" lang="en-US" sz="1600" u="none">
                <a:solidFill>
                  <a:schemeClr val="dk1"/>
                </a:solidFill>
                <a:latin typeface="Helvetica Neue"/>
                <a:ea typeface="Helvetica Neue"/>
                <a:cs typeface="Helvetica Neue"/>
                <a:sym typeface="Helvetica Neue"/>
              </a:rPr>
              <a:t> the sum of A and B is unchanged by the execution of the transaction</a:t>
            </a:r>
            <a:endParaRPr/>
          </a:p>
          <a:p>
            <a:pPr indent="-342900" lvl="0" marL="342900" rtl="0" algn="l">
              <a:lnSpc>
                <a:spcPct val="8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In general, consistency requirements include </a:t>
            </a:r>
            <a:endParaRPr/>
          </a:p>
          <a:p>
            <a:pPr indent="-228600" lvl="2" marL="1085850" rtl="0" algn="l">
              <a:lnSpc>
                <a:spcPct val="80000"/>
              </a:lnSpc>
              <a:spcBef>
                <a:spcPts val="560"/>
              </a:spcBef>
              <a:spcAft>
                <a:spcPts val="0"/>
              </a:spcAft>
              <a:buClr>
                <a:srgbClr val="33CC33"/>
              </a:buClr>
              <a:buSzPts val="1200"/>
              <a:buFont typeface="Arimo"/>
              <a:buChar char="4"/>
            </a:pPr>
            <a:r>
              <a:rPr b="0" i="0" lang="en-US" sz="1600" u="none">
                <a:solidFill>
                  <a:schemeClr val="dk1"/>
                </a:solidFill>
                <a:latin typeface="Helvetica Neue"/>
                <a:ea typeface="Helvetica Neue"/>
                <a:cs typeface="Helvetica Neue"/>
                <a:sym typeface="Helvetica Neue"/>
              </a:rPr>
              <a:t>Explicitly specified integrity constraints such as primary keys and foreign keys</a:t>
            </a:r>
            <a:endParaRPr/>
          </a:p>
          <a:p>
            <a:pPr indent="-228600" lvl="2" marL="1085850" rtl="0" algn="l">
              <a:lnSpc>
                <a:spcPct val="80000"/>
              </a:lnSpc>
              <a:spcBef>
                <a:spcPts val="560"/>
              </a:spcBef>
              <a:spcAft>
                <a:spcPts val="0"/>
              </a:spcAft>
              <a:buClr>
                <a:srgbClr val="33CC33"/>
              </a:buClr>
              <a:buSzPts val="1200"/>
              <a:buFont typeface="Arimo"/>
              <a:buChar char="4"/>
            </a:pPr>
            <a:r>
              <a:rPr b="0" i="0" lang="en-US" sz="1600" u="none">
                <a:solidFill>
                  <a:schemeClr val="dk1"/>
                </a:solidFill>
                <a:latin typeface="Helvetica Neue"/>
                <a:ea typeface="Helvetica Neue"/>
                <a:cs typeface="Helvetica Neue"/>
                <a:sym typeface="Helvetica Neue"/>
              </a:rPr>
              <a:t>Implicit integrity constraints</a:t>
            </a:r>
            <a:endParaRPr/>
          </a:p>
          <a:p>
            <a:pPr indent="-228600" lvl="3" marL="1428750" rtl="0" algn="l">
              <a:lnSpc>
                <a:spcPct val="80000"/>
              </a:lnSpc>
              <a:spcBef>
                <a:spcPts val="560"/>
              </a:spcBef>
              <a:spcAft>
                <a:spcPts val="0"/>
              </a:spcAft>
              <a:buClr>
                <a:schemeClr val="hlink"/>
              </a:buClr>
              <a:buSzPts val="1600"/>
              <a:buFont typeface="Helvetica Neue"/>
              <a:buChar char="–"/>
            </a:pPr>
            <a:r>
              <a:rPr b="0" i="0" lang="en-US" sz="1600" u="none">
                <a:solidFill>
                  <a:schemeClr val="dk1"/>
                </a:solidFill>
                <a:latin typeface="Helvetica Neue"/>
                <a:ea typeface="Helvetica Neue"/>
                <a:cs typeface="Helvetica Neue"/>
                <a:sym typeface="Helvetica Neue"/>
              </a:rPr>
              <a:t>e.g. sum of balances of all accounts, minus sum of loan amounts must equal value of cash-in-hand</a:t>
            </a:r>
            <a:endParaRPr/>
          </a:p>
          <a:p>
            <a:pPr indent="-285750" lvl="1" marL="742950" rtl="0" algn="l">
              <a:lnSpc>
                <a:spcPct val="80000"/>
              </a:lnSpc>
              <a:spcBef>
                <a:spcPts val="560"/>
              </a:spcBef>
              <a:spcAft>
                <a:spcPts val="0"/>
              </a:spcAft>
              <a:buClr>
                <a:schemeClr val="hlink"/>
              </a:buClr>
              <a:buSzPts val="1280"/>
              <a:buFont typeface="Arial"/>
              <a:buChar char="●"/>
            </a:pPr>
            <a:r>
              <a:rPr b="0" i="0" lang="en-US" sz="1600" u="none">
                <a:solidFill>
                  <a:schemeClr val="dk1"/>
                </a:solidFill>
                <a:latin typeface="Helvetica Neue"/>
                <a:ea typeface="Helvetica Neue"/>
                <a:cs typeface="Helvetica Neue"/>
                <a:sym typeface="Helvetica Neue"/>
              </a:rPr>
              <a:t>A transaction must see a consistent database.</a:t>
            </a:r>
            <a:endParaRPr/>
          </a:p>
          <a:p>
            <a:pPr indent="-285750" lvl="1" marL="742950" rtl="0" algn="l">
              <a:lnSpc>
                <a:spcPct val="80000"/>
              </a:lnSpc>
              <a:spcBef>
                <a:spcPts val="560"/>
              </a:spcBef>
              <a:spcAft>
                <a:spcPts val="0"/>
              </a:spcAft>
              <a:buClr>
                <a:schemeClr val="hlink"/>
              </a:buClr>
              <a:buSzPts val="1280"/>
              <a:buFont typeface="Arial"/>
              <a:buChar char="●"/>
            </a:pPr>
            <a:r>
              <a:rPr b="0" i="0" lang="en-US" sz="1600" u="none">
                <a:solidFill>
                  <a:schemeClr val="dk1"/>
                </a:solidFill>
                <a:latin typeface="Helvetica Neue"/>
                <a:ea typeface="Helvetica Neue"/>
                <a:cs typeface="Helvetica Neue"/>
                <a:sym typeface="Helvetica Neue"/>
              </a:rPr>
              <a:t>During transaction execution the database may be temporarily inconsistent.</a:t>
            </a:r>
            <a:endParaRPr/>
          </a:p>
          <a:p>
            <a:pPr indent="-285750" lvl="1" marL="742950" rtl="0" algn="l">
              <a:lnSpc>
                <a:spcPct val="80000"/>
              </a:lnSpc>
              <a:spcBef>
                <a:spcPts val="560"/>
              </a:spcBef>
              <a:spcAft>
                <a:spcPts val="0"/>
              </a:spcAft>
              <a:buClr>
                <a:schemeClr val="hlink"/>
              </a:buClr>
              <a:buSzPts val="1280"/>
              <a:buFont typeface="Arial"/>
              <a:buChar char="●"/>
            </a:pPr>
            <a:r>
              <a:rPr b="0" i="0" lang="en-US" sz="1600" u="none">
                <a:solidFill>
                  <a:schemeClr val="dk1"/>
                </a:solidFill>
                <a:latin typeface="Helvetica Neue"/>
                <a:ea typeface="Helvetica Neue"/>
                <a:cs typeface="Helvetica Neue"/>
                <a:sym typeface="Helvetica Neue"/>
              </a:rPr>
              <a:t>When the transaction completes successfully the database must be consistent</a:t>
            </a:r>
            <a:endParaRPr/>
          </a:p>
          <a:p>
            <a:pPr indent="-228600" lvl="2" marL="1085850" rtl="0" algn="l">
              <a:lnSpc>
                <a:spcPct val="80000"/>
              </a:lnSpc>
              <a:spcBef>
                <a:spcPts val="560"/>
              </a:spcBef>
              <a:spcAft>
                <a:spcPts val="0"/>
              </a:spcAft>
              <a:buClr>
                <a:srgbClr val="33CC33"/>
              </a:buClr>
              <a:buSzPts val="1200"/>
              <a:buFont typeface="Arimo"/>
              <a:buChar char="4"/>
            </a:pPr>
            <a:r>
              <a:rPr b="0" i="0" lang="en-US" sz="1600" u="none">
                <a:solidFill>
                  <a:schemeClr val="dk1"/>
                </a:solidFill>
                <a:latin typeface="Helvetica Neue"/>
                <a:ea typeface="Helvetica Neue"/>
                <a:cs typeface="Helvetica Neue"/>
                <a:sym typeface="Helvetica Neue"/>
              </a:rPr>
              <a:t>Erroneous transaction logic can lead to inconsistency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Fund Transfer (Cont.)</a:t>
            </a:r>
            <a:endParaRPr/>
          </a:p>
        </p:txBody>
      </p:sp>
      <p:sp>
        <p:nvSpPr>
          <p:cNvPr id="114" name="Google Shape;114;p6"/>
          <p:cNvSpPr txBox="1"/>
          <p:nvPr>
            <p:ph idx="1" type="body"/>
          </p:nvPr>
        </p:nvSpPr>
        <p:spPr>
          <a:xfrm>
            <a:off x="914400" y="1106487"/>
            <a:ext cx="7615237" cy="488473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Isolation requirement</a:t>
            </a:r>
            <a:r>
              <a:rPr b="0" i="0" lang="en-US" sz="1800" u="none">
                <a:solidFill>
                  <a:schemeClr val="dk1"/>
                </a:solidFill>
                <a:latin typeface="Helvetica Neue"/>
                <a:ea typeface="Helvetica Neue"/>
                <a:cs typeface="Helvetica Neue"/>
                <a:sym typeface="Helvetica Neue"/>
              </a:rPr>
              <a:t> — if between steps 3 and 6, another transaction T2 is allowed to access the partially updated database, it will see an inconsistent database (the sum  </a:t>
            </a:r>
            <a:r>
              <a:rPr b="0" i="1" lang="en-US" sz="1800" u="none">
                <a:solidFill>
                  <a:schemeClr val="dk1"/>
                </a:solidFill>
                <a:latin typeface="Helvetica Neue"/>
                <a:ea typeface="Helvetica Neue"/>
                <a:cs typeface="Helvetica Neue"/>
                <a:sym typeface="Helvetica Neue"/>
              </a:rPr>
              <a:t>A + B</a:t>
            </a:r>
            <a:r>
              <a:rPr b="0" i="0" lang="en-US" sz="1800" u="none">
                <a:solidFill>
                  <a:schemeClr val="dk1"/>
                </a:solidFill>
                <a:latin typeface="Helvetica Neue"/>
                <a:ea typeface="Helvetica Neue"/>
                <a:cs typeface="Helvetica Neue"/>
                <a:sym typeface="Helvetica Neue"/>
              </a:rPr>
              <a:t> will be less than it should be).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T1                                        T2</a:t>
            </a:r>
            <a:endParaRPr/>
          </a:p>
          <a:p>
            <a:pPr indent="-285750" lvl="1" marL="742950" rtl="0" algn="l">
              <a:lnSpc>
                <a:spcPct val="9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1.	</a:t>
            </a:r>
            <a:r>
              <a:rPr b="1" i="0" lang="en-US" sz="1600" u="none">
                <a:solidFill>
                  <a:schemeClr val="dk1"/>
                </a:solidFill>
                <a:latin typeface="Helvetica Neue"/>
                <a:ea typeface="Helvetica Neue"/>
                <a:cs typeface="Helvetica Neue"/>
                <a:sym typeface="Helvetica Neue"/>
              </a:rPr>
              <a:t>read</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a:t>
            </a:r>
            <a:endParaRPr/>
          </a:p>
          <a:p>
            <a:pPr indent="-285750" lvl="1" marL="742950" rtl="0" algn="l">
              <a:lnSpc>
                <a:spcPct val="9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2.	</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A – </a:t>
            </a:r>
            <a:r>
              <a:rPr b="0" i="0" lang="en-US" sz="1600" u="none">
                <a:solidFill>
                  <a:schemeClr val="dk1"/>
                </a:solidFill>
                <a:latin typeface="Helvetica Neue"/>
                <a:ea typeface="Helvetica Neue"/>
                <a:cs typeface="Helvetica Neue"/>
                <a:sym typeface="Helvetica Neue"/>
              </a:rPr>
              <a:t>50</a:t>
            </a:r>
            <a:endParaRPr/>
          </a:p>
          <a:p>
            <a:pPr indent="-285750" lvl="1" marL="742950" rtl="0" algn="l">
              <a:lnSpc>
                <a:spcPct val="9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3.	</a:t>
            </a:r>
            <a:r>
              <a:rPr b="1" i="0" lang="en-US" sz="1600" u="none">
                <a:solidFill>
                  <a:schemeClr val="dk1"/>
                </a:solidFill>
                <a:latin typeface="Helvetica Neue"/>
                <a:ea typeface="Helvetica Neue"/>
                <a:cs typeface="Helvetica Neue"/>
                <a:sym typeface="Helvetica Neue"/>
              </a:rPr>
              <a:t>write</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a:t>
            </a:r>
            <a:br>
              <a:rPr b="0" i="0" lang="en-US" sz="1600" u="none">
                <a:solidFill>
                  <a:schemeClr val="dk1"/>
                </a:solidFill>
                <a:latin typeface="Helvetica Neue"/>
                <a:ea typeface="Helvetica Neue"/>
                <a:cs typeface="Helvetica Neue"/>
                <a:sym typeface="Helvetica Neue"/>
              </a:rPr>
            </a:br>
            <a:r>
              <a:rPr b="0" i="0" lang="en-US" sz="1600" u="none">
                <a:solidFill>
                  <a:schemeClr val="dk1"/>
                </a:solidFill>
                <a:latin typeface="Helvetica Neue"/>
                <a:ea typeface="Helvetica Neue"/>
                <a:cs typeface="Helvetica Neue"/>
                <a:sym typeface="Helvetica Neue"/>
              </a:rPr>
              <a:t>                                      read(A), read(B), print(A+B)</a:t>
            </a:r>
            <a:endParaRPr/>
          </a:p>
          <a:p>
            <a:pPr indent="-285750" lvl="1" marL="742950" rtl="0" algn="l">
              <a:lnSpc>
                <a:spcPct val="9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4.	</a:t>
            </a:r>
            <a:r>
              <a:rPr b="1" i="0" lang="en-US" sz="1600" u="none">
                <a:solidFill>
                  <a:schemeClr val="dk1"/>
                </a:solidFill>
                <a:latin typeface="Helvetica Neue"/>
                <a:ea typeface="Helvetica Neue"/>
                <a:cs typeface="Helvetica Neue"/>
                <a:sym typeface="Helvetica Neue"/>
              </a:rPr>
              <a:t>read</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a:t>
            </a:r>
            <a:endParaRPr/>
          </a:p>
          <a:p>
            <a:pPr indent="-285750" lvl="1" marL="742950" rtl="0" algn="l">
              <a:lnSpc>
                <a:spcPct val="9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5.	</a:t>
            </a:r>
            <a:r>
              <a:rPr b="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 := </a:t>
            </a:r>
            <a:r>
              <a:rPr b="0" i="1" lang="en-US" sz="1600" u="none">
                <a:solidFill>
                  <a:schemeClr val="dk1"/>
                </a:solidFill>
                <a:latin typeface="Helvetica Neue"/>
                <a:ea typeface="Helvetica Neue"/>
                <a:cs typeface="Helvetica Neue"/>
                <a:sym typeface="Helvetica Neue"/>
              </a:rPr>
              <a:t>B + </a:t>
            </a:r>
            <a:r>
              <a:rPr b="0" i="0" lang="en-US" sz="1600" u="none">
                <a:solidFill>
                  <a:schemeClr val="dk1"/>
                </a:solidFill>
                <a:latin typeface="Helvetica Neue"/>
                <a:ea typeface="Helvetica Neue"/>
                <a:cs typeface="Helvetica Neue"/>
                <a:sym typeface="Helvetica Neue"/>
              </a:rPr>
              <a:t>50</a:t>
            </a:r>
            <a:endParaRPr/>
          </a:p>
          <a:p>
            <a:pPr indent="-285750" lvl="1" marL="742950" rtl="0" algn="l">
              <a:lnSpc>
                <a:spcPct val="90000"/>
              </a:lnSpc>
              <a:spcBef>
                <a:spcPts val="560"/>
              </a:spcBef>
              <a:spcAft>
                <a:spcPts val="0"/>
              </a:spcAft>
              <a:buSzPts val="1280"/>
              <a:buNone/>
            </a:pPr>
            <a:r>
              <a:rPr b="0" i="0" lang="en-US" sz="1600" u="none">
                <a:solidFill>
                  <a:schemeClr val="dk1"/>
                </a:solidFill>
                <a:latin typeface="Helvetica Neue"/>
                <a:ea typeface="Helvetica Neue"/>
                <a:cs typeface="Helvetica Neue"/>
                <a:sym typeface="Helvetica Neue"/>
              </a:rPr>
              <a:t>6.	</a:t>
            </a:r>
            <a:r>
              <a:rPr b="1" i="0" lang="en-US" sz="1600" u="none">
                <a:solidFill>
                  <a:schemeClr val="dk1"/>
                </a:solidFill>
                <a:latin typeface="Helvetica Neue"/>
                <a:ea typeface="Helvetica Neue"/>
                <a:cs typeface="Helvetica Neue"/>
                <a:sym typeface="Helvetica Neue"/>
              </a:rPr>
              <a:t>write</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B</a:t>
            </a:r>
            <a:endParaRPr b="0" i="0" sz="1800" u="none">
              <a:solidFill>
                <a:schemeClr val="dk1"/>
              </a:solidFill>
              <a:latin typeface="Helvetica Neue"/>
              <a:ea typeface="Helvetica Neue"/>
              <a:cs typeface="Helvetica Neue"/>
              <a:sym typeface="Helvetica Neue"/>
            </a:endParaRPr>
          </a:p>
          <a:p>
            <a:pPr indent="-342900" lvl="0" marL="34290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Isolation can be ensured trivially by running transactions </a:t>
            </a:r>
            <a:r>
              <a:rPr b="1" i="0" lang="en-US" sz="1800" u="none">
                <a:solidFill>
                  <a:schemeClr val="dk2"/>
                </a:solidFill>
                <a:latin typeface="Helvetica Neue"/>
                <a:ea typeface="Helvetica Neue"/>
                <a:cs typeface="Helvetica Neue"/>
                <a:sym typeface="Helvetica Neue"/>
              </a:rPr>
              <a:t>serially</a:t>
            </a:r>
            <a:endParaRPr/>
          </a:p>
          <a:p>
            <a:pPr indent="-285750" lvl="1" marL="742950" rtl="0" algn="l">
              <a:lnSpc>
                <a:spcPct val="9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 that is, one after the other.   </a:t>
            </a:r>
            <a:endParaRPr/>
          </a:p>
          <a:p>
            <a:pPr indent="-342900" lvl="0" marL="34290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However, executing multiple transactions concurrently has significant benefits, as we will see later.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ACID Properties</a:t>
            </a:r>
            <a:endParaRPr/>
          </a:p>
        </p:txBody>
      </p:sp>
      <p:sp>
        <p:nvSpPr>
          <p:cNvPr id="121" name="Google Shape;121;p7"/>
          <p:cNvSpPr txBox="1"/>
          <p:nvPr>
            <p:ph idx="1" type="body"/>
          </p:nvPr>
        </p:nvSpPr>
        <p:spPr>
          <a:xfrm>
            <a:off x="914400" y="2081212"/>
            <a:ext cx="7872412" cy="47767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Atomicity</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Either all operations of the transaction are properly reflected in the database or none are.</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Consistency</a:t>
            </a:r>
            <a:r>
              <a:rPr b="1"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Execution of a transaction in isolation preserves the consistency of the database.</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Isolation</a:t>
            </a:r>
            <a:r>
              <a:rPr b="1"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Although multiple transactions may execute concurrently, each transaction must be unaware of other concurrently executing transactions.  Intermediate transaction results must be hidden from other concurrently executed transactions.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That is, for every pair of transactions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it appears to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that either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finished execution before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started, or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started execution after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finished.</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Durability</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After a transaction completes successfully, the changes it has made to the database persist, even if there are system failures. </a:t>
            </a:r>
            <a:endParaRPr/>
          </a:p>
        </p:txBody>
      </p:sp>
      <p:sp>
        <p:nvSpPr>
          <p:cNvPr id="122" name="Google Shape;122;p7"/>
          <p:cNvSpPr txBox="1"/>
          <p:nvPr/>
        </p:nvSpPr>
        <p:spPr>
          <a:xfrm>
            <a:off x="901700" y="1106487"/>
            <a:ext cx="8242300" cy="9159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A  </a:t>
            </a:r>
            <a:r>
              <a:rPr b="1" i="0" lang="en-US" sz="1800" u="none" cap="none" strike="noStrike">
                <a:solidFill>
                  <a:schemeClr val="dk2"/>
                </a:solidFill>
                <a:latin typeface="Helvetica Neue"/>
                <a:ea typeface="Helvetica Neue"/>
                <a:cs typeface="Helvetica Neue"/>
                <a:sym typeface="Helvetica Neue"/>
              </a:rPr>
              <a:t>transaction</a:t>
            </a:r>
            <a:r>
              <a:rPr b="0" i="0" lang="en-US" sz="1800" u="none" cap="none" strike="noStrike">
                <a:solidFill>
                  <a:schemeClr val="dk1"/>
                </a:solidFill>
                <a:latin typeface="Helvetica Neue"/>
                <a:ea typeface="Helvetica Neue"/>
                <a:cs typeface="Helvetica Neue"/>
                <a:sym typeface="Helvetica Neue"/>
              </a:rPr>
              <a:t>  is a unit of program execution that accesses and possibly updates various data items.To preserve the integrity of data the database system must ensure: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Transaction State</a:t>
            </a:r>
            <a:endParaRPr/>
          </a:p>
        </p:txBody>
      </p:sp>
      <p:sp>
        <p:nvSpPr>
          <p:cNvPr id="129" name="Google Shape;129;p8"/>
          <p:cNvSpPr txBox="1"/>
          <p:nvPr>
            <p:ph idx="1" type="body"/>
          </p:nvPr>
        </p:nvSpPr>
        <p:spPr>
          <a:xfrm>
            <a:off x="914400" y="1106487"/>
            <a:ext cx="7493000" cy="50720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Active </a:t>
            </a:r>
            <a:r>
              <a:rPr b="0" i="0" lang="en-US" sz="1800" u="none">
                <a:solidFill>
                  <a:schemeClr val="dk1"/>
                </a:solidFill>
                <a:latin typeface="Helvetica Neue"/>
                <a:ea typeface="Helvetica Neue"/>
                <a:cs typeface="Helvetica Neue"/>
                <a:sym typeface="Helvetica Neue"/>
              </a:rPr>
              <a:t>–</a:t>
            </a:r>
            <a:r>
              <a:rPr b="1" i="0" lang="en-US" sz="1800" u="none">
                <a:solidFill>
                  <a:schemeClr val="dk2"/>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the initial state; the transaction stays in this state while it is executing</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Partially committed </a:t>
            </a:r>
            <a:r>
              <a:rPr b="0" i="0" lang="en-US" sz="1800" u="none">
                <a:solidFill>
                  <a:schemeClr val="dk1"/>
                </a:solidFill>
                <a:latin typeface="Helvetica Neue"/>
                <a:ea typeface="Helvetica Neue"/>
                <a:cs typeface="Helvetica Neue"/>
                <a:sym typeface="Helvetica Neue"/>
              </a:rPr>
              <a:t>–</a:t>
            </a:r>
            <a:r>
              <a:rPr b="1" i="0" lang="en-US" sz="1800" u="none">
                <a:solidFill>
                  <a:schemeClr val="dk2"/>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after the final statement has been executed.</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Failed </a:t>
            </a:r>
            <a:r>
              <a:rPr b="1" i="0" lang="en-US" sz="16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after the discovery that normal execution can no longer proceed.</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Aborted </a:t>
            </a:r>
            <a:r>
              <a:rPr b="0" i="0" lang="en-US" sz="1800" u="none">
                <a:solidFill>
                  <a:schemeClr val="dk1"/>
                </a:solidFill>
                <a:latin typeface="Helvetica Neue"/>
                <a:ea typeface="Helvetica Neue"/>
                <a:cs typeface="Helvetica Neue"/>
                <a:sym typeface="Helvetica Neue"/>
              </a:rPr>
              <a:t>– after the transaction has been rolled back and the database restored to its state prior to the start of the transaction.  Two options after it has been aborted:</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restart the transaction</a:t>
            </a:r>
            <a:endParaRPr/>
          </a:p>
          <a:p>
            <a:pPr indent="-228600" lvl="2" marL="1085850" rtl="0" algn="l">
              <a:lnSpc>
                <a:spcPct val="100000"/>
              </a:lnSpc>
              <a:spcBef>
                <a:spcPts val="630"/>
              </a:spcBef>
              <a:spcAft>
                <a:spcPts val="0"/>
              </a:spcAft>
              <a:buClr>
                <a:srgbClr val="33CC33"/>
              </a:buClr>
              <a:buSzPts val="1350"/>
              <a:buFont typeface="Arimo"/>
              <a:buChar char="4"/>
            </a:pPr>
            <a:r>
              <a:rPr b="0" i="0" lang="en-US" sz="1800" u="none">
                <a:solidFill>
                  <a:schemeClr val="dk1"/>
                </a:solidFill>
                <a:latin typeface="Helvetica Neue"/>
                <a:ea typeface="Helvetica Neue"/>
                <a:cs typeface="Helvetica Neue"/>
                <a:sym typeface="Helvetica Neue"/>
              </a:rPr>
              <a:t> can be done only if no internal logical error</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kill the transaction</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Committed </a:t>
            </a:r>
            <a:r>
              <a:rPr b="0" i="0" lang="en-US" sz="1800" u="none">
                <a:solidFill>
                  <a:schemeClr val="dk1"/>
                </a:solidFill>
                <a:latin typeface="Helvetica Neue"/>
                <a:ea typeface="Helvetica Neue"/>
                <a:cs typeface="Helvetica Neue"/>
                <a:sym typeface="Helvetica Neue"/>
              </a:rPr>
              <a:t>– after successful completion.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Transaction State (Cont.)</a:t>
            </a:r>
            <a:endParaRPr/>
          </a:p>
        </p:txBody>
      </p:sp>
      <p:pic>
        <p:nvPicPr>
          <p:cNvPr id="136" name="Google Shape;136;p9"/>
          <p:cNvPicPr preferRelativeResize="0"/>
          <p:nvPr/>
        </p:nvPicPr>
        <p:blipFill rotWithShape="1">
          <a:blip r:embed="rId3">
            <a:alphaModFix/>
          </a:blip>
          <a:srcRect b="548" l="9915" r="10123" t="550"/>
          <a:stretch/>
        </p:blipFill>
        <p:spPr>
          <a:xfrm>
            <a:off x="1863725" y="1106487"/>
            <a:ext cx="5529262" cy="5129212"/>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801687" y="495300"/>
            <a:ext cx="766445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Implementation of Atomicity and Durability</a:t>
            </a:r>
            <a:endParaRPr/>
          </a:p>
        </p:txBody>
      </p:sp>
      <p:sp>
        <p:nvSpPr>
          <p:cNvPr id="143" name="Google Shape;143;p10"/>
          <p:cNvSpPr txBox="1"/>
          <p:nvPr>
            <p:ph idx="1" type="body"/>
          </p:nvPr>
        </p:nvSpPr>
        <p:spPr>
          <a:xfrm>
            <a:off x="841375" y="917575"/>
            <a:ext cx="7753350" cy="3214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a:t>
            </a:r>
            <a:r>
              <a:rPr b="1" i="0" lang="en-US" sz="1800" u="none">
                <a:solidFill>
                  <a:schemeClr val="dk2"/>
                </a:solidFill>
                <a:latin typeface="Helvetica Neue"/>
                <a:ea typeface="Helvetica Neue"/>
                <a:cs typeface="Helvetica Neue"/>
                <a:sym typeface="Helvetica Neue"/>
              </a:rPr>
              <a:t>recovery-management </a:t>
            </a:r>
            <a:r>
              <a:rPr b="0" i="0" lang="en-US" sz="1800" u="none">
                <a:solidFill>
                  <a:schemeClr val="dk1"/>
                </a:solidFill>
                <a:latin typeface="Helvetica Neue"/>
                <a:ea typeface="Helvetica Neue"/>
                <a:cs typeface="Helvetica Neue"/>
                <a:sym typeface="Helvetica Neue"/>
              </a:rPr>
              <a:t>component of a database system implements the support for atomicity and durability.</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E.g. the </a:t>
            </a:r>
            <a:r>
              <a:rPr b="1" i="1" lang="en-US" sz="1800" u="none">
                <a:solidFill>
                  <a:schemeClr val="dk2"/>
                </a:solidFill>
                <a:latin typeface="Helvetica Neue"/>
                <a:ea typeface="Helvetica Neue"/>
                <a:cs typeface="Helvetica Neue"/>
                <a:sym typeface="Helvetica Neue"/>
              </a:rPr>
              <a:t>shadow-database</a:t>
            </a:r>
            <a:r>
              <a:rPr b="0" i="0" lang="en-US" sz="1800" u="none">
                <a:solidFill>
                  <a:schemeClr val="dk1"/>
                </a:solidFill>
                <a:latin typeface="Helvetica Neue"/>
                <a:ea typeface="Helvetica Neue"/>
                <a:cs typeface="Helvetica Neue"/>
                <a:sym typeface="Helvetica Neue"/>
              </a:rPr>
              <a:t> scheme:</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all updates are made on a </a:t>
            </a:r>
            <a:r>
              <a:rPr b="0" i="1" lang="en-US" sz="1800" u="none">
                <a:solidFill>
                  <a:schemeClr val="dk1"/>
                </a:solidFill>
                <a:latin typeface="Helvetica Neue"/>
                <a:ea typeface="Helvetica Neue"/>
                <a:cs typeface="Helvetica Neue"/>
                <a:sym typeface="Helvetica Neue"/>
              </a:rPr>
              <a:t>shadow copy</a:t>
            </a:r>
            <a:r>
              <a:rPr b="0" i="0" lang="en-US" sz="1800" u="none">
                <a:solidFill>
                  <a:schemeClr val="dk1"/>
                </a:solidFill>
                <a:latin typeface="Helvetica Neue"/>
                <a:ea typeface="Helvetica Neue"/>
                <a:cs typeface="Helvetica Neue"/>
                <a:sym typeface="Helvetica Neue"/>
              </a:rPr>
              <a:t> of the database</a:t>
            </a:r>
            <a:endParaRPr/>
          </a:p>
          <a:p>
            <a:pPr indent="-228600" lvl="2" marL="1085850" rtl="0" algn="l">
              <a:lnSpc>
                <a:spcPct val="100000"/>
              </a:lnSpc>
              <a:spcBef>
                <a:spcPts val="630"/>
              </a:spcBef>
              <a:spcAft>
                <a:spcPts val="0"/>
              </a:spcAft>
              <a:buClr>
                <a:srgbClr val="33CC33"/>
              </a:buClr>
              <a:buSzPts val="1350"/>
              <a:buFont typeface="Arimo"/>
              <a:buChar char="4"/>
            </a:pP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db_pointer</a:t>
            </a:r>
            <a:r>
              <a:rPr b="0" i="0" lang="en-US" sz="1800" u="none">
                <a:solidFill>
                  <a:schemeClr val="dk1"/>
                </a:solidFill>
                <a:latin typeface="Helvetica Neue"/>
                <a:ea typeface="Helvetica Neue"/>
                <a:cs typeface="Helvetica Neue"/>
                <a:sym typeface="Helvetica Neue"/>
              </a:rPr>
              <a:t> is made to point to the updated shadow copy  after</a:t>
            </a:r>
            <a:endParaRPr/>
          </a:p>
          <a:p>
            <a:pPr indent="-228600" lvl="3" marL="1428750" rtl="0" algn="l">
              <a:lnSpc>
                <a:spcPct val="100000"/>
              </a:lnSpc>
              <a:spcBef>
                <a:spcPts val="630"/>
              </a:spcBef>
              <a:spcAft>
                <a:spcPts val="0"/>
              </a:spcAft>
              <a:buClr>
                <a:schemeClr val="hlink"/>
              </a:buClr>
              <a:buSzPts val="1800"/>
              <a:buFont typeface="Helvetica Neue"/>
              <a:buChar char="–"/>
            </a:pPr>
            <a:r>
              <a:rPr b="0" i="0" lang="en-US" sz="1800" u="none">
                <a:solidFill>
                  <a:schemeClr val="dk1"/>
                </a:solidFill>
                <a:latin typeface="Helvetica Neue"/>
                <a:ea typeface="Helvetica Neue"/>
                <a:cs typeface="Helvetica Neue"/>
                <a:sym typeface="Helvetica Neue"/>
              </a:rPr>
              <a:t> the transaction reaches partial commit and </a:t>
            </a:r>
            <a:endParaRPr/>
          </a:p>
          <a:p>
            <a:pPr indent="-228600" lvl="3" marL="1428750" rtl="0" algn="l">
              <a:lnSpc>
                <a:spcPct val="100000"/>
              </a:lnSpc>
              <a:spcBef>
                <a:spcPts val="630"/>
              </a:spcBef>
              <a:spcAft>
                <a:spcPts val="0"/>
              </a:spcAft>
              <a:buClr>
                <a:schemeClr val="hlink"/>
              </a:buClr>
              <a:buSzPts val="1800"/>
              <a:buFont typeface="Helvetica Neue"/>
              <a:buChar char="–"/>
            </a:pPr>
            <a:r>
              <a:rPr b="0" i="0" lang="en-US" sz="1800" u="none">
                <a:solidFill>
                  <a:schemeClr val="dk1"/>
                </a:solidFill>
                <a:latin typeface="Helvetica Neue"/>
                <a:ea typeface="Helvetica Neue"/>
                <a:cs typeface="Helvetica Neue"/>
                <a:sym typeface="Helvetica Neue"/>
              </a:rPr>
              <a:t>all updated pages have been flushed to disk.</a:t>
            </a:r>
            <a:endParaRPr/>
          </a:p>
          <a:p>
            <a:pPr indent="-240030" lvl="0" marL="342900" rtl="0" algn="l">
              <a:lnSpc>
                <a:spcPct val="100000"/>
              </a:lnSpc>
              <a:spcBef>
                <a:spcPts val="630"/>
              </a:spcBef>
              <a:spcAft>
                <a:spcPts val="0"/>
              </a:spcAft>
              <a:buSzPts val="1620"/>
              <a:buNone/>
            </a:pPr>
            <a:r>
              <a:t/>
            </a:r>
            <a:endParaRPr b="0" i="0" sz="1800" u="none">
              <a:solidFill>
                <a:schemeClr val="dk1"/>
              </a:solidFill>
              <a:latin typeface="Helvetica Neue"/>
              <a:ea typeface="Helvetica Neue"/>
              <a:cs typeface="Helvetica Neue"/>
              <a:sym typeface="Helvetica Neue"/>
            </a:endParaRPr>
          </a:p>
        </p:txBody>
      </p:sp>
      <p:pic>
        <p:nvPicPr>
          <p:cNvPr id="144" name="Google Shape;144;p10"/>
          <p:cNvPicPr preferRelativeResize="0"/>
          <p:nvPr/>
        </p:nvPicPr>
        <p:blipFill rotWithShape="1">
          <a:blip r:embed="rId3">
            <a:alphaModFix/>
          </a:blip>
          <a:srcRect b="18566" l="398" r="594" t="18301"/>
          <a:stretch/>
        </p:blipFill>
        <p:spPr>
          <a:xfrm>
            <a:off x="1458912" y="3654425"/>
            <a:ext cx="6180137" cy="2955925"/>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1066800" y="315912"/>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Implementation of Atomicity and Durability (Cont.)</a:t>
            </a:r>
            <a:endParaRPr/>
          </a:p>
        </p:txBody>
      </p:sp>
      <p:sp>
        <p:nvSpPr>
          <p:cNvPr id="151" name="Google Shape;151;p11"/>
          <p:cNvSpPr txBox="1"/>
          <p:nvPr>
            <p:ph idx="1" type="body"/>
          </p:nvPr>
        </p:nvSpPr>
        <p:spPr>
          <a:xfrm>
            <a:off x="639762" y="1338262"/>
            <a:ext cx="8504237" cy="46434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db_pointer always points to the current consistent copy of the database.</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In case transaction fails, old consistent copy pointed to by </a:t>
            </a:r>
            <a:r>
              <a:rPr b="1" i="0" lang="en-US" sz="1800" u="none">
                <a:solidFill>
                  <a:schemeClr val="dk1"/>
                </a:solidFill>
                <a:latin typeface="Helvetica Neue"/>
                <a:ea typeface="Helvetica Neue"/>
                <a:cs typeface="Helvetica Neue"/>
                <a:sym typeface="Helvetica Neue"/>
              </a:rPr>
              <a:t>db_pointer</a:t>
            </a:r>
            <a:r>
              <a:rPr b="0" i="0" lang="en-US" sz="1800" u="none">
                <a:solidFill>
                  <a:schemeClr val="dk1"/>
                </a:solidFill>
                <a:latin typeface="Helvetica Neue"/>
                <a:ea typeface="Helvetica Neue"/>
                <a:cs typeface="Helvetica Neue"/>
                <a:sym typeface="Helvetica Neue"/>
              </a:rPr>
              <a:t> can be used, and the shadow copy can be deleted. </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shadow-database scheme:</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Assumes that only one transaction is active at a time.</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Assumes disks do not fail</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Useful for text editors, but </a:t>
            </a:r>
            <a:endParaRPr/>
          </a:p>
          <a:p>
            <a:pPr indent="-228600" lvl="2" marL="1085850" rtl="0" algn="l">
              <a:lnSpc>
                <a:spcPct val="100000"/>
              </a:lnSpc>
              <a:spcBef>
                <a:spcPts val="630"/>
              </a:spcBef>
              <a:spcAft>
                <a:spcPts val="0"/>
              </a:spcAft>
              <a:buClr>
                <a:srgbClr val="33CC33"/>
              </a:buClr>
              <a:buSzPts val="1350"/>
              <a:buFont typeface="Arimo"/>
              <a:buChar char="4"/>
            </a:pPr>
            <a:r>
              <a:rPr b="0" i="0" lang="en-US" sz="1800" u="none">
                <a:solidFill>
                  <a:schemeClr val="dk1"/>
                </a:solidFill>
                <a:latin typeface="Helvetica Neue"/>
                <a:ea typeface="Helvetica Neue"/>
                <a:cs typeface="Helvetica Neue"/>
                <a:sym typeface="Helvetica Neue"/>
              </a:rPr>
              <a:t>extremely inefficient for large databases (why?)</a:t>
            </a:r>
            <a:endParaRPr/>
          </a:p>
          <a:p>
            <a:pPr indent="-228600" lvl="3" marL="1428750" rtl="0" algn="l">
              <a:lnSpc>
                <a:spcPct val="100000"/>
              </a:lnSpc>
              <a:spcBef>
                <a:spcPts val="630"/>
              </a:spcBef>
              <a:spcAft>
                <a:spcPts val="0"/>
              </a:spcAft>
              <a:buClr>
                <a:schemeClr val="hlink"/>
              </a:buClr>
              <a:buSzPts val="1800"/>
              <a:buFont typeface="Helvetica Neue"/>
              <a:buChar char="–"/>
            </a:pPr>
            <a:r>
              <a:rPr b="0" i="0" lang="en-US" sz="1800" u="none">
                <a:solidFill>
                  <a:schemeClr val="dk1"/>
                </a:solidFill>
                <a:latin typeface="Helvetica Neue"/>
                <a:ea typeface="Helvetica Neue"/>
                <a:cs typeface="Helvetica Neue"/>
                <a:sym typeface="Helvetica Neue"/>
              </a:rPr>
              <a:t>Variant called shadow paging reduces performance efficiency(takes more time) by  copying of data, but is still not practical for large databases</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Does not handle concurrent transactions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Concurrent Executions</a:t>
            </a:r>
            <a:endParaRPr/>
          </a:p>
        </p:txBody>
      </p:sp>
      <p:sp>
        <p:nvSpPr>
          <p:cNvPr id="158" name="Google Shape;158;p12"/>
          <p:cNvSpPr txBox="1"/>
          <p:nvPr>
            <p:ph idx="1" type="body"/>
          </p:nvPr>
        </p:nvSpPr>
        <p:spPr>
          <a:xfrm>
            <a:off x="914400" y="1106487"/>
            <a:ext cx="7439025" cy="50990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Multiple transactions are allowed to run concurrently in the system.  Advantages are:</a:t>
            </a:r>
            <a:endParaRPr/>
          </a:p>
          <a:p>
            <a:pPr indent="-285750" lvl="1" marL="742950" rtl="0" algn="l">
              <a:lnSpc>
                <a:spcPct val="100000"/>
              </a:lnSpc>
              <a:spcBef>
                <a:spcPts val="630"/>
              </a:spcBef>
              <a:spcAft>
                <a:spcPts val="0"/>
              </a:spcAft>
              <a:buClr>
                <a:schemeClr val="hlink"/>
              </a:buClr>
              <a:buSzPts val="1440"/>
              <a:buFont typeface="Arial"/>
              <a:buChar char="●"/>
            </a:pPr>
            <a:r>
              <a:rPr b="1" i="0" lang="en-US" sz="1800" u="none">
                <a:solidFill>
                  <a:schemeClr val="dk1"/>
                </a:solidFill>
                <a:latin typeface="Helvetica Neue"/>
                <a:ea typeface="Helvetica Neue"/>
                <a:cs typeface="Helvetica Neue"/>
                <a:sym typeface="Helvetica Neue"/>
              </a:rPr>
              <a:t>increased processor and disk utilization</a:t>
            </a:r>
            <a:r>
              <a:rPr b="0" i="0" lang="en-US" sz="1800" u="none">
                <a:solidFill>
                  <a:schemeClr val="dk1"/>
                </a:solidFill>
                <a:latin typeface="Helvetica Neue"/>
                <a:ea typeface="Helvetica Neue"/>
                <a:cs typeface="Helvetica Neue"/>
                <a:sym typeface="Helvetica Neue"/>
              </a:rPr>
              <a:t>, leading to better transaction </a:t>
            </a:r>
            <a:r>
              <a:rPr b="0" i="1" lang="en-US" sz="1800" u="none">
                <a:solidFill>
                  <a:schemeClr val="dk1"/>
                </a:solidFill>
                <a:latin typeface="Helvetica Neue"/>
                <a:ea typeface="Helvetica Neue"/>
                <a:cs typeface="Helvetica Neue"/>
                <a:sym typeface="Helvetica Neue"/>
              </a:rPr>
              <a:t>throughput</a:t>
            </a:r>
            <a:endParaRPr/>
          </a:p>
          <a:p>
            <a:pPr indent="-228600" lvl="2" marL="1085850" rtl="0" algn="l">
              <a:lnSpc>
                <a:spcPct val="100000"/>
              </a:lnSpc>
              <a:spcBef>
                <a:spcPts val="630"/>
              </a:spcBef>
              <a:spcAft>
                <a:spcPts val="0"/>
              </a:spcAft>
              <a:buClr>
                <a:srgbClr val="33CC33"/>
              </a:buClr>
              <a:buSzPts val="1350"/>
              <a:buFont typeface="Arimo"/>
              <a:buChar char="4"/>
            </a:pPr>
            <a:r>
              <a:rPr b="0" i="0" lang="en-US" sz="1800" u="none">
                <a:solidFill>
                  <a:schemeClr val="dk1"/>
                </a:solidFill>
                <a:latin typeface="Helvetica Neue"/>
                <a:ea typeface="Helvetica Neue"/>
                <a:cs typeface="Helvetica Neue"/>
                <a:sym typeface="Helvetica Neue"/>
              </a:rPr>
              <a:t>E.g. one transaction can be using the CPU while another is reading from or writing to the disk</a:t>
            </a:r>
            <a:endParaRPr/>
          </a:p>
          <a:p>
            <a:pPr indent="-285750" lvl="1" marL="742950" rtl="0" algn="l">
              <a:lnSpc>
                <a:spcPct val="100000"/>
              </a:lnSpc>
              <a:spcBef>
                <a:spcPts val="630"/>
              </a:spcBef>
              <a:spcAft>
                <a:spcPts val="0"/>
              </a:spcAft>
              <a:buClr>
                <a:schemeClr val="hlink"/>
              </a:buClr>
              <a:buSzPts val="1440"/>
              <a:buFont typeface="Arial"/>
              <a:buChar char="●"/>
            </a:pPr>
            <a:r>
              <a:rPr b="1" i="0" lang="en-US" sz="1800" u="none">
                <a:solidFill>
                  <a:schemeClr val="dk1"/>
                </a:solidFill>
                <a:latin typeface="Helvetica Neue"/>
                <a:ea typeface="Helvetica Neue"/>
                <a:cs typeface="Helvetica Neue"/>
                <a:sym typeface="Helvetica Neue"/>
              </a:rPr>
              <a:t>reduced average response time</a:t>
            </a:r>
            <a:r>
              <a:rPr b="0" i="0" lang="en-US" sz="1800" u="none">
                <a:solidFill>
                  <a:schemeClr val="dk1"/>
                </a:solidFill>
                <a:latin typeface="Helvetica Neue"/>
                <a:ea typeface="Helvetica Neue"/>
                <a:cs typeface="Helvetica Neue"/>
                <a:sym typeface="Helvetica Neue"/>
              </a:rPr>
              <a:t> for transactions: short transactions need not wait behind long ones.</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Concurrency control schemes</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mechanisms  to achieve isolation</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 that is, to control the interaction among the concurrent transactions in order to prevent them from destroying the consistency of the database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Schedules</a:t>
            </a:r>
            <a:endParaRPr/>
          </a:p>
        </p:txBody>
      </p:sp>
      <p:sp>
        <p:nvSpPr>
          <p:cNvPr id="165" name="Google Shape;165;p13"/>
          <p:cNvSpPr txBox="1"/>
          <p:nvPr>
            <p:ph idx="1" type="body"/>
          </p:nvPr>
        </p:nvSpPr>
        <p:spPr>
          <a:xfrm>
            <a:off x="914400" y="1106487"/>
            <a:ext cx="7810500" cy="49815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Schedule </a:t>
            </a:r>
            <a:r>
              <a:rPr b="0" i="0" lang="en-US" sz="1800" u="none">
                <a:solidFill>
                  <a:schemeClr val="dk1"/>
                </a:solidFill>
                <a:latin typeface="Helvetica Neue"/>
                <a:ea typeface="Helvetica Neue"/>
                <a:cs typeface="Helvetica Neue"/>
                <a:sym typeface="Helvetica Neue"/>
              </a:rPr>
              <a:t>– a sequences of instructions that specify the chronological order in which instructions of concurrent transactions are executed</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a schedule for a set of transactions must consist of all instructions of those transactions</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must preserve the order in which the instructions appear in each individual transaction.</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transaction that successfully completes its execution will have a commit instructions as the last statement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by default transaction assumed to execute commit instruction as its last step</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transaction that fails to successfully complete its execution will have an abort instruction as the last statement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Schedule 1</a:t>
            </a:r>
            <a:endParaRPr/>
          </a:p>
        </p:txBody>
      </p:sp>
      <p:sp>
        <p:nvSpPr>
          <p:cNvPr id="172" name="Google Shape;172;p14"/>
          <p:cNvSpPr txBox="1"/>
          <p:nvPr>
            <p:ph idx="1" type="body"/>
          </p:nvPr>
        </p:nvSpPr>
        <p:spPr>
          <a:xfrm>
            <a:off x="914400" y="1106487"/>
            <a:ext cx="7262812" cy="11842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2"/>
              </a:buClr>
              <a:buSzPts val="1800"/>
              <a:buFont typeface="Arial"/>
              <a:buChar char="●"/>
            </a:pPr>
            <a:r>
              <a:rPr b="0" i="0" lang="en-US" sz="2000" u="none">
                <a:solidFill>
                  <a:schemeClr val="dk1"/>
                </a:solidFill>
                <a:latin typeface="Helvetica Neue"/>
                <a:ea typeface="Helvetica Neue"/>
                <a:cs typeface="Helvetica Neue"/>
                <a:sym typeface="Helvetica Neue"/>
              </a:rPr>
              <a:t>Let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1</a:t>
            </a:r>
            <a:r>
              <a:rPr b="0" i="0" lang="en-US" sz="2000" u="none">
                <a:solidFill>
                  <a:schemeClr val="dk1"/>
                </a:solidFill>
                <a:latin typeface="Helvetica Neue"/>
                <a:ea typeface="Helvetica Neue"/>
                <a:cs typeface="Helvetica Neue"/>
                <a:sym typeface="Helvetica Neue"/>
              </a:rPr>
              <a:t> transfer 50 from </a:t>
            </a:r>
            <a:r>
              <a:rPr b="0" i="1" lang="en-US" sz="2000" u="none">
                <a:solidFill>
                  <a:schemeClr val="dk1"/>
                </a:solidFill>
                <a:latin typeface="Helvetica Neue"/>
                <a:ea typeface="Helvetica Neue"/>
                <a:cs typeface="Helvetica Neue"/>
                <a:sym typeface="Helvetica Neue"/>
              </a:rPr>
              <a:t>A </a:t>
            </a:r>
            <a:r>
              <a:rPr b="0" i="0" lang="en-US" sz="2000" u="none">
                <a:solidFill>
                  <a:schemeClr val="dk1"/>
                </a:solidFill>
                <a:latin typeface="Helvetica Neue"/>
                <a:ea typeface="Helvetica Neue"/>
                <a:cs typeface="Helvetica Neue"/>
                <a:sym typeface="Helvetica Neue"/>
              </a:rPr>
              <a:t>to </a:t>
            </a:r>
            <a:r>
              <a:rPr b="0" i="1" lang="en-US" sz="2000" u="none">
                <a:solidFill>
                  <a:schemeClr val="dk1"/>
                </a:solidFill>
                <a:latin typeface="Helvetica Neue"/>
                <a:ea typeface="Helvetica Neue"/>
                <a:cs typeface="Helvetica Neue"/>
                <a:sym typeface="Helvetica Neue"/>
              </a:rPr>
              <a:t>B</a:t>
            </a:r>
            <a:r>
              <a:rPr b="0" i="0" lang="en-US" sz="2000" u="none">
                <a:solidFill>
                  <a:schemeClr val="dk1"/>
                </a:solidFill>
                <a:latin typeface="Helvetica Neue"/>
                <a:ea typeface="Helvetica Neue"/>
                <a:cs typeface="Helvetica Neue"/>
                <a:sym typeface="Helvetica Neue"/>
              </a:rPr>
              <a:t>, and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2</a:t>
            </a:r>
            <a:r>
              <a:rPr b="0" i="0" lang="en-US" sz="2000" u="none">
                <a:solidFill>
                  <a:schemeClr val="dk1"/>
                </a:solidFill>
                <a:latin typeface="Helvetica Neue"/>
                <a:ea typeface="Helvetica Neue"/>
                <a:cs typeface="Helvetica Neue"/>
                <a:sym typeface="Helvetica Neue"/>
              </a:rPr>
              <a:t> transfer 10% of the balance from </a:t>
            </a:r>
            <a:r>
              <a:rPr b="0" i="1" lang="en-US" sz="2000" u="none">
                <a:solidFill>
                  <a:schemeClr val="dk1"/>
                </a:solidFill>
                <a:latin typeface="Helvetica Neue"/>
                <a:ea typeface="Helvetica Neue"/>
                <a:cs typeface="Helvetica Neue"/>
                <a:sym typeface="Helvetica Neue"/>
              </a:rPr>
              <a:t>A </a:t>
            </a:r>
            <a:r>
              <a:rPr b="0" i="0" lang="en-US" sz="2000" u="none">
                <a:solidFill>
                  <a:schemeClr val="dk1"/>
                </a:solidFill>
                <a:latin typeface="Helvetica Neue"/>
                <a:ea typeface="Helvetica Neue"/>
                <a:cs typeface="Helvetica Neue"/>
                <a:sym typeface="Helvetica Neue"/>
              </a:rPr>
              <a:t>to </a:t>
            </a:r>
            <a:r>
              <a:rPr b="0" i="1" lang="en-US" sz="2000" u="none">
                <a:solidFill>
                  <a:schemeClr val="dk1"/>
                </a:solidFill>
                <a:latin typeface="Helvetica Neue"/>
                <a:ea typeface="Helvetica Neue"/>
                <a:cs typeface="Helvetica Neue"/>
                <a:sym typeface="Helvetica Neue"/>
              </a:rPr>
              <a:t>B.</a:t>
            </a:r>
            <a:r>
              <a:rPr b="0" i="0" lang="en-US" sz="2000" u="none">
                <a:solidFill>
                  <a:schemeClr val="dk1"/>
                </a:solidFill>
                <a:latin typeface="Helvetica Neue"/>
                <a:ea typeface="Helvetica Neue"/>
                <a:cs typeface="Helvetica Neue"/>
                <a:sym typeface="Helvetica Neue"/>
              </a:rPr>
              <a:t>  </a:t>
            </a:r>
            <a:endParaRPr/>
          </a:p>
          <a:p>
            <a:pPr indent="-342900" lvl="0" marL="342900" rtl="0" algn="l">
              <a:lnSpc>
                <a:spcPct val="80000"/>
              </a:lnSpc>
              <a:spcBef>
                <a:spcPts val="700"/>
              </a:spcBef>
              <a:spcAft>
                <a:spcPts val="0"/>
              </a:spcAft>
              <a:buClr>
                <a:schemeClr val="dk2"/>
              </a:buClr>
              <a:buSzPts val="1800"/>
              <a:buFont typeface="Arial"/>
              <a:buChar char="●"/>
            </a:pPr>
            <a:r>
              <a:rPr b="0" i="0" lang="en-US" sz="2000" u="none">
                <a:solidFill>
                  <a:schemeClr val="dk1"/>
                </a:solidFill>
                <a:latin typeface="Helvetica Neue"/>
                <a:ea typeface="Helvetica Neue"/>
                <a:cs typeface="Helvetica Neue"/>
                <a:sym typeface="Helvetica Neue"/>
              </a:rPr>
              <a:t>A </a:t>
            </a:r>
            <a:r>
              <a:rPr b="0" i="0" lang="en-US" sz="2000" u="none">
                <a:solidFill>
                  <a:schemeClr val="dk2"/>
                </a:solidFill>
                <a:latin typeface="Helvetica Neue"/>
                <a:ea typeface="Helvetica Neue"/>
                <a:cs typeface="Helvetica Neue"/>
                <a:sym typeface="Helvetica Neue"/>
              </a:rPr>
              <a:t>serial</a:t>
            </a:r>
            <a:r>
              <a:rPr b="0" i="0" lang="en-US" sz="2000" u="none">
                <a:solidFill>
                  <a:schemeClr val="dk1"/>
                </a:solidFill>
                <a:latin typeface="Helvetica Neue"/>
                <a:ea typeface="Helvetica Neue"/>
                <a:cs typeface="Helvetica Neue"/>
                <a:sym typeface="Helvetica Neue"/>
              </a:rPr>
              <a:t> schedule in which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1</a:t>
            </a:r>
            <a:r>
              <a:rPr b="0" i="0" lang="en-US" sz="2000" u="none">
                <a:solidFill>
                  <a:schemeClr val="dk1"/>
                </a:solidFill>
                <a:latin typeface="Helvetica Neue"/>
                <a:ea typeface="Helvetica Neue"/>
                <a:cs typeface="Helvetica Neue"/>
                <a:sym typeface="Helvetica Neue"/>
              </a:rPr>
              <a:t> is followed by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r>
              <a:rPr b="0" i="0" lang="en-US" sz="2000" u="none">
                <a:solidFill>
                  <a:schemeClr val="dk1"/>
                </a:solidFill>
                <a:latin typeface="Helvetica Neue"/>
                <a:ea typeface="Helvetica Neue"/>
                <a:cs typeface="Helvetica Neue"/>
                <a:sym typeface="Helvetica Neue"/>
              </a:rPr>
              <a:t>:</a:t>
            </a:r>
            <a:endParaRPr/>
          </a:p>
          <a:p>
            <a:pPr indent="-342900" lvl="0" marL="342900" rtl="0" algn="l">
              <a:lnSpc>
                <a:spcPct val="80000"/>
              </a:lnSpc>
              <a:spcBef>
                <a:spcPts val="490"/>
              </a:spcBef>
              <a:spcAft>
                <a:spcPts val="0"/>
              </a:spcAft>
              <a:buSzPts val="1260"/>
              <a:buNone/>
            </a:pPr>
            <a:r>
              <a:rPr b="0" i="0" lang="en-US" sz="1400" u="none">
                <a:solidFill>
                  <a:schemeClr val="dk1"/>
                </a:solidFill>
                <a:latin typeface="Helvetica Neue"/>
                <a:ea typeface="Helvetica Neue"/>
                <a:cs typeface="Helvetica Neue"/>
                <a:sym typeface="Helvetica Neue"/>
              </a:rPr>
              <a:t>		</a:t>
            </a:r>
            <a:endParaRPr/>
          </a:p>
        </p:txBody>
      </p:sp>
      <p:pic>
        <p:nvPicPr>
          <p:cNvPr id="173" name="Google Shape;173;p14"/>
          <p:cNvPicPr preferRelativeResize="0"/>
          <p:nvPr/>
        </p:nvPicPr>
        <p:blipFill rotWithShape="1">
          <a:blip r:embed="rId3">
            <a:alphaModFix/>
          </a:blip>
          <a:srcRect b="555" l="20474" r="20265" t="555"/>
          <a:stretch/>
        </p:blipFill>
        <p:spPr>
          <a:xfrm>
            <a:off x="2770187" y="2089150"/>
            <a:ext cx="3495675" cy="4375150"/>
          </a:xfrm>
          <a:prstGeom prst="rect">
            <a:avLst/>
          </a:prstGeom>
          <a:noFill/>
          <a:ln cap="flat" cmpd="thinThick" w="57150">
            <a:solidFill>
              <a:schemeClr val="dk2"/>
            </a:solidFill>
            <a:prstDash val="solid"/>
            <a:miter lim="800000"/>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Schedule 2</a:t>
            </a:r>
            <a:endParaRPr/>
          </a:p>
        </p:txBody>
      </p:sp>
      <p:pic>
        <p:nvPicPr>
          <p:cNvPr id="180" name="Google Shape;180;p15"/>
          <p:cNvPicPr preferRelativeResize="0"/>
          <p:nvPr>
            <p:ph idx="1" type="body"/>
          </p:nvPr>
        </p:nvPicPr>
        <p:blipFill rotWithShape="1">
          <a:blip r:embed="rId3">
            <a:alphaModFix/>
          </a:blip>
          <a:srcRect b="903" l="20330" r="20783" t="602"/>
          <a:stretch/>
        </p:blipFill>
        <p:spPr>
          <a:xfrm>
            <a:off x="2317750" y="1754187"/>
            <a:ext cx="3883025" cy="4271962"/>
          </a:xfrm>
          <a:prstGeom prst="rect">
            <a:avLst/>
          </a:prstGeom>
          <a:noFill/>
          <a:ln cap="flat" cmpd="dbl" w="38100">
            <a:solidFill>
              <a:schemeClr val="dk2"/>
            </a:solidFill>
            <a:prstDash val="solid"/>
            <a:miter lim="524288"/>
            <a:headEnd len="sm" w="sm" type="none"/>
            <a:tailEnd len="sm" w="sm" type="none"/>
          </a:ln>
        </p:spPr>
      </p:pic>
      <p:sp>
        <p:nvSpPr>
          <p:cNvPr id="181" name="Google Shape;181;p15"/>
          <p:cNvSpPr txBox="1"/>
          <p:nvPr/>
        </p:nvSpPr>
        <p:spPr>
          <a:xfrm>
            <a:off x="741362" y="1089025"/>
            <a:ext cx="78803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 A serial schedule where </a:t>
            </a:r>
            <a:r>
              <a:rPr b="0" i="1" lang="en-US" sz="2000" u="none" cap="none" strike="noStrike">
                <a:solidFill>
                  <a:schemeClr val="dk1"/>
                </a:solidFill>
                <a:latin typeface="Helvetica Neue"/>
                <a:ea typeface="Helvetica Neue"/>
                <a:cs typeface="Helvetica Neue"/>
                <a:sym typeface="Helvetica Neue"/>
              </a:rPr>
              <a:t>T</a:t>
            </a:r>
            <a:r>
              <a:rPr b="0" baseline="-25000" i="1" lang="en-US" sz="2000" u="none" cap="none" strike="noStrike">
                <a:solidFill>
                  <a:schemeClr val="dk1"/>
                </a:solidFill>
                <a:latin typeface="Helvetica Neue"/>
                <a:ea typeface="Helvetica Neue"/>
                <a:cs typeface="Helvetica Neue"/>
                <a:sym typeface="Helvetica Neue"/>
              </a:rPr>
              <a:t>2</a:t>
            </a:r>
            <a:r>
              <a:rPr b="0" i="0" lang="en-US" sz="2000" u="none" cap="none" strike="noStrike">
                <a:solidFill>
                  <a:schemeClr val="dk1"/>
                </a:solidFill>
                <a:latin typeface="Helvetica Neue"/>
                <a:ea typeface="Helvetica Neue"/>
                <a:cs typeface="Helvetica Neue"/>
                <a:sym typeface="Helvetica Neue"/>
              </a:rPr>
              <a:t> is followed by </a:t>
            </a:r>
            <a:r>
              <a:rPr b="0" i="1" lang="en-US" sz="2000" u="none" cap="none" strike="noStrike">
                <a:solidFill>
                  <a:schemeClr val="dk1"/>
                </a:solidFill>
                <a:latin typeface="Helvetica Neue"/>
                <a:ea typeface="Helvetica Neue"/>
                <a:cs typeface="Helvetica Neue"/>
                <a:sym typeface="Helvetica Neue"/>
              </a:rPr>
              <a:t>T</a:t>
            </a:r>
            <a:r>
              <a:rPr b="0" baseline="-25000" i="0" lang="en-US" sz="2000" u="none" cap="none" strike="noStrike">
                <a:solidFill>
                  <a:schemeClr val="dk1"/>
                </a:solidFill>
                <a:latin typeface="Helvetica Neue"/>
                <a:ea typeface="Helvetica Neue"/>
                <a:cs typeface="Helvetica Neue"/>
                <a:sym typeface="Helvetica Neue"/>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Schedule 3</a:t>
            </a:r>
            <a:endParaRPr/>
          </a:p>
        </p:txBody>
      </p:sp>
      <p:sp>
        <p:nvSpPr>
          <p:cNvPr id="188" name="Google Shape;188;p16"/>
          <p:cNvSpPr txBox="1"/>
          <p:nvPr>
            <p:ph idx="1" type="body"/>
          </p:nvPr>
        </p:nvSpPr>
        <p:spPr>
          <a:xfrm>
            <a:off x="914400" y="1106487"/>
            <a:ext cx="6765925" cy="10541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be the transactions defined previously</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The following schedule is not a serial schedule, but it is </a:t>
            </a:r>
            <a:r>
              <a:rPr b="0" i="1" lang="en-US" sz="1800" u="none">
                <a:solidFill>
                  <a:schemeClr val="dk2"/>
                </a:solidFill>
                <a:latin typeface="Helvetica Neue"/>
                <a:ea typeface="Helvetica Neue"/>
                <a:cs typeface="Helvetica Neue"/>
                <a:sym typeface="Helvetica Neue"/>
              </a:rPr>
              <a:t>equivalent</a:t>
            </a:r>
            <a:r>
              <a:rPr b="0" i="0" lang="en-US" sz="1800" u="none">
                <a:solidFill>
                  <a:schemeClr val="dk1"/>
                </a:solidFill>
                <a:latin typeface="Helvetica Neue"/>
                <a:ea typeface="Helvetica Neue"/>
                <a:cs typeface="Helvetica Neue"/>
                <a:sym typeface="Helvetica Neue"/>
              </a:rPr>
              <a:t> to Schedule 1.</a:t>
            </a:r>
            <a:endParaRPr/>
          </a:p>
          <a:p>
            <a:pPr indent="-342900" lvl="0" marL="342900" rtl="0" algn="l">
              <a:lnSpc>
                <a:spcPct val="90000"/>
              </a:lnSpc>
              <a:spcBef>
                <a:spcPts val="630"/>
              </a:spcBef>
              <a:spcAft>
                <a:spcPts val="0"/>
              </a:spcAft>
              <a:buSzPts val="1620"/>
              <a:buNone/>
            </a:pPr>
            <a:r>
              <a:rPr b="0" i="0" lang="en-US" sz="1800" u="none">
                <a:solidFill>
                  <a:schemeClr val="dk1"/>
                </a:solidFill>
                <a:latin typeface="Helvetica Neue"/>
                <a:ea typeface="Helvetica Neue"/>
                <a:cs typeface="Helvetica Neue"/>
                <a:sym typeface="Helvetica Neue"/>
              </a:rPr>
              <a:t>		</a:t>
            </a:r>
            <a:endParaRPr/>
          </a:p>
        </p:txBody>
      </p:sp>
      <p:sp>
        <p:nvSpPr>
          <p:cNvPr id="189" name="Google Shape;189;p16"/>
          <p:cNvSpPr txBox="1"/>
          <p:nvPr/>
        </p:nvSpPr>
        <p:spPr>
          <a:xfrm>
            <a:off x="1000125" y="6018212"/>
            <a:ext cx="6724650" cy="390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In Schedules 1, 2 and 3, the sum A + B is preserved.</a:t>
            </a:r>
            <a:endParaRPr b="0" i="0" sz="1400" u="none" cap="none" strike="noStrike">
              <a:solidFill>
                <a:srgbClr val="000000"/>
              </a:solidFill>
              <a:latin typeface="Arial"/>
              <a:ea typeface="Arial"/>
              <a:cs typeface="Arial"/>
              <a:sym typeface="Arial"/>
            </a:endParaRPr>
          </a:p>
        </p:txBody>
      </p:sp>
      <p:pic>
        <p:nvPicPr>
          <p:cNvPr id="190" name="Google Shape;190;p16"/>
          <p:cNvPicPr preferRelativeResize="0"/>
          <p:nvPr/>
        </p:nvPicPr>
        <p:blipFill rotWithShape="1">
          <a:blip r:embed="rId3">
            <a:alphaModFix/>
          </a:blip>
          <a:srcRect b="5330" l="21800" r="23798" t="4266"/>
          <a:stretch/>
        </p:blipFill>
        <p:spPr>
          <a:xfrm>
            <a:off x="3259137" y="1900237"/>
            <a:ext cx="3146425" cy="3921125"/>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Schedule 4</a:t>
            </a:r>
            <a:endParaRPr/>
          </a:p>
        </p:txBody>
      </p:sp>
      <p:sp>
        <p:nvSpPr>
          <p:cNvPr id="197" name="Google Shape;197;p17"/>
          <p:cNvSpPr txBox="1"/>
          <p:nvPr>
            <p:ph idx="1" type="body"/>
          </p:nvPr>
        </p:nvSpPr>
        <p:spPr>
          <a:xfrm>
            <a:off x="914400" y="1106487"/>
            <a:ext cx="6724650" cy="11842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following concurrent schedule does not preserve the value of (</a:t>
            </a:r>
            <a:r>
              <a:rPr b="0" i="1" lang="en-US" sz="1800" u="none">
                <a:solidFill>
                  <a:schemeClr val="dk1"/>
                </a:solidFill>
                <a:latin typeface="Helvetica Neue"/>
                <a:ea typeface="Helvetica Neue"/>
                <a:cs typeface="Helvetica Neue"/>
                <a:sym typeface="Helvetica Neue"/>
              </a:rPr>
              <a:t>A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t>
            </a:r>
            <a:endParaRPr/>
          </a:p>
        </p:txBody>
      </p:sp>
      <p:pic>
        <p:nvPicPr>
          <p:cNvPr id="198" name="Google Shape;198;p17"/>
          <p:cNvPicPr preferRelativeResize="0"/>
          <p:nvPr/>
        </p:nvPicPr>
        <p:blipFill rotWithShape="1">
          <a:blip r:embed="rId3">
            <a:alphaModFix/>
          </a:blip>
          <a:srcRect b="529" l="20291" r="20292" t="531"/>
          <a:stretch/>
        </p:blipFill>
        <p:spPr>
          <a:xfrm>
            <a:off x="2884487" y="1854200"/>
            <a:ext cx="3513137" cy="438785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Serializability</a:t>
            </a:r>
            <a:endParaRPr/>
          </a:p>
        </p:txBody>
      </p:sp>
      <p:sp>
        <p:nvSpPr>
          <p:cNvPr id="205" name="Google Shape;205;p18"/>
          <p:cNvSpPr txBox="1"/>
          <p:nvPr>
            <p:ph idx="1" type="body"/>
          </p:nvPr>
        </p:nvSpPr>
        <p:spPr>
          <a:xfrm>
            <a:off x="914400" y="1106487"/>
            <a:ext cx="7689850" cy="50117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Basic Assumption</a:t>
            </a:r>
            <a:r>
              <a:rPr b="0" i="0" lang="en-US" sz="1800" u="none">
                <a:solidFill>
                  <a:schemeClr val="dk1"/>
                </a:solidFill>
                <a:latin typeface="Helvetica Neue"/>
                <a:ea typeface="Helvetica Neue"/>
                <a:cs typeface="Helvetica Neue"/>
                <a:sym typeface="Helvetica Neue"/>
              </a:rPr>
              <a:t> – Each transaction preserves database consistency.</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Thus serial execution of a set of transactions preserves database consistency.</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(possibly concurrent) schedule is serializable if it is equivalent to a serial schedule.  Different forms of schedule equivalence give rise to the notions of:</a:t>
            </a:r>
            <a:endParaRPr/>
          </a:p>
          <a:p>
            <a:pPr indent="-285750" lvl="1" marL="742950" rtl="0" algn="l">
              <a:lnSpc>
                <a:spcPct val="100000"/>
              </a:lnSpc>
              <a:spcBef>
                <a:spcPts val="630"/>
              </a:spcBef>
              <a:spcAft>
                <a:spcPts val="0"/>
              </a:spcAft>
              <a:buSzPts val="1440"/>
              <a:buNone/>
            </a:pPr>
            <a:r>
              <a:rPr b="0" i="0" lang="en-US" sz="1800" u="none">
                <a:solidFill>
                  <a:schemeClr val="dk1"/>
                </a:solidFill>
                <a:latin typeface="Helvetica Neue"/>
                <a:ea typeface="Helvetica Neue"/>
                <a:cs typeface="Helvetica Neue"/>
                <a:sym typeface="Helvetica Neue"/>
              </a:rPr>
              <a:t>1.	</a:t>
            </a:r>
            <a:r>
              <a:rPr b="1" i="0" lang="en-US" sz="1800" u="none">
                <a:solidFill>
                  <a:schemeClr val="dk2"/>
                </a:solidFill>
                <a:latin typeface="Helvetica Neue"/>
                <a:ea typeface="Helvetica Neue"/>
                <a:cs typeface="Helvetica Neue"/>
                <a:sym typeface="Helvetica Neue"/>
              </a:rPr>
              <a:t>conflict serializability</a:t>
            </a:r>
            <a:endParaRPr/>
          </a:p>
          <a:p>
            <a:pPr indent="-285750" lvl="1" marL="742950" rtl="0" algn="l">
              <a:lnSpc>
                <a:spcPct val="100000"/>
              </a:lnSpc>
              <a:spcBef>
                <a:spcPts val="630"/>
              </a:spcBef>
              <a:spcAft>
                <a:spcPts val="0"/>
              </a:spcAft>
              <a:buSzPts val="1440"/>
              <a:buNone/>
            </a:pPr>
            <a:r>
              <a:rPr b="0" i="0" lang="en-US" sz="1800" u="none">
                <a:solidFill>
                  <a:schemeClr val="dk1"/>
                </a:solidFill>
                <a:latin typeface="Helvetica Neue"/>
                <a:ea typeface="Helvetica Neue"/>
                <a:cs typeface="Helvetica Neue"/>
                <a:sym typeface="Helvetica Neue"/>
              </a:rPr>
              <a:t>2.	</a:t>
            </a:r>
            <a:r>
              <a:rPr b="1" i="0" lang="en-US" sz="1800" u="none">
                <a:solidFill>
                  <a:schemeClr val="dk2"/>
                </a:solidFill>
                <a:latin typeface="Helvetica Neue"/>
                <a:ea typeface="Helvetica Neue"/>
                <a:cs typeface="Helvetica Neue"/>
                <a:sym typeface="Helvetica Neue"/>
              </a:rPr>
              <a:t>view serializability</a:t>
            </a:r>
            <a:endParaRPr/>
          </a:p>
          <a:p>
            <a:pPr indent="-342900" lvl="0" marL="34290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Simplified view of transactions</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We ignore operations other than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 and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 instructions</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We assume that transactions may perform arbitrary computations on data in local buffers in between reads and writes.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Our simplified schedules consist of only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 and </a:t>
            </a:r>
            <a:r>
              <a:rPr b="1" i="0" lang="en-US" sz="1800" u="none">
                <a:solidFill>
                  <a:schemeClr val="dk1"/>
                </a:solidFill>
                <a:latin typeface="Helvetica Neue"/>
                <a:ea typeface="Helvetica Neue"/>
                <a:cs typeface="Helvetica Neue"/>
                <a:sym typeface="Helvetica Neue"/>
              </a:rPr>
              <a:t>write </a:t>
            </a:r>
            <a:r>
              <a:rPr b="0" i="0" lang="en-US" sz="1800" u="none">
                <a:solidFill>
                  <a:schemeClr val="dk1"/>
                </a:solidFill>
                <a:latin typeface="Helvetica Neue"/>
                <a:ea typeface="Helvetica Neue"/>
                <a:cs typeface="Helvetica Neue"/>
                <a:sym typeface="Helvetica Neue"/>
              </a:rPr>
              <a:t>instructions.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Conflicting Instructions </a:t>
            </a:r>
            <a:endParaRPr/>
          </a:p>
        </p:txBody>
      </p:sp>
      <p:sp>
        <p:nvSpPr>
          <p:cNvPr id="212" name="Google Shape;212;p19"/>
          <p:cNvSpPr txBox="1"/>
          <p:nvPr>
            <p:ph idx="1" type="body"/>
          </p:nvPr>
        </p:nvSpPr>
        <p:spPr>
          <a:xfrm>
            <a:off x="914400" y="1106487"/>
            <a:ext cx="7659687" cy="50911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Instructions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of transactions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respectively, </a:t>
            </a:r>
            <a:r>
              <a:rPr b="1" i="0" lang="en-US" sz="1800" u="none">
                <a:solidFill>
                  <a:schemeClr val="dk2"/>
                </a:solidFill>
                <a:latin typeface="Helvetica Neue"/>
                <a:ea typeface="Helvetica Neue"/>
                <a:cs typeface="Helvetica Neue"/>
                <a:sym typeface="Helvetica Neue"/>
              </a:rPr>
              <a:t>conflict</a:t>
            </a:r>
            <a:r>
              <a:rPr b="0" i="0" lang="en-US" sz="1800" u="none">
                <a:solidFill>
                  <a:schemeClr val="dk1"/>
                </a:solidFill>
                <a:latin typeface="Helvetica Neue"/>
                <a:ea typeface="Helvetica Neue"/>
                <a:cs typeface="Helvetica Neue"/>
                <a:sym typeface="Helvetica Neue"/>
              </a:rPr>
              <a:t> if and only if there exists some item </a:t>
            </a:r>
            <a:r>
              <a:rPr b="0" i="1" lang="en-US" sz="1800" u="none">
                <a:solidFill>
                  <a:schemeClr val="dk1"/>
                </a:solidFill>
                <a:latin typeface="Helvetica Neue"/>
                <a:ea typeface="Helvetica Neue"/>
                <a:cs typeface="Helvetica Neue"/>
                <a:sym typeface="Helvetica Neue"/>
              </a:rPr>
              <a:t>Q</a:t>
            </a:r>
            <a:r>
              <a:rPr b="0" i="0" lang="en-US" sz="1800" u="none">
                <a:solidFill>
                  <a:schemeClr val="dk1"/>
                </a:solidFill>
                <a:latin typeface="Helvetica Neue"/>
                <a:ea typeface="Helvetica Neue"/>
                <a:cs typeface="Helvetica Neue"/>
                <a:sym typeface="Helvetica Neue"/>
              </a:rPr>
              <a:t> accessed by both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and at least one of these instructions wrote </a:t>
            </a:r>
            <a:r>
              <a:rPr b="0" i="1" lang="en-US" sz="1800" u="none">
                <a:solidFill>
                  <a:schemeClr val="dk1"/>
                </a:solidFill>
                <a:latin typeface="Helvetica Neue"/>
                <a:ea typeface="Helvetica Neue"/>
                <a:cs typeface="Helvetica Neue"/>
                <a:sym typeface="Helvetica Neue"/>
              </a:rPr>
              <a:t>Q.</a:t>
            </a:r>
            <a:endParaRPr b="0" i="0" sz="1800" u="none">
              <a:solidFill>
                <a:schemeClr val="dk1"/>
              </a:solidFill>
              <a:latin typeface="Helvetica Neue"/>
              <a:ea typeface="Helvetica Neue"/>
              <a:cs typeface="Helvetica Neue"/>
              <a:sym typeface="Helvetica Neue"/>
            </a:endParaRPr>
          </a:p>
          <a:p>
            <a:pPr indent="-342900" lvl="0" marL="342900" rtl="0" algn="l">
              <a:lnSpc>
                <a:spcPct val="100000"/>
              </a:lnSpc>
              <a:spcBef>
                <a:spcPts val="630"/>
              </a:spcBef>
              <a:spcAft>
                <a:spcPts val="0"/>
              </a:spcAft>
              <a:buSzPts val="1620"/>
              <a:buNone/>
            </a:pPr>
            <a:r>
              <a:rPr b="0" i="0" lang="en-US" sz="1800" u="none">
                <a:solidFill>
                  <a:schemeClr val="dk1"/>
                </a:solidFill>
                <a:latin typeface="Helvetica Neue"/>
                <a:ea typeface="Helvetica Neue"/>
                <a:cs typeface="Helvetica Neue"/>
                <a:sym typeface="Helvetica Neue"/>
              </a:rPr>
              <a:t>	   1.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 l</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don’t conflict.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2.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  l</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a:t>
            </a:r>
            <a:r>
              <a:rPr b="0" i="0" lang="en-US" sz="1800" u="none">
                <a:solidFill>
                  <a:schemeClr val="dk1"/>
                </a:solidFill>
                <a:latin typeface="Helvetica Neue"/>
                <a:ea typeface="Helvetica Neue"/>
                <a:cs typeface="Helvetica Neue"/>
                <a:sym typeface="Helvetica Neue"/>
              </a:rPr>
              <a:t>).  They conflict.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3.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 l</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a:t>
            </a:r>
            <a:r>
              <a:rPr b="0" i="0" lang="en-US" sz="1800" u="none">
                <a:solidFill>
                  <a:schemeClr val="dk1"/>
                </a:solidFill>
                <a:latin typeface="Helvetica Neue"/>
                <a:ea typeface="Helvetica Neue"/>
                <a:cs typeface="Helvetica Neue"/>
                <a:sym typeface="Helvetica Neue"/>
              </a:rPr>
              <a:t>).   They conflict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4.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 l</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Q</a:t>
            </a:r>
            <a:r>
              <a:rPr b="0" i="0" lang="en-US" sz="1800" u="none">
                <a:solidFill>
                  <a:schemeClr val="dk1"/>
                </a:solidFill>
                <a:latin typeface="Helvetica Neue"/>
                <a:ea typeface="Helvetica Neue"/>
                <a:cs typeface="Helvetica Neue"/>
                <a:sym typeface="Helvetica Neue"/>
              </a:rPr>
              <a:t>).  They conflict</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Intuitively, a conflict between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forces a (logical) temporal order between them.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 If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l</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are consecutive in a schedule and they do not conflict, their results would remain the same even if they had been interchanged in the schedule.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Conflict Serializability</a:t>
            </a:r>
            <a:endParaRPr/>
          </a:p>
        </p:txBody>
      </p:sp>
      <p:sp>
        <p:nvSpPr>
          <p:cNvPr id="219" name="Google Shape;219;p20"/>
          <p:cNvSpPr txBox="1"/>
          <p:nvPr>
            <p:ph idx="1" type="body"/>
          </p:nvPr>
        </p:nvSpPr>
        <p:spPr>
          <a:xfrm>
            <a:off x="914400" y="1106487"/>
            <a:ext cx="7623175" cy="42751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a schedule </a:t>
            </a:r>
            <a:r>
              <a:rPr b="0" i="1" lang="en-US" sz="1800" u="none">
                <a:solidFill>
                  <a:schemeClr val="dk1"/>
                </a:solidFill>
                <a:latin typeface="Helvetica Neue"/>
                <a:ea typeface="Helvetica Neue"/>
                <a:cs typeface="Helvetica Neue"/>
                <a:sym typeface="Helvetica Neue"/>
              </a:rPr>
              <a:t>S</a:t>
            </a:r>
            <a:r>
              <a:rPr b="0" i="0" lang="en-US" sz="1800" u="none">
                <a:solidFill>
                  <a:schemeClr val="dk1"/>
                </a:solidFill>
                <a:latin typeface="Helvetica Neue"/>
                <a:ea typeface="Helvetica Neue"/>
                <a:cs typeface="Helvetica Neue"/>
                <a:sym typeface="Helvetica Neue"/>
              </a:rPr>
              <a:t> can be transformed into a schedule </a:t>
            </a:r>
            <a:r>
              <a:rPr b="0" i="1" lang="en-US" sz="1800" u="none">
                <a:solidFill>
                  <a:schemeClr val="dk1"/>
                </a:solidFill>
                <a:latin typeface="Helvetica Neue"/>
                <a:ea typeface="Helvetica Neue"/>
                <a:cs typeface="Helvetica Neue"/>
                <a:sym typeface="Helvetica Neue"/>
              </a:rPr>
              <a:t>S´ </a:t>
            </a:r>
            <a:r>
              <a:rPr b="0" i="0" lang="en-US" sz="1800" u="none">
                <a:solidFill>
                  <a:schemeClr val="dk1"/>
                </a:solidFill>
                <a:latin typeface="Helvetica Neue"/>
                <a:ea typeface="Helvetica Neue"/>
                <a:cs typeface="Helvetica Neue"/>
                <a:sym typeface="Helvetica Neue"/>
              </a:rPr>
              <a:t>by a series of swaps of non-conflicting instructions, we say that </a:t>
            </a:r>
            <a:r>
              <a:rPr b="0" i="1" lang="en-US" sz="1800" u="none">
                <a:solidFill>
                  <a:schemeClr val="dk1"/>
                </a:solidFill>
                <a:latin typeface="Helvetica Neue"/>
                <a:ea typeface="Helvetica Neue"/>
                <a:cs typeface="Helvetica Neue"/>
                <a:sym typeface="Helvetica Neue"/>
              </a:rPr>
              <a:t>S</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S´ </a:t>
            </a:r>
            <a:r>
              <a:rPr b="0" i="0" lang="en-US" sz="1800" u="none">
                <a:solidFill>
                  <a:schemeClr val="dk1"/>
                </a:solidFill>
                <a:latin typeface="Helvetica Neue"/>
                <a:ea typeface="Helvetica Neue"/>
                <a:cs typeface="Helvetica Neue"/>
                <a:sym typeface="Helvetica Neue"/>
              </a:rPr>
              <a:t>are </a:t>
            </a:r>
            <a:r>
              <a:rPr b="1" i="0" lang="en-US" sz="1800" u="none">
                <a:solidFill>
                  <a:schemeClr val="dk2"/>
                </a:solidFill>
                <a:latin typeface="Helvetica Neue"/>
                <a:ea typeface="Helvetica Neue"/>
                <a:cs typeface="Helvetica Neue"/>
                <a:sym typeface="Helvetica Neue"/>
              </a:rPr>
              <a:t>conflict equivalent</a:t>
            </a:r>
            <a:r>
              <a:rPr b="0" i="1" lang="en-US" sz="1800" u="none">
                <a:solidFill>
                  <a:schemeClr val="dk1"/>
                </a:solidFill>
                <a:latin typeface="Helvetica Neue"/>
                <a:ea typeface="Helvetica Neue"/>
                <a:cs typeface="Helvetica Neue"/>
                <a:sym typeface="Helvetica Neue"/>
              </a:rPr>
              <a:t>.</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say that a schedule </a:t>
            </a:r>
            <a:r>
              <a:rPr b="0" i="1" lang="en-US" sz="1800" u="none">
                <a:solidFill>
                  <a:schemeClr val="dk1"/>
                </a:solidFill>
                <a:latin typeface="Helvetica Neue"/>
                <a:ea typeface="Helvetica Neue"/>
                <a:cs typeface="Helvetica Neue"/>
                <a:sym typeface="Helvetica Neue"/>
              </a:rPr>
              <a:t>S</a:t>
            </a:r>
            <a:r>
              <a:rPr b="0" i="0" lang="en-US" sz="1800" u="none">
                <a:solidFill>
                  <a:schemeClr val="dk1"/>
                </a:solidFill>
                <a:latin typeface="Helvetica Neue"/>
                <a:ea typeface="Helvetica Neue"/>
                <a:cs typeface="Helvetica Neue"/>
                <a:sym typeface="Helvetica Neue"/>
              </a:rPr>
              <a:t> is </a:t>
            </a:r>
            <a:r>
              <a:rPr b="1" i="0" lang="en-US" sz="1800" u="none">
                <a:solidFill>
                  <a:schemeClr val="dk2"/>
                </a:solidFill>
                <a:latin typeface="Helvetica Neue"/>
                <a:ea typeface="Helvetica Neue"/>
                <a:cs typeface="Helvetica Neue"/>
                <a:sym typeface="Helvetica Neue"/>
              </a:rPr>
              <a:t>conflict serializable</a:t>
            </a:r>
            <a:r>
              <a:rPr b="0" i="0" lang="en-US" sz="1800" u="none">
                <a:solidFill>
                  <a:schemeClr val="dk1"/>
                </a:solidFill>
                <a:latin typeface="Helvetica Neue"/>
                <a:ea typeface="Helvetica Neue"/>
                <a:cs typeface="Helvetica Neue"/>
                <a:sym typeface="Helvetica Neue"/>
              </a:rPr>
              <a:t> if it is conflict equivalent to a serial schedule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Conflict Serializability (Cont.)</a:t>
            </a:r>
            <a:endParaRPr/>
          </a:p>
        </p:txBody>
      </p:sp>
      <p:sp>
        <p:nvSpPr>
          <p:cNvPr id="226" name="Google Shape;226;p21"/>
          <p:cNvSpPr txBox="1"/>
          <p:nvPr>
            <p:ph idx="1" type="body"/>
          </p:nvPr>
        </p:nvSpPr>
        <p:spPr>
          <a:xfrm>
            <a:off x="895350" y="628650"/>
            <a:ext cx="7416800" cy="4546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800"/>
              <a:buFont typeface="Arial"/>
              <a:buChar char="●"/>
            </a:pPr>
            <a:r>
              <a:rPr b="0" i="0" lang="en-US" sz="2000" u="none">
                <a:solidFill>
                  <a:schemeClr val="dk1"/>
                </a:solidFill>
                <a:latin typeface="Helvetica Neue"/>
                <a:ea typeface="Helvetica Neue"/>
                <a:cs typeface="Helvetica Neue"/>
                <a:sym typeface="Helvetica Neue"/>
              </a:rPr>
              <a:t>Schedule 3 can be transformed into Schedule 6, a serial schedule where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2</a:t>
            </a:r>
            <a:r>
              <a:rPr b="0" i="0" lang="en-US" sz="2000" u="none">
                <a:solidFill>
                  <a:schemeClr val="dk1"/>
                </a:solidFill>
                <a:latin typeface="Helvetica Neue"/>
                <a:ea typeface="Helvetica Neue"/>
                <a:cs typeface="Helvetica Neue"/>
                <a:sym typeface="Helvetica Neue"/>
              </a:rPr>
              <a:t> follows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1</a:t>
            </a:r>
            <a:r>
              <a:rPr b="0" i="0" lang="en-US" sz="2000" u="none">
                <a:solidFill>
                  <a:schemeClr val="dk1"/>
                </a:solidFill>
                <a:latin typeface="Helvetica Neue"/>
                <a:ea typeface="Helvetica Neue"/>
                <a:cs typeface="Helvetica Neue"/>
                <a:sym typeface="Helvetica Neue"/>
              </a:rPr>
              <a:t>, by series of swaps of non-conflicting instructions. </a:t>
            </a:r>
            <a:endParaRPr/>
          </a:p>
          <a:p>
            <a:pPr indent="-285750" lvl="1" marL="742950" rtl="0" algn="l">
              <a:lnSpc>
                <a:spcPct val="100000"/>
              </a:lnSpc>
              <a:spcBef>
                <a:spcPts val="700"/>
              </a:spcBef>
              <a:spcAft>
                <a:spcPts val="0"/>
              </a:spcAft>
              <a:buClr>
                <a:schemeClr val="hlink"/>
              </a:buClr>
              <a:buSzPts val="1600"/>
              <a:buFont typeface="Arial"/>
              <a:buChar char="●"/>
            </a:pPr>
            <a:r>
              <a:rPr b="0" i="0" lang="en-US" sz="2000" u="none">
                <a:solidFill>
                  <a:schemeClr val="dk1"/>
                </a:solidFill>
                <a:latin typeface="Helvetica Neue"/>
                <a:ea typeface="Helvetica Neue"/>
                <a:cs typeface="Helvetica Neue"/>
                <a:sym typeface="Helvetica Neue"/>
              </a:rPr>
              <a:t>Therefore Schedule 3 is conflict serializable.</a:t>
            </a:r>
            <a:endParaRPr/>
          </a:p>
          <a:p>
            <a:pPr indent="-285750" lvl="1" marL="742950" rtl="0" algn="l">
              <a:lnSpc>
                <a:spcPct val="100000"/>
              </a:lnSpc>
              <a:spcBef>
                <a:spcPts val="700"/>
              </a:spcBef>
              <a:spcAft>
                <a:spcPts val="0"/>
              </a:spcAft>
              <a:buClr>
                <a:schemeClr val="hlink"/>
              </a:buClr>
              <a:buSzPts val="1600"/>
              <a:buFont typeface="Arial"/>
              <a:buChar char="●"/>
            </a:pPr>
            <a:r>
              <a:rPr b="0" i="0" lang="en-US" sz="2000" u="none">
                <a:solidFill>
                  <a:schemeClr val="dk1"/>
                </a:solidFill>
                <a:latin typeface="Helvetica Neue"/>
                <a:ea typeface="Helvetica Neue"/>
                <a:cs typeface="Helvetica Neue"/>
                <a:sym typeface="Helvetica Neue"/>
              </a:rPr>
              <a:t>T3 &amp; T6 are conflict serializable</a:t>
            </a:r>
            <a:endParaRPr/>
          </a:p>
        </p:txBody>
      </p:sp>
      <p:pic>
        <p:nvPicPr>
          <p:cNvPr id="227" name="Google Shape;227;p21"/>
          <p:cNvPicPr preferRelativeResize="0"/>
          <p:nvPr/>
        </p:nvPicPr>
        <p:blipFill rotWithShape="1">
          <a:blip r:embed="rId3">
            <a:alphaModFix/>
          </a:blip>
          <a:srcRect b="893" l="17239" r="17460" t="299"/>
          <a:stretch/>
        </p:blipFill>
        <p:spPr>
          <a:xfrm>
            <a:off x="895350" y="2695575"/>
            <a:ext cx="3003550" cy="3409950"/>
          </a:xfrm>
          <a:prstGeom prst="rect">
            <a:avLst/>
          </a:prstGeom>
          <a:noFill/>
          <a:ln cap="flat" cmpd="dbl" w="38100">
            <a:solidFill>
              <a:schemeClr val="dk2"/>
            </a:solidFill>
            <a:prstDash val="solid"/>
            <a:miter lim="800000"/>
            <a:headEnd len="sm" w="sm" type="none"/>
            <a:tailEnd len="sm" w="sm" type="none"/>
          </a:ln>
        </p:spPr>
      </p:pic>
      <p:pic>
        <p:nvPicPr>
          <p:cNvPr id="228" name="Google Shape;228;p21"/>
          <p:cNvPicPr preferRelativeResize="0"/>
          <p:nvPr/>
        </p:nvPicPr>
        <p:blipFill rotWithShape="1">
          <a:blip r:embed="rId4">
            <a:alphaModFix/>
          </a:blip>
          <a:srcRect b="795" l="17505" r="17903" t="531"/>
          <a:stretch/>
        </p:blipFill>
        <p:spPr>
          <a:xfrm>
            <a:off x="5141912" y="2643187"/>
            <a:ext cx="2970212" cy="3403600"/>
          </a:xfrm>
          <a:prstGeom prst="rect">
            <a:avLst/>
          </a:prstGeom>
          <a:noFill/>
          <a:ln cap="flat" cmpd="dbl" w="38100">
            <a:solidFill>
              <a:schemeClr val="dk2"/>
            </a:solidFill>
            <a:prstDash val="solid"/>
            <a:miter lim="800000"/>
            <a:headEnd len="sm" w="sm" type="none"/>
            <a:tailEnd len="sm" w="sm" type="none"/>
          </a:ln>
        </p:spPr>
      </p:pic>
      <p:sp>
        <p:nvSpPr>
          <p:cNvPr id="229" name="Google Shape;229;p21"/>
          <p:cNvSpPr txBox="1"/>
          <p:nvPr/>
        </p:nvSpPr>
        <p:spPr>
          <a:xfrm>
            <a:off x="1639887" y="6138862"/>
            <a:ext cx="1455737" cy="3968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000"/>
              <a:buFont typeface="Helvetica Neue"/>
              <a:buNone/>
            </a:pPr>
            <a:r>
              <a:rPr b="0" i="0" lang="en-US" sz="2000" u="none" cap="none" strike="noStrike">
                <a:solidFill>
                  <a:schemeClr val="dk1"/>
                </a:solidFill>
                <a:latin typeface="Helvetica Neue"/>
                <a:ea typeface="Helvetica Neue"/>
                <a:cs typeface="Helvetica Neue"/>
                <a:sym typeface="Helvetica Neue"/>
              </a:rPr>
              <a:t>Schedule 3</a:t>
            </a:r>
            <a:endParaRPr b="0" i="0" sz="1400" u="none" cap="none" strike="noStrike">
              <a:solidFill>
                <a:srgbClr val="000000"/>
              </a:solidFill>
              <a:latin typeface="Arial"/>
              <a:ea typeface="Arial"/>
              <a:cs typeface="Arial"/>
              <a:sym typeface="Arial"/>
            </a:endParaRPr>
          </a:p>
        </p:txBody>
      </p:sp>
      <p:sp>
        <p:nvSpPr>
          <p:cNvPr id="230" name="Google Shape;230;p21"/>
          <p:cNvSpPr txBox="1"/>
          <p:nvPr/>
        </p:nvSpPr>
        <p:spPr>
          <a:xfrm>
            <a:off x="5929312" y="6102350"/>
            <a:ext cx="1455737" cy="3968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000"/>
              <a:buFont typeface="Helvetica Neue"/>
              <a:buNone/>
            </a:pPr>
            <a:r>
              <a:rPr b="0" i="0" lang="en-US" sz="2000" u="none" cap="none" strike="noStrike">
                <a:solidFill>
                  <a:schemeClr val="dk1"/>
                </a:solidFill>
                <a:latin typeface="Helvetica Neue"/>
                <a:ea typeface="Helvetica Neue"/>
                <a:cs typeface="Helvetica Neue"/>
                <a:sym typeface="Helvetica Neue"/>
              </a:rPr>
              <a:t>Schedule 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Conflict Serializability (Cont.)</a:t>
            </a:r>
            <a:endParaRPr/>
          </a:p>
        </p:txBody>
      </p:sp>
      <p:sp>
        <p:nvSpPr>
          <p:cNvPr id="237" name="Google Shape;237;p22"/>
          <p:cNvSpPr txBox="1"/>
          <p:nvPr>
            <p:ph idx="1" type="body"/>
          </p:nvPr>
        </p:nvSpPr>
        <p:spPr>
          <a:xfrm>
            <a:off x="914400" y="1106487"/>
            <a:ext cx="7650162" cy="45656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620"/>
              <a:buNone/>
            </a:pPr>
            <a:r>
              <a:t/>
            </a:r>
            <a:endParaRPr b="0" i="0" sz="1800" u="none">
              <a:solidFill>
                <a:schemeClr val="dk1"/>
              </a:solidFill>
              <a:latin typeface="Helvetica Neue"/>
              <a:ea typeface="Helvetica Neue"/>
              <a:cs typeface="Helvetica Neue"/>
              <a:sym typeface="Helvetica Neue"/>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of a schedule that is not conflict serializable:</a:t>
            </a: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are unable to swap instructions in the above schedule to obtain either the serial schedule &lt;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&gt;, or the serial schedule &lt;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&gt;.</a:t>
            </a:r>
            <a:endParaRPr/>
          </a:p>
        </p:txBody>
      </p:sp>
      <p:pic>
        <p:nvPicPr>
          <p:cNvPr id="238" name="Google Shape;238;p22"/>
          <p:cNvPicPr preferRelativeResize="0"/>
          <p:nvPr/>
        </p:nvPicPr>
        <p:blipFill rotWithShape="1">
          <a:blip r:embed="rId3">
            <a:alphaModFix/>
          </a:blip>
          <a:srcRect b="16996" l="849" r="849" t="16995"/>
          <a:stretch/>
        </p:blipFill>
        <p:spPr>
          <a:xfrm>
            <a:off x="3106737" y="2012950"/>
            <a:ext cx="2913062" cy="146685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View Serializability</a:t>
            </a:r>
            <a:endParaRPr/>
          </a:p>
        </p:txBody>
      </p:sp>
      <p:sp>
        <p:nvSpPr>
          <p:cNvPr id="245" name="Google Shape;245;p23"/>
          <p:cNvSpPr txBox="1"/>
          <p:nvPr>
            <p:ph idx="1" type="body"/>
          </p:nvPr>
        </p:nvSpPr>
        <p:spPr>
          <a:xfrm>
            <a:off x="139700" y="1054100"/>
            <a:ext cx="9004300" cy="52212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60"/>
              <a:buFont typeface="Arial"/>
              <a:buChar char="●"/>
            </a:pPr>
            <a:r>
              <a:rPr b="0" i="0" lang="en-US" sz="2400" u="none">
                <a:solidFill>
                  <a:schemeClr val="dk1"/>
                </a:solidFill>
                <a:latin typeface="Helvetica Neue"/>
                <a:ea typeface="Helvetica Neue"/>
                <a:cs typeface="Helvetica Neue"/>
                <a:sym typeface="Helvetica Neue"/>
              </a:rPr>
              <a:t>Let </a:t>
            </a:r>
            <a:r>
              <a:rPr b="0" i="1" lang="en-US" sz="2400" u="none">
                <a:solidFill>
                  <a:schemeClr val="dk1"/>
                </a:solidFill>
                <a:latin typeface="Helvetica Neue"/>
                <a:ea typeface="Helvetica Neue"/>
                <a:cs typeface="Helvetica Neue"/>
                <a:sym typeface="Helvetica Neue"/>
              </a:rPr>
              <a:t>S</a:t>
            </a:r>
            <a:r>
              <a:rPr b="0" i="0" lang="en-US" sz="2400" u="none">
                <a:solidFill>
                  <a:schemeClr val="dk1"/>
                </a:solidFill>
                <a:latin typeface="Helvetica Neue"/>
                <a:ea typeface="Helvetica Neue"/>
                <a:cs typeface="Helvetica Neue"/>
                <a:sym typeface="Helvetica Neue"/>
              </a:rPr>
              <a:t> and </a:t>
            </a:r>
            <a:r>
              <a:rPr b="0" i="1" lang="en-US" sz="2400" u="none">
                <a:solidFill>
                  <a:schemeClr val="dk1"/>
                </a:solidFill>
                <a:latin typeface="Helvetica Neue"/>
                <a:ea typeface="Helvetica Neue"/>
                <a:cs typeface="Helvetica Neue"/>
                <a:sym typeface="Helvetica Neue"/>
              </a:rPr>
              <a:t>S´</a:t>
            </a:r>
            <a:r>
              <a:rPr b="0" i="0" lang="en-US" sz="2400" u="none">
                <a:solidFill>
                  <a:schemeClr val="dk1"/>
                </a:solidFill>
                <a:latin typeface="Helvetica Neue"/>
                <a:ea typeface="Helvetica Neue"/>
                <a:cs typeface="Helvetica Neue"/>
                <a:sym typeface="Helvetica Neue"/>
              </a:rPr>
              <a:t> be two schedules with the same set of transactions.  </a:t>
            </a:r>
            <a:r>
              <a:rPr b="0" i="1" lang="en-US" sz="2400" u="none">
                <a:solidFill>
                  <a:schemeClr val="dk1"/>
                </a:solidFill>
                <a:latin typeface="Helvetica Neue"/>
                <a:ea typeface="Helvetica Neue"/>
                <a:cs typeface="Helvetica Neue"/>
                <a:sym typeface="Helvetica Neue"/>
              </a:rPr>
              <a:t>S</a:t>
            </a:r>
            <a:r>
              <a:rPr b="0" i="0" lang="en-US" sz="2400" u="none">
                <a:solidFill>
                  <a:schemeClr val="dk1"/>
                </a:solidFill>
                <a:latin typeface="Helvetica Neue"/>
                <a:ea typeface="Helvetica Neue"/>
                <a:cs typeface="Helvetica Neue"/>
                <a:sym typeface="Helvetica Neue"/>
              </a:rPr>
              <a:t> and </a:t>
            </a:r>
            <a:r>
              <a:rPr b="0" i="1" lang="en-US" sz="2400" u="none">
                <a:solidFill>
                  <a:schemeClr val="dk1"/>
                </a:solidFill>
                <a:latin typeface="Helvetica Neue"/>
                <a:ea typeface="Helvetica Neue"/>
                <a:cs typeface="Helvetica Neue"/>
                <a:sym typeface="Helvetica Neue"/>
              </a:rPr>
              <a:t>S´</a:t>
            </a:r>
            <a:r>
              <a:rPr b="0" i="0" lang="en-US" sz="2400" u="none">
                <a:solidFill>
                  <a:schemeClr val="dk1"/>
                </a:solidFill>
                <a:latin typeface="Helvetica Neue"/>
                <a:ea typeface="Helvetica Neue"/>
                <a:cs typeface="Helvetica Neue"/>
                <a:sym typeface="Helvetica Neue"/>
              </a:rPr>
              <a:t> are </a:t>
            </a:r>
            <a:r>
              <a:rPr b="1" i="0" lang="en-US" sz="2400" u="none">
                <a:solidFill>
                  <a:schemeClr val="dk2"/>
                </a:solidFill>
                <a:latin typeface="Helvetica Neue"/>
                <a:ea typeface="Helvetica Neue"/>
                <a:cs typeface="Helvetica Neue"/>
                <a:sym typeface="Helvetica Neue"/>
              </a:rPr>
              <a:t>view equivalent</a:t>
            </a:r>
            <a:r>
              <a:rPr b="0" i="1" lang="en-US" sz="2400" u="none">
                <a:solidFill>
                  <a:schemeClr val="dk1"/>
                </a:solidFill>
                <a:latin typeface="Helvetica Neue"/>
                <a:ea typeface="Helvetica Neue"/>
                <a:cs typeface="Helvetica Neue"/>
                <a:sym typeface="Helvetica Neue"/>
              </a:rPr>
              <a:t> </a:t>
            </a:r>
            <a:r>
              <a:rPr b="0" i="0" lang="en-US" sz="2400" u="none">
                <a:solidFill>
                  <a:schemeClr val="dk1"/>
                </a:solidFill>
                <a:latin typeface="Helvetica Neue"/>
                <a:ea typeface="Helvetica Neue"/>
                <a:cs typeface="Helvetica Neue"/>
                <a:sym typeface="Helvetica Neue"/>
              </a:rPr>
              <a:t>if the following three conditions are met, for each data item </a:t>
            </a:r>
            <a:r>
              <a:rPr b="0" i="1" lang="en-US" sz="2400" u="none">
                <a:solidFill>
                  <a:schemeClr val="dk1"/>
                </a:solidFill>
                <a:latin typeface="Helvetica Neue"/>
                <a:ea typeface="Helvetica Neue"/>
                <a:cs typeface="Helvetica Neue"/>
                <a:sym typeface="Helvetica Neue"/>
              </a:rPr>
              <a:t>Q,</a:t>
            </a:r>
            <a:r>
              <a:rPr b="0" i="0" lang="en-US" sz="2400" u="none">
                <a:solidFill>
                  <a:schemeClr val="dk1"/>
                </a:solidFill>
                <a:latin typeface="Helvetica Neue"/>
                <a:ea typeface="Helvetica Neue"/>
                <a:cs typeface="Helvetica Neue"/>
                <a:sym typeface="Helvetica Neue"/>
              </a:rPr>
              <a:t> </a:t>
            </a:r>
            <a:endParaRPr/>
          </a:p>
          <a:p>
            <a:pPr indent="-342900" lvl="0" marL="342900" rtl="0" algn="l">
              <a:lnSpc>
                <a:spcPct val="100000"/>
              </a:lnSpc>
              <a:spcBef>
                <a:spcPts val="840"/>
              </a:spcBef>
              <a:spcAft>
                <a:spcPts val="0"/>
              </a:spcAft>
              <a:buSzPts val="2160"/>
              <a:buNone/>
            </a:pPr>
            <a:r>
              <a:rPr b="0" i="0" lang="en-US" sz="2400" u="none">
                <a:solidFill>
                  <a:schemeClr val="dk1"/>
                </a:solidFill>
                <a:latin typeface="Helvetica Neue"/>
                <a:ea typeface="Helvetica Neue"/>
                <a:cs typeface="Helvetica Neue"/>
                <a:sym typeface="Helvetica Neue"/>
              </a:rPr>
              <a:t>    1. </a:t>
            </a:r>
            <a:r>
              <a:rPr b="1" i="0" lang="en-US" sz="2400" u="none">
                <a:solidFill>
                  <a:schemeClr val="dk1"/>
                </a:solidFill>
                <a:latin typeface="Helvetica Neue"/>
                <a:ea typeface="Helvetica Neue"/>
                <a:cs typeface="Helvetica Neue"/>
                <a:sym typeface="Helvetica Neue"/>
              </a:rPr>
              <a:t>If in schedule S, transaction </a:t>
            </a:r>
            <a:r>
              <a:rPr b="1" i="1" lang="en-US" sz="2400" u="none">
                <a:solidFill>
                  <a:schemeClr val="dk1"/>
                </a:solidFill>
                <a:latin typeface="Helvetica Neue"/>
                <a:ea typeface="Helvetica Neue"/>
                <a:cs typeface="Helvetica Neue"/>
                <a:sym typeface="Helvetica Neue"/>
              </a:rPr>
              <a:t>T</a:t>
            </a:r>
            <a:r>
              <a:rPr b="1" baseline="-25000" i="1" lang="en-US" sz="2400" u="none">
                <a:solidFill>
                  <a:schemeClr val="dk1"/>
                </a:solidFill>
                <a:latin typeface="Helvetica Neue"/>
                <a:ea typeface="Helvetica Neue"/>
                <a:cs typeface="Helvetica Neue"/>
                <a:sym typeface="Helvetica Neue"/>
              </a:rPr>
              <a:t>i</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reads the initial value of   	</a:t>
            </a:r>
            <a:r>
              <a:rPr b="1" i="1" lang="en-US" sz="2400" u="none">
                <a:solidFill>
                  <a:schemeClr val="dk1"/>
                </a:solidFill>
                <a:latin typeface="Helvetica Neue"/>
                <a:ea typeface="Helvetica Neue"/>
                <a:cs typeface="Helvetica Neue"/>
                <a:sym typeface="Helvetica Neue"/>
              </a:rPr>
              <a:t>Q</a:t>
            </a:r>
            <a:r>
              <a:rPr b="1" i="0" lang="en-US" sz="2400" u="none">
                <a:solidFill>
                  <a:schemeClr val="dk1"/>
                </a:solidFill>
                <a:latin typeface="Helvetica Neue"/>
                <a:ea typeface="Helvetica Neue"/>
                <a:cs typeface="Helvetica Neue"/>
                <a:sym typeface="Helvetica Neue"/>
              </a:rPr>
              <a:t>, then in schedule </a:t>
            </a:r>
            <a:r>
              <a:rPr b="1" i="1" lang="en-US" sz="2400" u="none">
                <a:solidFill>
                  <a:schemeClr val="dk1"/>
                </a:solidFill>
                <a:latin typeface="Helvetica Neue"/>
                <a:ea typeface="Helvetica Neue"/>
                <a:cs typeface="Helvetica Neue"/>
                <a:sym typeface="Helvetica Neue"/>
              </a:rPr>
              <a:t>S’</a:t>
            </a:r>
            <a:r>
              <a:rPr b="1" i="0" lang="en-US" sz="2400" u="none">
                <a:solidFill>
                  <a:schemeClr val="dk1"/>
                </a:solidFill>
                <a:latin typeface="Helvetica Neue"/>
                <a:ea typeface="Helvetica Neue"/>
                <a:cs typeface="Helvetica Neue"/>
                <a:sym typeface="Helvetica Neue"/>
              </a:rPr>
              <a:t> also transaction </a:t>
            </a:r>
            <a:r>
              <a:rPr b="1" i="1" lang="en-US" sz="2400" u="none">
                <a:solidFill>
                  <a:schemeClr val="dk1"/>
                </a:solidFill>
                <a:latin typeface="Helvetica Neue"/>
                <a:ea typeface="Helvetica Neue"/>
                <a:cs typeface="Helvetica Neue"/>
                <a:sym typeface="Helvetica Neue"/>
              </a:rPr>
              <a:t>T</a:t>
            </a:r>
            <a:r>
              <a:rPr b="1" baseline="-25000" i="1" lang="en-US" sz="2400" u="none">
                <a:solidFill>
                  <a:schemeClr val="dk1"/>
                </a:solidFill>
                <a:latin typeface="Helvetica Neue"/>
                <a:ea typeface="Helvetica Neue"/>
                <a:cs typeface="Helvetica Neue"/>
                <a:sym typeface="Helvetica Neue"/>
              </a:rPr>
              <a:t>i</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 must read 	the 	initial value of </a:t>
            </a:r>
            <a:r>
              <a:rPr b="1" i="1" lang="en-US" sz="2400" u="none">
                <a:solidFill>
                  <a:schemeClr val="dk1"/>
                </a:solidFill>
                <a:latin typeface="Helvetica Neue"/>
                <a:ea typeface="Helvetica Neue"/>
                <a:cs typeface="Helvetica Neue"/>
                <a:sym typeface="Helvetica Neue"/>
              </a:rPr>
              <a:t>Q.</a:t>
            </a:r>
            <a:endParaRPr/>
          </a:p>
          <a:p>
            <a:pPr indent="-342900" lvl="0" marL="342900" rtl="0" algn="l">
              <a:lnSpc>
                <a:spcPct val="100000"/>
              </a:lnSpc>
              <a:spcBef>
                <a:spcPts val="840"/>
              </a:spcBef>
              <a:spcAft>
                <a:spcPts val="0"/>
              </a:spcAft>
              <a:buSzPts val="2160"/>
              <a:buNone/>
            </a:pPr>
            <a:r>
              <a:t/>
            </a:r>
            <a:endParaRPr b="1" i="1" sz="2400" u="none">
              <a:solidFill>
                <a:schemeClr val="dk1"/>
              </a:solidFill>
              <a:latin typeface="Helvetica Neue"/>
              <a:ea typeface="Helvetica Neue"/>
              <a:cs typeface="Helvetica Neue"/>
              <a:sym typeface="Helvetica Neue"/>
            </a:endParaRPr>
          </a:p>
          <a:p>
            <a:pPr indent="0" lvl="1" marL="457200" rtl="0" algn="just">
              <a:lnSpc>
                <a:spcPct val="100000"/>
              </a:lnSpc>
              <a:spcBef>
                <a:spcPts val="840"/>
              </a:spcBef>
              <a:spcAft>
                <a:spcPts val="0"/>
              </a:spcAft>
              <a:buSzPts val="1920"/>
              <a:buNone/>
            </a:pPr>
            <a:r>
              <a:rPr b="1" i="0" lang="en-US" sz="2400" u="none">
                <a:solidFill>
                  <a:schemeClr val="dk1"/>
                </a:solidFill>
                <a:latin typeface="Helvetica Neue"/>
                <a:ea typeface="Helvetica Neue"/>
                <a:cs typeface="Helvetica Neue"/>
                <a:sym typeface="Helvetica Neue"/>
              </a:rPr>
              <a:t>2. The transaction (if any) that performs the final write(</a:t>
            </a:r>
            <a:r>
              <a:rPr b="1" i="1" lang="en-US" sz="2400" u="none">
                <a:solidFill>
                  <a:schemeClr val="dk1"/>
                </a:solidFill>
                <a:latin typeface="Helvetica Neue"/>
                <a:ea typeface="Helvetica Neue"/>
                <a:cs typeface="Helvetica Neue"/>
                <a:sym typeface="Helvetica Neue"/>
              </a:rPr>
              <a:t>Q</a:t>
            </a:r>
            <a:r>
              <a:rPr b="1" i="0" lang="en-US" sz="2400" u="none">
                <a:solidFill>
                  <a:schemeClr val="dk1"/>
                </a:solidFill>
                <a:latin typeface="Helvetica Neue"/>
                <a:ea typeface="Helvetica Neue"/>
                <a:cs typeface="Helvetica Neue"/>
                <a:sym typeface="Helvetica Neue"/>
              </a:rPr>
              <a:t>) operation in schedule </a:t>
            </a:r>
            <a:r>
              <a:rPr b="1" i="1" lang="en-US" sz="2400" u="none">
                <a:solidFill>
                  <a:schemeClr val="dk1"/>
                </a:solidFill>
                <a:latin typeface="Helvetica Neue"/>
                <a:ea typeface="Helvetica Neue"/>
                <a:cs typeface="Helvetica Neue"/>
                <a:sym typeface="Helvetica Neue"/>
              </a:rPr>
              <a:t>S </a:t>
            </a:r>
            <a:r>
              <a:rPr b="1" i="0" lang="en-US" sz="2400" u="none">
                <a:solidFill>
                  <a:schemeClr val="dk1"/>
                </a:solidFill>
                <a:latin typeface="Helvetica Neue"/>
                <a:ea typeface="Helvetica Neue"/>
                <a:cs typeface="Helvetica Neue"/>
                <a:sym typeface="Helvetica Neue"/>
              </a:rPr>
              <a:t>must also perform the final</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write(</a:t>
            </a:r>
            <a:r>
              <a:rPr b="1" i="1" lang="en-US" sz="2400" u="none">
                <a:solidFill>
                  <a:schemeClr val="dk1"/>
                </a:solidFill>
                <a:latin typeface="Helvetica Neue"/>
                <a:ea typeface="Helvetica Neue"/>
                <a:cs typeface="Helvetica Neue"/>
                <a:sym typeface="Helvetica Neue"/>
              </a:rPr>
              <a:t>Q</a:t>
            </a:r>
            <a:r>
              <a:rPr b="1" i="0" lang="en-US" sz="2400" u="none">
                <a:solidFill>
                  <a:schemeClr val="dk1"/>
                </a:solidFill>
                <a:latin typeface="Helvetica Neue"/>
                <a:ea typeface="Helvetica Neue"/>
                <a:cs typeface="Helvetica Neue"/>
                <a:sym typeface="Helvetica Neue"/>
              </a:rPr>
              <a:t>) operation in schedule </a:t>
            </a:r>
            <a:r>
              <a:rPr b="1" i="1" lang="en-US" sz="2400" u="none">
                <a:solidFill>
                  <a:schemeClr val="dk1"/>
                </a:solidFill>
                <a:latin typeface="Helvetica Neue"/>
                <a:ea typeface="Helvetica Neue"/>
                <a:cs typeface="Helvetica Neue"/>
                <a:sym typeface="Helvetica Neue"/>
              </a:rPr>
              <a: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b="1" sz="3200">
              <a:solidFill>
                <a:schemeClr val="dk2"/>
              </a:solidFill>
              <a:latin typeface="Helvetica Neue"/>
              <a:ea typeface="Helvetica Neue"/>
              <a:cs typeface="Helvetica Neue"/>
              <a:sym typeface="Helvetica Neue"/>
            </a:endParaRPr>
          </a:p>
        </p:txBody>
      </p:sp>
      <p:sp>
        <p:nvSpPr>
          <p:cNvPr id="251" name="Google Shape;251;p24"/>
          <p:cNvSpPr txBox="1"/>
          <p:nvPr>
            <p:ph idx="1" type="body"/>
          </p:nvPr>
        </p:nvSpPr>
        <p:spPr>
          <a:xfrm>
            <a:off x="914400" y="1106487"/>
            <a:ext cx="8043862"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800"/>
              <a:buFont typeface="Arial"/>
              <a:buNone/>
            </a:pPr>
            <a:r>
              <a:t/>
            </a:r>
            <a:endParaRPr b="0" i="0" sz="2000" u="none" cap="none" strike="noStrike">
              <a:solidFill>
                <a:schemeClr val="dk1"/>
              </a:solidFill>
              <a:latin typeface="Helvetica Neue"/>
              <a:ea typeface="Helvetica Neue"/>
              <a:cs typeface="Helvetica Neue"/>
              <a:sym typeface="Helvetica Neue"/>
            </a:endParaRPr>
          </a:p>
          <a:p>
            <a:pPr indent="-342900" lvl="1" marL="342900" marR="0" rtl="0" algn="l">
              <a:lnSpc>
                <a:spcPct val="100000"/>
              </a:lnSpc>
              <a:spcBef>
                <a:spcPts val="840"/>
              </a:spcBef>
              <a:spcAft>
                <a:spcPts val="0"/>
              </a:spcAft>
              <a:buClr>
                <a:schemeClr val="hlink"/>
              </a:buClr>
              <a:buSzPts val="1600"/>
              <a:buFont typeface="Arial"/>
              <a:buNone/>
            </a:pPr>
            <a:r>
              <a:rPr b="0" i="0" lang="en-US" sz="2000" u="none" cap="none" strike="noStrike">
                <a:solidFill>
                  <a:schemeClr val="dk1"/>
                </a:solidFill>
                <a:latin typeface="Helvetica Neue"/>
                <a:ea typeface="Helvetica Neue"/>
                <a:cs typeface="Helvetica Neue"/>
                <a:sym typeface="Helvetica Neue"/>
              </a:rPr>
              <a:t>3.</a:t>
            </a:r>
            <a:r>
              <a:rPr b="1" i="0" lang="en-US" sz="2400" u="none" cap="none" strike="noStrike">
                <a:solidFill>
                  <a:schemeClr val="dk1"/>
                </a:solidFill>
                <a:latin typeface="Helvetica Neue"/>
                <a:ea typeface="Helvetica Neue"/>
                <a:cs typeface="Helvetica Neue"/>
                <a:sym typeface="Helvetica Neue"/>
              </a:rPr>
              <a:t> If in schedule S transaction </a:t>
            </a:r>
            <a:r>
              <a:rPr b="1" i="1" lang="en-US" sz="2400" u="none" cap="none" strike="noStrike">
                <a:solidFill>
                  <a:schemeClr val="dk1"/>
                </a:solidFill>
                <a:latin typeface="Helvetica Neue"/>
                <a:ea typeface="Helvetica Neue"/>
                <a:cs typeface="Helvetica Neue"/>
                <a:sym typeface="Helvetica Neue"/>
              </a:rPr>
              <a:t>T</a:t>
            </a:r>
            <a:r>
              <a:rPr b="1" baseline="-25000" i="1" lang="en-US" sz="2400" u="none" cap="none" strike="noStrike">
                <a:solidFill>
                  <a:schemeClr val="dk1"/>
                </a:solidFill>
                <a:latin typeface="Helvetica Neue"/>
                <a:ea typeface="Helvetica Neue"/>
                <a:cs typeface="Helvetica Neue"/>
                <a:sym typeface="Helvetica Neue"/>
              </a:rPr>
              <a:t>i</a:t>
            </a:r>
            <a:r>
              <a:rPr b="1" i="1" lang="en-US" sz="2400" u="none" cap="none" strike="noStrike">
                <a:solidFill>
                  <a:schemeClr val="dk1"/>
                </a:solidFill>
                <a:latin typeface="Helvetica Neue"/>
                <a:ea typeface="Helvetica Neue"/>
                <a:cs typeface="Helvetica Neue"/>
                <a:sym typeface="Helvetica Neue"/>
              </a:rPr>
              <a:t> </a:t>
            </a:r>
            <a:r>
              <a:rPr b="1" i="0" lang="en-US" sz="2400" u="none" cap="none" strike="noStrike">
                <a:solidFill>
                  <a:schemeClr val="dk1"/>
                </a:solidFill>
                <a:latin typeface="Helvetica Neue"/>
                <a:ea typeface="Helvetica Neue"/>
                <a:cs typeface="Helvetica Neue"/>
                <a:sym typeface="Helvetica Neue"/>
              </a:rPr>
              <a:t>executes read(</a:t>
            </a:r>
            <a:r>
              <a:rPr b="1" i="1" lang="en-US" sz="2400" u="none" cap="none" strike="noStrike">
                <a:solidFill>
                  <a:schemeClr val="dk1"/>
                </a:solidFill>
                <a:latin typeface="Helvetica Neue"/>
                <a:ea typeface="Helvetica Neue"/>
                <a:cs typeface="Helvetica Neue"/>
                <a:sym typeface="Helvetica Neue"/>
              </a:rPr>
              <a:t>Q)</a:t>
            </a:r>
            <a:r>
              <a:rPr b="1" i="0" lang="en-US" sz="2400" u="none" cap="none" strike="noStrike">
                <a:solidFill>
                  <a:schemeClr val="dk1"/>
                </a:solidFill>
                <a:latin typeface="Helvetica Neue"/>
                <a:ea typeface="Helvetica Neue"/>
                <a:cs typeface="Helvetica Neue"/>
                <a:sym typeface="Helvetica Neue"/>
              </a:rPr>
              <a:t>, and that value was produced by transaction </a:t>
            </a:r>
            <a:r>
              <a:rPr b="1" i="1" lang="en-US" sz="2400" u="none" cap="none" strike="noStrike">
                <a:solidFill>
                  <a:schemeClr val="dk1"/>
                </a:solidFill>
                <a:latin typeface="Helvetica Neue"/>
                <a:ea typeface="Helvetica Neue"/>
                <a:cs typeface="Helvetica Neue"/>
                <a:sym typeface="Helvetica Neue"/>
              </a:rPr>
              <a:t>T</a:t>
            </a:r>
            <a:r>
              <a:rPr b="1" baseline="-25000" i="1" lang="en-US" sz="2400" u="none" cap="none" strike="noStrike">
                <a:solidFill>
                  <a:schemeClr val="dk1"/>
                </a:solidFill>
                <a:latin typeface="Helvetica Neue"/>
                <a:ea typeface="Helvetica Neue"/>
                <a:cs typeface="Helvetica Neue"/>
                <a:sym typeface="Helvetica Neue"/>
              </a:rPr>
              <a:t>j</a:t>
            </a:r>
            <a:r>
              <a:rPr b="1" i="0" lang="en-US" sz="2400" u="none" cap="none" strike="noStrike">
                <a:solidFill>
                  <a:schemeClr val="dk1"/>
                </a:solidFill>
                <a:latin typeface="Helvetica Neue"/>
                <a:ea typeface="Helvetica Neue"/>
                <a:cs typeface="Helvetica Neue"/>
                <a:sym typeface="Helvetica Neue"/>
              </a:rPr>
              <a:t> </a:t>
            </a:r>
            <a:r>
              <a:rPr b="1" i="1" lang="en-US" sz="2400" u="none" cap="none" strike="noStrike">
                <a:solidFill>
                  <a:schemeClr val="dk1"/>
                </a:solidFill>
                <a:latin typeface="Helvetica Neue"/>
                <a:ea typeface="Helvetica Neue"/>
                <a:cs typeface="Helvetica Neue"/>
                <a:sym typeface="Helvetica Neue"/>
              </a:rPr>
              <a:t> </a:t>
            </a:r>
            <a:r>
              <a:rPr b="1" i="0" lang="en-US" sz="2400" u="none" cap="none" strike="noStrike">
                <a:solidFill>
                  <a:schemeClr val="dk1"/>
                </a:solidFill>
                <a:latin typeface="Helvetica Neue"/>
                <a:ea typeface="Helvetica Neue"/>
                <a:cs typeface="Helvetica Neue"/>
                <a:sym typeface="Helvetica Neue"/>
              </a:rPr>
              <a:t>(if any), then in schedule </a:t>
            </a:r>
            <a:r>
              <a:rPr b="1" i="1" lang="en-US" sz="2400" u="none" cap="none" strike="noStrike">
                <a:solidFill>
                  <a:schemeClr val="dk1"/>
                </a:solidFill>
                <a:latin typeface="Helvetica Neue"/>
                <a:ea typeface="Helvetica Neue"/>
                <a:cs typeface="Helvetica Neue"/>
                <a:sym typeface="Helvetica Neue"/>
              </a:rPr>
              <a:t>S’</a:t>
            </a:r>
            <a:r>
              <a:rPr b="1" i="0" lang="en-US" sz="2400" u="none" cap="none" strike="noStrike">
                <a:solidFill>
                  <a:schemeClr val="dk1"/>
                </a:solidFill>
                <a:latin typeface="Helvetica Neue"/>
                <a:ea typeface="Helvetica Neue"/>
                <a:cs typeface="Helvetica Neue"/>
                <a:sym typeface="Helvetica Neue"/>
              </a:rPr>
              <a:t> also transaction </a:t>
            </a:r>
            <a:r>
              <a:rPr b="1" i="1" lang="en-US" sz="2400" u="none" cap="none" strike="noStrike">
                <a:solidFill>
                  <a:schemeClr val="dk1"/>
                </a:solidFill>
                <a:latin typeface="Helvetica Neue"/>
                <a:ea typeface="Helvetica Neue"/>
                <a:cs typeface="Helvetica Neue"/>
                <a:sym typeface="Helvetica Neue"/>
              </a:rPr>
              <a:t>T</a:t>
            </a:r>
            <a:r>
              <a:rPr b="1" baseline="-25000" i="1" lang="en-US" sz="2400" u="none" cap="none" strike="noStrike">
                <a:solidFill>
                  <a:schemeClr val="dk1"/>
                </a:solidFill>
                <a:latin typeface="Helvetica Neue"/>
                <a:ea typeface="Helvetica Neue"/>
                <a:cs typeface="Helvetica Neue"/>
                <a:sym typeface="Helvetica Neue"/>
              </a:rPr>
              <a:t>i</a:t>
            </a:r>
            <a:r>
              <a:rPr b="1" i="0" lang="en-US" sz="2400" u="none" cap="none" strike="noStrike">
                <a:solidFill>
                  <a:schemeClr val="dk1"/>
                </a:solidFill>
                <a:latin typeface="Helvetica Neue"/>
                <a:ea typeface="Helvetica Neue"/>
                <a:cs typeface="Helvetica Neue"/>
                <a:sym typeface="Helvetica Neue"/>
              </a:rPr>
              <a:t> must read the value of </a:t>
            </a:r>
            <a:r>
              <a:rPr b="1" i="1" lang="en-US" sz="2400" u="none" cap="none" strike="noStrike">
                <a:solidFill>
                  <a:schemeClr val="dk1"/>
                </a:solidFill>
                <a:latin typeface="Helvetica Neue"/>
                <a:ea typeface="Helvetica Neue"/>
                <a:cs typeface="Helvetica Neue"/>
                <a:sym typeface="Helvetica Neue"/>
              </a:rPr>
              <a:t>Q</a:t>
            </a:r>
            <a:r>
              <a:rPr b="1" i="0" lang="en-US" sz="2400" u="none" cap="none" strike="noStrike">
                <a:solidFill>
                  <a:schemeClr val="dk1"/>
                </a:solidFill>
                <a:latin typeface="Helvetica Neue"/>
                <a:ea typeface="Helvetica Neue"/>
                <a:cs typeface="Helvetica Neue"/>
                <a:sym typeface="Helvetica Neue"/>
              </a:rPr>
              <a:t> that was produced by the same write(Q) operation of transaction </a:t>
            </a:r>
            <a:r>
              <a:rPr b="1" i="1" lang="en-US" sz="2400" u="none" cap="none" strike="noStrike">
                <a:solidFill>
                  <a:schemeClr val="dk1"/>
                </a:solidFill>
                <a:latin typeface="Helvetica Neue"/>
                <a:ea typeface="Helvetica Neue"/>
                <a:cs typeface="Helvetica Neue"/>
                <a:sym typeface="Helvetica Neue"/>
              </a:rPr>
              <a:t>T</a:t>
            </a:r>
            <a:r>
              <a:rPr b="1" baseline="-25000" i="1" lang="en-US" sz="2400" u="none" cap="none" strike="noStrike">
                <a:solidFill>
                  <a:schemeClr val="dk1"/>
                </a:solidFill>
                <a:latin typeface="Helvetica Neue"/>
                <a:ea typeface="Helvetica Neue"/>
                <a:cs typeface="Helvetica Neue"/>
                <a:sym typeface="Helvetica Neue"/>
              </a:rPr>
              <a:t>j</a:t>
            </a:r>
            <a:r>
              <a:rPr b="1" i="0" lang="en-US" sz="2400" u="none" cap="none" strike="noStrike">
                <a:solidFill>
                  <a:schemeClr val="dk1"/>
                </a:solidFill>
                <a:latin typeface="Helvetica Neue"/>
                <a:ea typeface="Helvetica Neue"/>
                <a:cs typeface="Helvetica Neue"/>
                <a:sym typeface="Helvetica Neue"/>
              </a:rPr>
              <a:t> .</a:t>
            </a:r>
            <a:endParaRPr/>
          </a:p>
          <a:p>
            <a:pPr indent="-342900" lvl="1" marL="342900" marR="0" rtl="0" algn="l">
              <a:lnSpc>
                <a:spcPct val="100000"/>
              </a:lnSpc>
              <a:spcBef>
                <a:spcPts val="840"/>
              </a:spcBef>
              <a:spcAft>
                <a:spcPts val="0"/>
              </a:spcAft>
              <a:buClr>
                <a:schemeClr val="hlink"/>
              </a:buClr>
              <a:buSzPts val="1920"/>
              <a:buFont typeface="Arial"/>
              <a:buNone/>
            </a:pPr>
            <a:r>
              <a:t/>
            </a:r>
            <a:endParaRPr b="0" i="0" sz="24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840"/>
              </a:spcBef>
              <a:spcAft>
                <a:spcPts val="0"/>
              </a:spcAft>
              <a:buClr>
                <a:schemeClr val="dk2"/>
              </a:buClr>
              <a:buSzPts val="2160"/>
              <a:buFont typeface="Arial"/>
              <a:buNone/>
            </a:pPr>
            <a:r>
              <a:rPr b="0" i="0" lang="en-US" sz="2400" u="none" cap="none" strike="noStrike">
                <a:solidFill>
                  <a:schemeClr val="dk1"/>
                </a:solidFill>
                <a:latin typeface="Helvetica Neue"/>
                <a:ea typeface="Helvetica Neue"/>
                <a:cs typeface="Helvetica Neue"/>
                <a:sym typeface="Helvetica Neue"/>
              </a:rPr>
              <a:t>As can be seen, view equivalence is also based purely on </a:t>
            </a:r>
            <a:r>
              <a:rPr b="1" i="0" lang="en-US" sz="2400" u="none" cap="none" strike="noStrike">
                <a:solidFill>
                  <a:schemeClr val="dk1"/>
                </a:solidFill>
                <a:latin typeface="Helvetica Neue"/>
                <a:ea typeface="Helvetica Neue"/>
                <a:cs typeface="Helvetica Neue"/>
                <a:sym typeface="Helvetica Neue"/>
              </a:rPr>
              <a:t>reads </a:t>
            </a:r>
            <a:r>
              <a:rPr b="0" i="0" lang="en-US" sz="2400" u="none" cap="none" strike="noStrike">
                <a:solidFill>
                  <a:schemeClr val="dk1"/>
                </a:solidFill>
                <a:latin typeface="Helvetica Neue"/>
                <a:ea typeface="Helvetica Neue"/>
                <a:cs typeface="Helvetica Neue"/>
                <a:sym typeface="Helvetica Neue"/>
              </a:rPr>
              <a:t>and </a:t>
            </a:r>
            <a:r>
              <a:rPr b="1" i="0" lang="en-US" sz="2400" u="none" cap="none" strike="noStrike">
                <a:solidFill>
                  <a:schemeClr val="dk1"/>
                </a:solidFill>
                <a:latin typeface="Helvetica Neue"/>
                <a:ea typeface="Helvetica Neue"/>
                <a:cs typeface="Helvetica Neue"/>
                <a:sym typeface="Helvetica Neue"/>
              </a:rPr>
              <a:t>writes</a:t>
            </a:r>
            <a:r>
              <a:rPr b="0" i="0" lang="en-US" sz="2400" u="none" cap="none" strike="noStrike">
                <a:solidFill>
                  <a:schemeClr val="dk1"/>
                </a:solidFill>
                <a:latin typeface="Helvetica Neue"/>
                <a:ea typeface="Helvetica Neue"/>
                <a:cs typeface="Helvetica Neue"/>
                <a:sym typeface="Helvetica Neue"/>
              </a:rPr>
              <a:t> alone.</a:t>
            </a:r>
            <a:endParaRPr/>
          </a:p>
          <a:p>
            <a:pPr indent="-205740" lvl="0" marL="342900" marR="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View Serializability (Cont.)</a:t>
            </a:r>
            <a:endParaRPr/>
          </a:p>
        </p:txBody>
      </p:sp>
      <p:sp>
        <p:nvSpPr>
          <p:cNvPr id="258" name="Google Shape;258;p25"/>
          <p:cNvSpPr txBox="1"/>
          <p:nvPr>
            <p:ph idx="1" type="body"/>
          </p:nvPr>
        </p:nvSpPr>
        <p:spPr>
          <a:xfrm>
            <a:off x="914400" y="712787"/>
            <a:ext cx="7397750" cy="8366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800"/>
              <a:buFont typeface="Arial"/>
              <a:buChar char="●"/>
            </a:pPr>
            <a:r>
              <a:rPr b="0" i="0" lang="en-US" sz="2000" u="none">
                <a:solidFill>
                  <a:schemeClr val="dk1"/>
                </a:solidFill>
                <a:latin typeface="Helvetica Neue"/>
                <a:ea typeface="Helvetica Neue"/>
                <a:cs typeface="Helvetica Neue"/>
                <a:sym typeface="Helvetica Neue"/>
              </a:rPr>
              <a:t>Schedule x can be transformed into Schedule y, a serial schedule where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2</a:t>
            </a:r>
            <a:r>
              <a:rPr b="0" i="0" lang="en-US" sz="2000" u="none">
                <a:solidFill>
                  <a:schemeClr val="dk1"/>
                </a:solidFill>
                <a:latin typeface="Helvetica Neue"/>
                <a:ea typeface="Helvetica Neue"/>
                <a:cs typeface="Helvetica Neue"/>
                <a:sym typeface="Helvetica Neue"/>
              </a:rPr>
              <a:t> follows </a:t>
            </a: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1</a:t>
            </a:r>
            <a:r>
              <a:rPr b="0" i="0" lang="en-US" sz="2000" u="none">
                <a:solidFill>
                  <a:schemeClr val="dk1"/>
                </a:solidFill>
                <a:latin typeface="Helvetica Neue"/>
                <a:ea typeface="Helvetica Neue"/>
                <a:cs typeface="Helvetica Neue"/>
                <a:sym typeface="Helvetica Neue"/>
              </a:rPr>
              <a:t>, by series of swaps of instructions. </a:t>
            </a:r>
            <a:endParaRPr/>
          </a:p>
        </p:txBody>
      </p:sp>
      <p:pic>
        <p:nvPicPr>
          <p:cNvPr id="259" name="Google Shape;259;p25"/>
          <p:cNvPicPr preferRelativeResize="0"/>
          <p:nvPr/>
        </p:nvPicPr>
        <p:blipFill rotWithShape="1">
          <a:blip r:embed="rId3">
            <a:alphaModFix/>
          </a:blip>
          <a:srcRect b="893" l="17239" r="17460" t="299"/>
          <a:stretch/>
        </p:blipFill>
        <p:spPr>
          <a:xfrm>
            <a:off x="866775" y="1797050"/>
            <a:ext cx="3003550" cy="3409950"/>
          </a:xfrm>
          <a:prstGeom prst="rect">
            <a:avLst/>
          </a:prstGeom>
          <a:noFill/>
          <a:ln cap="flat" cmpd="dbl" w="38100">
            <a:solidFill>
              <a:schemeClr val="dk2"/>
            </a:solidFill>
            <a:prstDash val="solid"/>
            <a:miter lim="800000"/>
            <a:headEnd len="sm" w="sm" type="none"/>
            <a:tailEnd len="sm" w="sm" type="none"/>
          </a:ln>
        </p:spPr>
      </p:pic>
      <p:pic>
        <p:nvPicPr>
          <p:cNvPr id="260" name="Google Shape;260;p25"/>
          <p:cNvPicPr preferRelativeResize="0"/>
          <p:nvPr/>
        </p:nvPicPr>
        <p:blipFill rotWithShape="1">
          <a:blip r:embed="rId4">
            <a:alphaModFix/>
          </a:blip>
          <a:srcRect b="795" l="17505" r="17903" t="531"/>
          <a:stretch/>
        </p:blipFill>
        <p:spPr>
          <a:xfrm>
            <a:off x="4924425" y="1779587"/>
            <a:ext cx="2970212" cy="3403600"/>
          </a:xfrm>
          <a:prstGeom prst="rect">
            <a:avLst/>
          </a:prstGeom>
          <a:noFill/>
          <a:ln cap="flat" cmpd="dbl" w="38100">
            <a:solidFill>
              <a:schemeClr val="dk2"/>
            </a:solidFill>
            <a:prstDash val="solid"/>
            <a:miter lim="800000"/>
            <a:headEnd len="sm" w="sm" type="none"/>
            <a:tailEnd len="sm" w="sm" type="none"/>
          </a:ln>
        </p:spPr>
      </p:pic>
      <p:sp>
        <p:nvSpPr>
          <p:cNvPr id="261" name="Google Shape;261;p25"/>
          <p:cNvSpPr txBox="1"/>
          <p:nvPr/>
        </p:nvSpPr>
        <p:spPr>
          <a:xfrm>
            <a:off x="1517650" y="5364162"/>
            <a:ext cx="145415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000"/>
              <a:buFont typeface="Helvetica Neue"/>
              <a:buNone/>
            </a:pPr>
            <a:r>
              <a:rPr b="0" i="0" lang="en-US" sz="2000" u="none" cap="none" strike="noStrike">
                <a:solidFill>
                  <a:schemeClr val="dk1"/>
                </a:solidFill>
                <a:latin typeface="Helvetica Neue"/>
                <a:ea typeface="Helvetica Neue"/>
                <a:cs typeface="Helvetica Neue"/>
                <a:sym typeface="Helvetica Neue"/>
              </a:rPr>
              <a:t>Schedule x</a:t>
            </a:r>
            <a:endParaRPr b="0" i="0" sz="1400" u="none" cap="none" strike="noStrike">
              <a:solidFill>
                <a:srgbClr val="000000"/>
              </a:solidFill>
              <a:latin typeface="Arial"/>
              <a:ea typeface="Arial"/>
              <a:cs typeface="Arial"/>
              <a:sym typeface="Arial"/>
            </a:endParaRPr>
          </a:p>
        </p:txBody>
      </p:sp>
      <p:sp>
        <p:nvSpPr>
          <p:cNvPr id="262" name="Google Shape;262;p25"/>
          <p:cNvSpPr txBox="1"/>
          <p:nvPr/>
        </p:nvSpPr>
        <p:spPr>
          <a:xfrm>
            <a:off x="5683250" y="5233987"/>
            <a:ext cx="145415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000"/>
              <a:buFont typeface="Helvetica Neue"/>
              <a:buNone/>
            </a:pPr>
            <a:r>
              <a:rPr b="0" i="0" lang="en-US" sz="2000" u="none" cap="none" strike="noStrike">
                <a:solidFill>
                  <a:schemeClr val="dk1"/>
                </a:solidFill>
                <a:latin typeface="Helvetica Neue"/>
                <a:ea typeface="Helvetica Neue"/>
                <a:cs typeface="Helvetica Neue"/>
                <a:sym typeface="Helvetica Neue"/>
              </a:rPr>
              <a:t>Schedule y</a:t>
            </a:r>
            <a:endParaRPr b="0" i="0" sz="1400" u="none" cap="none" strike="noStrike">
              <a:solidFill>
                <a:srgbClr val="000000"/>
              </a:solidFill>
              <a:latin typeface="Arial"/>
              <a:ea typeface="Arial"/>
              <a:cs typeface="Arial"/>
              <a:sym typeface="Arial"/>
            </a:endParaRPr>
          </a:p>
        </p:txBody>
      </p:sp>
      <p:sp>
        <p:nvSpPr>
          <p:cNvPr id="263" name="Google Shape;263;p25"/>
          <p:cNvSpPr txBox="1"/>
          <p:nvPr/>
        </p:nvSpPr>
        <p:spPr>
          <a:xfrm>
            <a:off x="549275" y="6003925"/>
            <a:ext cx="7850187" cy="461962"/>
          </a:xfrm>
          <a:prstGeom prst="rect">
            <a:avLst/>
          </a:prstGeom>
          <a:noFill/>
          <a:ln>
            <a:noFill/>
          </a:ln>
        </p:spPr>
        <p:txBody>
          <a:bodyPr anchorCtr="0" anchor="t" bIns="45700" lIns="91425" spcFirstLastPara="1" rIns="91425" wrap="square" tIns="45700">
            <a:spAutoFit/>
          </a:bodyPr>
          <a:lstStyle/>
          <a:p>
            <a:pPr indent="-342900" lvl="0" marL="342900" marR="0" rtl="0" algn="r">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Helvetica Neue"/>
                <a:ea typeface="Helvetica Neue"/>
                <a:cs typeface="Helvetica Neue"/>
                <a:sym typeface="Helvetica Neue"/>
              </a:rPr>
              <a:t>A schedule </a:t>
            </a:r>
            <a:r>
              <a:rPr b="0" i="1" lang="en-US" sz="2400" u="none" cap="none" strike="noStrike">
                <a:solidFill>
                  <a:schemeClr val="dk1"/>
                </a:solidFill>
                <a:latin typeface="Helvetica Neue"/>
                <a:ea typeface="Helvetica Neue"/>
                <a:cs typeface="Helvetica Neue"/>
                <a:sym typeface="Helvetica Neue"/>
              </a:rPr>
              <a:t>X</a:t>
            </a:r>
            <a:r>
              <a:rPr b="0" i="0" lang="en-US" sz="2400" u="none" cap="none" strike="noStrike">
                <a:solidFill>
                  <a:schemeClr val="dk1"/>
                </a:solidFill>
                <a:latin typeface="Helvetica Neue"/>
                <a:ea typeface="Helvetica Neue"/>
                <a:cs typeface="Helvetica Neue"/>
                <a:sym typeface="Helvetica Neue"/>
              </a:rPr>
              <a:t> is view equivalent to a serial schedule 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View Serializability (Cont.)</a:t>
            </a:r>
            <a:endParaRPr/>
          </a:p>
        </p:txBody>
      </p:sp>
      <p:sp>
        <p:nvSpPr>
          <p:cNvPr id="270" name="Google Shape;270;p26"/>
          <p:cNvSpPr txBox="1"/>
          <p:nvPr>
            <p:ph idx="1" type="body"/>
          </p:nvPr>
        </p:nvSpPr>
        <p:spPr>
          <a:xfrm>
            <a:off x="914400" y="1106487"/>
            <a:ext cx="7848600" cy="5003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A schedule </a:t>
            </a:r>
            <a:r>
              <a:rPr b="1" i="1" lang="en-US" sz="2400" u="none">
                <a:solidFill>
                  <a:schemeClr val="dk1"/>
                </a:solidFill>
                <a:latin typeface="Helvetica Neue"/>
                <a:ea typeface="Helvetica Neue"/>
                <a:cs typeface="Helvetica Neue"/>
                <a:sym typeface="Helvetica Neue"/>
              </a:rPr>
              <a:t>S</a:t>
            </a:r>
            <a:r>
              <a:rPr b="1" i="0" lang="en-US" sz="2400" u="none">
                <a:solidFill>
                  <a:schemeClr val="dk1"/>
                </a:solidFill>
                <a:latin typeface="Helvetica Neue"/>
                <a:ea typeface="Helvetica Neue"/>
                <a:cs typeface="Helvetica Neue"/>
                <a:sym typeface="Helvetica Neue"/>
              </a:rPr>
              <a:t> is </a:t>
            </a:r>
            <a:r>
              <a:rPr b="1" i="0" lang="en-US" sz="2400" u="none">
                <a:solidFill>
                  <a:schemeClr val="dk2"/>
                </a:solidFill>
                <a:latin typeface="Helvetica Neue"/>
                <a:ea typeface="Helvetica Neue"/>
                <a:cs typeface="Helvetica Neue"/>
                <a:sym typeface="Helvetica Neue"/>
              </a:rPr>
              <a:t>view serializable</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if it is view equivalent to a serial schedule.</a:t>
            </a:r>
            <a:endParaRPr/>
          </a:p>
          <a:p>
            <a:pPr indent="-342900" lvl="0" marL="342900" rtl="0" algn="l">
              <a:lnSpc>
                <a:spcPct val="100000"/>
              </a:lnSpc>
              <a:spcBef>
                <a:spcPts val="840"/>
              </a:spcBef>
              <a:spcAft>
                <a:spcPts val="0"/>
              </a:spcAft>
              <a:buSzPts val="2160"/>
              <a:buNone/>
            </a:pPr>
            <a:r>
              <a:t/>
            </a:r>
            <a:endParaRPr b="1"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So schedule </a:t>
            </a:r>
            <a:r>
              <a:rPr b="1" i="1" lang="en-US" sz="2400" u="none">
                <a:solidFill>
                  <a:schemeClr val="dk1"/>
                </a:solidFill>
                <a:latin typeface="Helvetica Neue"/>
                <a:ea typeface="Helvetica Neue"/>
                <a:cs typeface="Helvetica Neue"/>
                <a:sym typeface="Helvetica Neue"/>
              </a:rPr>
              <a:t>X</a:t>
            </a:r>
            <a:r>
              <a:rPr b="1" i="0" lang="en-US" sz="2400" u="none">
                <a:solidFill>
                  <a:schemeClr val="dk1"/>
                </a:solidFill>
                <a:latin typeface="Helvetica Neue"/>
                <a:ea typeface="Helvetica Neue"/>
                <a:cs typeface="Helvetica Neue"/>
                <a:sym typeface="Helvetica Neue"/>
              </a:rPr>
              <a:t> is </a:t>
            </a:r>
            <a:r>
              <a:rPr b="1" i="0" lang="en-US" sz="2400" u="none">
                <a:solidFill>
                  <a:schemeClr val="dk2"/>
                </a:solidFill>
                <a:latin typeface="Helvetica Neue"/>
                <a:ea typeface="Helvetica Neue"/>
                <a:cs typeface="Helvetica Neue"/>
                <a:sym typeface="Helvetica Neue"/>
              </a:rPr>
              <a:t>view serializable</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 since it is view equivalent to a serial schedule Y</a:t>
            </a:r>
            <a:endParaRPr/>
          </a:p>
          <a:p>
            <a:pPr indent="-205740" lvl="0" marL="342900" rtl="0" algn="l">
              <a:lnSpc>
                <a:spcPct val="100000"/>
              </a:lnSpc>
              <a:spcBef>
                <a:spcPts val="840"/>
              </a:spcBef>
              <a:spcAft>
                <a:spcPts val="0"/>
              </a:spcAft>
              <a:buClr>
                <a:schemeClr val="dk2"/>
              </a:buClr>
              <a:buSzPts val="2160"/>
              <a:buFont typeface="Arial"/>
              <a:buNone/>
            </a:pPr>
            <a:r>
              <a:t/>
            </a:r>
            <a:endParaRPr b="1"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Every conflict serializable schedule is also view serializable.</a:t>
            </a:r>
            <a:endParaRPr/>
          </a:p>
          <a:p>
            <a:pPr indent="-205740" lvl="0" marL="342900" rtl="0" algn="l">
              <a:lnSpc>
                <a:spcPct val="100000"/>
              </a:lnSpc>
              <a:spcBef>
                <a:spcPts val="840"/>
              </a:spcBef>
              <a:spcAft>
                <a:spcPts val="0"/>
              </a:spcAft>
              <a:buSzPts val="2160"/>
              <a:buNone/>
            </a:pPr>
            <a:r>
              <a:t/>
            </a:r>
            <a:endParaRPr b="1" i="0" sz="2400" u="none">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View Serializability (Cont.)</a:t>
            </a:r>
            <a:endParaRPr/>
          </a:p>
        </p:txBody>
      </p:sp>
      <p:sp>
        <p:nvSpPr>
          <p:cNvPr id="277" name="Google Shape;277;p27"/>
          <p:cNvSpPr txBox="1"/>
          <p:nvPr>
            <p:ph idx="1" type="body"/>
          </p:nvPr>
        </p:nvSpPr>
        <p:spPr>
          <a:xfrm>
            <a:off x="914400" y="1106487"/>
            <a:ext cx="7848600" cy="54006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what serial schedule is above equivalent to?</a:t>
            </a:r>
            <a:endParaRPr/>
          </a:p>
          <a:p>
            <a:pPr indent="-342900" lvl="0" marL="342900" rtl="0" algn="l">
              <a:lnSpc>
                <a:spcPct val="100000"/>
              </a:lnSpc>
              <a:spcBef>
                <a:spcPts val="840"/>
              </a:spcBef>
              <a:spcAft>
                <a:spcPts val="0"/>
              </a:spcAft>
              <a:buSzPts val="2160"/>
              <a:buNone/>
            </a:pPr>
            <a:r>
              <a:t/>
            </a:r>
            <a:endParaRPr b="1"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Below is a schedule which is view-serializable but </a:t>
            </a:r>
            <a:r>
              <a:rPr b="1" i="1" lang="en-US" sz="2400" u="none">
                <a:solidFill>
                  <a:schemeClr val="dk1"/>
                </a:solidFill>
                <a:latin typeface="Helvetica Neue"/>
                <a:ea typeface="Helvetica Neue"/>
                <a:cs typeface="Helvetica Neue"/>
                <a:sym typeface="Helvetica Neue"/>
              </a:rPr>
              <a:t>not </a:t>
            </a:r>
            <a:r>
              <a:rPr b="1" i="0" lang="en-US" sz="2400" u="none">
                <a:solidFill>
                  <a:schemeClr val="dk1"/>
                </a:solidFill>
                <a:latin typeface="Helvetica Neue"/>
                <a:ea typeface="Helvetica Neue"/>
                <a:cs typeface="Helvetica Neue"/>
                <a:sym typeface="Helvetica Neue"/>
              </a:rPr>
              <a:t>conflict serializable.</a:t>
            </a:r>
            <a:br>
              <a:rPr b="1" i="0" lang="en-US" sz="2400" u="none">
                <a:solidFill>
                  <a:schemeClr val="dk1"/>
                </a:solidFill>
                <a:latin typeface="Helvetica Neue"/>
                <a:ea typeface="Helvetica Neue"/>
                <a:cs typeface="Helvetica Neue"/>
                <a:sym typeface="Helvetica Neue"/>
              </a:rPr>
            </a:br>
            <a:r>
              <a:rPr b="1" i="0" lang="en-US" sz="2400" u="none">
                <a:solidFill>
                  <a:schemeClr val="dk1"/>
                </a:solidFill>
                <a:latin typeface="Helvetica Neue"/>
                <a:ea typeface="Helvetica Neue"/>
                <a:cs typeface="Helvetica Neue"/>
                <a:sym typeface="Helvetica Neue"/>
              </a:rPr>
              <a:t> </a:t>
            </a:r>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Every view serializable schedule that is not conflict serializable has </a:t>
            </a:r>
            <a:r>
              <a:rPr b="1" i="0" lang="en-US" sz="2400" u="none">
                <a:solidFill>
                  <a:schemeClr val="dk2"/>
                </a:solidFill>
                <a:latin typeface="Helvetica Neue"/>
                <a:ea typeface="Helvetica Neue"/>
                <a:cs typeface="Helvetica Neue"/>
                <a:sym typeface="Helvetica Neue"/>
              </a:rPr>
              <a:t>blind writes.</a:t>
            </a:r>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2"/>
                </a:solidFill>
                <a:latin typeface="Helvetica Neue"/>
                <a:ea typeface="Helvetica Neue"/>
                <a:cs typeface="Helvetica Neue"/>
                <a:sym typeface="Helvetica Neue"/>
              </a:rPr>
              <a:t>The write operations which are not read later are called blind writes</a:t>
            </a:r>
            <a:endParaRPr b="1" i="0" sz="2400" u="none">
              <a:solidFill>
                <a:schemeClr val="dk2"/>
              </a:solidFill>
              <a:latin typeface="Helvetica Neue"/>
              <a:ea typeface="Helvetica Neue"/>
              <a:cs typeface="Helvetica Neue"/>
              <a:sym typeface="Helvetica Neue"/>
            </a:endParaRPr>
          </a:p>
          <a:p>
            <a:pPr indent="-205740" lvl="0" marL="342900" rtl="0" algn="l">
              <a:lnSpc>
                <a:spcPct val="100000"/>
              </a:lnSpc>
              <a:spcBef>
                <a:spcPts val="840"/>
              </a:spcBef>
              <a:spcAft>
                <a:spcPts val="0"/>
              </a:spcAft>
              <a:buSzPts val="2160"/>
              <a:buNone/>
            </a:pPr>
            <a:r>
              <a:t/>
            </a:r>
            <a:endParaRPr b="1" i="0" sz="2400" u="none">
              <a:solidFill>
                <a:schemeClr val="dk2"/>
              </a:solidFill>
              <a:latin typeface="Helvetica Neue"/>
              <a:ea typeface="Helvetica Neue"/>
              <a:cs typeface="Helvetica Neue"/>
              <a:sym typeface="Helvetica Neue"/>
            </a:endParaRPr>
          </a:p>
        </p:txBody>
      </p:sp>
      <p:pic>
        <p:nvPicPr>
          <p:cNvPr id="278" name="Google Shape;278;p27"/>
          <p:cNvPicPr preferRelativeResize="0"/>
          <p:nvPr/>
        </p:nvPicPr>
        <p:blipFill rotWithShape="1">
          <a:blip r:embed="rId3">
            <a:alphaModFix/>
          </a:blip>
          <a:srcRect b="22891" l="677" r="1129" t="21687"/>
          <a:stretch/>
        </p:blipFill>
        <p:spPr>
          <a:xfrm>
            <a:off x="4632325" y="4838700"/>
            <a:ext cx="4038600" cy="170973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Other Notions of Serializability</a:t>
            </a:r>
            <a:endParaRPr/>
          </a:p>
        </p:txBody>
      </p:sp>
      <p:sp>
        <p:nvSpPr>
          <p:cNvPr id="285" name="Google Shape;285;p28"/>
          <p:cNvSpPr txBox="1"/>
          <p:nvPr>
            <p:ph idx="1" type="body"/>
          </p:nvPr>
        </p:nvSpPr>
        <p:spPr>
          <a:xfrm>
            <a:off x="914400" y="723900"/>
            <a:ext cx="8229600" cy="66532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60"/>
              <a:buFont typeface="Arial"/>
              <a:buChar char="●"/>
            </a:pPr>
            <a:r>
              <a:rPr b="0" i="0" lang="en-US" sz="2400" u="none">
                <a:solidFill>
                  <a:schemeClr val="dk1"/>
                </a:solidFill>
                <a:latin typeface="Helvetica Neue"/>
                <a:ea typeface="Helvetica Neue"/>
                <a:cs typeface="Helvetica Neue"/>
                <a:sym typeface="Helvetica Neue"/>
              </a:rPr>
              <a:t>The schedule below produces same outcome as the serial schedule &lt; </a:t>
            </a:r>
            <a:r>
              <a:rPr b="0" i="1" lang="en-US" sz="2400" u="none">
                <a:solidFill>
                  <a:schemeClr val="dk1"/>
                </a:solidFill>
                <a:latin typeface="Helvetica Neue"/>
                <a:ea typeface="Helvetica Neue"/>
                <a:cs typeface="Helvetica Neue"/>
                <a:sym typeface="Helvetica Neue"/>
              </a:rPr>
              <a:t>T</a:t>
            </a:r>
            <a:r>
              <a:rPr b="0" baseline="-25000" i="0" lang="en-US" sz="2400" u="none">
                <a:solidFill>
                  <a:schemeClr val="dk1"/>
                </a:solidFill>
                <a:latin typeface="Helvetica Neue"/>
                <a:ea typeface="Helvetica Neue"/>
                <a:cs typeface="Helvetica Neue"/>
                <a:sym typeface="Helvetica Neue"/>
              </a:rPr>
              <a:t>1</a:t>
            </a:r>
            <a:r>
              <a:rPr b="0" i="0" lang="en-US" sz="2400" u="none">
                <a:solidFill>
                  <a:schemeClr val="dk1"/>
                </a:solidFill>
                <a:latin typeface="Helvetica Neue"/>
                <a:ea typeface="Helvetica Neue"/>
                <a:cs typeface="Helvetica Neue"/>
                <a:sym typeface="Helvetica Neue"/>
              </a:rPr>
              <a:t>,</a:t>
            </a:r>
            <a:r>
              <a:rPr b="0" baseline="-25000" i="0" lang="en-US" sz="2400" u="none">
                <a:solidFill>
                  <a:schemeClr val="dk1"/>
                </a:solidFill>
                <a:latin typeface="Helvetica Neue"/>
                <a:ea typeface="Helvetica Neue"/>
                <a:cs typeface="Helvetica Neue"/>
                <a:sym typeface="Helvetica Neue"/>
              </a:rPr>
              <a:t> </a:t>
            </a:r>
            <a:r>
              <a:rPr b="0" i="1" lang="en-US" sz="2400" u="none">
                <a:solidFill>
                  <a:schemeClr val="dk1"/>
                </a:solidFill>
                <a:latin typeface="Helvetica Neue"/>
                <a:ea typeface="Helvetica Neue"/>
                <a:cs typeface="Helvetica Neue"/>
                <a:sym typeface="Helvetica Neue"/>
              </a:rPr>
              <a:t>T</a:t>
            </a:r>
            <a:r>
              <a:rPr b="0" baseline="-25000" i="0" lang="en-US" sz="2400" u="none">
                <a:solidFill>
                  <a:schemeClr val="dk1"/>
                </a:solidFill>
                <a:latin typeface="Helvetica Neue"/>
                <a:ea typeface="Helvetica Neue"/>
                <a:cs typeface="Helvetica Neue"/>
                <a:sym typeface="Helvetica Neue"/>
              </a:rPr>
              <a:t>5</a:t>
            </a:r>
            <a:r>
              <a:rPr b="0" i="0" lang="en-US" sz="2400" u="none">
                <a:solidFill>
                  <a:schemeClr val="dk1"/>
                </a:solidFill>
                <a:latin typeface="Helvetica Neue"/>
                <a:ea typeface="Helvetica Neue"/>
                <a:cs typeface="Helvetica Neue"/>
                <a:sym typeface="Helvetica Neue"/>
              </a:rPr>
              <a:t> &gt;, yet is not conflict equivalent or view equivalent to it.</a:t>
            </a:r>
            <a:endParaRPr/>
          </a:p>
          <a:p>
            <a:pPr indent="-342900" lvl="0" marL="342900" rtl="0" algn="l">
              <a:lnSpc>
                <a:spcPct val="100000"/>
              </a:lnSpc>
              <a:spcBef>
                <a:spcPts val="840"/>
              </a:spcBef>
              <a:spcAft>
                <a:spcPts val="0"/>
              </a:spcAft>
              <a:buSzPts val="2160"/>
              <a:buNone/>
            </a:pPr>
            <a:r>
              <a:rPr b="0" i="0" lang="en-US" sz="2400" u="none">
                <a:solidFill>
                  <a:schemeClr val="dk1"/>
                </a:solidFill>
                <a:latin typeface="Helvetica Neue"/>
                <a:ea typeface="Helvetica Neue"/>
                <a:cs typeface="Helvetica Neue"/>
                <a:sym typeface="Helvetica Neue"/>
              </a:rPr>
              <a:t>		</a:t>
            </a:r>
            <a:endParaRPr/>
          </a:p>
          <a:p>
            <a:pPr indent="-205740" lvl="0" marL="34290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a:p>
            <a:pPr indent="-205740" lvl="0" marL="34290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a:p>
            <a:pPr indent="-205740" lvl="0" marL="34290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a:p>
            <a:pPr indent="-205740" lvl="0" marL="34290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SzPts val="2160"/>
              <a:buNone/>
            </a:pPr>
            <a:r>
              <a:t/>
            </a:r>
            <a:endParaRPr b="0"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SzPts val="2160"/>
              <a:buNone/>
            </a:pPr>
            <a:r>
              <a:t/>
            </a:r>
            <a:endParaRPr b="0" i="0" sz="2400" u="none">
              <a:solidFill>
                <a:schemeClr val="dk1"/>
              </a:solidFill>
              <a:latin typeface="Helvetica Neue"/>
              <a:ea typeface="Helvetica Neue"/>
              <a:cs typeface="Helvetica Neue"/>
              <a:sym typeface="Helvetica Neue"/>
            </a:endParaRPr>
          </a:p>
          <a:p>
            <a:pPr indent="-205740" lvl="0" marL="34290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Clr>
                <a:schemeClr val="dk2"/>
              </a:buClr>
              <a:buSzPts val="2160"/>
              <a:buFont typeface="Arial"/>
              <a:buChar char="●"/>
            </a:pPr>
            <a:r>
              <a:rPr b="0" i="0" lang="en-US" sz="2400" u="none">
                <a:solidFill>
                  <a:schemeClr val="dk1"/>
                </a:solidFill>
                <a:latin typeface="Helvetica Neue"/>
                <a:ea typeface="Helvetica Neue"/>
                <a:cs typeface="Helvetica Neue"/>
                <a:sym typeface="Helvetica Neue"/>
              </a:rPr>
              <a:t>Determining such equivalence requires analysis of operations other than read and write.</a:t>
            </a:r>
            <a:endParaRPr/>
          </a:p>
          <a:p>
            <a:pPr indent="-205740" lvl="0" marL="342900" rtl="0" algn="l">
              <a:lnSpc>
                <a:spcPct val="100000"/>
              </a:lnSpc>
              <a:spcBef>
                <a:spcPts val="840"/>
              </a:spcBef>
              <a:spcAft>
                <a:spcPts val="0"/>
              </a:spcAft>
              <a:buClr>
                <a:schemeClr val="dk2"/>
              </a:buClr>
              <a:buSzPts val="2160"/>
              <a:buFont typeface="Arial"/>
              <a:buNone/>
            </a:pPr>
            <a:r>
              <a:t/>
            </a:r>
            <a:endParaRPr b="0" i="0" sz="2400" u="none">
              <a:solidFill>
                <a:schemeClr val="dk1"/>
              </a:solidFill>
              <a:latin typeface="Helvetica Neue"/>
              <a:ea typeface="Helvetica Neue"/>
              <a:cs typeface="Helvetica Neue"/>
              <a:sym typeface="Helvetica Neue"/>
            </a:endParaRPr>
          </a:p>
          <a:p>
            <a:pPr indent="-205740" lvl="0" marL="342900" rtl="0" algn="l">
              <a:lnSpc>
                <a:spcPct val="100000"/>
              </a:lnSpc>
              <a:spcBef>
                <a:spcPts val="840"/>
              </a:spcBef>
              <a:spcAft>
                <a:spcPts val="0"/>
              </a:spcAft>
              <a:buSzPts val="2160"/>
              <a:buNone/>
            </a:pPr>
            <a:r>
              <a:t/>
            </a:r>
            <a:endParaRPr b="0" i="0" sz="2400" u="none">
              <a:solidFill>
                <a:schemeClr val="dk1"/>
              </a:solidFill>
              <a:latin typeface="Helvetica Neue"/>
              <a:ea typeface="Helvetica Neue"/>
              <a:cs typeface="Helvetica Neue"/>
              <a:sym typeface="Helvetica Neue"/>
            </a:endParaRPr>
          </a:p>
        </p:txBody>
      </p:sp>
      <p:pic>
        <p:nvPicPr>
          <p:cNvPr id="286" name="Google Shape;286;p28"/>
          <p:cNvPicPr preferRelativeResize="0"/>
          <p:nvPr/>
        </p:nvPicPr>
        <p:blipFill rotWithShape="1">
          <a:blip r:embed="rId3">
            <a:alphaModFix/>
          </a:blip>
          <a:srcRect b="1094" l="21575" r="21986" t="547"/>
          <a:stretch/>
        </p:blipFill>
        <p:spPr>
          <a:xfrm>
            <a:off x="5197475" y="1882775"/>
            <a:ext cx="2638425" cy="344963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b="0" lang="en-US" sz="2800"/>
              <a:t>Testing of Serializability in DBMS with Examples</a:t>
            </a:r>
            <a:endParaRPr sz="2800"/>
          </a:p>
        </p:txBody>
      </p:sp>
      <p:sp>
        <p:nvSpPr>
          <p:cNvPr id="292" name="Google Shape;292;p29"/>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p>
            <a:pPr indent="-331470" lvl="0" marL="457200" rtl="0" algn="l">
              <a:lnSpc>
                <a:spcPct val="100000"/>
              </a:lnSpc>
              <a:spcBef>
                <a:spcPts val="630"/>
              </a:spcBef>
              <a:spcAft>
                <a:spcPts val="0"/>
              </a:spcAft>
              <a:buSzPts val="1620"/>
              <a:buChar char="●"/>
            </a:pPr>
            <a:r>
              <a:rPr lang="en-US"/>
              <a:t>Serializability testing involves verifying that a given schedule of transactions is serializable, meaning that the effects of running the transactions concurrently are equivalent to running them serially, one after the other.</a:t>
            </a:r>
            <a:endParaRPr/>
          </a:p>
          <a:p>
            <a:pPr indent="-331470" lvl="0" marL="457200" rtl="0" algn="l">
              <a:lnSpc>
                <a:spcPct val="100000"/>
              </a:lnSpc>
              <a:spcBef>
                <a:spcPts val="630"/>
              </a:spcBef>
              <a:spcAft>
                <a:spcPts val="0"/>
              </a:spcAft>
              <a:buSzPts val="1620"/>
              <a:buChar char="●"/>
            </a:pPr>
            <a:r>
              <a:rPr lang="en-US"/>
              <a:t>We can use below two techniques to test serializability in DBMS:</a:t>
            </a:r>
            <a:endParaRPr/>
          </a:p>
          <a:p>
            <a:pPr indent="-331470" lvl="0" marL="457200" rtl="0" algn="l">
              <a:lnSpc>
                <a:spcPct val="100000"/>
              </a:lnSpc>
              <a:spcBef>
                <a:spcPts val="630"/>
              </a:spcBef>
              <a:spcAft>
                <a:spcPts val="0"/>
              </a:spcAft>
              <a:buSzPts val="1620"/>
              <a:buChar char="●"/>
            </a:pPr>
            <a:r>
              <a:rPr lang="en-US"/>
              <a:t>Serialization Graph</a:t>
            </a:r>
            <a:endParaRPr/>
          </a:p>
          <a:p>
            <a:pPr indent="-331470" lvl="0" marL="457200" rtl="0" algn="l">
              <a:lnSpc>
                <a:spcPct val="100000"/>
              </a:lnSpc>
              <a:spcBef>
                <a:spcPts val="630"/>
              </a:spcBef>
              <a:spcAft>
                <a:spcPts val="0"/>
              </a:spcAft>
              <a:buSzPts val="1620"/>
              <a:buChar char="●"/>
            </a:pPr>
            <a:r>
              <a:rPr lang="en-US"/>
              <a:t>Precedence Graph</a:t>
            </a:r>
            <a:endParaRPr/>
          </a:p>
          <a:p>
            <a:pPr indent="-331470" lvl="0" marL="457200" rtl="0" algn="l">
              <a:lnSpc>
                <a:spcPct val="100000"/>
              </a:lnSpc>
              <a:spcBef>
                <a:spcPts val="630"/>
              </a:spcBef>
              <a:spcAft>
                <a:spcPts val="0"/>
              </a:spcAft>
              <a:buSzPts val="1620"/>
              <a:buChar char="●"/>
            </a:pPr>
            <a:r>
              <a:rPr lang="en-US"/>
              <a:t>It can be described as a Graph G(V, E) with vertices V = "V1, V2, V3,…, Vn" and directed edges E = "E1, E2, E3,…, En". One of the two operations—READ or WRITE—performed by a certain transaction is contained in the collection of edges.</a:t>
            </a:r>
            <a:endParaRPr/>
          </a:p>
          <a:p>
            <a:pPr indent="-331470" lvl="0" marL="457200" rtl="0" algn="l">
              <a:lnSpc>
                <a:spcPct val="100000"/>
              </a:lnSpc>
              <a:spcBef>
                <a:spcPts val="630"/>
              </a:spcBef>
              <a:spcAft>
                <a:spcPts val="0"/>
              </a:spcAft>
              <a:buSzPts val="1620"/>
              <a:buChar char="●"/>
            </a:pPr>
            <a:r>
              <a:rPr lang="en-US"/>
              <a:t>The meaning of the following graph is that, before Transaction y , Transaction x is performing a read or write operation.</a:t>
            </a:r>
            <a:endParaRPr/>
          </a:p>
          <a:p>
            <a:pPr indent="-228600" lvl="0" marL="457200" rtl="0" algn="l">
              <a:lnSpc>
                <a:spcPct val="100000"/>
              </a:lnSpc>
              <a:spcBef>
                <a:spcPts val="630"/>
              </a:spcBef>
              <a:spcAft>
                <a:spcPts val="0"/>
              </a:spcAft>
              <a:buSzPts val="1620"/>
              <a:buNone/>
            </a:pPr>
            <a:r>
              <a:t/>
            </a:r>
            <a:endParaRPr/>
          </a:p>
        </p:txBody>
      </p:sp>
      <p:pic>
        <p:nvPicPr>
          <p:cNvPr id="293" name="Google Shape;293;p29"/>
          <p:cNvPicPr preferRelativeResize="0"/>
          <p:nvPr/>
        </p:nvPicPr>
        <p:blipFill rotWithShape="1">
          <a:blip r:embed="rId3">
            <a:alphaModFix/>
          </a:blip>
          <a:srcRect b="0" l="0" r="0" t="0"/>
          <a:stretch/>
        </p:blipFill>
        <p:spPr>
          <a:xfrm>
            <a:off x="1841326" y="5183300"/>
            <a:ext cx="4434214" cy="99695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Conflict </a:t>
            </a:r>
            <a:r>
              <a:rPr lang="en-US"/>
              <a:t>serializability</a:t>
            </a:r>
            <a:r>
              <a:rPr lang="en-US"/>
              <a:t> example</a:t>
            </a:r>
            <a:endParaRPr/>
          </a:p>
        </p:txBody>
      </p:sp>
      <p:sp>
        <p:nvSpPr>
          <p:cNvPr id="299" name="Google Shape;299;p30"/>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p>
            <a:pPr indent="-331470" lvl="0" marL="457200" rtl="0" algn="l">
              <a:lnSpc>
                <a:spcPct val="100000"/>
              </a:lnSpc>
              <a:spcBef>
                <a:spcPts val="630"/>
              </a:spcBef>
              <a:spcAft>
                <a:spcPts val="0"/>
              </a:spcAft>
              <a:buSzPts val="1620"/>
              <a:buChar char="●"/>
            </a:pPr>
            <a:r>
              <a:rPr lang="en-US"/>
              <a:t>Let’s see how a precedence graph looks like of above schedule.</a:t>
            </a:r>
            <a:endParaRPr/>
          </a:p>
          <a:p>
            <a:pPr indent="-228600" lvl="0" marL="457200" rtl="0" algn="l">
              <a:lnSpc>
                <a:spcPct val="100000"/>
              </a:lnSpc>
              <a:spcBef>
                <a:spcPts val="630"/>
              </a:spcBef>
              <a:spcAft>
                <a:spcPts val="0"/>
              </a:spcAft>
              <a:buSzPts val="1620"/>
              <a:buNone/>
            </a:pPr>
            <a:r>
              <a:t/>
            </a:r>
            <a:endParaRPr/>
          </a:p>
          <a:p>
            <a:pPr indent="-228600" lvl="0" marL="457200" rtl="0" algn="l">
              <a:lnSpc>
                <a:spcPct val="100000"/>
              </a:lnSpc>
              <a:spcBef>
                <a:spcPts val="630"/>
              </a:spcBef>
              <a:spcAft>
                <a:spcPts val="0"/>
              </a:spcAft>
              <a:buSzPts val="1620"/>
              <a:buNone/>
            </a:pPr>
            <a:r>
              <a:t/>
            </a:r>
            <a:endParaRPr/>
          </a:p>
          <a:p>
            <a:pPr indent="-228600" lvl="0" marL="457200" rtl="0" algn="l">
              <a:lnSpc>
                <a:spcPct val="100000"/>
              </a:lnSpc>
              <a:spcBef>
                <a:spcPts val="630"/>
              </a:spcBef>
              <a:spcAft>
                <a:spcPts val="0"/>
              </a:spcAft>
              <a:buSzPts val="1620"/>
              <a:buNone/>
            </a:pPr>
            <a:r>
              <a:t/>
            </a:r>
            <a:endParaRPr/>
          </a:p>
          <a:p>
            <a:pPr indent="-228600" lvl="0" marL="457200" rtl="0" algn="l">
              <a:lnSpc>
                <a:spcPct val="100000"/>
              </a:lnSpc>
              <a:spcBef>
                <a:spcPts val="630"/>
              </a:spcBef>
              <a:spcAft>
                <a:spcPts val="0"/>
              </a:spcAft>
              <a:buSzPts val="1620"/>
              <a:buNone/>
            </a:pPr>
            <a:r>
              <a:t/>
            </a:r>
            <a:endParaRPr/>
          </a:p>
          <a:p>
            <a:pPr indent="-228600" lvl="0" marL="457200" rtl="0" algn="l">
              <a:lnSpc>
                <a:spcPct val="100000"/>
              </a:lnSpc>
              <a:spcBef>
                <a:spcPts val="630"/>
              </a:spcBef>
              <a:spcAft>
                <a:spcPts val="0"/>
              </a:spcAft>
              <a:buSzPts val="1620"/>
              <a:buNone/>
            </a:pPr>
            <a:r>
              <a:t/>
            </a:r>
            <a:endParaRPr/>
          </a:p>
          <a:p>
            <a:pPr indent="-228600" lvl="0" marL="457200" rtl="0" algn="l">
              <a:lnSpc>
                <a:spcPct val="100000"/>
              </a:lnSpc>
              <a:spcBef>
                <a:spcPts val="630"/>
              </a:spcBef>
              <a:spcAft>
                <a:spcPts val="0"/>
              </a:spcAft>
              <a:buSzPts val="1620"/>
              <a:buNone/>
            </a:pPr>
            <a:r>
              <a:t/>
            </a:r>
            <a:endParaRPr/>
          </a:p>
          <a:p>
            <a:pPr indent="-331470" lvl="0" marL="457200" rtl="0" algn="l">
              <a:lnSpc>
                <a:spcPct val="100000"/>
              </a:lnSpc>
              <a:spcBef>
                <a:spcPts val="630"/>
              </a:spcBef>
              <a:spcAft>
                <a:spcPts val="0"/>
              </a:spcAft>
              <a:buSzPts val="1620"/>
              <a:buChar char="●"/>
            </a:pPr>
            <a:r>
              <a:rPr lang="en-US"/>
              <a:t>In the above precedence graph,</a:t>
            </a:r>
            <a:endParaRPr/>
          </a:p>
          <a:p>
            <a:pPr indent="-331470" lvl="0" marL="457200" rtl="0" algn="l">
              <a:lnSpc>
                <a:spcPct val="100000"/>
              </a:lnSpc>
              <a:spcBef>
                <a:spcPts val="630"/>
              </a:spcBef>
              <a:spcAft>
                <a:spcPts val="0"/>
              </a:spcAft>
              <a:buSzPts val="1620"/>
              <a:buChar char="●"/>
            </a:pPr>
            <a:r>
              <a:rPr lang="en-US"/>
              <a:t>we can see that there is no cycle</a:t>
            </a:r>
            <a:endParaRPr/>
          </a:p>
          <a:p>
            <a:pPr indent="0" lvl="0" marL="125729" rtl="0" algn="l">
              <a:lnSpc>
                <a:spcPct val="100000"/>
              </a:lnSpc>
              <a:spcBef>
                <a:spcPts val="630"/>
              </a:spcBef>
              <a:spcAft>
                <a:spcPts val="0"/>
              </a:spcAft>
              <a:buSzPts val="1620"/>
              <a:buNone/>
            </a:pPr>
            <a:r>
              <a:rPr lang="en-US"/>
              <a:t>present in the graph. </a:t>
            </a:r>
            <a:endParaRPr/>
          </a:p>
          <a:p>
            <a:pPr indent="0" lvl="0" marL="125729" rtl="0" algn="l">
              <a:lnSpc>
                <a:spcPct val="100000"/>
              </a:lnSpc>
              <a:spcBef>
                <a:spcPts val="630"/>
              </a:spcBef>
              <a:spcAft>
                <a:spcPts val="0"/>
              </a:spcAft>
              <a:buSzPts val="1620"/>
              <a:buNone/>
            </a:pPr>
            <a:r>
              <a:rPr lang="en-US"/>
              <a:t>So, we can say that the above </a:t>
            </a:r>
            <a:endParaRPr/>
          </a:p>
          <a:p>
            <a:pPr indent="0" lvl="0" marL="125729" rtl="0" algn="l">
              <a:lnSpc>
                <a:spcPct val="100000"/>
              </a:lnSpc>
              <a:spcBef>
                <a:spcPts val="630"/>
              </a:spcBef>
              <a:spcAft>
                <a:spcPts val="0"/>
              </a:spcAft>
              <a:buSzPts val="1620"/>
              <a:buNone/>
            </a:pPr>
            <a:r>
              <a:rPr lang="en-US"/>
              <a:t>schedule is </a:t>
            </a:r>
            <a:r>
              <a:rPr b="1" lang="en-US"/>
              <a:t>conflict serializable.</a:t>
            </a:r>
            <a:endParaRPr/>
          </a:p>
        </p:txBody>
      </p:sp>
      <p:pic>
        <p:nvPicPr>
          <p:cNvPr id="300" name="Google Shape;300;p30"/>
          <p:cNvPicPr preferRelativeResize="0"/>
          <p:nvPr/>
        </p:nvPicPr>
        <p:blipFill rotWithShape="1">
          <a:blip r:embed="rId3">
            <a:alphaModFix/>
          </a:blip>
          <a:srcRect b="0" l="0" r="0" t="0"/>
          <a:stretch/>
        </p:blipFill>
        <p:spPr>
          <a:xfrm>
            <a:off x="4878927" y="1615858"/>
            <a:ext cx="4031905" cy="4007220"/>
          </a:xfrm>
          <a:prstGeom prst="rect">
            <a:avLst/>
          </a:prstGeom>
          <a:noFill/>
          <a:ln>
            <a:noFill/>
          </a:ln>
        </p:spPr>
      </p:pic>
      <p:pic>
        <p:nvPicPr>
          <p:cNvPr id="301" name="Google Shape;301;p30"/>
          <p:cNvPicPr preferRelativeResize="0"/>
          <p:nvPr/>
        </p:nvPicPr>
        <p:blipFill rotWithShape="1">
          <a:blip r:embed="rId4">
            <a:alphaModFix/>
          </a:blip>
          <a:srcRect b="0" l="0" r="0" t="0"/>
          <a:stretch/>
        </p:blipFill>
        <p:spPr>
          <a:xfrm>
            <a:off x="-370823" y="2161566"/>
            <a:ext cx="5676900" cy="1276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307" name="Google Shape;307;p31"/>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p>
            <a:pPr indent="-331470" lvl="0" marL="457200" rtl="0" algn="l">
              <a:lnSpc>
                <a:spcPct val="100000"/>
              </a:lnSpc>
              <a:spcBef>
                <a:spcPts val="630"/>
              </a:spcBef>
              <a:spcAft>
                <a:spcPts val="0"/>
              </a:spcAft>
              <a:buSzPts val="1620"/>
              <a:buChar char="●"/>
            </a:pPr>
            <a:r>
              <a:rPr lang="en-US"/>
              <a:t>As there is no loop in the graph, it is a conflict serializable schedule as well as a serial schedule. </a:t>
            </a:r>
            <a:endParaRPr/>
          </a:p>
          <a:p>
            <a:pPr indent="-331470" lvl="0" marL="457200" rtl="0" algn="l">
              <a:lnSpc>
                <a:spcPct val="100000"/>
              </a:lnSpc>
              <a:spcBef>
                <a:spcPts val="630"/>
              </a:spcBef>
              <a:spcAft>
                <a:spcPts val="0"/>
              </a:spcAft>
              <a:buSzPts val="1620"/>
              <a:buChar char="●"/>
            </a:pPr>
            <a:r>
              <a:rPr lang="en-US"/>
              <a:t>Since it is a serial schedule, we can detect the order of transactions as well.</a:t>
            </a:r>
            <a:endParaRPr/>
          </a:p>
          <a:p>
            <a:pPr indent="-331470" lvl="0" marL="457200" rtl="0" algn="l">
              <a:lnSpc>
                <a:spcPct val="100000"/>
              </a:lnSpc>
              <a:spcBef>
                <a:spcPts val="630"/>
              </a:spcBef>
              <a:spcAft>
                <a:spcPts val="0"/>
              </a:spcAft>
              <a:buSzPts val="1620"/>
              <a:buChar char="●"/>
            </a:pPr>
            <a:r>
              <a:rPr b="1" lang="en-US"/>
              <a:t>The order of the Transactions:</a:t>
            </a:r>
            <a:r>
              <a:rPr lang="en-US"/>
              <a:t> t1 will execute first as there is no incoming edge on T1. t3 will execute second as it depends on T1 only. t2 will execute at last as it depends on both T1 and T3.</a:t>
            </a:r>
            <a:endParaRPr/>
          </a:p>
          <a:p>
            <a:pPr indent="-331470" lvl="0" marL="457200" rtl="0" algn="l">
              <a:lnSpc>
                <a:spcPct val="100000"/>
              </a:lnSpc>
              <a:spcBef>
                <a:spcPts val="630"/>
              </a:spcBef>
              <a:spcAft>
                <a:spcPts val="0"/>
              </a:spcAft>
              <a:buSzPts val="1620"/>
              <a:buChar char="●"/>
            </a:pPr>
            <a:r>
              <a:rPr lang="en-US"/>
              <a:t>Possibility of shedule: T1-&gt;T2-&gt;T3, T1-&gt;T3-&gt;T2, T2-&gt;T1-&gt;T3, T2-&gt;T3-&gt;T1, T3-&gt;T1-&gt;T2, T3-&gt;T2-&gt;T1</a:t>
            </a:r>
            <a:endParaRPr/>
          </a:p>
          <a:p>
            <a:pPr indent="-331470" lvl="0" marL="457200" rtl="0" algn="l">
              <a:lnSpc>
                <a:spcPct val="100000"/>
              </a:lnSpc>
              <a:spcBef>
                <a:spcPts val="630"/>
              </a:spcBef>
              <a:spcAft>
                <a:spcPts val="0"/>
              </a:spcAft>
              <a:buSzPts val="1620"/>
              <a:buChar char="●"/>
            </a:pPr>
            <a:r>
              <a:rPr lang="en-US"/>
              <a:t>So, order of its equivalent serial schedule is: </a:t>
            </a:r>
            <a:endParaRPr/>
          </a:p>
          <a:p>
            <a:pPr indent="-331470" lvl="0" marL="457200" rtl="0" algn="l">
              <a:lnSpc>
                <a:spcPct val="100000"/>
              </a:lnSpc>
              <a:spcBef>
                <a:spcPts val="630"/>
              </a:spcBef>
              <a:spcAft>
                <a:spcPts val="0"/>
              </a:spcAft>
              <a:buSzPts val="1620"/>
              <a:buChar char="●"/>
            </a:pPr>
            <a:r>
              <a:rPr lang="en-US"/>
              <a:t>Count the degree of each node: (incoming arrow) if it is zero consider 1</a:t>
            </a:r>
            <a:r>
              <a:rPr baseline="30000" lang="en-US"/>
              <a:t>st</a:t>
            </a:r>
            <a:r>
              <a:rPr lang="en-US"/>
              <a:t> schedule,</a:t>
            </a:r>
            <a:endParaRPr/>
          </a:p>
          <a:p>
            <a:pPr indent="-331470" lvl="0" marL="457200" rtl="0" algn="l">
              <a:lnSpc>
                <a:spcPct val="100000"/>
              </a:lnSpc>
              <a:spcBef>
                <a:spcPts val="630"/>
              </a:spcBef>
              <a:spcAft>
                <a:spcPts val="0"/>
              </a:spcAft>
              <a:buSzPts val="1620"/>
              <a:buChar char="●"/>
            </a:pPr>
            <a:r>
              <a:rPr lang="en-US"/>
              <a:t>Final schedule order is T2-&gt; T3-&gt;T1</a:t>
            </a:r>
            <a:endParaRPr/>
          </a:p>
          <a:p>
            <a:pPr indent="-331470" lvl="0" marL="457200" rtl="0" algn="l">
              <a:lnSpc>
                <a:spcPct val="100000"/>
              </a:lnSpc>
              <a:spcBef>
                <a:spcPts val="630"/>
              </a:spcBef>
              <a:spcAft>
                <a:spcPts val="0"/>
              </a:spcAft>
              <a:buSzPts val="1620"/>
              <a:buChar char="●"/>
            </a:pPr>
            <a:r>
              <a:rPr lang="en-US" u="sng">
                <a:solidFill>
                  <a:schemeClr val="hlink"/>
                </a:solidFill>
                <a:hlinkClick r:id="rId3"/>
              </a:rPr>
              <a:t>https://www.scaler.com/topics/dbms/serializability-in-dbms</a:t>
            </a:r>
            <a:endParaRPr/>
          </a:p>
          <a:p>
            <a:pPr indent="-228600" lvl="0" marL="457200" rtl="0" algn="l">
              <a:lnSpc>
                <a:spcPct val="100000"/>
              </a:lnSpc>
              <a:spcBef>
                <a:spcPts val="630"/>
              </a:spcBef>
              <a:spcAft>
                <a:spcPts val="0"/>
              </a:spcAft>
              <a:buSzPts val="1620"/>
              <a:buNone/>
            </a:pPr>
            <a:r>
              <a:t/>
            </a:r>
            <a:endParaRPr/>
          </a:p>
          <a:p>
            <a:pPr indent="-228600" lvl="0" marL="457200" rtl="0" algn="l">
              <a:lnSpc>
                <a:spcPct val="100000"/>
              </a:lnSpc>
              <a:spcBef>
                <a:spcPts val="630"/>
              </a:spcBef>
              <a:spcAft>
                <a:spcPts val="0"/>
              </a:spcAft>
              <a:buSzPts val="162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Example of View Serializability</a:t>
            </a:r>
            <a:endParaRPr/>
          </a:p>
        </p:txBody>
      </p:sp>
      <p:sp>
        <p:nvSpPr>
          <p:cNvPr id="313" name="Google Shape;313;p32"/>
          <p:cNvSpPr txBox="1"/>
          <p:nvPr>
            <p:ph idx="2" type="body"/>
          </p:nvPr>
        </p:nvSpPr>
        <p:spPr>
          <a:xfrm>
            <a:off x="2755726" y="1089764"/>
            <a:ext cx="5819949" cy="4920511"/>
          </a:xfrm>
          <a:prstGeom prst="rect">
            <a:avLst/>
          </a:prstGeom>
          <a:noFill/>
          <a:ln>
            <a:noFill/>
          </a:ln>
        </p:spPr>
        <p:txBody>
          <a:bodyPr anchorCtr="0" anchor="t" bIns="45700" lIns="91425" spcFirstLastPara="1" rIns="91425" wrap="square" tIns="45700">
            <a:noAutofit/>
          </a:bodyPr>
          <a:lstStyle/>
          <a:p>
            <a:pPr indent="-388620" lvl="0" marL="457200" rtl="0" algn="l">
              <a:lnSpc>
                <a:spcPct val="100000"/>
              </a:lnSpc>
              <a:spcBef>
                <a:spcPts val="980"/>
              </a:spcBef>
              <a:spcAft>
                <a:spcPts val="0"/>
              </a:spcAft>
              <a:buSzPts val="2520"/>
              <a:buChar char="●"/>
            </a:pPr>
            <a:r>
              <a:rPr lang="en-US" sz="1600"/>
              <a:t>Let’s swap the read-write operations in the middle of the two transactions to create the view equivalent schedule</a:t>
            </a:r>
            <a:endParaRPr sz="1600"/>
          </a:p>
        </p:txBody>
      </p:sp>
      <p:pic>
        <p:nvPicPr>
          <p:cNvPr id="314" name="Google Shape;314;p32"/>
          <p:cNvPicPr preferRelativeResize="0"/>
          <p:nvPr/>
        </p:nvPicPr>
        <p:blipFill rotWithShape="1">
          <a:blip r:embed="rId3">
            <a:alphaModFix/>
          </a:blip>
          <a:srcRect b="0" l="0" r="0" t="0"/>
          <a:stretch/>
        </p:blipFill>
        <p:spPr>
          <a:xfrm>
            <a:off x="234341" y="1406503"/>
            <a:ext cx="2362200" cy="3819525"/>
          </a:xfrm>
          <a:prstGeom prst="rect">
            <a:avLst/>
          </a:prstGeom>
          <a:noFill/>
          <a:ln>
            <a:noFill/>
          </a:ln>
        </p:spPr>
      </p:pic>
      <p:pic>
        <p:nvPicPr>
          <p:cNvPr id="315" name="Google Shape;315;p32"/>
          <p:cNvPicPr preferRelativeResize="0"/>
          <p:nvPr/>
        </p:nvPicPr>
        <p:blipFill rotWithShape="1">
          <a:blip r:embed="rId4">
            <a:alphaModFix/>
          </a:blip>
          <a:srcRect b="0" l="0" r="0" t="0"/>
          <a:stretch/>
        </p:blipFill>
        <p:spPr>
          <a:xfrm>
            <a:off x="4873212" y="1987463"/>
            <a:ext cx="2428875" cy="3810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Testing for Serializability</a:t>
            </a:r>
            <a:endParaRPr/>
          </a:p>
        </p:txBody>
      </p:sp>
      <p:sp>
        <p:nvSpPr>
          <p:cNvPr id="322" name="Google Shape;322;p33"/>
          <p:cNvSpPr txBox="1"/>
          <p:nvPr>
            <p:ph idx="1" type="body"/>
          </p:nvPr>
        </p:nvSpPr>
        <p:spPr>
          <a:xfrm>
            <a:off x="0" y="1106487"/>
            <a:ext cx="8915400" cy="54848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Consider some schedule of a set of transactions </a:t>
            </a:r>
            <a:r>
              <a:rPr b="1" i="1" lang="en-US" sz="2400" u="none">
                <a:solidFill>
                  <a:schemeClr val="dk1"/>
                </a:solidFill>
                <a:latin typeface="Helvetica Neue"/>
                <a:ea typeface="Helvetica Neue"/>
                <a:cs typeface="Helvetica Neue"/>
                <a:sym typeface="Helvetica Neue"/>
              </a:rPr>
              <a:t>T</a:t>
            </a:r>
            <a:r>
              <a:rPr b="1" baseline="-25000" i="0" lang="en-US" sz="2400" u="none">
                <a:solidFill>
                  <a:schemeClr val="dk1"/>
                </a:solidFill>
                <a:latin typeface="Helvetica Neue"/>
                <a:ea typeface="Helvetica Neue"/>
                <a:cs typeface="Helvetica Neue"/>
                <a:sym typeface="Helvetica Neue"/>
              </a:rPr>
              <a:t>1</a:t>
            </a:r>
            <a:r>
              <a:rPr b="1" i="0" lang="en-US" sz="2400" u="none">
                <a:solidFill>
                  <a:schemeClr val="dk1"/>
                </a:solidFill>
                <a:latin typeface="Helvetica Neue"/>
                <a:ea typeface="Helvetica Neue"/>
                <a:cs typeface="Helvetica Neue"/>
                <a:sym typeface="Helvetica Neue"/>
              </a:rPr>
              <a:t>, </a:t>
            </a:r>
            <a:r>
              <a:rPr b="1" i="1" lang="en-US" sz="2400" u="none">
                <a:solidFill>
                  <a:schemeClr val="dk1"/>
                </a:solidFill>
                <a:latin typeface="Helvetica Neue"/>
                <a:ea typeface="Helvetica Neue"/>
                <a:cs typeface="Helvetica Neue"/>
                <a:sym typeface="Helvetica Neue"/>
              </a:rPr>
              <a:t>T</a:t>
            </a:r>
            <a:r>
              <a:rPr b="1" baseline="-25000" i="0" lang="en-US" sz="2400" u="none">
                <a:solidFill>
                  <a:schemeClr val="dk1"/>
                </a:solidFill>
                <a:latin typeface="Helvetica Neue"/>
                <a:ea typeface="Helvetica Neue"/>
                <a:cs typeface="Helvetica Neue"/>
                <a:sym typeface="Helvetica Neue"/>
              </a:rPr>
              <a:t>2</a:t>
            </a:r>
            <a:r>
              <a:rPr b="1" i="0" lang="en-US" sz="2400" u="none">
                <a:solidFill>
                  <a:schemeClr val="dk1"/>
                </a:solidFill>
                <a:latin typeface="Helvetica Neue"/>
                <a:ea typeface="Helvetica Neue"/>
                <a:cs typeface="Helvetica Neue"/>
                <a:sym typeface="Helvetica Neue"/>
              </a:rPr>
              <a:t>, ..., </a:t>
            </a:r>
            <a:r>
              <a:rPr b="1" i="1" lang="en-US" sz="2400" u="none">
                <a:solidFill>
                  <a:schemeClr val="dk1"/>
                </a:solidFill>
                <a:latin typeface="Helvetica Neue"/>
                <a:ea typeface="Helvetica Neue"/>
                <a:cs typeface="Helvetica Neue"/>
                <a:sym typeface="Helvetica Neue"/>
              </a:rPr>
              <a:t>T</a:t>
            </a:r>
            <a:r>
              <a:rPr b="1" baseline="-25000" i="1" lang="en-US" sz="2400" u="none">
                <a:solidFill>
                  <a:schemeClr val="dk1"/>
                </a:solidFill>
                <a:latin typeface="Helvetica Neue"/>
                <a:ea typeface="Helvetica Neue"/>
                <a:cs typeface="Helvetica Neue"/>
                <a:sym typeface="Helvetica Neue"/>
              </a:rPr>
              <a:t>n</a:t>
            </a:r>
            <a:endParaRPr b="1" i="0" sz="2400" u="none">
              <a:solidFill>
                <a:schemeClr val="dk1"/>
              </a:solidFill>
              <a:latin typeface="Helvetica Neue"/>
              <a:ea typeface="Helvetica Neue"/>
              <a:cs typeface="Helvetica Neue"/>
              <a:sym typeface="Helvetica Neue"/>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2"/>
                </a:solidFill>
                <a:latin typeface="Helvetica Neue"/>
                <a:ea typeface="Helvetica Neue"/>
                <a:cs typeface="Helvetica Neue"/>
                <a:sym typeface="Helvetica Neue"/>
              </a:rPr>
              <a:t>Precedence graph</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 a direct graph where the vertices are the transactions (names).</a:t>
            </a:r>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We draw an arc from </a:t>
            </a:r>
            <a:r>
              <a:rPr b="1" i="1" lang="en-US" sz="2400" u="none">
                <a:solidFill>
                  <a:schemeClr val="dk1"/>
                </a:solidFill>
                <a:latin typeface="Helvetica Neue"/>
                <a:ea typeface="Helvetica Neue"/>
                <a:cs typeface="Helvetica Neue"/>
                <a:sym typeface="Helvetica Neue"/>
              </a:rPr>
              <a:t>T</a:t>
            </a:r>
            <a:r>
              <a:rPr b="1" baseline="-25000" i="1" lang="en-US" sz="2400" u="none">
                <a:solidFill>
                  <a:schemeClr val="dk1"/>
                </a:solidFill>
                <a:latin typeface="Helvetica Neue"/>
                <a:ea typeface="Helvetica Neue"/>
                <a:cs typeface="Helvetica Neue"/>
                <a:sym typeface="Helvetica Neue"/>
              </a:rPr>
              <a:t>i</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to </a:t>
            </a:r>
            <a:r>
              <a:rPr b="1" i="1" lang="en-US" sz="2400" u="none">
                <a:solidFill>
                  <a:schemeClr val="dk1"/>
                </a:solidFill>
                <a:latin typeface="Helvetica Neue"/>
                <a:ea typeface="Helvetica Neue"/>
                <a:cs typeface="Helvetica Neue"/>
                <a:sym typeface="Helvetica Neue"/>
              </a:rPr>
              <a:t>T</a:t>
            </a:r>
            <a:r>
              <a:rPr b="1" baseline="-25000" i="1" lang="en-US" sz="2400" u="none">
                <a:solidFill>
                  <a:schemeClr val="dk1"/>
                </a:solidFill>
                <a:latin typeface="Helvetica Neue"/>
                <a:ea typeface="Helvetica Neue"/>
                <a:cs typeface="Helvetica Neue"/>
                <a:sym typeface="Helvetica Neue"/>
              </a:rPr>
              <a:t>j</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if the two transaction conflict, and </a:t>
            </a:r>
            <a:r>
              <a:rPr b="1" i="1" lang="en-US" sz="2400" u="none">
                <a:solidFill>
                  <a:schemeClr val="dk1"/>
                </a:solidFill>
                <a:latin typeface="Helvetica Neue"/>
                <a:ea typeface="Helvetica Neue"/>
                <a:cs typeface="Helvetica Neue"/>
                <a:sym typeface="Helvetica Neue"/>
              </a:rPr>
              <a:t>T</a:t>
            </a:r>
            <a:r>
              <a:rPr b="1" baseline="-25000" i="1" lang="en-US" sz="2400" u="none">
                <a:solidFill>
                  <a:schemeClr val="dk1"/>
                </a:solidFill>
                <a:latin typeface="Helvetica Neue"/>
                <a:ea typeface="Helvetica Neue"/>
                <a:cs typeface="Helvetica Neue"/>
                <a:sym typeface="Helvetica Neue"/>
              </a:rPr>
              <a:t>i</a:t>
            </a:r>
            <a:r>
              <a:rPr b="1" i="1" lang="en-US" sz="2400" u="none">
                <a:solidFill>
                  <a:schemeClr val="dk1"/>
                </a:solidFill>
                <a:latin typeface="Helvetica Neue"/>
                <a:ea typeface="Helvetica Neue"/>
                <a:cs typeface="Helvetica Neue"/>
                <a:sym typeface="Helvetica Neue"/>
              </a:rPr>
              <a:t> </a:t>
            </a:r>
            <a:r>
              <a:rPr b="1" i="0" lang="en-US" sz="2400" u="none">
                <a:solidFill>
                  <a:schemeClr val="dk1"/>
                </a:solidFill>
                <a:latin typeface="Helvetica Neue"/>
                <a:ea typeface="Helvetica Neue"/>
                <a:cs typeface="Helvetica Neue"/>
                <a:sym typeface="Helvetica Neue"/>
              </a:rPr>
              <a:t>accessed the data item on which the conflict arose earlier.</a:t>
            </a:r>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We may label the arc by the item that was accessed.</a:t>
            </a:r>
            <a:endParaRPr/>
          </a:p>
          <a:p>
            <a:pPr indent="-342900" lvl="0" marL="342900" rtl="0" algn="l">
              <a:lnSpc>
                <a:spcPct val="100000"/>
              </a:lnSpc>
              <a:spcBef>
                <a:spcPts val="840"/>
              </a:spcBef>
              <a:spcAft>
                <a:spcPts val="0"/>
              </a:spcAft>
              <a:buClr>
                <a:schemeClr val="dk2"/>
              </a:buClr>
              <a:buSzPts val="2160"/>
              <a:buFont typeface="Arial"/>
              <a:buChar char="●"/>
            </a:pPr>
            <a:r>
              <a:rPr b="1" i="0" lang="en-US" sz="2400" u="none">
                <a:solidFill>
                  <a:schemeClr val="dk1"/>
                </a:solidFill>
                <a:latin typeface="Helvetica Neue"/>
                <a:ea typeface="Helvetica Neue"/>
                <a:cs typeface="Helvetica Neue"/>
                <a:sym typeface="Helvetica Neue"/>
              </a:rPr>
              <a:t>Example 1</a:t>
            </a:r>
            <a:endParaRPr/>
          </a:p>
        </p:txBody>
      </p:sp>
      <p:sp>
        <p:nvSpPr>
          <p:cNvPr id="323" name="Google Shape;323;p33"/>
          <p:cNvSpPr txBox="1"/>
          <p:nvPr/>
        </p:nvSpPr>
        <p:spPr>
          <a:xfrm>
            <a:off x="4203700" y="3941762"/>
            <a:ext cx="298450" cy="3667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x</a:t>
            </a:r>
            <a:endParaRPr b="0" i="0" sz="1400" u="none" cap="none" strike="noStrike">
              <a:solidFill>
                <a:srgbClr val="000000"/>
              </a:solidFill>
              <a:latin typeface="Arial"/>
              <a:ea typeface="Arial"/>
              <a:cs typeface="Arial"/>
              <a:sym typeface="Arial"/>
            </a:endParaRPr>
          </a:p>
        </p:txBody>
      </p:sp>
      <p:sp>
        <p:nvSpPr>
          <p:cNvPr id="324" name="Google Shape;324;p33"/>
          <p:cNvSpPr txBox="1"/>
          <p:nvPr/>
        </p:nvSpPr>
        <p:spPr>
          <a:xfrm>
            <a:off x="4225925" y="5621337"/>
            <a:ext cx="298450" cy="3667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y</a:t>
            </a:r>
            <a:endParaRPr b="0" i="0" sz="1400" u="none" cap="none" strike="noStrike">
              <a:solidFill>
                <a:srgbClr val="000000"/>
              </a:solidFill>
              <a:latin typeface="Arial"/>
              <a:ea typeface="Arial"/>
              <a:cs typeface="Arial"/>
              <a:sym typeface="Arial"/>
            </a:endParaRPr>
          </a:p>
        </p:txBody>
      </p:sp>
      <p:pic>
        <p:nvPicPr>
          <p:cNvPr id="325" name="Google Shape;325;p33"/>
          <p:cNvPicPr preferRelativeResize="0"/>
          <p:nvPr/>
        </p:nvPicPr>
        <p:blipFill rotWithShape="1">
          <a:blip r:embed="rId3">
            <a:alphaModFix/>
          </a:blip>
          <a:srcRect b="18799" l="682" r="682" t="17890"/>
          <a:stretch/>
        </p:blipFill>
        <p:spPr>
          <a:xfrm>
            <a:off x="3884612" y="4965700"/>
            <a:ext cx="2727325" cy="1312862"/>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Recoverable Schedules</a:t>
            </a:r>
            <a:endParaRPr/>
          </a:p>
        </p:txBody>
      </p:sp>
      <p:sp>
        <p:nvSpPr>
          <p:cNvPr id="332" name="Google Shape;332;p34"/>
          <p:cNvSpPr txBox="1"/>
          <p:nvPr>
            <p:ph idx="1" type="body"/>
          </p:nvPr>
        </p:nvSpPr>
        <p:spPr>
          <a:xfrm>
            <a:off x="914400" y="1747837"/>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Recoverable</a:t>
            </a:r>
            <a:r>
              <a:rPr b="1" i="1" lang="en-US" sz="1800" u="none">
                <a:solidFill>
                  <a:schemeClr val="dk2"/>
                </a:solidFill>
                <a:latin typeface="Helvetica Neue"/>
                <a:ea typeface="Helvetica Neue"/>
                <a:cs typeface="Helvetica Neue"/>
                <a:sym typeface="Helvetica Neue"/>
              </a:rPr>
              <a:t> </a:t>
            </a:r>
            <a:r>
              <a:rPr b="1" i="0" lang="en-US" sz="1800" u="none">
                <a:solidFill>
                  <a:schemeClr val="dk2"/>
                </a:solidFill>
                <a:latin typeface="Helvetica Neue"/>
                <a:ea typeface="Helvetica Neue"/>
                <a:cs typeface="Helvetica Neue"/>
                <a:sym typeface="Helvetica Neue"/>
              </a:rPr>
              <a:t>schedule</a:t>
            </a:r>
            <a:r>
              <a:rPr b="0" i="0" lang="en-US" sz="1800" u="none">
                <a:solidFill>
                  <a:schemeClr val="dk1"/>
                </a:solidFill>
                <a:latin typeface="Helvetica Neue"/>
                <a:ea typeface="Helvetica Neue"/>
                <a:cs typeface="Helvetica Neue"/>
                <a:sym typeface="Helvetica Neue"/>
              </a:rPr>
              <a:t> — if a transaction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reads a data item previously written by a transaction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 then the commit operation of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appears before the commit operation of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following schedule (Schedule 11) is not recoverable if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9</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commits immediately after the read</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endParaRPr/>
          </a:p>
          <a:p>
            <a:pPr indent="-240030" lvl="0" marL="34290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8</a:t>
            </a:r>
            <a:r>
              <a:rPr b="0" i="0" lang="en-US" sz="16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should abort,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9</a:t>
            </a:r>
            <a:r>
              <a:rPr b="0" i="0" lang="en-US" sz="1800" u="none">
                <a:solidFill>
                  <a:schemeClr val="dk1"/>
                </a:solidFill>
                <a:latin typeface="Helvetica Neue"/>
                <a:ea typeface="Helvetica Neue"/>
                <a:cs typeface="Helvetica Neue"/>
                <a:sym typeface="Helvetica Neue"/>
              </a:rPr>
              <a:t> would have read (and possibly shown to the user) an inconsistent database state.  Hence, database must ensure that schedules are recoverable.</a:t>
            </a:r>
            <a:endParaRPr/>
          </a:p>
        </p:txBody>
      </p:sp>
      <p:sp>
        <p:nvSpPr>
          <p:cNvPr id="333" name="Google Shape;333;p34"/>
          <p:cNvSpPr txBox="1"/>
          <p:nvPr/>
        </p:nvSpPr>
        <p:spPr>
          <a:xfrm>
            <a:off x="914400" y="1106487"/>
            <a:ext cx="6791325" cy="6413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Need to address the effect of transaction failures on concurrently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running transactions.</a:t>
            </a:r>
            <a:endParaRPr b="0" i="0" sz="1400" u="none" cap="none" strike="noStrike">
              <a:solidFill>
                <a:srgbClr val="000000"/>
              </a:solidFill>
              <a:latin typeface="Arial"/>
              <a:ea typeface="Arial"/>
              <a:cs typeface="Arial"/>
              <a:sym typeface="Arial"/>
            </a:endParaRPr>
          </a:p>
        </p:txBody>
      </p:sp>
      <p:pic>
        <p:nvPicPr>
          <p:cNvPr id="334" name="Google Shape;334;p34"/>
          <p:cNvPicPr preferRelativeResize="0"/>
          <p:nvPr/>
        </p:nvPicPr>
        <p:blipFill rotWithShape="1">
          <a:blip r:embed="rId3">
            <a:alphaModFix/>
          </a:blip>
          <a:srcRect b="6160" l="462" r="1155" t="5853"/>
          <a:stretch/>
        </p:blipFill>
        <p:spPr>
          <a:xfrm>
            <a:off x="3303587" y="3408362"/>
            <a:ext cx="2379662" cy="159543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Cascading Rollbacks</a:t>
            </a:r>
            <a:endParaRPr/>
          </a:p>
        </p:txBody>
      </p:sp>
      <p:sp>
        <p:nvSpPr>
          <p:cNvPr id="341" name="Google Shape;341;p35"/>
          <p:cNvSpPr txBox="1"/>
          <p:nvPr>
            <p:ph idx="1" type="body"/>
          </p:nvPr>
        </p:nvSpPr>
        <p:spPr>
          <a:xfrm>
            <a:off x="914400" y="1106487"/>
            <a:ext cx="7169150" cy="4622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Cascading rollback</a:t>
            </a:r>
            <a:r>
              <a:rPr b="0" i="0" lang="en-US" sz="1800" u="none">
                <a:solidFill>
                  <a:schemeClr val="dk1"/>
                </a:solidFill>
                <a:latin typeface="Helvetica Neue"/>
                <a:ea typeface="Helvetica Neue"/>
                <a:cs typeface="Helvetica Neue"/>
                <a:sym typeface="Helvetica Neue"/>
              </a:rPr>
              <a:t> – a single transaction failure leads to a series of transaction rollbacks.  Consider the following schedule where none of the transactions has yet committed (so the schedule is recoverable)</a:t>
            </a: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If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10</a:t>
            </a:r>
            <a:r>
              <a:rPr b="0" i="0" lang="en-US" sz="1800" u="none">
                <a:solidFill>
                  <a:schemeClr val="dk1"/>
                </a:solidFill>
                <a:latin typeface="Helvetica Neue"/>
                <a:ea typeface="Helvetica Neue"/>
                <a:cs typeface="Helvetica Neue"/>
                <a:sym typeface="Helvetica Neue"/>
              </a:rPr>
              <a:t> fails,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11</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12</a:t>
            </a:r>
            <a:r>
              <a:rPr b="0" i="0" lang="en-US" sz="1800" u="none">
                <a:solidFill>
                  <a:schemeClr val="dk1"/>
                </a:solidFill>
                <a:latin typeface="Helvetica Neue"/>
                <a:ea typeface="Helvetica Neue"/>
                <a:cs typeface="Helvetica Neue"/>
                <a:sym typeface="Helvetica Neue"/>
              </a:rPr>
              <a:t> must also be rolled back.</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Can lead to the undoing of a significant amount of work</a:t>
            </a:r>
            <a:endParaRPr/>
          </a:p>
        </p:txBody>
      </p:sp>
      <p:pic>
        <p:nvPicPr>
          <p:cNvPr id="342" name="Google Shape;342;p35"/>
          <p:cNvPicPr preferRelativeResize="0"/>
          <p:nvPr/>
        </p:nvPicPr>
        <p:blipFill rotWithShape="1">
          <a:blip r:embed="rId3">
            <a:alphaModFix/>
          </a:blip>
          <a:srcRect b="9591" l="450" r="673" t="9592"/>
          <a:stretch/>
        </p:blipFill>
        <p:spPr>
          <a:xfrm>
            <a:off x="2220912" y="2278062"/>
            <a:ext cx="3711575" cy="2276475"/>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Cascadeless Schedules</a:t>
            </a:r>
            <a:endParaRPr/>
          </a:p>
        </p:txBody>
      </p:sp>
      <p:sp>
        <p:nvSpPr>
          <p:cNvPr id="349" name="Google Shape;349;p36"/>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Cascadeless</a:t>
            </a:r>
            <a:r>
              <a:rPr b="1" i="1" lang="en-US" sz="1800" u="none">
                <a:solidFill>
                  <a:schemeClr val="dk2"/>
                </a:solidFill>
                <a:latin typeface="Helvetica Neue"/>
                <a:ea typeface="Helvetica Neue"/>
                <a:cs typeface="Helvetica Neue"/>
                <a:sym typeface="Helvetica Neue"/>
              </a:rPr>
              <a:t> </a:t>
            </a:r>
            <a:r>
              <a:rPr b="1" i="0" lang="en-US" sz="1800" u="none">
                <a:solidFill>
                  <a:schemeClr val="dk2"/>
                </a:solidFill>
                <a:latin typeface="Helvetica Neue"/>
                <a:ea typeface="Helvetica Neue"/>
                <a:cs typeface="Helvetica Neue"/>
                <a:sym typeface="Helvetica Neue"/>
              </a:rPr>
              <a:t>schedules</a:t>
            </a:r>
            <a:r>
              <a:rPr b="0" i="0" lang="en-US" sz="1800" u="none">
                <a:solidFill>
                  <a:schemeClr val="dk1"/>
                </a:solidFill>
                <a:latin typeface="Helvetica Neue"/>
                <a:ea typeface="Helvetica Neue"/>
                <a:cs typeface="Helvetica Neue"/>
                <a:sym typeface="Helvetica Neue"/>
              </a:rPr>
              <a:t> — cascading rollbacks cannot occur; for each pair of transactions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such that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reads a data item previously written by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the commit operation of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appears before the read operation of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Every cascadeless schedule is also recoverable</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It is desirable to restrict the schedules to those that are cascadeless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Concurrency Control</a:t>
            </a:r>
            <a:endParaRPr/>
          </a:p>
        </p:txBody>
      </p:sp>
      <p:sp>
        <p:nvSpPr>
          <p:cNvPr id="356" name="Google Shape;356;p37"/>
          <p:cNvSpPr txBox="1"/>
          <p:nvPr>
            <p:ph idx="1" type="body"/>
          </p:nvPr>
        </p:nvSpPr>
        <p:spPr>
          <a:xfrm>
            <a:off x="914400" y="1106487"/>
            <a:ext cx="7939087" cy="48847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database must provide a mechanism that will ensure that all possible schedules are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either conflict or view serializable, and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are recoverable and preferably cascadeless</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policy in which only one transaction can execute at a time generates serial schedules, but provides a poor degree of concurrency</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Are serial schedules recoverable/cascadeless?</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Testing a schedule for serializability </a:t>
            </a:r>
            <a:r>
              <a:rPr b="0" i="1" lang="en-US" sz="1800" u="none">
                <a:solidFill>
                  <a:schemeClr val="dk1"/>
                </a:solidFill>
                <a:latin typeface="Helvetica Neue"/>
                <a:ea typeface="Helvetica Neue"/>
                <a:cs typeface="Helvetica Neue"/>
                <a:sym typeface="Helvetica Neue"/>
              </a:rPr>
              <a:t>after</a:t>
            </a:r>
            <a:r>
              <a:rPr b="0" i="0" lang="en-US" sz="1800" u="none">
                <a:solidFill>
                  <a:schemeClr val="dk1"/>
                </a:solidFill>
                <a:latin typeface="Helvetica Neue"/>
                <a:ea typeface="Helvetica Neue"/>
                <a:cs typeface="Helvetica Neue"/>
                <a:sym typeface="Helvetica Neue"/>
              </a:rPr>
              <a:t> it has executed is a little too late!</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Goal</a:t>
            </a:r>
            <a:r>
              <a:rPr b="0" i="0" lang="en-US" sz="1800" u="none">
                <a:solidFill>
                  <a:schemeClr val="dk1"/>
                </a:solidFill>
                <a:latin typeface="Helvetica Neue"/>
                <a:ea typeface="Helvetica Neue"/>
                <a:cs typeface="Helvetica Neue"/>
                <a:sym typeface="Helvetica Neue"/>
              </a:rPr>
              <a:t> – to develop concurrency control protocols that will assure serializability.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8"/>
          <p:cNvSpPr txBox="1"/>
          <p:nvPr>
            <p:ph type="title"/>
          </p:nvPr>
        </p:nvSpPr>
        <p:spPr>
          <a:xfrm>
            <a:off x="1114425" y="200025"/>
            <a:ext cx="775335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Concurrency Control vs. Serializability Tests</a:t>
            </a:r>
            <a:endParaRPr/>
          </a:p>
        </p:txBody>
      </p:sp>
      <p:sp>
        <p:nvSpPr>
          <p:cNvPr id="363" name="Google Shape;363;p38"/>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p>
            <a:pPr indent="-240030" lvl="0" marL="342900" rtl="0" algn="l">
              <a:lnSpc>
                <a:spcPct val="100000"/>
              </a:lnSpc>
              <a:spcBef>
                <a:spcPts val="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Concurrency-control protocols allow concurrent schedules, but ensure that the schedules are conflict/view serializable, and are recoverable and cascadeless .</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Concurrency control protocols generally do not examine the precedence graph as it is being created</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Instead a protocol imposes a discipline that avoids nonseralizable schedules.</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We study such protocols in Chapter 16.</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Different concurrency control protocols provide different tradeoffs between the amount of concurrency they allow and the amount of overhead that they incur.</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Tests for serializability help us understand why a concurrency control protocol is correct.   </a:t>
            </a:r>
            <a:endParaRPr/>
          </a:p>
          <a:p>
            <a:pPr indent="-240030" lvl="0" marL="342900" rtl="0" algn="l">
              <a:lnSpc>
                <a:spcPct val="100000"/>
              </a:lnSpc>
              <a:spcBef>
                <a:spcPts val="630"/>
              </a:spcBef>
              <a:spcAft>
                <a:spcPts val="0"/>
              </a:spcAft>
              <a:buSzPts val="1620"/>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Weak Levels of Consistency</a:t>
            </a:r>
            <a:endParaRPr/>
          </a:p>
        </p:txBody>
      </p:sp>
      <p:sp>
        <p:nvSpPr>
          <p:cNvPr id="370" name="Google Shape;370;p39"/>
          <p:cNvSpPr txBox="1"/>
          <p:nvPr>
            <p:ph idx="1" type="body"/>
          </p:nvPr>
        </p:nvSpPr>
        <p:spPr>
          <a:xfrm>
            <a:off x="914400" y="1106487"/>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Some applications are willing to live with weak levels of consistency, allowing schedules that are not serializable</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E.g. a read-only transaction that wants to get an approximate total balance of all accounts </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E.g. database statistics computed for query optimization can be approximate (why?)</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Such transactions need not be serializable with respect to other transactions</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Tradeoff accuracy for performance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Levels of Consistency in SQL-92</a:t>
            </a:r>
            <a:endParaRPr/>
          </a:p>
        </p:txBody>
      </p:sp>
      <p:sp>
        <p:nvSpPr>
          <p:cNvPr id="377" name="Google Shape;377;p40"/>
          <p:cNvSpPr txBox="1"/>
          <p:nvPr>
            <p:ph idx="1" type="body"/>
          </p:nvPr>
        </p:nvSpPr>
        <p:spPr>
          <a:xfrm>
            <a:off x="914400" y="1106487"/>
            <a:ext cx="76200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Serializable</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default</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Repeatable read</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only committed records to be read, repeated reads of same record must return same value.  However, a transaction may not be serializable – it may find some records inserted by a transaction but not find others.</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Read committed</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only committed records can be read, but successive reads of record may return different (but committed) values.</a:t>
            </a:r>
            <a:endParaRPr/>
          </a:p>
          <a:p>
            <a:pPr indent="-342900" lvl="0" marL="34290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Read uncommitted</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even uncommitted records may be read. </a:t>
            </a:r>
            <a:endParaRPr/>
          </a:p>
        </p:txBody>
      </p:sp>
      <p:sp>
        <p:nvSpPr>
          <p:cNvPr id="378" name="Google Shape;378;p40"/>
          <p:cNvSpPr txBox="1"/>
          <p:nvPr/>
        </p:nvSpPr>
        <p:spPr>
          <a:xfrm>
            <a:off x="525462" y="4398962"/>
            <a:ext cx="7527925" cy="1476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Lower degrees of consistency useful for gathering approximate</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information about the database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Warning: some database systems do not ensure serializable schedules by default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E.g. Oracle and PostgreSQL by default support a level of consistency called snapshot isolation (not part of the SQL standard)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Transaction Definition in SQL</a:t>
            </a:r>
            <a:endParaRPr/>
          </a:p>
        </p:txBody>
      </p:sp>
      <p:sp>
        <p:nvSpPr>
          <p:cNvPr id="385" name="Google Shape;385;p41"/>
          <p:cNvSpPr txBox="1"/>
          <p:nvPr>
            <p:ph idx="1" type="body"/>
          </p:nvPr>
        </p:nvSpPr>
        <p:spPr>
          <a:xfrm>
            <a:off x="914400" y="1106487"/>
            <a:ext cx="7286625"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Data manipulation language must include a construct for specifying the set of actions that comprise a transaction.</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SQL, a transaction begins implicitly.</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transaction in SQL ends by:</a:t>
            </a:r>
            <a:endParaRPr/>
          </a:p>
          <a:p>
            <a:pPr indent="-285750" lvl="1" marL="742950" rtl="0" algn="l">
              <a:lnSpc>
                <a:spcPct val="100000"/>
              </a:lnSpc>
              <a:spcBef>
                <a:spcPts val="630"/>
              </a:spcBef>
              <a:spcAft>
                <a:spcPts val="0"/>
              </a:spcAft>
              <a:buClr>
                <a:schemeClr val="hlink"/>
              </a:buClr>
              <a:buSzPts val="1440"/>
              <a:buFont typeface="Arial"/>
              <a:buChar char="●"/>
            </a:pPr>
            <a:r>
              <a:rPr b="1" i="0" lang="en-US" sz="1800" u="none">
                <a:solidFill>
                  <a:schemeClr val="dk1"/>
                </a:solidFill>
                <a:latin typeface="Helvetica Neue"/>
                <a:ea typeface="Helvetica Neue"/>
                <a:cs typeface="Helvetica Neue"/>
                <a:sym typeface="Helvetica Neue"/>
              </a:rPr>
              <a:t>Commit work</a:t>
            </a:r>
            <a:r>
              <a:rPr b="0" i="0" lang="en-US" sz="1800" u="none">
                <a:solidFill>
                  <a:schemeClr val="dk1"/>
                </a:solidFill>
                <a:latin typeface="Helvetica Neue"/>
                <a:ea typeface="Helvetica Neue"/>
                <a:cs typeface="Helvetica Neue"/>
                <a:sym typeface="Helvetica Neue"/>
              </a:rPr>
              <a:t> commits current transaction and begins a new one.</a:t>
            </a:r>
            <a:endParaRPr/>
          </a:p>
          <a:p>
            <a:pPr indent="-285750" lvl="1" marL="742950" rtl="0" algn="l">
              <a:lnSpc>
                <a:spcPct val="100000"/>
              </a:lnSpc>
              <a:spcBef>
                <a:spcPts val="630"/>
              </a:spcBef>
              <a:spcAft>
                <a:spcPts val="0"/>
              </a:spcAft>
              <a:buClr>
                <a:schemeClr val="hlink"/>
              </a:buClr>
              <a:buSzPts val="1440"/>
              <a:buFont typeface="Arial"/>
              <a:buChar char="●"/>
            </a:pPr>
            <a:r>
              <a:rPr b="1" i="0" lang="en-US" sz="1800" u="none">
                <a:solidFill>
                  <a:schemeClr val="dk1"/>
                </a:solidFill>
                <a:latin typeface="Helvetica Neue"/>
                <a:ea typeface="Helvetica Neue"/>
                <a:cs typeface="Helvetica Neue"/>
                <a:sym typeface="Helvetica Neue"/>
              </a:rPr>
              <a:t>Rollback work</a:t>
            </a:r>
            <a:r>
              <a:rPr b="0" i="0" lang="en-US" sz="1800" u="none">
                <a:solidFill>
                  <a:schemeClr val="dk1"/>
                </a:solidFill>
                <a:latin typeface="Helvetica Neue"/>
                <a:ea typeface="Helvetica Neue"/>
                <a:cs typeface="Helvetica Neue"/>
                <a:sym typeface="Helvetica Neue"/>
              </a:rPr>
              <a:t> causes current transaction to abort.</a:t>
            </a:r>
            <a:endParaRPr/>
          </a:p>
          <a:p>
            <a:pPr indent="-342900" lvl="0" marL="34290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In almost all database systems, by default, every SQL statement also commits implicitly if it executes successfully</a:t>
            </a:r>
            <a:endParaRPr/>
          </a:p>
          <a:p>
            <a:pPr indent="-285750" lvl="1" marL="742950" rtl="0" algn="l">
              <a:lnSpc>
                <a:spcPct val="100000"/>
              </a:lnSpc>
              <a:spcBef>
                <a:spcPts val="630"/>
              </a:spcBef>
              <a:spcAft>
                <a:spcPts val="0"/>
              </a:spcAft>
              <a:buClr>
                <a:schemeClr val="hlink"/>
              </a:buClr>
              <a:buSzPts val="1440"/>
              <a:buFont typeface="Arial"/>
              <a:buChar char="●"/>
            </a:pPr>
            <a:r>
              <a:rPr b="0" i="0" lang="en-US" sz="1800" u="none">
                <a:solidFill>
                  <a:schemeClr val="dk1"/>
                </a:solidFill>
                <a:latin typeface="Helvetica Neue"/>
                <a:ea typeface="Helvetica Neue"/>
                <a:cs typeface="Helvetica Neue"/>
                <a:sym typeface="Helvetica Neue"/>
              </a:rPr>
              <a:t>Implicit commit can be turned off by a database directive</a:t>
            </a:r>
            <a:endParaRPr/>
          </a:p>
          <a:p>
            <a:pPr indent="-228600" lvl="2" marL="1085850" rtl="0" algn="l">
              <a:lnSpc>
                <a:spcPct val="100000"/>
              </a:lnSpc>
              <a:spcBef>
                <a:spcPts val="630"/>
              </a:spcBef>
              <a:spcAft>
                <a:spcPts val="0"/>
              </a:spcAft>
              <a:buClr>
                <a:srgbClr val="33CC33"/>
              </a:buClr>
              <a:buSzPts val="1350"/>
              <a:buFont typeface="Arimo"/>
              <a:buChar char="4"/>
            </a:pPr>
            <a:r>
              <a:rPr b="0" i="0" lang="en-US" sz="1800" u="none">
                <a:solidFill>
                  <a:schemeClr val="dk1"/>
                </a:solidFill>
                <a:latin typeface="Helvetica Neue"/>
                <a:ea typeface="Helvetica Neue"/>
                <a:cs typeface="Helvetica Neue"/>
                <a:sym typeface="Helvetica Neue"/>
              </a:rPr>
              <a:t>E.g. in JDBC,     connection.setAutoCommit(false);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kjscecomp</dc:creator>
</cp:coreProperties>
</file>