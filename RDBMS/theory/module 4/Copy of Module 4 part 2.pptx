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1" r:id="rId17"/>
    <p:sldId id="283" r:id="rId18"/>
    <p:sldId id="282" r:id="rId19"/>
    <p:sldId id="284" r:id="rId20"/>
    <p:sldId id="285" r:id="rId21"/>
    <p:sldId id="286" r:id="rId22"/>
    <p:sldId id="287" r:id="rId23"/>
    <p:sldId id="271" r:id="rId24"/>
    <p:sldId id="273" r:id="rId25"/>
    <p:sldId id="274" r:id="rId26"/>
    <p:sldId id="275" r:id="rId27"/>
    <p:sldId id="276" r:id="rId28"/>
    <p:sldId id="272" r:id="rId29"/>
    <p:sldId id="277" r:id="rId30"/>
    <p:sldId id="278" r:id="rId31"/>
    <p:sldId id="279" r:id="rId32"/>
    <p:sldId id="280" r:id="rId33"/>
    <p:sldId id="289" r:id="rId34"/>
    <p:sldId id="290" r:id="rId35"/>
    <p:sldId id="291" r:id="rId36"/>
    <p:sldId id="292" r:id="rId37"/>
    <p:sldId id="293" r:id="rId38"/>
    <p:sldId id="288" r:id="rId3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4AB0BBA6-50B9-4B48-9FCF-82E3698B9A29}" type="datetimeFigureOut">
              <a:rPr lang="en-IN" smtClean="0"/>
              <a:t>20-02-2019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3502504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AB0BBA6-50B9-4B48-9FCF-82E3698B9A29}" type="datetimeFigureOut">
              <a:rPr lang="en-IN" smtClean="0"/>
              <a:t>20-02-2019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201581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B0BBA6-50B9-4B48-9FCF-82E3698B9A29}" type="datetimeFigureOut">
              <a:rPr lang="en-IN" smtClean="0"/>
              <a:t>20-02-2019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4241645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AB0BBA6-50B9-4B48-9FCF-82E3698B9A29}" type="datetimeFigureOut">
              <a:rPr lang="en-IN" smtClean="0"/>
              <a:t>20-02-2019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3314840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4AB0BBA6-50B9-4B48-9FCF-82E3698B9A29}" type="datetimeFigureOut">
              <a:rPr lang="en-IN" smtClean="0"/>
              <a:t>20-02-2019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1672291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4AB0BBA6-50B9-4B48-9FCF-82E3698B9A29}" type="datetimeFigureOut">
              <a:rPr lang="en-IN" smtClean="0"/>
              <a:t>20-02-2019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2186636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B0BBA6-50B9-4B48-9FCF-82E3698B9A29}" type="datetimeFigureOut">
              <a:rPr lang="en-IN" smtClean="0"/>
              <a:t>20-02-2019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24896948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B0BBA6-50B9-4B48-9FCF-82E3698B9A29}" type="datetimeFigureOut">
              <a:rPr lang="en-IN" smtClean="0"/>
              <a:t>20-02-2019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4130543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B0BBA6-50B9-4B48-9FCF-82E3698B9A29}" type="datetimeFigureOut">
              <a:rPr lang="en-IN" smtClean="0"/>
              <a:t>20-02-2019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1342327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AB0BBA6-50B9-4B48-9FCF-82E3698B9A29}" type="datetimeFigureOut">
              <a:rPr lang="en-IN" smtClean="0"/>
              <a:t>20-02-2019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2558751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AB0BBA6-50B9-4B48-9FCF-82E3698B9A29}" type="datetimeFigureOut">
              <a:rPr lang="en-IN" smtClean="0"/>
              <a:t>20-02-2019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7985FD2-C95E-48C8-9B5B-0410E4B98198}" type="slidenum">
              <a:rPr lang="en-IN" smtClean="0"/>
              <a:t>‹#›</a:t>
            </a:fld>
            <a:endParaRPr lang="en-IN"/>
          </a:p>
        </p:txBody>
      </p:sp>
    </p:spTree>
    <p:extLst>
      <p:ext uri="{BB962C8B-B14F-4D97-AF65-F5344CB8AC3E}">
        <p14:creationId xmlns:p14="http://schemas.microsoft.com/office/powerpoint/2010/main" val="301387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B0BBA6-50B9-4B48-9FCF-82E3698B9A29}" type="datetimeFigureOut">
              <a:rPr lang="en-IN" smtClean="0"/>
              <a:t>20-02-2019</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985FD2-C95E-48C8-9B5B-0410E4B98198}" type="slidenum">
              <a:rPr lang="en-IN" smtClean="0"/>
              <a:t>‹#›</a:t>
            </a:fld>
            <a:endParaRPr lang="en-IN"/>
          </a:p>
        </p:txBody>
      </p:sp>
    </p:spTree>
    <p:extLst>
      <p:ext uri="{BB962C8B-B14F-4D97-AF65-F5344CB8AC3E}">
        <p14:creationId xmlns:p14="http://schemas.microsoft.com/office/powerpoint/2010/main" val="3302029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Module 4 </a:t>
            </a:r>
            <a:endParaRPr lang="en-IN" dirty="0"/>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4837816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a:t>
            </a:r>
            <a:r>
              <a:rPr lang="en-IN" dirty="0" smtClean="0"/>
              <a:t>DCL</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DCL stands for Data Control Language.</a:t>
            </a:r>
          </a:p>
          <a:p>
            <a:r>
              <a:rPr lang="en-IN" dirty="0" smtClean="0"/>
              <a:t>DCL is used to control user access in a database.</a:t>
            </a:r>
          </a:p>
          <a:p>
            <a:r>
              <a:rPr lang="en-IN" dirty="0" smtClean="0"/>
              <a:t>This command is related to the security issues.</a:t>
            </a:r>
          </a:p>
          <a:p>
            <a:r>
              <a:rPr lang="en-IN" dirty="0" smtClean="0"/>
              <a:t>Using DCL command, it allows or restricts the user from accessing data in database schema.</a:t>
            </a:r>
          </a:p>
          <a:p>
            <a:r>
              <a:rPr lang="en-IN" dirty="0" smtClean="0"/>
              <a:t>DCL commands are as follows,</a:t>
            </a:r>
          </a:p>
          <a:p>
            <a:pPr lvl="1"/>
            <a:r>
              <a:rPr lang="en-IN" dirty="0" smtClean="0"/>
              <a:t>GRANT</a:t>
            </a:r>
          </a:p>
          <a:p>
            <a:pPr lvl="1"/>
            <a:r>
              <a:rPr lang="en-IN" dirty="0" smtClean="0"/>
              <a:t>REVOKE</a:t>
            </a:r>
          </a:p>
          <a:p>
            <a:r>
              <a:rPr lang="en-IN" dirty="0" smtClean="0"/>
              <a:t>It is used to grant or revoke access permissions from any database user.</a:t>
            </a:r>
            <a:endParaRPr lang="en-IN" dirty="0"/>
          </a:p>
        </p:txBody>
      </p:sp>
    </p:spTree>
    <p:extLst>
      <p:ext uri="{BB962C8B-B14F-4D97-AF65-F5344CB8AC3E}">
        <p14:creationId xmlns:p14="http://schemas.microsoft.com/office/powerpoint/2010/main" val="492578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 GRANT </a:t>
            </a:r>
            <a:r>
              <a:rPr lang="en-IN" dirty="0" smtClean="0"/>
              <a:t>COMMAND</a:t>
            </a:r>
            <a:endParaRPr lang="en-IN" dirty="0"/>
          </a:p>
        </p:txBody>
      </p:sp>
      <p:sp>
        <p:nvSpPr>
          <p:cNvPr id="3" name="Content Placeholder 2"/>
          <p:cNvSpPr>
            <a:spLocks noGrp="1"/>
          </p:cNvSpPr>
          <p:nvPr>
            <p:ph idx="1"/>
          </p:nvPr>
        </p:nvSpPr>
        <p:spPr/>
        <p:txBody>
          <a:bodyPr/>
          <a:lstStyle/>
          <a:p>
            <a:r>
              <a:rPr lang="en-IN" b="1" dirty="0"/>
              <a:t>GRANT command</a:t>
            </a:r>
            <a:r>
              <a:rPr lang="en-IN" dirty="0"/>
              <a:t> gives user's access privileges to the database.</a:t>
            </a:r>
          </a:p>
          <a:p>
            <a:r>
              <a:rPr lang="en-IN" dirty="0"/>
              <a:t>This command allows specified users to perform specific tasks.</a:t>
            </a:r>
          </a:p>
          <a:p>
            <a:endParaRPr lang="en-IN" dirty="0"/>
          </a:p>
        </p:txBody>
      </p:sp>
      <p:sp>
        <p:nvSpPr>
          <p:cNvPr id="4" name="Rectangle 3"/>
          <p:cNvSpPr/>
          <p:nvPr/>
        </p:nvSpPr>
        <p:spPr>
          <a:xfrm>
            <a:off x="611560" y="3587532"/>
            <a:ext cx="4680520" cy="1569660"/>
          </a:xfrm>
          <a:prstGeom prst="rect">
            <a:avLst/>
          </a:prstGeom>
        </p:spPr>
        <p:txBody>
          <a:bodyPr wrap="square">
            <a:spAutoFit/>
          </a:bodyPr>
          <a:lstStyle/>
          <a:p>
            <a:r>
              <a:rPr lang="en-IN" sz="2400" b="1" dirty="0"/>
              <a:t>Syntax:</a:t>
            </a:r>
            <a:r>
              <a:rPr lang="en-IN" sz="2400" dirty="0" smtClean="0"/>
              <a:t/>
            </a:r>
            <a:br>
              <a:rPr lang="en-IN" sz="2400" dirty="0" smtClean="0"/>
            </a:br>
            <a:r>
              <a:rPr lang="en-IN" sz="2400" dirty="0"/>
              <a:t>GRANT &lt;privilege list&gt;</a:t>
            </a:r>
            <a:r>
              <a:rPr lang="en-IN" sz="2400" dirty="0" smtClean="0"/>
              <a:t/>
            </a:r>
            <a:br>
              <a:rPr lang="en-IN" sz="2400" dirty="0" smtClean="0"/>
            </a:br>
            <a:r>
              <a:rPr lang="en-IN" sz="2400" dirty="0"/>
              <a:t>ON &lt;relation name or view name&gt;</a:t>
            </a:r>
            <a:r>
              <a:rPr lang="en-IN" sz="2400" dirty="0" smtClean="0"/>
              <a:t/>
            </a:r>
            <a:br>
              <a:rPr lang="en-IN" sz="2400" dirty="0" smtClean="0"/>
            </a:br>
            <a:r>
              <a:rPr lang="en-IN" sz="2400" dirty="0"/>
              <a:t>TO &lt;user/role list&gt;;</a:t>
            </a:r>
          </a:p>
        </p:txBody>
      </p:sp>
      <p:sp>
        <p:nvSpPr>
          <p:cNvPr id="5" name="Rectangle 4"/>
          <p:cNvSpPr/>
          <p:nvPr/>
        </p:nvSpPr>
        <p:spPr>
          <a:xfrm>
            <a:off x="5796136" y="3905761"/>
            <a:ext cx="2592288" cy="1323439"/>
          </a:xfrm>
          <a:prstGeom prst="rect">
            <a:avLst/>
          </a:prstGeom>
        </p:spPr>
        <p:txBody>
          <a:bodyPr wrap="square">
            <a:spAutoFit/>
          </a:bodyPr>
          <a:lstStyle/>
          <a:p>
            <a:r>
              <a:rPr lang="en-IN" sz="2000" dirty="0"/>
              <a:t>GRANT ALL ON employee</a:t>
            </a:r>
            <a:r>
              <a:rPr lang="en-IN" sz="2000" dirty="0" smtClean="0"/>
              <a:t/>
            </a:r>
            <a:br>
              <a:rPr lang="en-IN" sz="2000" dirty="0" smtClean="0"/>
            </a:br>
            <a:r>
              <a:rPr lang="en-IN" sz="2000" dirty="0"/>
              <a:t>TO ABC;</a:t>
            </a:r>
            <a:r>
              <a:rPr lang="en-IN" sz="2000" dirty="0" smtClean="0"/>
              <a:t/>
            </a:r>
            <a:br>
              <a:rPr lang="en-IN" sz="2000" dirty="0" smtClean="0"/>
            </a:br>
            <a:r>
              <a:rPr lang="en-IN" sz="2000" dirty="0"/>
              <a:t>[WITH GRANT OPTION]</a:t>
            </a:r>
          </a:p>
        </p:txBody>
      </p:sp>
    </p:spTree>
    <p:extLst>
      <p:ext uri="{BB962C8B-B14F-4D97-AF65-F5344CB8AC3E}">
        <p14:creationId xmlns:p14="http://schemas.microsoft.com/office/powerpoint/2010/main" val="2429155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REVOKE </a:t>
            </a:r>
            <a:r>
              <a:rPr lang="en-IN" dirty="0" smtClean="0"/>
              <a:t>COMMAND</a:t>
            </a:r>
            <a:endParaRPr lang="en-IN" dirty="0"/>
          </a:p>
        </p:txBody>
      </p:sp>
      <p:sp>
        <p:nvSpPr>
          <p:cNvPr id="3" name="Content Placeholder 2"/>
          <p:cNvSpPr>
            <a:spLocks noGrp="1"/>
          </p:cNvSpPr>
          <p:nvPr>
            <p:ph idx="1"/>
          </p:nvPr>
        </p:nvSpPr>
        <p:spPr/>
        <p:txBody>
          <a:bodyPr>
            <a:normAutofit/>
          </a:bodyPr>
          <a:lstStyle/>
          <a:p>
            <a:r>
              <a:rPr lang="en-IN" b="1" dirty="0" smtClean="0"/>
              <a:t>REVOKE command</a:t>
            </a:r>
            <a:r>
              <a:rPr lang="en-IN" dirty="0" smtClean="0"/>
              <a:t> is used to cancel previously granted or denied permissions.</a:t>
            </a:r>
          </a:p>
          <a:p>
            <a:r>
              <a:rPr lang="en-IN" dirty="0" smtClean="0"/>
              <a:t>This command withdraw access privileges given with the GRANT command.</a:t>
            </a:r>
          </a:p>
          <a:p>
            <a:r>
              <a:rPr lang="en-IN" dirty="0" smtClean="0"/>
              <a:t>It takes back permissions from user.</a:t>
            </a:r>
            <a:br>
              <a:rPr lang="en-IN" dirty="0" smtClean="0"/>
            </a:br>
            <a:endParaRPr lang="en-IN" dirty="0"/>
          </a:p>
        </p:txBody>
      </p:sp>
      <p:sp>
        <p:nvSpPr>
          <p:cNvPr id="4" name="Rectangle 3"/>
          <p:cNvSpPr/>
          <p:nvPr/>
        </p:nvSpPr>
        <p:spPr>
          <a:xfrm>
            <a:off x="323528" y="4365104"/>
            <a:ext cx="4572000" cy="1200329"/>
          </a:xfrm>
          <a:prstGeom prst="rect">
            <a:avLst/>
          </a:prstGeom>
        </p:spPr>
        <p:txBody>
          <a:bodyPr>
            <a:spAutoFit/>
          </a:bodyPr>
          <a:lstStyle/>
          <a:p>
            <a:r>
              <a:rPr lang="en-IN" b="1" dirty="0" smtClean="0"/>
              <a:t>Syntax:</a:t>
            </a:r>
            <a:r>
              <a:rPr lang="en-IN" dirty="0" smtClean="0"/>
              <a:t/>
            </a:r>
            <a:br>
              <a:rPr lang="en-IN" dirty="0" smtClean="0"/>
            </a:br>
            <a:r>
              <a:rPr lang="en-IN" dirty="0" smtClean="0"/>
              <a:t>REVOKE &lt;privilege list&gt;</a:t>
            </a:r>
            <a:br>
              <a:rPr lang="en-IN" dirty="0" smtClean="0"/>
            </a:br>
            <a:r>
              <a:rPr lang="en-IN" dirty="0" smtClean="0"/>
              <a:t>ON &lt;relation name or view name&gt;</a:t>
            </a:r>
            <a:br>
              <a:rPr lang="en-IN" dirty="0" smtClean="0"/>
            </a:br>
            <a:r>
              <a:rPr lang="en-IN" dirty="0" smtClean="0"/>
              <a:t>FROM &lt;user name&gt;;</a:t>
            </a:r>
            <a:endParaRPr lang="en-IN" dirty="0"/>
          </a:p>
        </p:txBody>
      </p:sp>
      <p:sp>
        <p:nvSpPr>
          <p:cNvPr id="5" name="Rectangle 4"/>
          <p:cNvSpPr/>
          <p:nvPr/>
        </p:nvSpPr>
        <p:spPr>
          <a:xfrm>
            <a:off x="3923928" y="4503603"/>
            <a:ext cx="4572000" cy="923330"/>
          </a:xfrm>
          <a:prstGeom prst="rect">
            <a:avLst/>
          </a:prstGeom>
        </p:spPr>
        <p:txBody>
          <a:bodyPr>
            <a:spAutoFit/>
          </a:bodyPr>
          <a:lstStyle/>
          <a:p>
            <a:r>
              <a:rPr lang="en-IN" dirty="0"/>
              <a:t>REVOKE UPDATE</a:t>
            </a:r>
            <a:r>
              <a:rPr lang="en-IN" dirty="0" smtClean="0"/>
              <a:t/>
            </a:r>
            <a:br>
              <a:rPr lang="en-IN" dirty="0" smtClean="0"/>
            </a:br>
            <a:r>
              <a:rPr lang="en-IN" dirty="0"/>
              <a:t>ON employee</a:t>
            </a:r>
            <a:r>
              <a:rPr lang="en-IN" dirty="0" smtClean="0"/>
              <a:t/>
            </a:r>
            <a:br>
              <a:rPr lang="en-IN" dirty="0" smtClean="0"/>
            </a:br>
            <a:r>
              <a:rPr lang="en-IN" dirty="0"/>
              <a:t>FROM ABC;</a:t>
            </a:r>
          </a:p>
        </p:txBody>
      </p:sp>
    </p:spTree>
    <p:extLst>
      <p:ext uri="{BB962C8B-B14F-4D97-AF65-F5344CB8AC3E}">
        <p14:creationId xmlns:p14="http://schemas.microsoft.com/office/powerpoint/2010/main" val="72295456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Difference between GRANT and REVOKE command</a:t>
            </a:r>
            <a:r>
              <a:rPr lang="en-IN" dirty="0" smtClean="0"/>
              <a: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31833214"/>
              </p:ext>
            </p:extLst>
          </p:nvPr>
        </p:nvGraphicFramePr>
        <p:xfrm>
          <a:off x="539552" y="1549400"/>
          <a:ext cx="8136904" cy="4610158"/>
        </p:xfrm>
        <a:graphic>
          <a:graphicData uri="http://schemas.openxmlformats.org/drawingml/2006/table">
            <a:tbl>
              <a:tblPr/>
              <a:tblGrid>
                <a:gridCol w="4068452"/>
                <a:gridCol w="4068452"/>
              </a:tblGrid>
              <a:tr h="289886">
                <a:tc>
                  <a:txBody>
                    <a:bodyPr/>
                    <a:lstStyle/>
                    <a:p>
                      <a:pPr algn="ctr" fontAlgn="t"/>
                      <a:r>
                        <a:rPr lang="en-IN" sz="1600" b="1">
                          <a:solidFill>
                            <a:srgbClr val="333333"/>
                          </a:solidFill>
                          <a:effectLst/>
                        </a:rPr>
                        <a:t>GRANT</a:t>
                      </a:r>
                    </a:p>
                  </a:txBody>
                  <a:tcPr marL="32892" marR="32892" marT="32892" marB="32892">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E3FEAB"/>
                    </a:solidFill>
                  </a:tcPr>
                </a:tc>
                <a:tc>
                  <a:txBody>
                    <a:bodyPr/>
                    <a:lstStyle/>
                    <a:p>
                      <a:pPr algn="ctr" fontAlgn="t"/>
                      <a:r>
                        <a:rPr lang="en-IN" sz="1600" b="1">
                          <a:solidFill>
                            <a:srgbClr val="333333"/>
                          </a:solidFill>
                          <a:effectLst/>
                        </a:rPr>
                        <a:t>REVOKE</a:t>
                      </a:r>
                    </a:p>
                  </a:txBody>
                  <a:tcPr marL="32892" marR="32892" marT="32892" marB="32892">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E3FEAB"/>
                    </a:solidFill>
                  </a:tcPr>
                </a:tc>
              </a:tr>
              <a:tr h="776255">
                <a:tc>
                  <a:txBody>
                    <a:bodyPr/>
                    <a:lstStyle/>
                    <a:p>
                      <a:pPr algn="l" fontAlgn="t"/>
                      <a:r>
                        <a:rPr lang="en-IN" sz="1600" b="1">
                          <a:effectLst/>
                        </a:rPr>
                        <a:t>GRANT command</a:t>
                      </a:r>
                      <a:r>
                        <a:rPr lang="en-IN" sz="1600" b="0">
                          <a:effectLst/>
                        </a:rPr>
                        <a:t> allows a user to perform certain activities on the database.</a:t>
                      </a:r>
                    </a:p>
                  </a:txBody>
                  <a:tcPr marL="32892" marR="32892" marT="32892" marB="32892">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tcPr>
                </a:tc>
                <a:tc>
                  <a:txBody>
                    <a:bodyPr/>
                    <a:lstStyle/>
                    <a:p>
                      <a:pPr algn="l" fontAlgn="t"/>
                      <a:r>
                        <a:rPr lang="en-IN" sz="1600" b="1">
                          <a:effectLst/>
                        </a:rPr>
                        <a:t>REVOKE command</a:t>
                      </a:r>
                      <a:r>
                        <a:rPr lang="en-IN" sz="1600" b="0">
                          <a:effectLst/>
                        </a:rPr>
                        <a:t> disallows a user to perform certain activities.</a:t>
                      </a:r>
                    </a:p>
                  </a:txBody>
                  <a:tcPr marL="32892" marR="32892" marT="32892" marB="32892">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tcPr>
                </a:tc>
              </a:tr>
              <a:tr h="776255">
                <a:tc>
                  <a:txBody>
                    <a:bodyPr/>
                    <a:lstStyle/>
                    <a:p>
                      <a:pPr algn="l" fontAlgn="t"/>
                      <a:r>
                        <a:rPr lang="en-IN" sz="1600" b="0">
                          <a:effectLst/>
                        </a:rPr>
                        <a:t>It grants access privileges for database objects to other users.</a:t>
                      </a:r>
                    </a:p>
                  </a:txBody>
                  <a:tcPr marL="32892" marR="32892" marT="32892" marB="32892">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tcPr>
                </a:tc>
                <a:tc>
                  <a:txBody>
                    <a:bodyPr/>
                    <a:lstStyle/>
                    <a:p>
                      <a:pPr algn="l" fontAlgn="t"/>
                      <a:r>
                        <a:rPr lang="en-IN" sz="1600" b="0">
                          <a:effectLst/>
                        </a:rPr>
                        <a:t>It revokes access privileges for database objects previously granted to other users.</a:t>
                      </a:r>
                    </a:p>
                  </a:txBody>
                  <a:tcPr marL="32892" marR="32892" marT="32892" marB="32892">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tcPr>
                </a:tc>
              </a:tr>
              <a:tr h="2670844">
                <a:tc>
                  <a:txBody>
                    <a:bodyPr/>
                    <a:lstStyle/>
                    <a:p>
                      <a:pPr algn="l" fontAlgn="t"/>
                      <a:r>
                        <a:rPr lang="en-IN" sz="1600" b="1">
                          <a:effectLst/>
                        </a:rPr>
                        <a:t>Example:</a:t>
                      </a:r>
                      <a:r>
                        <a:rPr lang="en-IN" sz="1600" b="0">
                          <a:effectLst/>
                        </a:rPr>
                        <a:t/>
                      </a:r>
                      <a:br>
                        <a:rPr lang="en-IN" sz="1600" b="0">
                          <a:effectLst/>
                        </a:rPr>
                      </a:br>
                      <a:r>
                        <a:rPr lang="en-IN" sz="1600" b="0">
                          <a:effectLst/>
                        </a:rPr>
                        <a:t/>
                      </a:r>
                      <a:br>
                        <a:rPr lang="en-IN" sz="1600" b="0">
                          <a:effectLst/>
                        </a:rPr>
                      </a:br>
                      <a:r>
                        <a:rPr lang="en-IN" sz="1600" b="0">
                          <a:effectLst/>
                        </a:rPr>
                        <a:t>GRANT privilege_name</a:t>
                      </a:r>
                      <a:br>
                        <a:rPr lang="en-IN" sz="1600" b="0">
                          <a:effectLst/>
                        </a:rPr>
                      </a:br>
                      <a:r>
                        <a:rPr lang="en-IN" sz="1600" b="0">
                          <a:effectLst/>
                        </a:rPr>
                        <a:t>ON object_name</a:t>
                      </a:r>
                      <a:br>
                        <a:rPr lang="en-IN" sz="1600" b="0">
                          <a:effectLst/>
                        </a:rPr>
                      </a:br>
                      <a:r>
                        <a:rPr lang="en-IN" sz="1600" b="0">
                          <a:effectLst/>
                        </a:rPr>
                        <a:t>TO</a:t>
                      </a:r>
                      <a:br>
                        <a:rPr lang="en-IN" sz="1600" b="0">
                          <a:effectLst/>
                        </a:rPr>
                      </a:br>
                      <a:r>
                        <a:rPr lang="en-IN" sz="1600" b="0">
                          <a:effectLst/>
                        </a:rPr>
                        <a:t/>
                      </a:r>
                      <a:br>
                        <a:rPr lang="en-IN" sz="1600" b="0">
                          <a:effectLst/>
                        </a:rPr>
                      </a:br>
                      <a:r>
                        <a:rPr lang="en-IN" sz="1600" b="0">
                          <a:effectLst/>
                        </a:rPr>
                        <a:t>{</a:t>
                      </a:r>
                      <a:br>
                        <a:rPr lang="en-IN" sz="1600" b="0">
                          <a:effectLst/>
                        </a:rPr>
                      </a:br>
                      <a:r>
                        <a:rPr lang="en-IN" sz="1600" b="0">
                          <a:effectLst/>
                        </a:rPr>
                        <a:t>     user_name|PUBLIC|role_name</a:t>
                      </a:r>
                      <a:br>
                        <a:rPr lang="en-IN" sz="1600" b="0">
                          <a:effectLst/>
                        </a:rPr>
                      </a:br>
                      <a:r>
                        <a:rPr lang="en-IN" sz="1600" b="0">
                          <a:effectLst/>
                        </a:rPr>
                        <a:t>}</a:t>
                      </a:r>
                      <a:br>
                        <a:rPr lang="en-IN" sz="1600" b="0">
                          <a:effectLst/>
                        </a:rPr>
                      </a:br>
                      <a:r>
                        <a:rPr lang="en-IN" sz="1600" b="0">
                          <a:effectLst/>
                        </a:rPr>
                        <a:t/>
                      </a:r>
                      <a:br>
                        <a:rPr lang="en-IN" sz="1600" b="0">
                          <a:effectLst/>
                        </a:rPr>
                      </a:br>
                      <a:r>
                        <a:rPr lang="en-IN" sz="1600" b="0">
                          <a:effectLst/>
                        </a:rPr>
                        <a:t>[WITH GRANT OPTION];</a:t>
                      </a:r>
                    </a:p>
                  </a:txBody>
                  <a:tcPr marL="32892" marR="32892" marT="32892" marB="32892">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tcPr>
                </a:tc>
                <a:tc>
                  <a:txBody>
                    <a:bodyPr/>
                    <a:lstStyle/>
                    <a:p>
                      <a:pPr algn="l" fontAlgn="t"/>
                      <a:r>
                        <a:rPr lang="en-IN" sz="1600" b="1" dirty="0">
                          <a:effectLst/>
                        </a:rPr>
                        <a:t>Example:</a:t>
                      </a:r>
                      <a:r>
                        <a:rPr lang="en-IN" sz="1600" b="0" dirty="0">
                          <a:effectLst/>
                        </a:rPr>
                        <a:t/>
                      </a:r>
                      <a:br>
                        <a:rPr lang="en-IN" sz="1600" b="0" dirty="0">
                          <a:effectLst/>
                        </a:rPr>
                      </a:br>
                      <a:r>
                        <a:rPr lang="en-IN" sz="1600" b="0" dirty="0">
                          <a:effectLst/>
                        </a:rPr>
                        <a:t/>
                      </a:r>
                      <a:br>
                        <a:rPr lang="en-IN" sz="1600" b="0" dirty="0">
                          <a:effectLst/>
                        </a:rPr>
                      </a:br>
                      <a:r>
                        <a:rPr lang="en-IN" sz="1600" b="0" dirty="0">
                          <a:effectLst/>
                        </a:rPr>
                        <a:t>REVOKE </a:t>
                      </a:r>
                      <a:r>
                        <a:rPr lang="en-IN" sz="1600" b="0" dirty="0" err="1">
                          <a:effectLst/>
                        </a:rPr>
                        <a:t>privilege_name</a:t>
                      </a:r>
                      <a:r>
                        <a:rPr lang="en-IN" sz="1600" b="0" dirty="0">
                          <a:effectLst/>
                        </a:rPr>
                        <a:t/>
                      </a:r>
                      <a:br>
                        <a:rPr lang="en-IN" sz="1600" b="0" dirty="0">
                          <a:effectLst/>
                        </a:rPr>
                      </a:br>
                      <a:r>
                        <a:rPr lang="en-IN" sz="1600" b="0" dirty="0">
                          <a:effectLst/>
                        </a:rPr>
                        <a:t>ON </a:t>
                      </a:r>
                      <a:r>
                        <a:rPr lang="en-IN" sz="1600" b="0" dirty="0" err="1">
                          <a:effectLst/>
                        </a:rPr>
                        <a:t>object_name</a:t>
                      </a:r>
                      <a:r>
                        <a:rPr lang="en-IN" sz="1600" b="0" dirty="0">
                          <a:effectLst/>
                        </a:rPr>
                        <a:t/>
                      </a:r>
                      <a:br>
                        <a:rPr lang="en-IN" sz="1600" b="0" dirty="0">
                          <a:effectLst/>
                        </a:rPr>
                      </a:br>
                      <a:r>
                        <a:rPr lang="en-IN" sz="1600" b="0" dirty="0">
                          <a:effectLst/>
                        </a:rPr>
                        <a:t/>
                      </a:r>
                      <a:br>
                        <a:rPr lang="en-IN" sz="1600" b="0" dirty="0">
                          <a:effectLst/>
                        </a:rPr>
                      </a:br>
                      <a:r>
                        <a:rPr lang="en-IN" sz="1600" b="0" dirty="0">
                          <a:effectLst/>
                        </a:rPr>
                        <a:t>FROM</a:t>
                      </a:r>
                      <a:br>
                        <a:rPr lang="en-IN" sz="1600" b="0" dirty="0">
                          <a:effectLst/>
                        </a:rPr>
                      </a:br>
                      <a:r>
                        <a:rPr lang="en-IN" sz="1600" b="0" dirty="0">
                          <a:effectLst/>
                        </a:rPr>
                        <a:t>{</a:t>
                      </a:r>
                      <a:br>
                        <a:rPr lang="en-IN" sz="1600" b="0" dirty="0">
                          <a:effectLst/>
                        </a:rPr>
                      </a:br>
                      <a:r>
                        <a:rPr lang="en-IN" sz="1600" b="0" dirty="0">
                          <a:effectLst/>
                        </a:rPr>
                        <a:t>     </a:t>
                      </a:r>
                      <a:r>
                        <a:rPr lang="en-IN" sz="1600" b="0" dirty="0" err="1">
                          <a:effectLst/>
                        </a:rPr>
                        <a:t>user_name|PUBLIC|role_name</a:t>
                      </a:r>
                      <a:r>
                        <a:rPr lang="en-IN" sz="1600" b="0" dirty="0">
                          <a:effectLst/>
                        </a:rPr>
                        <a:t/>
                      </a:r>
                      <a:br>
                        <a:rPr lang="en-IN" sz="1600" b="0" dirty="0">
                          <a:effectLst/>
                        </a:rPr>
                      </a:br>
                      <a:r>
                        <a:rPr lang="en-IN" sz="1600" b="0" dirty="0">
                          <a:effectLst/>
                        </a:rPr>
                        <a:t>}</a:t>
                      </a:r>
                    </a:p>
                  </a:txBody>
                  <a:tcPr marL="32892" marR="32892" marT="32892" marB="32892">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tcPr>
                </a:tc>
              </a:tr>
            </a:tbl>
          </a:graphicData>
        </a:graphic>
      </p:graphicFrame>
      <p:sp>
        <p:nvSpPr>
          <p:cNvPr id="5" name="Rectangle 1"/>
          <p:cNvSpPr>
            <a:spLocks noChangeArrowheads="1"/>
          </p:cNvSpPr>
          <p:nvPr/>
        </p:nvSpPr>
        <p:spPr bwMode="auto">
          <a:xfrm>
            <a:off x="1290638" y="1536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0" i="0" u="none" strike="noStrike" cap="none" normalizeH="0" baseline="0" smtClean="0">
                <a:ln>
                  <a:noFill/>
                </a:ln>
                <a:solidFill>
                  <a:schemeClr val="tx1"/>
                </a:solidFill>
                <a:effectLst/>
                <a:latin typeface="Arial" pitchFamily="34" charset="0"/>
                <a:cs typeface="Arial" pitchFamily="34" charset="0"/>
              </a:rPr>
              <a:t/>
            </a:r>
            <a:br>
              <a:rPr kumimoji="0" lang="en-US" altLang="en-US" sz="1800" b="0" i="0" u="none" strike="noStrike" cap="none" normalizeH="0" baseline="0" smtClean="0">
                <a:ln>
                  <a:noFill/>
                </a:ln>
                <a:solidFill>
                  <a:schemeClr val="tx1"/>
                </a:solidFill>
                <a:effectLst/>
                <a:latin typeface="Arial" pitchFamily="34" charset="0"/>
                <a:cs typeface="Arial" pitchFamily="34" charset="0"/>
              </a:rPr>
            </a:b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12777150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a:t>
            </a:r>
            <a:r>
              <a:rPr lang="en-IN" dirty="0" smtClean="0"/>
              <a:t>TCL</a:t>
            </a: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TCL stands for </a:t>
            </a:r>
            <a:r>
              <a:rPr lang="en-IN" b="1" dirty="0" smtClean="0"/>
              <a:t>Transaction Control Language.</a:t>
            </a:r>
            <a:endParaRPr lang="en-IN" dirty="0" smtClean="0"/>
          </a:p>
          <a:p>
            <a:r>
              <a:rPr lang="en-IN" dirty="0" smtClean="0"/>
              <a:t>This </a:t>
            </a:r>
            <a:r>
              <a:rPr lang="en-IN" dirty="0"/>
              <a:t>command is used to manage the changes made by DML statements.</a:t>
            </a:r>
          </a:p>
          <a:p>
            <a:r>
              <a:rPr lang="en-IN" dirty="0"/>
              <a:t>TCL allows the statements to be grouped together into logical transactions.</a:t>
            </a:r>
          </a:p>
          <a:p>
            <a:r>
              <a:rPr lang="en-IN" b="1" dirty="0"/>
              <a:t>TCL commands are as follows:</a:t>
            </a:r>
            <a:r>
              <a:rPr lang="en-IN" dirty="0" smtClean="0"/>
              <a:t/>
            </a:r>
            <a:br>
              <a:rPr lang="en-IN" dirty="0" smtClean="0"/>
            </a:br>
            <a:r>
              <a:rPr lang="en-IN" dirty="0"/>
              <a:t>1. COMMIT</a:t>
            </a:r>
            <a:r>
              <a:rPr lang="en-IN" dirty="0" smtClean="0"/>
              <a:t/>
            </a:r>
            <a:br>
              <a:rPr lang="en-IN" dirty="0" smtClean="0"/>
            </a:br>
            <a:r>
              <a:rPr lang="en-IN" dirty="0"/>
              <a:t>2. SAVEPOINT</a:t>
            </a:r>
            <a:r>
              <a:rPr lang="en-IN" dirty="0" smtClean="0"/>
              <a:t/>
            </a:r>
            <a:br>
              <a:rPr lang="en-IN" dirty="0" smtClean="0"/>
            </a:br>
            <a:r>
              <a:rPr lang="en-IN" dirty="0"/>
              <a:t>3. ROLLBACK</a:t>
            </a:r>
            <a:r>
              <a:rPr lang="en-IN" dirty="0" smtClean="0"/>
              <a:t/>
            </a:r>
            <a:br>
              <a:rPr lang="en-IN" dirty="0" smtClean="0"/>
            </a:br>
            <a:r>
              <a:rPr lang="en-IN" dirty="0"/>
              <a:t>4. SET TRANSACTION</a:t>
            </a:r>
          </a:p>
        </p:txBody>
      </p:sp>
    </p:spTree>
    <p:extLst>
      <p:ext uri="{BB962C8B-B14F-4D97-AF65-F5344CB8AC3E}">
        <p14:creationId xmlns:p14="http://schemas.microsoft.com/office/powerpoint/2010/main" val="15239936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smtClean="0"/>
              <a:t>COMMIT COMMAND</a:t>
            </a:r>
            <a:endParaRPr lang="en-IN" dirty="0"/>
          </a:p>
        </p:txBody>
      </p:sp>
      <p:sp>
        <p:nvSpPr>
          <p:cNvPr id="3" name="Content Placeholder 2"/>
          <p:cNvSpPr>
            <a:spLocks noGrp="1"/>
          </p:cNvSpPr>
          <p:nvPr>
            <p:ph idx="1"/>
          </p:nvPr>
        </p:nvSpPr>
        <p:spPr/>
        <p:txBody>
          <a:bodyPr/>
          <a:lstStyle/>
          <a:p>
            <a:r>
              <a:rPr lang="en-IN" b="1" dirty="0" smtClean="0"/>
              <a:t>COMMIT </a:t>
            </a:r>
            <a:r>
              <a:rPr lang="en-IN" b="1" dirty="0"/>
              <a:t>command</a:t>
            </a:r>
            <a:r>
              <a:rPr lang="en-IN" dirty="0"/>
              <a:t> saves all the work done.</a:t>
            </a:r>
          </a:p>
          <a:p>
            <a:r>
              <a:rPr lang="en-IN" dirty="0"/>
              <a:t>It ends the current transaction and makes permanent changes during the transaction.</a:t>
            </a:r>
          </a:p>
          <a:p>
            <a:r>
              <a:rPr lang="en-IN" b="1" dirty="0"/>
              <a:t>Syntax:</a:t>
            </a:r>
            <a:r>
              <a:rPr lang="en-IN" dirty="0" smtClean="0"/>
              <a:t/>
            </a:r>
            <a:br>
              <a:rPr lang="en-IN" dirty="0" smtClean="0"/>
            </a:br>
            <a:r>
              <a:rPr lang="en-IN" dirty="0"/>
              <a:t>commit;</a:t>
            </a:r>
          </a:p>
        </p:txBody>
      </p:sp>
    </p:spTree>
    <p:extLst>
      <p:ext uri="{BB962C8B-B14F-4D97-AF65-F5344CB8AC3E}">
        <p14:creationId xmlns:p14="http://schemas.microsoft.com/office/powerpoint/2010/main" val="6749239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SAVEPOINT </a:t>
            </a:r>
            <a:r>
              <a:rPr lang="en-IN" dirty="0" smtClean="0"/>
              <a:t>COMMAND</a:t>
            </a:r>
            <a:endParaRPr lang="en-IN" dirty="0"/>
          </a:p>
        </p:txBody>
      </p:sp>
      <p:sp>
        <p:nvSpPr>
          <p:cNvPr id="3" name="Content Placeholder 2"/>
          <p:cNvSpPr>
            <a:spLocks noGrp="1"/>
          </p:cNvSpPr>
          <p:nvPr>
            <p:ph idx="1"/>
          </p:nvPr>
        </p:nvSpPr>
        <p:spPr/>
        <p:txBody>
          <a:bodyPr>
            <a:normAutofit fontScale="92500" lnSpcReduction="20000"/>
          </a:bodyPr>
          <a:lstStyle/>
          <a:p>
            <a:r>
              <a:rPr lang="en-IN" b="1" dirty="0"/>
              <a:t>SAVEPOINT command</a:t>
            </a:r>
            <a:r>
              <a:rPr lang="en-IN" dirty="0"/>
              <a:t> is used for saving all the current point in the processing of a transaction.</a:t>
            </a:r>
          </a:p>
          <a:p>
            <a:r>
              <a:rPr lang="en-IN" dirty="0"/>
              <a:t>It marks and saves the current point in the processing of a transaction.</a:t>
            </a:r>
          </a:p>
          <a:p>
            <a:pPr marL="0" indent="0">
              <a:buNone/>
            </a:pPr>
            <a:r>
              <a:rPr lang="en-IN" b="1" dirty="0" smtClean="0"/>
              <a:t>		Syntax:</a:t>
            </a:r>
            <a:r>
              <a:rPr lang="en-IN" dirty="0" smtClean="0"/>
              <a:t/>
            </a:r>
            <a:br>
              <a:rPr lang="en-IN" dirty="0" smtClean="0"/>
            </a:br>
            <a:r>
              <a:rPr lang="en-IN" dirty="0" smtClean="0"/>
              <a:t>		SAVEPOINT &lt;</a:t>
            </a:r>
            <a:r>
              <a:rPr lang="en-IN" dirty="0" err="1" smtClean="0"/>
              <a:t>savepoint_name</a:t>
            </a:r>
            <a:r>
              <a:rPr lang="en-IN" dirty="0" smtClean="0"/>
              <a:t>&gt;</a:t>
            </a:r>
            <a:br>
              <a:rPr lang="en-IN" dirty="0" smtClean="0"/>
            </a:br>
            <a:r>
              <a:rPr lang="en-IN" dirty="0" smtClean="0"/>
              <a:t>		</a:t>
            </a:r>
            <a:r>
              <a:rPr lang="en-IN" b="1" dirty="0" smtClean="0"/>
              <a:t>Example:</a:t>
            </a:r>
            <a:r>
              <a:rPr lang="en-IN" dirty="0" smtClean="0"/>
              <a:t/>
            </a:r>
            <a:br>
              <a:rPr lang="en-IN" dirty="0" smtClean="0"/>
            </a:br>
            <a:r>
              <a:rPr lang="en-IN" dirty="0" smtClean="0"/>
              <a:t>		SAVEPOINT </a:t>
            </a:r>
            <a:r>
              <a:rPr lang="en-IN" dirty="0" err="1" smtClean="0"/>
              <a:t>no_update</a:t>
            </a:r>
            <a:r>
              <a:rPr lang="en-IN" dirty="0" smtClean="0"/>
              <a:t>;</a:t>
            </a:r>
            <a:endParaRPr lang="en-IN" dirty="0"/>
          </a:p>
          <a:p>
            <a:r>
              <a:rPr lang="en-IN" dirty="0"/>
              <a:t>It is used to temporarily save a transaction, so that you can rollback to that point whenever necessary.</a:t>
            </a:r>
          </a:p>
          <a:p>
            <a:endParaRPr lang="en-IN" dirty="0"/>
          </a:p>
        </p:txBody>
      </p:sp>
    </p:spTree>
    <p:extLst>
      <p:ext uri="{BB962C8B-B14F-4D97-AF65-F5344CB8AC3E}">
        <p14:creationId xmlns:p14="http://schemas.microsoft.com/office/powerpoint/2010/main" val="15972010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ROLLBACK </a:t>
            </a:r>
            <a:r>
              <a:rPr lang="en-IN" dirty="0" smtClean="0"/>
              <a:t>COMMAND</a:t>
            </a:r>
            <a:endParaRPr lang="en-IN" dirty="0"/>
          </a:p>
        </p:txBody>
      </p:sp>
      <p:sp>
        <p:nvSpPr>
          <p:cNvPr id="3" name="Content Placeholder 2"/>
          <p:cNvSpPr>
            <a:spLocks noGrp="1"/>
          </p:cNvSpPr>
          <p:nvPr>
            <p:ph idx="1"/>
          </p:nvPr>
        </p:nvSpPr>
        <p:spPr/>
        <p:txBody>
          <a:bodyPr>
            <a:normAutofit lnSpcReduction="10000"/>
          </a:bodyPr>
          <a:lstStyle/>
          <a:p>
            <a:r>
              <a:rPr lang="en-IN" dirty="0"/>
              <a:t>ROLLBACK command restores database to original since the last COMMIT.</a:t>
            </a:r>
          </a:p>
          <a:p>
            <a:r>
              <a:rPr lang="en-IN" dirty="0"/>
              <a:t>It is used to restores the database to last committed state.</a:t>
            </a:r>
          </a:p>
          <a:p>
            <a:r>
              <a:rPr lang="en-IN" b="1" dirty="0"/>
              <a:t>Syntax:</a:t>
            </a:r>
            <a:r>
              <a:rPr lang="en-IN" dirty="0" smtClean="0"/>
              <a:t/>
            </a:r>
            <a:br>
              <a:rPr lang="en-IN" dirty="0" smtClean="0"/>
            </a:br>
            <a:r>
              <a:rPr lang="en-IN" dirty="0"/>
              <a:t>ROLLBACK TO SAVEPOINT &lt;</a:t>
            </a:r>
            <a:r>
              <a:rPr lang="en-IN" dirty="0" err="1"/>
              <a:t>savepoint_name</a:t>
            </a:r>
            <a:r>
              <a:rPr lang="en-IN" dirty="0"/>
              <a:t>&gt;;</a:t>
            </a:r>
            <a:r>
              <a:rPr lang="en-IN" dirty="0" smtClean="0"/>
              <a:t/>
            </a:r>
            <a:br>
              <a:rPr lang="en-IN" dirty="0" smtClean="0"/>
            </a:br>
            <a:r>
              <a:rPr lang="en-IN" dirty="0" smtClean="0"/>
              <a:t/>
            </a:r>
            <a:br>
              <a:rPr lang="en-IN" dirty="0" smtClean="0"/>
            </a:br>
            <a:r>
              <a:rPr lang="en-IN" b="1" dirty="0"/>
              <a:t>Example:</a:t>
            </a:r>
            <a:r>
              <a:rPr lang="en-IN" dirty="0" smtClean="0"/>
              <a:t/>
            </a:r>
            <a:br>
              <a:rPr lang="en-IN" dirty="0" smtClean="0"/>
            </a:br>
            <a:r>
              <a:rPr lang="en-IN" dirty="0"/>
              <a:t>ROLLBACK TO SAVEPOINT </a:t>
            </a:r>
            <a:r>
              <a:rPr lang="en-IN" dirty="0" err="1"/>
              <a:t>no_update</a:t>
            </a:r>
            <a:r>
              <a:rPr lang="en-IN" dirty="0"/>
              <a:t>;</a:t>
            </a:r>
          </a:p>
        </p:txBody>
      </p:sp>
    </p:spTree>
    <p:extLst>
      <p:ext uri="{BB962C8B-B14F-4D97-AF65-F5344CB8AC3E}">
        <p14:creationId xmlns:p14="http://schemas.microsoft.com/office/powerpoint/2010/main" val="83814509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SET </a:t>
            </a:r>
            <a:r>
              <a:rPr lang="en-IN" dirty="0" smtClean="0"/>
              <a:t>TRANSACTION</a:t>
            </a:r>
            <a:endParaRPr lang="en-IN" dirty="0"/>
          </a:p>
        </p:txBody>
      </p:sp>
      <p:sp>
        <p:nvSpPr>
          <p:cNvPr id="3" name="Content Placeholder 2"/>
          <p:cNvSpPr>
            <a:spLocks noGrp="1"/>
          </p:cNvSpPr>
          <p:nvPr>
            <p:ph idx="1"/>
          </p:nvPr>
        </p:nvSpPr>
        <p:spPr/>
        <p:txBody>
          <a:bodyPr>
            <a:normAutofit fontScale="92500" lnSpcReduction="10000"/>
          </a:bodyPr>
          <a:lstStyle/>
          <a:p>
            <a:r>
              <a:rPr lang="en-IN" b="1" dirty="0"/>
              <a:t>SET TRANSACTION</a:t>
            </a:r>
            <a:r>
              <a:rPr lang="en-IN" dirty="0"/>
              <a:t> is used for placing a name on a transaction</a:t>
            </a:r>
            <a:r>
              <a:rPr lang="en-IN" dirty="0" smtClean="0"/>
              <a:t>.</a:t>
            </a:r>
          </a:p>
          <a:p>
            <a:r>
              <a:rPr lang="en-IN" dirty="0" smtClean="0"/>
              <a:t>You can specify a transaction to be read only or read write.</a:t>
            </a:r>
          </a:p>
          <a:p>
            <a:r>
              <a:rPr lang="en-IN" dirty="0" smtClean="0"/>
              <a:t>This command is used to initiate a database transaction.</a:t>
            </a:r>
            <a:r>
              <a:rPr lang="en-IN" dirty="0"/>
              <a:t/>
            </a:r>
            <a:br>
              <a:rPr lang="en-IN" dirty="0"/>
            </a:br>
            <a:r>
              <a:rPr lang="en-IN" dirty="0" smtClean="0"/>
              <a:t>	</a:t>
            </a:r>
            <a:r>
              <a:rPr lang="en-IN" b="1" dirty="0" smtClean="0"/>
              <a:t>Syntax</a:t>
            </a:r>
            <a:r>
              <a:rPr lang="en-IN" b="1" dirty="0"/>
              <a:t>:</a:t>
            </a:r>
            <a:r>
              <a:rPr lang="en-IN" dirty="0"/>
              <a:t/>
            </a:r>
            <a:br>
              <a:rPr lang="en-IN" dirty="0"/>
            </a:br>
            <a:r>
              <a:rPr lang="en-IN" dirty="0" smtClean="0"/>
              <a:t>	SET </a:t>
            </a:r>
            <a:r>
              <a:rPr lang="en-IN" dirty="0"/>
              <a:t>TRANSACTION [Read Write | Read Only];</a:t>
            </a:r>
            <a:br>
              <a:rPr lang="en-IN" dirty="0"/>
            </a:br>
            <a:r>
              <a:rPr lang="en-IN" dirty="0"/>
              <a:t/>
            </a:r>
            <a:br>
              <a:rPr lang="en-IN" dirty="0"/>
            </a:br>
            <a:endParaRPr lang="en-IN" dirty="0"/>
          </a:p>
        </p:txBody>
      </p:sp>
    </p:spTree>
    <p:extLst>
      <p:ext uri="{BB962C8B-B14F-4D97-AF65-F5344CB8AC3E}">
        <p14:creationId xmlns:p14="http://schemas.microsoft.com/office/powerpoint/2010/main" val="36744975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Difference between ROLLBACK and COMMIT commands</a:t>
            </a:r>
            <a:r>
              <a:rPr lang="en-IN" dirty="0" smtClean="0"/>
              <a:t>.</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37742014"/>
              </p:ext>
            </p:extLst>
          </p:nvPr>
        </p:nvGraphicFramePr>
        <p:xfrm>
          <a:off x="755576" y="1628800"/>
          <a:ext cx="7600950" cy="3657600"/>
        </p:xfrm>
        <a:graphic>
          <a:graphicData uri="http://schemas.openxmlformats.org/drawingml/2006/table">
            <a:tbl>
              <a:tblPr/>
              <a:tblGrid>
                <a:gridCol w="3800475"/>
                <a:gridCol w="3800475"/>
              </a:tblGrid>
              <a:tr h="0">
                <a:tc>
                  <a:txBody>
                    <a:bodyPr/>
                    <a:lstStyle/>
                    <a:p>
                      <a:pPr algn="ctr" fontAlgn="t"/>
                      <a:r>
                        <a:rPr lang="en-IN" sz="2000" b="1">
                          <a:solidFill>
                            <a:srgbClr val="333333"/>
                          </a:solidFill>
                          <a:effectLst/>
                        </a:rPr>
                        <a:t>ROLLBACK</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E3FEAB"/>
                    </a:solidFill>
                  </a:tcPr>
                </a:tc>
                <a:tc>
                  <a:txBody>
                    <a:bodyPr/>
                    <a:lstStyle/>
                    <a:p>
                      <a:pPr algn="ctr" fontAlgn="t"/>
                      <a:r>
                        <a:rPr lang="en-IN" sz="2000" b="1">
                          <a:solidFill>
                            <a:srgbClr val="333333"/>
                          </a:solidFill>
                          <a:effectLst/>
                        </a:rPr>
                        <a:t>COMMIT</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E3FEAB"/>
                    </a:solidFill>
                  </a:tcPr>
                </a:tc>
              </a:tr>
              <a:tr h="0">
                <a:tc>
                  <a:txBody>
                    <a:bodyPr/>
                    <a:lstStyle/>
                    <a:p>
                      <a:pPr algn="l" fontAlgn="t"/>
                      <a:r>
                        <a:rPr lang="en-IN" sz="2000" b="0" dirty="0">
                          <a:effectLst/>
                        </a:rPr>
                        <a:t>ROLLBACK command is used to undo the changes made by the DML commands.</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c>
                  <a:txBody>
                    <a:bodyPr/>
                    <a:lstStyle/>
                    <a:p>
                      <a:pPr algn="l" fontAlgn="t"/>
                      <a:r>
                        <a:rPr lang="en-IN" sz="2000" b="0">
                          <a:effectLst/>
                        </a:rPr>
                        <a:t>The COMMIT command is used to save the modifications done to the database values by the DML commands.</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r>
              <a:tr h="0">
                <a:tc>
                  <a:txBody>
                    <a:bodyPr/>
                    <a:lstStyle/>
                    <a:p>
                      <a:pPr algn="l" fontAlgn="t"/>
                      <a:r>
                        <a:rPr lang="en-IN" sz="2000" b="0">
                          <a:effectLst/>
                        </a:rPr>
                        <a:t>It rollbacks all the changes of the current transaction.</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c>
                  <a:txBody>
                    <a:bodyPr/>
                    <a:lstStyle/>
                    <a:p>
                      <a:pPr algn="l" fontAlgn="t"/>
                      <a:r>
                        <a:rPr lang="en-IN" sz="2000" b="0">
                          <a:effectLst/>
                        </a:rPr>
                        <a:t>It will make all the changes permanent that cannot be rolled back.</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r>
              <a:tr h="0">
                <a:tc>
                  <a:txBody>
                    <a:bodyPr/>
                    <a:lstStyle/>
                    <a:p>
                      <a:pPr algn="l" fontAlgn="t"/>
                      <a:r>
                        <a:rPr lang="en-IN" sz="2000" b="1">
                          <a:effectLst/>
                        </a:rPr>
                        <a:t>Syntax:</a:t>
                      </a:r>
                      <a:r>
                        <a:rPr lang="en-IN" sz="2000" b="0">
                          <a:effectLst/>
                        </a:rPr>
                        <a:t/>
                      </a:r>
                      <a:br>
                        <a:rPr lang="en-IN" sz="2000" b="0">
                          <a:effectLst/>
                        </a:rPr>
                      </a:br>
                      <a:r>
                        <a:rPr lang="en-IN" sz="2000" b="0">
                          <a:effectLst/>
                        </a:rPr>
                        <a:t>DELETE FROM table_name ROLLBACK</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c>
                  <a:txBody>
                    <a:bodyPr/>
                    <a:lstStyle/>
                    <a:p>
                      <a:pPr algn="l" fontAlgn="t"/>
                      <a:r>
                        <a:rPr lang="en-IN" sz="2000" b="1" dirty="0">
                          <a:effectLst/>
                        </a:rPr>
                        <a:t>Syntax:</a:t>
                      </a:r>
                      <a:r>
                        <a:rPr lang="en-IN" sz="2000" b="0" dirty="0">
                          <a:effectLst/>
                        </a:rPr>
                        <a:t/>
                      </a:r>
                      <a:br>
                        <a:rPr lang="en-IN" sz="2000" b="0" dirty="0">
                          <a:effectLst/>
                        </a:rPr>
                      </a:br>
                      <a:r>
                        <a:rPr lang="en-IN" sz="2000" b="0" dirty="0">
                          <a:effectLst/>
                        </a:rPr>
                        <a:t>COMMIT;</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4130455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a:t>
            </a:r>
            <a:r>
              <a:rPr lang="en-IN" dirty="0" smtClean="0"/>
              <a:t>Views</a:t>
            </a:r>
            <a:endParaRPr lang="en-IN" dirty="0"/>
          </a:p>
        </p:txBody>
      </p:sp>
      <p:sp>
        <p:nvSpPr>
          <p:cNvPr id="3" name="Content Placeholder 2"/>
          <p:cNvSpPr>
            <a:spLocks noGrp="1"/>
          </p:cNvSpPr>
          <p:nvPr>
            <p:ph idx="1"/>
          </p:nvPr>
        </p:nvSpPr>
        <p:spPr/>
        <p:txBody>
          <a:bodyPr/>
          <a:lstStyle/>
          <a:p>
            <a:r>
              <a:rPr lang="en-IN" dirty="0"/>
              <a:t>View is a virtual table that contains rows and columns, just like a real table.</a:t>
            </a:r>
          </a:p>
          <a:p>
            <a:r>
              <a:rPr lang="en-IN" dirty="0"/>
              <a:t>It is used to hide complexity of query from user.</a:t>
            </a:r>
          </a:p>
          <a:p>
            <a:r>
              <a:rPr lang="en-IN" dirty="0"/>
              <a:t>A virtual table does not exist physically, it is created by a SQL statement that joins one or more tables.</a:t>
            </a:r>
          </a:p>
          <a:p>
            <a:endParaRPr lang="en-IN" dirty="0"/>
          </a:p>
        </p:txBody>
      </p:sp>
    </p:spTree>
    <p:extLst>
      <p:ext uri="{BB962C8B-B14F-4D97-AF65-F5344CB8AC3E}">
        <p14:creationId xmlns:p14="http://schemas.microsoft.com/office/powerpoint/2010/main" val="26785035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4" name="Rectangle 3"/>
          <p:cNvSpPr/>
          <p:nvPr/>
        </p:nvSpPr>
        <p:spPr>
          <a:xfrm>
            <a:off x="539552" y="794028"/>
            <a:ext cx="4032448" cy="2677656"/>
          </a:xfrm>
          <a:prstGeom prst="rect">
            <a:avLst/>
          </a:prstGeom>
        </p:spPr>
        <p:txBody>
          <a:bodyPr wrap="square">
            <a:spAutoFit/>
          </a:bodyPr>
          <a:lstStyle/>
          <a:p>
            <a:r>
              <a:rPr lang="en-IN" sz="2800" b="1" dirty="0"/>
              <a:t>Syntax:</a:t>
            </a:r>
            <a:r>
              <a:rPr lang="en-IN" sz="2800" dirty="0" smtClean="0"/>
              <a:t/>
            </a:r>
            <a:br>
              <a:rPr lang="en-IN" sz="2800" dirty="0" smtClean="0"/>
            </a:br>
            <a:r>
              <a:rPr lang="en-IN" sz="2800" dirty="0"/>
              <a:t>CREATE VIEW </a:t>
            </a:r>
            <a:r>
              <a:rPr lang="en-IN" sz="2800" dirty="0" err="1"/>
              <a:t>view_name</a:t>
            </a:r>
            <a:r>
              <a:rPr lang="en-IN" sz="2800" dirty="0"/>
              <a:t> </a:t>
            </a:r>
            <a:r>
              <a:rPr lang="en-IN" sz="2800" dirty="0" smtClean="0"/>
              <a:t/>
            </a:r>
            <a:br>
              <a:rPr lang="en-IN" sz="2800" dirty="0" smtClean="0"/>
            </a:br>
            <a:r>
              <a:rPr lang="en-IN" sz="2800" dirty="0"/>
              <a:t>AS</a:t>
            </a:r>
            <a:r>
              <a:rPr lang="en-IN" sz="2800" dirty="0" smtClean="0"/>
              <a:t/>
            </a:r>
            <a:br>
              <a:rPr lang="en-IN" sz="2800" dirty="0" smtClean="0"/>
            </a:br>
            <a:r>
              <a:rPr lang="en-IN" sz="2800" dirty="0"/>
              <a:t>SELECT </a:t>
            </a:r>
            <a:r>
              <a:rPr lang="en-IN" sz="2800" dirty="0" smtClean="0"/>
              <a:t/>
            </a:r>
            <a:br>
              <a:rPr lang="en-IN" sz="2800" dirty="0" smtClean="0"/>
            </a:br>
            <a:r>
              <a:rPr lang="en-IN" sz="2800" dirty="0" smtClean="0"/>
              <a:t>FROM </a:t>
            </a:r>
            <a:br>
              <a:rPr lang="en-IN" sz="2800" dirty="0" smtClean="0"/>
            </a:br>
            <a:r>
              <a:rPr lang="en-IN" sz="2800" dirty="0" smtClean="0"/>
              <a:t>WHERE ;</a:t>
            </a:r>
            <a:endParaRPr lang="en-IN" sz="2800" dirty="0"/>
          </a:p>
        </p:txBody>
      </p:sp>
      <p:sp>
        <p:nvSpPr>
          <p:cNvPr id="5" name="Rectangle 4"/>
          <p:cNvSpPr/>
          <p:nvPr/>
        </p:nvSpPr>
        <p:spPr>
          <a:xfrm>
            <a:off x="3275856" y="2733020"/>
            <a:ext cx="4968552" cy="2677656"/>
          </a:xfrm>
          <a:prstGeom prst="rect">
            <a:avLst/>
          </a:prstGeom>
        </p:spPr>
        <p:txBody>
          <a:bodyPr wrap="square">
            <a:spAutoFit/>
          </a:bodyPr>
          <a:lstStyle/>
          <a:p>
            <a:r>
              <a:rPr lang="en-IN" sz="2800" dirty="0"/>
              <a:t>CREATE VIEW </a:t>
            </a:r>
            <a:r>
              <a:rPr lang="en-IN" sz="2800" dirty="0" err="1"/>
              <a:t>emp_dept_view</a:t>
            </a:r>
            <a:r>
              <a:rPr lang="en-IN" sz="2800" dirty="0"/>
              <a:t> </a:t>
            </a:r>
            <a:r>
              <a:rPr lang="en-IN" sz="2800" dirty="0" smtClean="0"/>
              <a:t/>
            </a:r>
            <a:br>
              <a:rPr lang="en-IN" sz="2800" dirty="0" smtClean="0"/>
            </a:br>
            <a:r>
              <a:rPr lang="en-IN" sz="2800" dirty="0"/>
              <a:t>AS</a:t>
            </a:r>
            <a:r>
              <a:rPr lang="en-IN" sz="2800" dirty="0" smtClean="0"/>
              <a:t/>
            </a:r>
            <a:br>
              <a:rPr lang="en-IN" sz="2800" dirty="0" smtClean="0"/>
            </a:br>
            <a:r>
              <a:rPr lang="en-IN" sz="2800" dirty="0"/>
              <a:t>SELECT </a:t>
            </a:r>
            <a:r>
              <a:rPr lang="en-IN" sz="2800" dirty="0" err="1"/>
              <a:t>Ename</a:t>
            </a:r>
            <a:r>
              <a:rPr lang="en-IN" sz="2800" dirty="0"/>
              <a:t>, </a:t>
            </a:r>
            <a:r>
              <a:rPr lang="en-IN" sz="2800" dirty="0" err="1"/>
              <a:t>DeptName</a:t>
            </a:r>
            <a:r>
              <a:rPr lang="en-IN" sz="2800" dirty="0" smtClean="0"/>
              <a:t/>
            </a:r>
            <a:br>
              <a:rPr lang="en-IN" sz="2800" dirty="0" smtClean="0"/>
            </a:br>
            <a:r>
              <a:rPr lang="en-IN" sz="2800" dirty="0"/>
              <a:t>FROM Employee, Department</a:t>
            </a:r>
            <a:r>
              <a:rPr lang="en-IN" sz="2800" dirty="0" smtClean="0"/>
              <a:t/>
            </a:r>
            <a:br>
              <a:rPr lang="en-IN" sz="2800" dirty="0" smtClean="0"/>
            </a:br>
            <a:r>
              <a:rPr lang="en-IN" sz="2800" dirty="0"/>
              <a:t>WHERE </a:t>
            </a:r>
            <a:r>
              <a:rPr lang="en-IN" sz="2800" dirty="0" err="1"/>
              <a:t>Employee.Eid</a:t>
            </a:r>
            <a:r>
              <a:rPr lang="en-IN" sz="2800" dirty="0"/>
              <a:t>=</a:t>
            </a:r>
            <a:r>
              <a:rPr lang="en-IN" sz="2800" dirty="0" err="1"/>
              <a:t>Department.Eid</a:t>
            </a:r>
            <a:r>
              <a:rPr lang="en-IN" sz="2800" dirty="0"/>
              <a:t>;</a:t>
            </a:r>
          </a:p>
        </p:txBody>
      </p:sp>
      <p:sp>
        <p:nvSpPr>
          <p:cNvPr id="6" name="Rectangle 5"/>
          <p:cNvSpPr/>
          <p:nvPr/>
        </p:nvSpPr>
        <p:spPr>
          <a:xfrm>
            <a:off x="913114" y="5426901"/>
            <a:ext cx="3285323" cy="369332"/>
          </a:xfrm>
          <a:prstGeom prst="rect">
            <a:avLst/>
          </a:prstGeom>
        </p:spPr>
        <p:txBody>
          <a:bodyPr wrap="none">
            <a:spAutoFit/>
          </a:bodyPr>
          <a:lstStyle/>
          <a:p>
            <a:r>
              <a:rPr lang="en-IN" dirty="0"/>
              <a:t>SELECT * FROM </a:t>
            </a:r>
            <a:r>
              <a:rPr lang="en-IN" dirty="0" err="1"/>
              <a:t>emp_dept_view</a:t>
            </a:r>
            <a:r>
              <a:rPr lang="en-IN" dirty="0"/>
              <a:t>;</a:t>
            </a:r>
          </a:p>
        </p:txBody>
      </p:sp>
    </p:spTree>
    <p:extLst>
      <p:ext uri="{BB962C8B-B14F-4D97-AF65-F5344CB8AC3E}">
        <p14:creationId xmlns:p14="http://schemas.microsoft.com/office/powerpoint/2010/main" val="352372307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Advantages of View</a:t>
            </a:r>
            <a:br>
              <a:rPr lang="en-IN" dirty="0"/>
            </a:br>
            <a:endParaRPr lang="en-IN" dirty="0"/>
          </a:p>
        </p:txBody>
      </p:sp>
      <p:sp>
        <p:nvSpPr>
          <p:cNvPr id="3" name="Content Placeholder 2"/>
          <p:cNvSpPr>
            <a:spLocks noGrp="1"/>
          </p:cNvSpPr>
          <p:nvPr>
            <p:ph idx="1"/>
          </p:nvPr>
        </p:nvSpPr>
        <p:spPr/>
        <p:txBody>
          <a:bodyPr>
            <a:normAutofit fontScale="85000" lnSpcReduction="20000"/>
          </a:bodyPr>
          <a:lstStyle/>
          <a:p>
            <a:r>
              <a:rPr lang="en-IN" dirty="0"/>
              <a:t>View provides data security for the same base tables.</a:t>
            </a:r>
          </a:p>
          <a:p>
            <a:r>
              <a:rPr lang="en-IN" dirty="0"/>
              <a:t>It allows different users to view the same data in different ways at the same time.</a:t>
            </a:r>
          </a:p>
          <a:p>
            <a:r>
              <a:rPr lang="en-IN" dirty="0"/>
              <a:t>It is used to represent additional information like derived columns.</a:t>
            </a:r>
          </a:p>
          <a:p>
            <a:r>
              <a:rPr lang="en-IN" dirty="0"/>
              <a:t>It is used to hide complex queries.</a:t>
            </a:r>
          </a:p>
          <a:p>
            <a:r>
              <a:rPr lang="en-IN" dirty="0"/>
              <a:t>It presents a consistent, unchanged image of the database structure, even if the tables are split or renamed.</a:t>
            </a:r>
          </a:p>
          <a:p>
            <a:r>
              <a:rPr lang="en-IN" dirty="0"/>
              <a:t>It does not allow direct access to the tables of the data dictionary.</a:t>
            </a:r>
          </a:p>
        </p:txBody>
      </p:sp>
    </p:spTree>
    <p:extLst>
      <p:ext uri="{BB962C8B-B14F-4D97-AF65-F5344CB8AC3E}">
        <p14:creationId xmlns:p14="http://schemas.microsoft.com/office/powerpoint/2010/main" val="22666639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Disadvantages of </a:t>
            </a:r>
            <a:r>
              <a:rPr lang="en-IN" dirty="0" smtClean="0"/>
              <a:t>View</a:t>
            </a:r>
            <a:endParaRPr lang="en-IN" dirty="0"/>
          </a:p>
        </p:txBody>
      </p:sp>
      <p:sp>
        <p:nvSpPr>
          <p:cNvPr id="3" name="Content Placeholder 2"/>
          <p:cNvSpPr>
            <a:spLocks noGrp="1"/>
          </p:cNvSpPr>
          <p:nvPr>
            <p:ph idx="1"/>
          </p:nvPr>
        </p:nvSpPr>
        <p:spPr/>
        <p:txBody>
          <a:bodyPr>
            <a:normAutofit lnSpcReduction="10000"/>
          </a:bodyPr>
          <a:lstStyle/>
          <a:p>
            <a:r>
              <a:rPr lang="en-IN" dirty="0"/>
              <a:t>We cannot use DML operations on View, if there is more than one table.</a:t>
            </a:r>
          </a:p>
          <a:p>
            <a:r>
              <a:rPr lang="en-IN" dirty="0"/>
              <a:t>When table is dropped view becomes inactive.</a:t>
            </a:r>
          </a:p>
          <a:p>
            <a:r>
              <a:rPr lang="en-IN" dirty="0"/>
              <a:t>View is a database object, so it occupies the space.</a:t>
            </a:r>
          </a:p>
          <a:p>
            <a:r>
              <a:rPr lang="en-IN" dirty="0"/>
              <a:t>Without table, view will not work.</a:t>
            </a:r>
          </a:p>
          <a:p>
            <a:r>
              <a:rPr lang="en-IN" dirty="0" err="1"/>
              <a:t>Updation</a:t>
            </a:r>
            <a:r>
              <a:rPr lang="en-IN" dirty="0"/>
              <a:t> is possible for simple view but not for complex views, they are read only type of views.</a:t>
            </a:r>
          </a:p>
          <a:p>
            <a:endParaRPr lang="en-IN" dirty="0"/>
          </a:p>
        </p:txBody>
      </p:sp>
    </p:spTree>
    <p:extLst>
      <p:ext uri="{BB962C8B-B14F-4D97-AF65-F5344CB8AC3E}">
        <p14:creationId xmlns:p14="http://schemas.microsoft.com/office/powerpoint/2010/main" val="31610378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Referential Integrity in </a:t>
            </a:r>
            <a:r>
              <a:rPr lang="en-IN" b="1" dirty="0" smtClean="0"/>
              <a:t>SQL</a:t>
            </a:r>
            <a:endParaRPr lang="en-IN" dirty="0"/>
          </a:p>
        </p:txBody>
      </p:sp>
      <p:sp>
        <p:nvSpPr>
          <p:cNvPr id="3" name="Content Placeholder 2"/>
          <p:cNvSpPr>
            <a:spLocks noGrp="1"/>
          </p:cNvSpPr>
          <p:nvPr>
            <p:ph idx="1"/>
          </p:nvPr>
        </p:nvSpPr>
        <p:spPr/>
        <p:txBody>
          <a:bodyPr>
            <a:normAutofit fontScale="92500" lnSpcReduction="10000"/>
          </a:bodyPr>
          <a:lstStyle/>
          <a:p>
            <a:r>
              <a:rPr lang="en-IN" dirty="0"/>
              <a:t>An addition to the original standard allows specification of primary and candidate keys and foreign keys as part of the </a:t>
            </a:r>
            <a:r>
              <a:rPr lang="en-IN" b="1" dirty="0"/>
              <a:t>create table</a:t>
            </a:r>
            <a:r>
              <a:rPr lang="en-IN" dirty="0"/>
              <a:t> command:</a:t>
            </a:r>
          </a:p>
          <a:p>
            <a:r>
              <a:rPr lang="en-IN" b="1" dirty="0"/>
              <a:t>primary key</a:t>
            </a:r>
            <a:r>
              <a:rPr lang="en-IN" dirty="0"/>
              <a:t> clause includes a list of attributes forming the primary key.</a:t>
            </a:r>
          </a:p>
          <a:p>
            <a:r>
              <a:rPr lang="en-IN" b="1" dirty="0"/>
              <a:t>unique key</a:t>
            </a:r>
            <a:r>
              <a:rPr lang="en-IN" dirty="0"/>
              <a:t> clause includes a list of attributes forming a candidate key.</a:t>
            </a:r>
          </a:p>
          <a:p>
            <a:r>
              <a:rPr lang="en-IN" b="1" dirty="0"/>
              <a:t>foreign key</a:t>
            </a:r>
            <a:r>
              <a:rPr lang="en-IN" dirty="0"/>
              <a:t> clause includes a list of attributes forming the foreign key, and the name of the relation referenced by the foreign key.</a:t>
            </a:r>
          </a:p>
        </p:txBody>
      </p:sp>
    </p:spTree>
    <p:extLst>
      <p:ext uri="{BB962C8B-B14F-4D97-AF65-F5344CB8AC3E}">
        <p14:creationId xmlns:p14="http://schemas.microsoft.com/office/powerpoint/2010/main" val="8583514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4" name="Rectangle 1"/>
          <p:cNvSpPr>
            <a:spLocks noChangeArrowheads="1"/>
          </p:cNvSpPr>
          <p:nvPr/>
        </p:nvSpPr>
        <p:spPr bwMode="auto">
          <a:xfrm>
            <a:off x="259956" y="1085256"/>
            <a:ext cx="8712968"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1" fontAlgn="base" latinLnBrk="0" hangingPunct="1">
              <a:spcBef>
                <a:spcPct val="0"/>
              </a:spcBef>
              <a:spcAft>
                <a:spcPct val="0"/>
              </a:spcAft>
              <a:buClrTx/>
              <a:buSzTx/>
              <a:buFont typeface="Arial" panose="020B0604020202020204" pitchFamily="34" charset="0"/>
              <a:buChar char="•"/>
              <a:tabLst/>
            </a:pPr>
            <a:endPar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endParaRPr>
          </a:p>
          <a:p>
            <a:pPr marL="285750" marR="0" lvl="0" indent="-285750" algn="l" defTabSz="914400" rtl="0" eaLnBrk="1" fontAlgn="base" latinLnBrk="0" hangingPunct="1">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create table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customer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cname</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char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(20)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not null</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street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char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(30),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city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char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(30),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primary key </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cname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p>
          <a:p>
            <a:pPr marL="285750" marR="0" lvl="0" indent="-285750" algn="l" defTabSz="914400" rtl="0" eaLnBrk="1" fontAlgn="base" latinLnBrk="0" hangingPunct="1">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endParaRPr>
          </a:p>
          <a:p>
            <a:pPr marL="285750" indent="-28575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create table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branch  </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bname</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char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(15)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not null</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bcity</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char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(30),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assets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integer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primary key </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bname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check</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assets</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&gt;= 0))</a:t>
            </a:r>
            <a:endParaRPr kumimoji="0" lang="en-US" altLang="en-US" sz="2000" b="0" i="0" u="none" strike="noStrike" cap="none" normalizeH="0" baseline="0" dirty="0" smtClean="0">
              <a:ln>
                <a:noFill/>
              </a:ln>
              <a:solidFill>
                <a:schemeClr val="tx1"/>
              </a:solidFill>
              <a:effectLst/>
              <a:latin typeface="Arial" pitchFamily="34" charset="0"/>
              <a:cs typeface="Arial" pitchFamily="34" charset="0"/>
            </a:endParaRPr>
          </a:p>
          <a:p>
            <a:pPr marL="285750" indent="-285750" eaLnBrk="0" fontAlgn="base" hangingPunct="0">
              <a:spcBef>
                <a:spcPct val="0"/>
              </a:spcBef>
              <a:spcAft>
                <a:spcPct val="0"/>
              </a:spcAft>
              <a:buFont typeface="Arial" panose="020B0604020202020204" pitchFamily="34" charset="0"/>
              <a:buChar char="•"/>
            </a:pPr>
            <a:endPar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endParaRPr>
          </a:p>
          <a:p>
            <a:pPr marL="285750" indent="-28575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create table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account  </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account#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char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(10)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not null</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bname</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char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(15),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balance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integer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primary key</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account#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foreign key</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bname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references</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branch</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check</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balance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&gt;= 0))</a:t>
            </a:r>
          </a:p>
          <a:p>
            <a:pPr marL="285750" lvl="0" indent="-285750" eaLnBrk="0" fontAlgn="base" hangingPunct="0">
              <a:spcBef>
                <a:spcPct val="0"/>
              </a:spcBef>
              <a:spcAft>
                <a:spcPct val="0"/>
              </a:spcAft>
              <a:buFont typeface="Arial" panose="020B0604020202020204" pitchFamily="34" charset="0"/>
              <a:buChar char="•"/>
            </a:pPr>
            <a:endPar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create table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depositor  </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cname</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char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(20)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not null</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account#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char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(10)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not null</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primary key</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cname</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 account#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foreign key</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cname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references</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customer</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foreign key</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account#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references</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account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a:t>
            </a:r>
            <a:endParaRPr kumimoji="0" lang="en-US" altLang="en-US" sz="2000" b="0" i="0" u="none" strike="noStrike" cap="none" normalizeH="0" baseline="0" dirty="0" smtClean="0">
              <a:ln>
                <a:noFill/>
              </a:ln>
              <a:solidFill>
                <a:schemeClr val="tx1"/>
              </a:solidFill>
              <a:effectLst/>
              <a:latin typeface="Arial" pitchFamily="34" charset="0"/>
              <a:cs typeface="Arial" pitchFamily="34" charset="0"/>
            </a:endParaRPr>
          </a:p>
          <a:p>
            <a:pPr marL="285750" indent="-285750" eaLnBrk="0" fontAlgn="base" hangingPunct="0">
              <a:spcBef>
                <a:spcPct val="0"/>
              </a:spcBef>
              <a:spcAft>
                <a:spcPct val="0"/>
              </a:spcAft>
              <a:buFont typeface="Arial" panose="020B0604020202020204" pitchFamily="34" charset="0"/>
              <a:buChar char="•"/>
            </a:pPr>
            <a:endParaRPr kumimoji="0" lang="en-US" altLang="en-US" sz="2000" b="0" i="0" u="none" strike="noStrike" cap="none" normalizeH="0" baseline="0" dirty="0" smtClean="0">
              <a:ln>
                <a:noFill/>
              </a:ln>
              <a:solidFill>
                <a:schemeClr val="tx1"/>
              </a:solidFill>
              <a:effectLst/>
              <a:latin typeface="Arial" pitchFamily="34" charset="0"/>
              <a:cs typeface="Arial" pitchFamily="34" charset="0"/>
            </a:endParaRPr>
          </a:p>
          <a:p>
            <a:pPr marL="285750" marR="0" lvl="0" indent="-285750" algn="l" defTabSz="914400" rtl="0" eaLnBrk="0" fontAlgn="base" latinLnBrk="0" hangingPunct="0">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37276574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lvl="1"/>
            <a:r>
              <a:rPr lang="en-IN" smtClean="0"/>
              <a:t>When a referential integrity constraint is violated, the normal procedure is to reject the action. But a foreign key clause in SQL-92 can specify steps to be taken to change the tuples in the referenced relation to restore the constraint.</a:t>
            </a:r>
          </a:p>
          <a:p>
            <a:endParaRPr lang="en-IN" dirty="0"/>
          </a:p>
        </p:txBody>
      </p:sp>
      <p:sp>
        <p:nvSpPr>
          <p:cNvPr id="4" name="Content Placeholder 2"/>
          <p:cNvSpPr txBox="1">
            <a:spLocks/>
          </p:cNvSpPr>
          <p:nvPr/>
        </p:nvSpPr>
        <p:spPr>
          <a:xfrm>
            <a:off x="609600" y="1752600"/>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Font typeface="Arial" panose="020B0604020202020204" pitchFamily="34" charset="0"/>
              <a:buNone/>
            </a:pPr>
            <a:endParaRPr lang="en-IN" sz="1000" dirty="0"/>
          </a:p>
        </p:txBody>
      </p:sp>
      <p:sp>
        <p:nvSpPr>
          <p:cNvPr id="5" name="Rectangle 4"/>
          <p:cNvSpPr/>
          <p:nvPr/>
        </p:nvSpPr>
        <p:spPr>
          <a:xfrm>
            <a:off x="1331640" y="3717032"/>
            <a:ext cx="6768752" cy="2308324"/>
          </a:xfrm>
          <a:prstGeom prst="rect">
            <a:avLst/>
          </a:prstGeom>
        </p:spPr>
        <p:txBody>
          <a:bodyPr wrap="square">
            <a:spAutoFit/>
          </a:bodyPr>
          <a:lstStyle/>
          <a:p>
            <a:r>
              <a:rPr lang="en-IN" sz="1600" b="1" dirty="0" smtClean="0"/>
              <a:t>create table </a:t>
            </a:r>
            <a:r>
              <a:rPr lang="en-IN" sz="1600" i="1" dirty="0" smtClean="0"/>
              <a:t>account </a:t>
            </a:r>
            <a:r>
              <a:rPr lang="en-IN" sz="1600" dirty="0" smtClean="0"/>
              <a:t>... </a:t>
            </a:r>
          </a:p>
          <a:p>
            <a:r>
              <a:rPr lang="en-IN" sz="1600" b="1" dirty="0" smtClean="0"/>
              <a:t>		……………….</a:t>
            </a:r>
          </a:p>
          <a:p>
            <a:r>
              <a:rPr lang="en-IN" sz="1600" b="1" dirty="0" smtClean="0"/>
              <a:t>		foreign key</a:t>
            </a:r>
            <a:r>
              <a:rPr lang="en-IN" sz="1600" dirty="0" smtClean="0"/>
              <a:t> (</a:t>
            </a:r>
            <a:r>
              <a:rPr lang="en-IN" sz="1600" i="1" dirty="0" err="1" smtClean="0"/>
              <a:t>bname</a:t>
            </a:r>
            <a:r>
              <a:rPr lang="en-IN" sz="1600" dirty="0" smtClean="0"/>
              <a:t>) </a:t>
            </a:r>
            <a:r>
              <a:rPr lang="en-IN" sz="1600" b="1" dirty="0" smtClean="0"/>
              <a:t>references</a:t>
            </a:r>
            <a:r>
              <a:rPr lang="en-IN" sz="1600" dirty="0" smtClean="0"/>
              <a:t> </a:t>
            </a:r>
            <a:r>
              <a:rPr lang="en-IN" sz="1600" i="1" dirty="0" smtClean="0"/>
              <a:t>branch</a:t>
            </a:r>
            <a:r>
              <a:rPr lang="en-IN" sz="1600" dirty="0" smtClean="0"/>
              <a:t> </a:t>
            </a:r>
          </a:p>
          <a:p>
            <a:r>
              <a:rPr lang="en-IN" sz="1600" b="1" dirty="0" smtClean="0"/>
              <a:t>			</a:t>
            </a:r>
          </a:p>
          <a:p>
            <a:r>
              <a:rPr lang="en-IN" sz="1600" b="1" dirty="0" smtClean="0"/>
              <a:t>			on delete cascade</a:t>
            </a:r>
            <a:r>
              <a:rPr lang="en-IN" sz="1600" dirty="0" smtClean="0"/>
              <a:t> </a:t>
            </a:r>
          </a:p>
          <a:p>
            <a:r>
              <a:rPr lang="en-IN" sz="1600" b="1" dirty="0" smtClean="0"/>
              <a:t>		</a:t>
            </a:r>
          </a:p>
          <a:p>
            <a:r>
              <a:rPr lang="en-IN" sz="1600" b="1" dirty="0" smtClean="0"/>
              <a:t>			on insert cascade</a:t>
            </a:r>
            <a:r>
              <a:rPr lang="en-IN" sz="1600" dirty="0" smtClean="0"/>
              <a:t>, </a:t>
            </a:r>
          </a:p>
          <a:p>
            <a:r>
              <a:rPr lang="en-IN" sz="1600" dirty="0" smtClean="0"/>
              <a:t>	……………</a:t>
            </a:r>
            <a:br>
              <a:rPr lang="en-IN" sz="1600" dirty="0" smtClean="0"/>
            </a:br>
            <a:endParaRPr lang="en-IN" sz="1600" dirty="0"/>
          </a:p>
        </p:txBody>
      </p:sp>
    </p:spTree>
    <p:extLst>
      <p:ext uri="{BB962C8B-B14F-4D97-AF65-F5344CB8AC3E}">
        <p14:creationId xmlns:p14="http://schemas.microsoft.com/office/powerpoint/2010/main" val="17433660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pPr marL="0" indent="0">
              <a:buNone/>
            </a:pPr>
            <a:r>
              <a:rPr lang="en-IN" sz="2800" b="1" dirty="0" smtClean="0"/>
              <a:t>create table </a:t>
            </a:r>
            <a:r>
              <a:rPr lang="en-IN" sz="2800" i="1" dirty="0" smtClean="0"/>
              <a:t>account </a:t>
            </a:r>
            <a:r>
              <a:rPr lang="en-IN" sz="2800" dirty="0" smtClean="0"/>
              <a:t>... </a:t>
            </a:r>
          </a:p>
          <a:p>
            <a:pPr marL="0" indent="0">
              <a:buNone/>
            </a:pPr>
            <a:r>
              <a:rPr lang="en-IN" sz="2800" b="1" dirty="0" smtClean="0"/>
              <a:t>		……………….</a:t>
            </a:r>
          </a:p>
          <a:p>
            <a:pPr marL="0" indent="0">
              <a:buNone/>
            </a:pPr>
            <a:r>
              <a:rPr lang="en-IN" sz="2800" b="1" dirty="0"/>
              <a:t>	</a:t>
            </a:r>
            <a:r>
              <a:rPr lang="en-IN" sz="2800" b="1" dirty="0" smtClean="0"/>
              <a:t>	foreign key</a:t>
            </a:r>
            <a:r>
              <a:rPr lang="en-IN" sz="2800" dirty="0" smtClean="0"/>
              <a:t> (</a:t>
            </a:r>
            <a:r>
              <a:rPr lang="en-IN" sz="2800" i="1" dirty="0" err="1" smtClean="0"/>
              <a:t>bname</a:t>
            </a:r>
            <a:r>
              <a:rPr lang="en-IN" sz="2800" dirty="0" smtClean="0"/>
              <a:t>) </a:t>
            </a:r>
            <a:r>
              <a:rPr lang="en-IN" sz="2800" b="1" dirty="0" smtClean="0"/>
              <a:t>references</a:t>
            </a:r>
            <a:r>
              <a:rPr lang="en-IN" sz="2800" dirty="0" smtClean="0"/>
              <a:t> </a:t>
            </a:r>
            <a:r>
              <a:rPr lang="en-IN" sz="2800" i="1" dirty="0" smtClean="0"/>
              <a:t>branch</a:t>
            </a:r>
            <a:r>
              <a:rPr lang="en-IN" sz="2800" dirty="0" smtClean="0"/>
              <a:t> </a:t>
            </a:r>
          </a:p>
          <a:p>
            <a:pPr marL="0" indent="0">
              <a:buNone/>
            </a:pPr>
            <a:r>
              <a:rPr lang="en-IN" sz="2800" b="1" dirty="0" smtClean="0"/>
              <a:t>			</a:t>
            </a:r>
          </a:p>
          <a:p>
            <a:pPr marL="0" indent="0">
              <a:buNone/>
            </a:pPr>
            <a:r>
              <a:rPr lang="en-IN" sz="2800" b="1" dirty="0"/>
              <a:t>	</a:t>
            </a:r>
            <a:r>
              <a:rPr lang="en-IN" sz="2800" b="1" dirty="0" smtClean="0"/>
              <a:t>		on delete cascade</a:t>
            </a:r>
            <a:r>
              <a:rPr lang="en-IN" sz="2800" dirty="0" smtClean="0"/>
              <a:t> </a:t>
            </a:r>
          </a:p>
          <a:p>
            <a:pPr marL="0" indent="0">
              <a:buNone/>
            </a:pPr>
            <a:r>
              <a:rPr lang="en-IN" sz="2800" b="1" dirty="0" smtClean="0"/>
              <a:t>		</a:t>
            </a:r>
          </a:p>
          <a:p>
            <a:pPr marL="0" indent="0">
              <a:buNone/>
            </a:pPr>
            <a:r>
              <a:rPr lang="en-IN" sz="2800" b="1" dirty="0"/>
              <a:t>	</a:t>
            </a:r>
            <a:r>
              <a:rPr lang="en-IN" sz="2800" b="1" dirty="0" smtClean="0"/>
              <a:t>		on insert cascade</a:t>
            </a:r>
            <a:r>
              <a:rPr lang="en-IN" sz="2800" dirty="0" smtClean="0"/>
              <a:t>, </a:t>
            </a:r>
          </a:p>
          <a:p>
            <a:pPr marL="0" indent="0">
              <a:buNone/>
            </a:pPr>
            <a:r>
              <a:rPr lang="en-IN" sz="2800" dirty="0" smtClean="0"/>
              <a:t>	……………</a:t>
            </a:r>
            <a:br>
              <a:rPr lang="en-IN" sz="2800" dirty="0" smtClean="0"/>
            </a:br>
            <a:endParaRPr lang="en-IN" sz="2800" dirty="0"/>
          </a:p>
        </p:txBody>
      </p:sp>
    </p:spTree>
    <p:extLst>
      <p:ext uri="{BB962C8B-B14F-4D97-AF65-F5344CB8AC3E}">
        <p14:creationId xmlns:p14="http://schemas.microsoft.com/office/powerpoint/2010/main" val="25809910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62500" lnSpcReduction="20000"/>
          </a:bodyPr>
          <a:lstStyle/>
          <a:p>
            <a:pPr lvl="1" algn="just"/>
            <a:r>
              <a:rPr lang="en-IN" dirty="0"/>
              <a:t>If a delete of a tuple in </a:t>
            </a:r>
            <a:r>
              <a:rPr lang="en-IN" i="1" dirty="0"/>
              <a:t>branch</a:t>
            </a:r>
            <a:r>
              <a:rPr lang="en-IN" dirty="0"/>
              <a:t> results in the preceding referential integrity constraints being violated, the delete is not rejected, but the delete ``cascade'' to the </a:t>
            </a:r>
            <a:r>
              <a:rPr lang="en-IN" i="1" dirty="0"/>
              <a:t>account</a:t>
            </a:r>
            <a:r>
              <a:rPr lang="en-IN" dirty="0"/>
              <a:t> relation, deleting the tuple that refers to the branch that was deleted. Update will be cascaded to the new value of the branch!</a:t>
            </a:r>
          </a:p>
          <a:p>
            <a:pPr lvl="1" algn="just"/>
            <a:r>
              <a:rPr lang="en-IN" dirty="0"/>
              <a:t>SQL-92 also allows the </a:t>
            </a:r>
            <a:r>
              <a:rPr lang="en-IN" b="1" dirty="0"/>
              <a:t>foreign key</a:t>
            </a:r>
            <a:r>
              <a:rPr lang="en-IN" dirty="0"/>
              <a:t> clause to specify actions other than cascade, such as setting the </a:t>
            </a:r>
            <a:r>
              <a:rPr lang="en-IN" dirty="0" err="1"/>
              <a:t>refencing</a:t>
            </a:r>
            <a:r>
              <a:rPr lang="en-IN" dirty="0"/>
              <a:t> field to null, or to a default value, if the constraint is violated.</a:t>
            </a:r>
          </a:p>
          <a:p>
            <a:pPr lvl="1"/>
            <a:r>
              <a:rPr lang="en-IN" dirty="0" smtClean="0"/>
              <a:t>If there is a chain of foreign key dependencies across multiple relations, a deletion or update at one end of the chain can propagate across the entire chain.</a:t>
            </a:r>
            <a:br>
              <a:rPr lang="en-IN" dirty="0" smtClean="0"/>
            </a:br>
            <a:endParaRPr lang="en-IN" dirty="0"/>
          </a:p>
          <a:p>
            <a:pPr lvl="1"/>
            <a:r>
              <a:rPr lang="en-IN" dirty="0"/>
              <a:t>If a cascading update or delete causes a constraint violation that cannot be handled by a further cascading operation, the system aborts the transaction and all the changes caused by the transaction and its cascading actions are undone.</a:t>
            </a:r>
          </a:p>
          <a:p>
            <a:r>
              <a:rPr lang="en-IN" dirty="0"/>
              <a:t>Given and complexity and arbitrary nature of the way constraints in SQL behave with null values, it is the best to ensure that all columns of </a:t>
            </a:r>
            <a:r>
              <a:rPr lang="en-IN" b="1" dirty="0"/>
              <a:t>unique</a:t>
            </a:r>
            <a:r>
              <a:rPr lang="en-IN" dirty="0"/>
              <a:t> and </a:t>
            </a:r>
            <a:r>
              <a:rPr lang="en-IN" b="1" dirty="0"/>
              <a:t>foreign</a:t>
            </a:r>
            <a:r>
              <a:rPr lang="en-IN" dirty="0"/>
              <a:t> key specifications are declared to be </a:t>
            </a:r>
            <a:r>
              <a:rPr lang="en-IN" dirty="0" err="1"/>
              <a:t>nonnull</a:t>
            </a:r>
            <a:r>
              <a:rPr lang="en-IN" dirty="0"/>
              <a:t>.</a:t>
            </a:r>
          </a:p>
          <a:p>
            <a:pPr algn="just"/>
            <a:endParaRPr lang="en-IN" dirty="0" smtClean="0"/>
          </a:p>
          <a:p>
            <a:pPr algn="just"/>
            <a:endParaRPr lang="en-IN" dirty="0"/>
          </a:p>
        </p:txBody>
      </p:sp>
    </p:spTree>
    <p:extLst>
      <p:ext uri="{BB962C8B-B14F-4D97-AF65-F5344CB8AC3E}">
        <p14:creationId xmlns:p14="http://schemas.microsoft.com/office/powerpoint/2010/main" val="265609223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Domain </a:t>
            </a:r>
            <a:r>
              <a:rPr lang="en-IN" b="1" dirty="0" smtClean="0"/>
              <a:t>Constraints</a:t>
            </a:r>
            <a:endParaRPr lang="en-IN" dirty="0"/>
          </a:p>
        </p:txBody>
      </p:sp>
      <p:sp>
        <p:nvSpPr>
          <p:cNvPr id="3" name="Content Placeholder 2"/>
          <p:cNvSpPr>
            <a:spLocks noGrp="1"/>
          </p:cNvSpPr>
          <p:nvPr>
            <p:ph idx="1"/>
          </p:nvPr>
        </p:nvSpPr>
        <p:spPr/>
        <p:txBody>
          <a:bodyPr>
            <a:normAutofit fontScale="70000" lnSpcReduction="20000"/>
          </a:bodyPr>
          <a:lstStyle/>
          <a:p>
            <a:r>
              <a:rPr lang="en-IN" dirty="0"/>
              <a:t>A domain of possible values should be associated with every attribute. These domain constraints are the most basic form of integrity constraint</a:t>
            </a:r>
            <a:r>
              <a:rPr lang="en-IN" dirty="0" smtClean="0"/>
              <a:t>.</a:t>
            </a:r>
          </a:p>
          <a:p>
            <a:pPr lvl="1"/>
            <a:r>
              <a:rPr lang="en-IN" dirty="0" smtClean="0"/>
              <a:t>They </a:t>
            </a:r>
            <a:r>
              <a:rPr lang="en-IN" dirty="0"/>
              <a:t>are easy to test for when data is entered.</a:t>
            </a:r>
          </a:p>
          <a:p>
            <a:r>
              <a:rPr lang="en-IN" dirty="0"/>
              <a:t>Domain </a:t>
            </a:r>
            <a:r>
              <a:rPr lang="en-IN" dirty="0" smtClean="0"/>
              <a:t>types</a:t>
            </a:r>
          </a:p>
          <a:p>
            <a:pPr lvl="1"/>
            <a:r>
              <a:rPr lang="en-IN" dirty="0" smtClean="0"/>
              <a:t>Attributes </a:t>
            </a:r>
            <a:r>
              <a:rPr lang="en-IN" dirty="0"/>
              <a:t>may have the same domain, e.g. </a:t>
            </a:r>
            <a:r>
              <a:rPr lang="en-IN" i="1" dirty="0" err="1"/>
              <a:t>cname</a:t>
            </a:r>
            <a:r>
              <a:rPr lang="en-IN" dirty="0"/>
              <a:t> and </a:t>
            </a:r>
            <a:r>
              <a:rPr lang="en-IN" i="1" dirty="0"/>
              <a:t>employee-name</a:t>
            </a:r>
            <a:r>
              <a:rPr lang="en-IN" dirty="0"/>
              <a:t>.</a:t>
            </a:r>
          </a:p>
          <a:p>
            <a:pPr lvl="1"/>
            <a:r>
              <a:rPr lang="en-IN" dirty="0"/>
              <a:t>It is not as clear whether </a:t>
            </a:r>
            <a:r>
              <a:rPr lang="en-IN" i="1" dirty="0" err="1"/>
              <a:t>bname</a:t>
            </a:r>
            <a:r>
              <a:rPr lang="en-IN" dirty="0"/>
              <a:t> and </a:t>
            </a:r>
            <a:r>
              <a:rPr lang="en-IN" i="1" dirty="0" err="1"/>
              <a:t>cname</a:t>
            </a:r>
            <a:r>
              <a:rPr lang="en-IN" dirty="0"/>
              <a:t> domains ought to be distinct.</a:t>
            </a:r>
          </a:p>
          <a:p>
            <a:pPr lvl="1"/>
            <a:r>
              <a:rPr lang="en-IN" dirty="0"/>
              <a:t>At the implementation level, they are both character strings.</a:t>
            </a:r>
          </a:p>
          <a:p>
            <a:pPr lvl="1"/>
            <a:r>
              <a:rPr lang="en-IN" dirty="0"/>
              <a:t>At the conceptual level, we do not expect customers to have the same names as branches, in general.</a:t>
            </a:r>
          </a:p>
          <a:p>
            <a:pPr lvl="1"/>
            <a:r>
              <a:rPr lang="en-IN" dirty="0"/>
              <a:t>Strong typing of domains allows us to test for values inserted, and whether queries make sense. Newer systems, particularly object-oriented database systems, offer a rich set of domain types that can be extended easily.</a:t>
            </a:r>
          </a:p>
          <a:p>
            <a:endParaRPr lang="en-IN" dirty="0"/>
          </a:p>
        </p:txBody>
      </p:sp>
    </p:spTree>
    <p:extLst>
      <p:ext uri="{BB962C8B-B14F-4D97-AF65-F5344CB8AC3E}">
        <p14:creationId xmlns:p14="http://schemas.microsoft.com/office/powerpoint/2010/main" val="38219008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a:t>
            </a:r>
            <a:r>
              <a:rPr lang="en-IN" b="1" dirty="0"/>
              <a:t>check</a:t>
            </a:r>
            <a:r>
              <a:rPr lang="en-IN" dirty="0"/>
              <a:t> clause in SQL-92 permits domains to be restricted in powerful ways that most programming language type systems do not permit</a:t>
            </a:r>
            <a:r>
              <a:rPr lang="en-IN" dirty="0" smtClean="0"/>
              <a:t>.</a:t>
            </a:r>
          </a:p>
          <a:p>
            <a:pPr lvl="1"/>
            <a:r>
              <a:rPr lang="en-IN" dirty="0" smtClean="0"/>
              <a:t>The</a:t>
            </a:r>
            <a:r>
              <a:rPr lang="en-IN" dirty="0"/>
              <a:t> </a:t>
            </a:r>
            <a:r>
              <a:rPr lang="en-IN" b="1" dirty="0"/>
              <a:t>check</a:t>
            </a:r>
            <a:r>
              <a:rPr lang="en-IN" dirty="0"/>
              <a:t> clause permits schema designer to specify a predicate that must be satisfied by any value assigned to a variable whose type is the domain.</a:t>
            </a:r>
          </a:p>
          <a:p>
            <a:endParaRPr lang="en-IN" dirty="0"/>
          </a:p>
        </p:txBody>
      </p:sp>
    </p:spTree>
    <p:extLst>
      <p:ext uri="{BB962C8B-B14F-4D97-AF65-F5344CB8AC3E}">
        <p14:creationId xmlns:p14="http://schemas.microsoft.com/office/powerpoint/2010/main" val="421973280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a:t>
            </a:r>
            <a:r>
              <a:rPr lang="en-IN" dirty="0" smtClean="0"/>
              <a:t>Trigger</a:t>
            </a:r>
            <a:endParaRPr lang="en-IN" dirty="0"/>
          </a:p>
        </p:txBody>
      </p:sp>
      <p:sp>
        <p:nvSpPr>
          <p:cNvPr id="3" name="Content Placeholder 2"/>
          <p:cNvSpPr>
            <a:spLocks noGrp="1"/>
          </p:cNvSpPr>
          <p:nvPr>
            <p:ph idx="1"/>
          </p:nvPr>
        </p:nvSpPr>
        <p:spPr/>
        <p:txBody>
          <a:bodyPr>
            <a:normAutofit fontScale="92500" lnSpcReduction="10000"/>
          </a:bodyPr>
          <a:lstStyle/>
          <a:p>
            <a:r>
              <a:rPr lang="en-IN" dirty="0"/>
              <a:t>A trigger is a special kind of stored procedures that automatically executes when an event occurs in the database server.</a:t>
            </a:r>
          </a:p>
          <a:p>
            <a:r>
              <a:rPr lang="en-IN" dirty="0"/>
              <a:t>Triggers executes when a user tries to modify data through a data manipulation language (DML) event, such as Insert, Delete, Update.</a:t>
            </a:r>
          </a:p>
          <a:p>
            <a:r>
              <a:rPr lang="en-IN" dirty="0"/>
              <a:t>These triggers fire when any valid event is fired.</a:t>
            </a:r>
          </a:p>
          <a:p>
            <a:r>
              <a:rPr lang="en-IN" dirty="0"/>
              <a:t>A Trigger that contains statement which causes the other triggers are known as Cascading Triggers.</a:t>
            </a:r>
          </a:p>
          <a:p>
            <a:endParaRPr lang="en-IN" dirty="0"/>
          </a:p>
        </p:txBody>
      </p:sp>
    </p:spTree>
    <p:extLst>
      <p:ext uri="{BB962C8B-B14F-4D97-AF65-F5344CB8AC3E}">
        <p14:creationId xmlns:p14="http://schemas.microsoft.com/office/powerpoint/2010/main" val="18268608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Row level </a:t>
            </a:r>
            <a:r>
              <a:rPr lang="en-IN" b="1" dirty="0" smtClean="0"/>
              <a:t>Trigger</a:t>
            </a:r>
            <a:endParaRPr lang="en-IN" dirty="0"/>
          </a:p>
        </p:txBody>
      </p:sp>
      <p:sp>
        <p:nvSpPr>
          <p:cNvPr id="3" name="Content Placeholder 2"/>
          <p:cNvSpPr>
            <a:spLocks noGrp="1"/>
          </p:cNvSpPr>
          <p:nvPr>
            <p:ph idx="1"/>
          </p:nvPr>
        </p:nvSpPr>
        <p:spPr/>
        <p:txBody>
          <a:bodyPr>
            <a:normAutofit fontScale="92500"/>
          </a:bodyPr>
          <a:lstStyle/>
          <a:p>
            <a:r>
              <a:rPr lang="en-IN" dirty="0"/>
              <a:t>Row level trigger get fired once for each row in a table affected by the statements.</a:t>
            </a:r>
          </a:p>
          <a:p>
            <a:r>
              <a:rPr lang="en-IN" dirty="0"/>
              <a:t>These triggers are useful if the code in the trigger action depends on the data provided by the triggering statement or rows that are affected.</a:t>
            </a:r>
          </a:p>
          <a:p>
            <a:r>
              <a:rPr lang="en-IN" dirty="0"/>
              <a:t>Row Level Trigger is fired each time when row is affected by Insert, Update or Delete command.</a:t>
            </a:r>
          </a:p>
          <a:p>
            <a:r>
              <a:rPr lang="en-IN" dirty="0"/>
              <a:t>If statement doesn’t affect any row, then no trigger action happens.</a:t>
            </a:r>
          </a:p>
          <a:p>
            <a:endParaRPr lang="en-IN" dirty="0"/>
          </a:p>
        </p:txBody>
      </p:sp>
    </p:spTree>
    <p:extLst>
      <p:ext uri="{BB962C8B-B14F-4D97-AF65-F5344CB8AC3E}">
        <p14:creationId xmlns:p14="http://schemas.microsoft.com/office/powerpoint/2010/main" val="38867300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Statement level </a:t>
            </a:r>
            <a:r>
              <a:rPr lang="en-IN" b="1" dirty="0" smtClean="0"/>
              <a:t>Trigger</a:t>
            </a:r>
            <a:endParaRPr lang="en-IN" dirty="0"/>
          </a:p>
        </p:txBody>
      </p:sp>
      <p:sp>
        <p:nvSpPr>
          <p:cNvPr id="3" name="Content Placeholder 2"/>
          <p:cNvSpPr>
            <a:spLocks noGrp="1"/>
          </p:cNvSpPr>
          <p:nvPr>
            <p:ph idx="1"/>
          </p:nvPr>
        </p:nvSpPr>
        <p:spPr/>
        <p:txBody>
          <a:bodyPr>
            <a:normAutofit fontScale="92500" lnSpcReduction="10000"/>
          </a:bodyPr>
          <a:lstStyle/>
          <a:p>
            <a:r>
              <a:rPr lang="en-IN" dirty="0"/>
              <a:t>Statement level trigger gets fired once for each triggering statement.</a:t>
            </a:r>
          </a:p>
          <a:p>
            <a:r>
              <a:rPr lang="en-IN" dirty="0"/>
              <a:t>This kind of trigger fires when a SQL statement affects the rows of the table.</a:t>
            </a:r>
          </a:p>
          <a:p>
            <a:r>
              <a:rPr lang="en-IN" dirty="0"/>
              <a:t>The trigger activates and performs its activity irrespective of number of rows affected due to the SQL statement.</a:t>
            </a:r>
          </a:p>
          <a:p>
            <a:r>
              <a:rPr lang="en-IN" dirty="0"/>
              <a:t>These triggers are useful if the code in the trigger action does not depend on the data provided by the triggering statement or the rows affected.</a:t>
            </a:r>
          </a:p>
          <a:p>
            <a:endParaRPr lang="en-IN" dirty="0"/>
          </a:p>
        </p:txBody>
      </p:sp>
    </p:spTree>
    <p:extLst>
      <p:ext uri="{BB962C8B-B14F-4D97-AF65-F5344CB8AC3E}">
        <p14:creationId xmlns:p14="http://schemas.microsoft.com/office/powerpoint/2010/main" val="23475460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Introduction to Stored </a:t>
            </a:r>
            <a:r>
              <a:rPr lang="en-IN" dirty="0" smtClean="0"/>
              <a:t>Procedure</a:t>
            </a:r>
            <a:endParaRPr lang="en-IN" dirty="0"/>
          </a:p>
        </p:txBody>
      </p:sp>
      <p:sp>
        <p:nvSpPr>
          <p:cNvPr id="3" name="Content Placeholder 2"/>
          <p:cNvSpPr>
            <a:spLocks noGrp="1"/>
          </p:cNvSpPr>
          <p:nvPr>
            <p:ph idx="1"/>
          </p:nvPr>
        </p:nvSpPr>
        <p:spPr/>
        <p:txBody>
          <a:bodyPr>
            <a:normAutofit fontScale="92500" lnSpcReduction="20000"/>
          </a:bodyPr>
          <a:lstStyle/>
          <a:p>
            <a:r>
              <a:rPr lang="en-IN" dirty="0"/>
              <a:t>Stored Procedure is a set of Structured Query Language (SQL) statements.</a:t>
            </a:r>
          </a:p>
          <a:p>
            <a:r>
              <a:rPr lang="en-IN" dirty="0"/>
              <a:t>It is a subroutine available to applications that access a Relational Database Management System (RDBMS).</a:t>
            </a:r>
          </a:p>
          <a:p>
            <a:r>
              <a:rPr lang="en-IN" dirty="0"/>
              <a:t>Stored procedure is assigned with the name that's stored in the database in compiled form, so that it can be shared by a number of programs.</a:t>
            </a:r>
          </a:p>
          <a:p>
            <a:r>
              <a:rPr lang="en-IN" dirty="0"/>
              <a:t>It is helpful in controlling to access the data, preserving data integrity and improving productivity.</a:t>
            </a:r>
          </a:p>
          <a:p>
            <a:endParaRPr lang="en-IN" dirty="0"/>
          </a:p>
        </p:txBody>
      </p:sp>
    </p:spTree>
    <p:extLst>
      <p:ext uri="{BB962C8B-B14F-4D97-AF65-F5344CB8AC3E}">
        <p14:creationId xmlns:p14="http://schemas.microsoft.com/office/powerpoint/2010/main" val="67872043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Advantages of a Stored </a:t>
            </a:r>
            <a:r>
              <a:rPr lang="en-IN" dirty="0" smtClean="0"/>
              <a:t>Procedure</a:t>
            </a:r>
            <a:endParaRPr lang="en-IN" dirty="0"/>
          </a:p>
        </p:txBody>
      </p:sp>
      <p:sp>
        <p:nvSpPr>
          <p:cNvPr id="3" name="Content Placeholder 2"/>
          <p:cNvSpPr>
            <a:spLocks noGrp="1"/>
          </p:cNvSpPr>
          <p:nvPr>
            <p:ph idx="1"/>
          </p:nvPr>
        </p:nvSpPr>
        <p:spPr/>
        <p:txBody>
          <a:bodyPr/>
          <a:lstStyle/>
          <a:p>
            <a:r>
              <a:rPr lang="en-IN" dirty="0"/>
              <a:t>Stored procedures are easier to maintain and troubleshoot as they are modular.</a:t>
            </a:r>
          </a:p>
          <a:p>
            <a:r>
              <a:rPr lang="en-IN" dirty="0"/>
              <a:t>It enables better tuning for performance.</a:t>
            </a:r>
          </a:p>
          <a:p>
            <a:r>
              <a:rPr lang="en-IN" dirty="0"/>
              <a:t>It is much easier from a GUI end than building/using complex queries.</a:t>
            </a:r>
          </a:p>
          <a:p>
            <a:r>
              <a:rPr lang="en-IN" dirty="0"/>
              <a:t>It helps in reducing the network usage.</a:t>
            </a:r>
          </a:p>
          <a:p>
            <a:r>
              <a:rPr lang="en-IN" dirty="0"/>
              <a:t>It provides more scalability to an application.</a:t>
            </a:r>
          </a:p>
          <a:p>
            <a:r>
              <a:rPr lang="en-IN" dirty="0"/>
              <a:t>It is reusable and hence reduces the code.</a:t>
            </a:r>
          </a:p>
          <a:p>
            <a:endParaRPr lang="en-IN" dirty="0"/>
          </a:p>
        </p:txBody>
      </p:sp>
    </p:spTree>
    <p:extLst>
      <p:ext uri="{BB962C8B-B14F-4D97-AF65-F5344CB8AC3E}">
        <p14:creationId xmlns:p14="http://schemas.microsoft.com/office/powerpoint/2010/main" val="5097623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Difference between Trigger and Stored </a:t>
            </a:r>
            <a:r>
              <a:rPr lang="en-IN" dirty="0" smtClean="0"/>
              <a:t>Procedure</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2160115"/>
              </p:ext>
            </p:extLst>
          </p:nvPr>
        </p:nvGraphicFramePr>
        <p:xfrm>
          <a:off x="539552" y="1628800"/>
          <a:ext cx="8136904" cy="4846320"/>
        </p:xfrm>
        <a:graphic>
          <a:graphicData uri="http://schemas.openxmlformats.org/drawingml/2006/table">
            <a:tbl>
              <a:tblPr/>
              <a:tblGrid>
                <a:gridCol w="4068452"/>
                <a:gridCol w="4068452"/>
              </a:tblGrid>
              <a:tr h="0">
                <a:tc>
                  <a:txBody>
                    <a:bodyPr/>
                    <a:lstStyle/>
                    <a:p>
                      <a:pPr algn="ctr" fontAlgn="t"/>
                      <a:r>
                        <a:rPr lang="en-IN" sz="2400" b="1">
                          <a:solidFill>
                            <a:srgbClr val="333333"/>
                          </a:solidFill>
                          <a:effectLst/>
                        </a:rPr>
                        <a:t>Trigger</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E3FEAB"/>
                    </a:solidFill>
                  </a:tcPr>
                </a:tc>
                <a:tc>
                  <a:txBody>
                    <a:bodyPr/>
                    <a:lstStyle/>
                    <a:p>
                      <a:pPr algn="ctr" fontAlgn="t"/>
                      <a:r>
                        <a:rPr lang="en-IN" sz="2400" b="1">
                          <a:solidFill>
                            <a:srgbClr val="333333"/>
                          </a:solidFill>
                          <a:effectLst/>
                        </a:rPr>
                        <a:t>Stored Procedure</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E3FEAB"/>
                    </a:solidFill>
                  </a:tcPr>
                </a:tc>
              </a:tr>
              <a:tr h="0">
                <a:tc>
                  <a:txBody>
                    <a:bodyPr/>
                    <a:lstStyle/>
                    <a:p>
                      <a:pPr algn="l" fontAlgn="t"/>
                      <a:r>
                        <a:rPr lang="en-IN" sz="2400" b="0">
                          <a:effectLst/>
                        </a:rPr>
                        <a:t>Trigger is an act which is performed automatically before or after an event occurs.</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c>
                  <a:txBody>
                    <a:bodyPr/>
                    <a:lstStyle/>
                    <a:p>
                      <a:pPr algn="l" fontAlgn="t"/>
                      <a:r>
                        <a:rPr lang="en-IN" sz="2400" b="0">
                          <a:effectLst/>
                        </a:rPr>
                        <a:t>Stored procedure is a set of functionality which is executed when it is explicitly invoked.</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r>
              <a:tr h="0">
                <a:tc>
                  <a:txBody>
                    <a:bodyPr/>
                    <a:lstStyle/>
                    <a:p>
                      <a:pPr algn="l" fontAlgn="t"/>
                      <a:r>
                        <a:rPr lang="en-IN" sz="2400" b="0">
                          <a:effectLst/>
                        </a:rPr>
                        <a:t>It cannot accept parameters.</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c>
                  <a:txBody>
                    <a:bodyPr/>
                    <a:lstStyle/>
                    <a:p>
                      <a:pPr algn="l" fontAlgn="t"/>
                      <a:r>
                        <a:rPr lang="en-IN" sz="2400" b="0">
                          <a:effectLst/>
                        </a:rPr>
                        <a:t>It can accept parameters.</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r>
              <a:tr h="0">
                <a:tc>
                  <a:txBody>
                    <a:bodyPr/>
                    <a:lstStyle/>
                    <a:p>
                      <a:pPr algn="l" fontAlgn="t"/>
                      <a:r>
                        <a:rPr lang="en-IN" sz="2400" b="0">
                          <a:effectLst/>
                        </a:rPr>
                        <a:t>A trigger cannot return any value.</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c>
                  <a:txBody>
                    <a:bodyPr/>
                    <a:lstStyle/>
                    <a:p>
                      <a:pPr algn="l" fontAlgn="t"/>
                      <a:r>
                        <a:rPr lang="en-IN" sz="2400" b="0">
                          <a:effectLst/>
                        </a:rPr>
                        <a:t>A stored procedure can return a value.</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r>
              <a:tr h="0">
                <a:tc>
                  <a:txBody>
                    <a:bodyPr/>
                    <a:lstStyle/>
                    <a:p>
                      <a:pPr algn="l" fontAlgn="t"/>
                      <a:r>
                        <a:rPr lang="en-IN" sz="2400" b="0">
                          <a:effectLst/>
                        </a:rPr>
                        <a:t>It is executed automatically on some event.</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c>
                  <a:txBody>
                    <a:bodyPr/>
                    <a:lstStyle/>
                    <a:p>
                      <a:pPr algn="l" fontAlgn="t"/>
                      <a:r>
                        <a:rPr lang="en-IN" sz="2400" b="0">
                          <a:effectLst/>
                        </a:rPr>
                        <a:t>It needs to be explicitly called.</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r>
              <a:tr h="0">
                <a:tc>
                  <a:txBody>
                    <a:bodyPr/>
                    <a:lstStyle/>
                    <a:p>
                      <a:pPr algn="l" fontAlgn="t"/>
                      <a:r>
                        <a:rPr lang="en-IN" sz="2400" b="0">
                          <a:effectLst/>
                        </a:rPr>
                        <a:t>Triggers are used for insertion, update and deletion.</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c>
                  <a:txBody>
                    <a:bodyPr/>
                    <a:lstStyle/>
                    <a:p>
                      <a:pPr algn="l" fontAlgn="t"/>
                      <a:r>
                        <a:rPr lang="en-IN" sz="2400" b="0" dirty="0">
                          <a:effectLst/>
                        </a:rPr>
                        <a:t>Stored procedures are often using independently in the database.</a:t>
                      </a:r>
                    </a:p>
                  </a:txBody>
                  <a:tcPr marL="38100" marR="38100" marT="38100" marB="38100">
                    <a:lnL w="9525" cap="flat" cmpd="sng" algn="ctr">
                      <a:solidFill>
                        <a:srgbClr val="008080"/>
                      </a:solidFill>
                      <a:prstDash val="solid"/>
                      <a:round/>
                      <a:headEnd type="none" w="med" len="med"/>
                      <a:tailEnd type="none" w="med" len="med"/>
                    </a:lnL>
                    <a:lnR w="9525" cap="flat" cmpd="sng" algn="ctr">
                      <a:solidFill>
                        <a:srgbClr val="008080"/>
                      </a:solidFill>
                      <a:prstDash val="solid"/>
                      <a:round/>
                      <a:headEnd type="none" w="med" len="med"/>
                      <a:tailEnd type="none" w="med" len="med"/>
                    </a:lnR>
                    <a:lnT w="9525" cap="flat" cmpd="sng" algn="ctr">
                      <a:solidFill>
                        <a:srgbClr val="008080"/>
                      </a:solidFill>
                      <a:prstDash val="solid"/>
                      <a:round/>
                      <a:headEnd type="none" w="med" len="med"/>
                      <a:tailEnd type="none" w="med" len="med"/>
                    </a:lnT>
                    <a:lnB w="9525" cap="flat" cmpd="sng" algn="ctr">
                      <a:solidFill>
                        <a:srgbClr val="008080"/>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5430097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smtClean="0"/>
              <a:t>Assertions</a:t>
            </a:r>
            <a:endParaRPr lang="en-IN" dirty="0"/>
          </a:p>
        </p:txBody>
      </p:sp>
      <p:sp>
        <p:nvSpPr>
          <p:cNvPr id="3" name="Content Placeholder 2"/>
          <p:cNvSpPr>
            <a:spLocks noGrp="1"/>
          </p:cNvSpPr>
          <p:nvPr>
            <p:ph idx="1"/>
          </p:nvPr>
        </p:nvSpPr>
        <p:spPr/>
        <p:txBody>
          <a:bodyPr>
            <a:normAutofit fontScale="85000" lnSpcReduction="20000"/>
          </a:bodyPr>
          <a:lstStyle/>
          <a:p>
            <a:r>
              <a:rPr lang="en-IN" dirty="0"/>
              <a:t>An </a:t>
            </a:r>
            <a:r>
              <a:rPr lang="en-IN" b="1" dirty="0"/>
              <a:t>assertion</a:t>
            </a:r>
            <a:r>
              <a:rPr lang="en-IN" dirty="0"/>
              <a:t> is a predicate expressing a condition we wish the database to always satisfy.</a:t>
            </a:r>
          </a:p>
          <a:p>
            <a:r>
              <a:rPr lang="en-IN" dirty="0"/>
              <a:t>Domain constraints, functional dependency and referential integrity are special forms of assertion.</a:t>
            </a:r>
          </a:p>
          <a:p>
            <a:r>
              <a:rPr lang="en-IN" dirty="0"/>
              <a:t>Where a constraint cannot be expressed in these forms, we use an assertion, e.g.</a:t>
            </a:r>
          </a:p>
          <a:p>
            <a:pPr lvl="1"/>
            <a:r>
              <a:rPr lang="en-IN" dirty="0"/>
              <a:t>Ensuring the sum of loan amounts for each branch is less than the sum of all account balances at the branch.</a:t>
            </a:r>
          </a:p>
          <a:p>
            <a:pPr lvl="1"/>
            <a:r>
              <a:rPr lang="en-IN" dirty="0"/>
              <a:t>Ensuring every loan customer keeps a minimum of $1000 in an account.</a:t>
            </a:r>
          </a:p>
          <a:p>
            <a:r>
              <a:rPr lang="en-IN" b="1" dirty="0" smtClean="0"/>
              <a:t>Syntax</a:t>
            </a:r>
          </a:p>
          <a:p>
            <a:pPr lvl="1"/>
            <a:r>
              <a:rPr lang="en-IN" b="1" dirty="0" smtClean="0"/>
              <a:t>create assertion </a:t>
            </a:r>
            <a:r>
              <a:rPr lang="en-IN" dirty="0" smtClean="0"/>
              <a:t>assertion-name </a:t>
            </a:r>
            <a:r>
              <a:rPr lang="en-IN" b="1" dirty="0" smtClean="0"/>
              <a:t>check</a:t>
            </a:r>
            <a:r>
              <a:rPr lang="en-IN" dirty="0" smtClean="0"/>
              <a:t> predicate</a:t>
            </a:r>
            <a:endParaRPr lang="en-IN" dirty="0"/>
          </a:p>
        </p:txBody>
      </p:sp>
    </p:spTree>
    <p:extLst>
      <p:ext uri="{BB962C8B-B14F-4D97-AF65-F5344CB8AC3E}">
        <p14:creationId xmlns:p14="http://schemas.microsoft.com/office/powerpoint/2010/main" val="3605090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548680"/>
            <a:ext cx="8229600" cy="1143000"/>
          </a:xfrm>
        </p:spPr>
        <p:txBody>
          <a:bodyPr>
            <a:normAutofit fontScale="90000"/>
          </a:bodyPr>
          <a:lstStyle/>
          <a:p>
            <a:r>
              <a:rPr lang="en-IN" dirty="0" smtClean="0"/>
              <a:t>Q. Ensuring </a:t>
            </a:r>
            <a:r>
              <a:rPr lang="en-IN" dirty="0"/>
              <a:t>the sum of loan amounts for each branch is less than the sum of all account balances at the branch</a:t>
            </a:r>
            <a:r>
              <a:rPr lang="en-IN" dirty="0" smtClean="0"/>
              <a:t>.</a:t>
            </a:r>
            <a:endParaRPr lang="en-IN" dirty="0"/>
          </a:p>
        </p:txBody>
      </p:sp>
      <p:sp>
        <p:nvSpPr>
          <p:cNvPr id="5" name="Rectangle 2"/>
          <p:cNvSpPr>
            <a:spLocks noChangeArrowheads="1"/>
          </p:cNvSpPr>
          <p:nvPr/>
        </p:nvSpPr>
        <p:spPr bwMode="auto">
          <a:xfrm>
            <a:off x="251520" y="3179584"/>
            <a:ext cx="8496944"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create assertion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sum-constraint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check</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000" dirty="0" smtClean="0">
                <a:solidFill>
                  <a:srgbClr val="000000"/>
                </a:solidFill>
                <a:latin typeface="Arial Unicode MS" pitchFamily="34" charset="-128"/>
                <a:cs typeface="Arial" pitchFamily="34" charset="0"/>
              </a:rPr>
              <a:t>      </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not exists</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select * from</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branch</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	   where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select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sum</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amount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from</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loan</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		where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loan.bname</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 =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branch.bname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&gt;=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select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sum</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amount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from</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account</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smtClean="0">
                <a:ln>
                  <a:noFill/>
                </a:ln>
                <a:solidFill>
                  <a:srgbClr val="000000"/>
                </a:solidFill>
                <a:effectLst/>
                <a:latin typeface="Arial Unicode MS" pitchFamily="34" charset="-128"/>
                <a:cs typeface="Arial" pitchFamily="34" charset="0"/>
              </a:rPr>
              <a:t>			where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account.bname</a:t>
            </a:r>
            <a:r>
              <a:rPr kumimoji="0" lang="en-US" altLang="en-US" sz="2000" b="0" i="1" u="none" strike="noStrike" cap="none" normalizeH="0" baseline="0" dirty="0" smtClean="0">
                <a:ln>
                  <a:noFill/>
                </a:ln>
                <a:solidFill>
                  <a:srgbClr val="000000"/>
                </a:solidFill>
                <a:effectLst/>
                <a:latin typeface="Arial Unicode MS" pitchFamily="34" charset="-128"/>
                <a:cs typeface="Arial" pitchFamily="34" charset="0"/>
              </a:rPr>
              <a:t> = </a:t>
            </a:r>
            <a:r>
              <a:rPr kumimoji="0" lang="en-US" altLang="en-US" sz="2000" b="0" i="1" u="none" strike="noStrike" cap="none" normalizeH="0" baseline="0" dirty="0" err="1" smtClean="0">
                <a:ln>
                  <a:noFill/>
                </a:ln>
                <a:solidFill>
                  <a:srgbClr val="000000"/>
                </a:solidFill>
                <a:effectLst/>
                <a:latin typeface="Arial Unicode MS" pitchFamily="34" charset="-128"/>
                <a:cs typeface="Arial" pitchFamily="34" charset="0"/>
              </a:rPr>
              <a:t>branch.bname</a:t>
            </a:r>
            <a:r>
              <a:rPr kumimoji="0" lang="en-US" altLang="en-US" sz="2000" b="0" i="0" u="none" strike="noStrike" cap="none" normalizeH="0" baseline="0" dirty="0" smtClean="0">
                <a:ln>
                  <a:noFill/>
                </a:ln>
                <a:solidFill>
                  <a:srgbClr val="000000"/>
                </a:solidFill>
                <a:effectLst/>
                <a:latin typeface="Arial Unicode MS" pitchFamily="34" charset="-128"/>
                <a:cs typeface="Arial" pitchFamily="34" charset="0"/>
              </a:rPr>
              <a:t>))) </a:t>
            </a:r>
            <a:endParaRPr kumimoji="0" lang="en-US" altLang="en-US" sz="1600" b="0" i="0" u="none" strike="noStrike" cap="none" normalizeH="0" baseline="0" dirty="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9916212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Ensuring every loan customer keeps a minimum of $1000 in an </a:t>
            </a:r>
            <a:r>
              <a:rPr lang="en-IN" dirty="0" smtClean="0"/>
              <a:t>account.</a:t>
            </a:r>
            <a:endParaRPr lang="en-IN" dirty="0"/>
          </a:p>
        </p:txBody>
      </p:sp>
      <p:sp>
        <p:nvSpPr>
          <p:cNvPr id="3" name="Content Placeholder 2"/>
          <p:cNvSpPr>
            <a:spLocks noGrp="1"/>
          </p:cNvSpPr>
          <p:nvPr>
            <p:ph idx="1"/>
          </p:nvPr>
        </p:nvSpPr>
        <p:spPr/>
        <p:txBody>
          <a:bodyPr>
            <a:normAutofit/>
          </a:bodyPr>
          <a:lstStyle/>
          <a:p>
            <a:pPr marL="0" indent="0">
              <a:buNone/>
            </a:pPr>
            <a:r>
              <a:rPr lang="en-IN" sz="2800" b="1" dirty="0" smtClean="0"/>
              <a:t>create assertion </a:t>
            </a:r>
            <a:r>
              <a:rPr lang="en-IN" sz="2800" i="1" dirty="0" smtClean="0"/>
              <a:t>balance-constraint</a:t>
            </a:r>
            <a:r>
              <a:rPr lang="en-IN" sz="2800" dirty="0" smtClean="0"/>
              <a:t> </a:t>
            </a:r>
            <a:r>
              <a:rPr lang="en-IN" sz="2800" b="1" dirty="0" smtClean="0"/>
              <a:t>check</a:t>
            </a:r>
            <a:r>
              <a:rPr lang="en-IN" sz="2800" dirty="0" smtClean="0"/>
              <a:t> </a:t>
            </a:r>
          </a:p>
          <a:p>
            <a:pPr marL="0" indent="0">
              <a:buNone/>
            </a:pPr>
            <a:r>
              <a:rPr lang="en-IN" sz="2800" dirty="0" smtClean="0"/>
              <a:t>    (</a:t>
            </a:r>
            <a:r>
              <a:rPr lang="en-IN" sz="2800" b="1" dirty="0" smtClean="0"/>
              <a:t>not exists</a:t>
            </a:r>
            <a:r>
              <a:rPr lang="en-IN" sz="2800" dirty="0" smtClean="0"/>
              <a:t> (</a:t>
            </a:r>
            <a:r>
              <a:rPr lang="en-IN" sz="2800" b="1" dirty="0" smtClean="0"/>
              <a:t>select * from</a:t>
            </a:r>
            <a:r>
              <a:rPr lang="en-IN" sz="2800" dirty="0" smtClean="0"/>
              <a:t> </a:t>
            </a:r>
            <a:r>
              <a:rPr lang="en-IN" sz="2800" i="1" dirty="0" smtClean="0"/>
              <a:t>loan L</a:t>
            </a:r>
            <a:r>
              <a:rPr lang="en-IN" sz="2800" dirty="0" smtClean="0"/>
              <a:t> </a:t>
            </a:r>
          </a:p>
          <a:p>
            <a:pPr marL="0" indent="0">
              <a:buNone/>
            </a:pPr>
            <a:r>
              <a:rPr lang="en-IN" sz="2800" dirty="0" smtClean="0"/>
              <a:t>       (</a:t>
            </a:r>
            <a:r>
              <a:rPr lang="en-IN" sz="2800" b="1" dirty="0" smtClean="0"/>
              <a:t>where not exists</a:t>
            </a:r>
            <a:r>
              <a:rPr lang="en-IN" sz="2800" dirty="0" smtClean="0"/>
              <a:t> (</a:t>
            </a:r>
            <a:r>
              <a:rPr lang="en-IN" sz="2800" b="1" dirty="0" smtClean="0"/>
              <a:t>select *</a:t>
            </a:r>
            <a:r>
              <a:rPr lang="en-IN" sz="2800" dirty="0" smtClean="0"/>
              <a:t> </a:t>
            </a:r>
          </a:p>
          <a:p>
            <a:pPr marL="0" indent="0">
              <a:buNone/>
            </a:pPr>
            <a:r>
              <a:rPr lang="en-IN" sz="2800" b="1" dirty="0" smtClean="0"/>
              <a:t>          from</a:t>
            </a:r>
            <a:r>
              <a:rPr lang="en-IN" sz="2800" dirty="0" smtClean="0"/>
              <a:t> </a:t>
            </a:r>
            <a:r>
              <a:rPr lang="en-IN" sz="2800" i="1" dirty="0" smtClean="0"/>
              <a:t>borrower B, depositor D, account A</a:t>
            </a:r>
            <a:r>
              <a:rPr lang="en-IN" sz="2800" dirty="0" smtClean="0"/>
              <a:t> </a:t>
            </a:r>
          </a:p>
          <a:p>
            <a:pPr marL="0" indent="0">
              <a:buNone/>
            </a:pPr>
            <a:r>
              <a:rPr lang="en-IN" sz="2800" b="1" dirty="0" smtClean="0"/>
              <a:t>             where</a:t>
            </a:r>
            <a:r>
              <a:rPr lang="en-IN" sz="2800" dirty="0" smtClean="0"/>
              <a:t> </a:t>
            </a:r>
            <a:r>
              <a:rPr lang="en-IN" sz="2800" i="1" dirty="0" err="1" smtClean="0"/>
              <a:t>L.loan</a:t>
            </a:r>
            <a:r>
              <a:rPr lang="en-IN" sz="2800" i="1" dirty="0" smtClean="0"/>
              <a:t># = </a:t>
            </a:r>
            <a:r>
              <a:rPr lang="en-IN" sz="2800" i="1" dirty="0" err="1" smtClean="0"/>
              <a:t>B.loan</a:t>
            </a:r>
            <a:r>
              <a:rPr lang="en-IN" sz="2800" i="1" dirty="0" smtClean="0"/>
              <a:t>#</a:t>
            </a:r>
            <a:r>
              <a:rPr lang="en-IN" sz="2800" dirty="0" smtClean="0"/>
              <a:t> </a:t>
            </a:r>
            <a:r>
              <a:rPr lang="en-IN" sz="2800" b="1" dirty="0" smtClean="0"/>
              <a:t>and</a:t>
            </a:r>
            <a:r>
              <a:rPr lang="en-IN" sz="2800" dirty="0" smtClean="0"/>
              <a:t> </a:t>
            </a:r>
            <a:r>
              <a:rPr lang="en-IN" sz="2800" i="1" dirty="0" err="1" smtClean="0"/>
              <a:t>B.cname</a:t>
            </a:r>
            <a:r>
              <a:rPr lang="en-IN" sz="2800" i="1" dirty="0" smtClean="0"/>
              <a:t> = </a:t>
            </a:r>
            <a:r>
              <a:rPr lang="en-IN" sz="2800" i="1" dirty="0" err="1" smtClean="0"/>
              <a:t>D.cname</a:t>
            </a:r>
            <a:r>
              <a:rPr lang="en-IN" sz="2800" dirty="0" smtClean="0"/>
              <a:t>  </a:t>
            </a:r>
            <a:r>
              <a:rPr lang="en-IN" sz="2800" b="1" dirty="0" smtClean="0"/>
              <a:t>and</a:t>
            </a:r>
            <a:r>
              <a:rPr lang="en-IN" sz="2800" dirty="0" smtClean="0"/>
              <a:t> </a:t>
            </a:r>
            <a:r>
              <a:rPr lang="en-IN" sz="2800" i="1" dirty="0" err="1" smtClean="0"/>
              <a:t>D.account</a:t>
            </a:r>
            <a:r>
              <a:rPr lang="en-IN" sz="2800" i="1" dirty="0" smtClean="0"/>
              <a:t># = </a:t>
            </a:r>
            <a:r>
              <a:rPr lang="en-IN" sz="2800" i="1" dirty="0" err="1" smtClean="0"/>
              <a:t>A.account</a:t>
            </a:r>
            <a:r>
              <a:rPr lang="en-IN" sz="2800" i="1" dirty="0" smtClean="0"/>
              <a:t>#</a:t>
            </a:r>
            <a:r>
              <a:rPr lang="en-IN" sz="2800" dirty="0" smtClean="0"/>
              <a:t> </a:t>
            </a:r>
            <a:r>
              <a:rPr lang="en-IN" sz="2800" b="1" dirty="0" smtClean="0"/>
              <a:t>and</a:t>
            </a:r>
            <a:r>
              <a:rPr lang="en-IN" sz="2800" dirty="0" smtClean="0"/>
              <a:t> </a:t>
            </a:r>
            <a:r>
              <a:rPr lang="en-IN" sz="2800" i="1" dirty="0" err="1" smtClean="0"/>
              <a:t>A.balance</a:t>
            </a:r>
            <a:r>
              <a:rPr lang="en-IN" sz="2800" dirty="0" smtClean="0"/>
              <a:t> &gt;= 1000 )))</a:t>
            </a:r>
          </a:p>
          <a:p>
            <a:pPr marL="0" indent="0">
              <a:buNone/>
            </a:pPr>
            <a:endParaRPr lang="en-IN" sz="2800" dirty="0"/>
          </a:p>
        </p:txBody>
      </p:sp>
    </p:spTree>
    <p:extLst>
      <p:ext uri="{BB962C8B-B14F-4D97-AF65-F5344CB8AC3E}">
        <p14:creationId xmlns:p14="http://schemas.microsoft.com/office/powerpoint/2010/main" val="260121578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r>
              <a:rPr lang="en-IN" dirty="0"/>
              <a:t>When an assertion is created, the system tests it for validity</a:t>
            </a:r>
            <a:r>
              <a:rPr lang="en-IN" dirty="0" smtClean="0"/>
              <a:t>. If </a:t>
            </a:r>
            <a:r>
              <a:rPr lang="en-IN" dirty="0"/>
              <a:t>the assertion is valid, any further modification to the database is allowed only if it does not cause that assertion to be violated.</a:t>
            </a:r>
          </a:p>
          <a:p>
            <a:r>
              <a:rPr lang="en-IN" dirty="0"/>
              <a:t>This testing may result in significant overhead if the assertions are complex. Because of this, the </a:t>
            </a:r>
            <a:r>
              <a:rPr lang="en-IN" b="1" dirty="0"/>
              <a:t>assert</a:t>
            </a:r>
            <a:r>
              <a:rPr lang="en-IN" dirty="0"/>
              <a:t> should be used with great care.</a:t>
            </a:r>
          </a:p>
          <a:p>
            <a:r>
              <a:rPr lang="en-IN" dirty="0"/>
              <a:t>Some system developer omits support for general assertions or provides specialized form of assertions that are easier to test.</a:t>
            </a:r>
          </a:p>
          <a:p>
            <a:endParaRPr lang="en-IN" dirty="0"/>
          </a:p>
        </p:txBody>
      </p:sp>
    </p:spTree>
    <p:extLst>
      <p:ext uri="{BB962C8B-B14F-4D97-AF65-F5344CB8AC3E}">
        <p14:creationId xmlns:p14="http://schemas.microsoft.com/office/powerpoint/2010/main" val="4939078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Security </a:t>
            </a:r>
            <a:r>
              <a:rPr lang="en-IN" dirty="0"/>
              <a:t>and </a:t>
            </a:r>
            <a:r>
              <a:rPr lang="en-IN" dirty="0" smtClean="0"/>
              <a:t>Authorization</a:t>
            </a:r>
            <a:endParaRPr lang="en-IN" dirty="0"/>
          </a:p>
        </p:txBody>
      </p:sp>
      <p:sp>
        <p:nvSpPr>
          <p:cNvPr id="3" name="Content Placeholder 2"/>
          <p:cNvSpPr>
            <a:spLocks noGrp="1"/>
          </p:cNvSpPr>
          <p:nvPr>
            <p:ph idx="1"/>
          </p:nvPr>
        </p:nvSpPr>
        <p:spPr/>
        <p:txBody>
          <a:bodyPr/>
          <a:lstStyle/>
          <a:p>
            <a:r>
              <a:rPr lang="en-IN" dirty="0"/>
              <a:t>Authentication</a:t>
            </a:r>
          </a:p>
          <a:p>
            <a:pPr lvl="1"/>
            <a:r>
              <a:rPr lang="en-IN" dirty="0"/>
              <a:t>Authentication is the process of confirming that a user logs in only in accordance with the rights to perform the activities he is authorized to perform. User authentication can be performed at operating system level or database level itself</a:t>
            </a:r>
            <a:r>
              <a:rPr lang="en-IN" dirty="0" smtClean="0"/>
              <a:t>.</a:t>
            </a:r>
          </a:p>
          <a:p>
            <a:r>
              <a:rPr lang="en-IN" dirty="0"/>
              <a:t> type of security authentication </a:t>
            </a:r>
            <a:r>
              <a:rPr lang="en-IN" dirty="0" smtClean="0"/>
              <a:t>process</a:t>
            </a:r>
          </a:p>
          <a:p>
            <a:pPr lvl="1"/>
            <a:r>
              <a:rPr lang="en-IN" dirty="0"/>
              <a:t>Based on Operating System authentications.</a:t>
            </a:r>
          </a:p>
          <a:p>
            <a:pPr lvl="1"/>
            <a:r>
              <a:rPr lang="en-IN" dirty="0"/>
              <a:t>Lightweight Directory Access Protocol (LDAP)</a:t>
            </a:r>
          </a:p>
        </p:txBody>
      </p:sp>
    </p:spTree>
    <p:extLst>
      <p:ext uri="{BB962C8B-B14F-4D97-AF65-F5344CB8AC3E}">
        <p14:creationId xmlns:p14="http://schemas.microsoft.com/office/powerpoint/2010/main" val="19921040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Authorization</a:t>
            </a:r>
          </a:p>
          <a:p>
            <a:pPr lvl="1"/>
            <a:r>
              <a:rPr lang="en-IN" dirty="0"/>
              <a:t>access the </a:t>
            </a:r>
            <a:r>
              <a:rPr lang="en-IN" dirty="0" smtClean="0"/>
              <a:t>Database </a:t>
            </a:r>
            <a:r>
              <a:rPr lang="en-IN" dirty="0"/>
              <a:t>and its functionality within </a:t>
            </a:r>
            <a:r>
              <a:rPr lang="en-IN" dirty="0" smtClean="0"/>
              <a:t>the database </a:t>
            </a:r>
            <a:r>
              <a:rPr lang="en-IN" dirty="0"/>
              <a:t>system, which is managed by </a:t>
            </a:r>
            <a:r>
              <a:rPr lang="en-IN" dirty="0" smtClean="0"/>
              <a:t>the </a:t>
            </a:r>
            <a:r>
              <a:rPr lang="en-IN" dirty="0"/>
              <a:t>Database manager. </a:t>
            </a:r>
            <a:endParaRPr lang="en-IN" dirty="0"/>
          </a:p>
          <a:p>
            <a:r>
              <a:rPr lang="en-IN" dirty="0"/>
              <a:t>permissions available for </a:t>
            </a:r>
            <a:r>
              <a:rPr lang="en-IN" dirty="0" smtClean="0"/>
              <a:t>authorization</a:t>
            </a:r>
          </a:p>
          <a:p>
            <a:pPr lvl="1"/>
            <a:r>
              <a:rPr lang="en-IN" dirty="0"/>
              <a:t>Primary permission: Grants the authorization ID directly.</a:t>
            </a:r>
          </a:p>
          <a:p>
            <a:pPr lvl="1"/>
            <a:r>
              <a:rPr lang="en-IN" dirty="0" smtClean="0"/>
              <a:t>Secondary </a:t>
            </a:r>
            <a:r>
              <a:rPr lang="en-IN" dirty="0"/>
              <a:t>permission: Grants to the groups and roles if the user is a member</a:t>
            </a:r>
          </a:p>
          <a:p>
            <a:pPr lvl="1"/>
            <a:r>
              <a:rPr lang="en-IN" dirty="0" smtClean="0"/>
              <a:t>Public </a:t>
            </a:r>
            <a:r>
              <a:rPr lang="en-IN" dirty="0"/>
              <a:t>permission: Grants to all users publicly.</a:t>
            </a:r>
          </a:p>
          <a:p>
            <a:pPr lvl="1"/>
            <a:r>
              <a:rPr lang="en-IN" dirty="0" smtClean="0"/>
              <a:t>Context-sensitive </a:t>
            </a:r>
            <a:r>
              <a:rPr lang="en-IN" dirty="0"/>
              <a:t>permission: Grants to the trusted context role.</a:t>
            </a:r>
          </a:p>
        </p:txBody>
      </p:sp>
    </p:spTree>
    <p:extLst>
      <p:ext uri="{BB962C8B-B14F-4D97-AF65-F5344CB8AC3E}">
        <p14:creationId xmlns:p14="http://schemas.microsoft.com/office/powerpoint/2010/main" val="16873039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Authorization can be given to users based on the </a:t>
            </a:r>
            <a:r>
              <a:rPr lang="en-IN" dirty="0" smtClean="0"/>
              <a:t>categories</a:t>
            </a:r>
          </a:p>
          <a:p>
            <a:pPr lvl="1"/>
            <a:r>
              <a:rPr lang="en-IN" dirty="0"/>
              <a:t>System-level authorization</a:t>
            </a:r>
          </a:p>
          <a:p>
            <a:pPr lvl="1"/>
            <a:r>
              <a:rPr lang="en-IN" dirty="0"/>
              <a:t>System administrator [SYSADM]</a:t>
            </a:r>
          </a:p>
          <a:p>
            <a:pPr lvl="1"/>
            <a:r>
              <a:rPr lang="en-IN" dirty="0"/>
              <a:t>System Control [SYSCTRL]</a:t>
            </a:r>
          </a:p>
          <a:p>
            <a:pPr lvl="1"/>
            <a:r>
              <a:rPr lang="en-IN" dirty="0"/>
              <a:t>System maintenance [SYSMAINT]</a:t>
            </a:r>
          </a:p>
          <a:p>
            <a:pPr lvl="1"/>
            <a:r>
              <a:rPr lang="en-IN" dirty="0"/>
              <a:t>System monitor [SYSMON]</a:t>
            </a:r>
          </a:p>
          <a:p>
            <a:endParaRPr lang="en-IN" dirty="0" smtClean="0"/>
          </a:p>
          <a:p>
            <a:endParaRPr lang="en-IN" dirty="0"/>
          </a:p>
        </p:txBody>
      </p:sp>
    </p:spTree>
    <p:extLst>
      <p:ext uri="{BB962C8B-B14F-4D97-AF65-F5344CB8AC3E}">
        <p14:creationId xmlns:p14="http://schemas.microsoft.com/office/powerpoint/2010/main" val="17688084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85000" lnSpcReduction="20000"/>
          </a:bodyPr>
          <a:lstStyle/>
          <a:p>
            <a:r>
              <a:rPr lang="en-IN" dirty="0"/>
              <a:t>Authorities provide of control over instance-level functionality. Authority provide to group privileges, to control maintenance and authority operations. For instance, database and database objects</a:t>
            </a:r>
            <a:r>
              <a:rPr lang="en-IN" dirty="0" smtClean="0"/>
              <a:t>.</a:t>
            </a:r>
          </a:p>
          <a:p>
            <a:pPr lvl="1"/>
            <a:r>
              <a:rPr lang="en-IN" dirty="0"/>
              <a:t>Database-level authorization</a:t>
            </a:r>
          </a:p>
          <a:p>
            <a:pPr lvl="1"/>
            <a:r>
              <a:rPr lang="en-IN" dirty="0"/>
              <a:t>Security Administrator [SECADM]</a:t>
            </a:r>
          </a:p>
          <a:p>
            <a:pPr lvl="1"/>
            <a:r>
              <a:rPr lang="en-IN" dirty="0"/>
              <a:t>Database Administrator [DBADM]</a:t>
            </a:r>
          </a:p>
          <a:p>
            <a:pPr lvl="1"/>
            <a:r>
              <a:rPr lang="en-IN" dirty="0"/>
              <a:t>Access Control [ACCESSCTRL]</a:t>
            </a:r>
          </a:p>
          <a:p>
            <a:pPr lvl="1"/>
            <a:r>
              <a:rPr lang="en-IN" dirty="0"/>
              <a:t>Data access [DATAACCESS]</a:t>
            </a:r>
          </a:p>
          <a:p>
            <a:pPr lvl="1"/>
            <a:r>
              <a:rPr lang="en-IN" dirty="0"/>
              <a:t>SQL administrator. [SQLADM]</a:t>
            </a:r>
          </a:p>
          <a:p>
            <a:pPr lvl="1"/>
            <a:r>
              <a:rPr lang="en-IN" dirty="0"/>
              <a:t>Workload management administrator [WLMADM]</a:t>
            </a:r>
          </a:p>
          <a:p>
            <a:pPr lvl="1"/>
            <a:r>
              <a:rPr lang="en-IN" dirty="0"/>
              <a:t>Explain [EXPLAIN]</a:t>
            </a:r>
          </a:p>
        </p:txBody>
      </p:sp>
    </p:spTree>
    <p:extLst>
      <p:ext uri="{BB962C8B-B14F-4D97-AF65-F5344CB8AC3E}">
        <p14:creationId xmlns:p14="http://schemas.microsoft.com/office/powerpoint/2010/main" val="21001055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Authorities provide controls within the database</a:t>
            </a:r>
            <a:r>
              <a:rPr lang="en-IN" dirty="0" smtClean="0"/>
              <a:t>.</a:t>
            </a:r>
          </a:p>
          <a:p>
            <a:pPr lvl="1"/>
            <a:r>
              <a:rPr lang="en-IN" dirty="0"/>
              <a:t>Object-Level Authorization: Object-Level authorization involves verifying privileges when an operation is performed on an object.</a:t>
            </a:r>
          </a:p>
          <a:p>
            <a:pPr lvl="1"/>
            <a:r>
              <a:rPr lang="en-IN"/>
              <a:t>Content-based Authorization: User can have read and write access to individual rows and columns on a particular table using Label-based access Control [LBAC].</a:t>
            </a:r>
            <a:endParaRPr lang="en-IN" dirty="0"/>
          </a:p>
          <a:p>
            <a:endParaRPr lang="en-IN" dirty="0"/>
          </a:p>
        </p:txBody>
      </p:sp>
    </p:spTree>
    <p:extLst>
      <p:ext uri="{BB962C8B-B14F-4D97-AF65-F5344CB8AC3E}">
        <p14:creationId xmlns:p14="http://schemas.microsoft.com/office/powerpoint/2010/main" val="37800524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4" descr="fig01_0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3768" y="980728"/>
            <a:ext cx="4370388"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5476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1630</Words>
  <Application>Microsoft Office PowerPoint</Application>
  <PresentationFormat>On-screen Show (4:3)</PresentationFormat>
  <Paragraphs>223</Paragraphs>
  <Slides>38</Slides>
  <Notes>0</Notes>
  <HiddenSlides>0</HiddenSlides>
  <MMClips>0</MMClips>
  <ScaleCrop>false</ScaleCrop>
  <HeadingPairs>
    <vt:vector size="4" baseType="variant">
      <vt:variant>
        <vt:lpstr>Theme</vt:lpstr>
      </vt:variant>
      <vt:variant>
        <vt:i4>1</vt:i4>
      </vt:variant>
      <vt:variant>
        <vt:lpstr>Slide Titles</vt:lpstr>
      </vt:variant>
      <vt:variant>
        <vt:i4>38</vt:i4>
      </vt:variant>
    </vt:vector>
  </HeadingPairs>
  <TitlesOfParts>
    <vt:vector size="39" baseType="lpstr">
      <vt:lpstr>Office Theme</vt:lpstr>
      <vt:lpstr>Module 4 </vt:lpstr>
      <vt:lpstr>Introduction to DCL</vt:lpstr>
      <vt:lpstr> GRANT COMMAND</vt:lpstr>
      <vt:lpstr>REVOKE COMMAND</vt:lpstr>
      <vt:lpstr>Difference between GRANT and REVOKE command.</vt:lpstr>
      <vt:lpstr>Introduction to TCL</vt:lpstr>
      <vt:lpstr>COMMIT COMMAND</vt:lpstr>
      <vt:lpstr>SAVEPOINT COMMAND</vt:lpstr>
      <vt:lpstr>ROLLBACK COMMAND</vt:lpstr>
      <vt:lpstr>SET TRANSACTION</vt:lpstr>
      <vt:lpstr>Difference between ROLLBACK and COMMIT commands.</vt:lpstr>
      <vt:lpstr>Introduction to Views</vt:lpstr>
      <vt:lpstr>PowerPoint Presentation</vt:lpstr>
      <vt:lpstr>Advantages of View </vt:lpstr>
      <vt:lpstr>Disadvantages of View</vt:lpstr>
      <vt:lpstr>Referential Integrity in SQL</vt:lpstr>
      <vt:lpstr>PowerPoint Presentation</vt:lpstr>
      <vt:lpstr>PowerPoint Presentation</vt:lpstr>
      <vt:lpstr>PowerPoint Presentation</vt:lpstr>
      <vt:lpstr>PowerPoint Presentation</vt:lpstr>
      <vt:lpstr>Domain Constraints</vt:lpstr>
      <vt:lpstr>PowerPoint Presentation</vt:lpstr>
      <vt:lpstr>Introduction to Trigger</vt:lpstr>
      <vt:lpstr>Row level Trigger</vt:lpstr>
      <vt:lpstr>Statement level Trigger</vt:lpstr>
      <vt:lpstr>Introduction to Stored Procedure</vt:lpstr>
      <vt:lpstr>Advantages of a Stored Procedure</vt:lpstr>
      <vt:lpstr>Difference between Trigger and Stored Procedure</vt:lpstr>
      <vt:lpstr>Assertions</vt:lpstr>
      <vt:lpstr>Q. Ensuring the sum of loan amounts for each branch is less than the sum of all account balances at the branch.</vt:lpstr>
      <vt:lpstr>Ensuring every loan customer keeps a minimum of $1000 in an account.</vt:lpstr>
      <vt:lpstr>PowerPoint Presentation</vt:lpstr>
      <vt:lpstr>Security and Authorization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dc:title>
  <dc:creator>Admin</dc:creator>
  <cp:lastModifiedBy>Admin</cp:lastModifiedBy>
  <cp:revision>11</cp:revision>
  <dcterms:created xsi:type="dcterms:W3CDTF">2019-02-15T04:08:25Z</dcterms:created>
  <dcterms:modified xsi:type="dcterms:W3CDTF">2019-02-20T06:05:48Z</dcterms:modified>
</cp:coreProperties>
</file>