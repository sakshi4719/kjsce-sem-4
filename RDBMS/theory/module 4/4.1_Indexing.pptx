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46" roundtripDataSignature="AMtx7mg6xvj84d5vta/aKjp4VVXR0Ama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database field refers to a set of values arranged in a table and has the same data type. A field is also known as a column or attribute.</a:t>
            </a:r>
            <a:endParaRPr/>
          </a:p>
          <a:p>
            <a:pPr indent="0" lvl="0" marL="0" rtl="0" algn="l">
              <a:spcBef>
                <a:spcPts val="0"/>
              </a:spcBef>
              <a:spcAft>
                <a:spcPts val="0"/>
              </a:spcAft>
              <a:buNone/>
            </a:pPr>
            <a:r>
              <a:rPr lang="en-US"/>
              <a:t>Like a single box.</a:t>
            </a:r>
            <a:endParaRPr/>
          </a:p>
        </p:txBody>
      </p:sp>
      <p:sp>
        <p:nvSpPr>
          <p:cNvPr id="145" name="Google Shape;145;p8: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6: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9: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9: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0: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1: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1: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2: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2: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3: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3: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4: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4: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5: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5: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6: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6:notes"/>
          <p:cNvSpPr txBox="1"/>
          <p:nvPr>
            <p:ph idx="1" type="body"/>
          </p:nvPr>
        </p:nvSpPr>
        <p:spPr>
          <a:xfrm>
            <a:off x="1219200" y="3257550"/>
            <a:ext cx="9753600" cy="308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6:notes"/>
          <p:cNvSpPr txBox="1"/>
          <p:nvPr>
            <p:ph idx="12" type="sldNum"/>
          </p:nvPr>
        </p:nvSpPr>
        <p:spPr>
          <a:xfrm>
            <a:off x="6905625" y="6513513"/>
            <a:ext cx="52832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7: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7: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8: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8: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9: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9: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0: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0: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1: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31: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2: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2: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3: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3: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4: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4: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5: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5: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6: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6: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7: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37: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8: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8:notes"/>
          <p:cNvSpPr/>
          <p:nvPr>
            <p:ph idx="2" type="sldImg"/>
          </p:nvPr>
        </p:nvSpPr>
        <p:spPr>
          <a:xfrm>
            <a:off x="3810000" y="514350"/>
            <a:ext cx="4572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d14deaed24_0_0: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d14deaed24_0_0: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g2d14deaed24_0_0:notes"/>
          <p:cNvSpPr txBox="1"/>
          <p:nvPr>
            <p:ph idx="12" type="sldNum"/>
          </p:nvPr>
        </p:nvSpPr>
        <p:spPr>
          <a:xfrm>
            <a:off x="6905625" y="6513513"/>
            <a:ext cx="52833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d14deaed24_0_14:notes"/>
          <p:cNvSpPr/>
          <p:nvPr>
            <p:ph idx="2" type="sldImg"/>
          </p:nvPr>
        </p:nvSpPr>
        <p:spPr>
          <a:xfrm>
            <a:off x="3810000" y="514350"/>
            <a:ext cx="4572000" cy="25719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d14deaed24_0_14:notes"/>
          <p:cNvSpPr txBox="1"/>
          <p:nvPr>
            <p:ph idx="1" type="body"/>
          </p:nvPr>
        </p:nvSpPr>
        <p:spPr>
          <a:xfrm>
            <a:off x="1219200" y="3257550"/>
            <a:ext cx="97536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2d14deaed24_0_14:notes"/>
          <p:cNvSpPr txBox="1"/>
          <p:nvPr>
            <p:ph idx="12" type="sldNum"/>
          </p:nvPr>
        </p:nvSpPr>
        <p:spPr>
          <a:xfrm>
            <a:off x="6905625" y="6513513"/>
            <a:ext cx="52833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40"/>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0"/>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0"/>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0"/>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1"/>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1"/>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5" name="Google Shape;25;p41"/>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1"/>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1"/>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42"/>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2"/>
          <p:cNvSpPr txBox="1"/>
          <p:nvPr>
            <p:ph idx="1" type="body"/>
          </p:nvPr>
        </p:nvSpPr>
        <p:spPr>
          <a:xfrm>
            <a:off x="609600" y="1536192"/>
            <a:ext cx="4876800" cy="4590288"/>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31" name="Google Shape;31;p42"/>
          <p:cNvSpPr txBox="1"/>
          <p:nvPr>
            <p:ph idx="2" type="body"/>
          </p:nvPr>
        </p:nvSpPr>
        <p:spPr>
          <a:xfrm>
            <a:off x="5892800" y="1536192"/>
            <a:ext cx="4876800" cy="4590288"/>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32" name="Google Shape;32;p42"/>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2"/>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2"/>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43"/>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3"/>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3"/>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44"/>
          <p:cNvSpPr txBox="1"/>
          <p:nvPr>
            <p:ph type="ctrTitle"/>
          </p:nvPr>
        </p:nvSpPr>
        <p:spPr>
          <a:xfrm>
            <a:off x="914400" y="1905001"/>
            <a:ext cx="10058400" cy="25939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6600"/>
              <a:buFont typeface="Cambria"/>
              <a:buNone/>
              <a:defRPr sz="66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4"/>
          <p:cNvSpPr txBox="1"/>
          <p:nvPr>
            <p:ph idx="1" type="subTitle"/>
          </p:nvPr>
        </p:nvSpPr>
        <p:spPr>
          <a:xfrm>
            <a:off x="914400" y="4572000"/>
            <a:ext cx="8615680" cy="1066800"/>
          </a:xfrm>
          <a:prstGeom prst="rect">
            <a:avLst/>
          </a:prstGeom>
          <a:noFill/>
          <a:ln>
            <a:noFill/>
          </a:ln>
        </p:spPr>
        <p:txBody>
          <a:bodyPr anchorCtr="0" anchor="t" bIns="45700" lIns="91425" spcFirstLastPara="1" rIns="91425" wrap="square" tIns="45700">
            <a:normAutofit/>
          </a:bodyPr>
          <a:lstStyle>
            <a:lvl1pPr lvl="0" algn="l">
              <a:spcBef>
                <a:spcPts val="400"/>
              </a:spcBef>
              <a:spcAft>
                <a:spcPts val="0"/>
              </a:spcAft>
              <a:buSzPts val="2000"/>
              <a:buNone/>
              <a:defRPr sz="2000">
                <a:solidFill>
                  <a:srgbClr val="8C8B8A"/>
                </a:solidFill>
              </a:defRPr>
            </a:lvl1pPr>
            <a:lvl2pPr lvl="1" algn="ctr">
              <a:spcBef>
                <a:spcPts val="400"/>
              </a:spcBef>
              <a:spcAft>
                <a:spcPts val="0"/>
              </a:spcAft>
              <a:buSzPts val="2000"/>
              <a:buNone/>
              <a:defRPr>
                <a:solidFill>
                  <a:srgbClr val="8C8B8A"/>
                </a:solidFill>
              </a:defRPr>
            </a:lvl2pPr>
            <a:lvl3pPr lvl="2" algn="ctr">
              <a:spcBef>
                <a:spcPts val="360"/>
              </a:spcBef>
              <a:spcAft>
                <a:spcPts val="0"/>
              </a:spcAft>
              <a:buSzPts val="1800"/>
              <a:buNone/>
              <a:defRPr>
                <a:solidFill>
                  <a:srgbClr val="8C8B8A"/>
                </a:solidFill>
              </a:defRPr>
            </a:lvl3pPr>
            <a:lvl4pPr lvl="3" algn="ctr">
              <a:spcBef>
                <a:spcPts val="320"/>
              </a:spcBef>
              <a:spcAft>
                <a:spcPts val="0"/>
              </a:spcAft>
              <a:buSzPts val="1600"/>
              <a:buNone/>
              <a:defRPr>
                <a:solidFill>
                  <a:srgbClr val="8C8B8A"/>
                </a:solidFill>
              </a:defRPr>
            </a:lvl4pPr>
            <a:lvl5pPr lvl="4" algn="ctr">
              <a:spcBef>
                <a:spcPts val="280"/>
              </a:spcBef>
              <a:spcAft>
                <a:spcPts val="0"/>
              </a:spcAft>
              <a:buSzPts val="1400"/>
              <a:buNone/>
              <a:defRPr>
                <a:solidFill>
                  <a:srgbClr val="8C8B8A"/>
                </a:solidFill>
              </a:defRPr>
            </a:lvl5pPr>
            <a:lvl6pPr lvl="5" algn="ctr">
              <a:spcBef>
                <a:spcPts val="280"/>
              </a:spcBef>
              <a:spcAft>
                <a:spcPts val="0"/>
              </a:spcAft>
              <a:buSzPts val="1400"/>
              <a:buNone/>
              <a:defRPr>
                <a:solidFill>
                  <a:srgbClr val="8C8B8A"/>
                </a:solidFill>
              </a:defRPr>
            </a:lvl6pPr>
            <a:lvl7pPr lvl="6" algn="ctr">
              <a:spcBef>
                <a:spcPts val="280"/>
              </a:spcBef>
              <a:spcAft>
                <a:spcPts val="0"/>
              </a:spcAft>
              <a:buSzPts val="1400"/>
              <a:buNone/>
              <a:defRPr>
                <a:solidFill>
                  <a:srgbClr val="8C8B8A"/>
                </a:solidFill>
              </a:defRPr>
            </a:lvl7pPr>
            <a:lvl8pPr lvl="7" algn="ctr">
              <a:spcBef>
                <a:spcPts val="280"/>
              </a:spcBef>
              <a:spcAft>
                <a:spcPts val="0"/>
              </a:spcAft>
              <a:buSzPts val="1400"/>
              <a:buNone/>
              <a:defRPr>
                <a:solidFill>
                  <a:srgbClr val="8C8B8A"/>
                </a:solidFill>
              </a:defRPr>
            </a:lvl8pPr>
            <a:lvl9pPr lvl="8" algn="ctr">
              <a:spcBef>
                <a:spcPts val="280"/>
              </a:spcBef>
              <a:spcAft>
                <a:spcPts val="0"/>
              </a:spcAft>
              <a:buSzPts val="1400"/>
              <a:buNone/>
              <a:defRPr>
                <a:solidFill>
                  <a:srgbClr val="8C8B8A"/>
                </a:solidFill>
              </a:defRPr>
            </a:lvl9pPr>
          </a:lstStyle>
          <a:p/>
        </p:txBody>
      </p:sp>
      <p:sp>
        <p:nvSpPr>
          <p:cNvPr id="42" name="Google Shape;42;p44"/>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4"/>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4"/>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45"/>
          <p:cNvSpPr txBox="1"/>
          <p:nvPr>
            <p:ph type="title"/>
          </p:nvPr>
        </p:nvSpPr>
        <p:spPr>
          <a:xfrm>
            <a:off x="963085" y="5486400"/>
            <a:ext cx="10212916" cy="1168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2"/>
              </a:buClr>
              <a:buSzPts val="3600"/>
              <a:buFont typeface="Cambria"/>
              <a:buNone/>
              <a:defRPr b="0"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5"/>
          <p:cNvSpPr txBox="1"/>
          <p:nvPr>
            <p:ph idx="1" type="body"/>
          </p:nvPr>
        </p:nvSpPr>
        <p:spPr>
          <a:xfrm>
            <a:off x="963085" y="3852863"/>
            <a:ext cx="8180916" cy="1633538"/>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C8B8A"/>
                </a:solidFill>
              </a:defRPr>
            </a:lvl1pPr>
            <a:lvl2pPr indent="-228600" lvl="1" marL="914400" algn="l">
              <a:spcBef>
                <a:spcPts val="360"/>
              </a:spcBef>
              <a:spcAft>
                <a:spcPts val="0"/>
              </a:spcAft>
              <a:buSzPts val="1800"/>
              <a:buNone/>
              <a:defRPr sz="1800">
                <a:solidFill>
                  <a:srgbClr val="8C8B8A"/>
                </a:solidFill>
              </a:defRPr>
            </a:lvl2pPr>
            <a:lvl3pPr indent="-228600" lvl="2" marL="1371600" algn="l">
              <a:spcBef>
                <a:spcPts val="320"/>
              </a:spcBef>
              <a:spcAft>
                <a:spcPts val="0"/>
              </a:spcAft>
              <a:buSzPts val="1600"/>
              <a:buNone/>
              <a:defRPr sz="1600">
                <a:solidFill>
                  <a:srgbClr val="8C8B8A"/>
                </a:solidFill>
              </a:defRPr>
            </a:lvl3pPr>
            <a:lvl4pPr indent="-228600" lvl="3" marL="1828800" algn="l">
              <a:spcBef>
                <a:spcPts val="280"/>
              </a:spcBef>
              <a:spcAft>
                <a:spcPts val="0"/>
              </a:spcAft>
              <a:buSzPts val="1400"/>
              <a:buNone/>
              <a:defRPr sz="1400">
                <a:solidFill>
                  <a:srgbClr val="8C8B8A"/>
                </a:solidFill>
              </a:defRPr>
            </a:lvl4pPr>
            <a:lvl5pPr indent="-228600" lvl="4" marL="2286000" algn="l">
              <a:spcBef>
                <a:spcPts val="280"/>
              </a:spcBef>
              <a:spcAft>
                <a:spcPts val="0"/>
              </a:spcAft>
              <a:buSzPts val="1400"/>
              <a:buNone/>
              <a:defRPr sz="1400">
                <a:solidFill>
                  <a:srgbClr val="8C8B8A"/>
                </a:solidFill>
              </a:defRPr>
            </a:lvl5pPr>
            <a:lvl6pPr indent="-228600" lvl="5" marL="2743200" algn="l">
              <a:spcBef>
                <a:spcPts val="280"/>
              </a:spcBef>
              <a:spcAft>
                <a:spcPts val="0"/>
              </a:spcAft>
              <a:buSzPts val="1400"/>
              <a:buNone/>
              <a:defRPr sz="1400">
                <a:solidFill>
                  <a:srgbClr val="8C8B8A"/>
                </a:solidFill>
              </a:defRPr>
            </a:lvl6pPr>
            <a:lvl7pPr indent="-228600" lvl="6" marL="3200400" algn="l">
              <a:spcBef>
                <a:spcPts val="280"/>
              </a:spcBef>
              <a:spcAft>
                <a:spcPts val="0"/>
              </a:spcAft>
              <a:buSzPts val="1400"/>
              <a:buNone/>
              <a:defRPr sz="1400">
                <a:solidFill>
                  <a:srgbClr val="8C8B8A"/>
                </a:solidFill>
              </a:defRPr>
            </a:lvl7pPr>
            <a:lvl8pPr indent="-228600" lvl="7" marL="3657600" algn="l">
              <a:spcBef>
                <a:spcPts val="280"/>
              </a:spcBef>
              <a:spcAft>
                <a:spcPts val="0"/>
              </a:spcAft>
              <a:buSzPts val="1400"/>
              <a:buNone/>
              <a:defRPr sz="1400">
                <a:solidFill>
                  <a:srgbClr val="8C8B8A"/>
                </a:solidFill>
              </a:defRPr>
            </a:lvl8pPr>
            <a:lvl9pPr indent="-228600" lvl="8" marL="4114800" algn="l">
              <a:spcBef>
                <a:spcPts val="280"/>
              </a:spcBef>
              <a:spcAft>
                <a:spcPts val="0"/>
              </a:spcAft>
              <a:buSzPts val="1400"/>
              <a:buNone/>
              <a:defRPr sz="1400">
                <a:solidFill>
                  <a:srgbClr val="8C8B8A"/>
                </a:solidFill>
              </a:defRPr>
            </a:lvl9pPr>
          </a:lstStyle>
          <a:p/>
        </p:txBody>
      </p:sp>
      <p:sp>
        <p:nvSpPr>
          <p:cNvPr id="48" name="Google Shape;48;p45"/>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5"/>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5"/>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46"/>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600"/>
              <a:buFont typeface="Cambria"/>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46"/>
          <p:cNvSpPr txBox="1"/>
          <p:nvPr>
            <p:ph idx="1" type="body"/>
          </p:nvPr>
        </p:nvSpPr>
        <p:spPr>
          <a:xfrm>
            <a:off x="609600" y="1535113"/>
            <a:ext cx="4876800" cy="639762"/>
          </a:xfrm>
          <a:prstGeom prst="rect">
            <a:avLst/>
          </a:prstGeom>
          <a:noFill/>
          <a:ln>
            <a:noFill/>
          </a:ln>
        </p:spPr>
        <p:txBody>
          <a:bodyPr anchorCtr="0" anchor="b" bIns="45700" lIns="91425" spcFirstLastPara="1" rIns="91425" wrap="square" tIns="45700">
            <a:noAutofit/>
          </a:bodyPr>
          <a:lstStyle>
            <a:lvl1pPr indent="-228600" lvl="0" marL="457200" algn="ctr">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4" name="Google Shape;54;p46"/>
          <p:cNvSpPr txBox="1"/>
          <p:nvPr>
            <p:ph idx="2" type="body"/>
          </p:nvPr>
        </p:nvSpPr>
        <p:spPr>
          <a:xfrm>
            <a:off x="609600" y="2174875"/>
            <a:ext cx="4876800"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5" name="Google Shape;55;p46"/>
          <p:cNvSpPr txBox="1"/>
          <p:nvPr>
            <p:ph idx="3" type="body"/>
          </p:nvPr>
        </p:nvSpPr>
        <p:spPr>
          <a:xfrm>
            <a:off x="5892800" y="1535113"/>
            <a:ext cx="4876800" cy="639762"/>
          </a:xfrm>
          <a:prstGeom prst="rect">
            <a:avLst/>
          </a:prstGeom>
          <a:noFill/>
          <a:ln>
            <a:noFill/>
          </a:ln>
        </p:spPr>
        <p:txBody>
          <a:bodyPr anchorCtr="0" anchor="b" bIns="45700" lIns="91425" spcFirstLastPara="1" rIns="91425" wrap="square" tIns="45700">
            <a:noAutofit/>
          </a:bodyPr>
          <a:lstStyle>
            <a:lvl1pPr indent="-228600" lvl="0" marL="457200" algn="ctr">
              <a:spcBef>
                <a:spcPts val="400"/>
              </a:spcBef>
              <a:spcAft>
                <a:spcPts val="0"/>
              </a:spcAft>
              <a:buSzPts val="2000"/>
              <a:buNone/>
              <a:defRPr b="1" sz="2000">
                <a:solidFill>
                  <a:schemeClr val="dk2"/>
                </a:solidFill>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56" name="Google Shape;56;p46"/>
          <p:cNvSpPr txBox="1"/>
          <p:nvPr>
            <p:ph idx="4" type="body"/>
          </p:nvPr>
        </p:nvSpPr>
        <p:spPr>
          <a:xfrm>
            <a:off x="5892800" y="2174875"/>
            <a:ext cx="4876800"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7" name="Google Shape;57;p46"/>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6"/>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6"/>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47"/>
          <p:cNvSpPr txBox="1"/>
          <p:nvPr>
            <p:ph type="title"/>
          </p:nvPr>
        </p:nvSpPr>
        <p:spPr>
          <a:xfrm>
            <a:off x="406401" y="5495544"/>
            <a:ext cx="10363200" cy="59436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dk2"/>
              </a:buClr>
              <a:buSzPts val="2200"/>
              <a:buFont typeface="Cambria"/>
              <a:buNone/>
              <a:defRPr b="1" sz="2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7"/>
          <p:cNvSpPr txBox="1"/>
          <p:nvPr>
            <p:ph idx="1" type="body"/>
          </p:nvPr>
        </p:nvSpPr>
        <p:spPr>
          <a:xfrm>
            <a:off x="406400" y="6096000"/>
            <a:ext cx="10363201" cy="609600"/>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600"/>
              <a:buNone/>
              <a:defRPr sz="16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63" name="Google Shape;63;p47"/>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7"/>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7"/>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6" name="Google Shape;66;p47"/>
          <p:cNvSpPr txBox="1"/>
          <p:nvPr>
            <p:ph idx="2" type="body"/>
          </p:nvPr>
        </p:nvSpPr>
        <p:spPr>
          <a:xfrm>
            <a:off x="406400" y="381000"/>
            <a:ext cx="10363200" cy="494284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48"/>
          <p:cNvSpPr txBox="1"/>
          <p:nvPr>
            <p:ph type="title"/>
          </p:nvPr>
        </p:nvSpPr>
        <p:spPr>
          <a:xfrm>
            <a:off x="402336" y="5495278"/>
            <a:ext cx="10363200" cy="59462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dk2"/>
              </a:buClr>
              <a:buSzPts val="2200"/>
              <a:buFont typeface="Cambria"/>
              <a:buNone/>
              <a:defRPr b="1" sz="2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48"/>
          <p:cNvSpPr/>
          <p:nvPr>
            <p:ph idx="2" type="pic"/>
          </p:nvPr>
        </p:nvSpPr>
        <p:spPr>
          <a:xfrm>
            <a:off x="0" y="0"/>
            <a:ext cx="11277600" cy="5486400"/>
          </a:xfrm>
          <a:prstGeom prst="rect">
            <a:avLst/>
          </a:prstGeom>
          <a:noFill/>
          <a:ln>
            <a:noFill/>
          </a:ln>
        </p:spPr>
      </p:sp>
      <p:sp>
        <p:nvSpPr>
          <p:cNvPr id="70" name="Google Shape;70;p48"/>
          <p:cNvSpPr txBox="1"/>
          <p:nvPr>
            <p:ph idx="1" type="body"/>
          </p:nvPr>
        </p:nvSpPr>
        <p:spPr>
          <a:xfrm>
            <a:off x="402336" y="6096000"/>
            <a:ext cx="10363200" cy="612648"/>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600"/>
              <a:buNone/>
              <a:defRPr sz="16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71" name="Google Shape;71;p48"/>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8"/>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3" name="Google Shape;73;p48"/>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49"/>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9"/>
          <p:cNvSpPr txBox="1"/>
          <p:nvPr>
            <p:ph idx="1" type="body"/>
          </p:nvPr>
        </p:nvSpPr>
        <p:spPr>
          <a:xfrm rot="5400000">
            <a:off x="3289300" y="-1079500"/>
            <a:ext cx="4800600" cy="101600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7" name="Google Shape;77;p49"/>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9"/>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9"/>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50"/>
          <p:cNvSpPr txBox="1"/>
          <p:nvPr>
            <p:ph type="title"/>
          </p:nvPr>
        </p:nvSpPr>
        <p:spPr>
          <a:xfrm rot="5400000">
            <a:off x="7081838" y="2032002"/>
            <a:ext cx="5851525" cy="2336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50"/>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50"/>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0"/>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0"/>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75000">
              <a:schemeClr val="lt1"/>
            </a:gs>
            <a:gs pos="100000">
              <a:srgbClr val="D8D8D8"/>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39"/>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2"/>
              </a:buClr>
              <a:buSzPts val="4600"/>
              <a:buFont typeface="Cambria"/>
              <a:buNone/>
              <a:defRPr b="0" i="0" sz="46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9"/>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lvl1pPr indent="-368300" lvl="0" marL="457200" marR="0" rtl="0" algn="l">
              <a:spcBef>
                <a:spcPts val="440"/>
              </a:spcBef>
              <a:spcAft>
                <a:spcPts val="0"/>
              </a:spcAft>
              <a:buClr>
                <a:schemeClr val="accent1"/>
              </a:buClr>
              <a:buSzPts val="2200"/>
              <a:buFont typeface="Arial"/>
              <a:buChar char="•"/>
              <a:defRPr b="0" i="0" sz="22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accent2"/>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accent3"/>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accent4"/>
              </a:buClr>
              <a:buSzPts val="1600"/>
              <a:buFont typeface="Arial"/>
              <a:buChar char="•"/>
              <a:defRPr b="0" i="0" sz="1600" u="none" cap="none" strike="noStrike">
                <a:solidFill>
                  <a:schemeClr val="dk1"/>
                </a:solidFill>
                <a:latin typeface="Calibri"/>
                <a:ea typeface="Calibri"/>
                <a:cs typeface="Calibri"/>
                <a:sym typeface="Calibri"/>
              </a:defRPr>
            </a:lvl4pPr>
            <a:lvl5pPr indent="-317500" lvl="4" marL="2286000" marR="0" rtl="0" algn="l">
              <a:spcBef>
                <a:spcPts val="280"/>
              </a:spcBef>
              <a:spcAft>
                <a:spcPts val="0"/>
              </a:spcAft>
              <a:buClr>
                <a:schemeClr val="accent5"/>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spcBef>
                <a:spcPts val="280"/>
              </a:spcBef>
              <a:spcAft>
                <a:spcPts val="0"/>
              </a:spcAft>
              <a:buClr>
                <a:schemeClr val="accent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spcBef>
                <a:spcPts val="280"/>
              </a:spcBef>
              <a:spcAft>
                <a:spcPts val="0"/>
              </a:spcAft>
              <a:buClr>
                <a:schemeClr val="accent2"/>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spcBef>
                <a:spcPts val="280"/>
              </a:spcBef>
              <a:spcAft>
                <a:spcPts val="0"/>
              </a:spcAft>
              <a:buClr>
                <a:schemeClr val="accent3"/>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spcBef>
                <a:spcPts val="280"/>
              </a:spcBef>
              <a:spcAft>
                <a:spcPts val="0"/>
              </a:spcAft>
              <a:buClr>
                <a:schemeClr val="accent4"/>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2" name="Google Shape;12;p39"/>
          <p:cNvSpPr/>
          <p:nvPr/>
        </p:nvSpPr>
        <p:spPr>
          <a:xfrm>
            <a:off x="11277600" y="0"/>
            <a:ext cx="9144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 name="Google Shape;13;p39"/>
          <p:cNvSpPr/>
          <p:nvPr/>
        </p:nvSpPr>
        <p:spPr>
          <a:xfrm>
            <a:off x="11277600" y="5486400"/>
            <a:ext cx="91440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39"/>
          <p:cNvSpPr/>
          <p:nvPr>
            <p:ph idx="12" type="sldNum"/>
          </p:nvPr>
        </p:nvSpPr>
        <p:spPr>
          <a:xfrm>
            <a:off x="11375717" y="5648960"/>
            <a:ext cx="731520" cy="396240"/>
          </a:xfrm>
          <a:prstGeom prst="bracketPair">
            <a:avLst/>
          </a:prstGeom>
          <a:no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lvl1pPr indent="0" lvl="0" marL="0" marR="0" rtl="0" algn="ctr">
              <a:spcBef>
                <a:spcPts val="0"/>
              </a:spcBef>
              <a:buNone/>
              <a:defRPr b="0" i="0" sz="1800" u="none" cap="none" strike="noStrike">
                <a:solidFill>
                  <a:srgbClr val="FFFFFF"/>
                </a:solidFill>
                <a:latin typeface="Calibri"/>
                <a:ea typeface="Calibri"/>
                <a:cs typeface="Calibri"/>
                <a:sym typeface="Calibri"/>
              </a:defRPr>
            </a:lvl1pPr>
            <a:lvl2pPr indent="0" lvl="1" marL="0" marR="0" rtl="0" algn="ctr">
              <a:spcBef>
                <a:spcPts val="0"/>
              </a:spcBef>
              <a:buNone/>
              <a:defRPr b="0" i="0" sz="1800" u="none" cap="none" strike="noStrike">
                <a:solidFill>
                  <a:srgbClr val="FFFFFF"/>
                </a:solidFill>
                <a:latin typeface="Calibri"/>
                <a:ea typeface="Calibri"/>
                <a:cs typeface="Calibri"/>
                <a:sym typeface="Calibri"/>
              </a:defRPr>
            </a:lvl2pPr>
            <a:lvl3pPr indent="0" lvl="2" marL="0" marR="0" rtl="0" algn="ctr">
              <a:spcBef>
                <a:spcPts val="0"/>
              </a:spcBef>
              <a:buNone/>
              <a:defRPr b="0" i="0" sz="1800" u="none" cap="none" strike="noStrike">
                <a:solidFill>
                  <a:srgbClr val="FFFFFF"/>
                </a:solidFill>
                <a:latin typeface="Calibri"/>
                <a:ea typeface="Calibri"/>
                <a:cs typeface="Calibri"/>
                <a:sym typeface="Calibri"/>
              </a:defRPr>
            </a:lvl3pPr>
            <a:lvl4pPr indent="0" lvl="3" marL="0" marR="0" rtl="0" algn="ctr">
              <a:spcBef>
                <a:spcPts val="0"/>
              </a:spcBef>
              <a:buNone/>
              <a:defRPr b="0" i="0" sz="1800" u="none" cap="none" strike="noStrike">
                <a:solidFill>
                  <a:srgbClr val="FFFFFF"/>
                </a:solidFill>
                <a:latin typeface="Calibri"/>
                <a:ea typeface="Calibri"/>
                <a:cs typeface="Calibri"/>
                <a:sym typeface="Calibri"/>
              </a:defRPr>
            </a:lvl4pPr>
            <a:lvl5pPr indent="0" lvl="4" marL="0" marR="0" rtl="0" algn="ctr">
              <a:spcBef>
                <a:spcPts val="0"/>
              </a:spcBef>
              <a:buNone/>
              <a:defRPr b="0" i="0" sz="1800" u="none" cap="none" strike="noStrike">
                <a:solidFill>
                  <a:srgbClr val="FFFFFF"/>
                </a:solidFill>
                <a:latin typeface="Calibri"/>
                <a:ea typeface="Calibri"/>
                <a:cs typeface="Calibri"/>
                <a:sym typeface="Calibri"/>
              </a:defRPr>
            </a:lvl5pPr>
            <a:lvl6pPr indent="0" lvl="5" marL="0" marR="0" rtl="0" algn="ctr">
              <a:spcBef>
                <a:spcPts val="0"/>
              </a:spcBef>
              <a:buNone/>
              <a:defRPr b="0" i="0" sz="1800" u="none" cap="none" strike="noStrike">
                <a:solidFill>
                  <a:srgbClr val="FFFFFF"/>
                </a:solidFill>
                <a:latin typeface="Calibri"/>
                <a:ea typeface="Calibri"/>
                <a:cs typeface="Calibri"/>
                <a:sym typeface="Calibri"/>
              </a:defRPr>
            </a:lvl6pPr>
            <a:lvl7pPr indent="0" lvl="6" marL="0" marR="0" rtl="0" algn="ctr">
              <a:spcBef>
                <a:spcPts val="0"/>
              </a:spcBef>
              <a:buNone/>
              <a:defRPr b="0" i="0" sz="1800" u="none" cap="none" strike="noStrike">
                <a:solidFill>
                  <a:srgbClr val="FFFFFF"/>
                </a:solidFill>
                <a:latin typeface="Calibri"/>
                <a:ea typeface="Calibri"/>
                <a:cs typeface="Calibri"/>
                <a:sym typeface="Calibri"/>
              </a:defRPr>
            </a:lvl7pPr>
            <a:lvl8pPr indent="0" lvl="7" marL="0" marR="0" rtl="0" algn="ctr">
              <a:spcBef>
                <a:spcPts val="0"/>
              </a:spcBef>
              <a:buNone/>
              <a:defRPr b="0" i="0" sz="1800" u="none" cap="none" strike="noStrike">
                <a:solidFill>
                  <a:srgbClr val="FFFFFF"/>
                </a:solidFill>
                <a:latin typeface="Calibri"/>
                <a:ea typeface="Calibri"/>
                <a:cs typeface="Calibri"/>
                <a:sym typeface="Calibri"/>
              </a:defRPr>
            </a:lvl8pPr>
            <a:lvl9pPr indent="0" lvl="8" marL="0" marR="0" rtl="0" algn="ctr">
              <a:spcBef>
                <a:spcPts val="0"/>
              </a:spcBef>
              <a:buNone/>
              <a:defRPr b="0" i="0" sz="1800" u="none" cap="none" strike="noStrike">
                <a:solidFill>
                  <a:srgbClr val="FFFFFF"/>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5" name="Google Shape;15;p39"/>
          <p:cNvSpPr txBox="1"/>
          <p:nvPr>
            <p:ph idx="11" type="ftr"/>
          </p:nvPr>
        </p:nvSpPr>
        <p:spPr>
          <a:xfrm rot="-5400000">
            <a:off x="10510428" y="3987800"/>
            <a:ext cx="2367281" cy="48768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39"/>
          <p:cNvSpPr txBox="1"/>
          <p:nvPr>
            <p:ph idx="10" type="dt"/>
          </p:nvPr>
        </p:nvSpPr>
        <p:spPr>
          <a:xfrm rot="-5400000">
            <a:off x="10474869" y="1584960"/>
            <a:ext cx="2438399" cy="487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0.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30.png"/><Relationship Id="rId5" Type="http://schemas.openxmlformats.org/officeDocument/2006/relationships/image" Target="../media/image17.png"/><Relationship Id="rId6"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4.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www.youtube.com/watch?v=KnXohGgIpQU"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9.png"/><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1.png"/><Relationship Id="rId4" Type="http://schemas.openxmlformats.org/officeDocument/2006/relationships/image" Target="../media/image36.png"/><Relationship Id="rId5"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 name="Shape 89"/>
        <p:cNvGrpSpPr/>
        <p:nvPr/>
      </p:nvGrpSpPr>
      <p:grpSpPr>
        <a:xfrm>
          <a:off x="0" y="0"/>
          <a:ext cx="0" cy="0"/>
          <a:chOff x="0" y="0"/>
          <a:chExt cx="0" cy="0"/>
        </a:xfrm>
      </p:grpSpPr>
      <p:sp>
        <p:nvSpPr>
          <p:cNvPr id="90" name="Google Shape;90;p1"/>
          <p:cNvSpPr txBox="1"/>
          <p:nvPr>
            <p:ph type="title"/>
          </p:nvPr>
        </p:nvSpPr>
        <p:spPr>
          <a:xfrm>
            <a:off x="4343400" y="2541825"/>
            <a:ext cx="3657600" cy="936154"/>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000000"/>
              </a:buClr>
              <a:buSzPts val="6000"/>
              <a:buFont typeface="Cambria"/>
              <a:buNone/>
            </a:pPr>
            <a:r>
              <a:rPr lang="en-US" sz="6000">
                <a:solidFill>
                  <a:srgbClr val="000000"/>
                </a:solidFill>
              </a:rPr>
              <a:t>Indexing</a:t>
            </a:r>
            <a:endParaRPr sz="6000"/>
          </a:p>
        </p:txBody>
      </p:sp>
      <p:sp>
        <p:nvSpPr>
          <p:cNvPr id="91" name="Google Shape;91;p1"/>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 name="Shape 95"/>
        <p:cNvGrpSpPr/>
        <p:nvPr/>
      </p:nvGrpSpPr>
      <p:grpSpPr>
        <a:xfrm>
          <a:off x="0" y="0"/>
          <a:ext cx="0" cy="0"/>
          <a:chOff x="0" y="0"/>
          <a:chExt cx="0" cy="0"/>
        </a:xfrm>
      </p:grpSpPr>
      <p:sp>
        <p:nvSpPr>
          <p:cNvPr id="96" name="Google Shape;96;p2"/>
          <p:cNvSpPr txBox="1"/>
          <p:nvPr>
            <p:ph type="title"/>
          </p:nvPr>
        </p:nvSpPr>
        <p:spPr>
          <a:xfrm>
            <a:off x="916940" y="454851"/>
            <a:ext cx="2740800" cy="6906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000000"/>
              </a:buClr>
              <a:buSzPts val="4400"/>
              <a:buFont typeface="Cambria"/>
              <a:buNone/>
            </a:pPr>
            <a:r>
              <a:rPr lang="en-US" sz="4400">
                <a:solidFill>
                  <a:srgbClr val="000000"/>
                </a:solidFill>
              </a:rPr>
              <a:t>Indexing</a:t>
            </a:r>
            <a:endParaRPr sz="4400"/>
          </a:p>
        </p:txBody>
      </p:sp>
      <p:sp>
        <p:nvSpPr>
          <p:cNvPr id="97" name="Google Shape;97;p2"/>
          <p:cNvSpPr txBox="1"/>
          <p:nvPr/>
        </p:nvSpPr>
        <p:spPr>
          <a:xfrm>
            <a:off x="916942" y="1203707"/>
            <a:ext cx="10354800" cy="5596200"/>
          </a:xfrm>
          <a:prstGeom prst="rect">
            <a:avLst/>
          </a:prstGeom>
          <a:noFill/>
          <a:ln>
            <a:noFill/>
          </a:ln>
        </p:spPr>
        <p:txBody>
          <a:bodyPr anchorCtr="0" anchor="t" bIns="0" lIns="0" spcFirstLastPara="1" rIns="0" wrap="square" tIns="132075">
            <a:spAutoFit/>
          </a:bodyPr>
          <a:lstStyle/>
          <a:p>
            <a:pPr indent="-393700" lvl="0" marL="457200" marR="100965" rtl="0" algn="l">
              <a:lnSpc>
                <a:spcPct val="115000"/>
              </a:lnSpc>
              <a:spcBef>
                <a:spcPts val="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A SQL index is a quick lookup table for finding records users need to search  frequently.</a:t>
            </a:r>
            <a:endParaRPr b="0" i="0" sz="2600" u="none" cap="none" strike="noStrike">
              <a:solidFill>
                <a:schemeClr val="dk1"/>
              </a:solidFill>
              <a:latin typeface="Calibri"/>
              <a:ea typeface="Calibri"/>
              <a:cs typeface="Calibri"/>
              <a:sym typeface="Calibri"/>
            </a:endParaRPr>
          </a:p>
          <a:p>
            <a:pPr indent="-393700" lvl="0" marL="457200" marR="0" rtl="0" algn="l">
              <a:lnSpc>
                <a:spcPct val="115000"/>
              </a:lnSpc>
              <a:spcBef>
                <a:spcPts val="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An index is small, fast, and optimized for quick lookups.</a:t>
            </a:r>
            <a:endParaRPr b="0" i="0" sz="2600" u="none" cap="none" strike="noStrike">
              <a:solidFill>
                <a:schemeClr val="dk1"/>
              </a:solidFill>
              <a:latin typeface="Calibri"/>
              <a:ea typeface="Calibri"/>
              <a:cs typeface="Calibri"/>
              <a:sym typeface="Calibri"/>
            </a:endParaRPr>
          </a:p>
          <a:p>
            <a:pPr indent="-393700" lvl="0" marL="457200" marR="647065" rtl="0" algn="l">
              <a:lnSpc>
                <a:spcPct val="115000"/>
              </a:lnSpc>
              <a:spcBef>
                <a:spcPts val="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It is very useful for connecting the relational tables and searching large  tables.</a:t>
            </a:r>
            <a:endParaRPr b="0" i="0" sz="2600" u="none" cap="none" strike="noStrike">
              <a:solidFill>
                <a:schemeClr val="dk1"/>
              </a:solidFill>
              <a:latin typeface="Calibri"/>
              <a:ea typeface="Calibri"/>
              <a:cs typeface="Calibri"/>
              <a:sym typeface="Calibri"/>
            </a:endParaRPr>
          </a:p>
          <a:p>
            <a:pPr indent="-393700" lvl="0" marL="457200" marR="0" rtl="0" algn="l">
              <a:lnSpc>
                <a:spcPct val="115000"/>
              </a:lnSpc>
              <a:spcBef>
                <a:spcPts val="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Simply put, an index is a pointer to data in a table.</a:t>
            </a:r>
            <a:endParaRPr b="0" i="0" sz="2600" u="none" cap="none" strike="noStrike">
              <a:solidFill>
                <a:schemeClr val="dk1"/>
              </a:solidFill>
              <a:latin typeface="Calibri"/>
              <a:ea typeface="Calibri"/>
              <a:cs typeface="Calibri"/>
              <a:sym typeface="Calibri"/>
            </a:endParaRPr>
          </a:p>
          <a:p>
            <a:pPr indent="-393700" lvl="0" marL="457200" marR="5080" rtl="0" algn="l">
              <a:lnSpc>
                <a:spcPct val="115000"/>
              </a:lnSpc>
              <a:spcBef>
                <a:spcPts val="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An index helps to speed up </a:t>
            </a:r>
            <a:r>
              <a:rPr b="1" i="0" lang="en-US" sz="2600" u="none" cap="none" strike="noStrike">
                <a:solidFill>
                  <a:schemeClr val="dk1"/>
                </a:solidFill>
                <a:latin typeface="Calibri"/>
                <a:ea typeface="Calibri"/>
                <a:cs typeface="Calibri"/>
                <a:sym typeface="Calibri"/>
              </a:rPr>
              <a:t>SELECT </a:t>
            </a:r>
            <a:r>
              <a:rPr b="0" i="0" lang="en-US" sz="2600" u="none" cap="none" strike="noStrike">
                <a:solidFill>
                  <a:schemeClr val="dk1"/>
                </a:solidFill>
                <a:latin typeface="Calibri"/>
                <a:ea typeface="Calibri"/>
                <a:cs typeface="Calibri"/>
                <a:sym typeface="Calibri"/>
              </a:rPr>
              <a:t>queries and </a:t>
            </a:r>
            <a:r>
              <a:rPr b="1" i="0" lang="en-US" sz="2600" u="none" cap="none" strike="noStrike">
                <a:solidFill>
                  <a:schemeClr val="dk1"/>
                </a:solidFill>
                <a:latin typeface="Calibri"/>
                <a:ea typeface="Calibri"/>
                <a:cs typeface="Calibri"/>
                <a:sym typeface="Calibri"/>
              </a:rPr>
              <a:t>WHERE </a:t>
            </a:r>
            <a:r>
              <a:rPr b="0" i="0" lang="en-US" sz="2600" u="none" cap="none" strike="noStrike">
                <a:solidFill>
                  <a:schemeClr val="dk1"/>
                </a:solidFill>
                <a:latin typeface="Calibri"/>
                <a:ea typeface="Calibri"/>
                <a:cs typeface="Calibri"/>
                <a:sym typeface="Calibri"/>
              </a:rPr>
              <a:t>clauses, but it slows  down data input, with the </a:t>
            </a:r>
            <a:r>
              <a:rPr b="1" i="0" lang="en-US" sz="2600" u="none" cap="none" strike="noStrike">
                <a:solidFill>
                  <a:schemeClr val="dk1"/>
                </a:solidFill>
                <a:latin typeface="Calibri"/>
                <a:ea typeface="Calibri"/>
                <a:cs typeface="Calibri"/>
                <a:sym typeface="Calibri"/>
              </a:rPr>
              <a:t>UPDATE </a:t>
            </a:r>
            <a:r>
              <a:rPr b="0" i="0" lang="en-US" sz="2600" u="none" cap="none" strike="noStrike">
                <a:solidFill>
                  <a:schemeClr val="dk1"/>
                </a:solidFill>
                <a:latin typeface="Calibri"/>
                <a:ea typeface="Calibri"/>
                <a:cs typeface="Calibri"/>
                <a:sym typeface="Calibri"/>
              </a:rPr>
              <a:t>and the </a:t>
            </a:r>
            <a:r>
              <a:rPr b="1" i="0" lang="en-US" sz="2600" u="none" cap="none" strike="noStrike">
                <a:solidFill>
                  <a:schemeClr val="dk1"/>
                </a:solidFill>
                <a:latin typeface="Calibri"/>
                <a:ea typeface="Calibri"/>
                <a:cs typeface="Calibri"/>
                <a:sym typeface="Calibri"/>
              </a:rPr>
              <a:t>INSERT </a:t>
            </a:r>
            <a:r>
              <a:rPr b="0" i="0" lang="en-US" sz="2600" u="none" cap="none" strike="noStrike">
                <a:solidFill>
                  <a:schemeClr val="dk1"/>
                </a:solidFill>
                <a:latin typeface="Calibri"/>
                <a:ea typeface="Calibri"/>
                <a:cs typeface="Calibri"/>
                <a:sym typeface="Calibri"/>
              </a:rPr>
              <a:t>statements.</a:t>
            </a:r>
            <a:endParaRPr b="0" i="0" sz="2600" u="none" cap="none" strike="noStrike">
              <a:solidFill>
                <a:schemeClr val="dk1"/>
              </a:solidFill>
              <a:latin typeface="Calibri"/>
              <a:ea typeface="Calibri"/>
              <a:cs typeface="Calibri"/>
              <a:sym typeface="Calibri"/>
            </a:endParaRPr>
          </a:p>
          <a:p>
            <a:pPr indent="-393700" lvl="0" marL="457200" marR="0" rtl="0" algn="l">
              <a:lnSpc>
                <a:spcPct val="115000"/>
              </a:lnSpc>
              <a:spcBef>
                <a:spcPts val="0"/>
              </a:spcBef>
              <a:spcAft>
                <a:spcPts val="0"/>
              </a:spcAft>
              <a:buClr>
                <a:schemeClr val="dk1"/>
              </a:buClr>
              <a:buSzPts val="2600"/>
              <a:buFont typeface="Calibri"/>
              <a:buChar char="●"/>
            </a:pPr>
            <a:r>
              <a:rPr b="1" i="0" lang="en-US" sz="2600" u="none" cap="none" strike="noStrike">
                <a:solidFill>
                  <a:schemeClr val="dk1"/>
                </a:solidFill>
                <a:latin typeface="Calibri"/>
                <a:ea typeface="Calibri"/>
                <a:cs typeface="Calibri"/>
                <a:sym typeface="Calibri"/>
              </a:rPr>
              <a:t>Indexes can be created or dropped with no effect on the data.</a:t>
            </a:r>
            <a:endParaRPr b="0" i="0" sz="2600" u="none" cap="none" strike="noStrike">
              <a:solidFill>
                <a:schemeClr val="dk1"/>
              </a:solidFill>
              <a:latin typeface="Calibri"/>
              <a:ea typeface="Calibri"/>
              <a:cs typeface="Calibri"/>
              <a:sym typeface="Calibri"/>
            </a:endParaRPr>
          </a:p>
          <a:p>
            <a:pPr indent="-393700" lvl="0" marL="457200" marR="143510" rtl="0" algn="l">
              <a:lnSpc>
                <a:spcPct val="115000"/>
              </a:lnSpc>
              <a:spcBef>
                <a:spcPts val="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SQL Server supports several types of indexes but one of the most common  types is the clustered index.</a:t>
            </a:r>
            <a:endParaRPr b="0" i="0" sz="2600" u="none" cap="none" strike="noStrike">
              <a:solidFill>
                <a:schemeClr val="dk1"/>
              </a:solidFill>
              <a:latin typeface="Calibri"/>
              <a:ea typeface="Calibri"/>
              <a:cs typeface="Calibri"/>
              <a:sym typeface="Calibri"/>
            </a:endParaRPr>
          </a:p>
          <a:p>
            <a:pPr indent="-393700" lvl="0" marL="457200" marR="0" rtl="0" algn="l">
              <a:lnSpc>
                <a:spcPct val="115000"/>
              </a:lnSpc>
              <a:spcBef>
                <a:spcPts val="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This type of index is automatically created with a primary key.</a:t>
            </a:r>
            <a:endParaRPr b="0" i="0" sz="2600" u="none" cap="none" strike="noStrike">
              <a:solidFill>
                <a:schemeClr val="dk1"/>
              </a:solidFill>
              <a:latin typeface="Calibri"/>
              <a:ea typeface="Calibri"/>
              <a:cs typeface="Calibri"/>
              <a:sym typeface="Calibri"/>
            </a:endParaRPr>
          </a:p>
        </p:txBody>
      </p:sp>
      <p:sp>
        <p:nvSpPr>
          <p:cNvPr id="98" name="Google Shape;98;p2"/>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Why we need Indexing in DBMS?</a:t>
            </a:r>
            <a:endParaRPr/>
          </a:p>
        </p:txBody>
      </p:sp>
      <p:sp>
        <p:nvSpPr>
          <p:cNvPr id="104" name="Google Shape;104;p3"/>
          <p:cNvSpPr txBox="1"/>
          <p:nvPr>
            <p:ph idx="1" type="body"/>
          </p:nvPr>
        </p:nvSpPr>
        <p:spPr>
          <a:xfrm>
            <a:off x="609600" y="1536192"/>
            <a:ext cx="4876800" cy="4590288"/>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800"/>
              <a:buChar char="•"/>
            </a:pPr>
            <a:r>
              <a:rPr lang="en-US"/>
              <a:t>Suppose, we want to search record of student whose roll no. is 525 from 1000 records in a table.</a:t>
            </a:r>
            <a:endParaRPr/>
          </a:p>
        </p:txBody>
      </p:sp>
      <p:sp>
        <p:nvSpPr>
          <p:cNvPr id="105" name="Google Shape;105;p3"/>
          <p:cNvSpPr txBox="1"/>
          <p:nvPr>
            <p:ph idx="2" type="body"/>
          </p:nvPr>
        </p:nvSpPr>
        <p:spPr>
          <a:xfrm>
            <a:off x="6705600" y="1752600"/>
            <a:ext cx="4238625" cy="4361688"/>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800"/>
              <a:buChar char="•"/>
            </a:pPr>
            <a:r>
              <a:rPr lang="en-US"/>
              <a:t>Query: select * from student where rollno=525;</a:t>
            </a:r>
            <a:endParaRPr/>
          </a:p>
          <a:p>
            <a:pPr indent="-228600" lvl="0" marL="342900" rtl="0" algn="l">
              <a:spcBef>
                <a:spcPts val="560"/>
              </a:spcBef>
              <a:spcAft>
                <a:spcPts val="0"/>
              </a:spcAft>
              <a:buSzPts val="2800"/>
              <a:buChar char="•"/>
            </a:pPr>
            <a:r>
              <a:rPr lang="en-US"/>
              <a:t>It will search 524 records in a table then we get 525</a:t>
            </a:r>
            <a:r>
              <a:rPr baseline="30000" lang="en-US"/>
              <a:t>th</a:t>
            </a:r>
            <a:r>
              <a:rPr lang="en-US"/>
              <a:t> record.</a:t>
            </a:r>
            <a:endParaRPr/>
          </a:p>
          <a:p>
            <a:pPr indent="-228600" lvl="0" marL="342900" rtl="0" algn="l">
              <a:spcBef>
                <a:spcPts val="560"/>
              </a:spcBef>
              <a:spcAft>
                <a:spcPts val="0"/>
              </a:spcAft>
              <a:buSzPts val="2800"/>
              <a:buChar char="•"/>
            </a:pPr>
            <a:r>
              <a:rPr lang="en-US"/>
              <a:t>Time consuming</a:t>
            </a:r>
            <a:endParaRPr/>
          </a:p>
          <a:p>
            <a:pPr indent="-50800" lvl="0" marL="342900" rtl="0" algn="l">
              <a:spcBef>
                <a:spcPts val="560"/>
              </a:spcBef>
              <a:spcAft>
                <a:spcPts val="0"/>
              </a:spcAft>
              <a:buSzPts val="2800"/>
              <a:buNone/>
            </a:pPr>
            <a:r>
              <a:t/>
            </a:r>
            <a:endParaRPr/>
          </a:p>
        </p:txBody>
      </p:sp>
      <p:pic>
        <p:nvPicPr>
          <p:cNvPr id="106" name="Google Shape;106;p3"/>
          <p:cNvPicPr preferRelativeResize="0"/>
          <p:nvPr/>
        </p:nvPicPr>
        <p:blipFill rotWithShape="1">
          <a:blip r:embed="rId3">
            <a:alphaModFix/>
          </a:blip>
          <a:srcRect b="0" l="0" r="0" t="0"/>
          <a:stretch/>
        </p:blipFill>
        <p:spPr>
          <a:xfrm>
            <a:off x="1143000" y="3429000"/>
            <a:ext cx="4314824" cy="2766517"/>
          </a:xfrm>
          <a:prstGeom prst="rect">
            <a:avLst/>
          </a:prstGeom>
          <a:noFill/>
          <a:ln>
            <a:noFill/>
          </a:ln>
        </p:spPr>
      </p:pic>
      <p:sp>
        <p:nvSpPr>
          <p:cNvPr id="107" name="Google Shape;107;p3"/>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 calcmode="lin" valueType="num">
                                      <p:cBhvr additive="base">
                                        <p:cTn dur="500"/>
                                        <p:tgtEl>
                                          <p:spTgt spid="1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 calcmode="lin" valueType="num">
                                      <p:cBhvr additive="base">
                                        <p:cTn dur="500"/>
                                        <p:tgtEl>
                                          <p:spTgt spid="1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 calcmode="lin" valueType="num">
                                      <p:cBhvr additive="base">
                                        <p:cTn dur="500"/>
                                        <p:tgtEl>
                                          <p:spTgt spid="1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 calcmode="lin" valueType="num">
                                      <p:cBhvr additive="base">
                                        <p:cTn dur="500"/>
                                        <p:tgtEl>
                                          <p:spTgt spid="1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 calcmode="lin" valueType="num">
                                      <p:cBhvr additive="base">
                                        <p:cTn dur="500"/>
                                        <p:tgtEl>
                                          <p:spTgt spid="10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Solution: Indexing</a:t>
            </a:r>
            <a:endParaRPr/>
          </a:p>
        </p:txBody>
      </p:sp>
      <p:pic>
        <p:nvPicPr>
          <p:cNvPr id="113" name="Google Shape;113;p4"/>
          <p:cNvPicPr preferRelativeResize="0"/>
          <p:nvPr/>
        </p:nvPicPr>
        <p:blipFill rotWithShape="1">
          <a:blip r:embed="rId3">
            <a:alphaModFix/>
          </a:blip>
          <a:srcRect b="0" l="0" r="0" t="0"/>
          <a:stretch/>
        </p:blipFill>
        <p:spPr>
          <a:xfrm>
            <a:off x="5791200" y="482265"/>
            <a:ext cx="4404087" cy="2331915"/>
          </a:xfrm>
          <a:prstGeom prst="rect">
            <a:avLst/>
          </a:prstGeom>
          <a:noFill/>
          <a:ln>
            <a:noFill/>
          </a:ln>
        </p:spPr>
      </p:pic>
      <p:pic>
        <p:nvPicPr>
          <p:cNvPr id="114" name="Google Shape;114;p4"/>
          <p:cNvPicPr preferRelativeResize="0"/>
          <p:nvPr>
            <p:ph idx="1" type="body"/>
          </p:nvPr>
        </p:nvPicPr>
        <p:blipFill rotWithShape="1">
          <a:blip r:embed="rId4">
            <a:alphaModFix/>
          </a:blip>
          <a:srcRect b="0" l="0" r="0" t="0"/>
          <a:stretch/>
        </p:blipFill>
        <p:spPr>
          <a:xfrm>
            <a:off x="457200" y="2895600"/>
            <a:ext cx="5975653" cy="3124200"/>
          </a:xfrm>
          <a:prstGeom prst="rect">
            <a:avLst/>
          </a:prstGeom>
          <a:noFill/>
          <a:ln>
            <a:noFill/>
          </a:ln>
        </p:spPr>
      </p:pic>
      <p:sp>
        <p:nvSpPr>
          <p:cNvPr id="115" name="Google Shape;115;p4"/>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t/>
            </a:r>
            <a:endParaRPr/>
          </a:p>
        </p:txBody>
      </p:sp>
      <p:sp>
        <p:nvSpPr>
          <p:cNvPr id="121" name="Google Shape;121;p5"/>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122" name="Google Shape;122;p5"/>
          <p:cNvPicPr preferRelativeResize="0"/>
          <p:nvPr/>
        </p:nvPicPr>
        <p:blipFill rotWithShape="1">
          <a:blip r:embed="rId3">
            <a:alphaModFix/>
          </a:blip>
          <a:srcRect b="0" l="0" r="0" t="0"/>
          <a:stretch/>
        </p:blipFill>
        <p:spPr>
          <a:xfrm>
            <a:off x="1143000" y="1600200"/>
            <a:ext cx="8528112" cy="4419600"/>
          </a:xfrm>
          <a:prstGeom prst="rect">
            <a:avLst/>
          </a:prstGeom>
          <a:noFill/>
          <a:ln>
            <a:noFill/>
          </a:ln>
        </p:spPr>
      </p:pic>
      <p:sp>
        <p:nvSpPr>
          <p:cNvPr id="123" name="Google Shape;123;p5"/>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7" name="Shape 127"/>
        <p:cNvGrpSpPr/>
        <p:nvPr/>
      </p:nvGrpSpPr>
      <p:grpSpPr>
        <a:xfrm>
          <a:off x="0" y="0"/>
          <a:ext cx="0" cy="0"/>
          <a:chOff x="0" y="0"/>
          <a:chExt cx="0" cy="0"/>
        </a:xfrm>
      </p:grpSpPr>
      <p:sp>
        <p:nvSpPr>
          <p:cNvPr id="128" name="Google Shape;128;p6"/>
          <p:cNvSpPr txBox="1"/>
          <p:nvPr/>
        </p:nvSpPr>
        <p:spPr>
          <a:xfrm>
            <a:off x="727662" y="2424815"/>
            <a:ext cx="3234055" cy="2962349"/>
          </a:xfrm>
          <a:prstGeom prst="rect">
            <a:avLst/>
          </a:prstGeom>
          <a:noFill/>
          <a:ln>
            <a:noFill/>
          </a:ln>
        </p:spPr>
        <p:txBody>
          <a:bodyPr anchorCtr="0" anchor="t" bIns="0" lIns="0" spcFirstLastPara="1" rIns="0" wrap="square" tIns="43175">
            <a:spAutoFit/>
          </a:bodyPr>
          <a:lstStyle/>
          <a:p>
            <a:pPr indent="-228600" lvl="0" marL="241300" marR="2540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Indexing is a way to optimize  the performance of a  database by minimizing the  number of disk accesses  required when a query is  processed.</a:t>
            </a:r>
            <a:endParaRPr b="0" i="0" sz="2000" u="none" cap="none" strike="noStrike">
              <a:solidFill>
                <a:schemeClr val="dk1"/>
              </a:solidFill>
              <a:latin typeface="Calibri"/>
              <a:ea typeface="Calibri"/>
              <a:cs typeface="Calibri"/>
              <a:sym typeface="Calibri"/>
            </a:endParaRPr>
          </a:p>
          <a:p>
            <a:pPr indent="-228600" lvl="0" marL="241300" marR="5080" rtl="0" algn="l">
              <a:lnSpc>
                <a:spcPct val="108000"/>
              </a:lnSpc>
              <a:spcBef>
                <a:spcPts val="103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It is a data structure  technique which is used to  quickly locate and access the  data in a database.</a:t>
            </a:r>
            <a:endParaRPr b="0" i="0" sz="2000" u="none" cap="none" strike="noStrike">
              <a:solidFill>
                <a:schemeClr val="dk1"/>
              </a:solidFill>
              <a:latin typeface="Calibri"/>
              <a:ea typeface="Calibri"/>
              <a:cs typeface="Calibri"/>
              <a:sym typeface="Calibri"/>
            </a:endParaRPr>
          </a:p>
        </p:txBody>
      </p:sp>
      <p:grpSp>
        <p:nvGrpSpPr>
          <p:cNvPr id="129" name="Google Shape;129;p6"/>
          <p:cNvGrpSpPr/>
          <p:nvPr/>
        </p:nvGrpSpPr>
        <p:grpSpPr>
          <a:xfrm>
            <a:off x="4639056" y="0"/>
            <a:ext cx="7553325" cy="6858000"/>
            <a:chOff x="4639055" y="0"/>
            <a:chExt cx="7553325" cy="6858000"/>
          </a:xfrm>
        </p:grpSpPr>
        <p:sp>
          <p:nvSpPr>
            <p:cNvPr id="130" name="Google Shape;130;p6"/>
            <p:cNvSpPr/>
            <p:nvPr/>
          </p:nvSpPr>
          <p:spPr>
            <a:xfrm>
              <a:off x="4639055" y="0"/>
              <a:ext cx="7553325" cy="6858000"/>
            </a:xfrm>
            <a:custGeom>
              <a:rect b="b" l="l" r="r" t="t"/>
              <a:pathLst>
                <a:path extrusionOk="0" h="6858000" w="7553325">
                  <a:moveTo>
                    <a:pt x="7552944" y="0"/>
                  </a:moveTo>
                  <a:lnTo>
                    <a:pt x="0" y="0"/>
                  </a:lnTo>
                  <a:lnTo>
                    <a:pt x="0" y="6858000"/>
                  </a:lnTo>
                  <a:lnTo>
                    <a:pt x="7552944" y="6858000"/>
                  </a:lnTo>
                  <a:lnTo>
                    <a:pt x="7552944" y="0"/>
                  </a:lnTo>
                  <a:close/>
                </a:path>
              </a:pathLst>
            </a:custGeom>
            <a:solidFill>
              <a:srgbClr val="C7C9C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1" name="Google Shape;131;p6"/>
            <p:cNvPicPr preferRelativeResize="0"/>
            <p:nvPr/>
          </p:nvPicPr>
          <p:blipFill rotWithShape="1">
            <a:blip r:embed="rId3">
              <a:alphaModFix/>
            </a:blip>
            <a:srcRect b="0" l="0" r="0" t="0"/>
            <a:stretch/>
          </p:blipFill>
          <p:spPr>
            <a:xfrm>
              <a:off x="5059679" y="513587"/>
              <a:ext cx="6707124" cy="5861304"/>
            </a:xfrm>
            <a:prstGeom prst="rect">
              <a:avLst/>
            </a:prstGeom>
            <a:noFill/>
            <a:ln>
              <a:noFill/>
            </a:ln>
          </p:spPr>
        </p:pic>
        <p:sp>
          <p:nvSpPr>
            <p:cNvPr id="132" name="Google Shape;132;p6"/>
            <p:cNvSpPr/>
            <p:nvPr/>
          </p:nvSpPr>
          <p:spPr>
            <a:xfrm>
              <a:off x="5123687" y="557783"/>
              <a:ext cx="6583680" cy="5739765"/>
            </a:xfrm>
            <a:custGeom>
              <a:rect b="b" l="l" r="r" t="t"/>
              <a:pathLst>
                <a:path extrusionOk="0" h="5739765" w="6583680">
                  <a:moveTo>
                    <a:pt x="6583679" y="0"/>
                  </a:moveTo>
                  <a:lnTo>
                    <a:pt x="0" y="0"/>
                  </a:lnTo>
                  <a:lnTo>
                    <a:pt x="0" y="5739384"/>
                  </a:lnTo>
                  <a:lnTo>
                    <a:pt x="6583679" y="5739384"/>
                  </a:lnTo>
                  <a:lnTo>
                    <a:pt x="658367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6"/>
            <p:cNvSpPr/>
            <p:nvPr/>
          </p:nvSpPr>
          <p:spPr>
            <a:xfrm>
              <a:off x="5123687" y="557783"/>
              <a:ext cx="6583680" cy="5739765"/>
            </a:xfrm>
            <a:custGeom>
              <a:rect b="b" l="l" r="r" t="t"/>
              <a:pathLst>
                <a:path extrusionOk="0" h="5739765" w="6583680">
                  <a:moveTo>
                    <a:pt x="0" y="5739384"/>
                  </a:moveTo>
                  <a:lnTo>
                    <a:pt x="6583679" y="5739384"/>
                  </a:lnTo>
                  <a:lnTo>
                    <a:pt x="6583679" y="0"/>
                  </a:lnTo>
                  <a:lnTo>
                    <a:pt x="0" y="0"/>
                  </a:lnTo>
                  <a:lnTo>
                    <a:pt x="0" y="5739384"/>
                  </a:lnTo>
                  <a:close/>
                </a:path>
              </a:pathLst>
            </a:custGeom>
            <a:noFill/>
            <a:ln cap="flat" cmpd="sng" w="9525">
              <a:solidFill>
                <a:srgbClr val="C7C9C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4" name="Google Shape;134;p6"/>
            <p:cNvPicPr preferRelativeResize="0"/>
            <p:nvPr/>
          </p:nvPicPr>
          <p:blipFill rotWithShape="1">
            <a:blip r:embed="rId4">
              <a:alphaModFix/>
            </a:blip>
            <a:srcRect b="0" l="0" r="0" t="0"/>
            <a:stretch/>
          </p:blipFill>
          <p:spPr>
            <a:xfrm>
              <a:off x="5401055" y="1539240"/>
              <a:ext cx="6141720" cy="3776472"/>
            </a:xfrm>
            <a:prstGeom prst="rect">
              <a:avLst/>
            </a:prstGeom>
            <a:noFill/>
            <a:ln>
              <a:noFill/>
            </a:ln>
          </p:spPr>
        </p:pic>
      </p:grpSp>
      <p:sp>
        <p:nvSpPr>
          <p:cNvPr id="135" name="Google Shape;135;p6"/>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916941" y="274450"/>
            <a:ext cx="7973059" cy="1367682"/>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000000"/>
              </a:buClr>
              <a:buSzPts val="4400"/>
              <a:buFont typeface="Cambria"/>
              <a:buNone/>
            </a:pPr>
            <a:r>
              <a:rPr lang="en-US" sz="4400">
                <a:solidFill>
                  <a:srgbClr val="000000"/>
                </a:solidFill>
              </a:rPr>
              <a:t>The indexing has various attributes:</a:t>
            </a:r>
            <a:endParaRPr sz="4400"/>
          </a:p>
        </p:txBody>
      </p:sp>
      <p:sp>
        <p:nvSpPr>
          <p:cNvPr id="141" name="Google Shape;141;p7"/>
          <p:cNvSpPr txBox="1"/>
          <p:nvPr/>
        </p:nvSpPr>
        <p:spPr>
          <a:xfrm>
            <a:off x="916942" y="1759967"/>
            <a:ext cx="9797415" cy="4067267"/>
          </a:xfrm>
          <a:prstGeom prst="rect">
            <a:avLst/>
          </a:prstGeom>
          <a:noFill/>
          <a:ln>
            <a:noFill/>
          </a:ln>
        </p:spPr>
        <p:txBody>
          <a:bodyPr anchorCtr="0" anchor="t" bIns="0" lIns="0" spcFirstLastPara="1" rIns="0" wrap="square" tIns="93975">
            <a:spAutoFit/>
          </a:bodyPr>
          <a:lstStyle/>
          <a:p>
            <a:pPr indent="-228600" lvl="0" marL="241300" marR="5080" rtl="0" algn="l">
              <a:lnSpc>
                <a:spcPct val="96071"/>
              </a:lnSpc>
              <a:spcBef>
                <a:spcPts val="0"/>
              </a:spcBef>
              <a:spcAft>
                <a:spcPts val="0"/>
              </a:spcAft>
              <a:buClr>
                <a:schemeClr val="dk1"/>
              </a:buClr>
              <a:buSzPts val="2800"/>
              <a:buFont typeface="Arial"/>
              <a:buChar char="•"/>
            </a:pPr>
            <a:r>
              <a:rPr b="1" lang="en-US" sz="2800">
                <a:solidFill>
                  <a:schemeClr val="dk1"/>
                </a:solidFill>
                <a:latin typeface="Calibri"/>
                <a:ea typeface="Calibri"/>
                <a:cs typeface="Calibri"/>
                <a:sym typeface="Calibri"/>
              </a:rPr>
              <a:t>Access Types</a:t>
            </a:r>
            <a:r>
              <a:rPr lang="en-US" sz="2800">
                <a:solidFill>
                  <a:schemeClr val="dk1"/>
                </a:solidFill>
                <a:latin typeface="Calibri"/>
                <a:ea typeface="Calibri"/>
                <a:cs typeface="Calibri"/>
                <a:sym typeface="Calibri"/>
              </a:rPr>
              <a:t>: This refers to the type of access such as value based  search, range access, etc.</a:t>
            </a:r>
            <a:endParaRPr sz="2800">
              <a:solidFill>
                <a:schemeClr val="dk1"/>
              </a:solidFill>
              <a:latin typeface="Calibri"/>
              <a:ea typeface="Calibri"/>
              <a:cs typeface="Calibri"/>
              <a:sym typeface="Calibri"/>
            </a:endParaRPr>
          </a:p>
          <a:p>
            <a:pPr indent="-228600" lvl="0" marL="241300" marR="390525" rtl="0" algn="l">
              <a:lnSpc>
                <a:spcPct val="96071"/>
              </a:lnSpc>
              <a:spcBef>
                <a:spcPts val="1000"/>
              </a:spcBef>
              <a:spcAft>
                <a:spcPts val="0"/>
              </a:spcAft>
              <a:buClr>
                <a:schemeClr val="dk1"/>
              </a:buClr>
              <a:buSzPts val="2800"/>
              <a:buFont typeface="Arial"/>
              <a:buChar char="•"/>
            </a:pPr>
            <a:r>
              <a:rPr b="1" lang="en-US" sz="2800">
                <a:solidFill>
                  <a:schemeClr val="dk1"/>
                </a:solidFill>
                <a:latin typeface="Calibri"/>
                <a:ea typeface="Calibri"/>
                <a:cs typeface="Calibri"/>
                <a:sym typeface="Calibri"/>
              </a:rPr>
              <a:t>Access Time</a:t>
            </a:r>
            <a:r>
              <a:rPr lang="en-US" sz="2800">
                <a:solidFill>
                  <a:schemeClr val="dk1"/>
                </a:solidFill>
                <a:latin typeface="Calibri"/>
                <a:ea typeface="Calibri"/>
                <a:cs typeface="Calibri"/>
                <a:sym typeface="Calibri"/>
              </a:rPr>
              <a:t>: It refers to the time needed to find particular data  element or set of elements.</a:t>
            </a:r>
            <a:endParaRPr sz="2800">
              <a:solidFill>
                <a:schemeClr val="dk1"/>
              </a:solidFill>
              <a:latin typeface="Calibri"/>
              <a:ea typeface="Calibri"/>
              <a:cs typeface="Calibri"/>
              <a:sym typeface="Calibri"/>
            </a:endParaRPr>
          </a:p>
          <a:p>
            <a:pPr indent="-228600" lvl="0" marL="241300" marR="182245" rtl="0" algn="l">
              <a:lnSpc>
                <a:spcPct val="80000"/>
              </a:lnSpc>
              <a:spcBef>
                <a:spcPts val="1025"/>
              </a:spcBef>
              <a:spcAft>
                <a:spcPts val="0"/>
              </a:spcAft>
              <a:buClr>
                <a:schemeClr val="dk1"/>
              </a:buClr>
              <a:buSzPts val="2800"/>
              <a:buFont typeface="Arial"/>
              <a:buChar char="•"/>
            </a:pPr>
            <a:r>
              <a:rPr b="1" lang="en-US" sz="2800">
                <a:solidFill>
                  <a:schemeClr val="dk1"/>
                </a:solidFill>
                <a:latin typeface="Calibri"/>
                <a:ea typeface="Calibri"/>
                <a:cs typeface="Calibri"/>
                <a:sym typeface="Calibri"/>
              </a:rPr>
              <a:t>Insertion Time</a:t>
            </a:r>
            <a:r>
              <a:rPr lang="en-US" sz="2800">
                <a:solidFill>
                  <a:schemeClr val="dk1"/>
                </a:solidFill>
                <a:latin typeface="Calibri"/>
                <a:ea typeface="Calibri"/>
                <a:cs typeface="Calibri"/>
                <a:sym typeface="Calibri"/>
              </a:rPr>
              <a:t>: It refers to the time taken to find the appropriate  space and insert a new data.</a:t>
            </a:r>
            <a:endParaRPr sz="2800">
              <a:solidFill>
                <a:schemeClr val="dk1"/>
              </a:solidFill>
              <a:latin typeface="Calibri"/>
              <a:ea typeface="Calibri"/>
              <a:cs typeface="Calibri"/>
              <a:sym typeface="Calibri"/>
            </a:endParaRPr>
          </a:p>
          <a:p>
            <a:pPr indent="-228600" lvl="0" marL="241300" marR="154305" rtl="0" algn="l">
              <a:lnSpc>
                <a:spcPct val="96071"/>
              </a:lnSpc>
              <a:spcBef>
                <a:spcPts val="975"/>
              </a:spcBef>
              <a:spcAft>
                <a:spcPts val="0"/>
              </a:spcAft>
              <a:buClr>
                <a:schemeClr val="dk1"/>
              </a:buClr>
              <a:buSzPts val="2800"/>
              <a:buFont typeface="Arial"/>
              <a:buChar char="•"/>
            </a:pPr>
            <a:r>
              <a:rPr b="1" lang="en-US" sz="2800">
                <a:solidFill>
                  <a:schemeClr val="dk1"/>
                </a:solidFill>
                <a:latin typeface="Calibri"/>
                <a:ea typeface="Calibri"/>
                <a:cs typeface="Calibri"/>
                <a:sym typeface="Calibri"/>
              </a:rPr>
              <a:t>Deletion Time</a:t>
            </a:r>
            <a:r>
              <a:rPr lang="en-US" sz="2800">
                <a:solidFill>
                  <a:schemeClr val="dk1"/>
                </a:solidFill>
                <a:latin typeface="Calibri"/>
                <a:ea typeface="Calibri"/>
                <a:cs typeface="Calibri"/>
                <a:sym typeface="Calibri"/>
              </a:rPr>
              <a:t>: Time taken to find an item and delete it as well as  update the index structure.</a:t>
            </a:r>
            <a:endParaRPr sz="2800">
              <a:solidFill>
                <a:schemeClr val="dk1"/>
              </a:solidFill>
              <a:latin typeface="Calibri"/>
              <a:ea typeface="Calibri"/>
              <a:cs typeface="Calibri"/>
              <a:sym typeface="Calibri"/>
            </a:endParaRPr>
          </a:p>
          <a:p>
            <a:pPr indent="-228600" lvl="0" marL="241300" marR="177800" rtl="0" algn="l">
              <a:lnSpc>
                <a:spcPct val="96071"/>
              </a:lnSpc>
              <a:spcBef>
                <a:spcPts val="990"/>
              </a:spcBef>
              <a:spcAft>
                <a:spcPts val="0"/>
              </a:spcAft>
              <a:buClr>
                <a:schemeClr val="dk1"/>
              </a:buClr>
              <a:buSzPts val="2800"/>
              <a:buFont typeface="Arial"/>
              <a:buChar char="•"/>
            </a:pPr>
            <a:r>
              <a:rPr b="1" lang="en-US" sz="2800">
                <a:solidFill>
                  <a:schemeClr val="dk1"/>
                </a:solidFill>
                <a:latin typeface="Calibri"/>
                <a:ea typeface="Calibri"/>
                <a:cs typeface="Calibri"/>
                <a:sym typeface="Calibri"/>
              </a:rPr>
              <a:t>Space Overhead</a:t>
            </a:r>
            <a:r>
              <a:rPr lang="en-US" sz="2800">
                <a:solidFill>
                  <a:schemeClr val="dk1"/>
                </a:solidFill>
                <a:latin typeface="Calibri"/>
                <a:ea typeface="Calibri"/>
                <a:cs typeface="Calibri"/>
                <a:sym typeface="Calibri"/>
              </a:rPr>
              <a:t>: It refers to the additional space required by the  index.</a:t>
            </a:r>
            <a:endParaRPr sz="2800">
              <a:solidFill>
                <a:schemeClr val="dk1"/>
              </a:solidFill>
              <a:latin typeface="Calibri"/>
              <a:ea typeface="Calibri"/>
              <a:cs typeface="Calibri"/>
              <a:sym typeface="Calibri"/>
            </a:endParaRPr>
          </a:p>
        </p:txBody>
      </p:sp>
      <p:sp>
        <p:nvSpPr>
          <p:cNvPr id="142" name="Google Shape;142;p7"/>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Ordered indices</a:t>
            </a:r>
            <a:endParaRPr/>
          </a:p>
        </p:txBody>
      </p:sp>
      <p:sp>
        <p:nvSpPr>
          <p:cNvPr id="148" name="Google Shape;148;p8"/>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lnSpcReduction="10000"/>
          </a:bodyPr>
          <a:lstStyle/>
          <a:p>
            <a:pPr indent="-285750" lvl="0" marL="285750" rtl="0" algn="l">
              <a:spcBef>
                <a:spcPts val="0"/>
              </a:spcBef>
              <a:spcAft>
                <a:spcPts val="0"/>
              </a:spcAft>
              <a:buSzPts val="2400"/>
              <a:buFont typeface="Arial"/>
              <a:buChar char="•"/>
            </a:pPr>
            <a:r>
              <a:rPr lang="en-US" sz="2400"/>
              <a:t>Ordered index similar to index in a textbook</a:t>
            </a:r>
            <a:endParaRPr/>
          </a:p>
          <a:p>
            <a:pPr indent="-133350" lvl="0" marL="285750" rtl="0" algn="l">
              <a:spcBef>
                <a:spcPts val="480"/>
              </a:spcBef>
              <a:spcAft>
                <a:spcPts val="0"/>
              </a:spcAft>
              <a:buSzPts val="2400"/>
              <a:buFont typeface="Arial"/>
              <a:buNone/>
            </a:pPr>
            <a:r>
              <a:t/>
            </a:r>
            <a:endParaRPr sz="2400"/>
          </a:p>
          <a:p>
            <a:pPr indent="-285750" lvl="0" marL="285750" rtl="0" algn="l">
              <a:spcBef>
                <a:spcPts val="480"/>
              </a:spcBef>
              <a:spcAft>
                <a:spcPts val="0"/>
              </a:spcAft>
              <a:buSzPts val="2400"/>
              <a:buFont typeface="Arial"/>
              <a:buChar char="•"/>
            </a:pPr>
            <a:r>
              <a:rPr lang="en-US" sz="2400"/>
              <a:t>An index access structure is usually defined on a single field of a file, called an indexing field (or indexing attribute).</a:t>
            </a:r>
            <a:endParaRPr/>
          </a:p>
          <a:p>
            <a:pPr indent="-133350" lvl="0" marL="285750" rtl="0" algn="l">
              <a:spcBef>
                <a:spcPts val="480"/>
              </a:spcBef>
              <a:spcAft>
                <a:spcPts val="0"/>
              </a:spcAft>
              <a:buSzPts val="2400"/>
              <a:buFont typeface="Arial"/>
              <a:buNone/>
            </a:pPr>
            <a:r>
              <a:t/>
            </a:r>
            <a:endParaRPr sz="2400"/>
          </a:p>
          <a:p>
            <a:pPr indent="-285750" lvl="0" marL="285750" rtl="0" algn="l">
              <a:spcBef>
                <a:spcPts val="480"/>
              </a:spcBef>
              <a:spcAft>
                <a:spcPts val="0"/>
              </a:spcAft>
              <a:buSzPts val="2400"/>
              <a:buFont typeface="Arial"/>
              <a:buChar char="•"/>
            </a:pPr>
            <a:r>
              <a:rPr lang="en-US" sz="2400"/>
              <a:t>The index typically stores each value of the index field along with a list of pointers to all disk blocks that contain records with that field value.</a:t>
            </a:r>
            <a:endParaRPr/>
          </a:p>
          <a:p>
            <a:pPr indent="-133350" lvl="0" marL="285750" rtl="0" algn="l">
              <a:spcBef>
                <a:spcPts val="480"/>
              </a:spcBef>
              <a:spcAft>
                <a:spcPts val="0"/>
              </a:spcAft>
              <a:buSzPts val="2400"/>
              <a:buFont typeface="Arial"/>
              <a:buNone/>
            </a:pPr>
            <a:r>
              <a:t/>
            </a:r>
            <a:endParaRPr sz="2400"/>
          </a:p>
          <a:p>
            <a:pPr indent="-285750" lvl="0" marL="285750" rtl="0" algn="l">
              <a:spcBef>
                <a:spcPts val="480"/>
              </a:spcBef>
              <a:spcAft>
                <a:spcPts val="0"/>
              </a:spcAft>
              <a:buSzPts val="2400"/>
              <a:buFont typeface="Arial"/>
              <a:buChar char="•"/>
            </a:pPr>
            <a:r>
              <a:rPr lang="en-US" sz="2400"/>
              <a:t>There are several types of indexes.</a:t>
            </a:r>
            <a:endParaRPr/>
          </a:p>
          <a:p>
            <a:pPr indent="-285750" lvl="1" marL="742950" rtl="0" algn="l">
              <a:spcBef>
                <a:spcPts val="480"/>
              </a:spcBef>
              <a:spcAft>
                <a:spcPts val="0"/>
              </a:spcAft>
              <a:buSzPts val="2400"/>
              <a:buFont typeface="Arial"/>
              <a:buChar char="•"/>
            </a:pPr>
            <a:r>
              <a:rPr lang="en-US" sz="2400"/>
              <a:t>Primary Index</a:t>
            </a:r>
            <a:endParaRPr/>
          </a:p>
          <a:p>
            <a:pPr indent="-285750" lvl="1" marL="742950" rtl="0" algn="l">
              <a:spcBef>
                <a:spcPts val="480"/>
              </a:spcBef>
              <a:spcAft>
                <a:spcPts val="0"/>
              </a:spcAft>
              <a:buSzPts val="2400"/>
              <a:buFont typeface="Arial"/>
              <a:buChar char="•"/>
            </a:pPr>
            <a:r>
              <a:rPr lang="en-US" sz="2400"/>
              <a:t>Clustering Index</a:t>
            </a:r>
            <a:endParaRPr/>
          </a:p>
          <a:p>
            <a:pPr indent="-285750" lvl="1" marL="742950" rtl="0" algn="l">
              <a:spcBef>
                <a:spcPts val="480"/>
              </a:spcBef>
              <a:spcAft>
                <a:spcPts val="0"/>
              </a:spcAft>
              <a:buSzPts val="2400"/>
              <a:buFont typeface="Arial"/>
              <a:buChar char="•"/>
            </a:pPr>
            <a:r>
              <a:rPr lang="en-US" sz="2400"/>
              <a:t>Secondary Index</a:t>
            </a:r>
            <a:endParaRPr/>
          </a:p>
          <a:p>
            <a:pPr indent="-88900" lvl="0" marL="342900" rtl="0" algn="l">
              <a:spcBef>
                <a:spcPts val="440"/>
              </a:spcBef>
              <a:spcAft>
                <a:spcPts val="0"/>
              </a:spcAft>
              <a:buSzPts val="2200"/>
              <a:buNone/>
            </a:pPr>
            <a:r>
              <a:t/>
            </a:r>
            <a:endParaRPr/>
          </a:p>
        </p:txBody>
      </p:sp>
      <p:sp>
        <p:nvSpPr>
          <p:cNvPr id="149" name="Google Shape;149;p8"/>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t/>
            </a:r>
            <a:endParaRPr/>
          </a:p>
        </p:txBody>
      </p:sp>
      <p:sp>
        <p:nvSpPr>
          <p:cNvPr id="155" name="Google Shape;155;p9"/>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fontScale="92500"/>
          </a:bodyPr>
          <a:lstStyle/>
          <a:p>
            <a:pPr indent="-228600" lvl="0" marL="342900" rtl="0" algn="l">
              <a:spcBef>
                <a:spcPts val="0"/>
              </a:spcBef>
              <a:spcAft>
                <a:spcPts val="0"/>
              </a:spcAft>
              <a:buSzPct val="100000"/>
              <a:buChar char="•"/>
            </a:pPr>
            <a:r>
              <a:rPr b="1" lang="en-US"/>
              <a:t>A primary index </a:t>
            </a:r>
            <a:r>
              <a:rPr lang="en-US"/>
              <a:t>is specified on the ordering key field of an ordered file of records.</a:t>
            </a:r>
            <a:endParaRPr/>
          </a:p>
          <a:p>
            <a:pPr indent="-228600" lvl="0" marL="342900" rtl="0" algn="l">
              <a:spcBef>
                <a:spcPts val="407"/>
              </a:spcBef>
              <a:spcAft>
                <a:spcPts val="0"/>
              </a:spcAft>
              <a:buSzPct val="100000"/>
              <a:buChar char="•"/>
            </a:pPr>
            <a:r>
              <a:rPr lang="en-US"/>
              <a:t>An ordering key field is used to physically order the file records on disk, and every record has a unique value for that field. </a:t>
            </a:r>
            <a:endParaRPr/>
          </a:p>
          <a:p>
            <a:pPr indent="-99377" lvl="0" marL="342900" rtl="0" algn="l">
              <a:spcBef>
                <a:spcPts val="407"/>
              </a:spcBef>
              <a:spcAft>
                <a:spcPts val="0"/>
              </a:spcAft>
              <a:buSzPct val="100000"/>
              <a:buNone/>
            </a:pPr>
            <a:r>
              <a:t/>
            </a:r>
            <a:endParaRPr/>
          </a:p>
          <a:p>
            <a:pPr indent="-228600" lvl="0" marL="342900" rtl="0" algn="l">
              <a:spcBef>
                <a:spcPts val="407"/>
              </a:spcBef>
              <a:spcAft>
                <a:spcPts val="0"/>
              </a:spcAft>
              <a:buSzPct val="100000"/>
              <a:buChar char="•"/>
            </a:pPr>
            <a:r>
              <a:rPr lang="en-US"/>
              <a:t>If the ordering field is not a key field—that is, if numerous records in the file can have the same value for the ordering field— another type of index, called a clustering index, can be used. </a:t>
            </a:r>
            <a:endParaRPr/>
          </a:p>
          <a:p>
            <a:pPr indent="-228600" lvl="0" marL="342900" rtl="0" algn="l">
              <a:spcBef>
                <a:spcPts val="407"/>
              </a:spcBef>
              <a:spcAft>
                <a:spcPts val="0"/>
              </a:spcAft>
              <a:buSzPct val="100000"/>
              <a:buChar char="•"/>
            </a:pPr>
            <a:r>
              <a:rPr lang="en-US"/>
              <a:t>The data file is called </a:t>
            </a:r>
            <a:r>
              <a:rPr b="1" lang="en-US"/>
              <a:t>a clustered file</a:t>
            </a:r>
            <a:r>
              <a:rPr lang="en-US"/>
              <a:t> in this latter case. Notice that a file can have at most one physical ordering field, so it can have at most one primary index or one clustering index, but not both. </a:t>
            </a:r>
            <a:endParaRPr/>
          </a:p>
          <a:p>
            <a:pPr indent="-99377" lvl="0" marL="342900" rtl="0" algn="l">
              <a:spcBef>
                <a:spcPts val="407"/>
              </a:spcBef>
              <a:spcAft>
                <a:spcPts val="0"/>
              </a:spcAft>
              <a:buSzPct val="100000"/>
              <a:buNone/>
            </a:pPr>
            <a:r>
              <a:t/>
            </a:r>
            <a:endParaRPr/>
          </a:p>
          <a:p>
            <a:pPr indent="-228600" lvl="0" marL="342900" rtl="0" algn="l">
              <a:spcBef>
                <a:spcPts val="407"/>
              </a:spcBef>
              <a:spcAft>
                <a:spcPts val="0"/>
              </a:spcAft>
              <a:buSzPct val="100000"/>
              <a:buChar char="•"/>
            </a:pPr>
            <a:r>
              <a:rPr lang="en-US"/>
              <a:t>A third type of index, called </a:t>
            </a:r>
            <a:r>
              <a:rPr b="1" lang="en-US"/>
              <a:t>a secondary index</a:t>
            </a:r>
            <a:r>
              <a:rPr lang="en-US"/>
              <a:t>, can be specified on any nonordering field of a file. </a:t>
            </a:r>
            <a:endParaRPr/>
          </a:p>
          <a:p>
            <a:pPr indent="-228600" lvl="0" marL="342900" rtl="0" algn="l">
              <a:spcBef>
                <a:spcPts val="407"/>
              </a:spcBef>
              <a:spcAft>
                <a:spcPts val="0"/>
              </a:spcAft>
              <a:buSzPct val="100000"/>
              <a:buChar char="•"/>
            </a:pPr>
            <a:r>
              <a:rPr lang="en-US"/>
              <a:t>A data file can have several secondary indexes in addition to its primary access method. </a:t>
            </a:r>
            <a:endParaRPr/>
          </a:p>
        </p:txBody>
      </p:sp>
      <p:sp>
        <p:nvSpPr>
          <p:cNvPr id="156" name="Google Shape;156;p9"/>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p:nvPr/>
        </p:nvSpPr>
        <p:spPr>
          <a:xfrm>
            <a:off x="764" y="273558"/>
            <a:ext cx="12188825" cy="0"/>
          </a:xfrm>
          <a:custGeom>
            <a:rect b="b" l="l" r="r" t="t"/>
            <a:pathLst>
              <a:path extrusionOk="0" h="120000" w="12188825">
                <a:moveTo>
                  <a:pt x="0" y="0"/>
                </a:moveTo>
                <a:lnTo>
                  <a:pt x="12188825" y="0"/>
                </a:lnTo>
              </a:path>
            </a:pathLst>
          </a:custGeom>
          <a:noFill/>
          <a:ln cap="flat" cmpd="sng" w="50275">
            <a:solidFill>
              <a:srgbClr val="40404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10"/>
          <p:cNvSpPr/>
          <p:nvPr/>
        </p:nvSpPr>
        <p:spPr>
          <a:xfrm>
            <a:off x="0" y="368812"/>
            <a:ext cx="12192000" cy="1736089"/>
          </a:xfrm>
          <a:custGeom>
            <a:rect b="b" l="l" r="r" t="t"/>
            <a:pathLst>
              <a:path extrusionOk="0" h="1736089" w="12192000">
                <a:moveTo>
                  <a:pt x="12192000" y="0"/>
                </a:moveTo>
                <a:lnTo>
                  <a:pt x="0" y="0"/>
                </a:lnTo>
                <a:lnTo>
                  <a:pt x="0" y="1735836"/>
                </a:lnTo>
                <a:lnTo>
                  <a:pt x="12192000" y="1735836"/>
                </a:lnTo>
                <a:lnTo>
                  <a:pt x="12192000" y="0"/>
                </a:lnTo>
                <a:close/>
              </a:path>
            </a:pathLst>
          </a:custGeom>
          <a:solidFill>
            <a:srgbClr val="40404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10"/>
          <p:cNvSpPr txBox="1"/>
          <p:nvPr>
            <p:ph type="title"/>
          </p:nvPr>
        </p:nvSpPr>
        <p:spPr>
          <a:xfrm>
            <a:off x="609600" y="485783"/>
            <a:ext cx="10160000" cy="720710"/>
          </a:xfrm>
          <a:prstGeom prst="rect">
            <a:avLst/>
          </a:prstGeom>
          <a:noFill/>
          <a:ln>
            <a:noFill/>
          </a:ln>
        </p:spPr>
        <p:txBody>
          <a:bodyPr anchorCtr="0" anchor="ctr" bIns="0" lIns="0" spcFirstLastPara="1" rIns="0" wrap="square" tIns="12700">
            <a:spAutoFit/>
          </a:bodyPr>
          <a:lstStyle/>
          <a:p>
            <a:pPr indent="0" lvl="0" marL="13334" rtl="0" algn="l">
              <a:lnSpc>
                <a:spcPct val="100000"/>
              </a:lnSpc>
              <a:spcBef>
                <a:spcPts val="0"/>
              </a:spcBef>
              <a:spcAft>
                <a:spcPts val="0"/>
              </a:spcAft>
              <a:buClr>
                <a:schemeClr val="dk2"/>
              </a:buClr>
              <a:buSzPts val="4600"/>
              <a:buFont typeface="Cambria"/>
              <a:buNone/>
            </a:pPr>
            <a:r>
              <a:rPr lang="en-US"/>
              <a:t>Types of indices</a:t>
            </a:r>
            <a:endParaRPr/>
          </a:p>
        </p:txBody>
      </p:sp>
      <p:sp>
        <p:nvSpPr>
          <p:cNvPr id="164" name="Google Shape;164;p10"/>
          <p:cNvSpPr/>
          <p:nvPr/>
        </p:nvSpPr>
        <p:spPr>
          <a:xfrm>
            <a:off x="4725161" y="1480566"/>
            <a:ext cx="2743200" cy="0"/>
          </a:xfrm>
          <a:custGeom>
            <a:rect b="b" l="l" r="r" t="t"/>
            <a:pathLst>
              <a:path extrusionOk="0" h="120000" w="2743200">
                <a:moveTo>
                  <a:pt x="0" y="0"/>
                </a:moveTo>
                <a:lnTo>
                  <a:pt x="2743199" y="0"/>
                </a:lnTo>
              </a:path>
            </a:pathLst>
          </a:custGeom>
          <a:noFill/>
          <a:ln cap="flat" cmpd="sng" w="198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10"/>
          <p:cNvSpPr/>
          <p:nvPr/>
        </p:nvSpPr>
        <p:spPr>
          <a:xfrm>
            <a:off x="764" y="2201417"/>
            <a:ext cx="12188825" cy="0"/>
          </a:xfrm>
          <a:custGeom>
            <a:rect b="b" l="l" r="r" t="t"/>
            <a:pathLst>
              <a:path extrusionOk="0" h="120000" w="12188825">
                <a:moveTo>
                  <a:pt x="0" y="0"/>
                </a:moveTo>
                <a:lnTo>
                  <a:pt x="12188825" y="0"/>
                </a:lnTo>
              </a:path>
            </a:pathLst>
          </a:custGeom>
          <a:noFill/>
          <a:ln cap="flat" cmpd="sng" w="50275">
            <a:solidFill>
              <a:srgbClr val="40404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6" name="Google Shape;166;p10"/>
          <p:cNvPicPr preferRelativeResize="0"/>
          <p:nvPr/>
        </p:nvPicPr>
        <p:blipFill rotWithShape="1">
          <a:blip r:embed="rId3">
            <a:alphaModFix/>
          </a:blip>
          <a:srcRect b="0" l="0" r="0" t="0"/>
          <a:stretch/>
        </p:blipFill>
        <p:spPr>
          <a:xfrm>
            <a:off x="6629400" y="3505200"/>
            <a:ext cx="4383023" cy="2635780"/>
          </a:xfrm>
          <a:prstGeom prst="rect">
            <a:avLst/>
          </a:prstGeom>
          <a:noFill/>
          <a:ln>
            <a:noFill/>
          </a:ln>
        </p:spPr>
      </p:pic>
      <p:pic>
        <p:nvPicPr>
          <p:cNvPr id="167" name="Google Shape;167;p10"/>
          <p:cNvPicPr preferRelativeResize="0"/>
          <p:nvPr/>
        </p:nvPicPr>
        <p:blipFill rotWithShape="1">
          <a:blip r:embed="rId4">
            <a:alphaModFix/>
          </a:blip>
          <a:srcRect b="0" l="0" r="0" t="0"/>
          <a:stretch/>
        </p:blipFill>
        <p:spPr>
          <a:xfrm>
            <a:off x="176973" y="2514600"/>
            <a:ext cx="6071427" cy="2232956"/>
          </a:xfrm>
          <a:prstGeom prst="rect">
            <a:avLst/>
          </a:prstGeom>
          <a:noFill/>
          <a:ln>
            <a:noFill/>
          </a:ln>
        </p:spPr>
      </p:pic>
      <p:sp>
        <p:nvSpPr>
          <p:cNvPr id="168" name="Google Shape;168;p10"/>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500"/>
                                        <p:tgtEl>
                                          <p:spTgt spid="16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2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t/>
            </a:r>
            <a:endParaRPr/>
          </a:p>
        </p:txBody>
      </p:sp>
      <p:sp>
        <p:nvSpPr>
          <p:cNvPr id="174" name="Google Shape;174;p11"/>
          <p:cNvSpPr txBox="1"/>
          <p:nvPr>
            <p:ph idx="1" type="body"/>
          </p:nvPr>
        </p:nvSpPr>
        <p:spPr>
          <a:xfrm>
            <a:off x="916939" y="1730095"/>
            <a:ext cx="10358120" cy="123623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80"/>
              <a:buChar char="■"/>
            </a:pPr>
            <a:r>
              <a:rPr lang="en-US"/>
              <a:t>Indexes may be dense or sparse</a:t>
            </a:r>
            <a:endParaRPr/>
          </a:p>
          <a:p>
            <a:pPr indent="-285750" lvl="1" marL="742950" rtl="0" algn="l">
              <a:spcBef>
                <a:spcPts val="520"/>
              </a:spcBef>
              <a:spcAft>
                <a:spcPts val="0"/>
              </a:spcAft>
              <a:buSzPts val="1430"/>
              <a:buChar char="■"/>
            </a:pPr>
            <a:r>
              <a:rPr lang="en-US"/>
              <a:t>Dense index has an index entry for every search key value</a:t>
            </a:r>
            <a:r>
              <a:rPr i="1" lang="en-US"/>
              <a:t> </a:t>
            </a:r>
            <a:r>
              <a:rPr lang="en-US"/>
              <a:t>in the data file</a:t>
            </a:r>
            <a:endParaRPr/>
          </a:p>
          <a:p>
            <a:pPr indent="-285750" lvl="1" marL="742950" rtl="0" algn="l">
              <a:spcBef>
                <a:spcPts val="520"/>
              </a:spcBef>
              <a:spcAft>
                <a:spcPts val="0"/>
              </a:spcAft>
              <a:buSzPts val="1430"/>
              <a:buChar char="■"/>
            </a:pPr>
            <a:r>
              <a:rPr lang="en-US"/>
              <a:t>Sparse index has entries for only some search values</a:t>
            </a:r>
            <a:endParaRPr/>
          </a:p>
          <a:p>
            <a:pPr indent="-88900" lvl="0" marL="342900" rtl="0" algn="l">
              <a:spcBef>
                <a:spcPts val="440"/>
              </a:spcBef>
              <a:spcAft>
                <a:spcPts val="0"/>
              </a:spcAft>
              <a:buSzPts val="2200"/>
              <a:buNone/>
            </a:pPr>
            <a:r>
              <a:t/>
            </a:r>
            <a:endParaRPr/>
          </a:p>
        </p:txBody>
      </p:sp>
      <p:sp>
        <p:nvSpPr>
          <p:cNvPr id="175" name="Google Shape;175;p11"/>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709678" y="690040"/>
            <a:ext cx="1718311" cy="1594667"/>
          </a:xfrm>
          <a:prstGeom prst="rect">
            <a:avLst/>
          </a:prstGeom>
          <a:noFill/>
          <a:ln>
            <a:noFill/>
          </a:ln>
        </p:spPr>
        <p:txBody>
          <a:bodyPr anchorCtr="0" anchor="ctr" bIns="0" lIns="0" spcFirstLastPara="1" rIns="0" wrap="square" tIns="106025">
            <a:spAutoFit/>
          </a:bodyPr>
          <a:lstStyle/>
          <a:p>
            <a:pPr indent="0" lvl="0" marL="12700" marR="5080" rtl="0" algn="l">
              <a:lnSpc>
                <a:spcPct val="126739"/>
              </a:lnSpc>
              <a:spcBef>
                <a:spcPts val="0"/>
              </a:spcBef>
              <a:spcAft>
                <a:spcPts val="0"/>
              </a:spcAft>
              <a:buClr>
                <a:srgbClr val="000000"/>
              </a:buClr>
              <a:buSzPts val="4600"/>
              <a:buFont typeface="Cambria"/>
              <a:buNone/>
            </a:pPr>
            <a:r>
              <a:rPr lang="en-US">
                <a:solidFill>
                  <a:srgbClr val="000000"/>
                </a:solidFill>
              </a:rPr>
              <a:t>Dense  Index</a:t>
            </a:r>
            <a:endParaRPr/>
          </a:p>
        </p:txBody>
      </p:sp>
      <p:grpSp>
        <p:nvGrpSpPr>
          <p:cNvPr id="181" name="Google Shape;181;p12"/>
          <p:cNvGrpSpPr/>
          <p:nvPr/>
        </p:nvGrpSpPr>
        <p:grpSpPr>
          <a:xfrm>
            <a:off x="643688" y="2559129"/>
            <a:ext cx="3255848" cy="46990"/>
            <a:chOff x="643686" y="2559129"/>
            <a:chExt cx="3255848" cy="46990"/>
          </a:xfrm>
        </p:grpSpPr>
        <p:sp>
          <p:nvSpPr>
            <p:cNvPr id="182" name="Google Shape;182;p12"/>
            <p:cNvSpPr/>
            <p:nvPr/>
          </p:nvSpPr>
          <p:spPr>
            <a:xfrm>
              <a:off x="643889" y="2563986"/>
              <a:ext cx="3255645" cy="40005"/>
            </a:xfrm>
            <a:custGeom>
              <a:rect b="b" l="l" r="r" t="t"/>
              <a:pathLst>
                <a:path extrusionOk="0" h="40005" w="3255645">
                  <a:moveTo>
                    <a:pt x="951941" y="23"/>
                  </a:moveTo>
                  <a:lnTo>
                    <a:pt x="910692" y="0"/>
                  </a:lnTo>
                  <a:lnTo>
                    <a:pt x="870783" y="747"/>
                  </a:lnTo>
                  <a:lnTo>
                    <a:pt x="830133" y="2115"/>
                  </a:lnTo>
                  <a:lnTo>
                    <a:pt x="682926" y="8452"/>
                  </a:lnTo>
                  <a:lnTo>
                    <a:pt x="558271" y="12970"/>
                  </a:lnTo>
                  <a:lnTo>
                    <a:pt x="409554" y="18911"/>
                  </a:lnTo>
                  <a:lnTo>
                    <a:pt x="365953" y="20334"/>
                  </a:lnTo>
                  <a:lnTo>
                    <a:pt x="322995" y="21289"/>
                  </a:lnTo>
                  <a:lnTo>
                    <a:pt x="279274" y="21661"/>
                  </a:lnTo>
                  <a:lnTo>
                    <a:pt x="233383" y="21338"/>
                  </a:lnTo>
                  <a:lnTo>
                    <a:pt x="183916" y="20205"/>
                  </a:lnTo>
                  <a:lnTo>
                    <a:pt x="129467" y="18149"/>
                  </a:lnTo>
                  <a:lnTo>
                    <a:pt x="68630" y="15056"/>
                  </a:lnTo>
                  <a:lnTo>
                    <a:pt x="0" y="10811"/>
                  </a:lnTo>
                  <a:lnTo>
                    <a:pt x="368" y="17669"/>
                  </a:lnTo>
                  <a:lnTo>
                    <a:pt x="838" y="20336"/>
                  </a:lnTo>
                  <a:lnTo>
                    <a:pt x="0" y="29099"/>
                  </a:lnTo>
                  <a:lnTo>
                    <a:pt x="45461" y="28816"/>
                  </a:lnTo>
                  <a:lnTo>
                    <a:pt x="90446" y="28905"/>
                  </a:lnTo>
                  <a:lnTo>
                    <a:pt x="135407" y="29276"/>
                  </a:lnTo>
                  <a:lnTo>
                    <a:pt x="375756" y="32283"/>
                  </a:lnTo>
                  <a:lnTo>
                    <a:pt x="430114" y="32495"/>
                  </a:lnTo>
                  <a:lnTo>
                    <a:pt x="487627" y="32372"/>
                  </a:lnTo>
                  <a:lnTo>
                    <a:pt x="548750" y="31823"/>
                  </a:lnTo>
                  <a:lnTo>
                    <a:pt x="613936" y="30762"/>
                  </a:lnTo>
                  <a:lnTo>
                    <a:pt x="752525" y="27588"/>
                  </a:lnTo>
                  <a:lnTo>
                    <a:pt x="815491" y="26932"/>
                  </a:lnTo>
                  <a:lnTo>
                    <a:pt x="873298" y="26966"/>
                  </a:lnTo>
                  <a:lnTo>
                    <a:pt x="926705" y="27526"/>
                  </a:lnTo>
                  <a:lnTo>
                    <a:pt x="976472" y="28447"/>
                  </a:lnTo>
                  <a:lnTo>
                    <a:pt x="1111518" y="31735"/>
                  </a:lnTo>
                  <a:lnTo>
                    <a:pt x="1154314" y="32458"/>
                  </a:lnTo>
                  <a:lnTo>
                    <a:pt x="1197265" y="32720"/>
                  </a:lnTo>
                  <a:lnTo>
                    <a:pt x="1241131" y="32357"/>
                  </a:lnTo>
                  <a:lnTo>
                    <a:pt x="1286670" y="31205"/>
                  </a:lnTo>
                  <a:lnTo>
                    <a:pt x="1389143" y="26494"/>
                  </a:lnTo>
                  <a:lnTo>
                    <a:pt x="1437057" y="24823"/>
                  </a:lnTo>
                  <a:lnTo>
                    <a:pt x="1480302" y="23947"/>
                  </a:lnTo>
                  <a:lnTo>
                    <a:pt x="1520795" y="23729"/>
                  </a:lnTo>
                  <a:lnTo>
                    <a:pt x="1560450" y="24033"/>
                  </a:lnTo>
                  <a:lnTo>
                    <a:pt x="1749023" y="27708"/>
                  </a:lnTo>
                  <a:lnTo>
                    <a:pt x="1813236" y="28555"/>
                  </a:lnTo>
                  <a:lnTo>
                    <a:pt x="1888109" y="29099"/>
                  </a:lnTo>
                  <a:lnTo>
                    <a:pt x="1951082" y="28991"/>
                  </a:lnTo>
                  <a:lnTo>
                    <a:pt x="2012907" y="28233"/>
                  </a:lnTo>
                  <a:lnTo>
                    <a:pt x="2073418" y="26991"/>
                  </a:lnTo>
                  <a:lnTo>
                    <a:pt x="2132445" y="25434"/>
                  </a:lnTo>
                  <a:lnTo>
                    <a:pt x="2298954" y="20527"/>
                  </a:lnTo>
                  <a:lnTo>
                    <a:pt x="2350372" y="19369"/>
                  </a:lnTo>
                  <a:lnTo>
                    <a:pt x="2399469" y="18727"/>
                  </a:lnTo>
                  <a:lnTo>
                    <a:pt x="2446077" y="18769"/>
                  </a:lnTo>
                  <a:lnTo>
                    <a:pt x="2490028" y="19660"/>
                  </a:lnTo>
                  <a:lnTo>
                    <a:pt x="2531154" y="21568"/>
                  </a:lnTo>
                  <a:lnTo>
                    <a:pt x="2569288" y="24659"/>
                  </a:lnTo>
                  <a:lnTo>
                    <a:pt x="2604262" y="29099"/>
                  </a:lnTo>
                  <a:lnTo>
                    <a:pt x="2643589" y="33817"/>
                  </a:lnTo>
                  <a:lnTo>
                    <a:pt x="2689040" y="36974"/>
                  </a:lnTo>
                  <a:lnTo>
                    <a:pt x="2739433" y="38781"/>
                  </a:lnTo>
                  <a:lnTo>
                    <a:pt x="2793586" y="39450"/>
                  </a:lnTo>
                  <a:lnTo>
                    <a:pt x="2850318" y="39192"/>
                  </a:lnTo>
                  <a:lnTo>
                    <a:pt x="2908448" y="38218"/>
                  </a:lnTo>
                  <a:lnTo>
                    <a:pt x="2966795" y="36740"/>
                  </a:lnTo>
                  <a:lnTo>
                    <a:pt x="3178718" y="30003"/>
                  </a:lnTo>
                  <a:lnTo>
                    <a:pt x="3220426" y="29170"/>
                  </a:lnTo>
                  <a:lnTo>
                    <a:pt x="3255264" y="29099"/>
                  </a:lnTo>
                  <a:lnTo>
                    <a:pt x="3255645" y="20336"/>
                  </a:lnTo>
                  <a:lnTo>
                    <a:pt x="3255010" y="15256"/>
                  </a:lnTo>
                  <a:lnTo>
                    <a:pt x="3255264" y="10811"/>
                  </a:lnTo>
                  <a:lnTo>
                    <a:pt x="3201583" y="15835"/>
                  </a:lnTo>
                  <a:lnTo>
                    <a:pt x="3146724" y="18950"/>
                  </a:lnTo>
                  <a:lnTo>
                    <a:pt x="3091083" y="20431"/>
                  </a:lnTo>
                  <a:lnTo>
                    <a:pt x="3035056" y="20552"/>
                  </a:lnTo>
                  <a:lnTo>
                    <a:pt x="2979039" y="19588"/>
                  </a:lnTo>
                  <a:lnTo>
                    <a:pt x="2923428" y="17816"/>
                  </a:lnTo>
                  <a:lnTo>
                    <a:pt x="2868620" y="15508"/>
                  </a:lnTo>
                  <a:lnTo>
                    <a:pt x="2712974" y="8130"/>
                  </a:lnTo>
                  <a:lnTo>
                    <a:pt x="2665338" y="6435"/>
                  </a:lnTo>
                  <a:lnTo>
                    <a:pt x="2620487" y="5581"/>
                  </a:lnTo>
                  <a:lnTo>
                    <a:pt x="2578816" y="5842"/>
                  </a:lnTo>
                  <a:lnTo>
                    <a:pt x="2540721" y="7494"/>
                  </a:lnTo>
                  <a:lnTo>
                    <a:pt x="2463528" y="15080"/>
                  </a:lnTo>
                  <a:lnTo>
                    <a:pt x="2415144" y="17496"/>
                  </a:lnTo>
                  <a:lnTo>
                    <a:pt x="2362579" y="18384"/>
                  </a:lnTo>
                  <a:lnTo>
                    <a:pt x="2306964" y="18064"/>
                  </a:lnTo>
                  <a:lnTo>
                    <a:pt x="2249432" y="16861"/>
                  </a:lnTo>
                  <a:lnTo>
                    <a:pt x="2191115" y="15097"/>
                  </a:lnTo>
                  <a:lnTo>
                    <a:pt x="2076652" y="11178"/>
                  </a:lnTo>
                  <a:lnTo>
                    <a:pt x="2022770" y="9668"/>
                  </a:lnTo>
                  <a:lnTo>
                    <a:pt x="1972631" y="8889"/>
                  </a:lnTo>
                  <a:lnTo>
                    <a:pt x="1927367" y="9162"/>
                  </a:lnTo>
                  <a:lnTo>
                    <a:pt x="1888109" y="10811"/>
                  </a:lnTo>
                  <a:lnTo>
                    <a:pt x="1854929" y="12896"/>
                  </a:lnTo>
                  <a:lnTo>
                    <a:pt x="1817241" y="14917"/>
                  </a:lnTo>
                  <a:lnTo>
                    <a:pt x="1775479" y="16809"/>
                  </a:lnTo>
                  <a:lnTo>
                    <a:pt x="1730080" y="18509"/>
                  </a:lnTo>
                  <a:lnTo>
                    <a:pt x="1681479" y="19952"/>
                  </a:lnTo>
                  <a:lnTo>
                    <a:pt x="1630114" y="21075"/>
                  </a:lnTo>
                  <a:lnTo>
                    <a:pt x="1576419" y="21813"/>
                  </a:lnTo>
                  <a:lnTo>
                    <a:pt x="1520830" y="22101"/>
                  </a:lnTo>
                  <a:lnTo>
                    <a:pt x="1463785" y="21877"/>
                  </a:lnTo>
                  <a:lnTo>
                    <a:pt x="1405718" y="21075"/>
                  </a:lnTo>
                  <a:lnTo>
                    <a:pt x="1347065" y="19632"/>
                  </a:lnTo>
                  <a:lnTo>
                    <a:pt x="1288263" y="17483"/>
                  </a:lnTo>
                  <a:lnTo>
                    <a:pt x="1229748" y="14564"/>
                  </a:lnTo>
                  <a:lnTo>
                    <a:pt x="1104537" y="6211"/>
                  </a:lnTo>
                  <a:lnTo>
                    <a:pt x="1046782" y="2979"/>
                  </a:lnTo>
                  <a:lnTo>
                    <a:pt x="996610" y="966"/>
                  </a:lnTo>
                  <a:lnTo>
                    <a:pt x="951941" y="23"/>
                  </a:lnTo>
                  <a:close/>
                </a:path>
              </a:pathLst>
            </a:custGeom>
            <a:solidFill>
              <a:srgbClr val="EC7C3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2"/>
            <p:cNvSpPr/>
            <p:nvPr/>
          </p:nvSpPr>
          <p:spPr>
            <a:xfrm>
              <a:off x="643686" y="2559129"/>
              <a:ext cx="3255645" cy="46990"/>
            </a:xfrm>
            <a:custGeom>
              <a:rect b="b" l="l" r="r" t="t"/>
              <a:pathLst>
                <a:path extrusionOk="0" h="46989" w="3255645">
                  <a:moveTo>
                    <a:pt x="203" y="15668"/>
                  </a:moveTo>
                  <a:lnTo>
                    <a:pt x="59845" y="10650"/>
                  </a:lnTo>
                  <a:lnTo>
                    <a:pt x="118558" y="6628"/>
                  </a:lnTo>
                  <a:lnTo>
                    <a:pt x="176179" y="3577"/>
                  </a:lnTo>
                  <a:lnTo>
                    <a:pt x="232544" y="1472"/>
                  </a:lnTo>
                  <a:lnTo>
                    <a:pt x="287492" y="288"/>
                  </a:lnTo>
                  <a:lnTo>
                    <a:pt x="340858" y="0"/>
                  </a:lnTo>
                  <a:lnTo>
                    <a:pt x="392479" y="581"/>
                  </a:lnTo>
                  <a:lnTo>
                    <a:pt x="442193" y="2009"/>
                  </a:lnTo>
                  <a:lnTo>
                    <a:pt x="489835" y="4256"/>
                  </a:lnTo>
                  <a:lnTo>
                    <a:pt x="535244" y="7298"/>
                  </a:lnTo>
                  <a:lnTo>
                    <a:pt x="578255" y="11111"/>
                  </a:lnTo>
                  <a:lnTo>
                    <a:pt x="618705" y="15668"/>
                  </a:lnTo>
                  <a:lnTo>
                    <a:pt x="655602" y="19572"/>
                  </a:lnTo>
                  <a:lnTo>
                    <a:pt x="694178" y="22295"/>
                  </a:lnTo>
                  <a:lnTo>
                    <a:pt x="734574" y="23982"/>
                  </a:lnTo>
                  <a:lnTo>
                    <a:pt x="776931" y="24777"/>
                  </a:lnTo>
                  <a:lnTo>
                    <a:pt x="821391" y="24825"/>
                  </a:lnTo>
                  <a:lnTo>
                    <a:pt x="868094" y="24270"/>
                  </a:lnTo>
                  <a:lnTo>
                    <a:pt x="917183" y="23258"/>
                  </a:lnTo>
                  <a:lnTo>
                    <a:pt x="968797" y="21932"/>
                  </a:lnTo>
                  <a:lnTo>
                    <a:pt x="1023078" y="20438"/>
                  </a:lnTo>
                  <a:lnTo>
                    <a:pt x="1080167" y="18920"/>
                  </a:lnTo>
                  <a:lnTo>
                    <a:pt x="1140206" y="17522"/>
                  </a:lnTo>
                  <a:lnTo>
                    <a:pt x="1203334" y="16390"/>
                  </a:lnTo>
                  <a:lnTo>
                    <a:pt x="1269695" y="15668"/>
                  </a:lnTo>
                  <a:lnTo>
                    <a:pt x="1335573" y="15443"/>
                  </a:lnTo>
                  <a:lnTo>
                    <a:pt x="1397479" y="15638"/>
                  </a:lnTo>
                  <a:lnTo>
                    <a:pt x="1455893" y="16147"/>
                  </a:lnTo>
                  <a:lnTo>
                    <a:pt x="1511294" y="16867"/>
                  </a:lnTo>
                  <a:lnTo>
                    <a:pt x="1564161" y="17694"/>
                  </a:lnTo>
                  <a:lnTo>
                    <a:pt x="1614972" y="18523"/>
                  </a:lnTo>
                  <a:lnTo>
                    <a:pt x="1664207" y="19252"/>
                  </a:lnTo>
                  <a:lnTo>
                    <a:pt x="1712345" y="19775"/>
                  </a:lnTo>
                  <a:lnTo>
                    <a:pt x="1759864" y="19988"/>
                  </a:lnTo>
                  <a:lnTo>
                    <a:pt x="1807243" y="19789"/>
                  </a:lnTo>
                  <a:lnTo>
                    <a:pt x="1854963" y="19071"/>
                  </a:lnTo>
                  <a:lnTo>
                    <a:pt x="1903500" y="17732"/>
                  </a:lnTo>
                  <a:lnTo>
                    <a:pt x="1953336" y="15668"/>
                  </a:lnTo>
                  <a:lnTo>
                    <a:pt x="2005009" y="13799"/>
                  </a:lnTo>
                  <a:lnTo>
                    <a:pt x="2058446" y="12982"/>
                  </a:lnTo>
                  <a:lnTo>
                    <a:pt x="2113210" y="13015"/>
                  </a:lnTo>
                  <a:lnTo>
                    <a:pt x="2168858" y="13695"/>
                  </a:lnTo>
                  <a:lnTo>
                    <a:pt x="2224952" y="14822"/>
                  </a:lnTo>
                  <a:lnTo>
                    <a:pt x="2281053" y="16193"/>
                  </a:lnTo>
                  <a:lnTo>
                    <a:pt x="2336719" y="17606"/>
                  </a:lnTo>
                  <a:lnTo>
                    <a:pt x="2391511" y="18859"/>
                  </a:lnTo>
                  <a:lnTo>
                    <a:pt x="2444991" y="19751"/>
                  </a:lnTo>
                  <a:lnTo>
                    <a:pt x="2496717" y="20080"/>
                  </a:lnTo>
                  <a:lnTo>
                    <a:pt x="2546249" y="19644"/>
                  </a:lnTo>
                  <a:lnTo>
                    <a:pt x="2593149" y="18240"/>
                  </a:lnTo>
                  <a:lnTo>
                    <a:pt x="2636977" y="15668"/>
                  </a:lnTo>
                  <a:lnTo>
                    <a:pt x="2684956" y="12838"/>
                  </a:lnTo>
                  <a:lnTo>
                    <a:pt x="2736916" y="11197"/>
                  </a:lnTo>
                  <a:lnTo>
                    <a:pt x="2791855" y="10542"/>
                  </a:lnTo>
                  <a:lnTo>
                    <a:pt x="2848775" y="10673"/>
                  </a:lnTo>
                  <a:lnTo>
                    <a:pt x="2906676" y="11385"/>
                  </a:lnTo>
                  <a:lnTo>
                    <a:pt x="2964557" y="12477"/>
                  </a:lnTo>
                  <a:lnTo>
                    <a:pt x="3021420" y="13747"/>
                  </a:lnTo>
                  <a:lnTo>
                    <a:pt x="3076265" y="14991"/>
                  </a:lnTo>
                  <a:lnTo>
                    <a:pt x="3128092" y="16007"/>
                  </a:lnTo>
                  <a:lnTo>
                    <a:pt x="3175901" y="16594"/>
                  </a:lnTo>
                  <a:lnTo>
                    <a:pt x="3218692" y="16549"/>
                  </a:lnTo>
                  <a:lnTo>
                    <a:pt x="3255467" y="15668"/>
                  </a:lnTo>
                  <a:lnTo>
                    <a:pt x="3254705" y="23796"/>
                  </a:lnTo>
                  <a:lnTo>
                    <a:pt x="3255086" y="27733"/>
                  </a:lnTo>
                  <a:lnTo>
                    <a:pt x="3255467" y="33956"/>
                  </a:lnTo>
                  <a:lnTo>
                    <a:pt x="3216374" y="34716"/>
                  </a:lnTo>
                  <a:lnTo>
                    <a:pt x="3171163" y="34943"/>
                  </a:lnTo>
                  <a:lnTo>
                    <a:pt x="3120898" y="34740"/>
                  </a:lnTo>
                  <a:lnTo>
                    <a:pt x="3066647" y="34212"/>
                  </a:lnTo>
                  <a:lnTo>
                    <a:pt x="3009474" y="33463"/>
                  </a:lnTo>
                  <a:lnTo>
                    <a:pt x="2950446" y="32597"/>
                  </a:lnTo>
                  <a:lnTo>
                    <a:pt x="2890627" y="31718"/>
                  </a:lnTo>
                  <a:lnTo>
                    <a:pt x="2831085" y="30930"/>
                  </a:lnTo>
                  <a:lnTo>
                    <a:pt x="2772885" y="30338"/>
                  </a:lnTo>
                  <a:lnTo>
                    <a:pt x="2717092" y="30046"/>
                  </a:lnTo>
                  <a:lnTo>
                    <a:pt x="2664773" y="30158"/>
                  </a:lnTo>
                  <a:lnTo>
                    <a:pt x="2616993" y="30777"/>
                  </a:lnTo>
                  <a:lnTo>
                    <a:pt x="2574818" y="32008"/>
                  </a:lnTo>
                  <a:lnTo>
                    <a:pt x="2539314" y="33956"/>
                  </a:lnTo>
                  <a:lnTo>
                    <a:pt x="2505914" y="35586"/>
                  </a:lnTo>
                  <a:lnTo>
                    <a:pt x="2429882" y="35335"/>
                  </a:lnTo>
                  <a:lnTo>
                    <a:pt x="2387439" y="33956"/>
                  </a:lnTo>
                  <a:lnTo>
                    <a:pt x="2342169" y="32075"/>
                  </a:lnTo>
                  <a:lnTo>
                    <a:pt x="2294169" y="29944"/>
                  </a:lnTo>
                  <a:lnTo>
                    <a:pt x="2243531" y="27812"/>
                  </a:lnTo>
                  <a:lnTo>
                    <a:pt x="2190350" y="25932"/>
                  </a:lnTo>
                  <a:lnTo>
                    <a:pt x="2134722" y="24553"/>
                  </a:lnTo>
                  <a:lnTo>
                    <a:pt x="2076739" y="23926"/>
                  </a:lnTo>
                  <a:lnTo>
                    <a:pt x="2016498" y="24302"/>
                  </a:lnTo>
                  <a:lnTo>
                    <a:pt x="1954091" y="25932"/>
                  </a:lnTo>
                  <a:lnTo>
                    <a:pt x="1889614" y="29066"/>
                  </a:lnTo>
                  <a:lnTo>
                    <a:pt x="1823161" y="33956"/>
                  </a:lnTo>
                  <a:lnTo>
                    <a:pt x="1755167" y="39361"/>
                  </a:lnTo>
                  <a:lnTo>
                    <a:pt x="1695419" y="43109"/>
                  </a:lnTo>
                  <a:lnTo>
                    <a:pt x="1642482" y="45407"/>
                  </a:lnTo>
                  <a:lnTo>
                    <a:pt x="1594923" y="46461"/>
                  </a:lnTo>
                  <a:lnTo>
                    <a:pt x="1551306" y="46477"/>
                  </a:lnTo>
                  <a:lnTo>
                    <a:pt x="1510197" y="45661"/>
                  </a:lnTo>
                  <a:lnTo>
                    <a:pt x="1470162" y="44219"/>
                  </a:lnTo>
                  <a:lnTo>
                    <a:pt x="1429765" y="42357"/>
                  </a:lnTo>
                  <a:lnTo>
                    <a:pt x="1387573" y="40280"/>
                  </a:lnTo>
                  <a:lnTo>
                    <a:pt x="1342151" y="38196"/>
                  </a:lnTo>
                  <a:lnTo>
                    <a:pt x="1292064" y="36310"/>
                  </a:lnTo>
                  <a:lnTo>
                    <a:pt x="1235878" y="34828"/>
                  </a:lnTo>
                  <a:lnTo>
                    <a:pt x="1172159" y="33956"/>
                  </a:lnTo>
                  <a:lnTo>
                    <a:pt x="1133587" y="33803"/>
                  </a:lnTo>
                  <a:lnTo>
                    <a:pt x="1094660" y="33886"/>
                  </a:lnTo>
                  <a:lnTo>
                    <a:pt x="1055269" y="34174"/>
                  </a:lnTo>
                  <a:lnTo>
                    <a:pt x="1015303" y="34634"/>
                  </a:lnTo>
                  <a:lnTo>
                    <a:pt x="974652" y="35236"/>
                  </a:lnTo>
                  <a:lnTo>
                    <a:pt x="933205" y="35946"/>
                  </a:lnTo>
                  <a:lnTo>
                    <a:pt x="890853" y="36734"/>
                  </a:lnTo>
                  <a:lnTo>
                    <a:pt x="847486" y="37567"/>
                  </a:lnTo>
                  <a:lnTo>
                    <a:pt x="802993" y="38415"/>
                  </a:lnTo>
                  <a:lnTo>
                    <a:pt x="757264" y="39244"/>
                  </a:lnTo>
                  <a:lnTo>
                    <a:pt x="710189" y="40024"/>
                  </a:lnTo>
                  <a:lnTo>
                    <a:pt x="661658" y="40723"/>
                  </a:lnTo>
                  <a:lnTo>
                    <a:pt x="611560" y="41308"/>
                  </a:lnTo>
                  <a:lnTo>
                    <a:pt x="559786" y="41749"/>
                  </a:lnTo>
                  <a:lnTo>
                    <a:pt x="506226" y="42013"/>
                  </a:lnTo>
                  <a:lnTo>
                    <a:pt x="450768" y="42068"/>
                  </a:lnTo>
                  <a:lnTo>
                    <a:pt x="393304" y="41884"/>
                  </a:lnTo>
                  <a:lnTo>
                    <a:pt x="333722" y="41427"/>
                  </a:lnTo>
                  <a:lnTo>
                    <a:pt x="271914" y="40667"/>
                  </a:lnTo>
                  <a:lnTo>
                    <a:pt x="207767" y="39572"/>
                  </a:lnTo>
                  <a:lnTo>
                    <a:pt x="141174" y="38110"/>
                  </a:lnTo>
                  <a:lnTo>
                    <a:pt x="72022" y="36248"/>
                  </a:lnTo>
                  <a:lnTo>
                    <a:pt x="203" y="33956"/>
                  </a:lnTo>
                  <a:lnTo>
                    <a:pt x="152" y="28114"/>
                  </a:lnTo>
                  <a:lnTo>
                    <a:pt x="0" y="22145"/>
                  </a:lnTo>
                  <a:lnTo>
                    <a:pt x="203" y="15668"/>
                  </a:lnTo>
                  <a:close/>
                </a:path>
              </a:pathLst>
            </a:custGeom>
            <a:noFill/>
            <a:ln cap="flat" cmpd="sng" w="38100">
              <a:solidFill>
                <a:srgbClr val="EC7C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4" name="Google Shape;184;p12"/>
          <p:cNvSpPr txBox="1"/>
          <p:nvPr/>
        </p:nvSpPr>
        <p:spPr>
          <a:xfrm>
            <a:off x="709678" y="2790573"/>
            <a:ext cx="3216911" cy="2624307"/>
          </a:xfrm>
          <a:prstGeom prst="rect">
            <a:avLst/>
          </a:prstGeom>
          <a:noFill/>
          <a:ln>
            <a:noFill/>
          </a:ln>
        </p:spPr>
        <p:txBody>
          <a:bodyPr anchorCtr="0" anchor="t" bIns="0" lIns="0" spcFirstLastPara="1" rIns="0" wrap="square" tIns="45700">
            <a:spAutoFit/>
          </a:bodyPr>
          <a:lstStyle/>
          <a:p>
            <a:pPr indent="-228600" lvl="0" marL="240665" marR="5080" rtl="0" algn="l">
              <a:lnSpc>
                <a:spcPct val="90000"/>
              </a:lnSpc>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In dense index, there is an  index record for every  search key value in the  database.</a:t>
            </a:r>
            <a:endParaRPr sz="2200">
              <a:solidFill>
                <a:schemeClr val="dk1"/>
              </a:solidFill>
              <a:latin typeface="Calibri"/>
              <a:ea typeface="Calibri"/>
              <a:cs typeface="Calibri"/>
              <a:sym typeface="Calibri"/>
            </a:endParaRPr>
          </a:p>
          <a:p>
            <a:pPr indent="-228600" lvl="0" marL="240665" marR="208279" rtl="0" algn="l">
              <a:lnSpc>
                <a:spcPct val="108181"/>
              </a:lnSpc>
              <a:spcBef>
                <a:spcPts val="102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This makes searching  faster but requires more  space to store index  records itself.</a:t>
            </a:r>
            <a:endParaRPr sz="2200">
              <a:solidFill>
                <a:schemeClr val="dk1"/>
              </a:solidFill>
              <a:latin typeface="Calibri"/>
              <a:ea typeface="Calibri"/>
              <a:cs typeface="Calibri"/>
              <a:sym typeface="Calibri"/>
            </a:endParaRPr>
          </a:p>
        </p:txBody>
      </p:sp>
      <p:pic>
        <p:nvPicPr>
          <p:cNvPr id="185" name="Google Shape;185;p12"/>
          <p:cNvPicPr preferRelativeResize="0"/>
          <p:nvPr/>
        </p:nvPicPr>
        <p:blipFill rotWithShape="1">
          <a:blip r:embed="rId3">
            <a:alphaModFix/>
          </a:blip>
          <a:srcRect b="0" l="0" r="0" t="0"/>
          <a:stretch/>
        </p:blipFill>
        <p:spPr>
          <a:xfrm>
            <a:off x="4826508" y="640080"/>
            <a:ext cx="6559296" cy="5577840"/>
          </a:xfrm>
          <a:prstGeom prst="rect">
            <a:avLst/>
          </a:prstGeom>
          <a:noFill/>
          <a:ln>
            <a:noFill/>
          </a:ln>
        </p:spPr>
      </p:pic>
      <p:sp>
        <p:nvSpPr>
          <p:cNvPr id="186" name="Google Shape;186;p12"/>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3"/>
          <p:cNvSpPr txBox="1"/>
          <p:nvPr>
            <p:ph type="title"/>
          </p:nvPr>
        </p:nvSpPr>
        <p:spPr>
          <a:xfrm>
            <a:off x="722172" y="310278"/>
            <a:ext cx="3468828" cy="56682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000000"/>
              </a:buClr>
              <a:buSzPts val="3600"/>
              <a:buFont typeface="Cambria"/>
              <a:buNone/>
            </a:pPr>
            <a:r>
              <a:rPr lang="en-US" sz="3600">
                <a:solidFill>
                  <a:srgbClr val="000000"/>
                </a:solidFill>
              </a:rPr>
              <a:t>Sparse Index</a:t>
            </a:r>
            <a:endParaRPr sz="3600"/>
          </a:p>
        </p:txBody>
      </p:sp>
      <p:sp>
        <p:nvSpPr>
          <p:cNvPr id="192" name="Google Shape;192;p13"/>
          <p:cNvSpPr txBox="1"/>
          <p:nvPr/>
        </p:nvSpPr>
        <p:spPr>
          <a:xfrm>
            <a:off x="514302" y="1280287"/>
            <a:ext cx="4946015" cy="4801827"/>
          </a:xfrm>
          <a:prstGeom prst="rect">
            <a:avLst/>
          </a:prstGeom>
          <a:noFill/>
          <a:ln>
            <a:noFill/>
          </a:ln>
        </p:spPr>
        <p:txBody>
          <a:bodyPr anchorCtr="0" anchor="t" bIns="0" lIns="0" spcFirstLastPara="1" rIns="0" wrap="square" tIns="99050">
            <a:spAutoFit/>
          </a:bodyPr>
          <a:lstStyle/>
          <a:p>
            <a:pPr indent="-228600" lvl="0" marL="241300" marR="97155" rtl="0" algn="l">
              <a:lnSpc>
                <a:spcPct val="70000"/>
              </a:lnSpc>
              <a:spcBef>
                <a:spcPts val="0"/>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It is an index record that appears for only some  of the values in the file.</a:t>
            </a:r>
            <a:endParaRPr sz="1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900"/>
              <a:buFont typeface="Arial"/>
              <a:buNone/>
            </a:pPr>
            <a:r>
              <a:t/>
            </a:r>
            <a:endParaRPr sz="1900">
              <a:solidFill>
                <a:schemeClr val="dk1"/>
              </a:solidFill>
              <a:latin typeface="Calibri"/>
              <a:ea typeface="Calibri"/>
              <a:cs typeface="Calibri"/>
              <a:sym typeface="Calibri"/>
            </a:endParaRPr>
          </a:p>
          <a:p>
            <a:pPr indent="-228600" lvl="0" marL="241300" marR="175895" rtl="0" algn="l">
              <a:lnSpc>
                <a:spcPct val="70000"/>
              </a:lnSpc>
              <a:spcBef>
                <a:spcPts val="1270"/>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Sparse Index helps you to resolve the issues of  dense Indexing in DBMS.</a:t>
            </a:r>
            <a:endParaRPr sz="1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900"/>
              <a:buFont typeface="Arial"/>
              <a:buNone/>
            </a:pPr>
            <a:r>
              <a:t/>
            </a:r>
            <a:endParaRPr sz="1900">
              <a:solidFill>
                <a:schemeClr val="dk1"/>
              </a:solidFill>
              <a:latin typeface="Calibri"/>
              <a:ea typeface="Calibri"/>
              <a:cs typeface="Calibri"/>
              <a:sym typeface="Calibri"/>
            </a:endParaRPr>
          </a:p>
          <a:p>
            <a:pPr indent="-228600" lvl="0" marL="241300" marR="5080" rtl="0" algn="l">
              <a:lnSpc>
                <a:spcPct val="70000"/>
              </a:lnSpc>
              <a:spcBef>
                <a:spcPts val="1280"/>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In this method of indexing technique, a range of  index columns stores the same data block  address, and when data needs to be retrieved,  the block address will be fetched.</a:t>
            </a:r>
            <a:endParaRPr sz="1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900"/>
              <a:buFont typeface="Arial"/>
              <a:buNone/>
            </a:pPr>
            <a:r>
              <a:t/>
            </a:r>
            <a:endParaRPr sz="1900">
              <a:solidFill>
                <a:schemeClr val="dk1"/>
              </a:solidFill>
              <a:latin typeface="Calibri"/>
              <a:ea typeface="Calibri"/>
              <a:cs typeface="Calibri"/>
              <a:sym typeface="Calibri"/>
            </a:endParaRPr>
          </a:p>
          <a:p>
            <a:pPr indent="-228600" lvl="0" marL="241300" marR="155575" rtl="0" algn="l">
              <a:lnSpc>
                <a:spcPct val="70000"/>
              </a:lnSpc>
              <a:spcBef>
                <a:spcPts val="1285"/>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However, sparse Index stores index records for  only some search-key values.</a:t>
            </a:r>
            <a:endParaRPr sz="1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900"/>
              <a:buFont typeface="Arial"/>
              <a:buNone/>
            </a:pPr>
            <a:r>
              <a:t/>
            </a:r>
            <a:endParaRPr sz="1900">
              <a:solidFill>
                <a:schemeClr val="dk1"/>
              </a:solidFill>
              <a:latin typeface="Calibri"/>
              <a:ea typeface="Calibri"/>
              <a:cs typeface="Calibri"/>
              <a:sym typeface="Calibri"/>
            </a:endParaRPr>
          </a:p>
          <a:p>
            <a:pPr indent="-228600" lvl="0" marL="241300" marR="91440" rtl="0" algn="l">
              <a:lnSpc>
                <a:spcPct val="70000"/>
              </a:lnSpc>
              <a:spcBef>
                <a:spcPts val="1265"/>
              </a:spcBef>
              <a:spcAft>
                <a:spcPts val="0"/>
              </a:spcAft>
              <a:buClr>
                <a:schemeClr val="dk1"/>
              </a:buClr>
              <a:buSzPts val="1900"/>
              <a:buFont typeface="Arial"/>
              <a:buChar char="•"/>
            </a:pPr>
            <a:r>
              <a:rPr lang="en-US" sz="1900">
                <a:solidFill>
                  <a:schemeClr val="dk1"/>
                </a:solidFill>
                <a:latin typeface="Calibri"/>
                <a:ea typeface="Calibri"/>
                <a:cs typeface="Calibri"/>
                <a:sym typeface="Calibri"/>
              </a:rPr>
              <a:t>It needs less space, less maintenance overhead  for insertion, and deletions but It is slower  compared to the dense Index for locating  records</a:t>
            </a:r>
            <a:endParaRPr sz="1900">
              <a:solidFill>
                <a:schemeClr val="dk1"/>
              </a:solidFill>
              <a:latin typeface="Calibri"/>
              <a:ea typeface="Calibri"/>
              <a:cs typeface="Calibri"/>
              <a:sym typeface="Calibri"/>
            </a:endParaRPr>
          </a:p>
        </p:txBody>
      </p:sp>
      <p:sp>
        <p:nvSpPr>
          <p:cNvPr id="193" name="Google Shape;193;p13"/>
          <p:cNvSpPr/>
          <p:nvPr/>
        </p:nvSpPr>
        <p:spPr>
          <a:xfrm>
            <a:off x="2" y="4600955"/>
            <a:ext cx="1014095" cy="2018030"/>
          </a:xfrm>
          <a:custGeom>
            <a:rect b="b" l="l" r="r" t="t"/>
            <a:pathLst>
              <a:path extrusionOk="0" h="2018029" w="1014094">
                <a:moveTo>
                  <a:pt x="1014056" y="1370545"/>
                </a:moveTo>
                <a:lnTo>
                  <a:pt x="832510" y="1189012"/>
                </a:lnTo>
                <a:lnTo>
                  <a:pt x="1013460" y="1008888"/>
                </a:lnTo>
                <a:lnTo>
                  <a:pt x="0" y="0"/>
                </a:lnTo>
                <a:lnTo>
                  <a:pt x="0" y="2017776"/>
                </a:lnTo>
                <a:lnTo>
                  <a:pt x="488391" y="1531594"/>
                </a:lnTo>
                <a:lnTo>
                  <a:pt x="670699" y="1713890"/>
                </a:lnTo>
                <a:lnTo>
                  <a:pt x="1014056" y="1370545"/>
                </a:lnTo>
                <a:close/>
              </a:path>
            </a:pathLst>
          </a:custGeom>
          <a:solidFill>
            <a:srgbClr val="4471C4">
              <a:alpha val="2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13"/>
          <p:cNvSpPr/>
          <p:nvPr/>
        </p:nvSpPr>
        <p:spPr>
          <a:xfrm>
            <a:off x="11219309" y="0"/>
            <a:ext cx="972819" cy="1935480"/>
          </a:xfrm>
          <a:custGeom>
            <a:rect b="b" l="l" r="r" t="t"/>
            <a:pathLst>
              <a:path extrusionOk="0" h="1935480" w="972820">
                <a:moveTo>
                  <a:pt x="972693" y="0"/>
                </a:moveTo>
                <a:lnTo>
                  <a:pt x="381" y="967740"/>
                </a:lnTo>
                <a:lnTo>
                  <a:pt x="177482" y="1144016"/>
                </a:lnTo>
                <a:lnTo>
                  <a:pt x="0" y="1321562"/>
                </a:lnTo>
                <a:lnTo>
                  <a:pt x="348615" y="1670177"/>
                </a:lnTo>
                <a:lnTo>
                  <a:pt x="526986" y="1491881"/>
                </a:lnTo>
                <a:lnTo>
                  <a:pt x="972693" y="1935480"/>
                </a:lnTo>
                <a:lnTo>
                  <a:pt x="972693" y="0"/>
                </a:lnTo>
                <a:close/>
              </a:path>
            </a:pathLst>
          </a:custGeom>
          <a:solidFill>
            <a:srgbClr val="FFC000">
              <a:alpha val="2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95" name="Google Shape;195;p13"/>
          <p:cNvPicPr preferRelativeResize="0"/>
          <p:nvPr/>
        </p:nvPicPr>
        <p:blipFill rotWithShape="1">
          <a:blip r:embed="rId3">
            <a:alphaModFix/>
          </a:blip>
          <a:srcRect b="0" l="0" r="0" t="0"/>
          <a:stretch/>
        </p:blipFill>
        <p:spPr>
          <a:xfrm>
            <a:off x="6679693" y="1604776"/>
            <a:ext cx="3144011" cy="3877055"/>
          </a:xfrm>
          <a:prstGeom prst="rect">
            <a:avLst/>
          </a:prstGeom>
          <a:noFill/>
          <a:ln>
            <a:noFill/>
          </a:ln>
        </p:spPr>
      </p:pic>
      <p:sp>
        <p:nvSpPr>
          <p:cNvPr id="196" name="Google Shape;196;p13"/>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Primary index</a:t>
            </a:r>
            <a:endParaRPr/>
          </a:p>
        </p:txBody>
      </p:sp>
      <p:sp>
        <p:nvSpPr>
          <p:cNvPr id="202" name="Google Shape;202;p14"/>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A primary index is an ordered file whose records are of fixed length with two fields.</a:t>
            </a:r>
            <a:endParaRPr/>
          </a:p>
          <a:p>
            <a:pPr indent="-228600" lvl="1" marL="640080" rtl="0" algn="l">
              <a:spcBef>
                <a:spcPts val="400"/>
              </a:spcBef>
              <a:spcAft>
                <a:spcPts val="0"/>
              </a:spcAft>
              <a:buSzPts val="2000"/>
              <a:buChar char="•"/>
            </a:pPr>
            <a:r>
              <a:rPr lang="en-US"/>
              <a:t>The first field is of the same data type as the ordering key field—called the primary key—of the data file, </a:t>
            </a:r>
            <a:endParaRPr/>
          </a:p>
          <a:p>
            <a:pPr indent="-228600" lvl="1" marL="640080" rtl="0" algn="l">
              <a:spcBef>
                <a:spcPts val="400"/>
              </a:spcBef>
              <a:spcAft>
                <a:spcPts val="0"/>
              </a:spcAft>
              <a:buSzPts val="2000"/>
              <a:buChar char="•"/>
            </a:pPr>
            <a:r>
              <a:rPr lang="en-US"/>
              <a:t>and the second field is a pointer to a disk block (a block address). </a:t>
            </a:r>
            <a:endParaRPr/>
          </a:p>
          <a:p>
            <a:pPr indent="-228600" lvl="0" marL="342900" rtl="0" algn="l">
              <a:spcBef>
                <a:spcPts val="440"/>
              </a:spcBef>
              <a:spcAft>
                <a:spcPts val="0"/>
              </a:spcAft>
              <a:buSzPts val="2200"/>
              <a:buChar char="•"/>
            </a:pPr>
            <a:r>
              <a:rPr lang="en-US"/>
              <a:t>There is one index entry (or index record) in the index file for each block in the data file. </a:t>
            </a:r>
            <a:endParaRPr/>
          </a:p>
          <a:p>
            <a:pPr indent="-228600" lvl="0" marL="342900" rtl="0" algn="l">
              <a:spcBef>
                <a:spcPts val="440"/>
              </a:spcBef>
              <a:spcAft>
                <a:spcPts val="0"/>
              </a:spcAft>
              <a:buSzPts val="2200"/>
              <a:buChar char="•"/>
            </a:pPr>
            <a:r>
              <a:rPr lang="en-US"/>
              <a:t>Each index entry has the value of the primary key field for the first record in a block and a pointer to that block as its two field values. </a:t>
            </a:r>
            <a:endParaRPr/>
          </a:p>
          <a:p>
            <a:pPr indent="-228600" lvl="0" marL="342900" rtl="0" algn="l">
              <a:spcBef>
                <a:spcPts val="440"/>
              </a:spcBef>
              <a:spcAft>
                <a:spcPts val="0"/>
              </a:spcAft>
              <a:buSzPts val="2200"/>
              <a:buChar char="•"/>
            </a:pPr>
            <a:r>
              <a:rPr lang="en-US"/>
              <a:t>We will refer to the two field values of index entry i as &lt;K(i),P(i)&gt;</a:t>
            </a:r>
            <a:endParaRPr/>
          </a:p>
        </p:txBody>
      </p:sp>
      <p:sp>
        <p:nvSpPr>
          <p:cNvPr id="203" name="Google Shape;203;p14"/>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Example </a:t>
            </a:r>
            <a:endParaRPr/>
          </a:p>
        </p:txBody>
      </p:sp>
      <p:sp>
        <p:nvSpPr>
          <p:cNvPr id="209" name="Google Shape;209;p15"/>
          <p:cNvSpPr txBox="1"/>
          <p:nvPr>
            <p:ph idx="1" type="body"/>
          </p:nvPr>
        </p:nvSpPr>
        <p:spPr>
          <a:xfrm>
            <a:off x="304800" y="1600200"/>
            <a:ext cx="4876800" cy="4590288"/>
          </a:xfrm>
          <a:prstGeom prst="rect">
            <a:avLst/>
          </a:prstGeom>
          <a:noFill/>
          <a:ln>
            <a:noFill/>
          </a:ln>
        </p:spPr>
        <p:txBody>
          <a:bodyPr anchorCtr="0" anchor="t" bIns="45700" lIns="91425" spcFirstLastPara="1" rIns="91425" wrap="square" tIns="45700">
            <a:normAutofit lnSpcReduction="10000"/>
          </a:bodyPr>
          <a:lstStyle/>
          <a:p>
            <a:pPr indent="-228600" lvl="0" marL="342900" rtl="0" algn="l">
              <a:spcBef>
                <a:spcPts val="0"/>
              </a:spcBef>
              <a:spcAft>
                <a:spcPts val="0"/>
              </a:spcAft>
              <a:buSzPts val="2800"/>
              <a:buChar char="•"/>
            </a:pPr>
            <a:r>
              <a:rPr lang="en-US"/>
              <a:t>To create a primary index on the ordered, we use the Name field as primary key, because that is the ordering key field of the file (assuming that each value of Name is unique). </a:t>
            </a:r>
            <a:endParaRPr/>
          </a:p>
          <a:p>
            <a:pPr indent="-228600" lvl="0" marL="342900" rtl="0" algn="l">
              <a:spcBef>
                <a:spcPts val="560"/>
              </a:spcBef>
              <a:spcAft>
                <a:spcPts val="0"/>
              </a:spcAft>
              <a:buSzPts val="2800"/>
              <a:buChar char="•"/>
            </a:pPr>
            <a:r>
              <a:rPr lang="en-US"/>
              <a:t>Each entry in the index has a Name value and a pointer. The first three index entries are as follows: </a:t>
            </a:r>
            <a:endParaRPr/>
          </a:p>
        </p:txBody>
      </p:sp>
      <p:sp>
        <p:nvSpPr>
          <p:cNvPr id="210" name="Google Shape;210;p15"/>
          <p:cNvSpPr txBox="1"/>
          <p:nvPr>
            <p:ph idx="2" type="body"/>
          </p:nvPr>
        </p:nvSpPr>
        <p:spPr>
          <a:xfrm>
            <a:off x="5892800" y="1536192"/>
            <a:ext cx="4876800" cy="4590288"/>
          </a:xfrm>
          <a:prstGeom prst="rect">
            <a:avLst/>
          </a:prstGeom>
          <a:noFill/>
          <a:ln>
            <a:noFill/>
          </a:ln>
        </p:spPr>
        <p:txBody>
          <a:bodyPr anchorCtr="0" anchor="t" bIns="45700" lIns="91425" spcFirstLastPara="1" rIns="91425" wrap="square" tIns="45700">
            <a:normAutofit lnSpcReduction="10000"/>
          </a:bodyPr>
          <a:lstStyle/>
          <a:p>
            <a:pPr indent="-50800" lvl="0" marL="342900" rtl="0" algn="l">
              <a:spcBef>
                <a:spcPts val="0"/>
              </a:spcBef>
              <a:spcAft>
                <a:spcPts val="0"/>
              </a:spcAft>
              <a:buSzPts val="2800"/>
              <a:buNone/>
            </a:pPr>
            <a:r>
              <a:t/>
            </a:r>
            <a:endParaRPr/>
          </a:p>
        </p:txBody>
      </p:sp>
      <p:pic>
        <p:nvPicPr>
          <p:cNvPr id="211" name="Google Shape;211;p15"/>
          <p:cNvPicPr preferRelativeResize="0"/>
          <p:nvPr/>
        </p:nvPicPr>
        <p:blipFill rotWithShape="1">
          <a:blip r:embed="rId3">
            <a:alphaModFix/>
          </a:blip>
          <a:srcRect b="0" l="0" r="0" t="0"/>
          <a:stretch/>
        </p:blipFill>
        <p:spPr>
          <a:xfrm>
            <a:off x="5029200" y="990599"/>
            <a:ext cx="5667375" cy="5038725"/>
          </a:xfrm>
          <a:prstGeom prst="rect">
            <a:avLst/>
          </a:prstGeom>
          <a:noFill/>
          <a:ln>
            <a:noFill/>
          </a:ln>
        </p:spPr>
      </p:pic>
      <p:pic>
        <p:nvPicPr>
          <p:cNvPr id="212" name="Google Shape;212;p15"/>
          <p:cNvPicPr preferRelativeResize="0"/>
          <p:nvPr/>
        </p:nvPicPr>
        <p:blipFill rotWithShape="1">
          <a:blip r:embed="rId4">
            <a:alphaModFix/>
          </a:blip>
          <a:srcRect b="0" l="0" r="0" t="0"/>
          <a:stretch/>
        </p:blipFill>
        <p:spPr>
          <a:xfrm>
            <a:off x="2286000" y="6029324"/>
            <a:ext cx="2886075" cy="600075"/>
          </a:xfrm>
          <a:prstGeom prst="rect">
            <a:avLst/>
          </a:prstGeom>
          <a:noFill/>
          <a:ln>
            <a:noFill/>
          </a:ln>
        </p:spPr>
      </p:pic>
      <p:sp>
        <p:nvSpPr>
          <p:cNvPr id="213" name="Google Shape;213;p15"/>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Cluster index</a:t>
            </a:r>
            <a:endParaRPr/>
          </a:p>
        </p:txBody>
      </p:sp>
      <p:sp>
        <p:nvSpPr>
          <p:cNvPr id="219" name="Google Shape;219;p16"/>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lnSpcReduction="10000"/>
          </a:bodyPr>
          <a:lstStyle/>
          <a:p>
            <a:pPr indent="-228600" lvl="0" marL="342900" rtl="0" algn="l">
              <a:spcBef>
                <a:spcPts val="0"/>
              </a:spcBef>
              <a:spcAft>
                <a:spcPts val="0"/>
              </a:spcAft>
              <a:buSzPts val="2400"/>
              <a:buChar char="•"/>
            </a:pPr>
            <a:r>
              <a:rPr lang="en-US" sz="2400"/>
              <a:t>Sometimes the index is created on non-primary key columns which may not be unique for each record.</a:t>
            </a:r>
            <a:endParaRPr/>
          </a:p>
          <a:p>
            <a:pPr indent="-228600" lvl="0" marL="342900" rtl="0" algn="l">
              <a:spcBef>
                <a:spcPts val="480"/>
              </a:spcBef>
              <a:spcAft>
                <a:spcPts val="0"/>
              </a:spcAft>
              <a:buSzPts val="2400"/>
              <a:buChar char="•"/>
            </a:pPr>
            <a:r>
              <a:rPr lang="en-US" sz="2400"/>
              <a:t>In this case, to identify the record faster, we will group two or more columns to get the unique value and create index out of them. </a:t>
            </a:r>
            <a:endParaRPr sz="2400"/>
          </a:p>
          <a:p>
            <a:pPr indent="-228600" lvl="0" marL="342900" rtl="0" algn="l">
              <a:spcBef>
                <a:spcPts val="480"/>
              </a:spcBef>
              <a:spcAft>
                <a:spcPts val="0"/>
              </a:spcAft>
              <a:buSzPts val="2400"/>
              <a:buChar char="•"/>
            </a:pPr>
            <a:r>
              <a:rPr lang="en-US" sz="2400"/>
              <a:t>This method is called a clustering index.</a:t>
            </a:r>
            <a:endParaRPr/>
          </a:p>
          <a:p>
            <a:pPr indent="-228600" lvl="0" marL="342900" rtl="0" algn="l">
              <a:spcBef>
                <a:spcPts val="480"/>
              </a:spcBef>
              <a:spcAft>
                <a:spcPts val="0"/>
              </a:spcAft>
              <a:buSzPts val="2400"/>
              <a:buChar char="•"/>
            </a:pPr>
            <a:r>
              <a:rPr lang="en-US" sz="2400"/>
              <a:t>A clustered index can be defined as an ordered data file.</a:t>
            </a:r>
            <a:endParaRPr/>
          </a:p>
          <a:p>
            <a:pPr indent="-228600" lvl="0" marL="342900" rtl="0" algn="l">
              <a:spcBef>
                <a:spcPts val="480"/>
              </a:spcBef>
              <a:spcAft>
                <a:spcPts val="0"/>
              </a:spcAft>
              <a:buSzPts val="2400"/>
              <a:buChar char="•"/>
            </a:pPr>
            <a:r>
              <a:rPr lang="en-US" sz="2400"/>
              <a:t>The records which have similar characteristics are grouped, and indexes are created for these group.</a:t>
            </a:r>
            <a:endParaRPr/>
          </a:p>
          <a:p>
            <a:pPr indent="-76200" lvl="0" marL="342900" rtl="0" algn="l">
              <a:spcBef>
                <a:spcPts val="480"/>
              </a:spcBef>
              <a:spcAft>
                <a:spcPts val="0"/>
              </a:spcAft>
              <a:buSzPts val="2400"/>
              <a:buNone/>
            </a:pPr>
            <a:r>
              <a:t/>
            </a:r>
            <a:endParaRPr sz="2400"/>
          </a:p>
          <a:p>
            <a:pPr indent="-228600" lvl="0" marL="342900" rtl="0" algn="l">
              <a:spcBef>
                <a:spcPts val="480"/>
              </a:spcBef>
              <a:spcAft>
                <a:spcPts val="0"/>
              </a:spcAft>
              <a:buSzPts val="2400"/>
              <a:buChar char="•"/>
            </a:pPr>
            <a:r>
              <a:rPr lang="en-US" sz="2400"/>
              <a:t>Ordered file with two fields</a:t>
            </a:r>
            <a:endParaRPr sz="1600"/>
          </a:p>
          <a:p>
            <a:pPr indent="-228600" lvl="1" marL="640080" rtl="0" algn="l">
              <a:spcBef>
                <a:spcPts val="400"/>
              </a:spcBef>
              <a:spcAft>
                <a:spcPts val="0"/>
              </a:spcAft>
              <a:buSzPts val="2000"/>
              <a:buChar char="•"/>
            </a:pPr>
            <a:r>
              <a:rPr lang="en-US"/>
              <a:t>Same type as clustering field</a:t>
            </a:r>
            <a:endParaRPr sz="1200"/>
          </a:p>
          <a:p>
            <a:pPr indent="-228600" lvl="1" marL="640080" rtl="0" algn="l">
              <a:spcBef>
                <a:spcPts val="400"/>
              </a:spcBef>
              <a:spcAft>
                <a:spcPts val="0"/>
              </a:spcAft>
              <a:buSzPts val="2000"/>
              <a:buChar char="•"/>
            </a:pPr>
            <a:r>
              <a:rPr lang="en-US"/>
              <a:t>Disk block pointer</a:t>
            </a:r>
            <a:endParaRPr/>
          </a:p>
        </p:txBody>
      </p:sp>
      <p:sp>
        <p:nvSpPr>
          <p:cNvPr id="220" name="Google Shape;220;p16"/>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7"/>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600"/>
              <a:buFont typeface="Cambria"/>
              <a:buNone/>
            </a:pPr>
            <a:r>
              <a:rPr lang="en-US" sz="3600"/>
              <a:t>Difference between Cluster and Non-cluster Index</a:t>
            </a:r>
            <a:endParaRPr sz="3600"/>
          </a:p>
        </p:txBody>
      </p:sp>
      <p:sp>
        <p:nvSpPr>
          <p:cNvPr id="226" name="Google Shape;226;p17"/>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27" name="Google Shape;227;p17"/>
          <p:cNvPicPr preferRelativeResize="0"/>
          <p:nvPr/>
        </p:nvPicPr>
        <p:blipFill rotWithShape="1">
          <a:blip r:embed="rId3">
            <a:alphaModFix/>
          </a:blip>
          <a:srcRect b="0" l="0" r="0" t="0"/>
          <a:stretch/>
        </p:blipFill>
        <p:spPr>
          <a:xfrm>
            <a:off x="1676400" y="1559532"/>
            <a:ext cx="5762625" cy="4555518"/>
          </a:xfrm>
          <a:prstGeom prst="rect">
            <a:avLst/>
          </a:prstGeom>
          <a:noFill/>
          <a:ln>
            <a:noFill/>
          </a:ln>
          <a:effectLst>
            <a:outerShdw blurRad="292100" rotWithShape="0" algn="tl" dir="2700000" dist="139700">
              <a:srgbClr val="333333">
                <a:alpha val="64705"/>
              </a:srgbClr>
            </a:outerShdw>
          </a:effectLst>
        </p:spPr>
      </p:pic>
      <p:sp>
        <p:nvSpPr>
          <p:cNvPr id="228" name="Google Shape;228;p17"/>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Example </a:t>
            </a:r>
            <a:endParaRPr/>
          </a:p>
        </p:txBody>
      </p:sp>
      <p:sp>
        <p:nvSpPr>
          <p:cNvPr id="234" name="Google Shape;234;p18"/>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35" name="Google Shape;235;p18"/>
          <p:cNvPicPr preferRelativeResize="0"/>
          <p:nvPr/>
        </p:nvPicPr>
        <p:blipFill rotWithShape="1">
          <a:blip r:embed="rId3">
            <a:alphaModFix/>
          </a:blip>
          <a:srcRect b="0" l="0" r="0" t="0"/>
          <a:stretch/>
        </p:blipFill>
        <p:spPr>
          <a:xfrm>
            <a:off x="5791200" y="1905000"/>
            <a:ext cx="5038725" cy="363855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236" name="Google Shape;236;p18"/>
          <p:cNvPicPr preferRelativeResize="0"/>
          <p:nvPr/>
        </p:nvPicPr>
        <p:blipFill rotWithShape="1">
          <a:blip r:embed="rId4">
            <a:alphaModFix/>
          </a:blip>
          <a:srcRect b="0" l="0" r="0" t="0"/>
          <a:stretch/>
        </p:blipFill>
        <p:spPr>
          <a:xfrm>
            <a:off x="914400" y="1894562"/>
            <a:ext cx="4067175" cy="36195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37" name="Google Shape;237;p18"/>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9"/>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Secondary/Non-cluster Indexing</a:t>
            </a:r>
            <a:endParaRPr/>
          </a:p>
        </p:txBody>
      </p:sp>
      <p:sp>
        <p:nvSpPr>
          <p:cNvPr id="243" name="Google Shape;243;p19"/>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44" name="Google Shape;244;p19"/>
          <p:cNvPicPr preferRelativeResize="0"/>
          <p:nvPr/>
        </p:nvPicPr>
        <p:blipFill rotWithShape="1">
          <a:blip r:embed="rId3">
            <a:alphaModFix/>
          </a:blip>
          <a:srcRect b="0" l="0" r="0" t="0"/>
          <a:stretch/>
        </p:blipFill>
        <p:spPr>
          <a:xfrm>
            <a:off x="914400" y="1905000"/>
            <a:ext cx="7908073" cy="3505200"/>
          </a:xfrm>
          <a:prstGeom prst="rect">
            <a:avLst/>
          </a:prstGeom>
          <a:noFill/>
          <a:ln>
            <a:noFill/>
          </a:ln>
        </p:spPr>
      </p:pic>
      <p:sp>
        <p:nvSpPr>
          <p:cNvPr id="245" name="Google Shape;245;p19"/>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0"/>
          <p:cNvSpPr txBox="1"/>
          <p:nvPr>
            <p:ph type="title"/>
          </p:nvPr>
        </p:nvSpPr>
        <p:spPr>
          <a:xfrm>
            <a:off x="916940" y="613004"/>
            <a:ext cx="8756651" cy="690574"/>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2"/>
              </a:buClr>
              <a:buSzPts val="4400"/>
              <a:buFont typeface="Cambria"/>
              <a:buNone/>
            </a:pPr>
            <a:r>
              <a:rPr lang="en-US" sz="4400"/>
              <a:t>Cntd.. </a:t>
            </a:r>
            <a:endParaRPr sz="4400"/>
          </a:p>
        </p:txBody>
      </p:sp>
      <p:sp>
        <p:nvSpPr>
          <p:cNvPr id="251" name="Google Shape;251;p20"/>
          <p:cNvSpPr txBox="1"/>
          <p:nvPr/>
        </p:nvSpPr>
        <p:spPr>
          <a:xfrm>
            <a:off x="916940" y="1764541"/>
            <a:ext cx="9914891" cy="3937616"/>
          </a:xfrm>
          <a:prstGeom prst="rect">
            <a:avLst/>
          </a:prstGeom>
          <a:noFill/>
          <a:ln>
            <a:noFill/>
          </a:ln>
        </p:spPr>
        <p:txBody>
          <a:bodyPr anchorCtr="0" anchor="t" bIns="0" lIns="0" spcFirstLastPara="1" rIns="0" wrap="square" tIns="104775">
            <a:spAutoFit/>
          </a:bodyPr>
          <a:lstStyle/>
          <a:p>
            <a:pPr indent="-228600" lvl="0" marL="241300" marR="208279" rtl="0" algn="l">
              <a:lnSpc>
                <a:spcPct val="7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secondary Index in DBMS can be generated by a field which has a unique value for each  record, and it should be a candidate key.</a:t>
            </a:r>
            <a:endParaRPr sz="2000">
              <a:solidFill>
                <a:schemeClr val="dk1"/>
              </a:solidFill>
              <a:latin typeface="Calibri"/>
              <a:ea typeface="Calibri"/>
              <a:cs typeface="Calibri"/>
              <a:sym typeface="Calibri"/>
            </a:endParaRPr>
          </a:p>
          <a:p>
            <a:pPr indent="-228600" lvl="0" marL="241300" marR="0" rtl="0" algn="l">
              <a:lnSpc>
                <a:spcPct val="100000"/>
              </a:lnSpc>
              <a:spcBef>
                <a:spcPts val="2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It is also known as a non-clustering index.</a:t>
            </a:r>
            <a:endParaRPr sz="2000">
              <a:solidFill>
                <a:schemeClr val="dk1"/>
              </a:solidFill>
              <a:latin typeface="Calibri"/>
              <a:ea typeface="Calibri"/>
              <a:cs typeface="Calibri"/>
              <a:sym typeface="Calibri"/>
            </a:endParaRPr>
          </a:p>
          <a:p>
            <a:pPr indent="-228600" lvl="0" marL="241300" marR="0" rtl="0" algn="l">
              <a:lnSpc>
                <a:spcPct val="100000"/>
              </a:lnSpc>
              <a:spcBef>
                <a:spcPts val="28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If the mapping size grows then fetching the address itself becomes slower.</a:t>
            </a:r>
            <a:endParaRPr sz="2000">
              <a:solidFill>
                <a:schemeClr val="dk1"/>
              </a:solidFill>
              <a:latin typeface="Calibri"/>
              <a:ea typeface="Calibri"/>
              <a:cs typeface="Calibri"/>
              <a:sym typeface="Calibri"/>
            </a:endParaRPr>
          </a:p>
          <a:p>
            <a:pPr indent="-228600" lvl="0" marL="241300" marR="669290" rtl="0" algn="l">
              <a:lnSpc>
                <a:spcPct val="7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In this case, the sparse index will not be efficient. To overcome this problem, secondary  indexing is introduced.</a:t>
            </a:r>
            <a:endParaRPr sz="2000">
              <a:solidFill>
                <a:schemeClr val="dk1"/>
              </a:solidFill>
              <a:latin typeface="Calibri"/>
              <a:ea typeface="Calibri"/>
              <a:cs typeface="Calibri"/>
              <a:sym typeface="Calibri"/>
            </a:endParaRPr>
          </a:p>
          <a:p>
            <a:pPr indent="-228600" lvl="0" marL="241300" marR="0" rtl="0" algn="l">
              <a:lnSpc>
                <a:spcPct val="100000"/>
              </a:lnSpc>
              <a:spcBef>
                <a:spcPts val="2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In secondary indexing, to reduce the size of mapping, another level of indexing is introduced.</a:t>
            </a:r>
            <a:endParaRPr sz="2000">
              <a:solidFill>
                <a:schemeClr val="dk1"/>
              </a:solidFill>
              <a:latin typeface="Calibri"/>
              <a:ea typeface="Calibri"/>
              <a:cs typeface="Calibri"/>
              <a:sym typeface="Calibri"/>
            </a:endParaRPr>
          </a:p>
          <a:p>
            <a:pPr indent="-228600" lvl="0" marL="241300" marR="0" rtl="0" algn="l">
              <a:lnSpc>
                <a:spcPct val="101950"/>
              </a:lnSpc>
              <a:spcBef>
                <a:spcPts val="29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In this method, the huge range for the columns is selected initially so that the mapping size of</a:t>
            </a:r>
            <a:endParaRPr sz="2000">
              <a:solidFill>
                <a:schemeClr val="dk1"/>
              </a:solidFill>
              <a:latin typeface="Calibri"/>
              <a:ea typeface="Calibri"/>
              <a:cs typeface="Calibri"/>
              <a:sym typeface="Calibri"/>
            </a:endParaRPr>
          </a:p>
          <a:p>
            <a:pPr indent="0" lvl="0" marL="241300" marR="0" rtl="0" algn="l">
              <a:lnSpc>
                <a:spcPct val="101950"/>
              </a:lnSpc>
              <a:spcBef>
                <a:spcPts val="0"/>
              </a:spcBef>
              <a:spcAft>
                <a:spcPts val="0"/>
              </a:spcAft>
              <a:buNone/>
            </a:pPr>
            <a:r>
              <a:rPr lang="en-US" sz="2000">
                <a:solidFill>
                  <a:schemeClr val="dk1"/>
                </a:solidFill>
                <a:latin typeface="Calibri"/>
                <a:ea typeface="Calibri"/>
                <a:cs typeface="Calibri"/>
                <a:sym typeface="Calibri"/>
              </a:rPr>
              <a:t>the first level becomes small.</a:t>
            </a:r>
            <a:endParaRPr sz="2000">
              <a:solidFill>
                <a:schemeClr val="dk1"/>
              </a:solidFill>
              <a:latin typeface="Calibri"/>
              <a:ea typeface="Calibri"/>
              <a:cs typeface="Calibri"/>
              <a:sym typeface="Calibri"/>
            </a:endParaRPr>
          </a:p>
          <a:p>
            <a:pPr indent="-228600" lvl="0" marL="241300" marR="0" rtl="0" algn="l">
              <a:lnSpc>
                <a:spcPct val="100000"/>
              </a:lnSpc>
              <a:spcBef>
                <a:spcPts val="2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Then each range is further divided into smaller ranges.</a:t>
            </a:r>
            <a:endParaRPr sz="2000">
              <a:solidFill>
                <a:schemeClr val="dk1"/>
              </a:solidFill>
              <a:latin typeface="Calibri"/>
              <a:ea typeface="Calibri"/>
              <a:cs typeface="Calibri"/>
              <a:sym typeface="Calibri"/>
            </a:endParaRPr>
          </a:p>
          <a:p>
            <a:pPr indent="-228600" lvl="0" marL="241300" marR="0" rtl="0" algn="l">
              <a:lnSpc>
                <a:spcPct val="100000"/>
              </a:lnSpc>
              <a:spcBef>
                <a:spcPts val="2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mapping of the first level is stored in the primary memory, so that address fetch is faster.</a:t>
            </a:r>
            <a:endParaRPr sz="2000">
              <a:solidFill>
                <a:schemeClr val="dk1"/>
              </a:solidFill>
              <a:latin typeface="Calibri"/>
              <a:ea typeface="Calibri"/>
              <a:cs typeface="Calibri"/>
              <a:sym typeface="Calibri"/>
            </a:endParaRPr>
          </a:p>
          <a:p>
            <a:pPr indent="-228600" lvl="0" marL="241300" marR="239395" rtl="0" algn="l">
              <a:lnSpc>
                <a:spcPct val="70000"/>
              </a:lnSpc>
              <a:spcBef>
                <a:spcPts val="100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mapping of the second level and actual data are stored in the secondary memory (hard  disk).</a:t>
            </a:r>
            <a:endParaRPr sz="2000">
              <a:solidFill>
                <a:schemeClr val="dk1"/>
              </a:solidFill>
              <a:latin typeface="Calibri"/>
              <a:ea typeface="Calibri"/>
              <a:cs typeface="Calibri"/>
              <a:sym typeface="Calibri"/>
            </a:endParaRPr>
          </a:p>
        </p:txBody>
      </p:sp>
      <p:sp>
        <p:nvSpPr>
          <p:cNvPr id="252" name="Google Shape;252;p20"/>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1"/>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Example </a:t>
            </a:r>
            <a:endParaRPr/>
          </a:p>
        </p:txBody>
      </p:sp>
      <p:sp>
        <p:nvSpPr>
          <p:cNvPr id="258" name="Google Shape;258;p21"/>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59" name="Google Shape;259;p21"/>
          <p:cNvPicPr preferRelativeResize="0"/>
          <p:nvPr/>
        </p:nvPicPr>
        <p:blipFill rotWithShape="1">
          <a:blip r:embed="rId3">
            <a:alphaModFix/>
          </a:blip>
          <a:srcRect b="0" l="0" r="0" t="0"/>
          <a:stretch/>
        </p:blipFill>
        <p:spPr>
          <a:xfrm>
            <a:off x="990600" y="2362200"/>
            <a:ext cx="4524375" cy="2619375"/>
          </a:xfrm>
          <a:prstGeom prst="rect">
            <a:avLst/>
          </a:prstGeom>
          <a:noFill/>
          <a:ln>
            <a:noFill/>
          </a:ln>
        </p:spPr>
      </p:pic>
      <p:pic>
        <p:nvPicPr>
          <p:cNvPr id="260" name="Google Shape;260;p21"/>
          <p:cNvPicPr preferRelativeResize="0"/>
          <p:nvPr/>
        </p:nvPicPr>
        <p:blipFill rotWithShape="1">
          <a:blip r:embed="rId4">
            <a:alphaModFix/>
          </a:blip>
          <a:srcRect b="0" l="0" r="0" t="0"/>
          <a:stretch/>
        </p:blipFill>
        <p:spPr>
          <a:xfrm>
            <a:off x="977030" y="5181600"/>
            <a:ext cx="5924550" cy="504825"/>
          </a:xfrm>
          <a:prstGeom prst="rect">
            <a:avLst/>
          </a:prstGeom>
          <a:noFill/>
          <a:ln>
            <a:noFill/>
          </a:ln>
        </p:spPr>
      </p:pic>
      <p:sp>
        <p:nvSpPr>
          <p:cNvPr id="261" name="Google Shape;261;p21"/>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2"/>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Secondary index on key-attribute</a:t>
            </a:r>
            <a:endParaRPr/>
          </a:p>
        </p:txBody>
      </p:sp>
      <p:sp>
        <p:nvSpPr>
          <p:cNvPr id="267" name="Google Shape;267;p22"/>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68" name="Google Shape;268;p22"/>
          <p:cNvPicPr preferRelativeResize="0"/>
          <p:nvPr/>
        </p:nvPicPr>
        <p:blipFill rotWithShape="1">
          <a:blip r:embed="rId3">
            <a:alphaModFix/>
          </a:blip>
          <a:srcRect b="0" l="0" r="0" t="0"/>
          <a:stretch/>
        </p:blipFill>
        <p:spPr>
          <a:xfrm>
            <a:off x="838200" y="1828800"/>
            <a:ext cx="8440674" cy="4038600"/>
          </a:xfrm>
          <a:prstGeom prst="rect">
            <a:avLst/>
          </a:prstGeom>
          <a:noFill/>
          <a:ln>
            <a:noFill/>
          </a:ln>
        </p:spPr>
      </p:pic>
      <p:sp>
        <p:nvSpPr>
          <p:cNvPr id="269" name="Google Shape;269;p22"/>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Secondary index on non-key attribute</a:t>
            </a:r>
            <a:endParaRPr/>
          </a:p>
        </p:txBody>
      </p:sp>
      <p:sp>
        <p:nvSpPr>
          <p:cNvPr id="275" name="Google Shape;275;p23"/>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76" name="Google Shape;276;p23"/>
          <p:cNvPicPr preferRelativeResize="0"/>
          <p:nvPr/>
        </p:nvPicPr>
        <p:blipFill rotWithShape="1">
          <a:blip r:embed="rId3">
            <a:alphaModFix/>
          </a:blip>
          <a:srcRect b="0" l="0" r="0" t="0"/>
          <a:stretch/>
        </p:blipFill>
        <p:spPr>
          <a:xfrm>
            <a:off x="990600" y="1600200"/>
            <a:ext cx="6934200" cy="946079"/>
          </a:xfrm>
          <a:prstGeom prst="rect">
            <a:avLst/>
          </a:prstGeom>
          <a:noFill/>
          <a:ln>
            <a:noFill/>
          </a:ln>
        </p:spPr>
      </p:pic>
      <p:pic>
        <p:nvPicPr>
          <p:cNvPr id="277" name="Google Shape;277;p23"/>
          <p:cNvPicPr preferRelativeResize="0"/>
          <p:nvPr/>
        </p:nvPicPr>
        <p:blipFill rotWithShape="1">
          <a:blip r:embed="rId4">
            <a:alphaModFix/>
          </a:blip>
          <a:srcRect b="0" l="0" r="0" t="0"/>
          <a:stretch/>
        </p:blipFill>
        <p:spPr>
          <a:xfrm>
            <a:off x="7772400" y="2743200"/>
            <a:ext cx="2057400" cy="2880360"/>
          </a:xfrm>
          <a:prstGeom prst="rect">
            <a:avLst/>
          </a:prstGeom>
          <a:noFill/>
          <a:ln>
            <a:noFill/>
          </a:ln>
        </p:spPr>
      </p:pic>
      <p:pic>
        <p:nvPicPr>
          <p:cNvPr id="278" name="Google Shape;278;p23"/>
          <p:cNvPicPr preferRelativeResize="0"/>
          <p:nvPr/>
        </p:nvPicPr>
        <p:blipFill rotWithShape="1">
          <a:blip r:embed="rId5">
            <a:alphaModFix/>
          </a:blip>
          <a:srcRect b="0" l="0" r="0" t="0"/>
          <a:stretch/>
        </p:blipFill>
        <p:spPr>
          <a:xfrm>
            <a:off x="5462914" y="2599515"/>
            <a:ext cx="2004686" cy="3104818"/>
          </a:xfrm>
          <a:prstGeom prst="rect">
            <a:avLst/>
          </a:prstGeom>
          <a:noFill/>
          <a:ln>
            <a:noFill/>
          </a:ln>
        </p:spPr>
      </p:pic>
      <p:pic>
        <p:nvPicPr>
          <p:cNvPr id="279" name="Google Shape;279;p23"/>
          <p:cNvPicPr preferRelativeResize="0"/>
          <p:nvPr/>
        </p:nvPicPr>
        <p:blipFill rotWithShape="1">
          <a:blip r:embed="rId6">
            <a:alphaModFix/>
          </a:blip>
          <a:srcRect b="0" l="0" r="0" t="0"/>
          <a:stretch/>
        </p:blipFill>
        <p:spPr>
          <a:xfrm>
            <a:off x="1143000" y="2565068"/>
            <a:ext cx="4099930" cy="2997532"/>
          </a:xfrm>
          <a:prstGeom prst="rect">
            <a:avLst/>
          </a:prstGeom>
          <a:noFill/>
          <a:ln>
            <a:noFill/>
          </a:ln>
        </p:spPr>
      </p:pic>
      <p:sp>
        <p:nvSpPr>
          <p:cNvPr id="280" name="Google Shape;280;p23"/>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4"/>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t/>
            </a:r>
            <a:endParaRPr/>
          </a:p>
        </p:txBody>
      </p:sp>
      <p:sp>
        <p:nvSpPr>
          <p:cNvPr id="286" name="Google Shape;286;p24"/>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87" name="Google Shape;287;p24"/>
          <p:cNvPicPr preferRelativeResize="0"/>
          <p:nvPr/>
        </p:nvPicPr>
        <p:blipFill rotWithShape="1">
          <a:blip r:embed="rId3">
            <a:alphaModFix/>
          </a:blip>
          <a:srcRect b="0" l="0" r="0" t="0"/>
          <a:stretch/>
        </p:blipFill>
        <p:spPr>
          <a:xfrm>
            <a:off x="914400" y="2057400"/>
            <a:ext cx="8417536" cy="3524250"/>
          </a:xfrm>
          <a:prstGeom prst="rect">
            <a:avLst/>
          </a:prstGeom>
          <a:noFill/>
          <a:ln>
            <a:noFill/>
          </a:ln>
        </p:spPr>
      </p:pic>
      <p:sp>
        <p:nvSpPr>
          <p:cNvPr id="288" name="Google Shape;288;p24"/>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5"/>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NonClustered Index </a:t>
            </a:r>
            <a:endParaRPr/>
          </a:p>
        </p:txBody>
      </p:sp>
      <p:sp>
        <p:nvSpPr>
          <p:cNvPr id="294" name="Google Shape;294;p25"/>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295" name="Google Shape;295;p25"/>
          <p:cNvPicPr preferRelativeResize="0"/>
          <p:nvPr/>
        </p:nvPicPr>
        <p:blipFill rotWithShape="1">
          <a:blip r:embed="rId3">
            <a:alphaModFix/>
          </a:blip>
          <a:srcRect b="0" l="0" r="0" t="0"/>
          <a:stretch/>
        </p:blipFill>
        <p:spPr>
          <a:xfrm>
            <a:off x="1371600" y="1600200"/>
            <a:ext cx="8001000" cy="4650677"/>
          </a:xfrm>
          <a:prstGeom prst="rect">
            <a:avLst/>
          </a:prstGeom>
          <a:noFill/>
          <a:ln>
            <a:noFill/>
          </a:ln>
        </p:spPr>
      </p:pic>
      <p:sp>
        <p:nvSpPr>
          <p:cNvPr id="296" name="Google Shape;296;p25"/>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26"/>
          <p:cNvPicPr preferRelativeResize="0"/>
          <p:nvPr/>
        </p:nvPicPr>
        <p:blipFill rotWithShape="1">
          <a:blip r:embed="rId3">
            <a:alphaModFix/>
          </a:blip>
          <a:srcRect b="0" l="0" r="0" t="0"/>
          <a:stretch/>
        </p:blipFill>
        <p:spPr>
          <a:xfrm>
            <a:off x="1066800" y="838200"/>
            <a:ext cx="9137125" cy="5486400"/>
          </a:xfrm>
          <a:prstGeom prst="rect">
            <a:avLst/>
          </a:prstGeom>
          <a:noFill/>
          <a:ln>
            <a:noFill/>
          </a:ln>
        </p:spPr>
      </p:pic>
      <p:sp>
        <p:nvSpPr>
          <p:cNvPr id="303" name="Google Shape;303;p26"/>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7"/>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Multilevel index</a:t>
            </a:r>
            <a:endParaRPr/>
          </a:p>
        </p:txBody>
      </p:sp>
      <p:sp>
        <p:nvSpPr>
          <p:cNvPr id="309" name="Google Shape;309;p27"/>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Index records comprise search-key values and data pointers. </a:t>
            </a:r>
            <a:endParaRPr/>
          </a:p>
          <a:p>
            <a:pPr indent="-228600" lvl="0" marL="342900" rtl="0" algn="l">
              <a:spcBef>
                <a:spcPts val="440"/>
              </a:spcBef>
              <a:spcAft>
                <a:spcPts val="0"/>
              </a:spcAft>
              <a:buSzPts val="2200"/>
              <a:buChar char="•"/>
            </a:pPr>
            <a:r>
              <a:rPr lang="en-US"/>
              <a:t>Multilevel index is stored on the disk along with the actual database files. </a:t>
            </a:r>
            <a:endParaRPr/>
          </a:p>
          <a:p>
            <a:pPr indent="-228600" lvl="0" marL="342900" rtl="0" algn="l">
              <a:spcBef>
                <a:spcPts val="440"/>
              </a:spcBef>
              <a:spcAft>
                <a:spcPts val="0"/>
              </a:spcAft>
              <a:buSzPts val="2200"/>
              <a:buChar char="•"/>
            </a:pPr>
            <a:r>
              <a:rPr lang="en-US"/>
              <a:t>As the size of the database grows, so does the size of the indices. </a:t>
            </a:r>
            <a:endParaRPr/>
          </a:p>
          <a:p>
            <a:pPr indent="-228600" lvl="0" marL="342900" rtl="0" algn="l">
              <a:spcBef>
                <a:spcPts val="440"/>
              </a:spcBef>
              <a:spcAft>
                <a:spcPts val="0"/>
              </a:spcAft>
              <a:buSzPts val="2200"/>
              <a:buChar char="•"/>
            </a:pPr>
            <a:r>
              <a:rPr lang="en-US"/>
              <a:t>There is an immense need to keep the index records in the main memory so as to speed up the search operations. </a:t>
            </a:r>
            <a:endParaRPr/>
          </a:p>
          <a:p>
            <a:pPr indent="-228600" lvl="0" marL="342900" rtl="0" algn="l">
              <a:spcBef>
                <a:spcPts val="440"/>
              </a:spcBef>
              <a:spcAft>
                <a:spcPts val="0"/>
              </a:spcAft>
              <a:buSzPts val="2200"/>
              <a:buChar char="•"/>
            </a:pPr>
            <a:r>
              <a:rPr lang="en-US"/>
              <a:t>If single-level index is used, then a large size index cannot be kept in memory which leads to multiple disk accesses.</a:t>
            </a:r>
            <a:endParaRPr/>
          </a:p>
          <a:p>
            <a:pPr indent="-228600" lvl="0" marL="342900" rtl="0" algn="l">
              <a:spcBef>
                <a:spcPts val="440"/>
              </a:spcBef>
              <a:spcAft>
                <a:spcPts val="0"/>
              </a:spcAft>
              <a:buSzPts val="2200"/>
              <a:buChar char="•"/>
            </a:pPr>
            <a:r>
              <a:rPr lang="en-US"/>
              <a:t>Multi-level Index helps in breaking down the index into several smaller indices in order to make the outermost level so small that it can be saved in a single disk block, which can easily be accommodated anywhere in the main memory.</a:t>
            </a:r>
            <a:br>
              <a:rPr lang="en-US"/>
            </a:br>
            <a:endParaRPr/>
          </a:p>
        </p:txBody>
      </p:sp>
      <p:sp>
        <p:nvSpPr>
          <p:cNvPr id="310" name="Google Shape;310;p27"/>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8"/>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Example </a:t>
            </a:r>
            <a:endParaRPr/>
          </a:p>
        </p:txBody>
      </p:sp>
      <p:sp>
        <p:nvSpPr>
          <p:cNvPr id="316" name="Google Shape;316;p28"/>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descr="https://lh7-us.googleusercontent.com/CXAxgFSejxz6D2JAjP2oJCtRmK5nCBCTPOgrahPubNDTmJrN-iFeZnWG4ff0rX9J9lzU0urhCuHkJt7cFlrdvXEo1POG-kzt2iGTdp7oWZZIHtzVTzagT_uh9Os4_tHSNnc1w70Qevlk" id="317" name="Google Shape;317;p28"/>
          <p:cNvPicPr preferRelativeResize="0"/>
          <p:nvPr/>
        </p:nvPicPr>
        <p:blipFill rotWithShape="1">
          <a:blip r:embed="rId3">
            <a:alphaModFix/>
          </a:blip>
          <a:srcRect b="0" l="0" r="0" t="0"/>
          <a:stretch/>
        </p:blipFill>
        <p:spPr>
          <a:xfrm>
            <a:off x="3886200" y="404037"/>
            <a:ext cx="6267450" cy="5996763"/>
          </a:xfrm>
          <a:prstGeom prst="rect">
            <a:avLst/>
          </a:prstGeom>
          <a:noFill/>
          <a:ln>
            <a:noFill/>
          </a:ln>
        </p:spPr>
      </p:pic>
      <p:sp>
        <p:nvSpPr>
          <p:cNvPr id="318" name="Google Shape;318;p28"/>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9"/>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Searching in multilevel indexing</a:t>
            </a:r>
            <a:endParaRPr/>
          </a:p>
        </p:txBody>
      </p:sp>
      <p:sp>
        <p:nvSpPr>
          <p:cNvPr id="324" name="Google Shape;324;p29"/>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descr="https://lh7-us.googleusercontent.com/akiIFQlc2BSgCwZ8djx9kP8sD_mM4cbhcj_5r5Wk72y3uWe9oy3CVb6f5Iv7GmBvMxvCgaOoMx--3Xg94HiH7Tqyc18dtql7H6XU9GmqdsXyNETYFmaxP9mEq8FD9KjtVB84o7xp9OL8" id="325" name="Google Shape;325;p29"/>
          <p:cNvPicPr preferRelativeResize="0"/>
          <p:nvPr/>
        </p:nvPicPr>
        <p:blipFill rotWithShape="1">
          <a:blip r:embed="rId3">
            <a:alphaModFix/>
          </a:blip>
          <a:srcRect b="0" l="0" r="0" t="0"/>
          <a:stretch/>
        </p:blipFill>
        <p:spPr>
          <a:xfrm>
            <a:off x="3581400" y="2057400"/>
            <a:ext cx="6050317" cy="4191000"/>
          </a:xfrm>
          <a:prstGeom prst="rect">
            <a:avLst/>
          </a:prstGeom>
          <a:noFill/>
          <a:ln>
            <a:noFill/>
          </a:ln>
        </p:spPr>
      </p:pic>
      <p:sp>
        <p:nvSpPr>
          <p:cNvPr id="326" name="Google Shape;326;p29"/>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0"/>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B-Tree</a:t>
            </a:r>
            <a:endParaRPr/>
          </a:p>
        </p:txBody>
      </p:sp>
      <p:sp>
        <p:nvSpPr>
          <p:cNvPr id="332" name="Google Shape;332;p30"/>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B-Tree is known as a self-balancing tree as its nodes are sorted in the inorder traversal. </a:t>
            </a:r>
            <a:endParaRPr/>
          </a:p>
          <a:p>
            <a:pPr indent="-228600" lvl="0" marL="342900" rtl="0" algn="l">
              <a:spcBef>
                <a:spcPts val="440"/>
              </a:spcBef>
              <a:spcAft>
                <a:spcPts val="0"/>
              </a:spcAft>
              <a:buSzPts val="2200"/>
              <a:buChar char="•"/>
            </a:pPr>
            <a:r>
              <a:rPr lang="en-US"/>
              <a:t>In B-tree, a node can have more than two children. </a:t>
            </a:r>
            <a:endParaRPr/>
          </a:p>
          <a:p>
            <a:pPr indent="-228600" lvl="0" marL="342900" rtl="0" algn="l">
              <a:spcBef>
                <a:spcPts val="440"/>
              </a:spcBef>
              <a:spcAft>
                <a:spcPts val="0"/>
              </a:spcAft>
              <a:buSzPts val="2200"/>
              <a:buChar char="•"/>
            </a:pPr>
            <a:r>
              <a:rPr lang="en-US"/>
              <a:t>B-tree has a height of logM N (Where ‘M’ is the order of tree and N is the number of nodes). </a:t>
            </a:r>
            <a:endParaRPr/>
          </a:p>
          <a:p>
            <a:pPr indent="-228600" lvl="0" marL="342900" rtl="0" algn="l">
              <a:spcBef>
                <a:spcPts val="440"/>
              </a:spcBef>
              <a:spcAft>
                <a:spcPts val="0"/>
              </a:spcAft>
              <a:buSzPts val="2200"/>
              <a:buChar char="•"/>
            </a:pPr>
            <a:r>
              <a:rPr lang="en-US"/>
              <a:t>And the height is adjusted automatically at each update. In the B-tree data is sorted in a specific order, with the lowest value on the left and the highest value on the right.</a:t>
            </a:r>
            <a:endParaRPr/>
          </a:p>
        </p:txBody>
      </p:sp>
      <p:pic>
        <p:nvPicPr>
          <p:cNvPr id="333" name="Google Shape;333;p30"/>
          <p:cNvPicPr preferRelativeResize="0"/>
          <p:nvPr/>
        </p:nvPicPr>
        <p:blipFill rotWithShape="1">
          <a:blip r:embed="rId3">
            <a:alphaModFix/>
          </a:blip>
          <a:srcRect b="0" l="0" r="0" t="0"/>
          <a:stretch/>
        </p:blipFill>
        <p:spPr>
          <a:xfrm>
            <a:off x="2971800" y="4419600"/>
            <a:ext cx="3514725" cy="1812166"/>
          </a:xfrm>
          <a:prstGeom prst="rect">
            <a:avLst/>
          </a:prstGeom>
          <a:noFill/>
          <a:ln>
            <a:noFill/>
          </a:ln>
        </p:spPr>
      </p:pic>
      <p:sp>
        <p:nvSpPr>
          <p:cNvPr id="334" name="Google Shape;334;p30"/>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1"/>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t/>
            </a:r>
            <a:endParaRPr/>
          </a:p>
        </p:txBody>
      </p:sp>
      <p:sp>
        <p:nvSpPr>
          <p:cNvPr id="340" name="Google Shape;340;p31"/>
          <p:cNvSpPr txBox="1"/>
          <p:nvPr>
            <p:ph idx="1" type="body"/>
          </p:nvPr>
        </p:nvSpPr>
        <p:spPr>
          <a:xfrm>
            <a:off x="609600" y="1536192"/>
            <a:ext cx="4876800" cy="4590288"/>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800"/>
              <a:buChar char="•"/>
            </a:pPr>
            <a:r>
              <a:rPr lang="en-US"/>
              <a:t>The structure of node in Btree is same at all level. (root,intemediate,leaf)</a:t>
            </a:r>
            <a:endParaRPr/>
          </a:p>
          <a:p>
            <a:pPr indent="-228600" lvl="0" marL="342900" rtl="0" algn="l">
              <a:spcBef>
                <a:spcPts val="560"/>
              </a:spcBef>
              <a:spcAft>
                <a:spcPts val="0"/>
              </a:spcAft>
              <a:buSzPts val="2800"/>
              <a:buChar char="•"/>
            </a:pPr>
            <a:r>
              <a:rPr lang="en-US"/>
              <a:t>BP-Block Pointer</a:t>
            </a:r>
            <a:endParaRPr/>
          </a:p>
          <a:p>
            <a:pPr indent="-228600" lvl="0" marL="342900" rtl="0" algn="l">
              <a:spcBef>
                <a:spcPts val="560"/>
              </a:spcBef>
              <a:spcAft>
                <a:spcPts val="0"/>
              </a:spcAft>
              <a:buSzPts val="2800"/>
              <a:buChar char="•"/>
            </a:pPr>
            <a:r>
              <a:rPr lang="en-US"/>
              <a:t>K-key</a:t>
            </a:r>
            <a:endParaRPr/>
          </a:p>
          <a:p>
            <a:pPr indent="-228600" lvl="0" marL="342900" rtl="0" algn="l">
              <a:spcBef>
                <a:spcPts val="560"/>
              </a:spcBef>
              <a:spcAft>
                <a:spcPts val="0"/>
              </a:spcAft>
              <a:buSzPts val="2800"/>
              <a:buChar char="•"/>
            </a:pPr>
            <a:r>
              <a:rPr lang="en-US"/>
              <a:t>DP-Data Pointer</a:t>
            </a:r>
            <a:endParaRPr/>
          </a:p>
          <a:p>
            <a:pPr indent="-50800" lvl="0" marL="342900" rtl="0" algn="l">
              <a:spcBef>
                <a:spcPts val="560"/>
              </a:spcBef>
              <a:spcAft>
                <a:spcPts val="0"/>
              </a:spcAft>
              <a:buSzPts val="2800"/>
              <a:buNone/>
            </a:pPr>
            <a:r>
              <a:t/>
            </a:r>
            <a:endParaRPr/>
          </a:p>
        </p:txBody>
      </p:sp>
      <p:sp>
        <p:nvSpPr>
          <p:cNvPr id="341" name="Google Shape;341;p31"/>
          <p:cNvSpPr txBox="1"/>
          <p:nvPr>
            <p:ph idx="2" type="body"/>
          </p:nvPr>
        </p:nvSpPr>
        <p:spPr>
          <a:xfrm>
            <a:off x="5892800" y="1536192"/>
            <a:ext cx="4876800" cy="4590288"/>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800"/>
              <a:buChar char="•"/>
            </a:pPr>
            <a:r>
              <a:rPr lang="en-US"/>
              <a:t>Properties:</a:t>
            </a:r>
            <a:endParaRPr/>
          </a:p>
          <a:p>
            <a:pPr indent="-228600" lvl="0" marL="342900" rtl="0" algn="l">
              <a:spcBef>
                <a:spcPts val="560"/>
              </a:spcBef>
              <a:spcAft>
                <a:spcPts val="0"/>
              </a:spcAft>
              <a:buSzPts val="2800"/>
              <a:buChar char="•"/>
            </a:pPr>
            <a:r>
              <a:rPr lang="en-US"/>
              <a:t>If order of tree=m</a:t>
            </a:r>
            <a:endParaRPr/>
          </a:p>
          <a:p>
            <a:pPr indent="-228600" lvl="0" marL="342900" rtl="0" algn="l">
              <a:spcBef>
                <a:spcPts val="560"/>
              </a:spcBef>
              <a:spcAft>
                <a:spcPts val="0"/>
              </a:spcAft>
              <a:buSzPts val="2800"/>
              <a:buChar char="•"/>
            </a:pPr>
            <a:r>
              <a:rPr lang="en-US"/>
              <a:t>Max no.of  children =m</a:t>
            </a:r>
            <a:endParaRPr/>
          </a:p>
          <a:p>
            <a:pPr indent="-228600" lvl="0" marL="342900" rtl="0" algn="l">
              <a:spcBef>
                <a:spcPts val="560"/>
              </a:spcBef>
              <a:spcAft>
                <a:spcPts val="0"/>
              </a:spcAft>
              <a:buSzPts val="2800"/>
              <a:buChar char="•"/>
            </a:pPr>
            <a:r>
              <a:rPr lang="en-US"/>
              <a:t>Min no.of keys=m-1</a:t>
            </a:r>
            <a:endParaRPr/>
          </a:p>
          <a:p>
            <a:pPr indent="-228600" lvl="0" marL="342900" rtl="0" algn="l">
              <a:spcBef>
                <a:spcPts val="560"/>
              </a:spcBef>
              <a:spcAft>
                <a:spcPts val="0"/>
              </a:spcAft>
              <a:buSzPts val="2800"/>
              <a:buChar char="•"/>
            </a:pPr>
            <a:r>
              <a:rPr lang="en-US"/>
              <a:t>Min no.of  children = </a:t>
            </a:r>
            <a:endParaRPr/>
          </a:p>
          <a:p>
            <a:pPr indent="-228600" lvl="0" marL="342900" rtl="0" algn="l">
              <a:spcBef>
                <a:spcPts val="560"/>
              </a:spcBef>
              <a:spcAft>
                <a:spcPts val="0"/>
              </a:spcAft>
              <a:buSzPts val="2800"/>
              <a:buChar char="•"/>
            </a:pPr>
            <a:r>
              <a:rPr lang="en-US"/>
              <a:t>Min No. of keys=       - 1</a:t>
            </a:r>
            <a:endParaRPr/>
          </a:p>
          <a:p>
            <a:pPr indent="-50800" lvl="0" marL="342900" rtl="0" algn="l">
              <a:spcBef>
                <a:spcPts val="560"/>
              </a:spcBef>
              <a:spcAft>
                <a:spcPts val="0"/>
              </a:spcAft>
              <a:buSzPts val="2800"/>
              <a:buNone/>
            </a:pPr>
            <a:r>
              <a:t/>
            </a:r>
            <a:endParaRPr/>
          </a:p>
        </p:txBody>
      </p:sp>
      <p:pic>
        <p:nvPicPr>
          <p:cNvPr id="342" name="Google Shape;342;p31"/>
          <p:cNvPicPr preferRelativeResize="0"/>
          <p:nvPr/>
        </p:nvPicPr>
        <p:blipFill rotWithShape="1">
          <a:blip r:embed="rId3">
            <a:alphaModFix/>
          </a:blip>
          <a:srcRect b="0" l="0" r="0" t="0"/>
          <a:stretch/>
        </p:blipFill>
        <p:spPr>
          <a:xfrm>
            <a:off x="762000" y="3810000"/>
            <a:ext cx="4086225" cy="1514475"/>
          </a:xfrm>
          <a:prstGeom prst="rect">
            <a:avLst/>
          </a:prstGeom>
          <a:noFill/>
          <a:ln>
            <a:noFill/>
          </a:ln>
        </p:spPr>
      </p:pic>
      <p:pic>
        <p:nvPicPr>
          <p:cNvPr id="343" name="Google Shape;343;p31"/>
          <p:cNvPicPr preferRelativeResize="0"/>
          <p:nvPr/>
        </p:nvPicPr>
        <p:blipFill rotWithShape="1">
          <a:blip r:embed="rId4">
            <a:alphaModFix/>
          </a:blip>
          <a:srcRect b="0" l="0" r="0" t="0"/>
          <a:stretch/>
        </p:blipFill>
        <p:spPr>
          <a:xfrm>
            <a:off x="9372600" y="3671887"/>
            <a:ext cx="485775" cy="276225"/>
          </a:xfrm>
          <a:prstGeom prst="rect">
            <a:avLst/>
          </a:prstGeom>
          <a:noFill/>
          <a:ln>
            <a:noFill/>
          </a:ln>
        </p:spPr>
      </p:pic>
      <p:pic>
        <p:nvPicPr>
          <p:cNvPr id="344" name="Google Shape;344;p31"/>
          <p:cNvPicPr preferRelativeResize="0"/>
          <p:nvPr/>
        </p:nvPicPr>
        <p:blipFill rotWithShape="1">
          <a:blip r:embed="rId4">
            <a:alphaModFix/>
          </a:blip>
          <a:srcRect b="0" l="0" r="0" t="0"/>
          <a:stretch/>
        </p:blipFill>
        <p:spPr>
          <a:xfrm>
            <a:off x="8763000" y="4191000"/>
            <a:ext cx="485775" cy="276225"/>
          </a:xfrm>
          <a:prstGeom prst="rect">
            <a:avLst/>
          </a:prstGeom>
          <a:noFill/>
          <a:ln>
            <a:noFill/>
          </a:ln>
        </p:spPr>
      </p:pic>
      <p:sp>
        <p:nvSpPr>
          <p:cNvPr id="345" name="Google Shape;345;p31"/>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2"/>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Example </a:t>
            </a:r>
            <a:endParaRPr/>
          </a:p>
        </p:txBody>
      </p:sp>
      <p:sp>
        <p:nvSpPr>
          <p:cNvPr id="351" name="Google Shape;351;p32"/>
          <p:cNvSpPr txBox="1"/>
          <p:nvPr>
            <p:ph idx="1" type="body"/>
          </p:nvPr>
        </p:nvSpPr>
        <p:spPr>
          <a:xfrm>
            <a:off x="609600" y="1536192"/>
            <a:ext cx="4876800" cy="4590288"/>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800"/>
              <a:buChar char="•"/>
            </a:pPr>
            <a:r>
              <a:rPr lang="en-US" u="sng">
                <a:solidFill>
                  <a:schemeClr val="hlink"/>
                </a:solidFill>
                <a:hlinkClick r:id="rId3"/>
              </a:rPr>
              <a:t>https://www.youtube.com/watch?v=KnXohGgIpQU</a:t>
            </a:r>
            <a:endParaRPr/>
          </a:p>
          <a:p>
            <a:pPr indent="-50800" lvl="0" marL="342900" rtl="0" algn="l">
              <a:spcBef>
                <a:spcPts val="560"/>
              </a:spcBef>
              <a:spcAft>
                <a:spcPts val="0"/>
              </a:spcAft>
              <a:buSzPts val="2800"/>
              <a:buNone/>
            </a:pPr>
            <a:r>
              <a:t/>
            </a:r>
            <a:endParaRPr/>
          </a:p>
          <a:p>
            <a:pPr indent="-228600" lvl="0" marL="342900" rtl="0" algn="l">
              <a:spcBef>
                <a:spcPts val="560"/>
              </a:spcBef>
              <a:spcAft>
                <a:spcPts val="0"/>
              </a:spcAft>
              <a:buSzPts val="2800"/>
              <a:buChar char="•"/>
            </a:pPr>
            <a:r>
              <a:rPr lang="en-US"/>
              <a:t>https://www.youtube.com/watch?v=jpS8BLb8BgI</a:t>
            </a:r>
            <a:endParaRPr/>
          </a:p>
        </p:txBody>
      </p:sp>
      <p:sp>
        <p:nvSpPr>
          <p:cNvPr id="352" name="Google Shape;352;p32"/>
          <p:cNvSpPr txBox="1"/>
          <p:nvPr>
            <p:ph idx="2" type="body"/>
          </p:nvPr>
        </p:nvSpPr>
        <p:spPr>
          <a:xfrm>
            <a:off x="5892800" y="1536192"/>
            <a:ext cx="4876800" cy="4590288"/>
          </a:xfrm>
          <a:prstGeom prst="rect">
            <a:avLst/>
          </a:prstGeom>
          <a:noFill/>
          <a:ln>
            <a:noFill/>
          </a:ln>
        </p:spPr>
        <p:txBody>
          <a:bodyPr anchorCtr="0" anchor="t" bIns="45700" lIns="91425" spcFirstLastPara="1" rIns="91425" wrap="square" tIns="45700">
            <a:normAutofit/>
          </a:bodyPr>
          <a:lstStyle/>
          <a:p>
            <a:pPr indent="-50800" lvl="0" marL="342900" rtl="0" algn="l">
              <a:spcBef>
                <a:spcPts val="0"/>
              </a:spcBef>
              <a:spcAft>
                <a:spcPts val="0"/>
              </a:spcAft>
              <a:buSzPts val="2800"/>
              <a:buNone/>
            </a:pPr>
            <a:r>
              <a:t/>
            </a:r>
            <a:endParaRPr/>
          </a:p>
        </p:txBody>
      </p:sp>
      <p:sp>
        <p:nvSpPr>
          <p:cNvPr id="353" name="Google Shape;353;p32"/>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3">
            <a:alphaModFix/>
          </a:blip>
          <a:srcRect b="0" l="0" r="0" t="0"/>
          <a:stretch/>
        </p:blipFill>
        <p:spPr>
          <a:xfrm>
            <a:off x="3248025" y="1600200"/>
            <a:ext cx="5695950" cy="3657600"/>
          </a:xfrm>
          <a:prstGeom prst="rect">
            <a:avLst/>
          </a:prstGeom>
          <a:noFill/>
          <a:ln>
            <a:noFill/>
          </a:ln>
        </p:spPr>
      </p:pic>
      <p:sp>
        <p:nvSpPr>
          <p:cNvPr id="359" name="Google Shape;359;p33"/>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B-Tree</a:t>
            </a:r>
            <a:endParaRPr/>
          </a:p>
        </p:txBody>
      </p:sp>
      <p:sp>
        <p:nvSpPr>
          <p:cNvPr id="360" name="Google Shape;360;p33"/>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sp>
        <p:nvSpPr>
          <p:cNvPr id="361" name="Google Shape;361;p33"/>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B</a:t>
            </a:r>
            <a:r>
              <a:rPr baseline="30000" lang="en-US"/>
              <a:t>+</a:t>
            </a:r>
            <a:r>
              <a:rPr lang="en-US"/>
              <a:t> Tree</a:t>
            </a:r>
            <a:endParaRPr/>
          </a:p>
        </p:txBody>
      </p:sp>
      <p:sp>
        <p:nvSpPr>
          <p:cNvPr id="367" name="Google Shape;367;p34"/>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2200"/>
              <a:buChar char="•"/>
            </a:pPr>
            <a:r>
              <a:rPr lang="en-US"/>
              <a:t>A B</a:t>
            </a:r>
            <a:r>
              <a:rPr baseline="30000" lang="en-US"/>
              <a:t>+</a:t>
            </a:r>
            <a:r>
              <a:rPr lang="en-US"/>
              <a:t> tree is a balanced binary search tree that follows a multi-level index format. </a:t>
            </a:r>
            <a:endParaRPr/>
          </a:p>
          <a:p>
            <a:pPr indent="-228600" lvl="0" marL="342900" rtl="0" algn="l">
              <a:spcBef>
                <a:spcPts val="440"/>
              </a:spcBef>
              <a:spcAft>
                <a:spcPts val="0"/>
              </a:spcAft>
              <a:buSzPts val="2200"/>
              <a:buChar char="•"/>
            </a:pPr>
            <a:r>
              <a:rPr lang="en-US"/>
              <a:t>The leaf nodes of a B</a:t>
            </a:r>
            <a:r>
              <a:rPr baseline="30000" lang="en-US"/>
              <a:t>+</a:t>
            </a:r>
            <a:r>
              <a:rPr lang="en-US"/>
              <a:t> tree denote actual data pointers. </a:t>
            </a:r>
            <a:endParaRPr/>
          </a:p>
          <a:p>
            <a:pPr indent="-228600" lvl="0" marL="342900" rtl="0" algn="l">
              <a:spcBef>
                <a:spcPts val="440"/>
              </a:spcBef>
              <a:spcAft>
                <a:spcPts val="0"/>
              </a:spcAft>
              <a:buSzPts val="2200"/>
              <a:buChar char="•"/>
            </a:pPr>
            <a:r>
              <a:rPr lang="en-US"/>
              <a:t>B</a:t>
            </a:r>
            <a:r>
              <a:rPr baseline="30000" lang="en-US"/>
              <a:t>+</a:t>
            </a:r>
            <a:r>
              <a:rPr lang="en-US"/>
              <a:t> tree ensures that all leaf nodes remain at the same height, thus balanced. </a:t>
            </a:r>
            <a:endParaRPr/>
          </a:p>
          <a:p>
            <a:pPr indent="-228600" lvl="0" marL="342900" rtl="0" algn="l">
              <a:spcBef>
                <a:spcPts val="440"/>
              </a:spcBef>
              <a:spcAft>
                <a:spcPts val="0"/>
              </a:spcAft>
              <a:buSzPts val="2200"/>
              <a:buChar char="•"/>
            </a:pPr>
            <a:r>
              <a:rPr lang="en-US"/>
              <a:t>Additionally, the leaf nodes are linked using a link list; therefore, a B</a:t>
            </a:r>
            <a:r>
              <a:rPr baseline="30000" lang="en-US"/>
              <a:t>+</a:t>
            </a:r>
            <a:r>
              <a:rPr lang="en-US"/>
              <a:t> tree can support random access as well as sequential access.</a:t>
            </a:r>
            <a:endParaRPr/>
          </a:p>
          <a:p>
            <a:pPr indent="-228600" lvl="0" marL="342900" rtl="0" algn="l">
              <a:spcBef>
                <a:spcPts val="440"/>
              </a:spcBef>
              <a:spcAft>
                <a:spcPts val="0"/>
              </a:spcAft>
              <a:buSzPts val="2200"/>
              <a:buChar char="•"/>
            </a:pPr>
            <a:br>
              <a:rPr lang="en-US"/>
            </a:br>
            <a:endParaRPr/>
          </a:p>
        </p:txBody>
      </p:sp>
      <p:pic>
        <p:nvPicPr>
          <p:cNvPr id="368" name="Google Shape;368;p34"/>
          <p:cNvPicPr preferRelativeResize="0"/>
          <p:nvPr/>
        </p:nvPicPr>
        <p:blipFill rotWithShape="1">
          <a:blip r:embed="rId3">
            <a:alphaModFix/>
          </a:blip>
          <a:srcRect b="0" l="0" r="0" t="0"/>
          <a:stretch/>
        </p:blipFill>
        <p:spPr>
          <a:xfrm>
            <a:off x="2438400" y="3581400"/>
            <a:ext cx="4848225" cy="2333625"/>
          </a:xfrm>
          <a:prstGeom prst="rect">
            <a:avLst/>
          </a:prstGeom>
          <a:noFill/>
          <a:ln>
            <a:noFill/>
          </a:ln>
        </p:spPr>
      </p:pic>
      <p:sp>
        <p:nvSpPr>
          <p:cNvPr id="369" name="Google Shape;369;p34"/>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3" name="Shape 373"/>
        <p:cNvGrpSpPr/>
        <p:nvPr/>
      </p:nvGrpSpPr>
      <p:grpSpPr>
        <a:xfrm>
          <a:off x="0" y="0"/>
          <a:ext cx="0" cy="0"/>
          <a:chOff x="0" y="0"/>
          <a:chExt cx="0" cy="0"/>
        </a:xfrm>
      </p:grpSpPr>
      <p:sp>
        <p:nvSpPr>
          <p:cNvPr id="374" name="Google Shape;374;p35"/>
          <p:cNvSpPr txBox="1"/>
          <p:nvPr>
            <p:ph type="title"/>
          </p:nvPr>
        </p:nvSpPr>
        <p:spPr>
          <a:xfrm>
            <a:off x="916938" y="592038"/>
            <a:ext cx="4264661" cy="690574"/>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000000"/>
              </a:buClr>
              <a:buSzPts val="4400"/>
              <a:buFont typeface="Cambria"/>
              <a:buNone/>
            </a:pPr>
            <a:r>
              <a:rPr lang="en-US" sz="4400">
                <a:solidFill>
                  <a:srgbClr val="000000"/>
                </a:solidFill>
              </a:rPr>
              <a:t>Create index</a:t>
            </a:r>
            <a:endParaRPr sz="4400"/>
          </a:p>
        </p:txBody>
      </p:sp>
      <p:sp>
        <p:nvSpPr>
          <p:cNvPr id="375" name="Google Shape;375;p35"/>
          <p:cNvSpPr txBox="1"/>
          <p:nvPr/>
        </p:nvSpPr>
        <p:spPr>
          <a:xfrm>
            <a:off x="916940" y="1730097"/>
            <a:ext cx="6858635" cy="4197944"/>
          </a:xfrm>
          <a:prstGeom prst="rect">
            <a:avLst/>
          </a:prstGeom>
          <a:noFill/>
          <a:ln>
            <a:noFill/>
          </a:ln>
        </p:spPr>
        <p:txBody>
          <a:bodyPr anchorCtr="0" anchor="t" bIns="0" lIns="0" spcFirstLastPara="1" rIns="0" wrap="square" tIns="47625">
            <a:spAutoFit/>
          </a:bodyPr>
          <a:lstStyle/>
          <a:p>
            <a:pPr indent="-228600" lvl="0" marL="241300" marR="0" rtl="0" algn="l">
              <a:lnSpc>
                <a:spcPct val="10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927100" marR="0" rtl="0" algn="l">
              <a:lnSpc>
                <a:spcPct val="101950"/>
              </a:lnSpc>
              <a:spcBef>
                <a:spcPts val="275"/>
              </a:spcBef>
              <a:spcAft>
                <a:spcPts val="0"/>
              </a:spcAft>
              <a:buNone/>
            </a:pPr>
            <a:r>
              <a:rPr lang="en-US" sz="2000">
                <a:solidFill>
                  <a:schemeClr val="dk1"/>
                </a:solidFill>
                <a:latin typeface="Calibri"/>
                <a:ea typeface="Calibri"/>
                <a:cs typeface="Calibri"/>
                <a:sym typeface="Calibri"/>
              </a:rPr>
              <a:t>CREATE INDEX </a:t>
            </a:r>
            <a:r>
              <a:rPr i="1" lang="en-US" sz="2000">
                <a:solidFill>
                  <a:schemeClr val="dk1"/>
                </a:solidFill>
                <a:latin typeface="Calibri"/>
                <a:ea typeface="Calibri"/>
                <a:cs typeface="Calibri"/>
                <a:sym typeface="Calibri"/>
              </a:rPr>
              <a:t>index_name</a:t>
            </a:r>
            <a:endParaRPr sz="2000">
              <a:solidFill>
                <a:schemeClr val="dk1"/>
              </a:solidFill>
              <a:latin typeface="Calibri"/>
              <a:ea typeface="Calibri"/>
              <a:cs typeface="Calibri"/>
              <a:sym typeface="Calibri"/>
            </a:endParaRPr>
          </a:p>
          <a:p>
            <a:pPr indent="0" lvl="0" marL="927100" marR="0" rtl="0" algn="l">
              <a:lnSpc>
                <a:spcPct val="101950"/>
              </a:lnSpc>
              <a:spcBef>
                <a:spcPts val="0"/>
              </a:spcBef>
              <a:spcAft>
                <a:spcPts val="0"/>
              </a:spcAft>
              <a:buNone/>
            </a:pPr>
            <a:r>
              <a:rPr lang="en-US" sz="2000">
                <a:solidFill>
                  <a:schemeClr val="dk1"/>
                </a:solidFill>
                <a:latin typeface="Calibri"/>
                <a:ea typeface="Calibri"/>
                <a:cs typeface="Calibri"/>
                <a:sym typeface="Calibri"/>
              </a:rPr>
              <a:t>ON </a:t>
            </a:r>
            <a:r>
              <a:rPr i="1" lang="en-US" sz="2000">
                <a:solidFill>
                  <a:schemeClr val="dk1"/>
                </a:solidFill>
                <a:latin typeface="Calibri"/>
                <a:ea typeface="Calibri"/>
                <a:cs typeface="Calibri"/>
                <a:sym typeface="Calibri"/>
              </a:rPr>
              <a:t>table_name </a:t>
            </a:r>
            <a:r>
              <a:rPr lang="en-US" sz="2000">
                <a:solidFill>
                  <a:schemeClr val="dk1"/>
                </a:solidFill>
                <a:latin typeface="Calibri"/>
                <a:ea typeface="Calibri"/>
                <a:cs typeface="Calibri"/>
                <a:sym typeface="Calibri"/>
              </a:rPr>
              <a:t>(</a:t>
            </a:r>
            <a:r>
              <a:rPr i="1" lang="en-US" sz="2000">
                <a:solidFill>
                  <a:schemeClr val="dk1"/>
                </a:solidFill>
                <a:latin typeface="Calibri"/>
                <a:ea typeface="Calibri"/>
                <a:cs typeface="Calibri"/>
                <a:sym typeface="Calibri"/>
              </a:rPr>
              <a:t>column1</a:t>
            </a:r>
            <a:r>
              <a:rPr lang="en-US" sz="2000">
                <a:solidFill>
                  <a:schemeClr val="dk1"/>
                </a:solidFill>
                <a:latin typeface="Calibri"/>
                <a:ea typeface="Calibri"/>
                <a:cs typeface="Calibri"/>
                <a:sym typeface="Calibri"/>
              </a:rPr>
              <a:t>, </a:t>
            </a:r>
            <a:r>
              <a:rPr i="1" lang="en-US" sz="2000">
                <a:solidFill>
                  <a:schemeClr val="dk1"/>
                </a:solidFill>
                <a:latin typeface="Calibri"/>
                <a:ea typeface="Calibri"/>
                <a:cs typeface="Calibri"/>
                <a:sym typeface="Calibri"/>
              </a:rPr>
              <a:t>column2</a:t>
            </a: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24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CREATE UNIQUE INDEX</a:t>
            </a:r>
            <a:endParaRPr/>
          </a:p>
          <a:p>
            <a:pPr indent="-228600" lvl="0" marL="241300" marR="0" rtl="0" algn="l">
              <a:lnSpc>
                <a:spcPct val="100000"/>
              </a:lnSpc>
              <a:spcBef>
                <a:spcPts val="28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Duplicate values are not allowed.</a:t>
            </a:r>
            <a:endParaRPr sz="2000">
              <a:solidFill>
                <a:schemeClr val="dk1"/>
              </a:solidFill>
              <a:latin typeface="Calibri"/>
              <a:ea typeface="Calibri"/>
              <a:cs typeface="Calibri"/>
              <a:sym typeface="Calibri"/>
            </a:endParaRPr>
          </a:p>
          <a:p>
            <a:pPr indent="-228600" lvl="0" marL="241300" marR="0" rtl="0" algn="l">
              <a:lnSpc>
                <a:spcPct val="100000"/>
              </a:lnSpc>
              <a:spcBef>
                <a:spcPts val="28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927100" marR="0" rtl="0" algn="l">
              <a:lnSpc>
                <a:spcPct val="101950"/>
              </a:lnSpc>
              <a:spcBef>
                <a:spcPts val="275"/>
              </a:spcBef>
              <a:spcAft>
                <a:spcPts val="0"/>
              </a:spcAft>
              <a:buNone/>
            </a:pPr>
            <a:r>
              <a:rPr lang="en-US" sz="2000">
                <a:solidFill>
                  <a:schemeClr val="dk1"/>
                </a:solidFill>
                <a:latin typeface="Calibri"/>
                <a:ea typeface="Calibri"/>
                <a:cs typeface="Calibri"/>
                <a:sym typeface="Calibri"/>
              </a:rPr>
              <a:t>CREATE UNIQUE INDEX </a:t>
            </a:r>
            <a:r>
              <a:rPr i="1" lang="en-US" sz="2000">
                <a:solidFill>
                  <a:schemeClr val="dk1"/>
                </a:solidFill>
                <a:latin typeface="Calibri"/>
                <a:ea typeface="Calibri"/>
                <a:cs typeface="Calibri"/>
                <a:sym typeface="Calibri"/>
              </a:rPr>
              <a:t>index_name</a:t>
            </a:r>
            <a:endParaRPr sz="2000">
              <a:solidFill>
                <a:schemeClr val="dk1"/>
              </a:solidFill>
              <a:latin typeface="Calibri"/>
              <a:ea typeface="Calibri"/>
              <a:cs typeface="Calibri"/>
              <a:sym typeface="Calibri"/>
            </a:endParaRPr>
          </a:p>
          <a:p>
            <a:pPr indent="0" lvl="0" marL="927100" marR="0" rtl="0" algn="l">
              <a:lnSpc>
                <a:spcPct val="101950"/>
              </a:lnSpc>
              <a:spcBef>
                <a:spcPts val="0"/>
              </a:spcBef>
              <a:spcAft>
                <a:spcPts val="0"/>
              </a:spcAft>
              <a:buNone/>
            </a:pPr>
            <a:r>
              <a:rPr lang="en-US" sz="2000">
                <a:solidFill>
                  <a:schemeClr val="dk1"/>
                </a:solidFill>
                <a:latin typeface="Calibri"/>
                <a:ea typeface="Calibri"/>
                <a:cs typeface="Calibri"/>
                <a:sym typeface="Calibri"/>
              </a:rPr>
              <a:t>ON </a:t>
            </a:r>
            <a:r>
              <a:rPr i="1" lang="en-US" sz="2000">
                <a:solidFill>
                  <a:schemeClr val="dk1"/>
                </a:solidFill>
                <a:latin typeface="Calibri"/>
                <a:ea typeface="Calibri"/>
                <a:cs typeface="Calibri"/>
                <a:sym typeface="Calibri"/>
              </a:rPr>
              <a:t>table_name </a:t>
            </a:r>
            <a:r>
              <a:rPr lang="en-US" sz="2000">
                <a:solidFill>
                  <a:schemeClr val="dk1"/>
                </a:solidFill>
                <a:latin typeface="Calibri"/>
                <a:ea typeface="Calibri"/>
                <a:cs typeface="Calibri"/>
                <a:sym typeface="Calibri"/>
              </a:rPr>
              <a:t>(</a:t>
            </a:r>
            <a:r>
              <a:rPr i="1" lang="en-US" sz="2000">
                <a:solidFill>
                  <a:schemeClr val="dk1"/>
                </a:solidFill>
                <a:latin typeface="Calibri"/>
                <a:ea typeface="Calibri"/>
                <a:cs typeface="Calibri"/>
                <a:sym typeface="Calibri"/>
              </a:rPr>
              <a:t>column1</a:t>
            </a:r>
            <a:r>
              <a:rPr lang="en-US" sz="2000">
                <a:solidFill>
                  <a:schemeClr val="dk1"/>
                </a:solidFill>
                <a:latin typeface="Calibri"/>
                <a:ea typeface="Calibri"/>
                <a:cs typeface="Calibri"/>
                <a:sym typeface="Calibri"/>
              </a:rPr>
              <a:t>, </a:t>
            </a:r>
            <a:r>
              <a:rPr i="1" lang="en-US" sz="2000">
                <a:solidFill>
                  <a:schemeClr val="dk1"/>
                </a:solidFill>
                <a:latin typeface="Calibri"/>
                <a:ea typeface="Calibri"/>
                <a:cs typeface="Calibri"/>
                <a:sym typeface="Calibri"/>
              </a:rPr>
              <a:t>column2</a:t>
            </a: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24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DROP INDEX</a:t>
            </a:r>
            <a:endParaRPr/>
          </a:p>
          <a:p>
            <a:pPr indent="-228600" lvl="0" marL="241300" marR="0" rtl="0" algn="l">
              <a:lnSpc>
                <a:spcPct val="100000"/>
              </a:lnSpc>
              <a:spcBef>
                <a:spcPts val="275"/>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DROP INDEX statement is used to delete an index in a table.</a:t>
            </a:r>
            <a:endParaRPr sz="2000">
              <a:solidFill>
                <a:schemeClr val="dk1"/>
              </a:solidFill>
              <a:latin typeface="Calibri"/>
              <a:ea typeface="Calibri"/>
              <a:cs typeface="Calibri"/>
              <a:sym typeface="Calibri"/>
            </a:endParaRPr>
          </a:p>
          <a:p>
            <a:pPr indent="0" lvl="0" marL="927100" marR="0" rtl="0" algn="l">
              <a:lnSpc>
                <a:spcPct val="100000"/>
              </a:lnSpc>
              <a:spcBef>
                <a:spcPts val="280"/>
              </a:spcBef>
              <a:spcAft>
                <a:spcPts val="0"/>
              </a:spcAft>
              <a:buNone/>
            </a:pPr>
            <a:r>
              <a:rPr lang="en-US" sz="2000">
                <a:solidFill>
                  <a:schemeClr val="dk1"/>
                </a:solidFill>
                <a:latin typeface="Calibri"/>
                <a:ea typeface="Calibri"/>
                <a:cs typeface="Calibri"/>
                <a:sym typeface="Calibri"/>
              </a:rPr>
              <a:t>ALTER TABLE </a:t>
            </a:r>
            <a:r>
              <a:rPr i="1" lang="en-US" sz="2000">
                <a:solidFill>
                  <a:schemeClr val="dk1"/>
                </a:solidFill>
                <a:latin typeface="Calibri"/>
                <a:ea typeface="Calibri"/>
                <a:cs typeface="Calibri"/>
                <a:sym typeface="Calibri"/>
              </a:rPr>
              <a:t>table_name </a:t>
            </a:r>
            <a:r>
              <a:rPr lang="en-US" sz="2000">
                <a:solidFill>
                  <a:schemeClr val="dk1"/>
                </a:solidFill>
                <a:latin typeface="Calibri"/>
                <a:ea typeface="Calibri"/>
                <a:cs typeface="Calibri"/>
                <a:sym typeface="Calibri"/>
              </a:rPr>
              <a:t>DROP INDEX </a:t>
            </a:r>
            <a:r>
              <a:rPr i="1" lang="en-US" sz="2000">
                <a:solidFill>
                  <a:schemeClr val="dk1"/>
                </a:solidFill>
                <a:latin typeface="Calibri"/>
                <a:ea typeface="Calibri"/>
                <a:cs typeface="Calibri"/>
                <a:sym typeface="Calibri"/>
              </a:rPr>
              <a:t>index_name</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pic>
        <p:nvPicPr>
          <p:cNvPr id="376" name="Google Shape;376;p35"/>
          <p:cNvPicPr preferRelativeResize="0"/>
          <p:nvPr/>
        </p:nvPicPr>
        <p:blipFill rotWithShape="1">
          <a:blip r:embed="rId3">
            <a:alphaModFix/>
          </a:blip>
          <a:srcRect b="0" l="0" r="0" t="0"/>
          <a:stretch/>
        </p:blipFill>
        <p:spPr>
          <a:xfrm>
            <a:off x="7086600" y="1447800"/>
            <a:ext cx="4265408" cy="1627922"/>
          </a:xfrm>
          <a:prstGeom prst="rect">
            <a:avLst/>
          </a:prstGeom>
          <a:noFill/>
          <a:ln>
            <a:noFill/>
          </a:ln>
          <a:effectLst>
            <a:outerShdw blurRad="292100" rotWithShape="0" algn="tl" dir="2700000" dist="139700">
              <a:srgbClr val="333333">
                <a:alpha val="64705"/>
              </a:srgbClr>
            </a:outerShdw>
          </a:effectLst>
        </p:spPr>
      </p:pic>
      <p:pic>
        <p:nvPicPr>
          <p:cNvPr id="377" name="Google Shape;377;p35"/>
          <p:cNvPicPr preferRelativeResize="0"/>
          <p:nvPr/>
        </p:nvPicPr>
        <p:blipFill rotWithShape="1">
          <a:blip r:embed="rId4">
            <a:alphaModFix/>
          </a:blip>
          <a:srcRect b="0" l="0" r="0" t="0"/>
          <a:stretch/>
        </p:blipFill>
        <p:spPr>
          <a:xfrm>
            <a:off x="7111800" y="3730734"/>
            <a:ext cx="3895605" cy="1041682"/>
          </a:xfrm>
          <a:prstGeom prst="rect">
            <a:avLst/>
          </a:prstGeom>
          <a:noFill/>
          <a:ln>
            <a:noFill/>
          </a:ln>
          <a:effectLst>
            <a:outerShdw blurRad="292100" rotWithShape="0" algn="tl" dir="2700000" dist="139700">
              <a:srgbClr val="333333">
                <a:alpha val="64705"/>
              </a:srgbClr>
            </a:outerShdw>
          </a:effectLst>
        </p:spPr>
      </p:pic>
      <p:sp>
        <p:nvSpPr>
          <p:cNvPr id="378" name="Google Shape;378;p35"/>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6"/>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Clustered index</a:t>
            </a:r>
            <a:endParaRPr/>
          </a:p>
        </p:txBody>
      </p:sp>
      <p:sp>
        <p:nvSpPr>
          <p:cNvPr id="384" name="Google Shape;384;p36"/>
          <p:cNvSpPr txBox="1"/>
          <p:nvPr>
            <p:ph idx="1" type="body"/>
          </p:nvPr>
        </p:nvSpPr>
        <p:spPr>
          <a:xfrm>
            <a:off x="609600" y="1600200"/>
            <a:ext cx="10160000" cy="4800600"/>
          </a:xfrm>
          <a:prstGeom prst="rect">
            <a:avLst/>
          </a:prstGeom>
          <a:noFill/>
          <a:ln>
            <a:noFill/>
          </a:ln>
        </p:spPr>
        <p:txBody>
          <a:bodyPr anchorCtr="0" anchor="t" bIns="45700" lIns="91425" spcFirstLastPara="1" rIns="91425" wrap="square" tIns="45700">
            <a:normAutofit/>
          </a:bodyPr>
          <a:lstStyle/>
          <a:p>
            <a:pPr indent="-88900" lvl="0" marL="342900" rtl="0" algn="l">
              <a:spcBef>
                <a:spcPts val="0"/>
              </a:spcBef>
              <a:spcAft>
                <a:spcPts val="0"/>
              </a:spcAft>
              <a:buSzPts val="2200"/>
              <a:buNone/>
            </a:pPr>
            <a:r>
              <a:t/>
            </a:r>
            <a:endParaRPr/>
          </a:p>
        </p:txBody>
      </p:sp>
      <p:pic>
        <p:nvPicPr>
          <p:cNvPr id="385" name="Google Shape;385;p36"/>
          <p:cNvPicPr preferRelativeResize="0"/>
          <p:nvPr/>
        </p:nvPicPr>
        <p:blipFill rotWithShape="1">
          <a:blip r:embed="rId3">
            <a:alphaModFix/>
          </a:blip>
          <a:srcRect b="0" l="0" r="0" t="0"/>
          <a:stretch/>
        </p:blipFill>
        <p:spPr>
          <a:xfrm>
            <a:off x="685800" y="1809750"/>
            <a:ext cx="8239125" cy="3371850"/>
          </a:xfrm>
          <a:prstGeom prst="rect">
            <a:avLst/>
          </a:prstGeom>
          <a:noFill/>
          <a:ln>
            <a:noFill/>
          </a:ln>
        </p:spPr>
      </p:pic>
      <p:sp>
        <p:nvSpPr>
          <p:cNvPr id="386" name="Google Shape;386;p36"/>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37"/>
          <p:cNvPicPr preferRelativeResize="0"/>
          <p:nvPr/>
        </p:nvPicPr>
        <p:blipFill rotWithShape="1">
          <a:blip r:embed="rId3">
            <a:alphaModFix/>
          </a:blip>
          <a:srcRect b="0" l="0" r="0" t="0"/>
          <a:stretch/>
        </p:blipFill>
        <p:spPr>
          <a:xfrm>
            <a:off x="868341" y="755476"/>
            <a:ext cx="5038725" cy="3067050"/>
          </a:xfrm>
          <a:prstGeom prst="rect">
            <a:avLst/>
          </a:prstGeom>
          <a:noFill/>
          <a:ln>
            <a:noFill/>
          </a:ln>
        </p:spPr>
      </p:pic>
      <p:pic>
        <p:nvPicPr>
          <p:cNvPr id="392" name="Google Shape;392;p37"/>
          <p:cNvPicPr preferRelativeResize="0"/>
          <p:nvPr/>
        </p:nvPicPr>
        <p:blipFill rotWithShape="1">
          <a:blip r:embed="rId4">
            <a:alphaModFix/>
          </a:blip>
          <a:srcRect b="0" l="0" r="0" t="0"/>
          <a:stretch/>
        </p:blipFill>
        <p:spPr>
          <a:xfrm>
            <a:off x="5943600" y="3822526"/>
            <a:ext cx="4972050" cy="2914650"/>
          </a:xfrm>
          <a:prstGeom prst="rect">
            <a:avLst/>
          </a:prstGeom>
          <a:noFill/>
          <a:ln>
            <a:noFill/>
          </a:ln>
        </p:spPr>
      </p:pic>
      <p:sp>
        <p:nvSpPr>
          <p:cNvPr id="393" name="Google Shape;393;p37"/>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8"/>
          <p:cNvSpPr txBox="1"/>
          <p:nvPr>
            <p:ph type="title"/>
          </p:nvPr>
        </p:nvSpPr>
        <p:spPr>
          <a:xfrm>
            <a:off x="609600" y="274638"/>
            <a:ext cx="101600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4600"/>
              <a:buFont typeface="Cambria"/>
              <a:buNone/>
            </a:pPr>
            <a:r>
              <a:rPr lang="en-US"/>
              <a:t>Example </a:t>
            </a:r>
            <a:endParaRPr/>
          </a:p>
        </p:txBody>
      </p:sp>
      <p:pic>
        <p:nvPicPr>
          <p:cNvPr id="399" name="Google Shape;399;p38"/>
          <p:cNvPicPr preferRelativeResize="0"/>
          <p:nvPr>
            <p:ph idx="1" type="body"/>
          </p:nvPr>
        </p:nvPicPr>
        <p:blipFill rotWithShape="1">
          <a:blip r:embed="rId3">
            <a:alphaModFix/>
          </a:blip>
          <a:srcRect b="0" l="0" r="0" t="0"/>
          <a:stretch/>
        </p:blipFill>
        <p:spPr>
          <a:xfrm>
            <a:off x="4375149" y="3752850"/>
            <a:ext cx="5794323" cy="1091684"/>
          </a:xfrm>
          <a:prstGeom prst="rect">
            <a:avLst/>
          </a:prstGeom>
          <a:noFill/>
          <a:ln>
            <a:noFill/>
          </a:ln>
        </p:spPr>
      </p:pic>
      <p:pic>
        <p:nvPicPr>
          <p:cNvPr id="400" name="Google Shape;400;p38"/>
          <p:cNvPicPr preferRelativeResize="0"/>
          <p:nvPr/>
        </p:nvPicPr>
        <p:blipFill rotWithShape="1">
          <a:blip r:embed="rId4">
            <a:alphaModFix/>
          </a:blip>
          <a:srcRect b="0" l="0" r="0" t="0"/>
          <a:stretch/>
        </p:blipFill>
        <p:spPr>
          <a:xfrm>
            <a:off x="990600" y="1905000"/>
            <a:ext cx="4584843" cy="1600200"/>
          </a:xfrm>
          <a:prstGeom prst="rect">
            <a:avLst/>
          </a:prstGeom>
          <a:noFill/>
          <a:ln>
            <a:noFill/>
          </a:ln>
        </p:spPr>
      </p:pic>
      <p:pic>
        <p:nvPicPr>
          <p:cNvPr id="401" name="Google Shape;401;p38"/>
          <p:cNvPicPr preferRelativeResize="0"/>
          <p:nvPr/>
        </p:nvPicPr>
        <p:blipFill rotWithShape="1">
          <a:blip r:embed="rId5">
            <a:alphaModFix/>
          </a:blip>
          <a:srcRect b="0" l="0" r="0" t="0"/>
          <a:stretch/>
        </p:blipFill>
        <p:spPr>
          <a:xfrm>
            <a:off x="996863" y="5029200"/>
            <a:ext cx="3429000" cy="1575159"/>
          </a:xfrm>
          <a:prstGeom prst="rect">
            <a:avLst/>
          </a:prstGeom>
          <a:noFill/>
          <a:ln>
            <a:noFill/>
          </a:ln>
        </p:spPr>
      </p:pic>
      <p:sp>
        <p:nvSpPr>
          <p:cNvPr id="402" name="Google Shape;402;p38"/>
          <p:cNvSpPr txBox="1"/>
          <p:nvPr/>
        </p:nvSpPr>
        <p:spPr>
          <a:xfrm>
            <a:off x="1168502" y="4644303"/>
            <a:ext cx="14008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Cluster index</a:t>
            </a:r>
            <a:endParaRPr sz="1800">
              <a:solidFill>
                <a:schemeClr val="dk1"/>
              </a:solidFill>
              <a:latin typeface="Calibri"/>
              <a:ea typeface="Calibri"/>
              <a:cs typeface="Calibri"/>
              <a:sym typeface="Calibri"/>
            </a:endParaRPr>
          </a:p>
        </p:txBody>
      </p:sp>
      <p:sp>
        <p:nvSpPr>
          <p:cNvPr id="403" name="Google Shape;403;p38"/>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2d14deaed24_0_0"/>
          <p:cNvSpPr txBox="1"/>
          <p:nvPr>
            <p:ph type="title"/>
          </p:nvPr>
        </p:nvSpPr>
        <p:spPr>
          <a:xfrm>
            <a:off x="609600" y="274638"/>
            <a:ext cx="10160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2d14deaed24_0_0"/>
          <p:cNvSpPr txBox="1"/>
          <p:nvPr>
            <p:ph idx="1" type="body"/>
          </p:nvPr>
        </p:nvSpPr>
        <p:spPr>
          <a:xfrm>
            <a:off x="609600" y="1600200"/>
            <a:ext cx="101601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411" name="Google Shape;411;g2d14deaed24_0_0"/>
          <p:cNvPicPr preferRelativeResize="0"/>
          <p:nvPr/>
        </p:nvPicPr>
        <p:blipFill rotWithShape="1">
          <a:blip r:embed="rId3">
            <a:alphaModFix/>
          </a:blip>
          <a:srcRect b="11142" l="18954" r="38179" t="15354"/>
          <a:stretch/>
        </p:blipFill>
        <p:spPr>
          <a:xfrm>
            <a:off x="2134300" y="0"/>
            <a:ext cx="7110710" cy="6858000"/>
          </a:xfrm>
          <a:prstGeom prst="rect">
            <a:avLst/>
          </a:prstGeom>
          <a:noFill/>
          <a:ln>
            <a:noFill/>
          </a:ln>
        </p:spPr>
      </p:pic>
      <p:sp>
        <p:nvSpPr>
          <p:cNvPr id="412" name="Google Shape;412;g2d14deaed24_0_0"/>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2d14deaed24_0_14"/>
          <p:cNvSpPr txBox="1"/>
          <p:nvPr>
            <p:ph type="title"/>
          </p:nvPr>
        </p:nvSpPr>
        <p:spPr>
          <a:xfrm>
            <a:off x="609600" y="274638"/>
            <a:ext cx="101601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2d14deaed24_0_14"/>
          <p:cNvSpPr txBox="1"/>
          <p:nvPr>
            <p:ph idx="1" type="body"/>
          </p:nvPr>
        </p:nvSpPr>
        <p:spPr>
          <a:xfrm>
            <a:off x="609600" y="1600200"/>
            <a:ext cx="10160100" cy="48006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420" name="Google Shape;420;g2d14deaed24_0_14"/>
          <p:cNvPicPr preferRelativeResize="0"/>
          <p:nvPr/>
        </p:nvPicPr>
        <p:blipFill rotWithShape="1">
          <a:blip r:embed="rId3">
            <a:alphaModFix/>
          </a:blip>
          <a:srcRect b="12105" l="28640" r="9340" t="35669"/>
          <a:stretch/>
        </p:blipFill>
        <p:spPr>
          <a:xfrm>
            <a:off x="0" y="748150"/>
            <a:ext cx="11276448" cy="5279450"/>
          </a:xfrm>
          <a:prstGeom prst="rect">
            <a:avLst/>
          </a:prstGeom>
          <a:noFill/>
          <a:ln>
            <a:noFill/>
          </a:ln>
        </p:spPr>
      </p:pic>
      <p:sp>
        <p:nvSpPr>
          <p:cNvPr id="421" name="Google Shape;421;g2d14deaed24_0_14"/>
          <p:cNvSpPr/>
          <p:nvPr>
            <p:ph idx="12" type="sldNum"/>
          </p:nvPr>
        </p:nvSpPr>
        <p:spPr>
          <a:xfrm>
            <a:off x="11375717" y="5648960"/>
            <a:ext cx="731400" cy="396300"/>
          </a:xfrm>
          <a:prstGeom prst="bracketPair">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2024-02-22T09:22:05Z</dcterms:created>
  <dc:creator>sakec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2022-08-26T00:00:00Z</vt:filetime>
  </property>
  <property fmtid="{D5CDD505-2E9C-101B-9397-08002B2CF9AE}" pid="3" name="Creator">
    <vt:lpwstr>Microsoft® PowerPoint® for Office 365</vt:lpwstr>
  </property>
  <property fmtid="{D5CDD505-2E9C-101B-9397-08002B2CF9AE}" pid="4" name="LastSaved">
    <vt:filetime>2024-02-22T00:00:00Z</vt:filetime>
  </property>
</Properties>
</file>