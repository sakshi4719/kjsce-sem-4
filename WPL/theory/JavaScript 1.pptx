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79" roundtripDataSignature="AMtx7mjf1INDcyOf9W9udpYKkFxx+d/U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A61794-38D1-4BB5-9719-6FB2888D112F}">
  <a:tblStyle styleId="{EDA61794-38D1-4BB5-9719-6FB2888D11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customschemas.google.com/relationships/presentationmetadata" Target="metadata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4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4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4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4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4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5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5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p5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p5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p5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5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5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p5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5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p5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6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p6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8" name="Google Shape;568;p6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6" name="Google Shape;576;p6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4" name="Google Shape;584;p6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2" name="Google Shape;592;p6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6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8" name="Google Shape;608;p6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p6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4" name="Google Shape;624;p6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2" name="Google Shape;632;p7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0" name="Google Shape;640;p7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p7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4"/>
          <p:cNvSpPr/>
          <p:nvPr/>
        </p:nvSpPr>
        <p:spPr>
          <a:xfrm>
            <a:off x="1516380" y="1522475"/>
            <a:ext cx="6114415" cy="3819525"/>
          </a:xfrm>
          <a:custGeom>
            <a:rect b="b" l="l" r="r" t="t"/>
            <a:pathLst>
              <a:path extrusionOk="0" h="3819525" w="6114415">
                <a:moveTo>
                  <a:pt x="0" y="3819144"/>
                </a:moveTo>
                <a:lnTo>
                  <a:pt x="6114288" y="3819144"/>
                </a:lnTo>
                <a:lnTo>
                  <a:pt x="6114288" y="0"/>
                </a:lnTo>
                <a:lnTo>
                  <a:pt x="0" y="0"/>
                </a:lnTo>
                <a:lnTo>
                  <a:pt x="0" y="3819144"/>
                </a:lnTo>
                <a:close/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4"/>
          <p:cNvSpPr/>
          <p:nvPr/>
        </p:nvSpPr>
        <p:spPr>
          <a:xfrm>
            <a:off x="63" y="3127247"/>
            <a:ext cx="1664081" cy="6126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4"/>
          <p:cNvSpPr/>
          <p:nvPr/>
        </p:nvSpPr>
        <p:spPr>
          <a:xfrm>
            <a:off x="7479791" y="3127247"/>
            <a:ext cx="1664080" cy="6126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74"/>
          <p:cNvSpPr/>
          <p:nvPr/>
        </p:nvSpPr>
        <p:spPr>
          <a:xfrm>
            <a:off x="2022348" y="3473195"/>
            <a:ext cx="5113655" cy="0"/>
          </a:xfrm>
          <a:custGeom>
            <a:rect b="b" l="l" r="r" t="t"/>
            <a:pathLst>
              <a:path extrusionOk="0" h="120000" w="5113655">
                <a:moveTo>
                  <a:pt x="0" y="0"/>
                </a:moveTo>
                <a:lnTo>
                  <a:pt x="5113274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4"/>
          <p:cNvSpPr txBox="1"/>
          <p:nvPr>
            <p:ph type="ctrTitle"/>
          </p:nvPr>
        </p:nvSpPr>
        <p:spPr>
          <a:xfrm>
            <a:off x="2671064" y="2286457"/>
            <a:ext cx="3801871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5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5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6"/>
          <p:cNvSpPr/>
          <p:nvPr/>
        </p:nvSpPr>
        <p:spPr>
          <a:xfrm>
            <a:off x="556259" y="544068"/>
            <a:ext cx="8037830" cy="5758180"/>
          </a:xfrm>
          <a:custGeom>
            <a:rect b="b" l="l" r="r" t="t"/>
            <a:pathLst>
              <a:path extrusionOk="0" h="5758180" w="8037830">
                <a:moveTo>
                  <a:pt x="0" y="5757672"/>
                </a:moveTo>
                <a:lnTo>
                  <a:pt x="8037576" y="5757672"/>
                </a:lnTo>
                <a:lnTo>
                  <a:pt x="8037576" y="0"/>
                </a:lnTo>
                <a:lnTo>
                  <a:pt x="0" y="0"/>
                </a:lnTo>
                <a:lnTo>
                  <a:pt x="0" y="5757672"/>
                </a:lnTo>
                <a:close/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76"/>
          <p:cNvSpPr/>
          <p:nvPr/>
        </p:nvSpPr>
        <p:spPr>
          <a:xfrm>
            <a:off x="0" y="3127248"/>
            <a:ext cx="685799" cy="6065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6"/>
          <p:cNvSpPr/>
          <p:nvPr/>
        </p:nvSpPr>
        <p:spPr>
          <a:xfrm>
            <a:off x="8467343" y="3127248"/>
            <a:ext cx="676655" cy="60655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76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6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7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7"/>
          <p:cNvSpPr/>
          <p:nvPr/>
        </p:nvSpPr>
        <p:spPr>
          <a:xfrm>
            <a:off x="0" y="3127248"/>
            <a:ext cx="685799" cy="6065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7"/>
          <p:cNvSpPr/>
          <p:nvPr/>
        </p:nvSpPr>
        <p:spPr>
          <a:xfrm>
            <a:off x="8467343" y="3127248"/>
            <a:ext cx="676655" cy="60655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8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8"/>
          <p:cNvSpPr/>
          <p:nvPr/>
        </p:nvSpPr>
        <p:spPr>
          <a:xfrm>
            <a:off x="556259" y="544068"/>
            <a:ext cx="8037830" cy="5758180"/>
          </a:xfrm>
          <a:custGeom>
            <a:rect b="b" l="l" r="r" t="t"/>
            <a:pathLst>
              <a:path extrusionOk="0" h="5758180" w="8037830">
                <a:moveTo>
                  <a:pt x="0" y="5757672"/>
                </a:moveTo>
                <a:lnTo>
                  <a:pt x="8037576" y="5757672"/>
                </a:lnTo>
                <a:lnTo>
                  <a:pt x="8037576" y="0"/>
                </a:lnTo>
                <a:lnTo>
                  <a:pt x="0" y="0"/>
                </a:lnTo>
                <a:lnTo>
                  <a:pt x="0" y="5757672"/>
                </a:lnTo>
                <a:close/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8"/>
          <p:cNvSpPr/>
          <p:nvPr/>
        </p:nvSpPr>
        <p:spPr>
          <a:xfrm>
            <a:off x="0" y="3127248"/>
            <a:ext cx="685799" cy="6065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8"/>
          <p:cNvSpPr/>
          <p:nvPr/>
        </p:nvSpPr>
        <p:spPr>
          <a:xfrm>
            <a:off x="8467343" y="3127248"/>
            <a:ext cx="676655" cy="60655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8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8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8"/>
          <p:cNvSpPr txBox="1"/>
          <p:nvPr>
            <p:ph idx="2" type="body"/>
          </p:nvPr>
        </p:nvSpPr>
        <p:spPr>
          <a:xfrm>
            <a:off x="4957317" y="2336139"/>
            <a:ext cx="2970529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3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73"/>
          <p:cNvSpPr/>
          <p:nvPr/>
        </p:nvSpPr>
        <p:spPr>
          <a:xfrm>
            <a:off x="556259" y="544068"/>
            <a:ext cx="8037830" cy="5758180"/>
          </a:xfrm>
          <a:custGeom>
            <a:rect b="b" l="l" r="r" t="t"/>
            <a:pathLst>
              <a:path extrusionOk="0" h="5758180" w="8037830">
                <a:moveTo>
                  <a:pt x="0" y="5757672"/>
                </a:moveTo>
                <a:lnTo>
                  <a:pt x="8037576" y="5757672"/>
                </a:lnTo>
                <a:lnTo>
                  <a:pt x="8037576" y="0"/>
                </a:lnTo>
                <a:lnTo>
                  <a:pt x="0" y="0"/>
                </a:lnTo>
                <a:lnTo>
                  <a:pt x="0" y="5757672"/>
                </a:lnTo>
                <a:close/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73"/>
          <p:cNvSpPr/>
          <p:nvPr/>
        </p:nvSpPr>
        <p:spPr>
          <a:xfrm>
            <a:off x="0" y="3127248"/>
            <a:ext cx="685799" cy="60655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73"/>
          <p:cNvSpPr/>
          <p:nvPr/>
        </p:nvSpPr>
        <p:spPr>
          <a:xfrm>
            <a:off x="8467343" y="3127248"/>
            <a:ext cx="676655" cy="6065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3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3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/>
        </p:nvSpPr>
        <p:spPr>
          <a:xfrm>
            <a:off x="2671064" y="2286457"/>
            <a:ext cx="350139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1" lang="en-US" sz="4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Javascript: Basics</a:t>
            </a:r>
            <a:endParaRPr b="0" i="0" sz="4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>
            <p:ph type="title"/>
          </p:nvPr>
        </p:nvSpPr>
        <p:spPr>
          <a:xfrm>
            <a:off x="3430015" y="935228"/>
            <a:ext cx="22904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Introduction</a:t>
            </a:r>
            <a:endParaRPr sz="3600"/>
          </a:p>
        </p:txBody>
      </p:sp>
      <p:sp>
        <p:nvSpPr>
          <p:cNvPr id="72" name="Google Shape;72;p2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917244" y="1609725"/>
            <a:ext cx="7542530" cy="392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a scripting language most often used for client-  side web development.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6985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JavaScript supported in the browsers typically support  additional objects.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Window, Frame, Form, DOM object, etc.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635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brands or/and different  versions of	browsers may  support different implementation of JavaScript.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not fully compatible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 is the Microsoft version of JavaScript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>
            <p:ph type="title"/>
          </p:nvPr>
        </p:nvSpPr>
        <p:spPr>
          <a:xfrm>
            <a:off x="804226" y="740899"/>
            <a:ext cx="69984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can we do with JavaScript?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28225" y="1370600"/>
            <a:ext cx="8130900" cy="5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87019" lvl="0" marL="299085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interactive user interface in a web page (e.g., menu,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pop-up alert, windows, etc.)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Manipulating web content dynamically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content and style of an element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images on a page without page reload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Hide/Show contents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HTML contents on the fly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validation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AJAX (e.g. Google complete)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1336147" y="818850"/>
            <a:ext cx="523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Why Study JavaScript?</a:t>
            </a:r>
            <a:endParaRPr sz="3600"/>
          </a:p>
        </p:txBody>
      </p:sp>
      <p:sp>
        <p:nvSpPr>
          <p:cNvPr id="87" name="Google Shape;87;p4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48275" y="1385850"/>
            <a:ext cx="8624700" cy="4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87019" lvl="0" marL="2990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is	one	of	the	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	languages	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	web  d</a:t>
            </a:r>
            <a:r>
              <a:rPr b="0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evelopers </a:t>
            </a:r>
            <a:r>
              <a:rPr b="1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b="0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learn:						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5276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define the content of web pages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52768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specify the layout of web pages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52768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program the behavior of web pages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pages are not the only place where JavaScript is used.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3958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desktop and server programs use JavaScript.	Node.js is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known.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8255" rtl="0" algn="l">
              <a:lnSpc>
                <a:spcPct val="107916"/>
              </a:lnSpc>
              <a:spcBef>
                <a:spcPts val="121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	databases,	like	MongoDB	and	CouchDB,	also	use  JavaScript as their programming language.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>
            <p:ph type="title"/>
          </p:nvPr>
        </p:nvSpPr>
        <p:spPr>
          <a:xfrm>
            <a:off x="2931890" y="474925"/>
            <a:ext cx="2241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Syntax</a:t>
            </a:r>
            <a:endParaRPr sz="3600"/>
          </a:p>
        </p:txBody>
      </p:sp>
      <p:sp>
        <p:nvSpPr>
          <p:cNvPr id="95" name="Google Shape;95;p5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841051" y="1455252"/>
            <a:ext cx="78849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can be implemented using JavaScript statements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 placed within 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&lt;script&gt;... &lt;/script&gt;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place 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tags, containing your  JavaScript, anywhere within your web page, but it is  normally recommended that you should keep it within  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tags.</a:t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&lt;script&gt;	tag	alerts	the	browser	program	to	start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interpreting all the text between these tags as a script.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3210560" y="620344"/>
            <a:ext cx="280035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102" name="Google Shape;102;p6"/>
          <p:cNvGrpSpPr/>
          <p:nvPr/>
        </p:nvGrpSpPr>
        <p:grpSpPr>
          <a:xfrm>
            <a:off x="763523" y="1601724"/>
            <a:ext cx="7467600" cy="4114800"/>
            <a:chOff x="763523" y="1601724"/>
            <a:chExt cx="7467600" cy="4114800"/>
          </a:xfrm>
        </p:grpSpPr>
        <p:sp>
          <p:nvSpPr>
            <p:cNvPr id="103" name="Google Shape;103;p6"/>
            <p:cNvSpPr/>
            <p:nvPr/>
          </p:nvSpPr>
          <p:spPr>
            <a:xfrm>
              <a:off x="763523" y="1601724"/>
              <a:ext cx="7467600" cy="4114800"/>
            </a:xfrm>
            <a:custGeom>
              <a:rect b="b" l="l" r="r" t="t"/>
              <a:pathLst>
                <a:path extrusionOk="0" h="4114800" w="7467600">
                  <a:moveTo>
                    <a:pt x="74676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467600" y="41148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763523" y="1601724"/>
              <a:ext cx="7467600" cy="4114800"/>
            </a:xfrm>
            <a:custGeom>
              <a:rect b="b" l="l" r="r" t="t"/>
              <a:pathLst>
                <a:path extrusionOk="0" h="4114800" w="7467600">
                  <a:moveTo>
                    <a:pt x="0" y="4114800"/>
                  </a:moveTo>
                  <a:lnTo>
                    <a:pt x="7467600" y="4114800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6"/>
          <p:cNvSpPr txBox="1"/>
          <p:nvPr/>
        </p:nvSpPr>
        <p:spPr>
          <a:xfrm>
            <a:off x="7814818" y="6036193"/>
            <a:ext cx="71755" cy="143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410455" y="4191000"/>
            <a:ext cx="4276344" cy="21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841044" y="1202033"/>
            <a:ext cx="6400800" cy="4284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48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Ex1.html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&lt;head&gt;&lt;title&gt;First JavaScript Page&lt;/title&gt;&lt;/head&gt;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&lt;h1&gt;First JavaScript Page&lt;/h1&gt;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62255" lvl="0" marL="274320" marR="2345055" rtl="0" algn="l">
              <a:lnSpc>
                <a:spcPct val="168235"/>
              </a:lnSpc>
              <a:spcBef>
                <a:spcPts val="20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&lt;script type="text/javascript"&gt;  </a:t>
            </a: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document.write("&lt;hr&gt;");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document.write("Hello World from JavaScript!");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document.write("&lt;hr&gt;");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709225" y="474925"/>
            <a:ext cx="7959900" cy="1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625">
            <a:spAutoFit/>
          </a:bodyPr>
          <a:lstStyle/>
          <a:p>
            <a:pPr indent="0" lvl="0" marL="3892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Enabling - Chrome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           Step 2 : Advance Setting -&gt; Privacy &amp; Security</a:t>
            </a:r>
            <a:endParaRPr sz="2400"/>
          </a:p>
        </p:txBody>
      </p:sp>
      <p:sp>
        <p:nvSpPr>
          <p:cNvPr id="113" name="Google Shape;113;p8"/>
          <p:cNvSpPr/>
          <p:nvPr/>
        </p:nvSpPr>
        <p:spPr>
          <a:xfrm>
            <a:off x="905136" y="1933800"/>
            <a:ext cx="7568100" cy="4258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>
            <p:ph type="title"/>
          </p:nvPr>
        </p:nvSpPr>
        <p:spPr>
          <a:xfrm>
            <a:off x="1393129" y="835875"/>
            <a:ext cx="491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Enabling - Chrome</a:t>
            </a:r>
            <a:endParaRPr sz="3600"/>
          </a:p>
        </p:txBody>
      </p:sp>
      <p:sp>
        <p:nvSpPr>
          <p:cNvPr id="121" name="Google Shape;121;p7"/>
          <p:cNvSpPr txBox="1"/>
          <p:nvPr/>
        </p:nvSpPr>
        <p:spPr>
          <a:xfrm>
            <a:off x="1393125" y="1582800"/>
            <a:ext cx="6706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: Choose Setting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66825" y="2019000"/>
            <a:ext cx="7620000" cy="463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1032175" y="555500"/>
            <a:ext cx="5205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Enabling - Chrome</a:t>
            </a:r>
            <a:endParaRPr sz="3600"/>
          </a:p>
        </p:txBody>
      </p:sp>
      <p:sp>
        <p:nvSpPr>
          <p:cNvPr id="130" name="Google Shape;130;p9"/>
          <p:cNvSpPr txBox="1"/>
          <p:nvPr/>
        </p:nvSpPr>
        <p:spPr>
          <a:xfrm>
            <a:off x="841052" y="1025853"/>
            <a:ext cx="81891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: Privacy &amp; Security -&gt; Content Settings-Enable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914400" y="1778255"/>
            <a:ext cx="7315200" cy="388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 txBox="1"/>
          <p:nvPr>
            <p:ph type="title"/>
          </p:nvPr>
        </p:nvSpPr>
        <p:spPr>
          <a:xfrm>
            <a:off x="2172019" y="683899"/>
            <a:ext cx="3506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Comments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936675" y="1665898"/>
            <a:ext cx="7082100" cy="3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Line Comment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represented by double forward slashes (//). It can be used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and after the statement.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Multiline Comment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to add single as well as multi line comments. So,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more convenient.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your code */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1260145" y="417953"/>
            <a:ext cx="4714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146" name="Google Shape;146;p11"/>
          <p:cNvGrpSpPr/>
          <p:nvPr/>
        </p:nvGrpSpPr>
        <p:grpSpPr>
          <a:xfrm>
            <a:off x="763523" y="1586483"/>
            <a:ext cx="7543800" cy="4267200"/>
            <a:chOff x="763523" y="1586483"/>
            <a:chExt cx="7543800" cy="4267200"/>
          </a:xfrm>
        </p:grpSpPr>
        <p:sp>
          <p:nvSpPr>
            <p:cNvPr id="147" name="Google Shape;147;p11"/>
            <p:cNvSpPr/>
            <p:nvPr/>
          </p:nvSpPr>
          <p:spPr>
            <a:xfrm>
              <a:off x="763523" y="1586483"/>
              <a:ext cx="7543800" cy="4267200"/>
            </a:xfrm>
            <a:custGeom>
              <a:rect b="b" l="l" r="r" t="t"/>
              <a:pathLst>
                <a:path extrusionOk="0" h="4267200" w="7543800">
                  <a:moveTo>
                    <a:pt x="75438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7543800" y="4267200"/>
                  </a:lnTo>
                  <a:lnTo>
                    <a:pt x="7543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763523" y="1586483"/>
              <a:ext cx="7543800" cy="4267200"/>
            </a:xfrm>
            <a:custGeom>
              <a:rect b="b" l="l" r="r" t="t"/>
              <a:pathLst>
                <a:path extrusionOk="0" h="4267200" w="7543800">
                  <a:moveTo>
                    <a:pt x="0" y="4267200"/>
                  </a:moveTo>
                  <a:lnTo>
                    <a:pt x="7543800" y="4267200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1"/>
          <p:cNvSpPr txBox="1"/>
          <p:nvPr/>
        </p:nvSpPr>
        <p:spPr>
          <a:xfrm>
            <a:off x="5669905" y="3742182"/>
            <a:ext cx="235204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//Printing Message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853744" y="1471015"/>
            <a:ext cx="4568825" cy="279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826260" rtl="0" algn="l">
              <a:lnSpc>
                <a:spcPct val="1389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/* Sample Program for  comment */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l">
              <a:lnSpc>
                <a:spcPct val="139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// It is single line comment  document.write("hello javascript");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86385" marR="0" rtl="0" algn="l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on Output device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853744" y="4599978"/>
            <a:ext cx="1184910" cy="110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841044" y="1216533"/>
            <a:ext cx="9817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Ex2.html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495800" y="4169664"/>
            <a:ext cx="4020311" cy="19598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 txBox="1"/>
          <p:nvPr>
            <p:ph type="title"/>
          </p:nvPr>
        </p:nvSpPr>
        <p:spPr>
          <a:xfrm>
            <a:off x="1278629" y="474923"/>
            <a:ext cx="4542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Basic Features</a:t>
            </a:r>
            <a:endParaRPr sz="3600"/>
          </a:p>
        </p:txBody>
      </p:sp>
      <p:sp>
        <p:nvSpPr>
          <p:cNvPr id="161" name="Google Shape;161;p12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841675" y="1093414"/>
            <a:ext cx="7238400" cy="4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 as many &lt;script&gt; tags as you like in both the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and &lt;body&gt; and they are executed sequentially.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 Execution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before &lt;body&gt;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forward reference outside a &lt;script&gt; tag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case sensitive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Whitespace is generally ignored in JavaScript statement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	X	+ 1 same as X=X+1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>
            <p:ph type="title"/>
          </p:nvPr>
        </p:nvSpPr>
        <p:spPr>
          <a:xfrm>
            <a:off x="1887055" y="778877"/>
            <a:ext cx="366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Statements</a:t>
            </a:r>
            <a:endParaRPr sz="3600"/>
          </a:p>
        </p:txBody>
      </p:sp>
      <p:sp>
        <p:nvSpPr>
          <p:cNvPr id="169" name="Google Shape;169;p13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278625" y="2221672"/>
            <a:ext cx="6900600" cy="3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script is made up of individual statements.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statement	are	terminated	by	returns	/  semi-colons (;)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 to use semi-colons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 are group together using curly braces { }.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control structures and functions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>
            <p:ph type="title"/>
          </p:nvPr>
        </p:nvSpPr>
        <p:spPr>
          <a:xfrm>
            <a:off x="1856994" y="969975"/>
            <a:ext cx="5433060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81835" lvl="0" marL="1993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Can Change HTML  Content</a:t>
            </a:r>
            <a:endParaRPr sz="3600"/>
          </a:p>
        </p:txBody>
      </p:sp>
      <p:sp>
        <p:nvSpPr>
          <p:cNvPr id="177" name="Google Shape;177;p14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764844" y="2411066"/>
            <a:ext cx="7465695" cy="291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many JavaScript HTML methods is </a:t>
            </a:r>
            <a:r>
              <a:rPr b="0" i="0" lang="en-US" sz="23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getElementById().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example uses the method to "find" an HTML element  (with id="demo") and changes the element content  (innerHTML) to "Hello JavaScript":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6350" rtl="0" algn="just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"Hello  JavaScript";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>
            <p:ph type="title"/>
          </p:nvPr>
        </p:nvSpPr>
        <p:spPr>
          <a:xfrm>
            <a:off x="1298828" y="969975"/>
            <a:ext cx="654875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65425" lvl="0" marL="277812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Can Change HTML Styles  (CSS)</a:t>
            </a:r>
            <a:endParaRPr sz="3600"/>
          </a:p>
        </p:txBody>
      </p:sp>
      <p:sp>
        <p:nvSpPr>
          <p:cNvPr id="185" name="Google Shape;185;p15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145844" y="2500629"/>
            <a:ext cx="6870700" cy="215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the style of an HTML element, is a variant of  changing an HTML attribute: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2700" marR="20066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document.getElementById("demo").style.fontSize =  "35px";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>
            <p:ph type="title"/>
          </p:nvPr>
        </p:nvSpPr>
        <p:spPr>
          <a:xfrm>
            <a:off x="2094738" y="969975"/>
            <a:ext cx="4960620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34489" lvl="0" marL="164655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Can Hide HTML  Elements</a:t>
            </a:r>
            <a:endParaRPr sz="3600"/>
          </a:p>
        </p:txBody>
      </p:sp>
      <p:sp>
        <p:nvSpPr>
          <p:cNvPr id="193" name="Google Shape;193;p16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1069644" y="2500629"/>
            <a:ext cx="6717665" cy="215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1136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Hiding HTML elements can be done by changing the  display style: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document.getElementById("demo").style.display = "non  e";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>
            <p:ph type="title"/>
          </p:nvPr>
        </p:nvSpPr>
        <p:spPr>
          <a:xfrm>
            <a:off x="2036826" y="969975"/>
            <a:ext cx="507428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92275" lvl="0" marL="170433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Can Show HTML  Elements</a:t>
            </a:r>
            <a:endParaRPr sz="3600"/>
          </a:p>
        </p:txBody>
      </p:sp>
      <p:sp>
        <p:nvSpPr>
          <p:cNvPr id="201" name="Google Shape;201;p17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993450" y="2500623"/>
            <a:ext cx="70917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Showing hidden HTML elements can also be done by  changing the display style: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4625" lvl="0" marL="12700" marR="5080" rtl="0" algn="l">
              <a:lnSpc>
                <a:spcPct val="1409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document.getElementById("demo").style.display = "block";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>
            <p:ph type="title"/>
          </p:nvPr>
        </p:nvSpPr>
        <p:spPr>
          <a:xfrm>
            <a:off x="2548889" y="1208277"/>
            <a:ext cx="405257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Where To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179372" y="2344299"/>
            <a:ext cx="6516900" cy="4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0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in &lt;head&gt;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1185" marR="0" rtl="0" algn="l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changed.";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/>
          <p:nvPr>
            <p:ph type="title"/>
          </p:nvPr>
        </p:nvSpPr>
        <p:spPr>
          <a:xfrm>
            <a:off x="2548904" y="741425"/>
            <a:ext cx="5558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Where To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917244" y="1649958"/>
            <a:ext cx="6970395" cy="413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in &lt;body&gt;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</a:t>
            </a:r>
            <a:r>
              <a:rPr b="0" i="0" lang="en-US" sz="17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dy&gt;	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&lt;h1&gt;A Web Page&lt;/h1&gt;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id="demo"&gt;A Paragraph&lt;/p&gt;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onclick="myFunction()"&gt;Try it&lt;/button&gt;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731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 changed.";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>
            <p:ph type="title"/>
          </p:nvPr>
        </p:nvSpPr>
        <p:spPr>
          <a:xfrm>
            <a:off x="2683248" y="741425"/>
            <a:ext cx="50229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External JavaScript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883950" y="1690950"/>
            <a:ext cx="7376100" cy="4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Scripts can also be placed in external files: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External file: myScript.js  function myFunction() {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  changed.";}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External scripts are practical when the same code is used in many  different web pages.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JavaScript files have the file extension.js.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 use an external script, put the name of the script file in the src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(source) attribute of a &lt;script&gt; tag: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&lt;script src="myScript.js"&gt;&lt;/script&gt;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1585341" y="1208277"/>
            <a:ext cx="598360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Display Possibilities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255572" y="2410183"/>
            <a:ext cx="6597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can "display" data in different ways: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HTML element, using innerHTML.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HTML output using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alert box, using window.alert().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browser console, using console.log().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>
            <p:ph type="title"/>
          </p:nvPr>
        </p:nvSpPr>
        <p:spPr>
          <a:xfrm>
            <a:off x="1585341" y="1208277"/>
            <a:ext cx="598360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Display Possibilities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331772" y="2500629"/>
            <a:ext cx="66231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75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document.write(5 + 6);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onclick="document.write(5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+ 6)"&gt;Try it&lt;/button&gt;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window.alert(5 + 6);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console.log(5 + 6);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>
            <p:ph type="title"/>
          </p:nvPr>
        </p:nvSpPr>
        <p:spPr>
          <a:xfrm>
            <a:off x="2286007" y="1082851"/>
            <a:ext cx="3196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1255572" y="2410183"/>
            <a:ext cx="6641465" cy="1878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containers for storing data values.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unique names are called identifiers.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 can be short names (like x and y) or more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names (age, sum, total).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/>
          <p:nvPr/>
        </p:nvSpPr>
        <p:spPr>
          <a:xfrm>
            <a:off x="1277061" y="1597752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>
            <p:ph type="title"/>
          </p:nvPr>
        </p:nvSpPr>
        <p:spPr>
          <a:xfrm>
            <a:off x="2978442" y="866327"/>
            <a:ext cx="1525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1068069" y="1710274"/>
            <a:ext cx="7008000" cy="4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general	rules	for	constructing	names	for	variables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(unique identifiers) are: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can contain letters, digits, underscores, and dollar signs.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must begin with a letter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5080" rtl="0" algn="l">
              <a:lnSpc>
                <a:spcPct val="108421"/>
              </a:lnSpc>
              <a:spcBef>
                <a:spcPts val="107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can also begin with $ and _ (but we will not use it in this  tutorial)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are case sensitive (y and Y are different variables)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8" lvl="1" marL="756285" marR="0" rtl="0" algn="l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	words	(like	JavaScript	keywords)	cannot	be	used 	as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>
            <p:ph type="title"/>
          </p:nvPr>
        </p:nvSpPr>
        <p:spPr>
          <a:xfrm>
            <a:off x="2988894" y="778877"/>
            <a:ext cx="2350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950850" y="1484185"/>
            <a:ext cx="6596400" cy="4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 variable using the var statement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undefined a variable will be defined on its first use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can be assigned at declaration time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 = 5;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Commas can be used to define many variables at once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x, y = 5, z;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3173983" y="663702"/>
            <a:ext cx="27990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270" name="Google Shape;270;p26"/>
          <p:cNvGrpSpPr/>
          <p:nvPr/>
        </p:nvGrpSpPr>
        <p:grpSpPr>
          <a:xfrm>
            <a:off x="986027" y="1647444"/>
            <a:ext cx="7315200" cy="4114800"/>
            <a:chOff x="986027" y="1647444"/>
            <a:chExt cx="7315200" cy="4114800"/>
          </a:xfrm>
        </p:grpSpPr>
        <p:sp>
          <p:nvSpPr>
            <p:cNvPr id="271" name="Google Shape;271;p26"/>
            <p:cNvSpPr/>
            <p:nvPr/>
          </p:nvSpPr>
          <p:spPr>
            <a:xfrm>
              <a:off x="986027" y="1647444"/>
              <a:ext cx="7315200" cy="4114800"/>
            </a:xfrm>
            <a:custGeom>
              <a:rect b="b" l="l" r="r" t="t"/>
              <a:pathLst>
                <a:path extrusionOk="0" h="4114800" w="7315200">
                  <a:moveTo>
                    <a:pt x="73152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315200" y="411480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986027" y="1647444"/>
              <a:ext cx="7315200" cy="4114800"/>
            </a:xfrm>
            <a:custGeom>
              <a:rect b="b" l="l" r="r" t="t"/>
              <a:pathLst>
                <a:path extrusionOk="0" h="4114800" w="7315200">
                  <a:moveTo>
                    <a:pt x="0" y="4114800"/>
                  </a:moveTo>
                  <a:lnTo>
                    <a:pt x="7315200" y="4114800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26"/>
          <p:cNvSpPr txBox="1"/>
          <p:nvPr/>
        </p:nvSpPr>
        <p:spPr>
          <a:xfrm>
            <a:off x="986027" y="1647444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77825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var myvar = 31;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8640" marR="4596130" rtl="0" algn="l">
              <a:lnSpc>
                <a:spcPct val="1477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document.write(myvar);  document.write(Myvar);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1012647" y="1250060"/>
            <a:ext cx="9817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Ex3.html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3886200" y="2895600"/>
            <a:ext cx="4191000" cy="26487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27"/>
          <p:cNvGraphicFramePr/>
          <p:nvPr/>
        </p:nvGraphicFramePr>
        <p:xfrm>
          <a:off x="548640" y="536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318775"/>
                <a:gridCol w="1854825"/>
                <a:gridCol w="1848475"/>
                <a:gridCol w="1848475"/>
                <a:gridCol w="1854825"/>
                <a:gridCol w="315600"/>
              </a:tblGrid>
              <a:tr h="1360925">
                <a:tc gridSpan="6">
                  <a:txBody>
                    <a:bodyPr/>
                    <a:lstStyle/>
                    <a:p>
                      <a:pPr indent="0" lvl="0" marL="184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u="none" cap="none" strike="noStrik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Reserved Words</a:t>
                      </a:r>
                      <a:endParaRPr sz="4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3225" marB="0" marR="0" marL="0">
                    <a:lnL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  <a:tc hMerge="1"/>
                <a:tc hMerge="1"/>
              </a:tr>
              <a:tr h="468500">
                <a:tc rowSpan="9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await*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9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67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break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catch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5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52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debugger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delete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5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enum*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5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export*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extends*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52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finally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2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goto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import*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9940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instanceof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interface	</a:t>
                      </a:r>
                      <a:r>
                        <a:rPr baseline="-25000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baseline="-25000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1939544" y="893521"/>
            <a:ext cx="529018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Reserved Words</a:t>
            </a:r>
            <a:endParaRPr/>
          </a:p>
        </p:txBody>
      </p:sp>
      <p:sp>
        <p:nvSpPr>
          <p:cNvPr id="287" name="Google Shape;287;p2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28"/>
          <p:cNvGraphicFramePr/>
          <p:nvPr/>
        </p:nvGraphicFramePr>
        <p:xfrm>
          <a:off x="1160462" y="1974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1704350"/>
                <a:gridCol w="1704350"/>
                <a:gridCol w="1704350"/>
                <a:gridCol w="1704350"/>
              </a:tblGrid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native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5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5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synchronized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throw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throws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transient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5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try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typeof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void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volatile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yield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28"/>
          <p:cNvSpPr txBox="1"/>
          <p:nvPr/>
        </p:nvSpPr>
        <p:spPr>
          <a:xfrm>
            <a:off x="1349121" y="5759907"/>
            <a:ext cx="53740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Words marked with* are new in ECMAScript 5 and 6.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/>
          <p:nvPr/>
        </p:nvSpPr>
        <p:spPr>
          <a:xfrm>
            <a:off x="1278636" y="14432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 txBox="1"/>
          <p:nvPr>
            <p:ph type="title"/>
          </p:nvPr>
        </p:nvSpPr>
        <p:spPr>
          <a:xfrm>
            <a:off x="1127177" y="778877"/>
            <a:ext cx="4579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296" name="Google Shape;296;p29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1122675" y="1737127"/>
            <a:ext cx="6746100" cy="3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variable has a data type that indicates what kind of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the variable holds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data types in JavaScript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8181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 has  dynamic  types.  This	means	that the same  variable can be used to hold different data types.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 txBox="1"/>
          <p:nvPr>
            <p:ph type="title"/>
          </p:nvPr>
        </p:nvSpPr>
        <p:spPr>
          <a:xfrm>
            <a:off x="2513982" y="1025851"/>
            <a:ext cx="3006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Numbers</a:t>
            </a:r>
            <a:endParaRPr/>
          </a:p>
        </p:txBody>
      </p:sp>
      <p:sp>
        <p:nvSpPr>
          <p:cNvPr id="304" name="Google Shape;304;p3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0"/>
          <p:cNvSpPr txBox="1"/>
          <p:nvPr/>
        </p:nvSpPr>
        <p:spPr>
          <a:xfrm>
            <a:off x="956200" y="1880925"/>
            <a:ext cx="7712700" cy="42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has only one type of numbers.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can be written with, or without decimals: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x1 = 34.00;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x2 = -34;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090"/>
              </a:lnSpc>
              <a:spcBef>
                <a:spcPts val="85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	large	or	extra	small	numbers	can	be	written	with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(exponential) notation.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32485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y = 123e5;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2077038" y="1082851"/>
            <a:ext cx="3189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Strings</a:t>
            </a:r>
            <a:endParaRPr/>
          </a:p>
        </p:txBody>
      </p:sp>
      <p:sp>
        <p:nvSpPr>
          <p:cNvPr id="312" name="Google Shape;312;p3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696301" y="1941278"/>
            <a:ext cx="7751400" cy="3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(or a text string) is a series of characters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are written with quotes. You can use single or double quotes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(“thomas”, ‘x’, “Who are you?”)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may include special escaped characters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‘This isn\’t hard’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may contain some formatting characters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“Here are some newlines \n\n\n and tabs \t\t\t yes!”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Whitespace has no meaning outside of  quotation marks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2115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foo = ’ h e l l o world ’;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>
            <p:ph type="title"/>
          </p:nvPr>
        </p:nvSpPr>
        <p:spPr>
          <a:xfrm>
            <a:off x="2228992" y="1158825"/>
            <a:ext cx="3175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Boolean</a:t>
            </a:r>
            <a:endParaRPr/>
          </a:p>
        </p:txBody>
      </p:sp>
      <p:sp>
        <p:nvSpPr>
          <p:cNvPr id="320" name="Google Shape;320;p3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1255572" y="2410183"/>
            <a:ext cx="601345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 can only have two values: true or false.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 are often used in conditional testing.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 txBox="1"/>
          <p:nvPr>
            <p:ph type="title"/>
          </p:nvPr>
        </p:nvSpPr>
        <p:spPr>
          <a:xfrm>
            <a:off x="766217" y="1087001"/>
            <a:ext cx="5502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 Conversion</a:t>
            </a:r>
            <a:endParaRPr/>
          </a:p>
        </p:txBody>
      </p:sp>
      <p:sp>
        <p:nvSpPr>
          <p:cNvPr id="328" name="Google Shape;328;p3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1069654" y="2500625"/>
            <a:ext cx="68055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</a:t>
            </a: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perator finds the type of a 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variable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1069650" y="3079825"/>
            <a:ext cx="24600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 (3)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 (3 + 4)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4071750" y="4257874"/>
            <a:ext cx="27075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Returns "number"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76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Returns "number"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4"/>
          <p:cNvSpPr txBox="1"/>
          <p:nvPr>
            <p:ph type="title"/>
          </p:nvPr>
        </p:nvSpPr>
        <p:spPr>
          <a:xfrm>
            <a:off x="1678088" y="816877"/>
            <a:ext cx="3559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Arrays</a:t>
            </a:r>
            <a:endParaRPr/>
          </a:p>
        </p:txBody>
      </p:sp>
      <p:sp>
        <p:nvSpPr>
          <p:cNvPr id="338" name="Google Shape;338;p3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4"/>
          <p:cNvSpPr txBox="1"/>
          <p:nvPr/>
        </p:nvSpPr>
        <p:spPr>
          <a:xfrm>
            <a:off x="994200" y="1842948"/>
            <a:ext cx="69474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is a special variable, which can hold more than one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at a time.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array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595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cars = [];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90395" marR="0" rtl="0" algn="l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cars = ["Saab", "Volvo", "BMW"];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elements of an array by referring </a:t>
            </a:r>
            <a:r>
              <a:rPr b="1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</a:t>
            </a: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039745" rtl="0" algn="r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name = car[1];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286385" marR="2991485" rtl="0" algn="r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index starts from zero (0).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 txBox="1"/>
          <p:nvPr>
            <p:ph type="title"/>
          </p:nvPr>
        </p:nvSpPr>
        <p:spPr>
          <a:xfrm>
            <a:off x="3814317" y="1208277"/>
            <a:ext cx="152527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346" name="Google Shape;346;p3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1145844" y="2500629"/>
            <a:ext cx="6852920" cy="259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43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of	an array returns the length of  an array (the number of array elements).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cars.length;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062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	a	new	element	to	an	array	is	using	the	push  method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211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cars.push(“swift”)</a:t>
            </a:r>
            <a:r>
              <a:rPr b="0" i="0" lang="en-US" sz="1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6"/>
          <p:cNvSpPr txBox="1"/>
          <p:nvPr>
            <p:ph type="title"/>
          </p:nvPr>
        </p:nvSpPr>
        <p:spPr>
          <a:xfrm>
            <a:off x="2436114" y="1051051"/>
            <a:ext cx="427672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Arithmetic Operators</a:t>
            </a:r>
            <a:endParaRPr/>
          </a:p>
        </p:txBody>
      </p:sp>
      <p:sp>
        <p:nvSpPr>
          <p:cNvPr id="354" name="Google Shape;354;p3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5" name="Google Shape;355;p36"/>
          <p:cNvGraphicFramePr/>
          <p:nvPr/>
        </p:nvGraphicFramePr>
        <p:xfrm>
          <a:off x="1290637" y="24605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1662425"/>
                <a:gridCol w="5017125"/>
              </a:tblGrid>
              <a:tr h="4539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7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39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Subtraction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7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Multiplication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39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Division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7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Modulus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82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Decrement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7"/>
          <p:cNvSpPr txBox="1"/>
          <p:nvPr>
            <p:ph type="title"/>
          </p:nvPr>
        </p:nvSpPr>
        <p:spPr>
          <a:xfrm>
            <a:off x="2423922" y="1208277"/>
            <a:ext cx="430593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Assignment Operator</a:t>
            </a:r>
            <a:endParaRPr/>
          </a:p>
        </p:txBody>
      </p:sp>
      <p:sp>
        <p:nvSpPr>
          <p:cNvPr id="362" name="Google Shape;362;p3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3" name="Google Shape;363;p37"/>
          <p:cNvGraphicFramePr/>
          <p:nvPr/>
        </p:nvGraphicFramePr>
        <p:xfrm>
          <a:off x="723900" y="2617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1915800"/>
                <a:gridCol w="2890525"/>
                <a:gridCol w="2890525"/>
              </a:tblGrid>
              <a:tr h="4059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02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059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+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02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-=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-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059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*=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*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02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/=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/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059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%=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%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/>
          <p:nvPr>
            <p:ph type="title"/>
          </p:nvPr>
        </p:nvSpPr>
        <p:spPr>
          <a:xfrm>
            <a:off x="2591561" y="889457"/>
            <a:ext cx="396938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Comparison Operator</a:t>
            </a:r>
            <a:endParaRPr sz="3600"/>
          </a:p>
        </p:txBody>
      </p:sp>
      <p:graphicFrame>
        <p:nvGraphicFramePr>
          <p:cNvPr id="369" name="Google Shape;369;p38"/>
          <p:cNvGraphicFramePr/>
          <p:nvPr/>
        </p:nvGraphicFramePr>
        <p:xfrm>
          <a:off x="909637" y="17113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878850"/>
                <a:gridCol w="6511925"/>
              </a:tblGrid>
              <a:tr h="684400">
                <a:tc>
                  <a:txBody>
                    <a:bodyPr/>
                    <a:lstStyle/>
                    <a:p>
                      <a:pPr indent="0" lvl="0" marL="144780" marR="1333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  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to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===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value and equal type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97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equal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!==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equal value or not equal type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 or equal to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0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 or equal to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05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125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ternary 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12750" rtl="0" algn="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9"/>
          <p:cNvSpPr txBox="1"/>
          <p:nvPr>
            <p:ph type="title"/>
          </p:nvPr>
        </p:nvSpPr>
        <p:spPr>
          <a:xfrm>
            <a:off x="2875279" y="1051051"/>
            <a:ext cx="340042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Logical Operator</a:t>
            </a:r>
            <a:endParaRPr/>
          </a:p>
        </p:txBody>
      </p:sp>
      <p:graphicFrame>
        <p:nvGraphicFramePr>
          <p:cNvPr id="376" name="Google Shape;376;p39"/>
          <p:cNvGraphicFramePr/>
          <p:nvPr/>
        </p:nvGraphicFramePr>
        <p:xfrm>
          <a:off x="1290637" y="2662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1751325"/>
                <a:gridCol w="4928875"/>
              </a:tblGrid>
              <a:tr h="6642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765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&amp;&amp;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and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6675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||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765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not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39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2356866" y="974851"/>
            <a:ext cx="443865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Conditional Statement</a:t>
            </a:r>
            <a:endParaRPr/>
          </a:p>
        </p:txBody>
      </p:sp>
      <p:sp>
        <p:nvSpPr>
          <p:cNvPr id="383" name="Google Shape;383;p40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790143" y="1802637"/>
            <a:ext cx="7164070" cy="634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 &lt; 18)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	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1070863" y="2412619"/>
            <a:ext cx="2567305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790143" y="2717419"/>
            <a:ext cx="110489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0"/>
          <p:cNvSpPr txBox="1"/>
          <p:nvPr/>
        </p:nvSpPr>
        <p:spPr>
          <a:xfrm>
            <a:off x="4804664" y="2460117"/>
            <a:ext cx="3127375" cy="3378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060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 hour = new  Date().getHours();  var greeting;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 &lt; 18)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02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023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evening";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4874767" y="5814466"/>
            <a:ext cx="110489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0"/>
          <p:cNvSpPr txBox="1"/>
          <p:nvPr/>
        </p:nvSpPr>
        <p:spPr>
          <a:xfrm>
            <a:off x="790143" y="3434918"/>
            <a:ext cx="3329304" cy="2464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(hour&lt; 10)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80670" lvl="0" marL="12700" marR="1116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 morning";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else if (hour &lt; 20)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33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else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33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evening";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1"/>
          <p:cNvSpPr txBox="1"/>
          <p:nvPr>
            <p:ph type="title"/>
          </p:nvPr>
        </p:nvSpPr>
        <p:spPr>
          <a:xfrm>
            <a:off x="3936238" y="1208277"/>
            <a:ext cx="128270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396" name="Google Shape;396;p4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397" name="Google Shape;397;p41"/>
          <p:cNvSpPr txBox="1"/>
          <p:nvPr/>
        </p:nvSpPr>
        <p:spPr>
          <a:xfrm>
            <a:off x="1255572" y="2467102"/>
            <a:ext cx="6744334" cy="325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87019" lvl="0" marL="2990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	can	execute	a	block	of	code	as	long	as	a  specified condition is true.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l">
              <a:lnSpc>
                <a:spcPct val="107916"/>
              </a:lnSpc>
              <a:spcBef>
                <a:spcPts val="118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loop loops through a block of code as long as a  specified condition is true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27125" marR="0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while (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27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804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2712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2"/>
          <p:cNvSpPr txBox="1"/>
          <p:nvPr>
            <p:ph type="title"/>
          </p:nvPr>
        </p:nvSpPr>
        <p:spPr>
          <a:xfrm>
            <a:off x="3649726" y="745362"/>
            <a:ext cx="1783714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917244" y="1268100"/>
            <a:ext cx="4006850" cy="438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858770" rtl="0" algn="l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text = "";  var i = 1;  </a:t>
            </a: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 &lt; 10)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42"/>
          <p:cNvSpPr/>
          <p:nvPr/>
        </p:nvSpPr>
        <p:spPr>
          <a:xfrm>
            <a:off x="5257800" y="2036064"/>
            <a:ext cx="3066288" cy="33436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>
            <p:ph type="title"/>
          </p:nvPr>
        </p:nvSpPr>
        <p:spPr>
          <a:xfrm>
            <a:off x="3664965" y="682193"/>
            <a:ext cx="160464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13" name="Google Shape;413;p43"/>
          <p:cNvSpPr txBox="1"/>
          <p:nvPr/>
        </p:nvSpPr>
        <p:spPr>
          <a:xfrm>
            <a:off x="841044" y="1268100"/>
            <a:ext cx="4006850" cy="4721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858770" rtl="0" algn="l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text = ""; 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i = 10;  </a:t>
            </a: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 &lt; 10)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document.write(“Outside while loop “ + i);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43"/>
          <p:cNvSpPr/>
          <p:nvPr/>
        </p:nvSpPr>
        <p:spPr>
          <a:xfrm>
            <a:off x="5029200" y="1645920"/>
            <a:ext cx="3343655" cy="42946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4"/>
          <p:cNvSpPr txBox="1"/>
          <p:nvPr>
            <p:ph type="title"/>
          </p:nvPr>
        </p:nvSpPr>
        <p:spPr>
          <a:xfrm>
            <a:off x="3936238" y="1208277"/>
            <a:ext cx="128270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422" name="Google Shape;422;p4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423" name="Google Shape;423;p44"/>
          <p:cNvSpPr txBox="1"/>
          <p:nvPr/>
        </p:nvSpPr>
        <p:spPr>
          <a:xfrm>
            <a:off x="1069644" y="2452573"/>
            <a:ext cx="6830695" cy="3411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 loop will execute the code block once,  before checking if the condition is true, then it will  repeat the loop as long as the condition is true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77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 while (</a:t>
            </a:r>
            <a:r>
              <a:rPr b="0" i="1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type="title"/>
          </p:nvPr>
        </p:nvSpPr>
        <p:spPr>
          <a:xfrm>
            <a:off x="2589951" y="702901"/>
            <a:ext cx="278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29" name="Google Shape;429;p45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&lt;html&gt;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&lt;scr</a:t>
            </a:r>
            <a:r>
              <a:rPr lang="en-US" u="sng"/>
              <a:t>ipt&gt;	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var i = 1;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{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document.write("&lt;br&gt; The number is " + i);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i++;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} while (i &lt; 10);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&lt;/script&gt;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430" name="Google Shape;430;p45"/>
          <p:cNvSpPr/>
          <p:nvPr/>
        </p:nvSpPr>
        <p:spPr>
          <a:xfrm>
            <a:off x="5867400" y="2514600"/>
            <a:ext cx="2532888" cy="3066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/>
          <p:nvPr>
            <p:ph type="title"/>
          </p:nvPr>
        </p:nvSpPr>
        <p:spPr>
          <a:xfrm>
            <a:off x="2475976" y="740900"/>
            <a:ext cx="290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37" name="Google Shape;437;p46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&lt;html&gt;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&lt;scr</a:t>
            </a:r>
            <a:r>
              <a:rPr lang="en-US" u="sng"/>
              <a:t>ipt&gt;	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var i = 10;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{</a:t>
            </a:r>
            <a:endParaRPr/>
          </a:p>
          <a:p>
            <a:pPr indent="0" lvl="0" marL="4692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document.write("&lt;br&gt; The number is " + i);</a:t>
            </a:r>
            <a:endParaRPr/>
          </a:p>
          <a:p>
            <a:pPr indent="0" lvl="0" marL="46926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i++;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} while (i &lt; 10);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&lt;/script&gt;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438" name="Google Shape;438;p46"/>
          <p:cNvSpPr/>
          <p:nvPr/>
        </p:nvSpPr>
        <p:spPr>
          <a:xfrm>
            <a:off x="5943600" y="2465832"/>
            <a:ext cx="2657855" cy="29108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"/>
          <p:cNvSpPr txBox="1"/>
          <p:nvPr>
            <p:ph type="title"/>
          </p:nvPr>
        </p:nvSpPr>
        <p:spPr>
          <a:xfrm>
            <a:off x="3710685" y="666445"/>
            <a:ext cx="173037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For Loop</a:t>
            </a:r>
            <a:endParaRPr sz="3600"/>
          </a:p>
        </p:txBody>
      </p:sp>
      <p:sp>
        <p:nvSpPr>
          <p:cNvPr id="445" name="Google Shape;445;p4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446" name="Google Shape;446;p47"/>
          <p:cNvSpPr txBox="1"/>
          <p:nvPr/>
        </p:nvSpPr>
        <p:spPr>
          <a:xfrm>
            <a:off x="728225" y="1348799"/>
            <a:ext cx="7349400" cy="4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87019" lvl="0" marL="2990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for	loop	is	often	the	tool	you	will	use	when	you  </a:t>
            </a:r>
            <a:r>
              <a:rPr b="0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to create a loop							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8422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for (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1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2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3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375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84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1 </a:t>
            </a: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before the loop (the code block) starts.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14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2 </a:t>
            </a: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the condition for running the loop (the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block).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14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3 </a:t>
            </a: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each time after the loop (the code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block) has been executed.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8"/>
          <p:cNvSpPr txBox="1"/>
          <p:nvPr>
            <p:ph type="title"/>
          </p:nvPr>
        </p:nvSpPr>
        <p:spPr>
          <a:xfrm>
            <a:off x="2437969" y="702902"/>
            <a:ext cx="3028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53" name="Google Shape;453;p48"/>
          <p:cNvSpPr txBox="1"/>
          <p:nvPr/>
        </p:nvSpPr>
        <p:spPr>
          <a:xfrm>
            <a:off x="993450" y="1480925"/>
            <a:ext cx="4826100" cy="4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i = 1;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for(i=1;i&lt;10;i++)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6543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48"/>
          <p:cNvSpPr/>
          <p:nvPr/>
        </p:nvSpPr>
        <p:spPr>
          <a:xfrm>
            <a:off x="5715000" y="1840992"/>
            <a:ext cx="2895600" cy="38039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9"/>
          <p:cNvSpPr txBox="1"/>
          <p:nvPr>
            <p:ph type="title"/>
          </p:nvPr>
        </p:nvSpPr>
        <p:spPr>
          <a:xfrm>
            <a:off x="994199" y="455920"/>
            <a:ext cx="5298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Switch Statement</a:t>
            </a:r>
            <a:endParaRPr/>
          </a:p>
        </p:txBody>
      </p:sp>
      <p:sp>
        <p:nvSpPr>
          <p:cNvPr id="462" name="Google Shape;462;p49"/>
          <p:cNvSpPr txBox="1"/>
          <p:nvPr/>
        </p:nvSpPr>
        <p:spPr>
          <a:xfrm>
            <a:off x="688652" y="2089700"/>
            <a:ext cx="1388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688650" y="4730302"/>
            <a:ext cx="7650600" cy="1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switch expression is evaluated once.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the expression is compared with the values of each case.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a match, the associated block of code is executed.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49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 txBox="1"/>
          <p:nvPr/>
        </p:nvSpPr>
        <p:spPr>
          <a:xfrm>
            <a:off x="367275" y="1243700"/>
            <a:ext cx="84918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switch statement to select one of many blocks of code to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executed.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41804" marR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switch(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 txBox="1"/>
          <p:nvPr/>
        </p:nvSpPr>
        <p:spPr>
          <a:xfrm>
            <a:off x="1963045" y="2600114"/>
            <a:ext cx="2084100" cy="22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break;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break;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default: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9"/>
          <p:cNvSpPr txBox="1"/>
          <p:nvPr/>
        </p:nvSpPr>
        <p:spPr>
          <a:xfrm>
            <a:off x="2418079" y="4521530"/>
            <a:ext cx="1022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 txBox="1"/>
          <p:nvPr>
            <p:ph type="title"/>
          </p:nvPr>
        </p:nvSpPr>
        <p:spPr>
          <a:xfrm>
            <a:off x="3026904" y="320700"/>
            <a:ext cx="2331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73" name="Google Shape;473;p5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474" name="Google Shape;474;p50"/>
          <p:cNvSpPr txBox="1"/>
          <p:nvPr/>
        </p:nvSpPr>
        <p:spPr>
          <a:xfrm>
            <a:off x="550425" y="721900"/>
            <a:ext cx="2970600" cy="5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828164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 var day;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534" lvl="0" marL="228600" marR="5080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(new Date().getDay()) {  case 0: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786130" rtl="0" algn="l">
              <a:lnSpc>
                <a:spcPct val="129399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"Sunday";  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"Monday";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"Tuesday";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399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450850" rtl="0" algn="l">
              <a:lnSpc>
                <a:spcPct val="129399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"Wednesday";  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50"/>
          <p:cNvSpPr txBox="1"/>
          <p:nvPr>
            <p:ph idx="2" type="body"/>
          </p:nvPr>
        </p:nvSpPr>
        <p:spPr>
          <a:xfrm>
            <a:off x="4508676" y="1728752"/>
            <a:ext cx="3419100" cy="3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case 4:</a:t>
            </a:r>
            <a:endParaRPr/>
          </a:p>
          <a:p>
            <a:pPr indent="0" lvl="0" marL="445134" marR="969010" rtl="0" algn="l">
              <a:lnSpc>
                <a:spcPct val="155294"/>
              </a:lnSpc>
              <a:spcBef>
                <a:spcPts val="185"/>
              </a:spcBef>
              <a:spcAft>
                <a:spcPts val="0"/>
              </a:spcAft>
              <a:buSzPts val="1400"/>
              <a:buNone/>
            </a:pPr>
            <a:r>
              <a:rPr lang="en-US"/>
              <a:t>day = "Thursday";  break;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400"/>
              <a:buNone/>
            </a:pPr>
            <a:r>
              <a:rPr lang="en-US"/>
              <a:t>case 5:</a:t>
            </a:r>
            <a:endParaRPr/>
          </a:p>
          <a:p>
            <a:pPr indent="0" lvl="0" marL="445134" marR="1233805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day = "Friday";  break;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case 6:</a:t>
            </a:r>
            <a:endParaRPr/>
          </a:p>
          <a:p>
            <a:pPr indent="0" lvl="0" marL="445134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day = "Saturday";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}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document.write("Today is " + day);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&lt;/script&gt;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1"/>
          <p:cNvSpPr txBox="1"/>
          <p:nvPr>
            <p:ph type="title"/>
          </p:nvPr>
        </p:nvSpPr>
        <p:spPr>
          <a:xfrm>
            <a:off x="1754077" y="930876"/>
            <a:ext cx="4857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Functions</a:t>
            </a:r>
            <a:endParaRPr/>
          </a:p>
        </p:txBody>
      </p:sp>
      <p:sp>
        <p:nvSpPr>
          <p:cNvPr id="482" name="Google Shape;482;p5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sp>
        <p:nvSpPr>
          <p:cNvPr id="483" name="Google Shape;483;p51"/>
          <p:cNvSpPr txBox="1"/>
          <p:nvPr/>
        </p:nvSpPr>
        <p:spPr>
          <a:xfrm>
            <a:off x="899200" y="1728750"/>
            <a:ext cx="7401900" cy="3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function is a block of code designed to perform 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particular task.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function is executed when "something" invokes it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023610" rtl="0" algn="r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(calls it).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286385" marR="5959475" rtl="0" algn="r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myFunction(p1, p2) {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p1 * p2;	// The function returns the product of p1 &amp; p2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2"/>
          <p:cNvSpPr txBox="1"/>
          <p:nvPr>
            <p:ph type="title"/>
          </p:nvPr>
        </p:nvSpPr>
        <p:spPr>
          <a:xfrm>
            <a:off x="1032173" y="588928"/>
            <a:ext cx="5354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Objects</a:t>
            </a:r>
            <a:endParaRPr/>
          </a:p>
        </p:txBody>
      </p:sp>
      <p:sp>
        <p:nvSpPr>
          <p:cNvPr id="490" name="Google Shape;490;p5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sp>
        <p:nvSpPr>
          <p:cNvPr id="491" name="Google Shape;491;p52"/>
          <p:cNvSpPr txBox="1"/>
          <p:nvPr/>
        </p:nvSpPr>
        <p:spPr>
          <a:xfrm>
            <a:off x="747225" y="1342698"/>
            <a:ext cx="7154400" cy="3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Life Objects, Properties, and Methods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real life, a car is an object.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7954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car has properties like weight and color, and methods like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and stop.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l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cars have the same properties, but the property values  differ from car to car.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	cars	have	the	same	methods,	but	the	methods	are  performed at different times.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8255" rtl="0" algn="l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	are	variables	too.	But	objects	can	contain	many  values.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3"/>
          <p:cNvSpPr txBox="1"/>
          <p:nvPr>
            <p:ph type="title"/>
          </p:nvPr>
        </p:nvSpPr>
        <p:spPr>
          <a:xfrm>
            <a:off x="917249" y="607899"/>
            <a:ext cx="5469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Objects</a:t>
            </a:r>
            <a:endParaRPr/>
          </a:p>
        </p:txBody>
      </p:sp>
      <p:sp>
        <p:nvSpPr>
          <p:cNvPr id="498" name="Google Shape;498;p53"/>
          <p:cNvSpPr txBox="1"/>
          <p:nvPr/>
        </p:nvSpPr>
        <p:spPr>
          <a:xfrm>
            <a:off x="917250" y="5604178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54</a:t>
            </a:r>
            <a:endParaRPr/>
          </a:p>
        </p:txBody>
      </p:sp>
      <p:sp>
        <p:nvSpPr>
          <p:cNvPr id="500" name="Google Shape;500;p53"/>
          <p:cNvSpPr txBox="1"/>
          <p:nvPr/>
        </p:nvSpPr>
        <p:spPr>
          <a:xfrm>
            <a:off x="633250" y="1522150"/>
            <a:ext cx="7978800" cy="3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2700" marR="9525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code assigns many values (Fiat, 500, white) to a variable  named car: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 = {type:"Fiat", model:"500", color:"white"};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7916"/>
              </a:lnSpc>
              <a:spcBef>
                <a:spcPts val="122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values are written as name:value pairs (name and value  separated by a colon).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309245" rtl="0" algn="l">
              <a:lnSpc>
                <a:spcPct val="107916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objects are containers for named values called  properties or methods.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name:values pairs in JavaScript objects are called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4"/>
          <p:cNvSpPr txBox="1"/>
          <p:nvPr>
            <p:ph type="title"/>
          </p:nvPr>
        </p:nvSpPr>
        <p:spPr>
          <a:xfrm>
            <a:off x="652251" y="645899"/>
            <a:ext cx="6731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Accessing Object Properties</a:t>
            </a:r>
            <a:endParaRPr/>
          </a:p>
        </p:txBody>
      </p:sp>
      <p:sp>
        <p:nvSpPr>
          <p:cNvPr id="507" name="Google Shape;507;p5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55</a:t>
            </a:r>
            <a:endParaRPr/>
          </a:p>
        </p:txBody>
      </p:sp>
      <p:sp>
        <p:nvSpPr>
          <p:cNvPr id="508" name="Google Shape;508;p54"/>
          <p:cNvSpPr txBox="1"/>
          <p:nvPr/>
        </p:nvSpPr>
        <p:spPr>
          <a:xfrm>
            <a:off x="1142600" y="1557773"/>
            <a:ext cx="6731700" cy="4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access object properties in two ways: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9306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objectName.propertyName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17500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objectName["propertyName"]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can also have methods.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are actions that can be performed on objects.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are stored in properties as function definitions.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5"/>
          <p:cNvSpPr txBox="1"/>
          <p:nvPr>
            <p:ph type="title"/>
          </p:nvPr>
        </p:nvSpPr>
        <p:spPr>
          <a:xfrm>
            <a:off x="1278630" y="702902"/>
            <a:ext cx="5026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Events</a:t>
            </a:r>
            <a:endParaRPr/>
          </a:p>
        </p:txBody>
      </p:sp>
      <p:sp>
        <p:nvSpPr>
          <p:cNvPr id="515" name="Google Shape;515;p55"/>
          <p:cNvSpPr txBox="1"/>
          <p:nvPr/>
        </p:nvSpPr>
        <p:spPr>
          <a:xfrm>
            <a:off x="993450" y="1331999"/>
            <a:ext cx="7675500" cy="3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events are "things" that happen to HTML elements.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JavaScript is used in HTML pages, JavaScript can "react" 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events.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event can be something the browser does, or something 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does.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some examples of HTML events: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web page has finished loading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input field was changed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button was clicked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55"/>
          <p:cNvSpPr txBox="1"/>
          <p:nvPr/>
        </p:nvSpPr>
        <p:spPr>
          <a:xfrm>
            <a:off x="993450" y="4878000"/>
            <a:ext cx="73908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when events happen, you may want to do something.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lets you execute code when events are detected.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55"/>
          <p:cNvSpPr txBox="1"/>
          <p:nvPr/>
        </p:nvSpPr>
        <p:spPr>
          <a:xfrm>
            <a:off x="7749920" y="6002223"/>
            <a:ext cx="14795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6"/>
          <p:cNvSpPr txBox="1"/>
          <p:nvPr>
            <p:ph type="title"/>
          </p:nvPr>
        </p:nvSpPr>
        <p:spPr>
          <a:xfrm>
            <a:off x="614248" y="436924"/>
            <a:ext cx="6432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Common HTML Events</a:t>
            </a:r>
            <a:endParaRPr/>
          </a:p>
        </p:txBody>
      </p:sp>
      <p:sp>
        <p:nvSpPr>
          <p:cNvPr id="523" name="Google Shape;523;p5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57</a:t>
            </a:r>
            <a:endParaRPr/>
          </a:p>
        </p:txBody>
      </p:sp>
      <p:graphicFrame>
        <p:nvGraphicFramePr>
          <p:cNvPr id="524" name="Google Shape;524;p56"/>
          <p:cNvGraphicFramePr/>
          <p:nvPr/>
        </p:nvGraphicFramePr>
        <p:xfrm>
          <a:off x="1004837" y="1547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1556375"/>
                <a:gridCol w="5758825"/>
              </a:tblGrid>
              <a:tr h="5067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onchange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HTML element has been changed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onclick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user clicks an HTML element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onmouseover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user moves the mouse over an HTML element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8324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onmouseout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user moves the mouse away from an HTML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onkeydown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0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user pushes a keyboard key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0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9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browser has finished loading the page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9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7"/>
          <p:cNvSpPr txBox="1"/>
          <p:nvPr>
            <p:ph type="title"/>
          </p:nvPr>
        </p:nvSpPr>
        <p:spPr>
          <a:xfrm>
            <a:off x="880200" y="436924"/>
            <a:ext cx="6151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can JavaScript Do?</a:t>
            </a:r>
            <a:endParaRPr/>
          </a:p>
        </p:txBody>
      </p:sp>
      <p:sp>
        <p:nvSpPr>
          <p:cNvPr id="531" name="Google Shape;531;p5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58</a:t>
            </a:r>
            <a:endParaRPr/>
          </a:p>
        </p:txBody>
      </p:sp>
      <p:sp>
        <p:nvSpPr>
          <p:cNvPr id="532" name="Google Shape;532;p57"/>
          <p:cNvSpPr txBox="1"/>
          <p:nvPr/>
        </p:nvSpPr>
        <p:spPr>
          <a:xfrm>
            <a:off x="1305247" y="1372224"/>
            <a:ext cx="6533400" cy="4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handlers can be used to handle, and verify, user input,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actions, and browser actions: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should be done every time a page loads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should be done when the page is closed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09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that should be performed when a user clicks 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that should be verified when a user inputs data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more ...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8"/>
          <p:cNvSpPr txBox="1"/>
          <p:nvPr>
            <p:ph type="title"/>
          </p:nvPr>
        </p:nvSpPr>
        <p:spPr>
          <a:xfrm>
            <a:off x="880197" y="664903"/>
            <a:ext cx="6151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can JavaScript Do?</a:t>
            </a:r>
            <a:endParaRPr/>
          </a:p>
        </p:txBody>
      </p:sp>
      <p:sp>
        <p:nvSpPr>
          <p:cNvPr id="539" name="Google Shape;539;p5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59</a:t>
            </a:r>
            <a:endParaRPr/>
          </a:p>
        </p:txBody>
      </p:sp>
      <p:sp>
        <p:nvSpPr>
          <p:cNvPr id="540" name="Google Shape;540;p58"/>
          <p:cNvSpPr txBox="1"/>
          <p:nvPr/>
        </p:nvSpPr>
        <p:spPr>
          <a:xfrm>
            <a:off x="1051175" y="1430164"/>
            <a:ext cx="6916500" cy="4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different methods can be used to let JavaScript work with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 attributes can execute JavaScript code directly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 attributes can call JavaScript functions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assign your own event handler functions to HTML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prevent events from being sent or being handled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more ...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9"/>
          <p:cNvSpPr txBox="1"/>
          <p:nvPr>
            <p:ph type="title"/>
          </p:nvPr>
        </p:nvSpPr>
        <p:spPr>
          <a:xfrm>
            <a:off x="861200" y="550926"/>
            <a:ext cx="5831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Date Objects</a:t>
            </a:r>
            <a:endParaRPr sz="3600"/>
          </a:p>
        </p:txBody>
      </p:sp>
      <p:sp>
        <p:nvSpPr>
          <p:cNvPr id="547" name="Google Shape;547;p59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60</a:t>
            </a:r>
            <a:endParaRPr/>
          </a:p>
        </p:txBody>
      </p:sp>
      <p:sp>
        <p:nvSpPr>
          <p:cNvPr id="548" name="Google Shape;548;p59"/>
          <p:cNvSpPr txBox="1"/>
          <p:nvPr/>
        </p:nvSpPr>
        <p:spPr>
          <a:xfrm>
            <a:off x="690225" y="1117925"/>
            <a:ext cx="7557600" cy="5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new Date()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d = new Date();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 Aug 17 2019 18:46:55 GMT+0530 (India Standard Time)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objects are created with the new Date() constructor.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4 ways to create a new date object: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Date(year, month, day, hours, minutes, seconds, milliseconds)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Date(milliseconds)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Date(date string)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0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60"/>
          <p:cNvSpPr txBox="1"/>
          <p:nvPr>
            <p:ph type="title"/>
          </p:nvPr>
        </p:nvSpPr>
        <p:spPr>
          <a:xfrm>
            <a:off x="766226" y="664903"/>
            <a:ext cx="6223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Date Formats</a:t>
            </a:r>
            <a:endParaRPr/>
          </a:p>
        </p:txBody>
      </p:sp>
      <p:sp>
        <p:nvSpPr>
          <p:cNvPr id="555" name="Google Shape;555;p6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61</a:t>
            </a:r>
            <a:endParaRPr/>
          </a:p>
        </p:txBody>
      </p:sp>
      <p:sp>
        <p:nvSpPr>
          <p:cNvPr id="556" name="Google Shape;556;p60"/>
          <p:cNvSpPr txBox="1"/>
          <p:nvPr/>
        </p:nvSpPr>
        <p:spPr>
          <a:xfrm>
            <a:off x="1278622" y="1906046"/>
            <a:ext cx="63336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Date Input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generally 3 types of JavaScript date input  formats: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7" name="Google Shape;557;p60"/>
          <p:cNvGraphicFramePr/>
          <p:nvPr/>
        </p:nvGraphicFramePr>
        <p:xfrm>
          <a:off x="1171575" y="3881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{EDA61794-38D1-4BB5-9719-6FB2888D112F}</a:tableStyleId>
              </a:tblPr>
              <a:tblGrid>
                <a:gridCol w="1590050"/>
                <a:gridCol w="5311775"/>
              </a:tblGrid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 Date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"2015-03-25" (The International Standard)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 Date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"03/25/2015"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Date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"Mar 25 2015" or "25 Mar 2015"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1"/>
          <p:cNvSpPr txBox="1"/>
          <p:nvPr>
            <p:ph type="title"/>
          </p:nvPr>
        </p:nvSpPr>
        <p:spPr>
          <a:xfrm>
            <a:off x="962675" y="607903"/>
            <a:ext cx="69126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74950" lvl="0" marL="27870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Errors - Throw and Try to  Catch</a:t>
            </a:r>
            <a:endParaRPr sz="3600"/>
          </a:p>
        </p:txBody>
      </p:sp>
      <p:sp>
        <p:nvSpPr>
          <p:cNvPr id="564" name="Google Shape;564;p6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62</a:t>
            </a:r>
            <a:endParaRPr/>
          </a:p>
        </p:txBody>
      </p:sp>
      <p:sp>
        <p:nvSpPr>
          <p:cNvPr id="565" name="Google Shape;565;p61"/>
          <p:cNvSpPr txBox="1"/>
          <p:nvPr/>
        </p:nvSpPr>
        <p:spPr>
          <a:xfrm>
            <a:off x="1069650" y="1841688"/>
            <a:ext cx="6912600" cy="41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</a:t>
            </a: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test a block of code for errors.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 </a:t>
            </a: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handle the error.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</a:t>
            </a: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create custom errors.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</a:t>
            </a: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execute code, after try and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catch, regardless of the result.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executing JavaScript code, different errors can occur.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can be coding errors made by the programmer, errors  due to wrong input, and other unforeseeable things.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2"/>
          <p:cNvSpPr txBox="1"/>
          <p:nvPr>
            <p:ph type="title"/>
          </p:nvPr>
        </p:nvSpPr>
        <p:spPr>
          <a:xfrm>
            <a:off x="1274444" y="969975"/>
            <a:ext cx="660082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74950" lvl="0" marL="27870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JavaScript Errors - Throw and Try to  Catch</a:t>
            </a:r>
            <a:endParaRPr sz="3600"/>
          </a:p>
        </p:txBody>
      </p:sp>
      <p:sp>
        <p:nvSpPr>
          <p:cNvPr id="572" name="Google Shape;572;p6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63</a:t>
            </a:r>
            <a:endParaRPr/>
          </a:p>
        </p:txBody>
      </p:sp>
      <p:sp>
        <p:nvSpPr>
          <p:cNvPr id="573" name="Google Shape;573;p62"/>
          <p:cNvSpPr txBox="1"/>
          <p:nvPr/>
        </p:nvSpPr>
        <p:spPr>
          <a:xfrm>
            <a:off x="639819" y="2093308"/>
            <a:ext cx="7084800" cy="4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9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257165" rtl="0" algn="ctr">
              <a:lnSpc>
                <a:spcPct val="114000"/>
              </a:lnSpc>
              <a:spcBef>
                <a:spcPts val="192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295265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98120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adddlert("Welcome guest!");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630545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0380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catch(err) 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2263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err.message;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817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3"/>
          <p:cNvSpPr txBox="1"/>
          <p:nvPr>
            <p:ph type="title"/>
          </p:nvPr>
        </p:nvSpPr>
        <p:spPr>
          <a:xfrm>
            <a:off x="751974" y="645903"/>
            <a:ext cx="7044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Throws Errors, finally</a:t>
            </a:r>
            <a:endParaRPr/>
          </a:p>
        </p:txBody>
      </p:sp>
      <p:sp>
        <p:nvSpPr>
          <p:cNvPr id="580" name="Google Shape;580;p6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64</a:t>
            </a:r>
            <a:endParaRPr/>
          </a:p>
        </p:txBody>
      </p:sp>
      <p:sp>
        <p:nvSpPr>
          <p:cNvPr id="581" name="Google Shape;581;p63"/>
          <p:cNvSpPr txBox="1"/>
          <p:nvPr/>
        </p:nvSpPr>
        <p:spPr>
          <a:xfrm>
            <a:off x="1049657" y="1728467"/>
            <a:ext cx="7044600" cy="4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139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error occurs, JavaScript will normally stop and  generate an error message.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310515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technical term for this is: JavaScript will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an  exception (throw an error)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will actually create an Error object with two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properties: name and message.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execute code, after try and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catch, regardless of the result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4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64"/>
          <p:cNvSpPr txBox="1"/>
          <p:nvPr>
            <p:ph type="title"/>
          </p:nvPr>
        </p:nvSpPr>
        <p:spPr>
          <a:xfrm>
            <a:off x="804228" y="740902"/>
            <a:ext cx="5911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Debugging</a:t>
            </a:r>
            <a:endParaRPr/>
          </a:p>
        </p:txBody>
      </p:sp>
      <p:sp>
        <p:nvSpPr>
          <p:cNvPr id="588" name="Google Shape;588;p64"/>
          <p:cNvSpPr txBox="1"/>
          <p:nvPr/>
        </p:nvSpPr>
        <p:spPr>
          <a:xfrm>
            <a:off x="7749920" y="6019912"/>
            <a:ext cx="147955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64"/>
          <p:cNvSpPr txBox="1"/>
          <p:nvPr/>
        </p:nvSpPr>
        <p:spPr>
          <a:xfrm>
            <a:off x="956200" y="1538772"/>
            <a:ext cx="7276200" cy="45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Debugging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166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code might contain syntax  errors, or logical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of these errors are difficult to diagnose.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just">
              <a:lnSpc>
                <a:spcPct val="90100"/>
              </a:lnSpc>
              <a:spcBef>
                <a:spcPts val="117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when programming code contains errors, nothing  will happen. There are no error messages, and you will get  no indications where to search for errors.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715" rtl="0" algn="just">
              <a:lnSpc>
                <a:spcPct val="107916"/>
              </a:lnSpc>
              <a:spcBef>
                <a:spcPts val="122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for (and fixing) errors in programming code is  called code debugging.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5"/>
          <p:cNvSpPr txBox="1"/>
          <p:nvPr>
            <p:ph type="title"/>
          </p:nvPr>
        </p:nvSpPr>
        <p:spPr>
          <a:xfrm>
            <a:off x="614254" y="892876"/>
            <a:ext cx="6102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JavaScript Debugging</a:t>
            </a:r>
            <a:endParaRPr/>
          </a:p>
        </p:txBody>
      </p:sp>
      <p:sp>
        <p:nvSpPr>
          <p:cNvPr id="596" name="Google Shape;596;p6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66</a:t>
            </a:r>
            <a:endParaRPr/>
          </a:p>
        </p:txBody>
      </p:sp>
      <p:sp>
        <p:nvSpPr>
          <p:cNvPr id="597" name="Google Shape;597;p65"/>
          <p:cNvSpPr txBox="1"/>
          <p:nvPr/>
        </p:nvSpPr>
        <p:spPr>
          <a:xfrm>
            <a:off x="1089175" y="1842725"/>
            <a:ext cx="7144500" cy="3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Debuggers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12065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is not easy. But fortunately, all modern  browsers have a built-in JavaScript debugger.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9525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Built-in debuggers can be turned on and off, forcing  errors to be reported to the user.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debugger, you can also set breakpoints (places  where code execution can be stopped), and examine  variables while the code is executing.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6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66"/>
          <p:cNvSpPr txBox="1"/>
          <p:nvPr>
            <p:ph type="title"/>
          </p:nvPr>
        </p:nvSpPr>
        <p:spPr>
          <a:xfrm>
            <a:off x="993443" y="854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04" name="Google Shape;604;p6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67</a:t>
            </a:r>
            <a:endParaRPr/>
          </a:p>
        </p:txBody>
      </p:sp>
      <p:sp>
        <p:nvSpPr>
          <p:cNvPr id="605" name="Google Shape;605;p66"/>
          <p:cNvSpPr txBox="1"/>
          <p:nvPr/>
        </p:nvSpPr>
        <p:spPr>
          <a:xfrm>
            <a:off x="993450" y="1690974"/>
            <a:ext cx="6663000" cy="4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global variables, avoid new, avoid ==, avoid eval()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Global Variables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the use of global variables.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includes all data types, objects, and functions.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12065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variables and functions can be overwritten by  other scripts.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local variables instead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7"/>
          <p:cNvSpPr txBox="1"/>
          <p:nvPr>
            <p:ph type="title"/>
          </p:nvPr>
        </p:nvSpPr>
        <p:spPr>
          <a:xfrm>
            <a:off x="1278619" y="873877"/>
            <a:ext cx="4678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12" name="Google Shape;612;p6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68</a:t>
            </a:r>
            <a:endParaRPr/>
          </a:p>
        </p:txBody>
      </p:sp>
      <p:sp>
        <p:nvSpPr>
          <p:cNvPr id="613" name="Google Shape;613;p67"/>
          <p:cNvSpPr txBox="1"/>
          <p:nvPr/>
        </p:nvSpPr>
        <p:spPr>
          <a:xfrm>
            <a:off x="1027107" y="1861508"/>
            <a:ext cx="7089900" cy="3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Declare Local Variables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variables used in a function should be declared as  local variables.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variables must be declared with the var keyword or  the let keyword, otherwise they will become global  variables.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 mode does not allow undeclared variables.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8"/>
          <p:cNvSpPr txBox="1"/>
          <p:nvPr>
            <p:ph type="title"/>
          </p:nvPr>
        </p:nvSpPr>
        <p:spPr>
          <a:xfrm>
            <a:off x="1374119" y="873877"/>
            <a:ext cx="4582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20" name="Google Shape;620;p6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69</a:t>
            </a:r>
            <a:endParaRPr/>
          </a:p>
        </p:txBody>
      </p:sp>
      <p:sp>
        <p:nvSpPr>
          <p:cNvPr id="621" name="Google Shape;621;p68"/>
          <p:cNvSpPr txBox="1"/>
          <p:nvPr/>
        </p:nvSpPr>
        <p:spPr>
          <a:xfrm>
            <a:off x="1032175" y="1502974"/>
            <a:ext cx="6735300" cy="4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Declarations on Top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7954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good coding practice to put all declarations at the top of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script or function.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cleaner code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single place to look for local variables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easier to avoid unwanted (implied) global variables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possibility of unwanted re-declarations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JavaScript moves all declarations to the top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9"/>
          <p:cNvSpPr txBox="1"/>
          <p:nvPr>
            <p:ph type="title"/>
          </p:nvPr>
        </p:nvSpPr>
        <p:spPr>
          <a:xfrm>
            <a:off x="1089168" y="778878"/>
            <a:ext cx="4867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28" name="Google Shape;628;p69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70</a:t>
            </a:r>
            <a:endParaRPr/>
          </a:p>
        </p:txBody>
      </p:sp>
      <p:sp>
        <p:nvSpPr>
          <p:cNvPr id="629" name="Google Shape;629;p69"/>
          <p:cNvSpPr txBox="1"/>
          <p:nvPr/>
        </p:nvSpPr>
        <p:spPr>
          <a:xfrm>
            <a:off x="1089175" y="1484173"/>
            <a:ext cx="68238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Variables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good coding practice to initialize variables when you  declare them.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cleaner code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single place to initialize variables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undefined values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0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70"/>
          <p:cNvSpPr txBox="1"/>
          <p:nvPr>
            <p:ph type="title"/>
          </p:nvPr>
        </p:nvSpPr>
        <p:spPr>
          <a:xfrm>
            <a:off x="1830071" y="873877"/>
            <a:ext cx="4126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36" name="Google Shape;636;p7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71</a:t>
            </a:r>
            <a:endParaRPr/>
          </a:p>
        </p:txBody>
      </p:sp>
      <p:sp>
        <p:nvSpPr>
          <p:cNvPr id="637" name="Google Shape;637;p70"/>
          <p:cNvSpPr txBox="1"/>
          <p:nvPr/>
        </p:nvSpPr>
        <p:spPr>
          <a:xfrm>
            <a:off x="993444" y="2410183"/>
            <a:ext cx="6796405" cy="224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Declare Number, String, or Boolean Objects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239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treat numbers, strings, or booleans as primitive  values. Not as objects.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these types as objects, slows down execution  speed, and produces nasty side effects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71"/>
          <p:cNvSpPr txBox="1"/>
          <p:nvPr>
            <p:ph type="title"/>
          </p:nvPr>
        </p:nvSpPr>
        <p:spPr>
          <a:xfrm>
            <a:off x="993443" y="816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44" name="Google Shape;644;p7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72</a:t>
            </a:r>
            <a:endParaRPr/>
          </a:p>
        </p:txBody>
      </p:sp>
      <p:sp>
        <p:nvSpPr>
          <p:cNvPr id="645" name="Google Shape;645;p71"/>
          <p:cNvSpPr txBox="1"/>
          <p:nvPr/>
        </p:nvSpPr>
        <p:spPr>
          <a:xfrm>
            <a:off x="866457" y="1745217"/>
            <a:ext cx="5125200" cy="4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Use new Object()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{} instead of new Object()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"" instead of new String()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0 instead of new Number()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false instead of new Boolean()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[] instead of new Array()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/()/ instead of new RegExp()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function (){} instead of new Function()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72"/>
          <p:cNvSpPr txBox="1"/>
          <p:nvPr>
            <p:ph type="title"/>
          </p:nvPr>
        </p:nvSpPr>
        <p:spPr>
          <a:xfrm>
            <a:off x="993443" y="873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52" name="Google Shape;652;p7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73</a:t>
            </a:r>
            <a:endParaRPr/>
          </a:p>
        </p:txBody>
      </p:sp>
      <p:sp>
        <p:nvSpPr>
          <p:cNvPr id="653" name="Google Shape;653;p72"/>
          <p:cNvSpPr txBox="1"/>
          <p:nvPr/>
        </p:nvSpPr>
        <p:spPr>
          <a:xfrm>
            <a:off x="993444" y="2500629"/>
            <a:ext cx="455739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Use new Object(): Examples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72"/>
          <p:cNvSpPr txBox="1"/>
          <p:nvPr/>
        </p:nvSpPr>
        <p:spPr>
          <a:xfrm>
            <a:off x="993444" y="3016122"/>
            <a:ext cx="1699260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x1 = {};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x2 = "";  var x3 = 0;  var x4 = false;  var x5 = [];  var x6 = /()/;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72"/>
          <p:cNvSpPr txBox="1"/>
          <p:nvPr/>
        </p:nvSpPr>
        <p:spPr>
          <a:xfrm>
            <a:off x="3140201" y="3016122"/>
            <a:ext cx="3175635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03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object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46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string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73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number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498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boolean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array object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97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regexp object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72"/>
          <p:cNvSpPr txBox="1"/>
          <p:nvPr/>
        </p:nvSpPr>
        <p:spPr>
          <a:xfrm>
            <a:off x="993444" y="5211571"/>
            <a:ext cx="54610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x7 = function(){}; // new function object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2022-02-14T05:25:08Z</dcterms:created>
  <dc:creator>cjyuan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2022-02-14T00:00:00Z</vt:filetime>
  </property>
</Properties>
</file>