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43" roundtripDataSignature="AMtx7mjmjdIlSipFG2b7iqVY9tFLsnfO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F41560-F12C-4508-8C44-9FB9A9501E1E}">
  <a:tblStyle styleId="{06F41560-F12C-4508-8C44-9FB9A9501E1E}"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3" Type="http://customschemas.google.com/relationships/presentationmetadata" Target="metadata"/><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5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5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5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5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5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5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5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6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6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6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6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6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6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6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6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6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6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6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6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6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7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7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7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7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7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7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7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7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7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7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7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7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7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7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6f5c379624_0_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g26f5c379624_0_3: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8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6f5c379624_0_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26f5c379624_0_12:notes"/>
          <p:cNvSpPr/>
          <p:nvPr>
            <p:ph idx="2" type="sldImg"/>
          </p:nvPr>
        </p:nvSpPr>
        <p:spPr>
          <a:xfrm>
            <a:off x="1524300" y="514350"/>
            <a:ext cx="60963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8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8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8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8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8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8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8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8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8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8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8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8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8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8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8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8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8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8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9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9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9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9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9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9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9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9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9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9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9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9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9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9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9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9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9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9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9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9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10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0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0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0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10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0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10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0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0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0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10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0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10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0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10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0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0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0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10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0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1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1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1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1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1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1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1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1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1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1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p1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1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1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1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1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1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1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1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1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1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1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1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3" name="Shape 13"/>
        <p:cNvGrpSpPr/>
        <p:nvPr/>
      </p:nvGrpSpPr>
      <p:grpSpPr>
        <a:xfrm>
          <a:off x="0" y="0"/>
          <a:ext cx="0" cy="0"/>
          <a:chOff x="0" y="0"/>
          <a:chExt cx="0" cy="0"/>
        </a:xfrm>
      </p:grpSpPr>
      <p:sp>
        <p:nvSpPr>
          <p:cNvPr id="14" name="Google Shape;14;p136"/>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600">
                <a:solidFill>
                  <a:srgbClr val="1F487C"/>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3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3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36"/>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lvl1pPr indent="0" lvl="0" marL="38100" marR="0" algn="l">
              <a:lnSpc>
                <a:spcPct val="100555"/>
              </a:lnSpc>
              <a:spcBef>
                <a:spcPts val="0"/>
              </a:spcBef>
              <a:buNone/>
              <a:defRPr b="0" i="0" sz="1800">
                <a:solidFill>
                  <a:schemeClr val="lt1"/>
                </a:solidFill>
                <a:latin typeface="Calibri"/>
                <a:ea typeface="Calibri"/>
                <a:cs typeface="Calibri"/>
                <a:sym typeface="Calibri"/>
              </a:defRPr>
            </a:lvl1pPr>
            <a:lvl2pPr indent="0" lvl="1" marL="38100" marR="0" algn="l">
              <a:lnSpc>
                <a:spcPct val="100555"/>
              </a:lnSpc>
              <a:spcBef>
                <a:spcPts val="0"/>
              </a:spcBef>
              <a:buNone/>
              <a:defRPr b="0" i="0" sz="1800">
                <a:solidFill>
                  <a:schemeClr val="lt1"/>
                </a:solidFill>
                <a:latin typeface="Calibri"/>
                <a:ea typeface="Calibri"/>
                <a:cs typeface="Calibri"/>
                <a:sym typeface="Calibri"/>
              </a:defRPr>
            </a:lvl2pPr>
            <a:lvl3pPr indent="0" lvl="2" marL="38100" marR="0" algn="l">
              <a:lnSpc>
                <a:spcPct val="100555"/>
              </a:lnSpc>
              <a:spcBef>
                <a:spcPts val="0"/>
              </a:spcBef>
              <a:buNone/>
              <a:defRPr b="0" i="0" sz="1800">
                <a:solidFill>
                  <a:schemeClr val="lt1"/>
                </a:solidFill>
                <a:latin typeface="Calibri"/>
                <a:ea typeface="Calibri"/>
                <a:cs typeface="Calibri"/>
                <a:sym typeface="Calibri"/>
              </a:defRPr>
            </a:lvl3pPr>
            <a:lvl4pPr indent="0" lvl="3" marL="38100" marR="0" algn="l">
              <a:lnSpc>
                <a:spcPct val="100555"/>
              </a:lnSpc>
              <a:spcBef>
                <a:spcPts val="0"/>
              </a:spcBef>
              <a:buNone/>
              <a:defRPr b="0" i="0" sz="1800">
                <a:solidFill>
                  <a:schemeClr val="lt1"/>
                </a:solidFill>
                <a:latin typeface="Calibri"/>
                <a:ea typeface="Calibri"/>
                <a:cs typeface="Calibri"/>
                <a:sym typeface="Calibri"/>
              </a:defRPr>
            </a:lvl4pPr>
            <a:lvl5pPr indent="0" lvl="4" marL="38100" marR="0" algn="l">
              <a:lnSpc>
                <a:spcPct val="100555"/>
              </a:lnSpc>
              <a:spcBef>
                <a:spcPts val="0"/>
              </a:spcBef>
              <a:buNone/>
              <a:defRPr b="0" i="0" sz="1800">
                <a:solidFill>
                  <a:schemeClr val="lt1"/>
                </a:solidFill>
                <a:latin typeface="Calibri"/>
                <a:ea typeface="Calibri"/>
                <a:cs typeface="Calibri"/>
                <a:sym typeface="Calibri"/>
              </a:defRPr>
            </a:lvl5pPr>
            <a:lvl6pPr indent="0" lvl="5" marL="38100" marR="0" algn="l">
              <a:lnSpc>
                <a:spcPct val="100555"/>
              </a:lnSpc>
              <a:spcBef>
                <a:spcPts val="0"/>
              </a:spcBef>
              <a:buNone/>
              <a:defRPr b="0" i="0" sz="1800">
                <a:solidFill>
                  <a:schemeClr val="lt1"/>
                </a:solidFill>
                <a:latin typeface="Calibri"/>
                <a:ea typeface="Calibri"/>
                <a:cs typeface="Calibri"/>
                <a:sym typeface="Calibri"/>
              </a:defRPr>
            </a:lvl6pPr>
            <a:lvl7pPr indent="0" lvl="6" marL="38100" marR="0" algn="l">
              <a:lnSpc>
                <a:spcPct val="100555"/>
              </a:lnSpc>
              <a:spcBef>
                <a:spcPts val="0"/>
              </a:spcBef>
              <a:buNone/>
              <a:defRPr b="0" i="0" sz="1800">
                <a:solidFill>
                  <a:schemeClr val="lt1"/>
                </a:solidFill>
                <a:latin typeface="Calibri"/>
                <a:ea typeface="Calibri"/>
                <a:cs typeface="Calibri"/>
                <a:sym typeface="Calibri"/>
              </a:defRPr>
            </a:lvl7pPr>
            <a:lvl8pPr indent="0" lvl="7" marL="38100" marR="0" algn="l">
              <a:lnSpc>
                <a:spcPct val="100555"/>
              </a:lnSpc>
              <a:spcBef>
                <a:spcPts val="0"/>
              </a:spcBef>
              <a:buNone/>
              <a:defRPr b="0" i="0" sz="1800">
                <a:solidFill>
                  <a:schemeClr val="lt1"/>
                </a:solidFill>
                <a:latin typeface="Calibri"/>
                <a:ea typeface="Calibri"/>
                <a:cs typeface="Calibri"/>
                <a:sym typeface="Calibri"/>
              </a:defRPr>
            </a:lvl8pPr>
            <a:lvl9pPr indent="0" lvl="8" marL="38100" marR="0" algn="l">
              <a:lnSpc>
                <a:spcPct val="100555"/>
              </a:lnSpc>
              <a:spcBef>
                <a:spcPts val="0"/>
              </a:spcBef>
              <a:buNone/>
              <a:defRPr b="0" i="0" sz="180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37"/>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600">
                <a:solidFill>
                  <a:srgbClr val="1F487C"/>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37"/>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9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137"/>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37"/>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37"/>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lvl1pPr indent="0" lvl="0" marL="38100" marR="0" algn="l">
              <a:lnSpc>
                <a:spcPct val="100555"/>
              </a:lnSpc>
              <a:spcBef>
                <a:spcPts val="0"/>
              </a:spcBef>
              <a:buNone/>
              <a:defRPr b="0" i="0" sz="1800">
                <a:solidFill>
                  <a:schemeClr val="lt1"/>
                </a:solidFill>
                <a:latin typeface="Calibri"/>
                <a:ea typeface="Calibri"/>
                <a:cs typeface="Calibri"/>
                <a:sym typeface="Calibri"/>
              </a:defRPr>
            </a:lvl1pPr>
            <a:lvl2pPr indent="0" lvl="1" marL="38100" marR="0" algn="l">
              <a:lnSpc>
                <a:spcPct val="100555"/>
              </a:lnSpc>
              <a:spcBef>
                <a:spcPts val="0"/>
              </a:spcBef>
              <a:buNone/>
              <a:defRPr b="0" i="0" sz="1800">
                <a:solidFill>
                  <a:schemeClr val="lt1"/>
                </a:solidFill>
                <a:latin typeface="Calibri"/>
                <a:ea typeface="Calibri"/>
                <a:cs typeface="Calibri"/>
                <a:sym typeface="Calibri"/>
              </a:defRPr>
            </a:lvl2pPr>
            <a:lvl3pPr indent="0" lvl="2" marL="38100" marR="0" algn="l">
              <a:lnSpc>
                <a:spcPct val="100555"/>
              </a:lnSpc>
              <a:spcBef>
                <a:spcPts val="0"/>
              </a:spcBef>
              <a:buNone/>
              <a:defRPr b="0" i="0" sz="1800">
                <a:solidFill>
                  <a:schemeClr val="lt1"/>
                </a:solidFill>
                <a:latin typeface="Calibri"/>
                <a:ea typeface="Calibri"/>
                <a:cs typeface="Calibri"/>
                <a:sym typeface="Calibri"/>
              </a:defRPr>
            </a:lvl3pPr>
            <a:lvl4pPr indent="0" lvl="3" marL="38100" marR="0" algn="l">
              <a:lnSpc>
                <a:spcPct val="100555"/>
              </a:lnSpc>
              <a:spcBef>
                <a:spcPts val="0"/>
              </a:spcBef>
              <a:buNone/>
              <a:defRPr b="0" i="0" sz="1800">
                <a:solidFill>
                  <a:schemeClr val="lt1"/>
                </a:solidFill>
                <a:latin typeface="Calibri"/>
                <a:ea typeface="Calibri"/>
                <a:cs typeface="Calibri"/>
                <a:sym typeface="Calibri"/>
              </a:defRPr>
            </a:lvl4pPr>
            <a:lvl5pPr indent="0" lvl="4" marL="38100" marR="0" algn="l">
              <a:lnSpc>
                <a:spcPct val="100555"/>
              </a:lnSpc>
              <a:spcBef>
                <a:spcPts val="0"/>
              </a:spcBef>
              <a:buNone/>
              <a:defRPr b="0" i="0" sz="1800">
                <a:solidFill>
                  <a:schemeClr val="lt1"/>
                </a:solidFill>
                <a:latin typeface="Calibri"/>
                <a:ea typeface="Calibri"/>
                <a:cs typeface="Calibri"/>
                <a:sym typeface="Calibri"/>
              </a:defRPr>
            </a:lvl5pPr>
            <a:lvl6pPr indent="0" lvl="5" marL="38100" marR="0" algn="l">
              <a:lnSpc>
                <a:spcPct val="100555"/>
              </a:lnSpc>
              <a:spcBef>
                <a:spcPts val="0"/>
              </a:spcBef>
              <a:buNone/>
              <a:defRPr b="0" i="0" sz="1800">
                <a:solidFill>
                  <a:schemeClr val="lt1"/>
                </a:solidFill>
                <a:latin typeface="Calibri"/>
                <a:ea typeface="Calibri"/>
                <a:cs typeface="Calibri"/>
                <a:sym typeface="Calibri"/>
              </a:defRPr>
            </a:lvl6pPr>
            <a:lvl7pPr indent="0" lvl="6" marL="38100" marR="0" algn="l">
              <a:lnSpc>
                <a:spcPct val="100555"/>
              </a:lnSpc>
              <a:spcBef>
                <a:spcPts val="0"/>
              </a:spcBef>
              <a:buNone/>
              <a:defRPr b="0" i="0" sz="1800">
                <a:solidFill>
                  <a:schemeClr val="lt1"/>
                </a:solidFill>
                <a:latin typeface="Calibri"/>
                <a:ea typeface="Calibri"/>
                <a:cs typeface="Calibri"/>
                <a:sym typeface="Calibri"/>
              </a:defRPr>
            </a:lvl7pPr>
            <a:lvl8pPr indent="0" lvl="7" marL="38100" marR="0" algn="l">
              <a:lnSpc>
                <a:spcPct val="100555"/>
              </a:lnSpc>
              <a:spcBef>
                <a:spcPts val="0"/>
              </a:spcBef>
              <a:buNone/>
              <a:defRPr b="0" i="0" sz="1800">
                <a:solidFill>
                  <a:schemeClr val="lt1"/>
                </a:solidFill>
                <a:latin typeface="Calibri"/>
                <a:ea typeface="Calibri"/>
                <a:cs typeface="Calibri"/>
                <a:sym typeface="Calibri"/>
              </a:defRPr>
            </a:lvl8pPr>
            <a:lvl9pPr indent="0" lvl="8" marL="38100" marR="0" algn="l">
              <a:lnSpc>
                <a:spcPct val="100555"/>
              </a:lnSpc>
              <a:spcBef>
                <a:spcPts val="0"/>
              </a:spcBef>
              <a:buNone/>
              <a:defRPr b="0" i="0" sz="180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4" name="Shape 24"/>
        <p:cNvGrpSpPr/>
        <p:nvPr/>
      </p:nvGrpSpPr>
      <p:grpSpPr>
        <a:xfrm>
          <a:off x="0" y="0"/>
          <a:ext cx="0" cy="0"/>
          <a:chOff x="0" y="0"/>
          <a:chExt cx="0" cy="0"/>
        </a:xfrm>
      </p:grpSpPr>
      <p:sp>
        <p:nvSpPr>
          <p:cNvPr id="25" name="Google Shape;25;p138"/>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8"/>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8"/>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lvl1pPr indent="0" lvl="0" marL="38100" marR="0" algn="l">
              <a:lnSpc>
                <a:spcPct val="100555"/>
              </a:lnSpc>
              <a:spcBef>
                <a:spcPts val="0"/>
              </a:spcBef>
              <a:buNone/>
              <a:defRPr b="0" i="0" sz="1800">
                <a:solidFill>
                  <a:schemeClr val="lt1"/>
                </a:solidFill>
                <a:latin typeface="Calibri"/>
                <a:ea typeface="Calibri"/>
                <a:cs typeface="Calibri"/>
                <a:sym typeface="Calibri"/>
              </a:defRPr>
            </a:lvl1pPr>
            <a:lvl2pPr indent="0" lvl="1" marL="38100" marR="0" algn="l">
              <a:lnSpc>
                <a:spcPct val="100555"/>
              </a:lnSpc>
              <a:spcBef>
                <a:spcPts val="0"/>
              </a:spcBef>
              <a:buNone/>
              <a:defRPr b="0" i="0" sz="1800">
                <a:solidFill>
                  <a:schemeClr val="lt1"/>
                </a:solidFill>
                <a:latin typeface="Calibri"/>
                <a:ea typeface="Calibri"/>
                <a:cs typeface="Calibri"/>
                <a:sym typeface="Calibri"/>
              </a:defRPr>
            </a:lvl2pPr>
            <a:lvl3pPr indent="0" lvl="2" marL="38100" marR="0" algn="l">
              <a:lnSpc>
                <a:spcPct val="100555"/>
              </a:lnSpc>
              <a:spcBef>
                <a:spcPts val="0"/>
              </a:spcBef>
              <a:buNone/>
              <a:defRPr b="0" i="0" sz="1800">
                <a:solidFill>
                  <a:schemeClr val="lt1"/>
                </a:solidFill>
                <a:latin typeface="Calibri"/>
                <a:ea typeface="Calibri"/>
                <a:cs typeface="Calibri"/>
                <a:sym typeface="Calibri"/>
              </a:defRPr>
            </a:lvl3pPr>
            <a:lvl4pPr indent="0" lvl="3" marL="38100" marR="0" algn="l">
              <a:lnSpc>
                <a:spcPct val="100555"/>
              </a:lnSpc>
              <a:spcBef>
                <a:spcPts val="0"/>
              </a:spcBef>
              <a:buNone/>
              <a:defRPr b="0" i="0" sz="1800">
                <a:solidFill>
                  <a:schemeClr val="lt1"/>
                </a:solidFill>
                <a:latin typeface="Calibri"/>
                <a:ea typeface="Calibri"/>
                <a:cs typeface="Calibri"/>
                <a:sym typeface="Calibri"/>
              </a:defRPr>
            </a:lvl4pPr>
            <a:lvl5pPr indent="0" lvl="4" marL="38100" marR="0" algn="l">
              <a:lnSpc>
                <a:spcPct val="100555"/>
              </a:lnSpc>
              <a:spcBef>
                <a:spcPts val="0"/>
              </a:spcBef>
              <a:buNone/>
              <a:defRPr b="0" i="0" sz="1800">
                <a:solidFill>
                  <a:schemeClr val="lt1"/>
                </a:solidFill>
                <a:latin typeface="Calibri"/>
                <a:ea typeface="Calibri"/>
                <a:cs typeface="Calibri"/>
                <a:sym typeface="Calibri"/>
              </a:defRPr>
            </a:lvl5pPr>
            <a:lvl6pPr indent="0" lvl="5" marL="38100" marR="0" algn="l">
              <a:lnSpc>
                <a:spcPct val="100555"/>
              </a:lnSpc>
              <a:spcBef>
                <a:spcPts val="0"/>
              </a:spcBef>
              <a:buNone/>
              <a:defRPr b="0" i="0" sz="1800">
                <a:solidFill>
                  <a:schemeClr val="lt1"/>
                </a:solidFill>
                <a:latin typeface="Calibri"/>
                <a:ea typeface="Calibri"/>
                <a:cs typeface="Calibri"/>
                <a:sym typeface="Calibri"/>
              </a:defRPr>
            </a:lvl6pPr>
            <a:lvl7pPr indent="0" lvl="6" marL="38100" marR="0" algn="l">
              <a:lnSpc>
                <a:spcPct val="100555"/>
              </a:lnSpc>
              <a:spcBef>
                <a:spcPts val="0"/>
              </a:spcBef>
              <a:buNone/>
              <a:defRPr b="0" i="0" sz="1800">
                <a:solidFill>
                  <a:schemeClr val="lt1"/>
                </a:solidFill>
                <a:latin typeface="Calibri"/>
                <a:ea typeface="Calibri"/>
                <a:cs typeface="Calibri"/>
                <a:sym typeface="Calibri"/>
              </a:defRPr>
            </a:lvl7pPr>
            <a:lvl8pPr indent="0" lvl="7" marL="38100" marR="0" algn="l">
              <a:lnSpc>
                <a:spcPct val="100555"/>
              </a:lnSpc>
              <a:spcBef>
                <a:spcPts val="0"/>
              </a:spcBef>
              <a:buNone/>
              <a:defRPr b="0" i="0" sz="1800">
                <a:solidFill>
                  <a:schemeClr val="lt1"/>
                </a:solidFill>
                <a:latin typeface="Calibri"/>
                <a:ea typeface="Calibri"/>
                <a:cs typeface="Calibri"/>
                <a:sym typeface="Calibri"/>
              </a:defRPr>
            </a:lvl8pPr>
            <a:lvl9pPr indent="0" lvl="8" marL="38100" marR="0" algn="l">
              <a:lnSpc>
                <a:spcPct val="100555"/>
              </a:lnSpc>
              <a:spcBef>
                <a:spcPts val="0"/>
              </a:spcBef>
              <a:buNone/>
              <a:defRPr b="0" i="0" sz="180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139"/>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4600">
                <a:solidFill>
                  <a:srgbClr val="1F487C"/>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39"/>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139"/>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139"/>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39"/>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9"/>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lvl1pPr indent="0" lvl="0" marL="38100" marR="0" algn="l">
              <a:lnSpc>
                <a:spcPct val="100555"/>
              </a:lnSpc>
              <a:spcBef>
                <a:spcPts val="0"/>
              </a:spcBef>
              <a:buNone/>
              <a:defRPr b="0" i="0" sz="1800">
                <a:solidFill>
                  <a:schemeClr val="lt1"/>
                </a:solidFill>
                <a:latin typeface="Calibri"/>
                <a:ea typeface="Calibri"/>
                <a:cs typeface="Calibri"/>
                <a:sym typeface="Calibri"/>
              </a:defRPr>
            </a:lvl1pPr>
            <a:lvl2pPr indent="0" lvl="1" marL="38100" marR="0" algn="l">
              <a:lnSpc>
                <a:spcPct val="100555"/>
              </a:lnSpc>
              <a:spcBef>
                <a:spcPts val="0"/>
              </a:spcBef>
              <a:buNone/>
              <a:defRPr b="0" i="0" sz="1800">
                <a:solidFill>
                  <a:schemeClr val="lt1"/>
                </a:solidFill>
                <a:latin typeface="Calibri"/>
                <a:ea typeface="Calibri"/>
                <a:cs typeface="Calibri"/>
                <a:sym typeface="Calibri"/>
              </a:defRPr>
            </a:lvl2pPr>
            <a:lvl3pPr indent="0" lvl="2" marL="38100" marR="0" algn="l">
              <a:lnSpc>
                <a:spcPct val="100555"/>
              </a:lnSpc>
              <a:spcBef>
                <a:spcPts val="0"/>
              </a:spcBef>
              <a:buNone/>
              <a:defRPr b="0" i="0" sz="1800">
                <a:solidFill>
                  <a:schemeClr val="lt1"/>
                </a:solidFill>
                <a:latin typeface="Calibri"/>
                <a:ea typeface="Calibri"/>
                <a:cs typeface="Calibri"/>
                <a:sym typeface="Calibri"/>
              </a:defRPr>
            </a:lvl3pPr>
            <a:lvl4pPr indent="0" lvl="3" marL="38100" marR="0" algn="l">
              <a:lnSpc>
                <a:spcPct val="100555"/>
              </a:lnSpc>
              <a:spcBef>
                <a:spcPts val="0"/>
              </a:spcBef>
              <a:buNone/>
              <a:defRPr b="0" i="0" sz="1800">
                <a:solidFill>
                  <a:schemeClr val="lt1"/>
                </a:solidFill>
                <a:latin typeface="Calibri"/>
                <a:ea typeface="Calibri"/>
                <a:cs typeface="Calibri"/>
                <a:sym typeface="Calibri"/>
              </a:defRPr>
            </a:lvl4pPr>
            <a:lvl5pPr indent="0" lvl="4" marL="38100" marR="0" algn="l">
              <a:lnSpc>
                <a:spcPct val="100555"/>
              </a:lnSpc>
              <a:spcBef>
                <a:spcPts val="0"/>
              </a:spcBef>
              <a:buNone/>
              <a:defRPr b="0" i="0" sz="1800">
                <a:solidFill>
                  <a:schemeClr val="lt1"/>
                </a:solidFill>
                <a:latin typeface="Calibri"/>
                <a:ea typeface="Calibri"/>
                <a:cs typeface="Calibri"/>
                <a:sym typeface="Calibri"/>
              </a:defRPr>
            </a:lvl5pPr>
            <a:lvl6pPr indent="0" lvl="5" marL="38100" marR="0" algn="l">
              <a:lnSpc>
                <a:spcPct val="100555"/>
              </a:lnSpc>
              <a:spcBef>
                <a:spcPts val="0"/>
              </a:spcBef>
              <a:buNone/>
              <a:defRPr b="0" i="0" sz="1800">
                <a:solidFill>
                  <a:schemeClr val="lt1"/>
                </a:solidFill>
                <a:latin typeface="Calibri"/>
                <a:ea typeface="Calibri"/>
                <a:cs typeface="Calibri"/>
                <a:sym typeface="Calibri"/>
              </a:defRPr>
            </a:lvl6pPr>
            <a:lvl7pPr indent="0" lvl="6" marL="38100" marR="0" algn="l">
              <a:lnSpc>
                <a:spcPct val="100555"/>
              </a:lnSpc>
              <a:spcBef>
                <a:spcPts val="0"/>
              </a:spcBef>
              <a:buNone/>
              <a:defRPr b="0" i="0" sz="1800">
                <a:solidFill>
                  <a:schemeClr val="lt1"/>
                </a:solidFill>
                <a:latin typeface="Calibri"/>
                <a:ea typeface="Calibri"/>
                <a:cs typeface="Calibri"/>
                <a:sym typeface="Calibri"/>
              </a:defRPr>
            </a:lvl7pPr>
            <a:lvl8pPr indent="0" lvl="7" marL="38100" marR="0" algn="l">
              <a:lnSpc>
                <a:spcPct val="100555"/>
              </a:lnSpc>
              <a:spcBef>
                <a:spcPts val="0"/>
              </a:spcBef>
              <a:buNone/>
              <a:defRPr b="0" i="0" sz="1800">
                <a:solidFill>
                  <a:schemeClr val="lt1"/>
                </a:solidFill>
                <a:latin typeface="Calibri"/>
                <a:ea typeface="Calibri"/>
                <a:cs typeface="Calibri"/>
                <a:sym typeface="Calibri"/>
              </a:defRPr>
            </a:lvl8pPr>
            <a:lvl9pPr indent="0" lvl="8" marL="38100" marR="0" algn="l">
              <a:lnSpc>
                <a:spcPct val="100555"/>
              </a:lnSpc>
              <a:spcBef>
                <a:spcPts val="0"/>
              </a:spcBef>
              <a:buNone/>
              <a:defRPr b="0" i="0" sz="180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 name="Shape 35"/>
        <p:cNvGrpSpPr/>
        <p:nvPr/>
      </p:nvGrpSpPr>
      <p:grpSpPr>
        <a:xfrm>
          <a:off x="0" y="0"/>
          <a:ext cx="0" cy="0"/>
          <a:chOff x="0" y="0"/>
          <a:chExt cx="0" cy="0"/>
        </a:xfrm>
      </p:grpSpPr>
      <p:sp>
        <p:nvSpPr>
          <p:cNvPr id="36" name="Google Shape;36;p140"/>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40"/>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4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40"/>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lvl1pPr indent="0" lvl="0" marL="38100" marR="0" algn="l">
              <a:lnSpc>
                <a:spcPct val="100555"/>
              </a:lnSpc>
              <a:spcBef>
                <a:spcPts val="0"/>
              </a:spcBef>
              <a:buNone/>
              <a:defRPr b="0" i="0" sz="1800">
                <a:solidFill>
                  <a:schemeClr val="lt1"/>
                </a:solidFill>
                <a:latin typeface="Calibri"/>
                <a:ea typeface="Calibri"/>
                <a:cs typeface="Calibri"/>
                <a:sym typeface="Calibri"/>
              </a:defRPr>
            </a:lvl1pPr>
            <a:lvl2pPr indent="0" lvl="1" marL="38100" marR="0" algn="l">
              <a:lnSpc>
                <a:spcPct val="100555"/>
              </a:lnSpc>
              <a:spcBef>
                <a:spcPts val="0"/>
              </a:spcBef>
              <a:buNone/>
              <a:defRPr b="0" i="0" sz="1800">
                <a:solidFill>
                  <a:schemeClr val="lt1"/>
                </a:solidFill>
                <a:latin typeface="Calibri"/>
                <a:ea typeface="Calibri"/>
                <a:cs typeface="Calibri"/>
                <a:sym typeface="Calibri"/>
              </a:defRPr>
            </a:lvl2pPr>
            <a:lvl3pPr indent="0" lvl="2" marL="38100" marR="0" algn="l">
              <a:lnSpc>
                <a:spcPct val="100555"/>
              </a:lnSpc>
              <a:spcBef>
                <a:spcPts val="0"/>
              </a:spcBef>
              <a:buNone/>
              <a:defRPr b="0" i="0" sz="1800">
                <a:solidFill>
                  <a:schemeClr val="lt1"/>
                </a:solidFill>
                <a:latin typeface="Calibri"/>
                <a:ea typeface="Calibri"/>
                <a:cs typeface="Calibri"/>
                <a:sym typeface="Calibri"/>
              </a:defRPr>
            </a:lvl3pPr>
            <a:lvl4pPr indent="0" lvl="3" marL="38100" marR="0" algn="l">
              <a:lnSpc>
                <a:spcPct val="100555"/>
              </a:lnSpc>
              <a:spcBef>
                <a:spcPts val="0"/>
              </a:spcBef>
              <a:buNone/>
              <a:defRPr b="0" i="0" sz="1800">
                <a:solidFill>
                  <a:schemeClr val="lt1"/>
                </a:solidFill>
                <a:latin typeface="Calibri"/>
                <a:ea typeface="Calibri"/>
                <a:cs typeface="Calibri"/>
                <a:sym typeface="Calibri"/>
              </a:defRPr>
            </a:lvl4pPr>
            <a:lvl5pPr indent="0" lvl="4" marL="38100" marR="0" algn="l">
              <a:lnSpc>
                <a:spcPct val="100555"/>
              </a:lnSpc>
              <a:spcBef>
                <a:spcPts val="0"/>
              </a:spcBef>
              <a:buNone/>
              <a:defRPr b="0" i="0" sz="1800">
                <a:solidFill>
                  <a:schemeClr val="lt1"/>
                </a:solidFill>
                <a:latin typeface="Calibri"/>
                <a:ea typeface="Calibri"/>
                <a:cs typeface="Calibri"/>
                <a:sym typeface="Calibri"/>
              </a:defRPr>
            </a:lvl5pPr>
            <a:lvl6pPr indent="0" lvl="5" marL="38100" marR="0" algn="l">
              <a:lnSpc>
                <a:spcPct val="100555"/>
              </a:lnSpc>
              <a:spcBef>
                <a:spcPts val="0"/>
              </a:spcBef>
              <a:buNone/>
              <a:defRPr b="0" i="0" sz="1800">
                <a:solidFill>
                  <a:schemeClr val="lt1"/>
                </a:solidFill>
                <a:latin typeface="Calibri"/>
                <a:ea typeface="Calibri"/>
                <a:cs typeface="Calibri"/>
                <a:sym typeface="Calibri"/>
              </a:defRPr>
            </a:lvl6pPr>
            <a:lvl7pPr indent="0" lvl="6" marL="38100" marR="0" algn="l">
              <a:lnSpc>
                <a:spcPct val="100555"/>
              </a:lnSpc>
              <a:spcBef>
                <a:spcPts val="0"/>
              </a:spcBef>
              <a:buNone/>
              <a:defRPr b="0" i="0" sz="1800">
                <a:solidFill>
                  <a:schemeClr val="lt1"/>
                </a:solidFill>
                <a:latin typeface="Calibri"/>
                <a:ea typeface="Calibri"/>
                <a:cs typeface="Calibri"/>
                <a:sym typeface="Calibri"/>
              </a:defRPr>
            </a:lvl7pPr>
            <a:lvl8pPr indent="0" lvl="7" marL="38100" marR="0" algn="l">
              <a:lnSpc>
                <a:spcPct val="100555"/>
              </a:lnSpc>
              <a:spcBef>
                <a:spcPts val="0"/>
              </a:spcBef>
              <a:buNone/>
              <a:defRPr b="0" i="0" sz="1800">
                <a:solidFill>
                  <a:schemeClr val="lt1"/>
                </a:solidFill>
                <a:latin typeface="Calibri"/>
                <a:ea typeface="Calibri"/>
                <a:cs typeface="Calibri"/>
                <a:sym typeface="Calibri"/>
              </a:defRPr>
            </a:lvl8pPr>
            <a:lvl9pPr indent="0" lvl="8" marL="38100" marR="0" algn="l">
              <a:lnSpc>
                <a:spcPct val="100555"/>
              </a:lnSpc>
              <a:spcBef>
                <a:spcPts val="0"/>
              </a:spcBef>
              <a:buNone/>
              <a:defRPr b="0" i="0" sz="180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5"/>
          <p:cNvSpPr/>
          <p:nvPr/>
        </p:nvSpPr>
        <p:spPr>
          <a:xfrm>
            <a:off x="8458200" y="0"/>
            <a:ext cx="685800" cy="6858000"/>
          </a:xfrm>
          <a:custGeom>
            <a:rect b="b" l="l" r="r" t="t"/>
            <a:pathLst>
              <a:path extrusionOk="0" h="6858000" w="685800">
                <a:moveTo>
                  <a:pt x="685800" y="6172200"/>
                </a:moveTo>
                <a:lnTo>
                  <a:pt x="0" y="6172200"/>
                </a:lnTo>
                <a:lnTo>
                  <a:pt x="0" y="6858000"/>
                </a:lnTo>
                <a:lnTo>
                  <a:pt x="685800" y="6858000"/>
                </a:lnTo>
                <a:lnTo>
                  <a:pt x="685800" y="6172200"/>
                </a:lnTo>
                <a:close/>
              </a:path>
              <a:path extrusionOk="0" h="6858000" w="685800">
                <a:moveTo>
                  <a:pt x="685800" y="0"/>
                </a:moveTo>
                <a:lnTo>
                  <a:pt x="0" y="0"/>
                </a:lnTo>
                <a:lnTo>
                  <a:pt x="0" y="5486400"/>
                </a:lnTo>
                <a:lnTo>
                  <a:pt x="685800" y="5486400"/>
                </a:lnTo>
                <a:lnTo>
                  <a:pt x="685800" y="0"/>
                </a:lnTo>
                <a:close/>
              </a:path>
            </a:pathLst>
          </a:custGeom>
          <a:solidFill>
            <a:srgbClr val="1F487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135"/>
          <p:cNvSpPr/>
          <p:nvPr/>
        </p:nvSpPr>
        <p:spPr>
          <a:xfrm>
            <a:off x="8458200" y="5486400"/>
            <a:ext cx="685800" cy="685800"/>
          </a:xfrm>
          <a:custGeom>
            <a:rect b="b" l="l" r="r" t="t"/>
            <a:pathLst>
              <a:path extrusionOk="0" h="685800" w="685800">
                <a:moveTo>
                  <a:pt x="685800" y="0"/>
                </a:moveTo>
                <a:lnTo>
                  <a:pt x="0" y="0"/>
                </a:lnTo>
                <a:lnTo>
                  <a:pt x="0" y="685800"/>
                </a:lnTo>
                <a:lnTo>
                  <a:pt x="685800" y="685800"/>
                </a:lnTo>
                <a:lnTo>
                  <a:pt x="685800"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135"/>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4600" u="none" cap="none" strike="noStrike">
                <a:solidFill>
                  <a:srgbClr val="1F487C"/>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35"/>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9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35"/>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3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35"/>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lvl1pPr indent="0" lvl="0" marL="38100" marR="0" rtl="0" algn="l">
              <a:lnSpc>
                <a:spcPct val="100555"/>
              </a:lnSpc>
              <a:spcBef>
                <a:spcPts val="0"/>
              </a:spcBef>
              <a:buNone/>
              <a:defRPr b="0" i="0" sz="1800" u="none">
                <a:solidFill>
                  <a:schemeClr val="lt1"/>
                </a:solidFill>
                <a:latin typeface="Calibri"/>
                <a:ea typeface="Calibri"/>
                <a:cs typeface="Calibri"/>
                <a:sym typeface="Calibri"/>
              </a:defRPr>
            </a:lvl1pPr>
            <a:lvl2pPr indent="0" lvl="1" marL="38100" marR="0" rtl="0" algn="l">
              <a:lnSpc>
                <a:spcPct val="100555"/>
              </a:lnSpc>
              <a:spcBef>
                <a:spcPts val="0"/>
              </a:spcBef>
              <a:buNone/>
              <a:defRPr b="0" i="0" sz="1800" u="none">
                <a:solidFill>
                  <a:schemeClr val="lt1"/>
                </a:solidFill>
                <a:latin typeface="Calibri"/>
                <a:ea typeface="Calibri"/>
                <a:cs typeface="Calibri"/>
                <a:sym typeface="Calibri"/>
              </a:defRPr>
            </a:lvl2pPr>
            <a:lvl3pPr indent="0" lvl="2" marL="38100" marR="0" rtl="0" algn="l">
              <a:lnSpc>
                <a:spcPct val="100555"/>
              </a:lnSpc>
              <a:spcBef>
                <a:spcPts val="0"/>
              </a:spcBef>
              <a:buNone/>
              <a:defRPr b="0" i="0" sz="1800" u="none">
                <a:solidFill>
                  <a:schemeClr val="lt1"/>
                </a:solidFill>
                <a:latin typeface="Calibri"/>
                <a:ea typeface="Calibri"/>
                <a:cs typeface="Calibri"/>
                <a:sym typeface="Calibri"/>
              </a:defRPr>
            </a:lvl3pPr>
            <a:lvl4pPr indent="0" lvl="3" marL="38100" marR="0" rtl="0" algn="l">
              <a:lnSpc>
                <a:spcPct val="100555"/>
              </a:lnSpc>
              <a:spcBef>
                <a:spcPts val="0"/>
              </a:spcBef>
              <a:buNone/>
              <a:defRPr b="0" i="0" sz="1800" u="none">
                <a:solidFill>
                  <a:schemeClr val="lt1"/>
                </a:solidFill>
                <a:latin typeface="Calibri"/>
                <a:ea typeface="Calibri"/>
                <a:cs typeface="Calibri"/>
                <a:sym typeface="Calibri"/>
              </a:defRPr>
            </a:lvl4pPr>
            <a:lvl5pPr indent="0" lvl="4" marL="38100" marR="0" rtl="0" algn="l">
              <a:lnSpc>
                <a:spcPct val="100555"/>
              </a:lnSpc>
              <a:spcBef>
                <a:spcPts val="0"/>
              </a:spcBef>
              <a:buNone/>
              <a:defRPr b="0" i="0" sz="1800" u="none">
                <a:solidFill>
                  <a:schemeClr val="lt1"/>
                </a:solidFill>
                <a:latin typeface="Calibri"/>
                <a:ea typeface="Calibri"/>
                <a:cs typeface="Calibri"/>
                <a:sym typeface="Calibri"/>
              </a:defRPr>
            </a:lvl5pPr>
            <a:lvl6pPr indent="0" lvl="5" marL="38100" marR="0" rtl="0" algn="l">
              <a:lnSpc>
                <a:spcPct val="100555"/>
              </a:lnSpc>
              <a:spcBef>
                <a:spcPts val="0"/>
              </a:spcBef>
              <a:buNone/>
              <a:defRPr b="0" i="0" sz="1800" u="none">
                <a:solidFill>
                  <a:schemeClr val="lt1"/>
                </a:solidFill>
                <a:latin typeface="Calibri"/>
                <a:ea typeface="Calibri"/>
                <a:cs typeface="Calibri"/>
                <a:sym typeface="Calibri"/>
              </a:defRPr>
            </a:lvl6pPr>
            <a:lvl7pPr indent="0" lvl="6" marL="38100" marR="0" rtl="0" algn="l">
              <a:lnSpc>
                <a:spcPct val="100555"/>
              </a:lnSpc>
              <a:spcBef>
                <a:spcPts val="0"/>
              </a:spcBef>
              <a:buNone/>
              <a:defRPr b="0" i="0" sz="1800" u="none">
                <a:solidFill>
                  <a:schemeClr val="lt1"/>
                </a:solidFill>
                <a:latin typeface="Calibri"/>
                <a:ea typeface="Calibri"/>
                <a:cs typeface="Calibri"/>
                <a:sym typeface="Calibri"/>
              </a:defRPr>
            </a:lvl7pPr>
            <a:lvl8pPr indent="0" lvl="7" marL="38100" marR="0" rtl="0" algn="l">
              <a:lnSpc>
                <a:spcPct val="100555"/>
              </a:lnSpc>
              <a:spcBef>
                <a:spcPts val="0"/>
              </a:spcBef>
              <a:buNone/>
              <a:defRPr b="0" i="0" sz="1800" u="none">
                <a:solidFill>
                  <a:schemeClr val="lt1"/>
                </a:solidFill>
                <a:latin typeface="Calibri"/>
                <a:ea typeface="Calibri"/>
                <a:cs typeface="Calibri"/>
                <a:sym typeface="Calibri"/>
              </a:defRPr>
            </a:lvl8pPr>
            <a:lvl9pPr indent="0" lvl="8" marL="38100" marR="0" rtl="0" algn="l">
              <a:lnSpc>
                <a:spcPct val="100555"/>
              </a:lnSpc>
              <a:spcBef>
                <a:spcPts val="0"/>
              </a:spcBef>
              <a:buNone/>
              <a:defRPr b="0" i="0" sz="1800" u="none">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www.php.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www.wampserver.com/en/" TargetMode="External"/><Relationship Id="rId4" Type="http://schemas.openxmlformats.org/officeDocument/2006/relationships/hyperlink" Target="http://csg.sph.umich.edu/abecasis/LAMP/download/" TargetMode="External"/><Relationship Id="rId5" Type="http://schemas.openxmlformats.org/officeDocument/2006/relationships/hyperlink" Target="https://www.mamp.info/en/downloads/" TargetMode="External"/><Relationship Id="rId6" Type="http://schemas.openxmlformats.org/officeDocument/2006/relationships/hyperlink" Target="https://www.apachefriends.org/download.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4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2.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3.png"/><Relationship Id="rId4" Type="http://schemas.openxmlformats.org/officeDocument/2006/relationships/image" Target="../media/image2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25.png"/><Relationship Id="rId4" Type="http://schemas.openxmlformats.org/officeDocument/2006/relationships/image" Target="../media/image28.png"/><Relationship Id="rId5" Type="http://schemas.openxmlformats.org/officeDocument/2006/relationships/image" Target="../media/image4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2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29.png"/><Relationship Id="rId4" Type="http://schemas.openxmlformats.org/officeDocument/2006/relationships/image" Target="../media/image57.png"/><Relationship Id="rId5" Type="http://schemas.openxmlformats.org/officeDocument/2006/relationships/image" Target="../media/image30.png"/><Relationship Id="rId6" Type="http://schemas.openxmlformats.org/officeDocument/2006/relationships/image" Target="../media/image27.png"/><Relationship Id="rId7" Type="http://schemas.openxmlformats.org/officeDocument/2006/relationships/image" Target="../media/image3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32.png"/><Relationship Id="rId4" Type="http://schemas.openxmlformats.org/officeDocument/2006/relationships/image" Target="../media/image3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3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34.png"/><Relationship Id="rId4" Type="http://schemas.openxmlformats.org/officeDocument/2006/relationships/image" Target="../media/image3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37.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3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3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56.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4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5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5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4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5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45.png"/><Relationship Id="rId4" Type="http://schemas.openxmlformats.org/officeDocument/2006/relationships/image" Target="../media/image4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5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55.png"/><Relationship Id="rId4" Type="http://schemas.openxmlformats.org/officeDocument/2006/relationships/image" Target="../media/image48.png"/><Relationship Id="rId5" Type="http://schemas.openxmlformats.org/officeDocument/2006/relationships/image" Target="../media/image54.png"/><Relationship Id="rId6" Type="http://schemas.openxmlformats.org/officeDocument/2006/relationships/image" Target="../media/image4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4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4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
          <p:cNvSpPr txBox="1"/>
          <p:nvPr>
            <p:ph type="title"/>
          </p:nvPr>
        </p:nvSpPr>
        <p:spPr>
          <a:xfrm>
            <a:off x="764844" y="3412058"/>
            <a:ext cx="5046980" cy="10318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6600">
                <a:latin typeface="Cambria"/>
                <a:ea typeface="Cambria"/>
                <a:cs typeface="Cambria"/>
                <a:sym typeface="Cambria"/>
              </a:rPr>
              <a:t>XAMPP Server</a:t>
            </a:r>
            <a:endParaRPr sz="6600">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
          <p:cNvSpPr txBox="1"/>
          <p:nvPr>
            <p:ph type="title"/>
          </p:nvPr>
        </p:nvSpPr>
        <p:spPr>
          <a:xfrm>
            <a:off x="536244" y="464896"/>
            <a:ext cx="348424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XAMPP Server</a:t>
            </a:r>
            <a:endParaRPr/>
          </a:p>
        </p:txBody>
      </p:sp>
      <p:sp>
        <p:nvSpPr>
          <p:cNvPr id="51" name="Google Shape;51;p2"/>
          <p:cNvSpPr txBox="1"/>
          <p:nvPr/>
        </p:nvSpPr>
        <p:spPr>
          <a:xfrm>
            <a:off x="1119327" y="2323337"/>
            <a:ext cx="7230745" cy="3197860"/>
          </a:xfrm>
          <a:prstGeom prst="rect">
            <a:avLst/>
          </a:prstGeom>
          <a:noFill/>
          <a:ln>
            <a:noFill/>
          </a:ln>
        </p:spPr>
        <p:txBody>
          <a:bodyPr anchorCtr="0" anchor="t" bIns="0" lIns="0" spcFirstLastPara="1" rIns="0" wrap="square" tIns="13325">
            <a:spAutoFit/>
          </a:bodyPr>
          <a:lstStyle/>
          <a:p>
            <a:pPr indent="-229234" lvl="0" marL="241300" marR="469265" rtl="0" algn="l">
              <a:lnSpc>
                <a:spcPct val="100000"/>
              </a:lnSpc>
              <a:spcBef>
                <a:spcPts val="0"/>
              </a:spcBef>
              <a:spcAft>
                <a:spcPts val="0"/>
              </a:spcAft>
              <a:buClr>
                <a:srgbClr val="C0504D"/>
              </a:buClr>
              <a:buSzPts val="2800"/>
              <a:buFont typeface="Arial"/>
              <a:buChar char="•"/>
            </a:pPr>
            <a:r>
              <a:rPr lang="en-US" sz="2800">
                <a:solidFill>
                  <a:schemeClr val="dk1"/>
                </a:solidFill>
                <a:latin typeface="Calibri"/>
                <a:ea typeface="Calibri"/>
                <a:cs typeface="Calibri"/>
                <a:sym typeface="Calibri"/>
              </a:rPr>
              <a:t>XAMPP stands for Cross-Platform (X), Apache  (A), MySQL (M), </a:t>
            </a:r>
            <a:r>
              <a:rPr b="1" lang="en-US" sz="2800">
                <a:solidFill>
                  <a:schemeClr val="dk1"/>
                </a:solidFill>
                <a:latin typeface="Calibri"/>
                <a:ea typeface="Calibri"/>
                <a:cs typeface="Calibri"/>
                <a:sym typeface="Calibri"/>
              </a:rPr>
              <a:t>PHP </a:t>
            </a:r>
            <a:r>
              <a:rPr lang="en-US" sz="2800">
                <a:solidFill>
                  <a:schemeClr val="dk1"/>
                </a:solidFill>
                <a:latin typeface="Calibri"/>
                <a:ea typeface="Calibri"/>
                <a:cs typeface="Calibri"/>
                <a:sym typeface="Calibri"/>
              </a:rPr>
              <a:t>(P) and </a:t>
            </a:r>
            <a:r>
              <a:rPr b="1" lang="en-US" sz="2800">
                <a:solidFill>
                  <a:schemeClr val="dk1"/>
                </a:solidFill>
                <a:latin typeface="Calibri"/>
                <a:ea typeface="Calibri"/>
                <a:cs typeface="Calibri"/>
                <a:sym typeface="Calibri"/>
              </a:rPr>
              <a:t>Perl</a:t>
            </a:r>
            <a:r>
              <a:rPr lang="en-US" sz="2800">
                <a:solidFill>
                  <a:schemeClr val="dk1"/>
                </a:solidFill>
                <a:latin typeface="Calibri"/>
                <a:ea typeface="Calibri"/>
                <a:cs typeface="Calibri"/>
                <a:sym typeface="Calibri"/>
              </a:rPr>
              <a:t>(P).</a:t>
            </a:r>
            <a:endParaRPr sz="2800">
              <a:solidFill>
                <a:schemeClr val="dk1"/>
              </a:solidFill>
              <a:latin typeface="Calibri"/>
              <a:ea typeface="Calibri"/>
              <a:cs typeface="Calibri"/>
              <a:sym typeface="Calibri"/>
            </a:endParaRPr>
          </a:p>
          <a:p>
            <a:pPr indent="-229234" lvl="0" marL="241300" marR="5080" rtl="0" algn="l">
              <a:lnSpc>
                <a:spcPct val="100000"/>
              </a:lnSpc>
              <a:spcBef>
                <a:spcPts val="2405"/>
              </a:spcBef>
              <a:spcAft>
                <a:spcPts val="0"/>
              </a:spcAft>
              <a:buClr>
                <a:srgbClr val="C0504D"/>
              </a:buClr>
              <a:buSzPts val="2800"/>
              <a:buFont typeface="Arial"/>
              <a:buChar char="•"/>
            </a:pPr>
            <a:r>
              <a:rPr lang="en-US" sz="2800">
                <a:solidFill>
                  <a:schemeClr val="dk1"/>
                </a:solidFill>
                <a:latin typeface="Calibri"/>
                <a:ea typeface="Calibri"/>
                <a:cs typeface="Calibri"/>
                <a:sym typeface="Calibri"/>
              </a:rPr>
              <a:t>It is a simple, light-weighted Apache server that  makes it extremely easy for developers to create  a local http server</a:t>
            </a:r>
            <a:endParaRPr sz="2800">
              <a:solidFill>
                <a:schemeClr val="dk1"/>
              </a:solidFill>
              <a:latin typeface="Calibri"/>
              <a:ea typeface="Calibri"/>
              <a:cs typeface="Calibri"/>
              <a:sym typeface="Calibri"/>
            </a:endParaRPr>
          </a:p>
          <a:p>
            <a:pPr indent="-229234" lvl="0" marL="241300" marR="0" rtl="0" algn="l">
              <a:lnSpc>
                <a:spcPct val="100000"/>
              </a:lnSpc>
              <a:spcBef>
                <a:spcPts val="2405"/>
              </a:spcBef>
              <a:spcAft>
                <a:spcPts val="0"/>
              </a:spcAft>
              <a:buClr>
                <a:srgbClr val="C0504D"/>
              </a:buClr>
              <a:buSzPts val="2800"/>
              <a:buFont typeface="Arial"/>
              <a:buChar char="•"/>
            </a:pPr>
            <a:r>
              <a:rPr lang="en-US" sz="2800">
                <a:solidFill>
                  <a:schemeClr val="dk1"/>
                </a:solidFill>
                <a:latin typeface="Calibri"/>
                <a:ea typeface="Calibri"/>
                <a:cs typeface="Calibri"/>
                <a:sym typeface="Calibri"/>
              </a:rPr>
              <a:t>Free software</a:t>
            </a:r>
            <a:endParaRPr sz="2800">
              <a:solidFill>
                <a:schemeClr val="dk1"/>
              </a:solidFill>
              <a:latin typeface="Calibri"/>
              <a:ea typeface="Calibri"/>
              <a:cs typeface="Calibri"/>
              <a:sym typeface="Calibri"/>
            </a:endParaRPr>
          </a:p>
        </p:txBody>
      </p:sp>
      <p:sp>
        <p:nvSpPr>
          <p:cNvPr id="52" name="Google Shape;52;p2"/>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2"/>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2"/>
          <p:cNvSpPr txBox="1"/>
          <p:nvPr/>
        </p:nvSpPr>
        <p:spPr>
          <a:xfrm>
            <a:off x="8712961" y="5741542"/>
            <a:ext cx="192405" cy="254635"/>
          </a:xfrm>
          <a:prstGeom prst="rect">
            <a:avLst/>
          </a:prstGeom>
          <a:noFill/>
          <a:ln>
            <a:noFill/>
          </a:ln>
        </p:spPr>
        <p:txBody>
          <a:bodyPr anchorCtr="0" anchor="t" bIns="0" lIns="0" spcFirstLastPara="1" rIns="0" wrap="square" tIns="0">
            <a:spAutoFit/>
          </a:bodyPr>
          <a:lstStyle/>
          <a:p>
            <a:pPr indent="0" lvl="0" marL="38100" marR="0" rtl="0" algn="l">
              <a:lnSpc>
                <a:spcPct val="100555"/>
              </a:lnSpc>
              <a:spcBef>
                <a:spcPts val="0"/>
              </a:spcBef>
              <a:spcAft>
                <a:spcPts val="0"/>
              </a:spcAft>
              <a:buNone/>
            </a:pPr>
            <a:fld id="{00000000-1234-1234-1234-123412341234}" type="slidenum">
              <a:rPr lang="en-US" sz="1800">
                <a:solidFill>
                  <a:srgbClr val="FFFFFF"/>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536244" y="114122"/>
            <a:ext cx="7151370" cy="1429385"/>
          </a:xfrm>
          <a:prstGeom prst="rect">
            <a:avLst/>
          </a:prstGeom>
          <a:noFill/>
          <a:ln>
            <a:noFill/>
          </a:ln>
        </p:spPr>
        <p:txBody>
          <a:bodyPr anchorCtr="0" anchor="t" bIns="0" lIns="0" spcFirstLastPara="1" rIns="0" wrap="square" tIns="13950">
            <a:spAutoFit/>
          </a:bodyPr>
          <a:lstStyle/>
          <a:p>
            <a:pPr indent="0" lvl="0" marL="12700" marR="5080" rtl="0" algn="l">
              <a:lnSpc>
                <a:spcPct val="100000"/>
              </a:lnSpc>
              <a:spcBef>
                <a:spcPts val="0"/>
              </a:spcBef>
              <a:spcAft>
                <a:spcPts val="0"/>
              </a:spcAft>
              <a:buNone/>
            </a:pPr>
            <a:r>
              <a:rPr b="0" lang="en-US">
                <a:latin typeface="Cambria"/>
                <a:ea typeface="Cambria"/>
                <a:cs typeface="Cambria"/>
                <a:sym typeface="Cambria"/>
              </a:rPr>
              <a:t>Features and Requirements of  XAMPP</a:t>
            </a:r>
            <a:endParaRPr/>
          </a:p>
        </p:txBody>
      </p:sp>
      <p:sp>
        <p:nvSpPr>
          <p:cNvPr id="60" name="Google Shape;60;p3"/>
          <p:cNvSpPr txBox="1"/>
          <p:nvPr/>
        </p:nvSpPr>
        <p:spPr>
          <a:xfrm>
            <a:off x="652068" y="1615820"/>
            <a:ext cx="7244080" cy="3060700"/>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Requires only one .exe or .zip file for configurations (no</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configuration of various components of server is required)</a:t>
            </a:r>
            <a:endParaRPr sz="2200">
              <a:solidFill>
                <a:schemeClr val="dk1"/>
              </a:solidFill>
              <a:latin typeface="Calibri"/>
              <a:ea typeface="Calibri"/>
              <a:cs typeface="Calibri"/>
              <a:sym typeface="Calibri"/>
            </a:endParaRPr>
          </a:p>
          <a:p>
            <a:pPr indent="-228600" lvl="0" marL="241300" marR="0" rtl="0" algn="l">
              <a:lnSpc>
                <a:spcPct val="100000"/>
              </a:lnSpc>
              <a:spcBef>
                <a:spcPts val="180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It regularly updates latest release of Apache/MySQL/PHP/Perl</a:t>
            </a:r>
            <a:endParaRPr sz="2200">
              <a:solidFill>
                <a:schemeClr val="dk1"/>
              </a:solidFill>
              <a:latin typeface="Calibri"/>
              <a:ea typeface="Calibri"/>
              <a:cs typeface="Calibri"/>
              <a:sym typeface="Calibri"/>
            </a:endParaRPr>
          </a:p>
          <a:p>
            <a:pPr indent="-228600" lvl="0" marL="241300" marR="0" rtl="0" algn="l">
              <a:lnSpc>
                <a:spcPct val="100000"/>
              </a:lnSpc>
              <a:spcBef>
                <a:spcPts val="180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Installing XAMPP takes less time than installing individual</a:t>
            </a:r>
            <a:endParaRPr sz="2200">
              <a:solidFill>
                <a:schemeClr val="dk1"/>
              </a:solidFill>
              <a:latin typeface="Calibri"/>
              <a:ea typeface="Calibri"/>
              <a:cs typeface="Calibri"/>
              <a:sym typeface="Calibri"/>
            </a:endParaRPr>
          </a:p>
          <a:p>
            <a:pPr indent="0" lvl="0" marL="240665" marR="0" rtl="0" algn="l">
              <a:lnSpc>
                <a:spcPct val="100000"/>
              </a:lnSpc>
              <a:spcBef>
                <a:spcPts val="5"/>
              </a:spcBef>
              <a:spcAft>
                <a:spcPts val="0"/>
              </a:spcAft>
              <a:buNone/>
            </a:pPr>
            <a:r>
              <a:rPr lang="en-US" sz="2200">
                <a:solidFill>
                  <a:schemeClr val="dk1"/>
                </a:solidFill>
                <a:latin typeface="Calibri"/>
                <a:ea typeface="Calibri"/>
                <a:cs typeface="Calibri"/>
                <a:sym typeface="Calibri"/>
              </a:rPr>
              <a:t>components</a:t>
            </a:r>
            <a:endParaRPr sz="2200">
              <a:solidFill>
                <a:schemeClr val="dk1"/>
              </a:solidFill>
              <a:latin typeface="Calibri"/>
              <a:ea typeface="Calibri"/>
              <a:cs typeface="Calibri"/>
              <a:sym typeface="Calibri"/>
            </a:endParaRPr>
          </a:p>
          <a:p>
            <a:pPr indent="-228600" lvl="0" marL="241300" marR="0" rtl="0" algn="l">
              <a:lnSpc>
                <a:spcPct val="100000"/>
              </a:lnSpc>
              <a:spcBef>
                <a:spcPts val="180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Self contained and multiple instances of XAMPP can exist on</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same computer</a:t>
            </a:r>
            <a:endParaRPr sz="2200">
              <a:solidFill>
                <a:schemeClr val="dk1"/>
              </a:solidFill>
              <a:latin typeface="Calibri"/>
              <a:ea typeface="Calibri"/>
              <a:cs typeface="Calibri"/>
              <a:sym typeface="Calibri"/>
            </a:endParaRPr>
          </a:p>
        </p:txBody>
      </p:sp>
      <p:sp>
        <p:nvSpPr>
          <p:cNvPr id="61" name="Google Shape;61;p3"/>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3"/>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3"/>
          <p:cNvSpPr txBox="1"/>
          <p:nvPr/>
        </p:nvSpPr>
        <p:spPr>
          <a:xfrm>
            <a:off x="8712961" y="5741542"/>
            <a:ext cx="192405" cy="254635"/>
          </a:xfrm>
          <a:prstGeom prst="rect">
            <a:avLst/>
          </a:prstGeom>
          <a:noFill/>
          <a:ln>
            <a:noFill/>
          </a:ln>
        </p:spPr>
        <p:txBody>
          <a:bodyPr anchorCtr="0" anchor="t" bIns="0" lIns="0" spcFirstLastPara="1" rIns="0" wrap="square" tIns="0">
            <a:spAutoFit/>
          </a:bodyPr>
          <a:lstStyle/>
          <a:p>
            <a:pPr indent="0" lvl="0" marL="38100" marR="0" rtl="0" algn="l">
              <a:lnSpc>
                <a:spcPct val="100555"/>
              </a:lnSpc>
              <a:spcBef>
                <a:spcPts val="0"/>
              </a:spcBef>
              <a:spcAft>
                <a:spcPts val="0"/>
              </a:spcAft>
              <a:buNone/>
            </a:pPr>
            <a:fld id="{00000000-1234-1234-1234-123412341234}" type="slidenum">
              <a:rPr lang="en-US" sz="1800">
                <a:solidFill>
                  <a:srgbClr val="FFFFFF"/>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4"/>
          <p:cNvSpPr txBox="1"/>
          <p:nvPr>
            <p:ph type="title"/>
          </p:nvPr>
        </p:nvSpPr>
        <p:spPr>
          <a:xfrm>
            <a:off x="536244" y="464896"/>
            <a:ext cx="549084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Starting XAMPP Server</a:t>
            </a:r>
            <a:endParaRPr/>
          </a:p>
        </p:txBody>
      </p:sp>
      <p:sp>
        <p:nvSpPr>
          <p:cNvPr id="69" name="Google Shape;69;p4"/>
          <p:cNvSpPr txBox="1"/>
          <p:nvPr/>
        </p:nvSpPr>
        <p:spPr>
          <a:xfrm>
            <a:off x="707542" y="1609953"/>
            <a:ext cx="7219315" cy="4154804"/>
          </a:xfrm>
          <a:prstGeom prst="rect">
            <a:avLst/>
          </a:prstGeom>
          <a:noFill/>
          <a:ln>
            <a:noFill/>
          </a:ln>
        </p:spPr>
        <p:txBody>
          <a:bodyPr anchorCtr="0" anchor="t" bIns="0" lIns="0" spcFirstLastPara="1" rIns="0" wrap="square" tIns="207625">
            <a:spAutoFit/>
          </a:bodyPr>
          <a:lstStyle/>
          <a:p>
            <a:pPr indent="-229235" lvl="0" marL="356870" marR="0" rtl="0" algn="l">
              <a:lnSpc>
                <a:spcPct val="100000"/>
              </a:lnSpc>
              <a:spcBef>
                <a:spcPts val="0"/>
              </a:spcBef>
              <a:spcAft>
                <a:spcPts val="0"/>
              </a:spcAft>
              <a:buClr>
                <a:srgbClr val="4F81BC"/>
              </a:buClr>
              <a:buSzPts val="2300"/>
              <a:buFont typeface="Arial"/>
              <a:buChar char="•"/>
            </a:pPr>
            <a:r>
              <a:rPr lang="en-US" sz="2300">
                <a:solidFill>
                  <a:schemeClr val="dk1"/>
                </a:solidFill>
                <a:latin typeface="Calibri"/>
                <a:ea typeface="Calibri"/>
                <a:cs typeface="Calibri"/>
                <a:sym typeface="Calibri"/>
              </a:rPr>
              <a:t>Open XAMPP control panel</a:t>
            </a:r>
            <a:endParaRPr sz="2300">
              <a:solidFill>
                <a:schemeClr val="dk1"/>
              </a:solidFill>
              <a:latin typeface="Calibri"/>
              <a:ea typeface="Calibri"/>
              <a:cs typeface="Calibri"/>
              <a:sym typeface="Calibri"/>
            </a:endParaRPr>
          </a:p>
          <a:p>
            <a:pPr indent="-229235" lvl="0" marL="356870" marR="0" rtl="0" algn="l">
              <a:lnSpc>
                <a:spcPct val="100000"/>
              </a:lnSpc>
              <a:spcBef>
                <a:spcPts val="1540"/>
              </a:spcBef>
              <a:spcAft>
                <a:spcPts val="0"/>
              </a:spcAft>
              <a:buClr>
                <a:srgbClr val="4F81BC"/>
              </a:buClr>
              <a:buSzPts val="2300"/>
              <a:buFont typeface="Arial"/>
              <a:buChar char="•"/>
            </a:pPr>
            <a:r>
              <a:rPr lang="en-US" sz="2300">
                <a:solidFill>
                  <a:schemeClr val="dk1"/>
                </a:solidFill>
                <a:latin typeface="Calibri"/>
                <a:ea typeface="Calibri"/>
                <a:cs typeface="Calibri"/>
                <a:sym typeface="Calibri"/>
              </a:rPr>
              <a:t>Start Apache, MySQL services( required services)</a:t>
            </a:r>
            <a:endParaRPr sz="2300">
              <a:solidFill>
                <a:schemeClr val="dk1"/>
              </a:solidFill>
              <a:latin typeface="Calibri"/>
              <a:ea typeface="Calibri"/>
              <a:cs typeface="Calibri"/>
              <a:sym typeface="Calibri"/>
            </a:endParaRPr>
          </a:p>
          <a:p>
            <a:pPr indent="-229235" lvl="0" marL="356870" marR="0" rtl="0" algn="l">
              <a:lnSpc>
                <a:spcPct val="100000"/>
              </a:lnSpc>
              <a:spcBef>
                <a:spcPts val="1515"/>
              </a:spcBef>
              <a:spcAft>
                <a:spcPts val="0"/>
              </a:spcAft>
              <a:buClr>
                <a:srgbClr val="4F81BC"/>
              </a:buClr>
              <a:buSzPts val="2300"/>
              <a:buFont typeface="Arial"/>
              <a:buChar char="•"/>
            </a:pPr>
            <a:r>
              <a:rPr lang="en-US" sz="2300">
                <a:solidFill>
                  <a:schemeClr val="dk1"/>
                </a:solidFill>
                <a:latin typeface="Calibri"/>
                <a:ea typeface="Calibri"/>
                <a:cs typeface="Calibri"/>
                <a:sym typeface="Calibri"/>
              </a:rPr>
              <a:t>Minimize the Control Panel</a:t>
            </a:r>
            <a:endParaRPr sz="2300">
              <a:solidFill>
                <a:schemeClr val="dk1"/>
              </a:solidFill>
              <a:latin typeface="Calibri"/>
              <a:ea typeface="Calibri"/>
              <a:cs typeface="Calibri"/>
              <a:sym typeface="Calibri"/>
            </a:endParaRPr>
          </a:p>
          <a:p>
            <a:pPr indent="-229234" lvl="0" marL="241300" marR="0" rtl="0" algn="l">
              <a:lnSpc>
                <a:spcPct val="113695"/>
              </a:lnSpc>
              <a:spcBef>
                <a:spcPts val="1535"/>
              </a:spcBef>
              <a:spcAft>
                <a:spcPts val="0"/>
              </a:spcAft>
              <a:buClr>
                <a:srgbClr val="C0504D"/>
              </a:buClr>
              <a:buSzPts val="2300"/>
              <a:buFont typeface="Arial"/>
              <a:buChar char="•"/>
            </a:pPr>
            <a:r>
              <a:rPr b="1" lang="en-US" sz="2300">
                <a:solidFill>
                  <a:srgbClr val="C00000"/>
                </a:solidFill>
                <a:latin typeface="Calibri"/>
                <a:ea typeface="Calibri"/>
                <a:cs typeface="Calibri"/>
                <a:sym typeface="Calibri"/>
              </a:rPr>
              <a:t>Save your folder(containing multiple webpages) in htdocs</a:t>
            </a:r>
            <a:endParaRPr sz="2300">
              <a:solidFill>
                <a:schemeClr val="dk1"/>
              </a:solidFill>
              <a:latin typeface="Calibri"/>
              <a:ea typeface="Calibri"/>
              <a:cs typeface="Calibri"/>
              <a:sym typeface="Calibri"/>
            </a:endParaRPr>
          </a:p>
          <a:p>
            <a:pPr indent="0" lvl="0" marL="195580" marR="0" rtl="0" algn="l">
              <a:lnSpc>
                <a:spcPct val="113695"/>
              </a:lnSpc>
              <a:spcBef>
                <a:spcPts val="0"/>
              </a:spcBef>
              <a:spcAft>
                <a:spcPts val="0"/>
              </a:spcAft>
              <a:buNone/>
            </a:pPr>
            <a:r>
              <a:rPr b="1" lang="en-US" sz="2300">
                <a:solidFill>
                  <a:srgbClr val="C00000"/>
                </a:solidFill>
                <a:latin typeface="Calibri"/>
                <a:ea typeface="Calibri"/>
                <a:cs typeface="Calibri"/>
                <a:sym typeface="Calibri"/>
              </a:rPr>
              <a:t>folder inside xampp folder </a:t>
            </a:r>
            <a:r>
              <a:rPr lang="en-US" sz="2300">
                <a:solidFill>
                  <a:schemeClr val="dk1"/>
                </a:solidFill>
                <a:latin typeface="Calibri"/>
                <a:ea typeface="Calibri"/>
                <a:cs typeface="Calibri"/>
                <a:sym typeface="Calibri"/>
              </a:rPr>
              <a:t>(.html/.php/.js/.css)</a:t>
            </a:r>
            <a:endParaRPr sz="2300">
              <a:solidFill>
                <a:schemeClr val="dk1"/>
              </a:solidFill>
              <a:latin typeface="Calibri"/>
              <a:ea typeface="Calibri"/>
              <a:cs typeface="Calibri"/>
              <a:sym typeface="Calibri"/>
            </a:endParaRPr>
          </a:p>
          <a:p>
            <a:pPr indent="-229235" lvl="1" marL="356870" marR="0" rtl="0" algn="l">
              <a:lnSpc>
                <a:spcPct val="100000"/>
              </a:lnSpc>
              <a:spcBef>
                <a:spcPts val="1540"/>
              </a:spcBef>
              <a:spcAft>
                <a:spcPts val="0"/>
              </a:spcAft>
              <a:buClr>
                <a:srgbClr val="4F81BC"/>
              </a:buClr>
              <a:buSzPts val="2300"/>
              <a:buFont typeface="Arial"/>
              <a:buChar char="•"/>
            </a:pPr>
            <a:r>
              <a:rPr b="0" i="0" lang="en-US" sz="2300" u="none" cap="none" strike="noStrike">
                <a:solidFill>
                  <a:schemeClr val="dk1"/>
                </a:solidFill>
                <a:latin typeface="Calibri"/>
                <a:ea typeface="Calibri"/>
                <a:cs typeface="Calibri"/>
                <a:sym typeface="Calibri"/>
              </a:rPr>
              <a:t>Check if the XAMPP server has started properly by</a:t>
            </a:r>
            <a:endParaRPr b="0" i="0" sz="2300" u="none" cap="none" strike="noStrike">
              <a:solidFill>
                <a:schemeClr val="dk1"/>
              </a:solidFill>
              <a:latin typeface="Calibri"/>
              <a:ea typeface="Calibri"/>
              <a:cs typeface="Calibri"/>
              <a:sym typeface="Calibri"/>
            </a:endParaRPr>
          </a:p>
          <a:p>
            <a:pPr indent="-229235" lvl="2" marL="652780" marR="0" rtl="0" algn="l">
              <a:lnSpc>
                <a:spcPct val="100000"/>
              </a:lnSpc>
              <a:spcBef>
                <a:spcPts val="1510"/>
              </a:spcBef>
              <a:spcAft>
                <a:spcPts val="0"/>
              </a:spcAft>
              <a:buClr>
                <a:srgbClr val="C0504D"/>
              </a:buClr>
              <a:buSzPts val="2300"/>
              <a:buFont typeface="Arial"/>
              <a:buChar char="•"/>
            </a:pPr>
            <a:r>
              <a:rPr b="0" i="0" lang="en-US" sz="2300" u="none" cap="none" strike="noStrike">
                <a:solidFill>
                  <a:schemeClr val="dk1"/>
                </a:solidFill>
                <a:latin typeface="Calibri"/>
                <a:ea typeface="Calibri"/>
                <a:cs typeface="Calibri"/>
                <a:sym typeface="Calibri"/>
              </a:rPr>
              <a:t>Create a web page</a:t>
            </a:r>
            <a:endParaRPr b="0" i="0" sz="2300" u="none" cap="none" strike="noStrike">
              <a:solidFill>
                <a:schemeClr val="dk1"/>
              </a:solidFill>
              <a:latin typeface="Calibri"/>
              <a:ea typeface="Calibri"/>
              <a:cs typeface="Calibri"/>
              <a:sym typeface="Calibri"/>
            </a:endParaRPr>
          </a:p>
          <a:p>
            <a:pPr indent="-229235" lvl="2" marL="652780" marR="0" rtl="0" algn="l">
              <a:lnSpc>
                <a:spcPct val="100000"/>
              </a:lnSpc>
              <a:spcBef>
                <a:spcPts val="1540"/>
              </a:spcBef>
              <a:spcAft>
                <a:spcPts val="0"/>
              </a:spcAft>
              <a:buClr>
                <a:srgbClr val="C0504D"/>
              </a:buClr>
              <a:buSzPts val="2300"/>
              <a:buFont typeface="Arial"/>
              <a:buChar char="•"/>
            </a:pPr>
            <a:r>
              <a:rPr b="0" i="0" lang="en-US" sz="2300" u="none" cap="none" strike="noStrike">
                <a:solidFill>
                  <a:schemeClr val="dk1"/>
                </a:solidFill>
                <a:latin typeface="Calibri"/>
                <a:ea typeface="Calibri"/>
                <a:cs typeface="Calibri"/>
                <a:sym typeface="Calibri"/>
              </a:rPr>
              <a:t>Go to Web browser (type : </a:t>
            </a:r>
            <a:r>
              <a:rPr b="1" i="0" lang="en-US" sz="2300" u="none" cap="none" strike="noStrike">
                <a:solidFill>
                  <a:schemeClr val="dk1"/>
                </a:solidFill>
                <a:latin typeface="Calibri"/>
                <a:ea typeface="Calibri"/>
                <a:cs typeface="Calibri"/>
                <a:sym typeface="Calibri"/>
              </a:rPr>
              <a:t>localhost/sample</a:t>
            </a:r>
            <a:r>
              <a:rPr b="0" i="0" lang="en-US" sz="2300" u="none" cap="none" strike="noStrike">
                <a:solidFill>
                  <a:schemeClr val="dk1"/>
                </a:solidFill>
                <a:latin typeface="Calibri"/>
                <a:ea typeface="Calibri"/>
                <a:cs typeface="Calibri"/>
                <a:sym typeface="Calibri"/>
              </a:rPr>
              <a:t>)</a:t>
            </a:r>
            <a:endParaRPr b="0" i="0" sz="2300" u="none" cap="none" strike="noStrike">
              <a:solidFill>
                <a:schemeClr val="dk1"/>
              </a:solidFill>
              <a:latin typeface="Calibri"/>
              <a:ea typeface="Calibri"/>
              <a:cs typeface="Calibri"/>
              <a:sym typeface="Calibri"/>
            </a:endParaRPr>
          </a:p>
        </p:txBody>
      </p:sp>
      <p:sp>
        <p:nvSpPr>
          <p:cNvPr id="70" name="Google Shape;70;p4"/>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4"/>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4"/>
          <p:cNvSpPr txBox="1"/>
          <p:nvPr/>
        </p:nvSpPr>
        <p:spPr>
          <a:xfrm>
            <a:off x="8712961" y="5741542"/>
            <a:ext cx="192405" cy="254635"/>
          </a:xfrm>
          <a:prstGeom prst="rect">
            <a:avLst/>
          </a:prstGeom>
          <a:noFill/>
          <a:ln>
            <a:noFill/>
          </a:ln>
        </p:spPr>
        <p:txBody>
          <a:bodyPr anchorCtr="0" anchor="t" bIns="0" lIns="0" spcFirstLastPara="1" rIns="0" wrap="square" tIns="0">
            <a:spAutoFit/>
          </a:bodyPr>
          <a:lstStyle/>
          <a:p>
            <a:pPr indent="0" lvl="0" marL="38100" marR="0" rtl="0" algn="l">
              <a:lnSpc>
                <a:spcPct val="100555"/>
              </a:lnSpc>
              <a:spcBef>
                <a:spcPts val="0"/>
              </a:spcBef>
              <a:spcAft>
                <a:spcPts val="0"/>
              </a:spcAft>
              <a:buNone/>
            </a:pPr>
            <a:fld id="{00000000-1234-1234-1234-123412341234}" type="slidenum">
              <a:rPr lang="en-US" sz="1800">
                <a:solidFill>
                  <a:srgbClr val="FFFFFF"/>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
        <p:nvSpPr>
          <p:cNvPr id="73" name="Google Shape;73;p4"/>
          <p:cNvSpPr txBox="1"/>
          <p:nvPr/>
        </p:nvSpPr>
        <p:spPr>
          <a:xfrm>
            <a:off x="1119327" y="5958313"/>
            <a:ext cx="1945639" cy="363855"/>
          </a:xfrm>
          <a:prstGeom prst="rect">
            <a:avLst/>
          </a:prstGeom>
          <a:noFill/>
          <a:ln>
            <a:noFill/>
          </a:ln>
        </p:spPr>
        <p:txBody>
          <a:bodyPr anchorCtr="0" anchor="t" bIns="0" lIns="0" spcFirstLastPara="1" rIns="0" wrap="square" tIns="0">
            <a:spAutoFit/>
          </a:bodyPr>
          <a:lstStyle/>
          <a:p>
            <a:pPr indent="0" lvl="0" marL="12700" marR="0" rtl="0" algn="l">
              <a:lnSpc>
                <a:spcPct val="115000"/>
              </a:lnSpc>
              <a:spcBef>
                <a:spcPts val="0"/>
              </a:spcBef>
              <a:spcAft>
                <a:spcPts val="0"/>
              </a:spcAft>
              <a:buNone/>
            </a:pPr>
            <a:r>
              <a:rPr lang="en-US" sz="2300">
                <a:solidFill>
                  <a:srgbClr val="C0504D"/>
                </a:solidFill>
                <a:latin typeface="Arial"/>
                <a:ea typeface="Arial"/>
                <a:cs typeface="Arial"/>
                <a:sym typeface="Arial"/>
              </a:rPr>
              <a:t>• </a:t>
            </a:r>
            <a:r>
              <a:rPr lang="en-US" sz="2300">
                <a:solidFill>
                  <a:schemeClr val="dk1"/>
                </a:solidFill>
                <a:latin typeface="Calibri"/>
                <a:ea typeface="Calibri"/>
                <a:cs typeface="Calibri"/>
                <a:sym typeface="Calibri"/>
              </a:rPr>
              <a:t>View the page</a:t>
            </a:r>
            <a:endParaRPr sz="23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ph type="title"/>
          </p:nvPr>
        </p:nvSpPr>
        <p:spPr>
          <a:xfrm>
            <a:off x="2785364" y="2338527"/>
            <a:ext cx="3641725" cy="75755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t>Basics of PHP</a:t>
            </a:r>
            <a:endParaRPr sz="4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6"/>
          <p:cNvSpPr txBox="1"/>
          <p:nvPr>
            <p:ph type="title"/>
          </p:nvPr>
        </p:nvSpPr>
        <p:spPr>
          <a:xfrm>
            <a:off x="536244" y="464896"/>
            <a:ext cx="321881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What is PHP?</a:t>
            </a:r>
            <a:endParaRPr/>
          </a:p>
        </p:txBody>
      </p:sp>
      <p:sp>
        <p:nvSpPr>
          <p:cNvPr id="84" name="Google Shape;84;p6"/>
          <p:cNvSpPr txBox="1"/>
          <p:nvPr/>
        </p:nvSpPr>
        <p:spPr>
          <a:xfrm>
            <a:off x="652068" y="1856308"/>
            <a:ext cx="6303010" cy="1838325"/>
          </a:xfrm>
          <a:prstGeom prst="rect">
            <a:avLst/>
          </a:prstGeom>
          <a:noFill/>
          <a:ln>
            <a:noFill/>
          </a:ln>
        </p:spPr>
        <p:txBody>
          <a:bodyPr anchorCtr="0" anchor="t" bIns="0" lIns="0" spcFirstLastPara="1" rIns="0" wrap="square" tIns="13950">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is an acronym for "PHP: Hypertext Preprocessor"</a:t>
            </a:r>
            <a:endParaRPr sz="2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Clr>
                <a:srgbClr val="4F81BC"/>
              </a:buClr>
              <a:buSzPts val="2550"/>
              <a:buFont typeface="Arial"/>
              <a:buNone/>
            </a:pPr>
            <a:r>
              <a:t/>
            </a:r>
            <a:endParaRPr sz="255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is a widely-used, open source scripting language</a:t>
            </a:r>
            <a:endParaRPr sz="2200">
              <a:solidFill>
                <a:schemeClr val="dk1"/>
              </a:solidFill>
              <a:latin typeface="Calibri"/>
              <a:ea typeface="Calibri"/>
              <a:cs typeface="Calibri"/>
              <a:sym typeface="Calibri"/>
            </a:endParaRPr>
          </a:p>
          <a:p>
            <a:pPr indent="0" lvl="0" marL="0" marR="0" rtl="0" algn="l">
              <a:lnSpc>
                <a:spcPct val="100000"/>
              </a:lnSpc>
              <a:spcBef>
                <a:spcPts val="60"/>
              </a:spcBef>
              <a:spcAft>
                <a:spcPts val="0"/>
              </a:spcAft>
              <a:buClr>
                <a:srgbClr val="4F81BC"/>
              </a:buClr>
              <a:buSzPts val="2550"/>
              <a:buFont typeface="Arial"/>
              <a:buNone/>
            </a:pPr>
            <a:r>
              <a:t/>
            </a:r>
            <a:endParaRPr sz="255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scripts are executed on the server</a:t>
            </a:r>
            <a:endParaRPr sz="2200">
              <a:solidFill>
                <a:schemeClr val="dk1"/>
              </a:solidFill>
              <a:latin typeface="Calibri"/>
              <a:ea typeface="Calibri"/>
              <a:cs typeface="Calibri"/>
              <a:sym typeface="Calibri"/>
            </a:endParaRPr>
          </a:p>
        </p:txBody>
      </p:sp>
      <p:sp>
        <p:nvSpPr>
          <p:cNvPr id="85" name="Google Shape;85;p6"/>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6"/>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6"/>
          <p:cNvSpPr txBox="1"/>
          <p:nvPr/>
        </p:nvSpPr>
        <p:spPr>
          <a:xfrm>
            <a:off x="8712961" y="5741542"/>
            <a:ext cx="192405" cy="254635"/>
          </a:xfrm>
          <a:prstGeom prst="rect">
            <a:avLst/>
          </a:prstGeom>
          <a:noFill/>
          <a:ln>
            <a:noFill/>
          </a:ln>
        </p:spPr>
        <p:txBody>
          <a:bodyPr anchorCtr="0" anchor="t" bIns="0" lIns="0" spcFirstLastPara="1" rIns="0" wrap="square" tIns="0">
            <a:spAutoFit/>
          </a:bodyPr>
          <a:lstStyle/>
          <a:p>
            <a:pPr indent="0" lvl="0" marL="38100" marR="0" rtl="0" algn="l">
              <a:lnSpc>
                <a:spcPct val="100555"/>
              </a:lnSpc>
              <a:spcBef>
                <a:spcPts val="0"/>
              </a:spcBef>
              <a:spcAft>
                <a:spcPts val="0"/>
              </a:spcAft>
              <a:buNone/>
            </a:pPr>
            <a:fld id="{00000000-1234-1234-1234-123412341234}" type="slidenum">
              <a:rPr lang="en-US" sz="1800">
                <a:solidFill>
                  <a:srgbClr val="FFFFFF"/>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7"/>
          <p:cNvSpPr txBox="1"/>
          <p:nvPr>
            <p:ph type="title"/>
          </p:nvPr>
        </p:nvSpPr>
        <p:spPr>
          <a:xfrm>
            <a:off x="536244" y="464896"/>
            <a:ext cx="459105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What is a PHP File?</a:t>
            </a:r>
            <a:endParaRPr/>
          </a:p>
        </p:txBody>
      </p:sp>
      <p:sp>
        <p:nvSpPr>
          <p:cNvPr id="93" name="Google Shape;93;p7"/>
          <p:cNvSpPr txBox="1"/>
          <p:nvPr/>
        </p:nvSpPr>
        <p:spPr>
          <a:xfrm>
            <a:off x="409448" y="1687449"/>
            <a:ext cx="3275965" cy="2749550"/>
          </a:xfrm>
          <a:prstGeom prst="rect">
            <a:avLst/>
          </a:prstGeom>
          <a:noFill/>
          <a:ln>
            <a:noFill/>
          </a:ln>
        </p:spPr>
        <p:txBody>
          <a:bodyPr anchorCtr="0" anchor="t" bIns="0" lIns="0" spcFirstLastPara="1" rIns="0" wrap="square" tIns="13325">
            <a:spAutoFit/>
          </a:bodyPr>
          <a:lstStyle/>
          <a:p>
            <a:pPr indent="-229234" lvl="0" marL="241300" marR="508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files can contain text,  HTML, CSS, JavaScript, and  PHP code</a:t>
            </a:r>
            <a:endParaRPr sz="22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Clr>
                <a:srgbClr val="4F81BC"/>
              </a:buClr>
              <a:buSzPts val="2400"/>
              <a:buFont typeface="Arial"/>
              <a:buNone/>
            </a:pPr>
            <a:r>
              <a:t/>
            </a:r>
            <a:endParaRPr sz="2400">
              <a:solidFill>
                <a:schemeClr val="dk1"/>
              </a:solidFill>
              <a:latin typeface="Calibri"/>
              <a:ea typeface="Calibri"/>
              <a:cs typeface="Calibri"/>
              <a:sym typeface="Calibri"/>
            </a:endParaRPr>
          </a:p>
          <a:p>
            <a:pPr indent="-229234" lvl="0" marL="241300" marR="263525" rtl="0" algn="l">
              <a:lnSpc>
                <a:spcPct val="2001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files have extension  ".</a:t>
            </a:r>
            <a:r>
              <a:rPr b="1" lang="en-US" sz="2200">
                <a:solidFill>
                  <a:srgbClr val="C00000"/>
                </a:solidFill>
                <a:latin typeface="Calibri"/>
                <a:ea typeface="Calibri"/>
                <a:cs typeface="Calibri"/>
                <a:sym typeface="Calibri"/>
              </a:rPr>
              <a:t>php</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grpSp>
        <p:nvGrpSpPr>
          <p:cNvPr id="94" name="Google Shape;94;p7"/>
          <p:cNvGrpSpPr/>
          <p:nvPr/>
        </p:nvGrpSpPr>
        <p:grpSpPr>
          <a:xfrm>
            <a:off x="3907535" y="1584960"/>
            <a:ext cx="4694936" cy="4459224"/>
            <a:chOff x="3907535" y="1584960"/>
            <a:chExt cx="4694936" cy="4459224"/>
          </a:xfrm>
        </p:grpSpPr>
        <p:sp>
          <p:nvSpPr>
            <p:cNvPr id="95" name="Google Shape;95;p7"/>
            <p:cNvSpPr/>
            <p:nvPr/>
          </p:nvSpPr>
          <p:spPr>
            <a:xfrm>
              <a:off x="8531351"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6" name="Google Shape;96;p7"/>
            <p:cNvPicPr preferRelativeResize="0"/>
            <p:nvPr/>
          </p:nvPicPr>
          <p:blipFill rotWithShape="1">
            <a:blip r:embed="rId3">
              <a:alphaModFix/>
            </a:blip>
            <a:srcRect b="0" l="0" r="0" t="0"/>
            <a:stretch/>
          </p:blipFill>
          <p:spPr>
            <a:xfrm>
              <a:off x="3907535" y="1584960"/>
              <a:ext cx="4623816" cy="4267200"/>
            </a:xfrm>
            <a:prstGeom prst="rect">
              <a:avLst/>
            </a:prstGeom>
            <a:noFill/>
            <a:ln>
              <a:noFill/>
            </a:ln>
          </p:spPr>
        </p:pic>
      </p:grpSp>
      <p:sp>
        <p:nvSpPr>
          <p:cNvPr id="97" name="Google Shape;97;p7"/>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7"/>
          <p:cNvSpPr txBox="1"/>
          <p:nvPr/>
        </p:nvSpPr>
        <p:spPr>
          <a:xfrm>
            <a:off x="8712961" y="5741542"/>
            <a:ext cx="192405" cy="254635"/>
          </a:xfrm>
          <a:prstGeom prst="rect">
            <a:avLst/>
          </a:prstGeom>
          <a:noFill/>
          <a:ln>
            <a:noFill/>
          </a:ln>
        </p:spPr>
        <p:txBody>
          <a:bodyPr anchorCtr="0" anchor="t" bIns="0" lIns="0" spcFirstLastPara="1" rIns="0" wrap="square" tIns="0">
            <a:spAutoFit/>
          </a:bodyPr>
          <a:lstStyle/>
          <a:p>
            <a:pPr indent="0" lvl="0" marL="38100" marR="0" rtl="0" algn="l">
              <a:lnSpc>
                <a:spcPct val="100555"/>
              </a:lnSpc>
              <a:spcBef>
                <a:spcPts val="0"/>
              </a:spcBef>
              <a:spcAft>
                <a:spcPts val="0"/>
              </a:spcAft>
              <a:buNone/>
            </a:pPr>
            <a:fld id="{00000000-1234-1234-1234-123412341234}" type="slidenum">
              <a:rPr lang="en-US" sz="1800">
                <a:solidFill>
                  <a:srgbClr val="FFFFFF"/>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txBox="1"/>
          <p:nvPr>
            <p:ph type="title"/>
          </p:nvPr>
        </p:nvSpPr>
        <p:spPr>
          <a:xfrm>
            <a:off x="536244" y="464896"/>
            <a:ext cx="451675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What Can PHP Do?</a:t>
            </a:r>
            <a:endParaRPr/>
          </a:p>
        </p:txBody>
      </p:sp>
      <p:sp>
        <p:nvSpPr>
          <p:cNvPr id="104" name="Google Shape;104;p8"/>
          <p:cNvSpPr txBox="1"/>
          <p:nvPr/>
        </p:nvSpPr>
        <p:spPr>
          <a:xfrm>
            <a:off x="707542" y="1640281"/>
            <a:ext cx="7565390" cy="3983990"/>
          </a:xfrm>
          <a:prstGeom prst="rect">
            <a:avLst/>
          </a:prstGeom>
          <a:noFill/>
          <a:ln>
            <a:noFill/>
          </a:ln>
        </p:spPr>
        <p:txBody>
          <a:bodyPr anchorCtr="0" anchor="t" bIns="0" lIns="0" spcFirstLastPara="1" rIns="0" wrap="square" tIns="79375">
            <a:spAutoFit/>
          </a:bodyPr>
          <a:lstStyle/>
          <a:p>
            <a:pPr indent="-229235" lvl="0" marL="35687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Generate dynamic page content</a:t>
            </a:r>
            <a:endParaRPr sz="2200">
              <a:solidFill>
                <a:schemeClr val="dk1"/>
              </a:solidFill>
              <a:latin typeface="Calibri"/>
              <a:ea typeface="Calibri"/>
              <a:cs typeface="Calibri"/>
              <a:sym typeface="Calibri"/>
            </a:endParaRPr>
          </a:p>
          <a:p>
            <a:pPr indent="-229235" lvl="0" marL="35687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Create, open, read, write, delete, and close files on the server</a:t>
            </a:r>
            <a:endParaRPr sz="2200">
              <a:solidFill>
                <a:schemeClr val="dk1"/>
              </a:solidFill>
              <a:latin typeface="Calibri"/>
              <a:ea typeface="Calibri"/>
              <a:cs typeface="Calibri"/>
              <a:sym typeface="Calibri"/>
            </a:endParaRPr>
          </a:p>
          <a:p>
            <a:pPr indent="-229235" lvl="0" marL="35687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Collect form data</a:t>
            </a:r>
            <a:endParaRPr sz="2200">
              <a:solidFill>
                <a:schemeClr val="dk1"/>
              </a:solidFill>
              <a:latin typeface="Calibri"/>
              <a:ea typeface="Calibri"/>
              <a:cs typeface="Calibri"/>
              <a:sym typeface="Calibri"/>
            </a:endParaRPr>
          </a:p>
          <a:p>
            <a:pPr indent="-229235" lvl="0" marL="35687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Send and receive cookies</a:t>
            </a:r>
            <a:endParaRPr sz="2200">
              <a:solidFill>
                <a:schemeClr val="dk1"/>
              </a:solidFill>
              <a:latin typeface="Calibri"/>
              <a:ea typeface="Calibri"/>
              <a:cs typeface="Calibri"/>
              <a:sym typeface="Calibri"/>
            </a:endParaRPr>
          </a:p>
          <a:p>
            <a:pPr indent="-229235" lvl="0" marL="35687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Add, delete, modify data in your database</a:t>
            </a:r>
            <a:endParaRPr sz="2200">
              <a:solidFill>
                <a:schemeClr val="dk1"/>
              </a:solidFill>
              <a:latin typeface="Calibri"/>
              <a:ea typeface="Calibri"/>
              <a:cs typeface="Calibri"/>
              <a:sym typeface="Calibri"/>
            </a:endParaRPr>
          </a:p>
          <a:p>
            <a:pPr indent="-229235" lvl="0" marL="35687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To control user-access</a:t>
            </a:r>
            <a:endParaRPr sz="2200">
              <a:solidFill>
                <a:schemeClr val="dk1"/>
              </a:solidFill>
              <a:latin typeface="Calibri"/>
              <a:ea typeface="Calibri"/>
              <a:cs typeface="Calibri"/>
              <a:sym typeface="Calibri"/>
            </a:endParaRPr>
          </a:p>
          <a:p>
            <a:pPr indent="-229235" lvl="0" marL="35687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Data encryption</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3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200">
                <a:solidFill>
                  <a:schemeClr val="dk1"/>
                </a:solidFill>
                <a:latin typeface="Calibri"/>
                <a:ea typeface="Calibri"/>
                <a:cs typeface="Calibri"/>
                <a:sym typeface="Calibri"/>
              </a:rPr>
              <a:t>With PHP can generate output HTML, images, PDF files, and even</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200">
                <a:solidFill>
                  <a:schemeClr val="dk1"/>
                </a:solidFill>
                <a:latin typeface="Calibri"/>
                <a:ea typeface="Calibri"/>
                <a:cs typeface="Calibri"/>
                <a:sym typeface="Calibri"/>
              </a:rPr>
              <a:t>Flash movies.</a:t>
            </a:r>
            <a:endParaRPr sz="2200">
              <a:solidFill>
                <a:schemeClr val="dk1"/>
              </a:solidFill>
              <a:latin typeface="Calibri"/>
              <a:ea typeface="Calibri"/>
              <a:cs typeface="Calibri"/>
              <a:sym typeface="Calibri"/>
            </a:endParaRPr>
          </a:p>
        </p:txBody>
      </p:sp>
      <p:sp>
        <p:nvSpPr>
          <p:cNvPr id="105" name="Google Shape;105;p8"/>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8"/>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8"/>
          <p:cNvSpPr txBox="1"/>
          <p:nvPr/>
        </p:nvSpPr>
        <p:spPr>
          <a:xfrm>
            <a:off x="8712961" y="5741542"/>
            <a:ext cx="192405" cy="254635"/>
          </a:xfrm>
          <a:prstGeom prst="rect">
            <a:avLst/>
          </a:prstGeom>
          <a:noFill/>
          <a:ln>
            <a:noFill/>
          </a:ln>
        </p:spPr>
        <p:txBody>
          <a:bodyPr anchorCtr="0" anchor="t" bIns="0" lIns="0" spcFirstLastPara="1" rIns="0" wrap="square" tIns="0">
            <a:spAutoFit/>
          </a:bodyPr>
          <a:lstStyle/>
          <a:p>
            <a:pPr indent="0" lvl="0" marL="38100" marR="0" rtl="0" algn="l">
              <a:lnSpc>
                <a:spcPct val="100555"/>
              </a:lnSpc>
              <a:spcBef>
                <a:spcPts val="0"/>
              </a:spcBef>
              <a:spcAft>
                <a:spcPts val="0"/>
              </a:spcAft>
              <a:buNone/>
            </a:pPr>
            <a:fld id="{00000000-1234-1234-1234-123412341234}" type="slidenum">
              <a:rPr lang="en-US" sz="1800">
                <a:solidFill>
                  <a:srgbClr val="FFFFFF"/>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9"/>
          <p:cNvSpPr txBox="1"/>
          <p:nvPr>
            <p:ph type="title"/>
          </p:nvPr>
        </p:nvSpPr>
        <p:spPr>
          <a:xfrm>
            <a:off x="536244" y="464896"/>
            <a:ext cx="252285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Why PHP?</a:t>
            </a:r>
            <a:endParaRPr/>
          </a:p>
        </p:txBody>
      </p:sp>
      <p:sp>
        <p:nvSpPr>
          <p:cNvPr id="113" name="Google Shape;113;p9"/>
          <p:cNvSpPr txBox="1"/>
          <p:nvPr/>
        </p:nvSpPr>
        <p:spPr>
          <a:xfrm>
            <a:off x="446328" y="1458283"/>
            <a:ext cx="7591425" cy="4051300"/>
          </a:xfrm>
          <a:prstGeom prst="rect">
            <a:avLst/>
          </a:prstGeom>
          <a:noFill/>
          <a:ln>
            <a:noFill/>
          </a:ln>
        </p:spPr>
        <p:txBody>
          <a:bodyPr anchorCtr="0" anchor="t" bIns="0" lIns="0" spcFirstLastPara="1" rIns="0" wrap="square" tIns="147300">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runs on various platforms (Windows, Linux, Unix, Mac OS X,</a:t>
            </a:r>
            <a:endParaRPr sz="2200">
              <a:solidFill>
                <a:schemeClr val="dk1"/>
              </a:solidFill>
              <a:latin typeface="Calibri"/>
              <a:ea typeface="Calibri"/>
              <a:cs typeface="Calibri"/>
              <a:sym typeface="Calibri"/>
            </a:endParaRPr>
          </a:p>
          <a:p>
            <a:pPr indent="0" lvl="0" marL="241300" marR="0" rtl="0" algn="l">
              <a:lnSpc>
                <a:spcPct val="100000"/>
              </a:lnSpc>
              <a:spcBef>
                <a:spcPts val="1055"/>
              </a:spcBef>
              <a:spcAft>
                <a:spcPts val="0"/>
              </a:spcAft>
              <a:buNone/>
            </a:pPr>
            <a:r>
              <a:rPr lang="en-US" sz="2200">
                <a:solidFill>
                  <a:schemeClr val="dk1"/>
                </a:solidFill>
                <a:latin typeface="Calibri"/>
                <a:ea typeface="Calibri"/>
                <a:cs typeface="Calibri"/>
                <a:sym typeface="Calibri"/>
              </a:rPr>
              <a:t>etc.)</a:t>
            </a:r>
            <a:endParaRPr sz="2200">
              <a:solidFill>
                <a:schemeClr val="dk1"/>
              </a:solidFill>
              <a:latin typeface="Calibri"/>
              <a:ea typeface="Calibri"/>
              <a:cs typeface="Calibri"/>
              <a:sym typeface="Calibri"/>
            </a:endParaRPr>
          </a:p>
          <a:p>
            <a:pPr indent="-228600" lvl="0" marL="241300" marR="0" rtl="0" algn="l">
              <a:lnSpc>
                <a:spcPct val="100000"/>
              </a:lnSpc>
              <a:spcBef>
                <a:spcPts val="158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is compatible with almost all servers used today (Apache, IIS</a:t>
            </a:r>
            <a:endParaRPr sz="2200">
              <a:solidFill>
                <a:schemeClr val="dk1"/>
              </a:solidFill>
              <a:latin typeface="Calibri"/>
              <a:ea typeface="Calibri"/>
              <a:cs typeface="Calibri"/>
              <a:sym typeface="Calibri"/>
            </a:endParaRPr>
          </a:p>
          <a:p>
            <a:pPr indent="0" lvl="0" marL="241300" marR="0" rtl="0" algn="l">
              <a:lnSpc>
                <a:spcPct val="100000"/>
              </a:lnSpc>
              <a:spcBef>
                <a:spcPts val="1060"/>
              </a:spcBef>
              <a:spcAft>
                <a:spcPts val="0"/>
              </a:spcAft>
              <a:buNone/>
            </a:pPr>
            <a:r>
              <a:rPr lang="en-US" sz="2200">
                <a:solidFill>
                  <a:schemeClr val="dk1"/>
                </a:solidFill>
                <a:latin typeface="Calibri"/>
                <a:ea typeface="Calibri"/>
                <a:cs typeface="Calibri"/>
                <a:sym typeface="Calibri"/>
              </a:rPr>
              <a:t>etc.)</a:t>
            </a:r>
            <a:endParaRPr sz="2200">
              <a:solidFill>
                <a:schemeClr val="dk1"/>
              </a:solidFill>
              <a:latin typeface="Calibri"/>
              <a:ea typeface="Calibri"/>
              <a:cs typeface="Calibri"/>
              <a:sym typeface="Calibri"/>
            </a:endParaRPr>
          </a:p>
          <a:p>
            <a:pPr indent="-228600" lvl="0" marL="241300" marR="0" rtl="0" algn="l">
              <a:lnSpc>
                <a:spcPct val="100000"/>
              </a:lnSpc>
              <a:spcBef>
                <a:spcPts val="158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supports a wide range of databases</a:t>
            </a:r>
            <a:endParaRPr sz="2200">
              <a:solidFill>
                <a:schemeClr val="dk1"/>
              </a:solidFill>
              <a:latin typeface="Calibri"/>
              <a:ea typeface="Calibri"/>
              <a:cs typeface="Calibri"/>
              <a:sym typeface="Calibri"/>
            </a:endParaRPr>
          </a:p>
          <a:p>
            <a:pPr indent="-228600" lvl="0" marL="241300" marR="2205990" rtl="0" algn="l">
              <a:lnSpc>
                <a:spcPct val="140100"/>
              </a:lnSpc>
              <a:spcBef>
                <a:spcPts val="52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is free. Download it from the official PHP  resource:</a:t>
            </a:r>
            <a:r>
              <a:rPr lang="en-US" sz="2200">
                <a:solidFill>
                  <a:srgbClr val="0000FF"/>
                </a:solidFill>
                <a:latin typeface="Calibri"/>
                <a:ea typeface="Calibri"/>
                <a:cs typeface="Calibri"/>
                <a:sym typeface="Calibri"/>
              </a:rPr>
              <a:t> </a:t>
            </a:r>
            <a:r>
              <a:rPr lang="en-US" sz="2200" u="sng">
                <a:solidFill>
                  <a:srgbClr val="0000FF"/>
                </a:solidFill>
                <a:latin typeface="Calibri"/>
                <a:ea typeface="Calibri"/>
                <a:cs typeface="Calibri"/>
                <a:sym typeface="Calibri"/>
                <a:hlinkClick r:id="rId3">
                  <a:extLst>
                    <a:ext uri="{A12FA001-AC4F-418D-AE19-62706E023703}">
                      <ahyp:hlinkClr val="tx"/>
                    </a:ext>
                  </a:extLst>
                </a:hlinkClick>
              </a:rPr>
              <a:t>www.php.net</a:t>
            </a:r>
            <a:endParaRPr sz="2200">
              <a:solidFill>
                <a:schemeClr val="dk1"/>
              </a:solidFill>
              <a:latin typeface="Calibri"/>
              <a:ea typeface="Calibri"/>
              <a:cs typeface="Calibri"/>
              <a:sym typeface="Calibri"/>
            </a:endParaRPr>
          </a:p>
          <a:p>
            <a:pPr indent="-228600" lvl="0" marL="241300" marR="0" rtl="0" algn="l">
              <a:lnSpc>
                <a:spcPct val="100000"/>
              </a:lnSpc>
              <a:spcBef>
                <a:spcPts val="159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is easy to learn and runs efficiently on the server side</a:t>
            </a:r>
            <a:endParaRPr sz="2200">
              <a:solidFill>
                <a:schemeClr val="dk1"/>
              </a:solidFill>
              <a:latin typeface="Calibri"/>
              <a:ea typeface="Calibri"/>
              <a:cs typeface="Calibri"/>
              <a:sym typeface="Calibri"/>
            </a:endParaRPr>
          </a:p>
        </p:txBody>
      </p:sp>
      <p:sp>
        <p:nvSpPr>
          <p:cNvPr id="114" name="Google Shape;114;p9"/>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9"/>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9"/>
          <p:cNvSpPr txBox="1"/>
          <p:nvPr/>
        </p:nvSpPr>
        <p:spPr>
          <a:xfrm>
            <a:off x="8712961" y="5741542"/>
            <a:ext cx="192405" cy="254635"/>
          </a:xfrm>
          <a:prstGeom prst="rect">
            <a:avLst/>
          </a:prstGeom>
          <a:noFill/>
          <a:ln>
            <a:noFill/>
          </a:ln>
        </p:spPr>
        <p:txBody>
          <a:bodyPr anchorCtr="0" anchor="t" bIns="0" lIns="0" spcFirstLastPara="1" rIns="0" wrap="square" tIns="0">
            <a:spAutoFit/>
          </a:bodyPr>
          <a:lstStyle/>
          <a:p>
            <a:pPr indent="0" lvl="0" marL="38100" marR="0" rtl="0" algn="l">
              <a:lnSpc>
                <a:spcPct val="100555"/>
              </a:lnSpc>
              <a:spcBef>
                <a:spcPts val="0"/>
              </a:spcBef>
              <a:spcAft>
                <a:spcPts val="0"/>
              </a:spcAft>
              <a:buNone/>
            </a:pPr>
            <a:fld id="{00000000-1234-1234-1234-123412341234}" type="slidenum">
              <a:rPr lang="en-US" sz="1800">
                <a:solidFill>
                  <a:srgbClr val="FFFFFF"/>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0"/>
          <p:cNvSpPr txBox="1"/>
          <p:nvPr>
            <p:ph type="title"/>
          </p:nvPr>
        </p:nvSpPr>
        <p:spPr>
          <a:xfrm>
            <a:off x="536244" y="464896"/>
            <a:ext cx="266255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Install PHP</a:t>
            </a:r>
            <a:endParaRPr/>
          </a:p>
        </p:txBody>
      </p:sp>
      <p:sp>
        <p:nvSpPr>
          <p:cNvPr id="122" name="Google Shape;122;p10"/>
          <p:cNvSpPr txBox="1"/>
          <p:nvPr/>
        </p:nvSpPr>
        <p:spPr>
          <a:xfrm>
            <a:off x="590194" y="1355801"/>
            <a:ext cx="7976870" cy="4522470"/>
          </a:xfrm>
          <a:prstGeom prst="rect">
            <a:avLst/>
          </a:prstGeom>
          <a:noFill/>
          <a:ln>
            <a:noFill/>
          </a:ln>
        </p:spPr>
        <p:txBody>
          <a:bodyPr anchorCtr="0" anchor="t" bIns="0" lIns="0" spcFirstLastPara="1" rIns="0" wrap="square" tIns="13950">
            <a:spAutoFit/>
          </a:bodyPr>
          <a:lstStyle/>
          <a:p>
            <a:pPr indent="-229234"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To install PHP, suggest you to install AMP (Apache, MySQL, PHP)</a:t>
            </a:r>
            <a:endParaRPr sz="2200">
              <a:solidFill>
                <a:schemeClr val="dk1"/>
              </a:solidFill>
              <a:latin typeface="Calibri"/>
              <a:ea typeface="Calibri"/>
              <a:cs typeface="Calibri"/>
              <a:sym typeface="Calibri"/>
            </a:endParaRPr>
          </a:p>
          <a:p>
            <a:pPr indent="0" lvl="0" marL="241300" marR="0" rtl="0" algn="l">
              <a:lnSpc>
                <a:spcPct val="100000"/>
              </a:lnSpc>
              <a:spcBef>
                <a:spcPts val="0"/>
              </a:spcBef>
              <a:spcAft>
                <a:spcPts val="0"/>
              </a:spcAft>
              <a:buNone/>
            </a:pPr>
            <a:r>
              <a:rPr lang="en-US" sz="2200">
                <a:solidFill>
                  <a:schemeClr val="dk1"/>
                </a:solidFill>
                <a:latin typeface="Calibri"/>
                <a:ea typeface="Calibri"/>
                <a:cs typeface="Calibri"/>
                <a:sym typeface="Calibri"/>
              </a:rPr>
              <a:t>software stack.</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It is available for all operating systems. There are many AMP options</a:t>
            </a:r>
            <a:endParaRPr sz="2200">
              <a:solidFill>
                <a:schemeClr val="dk1"/>
              </a:solidFill>
              <a:latin typeface="Calibri"/>
              <a:ea typeface="Calibri"/>
              <a:cs typeface="Calibri"/>
              <a:sym typeface="Calibri"/>
            </a:endParaRPr>
          </a:p>
          <a:p>
            <a:pPr indent="0" lvl="0" marL="241300" marR="0" rtl="0" algn="l">
              <a:lnSpc>
                <a:spcPct val="100000"/>
              </a:lnSpc>
              <a:spcBef>
                <a:spcPts val="0"/>
              </a:spcBef>
              <a:spcAft>
                <a:spcPts val="0"/>
              </a:spcAft>
              <a:buNone/>
            </a:pPr>
            <a:r>
              <a:rPr lang="en-US" sz="2200">
                <a:solidFill>
                  <a:schemeClr val="dk1"/>
                </a:solidFill>
                <a:latin typeface="Calibri"/>
                <a:ea typeface="Calibri"/>
                <a:cs typeface="Calibri"/>
                <a:sym typeface="Calibri"/>
              </a:rPr>
              <a:t>available in the market that are given below:</a:t>
            </a:r>
            <a:endParaRPr sz="2200">
              <a:solidFill>
                <a:schemeClr val="dk1"/>
              </a:solidFill>
              <a:latin typeface="Calibri"/>
              <a:ea typeface="Calibri"/>
              <a:cs typeface="Calibri"/>
              <a:sym typeface="Calibri"/>
            </a:endParaRPr>
          </a:p>
          <a:p>
            <a:pPr indent="-229234" lvl="0" marL="241300" marR="0" rtl="0" algn="l">
              <a:lnSpc>
                <a:spcPct val="100000"/>
              </a:lnSpc>
              <a:spcBef>
                <a:spcPts val="53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WAMP </a:t>
            </a:r>
            <a:r>
              <a:rPr lang="en-US" sz="2200">
                <a:solidFill>
                  <a:schemeClr val="dk1"/>
                </a:solidFill>
                <a:latin typeface="Calibri"/>
                <a:ea typeface="Calibri"/>
                <a:cs typeface="Calibri"/>
                <a:sym typeface="Calibri"/>
              </a:rPr>
              <a:t>for Windows</a:t>
            </a:r>
            <a:endParaRPr sz="2200">
              <a:solidFill>
                <a:schemeClr val="dk1"/>
              </a:solidFill>
              <a:latin typeface="Calibri"/>
              <a:ea typeface="Calibri"/>
              <a:cs typeface="Calibri"/>
              <a:sym typeface="Calibri"/>
            </a:endParaRPr>
          </a:p>
          <a:p>
            <a:pPr indent="0" lvl="0" marL="204470" marR="0" rtl="0" algn="l">
              <a:lnSpc>
                <a:spcPct val="100000"/>
              </a:lnSpc>
              <a:spcBef>
                <a:spcPts val="525"/>
              </a:spcBef>
              <a:spcAft>
                <a:spcPts val="0"/>
              </a:spcAft>
              <a:buNone/>
            </a:pPr>
            <a:r>
              <a:rPr lang="en-US" sz="2200">
                <a:solidFill>
                  <a:schemeClr val="dk1"/>
                </a:solidFill>
                <a:latin typeface="Calibri"/>
                <a:ea typeface="Calibri"/>
                <a:cs typeface="Calibri"/>
                <a:sym typeface="Calibri"/>
              </a:rPr>
              <a:t>(</a:t>
            </a:r>
            <a:r>
              <a:rPr lang="en-US" sz="2200" u="sng">
                <a:solidFill>
                  <a:srgbClr val="0000FF"/>
                </a:solidFill>
                <a:latin typeface="Calibri"/>
                <a:ea typeface="Calibri"/>
                <a:cs typeface="Calibri"/>
                <a:sym typeface="Calibri"/>
                <a:hlinkClick r:id="rId3">
                  <a:extLst>
                    <a:ext uri="{A12FA001-AC4F-418D-AE19-62706E023703}">
                      <ahyp:hlinkClr val="tx"/>
                    </a:ext>
                  </a:extLst>
                </a:hlinkClick>
              </a:rPr>
              <a:t>http://www.wampserver.com/en/</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LAMP </a:t>
            </a:r>
            <a:r>
              <a:rPr lang="en-US" sz="2200">
                <a:solidFill>
                  <a:schemeClr val="dk1"/>
                </a:solidFill>
                <a:latin typeface="Calibri"/>
                <a:ea typeface="Calibri"/>
                <a:cs typeface="Calibri"/>
                <a:sym typeface="Calibri"/>
              </a:rPr>
              <a:t>for Linux</a:t>
            </a:r>
            <a:endParaRPr sz="2200">
              <a:solidFill>
                <a:schemeClr val="dk1"/>
              </a:solidFill>
              <a:latin typeface="Calibri"/>
              <a:ea typeface="Calibri"/>
              <a:cs typeface="Calibri"/>
              <a:sym typeface="Calibri"/>
            </a:endParaRPr>
          </a:p>
          <a:p>
            <a:pPr indent="0" lvl="0" marL="241300" marR="0" rtl="0" algn="l">
              <a:lnSpc>
                <a:spcPct val="100000"/>
              </a:lnSpc>
              <a:spcBef>
                <a:spcPts val="0"/>
              </a:spcBef>
              <a:spcAft>
                <a:spcPts val="0"/>
              </a:spcAft>
              <a:buNone/>
            </a:pPr>
            <a:r>
              <a:rPr lang="en-US" sz="2200">
                <a:solidFill>
                  <a:schemeClr val="dk1"/>
                </a:solidFill>
                <a:latin typeface="Calibri"/>
                <a:ea typeface="Calibri"/>
                <a:cs typeface="Calibri"/>
                <a:sym typeface="Calibri"/>
              </a:rPr>
              <a:t>(</a:t>
            </a:r>
            <a:r>
              <a:rPr lang="en-US" sz="2200" u="sng">
                <a:solidFill>
                  <a:srgbClr val="0000FF"/>
                </a:solidFill>
                <a:latin typeface="Calibri"/>
                <a:ea typeface="Calibri"/>
                <a:cs typeface="Calibri"/>
                <a:sym typeface="Calibri"/>
                <a:hlinkClick r:id="rId4">
                  <a:extLst>
                    <a:ext uri="{A12FA001-AC4F-418D-AE19-62706E023703}">
                      <ahyp:hlinkClr val="tx"/>
                    </a:ext>
                  </a:extLst>
                </a:hlinkClick>
              </a:rPr>
              <a:t>http://csg.sph.umich.edu/abecasis/LAMP/download/</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192405" lvl="0" marL="204470" marR="2983230" rtl="0" algn="l">
              <a:lnSpc>
                <a:spcPct val="120100"/>
              </a:lnSpc>
              <a:spcBef>
                <a:spcPts val="0"/>
              </a:spcBef>
              <a:spcAft>
                <a:spcPts val="0"/>
              </a:spcAft>
              <a:buClr>
                <a:srgbClr val="4F81BC"/>
              </a:buClr>
              <a:buSzPts val="1800"/>
              <a:buFont typeface="Arial"/>
              <a:buChar char="•"/>
            </a:pPr>
            <a:r>
              <a:rPr lang="en-US" sz="1800">
                <a:solidFill>
                  <a:schemeClr val="dk1"/>
                </a:solidFill>
                <a:latin typeface="Calibri"/>
                <a:ea typeface="Calibri"/>
                <a:cs typeface="Calibri"/>
                <a:sym typeface="Calibri"/>
              </a:rPr>
              <a:t>	</a:t>
            </a:r>
            <a:r>
              <a:rPr b="1" lang="en-US" sz="2200">
                <a:solidFill>
                  <a:schemeClr val="dk1"/>
                </a:solidFill>
                <a:latin typeface="Calibri"/>
                <a:ea typeface="Calibri"/>
                <a:cs typeface="Calibri"/>
                <a:sym typeface="Calibri"/>
              </a:rPr>
              <a:t>MAMP </a:t>
            </a:r>
            <a:r>
              <a:rPr lang="en-US" sz="2200">
                <a:solidFill>
                  <a:schemeClr val="dk1"/>
                </a:solidFill>
                <a:latin typeface="Calibri"/>
                <a:ea typeface="Calibri"/>
                <a:cs typeface="Calibri"/>
                <a:sym typeface="Calibri"/>
              </a:rPr>
              <a:t>for Mac  (</a:t>
            </a:r>
            <a:r>
              <a:rPr lang="en-US" sz="2200" u="sng">
                <a:solidFill>
                  <a:srgbClr val="0000FF"/>
                </a:solidFill>
                <a:latin typeface="Calibri"/>
                <a:ea typeface="Calibri"/>
                <a:cs typeface="Calibri"/>
                <a:sym typeface="Calibri"/>
                <a:hlinkClick r:id="rId5">
                  <a:extLst>
                    <a:ext uri="{A12FA001-AC4F-418D-AE19-62706E023703}">
                      <ahyp:hlinkClr val="tx"/>
                    </a:ext>
                  </a:extLst>
                </a:hlinkClick>
              </a:rPr>
              <a:t>https://www.mamp.info/en/downloads/</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XAMPP </a:t>
            </a:r>
            <a:r>
              <a:rPr lang="en-US" sz="2200">
                <a:solidFill>
                  <a:schemeClr val="dk1"/>
                </a:solidFill>
                <a:latin typeface="Calibri"/>
                <a:ea typeface="Calibri"/>
                <a:cs typeface="Calibri"/>
                <a:sym typeface="Calibri"/>
              </a:rPr>
              <a:t>(Cross, Apache, MySQL, PHP, Perl) for Cross Platform</a:t>
            </a:r>
            <a:endParaRPr sz="2200">
              <a:solidFill>
                <a:schemeClr val="dk1"/>
              </a:solidFill>
              <a:latin typeface="Calibri"/>
              <a:ea typeface="Calibri"/>
              <a:cs typeface="Calibri"/>
              <a:sym typeface="Calibri"/>
            </a:endParaRPr>
          </a:p>
          <a:p>
            <a:pPr indent="0" lvl="0" marL="241300" marR="0" rtl="0" algn="l">
              <a:lnSpc>
                <a:spcPct val="100000"/>
              </a:lnSpc>
              <a:spcBef>
                <a:spcPts val="0"/>
              </a:spcBef>
              <a:spcAft>
                <a:spcPts val="0"/>
              </a:spcAft>
              <a:buNone/>
            </a:pPr>
            <a:r>
              <a:rPr lang="en-US" sz="2200">
                <a:solidFill>
                  <a:schemeClr val="dk1"/>
                </a:solidFill>
                <a:latin typeface="Calibri"/>
                <a:ea typeface="Calibri"/>
                <a:cs typeface="Calibri"/>
                <a:sym typeface="Calibri"/>
              </a:rPr>
              <a:t>(</a:t>
            </a:r>
            <a:r>
              <a:rPr lang="en-US" sz="2200" u="sng">
                <a:solidFill>
                  <a:srgbClr val="0000FF"/>
                </a:solidFill>
                <a:latin typeface="Calibri"/>
                <a:ea typeface="Calibri"/>
                <a:cs typeface="Calibri"/>
                <a:sym typeface="Calibri"/>
                <a:hlinkClick r:id="rId6">
                  <a:extLst>
                    <a:ext uri="{A12FA001-AC4F-418D-AE19-62706E023703}">
                      <ahyp:hlinkClr val="tx"/>
                    </a:ext>
                  </a:extLst>
                </a:hlinkClick>
              </a:rPr>
              <a:t>https://www.apachefriends.org/download.html</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1"/>
          <p:cNvSpPr txBox="1"/>
          <p:nvPr>
            <p:ph type="title"/>
          </p:nvPr>
        </p:nvSpPr>
        <p:spPr>
          <a:xfrm>
            <a:off x="707542" y="0"/>
            <a:ext cx="409829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Example of PHP</a:t>
            </a:r>
            <a:endParaRPr/>
          </a:p>
        </p:txBody>
      </p:sp>
      <p:sp>
        <p:nvSpPr>
          <p:cNvPr id="128" name="Google Shape;128;p11"/>
          <p:cNvSpPr txBox="1"/>
          <p:nvPr/>
        </p:nvSpPr>
        <p:spPr>
          <a:xfrm>
            <a:off x="707542" y="844423"/>
            <a:ext cx="3279775" cy="40519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&lt;h1&gt;My first PHP page&lt;/h1&gt;</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"Hello World!";</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129" name="Google Shape;129;p11"/>
          <p:cNvSpPr/>
          <p:nvPr/>
        </p:nvSpPr>
        <p:spPr>
          <a:xfrm>
            <a:off x="27432" y="5443728"/>
            <a:ext cx="8196580" cy="923925"/>
          </a:xfrm>
          <a:custGeom>
            <a:rect b="b" l="l" r="r" t="t"/>
            <a:pathLst>
              <a:path extrusionOk="0" h="923925" w="8196580">
                <a:moveTo>
                  <a:pt x="8196072" y="0"/>
                </a:moveTo>
                <a:lnTo>
                  <a:pt x="0" y="0"/>
                </a:lnTo>
                <a:lnTo>
                  <a:pt x="0" y="923544"/>
                </a:lnTo>
                <a:lnTo>
                  <a:pt x="8196072" y="923544"/>
                </a:lnTo>
                <a:lnTo>
                  <a:pt x="8196072"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11"/>
          <p:cNvSpPr txBox="1"/>
          <p:nvPr/>
        </p:nvSpPr>
        <p:spPr>
          <a:xfrm>
            <a:off x="107391" y="5477967"/>
            <a:ext cx="7967345" cy="848994"/>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a:solidFill>
                  <a:srgbClr val="FFFF00"/>
                </a:solidFill>
                <a:latin typeface="Verdana"/>
                <a:ea typeface="Verdana"/>
                <a:cs typeface="Verdana"/>
                <a:sym typeface="Verdana"/>
              </a:rPr>
              <a:t>In PHP, all keywords (e.g. if, else, while, echo, etc.), classes,  functions, and user-defined functions are NOT case-sensitive.  However; all variable names are case-sensitive.</a:t>
            </a:r>
            <a:endParaRPr sz="1800">
              <a:solidFill>
                <a:schemeClr val="dk1"/>
              </a:solidFill>
              <a:latin typeface="Verdana"/>
              <a:ea typeface="Verdana"/>
              <a:cs typeface="Verdana"/>
              <a:sym typeface="Verdana"/>
            </a:endParaRPr>
          </a:p>
        </p:txBody>
      </p:sp>
      <p:sp>
        <p:nvSpPr>
          <p:cNvPr id="131" name="Google Shape;131;p11"/>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11"/>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11"/>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2"/>
          <p:cNvSpPr txBox="1"/>
          <p:nvPr>
            <p:ph type="title"/>
          </p:nvPr>
        </p:nvSpPr>
        <p:spPr>
          <a:xfrm>
            <a:off x="536244" y="464896"/>
            <a:ext cx="231267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PHP echo</a:t>
            </a:r>
            <a:endParaRPr/>
          </a:p>
        </p:txBody>
      </p:sp>
      <p:sp>
        <p:nvSpPr>
          <p:cNvPr id="139" name="Google Shape;139;p12"/>
          <p:cNvSpPr txBox="1"/>
          <p:nvPr/>
        </p:nvSpPr>
        <p:spPr>
          <a:xfrm>
            <a:off x="652068" y="1615821"/>
            <a:ext cx="7068184" cy="3684904"/>
          </a:xfrm>
          <a:prstGeom prst="rect">
            <a:avLst/>
          </a:prstGeom>
          <a:noFill/>
          <a:ln>
            <a:noFill/>
          </a:ln>
        </p:spPr>
        <p:txBody>
          <a:bodyPr anchorCtr="0" anchor="t" bIns="0" lIns="0" spcFirstLastPara="1" rIns="0" wrap="square" tIns="12700">
            <a:spAutoFit/>
          </a:bodyPr>
          <a:lstStyle/>
          <a:p>
            <a:pPr indent="-228600" lvl="0" marL="240665" marR="5080" rtl="0" algn="l">
              <a:lnSpc>
                <a:spcPct val="100000"/>
              </a:lnSpc>
              <a:spcBef>
                <a:spcPts val="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PHP echo is a language construct not a function, so you  don't need to use parenthesis with it.</a:t>
            </a:r>
            <a:endParaRPr sz="2400">
              <a:solidFill>
                <a:schemeClr val="dk1"/>
              </a:solidFill>
              <a:latin typeface="Calibri"/>
              <a:ea typeface="Calibri"/>
              <a:cs typeface="Calibri"/>
              <a:sym typeface="Calibri"/>
            </a:endParaRPr>
          </a:p>
          <a:p>
            <a:pPr indent="-228600" lvl="0" marL="241300" marR="0" rtl="0" algn="l">
              <a:lnSpc>
                <a:spcPct val="100000"/>
              </a:lnSpc>
              <a:spcBef>
                <a:spcPts val="575"/>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But if you want to use more than one parameters, it is</a:t>
            </a:r>
            <a:endParaRPr sz="2400">
              <a:solidFill>
                <a:schemeClr val="dk1"/>
              </a:solidFill>
              <a:latin typeface="Calibri"/>
              <a:ea typeface="Calibri"/>
              <a:cs typeface="Calibri"/>
              <a:sym typeface="Calibri"/>
            </a:endParaRPr>
          </a:p>
          <a:p>
            <a:pPr indent="0" lvl="0" marL="240665" marR="0" rtl="0" algn="l">
              <a:lnSpc>
                <a:spcPct val="100000"/>
              </a:lnSpc>
              <a:spcBef>
                <a:spcPts val="5"/>
              </a:spcBef>
              <a:spcAft>
                <a:spcPts val="0"/>
              </a:spcAft>
              <a:buNone/>
            </a:pPr>
            <a:r>
              <a:rPr lang="en-US" sz="2400">
                <a:solidFill>
                  <a:schemeClr val="dk1"/>
                </a:solidFill>
                <a:latin typeface="Calibri"/>
                <a:ea typeface="Calibri"/>
                <a:cs typeface="Calibri"/>
                <a:sym typeface="Calibri"/>
              </a:rPr>
              <a:t>required to use parenthesis.</a:t>
            </a:r>
            <a:endParaRPr sz="2400">
              <a:solidFill>
                <a:schemeClr val="dk1"/>
              </a:solidFill>
              <a:latin typeface="Calibri"/>
              <a:ea typeface="Calibri"/>
              <a:cs typeface="Calibri"/>
              <a:sym typeface="Calibri"/>
            </a:endParaRPr>
          </a:p>
          <a:p>
            <a:pPr indent="-228600" lvl="0" marL="241300" marR="0" rtl="0" algn="l">
              <a:lnSpc>
                <a:spcPct val="100000"/>
              </a:lnSpc>
              <a:spcBef>
                <a:spcPts val="575"/>
              </a:spcBef>
              <a:spcAft>
                <a:spcPts val="0"/>
              </a:spcAft>
              <a:buClr>
                <a:srgbClr val="4F81BC"/>
              </a:buClr>
              <a:buSzPts val="2400"/>
              <a:buFont typeface="Arial"/>
              <a:buChar char="•"/>
            </a:pPr>
            <a:r>
              <a:rPr b="1" lang="en-US" sz="2400" u="sng">
                <a:solidFill>
                  <a:schemeClr val="dk1"/>
                </a:solidFill>
                <a:latin typeface="Calibri"/>
                <a:ea typeface="Calibri"/>
                <a:cs typeface="Calibri"/>
                <a:sym typeface="Calibri"/>
              </a:rPr>
              <a:t>Syntax:</a:t>
            </a:r>
            <a:endParaRPr sz="2400">
              <a:solidFill>
                <a:schemeClr val="dk1"/>
              </a:solidFill>
              <a:latin typeface="Calibri"/>
              <a:ea typeface="Calibri"/>
              <a:cs typeface="Calibri"/>
              <a:sym typeface="Calibri"/>
            </a:endParaRPr>
          </a:p>
          <a:p>
            <a:pPr indent="0" lvl="0" marL="12700" marR="0" rtl="0" algn="l">
              <a:lnSpc>
                <a:spcPct val="100000"/>
              </a:lnSpc>
              <a:spcBef>
                <a:spcPts val="580"/>
              </a:spcBef>
              <a:spcAft>
                <a:spcPts val="0"/>
              </a:spcAft>
              <a:buNone/>
            </a:pPr>
            <a:r>
              <a:rPr lang="en-US" sz="2400">
                <a:solidFill>
                  <a:schemeClr val="dk1"/>
                </a:solidFill>
                <a:latin typeface="Calibri"/>
                <a:ea typeface="Calibri"/>
                <a:cs typeface="Calibri"/>
                <a:sym typeface="Calibri"/>
              </a:rPr>
              <a:t>void echo ( string $arg1 [, string $... ] )</a:t>
            </a:r>
            <a:endParaRPr sz="2400">
              <a:solidFill>
                <a:schemeClr val="dk1"/>
              </a:solidFill>
              <a:latin typeface="Calibri"/>
              <a:ea typeface="Calibri"/>
              <a:cs typeface="Calibri"/>
              <a:sym typeface="Calibri"/>
            </a:endParaRPr>
          </a:p>
          <a:p>
            <a:pPr indent="0" lvl="0" marL="0" marR="0" rtl="0" algn="l">
              <a:lnSpc>
                <a:spcPct val="100000"/>
              </a:lnSpc>
              <a:spcBef>
                <a:spcPts val="5"/>
              </a:spcBef>
              <a:spcAft>
                <a:spcPts val="0"/>
              </a:spcAft>
              <a:buNone/>
            </a:pPr>
            <a:r>
              <a:t/>
            </a:r>
            <a:endParaRPr sz="3300">
              <a:solidFill>
                <a:schemeClr val="dk1"/>
              </a:solidFill>
              <a:latin typeface="Calibri"/>
              <a:ea typeface="Calibri"/>
              <a:cs typeface="Calibri"/>
              <a:sym typeface="Calibri"/>
            </a:endParaRPr>
          </a:p>
          <a:p>
            <a:pPr indent="-241300" lvl="0" marL="241300" marR="208915" rtl="0" algn="l">
              <a:lnSpc>
                <a:spcPct val="100000"/>
              </a:lnSpc>
              <a:spcBef>
                <a:spcPts val="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PHP echo statement can be used to print string, multi</a:t>
            </a:r>
            <a:endParaRPr sz="2400">
              <a:solidFill>
                <a:schemeClr val="dk1"/>
              </a:solidFill>
              <a:latin typeface="Calibri"/>
              <a:ea typeface="Calibri"/>
              <a:cs typeface="Calibri"/>
              <a:sym typeface="Calibri"/>
            </a:endParaRPr>
          </a:p>
          <a:p>
            <a:pPr indent="0" lvl="0" marL="0" marR="243840" rtl="0" algn="ctr">
              <a:lnSpc>
                <a:spcPct val="100000"/>
              </a:lnSpc>
              <a:spcBef>
                <a:spcPts val="0"/>
              </a:spcBef>
              <a:spcAft>
                <a:spcPts val="0"/>
              </a:spcAft>
              <a:buNone/>
            </a:pPr>
            <a:r>
              <a:rPr lang="en-US" sz="2400">
                <a:solidFill>
                  <a:schemeClr val="dk1"/>
                </a:solidFill>
                <a:latin typeface="Calibri"/>
                <a:ea typeface="Calibri"/>
                <a:cs typeface="Calibri"/>
                <a:sym typeface="Calibri"/>
              </a:rPr>
              <a:t>line strings, escaping characters, variable, array etc.</a:t>
            </a:r>
            <a:endParaRPr sz="2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title"/>
          </p:nvPr>
        </p:nvSpPr>
        <p:spPr>
          <a:xfrm>
            <a:off x="536244" y="464896"/>
            <a:ext cx="463296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Example: PHP echo</a:t>
            </a:r>
            <a:endParaRPr/>
          </a:p>
        </p:txBody>
      </p:sp>
      <p:sp>
        <p:nvSpPr>
          <p:cNvPr id="145" name="Google Shape;145;p13"/>
          <p:cNvSpPr txBox="1"/>
          <p:nvPr/>
        </p:nvSpPr>
        <p:spPr>
          <a:xfrm>
            <a:off x="652068" y="1567053"/>
            <a:ext cx="4406900" cy="889346"/>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900">
                <a:solidFill>
                  <a:schemeClr val="dk1"/>
                </a:solidFill>
                <a:latin typeface="Calibri"/>
                <a:ea typeface="Calibri"/>
                <a:cs typeface="Calibri"/>
                <a:sym typeface="Calibri"/>
              </a:rPr>
              <a:t>&lt;?php</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echo "Hello by PHP echo";</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	</a:t>
            </a:r>
            <a:r>
              <a:rPr lang="en-US" sz="1900">
                <a:solidFill>
                  <a:srgbClr val="00AF50"/>
                </a:solidFill>
                <a:latin typeface="Calibri"/>
                <a:ea typeface="Calibri"/>
                <a:cs typeface="Calibri"/>
                <a:sym typeface="Calibri"/>
              </a:rPr>
              <a:t>//print string</a:t>
            </a:r>
            <a:endParaRPr sz="1900">
              <a:solidFill>
                <a:schemeClr val="dk1"/>
              </a:solidFill>
              <a:latin typeface="Calibri"/>
              <a:ea typeface="Calibri"/>
              <a:cs typeface="Calibri"/>
              <a:sym typeface="Calibri"/>
            </a:endParaRPr>
          </a:p>
        </p:txBody>
      </p:sp>
      <p:sp>
        <p:nvSpPr>
          <p:cNvPr id="146" name="Google Shape;146;p13"/>
          <p:cNvSpPr txBox="1"/>
          <p:nvPr/>
        </p:nvSpPr>
        <p:spPr>
          <a:xfrm>
            <a:off x="652068" y="2568143"/>
            <a:ext cx="2436495" cy="14732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900">
                <a:solidFill>
                  <a:schemeClr val="dk1"/>
                </a:solidFill>
                <a:latin typeface="Calibri"/>
                <a:ea typeface="Calibri"/>
                <a:cs typeface="Calibri"/>
                <a:sym typeface="Calibri"/>
              </a:rPr>
              <a:t>echo "Hello by PHP echo  this is multi line</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text printed by</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PHP echo statement</a:t>
            </a:r>
            <a:endParaRPr sz="19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900">
                <a:solidFill>
                  <a:schemeClr val="dk1"/>
                </a:solidFill>
                <a:latin typeface="Calibri"/>
                <a:ea typeface="Calibri"/>
                <a:cs typeface="Calibri"/>
                <a:sym typeface="Calibri"/>
              </a:rPr>
              <a:t>";</a:t>
            </a:r>
            <a:endParaRPr/>
          </a:p>
        </p:txBody>
      </p:sp>
      <p:sp>
        <p:nvSpPr>
          <p:cNvPr id="147" name="Google Shape;147;p13"/>
          <p:cNvSpPr txBox="1"/>
          <p:nvPr/>
        </p:nvSpPr>
        <p:spPr>
          <a:xfrm>
            <a:off x="3557778" y="3304743"/>
            <a:ext cx="1796414"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rgbClr val="00AF50"/>
                </a:solidFill>
                <a:latin typeface="Calibri"/>
                <a:ea typeface="Calibri"/>
                <a:cs typeface="Calibri"/>
                <a:sym typeface="Calibri"/>
              </a:rPr>
              <a:t>// multi line string</a:t>
            </a:r>
            <a:endParaRPr sz="1900">
              <a:solidFill>
                <a:schemeClr val="dk1"/>
              </a:solidFill>
              <a:latin typeface="Calibri"/>
              <a:ea typeface="Calibri"/>
              <a:cs typeface="Calibri"/>
              <a:sym typeface="Calibri"/>
            </a:endParaRPr>
          </a:p>
        </p:txBody>
      </p:sp>
      <p:sp>
        <p:nvSpPr>
          <p:cNvPr id="148" name="Google Shape;148;p13"/>
          <p:cNvSpPr txBox="1"/>
          <p:nvPr/>
        </p:nvSpPr>
        <p:spPr>
          <a:xfrm>
            <a:off x="652068" y="4174363"/>
            <a:ext cx="4495165"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echo "Hello escape \"sequence\" characters";</a:t>
            </a:r>
            <a:endParaRPr sz="1900">
              <a:solidFill>
                <a:schemeClr val="dk1"/>
              </a:solidFill>
              <a:latin typeface="Calibri"/>
              <a:ea typeface="Calibri"/>
              <a:cs typeface="Calibri"/>
              <a:sym typeface="Calibri"/>
            </a:endParaRPr>
          </a:p>
        </p:txBody>
      </p:sp>
      <p:sp>
        <p:nvSpPr>
          <p:cNvPr id="149" name="Google Shape;149;p13"/>
          <p:cNvSpPr txBox="1"/>
          <p:nvPr/>
        </p:nvSpPr>
        <p:spPr>
          <a:xfrm>
            <a:off x="5502909" y="4174363"/>
            <a:ext cx="1951355"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rgbClr val="00AF50"/>
                </a:solidFill>
                <a:latin typeface="Calibri"/>
                <a:ea typeface="Calibri"/>
                <a:cs typeface="Calibri"/>
                <a:sym typeface="Calibri"/>
              </a:rPr>
              <a:t>//escape characters</a:t>
            </a:r>
            <a:endParaRPr sz="1900">
              <a:solidFill>
                <a:schemeClr val="dk1"/>
              </a:solidFill>
              <a:latin typeface="Calibri"/>
              <a:ea typeface="Calibri"/>
              <a:cs typeface="Calibri"/>
              <a:sym typeface="Calibri"/>
            </a:endParaRPr>
          </a:p>
        </p:txBody>
      </p:sp>
      <p:sp>
        <p:nvSpPr>
          <p:cNvPr id="150" name="Google Shape;150;p13"/>
          <p:cNvSpPr txBox="1"/>
          <p:nvPr/>
        </p:nvSpPr>
        <p:spPr>
          <a:xfrm>
            <a:off x="652068" y="4753736"/>
            <a:ext cx="2974340" cy="60452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900">
                <a:solidFill>
                  <a:schemeClr val="dk1"/>
                </a:solidFill>
                <a:latin typeface="Calibri"/>
                <a:ea typeface="Calibri"/>
                <a:cs typeface="Calibri"/>
                <a:sym typeface="Calibri"/>
              </a:rPr>
              <a:t>$msg="Hello JavaTpoint PHP";  echo "Message is: $msg";</a:t>
            </a:r>
            <a:endParaRPr sz="1900">
              <a:solidFill>
                <a:schemeClr val="dk1"/>
              </a:solidFill>
              <a:latin typeface="Calibri"/>
              <a:ea typeface="Calibri"/>
              <a:cs typeface="Calibri"/>
              <a:sym typeface="Calibri"/>
            </a:endParaRPr>
          </a:p>
        </p:txBody>
      </p:sp>
      <p:sp>
        <p:nvSpPr>
          <p:cNvPr id="151" name="Google Shape;151;p13"/>
          <p:cNvSpPr txBox="1"/>
          <p:nvPr/>
        </p:nvSpPr>
        <p:spPr>
          <a:xfrm>
            <a:off x="4228591" y="5043296"/>
            <a:ext cx="2098040"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rgbClr val="00AF50"/>
                </a:solidFill>
                <a:latin typeface="Calibri"/>
                <a:ea typeface="Calibri"/>
                <a:cs typeface="Calibri"/>
                <a:sym typeface="Calibri"/>
              </a:rPr>
              <a:t>//print variable value</a:t>
            </a:r>
            <a:endParaRPr sz="1900">
              <a:solidFill>
                <a:schemeClr val="dk1"/>
              </a:solidFill>
              <a:latin typeface="Calibri"/>
              <a:ea typeface="Calibri"/>
              <a:cs typeface="Calibri"/>
              <a:sym typeface="Calibri"/>
            </a:endParaRPr>
          </a:p>
        </p:txBody>
      </p:sp>
      <p:sp>
        <p:nvSpPr>
          <p:cNvPr id="152" name="Google Shape;152;p13"/>
          <p:cNvSpPr txBox="1"/>
          <p:nvPr/>
        </p:nvSpPr>
        <p:spPr>
          <a:xfrm>
            <a:off x="652068" y="5622747"/>
            <a:ext cx="259715"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900">
                <a:solidFill>
                  <a:schemeClr val="dk1"/>
                </a:solidFill>
                <a:latin typeface="Calibri"/>
                <a:ea typeface="Calibri"/>
                <a:cs typeface="Calibri"/>
                <a:sym typeface="Calibri"/>
              </a:rPr>
              <a:t>?&gt;</a:t>
            </a:r>
            <a:endParaRPr sz="19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Examples </a:t>
            </a:r>
            <a:endParaRPr/>
          </a:p>
        </p:txBody>
      </p:sp>
      <p:sp>
        <p:nvSpPr>
          <p:cNvPr id="158" name="Google Shape;158;p14"/>
          <p:cNvSpPr txBox="1"/>
          <p:nvPr>
            <p:ph idx="1" type="body"/>
          </p:nvPr>
        </p:nvSpPr>
        <p:spPr>
          <a:xfrm>
            <a:off x="652068" y="1567053"/>
            <a:ext cx="4885055" cy="321626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echo “ Hello”, “World”;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echo “Hello”.”World”;</a:t>
            </a:r>
            <a:endParaRPr/>
          </a:p>
          <a:p>
            <a:pPr indent="0" lvl="0" marL="0" rtl="0" algn="l">
              <a:spcBef>
                <a:spcPts val="0"/>
              </a:spcBef>
              <a:spcAft>
                <a:spcPts val="0"/>
              </a:spcAft>
              <a:buNone/>
            </a:pPr>
            <a:r>
              <a:rPr lang="en-US"/>
              <a:t>Echo “&lt;ul&gt;”;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echo “&lt;li&gt; Hello India &lt;/li&gt;”;</a:t>
            </a:r>
            <a:endParaRPr/>
          </a:p>
          <a:p>
            <a:pPr indent="0" lvl="0" marL="0" rtl="0" algn="l">
              <a:spcBef>
                <a:spcPts val="0"/>
              </a:spcBef>
              <a:spcAft>
                <a:spcPts val="0"/>
              </a:spcAft>
              <a:buNone/>
            </a:pPr>
            <a:r>
              <a:rPr lang="en-US"/>
              <a:t>Echo “&lt;/ul&gt;”;</a:t>
            </a:r>
            <a:endParaRPr/>
          </a:p>
          <a:p>
            <a:pPr indent="0" lvl="0" marL="0" rtl="0" algn="l">
              <a:spcBef>
                <a:spcPts val="0"/>
              </a:spcBef>
              <a:spcAft>
                <a:spcPts val="0"/>
              </a:spcAft>
              <a:buNone/>
            </a:pPr>
            <a:r>
              <a:rPr lang="en-US"/>
              <a:t>echo 500;</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536244" y="464896"/>
            <a:ext cx="237299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PHP print</a:t>
            </a:r>
            <a:endParaRPr/>
          </a:p>
        </p:txBody>
      </p:sp>
      <p:sp>
        <p:nvSpPr>
          <p:cNvPr id="164" name="Google Shape;164;p15"/>
          <p:cNvSpPr txBox="1"/>
          <p:nvPr/>
        </p:nvSpPr>
        <p:spPr>
          <a:xfrm>
            <a:off x="652068" y="1615820"/>
            <a:ext cx="7280909" cy="2576195"/>
          </a:xfrm>
          <a:prstGeom prst="rect">
            <a:avLst/>
          </a:prstGeom>
          <a:noFill/>
          <a:ln>
            <a:noFill/>
          </a:ln>
        </p:spPr>
        <p:txBody>
          <a:bodyPr anchorCtr="0" anchor="t" bIns="0" lIns="0" spcFirstLastPara="1" rIns="0" wrap="square" tIns="13325">
            <a:spAutoFit/>
          </a:bodyPr>
          <a:lstStyle/>
          <a:p>
            <a:pPr indent="-228600" lvl="0" marL="240665" marR="5080" rtl="0" algn="just">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Like PHP echo, PHP print is a language construct, so you don't  need to use parenthesis with the argument list. Unlike echo, it  always returns 1.</a:t>
            </a:r>
            <a:endParaRPr sz="2200">
              <a:solidFill>
                <a:schemeClr val="dk1"/>
              </a:solidFill>
              <a:latin typeface="Calibri"/>
              <a:ea typeface="Calibri"/>
              <a:cs typeface="Calibri"/>
              <a:sym typeface="Calibri"/>
            </a:endParaRPr>
          </a:p>
          <a:p>
            <a:pPr indent="-228600" lvl="0" marL="241300" marR="0" rtl="0" algn="just">
              <a:lnSpc>
                <a:spcPct val="100000"/>
              </a:lnSpc>
              <a:spcBef>
                <a:spcPts val="535"/>
              </a:spcBef>
              <a:spcAft>
                <a:spcPts val="0"/>
              </a:spcAft>
              <a:buClr>
                <a:srgbClr val="4F81BC"/>
              </a:buClr>
              <a:buSzPts val="2200"/>
              <a:buFont typeface="Arial"/>
              <a:buChar char="•"/>
            </a:pPr>
            <a:r>
              <a:rPr b="1" lang="en-US" sz="2200" u="sng">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just">
              <a:lnSpc>
                <a:spcPct val="100000"/>
              </a:lnSpc>
              <a:spcBef>
                <a:spcPts val="525"/>
              </a:spcBef>
              <a:spcAft>
                <a:spcPts val="0"/>
              </a:spcAft>
              <a:buNone/>
            </a:pPr>
            <a:r>
              <a:rPr lang="en-US" sz="2200">
                <a:solidFill>
                  <a:schemeClr val="dk1"/>
                </a:solidFill>
                <a:latin typeface="Calibri"/>
                <a:ea typeface="Calibri"/>
                <a:cs typeface="Calibri"/>
                <a:sym typeface="Calibri"/>
              </a:rPr>
              <a:t>int print(string $arg)</a:t>
            </a:r>
            <a:endParaRPr sz="2200">
              <a:solidFill>
                <a:schemeClr val="dk1"/>
              </a:solidFill>
              <a:latin typeface="Calibri"/>
              <a:ea typeface="Calibri"/>
              <a:cs typeface="Calibri"/>
              <a:sym typeface="Calibri"/>
            </a:endParaRPr>
          </a:p>
          <a:p>
            <a:pPr indent="-228600" lvl="0" marL="241300" marR="0" rtl="0" algn="just">
              <a:lnSpc>
                <a:spcPct val="100000"/>
              </a:lnSpc>
              <a:spcBef>
                <a:spcPts val="53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print statement can be used to print string, multi line</a:t>
            </a:r>
            <a:endParaRPr sz="2200">
              <a:solidFill>
                <a:schemeClr val="dk1"/>
              </a:solidFill>
              <a:latin typeface="Calibri"/>
              <a:ea typeface="Calibri"/>
              <a:cs typeface="Calibri"/>
              <a:sym typeface="Calibri"/>
            </a:endParaRPr>
          </a:p>
          <a:p>
            <a:pPr indent="0" lvl="0" marL="240665" marR="0" rtl="0" algn="just">
              <a:lnSpc>
                <a:spcPct val="100000"/>
              </a:lnSpc>
              <a:spcBef>
                <a:spcPts val="0"/>
              </a:spcBef>
              <a:spcAft>
                <a:spcPts val="0"/>
              </a:spcAft>
              <a:buNone/>
            </a:pPr>
            <a:r>
              <a:rPr lang="en-US" sz="2200">
                <a:solidFill>
                  <a:schemeClr val="dk1"/>
                </a:solidFill>
                <a:latin typeface="Calibri"/>
                <a:ea typeface="Calibri"/>
                <a:cs typeface="Calibri"/>
                <a:sym typeface="Calibri"/>
              </a:rPr>
              <a:t>strings, escaping characters, variable, array etc.</a:t>
            </a:r>
            <a:endParaRPr sz="2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ph type="title"/>
          </p:nvPr>
        </p:nvSpPr>
        <p:spPr>
          <a:xfrm>
            <a:off x="536244" y="464896"/>
            <a:ext cx="469328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Example: PHP print</a:t>
            </a:r>
            <a:endParaRPr/>
          </a:p>
        </p:txBody>
      </p:sp>
      <p:sp>
        <p:nvSpPr>
          <p:cNvPr id="170" name="Google Shape;170;p16"/>
          <p:cNvSpPr txBox="1"/>
          <p:nvPr/>
        </p:nvSpPr>
        <p:spPr>
          <a:xfrm>
            <a:off x="652068" y="1567053"/>
            <a:ext cx="4400550" cy="6045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900">
                <a:solidFill>
                  <a:schemeClr val="dk1"/>
                </a:solidFill>
                <a:latin typeface="Calibri"/>
                <a:ea typeface="Calibri"/>
                <a:cs typeface="Calibri"/>
                <a:sym typeface="Calibri"/>
              </a:rPr>
              <a:t>&lt;?php</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print "Hello by PHP echo";	</a:t>
            </a:r>
            <a:r>
              <a:rPr lang="en-US" sz="1900">
                <a:solidFill>
                  <a:srgbClr val="00AF50"/>
                </a:solidFill>
                <a:latin typeface="Calibri"/>
                <a:ea typeface="Calibri"/>
                <a:cs typeface="Calibri"/>
                <a:sym typeface="Calibri"/>
              </a:rPr>
              <a:t>//print string</a:t>
            </a:r>
            <a:endParaRPr sz="1900">
              <a:solidFill>
                <a:schemeClr val="dk1"/>
              </a:solidFill>
              <a:latin typeface="Calibri"/>
              <a:ea typeface="Calibri"/>
              <a:cs typeface="Calibri"/>
              <a:sym typeface="Calibri"/>
            </a:endParaRPr>
          </a:p>
        </p:txBody>
      </p:sp>
      <p:sp>
        <p:nvSpPr>
          <p:cNvPr id="171" name="Google Shape;171;p16"/>
          <p:cNvSpPr txBox="1"/>
          <p:nvPr/>
        </p:nvSpPr>
        <p:spPr>
          <a:xfrm>
            <a:off x="652068" y="2436113"/>
            <a:ext cx="2433320" cy="14732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900">
                <a:solidFill>
                  <a:schemeClr val="dk1"/>
                </a:solidFill>
                <a:latin typeface="Calibri"/>
                <a:ea typeface="Calibri"/>
                <a:cs typeface="Calibri"/>
                <a:sym typeface="Calibri"/>
              </a:rPr>
              <a:t>print "Hello by PHP echo  this is multi line</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text printed by</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PHP echo statement</a:t>
            </a:r>
            <a:endParaRPr sz="19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900">
                <a:solidFill>
                  <a:schemeClr val="dk1"/>
                </a:solidFill>
                <a:latin typeface="Calibri"/>
                <a:ea typeface="Calibri"/>
                <a:cs typeface="Calibri"/>
                <a:sym typeface="Calibri"/>
              </a:rPr>
              <a:t>";</a:t>
            </a:r>
            <a:endParaRPr/>
          </a:p>
        </p:txBody>
      </p:sp>
      <p:sp>
        <p:nvSpPr>
          <p:cNvPr id="172" name="Google Shape;172;p16"/>
          <p:cNvSpPr txBox="1"/>
          <p:nvPr/>
        </p:nvSpPr>
        <p:spPr>
          <a:xfrm>
            <a:off x="3557778" y="3304743"/>
            <a:ext cx="1796414"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rgbClr val="00AF50"/>
                </a:solidFill>
                <a:latin typeface="Calibri"/>
                <a:ea typeface="Calibri"/>
                <a:cs typeface="Calibri"/>
                <a:sym typeface="Calibri"/>
              </a:rPr>
              <a:t>// multi line string</a:t>
            </a:r>
            <a:endParaRPr sz="1900">
              <a:solidFill>
                <a:schemeClr val="dk1"/>
              </a:solidFill>
              <a:latin typeface="Calibri"/>
              <a:ea typeface="Calibri"/>
              <a:cs typeface="Calibri"/>
              <a:sym typeface="Calibri"/>
            </a:endParaRPr>
          </a:p>
        </p:txBody>
      </p:sp>
      <p:sp>
        <p:nvSpPr>
          <p:cNvPr id="173" name="Google Shape;173;p16"/>
          <p:cNvSpPr txBox="1"/>
          <p:nvPr/>
        </p:nvSpPr>
        <p:spPr>
          <a:xfrm>
            <a:off x="652068" y="4174363"/>
            <a:ext cx="4491990"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print "Hello escape \"sequence\" characters";</a:t>
            </a:r>
            <a:endParaRPr sz="1900">
              <a:solidFill>
                <a:schemeClr val="dk1"/>
              </a:solidFill>
              <a:latin typeface="Calibri"/>
              <a:ea typeface="Calibri"/>
              <a:cs typeface="Calibri"/>
              <a:sym typeface="Calibri"/>
            </a:endParaRPr>
          </a:p>
        </p:txBody>
      </p:sp>
      <p:sp>
        <p:nvSpPr>
          <p:cNvPr id="174" name="Google Shape;174;p16"/>
          <p:cNvSpPr txBox="1"/>
          <p:nvPr/>
        </p:nvSpPr>
        <p:spPr>
          <a:xfrm>
            <a:off x="5499861" y="4174363"/>
            <a:ext cx="1951355"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rgbClr val="00AF50"/>
                </a:solidFill>
                <a:latin typeface="Calibri"/>
                <a:ea typeface="Calibri"/>
                <a:cs typeface="Calibri"/>
                <a:sym typeface="Calibri"/>
              </a:rPr>
              <a:t>//escape characters</a:t>
            </a:r>
            <a:endParaRPr sz="1900">
              <a:solidFill>
                <a:schemeClr val="dk1"/>
              </a:solidFill>
              <a:latin typeface="Calibri"/>
              <a:ea typeface="Calibri"/>
              <a:cs typeface="Calibri"/>
              <a:sym typeface="Calibri"/>
            </a:endParaRPr>
          </a:p>
        </p:txBody>
      </p:sp>
      <p:sp>
        <p:nvSpPr>
          <p:cNvPr id="175" name="Google Shape;175;p16"/>
          <p:cNvSpPr txBox="1"/>
          <p:nvPr/>
        </p:nvSpPr>
        <p:spPr>
          <a:xfrm>
            <a:off x="652068" y="4753736"/>
            <a:ext cx="2518410" cy="6045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$msg="Hello PHP";</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print "Message is: $msg";</a:t>
            </a:r>
            <a:endParaRPr sz="1900">
              <a:solidFill>
                <a:schemeClr val="dk1"/>
              </a:solidFill>
              <a:latin typeface="Calibri"/>
              <a:ea typeface="Calibri"/>
              <a:cs typeface="Calibri"/>
              <a:sym typeface="Calibri"/>
            </a:endParaRPr>
          </a:p>
        </p:txBody>
      </p:sp>
      <p:sp>
        <p:nvSpPr>
          <p:cNvPr id="176" name="Google Shape;176;p16"/>
          <p:cNvSpPr txBox="1"/>
          <p:nvPr/>
        </p:nvSpPr>
        <p:spPr>
          <a:xfrm>
            <a:off x="4225544" y="5043296"/>
            <a:ext cx="2098040"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rgbClr val="00AF50"/>
                </a:solidFill>
                <a:latin typeface="Calibri"/>
                <a:ea typeface="Calibri"/>
                <a:cs typeface="Calibri"/>
                <a:sym typeface="Calibri"/>
              </a:rPr>
              <a:t>//print variable value</a:t>
            </a:r>
            <a:endParaRPr sz="1900">
              <a:solidFill>
                <a:schemeClr val="dk1"/>
              </a:solidFill>
              <a:latin typeface="Calibri"/>
              <a:ea typeface="Calibri"/>
              <a:cs typeface="Calibri"/>
              <a:sym typeface="Calibri"/>
            </a:endParaRPr>
          </a:p>
        </p:txBody>
      </p:sp>
      <p:sp>
        <p:nvSpPr>
          <p:cNvPr id="177" name="Google Shape;177;p16"/>
          <p:cNvSpPr txBox="1"/>
          <p:nvPr/>
        </p:nvSpPr>
        <p:spPr>
          <a:xfrm>
            <a:off x="652068" y="5622747"/>
            <a:ext cx="259715" cy="314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900">
                <a:solidFill>
                  <a:schemeClr val="dk1"/>
                </a:solidFill>
                <a:latin typeface="Calibri"/>
                <a:ea typeface="Calibri"/>
                <a:cs typeface="Calibri"/>
                <a:sym typeface="Calibri"/>
              </a:rPr>
              <a:t>?&gt;</a:t>
            </a:r>
            <a:endParaRPr sz="1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536244" y="464896"/>
            <a:ext cx="7420609"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PHP echo and print Statements</a:t>
            </a:r>
            <a:endParaRPr/>
          </a:p>
        </p:txBody>
      </p:sp>
      <p:sp>
        <p:nvSpPr>
          <p:cNvPr id="183" name="Google Shape;183;p17"/>
          <p:cNvSpPr txBox="1"/>
          <p:nvPr/>
        </p:nvSpPr>
        <p:spPr>
          <a:xfrm>
            <a:off x="823366" y="1757477"/>
            <a:ext cx="7315200" cy="3936600"/>
          </a:xfrm>
          <a:prstGeom prst="rect">
            <a:avLst/>
          </a:prstGeom>
          <a:noFill/>
          <a:ln>
            <a:noFill/>
          </a:ln>
        </p:spPr>
        <p:txBody>
          <a:bodyPr anchorCtr="0" anchor="t" bIns="0" lIns="0" spcFirstLastPara="1" rIns="0" wrap="square" tIns="92075">
            <a:spAutoFit/>
          </a:bodyPr>
          <a:lstStyle/>
          <a:p>
            <a:pPr indent="-229234" lvl="0" marL="241300" marR="0" rtl="0" algn="l">
              <a:lnSpc>
                <a:spcPct val="100000"/>
              </a:lnSpc>
              <a:spcBef>
                <a:spcPts val="0"/>
              </a:spcBef>
              <a:spcAft>
                <a:spcPts val="0"/>
              </a:spcAft>
              <a:buClr>
                <a:srgbClr val="4F81BC"/>
              </a:buClr>
              <a:buSzPts val="2600"/>
              <a:buFont typeface="Arial"/>
              <a:buChar char="•"/>
            </a:pPr>
            <a:r>
              <a:rPr lang="en-US" sz="2600">
                <a:solidFill>
                  <a:schemeClr val="dk1"/>
                </a:solidFill>
                <a:latin typeface="Calibri"/>
                <a:ea typeface="Calibri"/>
                <a:cs typeface="Calibri"/>
                <a:sym typeface="Calibri"/>
              </a:rPr>
              <a:t>echo and print are more or less the same.</a:t>
            </a:r>
            <a:endParaRPr sz="2600">
              <a:solidFill>
                <a:schemeClr val="dk1"/>
              </a:solidFill>
              <a:latin typeface="Calibri"/>
              <a:ea typeface="Calibri"/>
              <a:cs typeface="Calibri"/>
              <a:sym typeface="Calibri"/>
            </a:endParaRPr>
          </a:p>
          <a:p>
            <a:pPr indent="-229234" lvl="0" marL="241300" marR="0" rtl="0" algn="l">
              <a:lnSpc>
                <a:spcPct val="100000"/>
              </a:lnSpc>
              <a:spcBef>
                <a:spcPts val="630"/>
              </a:spcBef>
              <a:spcAft>
                <a:spcPts val="0"/>
              </a:spcAft>
              <a:buClr>
                <a:srgbClr val="4F81BC"/>
              </a:buClr>
              <a:buSzPts val="2600"/>
              <a:buFont typeface="Arial"/>
              <a:buChar char="•"/>
            </a:pPr>
            <a:r>
              <a:rPr lang="en-US" sz="2600">
                <a:solidFill>
                  <a:schemeClr val="dk1"/>
                </a:solidFill>
                <a:latin typeface="Calibri"/>
                <a:ea typeface="Calibri"/>
                <a:cs typeface="Calibri"/>
                <a:sym typeface="Calibri"/>
              </a:rPr>
              <a:t>Used to output data to the screen.</a:t>
            </a:r>
            <a:endParaRPr sz="3550">
              <a:solidFill>
                <a:schemeClr val="dk1"/>
              </a:solidFill>
              <a:latin typeface="Calibri"/>
              <a:ea typeface="Calibri"/>
              <a:cs typeface="Calibri"/>
              <a:sym typeface="Calibri"/>
            </a:endParaRPr>
          </a:p>
          <a:p>
            <a:pPr indent="-229234" lvl="0" marL="241300" marR="0" rtl="0" algn="l">
              <a:lnSpc>
                <a:spcPct val="100000"/>
              </a:lnSpc>
              <a:spcBef>
                <a:spcPts val="0"/>
              </a:spcBef>
              <a:spcAft>
                <a:spcPts val="0"/>
              </a:spcAft>
              <a:buClr>
                <a:srgbClr val="4F81BC"/>
              </a:buClr>
              <a:buSzPts val="2600"/>
              <a:buFont typeface="Arial"/>
              <a:buChar char="•"/>
            </a:pPr>
            <a:r>
              <a:rPr b="1" lang="en-US" sz="2600">
                <a:solidFill>
                  <a:schemeClr val="dk1"/>
                </a:solidFill>
                <a:latin typeface="Calibri"/>
                <a:ea typeface="Calibri"/>
                <a:cs typeface="Calibri"/>
                <a:sym typeface="Calibri"/>
              </a:rPr>
              <a:t>Differences:</a:t>
            </a:r>
            <a:endParaRPr sz="2600">
              <a:solidFill>
                <a:schemeClr val="dk1"/>
              </a:solidFill>
              <a:latin typeface="Calibri"/>
              <a:ea typeface="Calibri"/>
              <a:cs typeface="Calibri"/>
              <a:sym typeface="Calibri"/>
            </a:endParaRPr>
          </a:p>
          <a:p>
            <a:pPr indent="-229234" lvl="1" marL="537210" marR="165100" rtl="0" algn="l">
              <a:lnSpc>
                <a:spcPct val="100000"/>
              </a:lnSpc>
              <a:spcBef>
                <a:spcPts val="625"/>
              </a:spcBef>
              <a:spcAft>
                <a:spcPts val="0"/>
              </a:spcAft>
              <a:buClr>
                <a:srgbClr val="C0504D"/>
              </a:buClr>
              <a:buSzPts val="1800"/>
              <a:buFont typeface="Arial"/>
              <a:buChar char="•"/>
            </a:pPr>
            <a:r>
              <a:rPr b="0" i="0" lang="en-US" sz="1800" u="none" cap="none" strike="noStrike">
                <a:solidFill>
                  <a:schemeClr val="dk1"/>
                </a:solidFill>
                <a:latin typeface="Calibri"/>
                <a:ea typeface="Calibri"/>
                <a:cs typeface="Calibri"/>
                <a:sym typeface="Calibri"/>
              </a:rPr>
              <a:t>	</a:t>
            </a:r>
            <a:r>
              <a:rPr b="0" i="0" lang="en-US" sz="2600" u="none" cap="none" strike="noStrike">
                <a:solidFill>
                  <a:schemeClr val="dk1"/>
                </a:solidFill>
                <a:latin typeface="Calibri"/>
                <a:ea typeface="Calibri"/>
                <a:cs typeface="Calibri"/>
                <a:sym typeface="Calibri"/>
              </a:rPr>
              <a:t>echo has no return value while print has a return  value of 1 so it </a:t>
            </a:r>
            <a:r>
              <a:rPr b="1" i="0" lang="en-US" sz="2600" u="none" cap="none" strike="noStrike">
                <a:solidFill>
                  <a:srgbClr val="C00000"/>
                </a:solidFill>
                <a:latin typeface="Calibri"/>
                <a:ea typeface="Calibri"/>
                <a:cs typeface="Calibri"/>
                <a:sym typeface="Calibri"/>
              </a:rPr>
              <a:t>can be used in expressions</a:t>
            </a:r>
            <a:endParaRPr b="0" i="0" sz="2600" u="none" cap="none" strike="noStrike">
              <a:solidFill>
                <a:schemeClr val="dk1"/>
              </a:solidFill>
              <a:latin typeface="Calibri"/>
              <a:ea typeface="Calibri"/>
              <a:cs typeface="Calibri"/>
              <a:sym typeface="Calibri"/>
            </a:endParaRPr>
          </a:p>
          <a:p>
            <a:pPr indent="-229234" lvl="1" marL="537210" marR="5080" rtl="0" algn="l">
              <a:lnSpc>
                <a:spcPct val="100000"/>
              </a:lnSpc>
              <a:spcBef>
                <a:spcPts val="630"/>
              </a:spcBef>
              <a:spcAft>
                <a:spcPts val="0"/>
              </a:spcAft>
              <a:buClr>
                <a:srgbClr val="C0504D"/>
              </a:buClr>
              <a:buSzPts val="1800"/>
              <a:buFont typeface="Arial"/>
              <a:buChar char="•"/>
            </a:pPr>
            <a:r>
              <a:rPr b="0" i="0" lang="en-US" sz="1800" u="none" cap="none" strike="noStrike">
                <a:solidFill>
                  <a:schemeClr val="dk1"/>
                </a:solidFill>
                <a:latin typeface="Calibri"/>
                <a:ea typeface="Calibri"/>
                <a:cs typeface="Calibri"/>
                <a:sym typeface="Calibri"/>
              </a:rPr>
              <a:t>	</a:t>
            </a:r>
            <a:r>
              <a:rPr b="0" i="0" lang="en-US" sz="2600" u="none" cap="none" strike="noStrike">
                <a:solidFill>
                  <a:schemeClr val="dk1"/>
                </a:solidFill>
                <a:latin typeface="Calibri"/>
                <a:ea typeface="Calibri"/>
                <a:cs typeface="Calibri"/>
                <a:sym typeface="Calibri"/>
              </a:rPr>
              <a:t>echo can take multiple parameters (although such  usage is rare) while print can take one argument.</a:t>
            </a:r>
            <a:endParaRPr b="0" i="0" sz="2600" u="none" cap="none" strike="noStrike">
              <a:solidFill>
                <a:schemeClr val="dk1"/>
              </a:solidFill>
              <a:latin typeface="Calibri"/>
              <a:ea typeface="Calibri"/>
              <a:cs typeface="Calibri"/>
              <a:sym typeface="Calibri"/>
            </a:endParaRPr>
          </a:p>
        </p:txBody>
      </p:sp>
      <p:sp>
        <p:nvSpPr>
          <p:cNvPr id="184" name="Google Shape;184;p17"/>
          <p:cNvSpPr txBox="1"/>
          <p:nvPr/>
        </p:nvSpPr>
        <p:spPr>
          <a:xfrm>
            <a:off x="1043127" y="5637377"/>
            <a:ext cx="5066700" cy="412500"/>
          </a:xfrm>
          <a:prstGeom prst="rect">
            <a:avLst/>
          </a:prstGeom>
          <a:noFill/>
          <a:ln>
            <a:noFill/>
          </a:ln>
        </p:spPr>
        <p:txBody>
          <a:bodyPr anchorCtr="0" anchor="t" bIns="0" lIns="0" spcFirstLastPara="1" rIns="0" wrap="square" tIns="12050">
            <a:spAutoFit/>
          </a:bodyPr>
          <a:lstStyle/>
          <a:p>
            <a:pPr indent="-302260" lvl="0" marL="314325" marR="0" rtl="0" algn="l">
              <a:lnSpc>
                <a:spcPct val="100000"/>
              </a:lnSpc>
              <a:spcBef>
                <a:spcPts val="0"/>
              </a:spcBef>
              <a:spcAft>
                <a:spcPts val="0"/>
              </a:spcAft>
              <a:buClr>
                <a:srgbClr val="C0504D"/>
              </a:buClr>
              <a:buSzPts val="2600"/>
              <a:buFont typeface="Arial"/>
              <a:buChar char="•"/>
            </a:pPr>
            <a:r>
              <a:rPr lang="en-US" sz="2600">
                <a:solidFill>
                  <a:schemeClr val="dk1"/>
                </a:solidFill>
                <a:latin typeface="Calibri"/>
                <a:ea typeface="Calibri"/>
                <a:cs typeface="Calibri"/>
                <a:sym typeface="Calibri"/>
              </a:rPr>
              <a:t>echo is marginally faster than print.</a:t>
            </a:r>
            <a:endParaRPr sz="2600">
              <a:solidFill>
                <a:schemeClr val="dk1"/>
              </a:solidFill>
              <a:latin typeface="Calibri"/>
              <a:ea typeface="Calibri"/>
              <a:cs typeface="Calibri"/>
              <a:sym typeface="Calibri"/>
            </a:endParaRPr>
          </a:p>
        </p:txBody>
      </p:sp>
      <p:sp>
        <p:nvSpPr>
          <p:cNvPr id="185" name="Google Shape;185;p17"/>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7"/>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7"/>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16</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482904" y="507237"/>
            <a:ext cx="3167380"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PHP Variables</a:t>
            </a:r>
            <a:endParaRPr sz="4000"/>
          </a:p>
        </p:txBody>
      </p:sp>
      <p:sp>
        <p:nvSpPr>
          <p:cNvPr id="193" name="Google Shape;193;p18"/>
          <p:cNvSpPr txBox="1"/>
          <p:nvPr/>
        </p:nvSpPr>
        <p:spPr>
          <a:xfrm>
            <a:off x="565810" y="1467992"/>
            <a:ext cx="7671434" cy="5368290"/>
          </a:xfrm>
          <a:prstGeom prst="rect">
            <a:avLst/>
          </a:prstGeom>
          <a:noFill/>
          <a:ln>
            <a:noFill/>
          </a:ln>
        </p:spPr>
        <p:txBody>
          <a:bodyPr anchorCtr="0" anchor="t" bIns="0" lIns="0" spcFirstLastPara="1" rIns="0" wrap="square" tIns="12700">
            <a:spAutoFit/>
          </a:bodyPr>
          <a:lstStyle/>
          <a:p>
            <a:pPr indent="-228600" lvl="0" marL="356870" marR="283845" rtl="0" algn="l">
              <a:lnSpc>
                <a:spcPct val="100000"/>
              </a:lnSpc>
              <a:spcBef>
                <a:spcPts val="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A variable starts with the $ sign, followed by the name of  the variable</a:t>
            </a:r>
            <a:endParaRPr sz="2400">
              <a:solidFill>
                <a:schemeClr val="dk1"/>
              </a:solidFill>
              <a:latin typeface="Calibri"/>
              <a:ea typeface="Calibri"/>
              <a:cs typeface="Calibri"/>
              <a:sym typeface="Calibri"/>
            </a:endParaRPr>
          </a:p>
          <a:p>
            <a:pPr indent="-228600" lvl="0" marL="356870" marR="127635" rtl="0" algn="l">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A variable name must start with a letter or the underscore  character</a:t>
            </a:r>
            <a:endParaRPr sz="2400">
              <a:solidFill>
                <a:schemeClr val="dk1"/>
              </a:solidFill>
              <a:latin typeface="Calibri"/>
              <a:ea typeface="Calibri"/>
              <a:cs typeface="Calibri"/>
              <a:sym typeface="Calibri"/>
            </a:endParaRPr>
          </a:p>
          <a:p>
            <a:pPr indent="-229235" lvl="0" marL="356870" marR="0" rtl="0" algn="l">
              <a:lnSpc>
                <a:spcPct val="100000"/>
              </a:lnSpc>
              <a:spcBef>
                <a:spcPts val="575"/>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A variable name can only contain alpha-numeric characters</a:t>
            </a:r>
            <a:endParaRPr sz="2400">
              <a:solidFill>
                <a:schemeClr val="dk1"/>
              </a:solidFill>
              <a:latin typeface="Calibri"/>
              <a:ea typeface="Calibri"/>
              <a:cs typeface="Calibri"/>
              <a:sym typeface="Calibri"/>
            </a:endParaRPr>
          </a:p>
          <a:p>
            <a:pPr indent="0" lvl="0" marL="356870" marR="0" rtl="0" algn="l">
              <a:lnSpc>
                <a:spcPct val="100000"/>
              </a:lnSpc>
              <a:spcBef>
                <a:spcPts val="0"/>
              </a:spcBef>
              <a:spcAft>
                <a:spcPts val="0"/>
              </a:spcAft>
              <a:buNone/>
            </a:pPr>
            <a:r>
              <a:rPr lang="en-US" sz="2400">
                <a:solidFill>
                  <a:schemeClr val="dk1"/>
                </a:solidFill>
                <a:latin typeface="Calibri"/>
                <a:ea typeface="Calibri"/>
                <a:cs typeface="Calibri"/>
                <a:sym typeface="Calibri"/>
              </a:rPr>
              <a:t>and underscores (A-z, 0-9, and _ )</a:t>
            </a:r>
            <a:endParaRPr sz="2400">
              <a:solidFill>
                <a:schemeClr val="dk1"/>
              </a:solidFill>
              <a:latin typeface="Calibri"/>
              <a:ea typeface="Calibri"/>
              <a:cs typeface="Calibri"/>
              <a:sym typeface="Calibri"/>
            </a:endParaRPr>
          </a:p>
          <a:p>
            <a:pPr indent="-229235" lvl="0" marL="356870" marR="0" rtl="0" algn="l">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A variable name </a:t>
            </a:r>
            <a:r>
              <a:rPr b="1" lang="en-US" sz="2400">
                <a:solidFill>
                  <a:srgbClr val="FF0000"/>
                </a:solidFill>
                <a:latin typeface="Calibri"/>
                <a:ea typeface="Calibri"/>
                <a:cs typeface="Calibri"/>
                <a:sym typeface="Calibri"/>
              </a:rPr>
              <a:t>cannot start with a number</a:t>
            </a:r>
            <a:endParaRPr sz="2400">
              <a:solidFill>
                <a:schemeClr val="dk1"/>
              </a:solidFill>
              <a:latin typeface="Calibri"/>
              <a:ea typeface="Calibri"/>
              <a:cs typeface="Calibri"/>
              <a:sym typeface="Calibri"/>
            </a:endParaRPr>
          </a:p>
          <a:p>
            <a:pPr indent="-229235" lvl="0" marL="356870" marR="0" rtl="0" algn="l">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Variable names </a:t>
            </a:r>
            <a:r>
              <a:rPr b="1" lang="en-US" sz="2400">
                <a:solidFill>
                  <a:srgbClr val="FF0000"/>
                </a:solidFill>
                <a:latin typeface="Calibri"/>
                <a:ea typeface="Calibri"/>
                <a:cs typeface="Calibri"/>
                <a:sym typeface="Calibri"/>
              </a:rPr>
              <a:t>are case-sensitive </a:t>
            </a:r>
            <a:r>
              <a:rPr lang="en-US" sz="2400">
                <a:solidFill>
                  <a:schemeClr val="dk1"/>
                </a:solidFill>
                <a:latin typeface="Calibri"/>
                <a:ea typeface="Calibri"/>
                <a:cs typeface="Calibri"/>
                <a:sym typeface="Calibri"/>
              </a:rPr>
              <a:t>($age and $AGE are two</a:t>
            </a:r>
            <a:endParaRPr sz="2400">
              <a:solidFill>
                <a:schemeClr val="dk1"/>
              </a:solidFill>
              <a:latin typeface="Calibri"/>
              <a:ea typeface="Calibri"/>
              <a:cs typeface="Calibri"/>
              <a:sym typeface="Calibri"/>
            </a:endParaRPr>
          </a:p>
          <a:p>
            <a:pPr indent="0" lvl="0" marL="356870" marR="0" rtl="0" algn="l">
              <a:lnSpc>
                <a:spcPct val="100000"/>
              </a:lnSpc>
              <a:spcBef>
                <a:spcPts val="0"/>
              </a:spcBef>
              <a:spcAft>
                <a:spcPts val="0"/>
              </a:spcAft>
              <a:buNone/>
            </a:pPr>
            <a:r>
              <a:rPr lang="en-US" sz="2400">
                <a:solidFill>
                  <a:schemeClr val="dk1"/>
                </a:solidFill>
                <a:latin typeface="Calibri"/>
                <a:ea typeface="Calibri"/>
                <a:cs typeface="Calibri"/>
                <a:sym typeface="Calibri"/>
              </a:rPr>
              <a:t>different variables)</a:t>
            </a:r>
            <a:endParaRPr sz="2400">
              <a:solidFill>
                <a:schemeClr val="dk1"/>
              </a:solidFill>
              <a:latin typeface="Calibri"/>
              <a:ea typeface="Calibri"/>
              <a:cs typeface="Calibri"/>
              <a:sym typeface="Calibri"/>
            </a:endParaRPr>
          </a:p>
          <a:p>
            <a:pPr indent="0" lvl="0" marL="12700" marR="0" rtl="0" algn="l">
              <a:lnSpc>
                <a:spcPct val="100000"/>
              </a:lnSpc>
              <a:spcBef>
                <a:spcPts val="575"/>
              </a:spcBef>
              <a:spcAft>
                <a:spcPts val="0"/>
              </a:spcAft>
              <a:buNone/>
            </a:pPr>
            <a:r>
              <a:rPr b="1" lang="en-US" sz="2400">
                <a:solidFill>
                  <a:schemeClr val="dk1"/>
                </a:solidFill>
                <a:latin typeface="Calibri"/>
                <a:ea typeface="Calibri"/>
                <a:cs typeface="Calibri"/>
                <a:sym typeface="Calibri"/>
              </a:rPr>
              <a:t>PHP has three different variable scopes:</a:t>
            </a:r>
            <a:endParaRPr sz="2400">
              <a:solidFill>
                <a:schemeClr val="dk1"/>
              </a:solidFill>
              <a:latin typeface="Calibri"/>
              <a:ea typeface="Calibri"/>
              <a:cs typeface="Calibri"/>
              <a:sym typeface="Calibri"/>
            </a:endParaRPr>
          </a:p>
          <a:p>
            <a:pPr indent="-229235" lvl="0" marL="356870" marR="0" rtl="0" algn="l">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local</a:t>
            </a:r>
            <a:endParaRPr sz="2400">
              <a:solidFill>
                <a:schemeClr val="dk1"/>
              </a:solidFill>
              <a:latin typeface="Calibri"/>
              <a:ea typeface="Calibri"/>
              <a:cs typeface="Calibri"/>
              <a:sym typeface="Calibri"/>
            </a:endParaRPr>
          </a:p>
          <a:p>
            <a:pPr indent="-229235" lvl="0" marL="356870" marR="0" rtl="0" algn="l">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global</a:t>
            </a:r>
            <a:endParaRPr sz="2400">
              <a:solidFill>
                <a:schemeClr val="dk1"/>
              </a:solidFill>
              <a:latin typeface="Calibri"/>
              <a:ea typeface="Calibri"/>
              <a:cs typeface="Calibri"/>
              <a:sym typeface="Calibri"/>
            </a:endParaRPr>
          </a:p>
          <a:p>
            <a:pPr indent="-229235" lvl="0" marL="356870" marR="0" rtl="0" algn="l">
              <a:lnSpc>
                <a:spcPct val="100000"/>
              </a:lnSpc>
              <a:spcBef>
                <a:spcPts val="575"/>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static</a:t>
            </a:r>
            <a:endParaRPr sz="2400">
              <a:solidFill>
                <a:schemeClr val="dk1"/>
              </a:solidFill>
              <a:latin typeface="Calibri"/>
              <a:ea typeface="Calibri"/>
              <a:cs typeface="Calibri"/>
              <a:sym typeface="Calibri"/>
            </a:endParaRPr>
          </a:p>
        </p:txBody>
      </p:sp>
      <p:sp>
        <p:nvSpPr>
          <p:cNvPr id="194" name="Google Shape;194;p18"/>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8"/>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18"/>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17</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02" name="Google Shape;202;p19"/>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203" name="Google Shape;203;p19"/>
          <p:cNvPicPr preferRelativeResize="0"/>
          <p:nvPr/>
        </p:nvPicPr>
        <p:blipFill rotWithShape="1">
          <a:blip r:embed="rId3">
            <a:alphaModFix/>
          </a:blip>
          <a:srcRect b="0" l="0" r="0" t="0"/>
          <a:stretch/>
        </p:blipFill>
        <p:spPr>
          <a:xfrm>
            <a:off x="485316" y="1066800"/>
            <a:ext cx="7109893" cy="44719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type="title"/>
          </p:nvPr>
        </p:nvSpPr>
        <p:spPr>
          <a:xfrm>
            <a:off x="459130" y="161670"/>
            <a:ext cx="3375660" cy="51244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n-US" sz="3200"/>
              <a:t>Example: Variables</a:t>
            </a:r>
            <a:endParaRPr sz="3200"/>
          </a:p>
        </p:txBody>
      </p:sp>
      <p:sp>
        <p:nvSpPr>
          <p:cNvPr id="209" name="Google Shape;209;p20"/>
          <p:cNvSpPr txBox="1"/>
          <p:nvPr/>
        </p:nvSpPr>
        <p:spPr>
          <a:xfrm>
            <a:off x="707542" y="737311"/>
            <a:ext cx="2441575" cy="284353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b="1" lang="en-US" sz="2200">
                <a:solidFill>
                  <a:srgbClr val="C00000"/>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C00000"/>
                </a:solidFill>
                <a:latin typeface="Calibri"/>
                <a:ea typeface="Calibri"/>
                <a:cs typeface="Calibri"/>
                <a:sym typeface="Calibri"/>
              </a:rPr>
              <a:t>$txt = "Hello world!";</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C00000"/>
                </a:solidFill>
                <a:latin typeface="Calibri"/>
                <a:ea typeface="Calibri"/>
                <a:cs typeface="Calibri"/>
                <a:sym typeface="Calibri"/>
              </a:rPr>
              <a:t>$x = 5;</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C00000"/>
                </a:solidFill>
                <a:latin typeface="Calibri"/>
                <a:ea typeface="Calibri"/>
                <a:cs typeface="Calibri"/>
                <a:sym typeface="Calibri"/>
              </a:rPr>
              <a:t>$y = 10.5;</a:t>
            </a:r>
            <a:endParaRPr sz="2200">
              <a:solidFill>
                <a:schemeClr val="dk1"/>
              </a:solidFill>
              <a:latin typeface="Calibri"/>
              <a:ea typeface="Calibri"/>
              <a:cs typeface="Calibri"/>
              <a:sym typeface="Calibri"/>
            </a:endParaRPr>
          </a:p>
        </p:txBody>
      </p:sp>
      <p:sp>
        <p:nvSpPr>
          <p:cNvPr id="210" name="Google Shape;210;p20"/>
          <p:cNvSpPr txBox="1"/>
          <p:nvPr/>
        </p:nvSpPr>
        <p:spPr>
          <a:xfrm>
            <a:off x="707542" y="3958280"/>
            <a:ext cx="2025650" cy="2842895"/>
          </a:xfrm>
          <a:prstGeom prst="rect">
            <a:avLst/>
          </a:prstGeom>
          <a:noFill/>
          <a:ln>
            <a:noFill/>
          </a:ln>
        </p:spPr>
        <p:txBody>
          <a:bodyPr anchorCtr="0" anchor="t" bIns="0" lIns="0" spcFirstLastPara="1" rIns="0" wrap="square" tIns="12050">
            <a:spAutoFit/>
          </a:bodyPr>
          <a:lstStyle/>
          <a:p>
            <a:pPr indent="0" lvl="0" marL="12700" marR="563880" rtl="0" algn="l">
              <a:lnSpc>
                <a:spcPct val="120000"/>
              </a:lnSpc>
              <a:spcBef>
                <a:spcPts val="0"/>
              </a:spcBef>
              <a:spcAft>
                <a:spcPts val="0"/>
              </a:spcAft>
              <a:buNone/>
            </a:pPr>
            <a:r>
              <a:rPr lang="en-US" sz="2200">
                <a:solidFill>
                  <a:srgbClr val="C00000"/>
                </a:solidFill>
                <a:latin typeface="Calibri"/>
                <a:ea typeface="Calibri"/>
                <a:cs typeface="Calibri"/>
                <a:sym typeface="Calibri"/>
              </a:rPr>
              <a:t>echo $txt;  </a:t>
            </a:r>
            <a:r>
              <a:rPr lang="en-US" sz="2200">
                <a:solidFill>
                  <a:schemeClr val="dk1"/>
                </a:solidFill>
                <a:latin typeface="Calibri"/>
                <a:ea typeface="Calibri"/>
                <a:cs typeface="Calibri"/>
                <a:sym typeface="Calibri"/>
              </a:rPr>
              <a:t>echo "&lt;br&gt;";  </a:t>
            </a:r>
            <a:r>
              <a:rPr lang="en-US" sz="2200">
                <a:solidFill>
                  <a:srgbClr val="C00000"/>
                </a:solidFill>
                <a:latin typeface="Calibri"/>
                <a:ea typeface="Calibri"/>
                <a:cs typeface="Calibri"/>
                <a:sym typeface="Calibri"/>
              </a:rPr>
              <a:t>echo $x;  </a:t>
            </a:r>
            <a:r>
              <a:rPr lang="en-US" sz="2200">
                <a:solidFill>
                  <a:schemeClr val="dk1"/>
                </a:solidFill>
                <a:latin typeface="Calibri"/>
                <a:ea typeface="Calibri"/>
                <a:cs typeface="Calibri"/>
                <a:sym typeface="Calibri"/>
              </a:rPr>
              <a:t>echo "&lt;br&gt;";  </a:t>
            </a:r>
            <a:r>
              <a:rPr lang="en-US" sz="2200">
                <a:solidFill>
                  <a:srgbClr val="C00000"/>
                </a:solidFill>
                <a:latin typeface="Calibri"/>
                <a:ea typeface="Calibri"/>
                <a:cs typeface="Calibri"/>
                <a:sym typeface="Calibri"/>
              </a:rPr>
              <a:t>echo $y;</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b="1" lang="en-US" sz="2200">
                <a:solidFill>
                  <a:srgbClr val="C00000"/>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&lt;/body&gt; &lt;/html&gt;</a:t>
            </a:r>
            <a:endParaRPr sz="2200">
              <a:solidFill>
                <a:schemeClr val="dk1"/>
              </a:solidFill>
              <a:latin typeface="Calibri"/>
              <a:ea typeface="Calibri"/>
              <a:cs typeface="Calibri"/>
              <a:sym typeface="Calibri"/>
            </a:endParaRPr>
          </a:p>
        </p:txBody>
      </p:sp>
      <p:sp>
        <p:nvSpPr>
          <p:cNvPr id="211" name="Google Shape;211;p20"/>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20"/>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20"/>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18</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536244" y="464896"/>
            <a:ext cx="493268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Example: Variables</a:t>
            </a:r>
            <a:endParaRPr/>
          </a:p>
        </p:txBody>
      </p:sp>
      <p:sp>
        <p:nvSpPr>
          <p:cNvPr id="219" name="Google Shape;219;p21"/>
          <p:cNvSpPr txBox="1"/>
          <p:nvPr/>
        </p:nvSpPr>
        <p:spPr>
          <a:xfrm>
            <a:off x="707542" y="1513458"/>
            <a:ext cx="5021580" cy="317944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65405" rtl="0" algn="l">
              <a:lnSpc>
                <a:spcPct val="100000"/>
              </a:lnSpc>
              <a:spcBef>
                <a:spcPts val="0"/>
              </a:spcBef>
              <a:spcAft>
                <a:spcPts val="0"/>
              </a:spcAft>
              <a:buNone/>
            </a:pPr>
            <a:r>
              <a:rPr lang="en-US" sz="2200">
                <a:solidFill>
                  <a:schemeClr val="dk1"/>
                </a:solidFill>
                <a:latin typeface="Calibri"/>
                <a:ea typeface="Calibri"/>
                <a:cs typeface="Calibri"/>
                <a:sym typeface="Calibri"/>
              </a:rPr>
              <a:t>$txt = ”K J Somaiya College of Engineering";  echo ”Name of my College is </a:t>
            </a:r>
            <a:r>
              <a:rPr b="1" lang="en-US" sz="2200">
                <a:solidFill>
                  <a:srgbClr val="C00000"/>
                </a:solidFill>
                <a:latin typeface="Calibri"/>
                <a:ea typeface="Calibri"/>
                <a:cs typeface="Calibri"/>
                <a:sym typeface="Calibri"/>
              </a:rPr>
              <a:t>$txt</a:t>
            </a:r>
            <a:r>
              <a:rPr b="1"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1841500" marR="0" rtl="0" algn="l">
              <a:lnSpc>
                <a:spcPct val="100000"/>
              </a:lnSpc>
              <a:spcBef>
                <a:spcPts val="530"/>
              </a:spcBef>
              <a:spcAft>
                <a:spcPts val="0"/>
              </a:spcAft>
              <a:buNone/>
            </a:pPr>
            <a:r>
              <a:rPr b="1" lang="en-US" sz="2200">
                <a:solidFill>
                  <a:srgbClr val="001F5F"/>
                </a:solidFill>
                <a:latin typeface="Calibri"/>
                <a:ea typeface="Calibri"/>
                <a:cs typeface="Calibri"/>
                <a:sym typeface="Calibri"/>
              </a:rPr>
              <a:t>Same as</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$txt = ”K J Somaiya College of Engineering ";</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”Name of my College is " </a:t>
            </a:r>
            <a:r>
              <a:rPr b="1" lang="en-US" sz="2200">
                <a:solidFill>
                  <a:srgbClr val="C00000"/>
                </a:solidFill>
                <a:latin typeface="Calibri"/>
                <a:ea typeface="Calibri"/>
                <a:cs typeface="Calibri"/>
                <a:sym typeface="Calibri"/>
              </a:rPr>
              <a:t>. $txt . </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220" name="Google Shape;220;p21"/>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21"/>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21"/>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txBox="1"/>
          <p:nvPr>
            <p:ph type="title"/>
          </p:nvPr>
        </p:nvSpPr>
        <p:spPr>
          <a:xfrm>
            <a:off x="536244" y="464896"/>
            <a:ext cx="620776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What will be the output of</a:t>
            </a:r>
            <a:endParaRPr/>
          </a:p>
        </p:txBody>
      </p:sp>
      <p:sp>
        <p:nvSpPr>
          <p:cNvPr id="228" name="Google Shape;228;p22"/>
          <p:cNvSpPr txBox="1"/>
          <p:nvPr/>
        </p:nvSpPr>
        <p:spPr>
          <a:xfrm>
            <a:off x="707542" y="1841373"/>
            <a:ext cx="1513840" cy="170370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$x =15;</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$y =41;</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$x + $y;</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229" name="Google Shape;229;p22"/>
          <p:cNvSpPr txBox="1"/>
          <p:nvPr/>
        </p:nvSpPr>
        <p:spPr>
          <a:xfrm>
            <a:off x="874877" y="4864684"/>
            <a:ext cx="1800860" cy="880744"/>
          </a:xfrm>
          <a:prstGeom prst="rect">
            <a:avLst/>
          </a:prstGeom>
          <a:noFill/>
          <a:ln>
            <a:noFill/>
          </a:ln>
        </p:spPr>
        <p:txBody>
          <a:bodyPr anchorCtr="0" anchor="t" bIns="0" lIns="0" spcFirstLastPara="1" rIns="0" wrap="square" tIns="13950">
            <a:spAutoFit/>
          </a:bodyPr>
          <a:lstStyle/>
          <a:p>
            <a:pPr indent="0" lvl="0" marL="12700" marR="5080" rtl="0" algn="l">
              <a:lnSpc>
                <a:spcPct val="100000"/>
              </a:lnSpc>
              <a:spcBef>
                <a:spcPts val="0"/>
              </a:spcBef>
              <a:spcAft>
                <a:spcPts val="0"/>
              </a:spcAft>
              <a:buNone/>
            </a:pPr>
            <a:r>
              <a:rPr b="1" lang="en-US" sz="2800">
                <a:solidFill>
                  <a:srgbClr val="C00000"/>
                </a:solidFill>
                <a:latin typeface="Calibri"/>
                <a:ea typeface="Calibri"/>
                <a:cs typeface="Calibri"/>
                <a:sym typeface="Calibri"/>
              </a:rPr>
              <a:t>Output:  </a:t>
            </a:r>
            <a:r>
              <a:rPr b="1" lang="en-US" sz="2800">
                <a:solidFill>
                  <a:schemeClr val="dk1"/>
                </a:solidFill>
                <a:latin typeface="Calibri"/>
                <a:ea typeface="Calibri"/>
                <a:cs typeface="Calibri"/>
                <a:sym typeface="Calibri"/>
              </a:rPr>
              <a:t>1541	Or	56</a:t>
            </a:r>
            <a:endParaRPr sz="2800">
              <a:solidFill>
                <a:schemeClr val="dk1"/>
              </a:solidFill>
              <a:latin typeface="Calibri"/>
              <a:ea typeface="Calibri"/>
              <a:cs typeface="Calibri"/>
              <a:sym typeface="Calibri"/>
            </a:endParaRPr>
          </a:p>
        </p:txBody>
      </p:sp>
      <p:sp>
        <p:nvSpPr>
          <p:cNvPr id="230" name="Google Shape;230;p22"/>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22"/>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22"/>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536244" y="513968"/>
            <a:ext cx="4728845"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0" lang="en-US" sz="4000">
                <a:latin typeface="Cambria"/>
                <a:ea typeface="Cambria"/>
                <a:cs typeface="Cambria"/>
                <a:sym typeface="Cambria"/>
              </a:rPr>
              <a:t>PHP $ and $$ Variables</a:t>
            </a:r>
            <a:endParaRPr sz="4000">
              <a:latin typeface="Cambria"/>
              <a:ea typeface="Cambria"/>
              <a:cs typeface="Cambria"/>
              <a:sym typeface="Cambria"/>
            </a:endParaRPr>
          </a:p>
        </p:txBody>
      </p:sp>
      <p:sp>
        <p:nvSpPr>
          <p:cNvPr id="238" name="Google Shape;238;p23"/>
          <p:cNvSpPr txBox="1"/>
          <p:nvPr/>
        </p:nvSpPr>
        <p:spPr>
          <a:xfrm>
            <a:off x="652068" y="1582293"/>
            <a:ext cx="7255509" cy="4655820"/>
          </a:xfrm>
          <a:prstGeom prst="rect">
            <a:avLst/>
          </a:prstGeom>
          <a:noFill/>
          <a:ln>
            <a:noFill/>
          </a:ln>
        </p:spPr>
        <p:txBody>
          <a:bodyPr anchorCtr="0" anchor="t" bIns="0" lIns="0" spcFirstLastPara="1" rIns="0" wrap="square" tIns="13325">
            <a:spAutoFit/>
          </a:bodyPr>
          <a:lstStyle/>
          <a:p>
            <a:pPr indent="-228600" lvl="0" marL="241300" marR="0" rtl="0" algn="l">
              <a:lnSpc>
                <a:spcPct val="11409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a:t>
            </a:r>
            <a:r>
              <a:rPr b="1" lang="en-US" sz="2200">
                <a:solidFill>
                  <a:schemeClr val="dk1"/>
                </a:solidFill>
                <a:latin typeface="Calibri"/>
                <a:ea typeface="Calibri"/>
                <a:cs typeface="Calibri"/>
                <a:sym typeface="Calibri"/>
              </a:rPr>
              <a:t>$var </a:t>
            </a:r>
            <a:r>
              <a:rPr lang="en-US" sz="2200">
                <a:solidFill>
                  <a:schemeClr val="dk1"/>
                </a:solidFill>
                <a:latin typeface="Calibri"/>
                <a:ea typeface="Calibri"/>
                <a:cs typeface="Calibri"/>
                <a:sym typeface="Calibri"/>
              </a:rPr>
              <a:t>(single dollar) is a normal variable with the name var</a:t>
            </a:r>
            <a:endParaRPr sz="2200">
              <a:solidFill>
                <a:schemeClr val="dk1"/>
              </a:solidFill>
              <a:latin typeface="Calibri"/>
              <a:ea typeface="Calibri"/>
              <a:cs typeface="Calibri"/>
              <a:sym typeface="Calibri"/>
            </a:endParaRPr>
          </a:p>
          <a:p>
            <a:pPr indent="0" lvl="0" marL="240665" marR="0" rtl="0" algn="l">
              <a:lnSpc>
                <a:spcPct val="114090"/>
              </a:lnSpc>
              <a:spcBef>
                <a:spcPts val="0"/>
              </a:spcBef>
              <a:spcAft>
                <a:spcPts val="0"/>
              </a:spcAft>
              <a:buNone/>
            </a:pPr>
            <a:r>
              <a:rPr lang="en-US" sz="2200">
                <a:solidFill>
                  <a:schemeClr val="dk1"/>
                </a:solidFill>
                <a:latin typeface="Calibri"/>
                <a:ea typeface="Calibri"/>
                <a:cs typeface="Calibri"/>
                <a:sym typeface="Calibri"/>
              </a:rPr>
              <a:t>that stores any value like string, integer, float, etc.</a:t>
            </a:r>
            <a:endParaRPr sz="2200">
              <a:solidFill>
                <a:schemeClr val="dk1"/>
              </a:solidFill>
              <a:latin typeface="Calibri"/>
              <a:ea typeface="Calibri"/>
              <a:cs typeface="Calibri"/>
              <a:sym typeface="Calibri"/>
            </a:endParaRPr>
          </a:p>
          <a:p>
            <a:pPr indent="-228600" lvl="0" marL="241300" marR="0" rtl="0" algn="l">
              <a:lnSpc>
                <a:spcPct val="114090"/>
              </a:lnSpc>
              <a:spcBef>
                <a:spcPts val="27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a:t>
            </a:r>
            <a:r>
              <a:rPr b="1" lang="en-US" sz="2200">
                <a:solidFill>
                  <a:schemeClr val="dk1"/>
                </a:solidFill>
                <a:latin typeface="Calibri"/>
                <a:ea typeface="Calibri"/>
                <a:cs typeface="Calibri"/>
                <a:sym typeface="Calibri"/>
              </a:rPr>
              <a:t>$$var </a:t>
            </a:r>
            <a:r>
              <a:rPr lang="en-US" sz="2200">
                <a:solidFill>
                  <a:schemeClr val="dk1"/>
                </a:solidFill>
                <a:latin typeface="Calibri"/>
                <a:ea typeface="Calibri"/>
                <a:cs typeface="Calibri"/>
                <a:sym typeface="Calibri"/>
              </a:rPr>
              <a:t>(double dollar) is a reference variable that stores</a:t>
            </a:r>
            <a:endParaRPr sz="2200">
              <a:solidFill>
                <a:schemeClr val="dk1"/>
              </a:solidFill>
              <a:latin typeface="Calibri"/>
              <a:ea typeface="Calibri"/>
              <a:cs typeface="Calibri"/>
              <a:sym typeface="Calibri"/>
            </a:endParaRPr>
          </a:p>
          <a:p>
            <a:pPr indent="0" lvl="0" marL="240665" marR="0" rtl="0" algn="l">
              <a:lnSpc>
                <a:spcPct val="114090"/>
              </a:lnSpc>
              <a:spcBef>
                <a:spcPts val="0"/>
              </a:spcBef>
              <a:spcAft>
                <a:spcPts val="0"/>
              </a:spcAft>
              <a:buNone/>
            </a:pPr>
            <a:r>
              <a:rPr lang="en-US" sz="2200">
                <a:solidFill>
                  <a:schemeClr val="dk1"/>
                </a:solidFill>
                <a:latin typeface="Calibri"/>
                <a:ea typeface="Calibri"/>
                <a:cs typeface="Calibri"/>
                <a:sym typeface="Calibri"/>
              </a:rPr>
              <a:t>the value of the $variable inside it.</a:t>
            </a:r>
            <a:endParaRPr/>
          </a:p>
          <a:p>
            <a:pPr indent="0" lvl="0" marL="0" marR="0" rtl="0" algn="l">
              <a:lnSpc>
                <a:spcPct val="100000"/>
              </a:lnSpc>
              <a:spcBef>
                <a:spcPts val="0"/>
              </a:spcBef>
              <a:spcAft>
                <a:spcPts val="0"/>
              </a:spcAft>
              <a:buNone/>
            </a:pPr>
            <a:r>
              <a:t/>
            </a:r>
            <a:endParaRPr sz="2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27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270"/>
              </a:spcBef>
              <a:spcAft>
                <a:spcPts val="0"/>
              </a:spcAft>
              <a:buNone/>
            </a:pPr>
            <a:r>
              <a:rPr lang="en-US" sz="2200">
                <a:solidFill>
                  <a:schemeClr val="dk1"/>
                </a:solidFill>
                <a:latin typeface="Calibri"/>
                <a:ea typeface="Calibri"/>
                <a:cs typeface="Calibri"/>
                <a:sym typeface="Calibri"/>
              </a:rPr>
              <a:t>$x = "abc";</a:t>
            </a:r>
            <a:endParaRPr/>
          </a:p>
          <a:p>
            <a:pPr indent="0" lvl="0" marL="127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$$x = 200;</a:t>
            </a:r>
            <a:endParaRPr sz="2200">
              <a:solidFill>
                <a:schemeClr val="dk1"/>
              </a:solidFill>
              <a:latin typeface="Calibri"/>
              <a:ea typeface="Calibri"/>
              <a:cs typeface="Calibri"/>
              <a:sym typeface="Calibri"/>
            </a:endParaRPr>
          </a:p>
          <a:p>
            <a:pPr indent="0" lvl="0" marL="12700" marR="5207000" rtl="0" algn="l">
              <a:lnSpc>
                <a:spcPct val="110000"/>
              </a:lnSpc>
              <a:spcBef>
                <a:spcPts val="0"/>
              </a:spcBef>
              <a:spcAft>
                <a:spcPts val="0"/>
              </a:spcAft>
              <a:buNone/>
            </a:pPr>
            <a:r>
              <a:rPr lang="en-US" sz="2200">
                <a:solidFill>
                  <a:schemeClr val="dk1"/>
                </a:solidFill>
                <a:latin typeface="Calibri"/>
                <a:ea typeface="Calibri"/>
                <a:cs typeface="Calibri"/>
                <a:sym typeface="Calibri"/>
              </a:rPr>
              <a:t>echo $x."&lt;br/&gt;";  echo $$x."&lt;br/&gt;";  echo $abc;</a:t>
            </a:r>
            <a:endParaRPr/>
          </a:p>
          <a:p>
            <a:pPr indent="0" lvl="0" marL="127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pic>
        <p:nvPicPr>
          <p:cNvPr id="239" name="Google Shape;239;p23"/>
          <p:cNvPicPr preferRelativeResize="0"/>
          <p:nvPr/>
        </p:nvPicPr>
        <p:blipFill rotWithShape="1">
          <a:blip r:embed="rId3">
            <a:alphaModFix/>
          </a:blip>
          <a:srcRect b="0" l="0" r="0" t="0"/>
          <a:stretch/>
        </p:blipFill>
        <p:spPr>
          <a:xfrm>
            <a:off x="3977267" y="4521153"/>
            <a:ext cx="3413912" cy="188188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4"/>
          <p:cNvSpPr txBox="1"/>
          <p:nvPr>
            <p:ph type="title"/>
          </p:nvPr>
        </p:nvSpPr>
        <p:spPr>
          <a:xfrm>
            <a:off x="536244" y="464896"/>
            <a:ext cx="225044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Example:</a:t>
            </a:r>
            <a:endParaRPr/>
          </a:p>
        </p:txBody>
      </p:sp>
      <p:sp>
        <p:nvSpPr>
          <p:cNvPr id="245" name="Google Shape;245;p24"/>
          <p:cNvSpPr txBox="1"/>
          <p:nvPr/>
        </p:nvSpPr>
        <p:spPr>
          <a:xfrm>
            <a:off x="652068" y="1549603"/>
            <a:ext cx="3246120" cy="284353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762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$x="U.P";</a:t>
            </a:r>
            <a:endParaRPr sz="2200">
              <a:solidFill>
                <a:schemeClr val="dk1"/>
              </a:solidFill>
              <a:latin typeface="Calibri"/>
              <a:ea typeface="Calibri"/>
              <a:cs typeface="Calibri"/>
              <a:sym typeface="Calibri"/>
            </a:endParaRPr>
          </a:p>
          <a:p>
            <a:pPr indent="0" lvl="0" marL="12700" marR="1248410" rtl="0" algn="just">
              <a:lnSpc>
                <a:spcPct val="120000"/>
              </a:lnSpc>
              <a:spcBef>
                <a:spcPts val="0"/>
              </a:spcBef>
              <a:spcAft>
                <a:spcPts val="0"/>
              </a:spcAft>
              <a:buNone/>
            </a:pPr>
            <a:r>
              <a:rPr lang="en-US" sz="2200">
                <a:solidFill>
                  <a:schemeClr val="dk1"/>
                </a:solidFill>
                <a:latin typeface="Calibri"/>
                <a:ea typeface="Calibri"/>
                <a:cs typeface="Calibri"/>
                <a:sym typeface="Calibri"/>
              </a:rPr>
              <a:t>$$x="Lucknow";  echo $x. "&lt;br&gt;";  echo $$x. "&lt;br&gt;";</a:t>
            </a:r>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"Capital of $x is " . $$x;</a:t>
            </a:r>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pic>
        <p:nvPicPr>
          <p:cNvPr id="246" name="Google Shape;246;p24"/>
          <p:cNvPicPr preferRelativeResize="0"/>
          <p:nvPr/>
        </p:nvPicPr>
        <p:blipFill rotWithShape="1">
          <a:blip r:embed="rId3">
            <a:alphaModFix/>
          </a:blip>
          <a:srcRect b="0" l="0" r="0" t="0"/>
          <a:stretch/>
        </p:blipFill>
        <p:spPr>
          <a:xfrm>
            <a:off x="4428744" y="4221479"/>
            <a:ext cx="4032504" cy="23042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5"/>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Data types</a:t>
            </a:r>
            <a:endParaRPr/>
          </a:p>
        </p:txBody>
      </p:sp>
      <p:sp>
        <p:nvSpPr>
          <p:cNvPr id="252" name="Google Shape;252;p25"/>
          <p:cNvSpPr txBox="1"/>
          <p:nvPr>
            <p:ph idx="1" type="body"/>
          </p:nvPr>
        </p:nvSpPr>
        <p:spPr>
          <a:xfrm>
            <a:off x="652068" y="1567053"/>
            <a:ext cx="4885055" cy="58477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Var_dump()-</a:t>
            </a:r>
            <a:endParaRPr/>
          </a:p>
          <a:p>
            <a:pPr indent="0" lvl="0" marL="0" rtl="0" algn="l">
              <a:spcBef>
                <a:spcPts val="0"/>
              </a:spcBef>
              <a:spcAft>
                <a:spcPts val="0"/>
              </a:spcAft>
              <a:buNone/>
            </a:pPr>
            <a:r>
              <a:rPr lang="en-US"/>
              <a:t>Return datatype of a variable</a:t>
            </a:r>
            <a:endParaRPr/>
          </a:p>
        </p:txBody>
      </p:sp>
      <p:pic>
        <p:nvPicPr>
          <p:cNvPr id="253" name="Google Shape;253;p25"/>
          <p:cNvPicPr preferRelativeResize="0"/>
          <p:nvPr/>
        </p:nvPicPr>
        <p:blipFill rotWithShape="1">
          <a:blip r:embed="rId3">
            <a:alphaModFix/>
          </a:blip>
          <a:srcRect b="0" l="0" r="0" t="0"/>
          <a:stretch/>
        </p:blipFill>
        <p:spPr>
          <a:xfrm>
            <a:off x="3620648" y="228600"/>
            <a:ext cx="4485127" cy="2867025"/>
          </a:xfrm>
          <a:prstGeom prst="rect">
            <a:avLst/>
          </a:prstGeom>
          <a:noFill/>
          <a:ln>
            <a:noFill/>
          </a:ln>
          <a:effectLst>
            <a:outerShdw blurRad="292100" rotWithShape="0" algn="tl" dir="2700000" dist="139700">
              <a:srgbClr val="333333">
                <a:alpha val="64705"/>
              </a:srgbClr>
            </a:outerShdw>
          </a:effectLst>
        </p:spPr>
      </p:pic>
      <p:pic>
        <p:nvPicPr>
          <p:cNvPr id="254" name="Google Shape;254;p25"/>
          <p:cNvPicPr preferRelativeResize="0"/>
          <p:nvPr/>
        </p:nvPicPr>
        <p:blipFill rotWithShape="1">
          <a:blip r:embed="rId4">
            <a:alphaModFix/>
          </a:blip>
          <a:srcRect b="0" l="0" r="0" t="0"/>
          <a:stretch/>
        </p:blipFill>
        <p:spPr>
          <a:xfrm>
            <a:off x="653050" y="2514600"/>
            <a:ext cx="2695575" cy="1600200"/>
          </a:xfrm>
          <a:prstGeom prst="rect">
            <a:avLst/>
          </a:prstGeom>
          <a:noFill/>
          <a:ln>
            <a:noFill/>
          </a:ln>
          <a:effectLst>
            <a:outerShdw blurRad="292100" rotWithShape="0" algn="tl" dir="2700000" dist="139700">
              <a:srgbClr val="333333">
                <a:alpha val="64705"/>
              </a:srgbClr>
            </a:outerShdw>
          </a:effectLst>
        </p:spPr>
      </p:pic>
      <p:pic>
        <p:nvPicPr>
          <p:cNvPr id="255" name="Google Shape;255;p25"/>
          <p:cNvPicPr preferRelativeResize="0"/>
          <p:nvPr/>
        </p:nvPicPr>
        <p:blipFill rotWithShape="1">
          <a:blip r:embed="rId5">
            <a:alphaModFix/>
          </a:blip>
          <a:srcRect b="0" l="0" r="0" t="0"/>
          <a:stretch/>
        </p:blipFill>
        <p:spPr>
          <a:xfrm>
            <a:off x="669751" y="4561562"/>
            <a:ext cx="3248025" cy="167640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6"/>
          <p:cNvSpPr txBox="1"/>
          <p:nvPr>
            <p:ph type="title"/>
          </p:nvPr>
        </p:nvSpPr>
        <p:spPr>
          <a:xfrm>
            <a:off x="670090" y="228600"/>
            <a:ext cx="3460902" cy="644407"/>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100"/>
              <a:t>PHP Constants</a:t>
            </a:r>
            <a:endParaRPr/>
          </a:p>
        </p:txBody>
      </p:sp>
      <p:sp>
        <p:nvSpPr>
          <p:cNvPr id="261" name="Google Shape;261;p26"/>
          <p:cNvSpPr txBox="1"/>
          <p:nvPr/>
        </p:nvSpPr>
        <p:spPr>
          <a:xfrm>
            <a:off x="533400" y="914400"/>
            <a:ext cx="7195184" cy="5529719"/>
          </a:xfrm>
          <a:prstGeom prst="rect">
            <a:avLst/>
          </a:prstGeom>
          <a:noFill/>
          <a:ln>
            <a:noFill/>
          </a:ln>
        </p:spPr>
        <p:txBody>
          <a:bodyPr anchorCtr="0" anchor="t" bIns="0" lIns="0" spcFirstLastPara="1" rIns="0" wrap="square" tIns="78725">
            <a:spAutoFit/>
          </a:bodyPr>
          <a:lstStyle/>
          <a:p>
            <a:pPr indent="-228600" lvl="0" marL="241300" marR="0" rtl="0" algn="l">
              <a:lnSpc>
                <a:spcPct val="100000"/>
              </a:lnSpc>
              <a:spcBef>
                <a:spcPts val="0"/>
              </a:spcBef>
              <a:spcAft>
                <a:spcPts val="0"/>
              </a:spcAft>
              <a:buClr>
                <a:srgbClr val="4F81BC"/>
              </a:buClr>
              <a:buSzPts val="1800"/>
              <a:buFont typeface="Arial"/>
              <a:buChar char="•"/>
            </a:pPr>
            <a:r>
              <a:rPr lang="en-US" sz="1800">
                <a:solidFill>
                  <a:schemeClr val="dk1"/>
                </a:solidFill>
                <a:latin typeface="Calibri"/>
                <a:ea typeface="Calibri"/>
                <a:cs typeface="Calibri"/>
                <a:sym typeface="Calibri"/>
              </a:rPr>
              <a:t>A constant is an identifier (name) for a simple value.</a:t>
            </a:r>
            <a:endParaRPr/>
          </a:p>
          <a:p>
            <a:pPr indent="-292735" lvl="0" marL="304800" marR="0" rtl="0" algn="l">
              <a:lnSpc>
                <a:spcPct val="100000"/>
              </a:lnSpc>
              <a:spcBef>
                <a:spcPts val="530"/>
              </a:spcBef>
              <a:spcAft>
                <a:spcPts val="0"/>
              </a:spcAft>
              <a:buClr>
                <a:srgbClr val="4F81BC"/>
              </a:buClr>
              <a:buSzPts val="1800"/>
              <a:buFont typeface="Arial"/>
              <a:buChar char="•"/>
            </a:pPr>
            <a:r>
              <a:rPr lang="en-US" sz="1800">
                <a:solidFill>
                  <a:schemeClr val="dk1"/>
                </a:solidFill>
                <a:latin typeface="Calibri"/>
                <a:ea typeface="Calibri"/>
                <a:cs typeface="Calibri"/>
                <a:sym typeface="Calibri"/>
              </a:rPr>
              <a:t>The value cannot be changed during the script.</a:t>
            </a:r>
            <a:endParaRPr sz="18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1800"/>
              <a:buFont typeface="Arial"/>
              <a:buChar char="•"/>
            </a:pPr>
            <a:r>
              <a:rPr lang="en-US" sz="1800">
                <a:solidFill>
                  <a:schemeClr val="dk1"/>
                </a:solidFill>
                <a:latin typeface="Calibri"/>
                <a:ea typeface="Calibri"/>
                <a:cs typeface="Calibri"/>
                <a:sym typeface="Calibri"/>
              </a:rPr>
              <a:t>A valid constant name starts with a letter or underscore (</a:t>
            </a:r>
            <a:r>
              <a:rPr b="1" lang="en-US" sz="1800">
                <a:solidFill>
                  <a:srgbClr val="FF0000"/>
                </a:solidFill>
                <a:latin typeface="Calibri"/>
                <a:ea typeface="Calibri"/>
                <a:cs typeface="Calibri"/>
                <a:sym typeface="Calibri"/>
              </a:rPr>
              <a:t>no $</a:t>
            </a:r>
            <a:endParaRPr sz="18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b="1" lang="en-US" sz="1800">
                <a:solidFill>
                  <a:srgbClr val="FF0000"/>
                </a:solidFill>
                <a:latin typeface="Calibri"/>
                <a:ea typeface="Calibri"/>
                <a:cs typeface="Calibri"/>
                <a:sym typeface="Calibri"/>
              </a:rPr>
              <a:t>sign before the constant name</a:t>
            </a:r>
            <a:r>
              <a:rPr lang="en-US" sz="1800">
                <a:solidFill>
                  <a:schemeClr val="dk1"/>
                </a:solidFill>
                <a:latin typeface="Calibri"/>
                <a:ea typeface="Calibri"/>
                <a:cs typeface="Calibri"/>
                <a:sym typeface="Calibri"/>
              </a:rPr>
              <a:t>).</a:t>
            </a:r>
            <a:endParaRPr/>
          </a:p>
          <a:p>
            <a:pPr indent="-228600" lvl="0" marL="241300" marR="0" rtl="0" algn="l">
              <a:lnSpc>
                <a:spcPct val="100000"/>
              </a:lnSpc>
              <a:spcBef>
                <a:spcPts val="530"/>
              </a:spcBef>
              <a:spcAft>
                <a:spcPts val="0"/>
              </a:spcAft>
              <a:buClr>
                <a:srgbClr val="4F81BC"/>
              </a:buClr>
              <a:buSzPts val="1800"/>
              <a:buFont typeface="Arial"/>
              <a:buChar char="•"/>
            </a:pPr>
            <a:r>
              <a:rPr lang="en-US" sz="1800">
                <a:solidFill>
                  <a:schemeClr val="dk1"/>
                </a:solidFill>
                <a:latin typeface="Calibri"/>
                <a:ea typeface="Calibri"/>
                <a:cs typeface="Calibri"/>
                <a:sym typeface="Calibri"/>
              </a:rPr>
              <a:t>PHP constants can be defined by 2 ways:</a:t>
            </a:r>
            <a:endParaRPr sz="1800">
              <a:solidFill>
                <a:schemeClr val="dk1"/>
              </a:solidFill>
              <a:latin typeface="Calibri"/>
              <a:ea typeface="Calibri"/>
              <a:cs typeface="Calibri"/>
              <a:sym typeface="Calibri"/>
            </a:endParaRPr>
          </a:p>
          <a:p>
            <a:pPr indent="-229869" lvl="1" marL="537210" marR="0" rtl="0" algn="l">
              <a:lnSpc>
                <a:spcPct val="100000"/>
              </a:lnSpc>
              <a:spcBef>
                <a:spcPts val="530"/>
              </a:spcBef>
              <a:spcAft>
                <a:spcPts val="0"/>
              </a:spcAft>
              <a:buClr>
                <a:srgbClr val="C0504D"/>
              </a:buClr>
              <a:buSzPts val="1800"/>
              <a:buFont typeface="Arial"/>
              <a:buChar char="•"/>
            </a:pPr>
            <a:r>
              <a:rPr b="1" i="0" lang="en-US" sz="1800" u="none" cap="none" strike="noStrike">
                <a:solidFill>
                  <a:srgbClr val="C00000"/>
                </a:solidFill>
                <a:latin typeface="Calibri"/>
                <a:ea typeface="Calibri"/>
                <a:cs typeface="Calibri"/>
                <a:sym typeface="Calibri"/>
              </a:rPr>
              <a:t>Using define() function</a:t>
            </a:r>
            <a:endParaRPr b="0" i="0" sz="1800" u="none" cap="none" strike="noStrike">
              <a:solidFill>
                <a:schemeClr val="dk1"/>
              </a:solidFill>
              <a:latin typeface="Calibri"/>
              <a:ea typeface="Calibri"/>
              <a:cs typeface="Calibri"/>
              <a:sym typeface="Calibri"/>
            </a:endParaRPr>
          </a:p>
          <a:p>
            <a:pPr indent="0" lvl="0" marL="674370" marR="0" rtl="0" algn="l">
              <a:lnSpc>
                <a:spcPct val="100000"/>
              </a:lnSpc>
              <a:spcBef>
                <a:spcPts val="530"/>
              </a:spcBef>
              <a:spcAft>
                <a:spcPts val="0"/>
              </a:spcAft>
              <a:buNone/>
            </a:pPr>
            <a:r>
              <a:rPr b="1" lang="en-US" sz="1800">
                <a:solidFill>
                  <a:schemeClr val="dk1"/>
                </a:solidFill>
                <a:latin typeface="Calibri"/>
                <a:ea typeface="Calibri"/>
                <a:cs typeface="Calibri"/>
                <a:sym typeface="Calibri"/>
              </a:rPr>
              <a:t>Syntax:</a:t>
            </a:r>
            <a:endParaRPr sz="1800">
              <a:solidFill>
                <a:schemeClr val="dk1"/>
              </a:solidFill>
              <a:latin typeface="Calibri"/>
              <a:ea typeface="Calibri"/>
              <a:cs typeface="Calibri"/>
              <a:sym typeface="Calibri"/>
            </a:endParaRPr>
          </a:p>
          <a:p>
            <a:pPr indent="0" lvl="0" marL="561340" marR="0" rtl="0" algn="l">
              <a:lnSpc>
                <a:spcPct val="100000"/>
              </a:lnSpc>
              <a:spcBef>
                <a:spcPts val="530"/>
              </a:spcBef>
              <a:spcAft>
                <a:spcPts val="0"/>
              </a:spcAft>
              <a:buNone/>
            </a:pPr>
            <a:r>
              <a:rPr lang="en-US" sz="2200">
                <a:solidFill>
                  <a:schemeClr val="accent4"/>
                </a:solidFill>
                <a:latin typeface="Calibri"/>
                <a:ea typeface="Calibri"/>
                <a:cs typeface="Calibri"/>
                <a:sym typeface="Calibri"/>
              </a:rPr>
              <a:t>define(</a:t>
            </a:r>
            <a:r>
              <a:rPr i="1" lang="en-US" sz="2200">
                <a:solidFill>
                  <a:schemeClr val="accent4"/>
                </a:solidFill>
                <a:latin typeface="Calibri"/>
                <a:ea typeface="Calibri"/>
                <a:cs typeface="Calibri"/>
                <a:sym typeface="Calibri"/>
              </a:rPr>
              <a:t>name</a:t>
            </a:r>
            <a:r>
              <a:rPr lang="en-US" sz="2200">
                <a:solidFill>
                  <a:schemeClr val="accent4"/>
                </a:solidFill>
                <a:latin typeface="Calibri"/>
                <a:ea typeface="Calibri"/>
                <a:cs typeface="Calibri"/>
                <a:sym typeface="Calibri"/>
              </a:rPr>
              <a:t>, </a:t>
            </a:r>
            <a:r>
              <a:rPr i="1" lang="en-US" sz="2200">
                <a:solidFill>
                  <a:schemeClr val="accent4"/>
                </a:solidFill>
                <a:latin typeface="Calibri"/>
                <a:ea typeface="Calibri"/>
                <a:cs typeface="Calibri"/>
                <a:sym typeface="Calibri"/>
              </a:rPr>
              <a:t>value</a:t>
            </a:r>
            <a:r>
              <a:rPr lang="en-US" sz="2200">
                <a:solidFill>
                  <a:schemeClr val="accent4"/>
                </a:solidFill>
                <a:latin typeface="Calibri"/>
                <a:ea typeface="Calibri"/>
                <a:cs typeface="Calibri"/>
                <a:sym typeface="Calibri"/>
              </a:rPr>
              <a:t>, </a:t>
            </a:r>
            <a:r>
              <a:rPr i="1" lang="en-US" sz="2200">
                <a:solidFill>
                  <a:schemeClr val="accent4"/>
                </a:solidFill>
                <a:latin typeface="Calibri"/>
                <a:ea typeface="Calibri"/>
                <a:cs typeface="Calibri"/>
                <a:sym typeface="Calibri"/>
              </a:rPr>
              <a:t>case-Insensitive)</a:t>
            </a:r>
            <a:endParaRPr i="1" sz="2200">
              <a:solidFill>
                <a:schemeClr val="accent4"/>
              </a:solidFill>
              <a:latin typeface="Calibri"/>
              <a:ea typeface="Calibri"/>
              <a:cs typeface="Calibri"/>
              <a:sym typeface="Calibri"/>
            </a:endParaRPr>
          </a:p>
          <a:p>
            <a:pPr indent="0" lvl="1" marL="1018539" marR="0" rtl="0" algn="l">
              <a:spcBef>
                <a:spcPts val="530"/>
              </a:spcBef>
              <a:spcAft>
                <a:spcPts val="0"/>
              </a:spcAft>
              <a:buNone/>
            </a:pPr>
            <a:r>
              <a:rPr b="0" i="1" lang="en-US" sz="2000" u="none" cap="none" strike="noStrike">
                <a:solidFill>
                  <a:schemeClr val="accent4"/>
                </a:solidFill>
                <a:latin typeface="Calibri"/>
                <a:ea typeface="Calibri"/>
                <a:cs typeface="Calibri"/>
                <a:sym typeface="Calibri"/>
              </a:rPr>
              <a:t>-1.name of the variable</a:t>
            </a:r>
            <a:endParaRPr/>
          </a:p>
          <a:p>
            <a:pPr indent="0" lvl="1" marL="1018539" marR="0" rtl="0" algn="l">
              <a:spcBef>
                <a:spcPts val="530"/>
              </a:spcBef>
              <a:spcAft>
                <a:spcPts val="0"/>
              </a:spcAft>
              <a:buNone/>
            </a:pPr>
            <a:r>
              <a:rPr b="0" i="1" lang="en-US" sz="2000" u="none" cap="none" strike="noStrike">
                <a:solidFill>
                  <a:schemeClr val="accent4"/>
                </a:solidFill>
                <a:latin typeface="Calibri"/>
                <a:ea typeface="Calibri"/>
                <a:cs typeface="Calibri"/>
                <a:sym typeface="Calibri"/>
              </a:rPr>
              <a:t>-2. value-value of the variable</a:t>
            </a:r>
            <a:endParaRPr/>
          </a:p>
          <a:p>
            <a:pPr indent="0" lvl="1" marL="1018539" marR="0" rtl="0" algn="l">
              <a:spcBef>
                <a:spcPts val="530"/>
              </a:spcBef>
              <a:spcAft>
                <a:spcPts val="0"/>
              </a:spcAft>
              <a:buNone/>
            </a:pPr>
            <a:r>
              <a:rPr b="0" i="0" lang="en-US" sz="2000" u="none" cap="none" strike="noStrike">
                <a:solidFill>
                  <a:schemeClr val="accent4"/>
                </a:solidFill>
                <a:latin typeface="Calibri"/>
                <a:ea typeface="Calibri"/>
                <a:cs typeface="Calibri"/>
                <a:sym typeface="Calibri"/>
              </a:rPr>
              <a:t>-3. fix the case sensitivity of variable (true or false)</a:t>
            </a:r>
            <a:endParaRPr/>
          </a:p>
          <a:p>
            <a:pPr indent="0" lvl="1" marL="1018539" marR="0" rtl="0" algn="l">
              <a:spcBef>
                <a:spcPts val="530"/>
              </a:spcBef>
              <a:spcAft>
                <a:spcPts val="0"/>
              </a:spcAft>
              <a:buNone/>
            </a:pPr>
            <a:r>
              <a:rPr b="0" i="0" lang="en-US" sz="2000" u="none" cap="none" strike="noStrike">
                <a:solidFill>
                  <a:schemeClr val="accent4"/>
                </a:solidFill>
                <a:latin typeface="Calibri"/>
                <a:ea typeface="Calibri"/>
                <a:cs typeface="Calibri"/>
                <a:sym typeface="Calibri"/>
              </a:rPr>
              <a:t> default value </a:t>
            </a:r>
            <a:r>
              <a:rPr b="0" i="0" lang="en-US" sz="2200" u="none" cap="none" strike="noStrike">
                <a:solidFill>
                  <a:schemeClr val="accent4"/>
                </a:solidFill>
                <a:latin typeface="Calibri"/>
                <a:ea typeface="Calibri"/>
                <a:cs typeface="Calibri"/>
                <a:sym typeface="Calibri"/>
              </a:rPr>
              <a:t>is false</a:t>
            </a:r>
            <a:endParaRPr b="0" i="0" sz="2200" u="none" cap="none" strike="noStrike">
              <a:solidFill>
                <a:schemeClr val="accent4"/>
              </a:solidFill>
              <a:latin typeface="Calibri"/>
              <a:ea typeface="Calibri"/>
              <a:cs typeface="Calibri"/>
              <a:sym typeface="Calibri"/>
            </a:endParaRPr>
          </a:p>
          <a:p>
            <a:pPr indent="-229869" lvl="1" marL="537210" marR="0" rtl="0" algn="l">
              <a:lnSpc>
                <a:spcPct val="100000"/>
              </a:lnSpc>
              <a:spcBef>
                <a:spcPts val="525"/>
              </a:spcBef>
              <a:spcAft>
                <a:spcPts val="0"/>
              </a:spcAft>
              <a:buClr>
                <a:srgbClr val="C0504D"/>
              </a:buClr>
              <a:buSzPts val="2000"/>
              <a:buFont typeface="Arial"/>
              <a:buChar char="•"/>
            </a:pPr>
            <a:r>
              <a:rPr b="1" i="0" lang="en-US" sz="2000" u="none" cap="none" strike="noStrike">
                <a:solidFill>
                  <a:srgbClr val="C00000"/>
                </a:solidFill>
                <a:latin typeface="Calibri"/>
                <a:ea typeface="Calibri"/>
                <a:cs typeface="Calibri"/>
                <a:sym typeface="Calibri"/>
              </a:rPr>
              <a:t>Using const keyword</a:t>
            </a:r>
            <a:endParaRPr b="0" i="0" sz="2000" u="none" cap="none" strike="noStrike">
              <a:solidFill>
                <a:schemeClr val="dk1"/>
              </a:solidFill>
              <a:latin typeface="Calibri"/>
              <a:ea typeface="Calibri"/>
              <a:cs typeface="Calibri"/>
              <a:sym typeface="Calibri"/>
            </a:endParaRPr>
          </a:p>
          <a:p>
            <a:pPr indent="-229234" lvl="2" marL="902969" marR="0" rtl="0" algn="l">
              <a:lnSpc>
                <a:spcPct val="100000"/>
              </a:lnSpc>
              <a:spcBef>
                <a:spcPts val="515"/>
              </a:spcBef>
              <a:spcAft>
                <a:spcPts val="0"/>
              </a:spcAft>
              <a:buClr>
                <a:srgbClr val="9BBA58"/>
              </a:buClr>
              <a:buSzPts val="2100"/>
              <a:buFont typeface="Arial"/>
              <a:buChar char="•"/>
            </a:pPr>
            <a:r>
              <a:rPr b="0" i="0" lang="en-US" sz="2100" u="none" cap="none" strike="noStrike">
                <a:solidFill>
                  <a:schemeClr val="dk1"/>
                </a:solidFill>
                <a:latin typeface="Calibri"/>
                <a:ea typeface="Calibri"/>
                <a:cs typeface="Calibri"/>
                <a:sym typeface="Calibri"/>
              </a:rPr>
              <a:t>It is a language construct not a function.</a:t>
            </a:r>
            <a:endParaRPr b="0" i="0" sz="2100" u="none" cap="none" strike="noStrike">
              <a:solidFill>
                <a:schemeClr val="dk1"/>
              </a:solidFill>
              <a:latin typeface="Calibri"/>
              <a:ea typeface="Calibri"/>
              <a:cs typeface="Calibri"/>
              <a:sym typeface="Calibri"/>
            </a:endParaRPr>
          </a:p>
          <a:p>
            <a:pPr indent="-229234" lvl="2" marL="902969" marR="0" rtl="0" algn="l">
              <a:lnSpc>
                <a:spcPct val="100000"/>
              </a:lnSpc>
              <a:spcBef>
                <a:spcPts val="500"/>
              </a:spcBef>
              <a:spcAft>
                <a:spcPts val="0"/>
              </a:spcAft>
              <a:buClr>
                <a:srgbClr val="9BBA58"/>
              </a:buClr>
              <a:buSzPts val="2100"/>
              <a:buFont typeface="Arial"/>
              <a:buChar char="•"/>
            </a:pPr>
            <a:r>
              <a:rPr b="0" i="0" lang="en-US" sz="2100" u="none" cap="none" strike="noStrike">
                <a:solidFill>
                  <a:schemeClr val="dk1"/>
                </a:solidFill>
                <a:latin typeface="Calibri"/>
                <a:ea typeface="Calibri"/>
                <a:cs typeface="Calibri"/>
                <a:sym typeface="Calibri"/>
              </a:rPr>
              <a:t>It is bit faster than define().</a:t>
            </a:r>
            <a:endParaRPr b="0" i="0" sz="2100" u="none" cap="none" strike="noStrike">
              <a:solidFill>
                <a:schemeClr val="dk1"/>
              </a:solidFill>
              <a:latin typeface="Calibri"/>
              <a:ea typeface="Calibri"/>
              <a:cs typeface="Calibri"/>
              <a:sym typeface="Calibri"/>
            </a:endParaRPr>
          </a:p>
        </p:txBody>
      </p:sp>
      <p:sp>
        <p:nvSpPr>
          <p:cNvPr id="262" name="Google Shape;262;p26"/>
          <p:cNvSpPr txBox="1"/>
          <p:nvPr/>
        </p:nvSpPr>
        <p:spPr>
          <a:xfrm>
            <a:off x="3276600" y="5232807"/>
            <a:ext cx="3029585" cy="347345"/>
          </a:xfrm>
          <a:prstGeom prst="rect">
            <a:avLst/>
          </a:prstGeom>
          <a:noFill/>
          <a:ln>
            <a:noFill/>
          </a:ln>
        </p:spPr>
        <p:txBody>
          <a:bodyPr anchorCtr="0" anchor="t" bIns="0" lIns="0" spcFirstLastPara="1" rIns="0" wrap="square" tIns="13950">
            <a:spAutoFit/>
          </a:bodyPr>
          <a:lstStyle/>
          <a:p>
            <a:pPr indent="-228600" lvl="0" marL="241300" marR="0" rtl="0" algn="l">
              <a:lnSpc>
                <a:spcPct val="100000"/>
              </a:lnSpc>
              <a:spcBef>
                <a:spcPts val="0"/>
              </a:spcBef>
              <a:spcAft>
                <a:spcPts val="0"/>
              </a:spcAft>
              <a:buClr>
                <a:srgbClr val="9BBA58"/>
              </a:buClr>
              <a:buSzPts val="2100"/>
              <a:buFont typeface="Arial"/>
              <a:buChar char="•"/>
            </a:pPr>
            <a:r>
              <a:rPr lang="en-US" sz="2100">
                <a:solidFill>
                  <a:schemeClr val="dk1"/>
                </a:solidFill>
                <a:latin typeface="Calibri"/>
                <a:ea typeface="Calibri"/>
                <a:cs typeface="Calibri"/>
                <a:sym typeface="Calibri"/>
              </a:rPr>
              <a:t>It is always case sensitive.</a:t>
            </a:r>
            <a:endParaRPr sz="2100">
              <a:solidFill>
                <a:schemeClr val="dk1"/>
              </a:solidFill>
              <a:latin typeface="Calibri"/>
              <a:ea typeface="Calibri"/>
              <a:cs typeface="Calibri"/>
              <a:sym typeface="Calibri"/>
            </a:endParaRPr>
          </a:p>
        </p:txBody>
      </p:sp>
      <p:sp>
        <p:nvSpPr>
          <p:cNvPr id="263" name="Google Shape;263;p26"/>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26"/>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26"/>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23</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7"/>
          <p:cNvSpPr txBox="1"/>
          <p:nvPr>
            <p:ph type="title"/>
          </p:nvPr>
        </p:nvSpPr>
        <p:spPr>
          <a:xfrm>
            <a:off x="536244" y="581025"/>
            <a:ext cx="3460750" cy="51244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n-US" sz="3200"/>
              <a:t>Example: Constants</a:t>
            </a:r>
            <a:endParaRPr sz="3200"/>
          </a:p>
        </p:txBody>
      </p:sp>
      <p:sp>
        <p:nvSpPr>
          <p:cNvPr id="271" name="Google Shape;271;p27"/>
          <p:cNvSpPr txBox="1"/>
          <p:nvPr/>
        </p:nvSpPr>
        <p:spPr>
          <a:xfrm>
            <a:off x="652068" y="1615820"/>
            <a:ext cx="7253605" cy="4119245"/>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define</a:t>
            </a:r>
            <a:r>
              <a:rPr lang="en-US" sz="2200">
                <a:solidFill>
                  <a:schemeClr val="dk1"/>
                </a:solidFill>
                <a:latin typeface="Calibri"/>
                <a:ea typeface="Calibri"/>
                <a:cs typeface="Calibri"/>
                <a:sym typeface="Calibri"/>
              </a:rPr>
              <a:t>(“College", ”K J Somaiya College of Engineering ");</a:t>
            </a:r>
            <a:endParaRPr sz="2200">
              <a:solidFill>
                <a:schemeClr val="dk1"/>
              </a:solidFill>
              <a:latin typeface="Calibri"/>
              <a:ea typeface="Calibri"/>
              <a:cs typeface="Calibri"/>
              <a:sym typeface="Calibri"/>
            </a:endParaRPr>
          </a:p>
          <a:p>
            <a:pPr indent="0" lvl="0" marL="240665" marR="0" rtl="0" algn="l">
              <a:lnSpc>
                <a:spcPct val="100000"/>
              </a:lnSpc>
              <a:spcBef>
                <a:spcPts val="5"/>
              </a:spcBef>
              <a:spcAft>
                <a:spcPts val="0"/>
              </a:spcAft>
              <a:buNone/>
            </a:pPr>
            <a:r>
              <a:rPr lang="en-US" sz="2200">
                <a:solidFill>
                  <a:schemeClr val="dk1"/>
                </a:solidFill>
                <a:latin typeface="Calibri"/>
                <a:ea typeface="Calibri"/>
                <a:cs typeface="Calibri"/>
                <a:sym typeface="Calibri"/>
              </a:rPr>
              <a:t>echo College;</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3000">
              <a:solidFill>
                <a:schemeClr val="dk1"/>
              </a:solidFill>
              <a:latin typeface="Calibri"/>
              <a:ea typeface="Calibri"/>
              <a:cs typeface="Calibri"/>
              <a:sym typeface="Calibri"/>
            </a:endParaRPr>
          </a:p>
          <a:p>
            <a:pPr indent="0" lvl="0" marL="26543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define</a:t>
            </a:r>
            <a:r>
              <a:rPr lang="en-US" sz="2200">
                <a:solidFill>
                  <a:schemeClr val="dk1"/>
                </a:solidFill>
                <a:latin typeface="Calibri"/>
                <a:ea typeface="Calibri"/>
                <a:cs typeface="Calibri"/>
                <a:sym typeface="Calibri"/>
              </a:rPr>
              <a:t>(“College", ”K J Somaiya College of Engineering “, true);</a:t>
            </a:r>
            <a:endParaRPr sz="2200">
              <a:solidFill>
                <a:schemeClr val="dk1"/>
              </a:solidFill>
              <a:latin typeface="Calibri"/>
              <a:ea typeface="Calibri"/>
              <a:cs typeface="Calibri"/>
              <a:sym typeface="Calibri"/>
            </a:endParaRPr>
          </a:p>
          <a:p>
            <a:pPr indent="0" lvl="0" marL="26543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College;</a:t>
            </a:r>
            <a:endParaRPr sz="22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3000">
              <a:solidFill>
                <a:schemeClr val="dk1"/>
              </a:solidFill>
              <a:latin typeface="Calibri"/>
              <a:ea typeface="Calibri"/>
              <a:cs typeface="Calibri"/>
              <a:sym typeface="Calibri"/>
            </a:endParaRPr>
          </a:p>
          <a:p>
            <a:pPr indent="0" lvl="0" marL="26543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const </a:t>
            </a:r>
            <a:r>
              <a:rPr lang="en-US" sz="2200">
                <a:solidFill>
                  <a:schemeClr val="dk1"/>
                </a:solidFill>
                <a:latin typeface="Calibri"/>
                <a:ea typeface="Calibri"/>
                <a:cs typeface="Calibri"/>
                <a:sym typeface="Calibri"/>
              </a:rPr>
              <a:t>MESSAGE=" K J Somaiya College of Engineering ";</a:t>
            </a:r>
            <a:endParaRPr sz="2200">
              <a:solidFill>
                <a:schemeClr val="dk1"/>
              </a:solidFill>
              <a:latin typeface="Calibri"/>
              <a:ea typeface="Calibri"/>
              <a:cs typeface="Calibri"/>
              <a:sym typeface="Calibri"/>
            </a:endParaRPr>
          </a:p>
          <a:p>
            <a:pPr indent="0" lvl="0" marL="265430" marR="0" rtl="0" algn="l">
              <a:lnSpc>
                <a:spcPct val="100000"/>
              </a:lnSpc>
              <a:spcBef>
                <a:spcPts val="525"/>
              </a:spcBef>
              <a:spcAft>
                <a:spcPts val="0"/>
              </a:spcAft>
              <a:buNone/>
            </a:pPr>
            <a:r>
              <a:rPr lang="en-US" sz="2200">
                <a:solidFill>
                  <a:schemeClr val="dk1"/>
                </a:solidFill>
                <a:latin typeface="Calibri"/>
                <a:ea typeface="Calibri"/>
                <a:cs typeface="Calibri"/>
                <a:sym typeface="Calibri"/>
              </a:rPr>
              <a:t>echo MESSAGE;</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6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8"/>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Php Constants</a:t>
            </a:r>
            <a:endParaRPr/>
          </a:p>
        </p:txBody>
      </p:sp>
      <p:sp>
        <p:nvSpPr>
          <p:cNvPr id="277" name="Google Shape;277;p28"/>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278" name="Google Shape;278;p28"/>
          <p:cNvPicPr preferRelativeResize="0"/>
          <p:nvPr/>
        </p:nvPicPr>
        <p:blipFill rotWithShape="1">
          <a:blip r:embed="rId3">
            <a:alphaModFix/>
          </a:blip>
          <a:srcRect b="0" l="0" r="0" t="0"/>
          <a:stretch/>
        </p:blipFill>
        <p:spPr>
          <a:xfrm>
            <a:off x="381000" y="838200"/>
            <a:ext cx="5058374" cy="2005487"/>
          </a:xfrm>
          <a:prstGeom prst="rect">
            <a:avLst/>
          </a:prstGeom>
          <a:noFill/>
          <a:ln>
            <a:noFill/>
          </a:ln>
        </p:spPr>
      </p:pic>
      <p:pic>
        <p:nvPicPr>
          <p:cNvPr id="279" name="Google Shape;279;p28"/>
          <p:cNvPicPr preferRelativeResize="0"/>
          <p:nvPr/>
        </p:nvPicPr>
        <p:blipFill rotWithShape="1">
          <a:blip r:embed="rId4">
            <a:alphaModFix/>
          </a:blip>
          <a:srcRect b="0" l="0" r="0" t="0"/>
          <a:stretch/>
        </p:blipFill>
        <p:spPr>
          <a:xfrm>
            <a:off x="609600" y="3581400"/>
            <a:ext cx="2181225" cy="2171700"/>
          </a:xfrm>
          <a:prstGeom prst="rect">
            <a:avLst/>
          </a:prstGeom>
          <a:noFill/>
          <a:ln>
            <a:noFill/>
          </a:ln>
        </p:spPr>
      </p:pic>
      <p:pic>
        <p:nvPicPr>
          <p:cNvPr id="280" name="Google Shape;280;p28"/>
          <p:cNvPicPr preferRelativeResize="0"/>
          <p:nvPr/>
        </p:nvPicPr>
        <p:blipFill rotWithShape="1">
          <a:blip r:embed="rId5">
            <a:alphaModFix/>
          </a:blip>
          <a:srcRect b="0" l="0" r="0" t="0"/>
          <a:stretch/>
        </p:blipFill>
        <p:spPr>
          <a:xfrm>
            <a:off x="3263729" y="3858081"/>
            <a:ext cx="4351290" cy="161833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9"/>
          <p:cNvSpPr txBox="1"/>
          <p:nvPr>
            <p:ph type="title"/>
          </p:nvPr>
        </p:nvSpPr>
        <p:spPr>
          <a:xfrm>
            <a:off x="536244" y="464896"/>
            <a:ext cx="386715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PHP Operators</a:t>
            </a:r>
            <a:endParaRPr/>
          </a:p>
        </p:txBody>
      </p:sp>
      <p:sp>
        <p:nvSpPr>
          <p:cNvPr id="286" name="Google Shape;286;p29"/>
          <p:cNvSpPr txBox="1"/>
          <p:nvPr/>
        </p:nvSpPr>
        <p:spPr>
          <a:xfrm>
            <a:off x="652068" y="1615820"/>
            <a:ext cx="6925945" cy="3662045"/>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Operators are used to perform operations on variables and</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values.</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3000">
              <a:solidFill>
                <a:schemeClr val="dk1"/>
              </a:solidFill>
              <a:latin typeface="Calibri"/>
              <a:ea typeface="Calibri"/>
              <a:cs typeface="Calibri"/>
              <a:sym typeface="Calibri"/>
            </a:endParaRPr>
          </a:p>
          <a:p>
            <a:pPr indent="-229234" lvl="1" marL="536575" marR="0" rtl="0" algn="l">
              <a:lnSpc>
                <a:spcPct val="100000"/>
              </a:lnSpc>
              <a:spcBef>
                <a:spcPts val="0"/>
              </a:spcBef>
              <a:spcAft>
                <a:spcPts val="0"/>
              </a:spcAft>
              <a:buClr>
                <a:srgbClr val="C0504D"/>
              </a:buClr>
              <a:buSzPts val="2000"/>
              <a:buFont typeface="Arial"/>
              <a:buChar char="•"/>
            </a:pPr>
            <a:r>
              <a:rPr b="0" i="0" lang="en-US" sz="2000" u="none" cap="none" strike="noStrike">
                <a:solidFill>
                  <a:schemeClr val="dk1"/>
                </a:solidFill>
                <a:latin typeface="Calibri"/>
                <a:ea typeface="Calibri"/>
                <a:cs typeface="Calibri"/>
                <a:sym typeface="Calibri"/>
              </a:rPr>
              <a:t>Arithmetic operators</a:t>
            </a:r>
            <a:endParaRPr b="0" i="0" sz="2000" u="none" cap="none" strike="noStrike">
              <a:solidFill>
                <a:schemeClr val="dk1"/>
              </a:solidFill>
              <a:latin typeface="Calibri"/>
              <a:ea typeface="Calibri"/>
              <a:cs typeface="Calibri"/>
              <a:sym typeface="Calibri"/>
            </a:endParaRPr>
          </a:p>
          <a:p>
            <a:pPr indent="-229234" lvl="1" marL="536575" marR="0" rtl="0" algn="l">
              <a:lnSpc>
                <a:spcPct val="100000"/>
              </a:lnSpc>
              <a:spcBef>
                <a:spcPts val="480"/>
              </a:spcBef>
              <a:spcAft>
                <a:spcPts val="0"/>
              </a:spcAft>
              <a:buClr>
                <a:srgbClr val="C0504D"/>
              </a:buClr>
              <a:buSzPts val="2000"/>
              <a:buFont typeface="Arial"/>
              <a:buChar char="•"/>
            </a:pPr>
            <a:r>
              <a:rPr b="0" i="0" lang="en-US" sz="2000" u="none" cap="none" strike="noStrike">
                <a:solidFill>
                  <a:schemeClr val="dk1"/>
                </a:solidFill>
                <a:latin typeface="Calibri"/>
                <a:ea typeface="Calibri"/>
                <a:cs typeface="Calibri"/>
                <a:sym typeface="Calibri"/>
              </a:rPr>
              <a:t>Assignment operators</a:t>
            </a:r>
            <a:endParaRPr b="0" i="0" sz="2000" u="none" cap="none" strike="noStrike">
              <a:solidFill>
                <a:schemeClr val="dk1"/>
              </a:solidFill>
              <a:latin typeface="Calibri"/>
              <a:ea typeface="Calibri"/>
              <a:cs typeface="Calibri"/>
              <a:sym typeface="Calibri"/>
            </a:endParaRPr>
          </a:p>
          <a:p>
            <a:pPr indent="-229234" lvl="1" marL="536575" marR="0" rtl="0" algn="l">
              <a:lnSpc>
                <a:spcPct val="100000"/>
              </a:lnSpc>
              <a:spcBef>
                <a:spcPts val="480"/>
              </a:spcBef>
              <a:spcAft>
                <a:spcPts val="0"/>
              </a:spcAft>
              <a:buClr>
                <a:srgbClr val="C0504D"/>
              </a:buClr>
              <a:buSzPts val="2000"/>
              <a:buFont typeface="Arial"/>
              <a:buChar char="•"/>
            </a:pPr>
            <a:r>
              <a:rPr b="0" i="0" lang="en-US" sz="2000" u="none" cap="none" strike="noStrike">
                <a:solidFill>
                  <a:schemeClr val="dk1"/>
                </a:solidFill>
                <a:latin typeface="Calibri"/>
                <a:ea typeface="Calibri"/>
                <a:cs typeface="Calibri"/>
                <a:sym typeface="Calibri"/>
              </a:rPr>
              <a:t>Comparison operators</a:t>
            </a:r>
            <a:endParaRPr b="0" i="0" sz="2000" u="none" cap="none" strike="noStrike">
              <a:solidFill>
                <a:schemeClr val="dk1"/>
              </a:solidFill>
              <a:latin typeface="Calibri"/>
              <a:ea typeface="Calibri"/>
              <a:cs typeface="Calibri"/>
              <a:sym typeface="Calibri"/>
            </a:endParaRPr>
          </a:p>
          <a:p>
            <a:pPr indent="-229234" lvl="1" marL="536575" marR="0" rtl="0" algn="l">
              <a:lnSpc>
                <a:spcPct val="100000"/>
              </a:lnSpc>
              <a:spcBef>
                <a:spcPts val="480"/>
              </a:spcBef>
              <a:spcAft>
                <a:spcPts val="0"/>
              </a:spcAft>
              <a:buClr>
                <a:srgbClr val="C0504D"/>
              </a:buClr>
              <a:buSzPts val="2000"/>
              <a:buFont typeface="Arial"/>
              <a:buChar char="•"/>
            </a:pPr>
            <a:r>
              <a:rPr b="0" i="0" lang="en-US" sz="2000" u="none" cap="none" strike="noStrike">
                <a:solidFill>
                  <a:schemeClr val="dk1"/>
                </a:solidFill>
                <a:latin typeface="Calibri"/>
                <a:ea typeface="Calibri"/>
                <a:cs typeface="Calibri"/>
                <a:sym typeface="Calibri"/>
              </a:rPr>
              <a:t>Increment/Decrement operators</a:t>
            </a:r>
            <a:endParaRPr b="0" i="0" sz="2000" u="none" cap="none" strike="noStrike">
              <a:solidFill>
                <a:schemeClr val="dk1"/>
              </a:solidFill>
              <a:latin typeface="Calibri"/>
              <a:ea typeface="Calibri"/>
              <a:cs typeface="Calibri"/>
              <a:sym typeface="Calibri"/>
            </a:endParaRPr>
          </a:p>
          <a:p>
            <a:pPr indent="-229234" lvl="1" marL="536575" marR="0" rtl="0" algn="l">
              <a:lnSpc>
                <a:spcPct val="100000"/>
              </a:lnSpc>
              <a:spcBef>
                <a:spcPts val="484"/>
              </a:spcBef>
              <a:spcAft>
                <a:spcPts val="0"/>
              </a:spcAft>
              <a:buClr>
                <a:srgbClr val="C0504D"/>
              </a:buClr>
              <a:buSzPts val="2000"/>
              <a:buFont typeface="Arial"/>
              <a:buChar char="•"/>
            </a:pPr>
            <a:r>
              <a:rPr b="0" i="0" lang="en-US" sz="2000" u="none" cap="none" strike="noStrike">
                <a:solidFill>
                  <a:schemeClr val="dk1"/>
                </a:solidFill>
                <a:latin typeface="Calibri"/>
                <a:ea typeface="Calibri"/>
                <a:cs typeface="Calibri"/>
                <a:sym typeface="Calibri"/>
              </a:rPr>
              <a:t>Logical operators</a:t>
            </a:r>
            <a:endParaRPr b="0" i="0" sz="2000" u="none" cap="none" strike="noStrike">
              <a:solidFill>
                <a:schemeClr val="dk1"/>
              </a:solidFill>
              <a:latin typeface="Calibri"/>
              <a:ea typeface="Calibri"/>
              <a:cs typeface="Calibri"/>
              <a:sym typeface="Calibri"/>
            </a:endParaRPr>
          </a:p>
          <a:p>
            <a:pPr indent="-229234" lvl="1" marL="536575" marR="0" rtl="0" algn="l">
              <a:lnSpc>
                <a:spcPct val="100000"/>
              </a:lnSpc>
              <a:spcBef>
                <a:spcPts val="480"/>
              </a:spcBef>
              <a:spcAft>
                <a:spcPts val="0"/>
              </a:spcAft>
              <a:buClr>
                <a:srgbClr val="C0504D"/>
              </a:buClr>
              <a:buSzPts val="2000"/>
              <a:buFont typeface="Arial"/>
              <a:buChar char="•"/>
            </a:pPr>
            <a:r>
              <a:rPr b="0" i="0" lang="en-US" sz="2000" u="none" cap="none" strike="noStrike">
                <a:solidFill>
                  <a:schemeClr val="dk1"/>
                </a:solidFill>
                <a:latin typeface="Calibri"/>
                <a:ea typeface="Calibri"/>
                <a:cs typeface="Calibri"/>
                <a:sym typeface="Calibri"/>
              </a:rPr>
              <a:t>String operators</a:t>
            </a:r>
            <a:endParaRPr b="0" i="0" sz="2000" u="none" cap="none" strike="noStrike">
              <a:solidFill>
                <a:schemeClr val="dk1"/>
              </a:solidFill>
              <a:latin typeface="Calibri"/>
              <a:ea typeface="Calibri"/>
              <a:cs typeface="Calibri"/>
              <a:sym typeface="Calibri"/>
            </a:endParaRPr>
          </a:p>
          <a:p>
            <a:pPr indent="-229234" lvl="1" marL="536575" marR="0" rtl="0" algn="l">
              <a:lnSpc>
                <a:spcPct val="100000"/>
              </a:lnSpc>
              <a:spcBef>
                <a:spcPts val="480"/>
              </a:spcBef>
              <a:spcAft>
                <a:spcPts val="0"/>
              </a:spcAft>
              <a:buClr>
                <a:srgbClr val="C0504D"/>
              </a:buClr>
              <a:buSzPts val="2000"/>
              <a:buFont typeface="Arial"/>
              <a:buChar char="•"/>
            </a:pPr>
            <a:r>
              <a:rPr b="0" i="0" lang="en-US" sz="2000" u="none" cap="none" strike="noStrike">
                <a:solidFill>
                  <a:schemeClr val="dk1"/>
                </a:solidFill>
                <a:latin typeface="Calibri"/>
                <a:ea typeface="Calibri"/>
                <a:cs typeface="Calibri"/>
                <a:sym typeface="Calibri"/>
              </a:rPr>
              <a:t>Array operators</a:t>
            </a:r>
            <a:endParaRPr b="0" i="0" sz="2000" u="none" cap="none" strike="noStrike">
              <a:solidFill>
                <a:schemeClr val="dk1"/>
              </a:solidFill>
              <a:latin typeface="Calibri"/>
              <a:ea typeface="Calibri"/>
              <a:cs typeface="Calibri"/>
              <a:sym typeface="Calibri"/>
            </a:endParaRPr>
          </a:p>
        </p:txBody>
      </p:sp>
      <p:sp>
        <p:nvSpPr>
          <p:cNvPr id="287" name="Google Shape;287;p29"/>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29"/>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29"/>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0"/>
          <p:cNvSpPr txBox="1"/>
          <p:nvPr>
            <p:ph type="title"/>
          </p:nvPr>
        </p:nvSpPr>
        <p:spPr>
          <a:xfrm>
            <a:off x="707542" y="44653"/>
            <a:ext cx="4791075" cy="6369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4000"/>
              <a:t>Arithmetic Operators</a:t>
            </a:r>
            <a:endParaRPr sz="4000"/>
          </a:p>
        </p:txBody>
      </p:sp>
      <p:graphicFrame>
        <p:nvGraphicFramePr>
          <p:cNvPr id="295" name="Google Shape;295;p30"/>
          <p:cNvGraphicFramePr/>
          <p:nvPr/>
        </p:nvGraphicFramePr>
        <p:xfrm>
          <a:off x="183083" y="781430"/>
          <a:ext cx="3000000" cy="3000000"/>
        </p:xfrm>
        <a:graphic>
          <a:graphicData uri="http://schemas.openxmlformats.org/drawingml/2006/table">
            <a:tbl>
              <a:tblPr bandRow="1" firstRow="1">
                <a:noFill/>
                <a:tableStyleId>{06F41560-F12C-4508-8C44-9FB9A9501E1E}</a:tableStyleId>
              </a:tblPr>
              <a:tblGrid>
                <a:gridCol w="1358275"/>
                <a:gridCol w="1817375"/>
                <a:gridCol w="1289675"/>
                <a:gridCol w="3676025"/>
              </a:tblGrid>
              <a:tr h="1003925">
                <a:tc>
                  <a:txBody>
                    <a:bodyPr/>
                    <a:lstStyle/>
                    <a:p>
                      <a:pPr indent="-353695" lvl="0" marL="546100" marR="128270" rtl="0" algn="l">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Operat  or</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468630" marR="0" rtl="0" algn="l">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Name</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448309" lvl="0" marL="554355" marR="95885" rtl="0" algn="l">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Exampl  e</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3810" marR="0" rtl="0" algn="ctr">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Result</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640600">
                <a:tc>
                  <a:txBody>
                    <a:bodyPr/>
                    <a:lstStyle/>
                    <a:p>
                      <a:pPr indent="0" lvl="0" marL="112395" marR="0"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Addition</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$x + $y</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800" u="none" cap="none" strike="noStrike">
                          <a:latin typeface="Calibri"/>
                          <a:ea typeface="Calibri"/>
                          <a:cs typeface="Calibri"/>
                          <a:sym typeface="Calibri"/>
                        </a:rPr>
                        <a:t>Sum of $x and $y</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640450">
                <a:tc>
                  <a:txBody>
                    <a:bodyPr/>
                    <a:lstStyle/>
                    <a:p>
                      <a:pPr indent="0" lvl="0" marL="112395" marR="0"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Subtraction</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$x - $y</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800" u="none" cap="none" strike="noStrike">
                          <a:latin typeface="Calibri"/>
                          <a:ea typeface="Calibri"/>
                          <a:cs typeface="Calibri"/>
                          <a:sym typeface="Calibri"/>
                        </a:rPr>
                        <a:t>Difference of $x and $y</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1004050">
                <a:tc>
                  <a:txBody>
                    <a:bodyPr/>
                    <a:lstStyle/>
                    <a:p>
                      <a:pPr indent="0" lvl="0" marL="112395" marR="0"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111125" rtl="0" algn="l">
                        <a:lnSpc>
                          <a:spcPct val="100000"/>
                        </a:lnSpc>
                        <a:spcBef>
                          <a:spcPts val="0"/>
                        </a:spcBef>
                        <a:spcAft>
                          <a:spcPts val="0"/>
                        </a:spcAft>
                        <a:buNone/>
                      </a:pPr>
                      <a:r>
                        <a:rPr lang="en-US" sz="2800" u="none" cap="none" strike="noStrike">
                          <a:latin typeface="Calibri"/>
                          <a:ea typeface="Calibri"/>
                          <a:cs typeface="Calibri"/>
                          <a:sym typeface="Calibri"/>
                        </a:rPr>
                        <a:t>Multiplicati  on</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$x * $y</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800" u="none" cap="none" strike="noStrike">
                          <a:latin typeface="Calibri"/>
                          <a:ea typeface="Calibri"/>
                          <a:cs typeface="Calibri"/>
                          <a:sym typeface="Calibri"/>
                        </a:rPr>
                        <a:t>Product of $x and $y</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640450">
                <a:tc>
                  <a:txBody>
                    <a:bodyPr/>
                    <a:lstStyle/>
                    <a:p>
                      <a:pPr indent="0" lvl="0" marL="112395" marR="0"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Division</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$x / $y</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800" u="none" cap="none" strike="noStrike">
                          <a:latin typeface="Calibri"/>
                          <a:ea typeface="Calibri"/>
                          <a:cs typeface="Calibri"/>
                          <a:sym typeface="Calibri"/>
                        </a:rPr>
                        <a:t>Quotient of $x and $y</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1004000">
                <a:tc>
                  <a:txBody>
                    <a:bodyPr/>
                    <a:lstStyle/>
                    <a:p>
                      <a:pPr indent="0" lvl="0" marL="112395" marR="0"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Modulus</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$x % $y</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99695" rtl="0" algn="l">
                        <a:lnSpc>
                          <a:spcPct val="100000"/>
                        </a:lnSpc>
                        <a:spcBef>
                          <a:spcPts val="0"/>
                        </a:spcBef>
                        <a:spcAft>
                          <a:spcPts val="0"/>
                        </a:spcAft>
                        <a:buNone/>
                      </a:pPr>
                      <a:r>
                        <a:rPr lang="en-US" sz="2800" u="none" cap="none" strike="noStrike">
                          <a:latin typeface="Calibri"/>
                          <a:ea typeface="Calibri"/>
                          <a:cs typeface="Calibri"/>
                          <a:sym typeface="Calibri"/>
                        </a:rPr>
                        <a:t>Remainder of $x divided  by $y</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1136700">
                <a:tc>
                  <a:txBody>
                    <a:bodyPr/>
                    <a:lstStyle/>
                    <a:p>
                      <a:pPr indent="0" lvl="0" marL="112395" marR="0"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tcPr>
                </a:tc>
                <a:tc>
                  <a:txBody>
                    <a:bodyPr/>
                    <a:lstStyle/>
                    <a:p>
                      <a:pPr indent="0" lvl="0" marL="57150" marR="130175" rtl="0" algn="l">
                        <a:lnSpc>
                          <a:spcPct val="100000"/>
                        </a:lnSpc>
                        <a:spcBef>
                          <a:spcPts val="0"/>
                        </a:spcBef>
                        <a:spcAft>
                          <a:spcPts val="0"/>
                        </a:spcAft>
                        <a:buNone/>
                      </a:pPr>
                      <a:r>
                        <a:rPr lang="en-US" sz="2800" u="none" cap="none" strike="noStrike">
                          <a:latin typeface="Calibri"/>
                          <a:ea typeface="Calibri"/>
                          <a:cs typeface="Calibri"/>
                          <a:sym typeface="Calibri"/>
                        </a:rPr>
                        <a:t>Exponentia  tion</a:t>
                      </a:r>
                      <a:endParaRPr sz="28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$x **</a:t>
                      </a:r>
                      <a:endParaRPr sz="2800" u="none" cap="none" strike="noStrike">
                        <a:latin typeface="Calibri"/>
                        <a:ea typeface="Calibri"/>
                        <a:cs typeface="Calibri"/>
                        <a:sym typeface="Calibri"/>
                      </a:endParaRPr>
                    </a:p>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$y</a:t>
                      </a:r>
                      <a:endParaRPr sz="28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tcPr>
                </a:tc>
                <a:tc>
                  <a:txBody>
                    <a:bodyPr/>
                    <a:lstStyle/>
                    <a:p>
                      <a:pPr indent="0" lvl="0" marL="57785" marR="520065" rtl="0" algn="l">
                        <a:lnSpc>
                          <a:spcPct val="100000"/>
                        </a:lnSpc>
                        <a:spcBef>
                          <a:spcPts val="0"/>
                        </a:spcBef>
                        <a:spcAft>
                          <a:spcPts val="0"/>
                        </a:spcAft>
                        <a:buNone/>
                      </a:pPr>
                      <a:r>
                        <a:rPr lang="en-US" sz="2800" u="none" cap="none" strike="noStrike">
                          <a:latin typeface="Calibri"/>
                          <a:ea typeface="Calibri"/>
                          <a:cs typeface="Calibri"/>
                          <a:sym typeface="Calibri"/>
                        </a:rPr>
                        <a:t>Result of raising $x to  the $y'th power</a:t>
                      </a:r>
                      <a:endParaRPr sz="28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tcPr>
                </a:tc>
              </a:tr>
            </a:tbl>
          </a:graphicData>
        </a:graphic>
      </p:graphicFrame>
      <p:sp>
        <p:nvSpPr>
          <p:cNvPr id="296" name="Google Shape;296;p30"/>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30"/>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30"/>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1"/>
          <p:cNvSpPr txBox="1"/>
          <p:nvPr>
            <p:ph type="title"/>
          </p:nvPr>
        </p:nvSpPr>
        <p:spPr>
          <a:xfrm>
            <a:off x="536244" y="513968"/>
            <a:ext cx="6711315"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Arithmetic Operator: Example</a:t>
            </a:r>
            <a:endParaRPr sz="4000"/>
          </a:p>
        </p:txBody>
      </p:sp>
      <p:sp>
        <p:nvSpPr>
          <p:cNvPr id="304" name="Google Shape;304;p31"/>
          <p:cNvSpPr txBox="1"/>
          <p:nvPr/>
        </p:nvSpPr>
        <p:spPr>
          <a:xfrm>
            <a:off x="536244" y="1615820"/>
            <a:ext cx="2049780" cy="33813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&lt;body&gt;</a:t>
            </a:r>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$x = 10;</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$y = 6;</a:t>
            </a:r>
            <a:endParaRPr sz="22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a:t>
            </a:r>
            <a:r>
              <a:rPr b="1" lang="en-US" sz="2200">
                <a:solidFill>
                  <a:srgbClr val="C00000"/>
                </a:solidFill>
                <a:latin typeface="Calibri"/>
                <a:ea typeface="Calibri"/>
                <a:cs typeface="Calibri"/>
                <a:sym typeface="Calibri"/>
              </a:rPr>
              <a:t>$x - $y</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305" name="Google Shape;305;p31"/>
          <p:cNvSpPr txBox="1"/>
          <p:nvPr/>
        </p:nvSpPr>
        <p:spPr>
          <a:xfrm>
            <a:off x="536244" y="5305145"/>
            <a:ext cx="984250" cy="69786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306" name="Google Shape;306;p31"/>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31"/>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31"/>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27</a:t>
            </a:r>
            <a:endParaRPr sz="1800">
              <a:solidFill>
                <a:schemeClr val="dk1"/>
              </a:solidFill>
              <a:latin typeface="Calibri"/>
              <a:ea typeface="Calibri"/>
              <a:cs typeface="Calibri"/>
              <a:sym typeface="Calibri"/>
            </a:endParaRPr>
          </a:p>
        </p:txBody>
      </p:sp>
      <p:pic>
        <p:nvPicPr>
          <p:cNvPr id="309" name="Google Shape;309;p31"/>
          <p:cNvPicPr preferRelativeResize="0"/>
          <p:nvPr/>
        </p:nvPicPr>
        <p:blipFill rotWithShape="1">
          <a:blip r:embed="rId3">
            <a:alphaModFix/>
          </a:blip>
          <a:srcRect b="0" l="0" r="0" t="0"/>
          <a:stretch/>
        </p:blipFill>
        <p:spPr>
          <a:xfrm>
            <a:off x="3886200" y="2438400"/>
            <a:ext cx="2543175" cy="1533525"/>
          </a:xfrm>
          <a:prstGeom prst="rect">
            <a:avLst/>
          </a:prstGeom>
          <a:noFill/>
          <a:ln cap="flat" cmpd="sng" w="9525">
            <a:solidFill>
              <a:srgbClr val="8CB3E3"/>
            </a:solidFill>
            <a:prstDash val="solid"/>
            <a:miter lim="800000"/>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ph type="title"/>
          </p:nvPr>
        </p:nvSpPr>
        <p:spPr>
          <a:xfrm>
            <a:off x="715467" y="57734"/>
            <a:ext cx="5008880" cy="6369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4000"/>
              <a:t>Assignment Operators</a:t>
            </a:r>
            <a:endParaRPr sz="4000"/>
          </a:p>
        </p:txBody>
      </p:sp>
      <p:graphicFrame>
        <p:nvGraphicFramePr>
          <p:cNvPr id="315" name="Google Shape;315;p32"/>
          <p:cNvGraphicFramePr/>
          <p:nvPr/>
        </p:nvGraphicFramePr>
        <p:xfrm>
          <a:off x="745451" y="861694"/>
          <a:ext cx="3000000" cy="3000000"/>
        </p:xfrm>
        <a:graphic>
          <a:graphicData uri="http://schemas.openxmlformats.org/drawingml/2006/table">
            <a:tbl>
              <a:tblPr bandRow="1" firstRow="1">
                <a:noFill/>
                <a:tableStyleId>{06F41560-F12C-4508-8C44-9FB9A9501E1E}</a:tableStyleId>
              </a:tblPr>
              <a:tblGrid>
                <a:gridCol w="1577350"/>
                <a:gridCol w="1354450"/>
                <a:gridCol w="4584700"/>
              </a:tblGrid>
              <a:tr h="882025">
                <a:tc>
                  <a:txBody>
                    <a:bodyPr/>
                    <a:lstStyle/>
                    <a:p>
                      <a:pPr indent="-637539" lvl="0" marL="763270" marR="65405"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Assignmen  t</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85725" lvl="0" marL="416559" marR="321945"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Same  as...</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Description</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1027800">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141605" rtl="0" algn="l">
                        <a:lnSpc>
                          <a:spcPct val="100000"/>
                        </a:lnSpc>
                        <a:spcBef>
                          <a:spcPts val="0"/>
                        </a:spcBef>
                        <a:spcAft>
                          <a:spcPts val="0"/>
                        </a:spcAft>
                        <a:buNone/>
                      </a:pPr>
                      <a:r>
                        <a:rPr lang="en-US" sz="2400" u="none" cap="none" strike="noStrike">
                          <a:latin typeface="Calibri"/>
                          <a:ea typeface="Calibri"/>
                          <a:cs typeface="Calibri"/>
                          <a:sym typeface="Calibri"/>
                        </a:rPr>
                        <a:t>The left operand gets set to the  value of the expression on the right</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79007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x +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Addition</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558300">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x - y</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Subtraction</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79007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x * y</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Multiplication</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79007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x / y</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Division</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51627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287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x % y</a:t>
                      </a:r>
                      <a:endParaRPr sz="2400" u="none" cap="none" strike="noStrike">
                        <a:latin typeface="Calibri"/>
                        <a:ea typeface="Calibri"/>
                        <a:cs typeface="Calibri"/>
                        <a:sym typeface="Calibri"/>
                      </a:endParaRPr>
                    </a:p>
                  </a:txBody>
                  <a:tcPr marT="6287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Modulus</a:t>
                      </a:r>
                      <a:endParaRPr sz="2400" u="none" cap="none" strike="noStrike">
                        <a:latin typeface="Calibri"/>
                        <a:ea typeface="Calibri"/>
                        <a:cs typeface="Calibri"/>
                        <a:sym typeface="Calibri"/>
                      </a:endParaRPr>
                    </a:p>
                  </a:txBody>
                  <a:tcPr marT="6287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r>
            </a:tbl>
          </a:graphicData>
        </a:graphic>
      </p:graphicFrame>
      <p:sp>
        <p:nvSpPr>
          <p:cNvPr id="316" name="Google Shape;316;p32"/>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32"/>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32"/>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28</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3"/>
          <p:cNvSpPr txBox="1"/>
          <p:nvPr>
            <p:ph type="title"/>
          </p:nvPr>
        </p:nvSpPr>
        <p:spPr>
          <a:xfrm>
            <a:off x="707542" y="465200"/>
            <a:ext cx="6939280"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Assignment Operator: Example</a:t>
            </a:r>
            <a:endParaRPr sz="4000"/>
          </a:p>
        </p:txBody>
      </p:sp>
      <p:sp>
        <p:nvSpPr>
          <p:cNvPr id="324" name="Google Shape;324;p33"/>
          <p:cNvSpPr txBox="1"/>
          <p:nvPr/>
        </p:nvSpPr>
        <p:spPr>
          <a:xfrm>
            <a:off x="707542" y="1465529"/>
            <a:ext cx="2049780" cy="338137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$x = 20;</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$x += 100;</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$x;</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325" name="Google Shape;325;p33"/>
          <p:cNvSpPr txBox="1"/>
          <p:nvPr/>
        </p:nvSpPr>
        <p:spPr>
          <a:xfrm>
            <a:off x="707542" y="5155819"/>
            <a:ext cx="984885" cy="69723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326" name="Google Shape;326;p33"/>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33"/>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33"/>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29</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4"/>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34" name="Google Shape;334;p34"/>
          <p:cNvPicPr preferRelativeResize="0"/>
          <p:nvPr/>
        </p:nvPicPr>
        <p:blipFill rotWithShape="1">
          <a:blip r:embed="rId3">
            <a:alphaModFix/>
          </a:blip>
          <a:srcRect b="0" l="0" r="0" t="0"/>
          <a:stretch/>
        </p:blipFill>
        <p:spPr>
          <a:xfrm>
            <a:off x="701427" y="685800"/>
            <a:ext cx="6580844" cy="4682109"/>
          </a:xfrm>
          <a:prstGeom prst="rect">
            <a:avLst/>
          </a:prstGeom>
          <a:noFill/>
          <a:ln>
            <a:noFill/>
          </a:ln>
        </p:spPr>
      </p:pic>
      <p:pic>
        <p:nvPicPr>
          <p:cNvPr id="335" name="Google Shape;335;p34"/>
          <p:cNvPicPr preferRelativeResize="0"/>
          <p:nvPr/>
        </p:nvPicPr>
        <p:blipFill rotWithShape="1">
          <a:blip r:embed="rId4">
            <a:alphaModFix/>
          </a:blip>
          <a:srcRect b="0" l="0" r="0" t="0"/>
          <a:stretch/>
        </p:blipFill>
        <p:spPr>
          <a:xfrm>
            <a:off x="701427" y="5568751"/>
            <a:ext cx="6253767" cy="95086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707542" y="441147"/>
            <a:ext cx="7022465" cy="6369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4000"/>
              <a:t>Comparison Operator: Example</a:t>
            </a:r>
            <a:endParaRPr sz="4000"/>
          </a:p>
        </p:txBody>
      </p:sp>
      <p:sp>
        <p:nvSpPr>
          <p:cNvPr id="341" name="Google Shape;341;p35"/>
          <p:cNvSpPr txBox="1"/>
          <p:nvPr/>
        </p:nvSpPr>
        <p:spPr>
          <a:xfrm>
            <a:off x="707542" y="1354617"/>
            <a:ext cx="2552065" cy="4090862"/>
          </a:xfrm>
          <a:prstGeom prst="rect">
            <a:avLst/>
          </a:prstGeom>
          <a:noFill/>
          <a:ln>
            <a:noFill/>
          </a:ln>
        </p:spPr>
        <p:txBody>
          <a:bodyPr anchorCtr="0" anchor="t" bIns="0" lIns="0" spcFirstLastPara="1" rIns="0" wrap="square" tIns="457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260"/>
              </a:spcBef>
              <a:spcAft>
                <a:spcPts val="0"/>
              </a:spcAft>
              <a:buNone/>
            </a:pPr>
            <a:r>
              <a:rPr lang="en-US" sz="2200">
                <a:solidFill>
                  <a:schemeClr val="dk1"/>
                </a:solidFill>
                <a:latin typeface="Calibri"/>
                <a:ea typeface="Calibri"/>
                <a:cs typeface="Calibri"/>
                <a:sym typeface="Calibri"/>
              </a:rPr>
              <a:t>&lt;html&gt;</a:t>
            </a:r>
            <a:endParaRPr/>
          </a:p>
          <a:p>
            <a:pPr indent="0" lvl="0" marL="12700" marR="0" rtl="0" algn="l">
              <a:lnSpc>
                <a:spcPct val="100000"/>
              </a:lnSpc>
              <a:spcBef>
                <a:spcPts val="270"/>
              </a:spcBef>
              <a:spcAft>
                <a:spcPts val="0"/>
              </a:spcAft>
              <a:buNone/>
            </a:pPr>
            <a:r>
              <a:rPr lang="en-US" sz="2200">
                <a:solidFill>
                  <a:schemeClr val="dk1"/>
                </a:solidFill>
                <a:latin typeface="Calibri"/>
                <a:ea typeface="Calibri"/>
                <a:cs typeface="Calibri"/>
                <a:sym typeface="Calibri"/>
              </a:rPr>
              <a:t>&lt;body&gt;</a:t>
            </a:r>
            <a:endParaRPr/>
          </a:p>
          <a:p>
            <a:pPr indent="0" lvl="0" marL="0" marR="0" rtl="0" algn="l">
              <a:lnSpc>
                <a:spcPct val="100000"/>
              </a:lnSpc>
              <a:spcBef>
                <a:spcPts val="55"/>
              </a:spcBef>
              <a:spcAft>
                <a:spcPts val="0"/>
              </a:spcAft>
              <a:buNone/>
            </a:pPr>
            <a:r>
              <a:t/>
            </a:r>
            <a:endParaRPr sz="25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270"/>
              </a:spcBef>
              <a:spcAft>
                <a:spcPts val="0"/>
              </a:spcAft>
              <a:buNone/>
            </a:pPr>
            <a:r>
              <a:rPr lang="en-US" sz="2200">
                <a:solidFill>
                  <a:schemeClr val="dk1"/>
                </a:solidFill>
                <a:latin typeface="Calibri"/>
                <a:ea typeface="Calibri"/>
                <a:cs typeface="Calibri"/>
                <a:sym typeface="Calibri"/>
              </a:rPr>
              <a:t>$x = 100;</a:t>
            </a:r>
            <a:endParaRPr sz="2200">
              <a:solidFill>
                <a:schemeClr val="dk1"/>
              </a:solidFill>
              <a:latin typeface="Calibri"/>
              <a:ea typeface="Calibri"/>
              <a:cs typeface="Calibri"/>
              <a:sym typeface="Calibri"/>
            </a:endParaRPr>
          </a:p>
          <a:p>
            <a:pPr indent="0" lvl="0" marL="12700" marR="0" rtl="0" algn="l">
              <a:lnSpc>
                <a:spcPct val="100000"/>
              </a:lnSpc>
              <a:spcBef>
                <a:spcPts val="260"/>
              </a:spcBef>
              <a:spcAft>
                <a:spcPts val="0"/>
              </a:spcAft>
              <a:buNone/>
            </a:pPr>
            <a:r>
              <a:rPr lang="en-US" sz="2200">
                <a:solidFill>
                  <a:schemeClr val="dk1"/>
                </a:solidFill>
                <a:latin typeface="Calibri"/>
                <a:ea typeface="Calibri"/>
                <a:cs typeface="Calibri"/>
                <a:sym typeface="Calibri"/>
              </a:rPr>
              <a:t>$y = "100";</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6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Echo $x === $y;</a:t>
            </a:r>
            <a:endParaRPr sz="2200">
              <a:solidFill>
                <a:schemeClr val="dk1"/>
              </a:solidFill>
              <a:latin typeface="Calibri"/>
              <a:ea typeface="Calibri"/>
              <a:cs typeface="Calibri"/>
              <a:sym typeface="Calibri"/>
            </a:endParaRPr>
          </a:p>
          <a:p>
            <a:pPr indent="0" lvl="0" marL="127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&lt;/body&gt; &lt;/html&gt;</a:t>
            </a:r>
            <a:endParaRPr/>
          </a:p>
        </p:txBody>
      </p:sp>
      <p:sp>
        <p:nvSpPr>
          <p:cNvPr id="342" name="Google Shape;342;p35"/>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35"/>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35"/>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
        <p:nvSpPr>
          <p:cNvPr id="345" name="Google Shape;345;p35"/>
          <p:cNvSpPr txBox="1"/>
          <p:nvPr/>
        </p:nvSpPr>
        <p:spPr>
          <a:xfrm>
            <a:off x="4267200" y="1557082"/>
            <a:ext cx="2552065" cy="1164420"/>
          </a:xfrm>
          <a:prstGeom prst="rect">
            <a:avLst/>
          </a:prstGeom>
          <a:noFill/>
          <a:ln>
            <a:noFill/>
          </a:ln>
        </p:spPr>
        <p:txBody>
          <a:bodyPr anchorCtr="0" anchor="t" bIns="0" lIns="0" spcFirstLastPara="1" rIns="0" wrap="square" tIns="457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Output:</a:t>
            </a:r>
            <a:endParaRPr/>
          </a:p>
          <a:p>
            <a:pPr indent="0" lvl="0" marL="12700" marR="0" rtl="0" algn="l">
              <a:lnSpc>
                <a:spcPct val="100000"/>
              </a:lnSpc>
              <a:spcBef>
                <a:spcPts val="359"/>
              </a:spcBef>
              <a:spcAft>
                <a:spcPts val="0"/>
              </a:spcAft>
              <a:buNone/>
            </a:pPr>
            <a:r>
              <a:rPr lang="en-US" sz="2200">
                <a:solidFill>
                  <a:schemeClr val="dk1"/>
                </a:solidFill>
                <a:latin typeface="Calibri"/>
                <a:ea typeface="Calibri"/>
                <a:cs typeface="Calibri"/>
                <a:sym typeface="Calibri"/>
              </a:rPr>
              <a:t>(blank)</a:t>
            </a:r>
            <a:endParaRPr/>
          </a:p>
          <a:p>
            <a:pPr indent="0" lvl="0" marL="12700" marR="0" rtl="0" algn="l">
              <a:lnSpc>
                <a:spcPct val="100000"/>
              </a:lnSpc>
              <a:spcBef>
                <a:spcPts val="359"/>
              </a:spcBef>
              <a:spcAft>
                <a:spcPts val="0"/>
              </a:spcAft>
              <a:buNone/>
            </a:pPr>
            <a:r>
              <a:t/>
            </a:r>
            <a:endParaRPr sz="22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6"/>
          <p:cNvSpPr txBox="1"/>
          <p:nvPr>
            <p:ph type="title"/>
          </p:nvPr>
        </p:nvSpPr>
        <p:spPr>
          <a:xfrm>
            <a:off x="707542" y="267665"/>
            <a:ext cx="7399655" cy="6369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4000"/>
              <a:t>Increment / Decrement Operator</a:t>
            </a:r>
            <a:endParaRPr sz="4000"/>
          </a:p>
        </p:txBody>
      </p:sp>
      <p:graphicFrame>
        <p:nvGraphicFramePr>
          <p:cNvPr id="351" name="Google Shape;351;p36"/>
          <p:cNvGraphicFramePr/>
          <p:nvPr/>
        </p:nvGraphicFramePr>
        <p:xfrm>
          <a:off x="622300" y="1444878"/>
          <a:ext cx="3000000" cy="3000000"/>
        </p:xfrm>
        <a:graphic>
          <a:graphicData uri="http://schemas.openxmlformats.org/drawingml/2006/table">
            <a:tbl>
              <a:tblPr bandRow="1" firstRow="1">
                <a:noFill/>
                <a:tableStyleId>{06F41560-F12C-4508-8C44-9FB9A9501E1E}</a:tableStyleId>
              </a:tblPr>
              <a:tblGrid>
                <a:gridCol w="1733550"/>
                <a:gridCol w="2319025"/>
                <a:gridCol w="3719200"/>
              </a:tblGrid>
              <a:tr h="630675">
                <a:tc>
                  <a:txBody>
                    <a:bodyPr/>
                    <a:lstStyle/>
                    <a:p>
                      <a:pPr indent="0" lvl="0" marL="316865" marR="0"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Operator</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Name</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1131570" marR="0"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Description</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8820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Pre-increment</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278765" rtl="0" algn="l">
                        <a:lnSpc>
                          <a:spcPct val="100000"/>
                        </a:lnSpc>
                        <a:spcBef>
                          <a:spcPts val="0"/>
                        </a:spcBef>
                        <a:spcAft>
                          <a:spcPts val="0"/>
                        </a:spcAft>
                        <a:buNone/>
                      </a:pPr>
                      <a:r>
                        <a:rPr lang="en-US" sz="2400" u="none" cap="none" strike="noStrike">
                          <a:latin typeface="Calibri"/>
                          <a:ea typeface="Calibri"/>
                          <a:cs typeface="Calibri"/>
                          <a:sym typeface="Calibri"/>
                        </a:rPr>
                        <a:t>Increments $x by one, then  returns $x</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8820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Post-increment</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Returns $x, then increments</a:t>
                      </a:r>
                      <a:endParaRPr sz="2400" u="none" cap="none" strike="noStrike">
                        <a:latin typeface="Calibri"/>
                        <a:ea typeface="Calibri"/>
                        <a:cs typeface="Calibri"/>
                        <a:sym typeface="Calibri"/>
                      </a:endParaRPr>
                    </a:p>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$x by one</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8820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Pre-decrement</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Decrements $x by one, then</a:t>
                      </a:r>
                      <a:endParaRPr sz="2400" u="none" cap="none" strike="noStrike">
                        <a:latin typeface="Calibri"/>
                        <a:ea typeface="Calibri"/>
                        <a:cs typeface="Calibri"/>
                        <a:sym typeface="Calibri"/>
                      </a:endParaRPr>
                    </a:p>
                    <a:p>
                      <a:pPr indent="0" lvl="0" marL="57785" marR="0" rtl="0" algn="l">
                        <a:lnSpc>
                          <a:spcPct val="100000"/>
                        </a:lnSpc>
                        <a:spcBef>
                          <a:spcPts val="5"/>
                        </a:spcBef>
                        <a:spcAft>
                          <a:spcPts val="0"/>
                        </a:spcAft>
                        <a:buNone/>
                      </a:pPr>
                      <a:r>
                        <a:rPr lang="en-US" sz="2400" u="none" cap="none" strike="noStrike">
                          <a:latin typeface="Calibri"/>
                          <a:ea typeface="Calibri"/>
                          <a:cs typeface="Calibri"/>
                          <a:sym typeface="Calibri"/>
                        </a:rPr>
                        <a:t>returns $x</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882100">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Post-decrement</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Returns $x, then decrements</a:t>
                      </a:r>
                      <a:endParaRPr sz="2400" u="none" cap="none" strike="noStrike">
                        <a:latin typeface="Calibri"/>
                        <a:ea typeface="Calibri"/>
                        <a:cs typeface="Calibri"/>
                        <a:sym typeface="Calibri"/>
                      </a:endParaRPr>
                    </a:p>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$x by one</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r>
            </a:tbl>
          </a:graphicData>
        </a:graphic>
      </p:graphicFrame>
      <p:sp>
        <p:nvSpPr>
          <p:cNvPr id="352" name="Google Shape;352;p36"/>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36"/>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36"/>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7"/>
          <p:cNvSpPr txBox="1"/>
          <p:nvPr>
            <p:ph type="title"/>
          </p:nvPr>
        </p:nvSpPr>
        <p:spPr>
          <a:xfrm>
            <a:off x="536244" y="272618"/>
            <a:ext cx="6729095" cy="112331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3600"/>
              <a:t>Increment / Decrement Operator:  Example</a:t>
            </a:r>
            <a:endParaRPr sz="3600"/>
          </a:p>
        </p:txBody>
      </p:sp>
      <p:sp>
        <p:nvSpPr>
          <p:cNvPr id="360" name="Google Shape;360;p37"/>
          <p:cNvSpPr txBox="1"/>
          <p:nvPr/>
        </p:nvSpPr>
        <p:spPr>
          <a:xfrm>
            <a:off x="536244" y="1615820"/>
            <a:ext cx="2049780" cy="3716654"/>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$x = 10;</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b="1" lang="en-US" sz="2200">
                <a:solidFill>
                  <a:srgbClr val="C00000"/>
                </a:solidFill>
                <a:latin typeface="Calibri"/>
                <a:ea typeface="Calibri"/>
                <a:cs typeface="Calibri"/>
                <a:sym typeface="Calibri"/>
              </a:rPr>
              <a:t>echo ++$x;</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361" name="Google Shape;361;p37"/>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37"/>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37"/>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8"/>
          <p:cNvSpPr txBox="1"/>
          <p:nvPr>
            <p:ph type="title"/>
          </p:nvPr>
        </p:nvSpPr>
        <p:spPr>
          <a:xfrm>
            <a:off x="707542" y="220725"/>
            <a:ext cx="3744595"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Logical Operator</a:t>
            </a:r>
            <a:endParaRPr sz="4000"/>
          </a:p>
        </p:txBody>
      </p:sp>
      <p:graphicFrame>
        <p:nvGraphicFramePr>
          <p:cNvPr id="369" name="Google Shape;369;p38"/>
          <p:cNvGraphicFramePr/>
          <p:nvPr/>
        </p:nvGraphicFramePr>
        <p:xfrm>
          <a:off x="622300" y="1306322"/>
          <a:ext cx="3000000" cy="3000000"/>
        </p:xfrm>
        <a:graphic>
          <a:graphicData uri="http://schemas.openxmlformats.org/drawingml/2006/table">
            <a:tbl>
              <a:tblPr bandRow="1" firstRow="1">
                <a:noFill/>
                <a:tableStyleId>{06F41560-F12C-4508-8C44-9FB9A9501E1E}</a:tableStyleId>
              </a:tblPr>
              <a:tblGrid>
                <a:gridCol w="1184900"/>
                <a:gridCol w="944875"/>
                <a:gridCol w="1302375"/>
                <a:gridCol w="4299575"/>
              </a:tblGrid>
              <a:tr h="882025">
                <a:tc>
                  <a:txBody>
                    <a:bodyPr/>
                    <a:lstStyle/>
                    <a:p>
                      <a:pPr indent="0" lvl="0" marL="57150" marR="0" rtl="0" algn="ctr">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Operat</a:t>
                      </a:r>
                      <a:endParaRPr sz="2400" u="none" cap="none" strike="noStrike">
                        <a:latin typeface="Calibri"/>
                        <a:ea typeface="Calibri"/>
                        <a:cs typeface="Calibri"/>
                        <a:sym typeface="Calibri"/>
                      </a:endParaRPr>
                    </a:p>
                    <a:p>
                      <a:pPr indent="0" lvl="0" marL="53975" marR="0" rtl="0" algn="ctr">
                        <a:lnSpc>
                          <a:spcPct val="100000"/>
                        </a:lnSpc>
                        <a:spcBef>
                          <a:spcPts val="5"/>
                        </a:spcBef>
                        <a:spcAft>
                          <a:spcPts val="0"/>
                        </a:spcAft>
                        <a:buNone/>
                      </a:pPr>
                      <a:r>
                        <a:rPr b="1" lang="en-US" sz="2400" u="none" cap="none" strike="noStrike">
                          <a:solidFill>
                            <a:srgbClr val="C00000"/>
                          </a:solidFill>
                          <a:latin typeface="Calibri"/>
                          <a:ea typeface="Calibri"/>
                          <a:cs typeface="Calibri"/>
                          <a:sym typeface="Calibri"/>
                        </a:rPr>
                        <a:t>or</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96520" marR="0"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Name</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115570" marR="0"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Example</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635" marR="0" rtl="0" algn="ctr">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Result</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614800">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and</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And</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and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True if both $x and $y are true</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6464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or</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Or</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or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True if either $x or $y is true</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8820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xor</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Xor</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xor $y</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True if either $x or $y is true, but</a:t>
                      </a:r>
                      <a:endParaRPr sz="2400" u="none" cap="none" strike="noStrike">
                        <a:latin typeface="Calibri"/>
                        <a:ea typeface="Calibri"/>
                        <a:cs typeface="Calibri"/>
                        <a:sym typeface="Calibri"/>
                      </a:endParaRPr>
                    </a:p>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not both</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6031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&amp;&amp;</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And</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&amp;&amp; $y</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True if both $x and $y are true</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7094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Or</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True if either $x or $y is true</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567550">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Not</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True if $x is not true</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r>
            </a:tbl>
          </a:graphicData>
        </a:graphic>
      </p:graphicFrame>
      <p:sp>
        <p:nvSpPr>
          <p:cNvPr id="370" name="Google Shape;370;p38"/>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38"/>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38"/>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9"/>
          <p:cNvSpPr txBox="1"/>
          <p:nvPr>
            <p:ph type="title"/>
          </p:nvPr>
        </p:nvSpPr>
        <p:spPr>
          <a:xfrm>
            <a:off x="536244" y="464896"/>
            <a:ext cx="681355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Logical Operator: Example</a:t>
            </a:r>
            <a:endParaRPr/>
          </a:p>
        </p:txBody>
      </p:sp>
      <p:sp>
        <p:nvSpPr>
          <p:cNvPr id="378" name="Google Shape;378;p39"/>
          <p:cNvSpPr txBox="1"/>
          <p:nvPr/>
        </p:nvSpPr>
        <p:spPr>
          <a:xfrm>
            <a:off x="536244" y="1582293"/>
            <a:ext cx="3144520" cy="3683000"/>
          </a:xfrm>
          <a:prstGeom prst="rect">
            <a:avLst/>
          </a:prstGeom>
          <a:noFill/>
          <a:ln>
            <a:noFill/>
          </a:ln>
        </p:spPr>
        <p:txBody>
          <a:bodyPr anchorCtr="0" anchor="t" bIns="0" lIns="0" spcFirstLastPara="1" rIns="0" wrap="square" tIns="13325">
            <a:spAutoFit/>
          </a:bodyPr>
          <a:lstStyle/>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7954"/>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17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7954"/>
              </a:lnSpc>
              <a:spcBef>
                <a:spcPts val="0"/>
              </a:spcBef>
              <a:spcAft>
                <a:spcPts val="0"/>
              </a:spcAft>
              <a:buNone/>
            </a:pPr>
            <a:r>
              <a:rPr lang="en-US" sz="2200">
                <a:solidFill>
                  <a:schemeClr val="dk1"/>
                </a:solidFill>
                <a:latin typeface="Calibri"/>
                <a:ea typeface="Calibri"/>
                <a:cs typeface="Calibri"/>
                <a:sym typeface="Calibri"/>
              </a:rPr>
              <a:t>$x = 100;</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$y = 50;</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17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if </a:t>
            </a:r>
            <a:r>
              <a:rPr b="1" lang="en-US" sz="2200">
                <a:solidFill>
                  <a:srgbClr val="C00000"/>
                </a:solidFill>
                <a:latin typeface="Calibri"/>
                <a:ea typeface="Calibri"/>
                <a:cs typeface="Calibri"/>
                <a:sym typeface="Calibri"/>
              </a:rPr>
              <a:t>($x == 100 &amp;&amp; $y == 50</a:t>
            </a:r>
            <a:r>
              <a:rPr lang="en-US"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indent="0" lvl="0" marL="265430" marR="0" rtl="0" algn="l">
              <a:lnSpc>
                <a:spcPct val="107954"/>
              </a:lnSpc>
              <a:spcBef>
                <a:spcPts val="0"/>
              </a:spcBef>
              <a:spcAft>
                <a:spcPts val="0"/>
              </a:spcAft>
              <a:buNone/>
            </a:pPr>
            <a:r>
              <a:rPr lang="en-US" sz="2200">
                <a:solidFill>
                  <a:schemeClr val="dk1"/>
                </a:solidFill>
                <a:latin typeface="Calibri"/>
                <a:ea typeface="Calibri"/>
                <a:cs typeface="Calibri"/>
                <a:sym typeface="Calibri"/>
              </a:rPr>
              <a:t>echo "Hello world!";</a:t>
            </a:r>
            <a:endParaRPr sz="2200">
              <a:solidFill>
                <a:schemeClr val="dk1"/>
              </a:solidFill>
              <a:latin typeface="Calibri"/>
              <a:ea typeface="Calibri"/>
              <a:cs typeface="Calibri"/>
              <a:sym typeface="Calibri"/>
            </a:endParaRPr>
          </a:p>
          <a:p>
            <a:pPr indent="0" lvl="0" marL="12700" marR="0" rtl="0" algn="l">
              <a:lnSpc>
                <a:spcPct val="107954"/>
              </a:lnSpc>
              <a:spcBef>
                <a:spcPts val="0"/>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379" name="Google Shape;379;p39"/>
          <p:cNvSpPr txBox="1"/>
          <p:nvPr/>
        </p:nvSpPr>
        <p:spPr>
          <a:xfrm>
            <a:off x="536244" y="5506923"/>
            <a:ext cx="984885" cy="664210"/>
          </a:xfrm>
          <a:prstGeom prst="rect">
            <a:avLst/>
          </a:prstGeom>
          <a:noFill/>
          <a:ln>
            <a:noFill/>
          </a:ln>
        </p:spPr>
        <p:txBody>
          <a:bodyPr anchorCtr="0" anchor="t" bIns="0" lIns="0" spcFirstLastPara="1" rIns="0" wrap="square" tIns="13325">
            <a:spAutoFit/>
          </a:bodyPr>
          <a:lstStyle/>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380" name="Google Shape;380;p39"/>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39"/>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39"/>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35</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0"/>
          <p:cNvSpPr txBox="1"/>
          <p:nvPr>
            <p:ph type="title"/>
          </p:nvPr>
        </p:nvSpPr>
        <p:spPr>
          <a:xfrm>
            <a:off x="175361" y="-16306"/>
            <a:ext cx="463550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Comments in PHP</a:t>
            </a:r>
            <a:endParaRPr/>
          </a:p>
        </p:txBody>
      </p:sp>
      <p:sp>
        <p:nvSpPr>
          <p:cNvPr id="388" name="Google Shape;388;p40"/>
          <p:cNvSpPr txBox="1"/>
          <p:nvPr/>
        </p:nvSpPr>
        <p:spPr>
          <a:xfrm>
            <a:off x="459130" y="677417"/>
            <a:ext cx="4737100" cy="441642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&lt;html&gt;</a:t>
            </a:r>
            <a:endParaRPr sz="24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&lt;body&gt;</a:t>
            </a:r>
            <a:endParaRPr sz="24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&lt;?php</a:t>
            </a:r>
            <a:endParaRPr sz="24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b="1" lang="en-US" sz="2400">
                <a:solidFill>
                  <a:srgbClr val="C00000"/>
                </a:solidFill>
                <a:latin typeface="Calibri"/>
                <a:ea typeface="Calibri"/>
                <a:cs typeface="Calibri"/>
                <a:sym typeface="Calibri"/>
              </a:rPr>
              <a:t>// </a:t>
            </a:r>
            <a:r>
              <a:rPr lang="en-US" sz="2400">
                <a:solidFill>
                  <a:schemeClr val="dk1"/>
                </a:solidFill>
                <a:latin typeface="Calibri"/>
                <a:ea typeface="Calibri"/>
                <a:cs typeface="Calibri"/>
                <a:sym typeface="Calibri"/>
              </a:rPr>
              <a:t>This is a single-line comment</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3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 </a:t>
            </a:r>
            <a:r>
              <a:rPr lang="en-US" sz="2400">
                <a:solidFill>
                  <a:schemeClr val="dk1"/>
                </a:solidFill>
                <a:latin typeface="Calibri"/>
                <a:ea typeface="Calibri"/>
                <a:cs typeface="Calibri"/>
                <a:sym typeface="Calibri"/>
              </a:rPr>
              <a:t>This is also a single-line comment</a:t>
            </a:r>
            <a:endParaRPr sz="24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3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This is a multiple-lines comment block</a:t>
            </a:r>
            <a:endParaRPr sz="2400">
              <a:solidFill>
                <a:schemeClr val="dk1"/>
              </a:solidFill>
              <a:latin typeface="Calibri"/>
              <a:ea typeface="Calibri"/>
              <a:cs typeface="Calibri"/>
              <a:sym typeface="Calibri"/>
            </a:endParaRPr>
          </a:p>
          <a:p>
            <a:pPr indent="0" lvl="0" marL="12700" marR="1711325" rtl="0" algn="l">
              <a:lnSpc>
                <a:spcPct val="100000"/>
              </a:lnSpc>
              <a:spcBef>
                <a:spcPts val="5"/>
              </a:spcBef>
              <a:spcAft>
                <a:spcPts val="0"/>
              </a:spcAft>
              <a:buNone/>
            </a:pPr>
            <a:r>
              <a:rPr lang="en-US" sz="2400">
                <a:solidFill>
                  <a:schemeClr val="dk1"/>
                </a:solidFill>
                <a:latin typeface="Calibri"/>
                <a:ea typeface="Calibri"/>
                <a:cs typeface="Calibri"/>
                <a:sym typeface="Calibri"/>
              </a:rPr>
              <a:t>that spans over multiple  lines</a:t>
            </a:r>
            <a:endParaRPr sz="24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
        <p:nvSpPr>
          <p:cNvPr id="389" name="Google Shape;389;p40"/>
          <p:cNvSpPr txBox="1"/>
          <p:nvPr/>
        </p:nvSpPr>
        <p:spPr>
          <a:xfrm>
            <a:off x="459130" y="5434076"/>
            <a:ext cx="7699375" cy="148971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 </a:t>
            </a:r>
            <a:r>
              <a:rPr lang="en-US" sz="2400">
                <a:solidFill>
                  <a:schemeClr val="dk1"/>
                </a:solidFill>
                <a:latin typeface="Calibri"/>
                <a:ea typeface="Calibri"/>
                <a:cs typeface="Calibri"/>
                <a:sym typeface="Calibri"/>
              </a:rPr>
              <a:t>You can also use comments to leave out parts of a code line</a:t>
            </a:r>
            <a:endParaRPr sz="2400">
              <a:solidFill>
                <a:schemeClr val="dk1"/>
              </a:solidFill>
              <a:latin typeface="Calibri"/>
              <a:ea typeface="Calibri"/>
              <a:cs typeface="Calibri"/>
              <a:sym typeface="Calibri"/>
            </a:endParaRPr>
          </a:p>
          <a:p>
            <a:pPr indent="0" lvl="0" marL="12700" marR="5120005" rtl="0" algn="l">
              <a:lnSpc>
                <a:spcPct val="100000"/>
              </a:lnSpc>
              <a:spcBef>
                <a:spcPts val="5"/>
              </a:spcBef>
              <a:spcAft>
                <a:spcPts val="0"/>
              </a:spcAft>
              <a:buNone/>
            </a:pPr>
            <a:r>
              <a:rPr lang="en-US" sz="2400">
                <a:solidFill>
                  <a:schemeClr val="dk1"/>
                </a:solidFill>
                <a:latin typeface="Calibri"/>
                <a:ea typeface="Calibri"/>
                <a:cs typeface="Calibri"/>
                <a:sym typeface="Calibri"/>
              </a:rPr>
              <a:t>$x = 5 </a:t>
            </a:r>
            <a:r>
              <a:rPr b="1" lang="en-US" sz="2400">
                <a:solidFill>
                  <a:srgbClr val="C00000"/>
                </a:solidFill>
                <a:latin typeface="Calibri"/>
                <a:ea typeface="Calibri"/>
                <a:cs typeface="Calibri"/>
                <a:sym typeface="Calibri"/>
              </a:rPr>
              <a:t>/* + 15 */ </a:t>
            </a:r>
            <a:r>
              <a:rPr lang="en-US" sz="2400">
                <a:solidFill>
                  <a:schemeClr val="dk1"/>
                </a:solidFill>
                <a:latin typeface="Calibri"/>
                <a:ea typeface="Calibri"/>
                <a:cs typeface="Calibri"/>
                <a:sym typeface="Calibri"/>
              </a:rPr>
              <a:t>+ 5;  echo $x;</a:t>
            </a:r>
            <a:endParaRPr sz="24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?&gt;	&lt;/body&gt; &lt;/html&gt;</a:t>
            </a:r>
            <a:endParaRPr sz="2400">
              <a:solidFill>
                <a:schemeClr val="dk1"/>
              </a:solidFill>
              <a:latin typeface="Calibri"/>
              <a:ea typeface="Calibri"/>
              <a:cs typeface="Calibri"/>
              <a:sym typeface="Calibri"/>
            </a:endParaRPr>
          </a:p>
        </p:txBody>
      </p:sp>
      <p:sp>
        <p:nvSpPr>
          <p:cNvPr id="390" name="Google Shape;390;p40"/>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40"/>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40"/>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36</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1"/>
          <p:cNvSpPr txBox="1"/>
          <p:nvPr>
            <p:ph type="title"/>
          </p:nvPr>
        </p:nvSpPr>
        <p:spPr>
          <a:xfrm>
            <a:off x="536244" y="464896"/>
            <a:ext cx="383667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PHP Data Types</a:t>
            </a:r>
            <a:endParaRPr/>
          </a:p>
        </p:txBody>
      </p:sp>
      <p:sp>
        <p:nvSpPr>
          <p:cNvPr id="398" name="Google Shape;398;p41"/>
          <p:cNvSpPr txBox="1"/>
          <p:nvPr/>
        </p:nvSpPr>
        <p:spPr>
          <a:xfrm>
            <a:off x="823366" y="1640281"/>
            <a:ext cx="3086735" cy="1635760"/>
          </a:xfrm>
          <a:prstGeom prst="rect">
            <a:avLst/>
          </a:prstGeom>
          <a:noFill/>
          <a:ln>
            <a:noFill/>
          </a:ln>
        </p:spPr>
        <p:txBody>
          <a:bodyPr anchorCtr="0" anchor="t" bIns="0" lIns="0" spcFirstLastPara="1" rIns="0" wrap="square" tIns="79375">
            <a:spAutoFit/>
          </a:bodyPr>
          <a:lstStyle/>
          <a:p>
            <a:pPr indent="-229234"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String</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Integer</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Float (also called double)</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Boolean</a:t>
            </a:r>
            <a:endParaRPr sz="2200">
              <a:solidFill>
                <a:schemeClr val="dk1"/>
              </a:solidFill>
              <a:latin typeface="Calibri"/>
              <a:ea typeface="Calibri"/>
              <a:cs typeface="Calibri"/>
              <a:sym typeface="Calibri"/>
            </a:endParaRPr>
          </a:p>
        </p:txBody>
      </p:sp>
      <p:sp>
        <p:nvSpPr>
          <p:cNvPr id="399" name="Google Shape;399;p41"/>
          <p:cNvSpPr txBox="1"/>
          <p:nvPr/>
        </p:nvSpPr>
        <p:spPr>
          <a:xfrm>
            <a:off x="823366" y="3249944"/>
            <a:ext cx="1299210" cy="1636395"/>
          </a:xfrm>
          <a:prstGeom prst="rect">
            <a:avLst/>
          </a:prstGeom>
          <a:noFill/>
          <a:ln>
            <a:noFill/>
          </a:ln>
        </p:spPr>
        <p:txBody>
          <a:bodyPr anchorCtr="0" anchor="t" bIns="0" lIns="0" spcFirstLastPara="1" rIns="0" wrap="square" tIns="80000">
            <a:spAutoFit/>
          </a:bodyPr>
          <a:lstStyle/>
          <a:p>
            <a:pPr indent="-229234"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Array</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Object</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NULL</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Resource</a:t>
            </a:r>
            <a:endParaRPr sz="2200">
              <a:solidFill>
                <a:schemeClr val="dk1"/>
              </a:solidFill>
              <a:latin typeface="Calibri"/>
              <a:ea typeface="Calibri"/>
              <a:cs typeface="Calibri"/>
              <a:sym typeface="Calibri"/>
            </a:endParaRPr>
          </a:p>
        </p:txBody>
      </p:sp>
      <p:sp>
        <p:nvSpPr>
          <p:cNvPr id="400" name="Google Shape;400;p41"/>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41"/>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41"/>
          <p:cNvSpPr txBox="1"/>
          <p:nvPr/>
        </p:nvSpPr>
        <p:spPr>
          <a:xfrm>
            <a:off x="707542" y="5305514"/>
            <a:ext cx="8230234" cy="679450"/>
          </a:xfrm>
          <a:prstGeom prst="rect">
            <a:avLst/>
          </a:prstGeom>
          <a:noFill/>
          <a:ln>
            <a:noFill/>
          </a:ln>
        </p:spPr>
        <p:txBody>
          <a:bodyPr anchorCtr="0" anchor="t" bIns="0" lIns="0" spcFirstLastPara="1" rIns="0" wrap="square" tIns="36825">
            <a:spAutoFit/>
          </a:bodyPr>
          <a:lstStyle/>
          <a:p>
            <a:pPr indent="0" lvl="0" marL="12700" marR="0" rtl="0" algn="l">
              <a:lnSpc>
                <a:spcPct val="100000"/>
              </a:lnSpc>
              <a:spcBef>
                <a:spcPts val="0"/>
              </a:spcBef>
              <a:spcAft>
                <a:spcPts val="0"/>
              </a:spcAft>
              <a:buNone/>
            </a:pPr>
            <a:r>
              <a:rPr b="1" lang="en-US" sz="2200">
                <a:solidFill>
                  <a:schemeClr val="dk1"/>
                </a:solidFill>
                <a:latin typeface="Calibri"/>
                <a:ea typeface="Calibri"/>
                <a:cs typeface="Calibri"/>
                <a:sym typeface="Calibri"/>
              </a:rPr>
              <a:t>The PHP var_dump() function returns the data type and value</a:t>
            </a:r>
            <a:endParaRPr sz="2200">
              <a:solidFill>
                <a:schemeClr val="dk1"/>
              </a:solidFill>
              <a:latin typeface="Calibri"/>
              <a:ea typeface="Calibri"/>
              <a:cs typeface="Calibri"/>
              <a:sym typeface="Calibri"/>
            </a:endParaRPr>
          </a:p>
          <a:p>
            <a:pPr indent="0" lvl="0" marL="0" marR="5080" rtl="0" algn="r">
              <a:lnSpc>
                <a:spcPct val="100000"/>
              </a:lnSpc>
              <a:spcBef>
                <a:spcPts val="155"/>
              </a:spcBef>
              <a:spcAft>
                <a:spcPts val="0"/>
              </a:spcAft>
              <a:buNone/>
            </a:pPr>
            <a:r>
              <a:rPr lang="en-US" sz="1800">
                <a:solidFill>
                  <a:srgbClr val="FFFFFF"/>
                </a:solidFill>
                <a:latin typeface="Calibri"/>
                <a:ea typeface="Calibri"/>
                <a:cs typeface="Calibri"/>
                <a:sym typeface="Calibri"/>
              </a:rPr>
              <a:t>37</a:t>
            </a:r>
            <a:endParaRPr sz="1800">
              <a:solidFill>
                <a:schemeClr val="dk1"/>
              </a:solidFill>
              <a:latin typeface="Calibri"/>
              <a:ea typeface="Calibri"/>
              <a:cs typeface="Calibri"/>
              <a:sym typeface="Calibri"/>
            </a:endParaRPr>
          </a:p>
        </p:txBody>
      </p:sp>
      <p:sp>
        <p:nvSpPr>
          <p:cNvPr id="403" name="Google Shape;403;p41"/>
          <p:cNvSpPr/>
          <p:nvPr/>
        </p:nvSpPr>
        <p:spPr>
          <a:xfrm>
            <a:off x="3922776" y="1627632"/>
            <a:ext cx="506095" cy="1584960"/>
          </a:xfrm>
          <a:custGeom>
            <a:rect b="b" l="l" r="r" t="t"/>
            <a:pathLst>
              <a:path extrusionOk="0" h="1584960" w="506095">
                <a:moveTo>
                  <a:pt x="0" y="0"/>
                </a:moveTo>
                <a:lnTo>
                  <a:pt x="82061" y="553"/>
                </a:lnTo>
                <a:lnTo>
                  <a:pt x="159910" y="2153"/>
                </a:lnTo>
                <a:lnTo>
                  <a:pt x="232504" y="4714"/>
                </a:lnTo>
                <a:lnTo>
                  <a:pt x="298801" y="8148"/>
                </a:lnTo>
                <a:lnTo>
                  <a:pt x="357759" y="12366"/>
                </a:lnTo>
                <a:lnTo>
                  <a:pt x="408334" y="17282"/>
                </a:lnTo>
                <a:lnTo>
                  <a:pt x="449485" y="22807"/>
                </a:lnTo>
                <a:lnTo>
                  <a:pt x="499344" y="35335"/>
                </a:lnTo>
                <a:lnTo>
                  <a:pt x="505968" y="42163"/>
                </a:lnTo>
                <a:lnTo>
                  <a:pt x="505968" y="1542795"/>
                </a:lnTo>
                <a:lnTo>
                  <a:pt x="449485" y="1562152"/>
                </a:lnTo>
                <a:lnTo>
                  <a:pt x="408334" y="1567677"/>
                </a:lnTo>
                <a:lnTo>
                  <a:pt x="357758" y="1572593"/>
                </a:lnTo>
                <a:lnTo>
                  <a:pt x="298801" y="1576811"/>
                </a:lnTo>
                <a:lnTo>
                  <a:pt x="232504" y="1580245"/>
                </a:lnTo>
                <a:lnTo>
                  <a:pt x="159910" y="1582806"/>
                </a:lnTo>
                <a:lnTo>
                  <a:pt x="82061" y="1584406"/>
                </a:lnTo>
                <a:lnTo>
                  <a:pt x="0" y="1584959"/>
                </a:lnTo>
              </a:path>
            </a:pathLst>
          </a:custGeom>
          <a:noFill/>
          <a:ln cap="flat" cmpd="sng" w="1217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41"/>
          <p:cNvSpPr txBox="1"/>
          <p:nvPr/>
        </p:nvSpPr>
        <p:spPr>
          <a:xfrm>
            <a:off x="5084445" y="2036826"/>
            <a:ext cx="1654810"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a:solidFill>
                  <a:srgbClr val="C00000"/>
                </a:solidFill>
                <a:latin typeface="Calibri"/>
                <a:ea typeface="Calibri"/>
                <a:cs typeface="Calibri"/>
                <a:sym typeface="Calibri"/>
              </a:rPr>
              <a:t>Scalar Data types</a:t>
            </a:r>
            <a:endParaRPr sz="1800">
              <a:solidFill>
                <a:schemeClr val="dk1"/>
              </a:solidFill>
              <a:latin typeface="Calibri"/>
              <a:ea typeface="Calibri"/>
              <a:cs typeface="Calibri"/>
              <a:sym typeface="Calibri"/>
            </a:endParaRPr>
          </a:p>
        </p:txBody>
      </p:sp>
      <p:sp>
        <p:nvSpPr>
          <p:cNvPr id="405" name="Google Shape;405;p41"/>
          <p:cNvSpPr/>
          <p:nvPr/>
        </p:nvSpPr>
        <p:spPr>
          <a:xfrm>
            <a:off x="1981200" y="3355847"/>
            <a:ext cx="143510" cy="722630"/>
          </a:xfrm>
          <a:custGeom>
            <a:rect b="b" l="l" r="r" t="t"/>
            <a:pathLst>
              <a:path extrusionOk="0" h="722629" w="143510">
                <a:moveTo>
                  <a:pt x="0" y="0"/>
                </a:moveTo>
                <a:lnTo>
                  <a:pt x="55762" y="936"/>
                </a:lnTo>
                <a:lnTo>
                  <a:pt x="101298" y="3492"/>
                </a:lnTo>
                <a:lnTo>
                  <a:pt x="131998" y="7286"/>
                </a:lnTo>
                <a:lnTo>
                  <a:pt x="143256" y="11937"/>
                </a:lnTo>
                <a:lnTo>
                  <a:pt x="143256" y="710438"/>
                </a:lnTo>
                <a:lnTo>
                  <a:pt x="131998" y="715089"/>
                </a:lnTo>
                <a:lnTo>
                  <a:pt x="101298" y="718883"/>
                </a:lnTo>
                <a:lnTo>
                  <a:pt x="55762" y="721439"/>
                </a:lnTo>
                <a:lnTo>
                  <a:pt x="0" y="722376"/>
                </a:lnTo>
              </a:path>
            </a:pathLst>
          </a:custGeom>
          <a:noFill/>
          <a:ln cap="flat" cmpd="sng" w="1217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41"/>
          <p:cNvSpPr txBox="1"/>
          <p:nvPr/>
        </p:nvSpPr>
        <p:spPr>
          <a:xfrm>
            <a:off x="2491232" y="3376117"/>
            <a:ext cx="216598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a:solidFill>
                  <a:srgbClr val="C00000"/>
                </a:solidFill>
                <a:latin typeface="Calibri"/>
                <a:ea typeface="Calibri"/>
                <a:cs typeface="Calibri"/>
                <a:sym typeface="Calibri"/>
              </a:rPr>
              <a:t>Compound Data Types</a:t>
            </a:r>
            <a:endParaRPr sz="1800">
              <a:solidFill>
                <a:schemeClr val="dk1"/>
              </a:solidFill>
              <a:latin typeface="Calibri"/>
              <a:ea typeface="Calibri"/>
              <a:cs typeface="Calibri"/>
              <a:sym typeface="Calibri"/>
            </a:endParaRPr>
          </a:p>
        </p:txBody>
      </p:sp>
      <p:sp>
        <p:nvSpPr>
          <p:cNvPr id="407" name="Google Shape;407;p41"/>
          <p:cNvSpPr/>
          <p:nvPr/>
        </p:nvSpPr>
        <p:spPr>
          <a:xfrm>
            <a:off x="2130551" y="4181855"/>
            <a:ext cx="45720" cy="719455"/>
          </a:xfrm>
          <a:custGeom>
            <a:rect b="b" l="l" r="r" t="t"/>
            <a:pathLst>
              <a:path extrusionOk="0" h="719454" w="45719">
                <a:moveTo>
                  <a:pt x="0" y="0"/>
                </a:moveTo>
                <a:lnTo>
                  <a:pt x="17805" y="291"/>
                </a:lnTo>
                <a:lnTo>
                  <a:pt x="32337" y="1095"/>
                </a:lnTo>
                <a:lnTo>
                  <a:pt x="42130" y="2303"/>
                </a:lnTo>
                <a:lnTo>
                  <a:pt x="45720" y="3810"/>
                </a:lnTo>
                <a:lnTo>
                  <a:pt x="45720" y="715518"/>
                </a:lnTo>
                <a:lnTo>
                  <a:pt x="42130" y="717024"/>
                </a:lnTo>
                <a:lnTo>
                  <a:pt x="32337" y="718232"/>
                </a:lnTo>
                <a:lnTo>
                  <a:pt x="17805" y="719036"/>
                </a:lnTo>
                <a:lnTo>
                  <a:pt x="0" y="719328"/>
                </a:lnTo>
              </a:path>
            </a:pathLst>
          </a:custGeom>
          <a:noFill/>
          <a:ln cap="flat" cmpd="sng" w="12175">
            <a:solidFill>
              <a:srgbClr val="497DB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41"/>
          <p:cNvSpPr txBox="1"/>
          <p:nvPr/>
        </p:nvSpPr>
        <p:spPr>
          <a:xfrm>
            <a:off x="2707385" y="4457192"/>
            <a:ext cx="176085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a:solidFill>
                  <a:srgbClr val="C00000"/>
                </a:solidFill>
                <a:latin typeface="Calibri"/>
                <a:ea typeface="Calibri"/>
                <a:cs typeface="Calibri"/>
                <a:sym typeface="Calibri"/>
              </a:rPr>
              <a:t>Special Data types</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2"/>
          <p:cNvSpPr txBox="1"/>
          <p:nvPr>
            <p:ph type="title"/>
          </p:nvPr>
        </p:nvSpPr>
        <p:spPr>
          <a:xfrm>
            <a:off x="707542" y="12014"/>
            <a:ext cx="7479030" cy="1246505"/>
          </a:xfrm>
          <a:prstGeom prst="rect">
            <a:avLst/>
          </a:prstGeom>
          <a:noFill/>
          <a:ln>
            <a:noFill/>
          </a:ln>
        </p:spPr>
        <p:txBody>
          <a:bodyPr anchorCtr="0" anchor="t" bIns="0" lIns="0" spcFirstLastPara="1" rIns="0" wrap="square" tIns="13950">
            <a:spAutoFit/>
          </a:bodyPr>
          <a:lstStyle/>
          <a:p>
            <a:pPr indent="0" lvl="0" marL="12700" marR="5080" rtl="0" algn="l">
              <a:lnSpc>
                <a:spcPct val="100000"/>
              </a:lnSpc>
              <a:spcBef>
                <a:spcPts val="0"/>
              </a:spcBef>
              <a:spcAft>
                <a:spcPts val="0"/>
              </a:spcAft>
              <a:buNone/>
            </a:pPr>
            <a:r>
              <a:rPr lang="en-US" sz="4000"/>
              <a:t>String, Integer, Float and Boolean:  Example</a:t>
            </a:r>
            <a:endParaRPr sz="4000"/>
          </a:p>
        </p:txBody>
      </p:sp>
      <p:sp>
        <p:nvSpPr>
          <p:cNvPr id="414" name="Google Shape;414;p42"/>
          <p:cNvSpPr txBox="1"/>
          <p:nvPr/>
        </p:nvSpPr>
        <p:spPr>
          <a:xfrm>
            <a:off x="707542" y="1261567"/>
            <a:ext cx="4397858" cy="5404813"/>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a:p>
          <a:p>
            <a:pPr indent="0" lvl="0" marL="12700" marR="0" rtl="0" algn="l">
              <a:lnSpc>
                <a:spcPct val="100000"/>
              </a:lnSpc>
              <a:spcBef>
                <a:spcPts val="530"/>
              </a:spcBef>
              <a:spcAft>
                <a:spcPts val="0"/>
              </a:spcAft>
              <a:buNone/>
            </a:pPr>
            <a:r>
              <a:rPr lang="en-US" sz="2200">
                <a:solidFill>
                  <a:srgbClr val="C00000"/>
                </a:solidFill>
                <a:latin typeface="Calibri"/>
                <a:ea typeface="Calibri"/>
                <a:cs typeface="Calibri"/>
                <a:sym typeface="Calibri"/>
              </a:rPr>
              <a:t>$x = "Hello world!";</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rgbClr val="C00000"/>
                </a:solidFill>
                <a:latin typeface="Calibri"/>
                <a:ea typeface="Calibri"/>
                <a:cs typeface="Calibri"/>
                <a:sym typeface="Calibri"/>
              </a:rPr>
              <a:t>$y = 'Hello world!';</a:t>
            </a:r>
            <a:endParaRPr sz="2200">
              <a:solidFill>
                <a:schemeClr val="dk1"/>
              </a:solidFill>
              <a:latin typeface="Calibri"/>
              <a:ea typeface="Calibri"/>
              <a:cs typeface="Calibri"/>
              <a:sym typeface="Calibri"/>
            </a:endParaRPr>
          </a:p>
          <a:p>
            <a:pPr indent="0" lvl="0" marL="12700" marR="791845" rtl="0" algn="l">
              <a:lnSpc>
                <a:spcPct val="120000"/>
              </a:lnSpc>
              <a:spcBef>
                <a:spcPts val="5"/>
              </a:spcBef>
              <a:spcAft>
                <a:spcPts val="0"/>
              </a:spcAft>
              <a:buNone/>
            </a:pPr>
            <a:r>
              <a:rPr lang="en-US" sz="2200">
                <a:solidFill>
                  <a:srgbClr val="C00000"/>
                </a:solidFill>
                <a:latin typeface="Calibri"/>
                <a:ea typeface="Calibri"/>
                <a:cs typeface="Calibri"/>
                <a:sym typeface="Calibri"/>
              </a:rPr>
              <a:t>echo $x;  echo "&lt;br&gt;"; </a:t>
            </a:r>
            <a:endParaRPr sz="2200">
              <a:solidFill>
                <a:srgbClr val="C00000"/>
              </a:solidFill>
              <a:latin typeface="Calibri"/>
              <a:ea typeface="Calibri"/>
              <a:cs typeface="Calibri"/>
              <a:sym typeface="Calibri"/>
            </a:endParaRPr>
          </a:p>
          <a:p>
            <a:pPr indent="0" lvl="0" marL="12700" marR="791845" rtl="0" algn="l">
              <a:lnSpc>
                <a:spcPct val="120000"/>
              </a:lnSpc>
              <a:spcBef>
                <a:spcPts val="5"/>
              </a:spcBef>
              <a:spcAft>
                <a:spcPts val="0"/>
              </a:spcAft>
              <a:buNone/>
            </a:pPr>
            <a:r>
              <a:rPr lang="en-US" sz="2200">
                <a:solidFill>
                  <a:srgbClr val="C00000"/>
                </a:solidFill>
                <a:latin typeface="Calibri"/>
                <a:ea typeface="Calibri"/>
                <a:cs typeface="Calibri"/>
                <a:sym typeface="Calibri"/>
              </a:rPr>
              <a:t> echo $y;</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4F81BC"/>
                </a:solidFill>
                <a:latin typeface="Calibri"/>
                <a:ea typeface="Calibri"/>
                <a:cs typeface="Calibri"/>
                <a:sym typeface="Calibri"/>
              </a:rPr>
              <a:t>$x = 5985;</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rgbClr val="4F81BC"/>
                </a:solidFill>
                <a:latin typeface="Calibri"/>
                <a:ea typeface="Calibri"/>
                <a:cs typeface="Calibri"/>
                <a:sym typeface="Calibri"/>
              </a:rPr>
              <a:t>var_dump($x);</a:t>
            </a:r>
            <a:endParaRPr sz="2200">
              <a:solidFill>
                <a:srgbClr val="4F81BC"/>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rgbClr val="C00000"/>
                </a:solidFill>
                <a:latin typeface="Calibri"/>
                <a:ea typeface="Calibri"/>
                <a:cs typeface="Calibri"/>
                <a:sym typeface="Calibri"/>
              </a:rPr>
              <a:t>echo "&lt;br&gt;";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8063A1"/>
                </a:solidFill>
                <a:latin typeface="Calibri"/>
                <a:ea typeface="Calibri"/>
                <a:cs typeface="Calibri"/>
                <a:sym typeface="Calibri"/>
              </a:rPr>
              <a:t>$x = 10.365;</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rgbClr val="8063A1"/>
                </a:solidFill>
                <a:latin typeface="Calibri"/>
                <a:ea typeface="Calibri"/>
                <a:cs typeface="Calibri"/>
                <a:sym typeface="Calibri"/>
              </a:rPr>
              <a:t>var_dump($x);</a:t>
            </a:r>
            <a:endParaRPr sz="2200">
              <a:solidFill>
                <a:srgbClr val="8063A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rgbClr val="C00000"/>
                </a:solidFill>
                <a:latin typeface="Calibri"/>
                <a:ea typeface="Calibri"/>
                <a:cs typeface="Calibri"/>
                <a:sym typeface="Calibri"/>
              </a:rPr>
              <a:t>echo "&lt;br&gt;";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6F2F9F"/>
                </a:solidFill>
                <a:latin typeface="Calibri"/>
                <a:ea typeface="Calibri"/>
                <a:cs typeface="Calibri"/>
                <a:sym typeface="Calibri"/>
              </a:rPr>
              <a:t>$m=true;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6F2F9F"/>
                </a:solidFill>
                <a:latin typeface="Calibri"/>
                <a:ea typeface="Calibri"/>
                <a:cs typeface="Calibri"/>
                <a:sym typeface="Calibri"/>
              </a:rPr>
              <a:t>echo $m;</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415" name="Google Shape;415;p42"/>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42"/>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42"/>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38</a:t>
            </a:r>
            <a:endParaRPr sz="1800">
              <a:solidFill>
                <a:schemeClr val="dk1"/>
              </a:solidFill>
              <a:latin typeface="Calibri"/>
              <a:ea typeface="Calibri"/>
              <a:cs typeface="Calibri"/>
              <a:sym typeface="Calibri"/>
            </a:endParaRPr>
          </a:p>
        </p:txBody>
      </p:sp>
      <p:pic>
        <p:nvPicPr>
          <p:cNvPr id="418" name="Google Shape;418;p42"/>
          <p:cNvPicPr preferRelativeResize="0"/>
          <p:nvPr/>
        </p:nvPicPr>
        <p:blipFill rotWithShape="1">
          <a:blip r:embed="rId3">
            <a:alphaModFix/>
          </a:blip>
          <a:srcRect b="0" l="0" r="0" t="0"/>
          <a:stretch/>
        </p:blipFill>
        <p:spPr>
          <a:xfrm>
            <a:off x="3581399" y="1828800"/>
            <a:ext cx="4376057" cy="3200400"/>
          </a:xfrm>
          <a:prstGeom prst="rect">
            <a:avLst/>
          </a:prstGeom>
          <a:noFill/>
          <a:ln cap="flat" cmpd="sng" w="9525">
            <a:solidFill>
              <a:srgbClr val="B2A0C7"/>
            </a:solidFill>
            <a:prstDash val="solid"/>
            <a:miter lim="800000"/>
            <a:headEnd len="sm" w="sm" type="none"/>
            <a:tailEnd len="sm" w="sm" type="none"/>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ph type="title"/>
          </p:nvPr>
        </p:nvSpPr>
        <p:spPr>
          <a:xfrm>
            <a:off x="707542" y="648157"/>
            <a:ext cx="3091815"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Example</a:t>
            </a:r>
            <a:endParaRPr sz="3600"/>
          </a:p>
        </p:txBody>
      </p:sp>
      <p:sp>
        <p:nvSpPr>
          <p:cNvPr id="424" name="Google Shape;424;p43"/>
          <p:cNvSpPr txBox="1"/>
          <p:nvPr/>
        </p:nvSpPr>
        <p:spPr>
          <a:xfrm>
            <a:off x="546608" y="1686813"/>
            <a:ext cx="5025390" cy="3716654"/>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&lt;body&gt;</a:t>
            </a:r>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$animals = array(”Elephant ",”Dog","Tiger");</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var_dump($animals);</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&lt;/html&gt;</a:t>
            </a:r>
            <a:endParaRPr/>
          </a:p>
        </p:txBody>
      </p:sp>
      <p:sp>
        <p:nvSpPr>
          <p:cNvPr id="425" name="Google Shape;425;p43"/>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43"/>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43"/>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39</a:t>
            </a:r>
            <a:endParaRPr sz="1800">
              <a:solidFill>
                <a:schemeClr val="dk1"/>
              </a:solidFill>
              <a:latin typeface="Calibri"/>
              <a:ea typeface="Calibri"/>
              <a:cs typeface="Calibri"/>
              <a:sym typeface="Calibri"/>
            </a:endParaRPr>
          </a:p>
        </p:txBody>
      </p:sp>
      <p:sp>
        <p:nvSpPr>
          <p:cNvPr id="428" name="Google Shape;428;p43"/>
          <p:cNvSpPr txBox="1"/>
          <p:nvPr/>
        </p:nvSpPr>
        <p:spPr>
          <a:xfrm>
            <a:off x="906576" y="5789472"/>
            <a:ext cx="7473315"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array(3) { [0]=&gt; string(8) ”Elephant" [1]=&gt; string(3) ”Dog" [2]=&gt; string(5) "Tiger" }</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4"/>
          <p:cNvSpPr txBox="1"/>
          <p:nvPr>
            <p:ph type="title"/>
          </p:nvPr>
        </p:nvSpPr>
        <p:spPr>
          <a:xfrm>
            <a:off x="435660" y="172923"/>
            <a:ext cx="418274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Object: Example</a:t>
            </a:r>
            <a:endParaRPr/>
          </a:p>
        </p:txBody>
      </p:sp>
      <p:sp>
        <p:nvSpPr>
          <p:cNvPr id="434" name="Google Shape;434;p44"/>
          <p:cNvSpPr txBox="1"/>
          <p:nvPr/>
        </p:nvSpPr>
        <p:spPr>
          <a:xfrm>
            <a:off x="402437" y="994918"/>
            <a:ext cx="6511925" cy="3852545"/>
          </a:xfrm>
          <a:prstGeom prst="rect">
            <a:avLst/>
          </a:prstGeom>
          <a:noFill/>
          <a:ln>
            <a:noFill/>
          </a:ln>
        </p:spPr>
        <p:txBody>
          <a:bodyPr anchorCtr="0" anchor="t" bIns="0" lIns="0" spcFirstLastPara="1" rIns="0" wrap="square" tIns="90800">
            <a:spAutoFit/>
          </a:bodyPr>
          <a:lstStyle/>
          <a:p>
            <a:pPr indent="-228600" lvl="0" marL="356870" marR="5080" rtl="0" algn="l">
              <a:lnSpc>
                <a:spcPct val="80000"/>
              </a:lnSpc>
              <a:spcBef>
                <a:spcPts val="0"/>
              </a:spcBef>
              <a:spcAft>
                <a:spcPts val="0"/>
              </a:spcAft>
              <a:buClr>
                <a:srgbClr val="4F81BC"/>
              </a:buClr>
              <a:buSzPts val="2600"/>
              <a:buFont typeface="Arial"/>
              <a:buChar char="•"/>
            </a:pPr>
            <a:r>
              <a:rPr lang="en-US" sz="2600">
                <a:solidFill>
                  <a:schemeClr val="dk1"/>
                </a:solidFill>
                <a:latin typeface="Calibri"/>
                <a:ea typeface="Calibri"/>
                <a:cs typeface="Calibri"/>
                <a:sym typeface="Calibri"/>
              </a:rPr>
              <a:t>An object is a data type which stores data and  information on how to process that data.</a:t>
            </a:r>
            <a:endParaRPr sz="2600">
              <a:solidFill>
                <a:schemeClr val="dk1"/>
              </a:solidFill>
              <a:latin typeface="Calibri"/>
              <a:ea typeface="Calibri"/>
              <a:cs typeface="Calibri"/>
              <a:sym typeface="Calibri"/>
            </a:endParaRPr>
          </a:p>
          <a:p>
            <a:pPr indent="0" lvl="0" marL="12700" marR="0" rtl="0" algn="l">
              <a:lnSpc>
                <a:spcPct val="108124"/>
              </a:lnSpc>
              <a:spcBef>
                <a:spcPts val="2050"/>
              </a:spcBef>
              <a:spcAft>
                <a:spcPts val="0"/>
              </a:spcAft>
              <a:buNone/>
            </a:pPr>
            <a:r>
              <a:rPr lang="en-US" sz="2400">
                <a:solidFill>
                  <a:schemeClr val="dk1"/>
                </a:solidFill>
                <a:latin typeface="Calibri"/>
                <a:ea typeface="Calibri"/>
                <a:cs typeface="Calibri"/>
                <a:sym typeface="Calibri"/>
              </a:rPr>
              <a:t>&lt;?php</a:t>
            </a:r>
            <a:endParaRPr/>
          </a:p>
          <a:p>
            <a:pPr indent="0" lvl="0" marL="12700" marR="0" rtl="0" algn="l">
              <a:lnSpc>
                <a:spcPct val="108124"/>
              </a:lnSpc>
              <a:spcBef>
                <a:spcPts val="0"/>
              </a:spcBef>
              <a:spcAft>
                <a:spcPts val="0"/>
              </a:spcAft>
              <a:buNone/>
            </a:pPr>
            <a:r>
              <a:rPr lang="en-US" sz="2400">
                <a:solidFill>
                  <a:schemeClr val="dk1"/>
                </a:solidFill>
                <a:latin typeface="Calibri"/>
                <a:ea typeface="Calibri"/>
                <a:cs typeface="Calibri"/>
                <a:sym typeface="Calibri"/>
              </a:rPr>
              <a:t>class Car {</a:t>
            </a:r>
            <a:endParaRPr/>
          </a:p>
          <a:p>
            <a:pPr indent="0" lvl="0" marL="286385" marR="0" rtl="0" algn="l">
              <a:lnSpc>
                <a:spcPct val="100000"/>
              </a:lnSpc>
              <a:spcBef>
                <a:spcPts val="0"/>
              </a:spcBef>
              <a:spcAft>
                <a:spcPts val="0"/>
              </a:spcAft>
              <a:buNone/>
            </a:pPr>
            <a:r>
              <a:rPr lang="en-US" sz="2400">
                <a:solidFill>
                  <a:schemeClr val="dk1"/>
                </a:solidFill>
                <a:latin typeface="Calibri"/>
                <a:ea typeface="Calibri"/>
                <a:cs typeface="Calibri"/>
                <a:sym typeface="Calibri"/>
              </a:rPr>
              <a:t>function Car() {</a:t>
            </a:r>
            <a:endParaRPr/>
          </a:p>
          <a:p>
            <a:pPr indent="0" lvl="0" marL="561340" marR="0" rtl="0" algn="l">
              <a:lnSpc>
                <a:spcPct val="100000"/>
              </a:lnSpc>
              <a:spcBef>
                <a:spcPts val="5"/>
              </a:spcBef>
              <a:spcAft>
                <a:spcPts val="0"/>
              </a:spcAft>
              <a:buNone/>
            </a:pPr>
            <a:r>
              <a:rPr lang="en-US" sz="2400">
                <a:solidFill>
                  <a:schemeClr val="dk1"/>
                </a:solidFill>
                <a:latin typeface="Calibri"/>
                <a:ea typeface="Calibri"/>
                <a:cs typeface="Calibri"/>
                <a:sym typeface="Calibri"/>
              </a:rPr>
              <a:t>$this-&gt;model = "VW";</a:t>
            </a:r>
            <a:endParaRPr/>
          </a:p>
          <a:p>
            <a:pPr indent="0" lvl="0" marL="286385" marR="0" rtl="0" algn="l">
              <a:lnSpc>
                <a:spcPct val="100000"/>
              </a:lnSpc>
              <a:spcBef>
                <a:spcPts val="0"/>
              </a:spcBef>
              <a:spcAft>
                <a:spcPts val="0"/>
              </a:spcAft>
              <a:buNone/>
            </a:pPr>
            <a:r>
              <a:rPr lang="en-US" sz="2400">
                <a:solidFill>
                  <a:schemeClr val="dk1"/>
                </a:solidFill>
                <a:latin typeface="Calibri"/>
                <a:ea typeface="Calibri"/>
                <a:cs typeface="Calibri"/>
                <a:sym typeface="Calibri"/>
              </a:rPr>
              <a:t>}</a:t>
            </a:r>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a:t>
            </a:r>
            <a:endParaRPr/>
          </a:p>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 create an object</a:t>
            </a:r>
            <a:endParaRPr sz="24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400">
                <a:solidFill>
                  <a:schemeClr val="dk1"/>
                </a:solidFill>
                <a:latin typeface="Calibri"/>
                <a:ea typeface="Calibri"/>
                <a:cs typeface="Calibri"/>
                <a:sym typeface="Calibri"/>
              </a:rPr>
              <a:t>$c1 = new Car();</a:t>
            </a:r>
            <a:endParaRPr sz="2400">
              <a:solidFill>
                <a:schemeClr val="dk1"/>
              </a:solidFill>
              <a:latin typeface="Calibri"/>
              <a:ea typeface="Calibri"/>
              <a:cs typeface="Calibri"/>
              <a:sym typeface="Calibri"/>
            </a:endParaRPr>
          </a:p>
        </p:txBody>
      </p:sp>
      <p:sp>
        <p:nvSpPr>
          <p:cNvPr id="435" name="Google Shape;435;p44"/>
          <p:cNvSpPr txBox="1"/>
          <p:nvPr/>
        </p:nvSpPr>
        <p:spPr>
          <a:xfrm>
            <a:off x="402437" y="5187518"/>
            <a:ext cx="3184525" cy="105029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 show object properties</a:t>
            </a:r>
            <a:endParaRPr sz="2400">
              <a:solidFill>
                <a:schemeClr val="dk1"/>
              </a:solidFill>
              <a:latin typeface="Calibri"/>
              <a:ea typeface="Calibri"/>
              <a:cs typeface="Calibri"/>
              <a:sym typeface="Calibri"/>
            </a:endParaRPr>
          </a:p>
          <a:p>
            <a:pPr indent="0" lvl="0" marL="12700" marR="0" rtl="0" algn="l">
              <a:lnSpc>
                <a:spcPct val="107916"/>
              </a:lnSpc>
              <a:spcBef>
                <a:spcPts val="5"/>
              </a:spcBef>
              <a:spcAft>
                <a:spcPts val="0"/>
              </a:spcAft>
              <a:buNone/>
            </a:pPr>
            <a:r>
              <a:rPr lang="en-US" sz="2400">
                <a:solidFill>
                  <a:schemeClr val="dk1"/>
                </a:solidFill>
                <a:latin typeface="Calibri"/>
                <a:ea typeface="Calibri"/>
                <a:cs typeface="Calibri"/>
                <a:sym typeface="Calibri"/>
              </a:rPr>
              <a:t>echo $c1-&gt;model;</a:t>
            </a:r>
            <a:endParaRPr/>
          </a:p>
          <a:p>
            <a:pPr indent="0" lvl="0" marL="12700" marR="0" rtl="0" algn="l">
              <a:lnSpc>
                <a:spcPct val="107916"/>
              </a:lnSpc>
              <a:spcBef>
                <a:spcPts val="0"/>
              </a:spcBef>
              <a:spcAft>
                <a:spcPts val="0"/>
              </a:spcAft>
              <a:buNone/>
            </a:pPr>
            <a:r>
              <a:rPr lang="en-US" sz="2400">
                <a:solidFill>
                  <a:schemeClr val="dk1"/>
                </a:solidFill>
                <a:latin typeface="Calibri"/>
                <a:ea typeface="Calibri"/>
                <a:cs typeface="Calibri"/>
                <a:sym typeface="Calibri"/>
              </a:rPr>
              <a:t>?&gt;</a:t>
            </a:r>
            <a:endParaRPr sz="2400">
              <a:solidFill>
                <a:schemeClr val="dk1"/>
              </a:solidFill>
              <a:latin typeface="Calibri"/>
              <a:ea typeface="Calibri"/>
              <a:cs typeface="Calibri"/>
              <a:sym typeface="Calibri"/>
            </a:endParaRPr>
          </a:p>
        </p:txBody>
      </p:sp>
      <p:sp>
        <p:nvSpPr>
          <p:cNvPr id="436" name="Google Shape;436;p44"/>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44"/>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44"/>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40</a:t>
            </a:r>
            <a:endParaRPr sz="1800">
              <a:solidFill>
                <a:schemeClr val="dk1"/>
              </a:solidFill>
              <a:latin typeface="Calibri"/>
              <a:ea typeface="Calibri"/>
              <a:cs typeface="Calibri"/>
              <a:sym typeface="Calibri"/>
            </a:endParaRPr>
          </a:p>
        </p:txBody>
      </p:sp>
      <p:sp>
        <p:nvSpPr>
          <p:cNvPr id="439" name="Google Shape;439;p44"/>
          <p:cNvSpPr txBox="1"/>
          <p:nvPr/>
        </p:nvSpPr>
        <p:spPr>
          <a:xfrm>
            <a:off x="5732779" y="5321553"/>
            <a:ext cx="768350"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VW</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5"/>
          <p:cNvSpPr txBox="1"/>
          <p:nvPr>
            <p:ph type="title"/>
          </p:nvPr>
        </p:nvSpPr>
        <p:spPr>
          <a:xfrm>
            <a:off x="707542" y="206451"/>
            <a:ext cx="3388995" cy="6369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4000"/>
              <a:t>NULL :Example</a:t>
            </a:r>
            <a:endParaRPr sz="4000"/>
          </a:p>
        </p:txBody>
      </p:sp>
      <p:sp>
        <p:nvSpPr>
          <p:cNvPr id="445" name="Google Shape;445;p45"/>
          <p:cNvSpPr txBox="1"/>
          <p:nvPr/>
        </p:nvSpPr>
        <p:spPr>
          <a:xfrm>
            <a:off x="339039" y="1375676"/>
            <a:ext cx="7963534" cy="4110990"/>
          </a:xfrm>
          <a:prstGeom prst="rect">
            <a:avLst/>
          </a:prstGeom>
          <a:noFill/>
          <a:ln>
            <a:noFill/>
          </a:ln>
        </p:spPr>
        <p:txBody>
          <a:bodyPr anchorCtr="0" anchor="t" bIns="0" lIns="0" spcFirstLastPara="1" rIns="0" wrap="square" tIns="42525">
            <a:spAutoFit/>
          </a:bodyPr>
          <a:lstStyle/>
          <a:p>
            <a:pPr indent="-229235" lvl="0" marL="356870" marR="0" rtl="0" algn="l">
              <a:lnSpc>
                <a:spcPct val="100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Null is a special data type which can have only one value: NULL.</a:t>
            </a:r>
            <a:endParaRPr sz="2000">
              <a:solidFill>
                <a:schemeClr val="dk1"/>
              </a:solidFill>
              <a:latin typeface="Calibri"/>
              <a:ea typeface="Calibri"/>
              <a:cs typeface="Calibri"/>
              <a:sym typeface="Calibri"/>
            </a:endParaRPr>
          </a:p>
          <a:p>
            <a:pPr indent="-229235" lvl="0" marL="356870" marR="0" rtl="0" algn="l">
              <a:lnSpc>
                <a:spcPct val="100000"/>
              </a:lnSpc>
              <a:spcBef>
                <a:spcPts val="24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A variable of data type NULL is a variable that has no value assigned to it.</a:t>
            </a:r>
            <a:endParaRPr sz="2000">
              <a:solidFill>
                <a:schemeClr val="dk1"/>
              </a:solidFill>
              <a:latin typeface="Calibri"/>
              <a:ea typeface="Calibri"/>
              <a:cs typeface="Calibri"/>
              <a:sym typeface="Calibri"/>
            </a:endParaRPr>
          </a:p>
          <a:p>
            <a:pPr indent="-229235" lvl="0" marL="356870" marR="0" rtl="0" algn="l">
              <a:lnSpc>
                <a:spcPct val="114000"/>
              </a:lnSpc>
              <a:spcBef>
                <a:spcPts val="245"/>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Tip: </a:t>
            </a:r>
            <a:r>
              <a:rPr b="1" lang="en-US" sz="2000">
                <a:solidFill>
                  <a:srgbClr val="FF0000"/>
                </a:solidFill>
                <a:latin typeface="Calibri"/>
                <a:ea typeface="Calibri"/>
                <a:cs typeface="Calibri"/>
                <a:sym typeface="Calibri"/>
              </a:rPr>
              <a:t>If a variable is created without a value, it is automatically assigned a</a:t>
            </a:r>
            <a:endParaRPr sz="2000">
              <a:solidFill>
                <a:schemeClr val="dk1"/>
              </a:solidFill>
              <a:latin typeface="Calibri"/>
              <a:ea typeface="Calibri"/>
              <a:cs typeface="Calibri"/>
              <a:sym typeface="Calibri"/>
            </a:endParaRPr>
          </a:p>
          <a:p>
            <a:pPr indent="0" lvl="0" marL="0" marR="6082030" rtl="0" algn="r">
              <a:lnSpc>
                <a:spcPct val="114000"/>
              </a:lnSpc>
              <a:spcBef>
                <a:spcPts val="0"/>
              </a:spcBef>
              <a:spcAft>
                <a:spcPts val="0"/>
              </a:spcAft>
              <a:buNone/>
            </a:pPr>
            <a:r>
              <a:rPr b="1" lang="en-US" sz="2000">
                <a:solidFill>
                  <a:srgbClr val="FF0000"/>
                </a:solidFill>
                <a:latin typeface="Calibri"/>
                <a:ea typeface="Calibri"/>
                <a:cs typeface="Calibri"/>
                <a:sym typeface="Calibri"/>
              </a:rPr>
              <a:t>value of NULL.</a:t>
            </a:r>
            <a:endParaRPr sz="20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1950">
              <a:solidFill>
                <a:schemeClr val="dk1"/>
              </a:solidFill>
              <a:latin typeface="Calibri"/>
              <a:ea typeface="Calibri"/>
              <a:cs typeface="Calibri"/>
              <a:sym typeface="Calibri"/>
            </a:endParaRPr>
          </a:p>
          <a:p>
            <a:pPr indent="0" lvl="0" marL="0" marR="6109335" rtl="0" algn="r">
              <a:lnSpc>
                <a:spcPct val="114000"/>
              </a:lnSpc>
              <a:spcBef>
                <a:spcPts val="0"/>
              </a:spcBef>
              <a:spcAft>
                <a:spcPts val="0"/>
              </a:spcAft>
              <a:buNone/>
            </a:pPr>
            <a:r>
              <a:rPr lang="en-US" sz="2000">
                <a:solidFill>
                  <a:schemeClr val="dk1"/>
                </a:solidFill>
                <a:latin typeface="Calibri"/>
                <a:ea typeface="Calibri"/>
                <a:cs typeface="Calibri"/>
                <a:sym typeface="Calibri"/>
              </a:rPr>
              <a:t>&lt;!DOCTYPE html&gt;</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50">
              <a:solidFill>
                <a:schemeClr val="dk1"/>
              </a:solidFill>
              <a:latin typeface="Calibri"/>
              <a:ea typeface="Calibri"/>
              <a:cs typeface="Calibri"/>
              <a:sym typeface="Calibri"/>
            </a:endParaRPr>
          </a:p>
          <a:p>
            <a:pPr indent="0" lvl="0" marL="12700" marR="0" rtl="0" algn="l">
              <a:lnSpc>
                <a:spcPct val="114000"/>
              </a:lnSpc>
              <a:spcBef>
                <a:spcPts val="5"/>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$x = "Hello world!";</a:t>
            </a:r>
            <a:endParaRPr sz="2000">
              <a:solidFill>
                <a:schemeClr val="dk1"/>
              </a:solidFill>
              <a:latin typeface="Calibri"/>
              <a:ea typeface="Calibri"/>
              <a:cs typeface="Calibri"/>
              <a:sym typeface="Calibri"/>
            </a:endParaRPr>
          </a:p>
          <a:p>
            <a:pPr indent="0" lvl="0" marL="12700" marR="6436360" rtl="0" algn="l">
              <a:lnSpc>
                <a:spcPct val="108000"/>
              </a:lnSpc>
              <a:spcBef>
                <a:spcPts val="150"/>
              </a:spcBef>
              <a:spcAft>
                <a:spcPts val="0"/>
              </a:spcAft>
              <a:buNone/>
            </a:pPr>
            <a:r>
              <a:rPr lang="en-US" sz="2000">
                <a:solidFill>
                  <a:schemeClr val="dk1"/>
                </a:solidFill>
                <a:latin typeface="Calibri"/>
                <a:ea typeface="Calibri"/>
                <a:cs typeface="Calibri"/>
                <a:sym typeface="Calibri"/>
              </a:rPr>
              <a:t>$x = null;  var_dump($x);</a:t>
            </a:r>
            <a:endParaRPr sz="2000">
              <a:solidFill>
                <a:schemeClr val="dk1"/>
              </a:solidFill>
              <a:latin typeface="Calibri"/>
              <a:ea typeface="Calibri"/>
              <a:cs typeface="Calibri"/>
              <a:sym typeface="Calibri"/>
            </a:endParaRPr>
          </a:p>
          <a:p>
            <a:pPr indent="0" lvl="0" marL="12700" marR="0" rtl="0" algn="l">
              <a:lnSpc>
                <a:spcPct val="1065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446" name="Google Shape;446;p45"/>
          <p:cNvSpPr txBox="1"/>
          <p:nvPr/>
        </p:nvSpPr>
        <p:spPr>
          <a:xfrm>
            <a:off x="339039" y="5706262"/>
            <a:ext cx="891540" cy="604520"/>
          </a:xfrm>
          <a:prstGeom prst="rect">
            <a:avLst/>
          </a:prstGeom>
          <a:noFill/>
          <a:ln>
            <a:noFill/>
          </a:ln>
        </p:spPr>
        <p:txBody>
          <a:bodyPr anchorCtr="0" anchor="t" bIns="0" lIns="0" spcFirstLastPara="1" rIns="0" wrap="square" tIns="12050">
            <a:spAutoFit/>
          </a:bodyPr>
          <a:lstStyle/>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p:txBody>
      </p:sp>
      <p:sp>
        <p:nvSpPr>
          <p:cNvPr id="447" name="Google Shape;447;p45"/>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45"/>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45"/>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41</a:t>
            </a:r>
            <a:endParaRPr sz="1800">
              <a:solidFill>
                <a:schemeClr val="dk1"/>
              </a:solidFill>
              <a:latin typeface="Calibri"/>
              <a:ea typeface="Calibri"/>
              <a:cs typeface="Calibri"/>
              <a:sym typeface="Calibri"/>
            </a:endParaRPr>
          </a:p>
        </p:txBody>
      </p:sp>
      <p:sp>
        <p:nvSpPr>
          <p:cNvPr id="450" name="Google Shape;450;p45"/>
          <p:cNvSpPr txBox="1"/>
          <p:nvPr/>
        </p:nvSpPr>
        <p:spPr>
          <a:xfrm>
            <a:off x="5876925" y="5537708"/>
            <a:ext cx="768350"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null</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6"/>
          <p:cNvSpPr txBox="1"/>
          <p:nvPr>
            <p:ph type="title"/>
          </p:nvPr>
        </p:nvSpPr>
        <p:spPr>
          <a:xfrm>
            <a:off x="536244" y="464896"/>
            <a:ext cx="456120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Resource: Example</a:t>
            </a:r>
            <a:endParaRPr/>
          </a:p>
        </p:txBody>
      </p:sp>
      <p:sp>
        <p:nvSpPr>
          <p:cNvPr id="456" name="Google Shape;456;p46"/>
          <p:cNvSpPr txBox="1"/>
          <p:nvPr/>
        </p:nvSpPr>
        <p:spPr>
          <a:xfrm>
            <a:off x="652068" y="1615820"/>
            <a:ext cx="7352030" cy="3448050"/>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It refers the external resources like database connection, FTP</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connection, file pointers, etc.</a:t>
            </a:r>
            <a:endParaRPr sz="2200">
              <a:solidFill>
                <a:schemeClr val="dk1"/>
              </a:solidFill>
              <a:latin typeface="Calibri"/>
              <a:ea typeface="Calibri"/>
              <a:cs typeface="Calibri"/>
              <a:sym typeface="Calibri"/>
            </a:endParaRPr>
          </a:p>
          <a:p>
            <a:pPr indent="-228600" lvl="0" marL="240665" marR="88900" rtl="0" algn="l">
              <a:lnSpc>
                <a:spcPct val="100000"/>
              </a:lnSpc>
              <a:spcBef>
                <a:spcPts val="53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In simple terms, a resource is a special variable which carrying  a reference to an external resource.</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5"/>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265430" marR="0" rtl="0" algn="l">
              <a:lnSpc>
                <a:spcPct val="100000"/>
              </a:lnSpc>
              <a:spcBef>
                <a:spcPts val="525"/>
              </a:spcBef>
              <a:spcAft>
                <a:spcPts val="0"/>
              </a:spcAft>
              <a:buNone/>
            </a:pPr>
            <a:r>
              <a:rPr lang="en-US" sz="2200">
                <a:solidFill>
                  <a:schemeClr val="dk1"/>
                </a:solidFill>
                <a:latin typeface="Calibri"/>
                <a:ea typeface="Calibri"/>
                <a:cs typeface="Calibri"/>
                <a:sym typeface="Calibri"/>
              </a:rPr>
              <a:t>$conn = ftp_connect("127.0.0.1") </a:t>
            </a:r>
            <a:r>
              <a:rPr b="1" lang="en-US" sz="2200">
                <a:solidFill>
                  <a:schemeClr val="dk1"/>
                </a:solidFill>
                <a:latin typeface="Calibri"/>
                <a:ea typeface="Calibri"/>
                <a:cs typeface="Calibri"/>
                <a:sym typeface="Calibri"/>
              </a:rPr>
              <a:t>or die</a:t>
            </a:r>
            <a:r>
              <a:rPr lang="en-US" sz="2200">
                <a:solidFill>
                  <a:schemeClr val="dk1"/>
                </a:solidFill>
                <a:latin typeface="Calibri"/>
                <a:ea typeface="Calibri"/>
                <a:cs typeface="Calibri"/>
                <a:sym typeface="Calibri"/>
              </a:rPr>
              <a:t>("Could not connect");</a:t>
            </a:r>
            <a:endParaRPr sz="2200">
              <a:solidFill>
                <a:schemeClr val="dk1"/>
              </a:solidFill>
              <a:latin typeface="Calibri"/>
              <a:ea typeface="Calibri"/>
              <a:cs typeface="Calibri"/>
              <a:sym typeface="Calibri"/>
            </a:endParaRPr>
          </a:p>
          <a:p>
            <a:pPr indent="0" lvl="0" marL="26543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get_resource_type($conn);</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pic>
        <p:nvPicPr>
          <p:cNvPr id="457" name="Google Shape;457;p46"/>
          <p:cNvPicPr preferRelativeResize="0"/>
          <p:nvPr/>
        </p:nvPicPr>
        <p:blipFill rotWithShape="1">
          <a:blip r:embed="rId3">
            <a:alphaModFix/>
          </a:blip>
          <a:srcRect b="0" l="0" r="0" t="0"/>
          <a:stretch/>
        </p:blipFill>
        <p:spPr>
          <a:xfrm>
            <a:off x="4069079" y="5157215"/>
            <a:ext cx="3913631" cy="92317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7"/>
          <p:cNvSpPr txBox="1"/>
          <p:nvPr>
            <p:ph type="title"/>
          </p:nvPr>
        </p:nvSpPr>
        <p:spPr>
          <a:xfrm>
            <a:off x="536244" y="513968"/>
            <a:ext cx="4987290"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Conditional Statement</a:t>
            </a:r>
            <a:endParaRPr sz="4000"/>
          </a:p>
        </p:txBody>
      </p:sp>
      <p:sp>
        <p:nvSpPr>
          <p:cNvPr id="463" name="Google Shape;463;p47"/>
          <p:cNvSpPr txBox="1"/>
          <p:nvPr/>
        </p:nvSpPr>
        <p:spPr>
          <a:xfrm>
            <a:off x="652068" y="1549603"/>
            <a:ext cx="7266305" cy="2642235"/>
          </a:xfrm>
          <a:prstGeom prst="rect">
            <a:avLst/>
          </a:prstGeom>
          <a:noFill/>
          <a:ln>
            <a:noFill/>
          </a:ln>
        </p:spPr>
        <p:txBody>
          <a:bodyPr anchorCtr="0" anchor="t" bIns="0" lIns="0" spcFirstLastPara="1" rIns="0" wrap="square" tIns="80000">
            <a:spAutoFit/>
          </a:bodyPr>
          <a:lstStyle/>
          <a:p>
            <a:pPr indent="-228600" lvl="0" marL="241300" marR="0" rtl="0" algn="l">
              <a:lnSpc>
                <a:spcPct val="100000"/>
              </a:lnSpc>
              <a:spcBef>
                <a:spcPts val="0"/>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if statement </a:t>
            </a:r>
            <a:r>
              <a:rPr lang="en-US" sz="2200">
                <a:solidFill>
                  <a:schemeClr val="dk1"/>
                </a:solidFill>
                <a:latin typeface="Calibri"/>
                <a:ea typeface="Calibri"/>
                <a:cs typeface="Calibri"/>
                <a:sym typeface="Calibri"/>
              </a:rPr>
              <a:t>- executes some code if one condition is true</a:t>
            </a:r>
            <a:endParaRPr sz="2200">
              <a:solidFill>
                <a:schemeClr val="dk1"/>
              </a:solidFill>
              <a:latin typeface="Calibri"/>
              <a:ea typeface="Calibri"/>
              <a:cs typeface="Calibri"/>
              <a:sym typeface="Calibri"/>
            </a:endParaRPr>
          </a:p>
          <a:p>
            <a:pPr indent="-228600" lvl="0" marL="240665" marR="116839" rtl="0" algn="l">
              <a:lnSpc>
                <a:spcPct val="100000"/>
              </a:lnSpc>
              <a:spcBef>
                <a:spcPts val="530"/>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if...else statement </a:t>
            </a:r>
            <a:r>
              <a:rPr lang="en-US" sz="2200">
                <a:solidFill>
                  <a:schemeClr val="dk1"/>
                </a:solidFill>
                <a:latin typeface="Calibri"/>
                <a:ea typeface="Calibri"/>
                <a:cs typeface="Calibri"/>
                <a:sym typeface="Calibri"/>
              </a:rPr>
              <a:t>- executes some code if a condition is true  and another code if that condition is false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if...elseif....else statement </a:t>
            </a:r>
            <a:r>
              <a:rPr lang="en-US" sz="2200">
                <a:solidFill>
                  <a:schemeClr val="dk1"/>
                </a:solidFill>
                <a:latin typeface="Calibri"/>
                <a:ea typeface="Calibri"/>
                <a:cs typeface="Calibri"/>
                <a:sym typeface="Calibri"/>
              </a:rPr>
              <a:t>- executes different codes for more</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than two conditions</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switch statement </a:t>
            </a:r>
            <a:r>
              <a:rPr lang="en-US" sz="2200">
                <a:solidFill>
                  <a:schemeClr val="dk1"/>
                </a:solidFill>
                <a:latin typeface="Calibri"/>
                <a:ea typeface="Calibri"/>
                <a:cs typeface="Calibri"/>
                <a:sym typeface="Calibri"/>
              </a:rPr>
              <a:t>- selects one of many blocks of code to be</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executed</a:t>
            </a:r>
            <a:endParaRPr sz="2200">
              <a:solidFill>
                <a:schemeClr val="dk1"/>
              </a:solidFill>
              <a:latin typeface="Calibri"/>
              <a:ea typeface="Calibri"/>
              <a:cs typeface="Calibri"/>
              <a:sym typeface="Calibri"/>
            </a:endParaRPr>
          </a:p>
        </p:txBody>
      </p:sp>
      <p:sp>
        <p:nvSpPr>
          <p:cNvPr id="464" name="Google Shape;464;p47"/>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47"/>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47"/>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8"/>
          <p:cNvSpPr txBox="1"/>
          <p:nvPr>
            <p:ph type="title"/>
          </p:nvPr>
        </p:nvSpPr>
        <p:spPr>
          <a:xfrm>
            <a:off x="707542" y="110439"/>
            <a:ext cx="310134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solidFill>
                  <a:srgbClr val="C00000"/>
                </a:solidFill>
              </a:rPr>
              <a:t>if statement</a:t>
            </a:r>
            <a:endParaRPr/>
          </a:p>
        </p:txBody>
      </p:sp>
      <p:sp>
        <p:nvSpPr>
          <p:cNvPr id="472" name="Google Shape;472;p48"/>
          <p:cNvSpPr txBox="1"/>
          <p:nvPr/>
        </p:nvSpPr>
        <p:spPr>
          <a:xfrm>
            <a:off x="707542" y="1096467"/>
            <a:ext cx="7507605" cy="4333875"/>
          </a:xfrm>
          <a:prstGeom prst="rect">
            <a:avLst/>
          </a:prstGeom>
          <a:noFill/>
          <a:ln>
            <a:noFill/>
          </a:ln>
        </p:spPr>
        <p:txBody>
          <a:bodyPr anchorCtr="0" anchor="t" bIns="0" lIns="0" spcFirstLastPara="1" rIns="0" wrap="square" tIns="88250">
            <a:spAutoFit/>
          </a:bodyPr>
          <a:lstStyle/>
          <a:p>
            <a:pPr indent="-229235" lvl="0" marL="356870" marR="5080" rtl="0" algn="l">
              <a:lnSpc>
                <a:spcPct val="96153"/>
              </a:lnSpc>
              <a:spcBef>
                <a:spcPts val="0"/>
              </a:spcBef>
              <a:spcAft>
                <a:spcPts val="0"/>
              </a:spcAft>
              <a:buClr>
                <a:srgbClr val="4F81BC"/>
              </a:buClr>
              <a:buSzPts val="2600"/>
              <a:buFont typeface="Arial"/>
              <a:buChar char="•"/>
            </a:pPr>
            <a:r>
              <a:rPr lang="en-US" sz="2600">
                <a:solidFill>
                  <a:schemeClr val="dk1"/>
                </a:solidFill>
                <a:latin typeface="Calibri"/>
                <a:ea typeface="Calibri"/>
                <a:cs typeface="Calibri"/>
                <a:sym typeface="Calibri"/>
              </a:rPr>
              <a:t>The if statement executes some code if one condition  is true.</a:t>
            </a:r>
            <a:endParaRPr sz="2600">
              <a:solidFill>
                <a:schemeClr val="dk1"/>
              </a:solidFill>
              <a:latin typeface="Calibri"/>
              <a:ea typeface="Calibri"/>
              <a:cs typeface="Calibri"/>
              <a:sym typeface="Calibri"/>
            </a:endParaRPr>
          </a:p>
          <a:p>
            <a:pPr indent="-229235" lvl="0" marL="356870" marR="0" rtl="0" algn="l">
              <a:lnSpc>
                <a:spcPct val="100000"/>
              </a:lnSpc>
              <a:spcBef>
                <a:spcPts val="45"/>
              </a:spcBef>
              <a:spcAft>
                <a:spcPts val="0"/>
              </a:spcAft>
              <a:buClr>
                <a:srgbClr val="4F81BC"/>
              </a:buClr>
              <a:buSzPts val="1900"/>
              <a:buFont typeface="Arial"/>
              <a:buChar char="•"/>
            </a:pPr>
            <a:r>
              <a:rPr b="1" lang="en-US" sz="1900">
                <a:solidFill>
                  <a:schemeClr val="dk1"/>
                </a:solidFill>
                <a:latin typeface="Calibri"/>
                <a:ea typeface="Calibri"/>
                <a:cs typeface="Calibri"/>
                <a:sym typeface="Calibri"/>
              </a:rPr>
              <a:t>Example</a:t>
            </a:r>
            <a:r>
              <a:rPr lang="en-US" sz="1900">
                <a:solidFill>
                  <a:schemeClr val="dk1"/>
                </a:solidFill>
                <a:latin typeface="Calibri"/>
                <a:ea typeface="Calibri"/>
                <a:cs typeface="Calibri"/>
                <a:sym typeface="Calibri"/>
              </a:rPr>
              <a:t>:</a:t>
            </a:r>
            <a:endParaRPr sz="1900">
              <a:solidFill>
                <a:schemeClr val="dk1"/>
              </a:solidFill>
              <a:latin typeface="Calibri"/>
              <a:ea typeface="Calibri"/>
              <a:cs typeface="Calibri"/>
              <a:sym typeface="Calibri"/>
            </a:endParaRPr>
          </a:p>
          <a:p>
            <a:pPr indent="0" lvl="0" marL="12700" marR="0" rtl="0" algn="l">
              <a:lnSpc>
                <a:spcPct val="107894"/>
              </a:lnSpc>
              <a:spcBef>
                <a:spcPts val="0"/>
              </a:spcBef>
              <a:spcAft>
                <a:spcPts val="0"/>
              </a:spcAft>
              <a:buNone/>
            </a:pPr>
            <a:r>
              <a:rPr lang="en-US" sz="1900">
                <a:solidFill>
                  <a:schemeClr val="dk1"/>
                </a:solidFill>
                <a:latin typeface="Calibri"/>
                <a:ea typeface="Calibri"/>
                <a:cs typeface="Calibri"/>
                <a:sym typeface="Calibri"/>
              </a:rPr>
              <a:t>&lt;!DOCTYPE html&gt;</a:t>
            </a:r>
            <a:endParaRPr sz="1900">
              <a:solidFill>
                <a:schemeClr val="dk1"/>
              </a:solidFill>
              <a:latin typeface="Calibri"/>
              <a:ea typeface="Calibri"/>
              <a:cs typeface="Calibri"/>
              <a:sym typeface="Calibri"/>
            </a:endParaRPr>
          </a:p>
          <a:p>
            <a:pPr indent="0" lvl="0" marL="12700" marR="0" rtl="0" algn="l">
              <a:lnSpc>
                <a:spcPct val="96052"/>
              </a:lnSpc>
              <a:spcBef>
                <a:spcPts val="0"/>
              </a:spcBef>
              <a:spcAft>
                <a:spcPts val="0"/>
              </a:spcAft>
              <a:buNone/>
            </a:pPr>
            <a:r>
              <a:rPr lang="en-US" sz="1900">
                <a:solidFill>
                  <a:schemeClr val="dk1"/>
                </a:solidFill>
                <a:latin typeface="Calibri"/>
                <a:ea typeface="Calibri"/>
                <a:cs typeface="Calibri"/>
                <a:sym typeface="Calibri"/>
              </a:rPr>
              <a:t>&lt;html&gt;</a:t>
            </a:r>
            <a:endParaRPr sz="1900">
              <a:solidFill>
                <a:schemeClr val="dk1"/>
              </a:solidFill>
              <a:latin typeface="Calibri"/>
              <a:ea typeface="Calibri"/>
              <a:cs typeface="Calibri"/>
              <a:sym typeface="Calibri"/>
            </a:endParaRPr>
          </a:p>
          <a:p>
            <a:pPr indent="0" lvl="0" marL="12700" marR="0" rtl="0" algn="l">
              <a:lnSpc>
                <a:spcPct val="108157"/>
              </a:lnSpc>
              <a:spcBef>
                <a:spcPts val="0"/>
              </a:spcBef>
              <a:spcAft>
                <a:spcPts val="0"/>
              </a:spcAft>
              <a:buNone/>
            </a:pPr>
            <a:r>
              <a:rPr lang="en-US" sz="1900">
                <a:solidFill>
                  <a:schemeClr val="dk1"/>
                </a:solidFill>
                <a:latin typeface="Calibri"/>
                <a:ea typeface="Calibri"/>
                <a:cs typeface="Calibri"/>
                <a:sym typeface="Calibri"/>
              </a:rPr>
              <a:t>&lt;body&gt;</a:t>
            </a:r>
            <a:endParaRPr/>
          </a:p>
          <a:p>
            <a:pPr indent="0" lvl="0" marL="12700" marR="0" rtl="0" algn="l">
              <a:lnSpc>
                <a:spcPct val="108157"/>
              </a:lnSpc>
              <a:spcBef>
                <a:spcPts val="1370"/>
              </a:spcBef>
              <a:spcAft>
                <a:spcPts val="0"/>
              </a:spcAft>
              <a:buNone/>
            </a:pPr>
            <a:r>
              <a:rPr lang="en-US" sz="1900">
                <a:solidFill>
                  <a:schemeClr val="dk1"/>
                </a:solidFill>
                <a:latin typeface="Calibri"/>
                <a:ea typeface="Calibri"/>
                <a:cs typeface="Calibri"/>
                <a:sym typeface="Calibri"/>
              </a:rPr>
              <a:t>&lt;?php</a:t>
            </a:r>
            <a:endParaRPr sz="1900">
              <a:solidFill>
                <a:schemeClr val="dk1"/>
              </a:solidFill>
              <a:latin typeface="Calibri"/>
              <a:ea typeface="Calibri"/>
              <a:cs typeface="Calibri"/>
              <a:sym typeface="Calibri"/>
            </a:endParaRPr>
          </a:p>
          <a:p>
            <a:pPr indent="0" lvl="0" marL="12700" marR="0" rtl="0" algn="l">
              <a:lnSpc>
                <a:spcPct val="108157"/>
              </a:lnSpc>
              <a:spcBef>
                <a:spcPts val="0"/>
              </a:spcBef>
              <a:spcAft>
                <a:spcPts val="0"/>
              </a:spcAft>
              <a:buNone/>
            </a:pPr>
            <a:r>
              <a:rPr lang="en-US" sz="1900">
                <a:solidFill>
                  <a:schemeClr val="dk1"/>
                </a:solidFill>
                <a:latin typeface="Calibri"/>
                <a:ea typeface="Calibri"/>
                <a:cs typeface="Calibri"/>
                <a:sym typeface="Calibri"/>
              </a:rPr>
              <a:t>$t = date("H");</a:t>
            </a:r>
            <a:endParaRPr sz="1900">
              <a:solidFill>
                <a:schemeClr val="dk1"/>
              </a:solidFill>
              <a:latin typeface="Calibri"/>
              <a:ea typeface="Calibri"/>
              <a:cs typeface="Calibri"/>
              <a:sym typeface="Calibri"/>
            </a:endParaRPr>
          </a:p>
          <a:p>
            <a:pPr indent="0" lvl="0" marL="12700" marR="0" rtl="0" algn="l">
              <a:lnSpc>
                <a:spcPct val="108157"/>
              </a:lnSpc>
              <a:spcBef>
                <a:spcPts val="1370"/>
              </a:spcBef>
              <a:spcAft>
                <a:spcPts val="0"/>
              </a:spcAft>
              <a:buNone/>
            </a:pPr>
            <a:r>
              <a:rPr lang="en-US" sz="1900">
                <a:solidFill>
                  <a:schemeClr val="dk1"/>
                </a:solidFill>
                <a:latin typeface="Calibri"/>
                <a:ea typeface="Calibri"/>
                <a:cs typeface="Calibri"/>
                <a:sym typeface="Calibri"/>
              </a:rPr>
              <a:t>if ($t &lt; "20") {</a:t>
            </a:r>
            <a:endParaRPr sz="1900">
              <a:solidFill>
                <a:schemeClr val="dk1"/>
              </a:solidFill>
              <a:latin typeface="Calibri"/>
              <a:ea typeface="Calibri"/>
              <a:cs typeface="Calibri"/>
              <a:sym typeface="Calibri"/>
            </a:endParaRPr>
          </a:p>
          <a:p>
            <a:pPr indent="0" lvl="0" marL="229234" marR="0" rtl="0" algn="l">
              <a:lnSpc>
                <a:spcPct val="96052"/>
              </a:lnSpc>
              <a:spcBef>
                <a:spcPts val="0"/>
              </a:spcBef>
              <a:spcAft>
                <a:spcPts val="0"/>
              </a:spcAft>
              <a:buNone/>
            </a:pPr>
            <a:r>
              <a:rPr lang="en-US" sz="1900">
                <a:solidFill>
                  <a:schemeClr val="dk1"/>
                </a:solidFill>
                <a:latin typeface="Calibri"/>
                <a:ea typeface="Calibri"/>
                <a:cs typeface="Calibri"/>
                <a:sym typeface="Calibri"/>
              </a:rPr>
              <a:t>echo "Have a good day!";</a:t>
            </a:r>
            <a:endParaRPr sz="1900">
              <a:solidFill>
                <a:schemeClr val="dk1"/>
              </a:solidFill>
              <a:latin typeface="Calibri"/>
              <a:ea typeface="Calibri"/>
              <a:cs typeface="Calibri"/>
              <a:sym typeface="Calibri"/>
            </a:endParaRPr>
          </a:p>
          <a:p>
            <a:pPr indent="0" lvl="0" marL="12700" marR="0" rtl="0" algn="l">
              <a:lnSpc>
                <a:spcPct val="96052"/>
              </a:lnSpc>
              <a:spcBef>
                <a:spcPts val="0"/>
              </a:spcBef>
              <a:spcAft>
                <a:spcPts val="0"/>
              </a:spcAft>
              <a:buNone/>
            </a:pPr>
            <a:r>
              <a:rPr lang="en-US" sz="1900">
                <a:solidFill>
                  <a:schemeClr val="dk1"/>
                </a:solidFill>
                <a:latin typeface="Calibri"/>
                <a:ea typeface="Calibri"/>
                <a:cs typeface="Calibri"/>
                <a:sym typeface="Calibri"/>
              </a:rPr>
              <a:t>}</a:t>
            </a:r>
            <a:endParaRPr sz="1900">
              <a:solidFill>
                <a:schemeClr val="dk1"/>
              </a:solidFill>
              <a:latin typeface="Calibri"/>
              <a:ea typeface="Calibri"/>
              <a:cs typeface="Calibri"/>
              <a:sym typeface="Calibri"/>
            </a:endParaRPr>
          </a:p>
          <a:p>
            <a:pPr indent="0" lvl="0" marL="12700" marR="0" rtl="0" algn="l">
              <a:lnSpc>
                <a:spcPct val="107894"/>
              </a:lnSpc>
              <a:spcBef>
                <a:spcPts val="0"/>
              </a:spcBef>
              <a:spcAft>
                <a:spcPts val="0"/>
              </a:spcAft>
              <a:buNone/>
            </a:pPr>
            <a:r>
              <a:rPr lang="en-US" sz="1900">
                <a:solidFill>
                  <a:schemeClr val="dk1"/>
                </a:solidFill>
                <a:latin typeface="Calibri"/>
                <a:ea typeface="Calibri"/>
                <a:cs typeface="Calibri"/>
                <a:sym typeface="Calibri"/>
              </a:rPr>
              <a:t>?&gt;</a:t>
            </a:r>
            <a:endParaRPr/>
          </a:p>
          <a:p>
            <a:pPr indent="0" lvl="0" marL="12700" marR="0" rtl="0" algn="l">
              <a:lnSpc>
                <a:spcPct val="107894"/>
              </a:lnSpc>
              <a:spcBef>
                <a:spcPts val="1370"/>
              </a:spcBef>
              <a:spcAft>
                <a:spcPts val="0"/>
              </a:spcAft>
              <a:buNone/>
            </a:pPr>
            <a:r>
              <a:rPr lang="en-US" sz="1900">
                <a:solidFill>
                  <a:schemeClr val="dk1"/>
                </a:solidFill>
                <a:latin typeface="Calibri"/>
                <a:ea typeface="Calibri"/>
                <a:cs typeface="Calibri"/>
                <a:sym typeface="Calibri"/>
              </a:rPr>
              <a:t>&lt;/body&gt;</a:t>
            </a:r>
            <a:endParaRPr/>
          </a:p>
          <a:p>
            <a:pPr indent="0" lvl="0" marL="12700" marR="0" rtl="0" algn="l">
              <a:lnSpc>
                <a:spcPct val="107894"/>
              </a:lnSpc>
              <a:spcBef>
                <a:spcPts val="0"/>
              </a:spcBef>
              <a:spcAft>
                <a:spcPts val="0"/>
              </a:spcAft>
              <a:buNone/>
            </a:pPr>
            <a:r>
              <a:rPr lang="en-US" sz="1900">
                <a:solidFill>
                  <a:schemeClr val="dk1"/>
                </a:solidFill>
                <a:latin typeface="Calibri"/>
                <a:ea typeface="Calibri"/>
                <a:cs typeface="Calibri"/>
                <a:sym typeface="Calibri"/>
              </a:rPr>
              <a:t>&lt;/html&gt;</a:t>
            </a:r>
            <a:endParaRPr sz="1900">
              <a:solidFill>
                <a:schemeClr val="dk1"/>
              </a:solidFill>
              <a:latin typeface="Calibri"/>
              <a:ea typeface="Calibri"/>
              <a:cs typeface="Calibri"/>
              <a:sym typeface="Calibri"/>
            </a:endParaRPr>
          </a:p>
        </p:txBody>
      </p:sp>
      <p:sp>
        <p:nvSpPr>
          <p:cNvPr id="473" name="Google Shape;473;p48"/>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48"/>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48"/>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pic>
        <p:nvPicPr>
          <p:cNvPr id="476" name="Google Shape;476;p48"/>
          <p:cNvPicPr preferRelativeResize="0"/>
          <p:nvPr/>
        </p:nvPicPr>
        <p:blipFill rotWithShape="1">
          <a:blip r:embed="rId3">
            <a:alphaModFix/>
          </a:blip>
          <a:srcRect b="0" l="0" r="0" t="0"/>
          <a:stretch/>
        </p:blipFill>
        <p:spPr>
          <a:xfrm>
            <a:off x="3738130" y="2362200"/>
            <a:ext cx="3853295" cy="2286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9"/>
          <p:cNvSpPr txBox="1"/>
          <p:nvPr>
            <p:ph type="title"/>
          </p:nvPr>
        </p:nvSpPr>
        <p:spPr>
          <a:xfrm>
            <a:off x="707542" y="211023"/>
            <a:ext cx="452247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solidFill>
                  <a:srgbClr val="C00000"/>
                </a:solidFill>
              </a:rPr>
              <a:t>if...else Statement</a:t>
            </a:r>
            <a:endParaRPr/>
          </a:p>
        </p:txBody>
      </p:sp>
      <p:sp>
        <p:nvSpPr>
          <p:cNvPr id="482" name="Google Shape;482;p49"/>
          <p:cNvSpPr txBox="1"/>
          <p:nvPr/>
        </p:nvSpPr>
        <p:spPr>
          <a:xfrm>
            <a:off x="707542" y="1052575"/>
            <a:ext cx="7153909" cy="4501515"/>
          </a:xfrm>
          <a:prstGeom prst="rect">
            <a:avLst/>
          </a:prstGeom>
          <a:noFill/>
          <a:ln>
            <a:noFill/>
          </a:ln>
        </p:spPr>
        <p:txBody>
          <a:bodyPr anchorCtr="0" anchor="t" bIns="0" lIns="0" spcFirstLastPara="1" rIns="0" wrap="square" tIns="95875">
            <a:spAutoFit/>
          </a:bodyPr>
          <a:lstStyle/>
          <a:p>
            <a:pPr indent="-229235" lvl="0" marL="356870" marR="5080" rtl="0" algn="l">
              <a:lnSpc>
                <a:spcPct val="96071"/>
              </a:lnSpc>
              <a:spcBef>
                <a:spcPts val="0"/>
              </a:spcBef>
              <a:spcAft>
                <a:spcPts val="0"/>
              </a:spcAft>
              <a:buClr>
                <a:srgbClr val="4F81BC"/>
              </a:buClr>
              <a:buSzPts val="2800"/>
              <a:buFont typeface="Arial"/>
              <a:buChar char="•"/>
            </a:pPr>
            <a:r>
              <a:rPr lang="en-US" sz="2800">
                <a:solidFill>
                  <a:schemeClr val="dk1"/>
                </a:solidFill>
                <a:latin typeface="Calibri"/>
                <a:ea typeface="Calibri"/>
                <a:cs typeface="Calibri"/>
                <a:sym typeface="Calibri"/>
              </a:rPr>
              <a:t>The if....else statement executes some code if a  condition is true and another code if that  condition is false.</a:t>
            </a:r>
            <a:endParaRPr sz="2800">
              <a:solidFill>
                <a:schemeClr val="dk1"/>
              </a:solidFill>
              <a:latin typeface="Calibri"/>
              <a:ea typeface="Calibri"/>
              <a:cs typeface="Calibri"/>
              <a:sym typeface="Calibri"/>
            </a:endParaRPr>
          </a:p>
          <a:p>
            <a:pPr indent="-229235" lvl="0" marL="356870" marR="0" rtl="0" algn="l">
              <a:lnSpc>
                <a:spcPct val="100000"/>
              </a:lnSpc>
              <a:spcBef>
                <a:spcPts val="55"/>
              </a:spcBef>
              <a:spcAft>
                <a:spcPts val="0"/>
              </a:spcAft>
              <a:buClr>
                <a:srgbClr val="4F81BC"/>
              </a:buClr>
              <a:buSzPts val="1900"/>
              <a:buFont typeface="Arial"/>
              <a:buChar char="•"/>
            </a:pPr>
            <a:r>
              <a:rPr lang="en-US" sz="1900">
                <a:solidFill>
                  <a:schemeClr val="dk1"/>
                </a:solidFill>
                <a:latin typeface="Calibri"/>
                <a:ea typeface="Calibri"/>
                <a:cs typeface="Calibri"/>
                <a:sym typeface="Calibri"/>
              </a:rPr>
              <a:t>Example:</a:t>
            </a:r>
            <a:endParaRPr sz="1900">
              <a:solidFill>
                <a:schemeClr val="dk1"/>
              </a:solidFill>
              <a:latin typeface="Calibri"/>
              <a:ea typeface="Calibri"/>
              <a:cs typeface="Calibri"/>
              <a:sym typeface="Calibri"/>
            </a:endParaRPr>
          </a:p>
          <a:p>
            <a:pPr indent="0" lvl="0" marL="12700" marR="0" rtl="0" algn="l">
              <a:lnSpc>
                <a:spcPct val="107894"/>
              </a:lnSpc>
              <a:spcBef>
                <a:spcPts val="5"/>
              </a:spcBef>
              <a:spcAft>
                <a:spcPts val="0"/>
              </a:spcAft>
              <a:buNone/>
            </a:pPr>
            <a:r>
              <a:rPr lang="en-US" sz="1900">
                <a:solidFill>
                  <a:schemeClr val="dk1"/>
                </a:solidFill>
                <a:latin typeface="Calibri"/>
                <a:ea typeface="Calibri"/>
                <a:cs typeface="Calibri"/>
                <a:sym typeface="Calibri"/>
              </a:rPr>
              <a:t>&lt;!DOCTYPE html&gt;</a:t>
            </a:r>
            <a:endParaRPr sz="1900">
              <a:solidFill>
                <a:schemeClr val="dk1"/>
              </a:solidFill>
              <a:latin typeface="Calibri"/>
              <a:ea typeface="Calibri"/>
              <a:cs typeface="Calibri"/>
              <a:sym typeface="Calibri"/>
            </a:endParaRPr>
          </a:p>
          <a:p>
            <a:pPr indent="0" lvl="0" marL="12700" marR="0" rtl="0" algn="l">
              <a:lnSpc>
                <a:spcPct val="96052"/>
              </a:lnSpc>
              <a:spcBef>
                <a:spcPts val="0"/>
              </a:spcBef>
              <a:spcAft>
                <a:spcPts val="0"/>
              </a:spcAft>
              <a:buNone/>
            </a:pPr>
            <a:r>
              <a:rPr lang="en-US" sz="1900">
                <a:solidFill>
                  <a:schemeClr val="dk1"/>
                </a:solidFill>
                <a:latin typeface="Calibri"/>
                <a:ea typeface="Calibri"/>
                <a:cs typeface="Calibri"/>
                <a:sym typeface="Calibri"/>
              </a:rPr>
              <a:t>&lt;html&gt;</a:t>
            </a:r>
            <a:endParaRPr sz="1900">
              <a:solidFill>
                <a:schemeClr val="dk1"/>
              </a:solidFill>
              <a:latin typeface="Calibri"/>
              <a:ea typeface="Calibri"/>
              <a:cs typeface="Calibri"/>
              <a:sym typeface="Calibri"/>
            </a:endParaRPr>
          </a:p>
          <a:p>
            <a:pPr indent="0" lvl="0" marL="12700" marR="0" rtl="0" algn="l">
              <a:lnSpc>
                <a:spcPct val="107894"/>
              </a:lnSpc>
              <a:spcBef>
                <a:spcPts val="0"/>
              </a:spcBef>
              <a:spcAft>
                <a:spcPts val="0"/>
              </a:spcAft>
              <a:buNone/>
            </a:pPr>
            <a:r>
              <a:rPr lang="en-US" sz="1900">
                <a:solidFill>
                  <a:schemeClr val="dk1"/>
                </a:solidFill>
                <a:latin typeface="Calibri"/>
                <a:ea typeface="Calibri"/>
                <a:cs typeface="Calibri"/>
                <a:sym typeface="Calibri"/>
              </a:rPr>
              <a:t>&lt;body&gt;</a:t>
            </a:r>
            <a:endParaRPr sz="1900">
              <a:solidFill>
                <a:schemeClr val="dk1"/>
              </a:solidFill>
              <a:latin typeface="Calibri"/>
              <a:ea typeface="Calibri"/>
              <a:cs typeface="Calibri"/>
              <a:sym typeface="Calibri"/>
            </a:endParaRPr>
          </a:p>
          <a:p>
            <a:pPr indent="0" lvl="0" marL="12700" marR="0" rtl="0" algn="l">
              <a:lnSpc>
                <a:spcPct val="107894"/>
              </a:lnSpc>
              <a:spcBef>
                <a:spcPts val="1370"/>
              </a:spcBef>
              <a:spcAft>
                <a:spcPts val="0"/>
              </a:spcAft>
              <a:buNone/>
            </a:pPr>
            <a:r>
              <a:rPr lang="en-US" sz="1900">
                <a:solidFill>
                  <a:schemeClr val="dk1"/>
                </a:solidFill>
                <a:latin typeface="Calibri"/>
                <a:ea typeface="Calibri"/>
                <a:cs typeface="Calibri"/>
                <a:sym typeface="Calibri"/>
              </a:rPr>
              <a:t>&lt;?php</a:t>
            </a:r>
            <a:endParaRPr sz="1900">
              <a:solidFill>
                <a:schemeClr val="dk1"/>
              </a:solidFill>
              <a:latin typeface="Calibri"/>
              <a:ea typeface="Calibri"/>
              <a:cs typeface="Calibri"/>
              <a:sym typeface="Calibri"/>
            </a:endParaRPr>
          </a:p>
          <a:p>
            <a:pPr indent="0" lvl="0" marL="12700" marR="0" rtl="0" algn="l">
              <a:lnSpc>
                <a:spcPct val="107894"/>
              </a:lnSpc>
              <a:spcBef>
                <a:spcPts val="0"/>
              </a:spcBef>
              <a:spcAft>
                <a:spcPts val="0"/>
              </a:spcAft>
              <a:buNone/>
            </a:pPr>
            <a:r>
              <a:rPr lang="en-US" sz="1900">
                <a:solidFill>
                  <a:schemeClr val="dk1"/>
                </a:solidFill>
                <a:latin typeface="Calibri"/>
                <a:ea typeface="Calibri"/>
                <a:cs typeface="Calibri"/>
                <a:sym typeface="Calibri"/>
              </a:rPr>
              <a:t>$t = date("H");</a:t>
            </a:r>
            <a:endParaRPr sz="1900">
              <a:solidFill>
                <a:schemeClr val="dk1"/>
              </a:solidFill>
              <a:latin typeface="Calibri"/>
              <a:ea typeface="Calibri"/>
              <a:cs typeface="Calibri"/>
              <a:sym typeface="Calibri"/>
            </a:endParaRPr>
          </a:p>
          <a:p>
            <a:pPr indent="0" lvl="0" marL="12700" marR="0" rtl="0" algn="l">
              <a:lnSpc>
                <a:spcPct val="107894"/>
              </a:lnSpc>
              <a:spcBef>
                <a:spcPts val="1370"/>
              </a:spcBef>
              <a:spcAft>
                <a:spcPts val="0"/>
              </a:spcAft>
              <a:buNone/>
            </a:pPr>
            <a:r>
              <a:rPr lang="en-US" sz="1900">
                <a:solidFill>
                  <a:srgbClr val="006FC0"/>
                </a:solidFill>
                <a:latin typeface="Calibri"/>
                <a:ea typeface="Calibri"/>
                <a:cs typeface="Calibri"/>
                <a:sym typeface="Calibri"/>
              </a:rPr>
              <a:t>if ($t &lt; "20") {</a:t>
            </a:r>
            <a:endParaRPr sz="1900">
              <a:solidFill>
                <a:schemeClr val="dk1"/>
              </a:solidFill>
              <a:latin typeface="Calibri"/>
              <a:ea typeface="Calibri"/>
              <a:cs typeface="Calibri"/>
              <a:sym typeface="Calibri"/>
            </a:endParaRPr>
          </a:p>
          <a:p>
            <a:pPr indent="0" lvl="0" marL="229234" marR="0" rtl="0" algn="l">
              <a:lnSpc>
                <a:spcPct val="96052"/>
              </a:lnSpc>
              <a:spcBef>
                <a:spcPts val="0"/>
              </a:spcBef>
              <a:spcAft>
                <a:spcPts val="0"/>
              </a:spcAft>
              <a:buNone/>
            </a:pPr>
            <a:r>
              <a:rPr lang="en-US" sz="1900">
                <a:solidFill>
                  <a:srgbClr val="006FC0"/>
                </a:solidFill>
                <a:latin typeface="Calibri"/>
                <a:ea typeface="Calibri"/>
                <a:cs typeface="Calibri"/>
                <a:sym typeface="Calibri"/>
              </a:rPr>
              <a:t>echo "Have a good day!";</a:t>
            </a:r>
            <a:endParaRPr sz="1900">
              <a:solidFill>
                <a:schemeClr val="dk1"/>
              </a:solidFill>
              <a:latin typeface="Calibri"/>
              <a:ea typeface="Calibri"/>
              <a:cs typeface="Calibri"/>
              <a:sym typeface="Calibri"/>
            </a:endParaRPr>
          </a:p>
          <a:p>
            <a:pPr indent="0" lvl="0" marL="12700" marR="0" rtl="0" algn="l">
              <a:lnSpc>
                <a:spcPct val="96052"/>
              </a:lnSpc>
              <a:spcBef>
                <a:spcPts val="0"/>
              </a:spcBef>
              <a:spcAft>
                <a:spcPts val="0"/>
              </a:spcAft>
              <a:buNone/>
            </a:pPr>
            <a:r>
              <a:rPr lang="en-US" sz="1900">
                <a:solidFill>
                  <a:srgbClr val="006FC0"/>
                </a:solidFill>
                <a:latin typeface="Calibri"/>
                <a:ea typeface="Calibri"/>
                <a:cs typeface="Calibri"/>
                <a:sym typeface="Calibri"/>
              </a:rPr>
              <a:t>} else {</a:t>
            </a:r>
            <a:endParaRPr sz="1900">
              <a:solidFill>
                <a:schemeClr val="dk1"/>
              </a:solidFill>
              <a:latin typeface="Calibri"/>
              <a:ea typeface="Calibri"/>
              <a:cs typeface="Calibri"/>
              <a:sym typeface="Calibri"/>
            </a:endParaRPr>
          </a:p>
          <a:p>
            <a:pPr indent="0" lvl="0" marL="229234" marR="0" rtl="0" algn="l">
              <a:lnSpc>
                <a:spcPct val="96052"/>
              </a:lnSpc>
              <a:spcBef>
                <a:spcPts val="0"/>
              </a:spcBef>
              <a:spcAft>
                <a:spcPts val="0"/>
              </a:spcAft>
              <a:buNone/>
            </a:pPr>
            <a:r>
              <a:rPr lang="en-US" sz="1900">
                <a:solidFill>
                  <a:srgbClr val="006FC0"/>
                </a:solidFill>
                <a:latin typeface="Calibri"/>
                <a:ea typeface="Calibri"/>
                <a:cs typeface="Calibri"/>
                <a:sym typeface="Calibri"/>
              </a:rPr>
              <a:t>echo "Have a good night!";</a:t>
            </a:r>
            <a:endParaRPr sz="1900">
              <a:solidFill>
                <a:schemeClr val="dk1"/>
              </a:solidFill>
              <a:latin typeface="Calibri"/>
              <a:ea typeface="Calibri"/>
              <a:cs typeface="Calibri"/>
              <a:sym typeface="Calibri"/>
            </a:endParaRPr>
          </a:p>
          <a:p>
            <a:pPr indent="0" lvl="0" marL="12700" marR="0" rtl="0" algn="l">
              <a:lnSpc>
                <a:spcPct val="96052"/>
              </a:lnSpc>
              <a:spcBef>
                <a:spcPts val="0"/>
              </a:spcBef>
              <a:spcAft>
                <a:spcPts val="0"/>
              </a:spcAft>
              <a:buNone/>
            </a:pPr>
            <a:r>
              <a:rPr lang="en-US" sz="1900">
                <a:solidFill>
                  <a:srgbClr val="006FC0"/>
                </a:solidFill>
                <a:latin typeface="Calibri"/>
                <a:ea typeface="Calibri"/>
                <a:cs typeface="Calibri"/>
                <a:sym typeface="Calibri"/>
              </a:rPr>
              <a:t>}</a:t>
            </a:r>
            <a:endParaRPr sz="1900">
              <a:solidFill>
                <a:schemeClr val="dk1"/>
              </a:solidFill>
              <a:latin typeface="Calibri"/>
              <a:ea typeface="Calibri"/>
              <a:cs typeface="Calibri"/>
              <a:sym typeface="Calibri"/>
            </a:endParaRPr>
          </a:p>
          <a:p>
            <a:pPr indent="0" lvl="0" marL="12700" marR="0" rtl="0" algn="l">
              <a:lnSpc>
                <a:spcPct val="108157"/>
              </a:lnSpc>
              <a:spcBef>
                <a:spcPts val="0"/>
              </a:spcBef>
              <a:spcAft>
                <a:spcPts val="0"/>
              </a:spcAft>
              <a:buNone/>
            </a:pPr>
            <a:r>
              <a:rPr lang="en-US" sz="1900">
                <a:solidFill>
                  <a:schemeClr val="dk1"/>
                </a:solidFill>
                <a:latin typeface="Calibri"/>
                <a:ea typeface="Calibri"/>
                <a:cs typeface="Calibri"/>
                <a:sym typeface="Calibri"/>
              </a:rPr>
              <a:t>?&gt;</a:t>
            </a:r>
            <a:endParaRPr sz="1900">
              <a:solidFill>
                <a:schemeClr val="dk1"/>
              </a:solidFill>
              <a:latin typeface="Calibri"/>
              <a:ea typeface="Calibri"/>
              <a:cs typeface="Calibri"/>
              <a:sym typeface="Calibri"/>
            </a:endParaRPr>
          </a:p>
        </p:txBody>
      </p:sp>
      <p:sp>
        <p:nvSpPr>
          <p:cNvPr id="483" name="Google Shape;483;p49"/>
          <p:cNvSpPr txBox="1"/>
          <p:nvPr/>
        </p:nvSpPr>
        <p:spPr>
          <a:xfrm>
            <a:off x="707542" y="5702300"/>
            <a:ext cx="851535" cy="546735"/>
          </a:xfrm>
          <a:prstGeom prst="rect">
            <a:avLst/>
          </a:prstGeom>
          <a:noFill/>
          <a:ln>
            <a:noFill/>
          </a:ln>
        </p:spPr>
        <p:txBody>
          <a:bodyPr anchorCtr="0" anchor="t" bIns="0" lIns="0" spcFirstLastPara="1" rIns="0" wrap="square" tIns="12050">
            <a:spAutoFit/>
          </a:bodyPr>
          <a:lstStyle/>
          <a:p>
            <a:pPr indent="0" lvl="0" marL="12700" marR="0" rtl="0" algn="l">
              <a:lnSpc>
                <a:spcPct val="108157"/>
              </a:lnSpc>
              <a:spcBef>
                <a:spcPts val="0"/>
              </a:spcBef>
              <a:spcAft>
                <a:spcPts val="0"/>
              </a:spcAft>
              <a:buNone/>
            </a:pPr>
            <a:r>
              <a:rPr lang="en-US" sz="1900">
                <a:solidFill>
                  <a:schemeClr val="dk1"/>
                </a:solidFill>
                <a:latin typeface="Calibri"/>
                <a:ea typeface="Calibri"/>
                <a:cs typeface="Calibri"/>
                <a:sym typeface="Calibri"/>
              </a:rPr>
              <a:t>&lt;/body&gt;</a:t>
            </a:r>
            <a:endParaRPr sz="1900">
              <a:solidFill>
                <a:schemeClr val="dk1"/>
              </a:solidFill>
              <a:latin typeface="Calibri"/>
              <a:ea typeface="Calibri"/>
              <a:cs typeface="Calibri"/>
              <a:sym typeface="Calibri"/>
            </a:endParaRPr>
          </a:p>
          <a:p>
            <a:pPr indent="0" lvl="0" marL="12700" marR="0" rtl="0" algn="l">
              <a:lnSpc>
                <a:spcPct val="108157"/>
              </a:lnSpc>
              <a:spcBef>
                <a:spcPts val="0"/>
              </a:spcBef>
              <a:spcAft>
                <a:spcPts val="0"/>
              </a:spcAft>
              <a:buNone/>
            </a:pPr>
            <a:r>
              <a:rPr lang="en-US" sz="1900">
                <a:solidFill>
                  <a:schemeClr val="dk1"/>
                </a:solidFill>
                <a:latin typeface="Calibri"/>
                <a:ea typeface="Calibri"/>
                <a:cs typeface="Calibri"/>
                <a:sym typeface="Calibri"/>
              </a:rPr>
              <a:t>&lt;/html&gt;</a:t>
            </a:r>
            <a:endParaRPr sz="1900">
              <a:solidFill>
                <a:schemeClr val="dk1"/>
              </a:solidFill>
              <a:latin typeface="Calibri"/>
              <a:ea typeface="Calibri"/>
              <a:cs typeface="Calibri"/>
              <a:sym typeface="Calibri"/>
            </a:endParaRPr>
          </a:p>
        </p:txBody>
      </p:sp>
      <p:sp>
        <p:nvSpPr>
          <p:cNvPr id="484" name="Google Shape;484;p49"/>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49"/>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49"/>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45</a:t>
            </a:r>
            <a:endParaRPr sz="1800">
              <a:solidFill>
                <a:schemeClr val="dk1"/>
              </a:solidFill>
              <a:latin typeface="Calibri"/>
              <a:ea typeface="Calibri"/>
              <a:cs typeface="Calibri"/>
              <a:sym typeface="Calibri"/>
            </a:endParaRPr>
          </a:p>
        </p:txBody>
      </p:sp>
      <p:pic>
        <p:nvPicPr>
          <p:cNvPr id="487" name="Google Shape;487;p49"/>
          <p:cNvPicPr preferRelativeResize="0"/>
          <p:nvPr/>
        </p:nvPicPr>
        <p:blipFill rotWithShape="1">
          <a:blip r:embed="rId3">
            <a:alphaModFix/>
          </a:blip>
          <a:srcRect b="0" l="0" r="0" t="0"/>
          <a:stretch/>
        </p:blipFill>
        <p:spPr>
          <a:xfrm>
            <a:off x="4021709" y="2667000"/>
            <a:ext cx="3865838" cy="316749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0"/>
          <p:cNvSpPr txBox="1"/>
          <p:nvPr>
            <p:ph type="title"/>
          </p:nvPr>
        </p:nvSpPr>
        <p:spPr>
          <a:xfrm>
            <a:off x="577392" y="155270"/>
            <a:ext cx="5507990" cy="6369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4000">
                <a:solidFill>
                  <a:srgbClr val="C00000"/>
                </a:solidFill>
              </a:rPr>
              <a:t>if...elseif....else Statement</a:t>
            </a:r>
            <a:endParaRPr sz="4000"/>
          </a:p>
        </p:txBody>
      </p:sp>
      <p:sp>
        <p:nvSpPr>
          <p:cNvPr id="493" name="Google Shape;493;p50"/>
          <p:cNvSpPr txBox="1"/>
          <p:nvPr/>
        </p:nvSpPr>
        <p:spPr>
          <a:xfrm>
            <a:off x="707542" y="1138808"/>
            <a:ext cx="5154930" cy="2250440"/>
          </a:xfrm>
          <a:prstGeom prst="rect">
            <a:avLst/>
          </a:prstGeom>
          <a:noFill/>
          <a:ln>
            <a:noFill/>
          </a:ln>
        </p:spPr>
        <p:txBody>
          <a:bodyPr anchorCtr="0" anchor="t" bIns="0" lIns="0" spcFirstLastPara="1" rIns="0" wrap="square" tIns="11425">
            <a:spAutoFit/>
          </a:bodyPr>
          <a:lstStyle/>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&lt;!DOCTYPE html&gt;</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55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$t = date("H");</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echo "&lt;p&gt;The hour (of the server) is " . $t;</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echo ", and will give the following message:&lt;/p&gt;";</a:t>
            </a:r>
            <a:endParaRPr sz="2000">
              <a:solidFill>
                <a:schemeClr val="dk1"/>
              </a:solidFill>
              <a:latin typeface="Calibri"/>
              <a:ea typeface="Calibri"/>
              <a:cs typeface="Calibri"/>
              <a:sym typeface="Calibri"/>
            </a:endParaRPr>
          </a:p>
        </p:txBody>
      </p:sp>
      <p:sp>
        <p:nvSpPr>
          <p:cNvPr id="494" name="Google Shape;494;p50"/>
          <p:cNvSpPr txBox="1"/>
          <p:nvPr/>
        </p:nvSpPr>
        <p:spPr>
          <a:xfrm>
            <a:off x="707542" y="3608958"/>
            <a:ext cx="3360420" cy="2250440"/>
          </a:xfrm>
          <a:prstGeom prst="rect">
            <a:avLst/>
          </a:prstGeom>
          <a:noFill/>
          <a:ln>
            <a:noFill/>
          </a:ln>
        </p:spPr>
        <p:txBody>
          <a:bodyPr anchorCtr="0" anchor="t" bIns="0" lIns="0" spcFirstLastPara="1" rIns="0" wrap="square" tIns="11425">
            <a:spAutoFit/>
          </a:bodyPr>
          <a:lstStyle/>
          <a:p>
            <a:pPr indent="0" lvl="0" marL="12700" marR="0" rtl="0" algn="l">
              <a:lnSpc>
                <a:spcPct val="114000"/>
              </a:lnSpc>
              <a:spcBef>
                <a:spcPts val="0"/>
              </a:spcBef>
              <a:spcAft>
                <a:spcPts val="0"/>
              </a:spcAft>
              <a:buNone/>
            </a:pPr>
            <a:r>
              <a:rPr lang="en-US" sz="2000">
                <a:solidFill>
                  <a:srgbClr val="006FC0"/>
                </a:solidFill>
                <a:latin typeface="Calibri"/>
                <a:ea typeface="Calibri"/>
                <a:cs typeface="Calibri"/>
                <a:sym typeface="Calibri"/>
              </a:rPr>
              <a:t>if ($t &lt; "10") {</a:t>
            </a:r>
            <a:endParaRPr sz="2000">
              <a:solidFill>
                <a:schemeClr val="dk1"/>
              </a:solidFill>
              <a:latin typeface="Calibri"/>
              <a:ea typeface="Calibri"/>
              <a:cs typeface="Calibri"/>
              <a:sym typeface="Calibri"/>
            </a:endParaRPr>
          </a:p>
          <a:p>
            <a:pPr indent="0" lvl="0" marL="241300" marR="0" rtl="0" algn="l">
              <a:lnSpc>
                <a:spcPct val="108000"/>
              </a:lnSpc>
              <a:spcBef>
                <a:spcPts val="0"/>
              </a:spcBef>
              <a:spcAft>
                <a:spcPts val="0"/>
              </a:spcAft>
              <a:buNone/>
            </a:pPr>
            <a:r>
              <a:rPr lang="en-US" sz="2000">
                <a:solidFill>
                  <a:srgbClr val="006FC0"/>
                </a:solidFill>
                <a:latin typeface="Calibri"/>
                <a:ea typeface="Calibri"/>
                <a:cs typeface="Calibri"/>
                <a:sym typeface="Calibri"/>
              </a:rPr>
              <a:t>echo "Have a good morning!";</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rgbClr val="006FC0"/>
                </a:solidFill>
                <a:latin typeface="Calibri"/>
                <a:ea typeface="Calibri"/>
                <a:cs typeface="Calibri"/>
                <a:sym typeface="Calibri"/>
              </a:rPr>
              <a:t>} elseif ($t &lt; "20") {</a:t>
            </a:r>
            <a:endParaRPr sz="2000">
              <a:solidFill>
                <a:schemeClr val="dk1"/>
              </a:solidFill>
              <a:latin typeface="Calibri"/>
              <a:ea typeface="Calibri"/>
              <a:cs typeface="Calibri"/>
              <a:sym typeface="Calibri"/>
            </a:endParaRPr>
          </a:p>
          <a:p>
            <a:pPr indent="0" lvl="0" marL="241300" marR="0" rtl="0" algn="l">
              <a:lnSpc>
                <a:spcPct val="108000"/>
              </a:lnSpc>
              <a:spcBef>
                <a:spcPts val="0"/>
              </a:spcBef>
              <a:spcAft>
                <a:spcPts val="0"/>
              </a:spcAft>
              <a:buNone/>
            </a:pPr>
            <a:r>
              <a:rPr lang="en-US" sz="2000">
                <a:solidFill>
                  <a:srgbClr val="006FC0"/>
                </a:solidFill>
                <a:latin typeface="Calibri"/>
                <a:ea typeface="Calibri"/>
                <a:cs typeface="Calibri"/>
                <a:sym typeface="Calibri"/>
              </a:rPr>
              <a:t>echo "Have a good day!";</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rgbClr val="006FC0"/>
                </a:solidFill>
                <a:latin typeface="Calibri"/>
                <a:ea typeface="Calibri"/>
                <a:cs typeface="Calibri"/>
                <a:sym typeface="Calibri"/>
              </a:rPr>
              <a:t>} else {</a:t>
            </a:r>
            <a:endParaRPr sz="2000">
              <a:solidFill>
                <a:schemeClr val="dk1"/>
              </a:solidFill>
              <a:latin typeface="Calibri"/>
              <a:ea typeface="Calibri"/>
              <a:cs typeface="Calibri"/>
              <a:sym typeface="Calibri"/>
            </a:endParaRPr>
          </a:p>
          <a:p>
            <a:pPr indent="0" lvl="0" marL="241300" marR="0" rtl="0" algn="l">
              <a:lnSpc>
                <a:spcPct val="108000"/>
              </a:lnSpc>
              <a:spcBef>
                <a:spcPts val="0"/>
              </a:spcBef>
              <a:spcAft>
                <a:spcPts val="0"/>
              </a:spcAft>
              <a:buNone/>
            </a:pPr>
            <a:r>
              <a:rPr lang="en-US" sz="2000">
                <a:solidFill>
                  <a:srgbClr val="006FC0"/>
                </a:solidFill>
                <a:latin typeface="Calibri"/>
                <a:ea typeface="Calibri"/>
                <a:cs typeface="Calibri"/>
                <a:sym typeface="Calibri"/>
              </a:rPr>
              <a:t>echo "Have a good night!";</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rgbClr val="006FC0"/>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495" name="Google Shape;495;p50"/>
          <p:cNvSpPr txBox="1"/>
          <p:nvPr/>
        </p:nvSpPr>
        <p:spPr>
          <a:xfrm>
            <a:off x="707542" y="6078423"/>
            <a:ext cx="891540" cy="604520"/>
          </a:xfrm>
          <a:prstGeom prst="rect">
            <a:avLst/>
          </a:prstGeom>
          <a:noFill/>
          <a:ln>
            <a:noFill/>
          </a:ln>
        </p:spPr>
        <p:txBody>
          <a:bodyPr anchorCtr="0" anchor="t" bIns="0" lIns="0" spcFirstLastPara="1" rIns="0" wrap="square" tIns="12050">
            <a:spAutoFit/>
          </a:bodyPr>
          <a:lstStyle/>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p:txBody>
      </p:sp>
      <p:sp>
        <p:nvSpPr>
          <p:cNvPr id="496" name="Google Shape;496;p50"/>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50"/>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50"/>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46</a:t>
            </a:r>
            <a:endParaRPr sz="1800">
              <a:solidFill>
                <a:schemeClr val="dk1"/>
              </a:solidFill>
              <a:latin typeface="Calibri"/>
              <a:ea typeface="Calibri"/>
              <a:cs typeface="Calibri"/>
              <a:sym typeface="Calibri"/>
            </a:endParaRPr>
          </a:p>
        </p:txBody>
      </p:sp>
      <p:pic>
        <p:nvPicPr>
          <p:cNvPr id="499" name="Google Shape;499;p50"/>
          <p:cNvPicPr preferRelativeResize="0"/>
          <p:nvPr/>
        </p:nvPicPr>
        <p:blipFill rotWithShape="1">
          <a:blip r:embed="rId3">
            <a:alphaModFix/>
          </a:blip>
          <a:srcRect b="0" l="0" r="0" t="0"/>
          <a:stretch/>
        </p:blipFill>
        <p:spPr>
          <a:xfrm>
            <a:off x="4343400" y="3574510"/>
            <a:ext cx="3261524" cy="296999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1"/>
          <p:cNvSpPr txBox="1"/>
          <p:nvPr>
            <p:ph type="title"/>
          </p:nvPr>
        </p:nvSpPr>
        <p:spPr>
          <a:xfrm>
            <a:off x="707542" y="30556"/>
            <a:ext cx="3451225"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C00000"/>
                </a:solidFill>
              </a:rPr>
              <a:t>switch Statement</a:t>
            </a:r>
            <a:endParaRPr sz="3600"/>
          </a:p>
        </p:txBody>
      </p:sp>
      <p:sp>
        <p:nvSpPr>
          <p:cNvPr id="505" name="Google Shape;505;p51"/>
          <p:cNvSpPr txBox="1"/>
          <p:nvPr/>
        </p:nvSpPr>
        <p:spPr>
          <a:xfrm>
            <a:off x="707542" y="623062"/>
            <a:ext cx="6406515" cy="5208270"/>
          </a:xfrm>
          <a:prstGeom prst="rect">
            <a:avLst/>
          </a:prstGeom>
          <a:noFill/>
          <a:ln>
            <a:noFill/>
          </a:ln>
        </p:spPr>
        <p:txBody>
          <a:bodyPr anchorCtr="0" anchor="t" bIns="0" lIns="0" spcFirstLastPara="1" rIns="0" wrap="square" tIns="11425">
            <a:spAutoFit/>
          </a:bodyPr>
          <a:lstStyle/>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&lt;!DOCTYPE html&gt;</a:t>
            </a:r>
            <a:endParaRPr sz="2000">
              <a:solidFill>
                <a:schemeClr val="dk1"/>
              </a:solidFill>
              <a:latin typeface="Calibri"/>
              <a:ea typeface="Calibri"/>
              <a:cs typeface="Calibri"/>
              <a:sym typeface="Calibri"/>
            </a:endParaRPr>
          </a:p>
          <a:p>
            <a:pPr indent="0" lvl="0" marL="12700" marR="0" rtl="0" algn="l">
              <a:lnSpc>
                <a:spcPct val="96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12700" marR="0" rtl="0" algn="l">
              <a:lnSpc>
                <a:spcPct val="108000"/>
              </a:lnSpc>
              <a:spcBef>
                <a:spcPts val="1445"/>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$favcolor = "red";</a:t>
            </a:r>
            <a:endParaRPr sz="2000">
              <a:solidFill>
                <a:schemeClr val="dk1"/>
              </a:solidFill>
              <a:latin typeface="Calibri"/>
              <a:ea typeface="Calibri"/>
              <a:cs typeface="Calibri"/>
              <a:sym typeface="Calibri"/>
            </a:endParaRPr>
          </a:p>
          <a:p>
            <a:pPr indent="0" lvl="0" marL="12700" marR="0" rtl="0" algn="l">
              <a:lnSpc>
                <a:spcPct val="108000"/>
              </a:lnSpc>
              <a:spcBef>
                <a:spcPts val="1440"/>
              </a:spcBef>
              <a:spcAft>
                <a:spcPts val="0"/>
              </a:spcAft>
              <a:buNone/>
            </a:pPr>
            <a:r>
              <a:rPr lang="en-US" sz="2000">
                <a:solidFill>
                  <a:srgbClr val="006FC0"/>
                </a:solidFill>
                <a:latin typeface="Calibri"/>
                <a:ea typeface="Calibri"/>
                <a:cs typeface="Calibri"/>
                <a:sym typeface="Calibri"/>
              </a:rPr>
              <a:t>switch ($favcolor) {</a:t>
            </a:r>
            <a:endParaRPr sz="2000">
              <a:solidFill>
                <a:schemeClr val="dk1"/>
              </a:solidFill>
              <a:latin typeface="Calibri"/>
              <a:ea typeface="Calibri"/>
              <a:cs typeface="Calibri"/>
              <a:sym typeface="Calibri"/>
            </a:endParaRPr>
          </a:p>
          <a:p>
            <a:pPr indent="0" lvl="0" marL="241300" marR="0" rtl="0" algn="l">
              <a:lnSpc>
                <a:spcPct val="96000"/>
              </a:lnSpc>
              <a:spcBef>
                <a:spcPts val="0"/>
              </a:spcBef>
              <a:spcAft>
                <a:spcPts val="0"/>
              </a:spcAft>
              <a:buNone/>
            </a:pPr>
            <a:r>
              <a:rPr lang="en-US" sz="2000">
                <a:solidFill>
                  <a:srgbClr val="006FC0"/>
                </a:solidFill>
                <a:latin typeface="Calibri"/>
                <a:ea typeface="Calibri"/>
                <a:cs typeface="Calibri"/>
                <a:sym typeface="Calibri"/>
              </a:rPr>
              <a:t>case "red":</a:t>
            </a:r>
            <a:endParaRPr sz="2000">
              <a:solidFill>
                <a:schemeClr val="dk1"/>
              </a:solidFill>
              <a:latin typeface="Calibri"/>
              <a:ea typeface="Calibri"/>
              <a:cs typeface="Calibri"/>
              <a:sym typeface="Calibri"/>
            </a:endParaRPr>
          </a:p>
          <a:p>
            <a:pPr indent="0" lvl="0" marL="469900" marR="0" rtl="0" algn="l">
              <a:lnSpc>
                <a:spcPct val="96000"/>
              </a:lnSpc>
              <a:spcBef>
                <a:spcPts val="0"/>
              </a:spcBef>
              <a:spcAft>
                <a:spcPts val="0"/>
              </a:spcAft>
              <a:buNone/>
            </a:pPr>
            <a:r>
              <a:rPr lang="en-US" sz="2000">
                <a:solidFill>
                  <a:srgbClr val="006FC0"/>
                </a:solidFill>
                <a:latin typeface="Calibri"/>
                <a:ea typeface="Calibri"/>
                <a:cs typeface="Calibri"/>
                <a:sym typeface="Calibri"/>
              </a:rPr>
              <a:t>echo "Your favorite color is red!";</a:t>
            </a:r>
            <a:endParaRPr sz="2000">
              <a:solidFill>
                <a:schemeClr val="dk1"/>
              </a:solidFill>
              <a:latin typeface="Calibri"/>
              <a:ea typeface="Calibri"/>
              <a:cs typeface="Calibri"/>
              <a:sym typeface="Calibri"/>
            </a:endParaRPr>
          </a:p>
          <a:p>
            <a:pPr indent="0" lvl="0" marL="469900" marR="0" rtl="0" algn="l">
              <a:lnSpc>
                <a:spcPct val="96000"/>
              </a:lnSpc>
              <a:spcBef>
                <a:spcPts val="0"/>
              </a:spcBef>
              <a:spcAft>
                <a:spcPts val="0"/>
              </a:spcAft>
              <a:buNone/>
            </a:pPr>
            <a:r>
              <a:rPr lang="en-US" sz="2000">
                <a:solidFill>
                  <a:srgbClr val="006FC0"/>
                </a:solidFill>
                <a:latin typeface="Calibri"/>
                <a:ea typeface="Calibri"/>
                <a:cs typeface="Calibri"/>
                <a:sym typeface="Calibri"/>
              </a:rPr>
              <a:t>break;</a:t>
            </a:r>
            <a:endParaRPr sz="2000">
              <a:solidFill>
                <a:schemeClr val="dk1"/>
              </a:solidFill>
              <a:latin typeface="Calibri"/>
              <a:ea typeface="Calibri"/>
              <a:cs typeface="Calibri"/>
              <a:sym typeface="Calibri"/>
            </a:endParaRPr>
          </a:p>
          <a:p>
            <a:pPr indent="0" lvl="0" marL="241300" marR="0" rtl="0" algn="l">
              <a:lnSpc>
                <a:spcPct val="96000"/>
              </a:lnSpc>
              <a:spcBef>
                <a:spcPts val="0"/>
              </a:spcBef>
              <a:spcAft>
                <a:spcPts val="0"/>
              </a:spcAft>
              <a:buNone/>
            </a:pPr>
            <a:r>
              <a:rPr lang="en-US" sz="2000">
                <a:solidFill>
                  <a:srgbClr val="006FC0"/>
                </a:solidFill>
                <a:latin typeface="Calibri"/>
                <a:ea typeface="Calibri"/>
                <a:cs typeface="Calibri"/>
                <a:sym typeface="Calibri"/>
              </a:rPr>
              <a:t>case "blue":</a:t>
            </a:r>
            <a:endParaRPr sz="2000">
              <a:solidFill>
                <a:schemeClr val="dk1"/>
              </a:solidFill>
              <a:latin typeface="Calibri"/>
              <a:ea typeface="Calibri"/>
              <a:cs typeface="Calibri"/>
              <a:sym typeface="Calibri"/>
            </a:endParaRPr>
          </a:p>
          <a:p>
            <a:pPr indent="0" lvl="0" marL="469900" marR="0" rtl="0" algn="l">
              <a:lnSpc>
                <a:spcPct val="96000"/>
              </a:lnSpc>
              <a:spcBef>
                <a:spcPts val="0"/>
              </a:spcBef>
              <a:spcAft>
                <a:spcPts val="0"/>
              </a:spcAft>
              <a:buNone/>
            </a:pPr>
            <a:r>
              <a:rPr lang="en-US" sz="2000">
                <a:solidFill>
                  <a:srgbClr val="006FC0"/>
                </a:solidFill>
                <a:latin typeface="Calibri"/>
                <a:ea typeface="Calibri"/>
                <a:cs typeface="Calibri"/>
                <a:sym typeface="Calibri"/>
              </a:rPr>
              <a:t>echo "Your favorite color is blue!";</a:t>
            </a:r>
            <a:endParaRPr sz="2000">
              <a:solidFill>
                <a:schemeClr val="dk1"/>
              </a:solidFill>
              <a:latin typeface="Calibri"/>
              <a:ea typeface="Calibri"/>
              <a:cs typeface="Calibri"/>
              <a:sym typeface="Calibri"/>
            </a:endParaRPr>
          </a:p>
          <a:p>
            <a:pPr indent="0" lvl="0" marL="469900" marR="0" rtl="0" algn="l">
              <a:lnSpc>
                <a:spcPct val="96000"/>
              </a:lnSpc>
              <a:spcBef>
                <a:spcPts val="0"/>
              </a:spcBef>
              <a:spcAft>
                <a:spcPts val="0"/>
              </a:spcAft>
              <a:buNone/>
            </a:pPr>
            <a:r>
              <a:rPr lang="en-US" sz="2000">
                <a:solidFill>
                  <a:srgbClr val="006FC0"/>
                </a:solidFill>
                <a:latin typeface="Calibri"/>
                <a:ea typeface="Calibri"/>
                <a:cs typeface="Calibri"/>
                <a:sym typeface="Calibri"/>
              </a:rPr>
              <a:t>break;</a:t>
            </a:r>
            <a:endParaRPr sz="2000">
              <a:solidFill>
                <a:schemeClr val="dk1"/>
              </a:solidFill>
              <a:latin typeface="Calibri"/>
              <a:ea typeface="Calibri"/>
              <a:cs typeface="Calibri"/>
              <a:sym typeface="Calibri"/>
            </a:endParaRPr>
          </a:p>
          <a:p>
            <a:pPr indent="0" lvl="0" marL="241300" marR="0" rtl="0" algn="l">
              <a:lnSpc>
                <a:spcPct val="96000"/>
              </a:lnSpc>
              <a:spcBef>
                <a:spcPts val="0"/>
              </a:spcBef>
              <a:spcAft>
                <a:spcPts val="0"/>
              </a:spcAft>
              <a:buNone/>
            </a:pPr>
            <a:r>
              <a:rPr lang="en-US" sz="2000">
                <a:solidFill>
                  <a:srgbClr val="006FC0"/>
                </a:solidFill>
                <a:latin typeface="Calibri"/>
                <a:ea typeface="Calibri"/>
                <a:cs typeface="Calibri"/>
                <a:sym typeface="Calibri"/>
              </a:rPr>
              <a:t>case "green":</a:t>
            </a:r>
            <a:endParaRPr sz="2000">
              <a:solidFill>
                <a:schemeClr val="dk1"/>
              </a:solidFill>
              <a:latin typeface="Calibri"/>
              <a:ea typeface="Calibri"/>
              <a:cs typeface="Calibri"/>
              <a:sym typeface="Calibri"/>
            </a:endParaRPr>
          </a:p>
          <a:p>
            <a:pPr indent="0" lvl="0" marL="469900" marR="0" rtl="0" algn="l">
              <a:lnSpc>
                <a:spcPct val="96000"/>
              </a:lnSpc>
              <a:spcBef>
                <a:spcPts val="0"/>
              </a:spcBef>
              <a:spcAft>
                <a:spcPts val="0"/>
              </a:spcAft>
              <a:buNone/>
            </a:pPr>
            <a:r>
              <a:rPr lang="en-US" sz="2000">
                <a:solidFill>
                  <a:srgbClr val="006FC0"/>
                </a:solidFill>
                <a:latin typeface="Calibri"/>
                <a:ea typeface="Calibri"/>
                <a:cs typeface="Calibri"/>
                <a:sym typeface="Calibri"/>
              </a:rPr>
              <a:t>echo "Your favorite color is green!";</a:t>
            </a:r>
            <a:endParaRPr sz="2000">
              <a:solidFill>
                <a:schemeClr val="dk1"/>
              </a:solidFill>
              <a:latin typeface="Calibri"/>
              <a:ea typeface="Calibri"/>
              <a:cs typeface="Calibri"/>
              <a:sym typeface="Calibri"/>
            </a:endParaRPr>
          </a:p>
          <a:p>
            <a:pPr indent="0" lvl="0" marL="469900" marR="0" rtl="0" algn="l">
              <a:lnSpc>
                <a:spcPct val="96000"/>
              </a:lnSpc>
              <a:spcBef>
                <a:spcPts val="0"/>
              </a:spcBef>
              <a:spcAft>
                <a:spcPts val="0"/>
              </a:spcAft>
              <a:buNone/>
            </a:pPr>
            <a:r>
              <a:rPr lang="en-US" sz="2000">
                <a:solidFill>
                  <a:srgbClr val="006FC0"/>
                </a:solidFill>
                <a:latin typeface="Calibri"/>
                <a:ea typeface="Calibri"/>
                <a:cs typeface="Calibri"/>
                <a:sym typeface="Calibri"/>
              </a:rPr>
              <a:t>break;</a:t>
            </a:r>
            <a:endParaRPr sz="2000">
              <a:solidFill>
                <a:schemeClr val="dk1"/>
              </a:solidFill>
              <a:latin typeface="Calibri"/>
              <a:ea typeface="Calibri"/>
              <a:cs typeface="Calibri"/>
              <a:sym typeface="Calibri"/>
            </a:endParaRPr>
          </a:p>
          <a:p>
            <a:pPr indent="0" lvl="0" marL="241300" marR="0" rtl="0" algn="l">
              <a:lnSpc>
                <a:spcPct val="96000"/>
              </a:lnSpc>
              <a:spcBef>
                <a:spcPts val="0"/>
              </a:spcBef>
              <a:spcAft>
                <a:spcPts val="0"/>
              </a:spcAft>
              <a:buNone/>
            </a:pPr>
            <a:r>
              <a:rPr lang="en-US" sz="2000">
                <a:solidFill>
                  <a:srgbClr val="006FC0"/>
                </a:solidFill>
                <a:latin typeface="Calibri"/>
                <a:ea typeface="Calibri"/>
                <a:cs typeface="Calibri"/>
                <a:sym typeface="Calibri"/>
              </a:rPr>
              <a:t>default:</a:t>
            </a:r>
            <a:endParaRPr sz="2000">
              <a:solidFill>
                <a:schemeClr val="dk1"/>
              </a:solidFill>
              <a:latin typeface="Calibri"/>
              <a:ea typeface="Calibri"/>
              <a:cs typeface="Calibri"/>
              <a:sym typeface="Calibri"/>
            </a:endParaRPr>
          </a:p>
          <a:p>
            <a:pPr indent="0" lvl="0" marL="469900" marR="0" rtl="0" algn="l">
              <a:lnSpc>
                <a:spcPct val="96000"/>
              </a:lnSpc>
              <a:spcBef>
                <a:spcPts val="0"/>
              </a:spcBef>
              <a:spcAft>
                <a:spcPts val="0"/>
              </a:spcAft>
              <a:buNone/>
            </a:pPr>
            <a:r>
              <a:rPr lang="en-US" sz="2000">
                <a:solidFill>
                  <a:srgbClr val="006FC0"/>
                </a:solidFill>
                <a:latin typeface="Calibri"/>
                <a:ea typeface="Calibri"/>
                <a:cs typeface="Calibri"/>
                <a:sym typeface="Calibri"/>
              </a:rPr>
              <a:t>echo "Your favorite color is neither red, blue, nor green!";</a:t>
            </a:r>
            <a:endParaRPr sz="2000">
              <a:solidFill>
                <a:schemeClr val="dk1"/>
              </a:solidFill>
              <a:latin typeface="Calibri"/>
              <a:ea typeface="Calibri"/>
              <a:cs typeface="Calibri"/>
              <a:sym typeface="Calibri"/>
            </a:endParaRPr>
          </a:p>
          <a:p>
            <a:pPr indent="0" lvl="0" marL="12700" marR="0" rtl="0" algn="l">
              <a:lnSpc>
                <a:spcPct val="96000"/>
              </a:lnSpc>
              <a:spcBef>
                <a:spcPts val="0"/>
              </a:spcBef>
              <a:spcAft>
                <a:spcPts val="0"/>
              </a:spcAft>
              <a:buNone/>
            </a:pPr>
            <a:r>
              <a:rPr lang="en-US" sz="2000">
                <a:solidFill>
                  <a:srgbClr val="006FC0"/>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506" name="Google Shape;506;p51"/>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51"/>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51"/>
          <p:cNvSpPr txBox="1"/>
          <p:nvPr/>
        </p:nvSpPr>
        <p:spPr>
          <a:xfrm>
            <a:off x="8680450" y="5741542"/>
            <a:ext cx="257175" cy="254635"/>
          </a:xfrm>
          <a:prstGeom prst="rect">
            <a:avLst/>
          </a:prstGeom>
          <a:noFill/>
          <a:ln>
            <a:noFill/>
          </a:ln>
        </p:spPr>
        <p:txBody>
          <a:bodyPr anchorCtr="0" anchor="t" bIns="0" lIns="0" spcFirstLastPara="1" rIns="0" wrap="square" tIns="0">
            <a:spAutoFit/>
          </a:bodyPr>
          <a:lstStyle/>
          <a:p>
            <a:pPr indent="0" lvl="0" marL="12700" marR="0" rtl="0" algn="l">
              <a:lnSpc>
                <a:spcPct val="100555"/>
              </a:lnSpc>
              <a:spcBef>
                <a:spcPts val="0"/>
              </a:spcBef>
              <a:spcAft>
                <a:spcPts val="0"/>
              </a:spcAft>
              <a:buNone/>
            </a:pPr>
            <a:r>
              <a:rPr lang="en-US" sz="1800">
                <a:solidFill>
                  <a:srgbClr val="FFFFFF"/>
                </a:solidFill>
                <a:latin typeface="Calibri"/>
                <a:ea typeface="Calibri"/>
                <a:cs typeface="Calibri"/>
                <a:sym typeface="Calibri"/>
              </a:rPr>
              <a:t>47</a:t>
            </a:r>
            <a:endParaRPr sz="1800">
              <a:solidFill>
                <a:schemeClr val="dk1"/>
              </a:solidFill>
              <a:latin typeface="Calibri"/>
              <a:ea typeface="Calibri"/>
              <a:cs typeface="Calibri"/>
              <a:sym typeface="Calibri"/>
            </a:endParaRPr>
          </a:p>
        </p:txBody>
      </p:sp>
      <p:sp>
        <p:nvSpPr>
          <p:cNvPr id="509" name="Google Shape;509;p51"/>
          <p:cNvSpPr txBox="1"/>
          <p:nvPr/>
        </p:nvSpPr>
        <p:spPr>
          <a:xfrm>
            <a:off x="707542" y="6053277"/>
            <a:ext cx="1774189" cy="278765"/>
          </a:xfrm>
          <a:prstGeom prst="rect">
            <a:avLst/>
          </a:prstGeom>
          <a:noFill/>
          <a:ln>
            <a:noFill/>
          </a:ln>
        </p:spPr>
        <p:txBody>
          <a:bodyPr anchorCtr="0" anchor="t" bIns="0" lIns="0" spcFirstLastPara="1" rIns="0" wrap="square" tIns="0">
            <a:spAutoFit/>
          </a:bodyPr>
          <a:lstStyle/>
          <a:p>
            <a:pPr indent="0" lvl="0" marL="12700" marR="0" rtl="0" algn="l">
              <a:lnSpc>
                <a:spcPct val="99750"/>
              </a:lnSpc>
              <a:spcBef>
                <a:spcPts val="0"/>
              </a:spcBef>
              <a:spcAft>
                <a:spcPts val="0"/>
              </a:spcAft>
              <a:buNone/>
            </a:pPr>
            <a:r>
              <a:rPr lang="en-US" sz="2000">
                <a:solidFill>
                  <a:schemeClr val="dk1"/>
                </a:solidFill>
                <a:latin typeface="Calibri"/>
                <a:ea typeface="Calibri"/>
                <a:cs typeface="Calibri"/>
                <a:sym typeface="Calibri"/>
              </a:rPr>
              <a:t>&lt;/body&gt; &lt;/html&gt;</a:t>
            </a:r>
            <a:endParaRPr sz="20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2"/>
          <p:cNvSpPr txBox="1"/>
          <p:nvPr>
            <p:ph type="title"/>
          </p:nvPr>
        </p:nvSpPr>
        <p:spPr>
          <a:xfrm>
            <a:off x="536244" y="513968"/>
            <a:ext cx="2424430"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PHP Loops</a:t>
            </a:r>
            <a:endParaRPr sz="4000"/>
          </a:p>
        </p:txBody>
      </p:sp>
      <p:sp>
        <p:nvSpPr>
          <p:cNvPr id="515" name="Google Shape;515;p52"/>
          <p:cNvSpPr txBox="1"/>
          <p:nvPr/>
        </p:nvSpPr>
        <p:spPr>
          <a:xfrm>
            <a:off x="652068" y="1615820"/>
            <a:ext cx="7308850" cy="2911475"/>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while </a:t>
            </a:r>
            <a:r>
              <a:rPr lang="en-US" sz="2200">
                <a:solidFill>
                  <a:schemeClr val="dk1"/>
                </a:solidFill>
                <a:latin typeface="Calibri"/>
                <a:ea typeface="Calibri"/>
                <a:cs typeface="Calibri"/>
                <a:sym typeface="Calibri"/>
              </a:rPr>
              <a:t>- loops through a block of code as long as the specified</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condition is true</a:t>
            </a:r>
            <a:endParaRPr sz="2200">
              <a:solidFill>
                <a:schemeClr val="dk1"/>
              </a:solidFill>
              <a:latin typeface="Calibri"/>
              <a:ea typeface="Calibri"/>
              <a:cs typeface="Calibri"/>
              <a:sym typeface="Calibri"/>
            </a:endParaRPr>
          </a:p>
          <a:p>
            <a:pPr indent="-228600" lvl="0" marL="240665" marR="581025" rtl="0" algn="l">
              <a:lnSpc>
                <a:spcPct val="100000"/>
              </a:lnSpc>
              <a:spcBef>
                <a:spcPts val="535"/>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do...while </a:t>
            </a:r>
            <a:r>
              <a:rPr lang="en-US" sz="2200">
                <a:solidFill>
                  <a:schemeClr val="dk1"/>
                </a:solidFill>
                <a:latin typeface="Calibri"/>
                <a:ea typeface="Calibri"/>
                <a:cs typeface="Calibri"/>
                <a:sym typeface="Calibri"/>
              </a:rPr>
              <a:t>- loops through a block of code once, and then  repeats the loop as long as the specified condition is true</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for </a:t>
            </a:r>
            <a:r>
              <a:rPr lang="en-US" sz="2200">
                <a:solidFill>
                  <a:schemeClr val="dk1"/>
                </a:solidFill>
                <a:latin typeface="Calibri"/>
                <a:ea typeface="Calibri"/>
                <a:cs typeface="Calibri"/>
                <a:sym typeface="Calibri"/>
              </a:rPr>
              <a:t>- loops through a block of code a specified number of</a:t>
            </a:r>
            <a:endParaRPr sz="2200">
              <a:solidFill>
                <a:schemeClr val="dk1"/>
              </a:solidFill>
              <a:latin typeface="Calibri"/>
              <a:ea typeface="Calibri"/>
              <a:cs typeface="Calibri"/>
              <a:sym typeface="Calibri"/>
            </a:endParaRPr>
          </a:p>
          <a:p>
            <a:pPr indent="0" lvl="0" marL="240665" marR="0" rtl="0" algn="l">
              <a:lnSpc>
                <a:spcPct val="100000"/>
              </a:lnSpc>
              <a:spcBef>
                <a:spcPts val="5"/>
              </a:spcBef>
              <a:spcAft>
                <a:spcPts val="0"/>
              </a:spcAft>
              <a:buNone/>
            </a:pPr>
            <a:r>
              <a:rPr lang="en-US" sz="2200">
                <a:solidFill>
                  <a:schemeClr val="dk1"/>
                </a:solidFill>
                <a:latin typeface="Calibri"/>
                <a:ea typeface="Calibri"/>
                <a:cs typeface="Calibri"/>
                <a:sym typeface="Calibri"/>
              </a:rPr>
              <a:t>times</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foreach </a:t>
            </a:r>
            <a:r>
              <a:rPr lang="en-US" sz="2200">
                <a:solidFill>
                  <a:schemeClr val="dk1"/>
                </a:solidFill>
                <a:latin typeface="Calibri"/>
                <a:ea typeface="Calibri"/>
                <a:cs typeface="Calibri"/>
                <a:sym typeface="Calibri"/>
              </a:rPr>
              <a:t>- loops through a block of code for each element in an</a:t>
            </a:r>
            <a:endParaRPr sz="2200">
              <a:solidFill>
                <a:schemeClr val="dk1"/>
              </a:solidFill>
              <a:latin typeface="Calibri"/>
              <a:ea typeface="Calibri"/>
              <a:cs typeface="Calibri"/>
              <a:sym typeface="Calibri"/>
            </a:endParaRPr>
          </a:p>
          <a:p>
            <a:pPr indent="0" lvl="0" marL="240665" marR="0" rtl="0" algn="l">
              <a:lnSpc>
                <a:spcPct val="100000"/>
              </a:lnSpc>
              <a:spcBef>
                <a:spcPts val="5"/>
              </a:spcBef>
              <a:spcAft>
                <a:spcPts val="0"/>
              </a:spcAft>
              <a:buNone/>
            </a:pPr>
            <a:r>
              <a:rPr lang="en-US" sz="2200">
                <a:solidFill>
                  <a:schemeClr val="dk1"/>
                </a:solidFill>
                <a:latin typeface="Calibri"/>
                <a:ea typeface="Calibri"/>
                <a:cs typeface="Calibri"/>
                <a:sym typeface="Calibri"/>
              </a:rPr>
              <a:t>array</a:t>
            </a:r>
            <a:endParaRPr sz="2200">
              <a:solidFill>
                <a:schemeClr val="dk1"/>
              </a:solidFill>
              <a:latin typeface="Calibri"/>
              <a:ea typeface="Calibri"/>
              <a:cs typeface="Calibri"/>
              <a:sym typeface="Calibri"/>
            </a:endParaRPr>
          </a:p>
        </p:txBody>
      </p:sp>
      <p:sp>
        <p:nvSpPr>
          <p:cNvPr id="516" name="Google Shape;516;p52"/>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52"/>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52"/>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3"/>
          <p:cNvSpPr txBox="1"/>
          <p:nvPr>
            <p:ph type="title"/>
          </p:nvPr>
        </p:nvSpPr>
        <p:spPr>
          <a:xfrm>
            <a:off x="707542" y="373837"/>
            <a:ext cx="2220595" cy="5746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solidFill>
                  <a:srgbClr val="C00000"/>
                </a:solidFill>
              </a:rPr>
              <a:t>while Loop</a:t>
            </a:r>
            <a:endParaRPr sz="3600"/>
          </a:p>
        </p:txBody>
      </p:sp>
      <p:sp>
        <p:nvSpPr>
          <p:cNvPr id="524" name="Google Shape;524;p53"/>
          <p:cNvSpPr txBox="1"/>
          <p:nvPr/>
        </p:nvSpPr>
        <p:spPr>
          <a:xfrm>
            <a:off x="536244" y="1582293"/>
            <a:ext cx="3677285" cy="3683000"/>
          </a:xfrm>
          <a:prstGeom prst="rect">
            <a:avLst/>
          </a:prstGeom>
          <a:noFill/>
          <a:ln>
            <a:noFill/>
          </a:ln>
        </p:spPr>
        <p:txBody>
          <a:bodyPr anchorCtr="0" anchor="t" bIns="0" lIns="0" spcFirstLastPara="1" rIns="0" wrap="square" tIns="13325">
            <a:spAutoFit/>
          </a:bodyPr>
          <a:lstStyle/>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7954"/>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17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$x = 1;</a:t>
            </a:r>
            <a:endParaRPr sz="22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17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rgbClr val="006FC0"/>
                </a:solidFill>
                <a:latin typeface="Calibri"/>
                <a:ea typeface="Calibri"/>
                <a:cs typeface="Calibri"/>
                <a:sym typeface="Calibri"/>
              </a:rPr>
              <a:t>while($x &lt;= 5) {</a:t>
            </a:r>
            <a:endParaRPr sz="2200">
              <a:solidFill>
                <a:schemeClr val="dk1"/>
              </a:solidFill>
              <a:latin typeface="Calibri"/>
              <a:ea typeface="Calibri"/>
              <a:cs typeface="Calibri"/>
              <a:sym typeface="Calibri"/>
            </a:endParaRPr>
          </a:p>
          <a:p>
            <a:pPr indent="0" lvl="0" marL="140335" marR="0" rtl="0" algn="l">
              <a:lnSpc>
                <a:spcPct val="108181"/>
              </a:lnSpc>
              <a:spcBef>
                <a:spcPts val="0"/>
              </a:spcBef>
              <a:spcAft>
                <a:spcPts val="0"/>
              </a:spcAft>
              <a:buNone/>
            </a:pPr>
            <a:r>
              <a:rPr lang="en-US" sz="2200">
                <a:solidFill>
                  <a:srgbClr val="006FC0"/>
                </a:solidFill>
                <a:latin typeface="Calibri"/>
                <a:ea typeface="Calibri"/>
                <a:cs typeface="Calibri"/>
                <a:sym typeface="Calibri"/>
              </a:rPr>
              <a:t>echo "The number is: $x &lt;br&gt;";</a:t>
            </a:r>
            <a:endParaRPr sz="2200">
              <a:solidFill>
                <a:schemeClr val="dk1"/>
              </a:solidFill>
              <a:latin typeface="Calibri"/>
              <a:ea typeface="Calibri"/>
              <a:cs typeface="Calibri"/>
              <a:sym typeface="Calibri"/>
            </a:endParaRPr>
          </a:p>
          <a:p>
            <a:pPr indent="0" lvl="0" marL="140335" marR="0" rtl="0" algn="l">
              <a:lnSpc>
                <a:spcPct val="107954"/>
              </a:lnSpc>
              <a:spcBef>
                <a:spcPts val="0"/>
              </a:spcBef>
              <a:spcAft>
                <a:spcPts val="0"/>
              </a:spcAft>
              <a:buNone/>
            </a:pPr>
            <a:r>
              <a:rPr lang="en-US" sz="2200">
                <a:solidFill>
                  <a:srgbClr val="006FC0"/>
                </a:solidFill>
                <a:latin typeface="Calibri"/>
                <a:ea typeface="Calibri"/>
                <a:cs typeface="Calibri"/>
                <a:sym typeface="Calibri"/>
              </a:rPr>
              <a:t>$x++;</a:t>
            </a:r>
            <a:endParaRPr sz="2200">
              <a:solidFill>
                <a:schemeClr val="dk1"/>
              </a:solidFill>
              <a:latin typeface="Calibri"/>
              <a:ea typeface="Calibri"/>
              <a:cs typeface="Calibri"/>
              <a:sym typeface="Calibri"/>
            </a:endParaRPr>
          </a:p>
          <a:p>
            <a:pPr indent="0" lvl="0" marL="12700" marR="0" rtl="0" algn="l">
              <a:lnSpc>
                <a:spcPct val="107954"/>
              </a:lnSpc>
              <a:spcBef>
                <a:spcPts val="0"/>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525" name="Google Shape;525;p53"/>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53"/>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53"/>
          <p:cNvSpPr txBox="1"/>
          <p:nvPr/>
        </p:nvSpPr>
        <p:spPr>
          <a:xfrm>
            <a:off x="536244" y="5577027"/>
            <a:ext cx="984885" cy="607695"/>
          </a:xfrm>
          <a:prstGeom prst="rect">
            <a:avLst/>
          </a:prstGeom>
          <a:noFill/>
          <a:ln>
            <a:noFill/>
          </a:ln>
        </p:spPr>
        <p:txBody>
          <a:bodyPr anchorCtr="0" anchor="t" bIns="0" lIns="0" spcFirstLastPara="1" rIns="0" wrap="square" tIns="0">
            <a:spAutoFit/>
          </a:bodyPr>
          <a:lstStyle/>
          <a:p>
            <a:pPr indent="0" lvl="0" marL="12700" marR="0" rtl="0" algn="l">
              <a:lnSpc>
                <a:spcPct val="93863"/>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528" name="Google Shape;528;p53"/>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txBox="1"/>
          <p:nvPr>
            <p:ph type="title"/>
          </p:nvPr>
        </p:nvSpPr>
        <p:spPr>
          <a:xfrm>
            <a:off x="536244" y="114122"/>
            <a:ext cx="388048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solidFill>
                  <a:srgbClr val="C00000"/>
                </a:solidFill>
              </a:rPr>
              <a:t>do...while Loop</a:t>
            </a:r>
            <a:endParaRPr/>
          </a:p>
        </p:txBody>
      </p:sp>
      <p:sp>
        <p:nvSpPr>
          <p:cNvPr id="534" name="Google Shape;534;p54"/>
          <p:cNvSpPr txBox="1"/>
          <p:nvPr/>
        </p:nvSpPr>
        <p:spPr>
          <a:xfrm>
            <a:off x="536244" y="1582293"/>
            <a:ext cx="3804920" cy="3683000"/>
          </a:xfrm>
          <a:prstGeom prst="rect">
            <a:avLst/>
          </a:prstGeom>
          <a:noFill/>
          <a:ln>
            <a:noFill/>
          </a:ln>
        </p:spPr>
        <p:txBody>
          <a:bodyPr anchorCtr="0" anchor="t" bIns="0" lIns="0" spcFirstLastPara="1" rIns="0" wrap="square" tIns="13325">
            <a:spAutoFit/>
          </a:bodyPr>
          <a:lstStyle/>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7954"/>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17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$x = 1;</a:t>
            </a:r>
            <a:endParaRPr sz="2200">
              <a:solidFill>
                <a:schemeClr val="dk1"/>
              </a:solidFill>
              <a:latin typeface="Calibri"/>
              <a:ea typeface="Calibri"/>
              <a:cs typeface="Calibri"/>
              <a:sym typeface="Calibri"/>
            </a:endParaRPr>
          </a:p>
          <a:p>
            <a:pPr indent="0" lvl="0" marL="0" marR="0" rtl="0" algn="l">
              <a:lnSpc>
                <a:spcPct val="100000"/>
              </a:lnSpc>
              <a:spcBef>
                <a:spcPts val="40"/>
              </a:spcBef>
              <a:spcAft>
                <a:spcPts val="0"/>
              </a:spcAft>
              <a:buNone/>
            </a:pPr>
            <a:r>
              <a:t/>
            </a:r>
            <a:endParaRPr sz="17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rgbClr val="006FC0"/>
                </a:solidFill>
                <a:latin typeface="Calibri"/>
                <a:ea typeface="Calibri"/>
                <a:cs typeface="Calibri"/>
                <a:sym typeface="Calibri"/>
              </a:rPr>
              <a:t>do {</a:t>
            </a:r>
            <a:endParaRPr sz="2200">
              <a:solidFill>
                <a:schemeClr val="dk1"/>
              </a:solidFill>
              <a:latin typeface="Calibri"/>
              <a:ea typeface="Calibri"/>
              <a:cs typeface="Calibri"/>
              <a:sym typeface="Calibri"/>
            </a:endParaRPr>
          </a:p>
          <a:p>
            <a:pPr indent="0" lvl="0" marL="265430" marR="0" rtl="0" algn="l">
              <a:lnSpc>
                <a:spcPct val="108181"/>
              </a:lnSpc>
              <a:spcBef>
                <a:spcPts val="0"/>
              </a:spcBef>
              <a:spcAft>
                <a:spcPts val="0"/>
              </a:spcAft>
              <a:buNone/>
            </a:pPr>
            <a:r>
              <a:rPr lang="en-US" sz="2200">
                <a:solidFill>
                  <a:srgbClr val="006FC0"/>
                </a:solidFill>
                <a:latin typeface="Calibri"/>
                <a:ea typeface="Calibri"/>
                <a:cs typeface="Calibri"/>
                <a:sym typeface="Calibri"/>
              </a:rPr>
              <a:t>echo "The number is: $x &lt;br&gt;";</a:t>
            </a:r>
            <a:endParaRPr sz="2200">
              <a:solidFill>
                <a:schemeClr val="dk1"/>
              </a:solidFill>
              <a:latin typeface="Calibri"/>
              <a:ea typeface="Calibri"/>
              <a:cs typeface="Calibri"/>
              <a:sym typeface="Calibri"/>
            </a:endParaRPr>
          </a:p>
          <a:p>
            <a:pPr indent="0" lvl="0" marL="265430" marR="0" rtl="0" algn="l">
              <a:lnSpc>
                <a:spcPct val="107954"/>
              </a:lnSpc>
              <a:spcBef>
                <a:spcPts val="0"/>
              </a:spcBef>
              <a:spcAft>
                <a:spcPts val="0"/>
              </a:spcAft>
              <a:buNone/>
            </a:pPr>
            <a:r>
              <a:rPr lang="en-US" sz="2200">
                <a:solidFill>
                  <a:srgbClr val="006FC0"/>
                </a:solidFill>
                <a:latin typeface="Calibri"/>
                <a:ea typeface="Calibri"/>
                <a:cs typeface="Calibri"/>
                <a:sym typeface="Calibri"/>
              </a:rPr>
              <a:t>$x++;</a:t>
            </a:r>
            <a:endParaRPr sz="2200">
              <a:solidFill>
                <a:schemeClr val="dk1"/>
              </a:solidFill>
              <a:latin typeface="Calibri"/>
              <a:ea typeface="Calibri"/>
              <a:cs typeface="Calibri"/>
              <a:sym typeface="Calibri"/>
            </a:endParaRPr>
          </a:p>
          <a:p>
            <a:pPr indent="0" lvl="0" marL="12700" marR="0" rtl="0" algn="l">
              <a:lnSpc>
                <a:spcPct val="107954"/>
              </a:lnSpc>
              <a:spcBef>
                <a:spcPts val="0"/>
              </a:spcBef>
              <a:spcAft>
                <a:spcPts val="0"/>
              </a:spcAft>
              <a:buNone/>
            </a:pPr>
            <a:r>
              <a:rPr lang="en-US" sz="2200">
                <a:solidFill>
                  <a:srgbClr val="006FC0"/>
                </a:solidFill>
                <a:latin typeface="Calibri"/>
                <a:ea typeface="Calibri"/>
                <a:cs typeface="Calibri"/>
                <a:sym typeface="Calibri"/>
              </a:rPr>
              <a:t>} while ($x &lt;= 5);</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535" name="Google Shape;535;p54"/>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54"/>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54"/>
          <p:cNvSpPr txBox="1"/>
          <p:nvPr/>
        </p:nvSpPr>
        <p:spPr>
          <a:xfrm>
            <a:off x="536244" y="5577027"/>
            <a:ext cx="984885" cy="607695"/>
          </a:xfrm>
          <a:prstGeom prst="rect">
            <a:avLst/>
          </a:prstGeom>
          <a:noFill/>
          <a:ln>
            <a:noFill/>
          </a:ln>
        </p:spPr>
        <p:txBody>
          <a:bodyPr anchorCtr="0" anchor="t" bIns="0" lIns="0" spcFirstLastPara="1" rIns="0" wrap="square" tIns="0">
            <a:spAutoFit/>
          </a:bodyPr>
          <a:lstStyle/>
          <a:p>
            <a:pPr indent="0" lvl="0" marL="12700" marR="0" rtl="0" algn="l">
              <a:lnSpc>
                <a:spcPct val="93863"/>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538" name="Google Shape;538;p54"/>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5"/>
          <p:cNvSpPr txBox="1"/>
          <p:nvPr>
            <p:ph type="title"/>
          </p:nvPr>
        </p:nvSpPr>
        <p:spPr>
          <a:xfrm>
            <a:off x="536244" y="114122"/>
            <a:ext cx="219837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solidFill>
                  <a:srgbClr val="C00000"/>
                </a:solidFill>
              </a:rPr>
              <a:t>for Loop</a:t>
            </a:r>
            <a:endParaRPr/>
          </a:p>
        </p:txBody>
      </p:sp>
      <p:sp>
        <p:nvSpPr>
          <p:cNvPr id="544" name="Google Shape;544;p55"/>
          <p:cNvSpPr txBox="1"/>
          <p:nvPr/>
        </p:nvSpPr>
        <p:spPr>
          <a:xfrm>
            <a:off x="536244" y="1615820"/>
            <a:ext cx="3676650" cy="3716654"/>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rgbClr val="006FC0"/>
                </a:solidFill>
                <a:latin typeface="Calibri"/>
                <a:ea typeface="Calibri"/>
                <a:cs typeface="Calibri"/>
                <a:sym typeface="Calibri"/>
              </a:rPr>
              <a:t>for ($x = 0; $x &lt;= 10; $x++) {</a:t>
            </a:r>
            <a:endParaRPr sz="2200">
              <a:solidFill>
                <a:schemeClr val="dk1"/>
              </a:solidFill>
              <a:latin typeface="Calibri"/>
              <a:ea typeface="Calibri"/>
              <a:cs typeface="Calibri"/>
              <a:sym typeface="Calibri"/>
            </a:endParaRPr>
          </a:p>
          <a:p>
            <a:pPr indent="0" lvl="0" marL="140335" marR="0" rtl="0" algn="l">
              <a:lnSpc>
                <a:spcPct val="100000"/>
              </a:lnSpc>
              <a:spcBef>
                <a:spcPts val="5"/>
              </a:spcBef>
              <a:spcAft>
                <a:spcPts val="0"/>
              </a:spcAft>
              <a:buNone/>
            </a:pPr>
            <a:r>
              <a:rPr lang="en-US" sz="2200">
                <a:solidFill>
                  <a:srgbClr val="006FC0"/>
                </a:solidFill>
                <a:latin typeface="Calibri"/>
                <a:ea typeface="Calibri"/>
                <a:cs typeface="Calibri"/>
                <a:sym typeface="Calibri"/>
              </a:rPr>
              <a:t>echo "The number is: $x &lt;br&gt;";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rgbClr val="006FC0"/>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p:txBody>
      </p:sp>
      <p:sp>
        <p:nvSpPr>
          <p:cNvPr id="545" name="Google Shape;545;p55"/>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55"/>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55"/>
          <p:cNvSpPr txBox="1"/>
          <p:nvPr/>
        </p:nvSpPr>
        <p:spPr>
          <a:xfrm>
            <a:off x="707542" y="5502275"/>
            <a:ext cx="850265" cy="278765"/>
          </a:xfrm>
          <a:prstGeom prst="rect">
            <a:avLst/>
          </a:prstGeom>
          <a:noFill/>
          <a:ln>
            <a:noFill/>
          </a:ln>
        </p:spPr>
        <p:txBody>
          <a:bodyPr anchorCtr="0" anchor="t" bIns="0" lIns="0" spcFirstLastPara="1" rIns="0" wrap="square" tIns="0">
            <a:spAutoFit/>
          </a:bodyPr>
          <a:lstStyle/>
          <a:p>
            <a:pPr indent="0" lvl="0" marL="12700" marR="0" rtl="0" algn="l">
              <a:lnSpc>
                <a:spcPct val="9975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p:txBody>
      </p:sp>
      <p:sp>
        <p:nvSpPr>
          <p:cNvPr id="548" name="Google Shape;548;p55"/>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6"/>
          <p:cNvSpPr txBox="1"/>
          <p:nvPr>
            <p:ph type="title"/>
          </p:nvPr>
        </p:nvSpPr>
        <p:spPr>
          <a:xfrm>
            <a:off x="175360" y="-16306"/>
            <a:ext cx="5996839" cy="1540306"/>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Types of array in PHP</a:t>
            </a:r>
            <a:endParaRPr/>
          </a:p>
        </p:txBody>
      </p:sp>
      <p:sp>
        <p:nvSpPr>
          <p:cNvPr id="554" name="Google Shape;554;p56"/>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555" name="Google Shape;555;p56"/>
          <p:cNvPicPr preferRelativeResize="0"/>
          <p:nvPr/>
        </p:nvPicPr>
        <p:blipFill rotWithShape="1">
          <a:blip r:embed="rId3">
            <a:alphaModFix/>
          </a:blip>
          <a:srcRect b="0" l="0" r="0" t="0"/>
          <a:stretch/>
        </p:blipFill>
        <p:spPr>
          <a:xfrm>
            <a:off x="685800" y="1752600"/>
            <a:ext cx="6848475" cy="30575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8"/>
          <p:cNvSpPr txBox="1"/>
          <p:nvPr>
            <p:ph type="title"/>
          </p:nvPr>
        </p:nvSpPr>
        <p:spPr>
          <a:xfrm>
            <a:off x="536244" y="464897"/>
            <a:ext cx="7312356" cy="506549"/>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3200">
                <a:solidFill>
                  <a:srgbClr val="C00000"/>
                </a:solidFill>
              </a:rPr>
              <a:t>foreach loop for Associative array:</a:t>
            </a:r>
            <a:endParaRPr sz="3200">
              <a:solidFill>
                <a:srgbClr val="C00000"/>
              </a:solidFill>
            </a:endParaRPr>
          </a:p>
        </p:txBody>
      </p:sp>
      <p:sp>
        <p:nvSpPr>
          <p:cNvPr id="561" name="Google Shape;561;p58"/>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58"/>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58"/>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pic>
        <p:nvPicPr>
          <p:cNvPr id="564" name="Google Shape;564;p58"/>
          <p:cNvPicPr preferRelativeResize="0"/>
          <p:nvPr/>
        </p:nvPicPr>
        <p:blipFill rotWithShape="1">
          <a:blip r:embed="rId3">
            <a:alphaModFix/>
          </a:blip>
          <a:srcRect b="0" l="0" r="0" t="0"/>
          <a:stretch/>
        </p:blipFill>
        <p:spPr>
          <a:xfrm>
            <a:off x="609600" y="1143000"/>
            <a:ext cx="3629408" cy="3200400"/>
          </a:xfrm>
          <a:prstGeom prst="rect">
            <a:avLst/>
          </a:prstGeom>
          <a:noFill/>
          <a:ln>
            <a:noFill/>
          </a:ln>
        </p:spPr>
      </p:pic>
      <p:pic>
        <p:nvPicPr>
          <p:cNvPr id="565" name="Google Shape;565;p58"/>
          <p:cNvPicPr preferRelativeResize="0"/>
          <p:nvPr/>
        </p:nvPicPr>
        <p:blipFill rotWithShape="1">
          <a:blip r:embed="rId4">
            <a:alphaModFix/>
          </a:blip>
          <a:srcRect b="0" l="0" r="0" t="0"/>
          <a:stretch/>
        </p:blipFill>
        <p:spPr>
          <a:xfrm>
            <a:off x="4495800" y="1143000"/>
            <a:ext cx="3329188" cy="3352800"/>
          </a:xfrm>
          <a:prstGeom prst="rect">
            <a:avLst/>
          </a:prstGeom>
          <a:noFill/>
          <a:ln>
            <a:noFill/>
          </a:ln>
        </p:spPr>
      </p:pic>
      <p:pic>
        <p:nvPicPr>
          <p:cNvPr id="566" name="Google Shape;566;p58"/>
          <p:cNvPicPr preferRelativeResize="0"/>
          <p:nvPr/>
        </p:nvPicPr>
        <p:blipFill rotWithShape="1">
          <a:blip r:embed="rId5">
            <a:alphaModFix/>
          </a:blip>
          <a:srcRect b="0" l="0" r="0" t="0"/>
          <a:stretch/>
        </p:blipFill>
        <p:spPr>
          <a:xfrm>
            <a:off x="4876800" y="4724840"/>
            <a:ext cx="2134973" cy="1438538"/>
          </a:xfrm>
          <a:prstGeom prst="rect">
            <a:avLst/>
          </a:prstGeom>
          <a:noFill/>
          <a:ln>
            <a:noFill/>
          </a:ln>
        </p:spPr>
      </p:pic>
      <p:pic>
        <p:nvPicPr>
          <p:cNvPr id="567" name="Google Shape;567;p58"/>
          <p:cNvPicPr preferRelativeResize="0"/>
          <p:nvPr/>
        </p:nvPicPr>
        <p:blipFill rotWithShape="1">
          <a:blip r:embed="rId6">
            <a:alphaModFix/>
          </a:blip>
          <a:srcRect b="0" l="0" r="0" t="0"/>
          <a:stretch/>
        </p:blipFill>
        <p:spPr>
          <a:xfrm>
            <a:off x="1186054" y="4605646"/>
            <a:ext cx="1557146" cy="1676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1000"/>
                                        <p:tgtEl>
                                          <p:spTgt spid="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10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57"/>
          <p:cNvSpPr txBox="1"/>
          <p:nvPr>
            <p:ph type="title"/>
          </p:nvPr>
        </p:nvSpPr>
        <p:spPr>
          <a:xfrm>
            <a:off x="536244" y="464896"/>
            <a:ext cx="3241675"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solidFill>
                  <a:srgbClr val="C00000"/>
                </a:solidFill>
              </a:rPr>
              <a:t>foreach loop</a:t>
            </a:r>
            <a:endParaRPr/>
          </a:p>
        </p:txBody>
      </p:sp>
      <p:sp>
        <p:nvSpPr>
          <p:cNvPr id="573" name="Google Shape;573;p57"/>
          <p:cNvSpPr txBox="1"/>
          <p:nvPr/>
        </p:nvSpPr>
        <p:spPr>
          <a:xfrm>
            <a:off x="707542" y="1413713"/>
            <a:ext cx="7272655" cy="4110990"/>
          </a:xfrm>
          <a:prstGeom prst="rect">
            <a:avLst/>
          </a:prstGeom>
          <a:noFill/>
          <a:ln>
            <a:noFill/>
          </a:ln>
        </p:spPr>
        <p:txBody>
          <a:bodyPr anchorCtr="0" anchor="t" bIns="0" lIns="0" spcFirstLastPara="1" rIns="0" wrap="square" tIns="12050">
            <a:spAutoFit/>
          </a:bodyPr>
          <a:lstStyle/>
          <a:p>
            <a:pPr indent="-229235" lvl="0" marL="356870" marR="0" rtl="0" algn="l">
              <a:lnSpc>
                <a:spcPct val="108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The foreach loop works </a:t>
            </a:r>
            <a:r>
              <a:rPr b="1" lang="en-US" sz="2000">
                <a:solidFill>
                  <a:srgbClr val="FF0000"/>
                </a:solidFill>
                <a:latin typeface="Calibri"/>
                <a:ea typeface="Calibri"/>
                <a:cs typeface="Calibri"/>
                <a:sym typeface="Calibri"/>
              </a:rPr>
              <a:t>only on arrays</a:t>
            </a:r>
            <a:r>
              <a:rPr lang="en-US" sz="2000">
                <a:solidFill>
                  <a:schemeClr val="dk1"/>
                </a:solidFill>
                <a:latin typeface="Calibri"/>
                <a:ea typeface="Calibri"/>
                <a:cs typeface="Calibri"/>
                <a:sym typeface="Calibri"/>
              </a:rPr>
              <a:t>, and is used to loop through</a:t>
            </a:r>
            <a:endParaRPr sz="2000">
              <a:solidFill>
                <a:schemeClr val="dk1"/>
              </a:solidFill>
              <a:latin typeface="Calibri"/>
              <a:ea typeface="Calibri"/>
              <a:cs typeface="Calibri"/>
              <a:sym typeface="Calibri"/>
            </a:endParaRPr>
          </a:p>
          <a:p>
            <a:pPr indent="0" lvl="0" marL="356870" marR="0" rtl="0" algn="l">
              <a:lnSpc>
                <a:spcPct val="108000"/>
              </a:lnSpc>
              <a:spcBef>
                <a:spcPts val="0"/>
              </a:spcBef>
              <a:spcAft>
                <a:spcPts val="0"/>
              </a:spcAft>
              <a:buNone/>
            </a:pPr>
            <a:r>
              <a:rPr lang="en-US" sz="2000">
                <a:solidFill>
                  <a:schemeClr val="dk1"/>
                </a:solidFill>
                <a:latin typeface="Calibri"/>
                <a:ea typeface="Calibri"/>
                <a:cs typeface="Calibri"/>
                <a:sym typeface="Calibri"/>
              </a:rPr>
              <a:t>each key/value pair in an array.</a:t>
            </a:r>
            <a:endParaRPr sz="20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1950">
              <a:solidFill>
                <a:schemeClr val="dk1"/>
              </a:solidFill>
              <a:latin typeface="Calibri"/>
              <a:ea typeface="Calibri"/>
              <a:cs typeface="Calibri"/>
              <a:sym typeface="Calibri"/>
            </a:endParaRPr>
          </a:p>
          <a:p>
            <a:pPr indent="0" lvl="0" marL="12700" marR="0" rtl="0" algn="l">
              <a:lnSpc>
                <a:spcPct val="108000"/>
              </a:lnSpc>
              <a:spcBef>
                <a:spcPts val="5"/>
              </a:spcBef>
              <a:spcAft>
                <a:spcPts val="0"/>
              </a:spcAft>
              <a:buNone/>
            </a:pPr>
            <a:r>
              <a:rPr lang="en-US" sz="2000">
                <a:solidFill>
                  <a:schemeClr val="dk1"/>
                </a:solidFill>
                <a:latin typeface="Calibri"/>
                <a:ea typeface="Calibri"/>
                <a:cs typeface="Calibri"/>
                <a:sym typeface="Calibri"/>
              </a:rPr>
              <a:t>&lt;!DOCTYPE html&gt;</a:t>
            </a:r>
            <a:endParaRPr sz="2000">
              <a:solidFill>
                <a:schemeClr val="dk1"/>
              </a:solidFill>
              <a:latin typeface="Calibri"/>
              <a:ea typeface="Calibri"/>
              <a:cs typeface="Calibri"/>
              <a:sym typeface="Calibri"/>
            </a:endParaRPr>
          </a:p>
          <a:p>
            <a:pPr indent="0" lvl="0" marL="12700" marR="0" rtl="0" algn="l">
              <a:lnSpc>
                <a:spcPct val="96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12700" marR="0" rtl="0" algn="l">
              <a:lnSpc>
                <a:spcPct val="108000"/>
              </a:lnSpc>
              <a:spcBef>
                <a:spcPts val="144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rgbClr val="006FC0"/>
                </a:solidFill>
                <a:latin typeface="Calibri"/>
                <a:ea typeface="Calibri"/>
                <a:cs typeface="Calibri"/>
                <a:sym typeface="Calibri"/>
              </a:rPr>
              <a:t>$colors = array("red", "green", "blue", "yellow");</a:t>
            </a:r>
            <a:endParaRPr sz="2000">
              <a:solidFill>
                <a:schemeClr val="dk1"/>
              </a:solidFill>
              <a:latin typeface="Calibri"/>
              <a:ea typeface="Calibri"/>
              <a:cs typeface="Calibri"/>
              <a:sym typeface="Calibri"/>
            </a:endParaRPr>
          </a:p>
          <a:p>
            <a:pPr indent="0" lvl="0" marL="12700" marR="0" rtl="0" algn="l">
              <a:lnSpc>
                <a:spcPct val="108000"/>
              </a:lnSpc>
              <a:spcBef>
                <a:spcPts val="1445"/>
              </a:spcBef>
              <a:spcAft>
                <a:spcPts val="0"/>
              </a:spcAft>
              <a:buNone/>
            </a:pPr>
            <a:r>
              <a:rPr lang="en-US" sz="2000">
                <a:solidFill>
                  <a:srgbClr val="006FC0"/>
                </a:solidFill>
                <a:latin typeface="Calibri"/>
                <a:ea typeface="Calibri"/>
                <a:cs typeface="Calibri"/>
                <a:sym typeface="Calibri"/>
              </a:rPr>
              <a:t>foreach ($colors as $value) {</a:t>
            </a:r>
            <a:endParaRPr sz="2000">
              <a:solidFill>
                <a:schemeClr val="dk1"/>
              </a:solidFill>
              <a:latin typeface="Calibri"/>
              <a:ea typeface="Calibri"/>
              <a:cs typeface="Calibri"/>
              <a:sym typeface="Calibri"/>
            </a:endParaRPr>
          </a:p>
          <a:p>
            <a:pPr indent="0" lvl="0" marL="128270" marR="0" rtl="0" algn="l">
              <a:lnSpc>
                <a:spcPct val="96000"/>
              </a:lnSpc>
              <a:spcBef>
                <a:spcPts val="0"/>
              </a:spcBef>
              <a:spcAft>
                <a:spcPts val="0"/>
              </a:spcAft>
              <a:buNone/>
            </a:pPr>
            <a:r>
              <a:rPr lang="en-US" sz="2000">
                <a:solidFill>
                  <a:srgbClr val="006FC0"/>
                </a:solidFill>
                <a:latin typeface="Calibri"/>
                <a:ea typeface="Calibri"/>
                <a:cs typeface="Calibri"/>
                <a:sym typeface="Calibri"/>
              </a:rPr>
              <a:t>echo "$value &lt;br&gt;";</a:t>
            </a:r>
            <a:endParaRPr sz="2000">
              <a:solidFill>
                <a:schemeClr val="dk1"/>
              </a:solidFill>
              <a:latin typeface="Calibri"/>
              <a:ea typeface="Calibri"/>
              <a:cs typeface="Calibri"/>
              <a:sym typeface="Calibri"/>
            </a:endParaRPr>
          </a:p>
          <a:p>
            <a:pPr indent="0" lvl="0" marL="12700" marR="0" rtl="0" algn="l">
              <a:lnSpc>
                <a:spcPct val="96000"/>
              </a:lnSpc>
              <a:spcBef>
                <a:spcPts val="0"/>
              </a:spcBef>
              <a:spcAft>
                <a:spcPts val="0"/>
              </a:spcAft>
              <a:buNone/>
            </a:pPr>
            <a:r>
              <a:rPr lang="en-US" sz="2000">
                <a:solidFill>
                  <a:srgbClr val="006FC0"/>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700" marR="0" rtl="0" algn="l">
              <a:lnSpc>
                <a:spcPct val="108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12700" marR="0" rtl="0" algn="l">
              <a:lnSpc>
                <a:spcPct val="100000"/>
              </a:lnSpc>
              <a:spcBef>
                <a:spcPts val="144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p:txBody>
      </p:sp>
      <p:sp>
        <p:nvSpPr>
          <p:cNvPr id="574" name="Google Shape;574;p57"/>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57"/>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57"/>
          <p:cNvSpPr txBox="1"/>
          <p:nvPr/>
        </p:nvSpPr>
        <p:spPr>
          <a:xfrm>
            <a:off x="707542" y="5502275"/>
            <a:ext cx="850265" cy="278765"/>
          </a:xfrm>
          <a:prstGeom prst="rect">
            <a:avLst/>
          </a:prstGeom>
          <a:noFill/>
          <a:ln>
            <a:noFill/>
          </a:ln>
        </p:spPr>
        <p:txBody>
          <a:bodyPr anchorCtr="0" anchor="t" bIns="0" lIns="0" spcFirstLastPara="1" rIns="0" wrap="square" tIns="0">
            <a:spAutoFit/>
          </a:bodyPr>
          <a:lstStyle/>
          <a:p>
            <a:pPr indent="0" lvl="0" marL="12700" marR="0" rtl="0" algn="l">
              <a:lnSpc>
                <a:spcPct val="9975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p:txBody>
      </p:sp>
      <p:sp>
        <p:nvSpPr>
          <p:cNvPr id="577" name="Google Shape;577;p57"/>
          <p:cNvSpPr txBox="1"/>
          <p:nvPr>
            <p:ph idx="12" type="sldNum"/>
          </p:nvPr>
        </p:nvSpPr>
        <p:spPr>
          <a:xfrm>
            <a:off x="8655050" y="5741542"/>
            <a:ext cx="307975" cy="254635"/>
          </a:xfrm>
          <a:prstGeom prst="rect">
            <a:avLst/>
          </a:prstGeom>
          <a:noFill/>
          <a:ln>
            <a:noFill/>
          </a:ln>
        </p:spPr>
        <p:txBody>
          <a:bodyPr anchorCtr="0" anchor="t" bIns="0" lIns="0" spcFirstLastPara="1" rIns="0" wrap="square" tIns="0">
            <a:spAutoFit/>
          </a:bodyPr>
          <a:lstStyle/>
          <a:p>
            <a:pPr indent="0" lvl="0" marL="38100" rtl="0" algn="l">
              <a:lnSpc>
                <a:spcPct val="100555"/>
              </a:lnSpc>
              <a:spcBef>
                <a:spcPts val="0"/>
              </a:spcBef>
              <a:spcAft>
                <a:spcPts val="0"/>
              </a:spcAft>
              <a:buNone/>
            </a:pPr>
            <a:fld id="{00000000-1234-1234-1234-123412341234}" type="slidenum">
              <a:rPr lang="en-US"/>
              <a:t>‹#›</a:t>
            </a:fld>
            <a:endParaRPr/>
          </a:p>
        </p:txBody>
      </p:sp>
      <p:pic>
        <p:nvPicPr>
          <p:cNvPr id="578" name="Google Shape;578;p57"/>
          <p:cNvPicPr preferRelativeResize="0"/>
          <p:nvPr/>
        </p:nvPicPr>
        <p:blipFill rotWithShape="1">
          <a:blip r:embed="rId3">
            <a:alphaModFix/>
          </a:blip>
          <a:srcRect b="0" l="0" r="0" t="0"/>
          <a:stretch/>
        </p:blipFill>
        <p:spPr>
          <a:xfrm>
            <a:off x="3886200" y="2133600"/>
            <a:ext cx="3733800" cy="1061827"/>
          </a:xfrm>
          <a:prstGeom prst="rect">
            <a:avLst/>
          </a:prstGeom>
          <a:noFill/>
          <a:ln>
            <a:noFill/>
          </a:ln>
        </p:spPr>
      </p:pic>
      <p:pic>
        <p:nvPicPr>
          <p:cNvPr id="579" name="Google Shape;579;p57"/>
          <p:cNvPicPr preferRelativeResize="0"/>
          <p:nvPr/>
        </p:nvPicPr>
        <p:blipFill rotWithShape="1">
          <a:blip r:embed="rId4">
            <a:alphaModFix/>
          </a:blip>
          <a:srcRect b="0" l="0" r="0" t="0"/>
          <a:stretch/>
        </p:blipFill>
        <p:spPr>
          <a:xfrm>
            <a:off x="4471987" y="4267200"/>
            <a:ext cx="2562225" cy="1885950"/>
          </a:xfrm>
          <a:prstGeom prst="rect">
            <a:avLst/>
          </a:prstGeom>
          <a:noFill/>
          <a:ln cap="flat" cmpd="sng" w="9525">
            <a:solidFill>
              <a:srgbClr val="B2A0C7"/>
            </a:solidFill>
            <a:prstDash val="solid"/>
            <a:miter lim="800000"/>
            <a:headEnd len="sm" w="sm" type="none"/>
            <a:tailEnd len="sm" w="sm" type="none"/>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9"/>
          <p:cNvSpPr txBox="1"/>
          <p:nvPr>
            <p:ph type="title"/>
          </p:nvPr>
        </p:nvSpPr>
        <p:spPr>
          <a:xfrm>
            <a:off x="536244" y="513968"/>
            <a:ext cx="3277235"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PHP Functions</a:t>
            </a:r>
            <a:endParaRPr sz="4000"/>
          </a:p>
        </p:txBody>
      </p:sp>
      <p:sp>
        <p:nvSpPr>
          <p:cNvPr id="585" name="Google Shape;585;p59"/>
          <p:cNvSpPr txBox="1"/>
          <p:nvPr/>
        </p:nvSpPr>
        <p:spPr>
          <a:xfrm>
            <a:off x="1176324" y="5923508"/>
            <a:ext cx="2402205" cy="266700"/>
          </a:xfrm>
          <a:prstGeom prst="rect">
            <a:avLst/>
          </a:prstGeom>
          <a:noFill/>
          <a:ln>
            <a:noFill/>
          </a:ln>
        </p:spPr>
        <p:txBody>
          <a:bodyPr anchorCtr="0" anchor="t" bIns="0" lIns="0" spcFirstLastPara="1" rIns="0" wrap="square" tIns="0">
            <a:spAutoFit/>
          </a:bodyPr>
          <a:lstStyle/>
          <a:p>
            <a:pPr indent="0" lvl="0" marL="12700" marR="0" rtl="0" algn="l">
              <a:lnSpc>
                <a:spcPct val="100263"/>
              </a:lnSpc>
              <a:spcBef>
                <a:spcPts val="0"/>
              </a:spcBef>
              <a:spcAft>
                <a:spcPts val="0"/>
              </a:spcAft>
              <a:buNone/>
            </a:pPr>
            <a:r>
              <a:rPr lang="en-US" sz="1900">
                <a:solidFill>
                  <a:schemeClr val="dk1"/>
                </a:solidFill>
                <a:latin typeface="Calibri"/>
                <a:ea typeface="Calibri"/>
                <a:cs typeface="Calibri"/>
                <a:sym typeface="Calibri"/>
              </a:rPr>
              <a:t>in the form of functions.</a:t>
            </a:r>
            <a:endParaRPr sz="1900">
              <a:solidFill>
                <a:schemeClr val="dk1"/>
              </a:solidFill>
              <a:latin typeface="Calibri"/>
              <a:ea typeface="Calibri"/>
              <a:cs typeface="Calibri"/>
              <a:sym typeface="Calibri"/>
            </a:endParaRPr>
          </a:p>
        </p:txBody>
      </p:sp>
      <p:sp>
        <p:nvSpPr>
          <p:cNvPr id="586" name="Google Shape;586;p59"/>
          <p:cNvSpPr txBox="1"/>
          <p:nvPr/>
        </p:nvSpPr>
        <p:spPr>
          <a:xfrm>
            <a:off x="652068" y="1573149"/>
            <a:ext cx="7280275" cy="4373245"/>
          </a:xfrm>
          <a:prstGeom prst="rect">
            <a:avLst/>
          </a:prstGeom>
          <a:noFill/>
          <a:ln>
            <a:noFill/>
          </a:ln>
        </p:spPr>
        <p:txBody>
          <a:bodyPr anchorCtr="0" anchor="t" bIns="0" lIns="0" spcFirstLastPara="1" rIns="0" wrap="square" tIns="72375">
            <a:spAutoFit/>
          </a:bodyPr>
          <a:lstStyle/>
          <a:p>
            <a:pPr indent="-228600" lvl="0" marL="240665" marR="352425" rtl="0" algn="l">
              <a:lnSpc>
                <a:spcPct val="801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PHP function is a piece of code that can be reused many times. It  can take input as argument list and return value.	There are  </a:t>
            </a:r>
            <a:r>
              <a:rPr b="1" lang="en-US" sz="2000">
                <a:solidFill>
                  <a:srgbClr val="C00000"/>
                </a:solidFill>
                <a:latin typeface="Calibri"/>
                <a:ea typeface="Calibri"/>
                <a:cs typeface="Calibri"/>
                <a:sym typeface="Calibri"/>
              </a:rPr>
              <a:t>thousands of built-in functions in PHP</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228600" lvl="0" marL="241300" marR="0" rtl="0" algn="l">
              <a:lnSpc>
                <a:spcPct val="108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In PHP, we can define </a:t>
            </a:r>
            <a:r>
              <a:rPr b="1" lang="en-US" sz="2000">
                <a:solidFill>
                  <a:schemeClr val="dk1"/>
                </a:solidFill>
                <a:latin typeface="Calibri"/>
                <a:ea typeface="Calibri"/>
                <a:cs typeface="Calibri"/>
                <a:sym typeface="Calibri"/>
              </a:rPr>
              <a:t>Conditional function</a:t>
            </a:r>
            <a:r>
              <a:rPr lang="en-US" sz="2000">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Function within</a:t>
            </a:r>
            <a:endParaRPr sz="2000">
              <a:solidFill>
                <a:schemeClr val="dk1"/>
              </a:solidFill>
              <a:latin typeface="Calibri"/>
              <a:ea typeface="Calibri"/>
              <a:cs typeface="Calibri"/>
              <a:sym typeface="Calibri"/>
            </a:endParaRPr>
          </a:p>
          <a:p>
            <a:pPr indent="0" lvl="0" marL="240665" marR="0" rtl="0" algn="l">
              <a:lnSpc>
                <a:spcPct val="108000"/>
              </a:lnSpc>
              <a:spcBef>
                <a:spcPts val="0"/>
              </a:spcBef>
              <a:spcAft>
                <a:spcPts val="0"/>
              </a:spcAft>
              <a:buNone/>
            </a:pPr>
            <a:r>
              <a:rPr b="1" lang="en-US" sz="2000">
                <a:solidFill>
                  <a:schemeClr val="dk1"/>
                </a:solidFill>
                <a:latin typeface="Calibri"/>
                <a:ea typeface="Calibri"/>
                <a:cs typeface="Calibri"/>
                <a:sym typeface="Calibri"/>
              </a:rPr>
              <a:t>Function </a:t>
            </a:r>
            <a:r>
              <a:rPr lang="en-US" sz="2000">
                <a:solidFill>
                  <a:schemeClr val="dk1"/>
                </a:solidFill>
                <a:latin typeface="Calibri"/>
                <a:ea typeface="Calibri"/>
                <a:cs typeface="Calibri"/>
                <a:sym typeface="Calibri"/>
              </a:rPr>
              <a:t>and </a:t>
            </a:r>
            <a:r>
              <a:rPr b="1" lang="en-US" sz="2000">
                <a:solidFill>
                  <a:schemeClr val="dk1"/>
                </a:solidFill>
                <a:latin typeface="Calibri"/>
                <a:ea typeface="Calibri"/>
                <a:cs typeface="Calibri"/>
                <a:sym typeface="Calibri"/>
              </a:rPr>
              <a:t>Recursive function </a:t>
            </a:r>
            <a:r>
              <a:rPr lang="en-US" sz="2000">
                <a:solidFill>
                  <a:schemeClr val="dk1"/>
                </a:solidFill>
                <a:latin typeface="Calibri"/>
                <a:ea typeface="Calibri"/>
                <a:cs typeface="Calibri"/>
                <a:sym typeface="Calibri"/>
              </a:rPr>
              <a:t>also.</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Advantage of PHP Functions:</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Code Reusability</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228600" lvl="1" marL="536575" marR="5080" rtl="0" algn="l">
              <a:lnSpc>
                <a:spcPct val="95789"/>
              </a:lnSpc>
              <a:spcBef>
                <a:spcPts val="450"/>
              </a:spcBef>
              <a:spcAft>
                <a:spcPts val="0"/>
              </a:spcAft>
              <a:buClr>
                <a:srgbClr val="C0504D"/>
              </a:buClr>
              <a:buSzPts val="1900"/>
              <a:buFont typeface="Arial"/>
              <a:buChar char="•"/>
            </a:pPr>
            <a:r>
              <a:rPr b="0" i="0" lang="en-US" sz="1900" u="none" cap="none" strike="noStrike">
                <a:solidFill>
                  <a:schemeClr val="dk1"/>
                </a:solidFill>
                <a:latin typeface="Calibri"/>
                <a:ea typeface="Calibri"/>
                <a:cs typeface="Calibri"/>
                <a:sym typeface="Calibri"/>
              </a:rPr>
              <a:t>PHP functions are defined only once and can be invoked many times,  like in other programming languages.</a:t>
            </a:r>
            <a:endParaRPr b="0" i="0" sz="1900" u="none" cap="none" strike="noStrike">
              <a:solidFill>
                <a:schemeClr val="dk1"/>
              </a:solidFill>
              <a:latin typeface="Calibri"/>
              <a:ea typeface="Calibri"/>
              <a:cs typeface="Calibri"/>
              <a:sym typeface="Calibri"/>
            </a:endParaRPr>
          </a:p>
          <a:p>
            <a:pPr indent="-228600" lvl="0" marL="241300" marR="0" rtl="0" algn="l">
              <a:lnSpc>
                <a:spcPct val="11725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Less Code</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228600" lvl="1" marL="536575" marR="41910" rtl="0" algn="l">
              <a:lnSpc>
                <a:spcPct val="80000"/>
              </a:lnSpc>
              <a:spcBef>
                <a:spcPts val="459"/>
              </a:spcBef>
              <a:spcAft>
                <a:spcPts val="0"/>
              </a:spcAft>
              <a:buClr>
                <a:srgbClr val="C0504D"/>
              </a:buClr>
              <a:buSzPts val="1900"/>
              <a:buFont typeface="Arial"/>
              <a:buChar char="•"/>
            </a:pPr>
            <a:r>
              <a:rPr b="0" i="0" lang="en-US" sz="1900" u="none" cap="none" strike="noStrike">
                <a:solidFill>
                  <a:schemeClr val="dk1"/>
                </a:solidFill>
                <a:latin typeface="Calibri"/>
                <a:ea typeface="Calibri"/>
                <a:cs typeface="Calibri"/>
                <a:sym typeface="Calibri"/>
              </a:rPr>
              <a:t>It saves a lot of code because you don't need to write the logic many  times. By the use of function, you can write the logic only once and  reuse it.</a:t>
            </a:r>
            <a:endParaRPr b="0" i="0" sz="1900" u="none" cap="none" strike="noStrike">
              <a:solidFill>
                <a:schemeClr val="dk1"/>
              </a:solidFill>
              <a:latin typeface="Calibri"/>
              <a:ea typeface="Calibri"/>
              <a:cs typeface="Calibri"/>
              <a:sym typeface="Calibri"/>
            </a:endParaRPr>
          </a:p>
          <a:p>
            <a:pPr indent="-228600" lvl="0" marL="241300" marR="0" rtl="0" algn="l">
              <a:lnSpc>
                <a:spcPct val="11975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Easy to understand</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228600" lvl="1" marL="536575" marR="26034" rtl="0" algn="l">
              <a:lnSpc>
                <a:spcPct val="80000"/>
              </a:lnSpc>
              <a:spcBef>
                <a:spcPts val="464"/>
              </a:spcBef>
              <a:spcAft>
                <a:spcPts val="0"/>
              </a:spcAft>
              <a:buClr>
                <a:srgbClr val="C0504D"/>
              </a:buClr>
              <a:buSzPts val="1900"/>
              <a:buFont typeface="Arial"/>
              <a:buChar char="•"/>
            </a:pPr>
            <a:r>
              <a:rPr b="0" i="0" lang="en-US" sz="1900" u="none" cap="none" strike="noStrike">
                <a:solidFill>
                  <a:schemeClr val="dk1"/>
                </a:solidFill>
                <a:latin typeface="Calibri"/>
                <a:ea typeface="Calibri"/>
                <a:cs typeface="Calibri"/>
                <a:sym typeface="Calibri"/>
              </a:rPr>
              <a:t>PHP functions separate the programming logic. So it is easier to  understand the flow of the application because every logic is divided</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0"/>
          <p:cNvSpPr txBox="1"/>
          <p:nvPr>
            <p:ph type="title"/>
          </p:nvPr>
        </p:nvSpPr>
        <p:spPr>
          <a:xfrm>
            <a:off x="546608" y="369773"/>
            <a:ext cx="5328920" cy="6515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100"/>
              <a:t>User Defined Functions</a:t>
            </a:r>
            <a:endParaRPr sz="4100"/>
          </a:p>
        </p:txBody>
      </p:sp>
      <p:sp>
        <p:nvSpPr>
          <p:cNvPr id="592" name="Google Shape;592;p60"/>
          <p:cNvSpPr txBox="1"/>
          <p:nvPr/>
        </p:nvSpPr>
        <p:spPr>
          <a:xfrm>
            <a:off x="592023" y="1148587"/>
            <a:ext cx="7493000" cy="4353560"/>
          </a:xfrm>
          <a:prstGeom prst="rect">
            <a:avLst/>
          </a:prstGeom>
          <a:noFill/>
          <a:ln>
            <a:noFill/>
          </a:ln>
        </p:spPr>
        <p:txBody>
          <a:bodyPr anchorCtr="0" anchor="t" bIns="0" lIns="0" spcFirstLastPara="1" rIns="0" wrap="square" tIns="13325">
            <a:spAutoFit/>
          </a:bodyPr>
          <a:lstStyle/>
          <a:p>
            <a:pPr indent="-229235" lvl="0" marL="356870" marR="0" rtl="0" algn="l">
              <a:lnSpc>
                <a:spcPct val="11409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A function is a block of statements that can be used repeatedly</a:t>
            </a:r>
            <a:endParaRPr sz="2200">
              <a:solidFill>
                <a:schemeClr val="dk1"/>
              </a:solidFill>
              <a:latin typeface="Calibri"/>
              <a:ea typeface="Calibri"/>
              <a:cs typeface="Calibri"/>
              <a:sym typeface="Calibri"/>
            </a:endParaRPr>
          </a:p>
          <a:p>
            <a:pPr indent="0" lvl="0" marL="356870" marR="0" rtl="0" algn="l">
              <a:lnSpc>
                <a:spcPct val="114090"/>
              </a:lnSpc>
              <a:spcBef>
                <a:spcPts val="0"/>
              </a:spcBef>
              <a:spcAft>
                <a:spcPts val="0"/>
              </a:spcAft>
              <a:buNone/>
            </a:pPr>
            <a:r>
              <a:rPr lang="en-US" sz="2200">
                <a:solidFill>
                  <a:schemeClr val="dk1"/>
                </a:solidFill>
                <a:latin typeface="Calibri"/>
                <a:ea typeface="Calibri"/>
                <a:cs typeface="Calibri"/>
                <a:sym typeface="Calibri"/>
              </a:rPr>
              <a:t>in a program.</a:t>
            </a:r>
            <a:endParaRPr sz="2200">
              <a:solidFill>
                <a:schemeClr val="dk1"/>
              </a:solidFill>
              <a:latin typeface="Calibri"/>
              <a:ea typeface="Calibri"/>
              <a:cs typeface="Calibri"/>
              <a:sym typeface="Calibri"/>
            </a:endParaRPr>
          </a:p>
          <a:p>
            <a:pPr indent="-229235" lvl="0" marL="356870" marR="0" rtl="0" algn="l">
              <a:lnSpc>
                <a:spcPct val="100000"/>
              </a:lnSpc>
              <a:spcBef>
                <a:spcPts val="26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A function will not execute immediately when a page loads.</a:t>
            </a:r>
            <a:endParaRPr sz="2200">
              <a:solidFill>
                <a:schemeClr val="dk1"/>
              </a:solidFill>
              <a:latin typeface="Calibri"/>
              <a:ea typeface="Calibri"/>
              <a:cs typeface="Calibri"/>
              <a:sym typeface="Calibri"/>
            </a:endParaRPr>
          </a:p>
          <a:p>
            <a:pPr indent="-229235" lvl="0" marL="356870" marR="0" rtl="0" algn="l">
              <a:lnSpc>
                <a:spcPct val="100000"/>
              </a:lnSpc>
              <a:spcBef>
                <a:spcPts val="26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A function will be executed by a call to the function.</a:t>
            </a:r>
            <a:endParaRPr sz="2200">
              <a:solidFill>
                <a:schemeClr val="dk1"/>
              </a:solidFill>
              <a:latin typeface="Calibri"/>
              <a:ea typeface="Calibri"/>
              <a:cs typeface="Calibri"/>
              <a:sym typeface="Calibri"/>
            </a:endParaRPr>
          </a:p>
          <a:p>
            <a:pPr indent="0" lvl="0" marL="128270" marR="0" rtl="0" algn="l">
              <a:lnSpc>
                <a:spcPct val="100000"/>
              </a:lnSpc>
              <a:spcBef>
                <a:spcPts val="270"/>
              </a:spcBef>
              <a:spcAft>
                <a:spcPts val="0"/>
              </a:spcAft>
              <a:buNone/>
            </a:pPr>
            <a:r>
              <a:rPr b="1" lang="en-US" sz="2200" u="sng">
                <a:solidFill>
                  <a:srgbClr val="C00000"/>
                </a:solidFill>
                <a:latin typeface="Calibri"/>
                <a:ea typeface="Calibri"/>
                <a:cs typeface="Calibri"/>
                <a:sym typeface="Calibri"/>
              </a:rPr>
              <a:t>Call by value:</a:t>
            </a:r>
            <a:endParaRPr sz="2200">
              <a:solidFill>
                <a:schemeClr val="dk1"/>
              </a:solidFill>
              <a:latin typeface="Calibri"/>
              <a:ea typeface="Calibri"/>
              <a:cs typeface="Calibri"/>
              <a:sym typeface="Calibri"/>
            </a:endParaRPr>
          </a:p>
          <a:p>
            <a:pPr indent="0" lvl="0" marL="12700" marR="0" rtl="0" algn="l">
              <a:lnSpc>
                <a:spcPct val="100000"/>
              </a:lnSpc>
              <a:spcBef>
                <a:spcPts val="26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270"/>
              </a:spcBef>
              <a:spcAft>
                <a:spcPts val="0"/>
              </a:spcAft>
              <a:buNone/>
            </a:pPr>
            <a:r>
              <a:rPr lang="en-US" sz="2200">
                <a:solidFill>
                  <a:schemeClr val="dk1"/>
                </a:solidFill>
                <a:latin typeface="Calibri"/>
                <a:ea typeface="Calibri"/>
                <a:cs typeface="Calibri"/>
                <a:sym typeface="Calibri"/>
              </a:rPr>
              <a:t>function trialFunction($Name, $Marks)</a:t>
            </a:r>
            <a:endParaRPr sz="2200">
              <a:solidFill>
                <a:schemeClr val="dk1"/>
              </a:solidFill>
              <a:latin typeface="Calibri"/>
              <a:ea typeface="Calibri"/>
              <a:cs typeface="Calibri"/>
              <a:sym typeface="Calibri"/>
            </a:endParaRPr>
          </a:p>
          <a:p>
            <a:pPr indent="0" lvl="0" marL="127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265430" marR="0" rtl="0" algn="l">
              <a:lnSpc>
                <a:spcPct val="100000"/>
              </a:lnSpc>
              <a:spcBef>
                <a:spcPts val="265"/>
              </a:spcBef>
              <a:spcAft>
                <a:spcPts val="0"/>
              </a:spcAft>
              <a:buNone/>
            </a:pPr>
            <a:r>
              <a:rPr lang="en-US" sz="2200">
                <a:solidFill>
                  <a:schemeClr val="dk1"/>
                </a:solidFill>
                <a:latin typeface="Calibri"/>
                <a:ea typeface="Calibri"/>
                <a:cs typeface="Calibri"/>
                <a:sym typeface="Calibri"/>
              </a:rPr>
              <a:t>echo "$Name got $Marks .&lt;br&gt;";</a:t>
            </a:r>
            <a:endParaRPr sz="2200">
              <a:solidFill>
                <a:schemeClr val="dk1"/>
              </a:solidFill>
              <a:latin typeface="Calibri"/>
              <a:ea typeface="Calibri"/>
              <a:cs typeface="Calibri"/>
              <a:sym typeface="Calibri"/>
            </a:endParaRPr>
          </a:p>
          <a:p>
            <a:pPr indent="0" lvl="0" marL="127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trialFunction("Amit","97");</a:t>
            </a:r>
            <a:endParaRPr sz="2200">
              <a:solidFill>
                <a:schemeClr val="dk1"/>
              </a:solidFill>
              <a:latin typeface="Calibri"/>
              <a:ea typeface="Calibri"/>
              <a:cs typeface="Calibri"/>
              <a:sym typeface="Calibri"/>
            </a:endParaRPr>
          </a:p>
          <a:p>
            <a:pPr indent="0" lvl="0" marL="127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trialFunction("Ajay","78");</a:t>
            </a:r>
            <a:endParaRPr sz="2200">
              <a:solidFill>
                <a:schemeClr val="dk1"/>
              </a:solidFill>
              <a:latin typeface="Calibri"/>
              <a:ea typeface="Calibri"/>
              <a:cs typeface="Calibri"/>
              <a:sym typeface="Calibri"/>
            </a:endParaRPr>
          </a:p>
        </p:txBody>
      </p:sp>
      <p:sp>
        <p:nvSpPr>
          <p:cNvPr id="593" name="Google Shape;593;p60"/>
          <p:cNvSpPr txBox="1"/>
          <p:nvPr/>
        </p:nvSpPr>
        <p:spPr>
          <a:xfrm>
            <a:off x="592023" y="5508752"/>
            <a:ext cx="3051175" cy="3625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trialFunction("Zoya","83");</a:t>
            </a:r>
            <a:endParaRPr sz="2200">
              <a:solidFill>
                <a:schemeClr val="dk1"/>
              </a:solidFill>
              <a:latin typeface="Calibri"/>
              <a:ea typeface="Calibri"/>
              <a:cs typeface="Calibri"/>
              <a:sym typeface="Calibri"/>
            </a:endParaRPr>
          </a:p>
        </p:txBody>
      </p:sp>
      <p:sp>
        <p:nvSpPr>
          <p:cNvPr id="594" name="Google Shape;594;p60"/>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60"/>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60"/>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54</a:t>
            </a:r>
            <a:endParaRPr sz="1800">
              <a:solidFill>
                <a:schemeClr val="dk1"/>
              </a:solidFill>
              <a:latin typeface="Calibri"/>
              <a:ea typeface="Calibri"/>
              <a:cs typeface="Calibri"/>
              <a:sym typeface="Calibri"/>
            </a:endParaRPr>
          </a:p>
        </p:txBody>
      </p:sp>
      <p:sp>
        <p:nvSpPr>
          <p:cNvPr id="597" name="Google Shape;597;p60"/>
          <p:cNvSpPr txBox="1"/>
          <p:nvPr/>
        </p:nvSpPr>
        <p:spPr>
          <a:xfrm>
            <a:off x="652068" y="6078956"/>
            <a:ext cx="266065" cy="278765"/>
          </a:xfrm>
          <a:prstGeom prst="rect">
            <a:avLst/>
          </a:prstGeom>
          <a:noFill/>
          <a:ln>
            <a:noFill/>
          </a:ln>
        </p:spPr>
        <p:txBody>
          <a:bodyPr anchorCtr="0" anchor="t" bIns="0" lIns="0" spcFirstLastPara="1" rIns="0" wrap="square" tIns="0">
            <a:spAutoFit/>
          </a:bodyPr>
          <a:lstStyle/>
          <a:p>
            <a:pPr indent="0" lvl="0" marL="12700" marR="0" rtl="0" algn="l">
              <a:lnSpc>
                <a:spcPct val="9975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1"/>
          <p:cNvSpPr txBox="1"/>
          <p:nvPr>
            <p:ph type="title"/>
          </p:nvPr>
        </p:nvSpPr>
        <p:spPr>
          <a:xfrm>
            <a:off x="536244" y="547496"/>
            <a:ext cx="440372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Call By Reference</a:t>
            </a:r>
            <a:endParaRPr sz="3600"/>
          </a:p>
        </p:txBody>
      </p:sp>
      <p:sp>
        <p:nvSpPr>
          <p:cNvPr id="603" name="Google Shape;603;p61"/>
          <p:cNvSpPr txBox="1"/>
          <p:nvPr/>
        </p:nvSpPr>
        <p:spPr>
          <a:xfrm>
            <a:off x="652068" y="6078956"/>
            <a:ext cx="266065" cy="278765"/>
          </a:xfrm>
          <a:prstGeom prst="rect">
            <a:avLst/>
          </a:prstGeom>
          <a:noFill/>
          <a:ln>
            <a:noFill/>
          </a:ln>
        </p:spPr>
        <p:txBody>
          <a:bodyPr anchorCtr="0" anchor="t" bIns="0" lIns="0" spcFirstLastPara="1" rIns="0" wrap="square" tIns="0">
            <a:spAutoFit/>
          </a:bodyPr>
          <a:lstStyle/>
          <a:p>
            <a:pPr indent="0" lvl="0" marL="12700" marR="0" rtl="0" algn="l">
              <a:lnSpc>
                <a:spcPct val="9975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604" name="Google Shape;604;p61"/>
          <p:cNvSpPr txBox="1"/>
          <p:nvPr/>
        </p:nvSpPr>
        <p:spPr>
          <a:xfrm>
            <a:off x="652068" y="1564005"/>
            <a:ext cx="7272655" cy="3561715"/>
          </a:xfrm>
          <a:prstGeom prst="rect">
            <a:avLst/>
          </a:prstGeom>
          <a:noFill/>
          <a:ln>
            <a:noFill/>
          </a:ln>
        </p:spPr>
        <p:txBody>
          <a:bodyPr anchorCtr="0" anchor="t" bIns="0" lIns="0" spcFirstLastPara="1" rIns="0" wrap="square" tIns="11425">
            <a:spAutoFit/>
          </a:bodyPr>
          <a:lstStyle/>
          <a:p>
            <a:pPr indent="-228600" lvl="0" marL="241300" marR="0" rtl="0" algn="l">
              <a:lnSpc>
                <a:spcPct val="108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Value passed to the function doesn't modify the actual value by</a:t>
            </a:r>
            <a:endParaRPr sz="2000">
              <a:solidFill>
                <a:schemeClr val="dk1"/>
              </a:solidFill>
              <a:latin typeface="Calibri"/>
              <a:ea typeface="Calibri"/>
              <a:cs typeface="Calibri"/>
              <a:sym typeface="Calibri"/>
            </a:endParaRPr>
          </a:p>
          <a:p>
            <a:pPr indent="0" lvl="0" marL="240665" marR="0" rtl="0" algn="l">
              <a:lnSpc>
                <a:spcPct val="108000"/>
              </a:lnSpc>
              <a:spcBef>
                <a:spcPts val="0"/>
              </a:spcBef>
              <a:spcAft>
                <a:spcPts val="0"/>
              </a:spcAft>
              <a:buNone/>
            </a:pPr>
            <a:r>
              <a:rPr lang="en-US" sz="2000">
                <a:solidFill>
                  <a:schemeClr val="dk1"/>
                </a:solidFill>
                <a:latin typeface="Calibri"/>
                <a:ea typeface="Calibri"/>
                <a:cs typeface="Calibri"/>
                <a:sym typeface="Calibri"/>
              </a:rPr>
              <a:t>default (call by value).</a:t>
            </a:r>
            <a:endParaRPr sz="2000">
              <a:solidFill>
                <a:schemeClr val="dk1"/>
              </a:solidFill>
              <a:latin typeface="Calibri"/>
              <a:ea typeface="Calibri"/>
              <a:cs typeface="Calibri"/>
              <a:sym typeface="Calibri"/>
            </a:endParaRPr>
          </a:p>
          <a:p>
            <a:pPr indent="0" lvl="0" marL="811530" marR="0" rtl="0" algn="l">
              <a:lnSpc>
                <a:spcPct val="100000"/>
              </a:lnSpc>
              <a:spcBef>
                <a:spcPts val="5"/>
              </a:spcBef>
              <a:spcAft>
                <a:spcPts val="0"/>
              </a:spcAft>
              <a:buNone/>
            </a:pPr>
            <a:r>
              <a:rPr b="1" lang="en-US" sz="2000">
                <a:solidFill>
                  <a:srgbClr val="C00000"/>
                </a:solidFill>
                <a:latin typeface="Calibri"/>
                <a:ea typeface="Calibri"/>
                <a:cs typeface="Calibri"/>
                <a:sym typeface="Calibri"/>
              </a:rPr>
              <a:t>But we can do so by passing value as a reference.</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By default, value passed to the function is call by value.</a:t>
            </a:r>
            <a:endParaRPr sz="2000">
              <a:solidFill>
                <a:schemeClr val="dk1"/>
              </a:solidFill>
              <a:latin typeface="Calibri"/>
              <a:ea typeface="Calibri"/>
              <a:cs typeface="Calibri"/>
              <a:sym typeface="Calibri"/>
            </a:endParaRPr>
          </a:p>
          <a:p>
            <a:pPr indent="-228600" lvl="0" marL="240665" marR="5080" rtl="0" algn="l">
              <a:lnSpc>
                <a:spcPct val="80000"/>
              </a:lnSpc>
              <a:spcBef>
                <a:spcPts val="48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To pass value as a reference, you need to use ampersand (&amp;) symbol  before the argument name.</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u="sng">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function adder(&amp;$str2)</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000">
                <a:solidFill>
                  <a:schemeClr val="dk1"/>
                </a:solidFill>
                <a:latin typeface="Calibri"/>
                <a:ea typeface="Calibri"/>
                <a:cs typeface="Calibri"/>
                <a:sym typeface="Calibri"/>
              </a:rPr>
              <a:t>$str2 .= 'Call By Reference';</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605" name="Google Shape;605;p61"/>
          <p:cNvSpPr txBox="1"/>
          <p:nvPr/>
        </p:nvSpPr>
        <p:spPr>
          <a:xfrm>
            <a:off x="652068" y="5101208"/>
            <a:ext cx="1440180" cy="939165"/>
          </a:xfrm>
          <a:prstGeom prst="rect">
            <a:avLst/>
          </a:prstGeom>
          <a:noFill/>
          <a:ln>
            <a:noFill/>
          </a:ln>
        </p:spPr>
        <p:txBody>
          <a:bodyPr anchorCtr="0" anchor="t" bIns="0" lIns="0" spcFirstLastPara="1" rIns="0" wrap="square" tIns="11425">
            <a:spAutoFit/>
          </a:bodyPr>
          <a:lstStyle/>
          <a:p>
            <a:pPr indent="0" lvl="0" marL="12700" marR="5080" rtl="0" algn="l">
              <a:lnSpc>
                <a:spcPct val="100000"/>
              </a:lnSpc>
              <a:spcBef>
                <a:spcPts val="0"/>
              </a:spcBef>
              <a:spcAft>
                <a:spcPts val="0"/>
              </a:spcAft>
              <a:buNone/>
            </a:pPr>
            <a:r>
              <a:rPr lang="en-US" sz="2000">
                <a:solidFill>
                  <a:schemeClr val="dk1"/>
                </a:solidFill>
                <a:latin typeface="Calibri"/>
                <a:ea typeface="Calibri"/>
                <a:cs typeface="Calibri"/>
                <a:sym typeface="Calibri"/>
              </a:rPr>
              <a:t>$str = 'Hello ';  adder($str);  echo $str;</a:t>
            </a:r>
            <a:endParaRPr sz="2000">
              <a:solidFill>
                <a:schemeClr val="dk1"/>
              </a:solidFill>
              <a:latin typeface="Calibri"/>
              <a:ea typeface="Calibri"/>
              <a:cs typeface="Calibri"/>
              <a:sym typeface="Calibri"/>
            </a:endParaRPr>
          </a:p>
        </p:txBody>
      </p:sp>
      <p:sp>
        <p:nvSpPr>
          <p:cNvPr id="606" name="Google Shape;606;p61"/>
          <p:cNvSpPr txBox="1"/>
          <p:nvPr/>
        </p:nvSpPr>
        <p:spPr>
          <a:xfrm>
            <a:off x="5084445" y="5249113"/>
            <a:ext cx="2152650"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Hello Call By Reference</a:t>
            </a:r>
            <a:endParaRPr sz="18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2"/>
          <p:cNvSpPr txBox="1"/>
          <p:nvPr>
            <p:ph type="title"/>
          </p:nvPr>
        </p:nvSpPr>
        <p:spPr>
          <a:xfrm>
            <a:off x="536244" y="272618"/>
            <a:ext cx="6492875" cy="112331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3600"/>
              <a:t>PHP Function: Default Argument  Value</a:t>
            </a:r>
            <a:endParaRPr sz="3600"/>
          </a:p>
        </p:txBody>
      </p:sp>
      <p:sp>
        <p:nvSpPr>
          <p:cNvPr id="612" name="Google Shape;612;p62"/>
          <p:cNvSpPr txBox="1"/>
          <p:nvPr/>
        </p:nvSpPr>
        <p:spPr>
          <a:xfrm>
            <a:off x="652068" y="1549603"/>
            <a:ext cx="5100320" cy="460756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b="1" lang="en-US" sz="2200">
                <a:solidFill>
                  <a:schemeClr val="dk1"/>
                </a:solidFill>
                <a:latin typeface="Calibri"/>
                <a:ea typeface="Calibri"/>
                <a:cs typeface="Calibri"/>
                <a:sym typeface="Calibri"/>
              </a:rPr>
              <a:t>function </a:t>
            </a:r>
            <a:r>
              <a:rPr lang="en-US" sz="2200">
                <a:solidFill>
                  <a:schemeClr val="dk1"/>
                </a:solidFill>
                <a:latin typeface="Calibri"/>
                <a:ea typeface="Calibri"/>
                <a:cs typeface="Calibri"/>
                <a:sym typeface="Calibri"/>
              </a:rPr>
              <a:t>sayHello($name="Sonoo"){</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echo "Hello $name&lt;br/&gt;";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1796414" rtl="0" algn="l">
              <a:lnSpc>
                <a:spcPct val="144090"/>
              </a:lnSpc>
              <a:spcBef>
                <a:spcPts val="195"/>
              </a:spcBef>
              <a:spcAft>
                <a:spcPts val="0"/>
              </a:spcAft>
              <a:buNone/>
            </a:pPr>
            <a:r>
              <a:rPr lang="en-US" sz="2200">
                <a:solidFill>
                  <a:schemeClr val="dk1"/>
                </a:solidFill>
                <a:latin typeface="Calibri"/>
                <a:ea typeface="Calibri"/>
                <a:cs typeface="Calibri"/>
                <a:sym typeface="Calibri"/>
              </a:rPr>
              <a:t>sayHello("Rajesh");  sayHello();//passing no value  sayHello("John");</a:t>
            </a:r>
            <a:endParaRPr sz="2200">
              <a:solidFill>
                <a:schemeClr val="dk1"/>
              </a:solidFill>
              <a:latin typeface="Calibri"/>
              <a:ea typeface="Calibri"/>
              <a:cs typeface="Calibri"/>
              <a:sym typeface="Calibri"/>
            </a:endParaRPr>
          </a:p>
          <a:p>
            <a:pPr indent="0" lvl="0" marL="12700" marR="0" rtl="0" algn="l">
              <a:lnSpc>
                <a:spcPct val="100000"/>
              </a:lnSpc>
              <a:spcBef>
                <a:spcPts val="335"/>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700">
              <a:solidFill>
                <a:schemeClr val="dk1"/>
              </a:solidFill>
              <a:latin typeface="Calibri"/>
              <a:ea typeface="Calibri"/>
              <a:cs typeface="Calibri"/>
              <a:sym typeface="Calibri"/>
            </a:endParaRPr>
          </a:p>
          <a:p>
            <a:pPr indent="0" lvl="0" marL="3940809" marR="508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 </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Hello Rajesh  Hello Sonoo  Hello John</a:t>
            </a:r>
            <a:endParaRPr sz="1800">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3"/>
          <p:cNvSpPr txBox="1"/>
          <p:nvPr>
            <p:ph type="title"/>
          </p:nvPr>
        </p:nvSpPr>
        <p:spPr>
          <a:xfrm>
            <a:off x="536244" y="547496"/>
            <a:ext cx="613537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Function: Returning Value</a:t>
            </a:r>
            <a:endParaRPr sz="3600"/>
          </a:p>
        </p:txBody>
      </p:sp>
      <p:sp>
        <p:nvSpPr>
          <p:cNvPr id="618" name="Google Shape;618;p63"/>
          <p:cNvSpPr txBox="1"/>
          <p:nvPr/>
        </p:nvSpPr>
        <p:spPr>
          <a:xfrm>
            <a:off x="652068" y="1549603"/>
            <a:ext cx="3335020" cy="284353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b="1" lang="en-US" sz="2200">
                <a:solidFill>
                  <a:schemeClr val="dk1"/>
                </a:solidFill>
                <a:latin typeface="Calibri"/>
                <a:ea typeface="Calibri"/>
                <a:cs typeface="Calibri"/>
                <a:sym typeface="Calibri"/>
              </a:rPr>
              <a:t>function </a:t>
            </a:r>
            <a:r>
              <a:rPr lang="en-US" sz="2200">
                <a:solidFill>
                  <a:schemeClr val="dk1"/>
                </a:solidFill>
                <a:latin typeface="Calibri"/>
                <a:ea typeface="Calibri"/>
                <a:cs typeface="Calibri"/>
                <a:sym typeface="Calibri"/>
              </a:rPr>
              <a:t>cube($n)</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b="1" lang="en-US" sz="2200">
                <a:solidFill>
                  <a:schemeClr val="dk1"/>
                </a:solidFill>
                <a:latin typeface="Calibri"/>
                <a:ea typeface="Calibri"/>
                <a:cs typeface="Calibri"/>
                <a:sym typeface="Calibri"/>
              </a:rPr>
              <a:t>return </a:t>
            </a:r>
            <a:r>
              <a:rPr lang="en-US" sz="2200">
                <a:solidFill>
                  <a:schemeClr val="dk1"/>
                </a:solidFill>
                <a:latin typeface="Calibri"/>
                <a:ea typeface="Calibri"/>
                <a:cs typeface="Calibri"/>
                <a:sym typeface="Calibri"/>
              </a:rPr>
              <a:t>$n*$n*$n;</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"Cube of 3 is: ".cube(3);</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619" name="Google Shape;619;p63"/>
          <p:cNvSpPr txBox="1"/>
          <p:nvPr/>
        </p:nvSpPr>
        <p:spPr>
          <a:xfrm>
            <a:off x="5228590" y="5393232"/>
            <a:ext cx="1454785"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Cube of 3 is: 27</a:t>
            </a:r>
            <a:endParaRPr sz="180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4"/>
          <p:cNvSpPr txBox="1"/>
          <p:nvPr>
            <p:ph type="title"/>
          </p:nvPr>
        </p:nvSpPr>
        <p:spPr>
          <a:xfrm>
            <a:off x="536244" y="513968"/>
            <a:ext cx="5322570"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PHP Recursive Function</a:t>
            </a:r>
            <a:endParaRPr sz="4000"/>
          </a:p>
        </p:txBody>
      </p:sp>
      <p:sp>
        <p:nvSpPr>
          <p:cNvPr id="625" name="Google Shape;625;p64"/>
          <p:cNvSpPr txBox="1"/>
          <p:nvPr/>
        </p:nvSpPr>
        <p:spPr>
          <a:xfrm>
            <a:off x="652068" y="1549603"/>
            <a:ext cx="3202305" cy="284353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b="1" lang="en-US" sz="2200">
                <a:solidFill>
                  <a:schemeClr val="dk1"/>
                </a:solidFill>
                <a:latin typeface="Calibri"/>
                <a:ea typeface="Calibri"/>
                <a:cs typeface="Calibri"/>
                <a:sym typeface="Calibri"/>
              </a:rPr>
              <a:t>function </a:t>
            </a:r>
            <a:r>
              <a:rPr lang="en-US" sz="2200">
                <a:solidFill>
                  <a:schemeClr val="dk1"/>
                </a:solidFill>
                <a:latin typeface="Calibri"/>
                <a:ea typeface="Calibri"/>
                <a:cs typeface="Calibri"/>
                <a:sym typeface="Calibri"/>
              </a:rPr>
              <a:t>display($number) {</a:t>
            </a:r>
            <a:endParaRPr sz="2200">
              <a:solidFill>
                <a:schemeClr val="dk1"/>
              </a:solidFill>
              <a:latin typeface="Calibri"/>
              <a:ea typeface="Calibri"/>
              <a:cs typeface="Calibri"/>
              <a:sym typeface="Calibri"/>
            </a:endParaRPr>
          </a:p>
          <a:p>
            <a:pPr indent="0" lvl="0" marL="265430" marR="0" rtl="0" algn="l">
              <a:lnSpc>
                <a:spcPct val="100000"/>
              </a:lnSpc>
              <a:spcBef>
                <a:spcPts val="525"/>
              </a:spcBef>
              <a:spcAft>
                <a:spcPts val="0"/>
              </a:spcAft>
              <a:buNone/>
            </a:pPr>
            <a:r>
              <a:rPr b="1" lang="en-US" sz="2200">
                <a:solidFill>
                  <a:schemeClr val="dk1"/>
                </a:solidFill>
                <a:latin typeface="Calibri"/>
                <a:ea typeface="Calibri"/>
                <a:cs typeface="Calibri"/>
                <a:sym typeface="Calibri"/>
              </a:rPr>
              <a:t>if</a:t>
            </a:r>
            <a:r>
              <a:rPr lang="en-US" sz="2200">
                <a:solidFill>
                  <a:schemeClr val="dk1"/>
                </a:solidFill>
                <a:latin typeface="Calibri"/>
                <a:ea typeface="Calibri"/>
                <a:cs typeface="Calibri"/>
                <a:sym typeface="Calibri"/>
              </a:rPr>
              <a:t>($number&lt;=5){</a:t>
            </a:r>
            <a:endParaRPr sz="2200">
              <a:solidFill>
                <a:schemeClr val="dk1"/>
              </a:solidFill>
              <a:latin typeface="Calibri"/>
              <a:ea typeface="Calibri"/>
              <a:cs typeface="Calibri"/>
              <a:sym typeface="Calibri"/>
            </a:endParaRPr>
          </a:p>
          <a:p>
            <a:pPr indent="0" lvl="0" marL="329565"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"$number &lt;br/&gt;";</a:t>
            </a:r>
            <a:endParaRPr sz="2200">
              <a:solidFill>
                <a:schemeClr val="dk1"/>
              </a:solidFill>
              <a:latin typeface="Calibri"/>
              <a:ea typeface="Calibri"/>
              <a:cs typeface="Calibri"/>
              <a:sym typeface="Calibri"/>
            </a:endParaRPr>
          </a:p>
          <a:p>
            <a:pPr indent="0" lvl="0" marL="329565" marR="0" rtl="0" algn="l">
              <a:lnSpc>
                <a:spcPct val="100000"/>
              </a:lnSpc>
              <a:spcBef>
                <a:spcPts val="530"/>
              </a:spcBef>
              <a:spcAft>
                <a:spcPts val="0"/>
              </a:spcAft>
              <a:buNone/>
            </a:pPr>
            <a:r>
              <a:rPr lang="en-US" sz="2200">
                <a:solidFill>
                  <a:schemeClr val="dk1"/>
                </a:solidFill>
                <a:latin typeface="Calibri"/>
                <a:ea typeface="Calibri"/>
                <a:cs typeface="Calibri"/>
                <a:sym typeface="Calibri"/>
              </a:rPr>
              <a:t>display($number+1);</a:t>
            </a:r>
            <a:endParaRPr sz="2200">
              <a:solidFill>
                <a:schemeClr val="dk1"/>
              </a:solidFill>
              <a:latin typeface="Calibri"/>
              <a:ea typeface="Calibri"/>
              <a:cs typeface="Calibri"/>
              <a:sym typeface="Calibri"/>
            </a:endParaRPr>
          </a:p>
          <a:p>
            <a:pPr indent="0" lvl="0" marL="265430" marR="0" rtl="0" algn="l">
              <a:lnSpc>
                <a:spcPct val="100000"/>
              </a:lnSpc>
              <a:spcBef>
                <a:spcPts val="530"/>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p:txBody>
      </p:sp>
      <p:sp>
        <p:nvSpPr>
          <p:cNvPr id="626" name="Google Shape;626;p64"/>
          <p:cNvSpPr txBox="1"/>
          <p:nvPr/>
        </p:nvSpPr>
        <p:spPr>
          <a:xfrm>
            <a:off x="652068" y="4770571"/>
            <a:ext cx="1200785" cy="829944"/>
          </a:xfrm>
          <a:prstGeom prst="rect">
            <a:avLst/>
          </a:prstGeom>
          <a:noFill/>
          <a:ln>
            <a:noFill/>
          </a:ln>
        </p:spPr>
        <p:txBody>
          <a:bodyPr anchorCtr="0" anchor="t" bIns="0" lIns="0" spcFirstLastPara="1" rIns="0" wrap="square" tIns="787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display(1);</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627" name="Google Shape;627;p64"/>
          <p:cNvSpPr txBox="1"/>
          <p:nvPr/>
        </p:nvSpPr>
        <p:spPr>
          <a:xfrm>
            <a:off x="4292346" y="4961382"/>
            <a:ext cx="768350" cy="16719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1</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5"/>
          <p:cNvSpPr txBox="1"/>
          <p:nvPr>
            <p:ph type="title"/>
          </p:nvPr>
        </p:nvSpPr>
        <p:spPr>
          <a:xfrm>
            <a:off x="536244" y="464896"/>
            <a:ext cx="545338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PHP String Functions</a:t>
            </a:r>
            <a:endParaRPr/>
          </a:p>
        </p:txBody>
      </p:sp>
      <p:sp>
        <p:nvSpPr>
          <p:cNvPr id="633" name="Google Shape;633;p65"/>
          <p:cNvSpPr txBox="1"/>
          <p:nvPr/>
        </p:nvSpPr>
        <p:spPr>
          <a:xfrm>
            <a:off x="707542" y="1775875"/>
            <a:ext cx="7850505" cy="4318635"/>
          </a:xfrm>
          <a:prstGeom prst="rect">
            <a:avLst/>
          </a:prstGeom>
          <a:noFill/>
          <a:ln>
            <a:noFill/>
          </a:ln>
        </p:spPr>
        <p:txBody>
          <a:bodyPr anchorCtr="0" anchor="t" bIns="0" lIns="0" spcFirstLastPara="1" rIns="0" wrap="square" tIns="45700">
            <a:spAutoFit/>
          </a:bodyPr>
          <a:lstStyle/>
          <a:p>
            <a:pPr indent="-229235" lvl="0" marL="356870" marR="0" rtl="0" algn="l">
              <a:lnSpc>
                <a:spcPct val="100000"/>
              </a:lnSpc>
              <a:spcBef>
                <a:spcPts val="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strlen()</a:t>
            </a:r>
            <a:endParaRPr sz="2200">
              <a:solidFill>
                <a:schemeClr val="dk1"/>
              </a:solidFill>
              <a:latin typeface="Calibri"/>
              <a:ea typeface="Calibri"/>
              <a:cs typeface="Calibri"/>
              <a:sym typeface="Calibri"/>
            </a:endParaRPr>
          </a:p>
          <a:p>
            <a:pPr indent="0" lvl="0" marL="927100" marR="0" rtl="0" algn="l">
              <a:lnSpc>
                <a:spcPct val="100000"/>
              </a:lnSpc>
              <a:spcBef>
                <a:spcPts val="260"/>
              </a:spcBef>
              <a:spcAft>
                <a:spcPts val="0"/>
              </a:spcAft>
              <a:buNone/>
            </a:pPr>
            <a:r>
              <a:rPr lang="en-US" sz="2200">
                <a:solidFill>
                  <a:schemeClr val="dk1"/>
                </a:solidFill>
                <a:latin typeface="Calibri"/>
                <a:ea typeface="Calibri"/>
                <a:cs typeface="Calibri"/>
                <a:sym typeface="Calibri"/>
              </a:rPr>
              <a:t>returns the length of a string</a:t>
            </a:r>
            <a:endParaRPr sz="2200">
              <a:solidFill>
                <a:schemeClr val="dk1"/>
              </a:solidFill>
              <a:latin typeface="Calibri"/>
              <a:ea typeface="Calibri"/>
              <a:cs typeface="Calibri"/>
              <a:sym typeface="Calibri"/>
            </a:endParaRPr>
          </a:p>
          <a:p>
            <a:pPr indent="-229235" lvl="0" marL="356870" marR="0" rtl="0" algn="l">
              <a:lnSpc>
                <a:spcPct val="100000"/>
              </a:lnSpc>
              <a:spcBef>
                <a:spcPts val="27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str_word_count()</a:t>
            </a:r>
            <a:endParaRPr sz="2200">
              <a:solidFill>
                <a:schemeClr val="dk1"/>
              </a:solidFill>
              <a:latin typeface="Calibri"/>
              <a:ea typeface="Calibri"/>
              <a:cs typeface="Calibri"/>
              <a:sym typeface="Calibri"/>
            </a:endParaRPr>
          </a:p>
          <a:p>
            <a:pPr indent="0" lvl="0" marL="927100" marR="0" rtl="0" algn="l">
              <a:lnSpc>
                <a:spcPct val="100000"/>
              </a:lnSpc>
              <a:spcBef>
                <a:spcPts val="265"/>
              </a:spcBef>
              <a:spcAft>
                <a:spcPts val="0"/>
              </a:spcAft>
              <a:buNone/>
            </a:pPr>
            <a:r>
              <a:rPr lang="en-US" sz="2200">
                <a:solidFill>
                  <a:schemeClr val="dk1"/>
                </a:solidFill>
                <a:latin typeface="Calibri"/>
                <a:ea typeface="Calibri"/>
                <a:cs typeface="Calibri"/>
                <a:sym typeface="Calibri"/>
              </a:rPr>
              <a:t>counts the number of words in a string</a:t>
            </a:r>
            <a:endParaRPr sz="2200">
              <a:solidFill>
                <a:schemeClr val="dk1"/>
              </a:solidFill>
              <a:latin typeface="Calibri"/>
              <a:ea typeface="Calibri"/>
              <a:cs typeface="Calibri"/>
              <a:sym typeface="Calibri"/>
            </a:endParaRPr>
          </a:p>
          <a:p>
            <a:pPr indent="-229235" lvl="0" marL="356870" marR="0" rtl="0" algn="l">
              <a:lnSpc>
                <a:spcPct val="100000"/>
              </a:lnSpc>
              <a:spcBef>
                <a:spcPts val="26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strrev()</a:t>
            </a:r>
            <a:endParaRPr sz="2200">
              <a:solidFill>
                <a:schemeClr val="dk1"/>
              </a:solidFill>
              <a:latin typeface="Calibri"/>
              <a:ea typeface="Calibri"/>
              <a:cs typeface="Calibri"/>
              <a:sym typeface="Calibri"/>
            </a:endParaRPr>
          </a:p>
          <a:p>
            <a:pPr indent="0" lvl="0" marL="991235" marR="0" rtl="0" algn="l">
              <a:lnSpc>
                <a:spcPct val="100000"/>
              </a:lnSpc>
              <a:spcBef>
                <a:spcPts val="265"/>
              </a:spcBef>
              <a:spcAft>
                <a:spcPts val="0"/>
              </a:spcAft>
              <a:buNone/>
            </a:pPr>
            <a:r>
              <a:rPr lang="en-US" sz="2200">
                <a:solidFill>
                  <a:schemeClr val="dk1"/>
                </a:solidFill>
                <a:latin typeface="Calibri"/>
                <a:ea typeface="Calibri"/>
                <a:cs typeface="Calibri"/>
                <a:sym typeface="Calibri"/>
              </a:rPr>
              <a:t>reverses a string</a:t>
            </a:r>
            <a:endParaRPr sz="2200">
              <a:solidFill>
                <a:schemeClr val="dk1"/>
              </a:solidFill>
              <a:latin typeface="Calibri"/>
              <a:ea typeface="Calibri"/>
              <a:cs typeface="Calibri"/>
              <a:sym typeface="Calibri"/>
            </a:endParaRPr>
          </a:p>
          <a:p>
            <a:pPr indent="-229235" lvl="0" marL="356870" marR="0" rtl="0" algn="l">
              <a:lnSpc>
                <a:spcPct val="100000"/>
              </a:lnSpc>
              <a:spcBef>
                <a:spcPts val="26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strpos()</a:t>
            </a:r>
            <a:endParaRPr sz="2200">
              <a:solidFill>
                <a:schemeClr val="dk1"/>
              </a:solidFill>
              <a:latin typeface="Calibri"/>
              <a:ea typeface="Calibri"/>
              <a:cs typeface="Calibri"/>
              <a:sym typeface="Calibri"/>
            </a:endParaRPr>
          </a:p>
          <a:p>
            <a:pPr indent="0" lvl="0" marL="991235" marR="0" rtl="0" algn="l">
              <a:lnSpc>
                <a:spcPct val="114090"/>
              </a:lnSpc>
              <a:spcBef>
                <a:spcPts val="265"/>
              </a:spcBef>
              <a:spcAft>
                <a:spcPts val="0"/>
              </a:spcAft>
              <a:buNone/>
            </a:pPr>
            <a:r>
              <a:rPr lang="en-US" sz="2200">
                <a:solidFill>
                  <a:schemeClr val="dk1"/>
                </a:solidFill>
                <a:latin typeface="Calibri"/>
                <a:ea typeface="Calibri"/>
                <a:cs typeface="Calibri"/>
                <a:sym typeface="Calibri"/>
              </a:rPr>
              <a:t>searches for a specific text within a string(returns position of</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first match)</a:t>
            </a:r>
            <a:endParaRPr sz="2200">
              <a:solidFill>
                <a:schemeClr val="dk1"/>
              </a:solidFill>
              <a:latin typeface="Calibri"/>
              <a:ea typeface="Calibri"/>
              <a:cs typeface="Calibri"/>
              <a:sym typeface="Calibri"/>
            </a:endParaRPr>
          </a:p>
          <a:p>
            <a:pPr indent="-229235" lvl="0" marL="356870" marR="0" rtl="0" algn="l">
              <a:lnSpc>
                <a:spcPct val="100000"/>
              </a:lnSpc>
              <a:spcBef>
                <a:spcPts val="26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str_replace()</a:t>
            </a:r>
            <a:endParaRPr sz="2200">
              <a:solidFill>
                <a:schemeClr val="dk1"/>
              </a:solidFill>
              <a:latin typeface="Calibri"/>
              <a:ea typeface="Calibri"/>
              <a:cs typeface="Calibri"/>
              <a:sym typeface="Calibri"/>
            </a:endParaRPr>
          </a:p>
          <a:p>
            <a:pPr indent="0" lvl="0" marL="991235" marR="0" rtl="0" algn="l">
              <a:lnSpc>
                <a:spcPct val="114090"/>
              </a:lnSpc>
              <a:spcBef>
                <a:spcPts val="265"/>
              </a:spcBef>
              <a:spcAft>
                <a:spcPts val="0"/>
              </a:spcAft>
              <a:buNone/>
            </a:pPr>
            <a:r>
              <a:rPr lang="en-US" sz="2200">
                <a:solidFill>
                  <a:schemeClr val="dk1"/>
                </a:solidFill>
                <a:latin typeface="Calibri"/>
                <a:ea typeface="Calibri"/>
                <a:cs typeface="Calibri"/>
                <a:sym typeface="Calibri"/>
              </a:rPr>
              <a:t>replaces some characters with some other characters in a</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string.</a:t>
            </a:r>
            <a:endParaRPr sz="2200">
              <a:solidFill>
                <a:schemeClr val="dk1"/>
              </a:solidFill>
              <a:latin typeface="Calibri"/>
              <a:ea typeface="Calibri"/>
              <a:cs typeface="Calibri"/>
              <a:sym typeface="Calibri"/>
            </a:endParaRPr>
          </a:p>
        </p:txBody>
      </p:sp>
      <p:sp>
        <p:nvSpPr>
          <p:cNvPr id="634" name="Google Shape;634;p65"/>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65"/>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65"/>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59</a:t>
            </a:r>
            <a:endParaRPr sz="1800">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6"/>
          <p:cNvSpPr txBox="1"/>
          <p:nvPr>
            <p:ph type="title"/>
          </p:nvPr>
        </p:nvSpPr>
        <p:spPr>
          <a:xfrm>
            <a:off x="536244" y="464896"/>
            <a:ext cx="276225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PHP Arrays</a:t>
            </a:r>
            <a:endParaRPr/>
          </a:p>
        </p:txBody>
      </p:sp>
      <p:sp>
        <p:nvSpPr>
          <p:cNvPr id="642" name="Google Shape;642;p66"/>
          <p:cNvSpPr txBox="1"/>
          <p:nvPr/>
        </p:nvSpPr>
        <p:spPr>
          <a:xfrm>
            <a:off x="652068" y="1588388"/>
            <a:ext cx="7324090" cy="4470400"/>
          </a:xfrm>
          <a:prstGeom prst="rect">
            <a:avLst/>
          </a:prstGeom>
          <a:noFill/>
          <a:ln>
            <a:noFill/>
          </a:ln>
        </p:spPr>
        <p:txBody>
          <a:bodyPr anchorCtr="0" anchor="t" bIns="0" lIns="0" spcFirstLastPara="1" rIns="0" wrap="square" tIns="11425">
            <a:spAutoFit/>
          </a:bodyPr>
          <a:lstStyle/>
          <a:p>
            <a:pPr indent="-228600" lvl="0" marL="241300" marR="0" rtl="0" algn="l">
              <a:lnSpc>
                <a:spcPct val="114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PHP array is an ordered map (contains value on the basis of key). It is</a:t>
            </a:r>
            <a:endParaRPr sz="2000">
              <a:solidFill>
                <a:schemeClr val="dk1"/>
              </a:solidFill>
              <a:latin typeface="Calibri"/>
              <a:ea typeface="Calibri"/>
              <a:cs typeface="Calibri"/>
              <a:sym typeface="Calibri"/>
            </a:endParaRPr>
          </a:p>
          <a:p>
            <a:pPr indent="0" lvl="0" marL="240665" marR="0" rtl="0" algn="l">
              <a:lnSpc>
                <a:spcPct val="114000"/>
              </a:lnSpc>
              <a:spcBef>
                <a:spcPts val="0"/>
              </a:spcBef>
              <a:spcAft>
                <a:spcPts val="0"/>
              </a:spcAft>
              <a:buNone/>
            </a:pPr>
            <a:r>
              <a:rPr lang="en-US" sz="2000">
                <a:solidFill>
                  <a:schemeClr val="dk1"/>
                </a:solidFill>
                <a:latin typeface="Calibri"/>
                <a:ea typeface="Calibri"/>
                <a:cs typeface="Calibri"/>
                <a:sym typeface="Calibri"/>
              </a:rPr>
              <a:t>used to hold multiple values of similar type in a single variable.</a:t>
            </a:r>
            <a:endParaRPr sz="20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35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rgbClr val="C00000"/>
                </a:solidFill>
                <a:latin typeface="Calibri"/>
                <a:ea typeface="Calibri"/>
                <a:cs typeface="Calibri"/>
                <a:sym typeface="Calibri"/>
              </a:rPr>
              <a:t>Advantage of PHP Array</a:t>
            </a:r>
            <a:endParaRPr sz="2000">
              <a:solidFill>
                <a:schemeClr val="dk1"/>
              </a:solidFill>
              <a:latin typeface="Calibri"/>
              <a:ea typeface="Calibri"/>
              <a:cs typeface="Calibri"/>
              <a:sym typeface="Calibri"/>
            </a:endParaRPr>
          </a:p>
          <a:p>
            <a:pPr indent="-229234" lvl="1" marL="536575" marR="0" rtl="0" algn="l">
              <a:lnSpc>
                <a:spcPct val="100000"/>
              </a:lnSpc>
              <a:spcBef>
                <a:spcPts val="245"/>
              </a:spcBef>
              <a:spcAft>
                <a:spcPts val="0"/>
              </a:spcAft>
              <a:buClr>
                <a:srgbClr val="C0504D"/>
              </a:buClr>
              <a:buSzPts val="1900"/>
              <a:buFont typeface="Arial"/>
              <a:buChar char="•"/>
            </a:pPr>
            <a:r>
              <a:rPr b="1" i="0" lang="en-US" sz="1900" u="none" cap="none" strike="noStrike">
                <a:solidFill>
                  <a:schemeClr val="dk1"/>
                </a:solidFill>
                <a:latin typeface="Calibri"/>
                <a:ea typeface="Calibri"/>
                <a:cs typeface="Calibri"/>
                <a:sym typeface="Calibri"/>
              </a:rPr>
              <a:t>Less Code</a:t>
            </a:r>
            <a:r>
              <a:rPr b="0" i="0" lang="en-US" sz="1900" u="none" cap="none" strike="noStrike">
                <a:solidFill>
                  <a:schemeClr val="dk1"/>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a:p>
            <a:pPr indent="0" lvl="0" marL="811530" marR="0" rtl="0" algn="l">
              <a:lnSpc>
                <a:spcPct val="100000"/>
              </a:lnSpc>
              <a:spcBef>
                <a:spcPts val="215"/>
              </a:spcBef>
              <a:spcAft>
                <a:spcPts val="0"/>
              </a:spcAft>
              <a:buNone/>
            </a:pPr>
            <a:r>
              <a:rPr lang="en-US" sz="1900">
                <a:solidFill>
                  <a:schemeClr val="dk1"/>
                </a:solidFill>
                <a:latin typeface="Calibri"/>
                <a:ea typeface="Calibri"/>
                <a:cs typeface="Calibri"/>
                <a:sym typeface="Calibri"/>
              </a:rPr>
              <a:t>We don't need to define multiple variables.</a:t>
            </a:r>
            <a:endParaRPr sz="1900">
              <a:solidFill>
                <a:schemeClr val="dk1"/>
              </a:solidFill>
              <a:latin typeface="Calibri"/>
              <a:ea typeface="Calibri"/>
              <a:cs typeface="Calibri"/>
              <a:sym typeface="Calibri"/>
            </a:endParaRPr>
          </a:p>
          <a:p>
            <a:pPr indent="-229234" lvl="1" marL="536575" marR="0" rtl="0" algn="l">
              <a:lnSpc>
                <a:spcPct val="100000"/>
              </a:lnSpc>
              <a:spcBef>
                <a:spcPts val="245"/>
              </a:spcBef>
              <a:spcAft>
                <a:spcPts val="0"/>
              </a:spcAft>
              <a:buClr>
                <a:srgbClr val="C0504D"/>
              </a:buClr>
              <a:buSzPts val="1900"/>
              <a:buFont typeface="Arial"/>
              <a:buChar char="•"/>
            </a:pPr>
            <a:r>
              <a:rPr b="1" i="0" lang="en-US" sz="1900" u="none" cap="none" strike="noStrike">
                <a:solidFill>
                  <a:schemeClr val="dk1"/>
                </a:solidFill>
                <a:latin typeface="Calibri"/>
                <a:ea typeface="Calibri"/>
                <a:cs typeface="Calibri"/>
                <a:sym typeface="Calibri"/>
              </a:rPr>
              <a:t>Easy to traverse</a:t>
            </a:r>
            <a:r>
              <a:rPr b="0" i="0" lang="en-US" sz="1900" u="none" cap="none" strike="noStrike">
                <a:solidFill>
                  <a:schemeClr val="dk1"/>
                </a:solidFill>
                <a:latin typeface="Calibri"/>
                <a:ea typeface="Calibri"/>
                <a:cs typeface="Calibri"/>
                <a:sym typeface="Calibri"/>
              </a:rPr>
              <a:t>:</a:t>
            </a:r>
            <a:endParaRPr b="0" i="0" sz="1900" u="none" cap="none" strike="noStrike">
              <a:solidFill>
                <a:schemeClr val="dk1"/>
              </a:solidFill>
              <a:latin typeface="Calibri"/>
              <a:ea typeface="Calibri"/>
              <a:cs typeface="Calibri"/>
              <a:sym typeface="Calibri"/>
            </a:endParaRPr>
          </a:p>
          <a:p>
            <a:pPr indent="0" lvl="0" marL="811530" marR="0" rtl="0" algn="l">
              <a:lnSpc>
                <a:spcPct val="114473"/>
              </a:lnSpc>
              <a:spcBef>
                <a:spcPts val="215"/>
              </a:spcBef>
              <a:spcAft>
                <a:spcPts val="0"/>
              </a:spcAft>
              <a:buNone/>
            </a:pPr>
            <a:r>
              <a:rPr lang="en-US" sz="1900">
                <a:solidFill>
                  <a:schemeClr val="dk1"/>
                </a:solidFill>
                <a:latin typeface="Calibri"/>
                <a:ea typeface="Calibri"/>
                <a:cs typeface="Calibri"/>
                <a:sym typeface="Calibri"/>
              </a:rPr>
              <a:t>By the help of single loop, we can traverse all the elements of an</a:t>
            </a:r>
            <a:endParaRPr sz="1900">
              <a:solidFill>
                <a:schemeClr val="dk1"/>
              </a:solidFill>
              <a:latin typeface="Calibri"/>
              <a:ea typeface="Calibri"/>
              <a:cs typeface="Calibri"/>
              <a:sym typeface="Calibri"/>
            </a:endParaRPr>
          </a:p>
          <a:p>
            <a:pPr indent="0" lvl="0" marL="307975" marR="0" rtl="0" algn="l">
              <a:lnSpc>
                <a:spcPct val="114473"/>
              </a:lnSpc>
              <a:spcBef>
                <a:spcPts val="0"/>
              </a:spcBef>
              <a:spcAft>
                <a:spcPts val="0"/>
              </a:spcAft>
              <a:buNone/>
            </a:pPr>
            <a:r>
              <a:rPr lang="en-US" sz="1900">
                <a:solidFill>
                  <a:schemeClr val="dk1"/>
                </a:solidFill>
                <a:latin typeface="Calibri"/>
                <a:ea typeface="Calibri"/>
                <a:cs typeface="Calibri"/>
                <a:sym typeface="Calibri"/>
              </a:rPr>
              <a:t>array.</a:t>
            </a:r>
            <a:endParaRPr sz="1900">
              <a:solidFill>
                <a:schemeClr val="dk1"/>
              </a:solidFill>
              <a:latin typeface="Calibri"/>
              <a:ea typeface="Calibri"/>
              <a:cs typeface="Calibri"/>
              <a:sym typeface="Calibri"/>
            </a:endParaRPr>
          </a:p>
          <a:p>
            <a:pPr indent="0" lvl="0" marL="0" marR="0" rtl="0" algn="l">
              <a:lnSpc>
                <a:spcPct val="100000"/>
              </a:lnSpc>
              <a:spcBef>
                <a:spcPts val="45"/>
              </a:spcBef>
              <a:spcAft>
                <a:spcPts val="0"/>
              </a:spcAft>
              <a:buNone/>
            </a:pPr>
            <a:r>
              <a:t/>
            </a:r>
            <a:endParaRPr sz="2200">
              <a:solidFill>
                <a:schemeClr val="dk1"/>
              </a:solidFill>
              <a:latin typeface="Calibri"/>
              <a:ea typeface="Calibri"/>
              <a:cs typeface="Calibri"/>
              <a:sym typeface="Calibri"/>
            </a:endParaRPr>
          </a:p>
          <a:p>
            <a:pPr indent="-228600" lvl="0" marL="241300" marR="0" rtl="0" algn="l">
              <a:lnSpc>
                <a:spcPct val="100000"/>
              </a:lnSpc>
              <a:spcBef>
                <a:spcPts val="5"/>
              </a:spcBef>
              <a:spcAft>
                <a:spcPts val="0"/>
              </a:spcAft>
              <a:buClr>
                <a:srgbClr val="4F81BC"/>
              </a:buClr>
              <a:buSzPts val="2000"/>
              <a:buFont typeface="Arial"/>
              <a:buChar char="•"/>
            </a:pPr>
            <a:r>
              <a:rPr b="1" lang="en-US" sz="2000">
                <a:solidFill>
                  <a:srgbClr val="C00000"/>
                </a:solidFill>
                <a:latin typeface="Calibri"/>
                <a:ea typeface="Calibri"/>
                <a:cs typeface="Calibri"/>
                <a:sym typeface="Calibri"/>
              </a:rPr>
              <a:t>PHP Array Types</a:t>
            </a:r>
            <a:endParaRPr sz="2000">
              <a:solidFill>
                <a:schemeClr val="dk1"/>
              </a:solidFill>
              <a:latin typeface="Calibri"/>
              <a:ea typeface="Calibri"/>
              <a:cs typeface="Calibri"/>
              <a:sym typeface="Calibri"/>
            </a:endParaRPr>
          </a:p>
          <a:p>
            <a:pPr indent="-457200" lvl="0" marL="469900" marR="0" rtl="0" algn="l">
              <a:lnSpc>
                <a:spcPct val="100000"/>
              </a:lnSpc>
              <a:spcBef>
                <a:spcPts val="240"/>
              </a:spcBef>
              <a:spcAft>
                <a:spcPts val="0"/>
              </a:spcAft>
              <a:buClr>
                <a:srgbClr val="4F81BC"/>
              </a:buClr>
              <a:buSzPts val="2000"/>
              <a:buFont typeface="Calibri"/>
              <a:buAutoNum type="arabicPeriod"/>
            </a:pPr>
            <a:r>
              <a:rPr lang="en-US" sz="2000">
                <a:solidFill>
                  <a:schemeClr val="dk1"/>
                </a:solidFill>
                <a:latin typeface="Calibri"/>
                <a:ea typeface="Calibri"/>
                <a:cs typeface="Calibri"/>
                <a:sym typeface="Calibri"/>
              </a:rPr>
              <a:t>Indexed Array</a:t>
            </a:r>
            <a:endParaRPr sz="2000">
              <a:solidFill>
                <a:schemeClr val="dk1"/>
              </a:solidFill>
              <a:latin typeface="Calibri"/>
              <a:ea typeface="Calibri"/>
              <a:cs typeface="Calibri"/>
              <a:sym typeface="Calibri"/>
            </a:endParaRPr>
          </a:p>
          <a:p>
            <a:pPr indent="-457200" lvl="0" marL="469900" marR="0" rtl="0" algn="l">
              <a:lnSpc>
                <a:spcPct val="100000"/>
              </a:lnSpc>
              <a:spcBef>
                <a:spcPts val="240"/>
              </a:spcBef>
              <a:spcAft>
                <a:spcPts val="0"/>
              </a:spcAft>
              <a:buClr>
                <a:srgbClr val="4F81BC"/>
              </a:buClr>
              <a:buSzPts val="2000"/>
              <a:buFont typeface="Calibri"/>
              <a:buAutoNum type="arabicPeriod"/>
            </a:pPr>
            <a:r>
              <a:rPr lang="en-US" sz="2000">
                <a:solidFill>
                  <a:schemeClr val="dk1"/>
                </a:solidFill>
                <a:latin typeface="Calibri"/>
                <a:ea typeface="Calibri"/>
                <a:cs typeface="Calibri"/>
                <a:sym typeface="Calibri"/>
              </a:rPr>
              <a:t>Associative Array</a:t>
            </a:r>
            <a:endParaRPr sz="2000">
              <a:solidFill>
                <a:schemeClr val="dk1"/>
              </a:solidFill>
              <a:latin typeface="Calibri"/>
              <a:ea typeface="Calibri"/>
              <a:cs typeface="Calibri"/>
              <a:sym typeface="Calibri"/>
            </a:endParaRPr>
          </a:p>
          <a:p>
            <a:pPr indent="-457200" lvl="0" marL="469900" marR="0" rtl="0" algn="l">
              <a:lnSpc>
                <a:spcPct val="100000"/>
              </a:lnSpc>
              <a:spcBef>
                <a:spcPts val="240"/>
              </a:spcBef>
              <a:spcAft>
                <a:spcPts val="0"/>
              </a:spcAft>
              <a:buClr>
                <a:srgbClr val="4F81BC"/>
              </a:buClr>
              <a:buSzPts val="2000"/>
              <a:buFont typeface="Calibri"/>
              <a:buAutoNum type="arabicPeriod"/>
            </a:pPr>
            <a:r>
              <a:rPr lang="en-US" sz="2000">
                <a:solidFill>
                  <a:schemeClr val="dk1"/>
                </a:solidFill>
                <a:latin typeface="Calibri"/>
                <a:ea typeface="Calibri"/>
                <a:cs typeface="Calibri"/>
                <a:sym typeface="Calibri"/>
              </a:rPr>
              <a:t>Multidimensional Array</a:t>
            </a:r>
            <a:endParaRPr sz="2000">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7"/>
          <p:cNvSpPr txBox="1"/>
          <p:nvPr>
            <p:ph type="title"/>
          </p:nvPr>
        </p:nvSpPr>
        <p:spPr>
          <a:xfrm>
            <a:off x="536244" y="547496"/>
            <a:ext cx="327088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Example: Arrays</a:t>
            </a:r>
            <a:endParaRPr sz="3600"/>
          </a:p>
        </p:txBody>
      </p:sp>
      <p:sp>
        <p:nvSpPr>
          <p:cNvPr id="648" name="Google Shape;648;p67"/>
          <p:cNvSpPr txBox="1"/>
          <p:nvPr/>
        </p:nvSpPr>
        <p:spPr>
          <a:xfrm>
            <a:off x="330504" y="1557069"/>
            <a:ext cx="7583170" cy="4057650"/>
          </a:xfrm>
          <a:prstGeom prst="rect">
            <a:avLst/>
          </a:prstGeom>
          <a:noFill/>
          <a:ln>
            <a:noFill/>
          </a:ln>
        </p:spPr>
        <p:txBody>
          <a:bodyPr anchorCtr="0" anchor="t" bIns="0" lIns="0" spcFirstLastPara="1" rIns="0" wrap="square" tIns="73025">
            <a:spAutoFit/>
          </a:bodyPr>
          <a:lstStyle/>
          <a:p>
            <a:pPr indent="0" lvl="0" marL="128270" marR="0" rtl="0" algn="l">
              <a:lnSpc>
                <a:spcPct val="100000"/>
              </a:lnSpc>
              <a:spcBef>
                <a:spcPts val="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8270" marR="0" rtl="0" algn="l">
              <a:lnSpc>
                <a:spcPct val="100000"/>
              </a:lnSpc>
              <a:spcBef>
                <a:spcPts val="480"/>
              </a:spcBef>
              <a:spcAft>
                <a:spcPts val="0"/>
              </a:spcAft>
              <a:buNone/>
            </a:pPr>
            <a:r>
              <a:rPr lang="en-US" sz="2000">
                <a:solidFill>
                  <a:schemeClr val="dk1"/>
                </a:solidFill>
                <a:latin typeface="Calibri"/>
                <a:ea typeface="Calibri"/>
                <a:cs typeface="Calibri"/>
                <a:sym typeface="Calibri"/>
              </a:rPr>
              <a:t>$</a:t>
            </a:r>
            <a:r>
              <a:rPr b="1" lang="en-US" sz="2000">
                <a:solidFill>
                  <a:srgbClr val="C00000"/>
                </a:solidFill>
                <a:latin typeface="Calibri"/>
                <a:ea typeface="Calibri"/>
                <a:cs typeface="Calibri"/>
                <a:sym typeface="Calibri"/>
              </a:rPr>
              <a:t>season=array("summer","winter","spring","autumn");</a:t>
            </a:r>
            <a:endParaRPr sz="2000">
              <a:solidFill>
                <a:schemeClr val="dk1"/>
              </a:solidFill>
              <a:latin typeface="Calibri"/>
              <a:ea typeface="Calibri"/>
              <a:cs typeface="Calibri"/>
              <a:sym typeface="Calibri"/>
            </a:endParaRPr>
          </a:p>
          <a:p>
            <a:pPr indent="0" lvl="0" marL="128270" marR="0" rtl="0" algn="l">
              <a:lnSpc>
                <a:spcPct val="100000"/>
              </a:lnSpc>
              <a:spcBef>
                <a:spcPts val="484"/>
              </a:spcBef>
              <a:spcAft>
                <a:spcPts val="0"/>
              </a:spcAft>
              <a:buNone/>
            </a:pPr>
            <a:r>
              <a:rPr lang="en-US" sz="2000">
                <a:solidFill>
                  <a:schemeClr val="dk1"/>
                </a:solidFill>
                <a:latin typeface="Calibri"/>
                <a:ea typeface="Calibri"/>
                <a:cs typeface="Calibri"/>
                <a:sym typeface="Calibri"/>
              </a:rPr>
              <a:t>echo "Season are: $season[0], $season[1], $season[2] and $season[3]";</a:t>
            </a:r>
            <a:endParaRPr sz="2000">
              <a:solidFill>
                <a:schemeClr val="dk1"/>
              </a:solidFill>
              <a:latin typeface="Calibri"/>
              <a:ea typeface="Calibri"/>
              <a:cs typeface="Calibri"/>
              <a:sym typeface="Calibri"/>
            </a:endParaRPr>
          </a:p>
          <a:p>
            <a:pPr indent="0" lvl="0" marL="128270" marR="0" rtl="0" algn="l">
              <a:lnSpc>
                <a:spcPct val="119000"/>
              </a:lnSpc>
              <a:spcBef>
                <a:spcPts val="48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3145155" marR="0" rtl="0" algn="l">
              <a:lnSpc>
                <a:spcPct val="118888"/>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3145155" marR="0" rtl="0" algn="l">
              <a:lnSpc>
                <a:spcPct val="100000"/>
              </a:lnSpc>
              <a:spcBef>
                <a:spcPts val="5"/>
              </a:spcBef>
              <a:spcAft>
                <a:spcPts val="0"/>
              </a:spcAft>
              <a:buNone/>
            </a:pPr>
            <a:r>
              <a:rPr lang="en-US" sz="1800">
                <a:solidFill>
                  <a:schemeClr val="dk1"/>
                </a:solidFill>
                <a:latin typeface="Calibri"/>
                <a:ea typeface="Calibri"/>
                <a:cs typeface="Calibri"/>
                <a:sym typeface="Calibri"/>
              </a:rPr>
              <a:t>Season are: summer, winter, spring and autumn</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5"/>
              </a:spcBef>
              <a:spcAft>
                <a:spcPts val="0"/>
              </a:spcAft>
              <a:buNone/>
            </a:pPr>
            <a:r>
              <a:t/>
            </a:r>
            <a:endParaRPr sz="24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&lt;?php</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a:t>
            </a:r>
            <a:r>
              <a:rPr b="1" lang="en-US" sz="1800">
                <a:solidFill>
                  <a:srgbClr val="C00000"/>
                </a:solidFill>
                <a:latin typeface="Calibri"/>
                <a:ea typeface="Calibri"/>
                <a:cs typeface="Calibri"/>
                <a:sym typeface="Calibri"/>
              </a:rPr>
              <a:t>salary=array("Sonoo"=&gt;"350000","John"=&gt;"450000","Kartik"=&gt;"200000");</a:t>
            </a:r>
            <a:endParaRPr sz="1800">
              <a:solidFill>
                <a:schemeClr val="dk1"/>
              </a:solidFill>
              <a:latin typeface="Calibri"/>
              <a:ea typeface="Calibri"/>
              <a:cs typeface="Calibri"/>
              <a:sym typeface="Calibri"/>
            </a:endParaRPr>
          </a:p>
          <a:p>
            <a:pPr indent="0" lvl="0" marL="12700" marR="3131185" rtl="0" algn="l">
              <a:lnSpc>
                <a:spcPct val="100000"/>
              </a:lnSpc>
              <a:spcBef>
                <a:spcPts val="0"/>
              </a:spcBef>
              <a:spcAft>
                <a:spcPts val="0"/>
              </a:spcAft>
              <a:buNone/>
            </a:pPr>
            <a:r>
              <a:rPr lang="en-US" sz="1800">
                <a:solidFill>
                  <a:schemeClr val="dk1"/>
                </a:solidFill>
                <a:latin typeface="Calibri"/>
                <a:ea typeface="Calibri"/>
                <a:cs typeface="Calibri"/>
                <a:sym typeface="Calibri"/>
              </a:rPr>
              <a:t>echo "Sonoo salary: ".$salary["Sonoo"]."&lt;br/&gt;";  echo "John salary: ".$salary["John"]."&lt;br/&gt;";  echo "Kartik salary: ".$salary["Kartik"]."&lt;br/&gt;";</a:t>
            </a:r>
            <a:endParaRPr sz="1800">
              <a:solidFill>
                <a:schemeClr val="dk1"/>
              </a:solidFill>
              <a:latin typeface="Calibri"/>
              <a:ea typeface="Calibri"/>
              <a:cs typeface="Calibri"/>
              <a:sym typeface="Calibri"/>
            </a:endParaRPr>
          </a:p>
        </p:txBody>
      </p:sp>
      <p:sp>
        <p:nvSpPr>
          <p:cNvPr id="649" name="Google Shape;649;p67"/>
          <p:cNvSpPr txBox="1"/>
          <p:nvPr/>
        </p:nvSpPr>
        <p:spPr>
          <a:xfrm>
            <a:off x="330504" y="5588914"/>
            <a:ext cx="24701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?&gt;</a:t>
            </a:r>
            <a:endParaRPr sz="1800">
              <a:solidFill>
                <a:schemeClr val="dk1"/>
              </a:solidFill>
              <a:latin typeface="Calibri"/>
              <a:ea typeface="Calibri"/>
              <a:cs typeface="Calibri"/>
              <a:sym typeface="Calibri"/>
            </a:endParaRPr>
          </a:p>
        </p:txBody>
      </p:sp>
      <p:sp>
        <p:nvSpPr>
          <p:cNvPr id="650" name="Google Shape;650;p67"/>
          <p:cNvSpPr txBox="1"/>
          <p:nvPr/>
        </p:nvSpPr>
        <p:spPr>
          <a:xfrm>
            <a:off x="4652264" y="5678220"/>
            <a:ext cx="2019935" cy="11233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Sonoo salary: 350000</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John salary: 450000</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Kartik salary: 200000</a:t>
            </a:r>
            <a:endParaRPr sz="180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68"/>
          <p:cNvSpPr txBox="1"/>
          <p:nvPr>
            <p:ph type="title"/>
          </p:nvPr>
        </p:nvSpPr>
        <p:spPr>
          <a:xfrm>
            <a:off x="536244" y="547496"/>
            <a:ext cx="327088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Example: Arrays</a:t>
            </a:r>
            <a:endParaRPr sz="3600"/>
          </a:p>
        </p:txBody>
      </p:sp>
      <p:sp>
        <p:nvSpPr>
          <p:cNvPr id="656" name="Google Shape;656;p68"/>
          <p:cNvSpPr txBox="1"/>
          <p:nvPr/>
        </p:nvSpPr>
        <p:spPr>
          <a:xfrm>
            <a:off x="664768" y="1564005"/>
            <a:ext cx="2771140" cy="2159000"/>
          </a:xfrm>
          <a:prstGeom prst="rect">
            <a:avLst/>
          </a:prstGeom>
          <a:noFill/>
          <a:ln>
            <a:noFill/>
          </a:ln>
        </p:spPr>
        <p:txBody>
          <a:bodyPr anchorCtr="0" anchor="t" bIns="0" lIns="0" spcFirstLastPara="1" rIns="0" wrap="square" tIns="11425">
            <a:spAutoFit/>
          </a:bodyPr>
          <a:lstStyle/>
          <a:p>
            <a:pPr indent="0" lvl="0" marL="0" marR="0" rtl="0" algn="l">
              <a:lnSpc>
                <a:spcPct val="100000"/>
              </a:lnSpc>
              <a:spcBef>
                <a:spcPts val="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r>
              <a:rPr b="1" lang="en-US" sz="2000">
                <a:solidFill>
                  <a:srgbClr val="C00000"/>
                </a:solidFill>
                <a:latin typeface="Calibri"/>
                <a:ea typeface="Calibri"/>
                <a:cs typeface="Calibri"/>
                <a:sym typeface="Calibri"/>
              </a:rPr>
              <a:t>emp = array</a:t>
            </a:r>
            <a:endParaRPr sz="2000">
              <a:solidFill>
                <a:schemeClr val="dk1"/>
              </a:solidFill>
              <a:latin typeface="Calibri"/>
              <a:ea typeface="Calibri"/>
              <a:cs typeface="Calibri"/>
              <a:sym typeface="Calibri"/>
            </a:endParaRPr>
          </a:p>
          <a:p>
            <a:pPr indent="0" lvl="0" marL="115570" marR="0" rtl="0" algn="l">
              <a:lnSpc>
                <a:spcPct val="100000"/>
              </a:lnSpc>
              <a:spcBef>
                <a:spcPts val="5"/>
              </a:spcBef>
              <a:spcAft>
                <a:spcPts val="0"/>
              </a:spcAft>
              <a:buNone/>
            </a:pPr>
            <a:r>
              <a:rPr b="1" lang="en-US" sz="2000">
                <a:solidFill>
                  <a:srgbClr val="C00000"/>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1557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array(1,"sonoo",400000),  array(2,"john",500000),  array(3,"rahul",300000)</a:t>
            </a:r>
            <a:endParaRPr sz="2000">
              <a:solidFill>
                <a:schemeClr val="dk1"/>
              </a:solidFill>
              <a:latin typeface="Calibri"/>
              <a:ea typeface="Calibri"/>
              <a:cs typeface="Calibri"/>
              <a:sym typeface="Calibri"/>
            </a:endParaRPr>
          </a:p>
          <a:p>
            <a:pPr indent="0" lvl="0" marL="11557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657" name="Google Shape;657;p68"/>
          <p:cNvSpPr txBox="1"/>
          <p:nvPr/>
        </p:nvSpPr>
        <p:spPr>
          <a:xfrm>
            <a:off x="652068" y="4002989"/>
            <a:ext cx="3508500" cy="2159700"/>
          </a:xfrm>
          <a:prstGeom prst="rect">
            <a:avLst/>
          </a:prstGeom>
          <a:noFill/>
          <a:ln>
            <a:noFill/>
          </a:ln>
        </p:spPr>
        <p:txBody>
          <a:bodyPr anchorCtr="0" anchor="t" bIns="0" lIns="0" spcFirstLastPara="1" rIns="0" wrap="square" tIns="12050">
            <a:spAutoFit/>
          </a:bodyPr>
          <a:lstStyle/>
          <a:p>
            <a:pPr indent="-116205" lvl="0" marL="128270" marR="5080" rtl="0" algn="l">
              <a:lnSpc>
                <a:spcPct val="100000"/>
              </a:lnSpc>
              <a:spcBef>
                <a:spcPts val="0"/>
              </a:spcBef>
              <a:spcAft>
                <a:spcPts val="0"/>
              </a:spcAft>
              <a:buNone/>
            </a:pPr>
            <a:r>
              <a:rPr b="1" lang="en-US" sz="2000">
                <a:solidFill>
                  <a:schemeClr val="dk1"/>
                </a:solidFill>
                <a:latin typeface="Calibri"/>
                <a:ea typeface="Calibri"/>
                <a:cs typeface="Calibri"/>
                <a:sym typeface="Calibri"/>
              </a:rPr>
              <a:t>for </a:t>
            </a:r>
            <a:r>
              <a:rPr lang="en-US" sz="2000">
                <a:solidFill>
                  <a:schemeClr val="dk1"/>
                </a:solidFill>
                <a:latin typeface="Calibri"/>
                <a:ea typeface="Calibri"/>
                <a:cs typeface="Calibri"/>
                <a:sym typeface="Calibri"/>
              </a:rPr>
              <a:t>($row = 0; $row &lt; 3; $row++) {  </a:t>
            </a:r>
            <a:r>
              <a:rPr b="1" lang="en-US" sz="2000">
                <a:solidFill>
                  <a:schemeClr val="dk1"/>
                </a:solidFill>
                <a:latin typeface="Calibri"/>
                <a:ea typeface="Calibri"/>
                <a:cs typeface="Calibri"/>
                <a:sym typeface="Calibri"/>
              </a:rPr>
              <a:t>for </a:t>
            </a:r>
            <a:r>
              <a:rPr lang="en-US" sz="2000">
                <a:solidFill>
                  <a:schemeClr val="dk1"/>
                </a:solidFill>
                <a:latin typeface="Calibri"/>
                <a:ea typeface="Calibri"/>
                <a:cs typeface="Calibri"/>
                <a:sym typeface="Calibri"/>
              </a:rPr>
              <a:t>($col = 0; $col &lt; 3; $col++) {  echo $emp[$row][$col]."	";</a:t>
            </a:r>
            <a:endParaRPr sz="2000">
              <a:solidFill>
                <a:schemeClr val="dk1"/>
              </a:solidFill>
              <a:latin typeface="Calibri"/>
              <a:ea typeface="Calibri"/>
              <a:cs typeface="Calibri"/>
              <a:sym typeface="Calibri"/>
            </a:endParaRPr>
          </a:p>
          <a:p>
            <a:pPr indent="0" lvl="0" marL="128270" marR="0" rtl="0" algn="l">
              <a:lnSpc>
                <a:spcPct val="100000"/>
              </a:lnSpc>
              <a:spcBef>
                <a:spcPts val="5"/>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8270" marR="0" rtl="0" algn="l">
              <a:lnSpc>
                <a:spcPct val="100000"/>
              </a:lnSpc>
              <a:spcBef>
                <a:spcPts val="0"/>
              </a:spcBef>
              <a:spcAft>
                <a:spcPts val="0"/>
              </a:spcAft>
              <a:buNone/>
            </a:pPr>
            <a:r>
              <a:rPr lang="en-US" sz="2000">
                <a:solidFill>
                  <a:schemeClr val="dk1"/>
                </a:solidFill>
                <a:latin typeface="Calibri"/>
                <a:ea typeface="Calibri"/>
                <a:cs typeface="Calibri"/>
                <a:sym typeface="Calibri"/>
              </a:rPr>
              <a:t>echo "&lt;br/&gt;";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658" name="Google Shape;658;p68"/>
          <p:cNvSpPr txBox="1"/>
          <p:nvPr/>
        </p:nvSpPr>
        <p:spPr>
          <a:xfrm>
            <a:off x="5012563" y="5321553"/>
            <a:ext cx="1513840" cy="112331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1 sonoo 400000</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2 john 500000</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3 rahul 300000</a:t>
            </a:r>
            <a:endParaRPr sz="18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9"/>
          <p:cNvSpPr txBox="1"/>
          <p:nvPr>
            <p:ph type="title"/>
          </p:nvPr>
        </p:nvSpPr>
        <p:spPr>
          <a:xfrm>
            <a:off x="707542" y="292049"/>
            <a:ext cx="3930015" cy="6807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4300"/>
              <a:t>Array Operators</a:t>
            </a:r>
            <a:endParaRPr sz="4300"/>
          </a:p>
        </p:txBody>
      </p:sp>
      <p:graphicFrame>
        <p:nvGraphicFramePr>
          <p:cNvPr id="664" name="Google Shape;664;p69"/>
          <p:cNvGraphicFramePr/>
          <p:nvPr/>
        </p:nvGraphicFramePr>
        <p:xfrm>
          <a:off x="429107" y="1156588"/>
          <a:ext cx="3000000" cy="3000000"/>
        </p:xfrm>
        <a:graphic>
          <a:graphicData uri="http://schemas.openxmlformats.org/drawingml/2006/table">
            <a:tbl>
              <a:tblPr bandRow="1" firstRow="1">
                <a:noFill/>
                <a:tableStyleId>{06F41560-F12C-4508-8C44-9FB9A9501E1E}</a:tableStyleId>
              </a:tblPr>
              <a:tblGrid>
                <a:gridCol w="1184900"/>
                <a:gridCol w="1420500"/>
                <a:gridCol w="1342400"/>
                <a:gridCol w="3908425"/>
              </a:tblGrid>
              <a:tr h="882150">
                <a:tc>
                  <a:txBody>
                    <a:bodyPr/>
                    <a:lstStyle/>
                    <a:p>
                      <a:pPr indent="-302260" lvl="0" marL="482600" marR="116839"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Operat  or</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334645" marR="0"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Name</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133350" marR="0" rtl="0" algn="l">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Example</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1550670" rtl="0" algn="r">
                        <a:lnSpc>
                          <a:spcPct val="100000"/>
                        </a:lnSpc>
                        <a:spcBef>
                          <a:spcPts val="0"/>
                        </a:spcBef>
                        <a:spcAft>
                          <a:spcPts val="0"/>
                        </a:spcAft>
                        <a:buNone/>
                      </a:pPr>
                      <a:r>
                        <a:rPr b="1" lang="en-US" sz="2400" u="none" cap="none" strike="noStrike">
                          <a:solidFill>
                            <a:srgbClr val="C00000"/>
                          </a:solidFill>
                          <a:latin typeface="Calibri"/>
                          <a:ea typeface="Calibri"/>
                          <a:cs typeface="Calibri"/>
                          <a:sym typeface="Calibri"/>
                        </a:rPr>
                        <a:t>Result</a:t>
                      </a:r>
                      <a:endParaRPr sz="2400" u="none" cap="none" strike="noStrike">
                        <a:latin typeface="Calibri"/>
                        <a:ea typeface="Calibri"/>
                        <a:cs typeface="Calibri"/>
                        <a:sym typeface="Calibri"/>
                      </a:endParaRPr>
                    </a:p>
                  </a:txBody>
                  <a:tcPr marT="603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634500">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6514" marR="0" rtl="0" algn="l">
                        <a:lnSpc>
                          <a:spcPct val="100000"/>
                        </a:lnSpc>
                        <a:spcBef>
                          <a:spcPts val="0"/>
                        </a:spcBef>
                        <a:spcAft>
                          <a:spcPts val="0"/>
                        </a:spcAft>
                        <a:buNone/>
                      </a:pPr>
                      <a:r>
                        <a:rPr lang="en-US" sz="2400" u="none" cap="none" strike="noStrike">
                          <a:latin typeface="Calibri"/>
                          <a:ea typeface="Calibri"/>
                          <a:cs typeface="Calibri"/>
                          <a:sym typeface="Calibri"/>
                        </a:rPr>
                        <a:t>Union</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0" marR="1522730" rtl="0" algn="r">
                        <a:lnSpc>
                          <a:spcPct val="100000"/>
                        </a:lnSpc>
                        <a:spcBef>
                          <a:spcPts val="0"/>
                        </a:spcBef>
                        <a:spcAft>
                          <a:spcPts val="0"/>
                        </a:spcAft>
                        <a:buNone/>
                      </a:pPr>
                      <a:r>
                        <a:rPr lang="en-US" sz="2400" u="none" cap="none" strike="noStrike">
                          <a:latin typeface="Calibri"/>
                          <a:ea typeface="Calibri"/>
                          <a:cs typeface="Calibri"/>
                          <a:sym typeface="Calibri"/>
                        </a:rPr>
                        <a:t>Union of $x and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882150">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6514" marR="0" rtl="0" algn="l">
                        <a:lnSpc>
                          <a:spcPct val="100000"/>
                        </a:lnSpc>
                        <a:spcBef>
                          <a:spcPts val="0"/>
                        </a:spcBef>
                        <a:spcAft>
                          <a:spcPts val="0"/>
                        </a:spcAft>
                        <a:buNone/>
                      </a:pPr>
                      <a:r>
                        <a:rPr lang="en-US" sz="2400" u="none" cap="none" strike="noStrike">
                          <a:latin typeface="Calibri"/>
                          <a:ea typeface="Calibri"/>
                          <a:cs typeface="Calibri"/>
                          <a:sym typeface="Calibri"/>
                        </a:rPr>
                        <a:t>Equality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159385" rtl="0" algn="l">
                        <a:lnSpc>
                          <a:spcPct val="100000"/>
                        </a:lnSpc>
                        <a:spcBef>
                          <a:spcPts val="0"/>
                        </a:spcBef>
                        <a:spcAft>
                          <a:spcPts val="0"/>
                        </a:spcAft>
                        <a:buNone/>
                      </a:pPr>
                      <a:r>
                        <a:rPr lang="en-US" sz="2400" u="none" cap="none" strike="noStrike">
                          <a:latin typeface="Calibri"/>
                          <a:ea typeface="Calibri"/>
                          <a:cs typeface="Calibri"/>
                          <a:sym typeface="Calibri"/>
                        </a:rPr>
                        <a:t>Returns true if $x and $y have  the same key/value pairs</a:t>
                      </a:r>
                      <a:endParaRPr sz="2400" u="none" cap="none" strike="noStrike">
                        <a:latin typeface="Calibri"/>
                        <a:ea typeface="Calibri"/>
                        <a:cs typeface="Calibri"/>
                        <a:sym typeface="Calibri"/>
                      </a:endParaRPr>
                    </a:p>
                  </a:txBody>
                  <a:tcPr marT="609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16135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6514" marR="0" rtl="0" algn="l">
                        <a:lnSpc>
                          <a:spcPct val="100000"/>
                        </a:lnSpc>
                        <a:spcBef>
                          <a:spcPts val="0"/>
                        </a:spcBef>
                        <a:spcAft>
                          <a:spcPts val="0"/>
                        </a:spcAft>
                        <a:buNone/>
                      </a:pPr>
                      <a:r>
                        <a:rPr lang="en-US" sz="2400" u="none" cap="none" strike="noStrike">
                          <a:latin typeface="Calibri"/>
                          <a:ea typeface="Calibri"/>
                          <a:cs typeface="Calibri"/>
                          <a:sym typeface="Calibri"/>
                        </a:rPr>
                        <a:t>Identity</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785" marR="159385" rtl="0" algn="l">
                        <a:lnSpc>
                          <a:spcPct val="100000"/>
                        </a:lnSpc>
                        <a:spcBef>
                          <a:spcPts val="0"/>
                        </a:spcBef>
                        <a:spcAft>
                          <a:spcPts val="0"/>
                        </a:spcAft>
                        <a:buNone/>
                      </a:pPr>
                      <a:r>
                        <a:rPr lang="en-US" sz="2400" u="none" cap="none" strike="noStrike">
                          <a:latin typeface="Calibri"/>
                          <a:ea typeface="Calibri"/>
                          <a:cs typeface="Calibri"/>
                          <a:sym typeface="Calibri"/>
                        </a:rPr>
                        <a:t>Returns true if $x and $y have  the same key/value pairs in  the same order and of the  same types</a:t>
                      </a:r>
                      <a:endParaRPr sz="2400" u="none" cap="none" strike="noStrike">
                        <a:latin typeface="Calibri"/>
                        <a:ea typeface="Calibri"/>
                        <a:cs typeface="Calibri"/>
                        <a:sym typeface="Calibri"/>
                      </a:endParaRPr>
                    </a:p>
                  </a:txBody>
                  <a:tcPr marT="616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r>
              <a:tr h="8820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6514" marR="0" rtl="0" algn="l">
                        <a:lnSpc>
                          <a:spcPct val="100000"/>
                        </a:lnSpc>
                        <a:spcBef>
                          <a:spcPts val="0"/>
                        </a:spcBef>
                        <a:spcAft>
                          <a:spcPts val="0"/>
                        </a:spcAft>
                        <a:buNone/>
                      </a:pPr>
                      <a:r>
                        <a:rPr lang="en-US" sz="2400" u="none" cap="none" strike="noStrike">
                          <a:latin typeface="Calibri"/>
                          <a:ea typeface="Calibri"/>
                          <a:cs typeface="Calibri"/>
                          <a:sym typeface="Calibri"/>
                        </a:rPr>
                        <a:t>Inequality</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 $y</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Returns true if $x is not equal</a:t>
                      </a:r>
                      <a:endParaRPr sz="2400" u="none" cap="none" strike="noStrike">
                        <a:latin typeface="Calibri"/>
                        <a:ea typeface="Calibri"/>
                        <a:cs typeface="Calibri"/>
                        <a:sym typeface="Calibri"/>
                      </a:endParaRPr>
                    </a:p>
                    <a:p>
                      <a:pPr indent="0" lvl="0" marL="57785" marR="0" rtl="0" algn="l">
                        <a:lnSpc>
                          <a:spcPct val="100000"/>
                        </a:lnSpc>
                        <a:spcBef>
                          <a:spcPts val="0"/>
                        </a:spcBef>
                        <a:spcAft>
                          <a:spcPts val="0"/>
                        </a:spcAft>
                        <a:buNone/>
                      </a:pPr>
                      <a:r>
                        <a:rPr lang="en-US" sz="2400" u="none" cap="none" strike="noStrike">
                          <a:latin typeface="Calibri"/>
                          <a:ea typeface="Calibri"/>
                          <a:cs typeface="Calibri"/>
                          <a:sym typeface="Calibri"/>
                        </a:rPr>
                        <a:t>to $y</a:t>
                      </a:r>
                      <a:endParaRPr sz="2400" u="none" cap="none" strike="noStrike">
                        <a:latin typeface="Calibri"/>
                        <a:ea typeface="Calibri"/>
                        <a:cs typeface="Calibri"/>
                        <a:sym typeface="Calibri"/>
                      </a:endParaRPr>
                    </a:p>
                  </a:txBody>
                  <a:tcPr marT="622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r>
              <a:tr h="800725">
                <a:tc>
                  <a:txBody>
                    <a:bodyPr/>
                    <a:lstStyle/>
                    <a:p>
                      <a:pPr indent="0" lvl="0" marL="113029" marR="0" rtl="0" algn="l">
                        <a:lnSpc>
                          <a:spcPct val="100000"/>
                        </a:lnSpc>
                        <a:spcBef>
                          <a:spcPts val="0"/>
                        </a:spcBef>
                        <a:spcAft>
                          <a:spcPts val="0"/>
                        </a:spcAft>
                        <a:buNone/>
                      </a:pPr>
                      <a:r>
                        <a:rPr lang="en-US" sz="2400" u="none" cap="none" strike="noStrike">
                          <a:latin typeface="Calibri"/>
                          <a:ea typeface="Calibri"/>
                          <a:cs typeface="Calibri"/>
                          <a:sym typeface="Calibri"/>
                        </a:rPr>
                        <a:t>&lt;&gt;</a:t>
                      </a:r>
                      <a:endParaRPr sz="2400" u="none" cap="none" strike="noStrike">
                        <a:latin typeface="Calibri"/>
                        <a:ea typeface="Calibri"/>
                        <a:cs typeface="Calibri"/>
                        <a:sym typeface="Calibri"/>
                      </a:endParaRPr>
                    </a:p>
                  </a:txBody>
                  <a:tcPr marT="6287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solidFill>
                      <a:srgbClr val="F0F0F0"/>
                    </a:solidFill>
                  </a:tcPr>
                </a:tc>
                <a:tc>
                  <a:txBody>
                    <a:bodyPr/>
                    <a:lstStyle/>
                    <a:p>
                      <a:pPr indent="0" lvl="0" marL="56514" marR="0" rtl="0" algn="l">
                        <a:lnSpc>
                          <a:spcPct val="100000"/>
                        </a:lnSpc>
                        <a:spcBef>
                          <a:spcPts val="0"/>
                        </a:spcBef>
                        <a:spcAft>
                          <a:spcPts val="0"/>
                        </a:spcAft>
                        <a:buNone/>
                      </a:pPr>
                      <a:r>
                        <a:rPr lang="en-US" sz="2400" u="none" cap="none" strike="noStrike">
                          <a:latin typeface="Calibri"/>
                          <a:ea typeface="Calibri"/>
                          <a:cs typeface="Calibri"/>
                          <a:sym typeface="Calibri"/>
                        </a:rPr>
                        <a:t>Inequality</a:t>
                      </a:r>
                      <a:endParaRPr sz="2400" u="none" cap="none" strike="noStrike">
                        <a:latin typeface="Calibri"/>
                        <a:ea typeface="Calibri"/>
                        <a:cs typeface="Calibri"/>
                        <a:sym typeface="Calibri"/>
                      </a:endParaRPr>
                    </a:p>
                  </a:txBody>
                  <a:tcPr marT="6287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solidFill>
                      <a:srgbClr val="F0F0F0"/>
                    </a:solidFill>
                  </a:tcPr>
                </a:tc>
                <a:tc>
                  <a:txBody>
                    <a:bodyPr/>
                    <a:lstStyle/>
                    <a:p>
                      <a:pPr indent="0" lvl="0" marL="57150" marR="0" rtl="0" algn="l">
                        <a:lnSpc>
                          <a:spcPct val="100000"/>
                        </a:lnSpc>
                        <a:spcBef>
                          <a:spcPts val="0"/>
                        </a:spcBef>
                        <a:spcAft>
                          <a:spcPts val="0"/>
                        </a:spcAft>
                        <a:buNone/>
                      </a:pPr>
                      <a:r>
                        <a:rPr lang="en-US" sz="2400" u="none" cap="none" strike="noStrike">
                          <a:latin typeface="Calibri"/>
                          <a:ea typeface="Calibri"/>
                          <a:cs typeface="Calibri"/>
                          <a:sym typeface="Calibri"/>
                        </a:rPr>
                        <a:t>$x &lt;&gt; $y</a:t>
                      </a:r>
                      <a:endParaRPr sz="2400" u="none" cap="none" strike="noStrike">
                        <a:latin typeface="Calibri"/>
                        <a:ea typeface="Calibri"/>
                        <a:cs typeface="Calibri"/>
                        <a:sym typeface="Calibri"/>
                      </a:endParaRPr>
                    </a:p>
                  </a:txBody>
                  <a:tcPr marT="6287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solidFill>
                      <a:srgbClr val="F0F0F0"/>
                    </a:solidFill>
                  </a:tcPr>
                </a:tc>
                <a:tc>
                  <a:txBody>
                    <a:bodyPr/>
                    <a:lstStyle/>
                    <a:p>
                      <a:pPr indent="0" lvl="0" marL="57785" marR="201930" rtl="0" algn="l">
                        <a:lnSpc>
                          <a:spcPct val="100000"/>
                        </a:lnSpc>
                        <a:spcBef>
                          <a:spcPts val="0"/>
                        </a:spcBef>
                        <a:spcAft>
                          <a:spcPts val="0"/>
                        </a:spcAft>
                        <a:buNone/>
                      </a:pPr>
                      <a:r>
                        <a:rPr lang="en-US" sz="2400" u="none" cap="none" strike="noStrike">
                          <a:latin typeface="Calibri"/>
                          <a:ea typeface="Calibri"/>
                          <a:cs typeface="Calibri"/>
                          <a:sym typeface="Calibri"/>
                        </a:rPr>
                        <a:t>Returns true if $x is not equal  to $y</a:t>
                      </a:r>
                      <a:endParaRPr sz="2400" u="none" cap="none" strike="noStrike">
                        <a:latin typeface="Calibri"/>
                        <a:ea typeface="Calibri"/>
                        <a:cs typeface="Calibri"/>
                        <a:sym typeface="Calibri"/>
                      </a:endParaRPr>
                    </a:p>
                  </a:txBody>
                  <a:tcPr marT="565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solidFill>
                      <a:srgbClr val="F0F0F0"/>
                    </a:solidFill>
                  </a:tcPr>
                </a:tc>
              </a:tr>
            </a:tbl>
          </a:graphicData>
        </a:graphic>
      </p:graphicFrame>
      <p:sp>
        <p:nvSpPr>
          <p:cNvPr id="665" name="Google Shape;665;p69"/>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69"/>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69"/>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63</a:t>
            </a:r>
            <a:endParaRPr sz="18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70"/>
          <p:cNvSpPr txBox="1"/>
          <p:nvPr>
            <p:ph type="title"/>
          </p:nvPr>
        </p:nvSpPr>
        <p:spPr>
          <a:xfrm>
            <a:off x="536244" y="464896"/>
            <a:ext cx="6706234"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Array Operators: Example</a:t>
            </a:r>
            <a:endParaRPr/>
          </a:p>
        </p:txBody>
      </p:sp>
      <p:sp>
        <p:nvSpPr>
          <p:cNvPr id="673" name="Google Shape;673;p70"/>
          <p:cNvSpPr txBox="1"/>
          <p:nvPr/>
        </p:nvSpPr>
        <p:spPr>
          <a:xfrm>
            <a:off x="536244" y="1950796"/>
            <a:ext cx="4734560" cy="338137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$x = array("a" =&gt; "red", "b" =&gt; "green");</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$y = array("c" =&gt; "blue", "d" =&gt; "yellow");</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var_dump($x != $y);</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674" name="Google Shape;674;p70"/>
          <p:cNvSpPr txBox="1"/>
          <p:nvPr/>
        </p:nvSpPr>
        <p:spPr>
          <a:xfrm>
            <a:off x="536244" y="5641035"/>
            <a:ext cx="984885" cy="69786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675" name="Google Shape;675;p70"/>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70"/>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70"/>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64</a:t>
            </a:r>
            <a:endParaRPr sz="1800">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1"/>
          <p:cNvSpPr txBox="1"/>
          <p:nvPr>
            <p:ph type="title"/>
          </p:nvPr>
        </p:nvSpPr>
        <p:spPr>
          <a:xfrm>
            <a:off x="536244" y="547496"/>
            <a:ext cx="381444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Functions(1)</a:t>
            </a:r>
            <a:endParaRPr sz="3600"/>
          </a:p>
        </p:txBody>
      </p:sp>
      <p:sp>
        <p:nvSpPr>
          <p:cNvPr id="683" name="Google Shape;683;p71"/>
          <p:cNvSpPr txBox="1"/>
          <p:nvPr/>
        </p:nvSpPr>
        <p:spPr>
          <a:xfrm>
            <a:off x="194563" y="1579062"/>
            <a:ext cx="7898765" cy="4533265"/>
          </a:xfrm>
          <a:prstGeom prst="rect">
            <a:avLst/>
          </a:prstGeom>
          <a:noFill/>
          <a:ln>
            <a:noFill/>
          </a:ln>
        </p:spPr>
        <p:txBody>
          <a:bodyPr anchorCtr="0" anchor="t" bIns="0" lIns="0" spcFirstLastPara="1" rIns="0" wrap="square" tIns="78725">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array_change_key_case() function</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490"/>
              </a:spcBef>
              <a:spcAft>
                <a:spcPts val="0"/>
              </a:spcAft>
              <a:buNone/>
            </a:pP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array_change_key_case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 [, int $case = CASE_LOWER] )</a:t>
            </a:r>
            <a:endParaRPr sz="2000">
              <a:solidFill>
                <a:schemeClr val="dk1"/>
              </a:solidFill>
              <a:latin typeface="Calibri"/>
              <a:ea typeface="Calibri"/>
              <a:cs typeface="Calibri"/>
              <a:sym typeface="Calibri"/>
            </a:endParaRPr>
          </a:p>
          <a:p>
            <a:pPr indent="-229234" lvl="0" marL="241300" marR="0" rtl="0" algn="l">
              <a:lnSpc>
                <a:spcPct val="100000"/>
              </a:lnSpc>
              <a:spcBef>
                <a:spcPts val="480"/>
              </a:spcBef>
              <a:spcAft>
                <a:spcPts val="0"/>
              </a:spcAft>
              <a:buClr>
                <a:srgbClr val="4F81BC"/>
              </a:buClr>
              <a:buSzPts val="2000"/>
              <a:buFont typeface="Arial"/>
              <a:buChar char="•"/>
            </a:pPr>
            <a:r>
              <a:rPr lang="en-US" sz="2000">
                <a:solidFill>
                  <a:srgbClr val="FF0000"/>
                </a:solidFill>
                <a:latin typeface="Calibri"/>
                <a:ea typeface="Calibri"/>
                <a:cs typeface="Calibri"/>
                <a:sym typeface="Calibri"/>
              </a:rPr>
              <a:t>Note: It changes case of key only.</a:t>
            </a:r>
            <a:endParaRPr sz="2000">
              <a:solidFill>
                <a:schemeClr val="dk1"/>
              </a:solidFill>
              <a:latin typeface="Calibri"/>
              <a:ea typeface="Calibri"/>
              <a:cs typeface="Calibri"/>
              <a:sym typeface="Calibri"/>
            </a:endParaRPr>
          </a:p>
          <a:p>
            <a:pPr indent="0" lvl="0" marL="0" marR="0" rtl="0" algn="l">
              <a:lnSpc>
                <a:spcPct val="100000"/>
              </a:lnSpc>
              <a:spcBef>
                <a:spcPts val="5"/>
              </a:spcBef>
              <a:spcAft>
                <a:spcPts val="0"/>
              </a:spcAft>
              <a:buClr>
                <a:schemeClr val="dk1"/>
              </a:buClr>
              <a:buSzPts val="2750"/>
              <a:buFont typeface="Calibri"/>
              <a:buNone/>
            </a:pPr>
            <a:r>
              <a:t/>
            </a:r>
            <a:endParaRPr sz="2750">
              <a:solidFill>
                <a:schemeClr val="dk1"/>
              </a:solidFill>
              <a:latin typeface="Calibri"/>
              <a:ea typeface="Calibri"/>
              <a:cs typeface="Calibri"/>
              <a:sym typeface="Calibri"/>
            </a:endParaRPr>
          </a:p>
          <a:p>
            <a:pPr indent="-229234" lvl="0" marL="241300" marR="0" rtl="0" algn="l">
              <a:lnSpc>
                <a:spcPct val="100000"/>
              </a:lnSpc>
              <a:spcBef>
                <a:spcPts val="5"/>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$salary=</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("Sonoo"=&gt;"550000","Vimal"=&gt;"250000","Ratan"=&gt;"200000");</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print_r(array_change_key_case($salary,CASE_UPPER));</a:t>
            </a:r>
            <a:endParaRPr sz="2000">
              <a:solidFill>
                <a:schemeClr val="dk1"/>
              </a:solidFill>
              <a:latin typeface="Calibri"/>
              <a:ea typeface="Calibri"/>
              <a:cs typeface="Calibri"/>
              <a:sym typeface="Calibri"/>
            </a:endParaRPr>
          </a:p>
          <a:p>
            <a:pPr indent="0" lvl="0" marL="12700" marR="0" rtl="0" algn="l">
              <a:lnSpc>
                <a:spcPct val="100000"/>
              </a:lnSpc>
              <a:spcBef>
                <a:spcPts val="484"/>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1156970" marR="0" rtl="0" algn="l">
              <a:lnSpc>
                <a:spcPct val="100000"/>
              </a:lnSpc>
              <a:spcBef>
                <a:spcPts val="1775"/>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156970" marR="0" rtl="0" algn="l">
              <a:lnSpc>
                <a:spcPct val="100000"/>
              </a:lnSpc>
              <a:spcBef>
                <a:spcPts val="0"/>
              </a:spcBef>
              <a:spcAft>
                <a:spcPts val="0"/>
              </a:spcAft>
              <a:buNone/>
            </a:pPr>
            <a:r>
              <a:rPr lang="en-US" sz="1800">
                <a:solidFill>
                  <a:schemeClr val="dk1"/>
                </a:solidFill>
                <a:latin typeface="Calibri"/>
                <a:ea typeface="Calibri"/>
                <a:cs typeface="Calibri"/>
                <a:sym typeface="Calibri"/>
              </a:rPr>
              <a:t>Array ( [SONOO] =&gt; 550000 [VIMAL] =&gt; 250000 [RATAN] =&gt; 200000 )</a:t>
            </a:r>
            <a:endParaRPr sz="18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72"/>
          <p:cNvSpPr txBox="1"/>
          <p:nvPr>
            <p:ph type="title"/>
          </p:nvPr>
        </p:nvSpPr>
        <p:spPr>
          <a:xfrm>
            <a:off x="536244" y="547496"/>
            <a:ext cx="38150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Functions(2)</a:t>
            </a:r>
            <a:endParaRPr sz="3600"/>
          </a:p>
        </p:txBody>
      </p:sp>
      <p:sp>
        <p:nvSpPr>
          <p:cNvPr id="689" name="Google Shape;689;p72"/>
          <p:cNvSpPr txBox="1"/>
          <p:nvPr/>
        </p:nvSpPr>
        <p:spPr>
          <a:xfrm>
            <a:off x="374091" y="1549603"/>
            <a:ext cx="7830820" cy="4909185"/>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array_chunk() function</a:t>
            </a:r>
            <a:endParaRPr sz="2200">
              <a:solidFill>
                <a:schemeClr val="dk1"/>
              </a:solidFill>
              <a:latin typeface="Calibri"/>
              <a:ea typeface="Calibri"/>
              <a:cs typeface="Calibri"/>
              <a:sym typeface="Calibri"/>
            </a:endParaRPr>
          </a:p>
          <a:p>
            <a:pPr indent="-229234" lvl="0" marL="241300" marR="744855"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array_chunk() function splits array into chunks. By using  array_chunk() method, you can divide array into many parts.</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484"/>
              </a:spcBef>
              <a:spcAft>
                <a:spcPts val="0"/>
              </a:spcAft>
              <a:buNone/>
            </a:pP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array_chunk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 , int $size [, bool $preserve_keys = false ] )</a:t>
            </a:r>
            <a:endParaRPr sz="2000">
              <a:solidFill>
                <a:schemeClr val="dk1"/>
              </a:solidFill>
              <a:latin typeface="Calibri"/>
              <a:ea typeface="Calibri"/>
              <a:cs typeface="Calibri"/>
              <a:sym typeface="Calibri"/>
            </a:endParaRPr>
          </a:p>
          <a:p>
            <a:pPr indent="-229234" lvl="0" marL="241300" marR="0" rtl="0" algn="l">
              <a:lnSpc>
                <a:spcPct val="100000"/>
              </a:lnSpc>
              <a:spcBef>
                <a:spcPts val="484"/>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$salary=</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("Sonoo"=&gt;"550000","Vimal"=&gt;"250000","Ratan"=&gt;"200000")</a:t>
            </a:r>
            <a:endParaRPr sz="2000">
              <a:solidFill>
                <a:schemeClr val="dk1"/>
              </a:solidFill>
              <a:latin typeface="Calibri"/>
              <a:ea typeface="Calibri"/>
              <a:cs typeface="Calibri"/>
              <a:sym typeface="Calibri"/>
            </a:endParaRPr>
          </a:p>
          <a:p>
            <a:pPr indent="0" lvl="0" marL="128270" marR="0" rtl="0" algn="l">
              <a:lnSpc>
                <a:spcPct val="100000"/>
              </a:lnSpc>
              <a:spcBef>
                <a:spcPts val="0"/>
              </a:spcBef>
              <a:spcAft>
                <a:spcPts val="0"/>
              </a:spcAft>
              <a:buNone/>
            </a:pPr>
            <a:r>
              <a:rPr lang="en-US" sz="2000">
                <a:solidFill>
                  <a:schemeClr val="dk1"/>
                </a:solidFill>
                <a:latin typeface="Calibri"/>
                <a:ea typeface="Calibri"/>
                <a:cs typeface="Calibri"/>
                <a:sym typeface="Calibri"/>
              </a:rPr>
              <a:t>print_r(array_chunk($salary,2));</a:t>
            </a:r>
            <a:endParaRPr sz="2000">
              <a:solidFill>
                <a:schemeClr val="dk1"/>
              </a:solidFill>
              <a:latin typeface="Calibri"/>
              <a:ea typeface="Calibri"/>
              <a:cs typeface="Calibri"/>
              <a:sym typeface="Calibri"/>
            </a:endParaRPr>
          </a:p>
          <a:p>
            <a:pPr indent="0" lvl="0" marL="12700" marR="0" rtl="0" algn="l">
              <a:lnSpc>
                <a:spcPct val="100000"/>
              </a:lnSpc>
              <a:spcBef>
                <a:spcPts val="484"/>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450">
              <a:solidFill>
                <a:schemeClr val="dk1"/>
              </a:solidFill>
              <a:latin typeface="Calibri"/>
              <a:ea typeface="Calibri"/>
              <a:cs typeface="Calibri"/>
              <a:sym typeface="Calibri"/>
            </a:endParaRPr>
          </a:p>
          <a:p>
            <a:pPr indent="0" lvl="0" marL="284988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2849880" marR="0" rtl="0" algn="l">
              <a:lnSpc>
                <a:spcPct val="100000"/>
              </a:lnSpc>
              <a:spcBef>
                <a:spcPts val="5"/>
              </a:spcBef>
              <a:spcAft>
                <a:spcPts val="0"/>
              </a:spcAft>
              <a:buNone/>
            </a:pPr>
            <a:r>
              <a:rPr lang="en-US" sz="1800">
                <a:solidFill>
                  <a:schemeClr val="dk1"/>
                </a:solidFill>
                <a:latin typeface="Calibri"/>
                <a:ea typeface="Calibri"/>
                <a:cs typeface="Calibri"/>
                <a:sym typeface="Calibri"/>
              </a:rPr>
              <a:t>Array ( [0] =&gt; Array ( [0] =&gt; 550000 [1] =&gt; 250000 )</a:t>
            </a:r>
            <a:endParaRPr sz="1800">
              <a:solidFill>
                <a:schemeClr val="dk1"/>
              </a:solidFill>
              <a:latin typeface="Calibri"/>
              <a:ea typeface="Calibri"/>
              <a:cs typeface="Calibri"/>
              <a:sym typeface="Calibri"/>
            </a:endParaRPr>
          </a:p>
          <a:p>
            <a:pPr indent="0" lvl="0" marL="2849880" marR="0" rtl="0" algn="l">
              <a:lnSpc>
                <a:spcPct val="100000"/>
              </a:lnSpc>
              <a:spcBef>
                <a:spcPts val="0"/>
              </a:spcBef>
              <a:spcAft>
                <a:spcPts val="0"/>
              </a:spcAft>
              <a:buNone/>
            </a:pPr>
            <a:r>
              <a:rPr lang="en-US" sz="1800">
                <a:solidFill>
                  <a:schemeClr val="dk1"/>
                </a:solidFill>
                <a:latin typeface="Calibri"/>
                <a:ea typeface="Calibri"/>
                <a:cs typeface="Calibri"/>
                <a:sym typeface="Calibri"/>
              </a:rPr>
              <a:t>[1] =&gt; Array ( [0] =&gt; 200000 ) )</a:t>
            </a:r>
            <a:endParaRPr sz="18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73"/>
          <p:cNvSpPr txBox="1"/>
          <p:nvPr>
            <p:ph type="title"/>
          </p:nvPr>
        </p:nvSpPr>
        <p:spPr>
          <a:xfrm>
            <a:off x="536244" y="547496"/>
            <a:ext cx="38150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Functions(3)</a:t>
            </a:r>
            <a:endParaRPr sz="3600"/>
          </a:p>
        </p:txBody>
      </p:sp>
      <p:sp>
        <p:nvSpPr>
          <p:cNvPr id="695" name="Google Shape;695;p73"/>
          <p:cNvSpPr txBox="1"/>
          <p:nvPr/>
        </p:nvSpPr>
        <p:spPr>
          <a:xfrm>
            <a:off x="652068" y="1549603"/>
            <a:ext cx="7627500" cy="451560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count() function</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count() function counts all elements in an array.</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490"/>
              </a:spcBef>
              <a:spcAft>
                <a:spcPts val="0"/>
              </a:spcAft>
              <a:buNone/>
            </a:pPr>
            <a:r>
              <a:rPr lang="en-US" sz="2000">
                <a:solidFill>
                  <a:schemeClr val="dk1"/>
                </a:solidFill>
                <a:latin typeface="Calibri"/>
                <a:ea typeface="Calibri"/>
                <a:cs typeface="Calibri"/>
                <a:sym typeface="Calibri"/>
              </a:rPr>
              <a:t>int count ( mixed $array_or_countable [, int $mode = COUNT_NORMAL ] )</a:t>
            </a:r>
            <a:endParaRPr sz="20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35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484"/>
              </a:spcBef>
              <a:spcAft>
                <a:spcPts val="0"/>
              </a:spcAft>
              <a:buNone/>
            </a:pPr>
            <a:r>
              <a:rPr lang="en-US" sz="2000">
                <a:solidFill>
                  <a:schemeClr val="dk1"/>
                </a:solidFill>
                <a:latin typeface="Calibri"/>
                <a:ea typeface="Calibri"/>
                <a:cs typeface="Calibri"/>
                <a:sym typeface="Calibri"/>
              </a:rPr>
              <a:t>$season=</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("summer","winter","spring","autumn");</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echo count($season);</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4876800" marR="0" rtl="0" algn="l">
              <a:lnSpc>
                <a:spcPct val="100000"/>
              </a:lnSpc>
              <a:spcBef>
                <a:spcPts val="163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4876800" marR="0" rtl="0" algn="l">
              <a:lnSpc>
                <a:spcPct val="100000"/>
              </a:lnSpc>
              <a:spcBef>
                <a:spcPts val="0"/>
              </a:spcBef>
              <a:spcAft>
                <a:spcPts val="0"/>
              </a:spcAft>
              <a:buNone/>
            </a:pPr>
            <a:r>
              <a:rPr lang="en-US" sz="18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74"/>
          <p:cNvSpPr txBox="1"/>
          <p:nvPr/>
        </p:nvSpPr>
        <p:spPr>
          <a:xfrm>
            <a:off x="652068" y="1557069"/>
            <a:ext cx="6459855" cy="3318510"/>
          </a:xfrm>
          <a:prstGeom prst="rect">
            <a:avLst/>
          </a:prstGeom>
          <a:noFill/>
          <a:ln>
            <a:noFill/>
          </a:ln>
        </p:spPr>
        <p:txBody>
          <a:bodyPr anchorCtr="0" anchor="t" bIns="0" lIns="0" spcFirstLastPara="1" rIns="0" wrap="square" tIns="73025">
            <a:spAutoFit/>
          </a:bodyPr>
          <a:lstStyle/>
          <a:p>
            <a:pPr indent="0" lvl="0" marL="1270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PHP sort() function</a:t>
            </a:r>
            <a:endParaRPr sz="2000">
              <a:solidFill>
                <a:schemeClr val="dk1"/>
              </a:solidFill>
              <a:latin typeface="Calibri"/>
              <a:ea typeface="Calibri"/>
              <a:cs typeface="Calibri"/>
              <a:sym typeface="Calibri"/>
            </a:endParaRPr>
          </a:p>
          <a:p>
            <a:pPr indent="-228600" lvl="0" marL="241300" marR="0" rtl="0" algn="l">
              <a:lnSpc>
                <a:spcPct val="100000"/>
              </a:lnSpc>
              <a:spcBef>
                <a:spcPts val="48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PHP sort() function sorts all the elements in an array.</a:t>
            </a:r>
            <a:endParaRPr sz="2000">
              <a:solidFill>
                <a:schemeClr val="dk1"/>
              </a:solidFill>
              <a:latin typeface="Calibri"/>
              <a:ea typeface="Calibri"/>
              <a:cs typeface="Calibri"/>
              <a:sym typeface="Calibri"/>
            </a:endParaRPr>
          </a:p>
          <a:p>
            <a:pPr indent="-228600" lvl="0" marL="241300" marR="0" rtl="0" algn="l">
              <a:lnSpc>
                <a:spcPct val="100000"/>
              </a:lnSpc>
              <a:spcBef>
                <a:spcPts val="484"/>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bool sort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&amp;$array [, int $sort_flags = SORT_REGULAR ] )</a:t>
            </a:r>
            <a:endParaRPr sz="2000">
              <a:solidFill>
                <a:schemeClr val="dk1"/>
              </a:solidFill>
              <a:latin typeface="Calibri"/>
              <a:ea typeface="Calibri"/>
              <a:cs typeface="Calibri"/>
              <a:sym typeface="Calibri"/>
            </a:endParaRPr>
          </a:p>
          <a:p>
            <a:pPr indent="-228600" lvl="0" marL="241300" marR="0" rtl="0" algn="l">
              <a:lnSpc>
                <a:spcPct val="100000"/>
              </a:lnSpc>
              <a:spcBef>
                <a:spcPts val="48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484"/>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$season=</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("summer","winter","spring","autumn");</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sort($season);</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b="1" lang="en-US" sz="2000">
                <a:solidFill>
                  <a:schemeClr val="dk1"/>
                </a:solidFill>
                <a:latin typeface="Calibri"/>
                <a:ea typeface="Calibri"/>
                <a:cs typeface="Calibri"/>
                <a:sym typeface="Calibri"/>
              </a:rPr>
              <a:t>foreach</a:t>
            </a:r>
            <a:r>
              <a:rPr lang="en-US" sz="2000">
                <a:solidFill>
                  <a:schemeClr val="dk1"/>
                </a:solidFill>
                <a:latin typeface="Calibri"/>
                <a:ea typeface="Calibri"/>
                <a:cs typeface="Calibri"/>
                <a:sym typeface="Calibri"/>
              </a:rPr>
              <a:t>( $season </a:t>
            </a:r>
            <a:r>
              <a:rPr b="1" lang="en-US" sz="2000">
                <a:solidFill>
                  <a:schemeClr val="dk1"/>
                </a:solidFill>
                <a:latin typeface="Calibri"/>
                <a:ea typeface="Calibri"/>
                <a:cs typeface="Calibri"/>
                <a:sym typeface="Calibri"/>
              </a:rPr>
              <a:t>as </a:t>
            </a:r>
            <a:r>
              <a:rPr lang="en-US" sz="2000">
                <a:solidFill>
                  <a:schemeClr val="dk1"/>
                </a:solidFill>
                <a:latin typeface="Calibri"/>
                <a:ea typeface="Calibri"/>
                <a:cs typeface="Calibri"/>
                <a:sym typeface="Calibri"/>
              </a:rPr>
              <a:t>$s )</a:t>
            </a:r>
            <a:endParaRPr sz="2000">
              <a:solidFill>
                <a:schemeClr val="dk1"/>
              </a:solidFill>
              <a:latin typeface="Calibri"/>
              <a:ea typeface="Calibri"/>
              <a:cs typeface="Calibri"/>
              <a:sym typeface="Calibri"/>
            </a:endParaRPr>
          </a:p>
        </p:txBody>
      </p:sp>
      <p:sp>
        <p:nvSpPr>
          <p:cNvPr id="701" name="Google Shape;701;p74"/>
          <p:cNvSpPr txBox="1"/>
          <p:nvPr/>
        </p:nvSpPr>
        <p:spPr>
          <a:xfrm>
            <a:off x="652068" y="4912233"/>
            <a:ext cx="105410" cy="32956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sp>
        <p:nvSpPr>
          <p:cNvPr id="702" name="Google Shape;702;p74"/>
          <p:cNvSpPr txBox="1"/>
          <p:nvPr/>
        </p:nvSpPr>
        <p:spPr>
          <a:xfrm>
            <a:off x="767892" y="5277688"/>
            <a:ext cx="1713864" cy="32956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echo "$s&lt;br /&gt;";</a:t>
            </a:r>
            <a:endParaRPr sz="2000">
              <a:solidFill>
                <a:schemeClr val="dk1"/>
              </a:solidFill>
              <a:latin typeface="Calibri"/>
              <a:ea typeface="Calibri"/>
              <a:cs typeface="Calibri"/>
              <a:sym typeface="Calibri"/>
            </a:endParaRPr>
          </a:p>
        </p:txBody>
      </p:sp>
      <p:sp>
        <p:nvSpPr>
          <p:cNvPr id="703" name="Google Shape;703;p74"/>
          <p:cNvSpPr txBox="1"/>
          <p:nvPr/>
        </p:nvSpPr>
        <p:spPr>
          <a:xfrm>
            <a:off x="652068" y="5582283"/>
            <a:ext cx="266065" cy="756920"/>
          </a:xfrm>
          <a:prstGeom prst="rect">
            <a:avLst/>
          </a:prstGeom>
          <a:noFill/>
          <a:ln>
            <a:noFill/>
          </a:ln>
        </p:spPr>
        <p:txBody>
          <a:bodyPr anchorCtr="0" anchor="t" bIns="0" lIns="0" spcFirstLastPara="1" rIns="0" wrap="square" tIns="730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704" name="Google Shape;704;p74"/>
          <p:cNvSpPr txBox="1"/>
          <p:nvPr>
            <p:ph type="title"/>
          </p:nvPr>
        </p:nvSpPr>
        <p:spPr>
          <a:xfrm>
            <a:off x="536244" y="547496"/>
            <a:ext cx="38150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Functions(4)</a:t>
            </a:r>
            <a:endParaRPr sz="3600"/>
          </a:p>
        </p:txBody>
      </p:sp>
      <p:sp>
        <p:nvSpPr>
          <p:cNvPr id="705" name="Google Shape;705;p74"/>
          <p:cNvSpPr txBox="1"/>
          <p:nvPr/>
        </p:nvSpPr>
        <p:spPr>
          <a:xfrm>
            <a:off x="5228590" y="4961382"/>
            <a:ext cx="791210" cy="1397635"/>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 </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autumn  spring  summer  winter</a:t>
            </a:r>
            <a:endParaRPr sz="18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75"/>
          <p:cNvSpPr txBox="1"/>
          <p:nvPr/>
        </p:nvSpPr>
        <p:spPr>
          <a:xfrm>
            <a:off x="767892" y="5216728"/>
            <a:ext cx="1713864" cy="32956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echo "$s&lt;br /&gt;";</a:t>
            </a:r>
            <a:endParaRPr sz="2000">
              <a:solidFill>
                <a:schemeClr val="dk1"/>
              </a:solidFill>
              <a:latin typeface="Calibri"/>
              <a:ea typeface="Calibri"/>
              <a:cs typeface="Calibri"/>
              <a:sym typeface="Calibri"/>
            </a:endParaRPr>
          </a:p>
        </p:txBody>
      </p:sp>
      <p:sp>
        <p:nvSpPr>
          <p:cNvPr id="711" name="Google Shape;711;p75"/>
          <p:cNvSpPr txBox="1"/>
          <p:nvPr/>
        </p:nvSpPr>
        <p:spPr>
          <a:xfrm>
            <a:off x="652068" y="5521286"/>
            <a:ext cx="266065" cy="695960"/>
          </a:xfrm>
          <a:prstGeom prst="rect">
            <a:avLst/>
          </a:prstGeom>
          <a:noFill/>
          <a:ln>
            <a:noFill/>
          </a:ln>
        </p:spPr>
        <p:txBody>
          <a:bodyPr anchorCtr="0" anchor="t" bIns="0" lIns="0" spcFirstLastPara="1" rIns="0" wrap="square" tIns="425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712" name="Google Shape;712;p75"/>
          <p:cNvSpPr txBox="1"/>
          <p:nvPr/>
        </p:nvSpPr>
        <p:spPr>
          <a:xfrm>
            <a:off x="652068" y="1557031"/>
            <a:ext cx="7327900" cy="3835400"/>
          </a:xfrm>
          <a:prstGeom prst="rect">
            <a:avLst/>
          </a:prstGeom>
          <a:noFill/>
          <a:ln>
            <a:noFill/>
          </a:ln>
        </p:spPr>
        <p:txBody>
          <a:bodyPr anchorCtr="0" anchor="t" bIns="0" lIns="0" spcFirstLastPara="1" rIns="0" wrap="square" tIns="42525">
            <a:spAutoFit/>
          </a:bodyPr>
          <a:lstStyle/>
          <a:p>
            <a:pPr indent="0" lvl="0" marL="1270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PHP array_reverse() function</a:t>
            </a:r>
            <a:endParaRPr sz="2000">
              <a:solidFill>
                <a:schemeClr val="dk1"/>
              </a:solidFill>
              <a:latin typeface="Calibri"/>
              <a:ea typeface="Calibri"/>
              <a:cs typeface="Calibri"/>
              <a:sym typeface="Calibri"/>
            </a:endParaRPr>
          </a:p>
          <a:p>
            <a:pPr indent="-228600" lvl="0" marL="241300" marR="0" rtl="0" algn="l">
              <a:lnSpc>
                <a:spcPct val="114000"/>
              </a:lnSpc>
              <a:spcBef>
                <a:spcPts val="24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PHP array_reverse() function returns an array containing elements in</a:t>
            </a:r>
            <a:endParaRPr sz="2000">
              <a:solidFill>
                <a:schemeClr val="dk1"/>
              </a:solidFill>
              <a:latin typeface="Calibri"/>
              <a:ea typeface="Calibri"/>
              <a:cs typeface="Calibri"/>
              <a:sym typeface="Calibri"/>
            </a:endParaRPr>
          </a:p>
          <a:p>
            <a:pPr indent="0" lvl="0" marL="240665" marR="0" rtl="0" algn="l">
              <a:lnSpc>
                <a:spcPct val="114000"/>
              </a:lnSpc>
              <a:spcBef>
                <a:spcPts val="0"/>
              </a:spcBef>
              <a:spcAft>
                <a:spcPts val="0"/>
              </a:spcAft>
              <a:buNone/>
            </a:pPr>
            <a:r>
              <a:rPr lang="en-US" sz="2000">
                <a:solidFill>
                  <a:schemeClr val="dk1"/>
                </a:solidFill>
                <a:latin typeface="Calibri"/>
                <a:ea typeface="Calibri"/>
                <a:cs typeface="Calibri"/>
                <a:sym typeface="Calibri"/>
              </a:rPr>
              <a:t>reversed order.</a:t>
            </a:r>
            <a:endParaRPr sz="2000">
              <a:solidFill>
                <a:schemeClr val="dk1"/>
              </a:solidFill>
              <a:latin typeface="Calibri"/>
              <a:ea typeface="Calibri"/>
              <a:cs typeface="Calibri"/>
              <a:sym typeface="Calibri"/>
            </a:endParaRPr>
          </a:p>
          <a:p>
            <a:pPr indent="-228600" lvl="0" marL="241300" marR="0" rtl="0" algn="l">
              <a:lnSpc>
                <a:spcPct val="100000"/>
              </a:lnSpc>
              <a:spcBef>
                <a:spcPts val="24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245"/>
              </a:spcBef>
              <a:spcAft>
                <a:spcPts val="0"/>
              </a:spcAft>
              <a:buNone/>
            </a:pP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array_reverse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 [, bool $preserve_keys = false ] )</a:t>
            </a:r>
            <a:endParaRPr sz="2000">
              <a:solidFill>
                <a:schemeClr val="dk1"/>
              </a:solidFill>
              <a:latin typeface="Calibri"/>
              <a:ea typeface="Calibri"/>
              <a:cs typeface="Calibri"/>
              <a:sym typeface="Calibri"/>
            </a:endParaRPr>
          </a:p>
          <a:p>
            <a:pPr indent="-228600" lvl="0" marL="241300" marR="0" rtl="0" algn="l">
              <a:lnSpc>
                <a:spcPct val="100000"/>
              </a:lnSpc>
              <a:spcBef>
                <a:spcPts val="24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$season=</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("summer","winter","spring","autumn");</a:t>
            </a:r>
            <a:endParaRPr sz="2000">
              <a:solidFill>
                <a:schemeClr val="dk1"/>
              </a:solidFill>
              <a:latin typeface="Calibri"/>
              <a:ea typeface="Calibri"/>
              <a:cs typeface="Calibri"/>
              <a:sym typeface="Calibri"/>
            </a:endParaRPr>
          </a:p>
          <a:p>
            <a:pPr indent="0" lvl="0" marL="12700" marR="0" rtl="0" algn="l">
              <a:lnSpc>
                <a:spcPct val="100000"/>
              </a:lnSpc>
              <a:spcBef>
                <a:spcPts val="245"/>
              </a:spcBef>
              <a:spcAft>
                <a:spcPts val="0"/>
              </a:spcAft>
              <a:buNone/>
            </a:pPr>
            <a:r>
              <a:rPr lang="en-US" sz="2000">
                <a:solidFill>
                  <a:schemeClr val="dk1"/>
                </a:solidFill>
                <a:latin typeface="Calibri"/>
                <a:ea typeface="Calibri"/>
                <a:cs typeface="Calibri"/>
                <a:sym typeface="Calibri"/>
              </a:rPr>
              <a:t>$reverseseason=array_reverse($season);</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b="1" lang="en-US" sz="2000">
                <a:solidFill>
                  <a:schemeClr val="dk1"/>
                </a:solidFill>
                <a:latin typeface="Calibri"/>
                <a:ea typeface="Calibri"/>
                <a:cs typeface="Calibri"/>
                <a:sym typeface="Calibri"/>
              </a:rPr>
              <a:t>foreach</a:t>
            </a:r>
            <a:r>
              <a:rPr lang="en-US" sz="2000">
                <a:solidFill>
                  <a:schemeClr val="dk1"/>
                </a:solidFill>
                <a:latin typeface="Calibri"/>
                <a:ea typeface="Calibri"/>
                <a:cs typeface="Calibri"/>
                <a:sym typeface="Calibri"/>
              </a:rPr>
              <a:t>( $reverseseason </a:t>
            </a:r>
            <a:r>
              <a:rPr b="1" lang="en-US" sz="2000">
                <a:solidFill>
                  <a:schemeClr val="dk1"/>
                </a:solidFill>
                <a:latin typeface="Calibri"/>
                <a:ea typeface="Calibri"/>
                <a:cs typeface="Calibri"/>
                <a:sym typeface="Calibri"/>
              </a:rPr>
              <a:t>as </a:t>
            </a:r>
            <a:r>
              <a:rPr lang="en-US" sz="2000">
                <a:solidFill>
                  <a:schemeClr val="dk1"/>
                </a:solidFill>
                <a:latin typeface="Calibri"/>
                <a:ea typeface="Calibri"/>
                <a:cs typeface="Calibri"/>
                <a:sym typeface="Calibri"/>
              </a:rPr>
              <a:t>$s )</a:t>
            </a:r>
            <a:endParaRPr sz="2000">
              <a:solidFill>
                <a:schemeClr val="dk1"/>
              </a:solidFill>
              <a:latin typeface="Calibri"/>
              <a:ea typeface="Calibri"/>
              <a:cs typeface="Calibri"/>
              <a:sym typeface="Calibri"/>
            </a:endParaRPr>
          </a:p>
          <a:p>
            <a:pPr indent="0" lvl="0" marL="12700" marR="0" rtl="0" algn="l">
              <a:lnSpc>
                <a:spcPct val="101750"/>
              </a:lnSpc>
              <a:spcBef>
                <a:spcPts val="24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4768850" marR="0" rtl="0" algn="l">
              <a:lnSpc>
                <a:spcPct val="99722"/>
              </a:lnSpc>
              <a:spcBef>
                <a:spcPts val="0"/>
              </a:spcBef>
              <a:spcAft>
                <a:spcPts val="0"/>
              </a:spcAft>
              <a:buNone/>
            </a:pPr>
            <a:r>
              <a:rPr b="1" lang="en-US" sz="1800" u="sng">
                <a:solidFill>
                  <a:schemeClr val="dk1"/>
                </a:solidFill>
                <a:latin typeface="Calibri"/>
                <a:ea typeface="Calibri"/>
                <a:cs typeface="Calibri"/>
                <a:sym typeface="Calibri"/>
              </a:rPr>
              <a:t>Output</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713" name="Google Shape;713;p75"/>
          <p:cNvSpPr txBox="1"/>
          <p:nvPr>
            <p:ph type="title"/>
          </p:nvPr>
        </p:nvSpPr>
        <p:spPr>
          <a:xfrm>
            <a:off x="536244" y="547496"/>
            <a:ext cx="38150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Functions(5)</a:t>
            </a:r>
            <a:endParaRPr sz="3600"/>
          </a:p>
        </p:txBody>
      </p:sp>
      <p:sp>
        <p:nvSpPr>
          <p:cNvPr id="714" name="Google Shape;714;p75"/>
          <p:cNvSpPr txBox="1"/>
          <p:nvPr/>
        </p:nvSpPr>
        <p:spPr>
          <a:xfrm>
            <a:off x="5408421" y="5366410"/>
            <a:ext cx="791845" cy="112395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solidFill>
                  <a:schemeClr val="dk1"/>
                </a:solidFill>
                <a:latin typeface="Calibri"/>
                <a:ea typeface="Calibri"/>
                <a:cs typeface="Calibri"/>
                <a:sym typeface="Calibri"/>
              </a:rPr>
              <a:t>autumn  spring  winter  summer</a:t>
            </a:r>
            <a:endParaRPr sz="1800">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76"/>
          <p:cNvSpPr txBox="1"/>
          <p:nvPr/>
        </p:nvSpPr>
        <p:spPr>
          <a:xfrm>
            <a:off x="374091" y="1549603"/>
            <a:ext cx="7964100" cy="405390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array_search() function</a:t>
            </a:r>
            <a:endParaRPr sz="2200">
              <a:solidFill>
                <a:schemeClr val="dk1"/>
              </a:solidFill>
              <a:latin typeface="Calibri"/>
              <a:ea typeface="Calibri"/>
              <a:cs typeface="Calibri"/>
              <a:sym typeface="Calibri"/>
            </a:endParaRPr>
          </a:p>
          <a:p>
            <a:pPr indent="-229234" lvl="0" marL="241300"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array_search() function searches the specified value in an array.  It returns key if search is successful.</a:t>
            </a:r>
            <a:endParaRPr sz="2200">
              <a:solidFill>
                <a:schemeClr val="dk1"/>
              </a:solidFill>
              <a:latin typeface="Calibri"/>
              <a:ea typeface="Calibri"/>
              <a:cs typeface="Calibri"/>
              <a:sym typeface="Calibri"/>
            </a:endParaRPr>
          </a:p>
          <a:p>
            <a:pPr indent="-229234" lvl="0" marL="241300" marR="0" rtl="0" algn="l">
              <a:lnSpc>
                <a:spcPct val="100000"/>
              </a:lnSpc>
              <a:spcBef>
                <a:spcPts val="49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mixed array_search ( mixed $needle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$haystack [, bool $strict = false ] )</a:t>
            </a:r>
            <a:endParaRPr sz="20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2350">
              <a:solidFill>
                <a:schemeClr val="dk1"/>
              </a:solidFill>
              <a:latin typeface="Calibri"/>
              <a:ea typeface="Calibri"/>
              <a:cs typeface="Calibri"/>
              <a:sym typeface="Calibri"/>
            </a:endParaRPr>
          </a:p>
          <a:p>
            <a:pPr indent="-229234"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484"/>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$season=</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("summer","winter","spring","autumn");</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$key=array_search("spring",$season);</a:t>
            </a:r>
            <a:endParaRPr sz="2000">
              <a:solidFill>
                <a:schemeClr val="dk1"/>
              </a:solidFill>
              <a:latin typeface="Calibri"/>
              <a:ea typeface="Calibri"/>
              <a:cs typeface="Calibri"/>
              <a:sym typeface="Calibri"/>
            </a:endParaRPr>
          </a:p>
          <a:p>
            <a:pPr indent="0" lvl="0" marL="12700" marR="0" rtl="0" algn="l">
              <a:lnSpc>
                <a:spcPct val="100000"/>
              </a:lnSpc>
              <a:spcBef>
                <a:spcPts val="480"/>
              </a:spcBef>
              <a:spcAft>
                <a:spcPts val="0"/>
              </a:spcAft>
              <a:buNone/>
            </a:pPr>
            <a:r>
              <a:rPr lang="en-US" sz="2000">
                <a:solidFill>
                  <a:schemeClr val="dk1"/>
                </a:solidFill>
                <a:latin typeface="Calibri"/>
                <a:ea typeface="Calibri"/>
                <a:cs typeface="Calibri"/>
                <a:sym typeface="Calibri"/>
              </a:rPr>
              <a:t>echo $key;</a:t>
            </a:r>
            <a:endParaRPr sz="2000">
              <a:solidFill>
                <a:schemeClr val="dk1"/>
              </a:solidFill>
              <a:latin typeface="Calibri"/>
              <a:ea typeface="Calibri"/>
              <a:cs typeface="Calibri"/>
              <a:sym typeface="Calibri"/>
            </a:endParaRPr>
          </a:p>
        </p:txBody>
      </p:sp>
      <p:sp>
        <p:nvSpPr>
          <p:cNvPr id="720" name="Google Shape;720;p76"/>
          <p:cNvSpPr txBox="1"/>
          <p:nvPr/>
        </p:nvSpPr>
        <p:spPr>
          <a:xfrm>
            <a:off x="374091" y="5619699"/>
            <a:ext cx="266700" cy="32956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721" name="Google Shape;721;p76"/>
          <p:cNvSpPr txBox="1"/>
          <p:nvPr>
            <p:ph type="title"/>
          </p:nvPr>
        </p:nvSpPr>
        <p:spPr>
          <a:xfrm>
            <a:off x="536244" y="547496"/>
            <a:ext cx="38150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Functions(6)</a:t>
            </a:r>
            <a:endParaRPr sz="3600"/>
          </a:p>
        </p:txBody>
      </p:sp>
      <p:sp>
        <p:nvSpPr>
          <p:cNvPr id="722" name="Google Shape;722;p76"/>
          <p:cNvSpPr txBox="1"/>
          <p:nvPr/>
        </p:nvSpPr>
        <p:spPr>
          <a:xfrm>
            <a:off x="5732779" y="5609335"/>
            <a:ext cx="768985"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77"/>
          <p:cNvSpPr txBox="1"/>
          <p:nvPr/>
        </p:nvSpPr>
        <p:spPr>
          <a:xfrm>
            <a:off x="652068" y="1564005"/>
            <a:ext cx="7216140" cy="392747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PHP array_intersect() function</a:t>
            </a:r>
            <a:endParaRPr sz="2000">
              <a:solidFill>
                <a:schemeClr val="dk1"/>
              </a:solidFill>
              <a:latin typeface="Calibri"/>
              <a:ea typeface="Calibri"/>
              <a:cs typeface="Calibri"/>
              <a:sym typeface="Calibri"/>
            </a:endParaRPr>
          </a:p>
          <a:p>
            <a:pPr indent="-228600" lvl="0" marL="241300" marR="0" rtl="0" algn="l">
              <a:lnSpc>
                <a:spcPct val="108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PHP array_intersect() function returns the intersection of two array.</a:t>
            </a:r>
            <a:endParaRPr sz="2000">
              <a:solidFill>
                <a:schemeClr val="dk1"/>
              </a:solidFill>
              <a:latin typeface="Calibri"/>
              <a:ea typeface="Calibri"/>
              <a:cs typeface="Calibri"/>
              <a:sym typeface="Calibri"/>
            </a:endParaRPr>
          </a:p>
          <a:p>
            <a:pPr indent="0" lvl="0" marL="240665" marR="0" rtl="0" algn="l">
              <a:lnSpc>
                <a:spcPct val="108000"/>
              </a:lnSpc>
              <a:spcBef>
                <a:spcPts val="0"/>
              </a:spcBef>
              <a:spcAft>
                <a:spcPts val="0"/>
              </a:spcAft>
              <a:buNone/>
            </a:pPr>
            <a:r>
              <a:rPr lang="en-US" sz="2000">
                <a:solidFill>
                  <a:schemeClr val="dk1"/>
                </a:solidFill>
                <a:latin typeface="Calibri"/>
                <a:ea typeface="Calibri"/>
                <a:cs typeface="Calibri"/>
                <a:sym typeface="Calibri"/>
              </a:rPr>
              <a:t>In other words, it returns the matching elements of two array.</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array_intersect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$array1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$array2 [, </a:t>
            </a:r>
            <a:r>
              <a:rPr b="1" lang="en-US" sz="2000">
                <a:solidFill>
                  <a:schemeClr val="dk1"/>
                </a:solidFill>
                <a:latin typeface="Calibri"/>
                <a:ea typeface="Calibri"/>
                <a:cs typeface="Calibri"/>
                <a:sym typeface="Calibri"/>
              </a:rPr>
              <a:t>array </a:t>
            </a:r>
            <a:r>
              <a:rPr lang="en-US" sz="2000">
                <a:solidFill>
                  <a:schemeClr val="dk1"/>
                </a:solidFill>
                <a:latin typeface="Calibri"/>
                <a:ea typeface="Calibri"/>
                <a:cs typeface="Calibri"/>
                <a:sym typeface="Calibri"/>
              </a:rPr>
              <a:t>$... ] )</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$name1=</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("sonoo","john","vivek","smith");</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$name2=</a:t>
            </a:r>
            <a:r>
              <a:rPr b="1" lang="en-US" sz="2000">
                <a:solidFill>
                  <a:schemeClr val="dk1"/>
                </a:solidFill>
                <a:latin typeface="Calibri"/>
                <a:ea typeface="Calibri"/>
                <a:cs typeface="Calibri"/>
                <a:sym typeface="Calibri"/>
              </a:rPr>
              <a:t>array</a:t>
            </a:r>
            <a:r>
              <a:rPr lang="en-US" sz="2000">
                <a:solidFill>
                  <a:schemeClr val="dk1"/>
                </a:solidFill>
                <a:latin typeface="Calibri"/>
                <a:ea typeface="Calibri"/>
                <a:cs typeface="Calibri"/>
                <a:sym typeface="Calibri"/>
              </a:rPr>
              <a:t>("umesh","sonoo","kartik","smith");</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000">
                <a:solidFill>
                  <a:schemeClr val="dk1"/>
                </a:solidFill>
                <a:latin typeface="Calibri"/>
                <a:ea typeface="Calibri"/>
                <a:cs typeface="Calibri"/>
                <a:sym typeface="Calibri"/>
              </a:rPr>
              <a:t>$name3=array_intersect($name1,$name2);</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000">
                <a:solidFill>
                  <a:schemeClr val="dk1"/>
                </a:solidFill>
                <a:latin typeface="Calibri"/>
                <a:ea typeface="Calibri"/>
                <a:cs typeface="Calibri"/>
                <a:sym typeface="Calibri"/>
              </a:rPr>
              <a:t>foreach</a:t>
            </a:r>
            <a:r>
              <a:rPr lang="en-US" sz="2000">
                <a:solidFill>
                  <a:schemeClr val="dk1"/>
                </a:solidFill>
                <a:latin typeface="Calibri"/>
                <a:ea typeface="Calibri"/>
                <a:cs typeface="Calibri"/>
                <a:sym typeface="Calibri"/>
              </a:rPr>
              <a:t>( $name3 </a:t>
            </a:r>
            <a:r>
              <a:rPr b="1" lang="en-US" sz="2000">
                <a:solidFill>
                  <a:schemeClr val="dk1"/>
                </a:solidFill>
                <a:latin typeface="Calibri"/>
                <a:ea typeface="Calibri"/>
                <a:cs typeface="Calibri"/>
                <a:sym typeface="Calibri"/>
              </a:rPr>
              <a:t>as </a:t>
            </a:r>
            <a:r>
              <a:rPr lang="en-US" sz="2000">
                <a:solidFill>
                  <a:schemeClr val="dk1"/>
                </a:solidFill>
                <a:latin typeface="Calibri"/>
                <a:ea typeface="Calibri"/>
                <a:cs typeface="Calibri"/>
                <a:sym typeface="Calibri"/>
              </a:rPr>
              <a:t>$n )</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8270" marR="0" rtl="0" algn="l">
              <a:lnSpc>
                <a:spcPct val="100000"/>
              </a:lnSpc>
              <a:spcBef>
                <a:spcPts val="0"/>
              </a:spcBef>
              <a:spcAft>
                <a:spcPts val="0"/>
              </a:spcAft>
              <a:buNone/>
            </a:pPr>
            <a:r>
              <a:rPr lang="en-US" sz="2000">
                <a:solidFill>
                  <a:schemeClr val="dk1"/>
                </a:solidFill>
                <a:latin typeface="Calibri"/>
                <a:ea typeface="Calibri"/>
                <a:cs typeface="Calibri"/>
                <a:sym typeface="Calibri"/>
              </a:rPr>
              <a:t>echo "$n&lt;br /&gt;";</a:t>
            </a:r>
            <a:endParaRPr sz="2000">
              <a:solidFill>
                <a:schemeClr val="dk1"/>
              </a:solidFill>
              <a:latin typeface="Calibri"/>
              <a:ea typeface="Calibri"/>
              <a:cs typeface="Calibri"/>
              <a:sym typeface="Calibri"/>
            </a:endParaRPr>
          </a:p>
        </p:txBody>
      </p:sp>
      <p:sp>
        <p:nvSpPr>
          <p:cNvPr id="728" name="Google Shape;728;p77"/>
          <p:cNvSpPr txBox="1"/>
          <p:nvPr/>
        </p:nvSpPr>
        <p:spPr>
          <a:xfrm>
            <a:off x="652068" y="5467299"/>
            <a:ext cx="266065" cy="63436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729" name="Google Shape;729;p77"/>
          <p:cNvSpPr txBox="1"/>
          <p:nvPr>
            <p:ph type="title"/>
          </p:nvPr>
        </p:nvSpPr>
        <p:spPr>
          <a:xfrm>
            <a:off x="536244" y="547496"/>
            <a:ext cx="38150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Array Functions(7)</a:t>
            </a:r>
            <a:endParaRPr sz="3600"/>
          </a:p>
        </p:txBody>
      </p:sp>
      <p:sp>
        <p:nvSpPr>
          <p:cNvPr id="730" name="Google Shape;730;p77"/>
          <p:cNvSpPr txBox="1"/>
          <p:nvPr/>
        </p:nvSpPr>
        <p:spPr>
          <a:xfrm>
            <a:off x="5372861" y="5537708"/>
            <a:ext cx="768350" cy="848994"/>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 </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sonoo  smith</a:t>
            </a:r>
            <a:endParaRPr sz="1800">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78"/>
          <p:cNvSpPr txBox="1"/>
          <p:nvPr>
            <p:ph type="title"/>
          </p:nvPr>
        </p:nvSpPr>
        <p:spPr>
          <a:xfrm>
            <a:off x="536244" y="547496"/>
            <a:ext cx="217805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String</a:t>
            </a:r>
            <a:endParaRPr sz="3600"/>
          </a:p>
        </p:txBody>
      </p:sp>
      <p:sp>
        <p:nvSpPr>
          <p:cNvPr id="736" name="Google Shape;736;p78"/>
          <p:cNvSpPr txBox="1"/>
          <p:nvPr/>
        </p:nvSpPr>
        <p:spPr>
          <a:xfrm>
            <a:off x="652068" y="1615820"/>
            <a:ext cx="7051675" cy="3593465"/>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string is a sequence of characters i.e., used to store and</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manipulate text.</a:t>
            </a:r>
            <a:endParaRPr sz="2200">
              <a:solidFill>
                <a:schemeClr val="dk1"/>
              </a:solidFill>
              <a:latin typeface="Calibri"/>
              <a:ea typeface="Calibri"/>
              <a:cs typeface="Calibri"/>
              <a:sym typeface="Calibri"/>
            </a:endParaRPr>
          </a:p>
          <a:p>
            <a:pPr indent="-228600" lvl="0" marL="240665" marR="5080" rtl="0" algn="l">
              <a:lnSpc>
                <a:spcPct val="100000"/>
              </a:lnSpc>
              <a:spcBef>
                <a:spcPts val="535"/>
              </a:spcBef>
              <a:spcAft>
                <a:spcPts val="0"/>
              </a:spcAft>
              <a:buClr>
                <a:srgbClr val="4F81BC"/>
              </a:buClr>
              <a:buSzPts val="1800"/>
              <a:buFont typeface="Arial"/>
              <a:buChar char="•"/>
            </a:pPr>
            <a:r>
              <a:rPr lang="en-US" sz="1800">
                <a:solidFill>
                  <a:schemeClr val="dk1"/>
                </a:solidFill>
                <a:latin typeface="Calibri"/>
                <a:ea typeface="Calibri"/>
                <a:cs typeface="Calibri"/>
                <a:sym typeface="Calibri"/>
              </a:rPr>
              <a:t>	</a:t>
            </a:r>
            <a:r>
              <a:rPr lang="en-US" sz="2200">
                <a:solidFill>
                  <a:schemeClr val="dk1"/>
                </a:solidFill>
                <a:latin typeface="Calibri"/>
                <a:ea typeface="Calibri"/>
                <a:cs typeface="Calibri"/>
                <a:sym typeface="Calibri"/>
              </a:rPr>
              <a:t>PHP supports only 256-character set and so that it does not  offer native Unicode support.</a:t>
            </a:r>
            <a:endParaRPr sz="2200">
              <a:solidFill>
                <a:schemeClr val="dk1"/>
              </a:solidFill>
              <a:latin typeface="Calibri"/>
              <a:ea typeface="Calibri"/>
              <a:cs typeface="Calibri"/>
              <a:sym typeface="Calibri"/>
            </a:endParaRPr>
          </a:p>
          <a:p>
            <a:pPr indent="-292735" lvl="0" marL="304800" marR="0" rtl="0" algn="l">
              <a:lnSpc>
                <a:spcPct val="100000"/>
              </a:lnSpc>
              <a:spcBef>
                <a:spcPts val="52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There are various ways to specify a string literal in PHP.</a:t>
            </a:r>
            <a:endParaRPr sz="2200">
              <a:solidFill>
                <a:schemeClr val="dk1"/>
              </a:solidFill>
              <a:latin typeface="Calibri"/>
              <a:ea typeface="Calibri"/>
              <a:cs typeface="Calibri"/>
              <a:sym typeface="Calibri"/>
            </a:endParaRPr>
          </a:p>
          <a:p>
            <a:pPr indent="-229234" lvl="1" marL="536575" marR="0" rtl="0" algn="l">
              <a:lnSpc>
                <a:spcPct val="100000"/>
              </a:lnSpc>
              <a:spcBef>
                <a:spcPts val="570"/>
              </a:spcBef>
              <a:spcAft>
                <a:spcPts val="0"/>
              </a:spcAft>
              <a:buClr>
                <a:srgbClr val="C0504D"/>
              </a:buClr>
              <a:buSzPts val="2400"/>
              <a:buFont typeface="Arial"/>
              <a:buChar char="•"/>
            </a:pPr>
            <a:r>
              <a:rPr b="1" i="0" lang="en-US" sz="2400" u="none" cap="none" strike="noStrike">
                <a:solidFill>
                  <a:srgbClr val="C00000"/>
                </a:solidFill>
                <a:latin typeface="Calibri"/>
                <a:ea typeface="Calibri"/>
                <a:cs typeface="Calibri"/>
                <a:sym typeface="Calibri"/>
              </a:rPr>
              <a:t>single quoted</a:t>
            </a:r>
            <a:endParaRPr b="0" i="0" sz="2400" u="none" cap="none" strike="noStrike">
              <a:solidFill>
                <a:schemeClr val="dk1"/>
              </a:solidFill>
              <a:latin typeface="Calibri"/>
              <a:ea typeface="Calibri"/>
              <a:cs typeface="Calibri"/>
              <a:sym typeface="Calibri"/>
            </a:endParaRPr>
          </a:p>
          <a:p>
            <a:pPr indent="-229234" lvl="1" marL="536575" marR="0" rtl="0" algn="l">
              <a:lnSpc>
                <a:spcPct val="100000"/>
              </a:lnSpc>
              <a:spcBef>
                <a:spcPts val="580"/>
              </a:spcBef>
              <a:spcAft>
                <a:spcPts val="0"/>
              </a:spcAft>
              <a:buClr>
                <a:srgbClr val="C0504D"/>
              </a:buClr>
              <a:buSzPts val="2400"/>
              <a:buFont typeface="Arial"/>
              <a:buChar char="•"/>
            </a:pPr>
            <a:r>
              <a:rPr b="1" i="0" lang="en-US" sz="2400" u="none" cap="none" strike="noStrike">
                <a:solidFill>
                  <a:srgbClr val="C00000"/>
                </a:solidFill>
                <a:latin typeface="Calibri"/>
                <a:ea typeface="Calibri"/>
                <a:cs typeface="Calibri"/>
                <a:sym typeface="Calibri"/>
              </a:rPr>
              <a:t>double quoted</a:t>
            </a:r>
            <a:endParaRPr b="0" i="0" sz="2400" u="none" cap="none" strike="noStrike">
              <a:solidFill>
                <a:schemeClr val="dk1"/>
              </a:solidFill>
              <a:latin typeface="Calibri"/>
              <a:ea typeface="Calibri"/>
              <a:cs typeface="Calibri"/>
              <a:sym typeface="Calibri"/>
            </a:endParaRPr>
          </a:p>
          <a:p>
            <a:pPr indent="-229234" lvl="1" marL="536575" marR="0" rtl="0" algn="l">
              <a:lnSpc>
                <a:spcPct val="100000"/>
              </a:lnSpc>
              <a:spcBef>
                <a:spcPts val="580"/>
              </a:spcBef>
              <a:spcAft>
                <a:spcPts val="0"/>
              </a:spcAft>
              <a:buClr>
                <a:srgbClr val="C0504D"/>
              </a:buClr>
              <a:buSzPts val="2400"/>
              <a:buFont typeface="Arial"/>
              <a:buChar char="•"/>
            </a:pPr>
            <a:r>
              <a:rPr b="1" i="0" lang="en-US" sz="2400" u="none" cap="none" strike="noStrike">
                <a:solidFill>
                  <a:srgbClr val="C00000"/>
                </a:solidFill>
                <a:latin typeface="Calibri"/>
                <a:ea typeface="Calibri"/>
                <a:cs typeface="Calibri"/>
                <a:sym typeface="Calibri"/>
              </a:rPr>
              <a:t>heredoc syntax</a:t>
            </a:r>
            <a:endParaRPr b="0" i="0" sz="2400" u="none" cap="none" strike="noStrike">
              <a:solidFill>
                <a:schemeClr val="dk1"/>
              </a:solidFill>
              <a:latin typeface="Calibri"/>
              <a:ea typeface="Calibri"/>
              <a:cs typeface="Calibri"/>
              <a:sym typeface="Calibri"/>
            </a:endParaRPr>
          </a:p>
          <a:p>
            <a:pPr indent="-229234" lvl="1" marL="536575" marR="0" rtl="0" algn="l">
              <a:lnSpc>
                <a:spcPct val="100000"/>
              </a:lnSpc>
              <a:spcBef>
                <a:spcPts val="575"/>
              </a:spcBef>
              <a:spcAft>
                <a:spcPts val="0"/>
              </a:spcAft>
              <a:buClr>
                <a:srgbClr val="C0504D"/>
              </a:buClr>
              <a:buSzPts val="2400"/>
              <a:buFont typeface="Arial"/>
              <a:buChar char="•"/>
            </a:pPr>
            <a:r>
              <a:rPr b="1" i="0" lang="en-US" sz="2400" u="none" cap="none" strike="noStrike">
                <a:solidFill>
                  <a:srgbClr val="C00000"/>
                </a:solidFill>
                <a:latin typeface="Calibri"/>
                <a:ea typeface="Calibri"/>
                <a:cs typeface="Calibri"/>
                <a:sym typeface="Calibri"/>
              </a:rPr>
              <a:t>newdoc syntax (since PHP 5.3)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79"/>
          <p:cNvSpPr txBox="1"/>
          <p:nvPr/>
        </p:nvSpPr>
        <p:spPr>
          <a:xfrm>
            <a:off x="652068" y="1549603"/>
            <a:ext cx="7252334" cy="3850004"/>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Single Quoted</a:t>
            </a:r>
            <a:endParaRPr sz="2200">
              <a:solidFill>
                <a:schemeClr val="dk1"/>
              </a:solidFill>
              <a:latin typeface="Calibri"/>
              <a:ea typeface="Calibri"/>
              <a:cs typeface="Calibri"/>
              <a:sym typeface="Calibri"/>
            </a:endParaRPr>
          </a:p>
          <a:p>
            <a:pPr indent="-228600" lvl="0" marL="240665"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We can create a string in PHP by enclosing the text in a single-  quote.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It is the easiest way to specify string in PHP.</a:t>
            </a:r>
            <a:endParaRPr sz="2200">
              <a:solidFill>
                <a:schemeClr val="dk1"/>
              </a:solidFill>
              <a:latin typeface="Calibri"/>
              <a:ea typeface="Calibri"/>
              <a:cs typeface="Calibri"/>
              <a:sym typeface="Calibri"/>
            </a:endParaRPr>
          </a:p>
          <a:p>
            <a:pPr indent="-228600" lvl="0" marL="240665" marR="26669" rtl="0" algn="l">
              <a:lnSpc>
                <a:spcPct val="100000"/>
              </a:lnSpc>
              <a:spcBef>
                <a:spcPts val="52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For specifying a literal single quote, escape it with a backslash  (\) and to specify a literal backslash (\) use double backslash  (\\).</a:t>
            </a:r>
            <a:endParaRPr sz="2200">
              <a:solidFill>
                <a:schemeClr val="dk1"/>
              </a:solidFill>
              <a:latin typeface="Calibri"/>
              <a:ea typeface="Calibri"/>
              <a:cs typeface="Calibri"/>
              <a:sym typeface="Calibri"/>
            </a:endParaRPr>
          </a:p>
          <a:p>
            <a:pPr indent="-228600" lvl="0" marL="241300" marR="0" rtl="0" algn="l">
              <a:lnSpc>
                <a:spcPct val="100000"/>
              </a:lnSpc>
              <a:spcBef>
                <a:spcPts val="53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4572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$str='Hello text within single quote';</a:t>
            </a:r>
            <a:endParaRPr sz="2200">
              <a:solidFill>
                <a:schemeClr val="dk1"/>
              </a:solidFill>
              <a:latin typeface="Calibri"/>
              <a:ea typeface="Calibri"/>
              <a:cs typeface="Calibri"/>
              <a:sym typeface="Calibri"/>
            </a:endParaRPr>
          </a:p>
        </p:txBody>
      </p:sp>
      <p:sp>
        <p:nvSpPr>
          <p:cNvPr id="742" name="Google Shape;742;p79"/>
          <p:cNvSpPr txBox="1"/>
          <p:nvPr/>
        </p:nvSpPr>
        <p:spPr>
          <a:xfrm>
            <a:off x="1097076" y="5439867"/>
            <a:ext cx="1155700" cy="36195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$str;</a:t>
            </a:r>
            <a:endParaRPr sz="2200">
              <a:solidFill>
                <a:schemeClr val="dk1"/>
              </a:solidFill>
              <a:latin typeface="Calibri"/>
              <a:ea typeface="Calibri"/>
              <a:cs typeface="Calibri"/>
              <a:sym typeface="Calibri"/>
            </a:endParaRPr>
          </a:p>
        </p:txBody>
      </p:sp>
      <p:sp>
        <p:nvSpPr>
          <p:cNvPr id="743" name="Google Shape;743;p79"/>
          <p:cNvSpPr txBox="1"/>
          <p:nvPr/>
        </p:nvSpPr>
        <p:spPr>
          <a:xfrm>
            <a:off x="652068" y="5841898"/>
            <a:ext cx="297815" cy="3625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744" name="Google Shape;744;p79"/>
          <p:cNvSpPr txBox="1"/>
          <p:nvPr>
            <p:ph type="title"/>
          </p:nvPr>
        </p:nvSpPr>
        <p:spPr>
          <a:xfrm>
            <a:off x="536244" y="547496"/>
            <a:ext cx="217805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String</a:t>
            </a:r>
            <a:endParaRPr sz="3600"/>
          </a:p>
        </p:txBody>
      </p:sp>
      <p:sp>
        <p:nvSpPr>
          <p:cNvPr id="745" name="Google Shape;745;p79"/>
          <p:cNvSpPr txBox="1"/>
          <p:nvPr/>
        </p:nvSpPr>
        <p:spPr>
          <a:xfrm>
            <a:off x="4292346" y="5465775"/>
            <a:ext cx="2743835" cy="5740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Hello text within single quote</a:t>
            </a:r>
            <a:endParaRPr sz="180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26f5c379624_0_3"/>
          <p:cNvSpPr txBox="1"/>
          <p:nvPr/>
        </p:nvSpPr>
        <p:spPr>
          <a:xfrm>
            <a:off x="798550" y="2247100"/>
            <a:ext cx="7415100" cy="3265800"/>
          </a:xfrm>
          <a:prstGeom prst="rect">
            <a:avLst/>
          </a:prstGeom>
          <a:noFill/>
          <a:ln>
            <a:noFill/>
          </a:ln>
        </p:spPr>
        <p:txBody>
          <a:bodyPr anchorCtr="0" anchor="t" bIns="0" lIns="0" spcFirstLastPara="1" rIns="0" wrap="square" tIns="80000">
            <a:spAutoFit/>
          </a:bodyPr>
          <a:lstStyle/>
          <a:p>
            <a:pPr indent="0" lvl="0" marL="457200" rtl="0" algn="l">
              <a:spcBef>
                <a:spcPts val="530"/>
              </a:spcBef>
              <a:spcAft>
                <a:spcPts val="0"/>
              </a:spcAft>
              <a:buClr>
                <a:schemeClr val="dk1"/>
              </a:buClr>
              <a:buSzPts val="1100"/>
              <a:buFont typeface="Arial"/>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457200" rtl="0" algn="l">
              <a:spcBef>
                <a:spcPts val="530"/>
              </a:spcBef>
              <a:spcAft>
                <a:spcPts val="0"/>
              </a:spcAft>
              <a:buClr>
                <a:schemeClr val="dk1"/>
              </a:buClr>
              <a:buSzPts val="1100"/>
              <a:buFont typeface="Arial"/>
              <a:buNone/>
            </a:pPr>
            <a:r>
              <a:rPr lang="en-US" sz="2200">
                <a:solidFill>
                  <a:schemeClr val="dk1"/>
                </a:solidFill>
                <a:latin typeface="Calibri"/>
                <a:ea typeface="Calibri"/>
                <a:cs typeface="Calibri"/>
                <a:sym typeface="Calibri"/>
              </a:rPr>
              <a:t>$literal_single_quote = 'I\'m using a literal single quote.';</a:t>
            </a:r>
            <a:endParaRPr sz="2200">
              <a:solidFill>
                <a:schemeClr val="dk1"/>
              </a:solidFill>
              <a:latin typeface="Calibri"/>
              <a:ea typeface="Calibri"/>
              <a:cs typeface="Calibri"/>
              <a:sym typeface="Calibri"/>
            </a:endParaRPr>
          </a:p>
          <a:p>
            <a:pPr indent="0" lvl="0" marL="457200" rtl="0" algn="l">
              <a:spcBef>
                <a:spcPts val="530"/>
              </a:spcBef>
              <a:spcAft>
                <a:spcPts val="0"/>
              </a:spcAft>
              <a:buClr>
                <a:schemeClr val="dk1"/>
              </a:buClr>
              <a:buSzPts val="1100"/>
              <a:buFont typeface="Arial"/>
              <a:buNone/>
            </a:pPr>
            <a:r>
              <a:rPr lang="en-US" sz="2200">
                <a:solidFill>
                  <a:schemeClr val="dk1"/>
                </a:solidFill>
                <a:latin typeface="Calibri"/>
                <a:ea typeface="Calibri"/>
                <a:cs typeface="Calibri"/>
                <a:sym typeface="Calibri"/>
              </a:rPr>
              <a:t>$literal_backslash = 'This is a literal backslash: \\';</a:t>
            </a:r>
            <a:endParaRPr sz="2200">
              <a:solidFill>
                <a:schemeClr val="dk1"/>
              </a:solidFill>
              <a:latin typeface="Calibri"/>
              <a:ea typeface="Calibri"/>
              <a:cs typeface="Calibri"/>
              <a:sym typeface="Calibri"/>
            </a:endParaRPr>
          </a:p>
          <a:p>
            <a:pPr indent="0" lvl="0" marL="457200" rtl="0" algn="l">
              <a:spcBef>
                <a:spcPts val="530"/>
              </a:spcBef>
              <a:spcAft>
                <a:spcPts val="0"/>
              </a:spcAft>
              <a:buClr>
                <a:schemeClr val="dk1"/>
              </a:buClr>
              <a:buSzPts val="1100"/>
              <a:buFont typeface="Arial"/>
              <a:buNone/>
            </a:pPr>
            <a:r>
              <a:rPr lang="en-US" sz="2200">
                <a:solidFill>
                  <a:schemeClr val="dk1"/>
                </a:solidFill>
                <a:latin typeface="Calibri"/>
                <a:ea typeface="Calibri"/>
                <a:cs typeface="Calibri"/>
                <a:sym typeface="Calibri"/>
              </a:rPr>
              <a:t>echo $literal_single_quote . "&lt;br /&gt;";</a:t>
            </a:r>
            <a:endParaRPr sz="2200">
              <a:solidFill>
                <a:schemeClr val="dk1"/>
              </a:solidFill>
              <a:latin typeface="Calibri"/>
              <a:ea typeface="Calibri"/>
              <a:cs typeface="Calibri"/>
              <a:sym typeface="Calibri"/>
            </a:endParaRPr>
          </a:p>
          <a:p>
            <a:pPr indent="0" lvl="0" marL="457200" rtl="0" algn="l">
              <a:spcBef>
                <a:spcPts val="530"/>
              </a:spcBef>
              <a:spcAft>
                <a:spcPts val="0"/>
              </a:spcAft>
              <a:buClr>
                <a:schemeClr val="dk1"/>
              </a:buClr>
              <a:buSzPts val="1100"/>
              <a:buFont typeface="Arial"/>
              <a:buNone/>
            </a:pPr>
            <a:r>
              <a:rPr lang="en-US" sz="2200">
                <a:solidFill>
                  <a:schemeClr val="dk1"/>
                </a:solidFill>
                <a:latin typeface="Calibri"/>
                <a:ea typeface="Calibri"/>
                <a:cs typeface="Calibri"/>
                <a:sym typeface="Calibri"/>
              </a:rPr>
              <a:t>echo $literal_backslash;</a:t>
            </a:r>
            <a:endParaRPr sz="2200">
              <a:solidFill>
                <a:schemeClr val="dk1"/>
              </a:solidFill>
              <a:latin typeface="Calibri"/>
              <a:ea typeface="Calibri"/>
              <a:cs typeface="Calibri"/>
              <a:sym typeface="Calibri"/>
            </a:endParaRPr>
          </a:p>
          <a:p>
            <a:pPr indent="0" lvl="0" marL="457200" rtl="0" algn="l">
              <a:spcBef>
                <a:spcPts val="530"/>
              </a:spcBef>
              <a:spcAft>
                <a:spcPts val="0"/>
              </a:spcAft>
              <a:buClr>
                <a:schemeClr val="dk1"/>
              </a:buClr>
              <a:buSzPts val="1100"/>
              <a:buFont typeface="Arial"/>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457200" rtl="0" algn="l">
              <a:spcBef>
                <a:spcPts val="530"/>
              </a:spcBef>
              <a:spcAft>
                <a:spcPts val="0"/>
              </a:spcAft>
              <a:buClr>
                <a:schemeClr val="dk1"/>
              </a:buClr>
              <a:buSzPts val="1100"/>
              <a:buFont typeface="Arial"/>
              <a:buNone/>
            </a:pPr>
            <a:r>
              <a:t/>
            </a:r>
            <a:endParaRPr sz="2200">
              <a:solidFill>
                <a:srgbClr val="C00000"/>
              </a:solidFill>
              <a:latin typeface="Calibri"/>
              <a:ea typeface="Calibri"/>
              <a:cs typeface="Calibri"/>
              <a:sym typeface="Calibri"/>
            </a:endParaRPr>
          </a:p>
          <a:p>
            <a:pPr indent="0" lvl="0" marL="457200" marR="0" rtl="0" algn="l">
              <a:lnSpc>
                <a:spcPct val="100000"/>
              </a:lnSpc>
              <a:spcBef>
                <a:spcPts val="530"/>
              </a:spcBef>
              <a:spcAft>
                <a:spcPts val="0"/>
              </a:spcAft>
              <a:buNone/>
            </a:pPr>
            <a:r>
              <a:t/>
            </a:r>
            <a:endParaRPr sz="2200">
              <a:solidFill>
                <a:srgbClr val="C00000"/>
              </a:solidFill>
              <a:latin typeface="Calibri"/>
              <a:ea typeface="Calibri"/>
              <a:cs typeface="Calibri"/>
              <a:sym typeface="Calibri"/>
            </a:endParaRPr>
          </a:p>
        </p:txBody>
      </p:sp>
      <p:sp>
        <p:nvSpPr>
          <p:cNvPr id="751" name="Google Shape;751;g26f5c379624_0_3"/>
          <p:cNvSpPr txBox="1"/>
          <p:nvPr>
            <p:ph type="title"/>
          </p:nvPr>
        </p:nvSpPr>
        <p:spPr>
          <a:xfrm>
            <a:off x="536244" y="547496"/>
            <a:ext cx="2178000" cy="1121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String</a:t>
            </a:r>
            <a:endParaRPr sz="36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80"/>
          <p:cNvSpPr txBox="1"/>
          <p:nvPr/>
        </p:nvSpPr>
        <p:spPr>
          <a:xfrm>
            <a:off x="652068" y="1549603"/>
            <a:ext cx="7290434" cy="4346575"/>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Double Quoted</a:t>
            </a:r>
            <a:endParaRPr sz="2200">
              <a:solidFill>
                <a:schemeClr val="dk1"/>
              </a:solidFill>
              <a:latin typeface="Calibri"/>
              <a:ea typeface="Calibri"/>
              <a:cs typeface="Calibri"/>
              <a:sym typeface="Calibri"/>
            </a:endParaRPr>
          </a:p>
          <a:p>
            <a:pPr indent="-228600" lvl="0" marL="240665"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In PHP, we can specify string through enclosing text within  double quote also. But escape sequences and variables will be  interpreted using double quote PHP strings.</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 1</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$str="Hello text within double quote";</a:t>
            </a:r>
            <a:endParaRPr sz="2200">
              <a:solidFill>
                <a:schemeClr val="dk1"/>
              </a:solidFill>
              <a:latin typeface="Calibri"/>
              <a:ea typeface="Calibri"/>
              <a:cs typeface="Calibri"/>
              <a:sym typeface="Calibri"/>
            </a:endParaRPr>
          </a:p>
          <a:p>
            <a:pPr indent="0" lvl="0" marL="12700" marR="0" rtl="0" algn="l">
              <a:lnSpc>
                <a:spcPct val="100000"/>
              </a:lnSpc>
              <a:spcBef>
                <a:spcPts val="535"/>
              </a:spcBef>
              <a:spcAft>
                <a:spcPts val="0"/>
              </a:spcAft>
              <a:buNone/>
            </a:pPr>
            <a:r>
              <a:rPr lang="en-US" sz="2200">
                <a:solidFill>
                  <a:schemeClr val="dk1"/>
                </a:solidFill>
                <a:latin typeface="Calibri"/>
                <a:ea typeface="Calibri"/>
                <a:cs typeface="Calibri"/>
                <a:sym typeface="Calibri"/>
              </a:rPr>
              <a:t>echo $str;</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0" marR="0" rtl="0" algn="l">
              <a:lnSpc>
                <a:spcPct val="100000"/>
              </a:lnSpc>
              <a:spcBef>
                <a:spcPts val="30"/>
              </a:spcBef>
              <a:spcAft>
                <a:spcPts val="0"/>
              </a:spcAft>
              <a:buNone/>
            </a:pPr>
            <a:r>
              <a:t/>
            </a:r>
            <a:endParaRPr sz="1800">
              <a:solidFill>
                <a:schemeClr val="dk1"/>
              </a:solidFill>
              <a:latin typeface="Calibri"/>
              <a:ea typeface="Calibri"/>
              <a:cs typeface="Calibri"/>
              <a:sym typeface="Calibri"/>
            </a:endParaRPr>
          </a:p>
          <a:p>
            <a:pPr indent="0" lvl="0" marL="286004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2860040" marR="0" rtl="0" algn="l">
              <a:lnSpc>
                <a:spcPct val="100000"/>
              </a:lnSpc>
              <a:spcBef>
                <a:spcPts val="0"/>
              </a:spcBef>
              <a:spcAft>
                <a:spcPts val="0"/>
              </a:spcAft>
              <a:buNone/>
            </a:pPr>
            <a:r>
              <a:rPr lang="en-US" sz="1800">
                <a:solidFill>
                  <a:schemeClr val="dk1"/>
                </a:solidFill>
                <a:latin typeface="Calibri"/>
                <a:ea typeface="Calibri"/>
                <a:cs typeface="Calibri"/>
                <a:sym typeface="Calibri"/>
              </a:rPr>
              <a:t>Hello text within double quote</a:t>
            </a:r>
            <a:endParaRPr sz="1800">
              <a:solidFill>
                <a:schemeClr val="dk1"/>
              </a:solidFill>
              <a:latin typeface="Calibri"/>
              <a:ea typeface="Calibri"/>
              <a:cs typeface="Calibri"/>
              <a:sym typeface="Calibri"/>
            </a:endParaRPr>
          </a:p>
        </p:txBody>
      </p:sp>
      <p:sp>
        <p:nvSpPr>
          <p:cNvPr id="757" name="Google Shape;757;p80"/>
          <p:cNvSpPr txBox="1"/>
          <p:nvPr>
            <p:ph type="title"/>
          </p:nvPr>
        </p:nvSpPr>
        <p:spPr>
          <a:xfrm>
            <a:off x="536244" y="547496"/>
            <a:ext cx="217805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String</a:t>
            </a:r>
            <a:endParaRPr sz="36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26f5c379624_0_12"/>
          <p:cNvSpPr txBox="1"/>
          <p:nvPr/>
        </p:nvSpPr>
        <p:spPr>
          <a:xfrm>
            <a:off x="-2252425" y="2114450"/>
            <a:ext cx="10190700" cy="4144500"/>
          </a:xfrm>
          <a:prstGeom prst="rect">
            <a:avLst/>
          </a:prstGeom>
          <a:noFill/>
          <a:ln>
            <a:noFill/>
          </a:ln>
        </p:spPr>
        <p:txBody>
          <a:bodyPr anchorCtr="0" anchor="t" bIns="0" lIns="0" spcFirstLastPara="1" rIns="0" wrap="square" tIns="80000">
            <a:spAutoFit/>
          </a:bodyPr>
          <a:lstStyle/>
          <a:p>
            <a:pPr indent="0" lvl="0" marL="2860040" rtl="0" algn="just">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$name = 'John';</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echo "Hello, $name!"; // Output: Hello, John!</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echo "This is a tab: \t and this is a newline: \n";</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$age = 30;</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echo "You are $age years old."; // Output: You are 30 years old.</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echo "She said 'Hello'."; // Output: She said 'Hello'.</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echo 'She said "Hello".'; // Output: She said "Hello".</a:t>
            </a:r>
            <a:endParaRPr sz="2200">
              <a:solidFill>
                <a:schemeClr val="dk1"/>
              </a:solidFill>
              <a:latin typeface="Calibri"/>
              <a:ea typeface="Calibri"/>
              <a:cs typeface="Calibri"/>
              <a:sym typeface="Calibri"/>
            </a:endParaRPr>
          </a:p>
          <a:p>
            <a:pPr indent="0" lvl="0" marL="2860040" rtl="0" algn="just">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2860040" marR="0" rtl="0" algn="just">
              <a:lnSpc>
                <a:spcPct val="100000"/>
              </a:lnSpc>
              <a:spcBef>
                <a:spcPts val="0"/>
              </a:spcBef>
              <a:spcAft>
                <a:spcPts val="0"/>
              </a:spcAft>
              <a:buNone/>
            </a:pPr>
            <a:r>
              <a:t/>
            </a:r>
            <a:endParaRPr sz="2200">
              <a:solidFill>
                <a:schemeClr val="dk1"/>
              </a:solidFill>
              <a:latin typeface="Calibri"/>
              <a:ea typeface="Calibri"/>
              <a:cs typeface="Calibri"/>
              <a:sym typeface="Calibri"/>
            </a:endParaRPr>
          </a:p>
        </p:txBody>
      </p:sp>
      <p:sp>
        <p:nvSpPr>
          <p:cNvPr id="763" name="Google Shape;763;g26f5c379624_0_12"/>
          <p:cNvSpPr txBox="1"/>
          <p:nvPr>
            <p:ph type="title"/>
          </p:nvPr>
        </p:nvSpPr>
        <p:spPr>
          <a:xfrm>
            <a:off x="536244" y="547496"/>
            <a:ext cx="2178000" cy="1121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String</a:t>
            </a:r>
            <a:endParaRPr sz="36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81"/>
          <p:cNvSpPr txBox="1"/>
          <p:nvPr>
            <p:ph type="title"/>
          </p:nvPr>
        </p:nvSpPr>
        <p:spPr>
          <a:xfrm>
            <a:off x="536244" y="547496"/>
            <a:ext cx="368998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String Function(1)</a:t>
            </a:r>
            <a:endParaRPr sz="3600"/>
          </a:p>
        </p:txBody>
      </p:sp>
      <p:sp>
        <p:nvSpPr>
          <p:cNvPr id="769" name="Google Shape;769;p81"/>
          <p:cNvSpPr txBox="1"/>
          <p:nvPr/>
        </p:nvSpPr>
        <p:spPr>
          <a:xfrm>
            <a:off x="652068" y="1542519"/>
            <a:ext cx="6951345" cy="3686175"/>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PHP strtoupper() function</a:t>
            </a:r>
            <a:endParaRPr sz="2400">
              <a:solidFill>
                <a:schemeClr val="dk1"/>
              </a:solidFill>
              <a:latin typeface="Calibri"/>
              <a:ea typeface="Calibri"/>
              <a:cs typeface="Calibri"/>
              <a:sym typeface="Calibri"/>
            </a:endParaRPr>
          </a:p>
          <a:p>
            <a:pPr indent="-228600" lvl="0" marL="241300" marR="0" rtl="0" algn="l">
              <a:lnSpc>
                <a:spcPct val="100000"/>
              </a:lnSpc>
              <a:spcBef>
                <a:spcPts val="54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strtoupper() function returns string in uppercase letter.</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string strtoupper ( string $string )</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$str="My name is abc";</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$str=strtoupper($str);</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$str;</a:t>
            </a:r>
            <a:endParaRPr sz="2200">
              <a:solidFill>
                <a:schemeClr val="dk1"/>
              </a:solidFill>
              <a:latin typeface="Calibri"/>
              <a:ea typeface="Calibri"/>
              <a:cs typeface="Calibri"/>
              <a:sym typeface="Calibri"/>
            </a:endParaRPr>
          </a:p>
        </p:txBody>
      </p:sp>
      <p:sp>
        <p:nvSpPr>
          <p:cNvPr id="770" name="Google Shape;770;p81"/>
          <p:cNvSpPr txBox="1"/>
          <p:nvPr/>
        </p:nvSpPr>
        <p:spPr>
          <a:xfrm>
            <a:off x="652068" y="5268544"/>
            <a:ext cx="297815" cy="3625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771" name="Google Shape;771;p81"/>
          <p:cNvSpPr txBox="1"/>
          <p:nvPr/>
        </p:nvSpPr>
        <p:spPr>
          <a:xfrm>
            <a:off x="5444744" y="5249113"/>
            <a:ext cx="1613535"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MY NAME IS ABC</a:t>
            </a:r>
            <a:endParaRPr sz="1800">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82"/>
          <p:cNvSpPr txBox="1"/>
          <p:nvPr/>
        </p:nvSpPr>
        <p:spPr>
          <a:xfrm>
            <a:off x="652068" y="1549603"/>
            <a:ext cx="7310755" cy="398399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ucfirst() function</a:t>
            </a:r>
            <a:endParaRPr sz="2200">
              <a:solidFill>
                <a:schemeClr val="dk1"/>
              </a:solidFill>
              <a:latin typeface="Calibri"/>
              <a:ea typeface="Calibri"/>
              <a:cs typeface="Calibri"/>
              <a:sym typeface="Calibri"/>
            </a:endParaRPr>
          </a:p>
          <a:p>
            <a:pPr indent="-228600" lvl="0" marL="240665"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ucfirst() function returns string converting first character  into uppercase. It doesn't change the case of other characters.</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string ucfirst ( string $str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$str="my name is abc";</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$str=ucfirst($str);</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$str;</a:t>
            </a:r>
            <a:endParaRPr sz="2200">
              <a:solidFill>
                <a:schemeClr val="dk1"/>
              </a:solidFill>
              <a:latin typeface="Calibri"/>
              <a:ea typeface="Calibri"/>
              <a:cs typeface="Calibri"/>
              <a:sym typeface="Calibri"/>
            </a:endParaRPr>
          </a:p>
        </p:txBody>
      </p:sp>
      <p:sp>
        <p:nvSpPr>
          <p:cNvPr id="777" name="Google Shape;777;p82"/>
          <p:cNvSpPr txBox="1"/>
          <p:nvPr/>
        </p:nvSpPr>
        <p:spPr>
          <a:xfrm>
            <a:off x="652068" y="5573979"/>
            <a:ext cx="297815" cy="36195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778" name="Google Shape;778;p82"/>
          <p:cNvSpPr txBox="1"/>
          <p:nvPr>
            <p:ph type="title"/>
          </p:nvPr>
        </p:nvSpPr>
        <p:spPr>
          <a:xfrm>
            <a:off x="536244" y="547496"/>
            <a:ext cx="368998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String Function(2)</a:t>
            </a:r>
            <a:endParaRPr sz="3600"/>
          </a:p>
        </p:txBody>
      </p:sp>
      <p:sp>
        <p:nvSpPr>
          <p:cNvPr id="779" name="Google Shape;779;p82"/>
          <p:cNvSpPr txBox="1"/>
          <p:nvPr/>
        </p:nvSpPr>
        <p:spPr>
          <a:xfrm>
            <a:off x="5660897" y="5609335"/>
            <a:ext cx="1475740"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My name is abc</a:t>
            </a:r>
            <a:endParaRPr sz="1800">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83"/>
          <p:cNvSpPr txBox="1"/>
          <p:nvPr>
            <p:ph type="title"/>
          </p:nvPr>
        </p:nvSpPr>
        <p:spPr>
          <a:xfrm>
            <a:off x="536244" y="547496"/>
            <a:ext cx="36906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String Function(3)</a:t>
            </a:r>
            <a:endParaRPr sz="3600"/>
          </a:p>
        </p:txBody>
      </p:sp>
      <p:sp>
        <p:nvSpPr>
          <p:cNvPr id="785" name="Google Shape;785;p83"/>
          <p:cNvSpPr txBox="1"/>
          <p:nvPr/>
        </p:nvSpPr>
        <p:spPr>
          <a:xfrm>
            <a:off x="652068" y="5573979"/>
            <a:ext cx="297815" cy="36195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786" name="Google Shape;786;p83"/>
          <p:cNvSpPr txBox="1"/>
          <p:nvPr/>
        </p:nvSpPr>
        <p:spPr>
          <a:xfrm>
            <a:off x="652068" y="1549603"/>
            <a:ext cx="6230620" cy="421640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ucwords() function</a:t>
            </a:r>
            <a:endParaRPr sz="2200">
              <a:solidFill>
                <a:schemeClr val="dk1"/>
              </a:solidFill>
              <a:latin typeface="Calibri"/>
              <a:ea typeface="Calibri"/>
              <a:cs typeface="Calibri"/>
              <a:sym typeface="Calibri"/>
            </a:endParaRPr>
          </a:p>
          <a:p>
            <a:pPr indent="-228600" lvl="0" marL="240665"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ucwords() function returns string converting first  character of each word into uppercase.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string ucwords ( string $str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$str="my name is Sonoo jaiswal";</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$str=ucwords($str);</a:t>
            </a:r>
            <a:endParaRPr sz="2200">
              <a:solidFill>
                <a:schemeClr val="dk1"/>
              </a:solidFill>
              <a:latin typeface="Calibri"/>
              <a:ea typeface="Calibri"/>
              <a:cs typeface="Calibri"/>
              <a:sym typeface="Calibri"/>
            </a:endParaRPr>
          </a:p>
          <a:p>
            <a:pPr indent="0" lvl="0" marL="12700" marR="0" rtl="0" algn="l">
              <a:lnSpc>
                <a:spcPct val="112500"/>
              </a:lnSpc>
              <a:spcBef>
                <a:spcPts val="530"/>
              </a:spcBef>
              <a:spcAft>
                <a:spcPts val="0"/>
              </a:spcAft>
              <a:buNone/>
            </a:pPr>
            <a:r>
              <a:rPr lang="en-US" sz="2200">
                <a:solidFill>
                  <a:schemeClr val="dk1"/>
                </a:solidFill>
                <a:latin typeface="Calibri"/>
                <a:ea typeface="Calibri"/>
                <a:cs typeface="Calibri"/>
                <a:sym typeface="Calibri"/>
              </a:rPr>
              <a:t>echo $str;</a:t>
            </a:r>
            <a:endParaRPr sz="2200">
              <a:solidFill>
                <a:schemeClr val="dk1"/>
              </a:solidFill>
              <a:latin typeface="Calibri"/>
              <a:ea typeface="Calibri"/>
              <a:cs typeface="Calibri"/>
              <a:sym typeface="Calibri"/>
            </a:endParaRPr>
          </a:p>
          <a:p>
            <a:pPr indent="0" lvl="0" marL="0" marR="962660" rtl="0" algn="r">
              <a:lnSpc>
                <a:spcPct val="110833"/>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p:txBody>
      </p:sp>
      <p:sp>
        <p:nvSpPr>
          <p:cNvPr id="787" name="Google Shape;787;p83"/>
          <p:cNvSpPr txBox="1"/>
          <p:nvPr/>
        </p:nvSpPr>
        <p:spPr>
          <a:xfrm>
            <a:off x="5156708" y="5740095"/>
            <a:ext cx="2468245" cy="29972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My Name Is Sonoo Jaiswal</a:t>
            </a:r>
            <a:endParaRPr sz="1800">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84"/>
          <p:cNvSpPr txBox="1"/>
          <p:nvPr/>
        </p:nvSpPr>
        <p:spPr>
          <a:xfrm>
            <a:off x="652068" y="5238064"/>
            <a:ext cx="297815" cy="362585"/>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793" name="Google Shape;793;p84"/>
          <p:cNvSpPr txBox="1"/>
          <p:nvPr/>
        </p:nvSpPr>
        <p:spPr>
          <a:xfrm>
            <a:off x="652068" y="1549603"/>
            <a:ext cx="5416550" cy="385572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strrev() function</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strrev() function returns reversed string.</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string strrev ( string $string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$str="my name is Sonoo jaiswal";</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$str=strrev($str);</a:t>
            </a:r>
            <a:endParaRPr sz="2200">
              <a:solidFill>
                <a:schemeClr val="dk1"/>
              </a:solidFill>
              <a:latin typeface="Calibri"/>
              <a:ea typeface="Calibri"/>
              <a:cs typeface="Calibri"/>
              <a:sym typeface="Calibri"/>
            </a:endParaRPr>
          </a:p>
          <a:p>
            <a:pPr indent="0" lvl="0" marL="12700" marR="0" rtl="0" algn="l">
              <a:lnSpc>
                <a:spcPct val="107954"/>
              </a:lnSpc>
              <a:spcBef>
                <a:spcPts val="530"/>
              </a:spcBef>
              <a:spcAft>
                <a:spcPts val="0"/>
              </a:spcAft>
              <a:buNone/>
            </a:pPr>
            <a:r>
              <a:rPr lang="en-US" sz="2200">
                <a:solidFill>
                  <a:schemeClr val="dk1"/>
                </a:solidFill>
                <a:latin typeface="Calibri"/>
                <a:ea typeface="Calibri"/>
                <a:cs typeface="Calibri"/>
                <a:sym typeface="Calibri"/>
              </a:rPr>
              <a:t>echo $str;</a:t>
            </a:r>
            <a:endParaRPr sz="2200">
              <a:solidFill>
                <a:schemeClr val="dk1"/>
              </a:solidFill>
              <a:latin typeface="Calibri"/>
              <a:ea typeface="Calibri"/>
              <a:cs typeface="Calibri"/>
              <a:sym typeface="Calibri"/>
            </a:endParaRPr>
          </a:p>
          <a:p>
            <a:pPr indent="0" lvl="0" marL="0" marR="5080" rtl="0" algn="r">
              <a:lnSpc>
                <a:spcPct val="105277"/>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p:txBody>
      </p:sp>
      <p:sp>
        <p:nvSpPr>
          <p:cNvPr id="794" name="Google Shape;794;p84"/>
          <p:cNvSpPr txBox="1"/>
          <p:nvPr>
            <p:ph type="title"/>
          </p:nvPr>
        </p:nvSpPr>
        <p:spPr>
          <a:xfrm>
            <a:off x="536244" y="547496"/>
            <a:ext cx="36906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String Function(4)</a:t>
            </a:r>
            <a:endParaRPr sz="3600"/>
          </a:p>
        </p:txBody>
      </p:sp>
      <p:sp>
        <p:nvSpPr>
          <p:cNvPr id="795" name="Google Shape;795;p84"/>
          <p:cNvSpPr txBox="1"/>
          <p:nvPr/>
        </p:nvSpPr>
        <p:spPr>
          <a:xfrm>
            <a:off x="5300598" y="5379516"/>
            <a:ext cx="2404110"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lawsiaj oonoS si eman ym</a:t>
            </a:r>
            <a:endParaRPr sz="1800">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85"/>
          <p:cNvSpPr txBox="1"/>
          <p:nvPr/>
        </p:nvSpPr>
        <p:spPr>
          <a:xfrm>
            <a:off x="652068" y="1549603"/>
            <a:ext cx="5748655" cy="4562475"/>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strlen() function</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strlen() function returns length of the string.</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int strlen ( string $string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$str="my name is Sonoo jaiswal";</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$str=strlen($str);</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$str;</a:t>
            </a:r>
            <a:endParaRPr sz="2200">
              <a:solidFill>
                <a:schemeClr val="dk1"/>
              </a:solidFill>
              <a:latin typeface="Calibri"/>
              <a:ea typeface="Calibri"/>
              <a:cs typeface="Calibri"/>
              <a:sym typeface="Calibri"/>
            </a:endParaRPr>
          </a:p>
          <a:p>
            <a:pPr indent="0" lvl="0" marL="12700" marR="0" rtl="0" algn="l">
              <a:lnSpc>
                <a:spcPct val="113409"/>
              </a:lnSpc>
              <a:spcBef>
                <a:spcPts val="525"/>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4589145" marR="0" rtl="0" algn="l">
              <a:lnSpc>
                <a:spcPct val="111888"/>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4589145" marR="0" rtl="0" algn="l">
              <a:lnSpc>
                <a:spcPct val="100000"/>
              </a:lnSpc>
              <a:spcBef>
                <a:spcPts val="0"/>
              </a:spcBef>
              <a:spcAft>
                <a:spcPts val="0"/>
              </a:spcAft>
              <a:buNone/>
            </a:pPr>
            <a:r>
              <a:rPr lang="en-US" sz="1800">
                <a:solidFill>
                  <a:schemeClr val="dk1"/>
                </a:solidFill>
                <a:latin typeface="Calibri"/>
                <a:ea typeface="Calibri"/>
                <a:cs typeface="Calibri"/>
                <a:sym typeface="Calibri"/>
              </a:rPr>
              <a:t>24</a:t>
            </a:r>
            <a:endParaRPr sz="1800">
              <a:solidFill>
                <a:schemeClr val="dk1"/>
              </a:solidFill>
              <a:latin typeface="Calibri"/>
              <a:ea typeface="Calibri"/>
              <a:cs typeface="Calibri"/>
              <a:sym typeface="Calibri"/>
            </a:endParaRPr>
          </a:p>
        </p:txBody>
      </p:sp>
      <p:sp>
        <p:nvSpPr>
          <p:cNvPr id="801" name="Google Shape;801;p85"/>
          <p:cNvSpPr txBox="1"/>
          <p:nvPr>
            <p:ph type="title"/>
          </p:nvPr>
        </p:nvSpPr>
        <p:spPr>
          <a:xfrm>
            <a:off x="536244" y="547496"/>
            <a:ext cx="36906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String Function(5)</a:t>
            </a:r>
            <a:endParaRPr sz="36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86"/>
          <p:cNvSpPr txBox="1"/>
          <p:nvPr>
            <p:ph type="title"/>
          </p:nvPr>
        </p:nvSpPr>
        <p:spPr>
          <a:xfrm>
            <a:off x="707542" y="330149"/>
            <a:ext cx="3529965" cy="63690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sz="4000"/>
              <a:t>String: Example</a:t>
            </a:r>
            <a:endParaRPr sz="4000"/>
          </a:p>
        </p:txBody>
      </p:sp>
      <p:sp>
        <p:nvSpPr>
          <p:cNvPr id="807" name="Google Shape;807;p86"/>
          <p:cNvSpPr txBox="1"/>
          <p:nvPr/>
        </p:nvSpPr>
        <p:spPr>
          <a:xfrm>
            <a:off x="707542" y="1307033"/>
            <a:ext cx="5750560" cy="3649979"/>
          </a:xfrm>
          <a:prstGeom prst="rect">
            <a:avLst/>
          </a:prstGeom>
          <a:noFill/>
          <a:ln>
            <a:noFill/>
          </a:ln>
        </p:spPr>
        <p:txBody>
          <a:bodyPr anchorCtr="0" anchor="t" bIns="0" lIns="0" spcFirstLastPara="1" rIns="0" wrap="square" tIns="13950">
            <a:spAutoFit/>
          </a:bodyPr>
          <a:lstStyle/>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8181"/>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1700">
              <a:solidFill>
                <a:schemeClr val="dk1"/>
              </a:solidFill>
              <a:latin typeface="Calibri"/>
              <a:ea typeface="Calibri"/>
              <a:cs typeface="Calibri"/>
              <a:sym typeface="Calibri"/>
            </a:endParaRPr>
          </a:p>
          <a:p>
            <a:pPr indent="0" lvl="0" marL="12700" marR="0" rtl="0" algn="l">
              <a:lnSpc>
                <a:spcPct val="114090"/>
              </a:lnSpc>
              <a:spcBef>
                <a:spcPts val="5"/>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echo </a:t>
            </a:r>
            <a:r>
              <a:rPr b="1" lang="en-US" sz="2200">
                <a:solidFill>
                  <a:srgbClr val="C00000"/>
                </a:solidFill>
                <a:latin typeface="Calibri"/>
                <a:ea typeface="Calibri"/>
                <a:cs typeface="Calibri"/>
                <a:sym typeface="Calibri"/>
              </a:rPr>
              <a:t>strlen</a:t>
            </a:r>
            <a:r>
              <a:rPr lang="en-US" sz="2200">
                <a:solidFill>
                  <a:schemeClr val="dk1"/>
                </a:solidFill>
                <a:latin typeface="Calibri"/>
                <a:ea typeface="Calibri"/>
                <a:cs typeface="Calibri"/>
                <a:sym typeface="Calibri"/>
              </a:rPr>
              <a:t>("Hello world!");</a:t>
            </a:r>
            <a:endParaRPr sz="2200">
              <a:solidFill>
                <a:schemeClr val="dk1"/>
              </a:solidFill>
              <a:latin typeface="Calibri"/>
              <a:ea typeface="Calibri"/>
              <a:cs typeface="Calibri"/>
              <a:sym typeface="Calibri"/>
            </a:endParaRPr>
          </a:p>
          <a:p>
            <a:pPr indent="0" lvl="0" marL="12700" marR="0" rtl="0" algn="l">
              <a:lnSpc>
                <a:spcPct val="100000"/>
              </a:lnSpc>
              <a:spcBef>
                <a:spcPts val="260"/>
              </a:spcBef>
              <a:spcAft>
                <a:spcPts val="0"/>
              </a:spcAft>
              <a:buNone/>
            </a:pPr>
            <a:r>
              <a:rPr lang="en-US" sz="2200">
                <a:solidFill>
                  <a:schemeClr val="dk1"/>
                </a:solidFill>
                <a:latin typeface="Calibri"/>
                <a:ea typeface="Calibri"/>
                <a:cs typeface="Calibri"/>
                <a:sym typeface="Calibri"/>
              </a:rPr>
              <a:t>echo </a:t>
            </a:r>
            <a:r>
              <a:rPr b="1" lang="en-US" sz="2200">
                <a:solidFill>
                  <a:srgbClr val="C00000"/>
                </a:solidFill>
                <a:latin typeface="Calibri"/>
                <a:ea typeface="Calibri"/>
                <a:cs typeface="Calibri"/>
                <a:sym typeface="Calibri"/>
              </a:rPr>
              <a:t>str_word_count</a:t>
            </a:r>
            <a:r>
              <a:rPr lang="en-US" sz="2200">
                <a:solidFill>
                  <a:schemeClr val="dk1"/>
                </a:solidFill>
                <a:latin typeface="Calibri"/>
                <a:ea typeface="Calibri"/>
                <a:cs typeface="Calibri"/>
                <a:sym typeface="Calibri"/>
              </a:rPr>
              <a:t>("Hello world!");</a:t>
            </a:r>
            <a:endParaRPr sz="2200">
              <a:solidFill>
                <a:schemeClr val="dk1"/>
              </a:solidFill>
              <a:latin typeface="Calibri"/>
              <a:ea typeface="Calibri"/>
              <a:cs typeface="Calibri"/>
              <a:sym typeface="Calibri"/>
            </a:endParaRPr>
          </a:p>
          <a:p>
            <a:pPr indent="0" lvl="0" marL="12700" marR="0" rtl="0" algn="l">
              <a:lnSpc>
                <a:spcPct val="100000"/>
              </a:lnSpc>
              <a:spcBef>
                <a:spcPts val="270"/>
              </a:spcBef>
              <a:spcAft>
                <a:spcPts val="0"/>
              </a:spcAft>
              <a:buNone/>
            </a:pPr>
            <a:r>
              <a:rPr lang="en-US" sz="2200">
                <a:solidFill>
                  <a:schemeClr val="dk1"/>
                </a:solidFill>
                <a:latin typeface="Calibri"/>
                <a:ea typeface="Calibri"/>
                <a:cs typeface="Calibri"/>
                <a:sym typeface="Calibri"/>
              </a:rPr>
              <a:t>echo </a:t>
            </a:r>
            <a:r>
              <a:rPr b="1" lang="en-US" sz="2200">
                <a:solidFill>
                  <a:srgbClr val="C00000"/>
                </a:solidFill>
                <a:latin typeface="Calibri"/>
                <a:ea typeface="Calibri"/>
                <a:cs typeface="Calibri"/>
                <a:sym typeface="Calibri"/>
              </a:rPr>
              <a:t>strrev</a:t>
            </a:r>
            <a:r>
              <a:rPr lang="en-US" sz="2200">
                <a:solidFill>
                  <a:schemeClr val="dk1"/>
                </a:solidFill>
                <a:latin typeface="Calibri"/>
                <a:ea typeface="Calibri"/>
                <a:cs typeface="Calibri"/>
                <a:sym typeface="Calibri"/>
              </a:rPr>
              <a:t>("Hello world!");</a:t>
            </a:r>
            <a:endParaRPr sz="2200">
              <a:solidFill>
                <a:schemeClr val="dk1"/>
              </a:solidFill>
              <a:latin typeface="Calibri"/>
              <a:ea typeface="Calibri"/>
              <a:cs typeface="Calibri"/>
              <a:sym typeface="Calibri"/>
            </a:endParaRPr>
          </a:p>
          <a:p>
            <a:pPr indent="0" lvl="0" marL="12700" marR="0" rtl="0" algn="l">
              <a:lnSpc>
                <a:spcPct val="100000"/>
              </a:lnSpc>
              <a:spcBef>
                <a:spcPts val="260"/>
              </a:spcBef>
              <a:spcAft>
                <a:spcPts val="0"/>
              </a:spcAft>
              <a:buNone/>
            </a:pPr>
            <a:r>
              <a:rPr lang="en-US" sz="2200">
                <a:solidFill>
                  <a:schemeClr val="dk1"/>
                </a:solidFill>
                <a:latin typeface="Calibri"/>
                <a:ea typeface="Calibri"/>
                <a:cs typeface="Calibri"/>
                <a:sym typeface="Calibri"/>
              </a:rPr>
              <a:t>echo </a:t>
            </a:r>
            <a:r>
              <a:rPr b="1" lang="en-US" sz="2200">
                <a:solidFill>
                  <a:srgbClr val="C00000"/>
                </a:solidFill>
                <a:latin typeface="Calibri"/>
                <a:ea typeface="Calibri"/>
                <a:cs typeface="Calibri"/>
                <a:sym typeface="Calibri"/>
              </a:rPr>
              <a:t>strpos</a:t>
            </a:r>
            <a:r>
              <a:rPr lang="en-US" sz="2200">
                <a:solidFill>
                  <a:schemeClr val="dk1"/>
                </a:solidFill>
                <a:latin typeface="Calibri"/>
                <a:ea typeface="Calibri"/>
                <a:cs typeface="Calibri"/>
                <a:sym typeface="Calibri"/>
              </a:rPr>
              <a:t>("Hello world!", "world");</a:t>
            </a:r>
            <a:endParaRPr sz="2200">
              <a:solidFill>
                <a:schemeClr val="dk1"/>
              </a:solidFill>
              <a:latin typeface="Calibri"/>
              <a:ea typeface="Calibri"/>
              <a:cs typeface="Calibri"/>
              <a:sym typeface="Calibri"/>
            </a:endParaRPr>
          </a:p>
          <a:p>
            <a:pPr indent="0" lvl="0" marL="12700" marR="0" rtl="0" algn="l">
              <a:lnSpc>
                <a:spcPct val="114090"/>
              </a:lnSpc>
              <a:spcBef>
                <a:spcPts val="270"/>
              </a:spcBef>
              <a:spcAft>
                <a:spcPts val="0"/>
              </a:spcAft>
              <a:buNone/>
            </a:pPr>
            <a:r>
              <a:rPr lang="en-US" sz="2200">
                <a:solidFill>
                  <a:schemeClr val="dk1"/>
                </a:solidFill>
                <a:latin typeface="Calibri"/>
                <a:ea typeface="Calibri"/>
                <a:cs typeface="Calibri"/>
                <a:sym typeface="Calibri"/>
              </a:rPr>
              <a:t>echo </a:t>
            </a:r>
            <a:r>
              <a:rPr b="1" lang="en-US" sz="2200">
                <a:solidFill>
                  <a:srgbClr val="C00000"/>
                </a:solidFill>
                <a:latin typeface="Calibri"/>
                <a:ea typeface="Calibri"/>
                <a:cs typeface="Calibri"/>
                <a:sym typeface="Calibri"/>
              </a:rPr>
              <a:t>str_replace</a:t>
            </a:r>
            <a:r>
              <a:rPr lang="en-US" sz="2200">
                <a:solidFill>
                  <a:schemeClr val="dk1"/>
                </a:solidFill>
                <a:latin typeface="Calibri"/>
                <a:ea typeface="Calibri"/>
                <a:cs typeface="Calibri"/>
                <a:sym typeface="Calibri"/>
              </a:rPr>
              <a:t>("world", "Dolly", "Hello world!");</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808" name="Google Shape;808;p86"/>
          <p:cNvSpPr txBox="1"/>
          <p:nvPr/>
        </p:nvSpPr>
        <p:spPr>
          <a:xfrm>
            <a:off x="707542" y="5198186"/>
            <a:ext cx="985519" cy="664845"/>
          </a:xfrm>
          <a:prstGeom prst="rect">
            <a:avLst/>
          </a:prstGeom>
          <a:noFill/>
          <a:ln>
            <a:noFill/>
          </a:ln>
        </p:spPr>
        <p:txBody>
          <a:bodyPr anchorCtr="0" anchor="t" bIns="0" lIns="0" spcFirstLastPara="1" rIns="0" wrap="square" tIns="13950">
            <a:spAutoFit/>
          </a:bodyPr>
          <a:lstStyle/>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1409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809" name="Google Shape;809;p86"/>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86"/>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86"/>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80</a:t>
            </a:r>
            <a:endParaRPr sz="1800">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graphicFrame>
        <p:nvGraphicFramePr>
          <p:cNvPr id="816" name="Google Shape;816;p87"/>
          <p:cNvGraphicFramePr/>
          <p:nvPr/>
        </p:nvGraphicFramePr>
        <p:xfrm>
          <a:off x="314070" y="0"/>
          <a:ext cx="3000000" cy="3000000"/>
        </p:xfrm>
        <a:graphic>
          <a:graphicData uri="http://schemas.openxmlformats.org/drawingml/2006/table">
            <a:tbl>
              <a:tblPr bandRow="1" firstRow="1">
                <a:noFill/>
                <a:tableStyleId>{06F41560-F12C-4508-8C44-9FB9A9501E1E}</a:tableStyleId>
              </a:tblPr>
              <a:tblGrid>
                <a:gridCol w="1203325"/>
                <a:gridCol w="1874525"/>
                <a:gridCol w="2003425"/>
                <a:gridCol w="3641725"/>
                <a:gridCol w="146675"/>
              </a:tblGrid>
              <a:tr h="1609475">
                <a:tc>
                  <a:txBody>
                    <a:bodyPr/>
                    <a:lstStyle/>
                    <a:p>
                      <a:pPr indent="0" lvl="0" marL="91440" marR="0" rtl="0" algn="l">
                        <a:lnSpc>
                          <a:spcPct val="100000"/>
                        </a:lnSpc>
                        <a:spcBef>
                          <a:spcPts val="0"/>
                        </a:spcBef>
                        <a:spcAft>
                          <a:spcPts val="0"/>
                        </a:spcAft>
                        <a:buNone/>
                      </a:pPr>
                      <a:r>
                        <a:rPr b="1" lang="en-US" sz="4000" u="none" cap="none" strike="noStrike">
                          <a:solidFill>
                            <a:srgbClr val="1F487C"/>
                          </a:solidFill>
                          <a:latin typeface="Cambria"/>
                          <a:ea typeface="Cambria"/>
                          <a:cs typeface="Cambria"/>
                          <a:sym typeface="Cambria"/>
                        </a:rPr>
                        <a:t>Stri</a:t>
                      </a:r>
                      <a:r>
                        <a:rPr b="1" lang="en-US" sz="4000">
                          <a:solidFill>
                            <a:srgbClr val="1F487C"/>
                          </a:solidFill>
                          <a:latin typeface="Cambria"/>
                          <a:ea typeface="Cambria"/>
                          <a:cs typeface="Cambria"/>
                          <a:sym typeface="Cambria"/>
                        </a:rPr>
                        <a:t>ng</a:t>
                      </a:r>
                      <a:endParaRPr sz="4000" u="none" cap="none" strike="noStrike">
                        <a:latin typeface="Cambria"/>
                        <a:ea typeface="Cambria"/>
                        <a:cs typeface="Cambria"/>
                        <a:sym typeface="Cambria"/>
                      </a:endParaRPr>
                    </a:p>
                  </a:txBody>
                  <a:tcPr marT="346700" marB="0" marR="0" marL="0">
                    <a:lnB cap="flat" cmpd="sng" w="12700">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4000" u="none" cap="none" strike="noStrike">
                          <a:solidFill>
                            <a:srgbClr val="1F487C"/>
                          </a:solidFill>
                          <a:latin typeface="Cambria"/>
                          <a:ea typeface="Cambria"/>
                          <a:cs typeface="Cambria"/>
                          <a:sym typeface="Cambria"/>
                        </a:rPr>
                        <a:t>g Operat</a:t>
                      </a:r>
                      <a:endParaRPr sz="4000" u="none" cap="none" strike="noStrike">
                        <a:latin typeface="Cambria"/>
                        <a:ea typeface="Cambria"/>
                        <a:cs typeface="Cambria"/>
                        <a:sym typeface="Cambria"/>
                      </a:endParaRPr>
                    </a:p>
                  </a:txBody>
                  <a:tcPr marT="346700" marB="0" marR="0" marL="0">
                    <a:lnB cap="flat" cmpd="sng" w="12700">
                      <a:solidFill>
                        <a:srgbClr val="CCCCCC"/>
                      </a:solidFill>
                      <a:prstDash val="solid"/>
                      <a:round/>
                      <a:headEnd len="sm" w="sm" type="none"/>
                      <a:tailEnd len="sm" w="sm" type="none"/>
                    </a:lnB>
                  </a:tcPr>
                </a:tc>
                <a:tc>
                  <a:txBody>
                    <a:bodyPr/>
                    <a:lstStyle/>
                    <a:p>
                      <a:pPr indent="0" lvl="0" marL="26034" marR="0" rtl="0" algn="l">
                        <a:lnSpc>
                          <a:spcPct val="100000"/>
                        </a:lnSpc>
                        <a:spcBef>
                          <a:spcPts val="0"/>
                        </a:spcBef>
                        <a:spcAft>
                          <a:spcPts val="0"/>
                        </a:spcAft>
                        <a:buNone/>
                      </a:pPr>
                      <a:r>
                        <a:rPr b="1" lang="en-US" sz="4000" u="none" cap="none" strike="noStrike">
                          <a:solidFill>
                            <a:srgbClr val="1F487C"/>
                          </a:solidFill>
                          <a:latin typeface="Cambria"/>
                          <a:ea typeface="Cambria"/>
                          <a:cs typeface="Cambria"/>
                          <a:sym typeface="Cambria"/>
                        </a:rPr>
                        <a:t>or</a:t>
                      </a:r>
                      <a:endParaRPr sz="4000" u="none" cap="none" strike="noStrike">
                        <a:latin typeface="Cambria"/>
                        <a:ea typeface="Cambria"/>
                        <a:cs typeface="Cambria"/>
                        <a:sym typeface="Cambria"/>
                      </a:endParaRPr>
                    </a:p>
                  </a:txBody>
                  <a:tcPr marT="346700" marB="0" marR="0" marL="0">
                    <a:lnB cap="flat" cmpd="sng" w="12700">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lnB cap="flat" cmpd="sng" w="12700">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solidFill>
                      <a:srgbClr val="1F487C"/>
                    </a:solidFill>
                  </a:tcPr>
                </a:tc>
              </a:tr>
              <a:tr h="1003925">
                <a:tc>
                  <a:txBody>
                    <a:bodyPr/>
                    <a:lstStyle/>
                    <a:p>
                      <a:pPr indent="-235584" lvl="0" marL="400050" marR="121920" rtl="0" algn="l">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Opera  tor</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3175" marR="21590" rtl="0" algn="ctr">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Name</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372110" marR="0" rtl="0" algn="l">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Example</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2800" u="none" cap="none" strike="noStrike">
                          <a:solidFill>
                            <a:srgbClr val="C00000"/>
                          </a:solidFill>
                          <a:latin typeface="Calibri"/>
                          <a:ea typeface="Calibri"/>
                          <a:cs typeface="Calibri"/>
                          <a:sym typeface="Calibri"/>
                        </a:rPr>
                        <a:t>Result</a:t>
                      </a:r>
                      <a:endParaRPr sz="2800" u="none" cap="none" strike="noStrike">
                        <a:latin typeface="Calibri"/>
                        <a:ea typeface="Calibri"/>
                        <a:cs typeface="Calibri"/>
                        <a:sym typeface="Calibri"/>
                      </a:endParaRPr>
                    </a:p>
                  </a:txBody>
                  <a:tcPr marT="58425"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lnL cap="flat" cmpd="sng" w="12700">
                      <a:solidFill>
                        <a:srgbClr val="CCCCCC"/>
                      </a:solidFill>
                      <a:prstDash val="solid"/>
                      <a:round/>
                      <a:headEnd len="sm" w="sm" type="none"/>
                      <a:tailEnd len="sm" w="sm" type="none"/>
                    </a:lnL>
                    <a:solidFill>
                      <a:srgbClr val="1F487C"/>
                    </a:solidFill>
                  </a:tcPr>
                </a:tc>
              </a:tr>
              <a:tr h="1355850">
                <a:tc>
                  <a:txBody>
                    <a:bodyPr/>
                    <a:lstStyle/>
                    <a:p>
                      <a:pPr indent="0" lvl="0" marL="112395" marR="12065"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6514" marR="83820" rtl="0" algn="l">
                        <a:lnSpc>
                          <a:spcPct val="100000"/>
                        </a:lnSpc>
                        <a:spcBef>
                          <a:spcPts val="0"/>
                        </a:spcBef>
                        <a:spcAft>
                          <a:spcPts val="0"/>
                        </a:spcAft>
                        <a:buNone/>
                      </a:pPr>
                      <a:r>
                        <a:rPr lang="en-US" sz="2800" u="none" cap="none" strike="noStrike">
                          <a:latin typeface="Calibri"/>
                          <a:ea typeface="Calibri"/>
                          <a:cs typeface="Calibri"/>
                          <a:sym typeface="Calibri"/>
                        </a:rPr>
                        <a:t>Concatenati  on</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$txt1 . $txt2</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58419" marR="262890" rtl="0" algn="l">
                        <a:lnSpc>
                          <a:spcPct val="100000"/>
                        </a:lnSpc>
                        <a:spcBef>
                          <a:spcPts val="0"/>
                        </a:spcBef>
                        <a:spcAft>
                          <a:spcPts val="0"/>
                        </a:spcAft>
                        <a:buNone/>
                      </a:pPr>
                      <a:r>
                        <a:rPr lang="en-US" sz="2800" u="none" cap="none" strike="noStrike">
                          <a:latin typeface="Calibri"/>
                          <a:ea typeface="Calibri"/>
                          <a:cs typeface="Calibri"/>
                          <a:sym typeface="Calibri"/>
                        </a:rPr>
                        <a:t>Concatenation of $txt1  and $txt2</a:t>
                      </a:r>
                      <a:endParaRPr sz="2800" u="none" cap="none" strike="noStrike">
                        <a:latin typeface="Calibri"/>
                        <a:ea typeface="Calibri"/>
                        <a:cs typeface="Calibri"/>
                        <a:sym typeface="Calibri"/>
                      </a:endParaRPr>
                    </a:p>
                  </a:txBody>
                  <a:tcPr marT="5905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CCCCCC"/>
                      </a:solidFill>
                      <a:prstDash val="solid"/>
                      <a:round/>
                      <a:headEnd len="sm" w="sm" type="none"/>
                      <a:tailEnd len="sm" w="sm" type="none"/>
                    </a:lnB>
                    <a:solidFill>
                      <a:srgbClr val="F0F0F0"/>
                    </a:solidFill>
                  </a:tcPr>
                </a:tc>
                <a:tc>
                  <a:txBody>
                    <a:bodyPr/>
                    <a:lstStyle/>
                    <a:p>
                      <a:pPr indent="0" lvl="0" marL="0" marR="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lnL cap="flat" cmpd="sng" w="12700">
                      <a:solidFill>
                        <a:srgbClr val="CCCCCC"/>
                      </a:solidFill>
                      <a:prstDash val="solid"/>
                      <a:round/>
                      <a:headEnd len="sm" w="sm" type="none"/>
                      <a:tailEnd len="sm" w="sm" type="none"/>
                    </a:lnL>
                    <a:solidFill>
                      <a:srgbClr val="1F487C"/>
                    </a:solidFill>
                  </a:tcPr>
                </a:tc>
              </a:tr>
              <a:tr h="1430650">
                <a:tc>
                  <a:txBody>
                    <a:bodyPr/>
                    <a:lstStyle/>
                    <a:p>
                      <a:pPr indent="0" lvl="0" marL="112395" marR="12065" rtl="0" algn="l">
                        <a:lnSpc>
                          <a:spcPct val="100000"/>
                        </a:lnSpc>
                        <a:spcBef>
                          <a:spcPts val="0"/>
                        </a:spcBef>
                        <a:spcAft>
                          <a:spcPts val="0"/>
                        </a:spcAft>
                        <a:buNone/>
                      </a:pPr>
                      <a:r>
                        <a:rPr lang="en-US" sz="2800" u="none" cap="none" strike="noStrike">
                          <a:latin typeface="Calibri"/>
                          <a:ea typeface="Calibri"/>
                          <a:cs typeface="Calibri"/>
                          <a:sym typeface="Calibri"/>
                        </a:rPr>
                        <a:t>.=</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6514" marR="83820" rtl="0" algn="l">
                        <a:lnSpc>
                          <a:spcPct val="100000"/>
                        </a:lnSpc>
                        <a:spcBef>
                          <a:spcPts val="0"/>
                        </a:spcBef>
                        <a:spcAft>
                          <a:spcPts val="0"/>
                        </a:spcAft>
                        <a:buNone/>
                      </a:pPr>
                      <a:r>
                        <a:rPr lang="en-US" sz="2800" u="none" cap="none" strike="noStrike">
                          <a:latin typeface="Calibri"/>
                          <a:ea typeface="Calibri"/>
                          <a:cs typeface="Calibri"/>
                          <a:sym typeface="Calibri"/>
                        </a:rPr>
                        <a:t>Concatenati  on  assignment</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7150" marR="0" rtl="0" algn="l">
                        <a:lnSpc>
                          <a:spcPct val="100000"/>
                        </a:lnSpc>
                        <a:spcBef>
                          <a:spcPts val="0"/>
                        </a:spcBef>
                        <a:spcAft>
                          <a:spcPts val="0"/>
                        </a:spcAft>
                        <a:buNone/>
                      </a:pPr>
                      <a:r>
                        <a:rPr lang="en-US" sz="2800" u="none" cap="none" strike="noStrike">
                          <a:latin typeface="Calibri"/>
                          <a:ea typeface="Calibri"/>
                          <a:cs typeface="Calibri"/>
                          <a:sym typeface="Calibri"/>
                        </a:rPr>
                        <a:t>$txt1 .=</a:t>
                      </a:r>
                      <a:endParaRPr sz="2800" u="none" cap="none" strike="noStrike">
                        <a:latin typeface="Calibri"/>
                        <a:ea typeface="Calibri"/>
                        <a:cs typeface="Calibri"/>
                        <a:sym typeface="Calibri"/>
                      </a:endParaRPr>
                    </a:p>
                    <a:p>
                      <a:pPr indent="0" lvl="0" marL="57150" marR="0" rtl="0" algn="l">
                        <a:lnSpc>
                          <a:spcPct val="100000"/>
                        </a:lnSpc>
                        <a:spcBef>
                          <a:spcPts val="5"/>
                        </a:spcBef>
                        <a:spcAft>
                          <a:spcPts val="0"/>
                        </a:spcAft>
                        <a:buNone/>
                      </a:pPr>
                      <a:r>
                        <a:rPr lang="en-US" sz="2800" u="none" cap="none" strike="noStrike">
                          <a:latin typeface="Calibri"/>
                          <a:ea typeface="Calibri"/>
                          <a:cs typeface="Calibri"/>
                          <a:sym typeface="Calibri"/>
                        </a:rPr>
                        <a:t>$txt2</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58419" marR="0" rtl="0" algn="l">
                        <a:lnSpc>
                          <a:spcPct val="100000"/>
                        </a:lnSpc>
                        <a:spcBef>
                          <a:spcPts val="0"/>
                        </a:spcBef>
                        <a:spcAft>
                          <a:spcPts val="0"/>
                        </a:spcAft>
                        <a:buNone/>
                      </a:pPr>
                      <a:r>
                        <a:rPr lang="en-US" sz="2800" u="none" cap="none" strike="noStrike">
                          <a:latin typeface="Calibri"/>
                          <a:ea typeface="Calibri"/>
                          <a:cs typeface="Calibri"/>
                          <a:sym typeface="Calibri"/>
                        </a:rPr>
                        <a:t>Appends $txt2 to $txt1</a:t>
                      </a:r>
                      <a:endParaRPr sz="2800" u="none" cap="none" strike="noStrike">
                        <a:latin typeface="Calibri"/>
                        <a:ea typeface="Calibri"/>
                        <a:cs typeface="Calibri"/>
                        <a:sym typeface="Calibri"/>
                      </a:endParaRPr>
                    </a:p>
                  </a:txBody>
                  <a:tcPr marT="59700" marB="0" marR="0" marL="0">
                    <a:lnL cap="flat" cmpd="sng" w="12700">
                      <a:solidFill>
                        <a:srgbClr val="CCCCCC"/>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CCCCCC"/>
                      </a:solidFill>
                      <a:prstDash val="solid"/>
                      <a:round/>
                      <a:headEnd len="sm" w="sm" type="none"/>
                      <a:tailEnd len="sm" w="sm" type="none"/>
                    </a:lnT>
                    <a:lnB cap="flat" cmpd="sng" w="12700">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lnL cap="flat" cmpd="sng" w="12700">
                      <a:solidFill>
                        <a:srgbClr val="CCCCCC"/>
                      </a:solidFill>
                      <a:prstDash val="solid"/>
                      <a:round/>
                      <a:headEnd len="sm" w="sm" type="none"/>
                      <a:tailEnd len="sm" w="sm" type="none"/>
                    </a:lnL>
                    <a:solidFill>
                      <a:srgbClr val="1F487C"/>
                    </a:solidFill>
                  </a:tcPr>
                </a:tc>
              </a:tr>
              <a:tr h="1458075">
                <a:tc>
                  <a:txBody>
                    <a:bodyPr/>
                    <a:lstStyle/>
                    <a:p>
                      <a:pPr indent="0" lvl="0" marL="0" marR="12065"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lnT cap="flat" cmpd="sng" w="12700">
                      <a:solidFill>
                        <a:srgbClr val="DDDDDD"/>
                      </a:solidFill>
                      <a:prstDash val="solid"/>
                      <a:round/>
                      <a:headEnd len="sm" w="sm" type="none"/>
                      <a:tailEnd len="sm" w="sm" type="none"/>
                    </a:lnT>
                  </a:tcPr>
                </a:tc>
                <a:tc>
                  <a:txBody>
                    <a:bodyPr/>
                    <a:lstStyle/>
                    <a:p>
                      <a:pPr indent="0" lvl="0" marL="0" marR="2159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lnT cap="flat" cmpd="sng" w="12700">
                      <a:solidFill>
                        <a:srgbClr val="DDDDDD"/>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lnT cap="flat" cmpd="sng" w="12700">
                      <a:solidFill>
                        <a:srgbClr val="DDDDDD"/>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2000" u="none" cap="none" strike="noStrike">
                        <a:latin typeface="Times New Roman"/>
                        <a:ea typeface="Times New Roman"/>
                        <a:cs typeface="Times New Roman"/>
                        <a:sym typeface="Times New Roman"/>
                      </a:endParaRPr>
                    </a:p>
                    <a:p>
                      <a:pPr indent="0" lvl="0" marL="0" marR="59689" rtl="0" algn="r">
                        <a:lnSpc>
                          <a:spcPct val="100000"/>
                        </a:lnSpc>
                        <a:spcBef>
                          <a:spcPts val="0"/>
                        </a:spcBef>
                        <a:spcAft>
                          <a:spcPts val="0"/>
                        </a:spcAft>
                        <a:buNone/>
                      </a:pPr>
                      <a:r>
                        <a:rPr lang="en-US" sz="1800" u="none" cap="none" strike="noStrike">
                          <a:solidFill>
                            <a:srgbClr val="FFFFFF"/>
                          </a:solidFill>
                          <a:latin typeface="Calibri"/>
                          <a:ea typeface="Calibri"/>
                          <a:cs typeface="Calibri"/>
                          <a:sym typeface="Calibri"/>
                        </a:rPr>
                        <a:t>81</a:t>
                      </a:r>
                      <a:endParaRPr sz="1800" u="none" cap="none" strike="noStrike">
                        <a:latin typeface="Calibri"/>
                        <a:ea typeface="Calibri"/>
                        <a:cs typeface="Calibri"/>
                        <a:sym typeface="Calibri"/>
                      </a:endParaRPr>
                    </a:p>
                  </a:txBody>
                  <a:tcPr marT="5075" marB="0" marR="0" marL="0">
                    <a:lnT cap="flat" cmpd="sng" w="12700">
                      <a:solidFill>
                        <a:srgbClr val="DDDDDD"/>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t/>
                      </a:r>
                      <a:endParaRPr sz="2900" u="none" cap="none" strike="noStrike">
                        <a:latin typeface="Times New Roman"/>
                        <a:ea typeface="Times New Roman"/>
                        <a:cs typeface="Times New Roman"/>
                        <a:sym typeface="Times New Roman"/>
                      </a:endParaRPr>
                    </a:p>
                  </a:txBody>
                  <a:tcPr marT="0" marB="0" marR="0" marL="0"/>
                </a:tc>
              </a:tr>
            </a:tbl>
          </a:graphicData>
        </a:graphic>
      </p:graphicFrame>
      <p:sp>
        <p:nvSpPr>
          <p:cNvPr id="817" name="Google Shape;817;p87"/>
          <p:cNvSpPr/>
          <p:nvPr/>
        </p:nvSpPr>
        <p:spPr>
          <a:xfrm>
            <a:off x="5355463" y="1609445"/>
            <a:ext cx="3637279" cy="1004569"/>
          </a:xfrm>
          <a:custGeom>
            <a:rect b="b" l="l" r="r" t="t"/>
            <a:pathLst>
              <a:path extrusionOk="0" h="1004569" w="3637279">
                <a:moveTo>
                  <a:pt x="3637025" y="0"/>
                </a:moveTo>
                <a:lnTo>
                  <a:pt x="0" y="0"/>
                </a:lnTo>
                <a:lnTo>
                  <a:pt x="0" y="1003960"/>
                </a:lnTo>
                <a:lnTo>
                  <a:pt x="3637025" y="1003960"/>
                </a:lnTo>
                <a:lnTo>
                  <a:pt x="36370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87"/>
          <p:cNvSpPr/>
          <p:nvPr/>
        </p:nvSpPr>
        <p:spPr>
          <a:xfrm>
            <a:off x="5355463" y="3969258"/>
            <a:ext cx="3637279" cy="1430655"/>
          </a:xfrm>
          <a:custGeom>
            <a:rect b="b" l="l" r="r" t="t"/>
            <a:pathLst>
              <a:path extrusionOk="0" h="1430654" w="3637279">
                <a:moveTo>
                  <a:pt x="3637025" y="0"/>
                </a:moveTo>
                <a:lnTo>
                  <a:pt x="0" y="0"/>
                </a:lnTo>
                <a:lnTo>
                  <a:pt x="0" y="1430655"/>
                </a:lnTo>
                <a:lnTo>
                  <a:pt x="3637025" y="1430655"/>
                </a:lnTo>
                <a:lnTo>
                  <a:pt x="3637025"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87"/>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87"/>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88"/>
          <p:cNvSpPr txBox="1"/>
          <p:nvPr>
            <p:ph type="title"/>
          </p:nvPr>
        </p:nvSpPr>
        <p:spPr>
          <a:xfrm>
            <a:off x="536244" y="464896"/>
            <a:ext cx="653923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n-US"/>
              <a:t>String Operator: Example</a:t>
            </a:r>
            <a:endParaRPr/>
          </a:p>
        </p:txBody>
      </p:sp>
      <p:sp>
        <p:nvSpPr>
          <p:cNvPr id="826" name="Google Shape;826;p88"/>
          <p:cNvSpPr txBox="1"/>
          <p:nvPr/>
        </p:nvSpPr>
        <p:spPr>
          <a:xfrm>
            <a:off x="629100" y="2034850"/>
            <a:ext cx="2142600" cy="406740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&lt;!DOCTYPE html&gt;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0" marR="0" rtl="0" algn="l">
              <a:lnSpc>
                <a:spcPct val="100000"/>
              </a:lnSpc>
              <a:spcBef>
                <a:spcPts val="15"/>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$txt1 = "Hello";</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$txt2 = " world!";</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echo $txt1 . $txt2;</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21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&lt;/body&gt;</a:t>
            </a:r>
            <a:endParaRPr sz="22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&lt;/html&gt;</a:t>
            </a:r>
            <a:endParaRPr sz="2200">
              <a:solidFill>
                <a:schemeClr val="dk1"/>
              </a:solidFill>
              <a:latin typeface="Calibri"/>
              <a:ea typeface="Calibri"/>
              <a:cs typeface="Calibri"/>
              <a:sym typeface="Calibri"/>
            </a:endParaRPr>
          </a:p>
        </p:txBody>
      </p:sp>
      <p:sp>
        <p:nvSpPr>
          <p:cNvPr id="827" name="Google Shape;827;p88"/>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88"/>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p88"/>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82</a:t>
            </a:r>
            <a:endParaRPr sz="1800">
              <a:solidFill>
                <a:schemeClr val="dk1"/>
              </a:solidFill>
              <a:latin typeface="Calibri"/>
              <a:ea typeface="Calibri"/>
              <a:cs typeface="Calibri"/>
              <a:sym typeface="Calibri"/>
            </a:endParaRPr>
          </a:p>
        </p:txBody>
      </p:sp>
      <p:sp>
        <p:nvSpPr>
          <p:cNvPr id="830" name="Google Shape;830;p88"/>
          <p:cNvSpPr txBox="1"/>
          <p:nvPr/>
        </p:nvSpPr>
        <p:spPr>
          <a:xfrm>
            <a:off x="4764775" y="2684825"/>
            <a:ext cx="3581700" cy="27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$string1 = "Hello ";</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$string2 = "world!";</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$string1 .= $string2;</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echo $string1; // Output: Hello world!</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89"/>
          <p:cNvSpPr txBox="1"/>
          <p:nvPr>
            <p:ph type="title"/>
          </p:nvPr>
        </p:nvSpPr>
        <p:spPr>
          <a:xfrm>
            <a:off x="536244" y="513968"/>
            <a:ext cx="2896235"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HTML Forms</a:t>
            </a:r>
            <a:endParaRPr sz="4000"/>
          </a:p>
        </p:txBody>
      </p:sp>
      <p:sp>
        <p:nvSpPr>
          <p:cNvPr id="836" name="Google Shape;836;p89"/>
          <p:cNvSpPr txBox="1"/>
          <p:nvPr/>
        </p:nvSpPr>
        <p:spPr>
          <a:xfrm>
            <a:off x="652068" y="1615821"/>
            <a:ext cx="7290434" cy="4270375"/>
          </a:xfrm>
          <a:prstGeom prst="rect">
            <a:avLst/>
          </a:prstGeom>
          <a:noFill/>
          <a:ln>
            <a:noFill/>
          </a:ln>
        </p:spPr>
        <p:txBody>
          <a:bodyPr anchorCtr="0" anchor="t" bIns="0" lIns="0" spcFirstLastPara="1" rIns="0" wrap="square" tIns="12700">
            <a:spAutoFit/>
          </a:bodyPr>
          <a:lstStyle/>
          <a:p>
            <a:pPr indent="-228600" lvl="0" marL="240665" marR="580390" rtl="0" algn="just">
              <a:lnSpc>
                <a:spcPct val="100000"/>
              </a:lnSpc>
              <a:spcBef>
                <a:spcPts val="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HTML Forms are required, when you </a:t>
            </a:r>
            <a:r>
              <a:rPr b="1" lang="en-US" sz="2400">
                <a:solidFill>
                  <a:schemeClr val="dk1"/>
                </a:solidFill>
                <a:latin typeface="Calibri"/>
                <a:ea typeface="Calibri"/>
                <a:cs typeface="Calibri"/>
                <a:sym typeface="Calibri"/>
              </a:rPr>
              <a:t>want to collect  some data from the site visitor.</a:t>
            </a:r>
            <a:endParaRPr sz="2400">
              <a:solidFill>
                <a:schemeClr val="dk1"/>
              </a:solidFill>
              <a:latin typeface="Calibri"/>
              <a:ea typeface="Calibri"/>
              <a:cs typeface="Calibri"/>
              <a:sym typeface="Calibri"/>
            </a:endParaRPr>
          </a:p>
          <a:p>
            <a:pPr indent="-228600" lvl="0" marL="240665" marR="250825" rtl="0" algn="just">
              <a:lnSpc>
                <a:spcPct val="100000"/>
              </a:lnSpc>
              <a:spcBef>
                <a:spcPts val="575"/>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For example, during user registration you would like to  collect information such as name, email address, credit  card, etc.</a:t>
            </a:r>
            <a:endParaRPr sz="2400">
              <a:solidFill>
                <a:schemeClr val="dk1"/>
              </a:solidFill>
              <a:latin typeface="Calibri"/>
              <a:ea typeface="Calibri"/>
              <a:cs typeface="Calibri"/>
              <a:sym typeface="Calibri"/>
            </a:endParaRPr>
          </a:p>
          <a:p>
            <a:pPr indent="-228600" lvl="0" marL="240665" marR="76200" rtl="0" algn="just">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A form will </a:t>
            </a:r>
            <a:r>
              <a:rPr b="1" lang="en-US" sz="2400">
                <a:solidFill>
                  <a:schemeClr val="dk1"/>
                </a:solidFill>
                <a:latin typeface="Calibri"/>
                <a:ea typeface="Calibri"/>
                <a:cs typeface="Calibri"/>
                <a:sym typeface="Calibri"/>
              </a:rPr>
              <a:t>take input from the site visitor and then will  post it to a back-end application </a:t>
            </a:r>
            <a:r>
              <a:rPr lang="en-US" sz="2400">
                <a:solidFill>
                  <a:schemeClr val="dk1"/>
                </a:solidFill>
                <a:latin typeface="Calibri"/>
                <a:ea typeface="Calibri"/>
                <a:cs typeface="Calibri"/>
                <a:sym typeface="Calibri"/>
              </a:rPr>
              <a:t>such as CGI, ASP Script  or PHP script etc.</a:t>
            </a:r>
            <a:endParaRPr sz="2400">
              <a:solidFill>
                <a:schemeClr val="dk1"/>
              </a:solidFill>
              <a:latin typeface="Calibri"/>
              <a:ea typeface="Calibri"/>
              <a:cs typeface="Calibri"/>
              <a:sym typeface="Calibri"/>
            </a:endParaRPr>
          </a:p>
          <a:p>
            <a:pPr indent="-228600" lvl="0" marL="240665" marR="5080" rtl="0" algn="l">
              <a:lnSpc>
                <a:spcPct val="100000"/>
              </a:lnSpc>
              <a:spcBef>
                <a:spcPts val="585"/>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There are various form elements available like text fields,  textarea fields, drop-down menus, radio buttons,  checkboxes, etc.</a:t>
            </a:r>
            <a:endParaRPr sz="2400">
              <a:solidFill>
                <a:schemeClr val="dk1"/>
              </a:solidFill>
              <a:latin typeface="Calibri"/>
              <a:ea typeface="Calibri"/>
              <a:cs typeface="Calibri"/>
              <a:sym typeface="Calibri"/>
            </a:endParaRPr>
          </a:p>
        </p:txBody>
      </p:sp>
      <p:sp>
        <p:nvSpPr>
          <p:cNvPr id="837" name="Google Shape;837;p89"/>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8" name="Google Shape;838;p89"/>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9" name="Google Shape;839;p89"/>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84</a:t>
            </a:r>
            <a:endParaRPr sz="1800">
              <a:solidFill>
                <a:schemeClr val="dk1"/>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90"/>
          <p:cNvSpPr txBox="1"/>
          <p:nvPr>
            <p:ph type="title"/>
          </p:nvPr>
        </p:nvSpPr>
        <p:spPr>
          <a:xfrm>
            <a:off x="536244" y="513968"/>
            <a:ext cx="3020695"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Forms Syntax</a:t>
            </a:r>
            <a:endParaRPr sz="4000"/>
          </a:p>
        </p:txBody>
      </p:sp>
      <p:sp>
        <p:nvSpPr>
          <p:cNvPr id="845" name="Google Shape;845;p90"/>
          <p:cNvSpPr txBox="1"/>
          <p:nvPr/>
        </p:nvSpPr>
        <p:spPr>
          <a:xfrm>
            <a:off x="652068" y="1542288"/>
            <a:ext cx="6496050" cy="2660650"/>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&lt;form </a:t>
            </a:r>
            <a:r>
              <a:rPr b="1" lang="en-US" sz="2400">
                <a:solidFill>
                  <a:srgbClr val="C00000"/>
                </a:solidFill>
                <a:latin typeface="Calibri"/>
                <a:ea typeface="Calibri"/>
                <a:cs typeface="Calibri"/>
                <a:sym typeface="Calibri"/>
              </a:rPr>
              <a:t>action </a:t>
            </a:r>
            <a:r>
              <a:rPr lang="en-US" sz="2400">
                <a:solidFill>
                  <a:schemeClr val="dk1"/>
                </a:solidFill>
                <a:latin typeface="Calibri"/>
                <a:ea typeface="Calibri"/>
                <a:cs typeface="Calibri"/>
                <a:sym typeface="Calibri"/>
              </a:rPr>
              <a:t>= "Script URL“	</a:t>
            </a:r>
            <a:r>
              <a:rPr b="1" lang="en-US" sz="2400">
                <a:solidFill>
                  <a:srgbClr val="C00000"/>
                </a:solidFill>
                <a:latin typeface="Calibri"/>
                <a:ea typeface="Calibri"/>
                <a:cs typeface="Calibri"/>
                <a:sym typeface="Calibri"/>
              </a:rPr>
              <a:t>method </a:t>
            </a:r>
            <a:r>
              <a:rPr lang="en-US" sz="2400">
                <a:solidFill>
                  <a:schemeClr val="dk1"/>
                </a:solidFill>
                <a:latin typeface="Calibri"/>
                <a:ea typeface="Calibri"/>
                <a:cs typeface="Calibri"/>
                <a:sym typeface="Calibri"/>
              </a:rPr>
              <a:t>= "GET|POST"&gt;</a:t>
            </a:r>
            <a:endParaRPr sz="2400">
              <a:solidFill>
                <a:schemeClr val="dk1"/>
              </a:solidFill>
              <a:latin typeface="Calibri"/>
              <a:ea typeface="Calibri"/>
              <a:cs typeface="Calibri"/>
              <a:sym typeface="Calibri"/>
            </a:endParaRPr>
          </a:p>
          <a:p>
            <a:pPr indent="0" lvl="0" marL="12700" marR="0" rtl="0" algn="l">
              <a:lnSpc>
                <a:spcPct val="100000"/>
              </a:lnSpc>
              <a:spcBef>
                <a:spcPts val="580"/>
              </a:spcBef>
              <a:spcAft>
                <a:spcPts val="0"/>
              </a:spcAft>
              <a:buNone/>
            </a:pPr>
            <a:r>
              <a:rPr b="1" lang="en-US" sz="2400">
                <a:solidFill>
                  <a:srgbClr val="C00000"/>
                </a:solidFill>
                <a:latin typeface="Calibri"/>
                <a:ea typeface="Calibri"/>
                <a:cs typeface="Calibri"/>
                <a:sym typeface="Calibri"/>
              </a:rPr>
              <a:t>form elements </a:t>
            </a:r>
            <a:r>
              <a:rPr lang="en-US" sz="2400">
                <a:solidFill>
                  <a:schemeClr val="dk1"/>
                </a:solidFill>
                <a:latin typeface="Calibri"/>
                <a:ea typeface="Calibri"/>
                <a:cs typeface="Calibri"/>
                <a:sym typeface="Calibri"/>
              </a:rPr>
              <a:t>like input, textarea etc.</a:t>
            </a:r>
            <a:endParaRPr sz="2400">
              <a:solidFill>
                <a:schemeClr val="dk1"/>
              </a:solidFill>
              <a:latin typeface="Calibri"/>
              <a:ea typeface="Calibri"/>
              <a:cs typeface="Calibri"/>
              <a:sym typeface="Calibri"/>
            </a:endParaRPr>
          </a:p>
          <a:p>
            <a:pPr indent="0" lvl="0" marL="12700" marR="0" rtl="0" algn="l">
              <a:lnSpc>
                <a:spcPct val="100000"/>
              </a:lnSpc>
              <a:spcBef>
                <a:spcPts val="575"/>
              </a:spcBef>
              <a:spcAft>
                <a:spcPts val="0"/>
              </a:spcAft>
              <a:buNone/>
            </a:pPr>
            <a:r>
              <a:rPr lang="en-US" sz="2400">
                <a:solidFill>
                  <a:schemeClr val="dk1"/>
                </a:solidFill>
                <a:latin typeface="Calibri"/>
                <a:ea typeface="Calibri"/>
                <a:cs typeface="Calibri"/>
                <a:sym typeface="Calibri"/>
              </a:rPr>
              <a:t>&lt;/form&gt;</a:t>
            </a:r>
            <a:endParaRPr sz="24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33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action</a:t>
            </a:r>
            <a:endParaRPr sz="2400">
              <a:solidFill>
                <a:schemeClr val="dk1"/>
              </a:solidFill>
              <a:latin typeface="Calibri"/>
              <a:ea typeface="Calibri"/>
              <a:cs typeface="Calibri"/>
              <a:sym typeface="Calibri"/>
            </a:endParaRPr>
          </a:p>
          <a:p>
            <a:pPr indent="-228600" lvl="0" marL="241300" marR="0" rtl="0" algn="l">
              <a:lnSpc>
                <a:spcPct val="100000"/>
              </a:lnSpc>
              <a:spcBef>
                <a:spcPts val="575"/>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Backend script ready to process your passed data.</a:t>
            </a:r>
            <a:endParaRPr sz="2400">
              <a:solidFill>
                <a:schemeClr val="dk1"/>
              </a:solidFill>
              <a:latin typeface="Calibri"/>
              <a:ea typeface="Calibri"/>
              <a:cs typeface="Calibri"/>
              <a:sym typeface="Calibri"/>
            </a:endParaRPr>
          </a:p>
        </p:txBody>
      </p:sp>
      <p:sp>
        <p:nvSpPr>
          <p:cNvPr id="846" name="Google Shape;846;p90"/>
          <p:cNvSpPr txBox="1"/>
          <p:nvPr/>
        </p:nvSpPr>
        <p:spPr>
          <a:xfrm>
            <a:off x="652068" y="4616954"/>
            <a:ext cx="7140575" cy="1269365"/>
          </a:xfrm>
          <a:prstGeom prst="rect">
            <a:avLst/>
          </a:prstGeom>
          <a:noFill/>
          <a:ln>
            <a:noFill/>
          </a:ln>
        </p:spPr>
        <p:txBody>
          <a:bodyPr anchorCtr="0" anchor="t" bIns="0" lIns="0" spcFirstLastPara="1" rIns="0" wrap="square" tIns="85075">
            <a:spAutoFit/>
          </a:bodyPr>
          <a:lstStyle/>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method</a:t>
            </a:r>
            <a:endParaRPr sz="2400">
              <a:solidFill>
                <a:schemeClr val="dk1"/>
              </a:solidFill>
              <a:latin typeface="Calibri"/>
              <a:ea typeface="Calibri"/>
              <a:cs typeface="Calibri"/>
              <a:sym typeface="Calibri"/>
            </a:endParaRPr>
          </a:p>
          <a:p>
            <a:pPr indent="-228600" lvl="0" marL="241300" marR="0" rtl="0" algn="l">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Method to be used to upload data. The most frequently</a:t>
            </a:r>
            <a:endParaRPr sz="24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400">
                <a:solidFill>
                  <a:schemeClr val="dk1"/>
                </a:solidFill>
                <a:latin typeface="Calibri"/>
                <a:ea typeface="Calibri"/>
                <a:cs typeface="Calibri"/>
                <a:sym typeface="Calibri"/>
              </a:rPr>
              <a:t>used are GET and POST methods.</a:t>
            </a:r>
            <a:endParaRPr sz="2400">
              <a:solidFill>
                <a:schemeClr val="dk1"/>
              </a:solidFill>
              <a:latin typeface="Calibri"/>
              <a:ea typeface="Calibri"/>
              <a:cs typeface="Calibri"/>
              <a:sym typeface="Calibri"/>
            </a:endParaRPr>
          </a:p>
        </p:txBody>
      </p:sp>
      <p:sp>
        <p:nvSpPr>
          <p:cNvPr id="847" name="Google Shape;847;p90"/>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8" name="Google Shape;848;p90"/>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9" name="Google Shape;849;p90"/>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85</a:t>
            </a:r>
            <a:endParaRPr sz="1800">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91"/>
          <p:cNvSpPr txBox="1"/>
          <p:nvPr/>
        </p:nvSpPr>
        <p:spPr>
          <a:xfrm>
            <a:off x="652068" y="1542519"/>
            <a:ext cx="7045325" cy="3491229"/>
          </a:xfrm>
          <a:prstGeom prst="rect">
            <a:avLst/>
          </a:prstGeom>
          <a:noFill/>
          <a:ln>
            <a:noFill/>
          </a:ln>
        </p:spPr>
        <p:txBody>
          <a:bodyPr anchorCtr="0" anchor="t" bIns="0" lIns="0" spcFirstLastPara="1" rIns="0" wrap="square" tIns="85725">
            <a:spAutoFit/>
          </a:bodyPr>
          <a:lstStyle/>
          <a:p>
            <a:pPr indent="0" lvl="0" marL="12700" marR="0" rtl="0" algn="l">
              <a:lnSpc>
                <a:spcPct val="100000"/>
              </a:lnSpc>
              <a:spcBef>
                <a:spcPts val="0"/>
              </a:spcBef>
              <a:spcAft>
                <a:spcPts val="0"/>
              </a:spcAft>
              <a:buNone/>
            </a:pPr>
            <a:r>
              <a:rPr b="1" lang="en-US" sz="2400">
                <a:solidFill>
                  <a:srgbClr val="C00000"/>
                </a:solidFill>
                <a:latin typeface="Calibri"/>
                <a:ea typeface="Calibri"/>
                <a:cs typeface="Calibri"/>
                <a:sym typeface="Calibri"/>
              </a:rPr>
              <a:t>Form elements</a:t>
            </a:r>
            <a:endParaRPr sz="2400">
              <a:solidFill>
                <a:schemeClr val="dk1"/>
              </a:solidFill>
              <a:latin typeface="Calibri"/>
              <a:ea typeface="Calibri"/>
              <a:cs typeface="Calibri"/>
              <a:sym typeface="Calibri"/>
            </a:endParaRPr>
          </a:p>
          <a:p>
            <a:pPr indent="-228600" lvl="0" marL="240665" marR="5080" rtl="0" algn="l">
              <a:lnSpc>
                <a:spcPct val="100000"/>
              </a:lnSpc>
              <a:spcBef>
                <a:spcPts val="540"/>
              </a:spcBef>
              <a:spcAft>
                <a:spcPts val="0"/>
              </a:spcAft>
              <a:buNone/>
            </a:pPr>
            <a:r>
              <a:rPr lang="en-US" sz="2200">
                <a:solidFill>
                  <a:schemeClr val="dk1"/>
                </a:solidFill>
                <a:latin typeface="Calibri"/>
                <a:ea typeface="Calibri"/>
                <a:cs typeface="Calibri"/>
                <a:sym typeface="Calibri"/>
              </a:rPr>
              <a:t>Text Input Controls , Checkboxes Controls, Radio Box Controls,  Select Box Controls, File Select boxes , Hidden Controls,</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Clickable Buttons , Submit and Reset Button</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200">
              <a:solidFill>
                <a:schemeClr val="dk1"/>
              </a:solidFill>
              <a:latin typeface="Calibri"/>
              <a:ea typeface="Calibri"/>
              <a:cs typeface="Calibri"/>
              <a:sym typeface="Calibri"/>
            </a:endParaRPr>
          </a:p>
          <a:p>
            <a:pPr indent="0" lvl="0" marL="12700" marR="0" rtl="0" algn="l">
              <a:lnSpc>
                <a:spcPct val="100000"/>
              </a:lnSpc>
              <a:spcBef>
                <a:spcPts val="1340"/>
              </a:spcBef>
              <a:spcAft>
                <a:spcPts val="0"/>
              </a:spcAft>
              <a:buNone/>
            </a:pPr>
            <a:r>
              <a:rPr b="1" lang="en-US" sz="2400">
                <a:solidFill>
                  <a:srgbClr val="C00000"/>
                </a:solidFill>
                <a:latin typeface="Calibri"/>
                <a:ea typeface="Calibri"/>
                <a:cs typeface="Calibri"/>
                <a:sym typeface="Calibri"/>
              </a:rPr>
              <a:t>target</a:t>
            </a:r>
            <a:endParaRPr sz="2400">
              <a:solidFill>
                <a:schemeClr val="dk1"/>
              </a:solidFill>
              <a:latin typeface="Calibri"/>
              <a:ea typeface="Calibri"/>
              <a:cs typeface="Calibri"/>
              <a:sym typeface="Calibri"/>
            </a:endParaRPr>
          </a:p>
          <a:p>
            <a:pPr indent="-228600" lvl="0" marL="241300" marR="0" rtl="0" algn="l">
              <a:lnSpc>
                <a:spcPct val="100000"/>
              </a:lnSpc>
              <a:spcBef>
                <a:spcPts val="54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Specify the target window or frame where the result of the</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script will be displayed. It takes values like _blank, _self,</a:t>
            </a:r>
            <a:endParaRPr sz="2200">
              <a:solidFill>
                <a:schemeClr val="dk1"/>
              </a:solidFill>
              <a:latin typeface="Calibri"/>
              <a:ea typeface="Calibri"/>
              <a:cs typeface="Calibri"/>
              <a:sym typeface="Calibri"/>
            </a:endParaRPr>
          </a:p>
          <a:p>
            <a:pPr indent="0" lvl="0" marL="240665" marR="0" rtl="0" algn="l">
              <a:lnSpc>
                <a:spcPct val="100000"/>
              </a:lnSpc>
              <a:spcBef>
                <a:spcPts val="5"/>
              </a:spcBef>
              <a:spcAft>
                <a:spcPts val="0"/>
              </a:spcAft>
              <a:buNone/>
            </a:pPr>
            <a:r>
              <a:rPr lang="en-US" sz="2200">
                <a:solidFill>
                  <a:schemeClr val="dk1"/>
                </a:solidFill>
                <a:latin typeface="Calibri"/>
                <a:ea typeface="Calibri"/>
                <a:cs typeface="Calibri"/>
                <a:sym typeface="Calibri"/>
              </a:rPr>
              <a:t>_parent etc.</a:t>
            </a:r>
            <a:endParaRPr sz="2200">
              <a:solidFill>
                <a:schemeClr val="dk1"/>
              </a:solidFill>
              <a:latin typeface="Calibri"/>
              <a:ea typeface="Calibri"/>
              <a:cs typeface="Calibri"/>
              <a:sym typeface="Calibri"/>
            </a:endParaRPr>
          </a:p>
        </p:txBody>
      </p:sp>
      <p:sp>
        <p:nvSpPr>
          <p:cNvPr id="855" name="Google Shape;855;p91"/>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6" name="Google Shape;856;p91"/>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91"/>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86</a:t>
            </a:r>
            <a:endParaRPr sz="1800">
              <a:solidFill>
                <a:schemeClr val="dk1"/>
              </a:solidFill>
              <a:latin typeface="Calibri"/>
              <a:ea typeface="Calibri"/>
              <a:cs typeface="Calibri"/>
              <a:sym typeface="Calibri"/>
            </a:endParaRPr>
          </a:p>
        </p:txBody>
      </p:sp>
      <p:sp>
        <p:nvSpPr>
          <p:cNvPr id="858" name="Google Shape;858;p91"/>
          <p:cNvSpPr txBox="1"/>
          <p:nvPr>
            <p:ph type="title"/>
          </p:nvPr>
        </p:nvSpPr>
        <p:spPr>
          <a:xfrm>
            <a:off x="536244" y="596645"/>
            <a:ext cx="3020695" cy="6362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4000"/>
              <a:t>Forms Syntax</a:t>
            </a:r>
            <a:endParaRPr sz="40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pic>
        <p:nvPicPr>
          <p:cNvPr id="863" name="Google Shape;863;p92"/>
          <p:cNvPicPr preferRelativeResize="0"/>
          <p:nvPr/>
        </p:nvPicPr>
        <p:blipFill rotWithShape="1">
          <a:blip r:embed="rId3">
            <a:alphaModFix/>
          </a:blip>
          <a:srcRect b="0" l="0" r="0" t="0"/>
          <a:stretch/>
        </p:blipFill>
        <p:spPr>
          <a:xfrm>
            <a:off x="1753823" y="2872690"/>
            <a:ext cx="2362200" cy="3302805"/>
          </a:xfrm>
          <a:prstGeom prst="rect">
            <a:avLst/>
          </a:prstGeom>
          <a:noFill/>
          <a:ln>
            <a:noFill/>
          </a:ln>
        </p:spPr>
      </p:pic>
      <p:pic>
        <p:nvPicPr>
          <p:cNvPr id="864" name="Google Shape;864;p92"/>
          <p:cNvPicPr preferRelativeResize="0"/>
          <p:nvPr/>
        </p:nvPicPr>
        <p:blipFill rotWithShape="1">
          <a:blip r:embed="rId4">
            <a:alphaModFix/>
          </a:blip>
          <a:srcRect b="0" l="0" r="0" t="0"/>
          <a:stretch/>
        </p:blipFill>
        <p:spPr>
          <a:xfrm>
            <a:off x="353991" y="304800"/>
            <a:ext cx="4181475" cy="409575"/>
          </a:xfrm>
          <a:prstGeom prst="rect">
            <a:avLst/>
          </a:prstGeom>
          <a:noFill/>
          <a:ln>
            <a:noFill/>
          </a:ln>
        </p:spPr>
      </p:pic>
      <p:pic>
        <p:nvPicPr>
          <p:cNvPr id="865" name="Google Shape;865;p92"/>
          <p:cNvPicPr preferRelativeResize="0"/>
          <p:nvPr/>
        </p:nvPicPr>
        <p:blipFill rotWithShape="1">
          <a:blip r:embed="rId5">
            <a:alphaModFix/>
          </a:blip>
          <a:srcRect b="0" l="0" r="0" t="0"/>
          <a:stretch/>
        </p:blipFill>
        <p:spPr>
          <a:xfrm>
            <a:off x="1066800" y="721682"/>
            <a:ext cx="3736247" cy="1600200"/>
          </a:xfrm>
          <a:prstGeom prst="rect">
            <a:avLst/>
          </a:prstGeom>
          <a:noFill/>
          <a:ln>
            <a:noFill/>
          </a:ln>
        </p:spPr>
      </p:pic>
      <p:sp>
        <p:nvSpPr>
          <p:cNvPr id="866" name="Google Shape;866;p92"/>
          <p:cNvSpPr txBox="1"/>
          <p:nvPr/>
        </p:nvSpPr>
        <p:spPr>
          <a:xfrm>
            <a:off x="4923975" y="3188900"/>
            <a:ext cx="3501900" cy="13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$GLOBALS['myVar'] = "Hello";</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 // Now $myVar is accessible globally</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5"/>
                                        </p:tgtEl>
                                        <p:attrNameLst>
                                          <p:attrName>style.visibility</p:attrName>
                                        </p:attrNameLst>
                                      </p:cBhvr>
                                      <p:to>
                                        <p:strVal val="visible"/>
                                      </p:to>
                                    </p:set>
                                    <p:animEffect filter="fade" transition="in">
                                      <p:cBhvr>
                                        <p:cTn dur="500"/>
                                        <p:tgtEl>
                                          <p:spTgt spid="8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2000"/>
                                        <p:tgtEl>
                                          <p:spTgt spid="8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93"/>
          <p:cNvSpPr txBox="1"/>
          <p:nvPr>
            <p:ph type="title"/>
          </p:nvPr>
        </p:nvSpPr>
        <p:spPr>
          <a:xfrm>
            <a:off x="536256" y="464900"/>
            <a:ext cx="5820300" cy="72210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GET Method</a:t>
            </a:r>
            <a:endParaRPr/>
          </a:p>
        </p:txBody>
      </p:sp>
      <p:sp>
        <p:nvSpPr>
          <p:cNvPr id="872" name="Google Shape;872;p93"/>
          <p:cNvSpPr txBox="1"/>
          <p:nvPr/>
        </p:nvSpPr>
        <p:spPr>
          <a:xfrm>
            <a:off x="652068" y="1542288"/>
            <a:ext cx="7311390" cy="4394200"/>
          </a:xfrm>
          <a:prstGeom prst="rect">
            <a:avLst/>
          </a:prstGeom>
          <a:noFill/>
          <a:ln>
            <a:noFill/>
          </a:ln>
        </p:spPr>
        <p:txBody>
          <a:bodyPr anchorCtr="0" anchor="t" bIns="0" lIns="0" spcFirstLastPara="1" rIns="0" wrap="square" tIns="85725">
            <a:spAutoFit/>
          </a:bodyPr>
          <a:lstStyle/>
          <a:p>
            <a:pPr indent="-228600" lvl="0" marL="241300" marR="0" rtl="0" algn="l">
              <a:lnSpc>
                <a:spcPct val="100000"/>
              </a:lnSpc>
              <a:spcBef>
                <a:spcPts val="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The default method when submitting form data is GET.</a:t>
            </a:r>
            <a:endParaRPr sz="2400">
              <a:solidFill>
                <a:schemeClr val="dk1"/>
              </a:solidFill>
              <a:latin typeface="Calibri"/>
              <a:ea typeface="Calibri"/>
              <a:cs typeface="Calibri"/>
              <a:sym typeface="Calibri"/>
            </a:endParaRPr>
          </a:p>
          <a:p>
            <a:pPr indent="-228600" lvl="0" marL="240665" marR="5080" rtl="0" algn="l">
              <a:lnSpc>
                <a:spcPct val="100000"/>
              </a:lnSpc>
              <a:spcBef>
                <a:spcPts val="5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However, when GET is used, the submitted form data will  be </a:t>
            </a:r>
            <a:r>
              <a:rPr b="1" lang="en-US" sz="2400">
                <a:solidFill>
                  <a:schemeClr val="dk1"/>
                </a:solidFill>
                <a:latin typeface="Calibri"/>
                <a:ea typeface="Calibri"/>
                <a:cs typeface="Calibri"/>
                <a:sym typeface="Calibri"/>
              </a:rPr>
              <a:t>visible in the page address field</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0" lvl="0" marL="12700" marR="0" rtl="0" algn="l">
              <a:lnSpc>
                <a:spcPct val="100000"/>
              </a:lnSpc>
              <a:spcBef>
                <a:spcPts val="580"/>
              </a:spcBef>
              <a:spcAft>
                <a:spcPts val="0"/>
              </a:spcAft>
              <a:buNone/>
            </a:pPr>
            <a:r>
              <a:rPr b="1" lang="en-US" sz="2400">
                <a:solidFill>
                  <a:srgbClr val="C00000"/>
                </a:solidFill>
                <a:latin typeface="Calibri"/>
                <a:ea typeface="Calibri"/>
                <a:cs typeface="Calibri"/>
                <a:sym typeface="Calibri"/>
              </a:rPr>
              <a:t>When to use GET??</a:t>
            </a:r>
            <a:endParaRPr sz="2400">
              <a:solidFill>
                <a:schemeClr val="dk1"/>
              </a:solidFill>
              <a:latin typeface="Calibri"/>
              <a:ea typeface="Calibri"/>
              <a:cs typeface="Calibri"/>
              <a:sym typeface="Calibri"/>
            </a:endParaRPr>
          </a:p>
          <a:p>
            <a:pPr indent="-292735" lvl="0" marL="304800" marR="0" rtl="0" algn="l">
              <a:lnSpc>
                <a:spcPct val="100000"/>
              </a:lnSpc>
              <a:spcBef>
                <a:spcPts val="535"/>
              </a:spcBef>
              <a:spcAft>
                <a:spcPts val="0"/>
              </a:spcAft>
              <a:buClr>
                <a:srgbClr val="4F81BC"/>
              </a:buClr>
              <a:buSzPts val="2200"/>
              <a:buFont typeface="Noto Sans Symbols"/>
              <a:buChar char="⮚"/>
            </a:pPr>
            <a:r>
              <a:rPr lang="en-US" sz="2200">
                <a:solidFill>
                  <a:schemeClr val="dk1"/>
                </a:solidFill>
                <a:latin typeface="Calibri"/>
                <a:ea typeface="Calibri"/>
                <a:cs typeface="Calibri"/>
                <a:sym typeface="Calibri"/>
              </a:rPr>
              <a:t>Appends form-data into the URL in name/value pairs</a:t>
            </a:r>
            <a:endParaRPr sz="2200">
              <a:solidFill>
                <a:schemeClr val="dk1"/>
              </a:solidFill>
              <a:latin typeface="Calibri"/>
              <a:ea typeface="Calibri"/>
              <a:cs typeface="Calibri"/>
              <a:sym typeface="Calibri"/>
            </a:endParaRPr>
          </a:p>
          <a:p>
            <a:pPr indent="-292735" lvl="0" marL="304800" marR="0" rtl="0" algn="l">
              <a:lnSpc>
                <a:spcPct val="100000"/>
              </a:lnSpc>
              <a:spcBef>
                <a:spcPts val="530"/>
              </a:spcBef>
              <a:spcAft>
                <a:spcPts val="0"/>
              </a:spcAft>
              <a:buClr>
                <a:srgbClr val="4F81BC"/>
              </a:buClr>
              <a:buSzPts val="2200"/>
              <a:buFont typeface="Noto Sans Symbols"/>
              <a:buChar char="⮚"/>
            </a:pPr>
            <a:r>
              <a:rPr lang="en-US" sz="2200">
                <a:solidFill>
                  <a:schemeClr val="dk1"/>
                </a:solidFill>
                <a:latin typeface="Calibri"/>
                <a:ea typeface="Calibri"/>
                <a:cs typeface="Calibri"/>
                <a:sym typeface="Calibri"/>
              </a:rPr>
              <a:t>The length of a URL is limited (about 3000 characters)</a:t>
            </a:r>
            <a:endParaRPr sz="2200">
              <a:solidFill>
                <a:schemeClr val="dk1"/>
              </a:solidFill>
              <a:latin typeface="Calibri"/>
              <a:ea typeface="Calibri"/>
              <a:cs typeface="Calibri"/>
              <a:sym typeface="Calibri"/>
            </a:endParaRPr>
          </a:p>
          <a:p>
            <a:pPr indent="-292735" lvl="0" marL="304800" marR="0" rtl="0" algn="l">
              <a:lnSpc>
                <a:spcPct val="100000"/>
              </a:lnSpc>
              <a:spcBef>
                <a:spcPts val="530"/>
              </a:spcBef>
              <a:spcAft>
                <a:spcPts val="0"/>
              </a:spcAft>
              <a:buClr>
                <a:srgbClr val="4F81BC"/>
              </a:buClr>
              <a:buSzPts val="2200"/>
              <a:buFont typeface="Noto Sans Symbols"/>
              <a:buChar char="⮚"/>
            </a:pPr>
            <a:r>
              <a:rPr lang="en-US" sz="2200">
                <a:solidFill>
                  <a:schemeClr val="dk1"/>
                </a:solidFill>
                <a:latin typeface="Calibri"/>
                <a:ea typeface="Calibri"/>
                <a:cs typeface="Calibri"/>
                <a:sym typeface="Calibri"/>
              </a:rPr>
              <a:t>Never use GET to send sensitive data! (will be visible in the</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URL)</a:t>
            </a:r>
            <a:endParaRPr sz="2200">
              <a:solidFill>
                <a:schemeClr val="dk1"/>
              </a:solidFill>
              <a:latin typeface="Calibri"/>
              <a:ea typeface="Calibri"/>
              <a:cs typeface="Calibri"/>
              <a:sym typeface="Calibri"/>
            </a:endParaRPr>
          </a:p>
          <a:p>
            <a:pPr indent="-292735" lvl="0" marL="304800" marR="0" rtl="0" algn="l">
              <a:lnSpc>
                <a:spcPct val="100000"/>
              </a:lnSpc>
              <a:spcBef>
                <a:spcPts val="530"/>
              </a:spcBef>
              <a:spcAft>
                <a:spcPts val="0"/>
              </a:spcAft>
              <a:buClr>
                <a:srgbClr val="4F81BC"/>
              </a:buClr>
              <a:buSzPts val="2200"/>
              <a:buFont typeface="Noto Sans Symbols"/>
              <a:buChar char="⮚"/>
            </a:pPr>
            <a:r>
              <a:rPr lang="en-US" sz="2200">
                <a:solidFill>
                  <a:schemeClr val="dk1"/>
                </a:solidFill>
                <a:latin typeface="Calibri"/>
                <a:ea typeface="Calibri"/>
                <a:cs typeface="Calibri"/>
                <a:sym typeface="Calibri"/>
              </a:rPr>
              <a:t>Useful for form submissions where a user wants to bookmark</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the result</a:t>
            </a:r>
            <a:endParaRPr sz="2200">
              <a:solidFill>
                <a:schemeClr val="dk1"/>
              </a:solidFill>
              <a:latin typeface="Calibri"/>
              <a:ea typeface="Calibri"/>
              <a:cs typeface="Calibri"/>
              <a:sym typeface="Calibri"/>
            </a:endParaRPr>
          </a:p>
          <a:p>
            <a:pPr indent="-292735" lvl="0" marL="304800" marR="0" rtl="0" algn="l">
              <a:lnSpc>
                <a:spcPct val="100000"/>
              </a:lnSpc>
              <a:spcBef>
                <a:spcPts val="530"/>
              </a:spcBef>
              <a:spcAft>
                <a:spcPts val="0"/>
              </a:spcAft>
              <a:buClr>
                <a:srgbClr val="4F81BC"/>
              </a:buClr>
              <a:buSzPts val="2200"/>
              <a:buFont typeface="Noto Sans Symbols"/>
              <a:buChar char="⮚"/>
            </a:pPr>
            <a:r>
              <a:rPr lang="en-US" sz="2200">
                <a:solidFill>
                  <a:schemeClr val="dk1"/>
                </a:solidFill>
                <a:latin typeface="Calibri"/>
                <a:ea typeface="Calibri"/>
                <a:cs typeface="Calibri"/>
                <a:sym typeface="Calibri"/>
              </a:rPr>
              <a:t>GET is better for non-secure data, like query strings in Google</a:t>
            </a:r>
            <a:endParaRPr sz="2200">
              <a:solidFill>
                <a:schemeClr val="dk1"/>
              </a:solidFill>
              <a:latin typeface="Calibri"/>
              <a:ea typeface="Calibri"/>
              <a:cs typeface="Calibri"/>
              <a:sym typeface="Calibri"/>
            </a:endParaRPr>
          </a:p>
        </p:txBody>
      </p:sp>
      <p:sp>
        <p:nvSpPr>
          <p:cNvPr id="873" name="Google Shape;873;p93"/>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93"/>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5" name="Google Shape;875;p93"/>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87</a:t>
            </a:r>
            <a:endParaRPr sz="1800">
              <a:solidFill>
                <a:schemeClr val="dk1"/>
              </a:solidFill>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94"/>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881" name="Google Shape;881;p94"/>
          <p:cNvPicPr preferRelativeResize="0"/>
          <p:nvPr/>
        </p:nvPicPr>
        <p:blipFill rotWithShape="1">
          <a:blip r:embed="rId3">
            <a:alphaModFix/>
          </a:blip>
          <a:srcRect b="0" l="0" r="0" t="0"/>
          <a:stretch/>
        </p:blipFill>
        <p:spPr>
          <a:xfrm>
            <a:off x="762000" y="1828800"/>
            <a:ext cx="6562725" cy="31623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95"/>
          <p:cNvSpPr txBox="1"/>
          <p:nvPr/>
        </p:nvSpPr>
        <p:spPr>
          <a:xfrm>
            <a:off x="652068" y="466471"/>
            <a:ext cx="6433185" cy="478091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&lt;!DOCTYPE html&gt;</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&lt;html&gt;</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&lt;body&gt;</a:t>
            </a:r>
            <a:endParaRPr/>
          </a:p>
          <a:p>
            <a:pPr indent="0" lvl="0" marL="0" marR="0" rtl="0" algn="l">
              <a:lnSpc>
                <a:spcPct val="100000"/>
              </a:lnSpc>
              <a:spcBef>
                <a:spcPts val="20"/>
              </a:spcBef>
              <a:spcAft>
                <a:spcPts val="0"/>
              </a:spcAft>
              <a:buNone/>
            </a:pPr>
            <a:r>
              <a:t/>
            </a:r>
            <a:endParaRPr sz="185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900">
                <a:solidFill>
                  <a:schemeClr val="dk1"/>
                </a:solidFill>
                <a:latin typeface="Calibri"/>
                <a:ea typeface="Calibri"/>
                <a:cs typeface="Calibri"/>
                <a:sym typeface="Calibri"/>
              </a:rPr>
              <a:t>&lt;p&gt;This form will be submitted using the GET method:&lt;/p&gt;</a:t>
            </a:r>
            <a:endParaRPr sz="19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18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&lt;form </a:t>
            </a:r>
            <a:r>
              <a:rPr b="1" lang="en-US" sz="2200">
                <a:solidFill>
                  <a:srgbClr val="FF0000"/>
                </a:solidFill>
                <a:latin typeface="Calibri"/>
                <a:ea typeface="Calibri"/>
                <a:cs typeface="Calibri"/>
                <a:sym typeface="Calibri"/>
              </a:rPr>
              <a:t>method="GET“	</a:t>
            </a:r>
            <a:r>
              <a:rPr b="1" lang="en-US" sz="2200">
                <a:solidFill>
                  <a:schemeClr val="dk1"/>
                </a:solidFill>
                <a:latin typeface="Calibri"/>
                <a:ea typeface="Calibri"/>
                <a:cs typeface="Calibri"/>
                <a:sym typeface="Calibri"/>
              </a:rPr>
              <a:t>target</a:t>
            </a:r>
            <a:r>
              <a:rPr lang="en-US" sz="2200">
                <a:solidFill>
                  <a:schemeClr val="dk1"/>
                </a:solidFill>
                <a:latin typeface="Calibri"/>
                <a:ea typeface="Calibri"/>
                <a:cs typeface="Calibri"/>
                <a:sym typeface="Calibri"/>
              </a:rPr>
              <a:t>="_blank" &gt;</a:t>
            </a:r>
            <a:endParaRPr sz="2200">
              <a:solidFill>
                <a:schemeClr val="dk1"/>
              </a:solidFill>
              <a:latin typeface="Calibri"/>
              <a:ea typeface="Calibri"/>
              <a:cs typeface="Calibri"/>
              <a:sym typeface="Calibri"/>
            </a:endParaRPr>
          </a:p>
          <a:p>
            <a:pPr indent="0" lvl="0" marL="140335" marR="0" rtl="0" algn="l">
              <a:lnSpc>
                <a:spcPct val="100000"/>
              </a:lnSpc>
              <a:spcBef>
                <a:spcPts val="5"/>
              </a:spcBef>
              <a:spcAft>
                <a:spcPts val="0"/>
              </a:spcAft>
              <a:buNone/>
            </a:pPr>
            <a:r>
              <a:rPr lang="en-US" sz="2200">
                <a:solidFill>
                  <a:schemeClr val="dk1"/>
                </a:solidFill>
                <a:latin typeface="Calibri"/>
                <a:ea typeface="Calibri"/>
                <a:cs typeface="Calibri"/>
                <a:sym typeface="Calibri"/>
              </a:rPr>
              <a:t>First name:&lt;br&gt;</a:t>
            </a:r>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a:t>
            </a:r>
            <a:r>
              <a:rPr b="1" lang="en-US" sz="2200">
                <a:solidFill>
                  <a:schemeClr val="dk1"/>
                </a:solidFill>
                <a:latin typeface="Calibri"/>
                <a:ea typeface="Calibri"/>
                <a:cs typeface="Calibri"/>
                <a:sym typeface="Calibri"/>
              </a:rPr>
              <a:t>input type</a:t>
            </a:r>
            <a:r>
              <a:rPr lang="en-US" sz="2200">
                <a:solidFill>
                  <a:schemeClr val="dk1"/>
                </a:solidFill>
                <a:latin typeface="Calibri"/>
                <a:ea typeface="Calibri"/>
                <a:cs typeface="Calibri"/>
                <a:sym typeface="Calibri"/>
              </a:rPr>
              <a:t>="text" name="firstname" &gt;</a:t>
            </a:r>
            <a:endParaRPr sz="2200">
              <a:solidFill>
                <a:schemeClr val="dk1"/>
              </a:solidFill>
              <a:latin typeface="Calibri"/>
              <a:ea typeface="Calibri"/>
              <a:cs typeface="Calibri"/>
              <a:sym typeface="Calibri"/>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&lt;br&gt;</a:t>
            </a:r>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Last name:&lt;br&gt;</a:t>
            </a:r>
            <a:endParaRPr/>
          </a:p>
          <a:p>
            <a:pPr indent="0" lvl="0" marL="140335" marR="0" rtl="0" algn="l">
              <a:lnSpc>
                <a:spcPct val="100000"/>
              </a:lnSpc>
              <a:spcBef>
                <a:spcPts val="5"/>
              </a:spcBef>
              <a:spcAft>
                <a:spcPts val="0"/>
              </a:spcAft>
              <a:buNone/>
            </a:pPr>
            <a:r>
              <a:rPr lang="en-US" sz="2200">
                <a:solidFill>
                  <a:schemeClr val="dk1"/>
                </a:solidFill>
                <a:latin typeface="Calibri"/>
                <a:ea typeface="Calibri"/>
                <a:cs typeface="Calibri"/>
                <a:sym typeface="Calibri"/>
              </a:rPr>
              <a:t>&lt;</a:t>
            </a:r>
            <a:r>
              <a:rPr b="1" lang="en-US" sz="2200">
                <a:solidFill>
                  <a:schemeClr val="dk1"/>
                </a:solidFill>
                <a:latin typeface="Calibri"/>
                <a:ea typeface="Calibri"/>
                <a:cs typeface="Calibri"/>
                <a:sym typeface="Calibri"/>
              </a:rPr>
              <a:t>input type</a:t>
            </a:r>
            <a:r>
              <a:rPr lang="en-US" sz="2200">
                <a:solidFill>
                  <a:schemeClr val="dk1"/>
                </a:solidFill>
                <a:latin typeface="Calibri"/>
                <a:ea typeface="Calibri"/>
                <a:cs typeface="Calibri"/>
                <a:sym typeface="Calibri"/>
              </a:rPr>
              <a:t>="text" name="lastname" &gt;</a:t>
            </a:r>
            <a:endParaRPr sz="2200">
              <a:solidFill>
                <a:schemeClr val="dk1"/>
              </a:solidFill>
              <a:latin typeface="Calibri"/>
              <a:ea typeface="Calibri"/>
              <a:cs typeface="Calibri"/>
              <a:sym typeface="Calibri"/>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&lt;br&gt;&lt;br&gt;</a:t>
            </a:r>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a:t>
            </a:r>
            <a:r>
              <a:rPr b="1" lang="en-US" sz="2200">
                <a:solidFill>
                  <a:schemeClr val="dk1"/>
                </a:solidFill>
                <a:latin typeface="Calibri"/>
                <a:ea typeface="Calibri"/>
                <a:cs typeface="Calibri"/>
                <a:sym typeface="Calibri"/>
              </a:rPr>
              <a:t>input type</a:t>
            </a:r>
            <a:r>
              <a:rPr lang="en-US" sz="2200">
                <a:solidFill>
                  <a:schemeClr val="dk1"/>
                </a:solidFill>
                <a:latin typeface="Calibri"/>
                <a:ea typeface="Calibri"/>
                <a:cs typeface="Calibri"/>
                <a:sym typeface="Calibri"/>
              </a:rPr>
              <a:t>="submit" value="Submit"&gt;</a:t>
            </a:r>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&lt;/form&gt;</a:t>
            </a:r>
            <a:endParaRPr sz="2200">
              <a:solidFill>
                <a:schemeClr val="dk1"/>
              </a:solidFill>
              <a:latin typeface="Calibri"/>
              <a:ea typeface="Calibri"/>
              <a:cs typeface="Calibri"/>
              <a:sym typeface="Calibri"/>
            </a:endParaRPr>
          </a:p>
        </p:txBody>
      </p:sp>
      <p:sp>
        <p:nvSpPr>
          <p:cNvPr id="887" name="Google Shape;887;p95"/>
          <p:cNvSpPr txBox="1"/>
          <p:nvPr/>
        </p:nvSpPr>
        <p:spPr>
          <a:xfrm>
            <a:off x="652068" y="5512714"/>
            <a:ext cx="851535" cy="6045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&lt;/body&gt;</a:t>
            </a:r>
            <a:endParaRPr sz="19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900">
                <a:solidFill>
                  <a:schemeClr val="dk1"/>
                </a:solidFill>
                <a:latin typeface="Calibri"/>
                <a:ea typeface="Calibri"/>
                <a:cs typeface="Calibri"/>
                <a:sym typeface="Calibri"/>
              </a:rPr>
              <a:t>&lt;/html&gt;</a:t>
            </a:r>
            <a:endParaRPr sz="1900">
              <a:solidFill>
                <a:schemeClr val="dk1"/>
              </a:solidFill>
              <a:latin typeface="Calibri"/>
              <a:ea typeface="Calibri"/>
              <a:cs typeface="Calibri"/>
              <a:sym typeface="Calibri"/>
            </a:endParaRPr>
          </a:p>
        </p:txBody>
      </p:sp>
      <p:sp>
        <p:nvSpPr>
          <p:cNvPr id="888" name="Google Shape;888;p95"/>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9" name="Google Shape;889;p95"/>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0" name="Google Shape;890;p95"/>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88</a:t>
            </a:r>
            <a:endParaRPr sz="1800">
              <a:solidFill>
                <a:schemeClr val="dk1"/>
              </a:solidFill>
              <a:latin typeface="Calibri"/>
              <a:ea typeface="Calibri"/>
              <a:cs typeface="Calibri"/>
              <a:sym typeface="Calibri"/>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pic>
        <p:nvPicPr>
          <p:cNvPr id="895" name="Google Shape;895;p96"/>
          <p:cNvPicPr preferRelativeResize="0"/>
          <p:nvPr/>
        </p:nvPicPr>
        <p:blipFill rotWithShape="1">
          <a:blip r:embed="rId3">
            <a:alphaModFix/>
          </a:blip>
          <a:srcRect b="0" l="0" r="0" t="0"/>
          <a:stretch/>
        </p:blipFill>
        <p:spPr>
          <a:xfrm>
            <a:off x="533400" y="533400"/>
            <a:ext cx="4650038" cy="2940615"/>
          </a:xfrm>
          <a:prstGeom prst="rect">
            <a:avLst/>
          </a:prstGeom>
          <a:noFill/>
          <a:ln>
            <a:noFill/>
          </a:ln>
        </p:spPr>
      </p:pic>
      <p:pic>
        <p:nvPicPr>
          <p:cNvPr id="896" name="Google Shape;896;p96"/>
          <p:cNvPicPr preferRelativeResize="0"/>
          <p:nvPr/>
        </p:nvPicPr>
        <p:blipFill rotWithShape="1">
          <a:blip r:embed="rId4">
            <a:alphaModFix/>
          </a:blip>
          <a:srcRect b="0" l="0" r="0" t="0"/>
          <a:stretch/>
        </p:blipFill>
        <p:spPr>
          <a:xfrm>
            <a:off x="5278677" y="556364"/>
            <a:ext cx="2969962" cy="1359429"/>
          </a:xfrm>
          <a:prstGeom prst="rect">
            <a:avLst/>
          </a:prstGeom>
          <a:noFill/>
          <a:ln>
            <a:noFill/>
          </a:ln>
          <a:effectLst>
            <a:outerShdw blurRad="292100" rotWithShape="0" algn="tl" dir="2700000" dist="139700">
              <a:srgbClr val="333333">
                <a:alpha val="64705"/>
              </a:srgbClr>
            </a:outerShdw>
          </a:effectLst>
        </p:spPr>
      </p:pic>
      <p:pic>
        <p:nvPicPr>
          <p:cNvPr id="897" name="Google Shape;897;p96"/>
          <p:cNvPicPr preferRelativeResize="0"/>
          <p:nvPr/>
        </p:nvPicPr>
        <p:blipFill rotWithShape="1">
          <a:blip r:embed="rId5">
            <a:alphaModFix/>
          </a:blip>
          <a:srcRect b="0" l="0" r="0" t="0"/>
          <a:stretch/>
        </p:blipFill>
        <p:spPr>
          <a:xfrm>
            <a:off x="5288593" y="2083724"/>
            <a:ext cx="2950129" cy="1390291"/>
          </a:xfrm>
          <a:prstGeom prst="rect">
            <a:avLst/>
          </a:prstGeom>
          <a:noFill/>
          <a:ln>
            <a:noFill/>
          </a:ln>
          <a:effectLst>
            <a:outerShdw blurRad="292100" rotWithShape="0" algn="tl" dir="2700000" dist="139700">
              <a:srgbClr val="333333">
                <a:alpha val="64705"/>
              </a:srgbClr>
            </a:outerShdw>
          </a:effectLst>
        </p:spPr>
      </p:pic>
      <p:sp>
        <p:nvSpPr>
          <p:cNvPr id="898" name="Google Shape;898;p96"/>
          <p:cNvSpPr txBox="1"/>
          <p:nvPr/>
        </p:nvSpPr>
        <p:spPr>
          <a:xfrm>
            <a:off x="533400" y="3733800"/>
            <a:ext cx="14310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Testform.php</a:t>
            </a:r>
            <a:endParaRPr sz="1800">
              <a:solidFill>
                <a:schemeClr val="dk1"/>
              </a:solidFill>
              <a:latin typeface="Calibri"/>
              <a:ea typeface="Calibri"/>
              <a:cs typeface="Calibri"/>
              <a:sym typeface="Calibri"/>
            </a:endParaRPr>
          </a:p>
        </p:txBody>
      </p:sp>
      <p:pic>
        <p:nvPicPr>
          <p:cNvPr id="899" name="Google Shape;899;p96"/>
          <p:cNvPicPr preferRelativeResize="0"/>
          <p:nvPr/>
        </p:nvPicPr>
        <p:blipFill rotWithShape="1">
          <a:blip r:embed="rId6">
            <a:alphaModFix/>
          </a:blip>
          <a:srcRect b="0" l="0" r="0" t="0"/>
          <a:stretch/>
        </p:blipFill>
        <p:spPr>
          <a:xfrm>
            <a:off x="457200" y="4267200"/>
            <a:ext cx="2476500" cy="2247900"/>
          </a:xfrm>
          <a:prstGeom prst="rect">
            <a:avLst/>
          </a:prstGeom>
          <a:noFill/>
          <a:ln>
            <a:noFill/>
          </a:ln>
          <a:effectLst>
            <a:outerShdw blurRad="292100" rotWithShape="0" algn="tl" dir="2700000" dist="139700">
              <a:srgbClr val="333333">
                <a:alpha val="64705"/>
              </a:srgbClr>
            </a:outerShdw>
          </a:effectLst>
        </p:spPr>
      </p:pic>
      <p:pic>
        <p:nvPicPr>
          <p:cNvPr id="900" name="Google Shape;900;p96"/>
          <p:cNvPicPr preferRelativeResize="0"/>
          <p:nvPr/>
        </p:nvPicPr>
        <p:blipFill rotWithShape="1">
          <a:blip r:embed="rId7">
            <a:alphaModFix/>
          </a:blip>
          <a:srcRect b="0" l="0" r="0" t="0"/>
          <a:stretch/>
        </p:blipFill>
        <p:spPr>
          <a:xfrm>
            <a:off x="3257539" y="4288077"/>
            <a:ext cx="4991100" cy="1476206"/>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pic>
        <p:nvPicPr>
          <p:cNvPr id="905" name="Google Shape;905;p97"/>
          <p:cNvPicPr preferRelativeResize="0"/>
          <p:nvPr/>
        </p:nvPicPr>
        <p:blipFill rotWithShape="1">
          <a:blip r:embed="rId3">
            <a:alphaModFix/>
          </a:blip>
          <a:srcRect b="0" l="0" r="0" t="0"/>
          <a:stretch/>
        </p:blipFill>
        <p:spPr>
          <a:xfrm>
            <a:off x="1066800" y="914400"/>
            <a:ext cx="3133725" cy="2362200"/>
          </a:xfrm>
          <a:prstGeom prst="rect">
            <a:avLst/>
          </a:prstGeom>
          <a:noFill/>
          <a:ln>
            <a:noFill/>
          </a:ln>
          <a:effectLst>
            <a:outerShdw blurRad="292100" rotWithShape="0" algn="tl" dir="2700000" dist="139700">
              <a:srgbClr val="333333">
                <a:alpha val="64705"/>
              </a:srgbClr>
            </a:outerShdw>
          </a:effectLst>
        </p:spPr>
      </p:pic>
      <p:pic>
        <p:nvPicPr>
          <p:cNvPr id="906" name="Google Shape;906;p97"/>
          <p:cNvPicPr preferRelativeResize="0"/>
          <p:nvPr/>
        </p:nvPicPr>
        <p:blipFill rotWithShape="1">
          <a:blip r:embed="rId4">
            <a:alphaModFix/>
          </a:blip>
          <a:srcRect b="0" l="0" r="0" t="0"/>
          <a:stretch/>
        </p:blipFill>
        <p:spPr>
          <a:xfrm>
            <a:off x="1066800" y="4038600"/>
            <a:ext cx="5505450" cy="93345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98"/>
          <p:cNvSpPr txBox="1"/>
          <p:nvPr>
            <p:ph type="title"/>
          </p:nvPr>
        </p:nvSpPr>
        <p:spPr>
          <a:xfrm>
            <a:off x="536244" y="464896"/>
            <a:ext cx="3295650" cy="728345"/>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b="0" lang="en-US">
                <a:latin typeface="Cambria"/>
                <a:ea typeface="Cambria"/>
                <a:cs typeface="Cambria"/>
                <a:sym typeface="Cambria"/>
              </a:rPr>
              <a:t>POST Method</a:t>
            </a:r>
            <a:endParaRPr/>
          </a:p>
        </p:txBody>
      </p:sp>
      <p:sp>
        <p:nvSpPr>
          <p:cNvPr id="912" name="Google Shape;912;p98"/>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3" name="Google Shape;913;p98"/>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p98"/>
          <p:cNvSpPr txBox="1"/>
          <p:nvPr/>
        </p:nvSpPr>
        <p:spPr>
          <a:xfrm>
            <a:off x="652068" y="1579245"/>
            <a:ext cx="8285480" cy="4405630"/>
          </a:xfrm>
          <a:prstGeom prst="rect">
            <a:avLst/>
          </a:prstGeom>
          <a:noFill/>
          <a:ln>
            <a:noFill/>
          </a:ln>
        </p:spPr>
        <p:txBody>
          <a:bodyPr anchorCtr="0" anchor="t" bIns="0" lIns="0" spcFirstLastPara="1" rIns="0" wrap="square" tIns="53975">
            <a:spAutoFit/>
          </a:bodyPr>
          <a:lstStyle/>
          <a:p>
            <a:pPr indent="-228600" lvl="0" marL="240665" marR="1386840" rtl="0" algn="l">
              <a:lnSpc>
                <a:spcPct val="107916"/>
              </a:lnSpc>
              <a:spcBef>
                <a:spcPts val="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Always use POST if the form data contains sensitive or  personal information.</a:t>
            </a:r>
            <a:endParaRPr sz="2400">
              <a:solidFill>
                <a:schemeClr val="dk1"/>
              </a:solidFill>
              <a:latin typeface="Calibri"/>
              <a:ea typeface="Calibri"/>
              <a:cs typeface="Calibri"/>
              <a:sym typeface="Calibri"/>
            </a:endParaRPr>
          </a:p>
          <a:p>
            <a:pPr indent="-295910" lvl="0" marL="307975" marR="0" rtl="0" algn="l">
              <a:lnSpc>
                <a:spcPct val="113958"/>
              </a:lnSpc>
              <a:spcBef>
                <a:spcPts val="2080"/>
              </a:spcBef>
              <a:spcAft>
                <a:spcPts val="0"/>
              </a:spcAft>
              <a:buClr>
                <a:srgbClr val="4F81BC"/>
              </a:buClr>
              <a:buSzPts val="2400"/>
              <a:buFont typeface="Arial"/>
              <a:buChar char="•"/>
            </a:pPr>
            <a:r>
              <a:rPr lang="en-US" sz="2400">
                <a:solidFill>
                  <a:schemeClr val="dk1"/>
                </a:solidFill>
                <a:latin typeface="Calibri"/>
                <a:ea typeface="Calibri"/>
                <a:cs typeface="Calibri"/>
                <a:sym typeface="Calibri"/>
              </a:rPr>
              <a:t>The POST method does not display the submitted form</a:t>
            </a:r>
            <a:endParaRPr sz="2400">
              <a:solidFill>
                <a:schemeClr val="dk1"/>
              </a:solidFill>
              <a:latin typeface="Calibri"/>
              <a:ea typeface="Calibri"/>
              <a:cs typeface="Calibri"/>
              <a:sym typeface="Calibri"/>
            </a:endParaRPr>
          </a:p>
          <a:p>
            <a:pPr indent="0" lvl="0" marL="240665" marR="0" rtl="0" algn="l">
              <a:lnSpc>
                <a:spcPct val="113958"/>
              </a:lnSpc>
              <a:spcBef>
                <a:spcPts val="0"/>
              </a:spcBef>
              <a:spcAft>
                <a:spcPts val="0"/>
              </a:spcAft>
              <a:buNone/>
            </a:pPr>
            <a:r>
              <a:rPr lang="en-US" sz="2400">
                <a:solidFill>
                  <a:schemeClr val="dk1"/>
                </a:solidFill>
                <a:latin typeface="Calibri"/>
                <a:ea typeface="Calibri"/>
                <a:cs typeface="Calibri"/>
                <a:sym typeface="Calibri"/>
              </a:rPr>
              <a:t>data in the page address field.</a:t>
            </a:r>
            <a:endParaRPr sz="2400">
              <a:solidFill>
                <a:schemeClr val="dk1"/>
              </a:solidFill>
              <a:latin typeface="Calibri"/>
              <a:ea typeface="Calibri"/>
              <a:cs typeface="Calibri"/>
              <a:sym typeface="Calibri"/>
            </a:endParaRPr>
          </a:p>
          <a:p>
            <a:pPr indent="-228600" lvl="0" marL="241300" marR="0" rtl="0" algn="l">
              <a:lnSpc>
                <a:spcPct val="100000"/>
              </a:lnSpc>
              <a:spcBef>
                <a:spcPts val="2115"/>
              </a:spcBef>
              <a:spcAft>
                <a:spcPts val="0"/>
              </a:spcAft>
              <a:buClr>
                <a:srgbClr val="4F81BC"/>
              </a:buClr>
              <a:buSzPts val="2400"/>
              <a:buFont typeface="Arial"/>
              <a:buChar char="•"/>
            </a:pPr>
            <a:r>
              <a:rPr b="1" lang="en-US" sz="2400">
                <a:solidFill>
                  <a:schemeClr val="dk1"/>
                </a:solidFill>
                <a:latin typeface="Calibri"/>
                <a:ea typeface="Calibri"/>
                <a:cs typeface="Calibri"/>
                <a:sym typeface="Calibri"/>
              </a:rPr>
              <a:t>When to use POST??</a:t>
            </a:r>
            <a:endParaRPr sz="2400">
              <a:solidFill>
                <a:schemeClr val="dk1"/>
              </a:solidFill>
              <a:latin typeface="Calibri"/>
              <a:ea typeface="Calibri"/>
              <a:cs typeface="Calibri"/>
              <a:sym typeface="Calibri"/>
            </a:endParaRPr>
          </a:p>
          <a:p>
            <a:pPr indent="-292735" lvl="0" marL="304800" marR="0" rtl="0" algn="l">
              <a:lnSpc>
                <a:spcPct val="114090"/>
              </a:lnSpc>
              <a:spcBef>
                <a:spcPts val="2145"/>
              </a:spcBef>
              <a:spcAft>
                <a:spcPts val="0"/>
              </a:spcAft>
              <a:buClr>
                <a:srgbClr val="4F81BC"/>
              </a:buClr>
              <a:buSzPts val="2200"/>
              <a:buFont typeface="Noto Sans Symbols"/>
              <a:buChar char="⮚"/>
            </a:pPr>
            <a:r>
              <a:rPr lang="en-US" sz="2200">
                <a:solidFill>
                  <a:schemeClr val="dk1"/>
                </a:solidFill>
                <a:latin typeface="Calibri"/>
                <a:ea typeface="Calibri"/>
                <a:cs typeface="Calibri"/>
                <a:sym typeface="Calibri"/>
              </a:rPr>
              <a:t>POST has no size limitations, and can be used to send large</a:t>
            </a:r>
            <a:endParaRPr sz="2200">
              <a:solidFill>
                <a:schemeClr val="dk1"/>
              </a:solidFill>
              <a:latin typeface="Calibri"/>
              <a:ea typeface="Calibri"/>
              <a:cs typeface="Calibri"/>
              <a:sym typeface="Calibri"/>
            </a:endParaRPr>
          </a:p>
          <a:p>
            <a:pPr indent="0" lvl="0" marL="240665" marR="0" rtl="0" algn="l">
              <a:lnSpc>
                <a:spcPct val="114090"/>
              </a:lnSpc>
              <a:spcBef>
                <a:spcPts val="0"/>
              </a:spcBef>
              <a:spcAft>
                <a:spcPts val="0"/>
              </a:spcAft>
              <a:buNone/>
            </a:pPr>
            <a:r>
              <a:rPr lang="en-US" sz="2200">
                <a:solidFill>
                  <a:schemeClr val="dk1"/>
                </a:solidFill>
                <a:latin typeface="Calibri"/>
                <a:ea typeface="Calibri"/>
                <a:cs typeface="Calibri"/>
                <a:sym typeface="Calibri"/>
              </a:rPr>
              <a:t>amounts of data.</a:t>
            </a:r>
            <a:endParaRPr sz="2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750">
              <a:solidFill>
                <a:schemeClr val="dk1"/>
              </a:solidFill>
              <a:latin typeface="Calibri"/>
              <a:ea typeface="Calibri"/>
              <a:cs typeface="Calibri"/>
              <a:sym typeface="Calibri"/>
            </a:endParaRPr>
          </a:p>
          <a:p>
            <a:pPr indent="-292735" lvl="0" marL="304800" marR="0" rtl="0" algn="l">
              <a:lnSpc>
                <a:spcPct val="100000"/>
              </a:lnSpc>
              <a:spcBef>
                <a:spcPts val="5"/>
              </a:spcBef>
              <a:spcAft>
                <a:spcPts val="0"/>
              </a:spcAft>
              <a:buClr>
                <a:srgbClr val="4F81BC"/>
              </a:buClr>
              <a:buSzPts val="2200"/>
              <a:buFont typeface="Noto Sans Symbols"/>
              <a:buChar char="⮚"/>
            </a:pPr>
            <a:r>
              <a:rPr lang="en-US" sz="2200">
                <a:solidFill>
                  <a:schemeClr val="dk1"/>
                </a:solidFill>
                <a:latin typeface="Calibri"/>
                <a:ea typeface="Calibri"/>
                <a:cs typeface="Calibri"/>
                <a:sym typeface="Calibri"/>
              </a:rPr>
              <a:t>Form submissions with POST cannot be bookmarked</a:t>
            </a:r>
            <a:endParaRPr sz="22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1900">
              <a:solidFill>
                <a:schemeClr val="dk1"/>
              </a:solidFill>
              <a:latin typeface="Calibri"/>
              <a:ea typeface="Calibri"/>
              <a:cs typeface="Calibri"/>
              <a:sym typeface="Calibri"/>
            </a:endParaRPr>
          </a:p>
          <a:p>
            <a:pPr indent="0" lvl="0" marL="0" marR="5080" rtl="0" algn="r">
              <a:lnSpc>
                <a:spcPct val="100000"/>
              </a:lnSpc>
              <a:spcBef>
                <a:spcPts val="0"/>
              </a:spcBef>
              <a:spcAft>
                <a:spcPts val="0"/>
              </a:spcAft>
              <a:buNone/>
            </a:pPr>
            <a:r>
              <a:rPr lang="en-US" sz="1800">
                <a:solidFill>
                  <a:srgbClr val="FFFFFF"/>
                </a:solidFill>
                <a:latin typeface="Calibri"/>
                <a:ea typeface="Calibri"/>
                <a:cs typeface="Calibri"/>
                <a:sym typeface="Calibri"/>
              </a:rPr>
              <a:t>89</a:t>
            </a:r>
            <a:endParaRPr sz="18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99"/>
          <p:cNvSpPr txBox="1"/>
          <p:nvPr/>
        </p:nvSpPr>
        <p:spPr>
          <a:xfrm>
            <a:off x="652068" y="463423"/>
            <a:ext cx="6433185" cy="4872355"/>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&lt;!DOCTYPE html&gt;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9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&lt;p&gt;This form will be submitted using the POST method:&lt;/p&gt;</a:t>
            </a:r>
            <a:endParaRPr sz="2000">
              <a:solidFill>
                <a:schemeClr val="dk1"/>
              </a:solidFill>
              <a:latin typeface="Calibri"/>
              <a:ea typeface="Calibri"/>
              <a:cs typeface="Calibri"/>
              <a:sym typeface="Calibri"/>
            </a:endParaRPr>
          </a:p>
          <a:p>
            <a:pPr indent="0" lvl="0" marL="0" marR="0" rtl="0" algn="l">
              <a:lnSpc>
                <a:spcPct val="100000"/>
              </a:lnSpc>
              <a:spcBef>
                <a:spcPts val="10"/>
              </a:spcBef>
              <a:spcAft>
                <a:spcPts val="0"/>
              </a:spcAft>
              <a:buNone/>
            </a:pPr>
            <a:r>
              <a:t/>
            </a:r>
            <a:endParaRPr sz="19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&lt;form </a:t>
            </a:r>
            <a:r>
              <a:rPr b="1" lang="en-US" sz="2200">
                <a:solidFill>
                  <a:srgbClr val="FF0000"/>
                </a:solidFill>
                <a:latin typeface="Calibri"/>
                <a:ea typeface="Calibri"/>
                <a:cs typeface="Calibri"/>
                <a:sym typeface="Calibri"/>
              </a:rPr>
              <a:t>method="POST“ </a:t>
            </a:r>
            <a:r>
              <a:rPr lang="en-US" sz="2200">
                <a:solidFill>
                  <a:schemeClr val="dk1"/>
                </a:solidFill>
                <a:latin typeface="Calibri"/>
                <a:ea typeface="Calibri"/>
                <a:cs typeface="Calibri"/>
                <a:sym typeface="Calibri"/>
              </a:rPr>
              <a:t>target="_blank" &gt;</a:t>
            </a:r>
            <a:endParaRPr sz="2200">
              <a:solidFill>
                <a:schemeClr val="dk1"/>
              </a:solidFill>
              <a:latin typeface="Calibri"/>
              <a:ea typeface="Calibri"/>
              <a:cs typeface="Calibri"/>
              <a:sym typeface="Calibri"/>
            </a:endParaRPr>
          </a:p>
          <a:p>
            <a:pPr indent="0" lvl="0" marL="140335" marR="0" rtl="0" algn="l">
              <a:lnSpc>
                <a:spcPct val="100000"/>
              </a:lnSpc>
              <a:spcBef>
                <a:spcPts val="5"/>
              </a:spcBef>
              <a:spcAft>
                <a:spcPts val="0"/>
              </a:spcAft>
              <a:buNone/>
            </a:pPr>
            <a:r>
              <a:rPr lang="en-US" sz="2200">
                <a:solidFill>
                  <a:schemeClr val="dk1"/>
                </a:solidFill>
                <a:latin typeface="Calibri"/>
                <a:ea typeface="Calibri"/>
                <a:cs typeface="Calibri"/>
                <a:sym typeface="Calibri"/>
              </a:rPr>
              <a:t>First name:&lt;br&gt;</a:t>
            </a:r>
            <a:endParaRPr sz="2200">
              <a:solidFill>
                <a:schemeClr val="dk1"/>
              </a:solidFill>
              <a:latin typeface="Calibri"/>
              <a:ea typeface="Calibri"/>
              <a:cs typeface="Calibri"/>
              <a:sym typeface="Calibri"/>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a:t>
            </a:r>
            <a:r>
              <a:rPr b="1" lang="en-US" sz="2200">
                <a:solidFill>
                  <a:schemeClr val="dk1"/>
                </a:solidFill>
                <a:latin typeface="Calibri"/>
                <a:ea typeface="Calibri"/>
                <a:cs typeface="Calibri"/>
                <a:sym typeface="Calibri"/>
              </a:rPr>
              <a:t>input type</a:t>
            </a:r>
            <a:r>
              <a:rPr lang="en-US" sz="2200">
                <a:solidFill>
                  <a:schemeClr val="dk1"/>
                </a:solidFill>
                <a:latin typeface="Calibri"/>
                <a:ea typeface="Calibri"/>
                <a:cs typeface="Calibri"/>
                <a:sym typeface="Calibri"/>
              </a:rPr>
              <a:t>="text" name="firstname" value="Mickey"&gt;</a:t>
            </a:r>
            <a:endParaRPr sz="2200">
              <a:solidFill>
                <a:schemeClr val="dk1"/>
              </a:solidFill>
              <a:latin typeface="Calibri"/>
              <a:ea typeface="Calibri"/>
              <a:cs typeface="Calibri"/>
              <a:sym typeface="Calibri"/>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&lt;br&gt;</a:t>
            </a:r>
            <a:endParaRPr sz="2200">
              <a:solidFill>
                <a:schemeClr val="dk1"/>
              </a:solidFill>
              <a:latin typeface="Calibri"/>
              <a:ea typeface="Calibri"/>
              <a:cs typeface="Calibri"/>
              <a:sym typeface="Calibri"/>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Last name:&lt;br&gt;</a:t>
            </a:r>
            <a:endParaRPr sz="2200">
              <a:solidFill>
                <a:schemeClr val="dk1"/>
              </a:solidFill>
              <a:latin typeface="Calibri"/>
              <a:ea typeface="Calibri"/>
              <a:cs typeface="Calibri"/>
              <a:sym typeface="Calibri"/>
            </a:endParaRPr>
          </a:p>
          <a:p>
            <a:pPr indent="0" lvl="0" marL="140335" marR="0" rtl="0" algn="l">
              <a:lnSpc>
                <a:spcPct val="100000"/>
              </a:lnSpc>
              <a:spcBef>
                <a:spcPts val="5"/>
              </a:spcBef>
              <a:spcAft>
                <a:spcPts val="0"/>
              </a:spcAft>
              <a:buNone/>
            </a:pPr>
            <a:r>
              <a:rPr lang="en-US" sz="2200">
                <a:solidFill>
                  <a:schemeClr val="dk1"/>
                </a:solidFill>
                <a:latin typeface="Calibri"/>
                <a:ea typeface="Calibri"/>
                <a:cs typeface="Calibri"/>
                <a:sym typeface="Calibri"/>
              </a:rPr>
              <a:t>&lt;</a:t>
            </a:r>
            <a:r>
              <a:rPr b="1" lang="en-US" sz="2200">
                <a:solidFill>
                  <a:schemeClr val="dk1"/>
                </a:solidFill>
                <a:latin typeface="Calibri"/>
                <a:ea typeface="Calibri"/>
                <a:cs typeface="Calibri"/>
                <a:sym typeface="Calibri"/>
              </a:rPr>
              <a:t>input type</a:t>
            </a:r>
            <a:r>
              <a:rPr lang="en-US" sz="2200">
                <a:solidFill>
                  <a:schemeClr val="dk1"/>
                </a:solidFill>
                <a:latin typeface="Calibri"/>
                <a:ea typeface="Calibri"/>
                <a:cs typeface="Calibri"/>
                <a:sym typeface="Calibri"/>
              </a:rPr>
              <a:t>="text" name="lastname" value="Mouse"&gt;</a:t>
            </a:r>
            <a:endParaRPr sz="2200">
              <a:solidFill>
                <a:schemeClr val="dk1"/>
              </a:solidFill>
              <a:latin typeface="Calibri"/>
              <a:ea typeface="Calibri"/>
              <a:cs typeface="Calibri"/>
              <a:sym typeface="Calibri"/>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&lt;br&gt;&lt;br&gt;</a:t>
            </a:r>
            <a:endParaRPr sz="2200">
              <a:solidFill>
                <a:schemeClr val="dk1"/>
              </a:solidFill>
              <a:latin typeface="Calibri"/>
              <a:ea typeface="Calibri"/>
              <a:cs typeface="Calibri"/>
              <a:sym typeface="Calibri"/>
            </a:endParaRPr>
          </a:p>
          <a:p>
            <a:pPr indent="0" lvl="0" marL="140335" marR="0" rtl="0" algn="l">
              <a:lnSpc>
                <a:spcPct val="100000"/>
              </a:lnSpc>
              <a:spcBef>
                <a:spcPts val="0"/>
              </a:spcBef>
              <a:spcAft>
                <a:spcPts val="0"/>
              </a:spcAft>
              <a:buNone/>
            </a:pPr>
            <a:r>
              <a:rPr lang="en-US" sz="2200">
                <a:solidFill>
                  <a:schemeClr val="dk1"/>
                </a:solidFill>
                <a:latin typeface="Calibri"/>
                <a:ea typeface="Calibri"/>
                <a:cs typeface="Calibri"/>
                <a:sym typeface="Calibri"/>
              </a:rPr>
              <a:t>&lt;input type="submit" value="Submit"&gt;</a:t>
            </a:r>
            <a:endParaRPr sz="22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200">
                <a:solidFill>
                  <a:schemeClr val="dk1"/>
                </a:solidFill>
                <a:latin typeface="Calibri"/>
                <a:ea typeface="Calibri"/>
                <a:cs typeface="Calibri"/>
                <a:sym typeface="Calibri"/>
              </a:rPr>
              <a:t>&lt;/form&gt;</a:t>
            </a:r>
            <a:endParaRPr sz="2200">
              <a:solidFill>
                <a:schemeClr val="dk1"/>
              </a:solidFill>
              <a:latin typeface="Calibri"/>
              <a:ea typeface="Calibri"/>
              <a:cs typeface="Calibri"/>
              <a:sym typeface="Calibri"/>
            </a:endParaRPr>
          </a:p>
        </p:txBody>
      </p:sp>
      <p:sp>
        <p:nvSpPr>
          <p:cNvPr id="920" name="Google Shape;920;p99"/>
          <p:cNvSpPr txBox="1"/>
          <p:nvPr/>
        </p:nvSpPr>
        <p:spPr>
          <a:xfrm>
            <a:off x="652068" y="5616346"/>
            <a:ext cx="891540" cy="6350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p:txBody>
      </p:sp>
      <p:sp>
        <p:nvSpPr>
          <p:cNvPr id="921" name="Google Shape;921;p99"/>
          <p:cNvSpPr/>
          <p:nvPr/>
        </p:nvSpPr>
        <p:spPr>
          <a:xfrm>
            <a:off x="8531352" y="5647944"/>
            <a:ext cx="71120" cy="396240"/>
          </a:xfrm>
          <a:custGeom>
            <a:rect b="b" l="l" r="r" t="t"/>
            <a:pathLst>
              <a:path extrusionOk="0" h="396239" w="71120">
                <a:moveTo>
                  <a:pt x="71120" y="396239"/>
                </a:moveTo>
                <a:lnTo>
                  <a:pt x="43451" y="390651"/>
                </a:lnTo>
                <a:lnTo>
                  <a:pt x="20843" y="375410"/>
                </a:lnTo>
                <a:lnTo>
                  <a:pt x="5593" y="352804"/>
                </a:lnTo>
                <a:lnTo>
                  <a:pt x="0" y="325119"/>
                </a:lnTo>
                <a:lnTo>
                  <a:pt x="0" y="71119"/>
                </a:lnTo>
                <a:lnTo>
                  <a:pt x="5593" y="43435"/>
                </a:lnTo>
                <a:lnTo>
                  <a:pt x="20843" y="20829"/>
                </a:lnTo>
                <a:lnTo>
                  <a:pt x="43451" y="5588"/>
                </a:lnTo>
                <a:lnTo>
                  <a:pt x="71120" y="0"/>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2" name="Google Shape;922;p99"/>
          <p:cNvSpPr/>
          <p:nvPr/>
        </p:nvSpPr>
        <p:spPr>
          <a:xfrm>
            <a:off x="9008871" y="5647944"/>
            <a:ext cx="71120" cy="396240"/>
          </a:xfrm>
          <a:custGeom>
            <a:rect b="b" l="l" r="r" t="t"/>
            <a:pathLst>
              <a:path extrusionOk="0" h="396239" w="71120">
                <a:moveTo>
                  <a:pt x="0" y="0"/>
                </a:moveTo>
                <a:lnTo>
                  <a:pt x="27668" y="5588"/>
                </a:lnTo>
                <a:lnTo>
                  <a:pt x="50276" y="20829"/>
                </a:lnTo>
                <a:lnTo>
                  <a:pt x="65526" y="43435"/>
                </a:lnTo>
                <a:lnTo>
                  <a:pt x="71120" y="71119"/>
                </a:lnTo>
                <a:lnTo>
                  <a:pt x="71120" y="325119"/>
                </a:lnTo>
                <a:lnTo>
                  <a:pt x="65526" y="352804"/>
                </a:lnTo>
                <a:lnTo>
                  <a:pt x="50276" y="375410"/>
                </a:lnTo>
                <a:lnTo>
                  <a:pt x="27668" y="390651"/>
                </a:lnTo>
                <a:lnTo>
                  <a:pt x="0" y="396239"/>
                </a:lnTo>
              </a:path>
            </a:pathLst>
          </a:custGeom>
          <a:noFill/>
          <a:ln cap="flat" cmpd="sng" w="182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 name="Google Shape;923;p99"/>
          <p:cNvSpPr txBox="1"/>
          <p:nvPr/>
        </p:nvSpPr>
        <p:spPr>
          <a:xfrm>
            <a:off x="8680450" y="5684316"/>
            <a:ext cx="257175" cy="30035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latin typeface="Calibri"/>
                <a:ea typeface="Calibri"/>
                <a:cs typeface="Calibri"/>
                <a:sym typeface="Calibri"/>
              </a:rPr>
              <a:t>90</a:t>
            </a:r>
            <a:endParaRPr sz="1800">
              <a:solidFill>
                <a:schemeClr val="dk1"/>
              </a:solidFill>
              <a:latin typeface="Calibri"/>
              <a:ea typeface="Calibri"/>
              <a:cs typeface="Calibri"/>
              <a:sym typeface="Calibr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00"/>
          <p:cNvSpPr txBox="1"/>
          <p:nvPr>
            <p:ph type="title"/>
          </p:nvPr>
        </p:nvSpPr>
        <p:spPr>
          <a:xfrm>
            <a:off x="175360" y="-16305"/>
            <a:ext cx="7978039" cy="553998"/>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3600"/>
              <a:t>PHP REQUEST method</a:t>
            </a:r>
            <a:endParaRPr/>
          </a:p>
        </p:txBody>
      </p:sp>
      <p:sp>
        <p:nvSpPr>
          <p:cNvPr id="929" name="Google Shape;929;p100"/>
          <p:cNvSpPr txBox="1"/>
          <p:nvPr>
            <p:ph idx="1" type="body"/>
          </p:nvPr>
        </p:nvSpPr>
        <p:spPr>
          <a:xfrm>
            <a:off x="228600" y="914400"/>
            <a:ext cx="7696200" cy="3216265"/>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1900"/>
              <a:buFont typeface="Arial"/>
              <a:buChar char="•"/>
            </a:pPr>
            <a:r>
              <a:rPr lang="en-US"/>
              <a:t>$_REQUEST is a PHP super global variable which contains submitted form data, and all cookie data.</a:t>
            </a:r>
            <a:endParaRPr/>
          </a:p>
          <a:p>
            <a:pPr indent="-222250" lvl="0" marL="342900" rtl="0" algn="l">
              <a:spcBef>
                <a:spcPts val="0"/>
              </a:spcBef>
              <a:spcAft>
                <a:spcPts val="0"/>
              </a:spcAft>
              <a:buClr>
                <a:schemeClr val="dk1"/>
              </a:buClr>
              <a:buSzPts val="1900"/>
              <a:buFont typeface="Arial"/>
              <a:buNone/>
            </a:pPr>
            <a:r>
              <a:t/>
            </a:r>
            <a:endParaRPr/>
          </a:p>
          <a:p>
            <a:pPr indent="-342900" lvl="0" marL="342900" rtl="0" algn="l">
              <a:spcBef>
                <a:spcPts val="0"/>
              </a:spcBef>
              <a:spcAft>
                <a:spcPts val="0"/>
              </a:spcAft>
              <a:buClr>
                <a:schemeClr val="dk1"/>
              </a:buClr>
              <a:buSzPts val="1900"/>
              <a:buFont typeface="Arial"/>
              <a:buChar char="•"/>
            </a:pPr>
            <a:r>
              <a:rPr lang="en-US"/>
              <a:t>In other words, $_REQUEST is an array containing data from $_GET, $_POST, and $_COOKIE.</a:t>
            </a:r>
            <a:endParaRPr/>
          </a:p>
          <a:p>
            <a:pPr indent="-222250" lvl="0" marL="342900" rtl="0" algn="l">
              <a:spcBef>
                <a:spcPts val="0"/>
              </a:spcBef>
              <a:spcAft>
                <a:spcPts val="0"/>
              </a:spcAft>
              <a:buClr>
                <a:schemeClr val="dk1"/>
              </a:buClr>
              <a:buSzPts val="1900"/>
              <a:buFont typeface="Arial"/>
              <a:buNone/>
            </a:pPr>
            <a:r>
              <a:t/>
            </a:r>
            <a:endParaRPr b="1"/>
          </a:p>
          <a:p>
            <a:pPr indent="-342900" lvl="0" marL="342900" rtl="0" algn="l">
              <a:spcBef>
                <a:spcPts val="0"/>
              </a:spcBef>
              <a:spcAft>
                <a:spcPts val="0"/>
              </a:spcAft>
              <a:buClr>
                <a:schemeClr val="dk1"/>
              </a:buClr>
              <a:buSzPts val="1900"/>
              <a:buFont typeface="Arial"/>
              <a:buChar char="•"/>
            </a:pPr>
            <a:r>
              <a:rPr b="1" lang="en-US"/>
              <a:t>Using $_REQUEST on $_POST Requests</a:t>
            </a:r>
            <a:endParaRPr/>
          </a:p>
          <a:p>
            <a:pPr indent="-342900" lvl="0" marL="342900" rtl="0" algn="l">
              <a:spcBef>
                <a:spcPts val="0"/>
              </a:spcBef>
              <a:spcAft>
                <a:spcPts val="0"/>
              </a:spcAft>
              <a:buClr>
                <a:schemeClr val="dk1"/>
              </a:buClr>
              <a:buSzPts val="1900"/>
              <a:buFont typeface="Arial"/>
              <a:buChar char="•"/>
            </a:pPr>
            <a:r>
              <a:rPr lang="en-US"/>
              <a:t>POST request are usually data submitted from an HTML form.</a:t>
            </a:r>
            <a:endParaRPr/>
          </a:p>
          <a:p>
            <a:pPr indent="-342900" lvl="0" marL="342900" rtl="0" algn="l">
              <a:spcBef>
                <a:spcPts val="0"/>
              </a:spcBef>
              <a:spcAft>
                <a:spcPts val="0"/>
              </a:spcAft>
              <a:buClr>
                <a:schemeClr val="dk1"/>
              </a:buClr>
              <a:buSzPts val="1900"/>
              <a:buFont typeface="Arial"/>
              <a:buChar char="•"/>
            </a:pPr>
            <a:r>
              <a:rPr lang="en-US"/>
              <a:t>Example:</a:t>
            </a:r>
            <a:endParaRPr/>
          </a:p>
          <a:p>
            <a:pPr indent="-342900" lvl="0" marL="342900" rtl="0" algn="l">
              <a:spcBef>
                <a:spcPts val="0"/>
              </a:spcBef>
              <a:spcAft>
                <a:spcPts val="0"/>
              </a:spcAft>
              <a:buClr>
                <a:schemeClr val="dk1"/>
              </a:buClr>
              <a:buSzPts val="1900"/>
              <a:buFont typeface="Arial"/>
              <a:buChar char="•"/>
            </a:pPr>
            <a:r>
              <a:rPr lang="en-US"/>
              <a:t>PHP file-</a:t>
            </a:r>
            <a:endParaRPr/>
          </a:p>
          <a:p>
            <a:pPr indent="0" lvl="0" marL="0" rtl="0" algn="l">
              <a:spcBef>
                <a:spcPts val="0"/>
              </a:spcBef>
              <a:spcAft>
                <a:spcPts val="0"/>
              </a:spcAft>
              <a:buNone/>
            </a:pPr>
            <a:r>
              <a:t/>
            </a:r>
            <a:endParaRPr/>
          </a:p>
        </p:txBody>
      </p:sp>
      <p:pic>
        <p:nvPicPr>
          <p:cNvPr id="930" name="Google Shape;930;p100"/>
          <p:cNvPicPr preferRelativeResize="0"/>
          <p:nvPr/>
        </p:nvPicPr>
        <p:blipFill rotWithShape="1">
          <a:blip r:embed="rId3">
            <a:alphaModFix/>
          </a:blip>
          <a:srcRect b="0" l="0" r="0" t="0"/>
          <a:stretch/>
        </p:blipFill>
        <p:spPr>
          <a:xfrm>
            <a:off x="685800" y="4038600"/>
            <a:ext cx="3314700" cy="2298078"/>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01"/>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$_SERVER</a:t>
            </a:r>
            <a:endParaRPr/>
          </a:p>
        </p:txBody>
      </p:sp>
      <p:sp>
        <p:nvSpPr>
          <p:cNvPr id="936" name="Google Shape;936;p101"/>
          <p:cNvSpPr txBox="1"/>
          <p:nvPr>
            <p:ph idx="1" type="body"/>
          </p:nvPr>
        </p:nvSpPr>
        <p:spPr>
          <a:xfrm>
            <a:off x="304800" y="1143001"/>
            <a:ext cx="8001000" cy="877163"/>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chemeClr val="dk1"/>
              </a:buClr>
              <a:buSzPts val="1900"/>
              <a:buFont typeface="Arial"/>
              <a:buChar char="•"/>
            </a:pPr>
            <a:r>
              <a:rPr lang="en-US"/>
              <a:t>$_SERVER is a PHP super global variable which holds information about headers, paths, and script locations.</a:t>
            </a:r>
            <a:endParaRPr/>
          </a:p>
          <a:p>
            <a:pPr indent="-222250" lvl="0" marL="342900" rtl="0" algn="l">
              <a:spcBef>
                <a:spcPts val="0"/>
              </a:spcBef>
              <a:spcAft>
                <a:spcPts val="0"/>
              </a:spcAft>
              <a:buClr>
                <a:schemeClr val="dk1"/>
              </a:buClr>
              <a:buSzPts val="1900"/>
              <a:buFont typeface="Arial"/>
              <a:buNone/>
            </a:pPr>
            <a:r>
              <a:t/>
            </a:r>
            <a:endParaRPr/>
          </a:p>
        </p:txBody>
      </p:sp>
      <p:pic>
        <p:nvPicPr>
          <p:cNvPr id="937" name="Google Shape;937;p101"/>
          <p:cNvPicPr preferRelativeResize="0"/>
          <p:nvPr/>
        </p:nvPicPr>
        <p:blipFill rotWithShape="1">
          <a:blip r:embed="rId3">
            <a:alphaModFix/>
          </a:blip>
          <a:srcRect b="0" l="0" r="0" t="0"/>
          <a:stretch/>
        </p:blipFill>
        <p:spPr>
          <a:xfrm>
            <a:off x="914400" y="2209800"/>
            <a:ext cx="2867025" cy="3200400"/>
          </a:xfrm>
          <a:prstGeom prst="rect">
            <a:avLst/>
          </a:prstGeom>
          <a:noFill/>
          <a:ln>
            <a:noFill/>
          </a:ln>
        </p:spPr>
      </p:pic>
      <p:pic>
        <p:nvPicPr>
          <p:cNvPr id="938" name="Google Shape;938;p101"/>
          <p:cNvPicPr preferRelativeResize="0"/>
          <p:nvPr/>
        </p:nvPicPr>
        <p:blipFill rotWithShape="1">
          <a:blip r:embed="rId4">
            <a:alphaModFix/>
          </a:blip>
          <a:srcRect b="0" l="0" r="0" t="0"/>
          <a:stretch/>
        </p:blipFill>
        <p:spPr>
          <a:xfrm>
            <a:off x="3962400" y="1752600"/>
            <a:ext cx="3935655" cy="4710113"/>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02"/>
          <p:cNvSpPr txBox="1"/>
          <p:nvPr>
            <p:ph type="title"/>
          </p:nvPr>
        </p:nvSpPr>
        <p:spPr>
          <a:xfrm>
            <a:off x="536244" y="547496"/>
            <a:ext cx="234124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Cookie</a:t>
            </a:r>
            <a:endParaRPr sz="3600"/>
          </a:p>
        </p:txBody>
      </p:sp>
      <p:sp>
        <p:nvSpPr>
          <p:cNvPr id="944" name="Google Shape;944;p102"/>
          <p:cNvSpPr txBox="1"/>
          <p:nvPr/>
        </p:nvSpPr>
        <p:spPr>
          <a:xfrm>
            <a:off x="652068" y="1615820"/>
            <a:ext cx="7141845" cy="2911475"/>
          </a:xfrm>
          <a:prstGeom prst="rect">
            <a:avLst/>
          </a:prstGeom>
          <a:noFill/>
          <a:ln>
            <a:noFill/>
          </a:ln>
        </p:spPr>
        <p:txBody>
          <a:bodyPr anchorCtr="0" anchor="t" bIns="0" lIns="0" spcFirstLastPara="1" rIns="0" wrap="square" tIns="13325">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cookie is a small piece of information which is stored at</a:t>
            </a:r>
            <a:endParaRPr sz="2200">
              <a:solidFill>
                <a:schemeClr val="dk1"/>
              </a:solidFill>
              <a:latin typeface="Calibri"/>
              <a:ea typeface="Calibri"/>
              <a:cs typeface="Calibri"/>
              <a:sym typeface="Calibri"/>
            </a:endParaRPr>
          </a:p>
          <a:p>
            <a:pPr indent="0" lvl="0" marL="240665" marR="0" rtl="0" algn="l">
              <a:lnSpc>
                <a:spcPct val="100000"/>
              </a:lnSpc>
              <a:spcBef>
                <a:spcPts val="0"/>
              </a:spcBef>
              <a:spcAft>
                <a:spcPts val="0"/>
              </a:spcAft>
              <a:buNone/>
            </a:pPr>
            <a:r>
              <a:rPr lang="en-US" sz="2200">
                <a:solidFill>
                  <a:schemeClr val="dk1"/>
                </a:solidFill>
                <a:latin typeface="Calibri"/>
                <a:ea typeface="Calibri"/>
                <a:cs typeface="Calibri"/>
                <a:sym typeface="Calibri"/>
              </a:rPr>
              <a:t>client browser. It is used to recognize the user.</a:t>
            </a:r>
            <a:endParaRPr sz="2200">
              <a:solidFill>
                <a:schemeClr val="dk1"/>
              </a:solidFill>
              <a:latin typeface="Calibri"/>
              <a:ea typeface="Calibri"/>
              <a:cs typeface="Calibri"/>
              <a:sym typeface="Calibri"/>
            </a:endParaRPr>
          </a:p>
          <a:p>
            <a:pPr indent="-228600" lvl="0" marL="241300" marR="0" rtl="0" algn="l">
              <a:lnSpc>
                <a:spcPct val="100000"/>
              </a:lnSpc>
              <a:spcBef>
                <a:spcPts val="53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Cookie is created at server side and saved to client browser.</a:t>
            </a:r>
            <a:endParaRPr sz="2200">
              <a:solidFill>
                <a:schemeClr val="dk1"/>
              </a:solidFill>
              <a:latin typeface="Calibri"/>
              <a:ea typeface="Calibri"/>
              <a:cs typeface="Calibri"/>
              <a:sym typeface="Calibri"/>
            </a:endParaRPr>
          </a:p>
          <a:p>
            <a:pPr indent="-228600" lvl="0" marL="240665" marR="5080" rtl="0" algn="l">
              <a:lnSpc>
                <a:spcPct val="100000"/>
              </a:lnSpc>
              <a:spcBef>
                <a:spcPts val="52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Each time when client sends request to the server, cookie is  embedded with request. Such way, cookie can be received at  the server side.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In short, cookie can be created, sent and received at server</a:t>
            </a:r>
            <a:endParaRPr sz="2200">
              <a:solidFill>
                <a:schemeClr val="dk1"/>
              </a:solidFill>
              <a:latin typeface="Calibri"/>
              <a:ea typeface="Calibri"/>
              <a:cs typeface="Calibri"/>
              <a:sym typeface="Calibri"/>
            </a:endParaRPr>
          </a:p>
          <a:p>
            <a:pPr indent="0" lvl="0" marL="240665" marR="0" rtl="0" algn="l">
              <a:lnSpc>
                <a:spcPct val="100000"/>
              </a:lnSpc>
              <a:spcBef>
                <a:spcPts val="5"/>
              </a:spcBef>
              <a:spcAft>
                <a:spcPts val="0"/>
              </a:spcAft>
              <a:buNone/>
            </a:pPr>
            <a:r>
              <a:rPr lang="en-US" sz="2200">
                <a:solidFill>
                  <a:schemeClr val="dk1"/>
                </a:solidFill>
                <a:latin typeface="Calibri"/>
                <a:ea typeface="Calibri"/>
                <a:cs typeface="Calibri"/>
                <a:sym typeface="Calibri"/>
              </a:rPr>
              <a:t>end.</a:t>
            </a:r>
            <a:endParaRPr sz="2200">
              <a:solidFill>
                <a:schemeClr val="dk1"/>
              </a:solidFill>
              <a:latin typeface="Calibri"/>
              <a:ea typeface="Calibri"/>
              <a:cs typeface="Calibri"/>
              <a:sym typeface="Calibri"/>
            </a:endParaRPr>
          </a:p>
        </p:txBody>
      </p:sp>
      <p:pic>
        <p:nvPicPr>
          <p:cNvPr id="945" name="Google Shape;945;p102"/>
          <p:cNvPicPr preferRelativeResize="0"/>
          <p:nvPr/>
        </p:nvPicPr>
        <p:blipFill rotWithShape="1">
          <a:blip r:embed="rId3">
            <a:alphaModFix/>
          </a:blip>
          <a:srcRect b="0" l="0" r="0" t="0"/>
          <a:stretch/>
        </p:blipFill>
        <p:spPr>
          <a:xfrm>
            <a:off x="2713137" y="4991707"/>
            <a:ext cx="4135620" cy="1221431"/>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03"/>
          <p:cNvSpPr txBox="1"/>
          <p:nvPr/>
        </p:nvSpPr>
        <p:spPr>
          <a:xfrm>
            <a:off x="199744" y="1502360"/>
            <a:ext cx="8029855" cy="5639364"/>
          </a:xfrm>
          <a:prstGeom prst="rect">
            <a:avLst/>
          </a:prstGeom>
          <a:noFill/>
          <a:ln>
            <a:noFill/>
          </a:ln>
        </p:spPr>
        <p:txBody>
          <a:bodyPr anchorCtr="0" anchor="t" bIns="0" lIns="0" spcFirstLastPara="1" rIns="0" wrap="square" tIns="5015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setcookie() function –create cookie</a:t>
            </a:r>
            <a:endParaRPr sz="2200">
              <a:solidFill>
                <a:schemeClr val="dk1"/>
              </a:solidFill>
              <a:latin typeface="Calibri"/>
              <a:ea typeface="Calibri"/>
              <a:cs typeface="Calibri"/>
              <a:sym typeface="Calibri"/>
            </a:endParaRPr>
          </a:p>
          <a:p>
            <a:pPr indent="-228600" lvl="0" marL="241300" marR="0" rtl="0" algn="l">
              <a:lnSpc>
                <a:spcPct val="114000"/>
              </a:lnSpc>
              <a:spcBef>
                <a:spcPts val="25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PHP setcookie() function is used to set cookie with HTTP response.</a:t>
            </a:r>
            <a:endParaRPr sz="2000">
              <a:solidFill>
                <a:schemeClr val="dk1"/>
              </a:solidFill>
              <a:latin typeface="Calibri"/>
              <a:ea typeface="Calibri"/>
              <a:cs typeface="Calibri"/>
              <a:sym typeface="Calibri"/>
            </a:endParaRPr>
          </a:p>
          <a:p>
            <a:pPr indent="0" lvl="0" marL="241300" marR="0" rtl="0" algn="l">
              <a:lnSpc>
                <a:spcPct val="114000"/>
              </a:lnSpc>
              <a:spcBef>
                <a:spcPts val="0"/>
              </a:spcBef>
              <a:spcAft>
                <a:spcPts val="0"/>
              </a:spcAft>
              <a:buNone/>
            </a:pPr>
            <a:r>
              <a:rPr lang="en-US" sz="2000">
                <a:solidFill>
                  <a:schemeClr val="dk1"/>
                </a:solidFill>
                <a:latin typeface="Calibri"/>
                <a:ea typeface="Calibri"/>
                <a:cs typeface="Calibri"/>
                <a:sym typeface="Calibri"/>
              </a:rPr>
              <a:t>Once cookie is set, you can access it by $_COOKIE superglobal variable.</a:t>
            </a:r>
            <a:endParaRPr sz="2000">
              <a:solidFill>
                <a:schemeClr val="dk1"/>
              </a:solidFill>
              <a:latin typeface="Calibri"/>
              <a:ea typeface="Calibri"/>
              <a:cs typeface="Calibri"/>
              <a:sym typeface="Calibri"/>
            </a:endParaRPr>
          </a:p>
          <a:p>
            <a:pPr indent="-228600" lvl="0" marL="241300" marR="0" rtl="0" algn="l">
              <a:lnSpc>
                <a:spcPct val="100000"/>
              </a:lnSpc>
              <a:spcBef>
                <a:spcPts val="24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14000"/>
              </a:lnSpc>
              <a:spcBef>
                <a:spcPts val="240"/>
              </a:spcBef>
              <a:spcAft>
                <a:spcPts val="0"/>
              </a:spcAft>
              <a:buNone/>
            </a:pPr>
            <a:r>
              <a:rPr lang="en-US" sz="2000">
                <a:solidFill>
                  <a:schemeClr val="dk1"/>
                </a:solidFill>
                <a:latin typeface="Calibri"/>
                <a:ea typeface="Calibri"/>
                <a:cs typeface="Calibri"/>
                <a:sym typeface="Calibri"/>
              </a:rPr>
              <a:t>bool setcookie ( string $name [, string $value [, int $expire = 0 [, string $pa</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th	[, string $domain [, bool $secure = false [, bool $httponly = false ]]]]]] )</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lnSpc>
                <a:spcPct val="100000"/>
              </a:lnSpc>
              <a:spcBef>
                <a:spcPts val="25"/>
              </a:spcBef>
              <a:spcAft>
                <a:spcPts val="0"/>
              </a:spcAft>
              <a:buNone/>
            </a:pPr>
            <a:r>
              <a:t/>
            </a:r>
            <a:endParaRPr sz="195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b="1"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1800"/>
              <a:buFont typeface="Arial"/>
              <a:buChar char="•"/>
            </a:pPr>
            <a:r>
              <a:rPr b="1" lang="en-US" sz="1800">
                <a:solidFill>
                  <a:schemeClr val="dk1"/>
                </a:solidFill>
                <a:latin typeface="Calibri"/>
                <a:ea typeface="Calibri"/>
                <a:cs typeface="Calibri"/>
                <a:sym typeface="Calibri"/>
              </a:rPr>
              <a:t>expire- </a:t>
            </a:r>
            <a:endParaRPr/>
          </a:p>
          <a:p>
            <a:pPr indent="-228600" lvl="1" marL="698500" marR="0" rtl="0" algn="l">
              <a:spcBef>
                <a:spcPts val="0"/>
              </a:spcBef>
              <a:spcAft>
                <a:spcPts val="0"/>
              </a:spcAft>
              <a:buClr>
                <a:srgbClr val="4F81BC"/>
              </a:buClr>
              <a:buSzPts val="1800"/>
              <a:buFont typeface="Arial"/>
              <a:buChar char="•"/>
            </a:pPr>
            <a:r>
              <a:rPr b="0" i="0" lang="en-US" sz="1800" u="none" cap="none" strike="noStrike">
                <a:solidFill>
                  <a:schemeClr val="dk1"/>
                </a:solidFill>
                <a:latin typeface="Calibri"/>
                <a:ea typeface="Calibri"/>
                <a:cs typeface="Calibri"/>
                <a:sym typeface="Calibri"/>
              </a:rPr>
              <a:t>1hr=60*60=3600 sec</a:t>
            </a:r>
            <a:endParaRPr/>
          </a:p>
          <a:p>
            <a:pPr indent="-228600" lvl="1" marL="698500" marR="0" rtl="0" algn="l">
              <a:spcBef>
                <a:spcPts val="0"/>
              </a:spcBef>
              <a:spcAft>
                <a:spcPts val="0"/>
              </a:spcAft>
              <a:buClr>
                <a:srgbClr val="4F81BC"/>
              </a:buClr>
              <a:buSzPts val="1800"/>
              <a:buFont typeface="Arial"/>
              <a:buChar char="•"/>
            </a:pPr>
            <a:r>
              <a:rPr b="0" i="0" lang="en-US" sz="1800" u="none" cap="none" strike="noStrike">
                <a:solidFill>
                  <a:schemeClr val="dk1"/>
                </a:solidFill>
                <a:latin typeface="Calibri"/>
                <a:ea typeface="Calibri"/>
                <a:cs typeface="Calibri"/>
                <a:sym typeface="Calibri"/>
              </a:rPr>
              <a:t>24hr=3600*24=86,400sec</a:t>
            </a:r>
            <a:endParaRPr/>
          </a:p>
          <a:p>
            <a:pPr indent="-228600" lvl="1" marL="698500" marR="0" rtl="0" algn="l">
              <a:spcBef>
                <a:spcPts val="0"/>
              </a:spcBef>
              <a:spcAft>
                <a:spcPts val="0"/>
              </a:spcAft>
              <a:buClr>
                <a:srgbClr val="4F81BC"/>
              </a:buClr>
              <a:buSzPts val="1800"/>
              <a:buFont typeface="Arial"/>
              <a:buChar char="•"/>
            </a:pPr>
            <a:r>
              <a:rPr b="0" i="0" lang="en-US" sz="1800" u="none" cap="none" strike="noStrike">
                <a:solidFill>
                  <a:schemeClr val="dk1"/>
                </a:solidFill>
                <a:latin typeface="Calibri"/>
                <a:ea typeface="Calibri"/>
                <a:cs typeface="Calibri"/>
                <a:sym typeface="Calibri"/>
              </a:rPr>
              <a:t>Time()+(86400) //for 24 hrs</a:t>
            </a:r>
            <a:endParaRPr b="0" i="0" sz="1800" u="none" cap="none" strike="noStrike">
              <a:solidFill>
                <a:schemeClr val="dk1"/>
              </a:solidFill>
              <a:latin typeface="Calibri"/>
              <a:ea typeface="Calibri"/>
              <a:cs typeface="Calibri"/>
              <a:sym typeface="Calibri"/>
            </a:endParaRPr>
          </a:p>
          <a:p>
            <a:pPr indent="-228600" lvl="1" marL="698500" marR="0" rtl="0" algn="l">
              <a:spcBef>
                <a:spcPts val="0"/>
              </a:spcBef>
              <a:spcAft>
                <a:spcPts val="0"/>
              </a:spcAft>
              <a:buClr>
                <a:srgbClr val="4F81BC"/>
              </a:buClr>
              <a:buSzPts val="1800"/>
              <a:buFont typeface="Arial"/>
              <a:buChar char="•"/>
            </a:pPr>
            <a:r>
              <a:rPr b="0" i="0" lang="en-US" sz="1800" u="none" cap="none" strike="noStrike">
                <a:solidFill>
                  <a:schemeClr val="dk1"/>
                </a:solidFill>
                <a:latin typeface="Calibri"/>
                <a:ea typeface="Calibri"/>
                <a:cs typeface="Calibri"/>
                <a:sym typeface="Calibri"/>
              </a:rPr>
              <a:t>Time()+(86400 *30) //for 1 month</a:t>
            </a:r>
            <a:endParaRPr/>
          </a:p>
          <a:p>
            <a:pPr indent="-228600" lvl="0" marL="241300" marR="0" rtl="0" algn="l">
              <a:lnSpc>
                <a:spcPct val="100000"/>
              </a:lnSpc>
              <a:spcBef>
                <a:spcPts val="0"/>
              </a:spcBef>
              <a:spcAft>
                <a:spcPts val="0"/>
              </a:spcAft>
              <a:buClr>
                <a:srgbClr val="4F81BC"/>
              </a:buClr>
              <a:buSzPts val="1800"/>
              <a:buFont typeface="Arial"/>
              <a:buChar char="•"/>
            </a:pPr>
            <a:r>
              <a:rPr b="1" lang="en-US" sz="1800">
                <a:solidFill>
                  <a:schemeClr val="dk1"/>
                </a:solidFill>
                <a:latin typeface="Calibri"/>
                <a:ea typeface="Calibri"/>
                <a:cs typeface="Calibri"/>
                <a:sym typeface="Calibri"/>
              </a:rPr>
              <a:t>Path- “/”   </a:t>
            </a:r>
            <a:r>
              <a:rPr lang="en-US" sz="1800">
                <a:solidFill>
                  <a:schemeClr val="dk1"/>
                </a:solidFill>
                <a:latin typeface="Calibri"/>
                <a:ea typeface="Calibri"/>
                <a:cs typeface="Calibri"/>
                <a:sym typeface="Calibri"/>
              </a:rPr>
              <a:t>// you can access it from any page.</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Domain= //access cookies from specific domain</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Secure=true/false</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Httponly=true/false</a:t>
            </a:r>
            <a:endParaRPr/>
          </a:p>
          <a:p>
            <a:pPr indent="-114300" lvl="0" marL="241300" marR="0" rtl="0" algn="l">
              <a:lnSpc>
                <a:spcPct val="100000"/>
              </a:lnSpc>
              <a:spcBef>
                <a:spcPts val="0"/>
              </a:spcBef>
              <a:spcAft>
                <a:spcPts val="0"/>
              </a:spcAft>
              <a:buClr>
                <a:srgbClr val="4F81BC"/>
              </a:buClr>
              <a:buSzPts val="1800"/>
              <a:buFont typeface="Arial"/>
              <a:buNone/>
            </a:pPr>
            <a:r>
              <a:t/>
            </a:r>
            <a:endParaRPr b="1" sz="1800">
              <a:solidFill>
                <a:schemeClr val="dk1"/>
              </a:solidFill>
              <a:latin typeface="Calibri"/>
              <a:ea typeface="Calibri"/>
              <a:cs typeface="Calibri"/>
              <a:sym typeface="Calibri"/>
            </a:endParaRPr>
          </a:p>
        </p:txBody>
      </p:sp>
      <p:sp>
        <p:nvSpPr>
          <p:cNvPr id="951" name="Google Shape;951;p103"/>
          <p:cNvSpPr txBox="1"/>
          <p:nvPr>
            <p:ph type="title"/>
          </p:nvPr>
        </p:nvSpPr>
        <p:spPr>
          <a:xfrm>
            <a:off x="536244" y="547496"/>
            <a:ext cx="40868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Cookie (contd..)</a:t>
            </a:r>
            <a:endParaRPr sz="3600"/>
          </a:p>
        </p:txBody>
      </p:sp>
      <p:pic>
        <p:nvPicPr>
          <p:cNvPr id="952" name="Google Shape;952;p103"/>
          <p:cNvPicPr preferRelativeResize="0"/>
          <p:nvPr/>
        </p:nvPicPr>
        <p:blipFill rotWithShape="1">
          <a:blip r:embed="rId3">
            <a:alphaModFix/>
          </a:blip>
          <a:srcRect b="0" l="0" r="0" t="0"/>
          <a:stretch/>
        </p:blipFill>
        <p:spPr>
          <a:xfrm>
            <a:off x="178867" y="3513551"/>
            <a:ext cx="7572375" cy="4191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04"/>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58" name="Google Shape;958;p104"/>
          <p:cNvSpPr txBox="1"/>
          <p:nvPr>
            <p:ph idx="1" type="body"/>
          </p:nvPr>
        </p:nvSpPr>
        <p:spPr>
          <a:xfrm>
            <a:off x="228600" y="1066800"/>
            <a:ext cx="7467600" cy="2662267"/>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None/>
            </a:pPr>
            <a:r>
              <a:rPr lang="en-US" sz="1800"/>
              <a:t>setcookie("CookieName", "CookieValue");</a:t>
            </a:r>
            <a:endParaRPr sz="1800"/>
          </a:p>
          <a:p>
            <a:pPr indent="0" lvl="0" marL="12700" rtl="0" algn="l">
              <a:lnSpc>
                <a:spcPct val="100000"/>
              </a:lnSpc>
              <a:spcBef>
                <a:spcPts val="240"/>
              </a:spcBef>
              <a:spcAft>
                <a:spcPts val="0"/>
              </a:spcAft>
              <a:buNone/>
            </a:pPr>
            <a:r>
              <a:rPr lang="en-US" sz="1800"/>
              <a:t>/* defining name and value only*/</a:t>
            </a:r>
            <a:endParaRPr/>
          </a:p>
          <a:p>
            <a:pPr indent="0" lvl="0" marL="12700" rtl="0" algn="l">
              <a:lnSpc>
                <a:spcPct val="100000"/>
              </a:lnSpc>
              <a:spcBef>
                <a:spcPts val="240"/>
              </a:spcBef>
              <a:spcAft>
                <a:spcPts val="0"/>
              </a:spcAft>
              <a:buNone/>
            </a:pPr>
            <a:r>
              <a:t/>
            </a:r>
            <a:endParaRPr sz="1800"/>
          </a:p>
          <a:p>
            <a:pPr indent="0" lvl="0" marL="12700" rtl="0" algn="l">
              <a:lnSpc>
                <a:spcPct val="100000"/>
              </a:lnSpc>
              <a:spcBef>
                <a:spcPts val="240"/>
              </a:spcBef>
              <a:spcAft>
                <a:spcPts val="0"/>
              </a:spcAft>
              <a:buNone/>
            </a:pPr>
            <a:r>
              <a:rPr lang="en-US" sz="1800"/>
              <a:t>setcookie("CookieName", "CookieValue", time()+1*60*60);</a:t>
            </a:r>
            <a:endParaRPr sz="1800"/>
          </a:p>
          <a:p>
            <a:pPr indent="0" lvl="0" marL="12700" marR="146050" rtl="0" algn="l">
              <a:lnSpc>
                <a:spcPct val="100099"/>
              </a:lnSpc>
              <a:spcBef>
                <a:spcPts val="240"/>
              </a:spcBef>
              <a:spcAft>
                <a:spcPts val="0"/>
              </a:spcAft>
              <a:buNone/>
            </a:pPr>
            <a:r>
              <a:rPr lang="en-US" sz="1800"/>
              <a:t>//using expiry in 1 hour(1*60*60 seconds or 3600 seconds)  </a:t>
            </a:r>
            <a:endParaRPr sz="1800"/>
          </a:p>
          <a:p>
            <a:pPr indent="0" lvl="0" marL="12700" marR="146050" rtl="0" algn="l">
              <a:lnSpc>
                <a:spcPct val="100099"/>
              </a:lnSpc>
              <a:spcBef>
                <a:spcPts val="240"/>
              </a:spcBef>
              <a:spcAft>
                <a:spcPts val="0"/>
              </a:spcAft>
              <a:buNone/>
            </a:pPr>
            <a:r>
              <a:t/>
            </a:r>
            <a:endParaRPr sz="1800"/>
          </a:p>
          <a:p>
            <a:pPr indent="0" lvl="0" marL="12700" marR="146050" rtl="0" algn="l">
              <a:lnSpc>
                <a:spcPct val="100099"/>
              </a:lnSpc>
              <a:spcBef>
                <a:spcPts val="240"/>
              </a:spcBef>
              <a:spcAft>
                <a:spcPts val="0"/>
              </a:spcAft>
              <a:buNone/>
            </a:pPr>
            <a:r>
              <a:rPr lang="en-US" sz="1800"/>
              <a:t>setcookie("CookieName", "CookieValue", time()+1*60*60, "/mypath/", "  mydomain.com", 1);</a:t>
            </a:r>
            <a:endParaRPr sz="1800"/>
          </a:p>
          <a:p>
            <a:pPr indent="0" lvl="0" marL="0" rtl="0" algn="l">
              <a:spcBef>
                <a:spcPts val="0"/>
              </a:spcBef>
              <a:spcAft>
                <a:spcPts val="0"/>
              </a:spcAft>
              <a:buNone/>
            </a:pPr>
            <a:r>
              <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105"/>
          <p:cNvSpPr txBox="1"/>
          <p:nvPr/>
        </p:nvSpPr>
        <p:spPr>
          <a:xfrm>
            <a:off x="652068" y="1549603"/>
            <a:ext cx="6725920" cy="163576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$_COOKIE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$_COOKIE superglobal variable is used to get cookie.</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$value=$_COOKIE["CookieName"];//returns cookie value</a:t>
            </a:r>
            <a:endParaRPr sz="2200">
              <a:solidFill>
                <a:schemeClr val="dk1"/>
              </a:solidFill>
              <a:latin typeface="Calibri"/>
              <a:ea typeface="Calibri"/>
              <a:cs typeface="Calibri"/>
              <a:sym typeface="Calibri"/>
            </a:endParaRPr>
          </a:p>
        </p:txBody>
      </p:sp>
      <p:sp>
        <p:nvSpPr>
          <p:cNvPr id="964" name="Google Shape;964;p105"/>
          <p:cNvSpPr txBox="1"/>
          <p:nvPr>
            <p:ph type="title"/>
          </p:nvPr>
        </p:nvSpPr>
        <p:spPr>
          <a:xfrm>
            <a:off x="536244" y="547496"/>
            <a:ext cx="40868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Cookie (contd..)</a:t>
            </a:r>
            <a:endParaRPr sz="3600"/>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106"/>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970" name="Google Shape;970;p106"/>
          <p:cNvSpPr txBox="1"/>
          <p:nvPr>
            <p:ph idx="1" type="body"/>
          </p:nvPr>
        </p:nvSpPr>
        <p:spPr>
          <a:xfrm>
            <a:off x="652068" y="1567053"/>
            <a:ext cx="7272732" cy="3190617"/>
          </a:xfrm>
          <a:prstGeom prst="rect">
            <a:avLst/>
          </a:prstGeom>
          <a:noFill/>
          <a:ln>
            <a:noFill/>
          </a:ln>
        </p:spPr>
        <p:txBody>
          <a:bodyPr anchorCtr="0" anchor="t" bIns="0" lIns="0" spcFirstLastPara="1" rIns="0" wrap="square" tIns="0">
            <a:spAutoFit/>
          </a:bodyPr>
          <a:lstStyle/>
          <a:p>
            <a:pPr indent="-228600" lvl="0" marL="241300" rtl="0" algn="l">
              <a:lnSpc>
                <a:spcPct val="100000"/>
              </a:lnSpc>
              <a:spcBef>
                <a:spcPts val="0"/>
              </a:spcBef>
              <a:spcAft>
                <a:spcPts val="0"/>
              </a:spcAft>
              <a:buClr>
                <a:srgbClr val="4F81BC"/>
              </a:buClr>
              <a:buSzPts val="1800"/>
              <a:buFont typeface="Arial"/>
              <a:buChar char="•"/>
            </a:pPr>
            <a:r>
              <a:rPr b="1" lang="en-US" sz="1800">
                <a:latin typeface="Calibri"/>
                <a:ea typeface="Calibri"/>
                <a:cs typeface="Calibri"/>
                <a:sym typeface="Calibri"/>
              </a:rPr>
              <a:t>Example</a:t>
            </a:r>
            <a:endParaRPr/>
          </a:p>
          <a:p>
            <a:pPr indent="-228600" lvl="0" marL="241300" rtl="0" algn="l">
              <a:lnSpc>
                <a:spcPct val="100000"/>
              </a:lnSpc>
              <a:spcBef>
                <a:spcPts val="0"/>
              </a:spcBef>
              <a:spcAft>
                <a:spcPts val="0"/>
              </a:spcAft>
              <a:buClr>
                <a:srgbClr val="4F81BC"/>
              </a:buClr>
              <a:buSzPts val="1800"/>
              <a:buFont typeface="Arial"/>
              <a:buChar char="•"/>
            </a:pPr>
            <a:r>
              <a:rPr b="1" lang="en-US" sz="1800"/>
              <a:t>1) create cookie:</a:t>
            </a:r>
            <a:endParaRPr b="1" sz="1800">
              <a:latin typeface="Calibri"/>
              <a:ea typeface="Calibri"/>
              <a:cs typeface="Calibri"/>
              <a:sym typeface="Calibri"/>
            </a:endParaRPr>
          </a:p>
          <a:p>
            <a:pPr indent="-228600" lvl="0" marL="241300" rtl="0" algn="l">
              <a:lnSpc>
                <a:spcPct val="100000"/>
              </a:lnSpc>
              <a:spcBef>
                <a:spcPts val="0"/>
              </a:spcBef>
              <a:spcAft>
                <a:spcPts val="0"/>
              </a:spcAft>
              <a:buClr>
                <a:srgbClr val="4F81BC"/>
              </a:buClr>
              <a:buSzPts val="1800"/>
              <a:buFont typeface="Arial"/>
              <a:buChar char="•"/>
            </a:pPr>
            <a:r>
              <a:rPr b="1" lang="en-US" sz="1800"/>
              <a:t>$cookie_name=“user”;</a:t>
            </a:r>
            <a:endParaRPr/>
          </a:p>
          <a:p>
            <a:pPr indent="-228600" lvl="0" marL="241300" rtl="0" algn="l">
              <a:lnSpc>
                <a:spcPct val="100000"/>
              </a:lnSpc>
              <a:spcBef>
                <a:spcPts val="0"/>
              </a:spcBef>
              <a:spcAft>
                <a:spcPts val="0"/>
              </a:spcAft>
              <a:buClr>
                <a:srgbClr val="4F81BC"/>
              </a:buClr>
              <a:buSzPts val="1800"/>
              <a:buFont typeface="Arial"/>
              <a:buChar char="•"/>
            </a:pPr>
            <a:r>
              <a:rPr b="1" lang="en-US" sz="1800">
                <a:latin typeface="Calibri"/>
                <a:ea typeface="Calibri"/>
                <a:cs typeface="Calibri"/>
                <a:sym typeface="Calibri"/>
              </a:rPr>
              <a:t>$cookie_value=“</a:t>
            </a:r>
            <a:r>
              <a:rPr b="1" lang="en-US" sz="1800"/>
              <a:t>John”;</a:t>
            </a:r>
            <a:endParaRPr b="1" sz="1800">
              <a:latin typeface="Calibri"/>
              <a:ea typeface="Calibri"/>
              <a:cs typeface="Calibri"/>
              <a:sym typeface="Calibri"/>
            </a:endParaRPr>
          </a:p>
          <a:p>
            <a:pPr indent="-114300" lvl="0" marL="241300" rtl="0" algn="l">
              <a:lnSpc>
                <a:spcPct val="100000"/>
              </a:lnSpc>
              <a:spcBef>
                <a:spcPts val="0"/>
              </a:spcBef>
              <a:spcAft>
                <a:spcPts val="0"/>
              </a:spcAft>
              <a:buClr>
                <a:srgbClr val="4F81BC"/>
              </a:buClr>
              <a:buSzPts val="1800"/>
              <a:buFont typeface="Arial"/>
              <a:buNone/>
            </a:pPr>
            <a:r>
              <a:t/>
            </a:r>
            <a:endParaRPr sz="1800">
              <a:latin typeface="Calibri"/>
              <a:ea typeface="Calibri"/>
              <a:cs typeface="Calibri"/>
              <a:sym typeface="Calibri"/>
            </a:endParaRPr>
          </a:p>
          <a:p>
            <a:pPr indent="0" lvl="0" marL="12700" rtl="0" algn="l">
              <a:lnSpc>
                <a:spcPct val="100000"/>
              </a:lnSpc>
              <a:spcBef>
                <a:spcPts val="240"/>
              </a:spcBef>
              <a:spcAft>
                <a:spcPts val="0"/>
              </a:spcAft>
              <a:buNone/>
            </a:pPr>
            <a:r>
              <a:rPr lang="en-US" sz="1800">
                <a:latin typeface="Calibri"/>
                <a:ea typeface="Calibri"/>
                <a:cs typeface="Calibri"/>
                <a:sym typeface="Calibri"/>
              </a:rPr>
              <a:t>setcookie(cookie_name, cookie_value,time()+(86400),”/”);</a:t>
            </a:r>
            <a:endParaRPr sz="1800">
              <a:latin typeface="Calibri"/>
              <a:ea typeface="Calibri"/>
              <a:cs typeface="Calibri"/>
              <a:sym typeface="Calibri"/>
            </a:endParaRPr>
          </a:p>
          <a:p>
            <a:pPr indent="0" lvl="0" marL="12700" rtl="0" algn="l">
              <a:lnSpc>
                <a:spcPct val="100000"/>
              </a:lnSpc>
              <a:spcBef>
                <a:spcPts val="240"/>
              </a:spcBef>
              <a:spcAft>
                <a:spcPts val="0"/>
              </a:spcAft>
              <a:buNone/>
            </a:pPr>
            <a:r>
              <a:rPr lang="en-US" sz="1800">
                <a:latin typeface="Calibri"/>
                <a:ea typeface="Calibri"/>
                <a:cs typeface="Calibri"/>
                <a:sym typeface="Calibri"/>
              </a:rPr>
              <a:t> // defining 4 parameters.</a:t>
            </a:r>
            <a:endParaRPr/>
          </a:p>
          <a:p>
            <a:pPr indent="0" lvl="0" marL="12700" rtl="0" algn="l">
              <a:lnSpc>
                <a:spcPct val="100000"/>
              </a:lnSpc>
              <a:spcBef>
                <a:spcPts val="240"/>
              </a:spcBef>
              <a:spcAft>
                <a:spcPts val="0"/>
              </a:spcAft>
              <a:buNone/>
            </a:pPr>
            <a:r>
              <a:t/>
            </a:r>
            <a:endParaRPr sz="1800"/>
          </a:p>
          <a:p>
            <a:pPr indent="0" lvl="0" marL="12700" rtl="0" algn="l">
              <a:lnSpc>
                <a:spcPct val="100000"/>
              </a:lnSpc>
              <a:spcBef>
                <a:spcPts val="240"/>
              </a:spcBef>
              <a:spcAft>
                <a:spcPts val="0"/>
              </a:spcAft>
              <a:buNone/>
            </a:pPr>
            <a:r>
              <a:rPr lang="en-US" sz="1800"/>
              <a:t>2) View cookie:</a:t>
            </a:r>
            <a:endParaRPr/>
          </a:p>
          <a:p>
            <a:pPr indent="0" lvl="0" marL="12700" rtl="0" algn="l">
              <a:lnSpc>
                <a:spcPct val="100000"/>
              </a:lnSpc>
              <a:spcBef>
                <a:spcPts val="240"/>
              </a:spcBef>
              <a:spcAft>
                <a:spcPts val="0"/>
              </a:spcAft>
              <a:buNone/>
            </a:pPr>
            <a:r>
              <a:rPr lang="en-US" sz="1800">
                <a:latin typeface="Calibri"/>
                <a:ea typeface="Calibri"/>
                <a:cs typeface="Calibri"/>
                <a:sym typeface="Calibri"/>
              </a:rPr>
              <a:t> $_COOKIE[name];</a:t>
            </a:r>
            <a:endParaRPr/>
          </a:p>
          <a:p>
            <a:pPr indent="0" lvl="0" marL="0" rtl="0" algn="l">
              <a:spcBef>
                <a:spcPts val="0"/>
              </a:spcBef>
              <a:spcAft>
                <a:spcPts val="0"/>
              </a:spcAft>
              <a:buNone/>
            </a:pPr>
            <a:r>
              <a:t/>
            </a:r>
            <a:endParaRPr/>
          </a:p>
        </p:txBody>
      </p:sp>
      <p:sp>
        <p:nvSpPr>
          <p:cNvPr id="971" name="Google Shape;971;p106"/>
          <p:cNvSpPr txBox="1"/>
          <p:nvPr/>
        </p:nvSpPr>
        <p:spPr>
          <a:xfrm>
            <a:off x="762000" y="4572000"/>
            <a:ext cx="4663440" cy="1946687"/>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n-US" sz="1800">
                <a:solidFill>
                  <a:srgbClr val="C00000"/>
                </a:solidFill>
                <a:latin typeface="Calibri"/>
                <a:ea typeface="Calibri"/>
                <a:cs typeface="Calibri"/>
                <a:sym typeface="Calibri"/>
              </a:rPr>
              <a:t>PHP $_COOKIE</a:t>
            </a:r>
            <a:endParaRPr sz="18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1800"/>
              <a:buFont typeface="Arial"/>
              <a:buChar char="•"/>
            </a:pPr>
            <a:r>
              <a:rPr lang="en-US" sz="1800">
                <a:solidFill>
                  <a:schemeClr val="dk1"/>
                </a:solidFill>
                <a:latin typeface="Calibri"/>
                <a:ea typeface="Calibri"/>
                <a:cs typeface="Calibri"/>
                <a:sym typeface="Calibri"/>
              </a:rPr>
              <a:t>PHP $_COOKIE superglobal variable is used to get cookie.</a:t>
            </a:r>
            <a:endParaRPr/>
          </a:p>
          <a:p>
            <a:pPr indent="-228600" lvl="0" marL="241300" marR="0" rtl="0" algn="l">
              <a:lnSpc>
                <a:spcPct val="100000"/>
              </a:lnSpc>
              <a:spcBef>
                <a:spcPts val="525"/>
              </a:spcBef>
              <a:spcAft>
                <a:spcPts val="0"/>
              </a:spcAft>
              <a:buClr>
                <a:srgbClr val="4F81BC"/>
              </a:buClr>
              <a:buSzPts val="1800"/>
              <a:buFont typeface="Arial"/>
              <a:buChar char="•"/>
            </a:pPr>
            <a:r>
              <a:rPr b="1" lang="en-US" sz="1800">
                <a:solidFill>
                  <a:schemeClr val="dk1"/>
                </a:solidFill>
                <a:latin typeface="Calibri"/>
                <a:ea typeface="Calibri"/>
                <a:cs typeface="Calibri"/>
                <a:sym typeface="Calibri"/>
              </a:rPr>
              <a:t>Example</a:t>
            </a:r>
            <a:endParaRPr sz="18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1800">
                <a:solidFill>
                  <a:schemeClr val="dk1"/>
                </a:solidFill>
                <a:latin typeface="Calibri"/>
                <a:ea typeface="Calibri"/>
                <a:cs typeface="Calibri"/>
                <a:sym typeface="Calibri"/>
              </a:rPr>
              <a:t>$value=$_COOKIE["CookieName"];//returns cookie value</a:t>
            </a:r>
            <a:endParaRPr sz="1800">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07"/>
          <p:cNvSpPr txBox="1"/>
          <p:nvPr>
            <p:ph type="title"/>
          </p:nvPr>
        </p:nvSpPr>
        <p:spPr>
          <a:xfrm>
            <a:off x="536244" y="547496"/>
            <a:ext cx="40868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Cookie (contd..)</a:t>
            </a:r>
            <a:endParaRPr sz="3600"/>
          </a:p>
        </p:txBody>
      </p:sp>
      <p:pic>
        <p:nvPicPr>
          <p:cNvPr id="977" name="Google Shape;977;p107"/>
          <p:cNvPicPr preferRelativeResize="0"/>
          <p:nvPr/>
        </p:nvPicPr>
        <p:blipFill rotWithShape="1">
          <a:blip r:embed="rId3">
            <a:alphaModFix/>
          </a:blip>
          <a:srcRect b="0" l="0" r="0" t="0"/>
          <a:stretch/>
        </p:blipFill>
        <p:spPr>
          <a:xfrm>
            <a:off x="914400" y="1295400"/>
            <a:ext cx="6737373" cy="373380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08"/>
          <p:cNvSpPr txBox="1"/>
          <p:nvPr>
            <p:ph type="title"/>
          </p:nvPr>
        </p:nvSpPr>
        <p:spPr>
          <a:xfrm>
            <a:off x="536244" y="547496"/>
            <a:ext cx="3319779"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Example: Cookie</a:t>
            </a:r>
            <a:endParaRPr sz="3600"/>
          </a:p>
        </p:txBody>
      </p:sp>
      <p:sp>
        <p:nvSpPr>
          <p:cNvPr id="983" name="Google Shape;983;p108"/>
          <p:cNvSpPr txBox="1"/>
          <p:nvPr>
            <p:ph idx="1" type="body"/>
          </p:nvPr>
        </p:nvSpPr>
        <p:spPr>
          <a:xfrm>
            <a:off x="652068" y="1567053"/>
            <a:ext cx="4885055" cy="379095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&lt;?php</a:t>
            </a:r>
            <a:endParaRPr/>
          </a:p>
          <a:p>
            <a:pPr indent="0" lvl="0" marL="12700" rtl="0" algn="l">
              <a:lnSpc>
                <a:spcPct val="100000"/>
              </a:lnSpc>
              <a:spcBef>
                <a:spcPts val="0"/>
              </a:spcBef>
              <a:spcAft>
                <a:spcPts val="0"/>
              </a:spcAft>
              <a:buNone/>
            </a:pPr>
            <a:r>
              <a:rPr lang="en-US"/>
              <a:t>setcookie("user", "Sonoo");</a:t>
            </a:r>
            <a:endParaRPr/>
          </a:p>
          <a:p>
            <a:pPr indent="0" lvl="0" marL="12700" rtl="0" algn="l">
              <a:lnSpc>
                <a:spcPct val="100000"/>
              </a:lnSpc>
              <a:spcBef>
                <a:spcPts val="5"/>
              </a:spcBef>
              <a:spcAft>
                <a:spcPts val="0"/>
              </a:spcAft>
              <a:buNone/>
            </a:pPr>
            <a:r>
              <a:rPr lang="en-US"/>
              <a:t>?&gt;</a:t>
            </a:r>
            <a:endParaRPr/>
          </a:p>
          <a:p>
            <a:pPr indent="0" lvl="0" marL="12700" rtl="0" algn="l">
              <a:lnSpc>
                <a:spcPct val="100000"/>
              </a:lnSpc>
              <a:spcBef>
                <a:spcPts val="0"/>
              </a:spcBef>
              <a:spcAft>
                <a:spcPts val="0"/>
              </a:spcAft>
              <a:buNone/>
            </a:pPr>
            <a:r>
              <a:rPr lang="en-US"/>
              <a:t>&lt;html&gt;</a:t>
            </a:r>
            <a:endParaRPr/>
          </a:p>
          <a:p>
            <a:pPr indent="0" lvl="0" marL="12700" rtl="0" algn="l">
              <a:lnSpc>
                <a:spcPct val="100000"/>
              </a:lnSpc>
              <a:spcBef>
                <a:spcPts val="0"/>
              </a:spcBef>
              <a:spcAft>
                <a:spcPts val="0"/>
              </a:spcAft>
              <a:buNone/>
            </a:pPr>
            <a:r>
              <a:rPr lang="en-US"/>
              <a:t>&lt;body&gt;</a:t>
            </a:r>
            <a:endParaRPr/>
          </a:p>
          <a:p>
            <a:pPr indent="0" lvl="0" marL="12700" rtl="0" algn="l">
              <a:lnSpc>
                <a:spcPct val="100000"/>
              </a:lnSpc>
              <a:spcBef>
                <a:spcPts val="0"/>
              </a:spcBef>
              <a:spcAft>
                <a:spcPts val="0"/>
              </a:spcAft>
              <a:buNone/>
            </a:pPr>
            <a:r>
              <a:rPr lang="en-US"/>
              <a:t>&lt;?php</a:t>
            </a:r>
            <a:endParaRPr/>
          </a:p>
          <a:p>
            <a:pPr indent="0" lvl="0" marL="12700" rtl="0" algn="l">
              <a:lnSpc>
                <a:spcPct val="100000"/>
              </a:lnSpc>
              <a:spcBef>
                <a:spcPts val="0"/>
              </a:spcBef>
              <a:spcAft>
                <a:spcPts val="0"/>
              </a:spcAft>
              <a:buNone/>
            </a:pPr>
            <a:r>
              <a:rPr b="1" lang="en-US">
                <a:latin typeface="Calibri"/>
                <a:ea typeface="Calibri"/>
                <a:cs typeface="Calibri"/>
                <a:sym typeface="Calibri"/>
              </a:rPr>
              <a:t>if</a:t>
            </a:r>
            <a:r>
              <a:rPr lang="en-US"/>
              <a:t>(!isset($_COOKIE["user"])) {</a:t>
            </a:r>
            <a:endParaRPr/>
          </a:p>
          <a:p>
            <a:pPr indent="0" lvl="0" marL="228600" rtl="0" algn="l">
              <a:lnSpc>
                <a:spcPct val="100000"/>
              </a:lnSpc>
              <a:spcBef>
                <a:spcPts val="0"/>
              </a:spcBef>
              <a:spcAft>
                <a:spcPts val="0"/>
              </a:spcAft>
              <a:buNone/>
            </a:pPr>
            <a:r>
              <a:rPr lang="en-US"/>
              <a:t>echo "Sorry, cookie is not found!";</a:t>
            </a:r>
            <a:endParaRPr/>
          </a:p>
          <a:p>
            <a:pPr indent="0" lvl="0" marL="12700" rtl="0" algn="l">
              <a:lnSpc>
                <a:spcPct val="100000"/>
              </a:lnSpc>
              <a:spcBef>
                <a:spcPts val="0"/>
              </a:spcBef>
              <a:spcAft>
                <a:spcPts val="0"/>
              </a:spcAft>
              <a:buNone/>
            </a:pPr>
            <a:r>
              <a:rPr lang="en-US"/>
              <a:t>}</a:t>
            </a:r>
            <a:endParaRPr/>
          </a:p>
          <a:p>
            <a:pPr indent="0" lvl="0" marL="12700" rtl="0" algn="l">
              <a:lnSpc>
                <a:spcPct val="100000"/>
              </a:lnSpc>
              <a:spcBef>
                <a:spcPts val="5"/>
              </a:spcBef>
              <a:spcAft>
                <a:spcPts val="0"/>
              </a:spcAft>
              <a:buNone/>
            </a:pPr>
            <a:r>
              <a:rPr b="1" lang="en-US">
                <a:latin typeface="Calibri"/>
                <a:ea typeface="Calibri"/>
                <a:cs typeface="Calibri"/>
                <a:sym typeface="Calibri"/>
              </a:rPr>
              <a:t>else</a:t>
            </a:r>
            <a:endParaRPr/>
          </a:p>
          <a:p>
            <a:pPr indent="0" lvl="0" marL="12700" rtl="0" algn="l">
              <a:lnSpc>
                <a:spcPct val="100000"/>
              </a:lnSpc>
              <a:spcBef>
                <a:spcPts val="0"/>
              </a:spcBef>
              <a:spcAft>
                <a:spcPts val="0"/>
              </a:spcAft>
              <a:buNone/>
            </a:pPr>
            <a:r>
              <a:rPr lang="en-US"/>
              <a:t>{</a:t>
            </a:r>
            <a:endParaRPr/>
          </a:p>
          <a:p>
            <a:pPr indent="0" lvl="0" marL="228600" rtl="0" algn="l">
              <a:lnSpc>
                <a:spcPct val="100000"/>
              </a:lnSpc>
              <a:spcBef>
                <a:spcPts val="0"/>
              </a:spcBef>
              <a:spcAft>
                <a:spcPts val="0"/>
              </a:spcAft>
              <a:buNone/>
            </a:pPr>
            <a:r>
              <a:rPr lang="en-US"/>
              <a:t>echo "&lt;br/&gt;Cookie Value: " . $_COOKIE["user"];</a:t>
            </a:r>
            <a:endParaRPr/>
          </a:p>
          <a:p>
            <a:pPr indent="0" lvl="0" marL="12700" rtl="0" algn="l">
              <a:lnSpc>
                <a:spcPct val="100000"/>
              </a:lnSpc>
              <a:spcBef>
                <a:spcPts val="0"/>
              </a:spcBef>
              <a:spcAft>
                <a:spcPts val="0"/>
              </a:spcAft>
              <a:buNone/>
            </a:pPr>
            <a:r>
              <a:rPr lang="en-US"/>
              <a:t>}</a:t>
            </a:r>
            <a:endParaRPr/>
          </a:p>
        </p:txBody>
      </p:sp>
      <p:sp>
        <p:nvSpPr>
          <p:cNvPr id="984" name="Google Shape;984;p108"/>
          <p:cNvSpPr txBox="1"/>
          <p:nvPr/>
        </p:nvSpPr>
        <p:spPr>
          <a:xfrm>
            <a:off x="652068" y="5332552"/>
            <a:ext cx="851535" cy="89471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?&gt;</a:t>
            </a:r>
            <a:endParaRPr sz="19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900">
                <a:solidFill>
                  <a:schemeClr val="dk1"/>
                </a:solidFill>
                <a:latin typeface="Calibri"/>
                <a:ea typeface="Calibri"/>
                <a:cs typeface="Calibri"/>
                <a:sym typeface="Calibri"/>
              </a:rPr>
              <a:t>&lt;/body&gt;</a:t>
            </a:r>
            <a:endParaRPr sz="19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900">
                <a:solidFill>
                  <a:schemeClr val="dk1"/>
                </a:solidFill>
                <a:latin typeface="Calibri"/>
                <a:ea typeface="Calibri"/>
                <a:cs typeface="Calibri"/>
                <a:sym typeface="Calibri"/>
              </a:rPr>
              <a:t>&lt;/html&gt;</a:t>
            </a:r>
            <a:endParaRPr sz="1900">
              <a:solidFill>
                <a:schemeClr val="dk1"/>
              </a:solidFill>
              <a:latin typeface="Calibri"/>
              <a:ea typeface="Calibri"/>
              <a:cs typeface="Calibri"/>
              <a:sym typeface="Calibri"/>
            </a:endParaRPr>
          </a:p>
        </p:txBody>
      </p:sp>
      <p:sp>
        <p:nvSpPr>
          <p:cNvPr id="985" name="Google Shape;985;p108"/>
          <p:cNvSpPr txBox="1"/>
          <p:nvPr/>
        </p:nvSpPr>
        <p:spPr>
          <a:xfrm>
            <a:off x="1987042" y="5321553"/>
            <a:ext cx="5945505" cy="13976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Sorry, cookie is not found!</a:t>
            </a:r>
            <a:endParaRPr sz="1800">
              <a:solidFill>
                <a:schemeClr val="dk1"/>
              </a:solidFill>
              <a:latin typeface="Calibri"/>
              <a:ea typeface="Calibri"/>
              <a:cs typeface="Calibri"/>
              <a:sym typeface="Calibri"/>
            </a:endParaRPr>
          </a:p>
          <a:p>
            <a:pPr indent="0" lvl="0" marL="12700" marR="5080" rtl="0" algn="l">
              <a:lnSpc>
                <a:spcPct val="100000"/>
              </a:lnSpc>
              <a:spcBef>
                <a:spcPts val="0"/>
              </a:spcBef>
              <a:spcAft>
                <a:spcPts val="0"/>
              </a:spcAft>
              <a:buNone/>
            </a:pPr>
            <a:r>
              <a:rPr lang="en-US" sz="1800">
                <a:solidFill>
                  <a:srgbClr val="FF0000"/>
                </a:solidFill>
                <a:latin typeface="Calibri"/>
                <a:ea typeface="Calibri"/>
                <a:cs typeface="Calibri"/>
                <a:sym typeface="Calibri"/>
              </a:rPr>
              <a:t>Firstly cookie is not set. But, if you </a:t>
            </a:r>
            <a:r>
              <a:rPr i="1" lang="en-US" sz="1800">
                <a:solidFill>
                  <a:srgbClr val="FF0000"/>
                </a:solidFill>
                <a:latin typeface="Calibri"/>
                <a:ea typeface="Calibri"/>
                <a:cs typeface="Calibri"/>
                <a:sym typeface="Calibri"/>
              </a:rPr>
              <a:t>refresh </a:t>
            </a:r>
            <a:r>
              <a:rPr lang="en-US" sz="1800">
                <a:solidFill>
                  <a:srgbClr val="FF0000"/>
                </a:solidFill>
                <a:latin typeface="Calibri"/>
                <a:ea typeface="Calibri"/>
                <a:cs typeface="Calibri"/>
                <a:sym typeface="Calibri"/>
              </a:rPr>
              <a:t>the page, you will see  cookie is set now.</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Cookie Value: Sonoo</a:t>
            </a:r>
            <a:endParaRPr sz="1800">
              <a:solidFill>
                <a:schemeClr val="dk1"/>
              </a:solidFill>
              <a:latin typeface="Calibri"/>
              <a:ea typeface="Calibri"/>
              <a:cs typeface="Calibri"/>
              <a:sym typeface="Calibri"/>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09"/>
          <p:cNvSpPr txBox="1"/>
          <p:nvPr/>
        </p:nvSpPr>
        <p:spPr>
          <a:xfrm>
            <a:off x="652068" y="1549603"/>
            <a:ext cx="7002780" cy="284353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Delete Cookie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If you set the expiration date in past, cookie will be deleted.</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setcookie ("CookieName", "", time() -3600);</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rgbClr val="00AF50"/>
                </a:solidFill>
                <a:latin typeface="Calibri"/>
                <a:ea typeface="Calibri"/>
                <a:cs typeface="Calibri"/>
                <a:sym typeface="Calibri"/>
              </a:rPr>
              <a:t>// set the expiration date to one hour ago</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991" name="Google Shape;991;p109"/>
          <p:cNvSpPr txBox="1"/>
          <p:nvPr>
            <p:ph type="title"/>
          </p:nvPr>
        </p:nvSpPr>
        <p:spPr>
          <a:xfrm>
            <a:off x="536244" y="547496"/>
            <a:ext cx="408686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Cookie (contd..)</a:t>
            </a:r>
            <a:endParaRPr sz="3600"/>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10"/>
          <p:cNvSpPr txBox="1"/>
          <p:nvPr>
            <p:ph type="title"/>
          </p:nvPr>
        </p:nvSpPr>
        <p:spPr>
          <a:xfrm>
            <a:off x="536244" y="547496"/>
            <a:ext cx="24745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Session</a:t>
            </a:r>
            <a:endParaRPr sz="3600"/>
          </a:p>
        </p:txBody>
      </p:sp>
      <p:sp>
        <p:nvSpPr>
          <p:cNvPr id="997" name="Google Shape;997;p110"/>
          <p:cNvSpPr txBox="1"/>
          <p:nvPr/>
        </p:nvSpPr>
        <p:spPr>
          <a:xfrm>
            <a:off x="518261" y="1500073"/>
            <a:ext cx="6954520" cy="3985260"/>
          </a:xfrm>
          <a:prstGeom prst="rect">
            <a:avLst/>
          </a:prstGeom>
          <a:noFill/>
          <a:ln>
            <a:noFill/>
          </a:ln>
        </p:spPr>
        <p:txBody>
          <a:bodyPr anchorCtr="0" anchor="t" bIns="0" lIns="0" spcFirstLastPara="1" rIns="0" wrap="square" tIns="13950">
            <a:spAutoFit/>
          </a:bodyPr>
          <a:lstStyle/>
          <a:p>
            <a:pPr indent="-228600" lvl="0" marL="241300" marR="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session is used to store and pass information from one</a:t>
            </a:r>
            <a:endParaRPr sz="2200">
              <a:solidFill>
                <a:schemeClr val="dk1"/>
              </a:solidFill>
              <a:latin typeface="Calibri"/>
              <a:ea typeface="Calibri"/>
              <a:cs typeface="Calibri"/>
              <a:sym typeface="Calibri"/>
            </a:endParaRPr>
          </a:p>
          <a:p>
            <a:pPr indent="0" lvl="0" marL="241300" marR="0" rtl="0" algn="l">
              <a:lnSpc>
                <a:spcPct val="100000"/>
              </a:lnSpc>
              <a:spcBef>
                <a:spcPts val="0"/>
              </a:spcBef>
              <a:spcAft>
                <a:spcPts val="0"/>
              </a:spcAft>
              <a:buNone/>
            </a:pPr>
            <a:r>
              <a:rPr lang="en-US" sz="2200">
                <a:solidFill>
                  <a:schemeClr val="dk1"/>
                </a:solidFill>
                <a:latin typeface="Calibri"/>
                <a:ea typeface="Calibri"/>
                <a:cs typeface="Calibri"/>
                <a:sym typeface="Calibri"/>
              </a:rPr>
              <a:t>page to another temporarily (until user close the website).</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3000">
              <a:solidFill>
                <a:schemeClr val="dk1"/>
              </a:solidFill>
              <a:latin typeface="Calibri"/>
              <a:ea typeface="Calibri"/>
              <a:cs typeface="Calibri"/>
              <a:sym typeface="Calibri"/>
            </a:endParaRPr>
          </a:p>
          <a:p>
            <a:pPr indent="-228600" lvl="0" marL="241300" marR="6731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session technique is widely used in shopping websites  where we need to store and pass cart information e.g.  username, product code, product name, product price etc  from one page to another.</a:t>
            </a:r>
            <a:endParaRPr sz="2200">
              <a:solidFill>
                <a:schemeClr val="dk1"/>
              </a:solidFill>
              <a:latin typeface="Calibri"/>
              <a:ea typeface="Calibri"/>
              <a:cs typeface="Calibri"/>
              <a:sym typeface="Calibri"/>
            </a:endParaRPr>
          </a:p>
          <a:p>
            <a:pPr indent="0" lvl="0" marL="0" marR="0" rtl="0" algn="l">
              <a:lnSpc>
                <a:spcPct val="100000"/>
              </a:lnSpc>
              <a:spcBef>
                <a:spcPts val="45"/>
              </a:spcBef>
              <a:spcAft>
                <a:spcPts val="0"/>
              </a:spcAft>
              <a:buClr>
                <a:srgbClr val="4F81BC"/>
              </a:buClr>
              <a:buSzPts val="3000"/>
              <a:buFont typeface="Arial"/>
              <a:buNone/>
            </a:pPr>
            <a:r>
              <a:t/>
            </a:r>
            <a:endParaRPr sz="3000">
              <a:solidFill>
                <a:schemeClr val="dk1"/>
              </a:solidFill>
              <a:latin typeface="Calibri"/>
              <a:ea typeface="Calibri"/>
              <a:cs typeface="Calibri"/>
              <a:sym typeface="Calibri"/>
            </a:endParaRPr>
          </a:p>
          <a:p>
            <a:pPr indent="-228600" lvl="0" marL="241300" marR="494030" rtl="0" algn="just">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session creates unique user id for each browser to  recognize the user and avoid conflict between multiple  browsers.</a:t>
            </a:r>
            <a:endParaRPr sz="2200">
              <a:solidFill>
                <a:schemeClr val="dk1"/>
              </a:solidFill>
              <a:latin typeface="Calibri"/>
              <a:ea typeface="Calibri"/>
              <a:cs typeface="Calibri"/>
              <a:sym typeface="Calibri"/>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11"/>
          <p:cNvSpPr txBox="1"/>
          <p:nvPr>
            <p:ph type="title"/>
          </p:nvPr>
        </p:nvSpPr>
        <p:spPr>
          <a:xfrm>
            <a:off x="536244" y="547496"/>
            <a:ext cx="24745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Session</a:t>
            </a:r>
            <a:endParaRPr sz="3600"/>
          </a:p>
        </p:txBody>
      </p:sp>
      <p:pic>
        <p:nvPicPr>
          <p:cNvPr id="1003" name="Google Shape;1003;p111"/>
          <p:cNvPicPr preferRelativeResize="0"/>
          <p:nvPr/>
        </p:nvPicPr>
        <p:blipFill rotWithShape="1">
          <a:blip r:embed="rId3">
            <a:alphaModFix/>
          </a:blip>
          <a:srcRect b="0" l="0" r="0" t="0"/>
          <a:stretch/>
        </p:blipFill>
        <p:spPr>
          <a:xfrm>
            <a:off x="679843" y="1990344"/>
            <a:ext cx="7132180" cy="3959352"/>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112"/>
          <p:cNvSpPr txBox="1"/>
          <p:nvPr>
            <p:ph type="title"/>
          </p:nvPr>
        </p:nvSpPr>
        <p:spPr>
          <a:xfrm>
            <a:off x="536244" y="547496"/>
            <a:ext cx="24745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Session</a:t>
            </a:r>
            <a:endParaRPr sz="3600"/>
          </a:p>
        </p:txBody>
      </p:sp>
      <p:sp>
        <p:nvSpPr>
          <p:cNvPr id="1009" name="Google Shape;1009;p112"/>
          <p:cNvSpPr txBox="1"/>
          <p:nvPr/>
        </p:nvSpPr>
        <p:spPr>
          <a:xfrm>
            <a:off x="652068" y="1549603"/>
            <a:ext cx="7219315" cy="3447415"/>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session_start() function</a:t>
            </a:r>
            <a:endParaRPr sz="2200">
              <a:solidFill>
                <a:schemeClr val="dk1"/>
              </a:solidFill>
              <a:latin typeface="Calibri"/>
              <a:ea typeface="Calibri"/>
              <a:cs typeface="Calibri"/>
              <a:sym typeface="Calibri"/>
            </a:endParaRPr>
          </a:p>
          <a:p>
            <a:pPr indent="-228600" lvl="0" marL="240665"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session_start() function is used to start the session. It  starts a new or resumes existing session. It returns existing  session if session is created already. If session is not available,  it creates and returns new session.</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bool session_start ( void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session_start();</a:t>
            </a:r>
            <a:endParaRPr sz="2200">
              <a:solidFill>
                <a:schemeClr val="dk1"/>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113"/>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15" name="Google Shape;1015;p113"/>
          <p:cNvPicPr preferRelativeResize="0"/>
          <p:nvPr/>
        </p:nvPicPr>
        <p:blipFill rotWithShape="1">
          <a:blip r:embed="rId3">
            <a:alphaModFix/>
          </a:blip>
          <a:srcRect b="0" l="0" r="0" t="0"/>
          <a:stretch/>
        </p:blipFill>
        <p:spPr>
          <a:xfrm>
            <a:off x="652068" y="1862328"/>
            <a:ext cx="7048500" cy="320040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14"/>
          <p:cNvSpPr txBox="1"/>
          <p:nvPr/>
        </p:nvSpPr>
        <p:spPr>
          <a:xfrm>
            <a:off x="652068" y="1549603"/>
            <a:ext cx="7288530" cy="277622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$_SESSION</a:t>
            </a:r>
            <a:endParaRPr sz="2200">
              <a:solidFill>
                <a:schemeClr val="dk1"/>
              </a:solidFill>
              <a:latin typeface="Calibri"/>
              <a:ea typeface="Calibri"/>
              <a:cs typeface="Calibri"/>
              <a:sym typeface="Calibri"/>
            </a:endParaRPr>
          </a:p>
          <a:p>
            <a:pPr indent="-228600" lvl="0" marL="240665"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$_SESSION is an associative array that contains all session  variables. It is used to set and get session variable values.</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 Store information</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$_SESSION["user"] = "Sachin";</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 Get information</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$_SESSION["user"];</a:t>
            </a:r>
            <a:endParaRPr sz="2200">
              <a:solidFill>
                <a:schemeClr val="dk1"/>
              </a:solidFill>
              <a:latin typeface="Calibri"/>
              <a:ea typeface="Calibri"/>
              <a:cs typeface="Calibri"/>
              <a:sym typeface="Calibri"/>
            </a:endParaRPr>
          </a:p>
        </p:txBody>
      </p:sp>
      <p:sp>
        <p:nvSpPr>
          <p:cNvPr id="1021" name="Google Shape;1021;p114"/>
          <p:cNvSpPr txBox="1"/>
          <p:nvPr>
            <p:ph type="title"/>
          </p:nvPr>
        </p:nvSpPr>
        <p:spPr>
          <a:xfrm>
            <a:off x="536244" y="547496"/>
            <a:ext cx="24745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Session</a:t>
            </a:r>
            <a:endParaRPr sz="3600"/>
          </a:p>
        </p:txBody>
      </p:sp>
      <p:pic>
        <p:nvPicPr>
          <p:cNvPr id="1022" name="Google Shape;1022;p114"/>
          <p:cNvPicPr preferRelativeResize="0"/>
          <p:nvPr/>
        </p:nvPicPr>
        <p:blipFill rotWithShape="1">
          <a:blip r:embed="rId3">
            <a:alphaModFix/>
          </a:blip>
          <a:srcRect b="0" l="0" r="0" t="0"/>
          <a:stretch/>
        </p:blipFill>
        <p:spPr>
          <a:xfrm>
            <a:off x="5257799" y="3733800"/>
            <a:ext cx="2753649" cy="277622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15"/>
          <p:cNvSpPr txBox="1"/>
          <p:nvPr>
            <p:ph type="title"/>
          </p:nvPr>
        </p:nvSpPr>
        <p:spPr>
          <a:xfrm>
            <a:off x="536252" y="547500"/>
            <a:ext cx="57276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Example: PHP Session</a:t>
            </a:r>
            <a:endParaRPr sz="3600"/>
          </a:p>
        </p:txBody>
      </p:sp>
      <p:sp>
        <p:nvSpPr>
          <p:cNvPr id="1028" name="Google Shape;1028;p115"/>
          <p:cNvSpPr txBox="1"/>
          <p:nvPr/>
        </p:nvSpPr>
        <p:spPr>
          <a:xfrm>
            <a:off x="374091" y="1173123"/>
            <a:ext cx="4582795" cy="4983480"/>
          </a:xfrm>
          <a:prstGeom prst="rect">
            <a:avLst/>
          </a:prstGeom>
          <a:noFill/>
          <a:ln cap="flat" cmpd="sng" w="9525">
            <a:solidFill>
              <a:srgbClr val="B7CCE4"/>
            </a:solidFill>
            <a:prstDash val="solid"/>
            <a:round/>
            <a:headEnd len="sm" w="sm" type="none"/>
            <a:tailEnd len="sm" w="sm" type="none"/>
          </a:ln>
        </p:spPr>
        <p:txBody>
          <a:bodyPr anchorCtr="0" anchor="t" bIns="0" lIns="0" spcFirstLastPara="1" rIns="0" wrap="square" tIns="79375">
            <a:spAutoFit/>
          </a:bodyPr>
          <a:lstStyle/>
          <a:p>
            <a:pPr indent="0" lvl="0" marL="112395" marR="0" rtl="0" algn="l">
              <a:lnSpc>
                <a:spcPct val="100000"/>
              </a:lnSpc>
              <a:spcBef>
                <a:spcPts val="0"/>
              </a:spcBef>
              <a:spcAft>
                <a:spcPts val="0"/>
              </a:spcAft>
              <a:buNone/>
            </a:pPr>
            <a:r>
              <a:rPr b="1" lang="en-US" sz="1800">
                <a:solidFill>
                  <a:srgbClr val="C00000"/>
                </a:solidFill>
                <a:latin typeface="Calibri"/>
                <a:ea typeface="Calibri"/>
                <a:cs typeface="Calibri"/>
                <a:sym typeface="Calibri"/>
              </a:rPr>
              <a:t>Session1.php</a:t>
            </a:r>
            <a:endParaRPr sz="1800">
              <a:solidFill>
                <a:schemeClr val="dk1"/>
              </a:solidFill>
              <a:latin typeface="Calibri"/>
              <a:ea typeface="Calibri"/>
              <a:cs typeface="Calibri"/>
              <a:sym typeface="Calibri"/>
            </a:endParaRPr>
          </a:p>
          <a:p>
            <a:pPr indent="0" lvl="0" marL="12700" marR="0" rtl="0" algn="l">
              <a:lnSpc>
                <a:spcPct val="100000"/>
              </a:lnSpc>
              <a:spcBef>
                <a:spcPts val="575"/>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session_start();</a:t>
            </a:r>
            <a:endParaRPr sz="2000">
              <a:solidFill>
                <a:schemeClr val="dk1"/>
              </a:solidFill>
              <a:latin typeface="Calibri"/>
              <a:ea typeface="Calibri"/>
              <a:cs typeface="Calibri"/>
              <a:sym typeface="Calibri"/>
            </a:endParaRPr>
          </a:p>
          <a:p>
            <a:pPr indent="0" lvl="0" marL="12700" marR="0" rtl="0" algn="l">
              <a:lnSpc>
                <a:spcPct val="100000"/>
              </a:lnSpc>
              <a:spcBef>
                <a:spcPts val="244"/>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$_SESSION["user"] = "Sachin";</a:t>
            </a:r>
            <a:endParaRPr sz="2000">
              <a:solidFill>
                <a:schemeClr val="dk1"/>
              </a:solidFill>
              <a:latin typeface="Calibri"/>
              <a:ea typeface="Calibri"/>
              <a:cs typeface="Calibri"/>
              <a:sym typeface="Calibri"/>
            </a:endParaRPr>
          </a:p>
          <a:p>
            <a:pPr indent="0" lvl="0" marL="12700" marR="0" rtl="0" algn="l">
              <a:lnSpc>
                <a:spcPct val="114000"/>
              </a:lnSpc>
              <a:spcBef>
                <a:spcPts val="240"/>
              </a:spcBef>
              <a:spcAft>
                <a:spcPts val="0"/>
              </a:spcAft>
              <a:buNone/>
            </a:pPr>
            <a:r>
              <a:rPr lang="en-US" sz="2000">
                <a:solidFill>
                  <a:schemeClr val="dk1"/>
                </a:solidFill>
                <a:latin typeface="Calibri"/>
                <a:ea typeface="Calibri"/>
                <a:cs typeface="Calibri"/>
                <a:sym typeface="Calibri"/>
              </a:rPr>
              <a:t>echo "Session information are set successful</a:t>
            </a:r>
            <a:endParaRPr sz="2000">
              <a:solidFill>
                <a:schemeClr val="dk1"/>
              </a:solidFill>
              <a:latin typeface="Calibri"/>
              <a:ea typeface="Calibri"/>
              <a:cs typeface="Calibri"/>
              <a:sym typeface="Calibri"/>
            </a:endParaRPr>
          </a:p>
          <a:p>
            <a:pPr indent="0" lvl="0" marL="12700" marR="0" rtl="0" algn="l">
              <a:lnSpc>
                <a:spcPct val="114000"/>
              </a:lnSpc>
              <a:spcBef>
                <a:spcPts val="0"/>
              </a:spcBef>
              <a:spcAft>
                <a:spcPts val="0"/>
              </a:spcAft>
              <a:buNone/>
            </a:pPr>
            <a:r>
              <a:rPr lang="en-US" sz="2000">
                <a:solidFill>
                  <a:schemeClr val="dk1"/>
                </a:solidFill>
                <a:latin typeface="Calibri"/>
                <a:ea typeface="Calibri"/>
                <a:cs typeface="Calibri"/>
                <a:sym typeface="Calibri"/>
              </a:rPr>
              <a:t>ly.&lt;br/&gt;";</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12700" marR="0" rtl="0" algn="l">
              <a:lnSpc>
                <a:spcPct val="100000"/>
              </a:lnSpc>
              <a:spcBef>
                <a:spcPts val="245"/>
              </a:spcBef>
              <a:spcAft>
                <a:spcPts val="0"/>
              </a:spcAft>
              <a:buNone/>
            </a:pPr>
            <a:r>
              <a:rPr lang="en-US" sz="2000">
                <a:solidFill>
                  <a:schemeClr val="dk1"/>
                </a:solidFill>
                <a:latin typeface="Calibri"/>
                <a:ea typeface="Calibri"/>
                <a:cs typeface="Calibri"/>
                <a:sym typeface="Calibri"/>
              </a:rPr>
              <a:t>&lt;a href="session2.php"&gt;Visit next page&lt;/a&gt;</a:t>
            </a:r>
            <a:endParaRPr sz="2000">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sz="195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&lt;/body&gt;</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&lt;/html&gt;</a:t>
            </a:r>
            <a:endParaRPr sz="2000">
              <a:solidFill>
                <a:schemeClr val="dk1"/>
              </a:solidFill>
              <a:latin typeface="Calibri"/>
              <a:ea typeface="Calibri"/>
              <a:cs typeface="Calibri"/>
              <a:sym typeface="Calibri"/>
            </a:endParaRPr>
          </a:p>
        </p:txBody>
      </p:sp>
      <p:sp>
        <p:nvSpPr>
          <p:cNvPr id="1029" name="Google Shape;1029;p115"/>
          <p:cNvSpPr txBox="1"/>
          <p:nvPr/>
        </p:nvSpPr>
        <p:spPr>
          <a:xfrm>
            <a:off x="5029200" y="1240028"/>
            <a:ext cx="3300095" cy="3249295"/>
          </a:xfrm>
          <a:prstGeom prst="rect">
            <a:avLst/>
          </a:prstGeom>
          <a:noFill/>
          <a:ln cap="flat" cmpd="sng" w="9525">
            <a:solidFill>
              <a:srgbClr val="DAE5F1"/>
            </a:solidFill>
            <a:prstDash val="solid"/>
            <a:round/>
            <a:headEnd len="sm" w="sm" type="none"/>
            <a:tailEnd len="sm" w="sm" type="none"/>
          </a:ln>
        </p:spPr>
        <p:txBody>
          <a:bodyPr anchorCtr="0" anchor="t" bIns="0" lIns="0" spcFirstLastPara="1" rIns="0" wrap="square" tIns="12700">
            <a:spAutoFit/>
          </a:bodyPr>
          <a:lstStyle/>
          <a:p>
            <a:pPr indent="0" lvl="0" marL="337185" marR="0" rtl="0" algn="l">
              <a:lnSpc>
                <a:spcPct val="100000"/>
              </a:lnSpc>
              <a:spcBef>
                <a:spcPts val="0"/>
              </a:spcBef>
              <a:spcAft>
                <a:spcPts val="0"/>
              </a:spcAft>
              <a:buNone/>
            </a:pPr>
            <a:r>
              <a:rPr b="1" lang="en-US" sz="1800">
                <a:solidFill>
                  <a:srgbClr val="C00000"/>
                </a:solidFill>
                <a:latin typeface="Calibri"/>
                <a:ea typeface="Calibri"/>
                <a:cs typeface="Calibri"/>
                <a:sym typeface="Calibri"/>
              </a:rPr>
              <a:t>Session2.php</a:t>
            </a:r>
            <a:endParaRPr sz="1800">
              <a:solidFill>
                <a:schemeClr val="dk1"/>
              </a:solidFill>
              <a:latin typeface="Calibri"/>
              <a:ea typeface="Calibri"/>
              <a:cs typeface="Calibri"/>
              <a:sym typeface="Calibri"/>
            </a:endParaRPr>
          </a:p>
          <a:p>
            <a:pPr indent="0" lvl="0" marL="12700" marR="0" rtl="0" algn="l">
              <a:lnSpc>
                <a:spcPct val="100000"/>
              </a:lnSpc>
              <a:spcBef>
                <a:spcPts val="1615"/>
              </a:spcBef>
              <a:spcAft>
                <a:spcPts val="0"/>
              </a:spcAft>
              <a:buNone/>
            </a:pPr>
            <a:r>
              <a:rPr lang="en-US" sz="1800">
                <a:solidFill>
                  <a:schemeClr val="dk1"/>
                </a:solidFill>
                <a:latin typeface="Calibri"/>
                <a:ea typeface="Calibri"/>
                <a:cs typeface="Calibri"/>
                <a:sym typeface="Calibri"/>
              </a:rPr>
              <a:t>&lt;?php</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session_start();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?&gt;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&lt;body&gt;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&lt;?php</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echo "User is: ".$_SESSION["user"];</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?&gt;</a:t>
            </a:r>
            <a:endParaRPr sz="18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1800">
                <a:solidFill>
                  <a:schemeClr val="dk1"/>
                </a:solidFill>
                <a:latin typeface="Calibri"/>
                <a:ea typeface="Calibri"/>
                <a:cs typeface="Calibri"/>
                <a:sym typeface="Calibri"/>
              </a:rPr>
              <a:t>&lt;/body&gt;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16"/>
          <p:cNvSpPr txBox="1"/>
          <p:nvPr>
            <p:ph type="title"/>
          </p:nvPr>
        </p:nvSpPr>
        <p:spPr>
          <a:xfrm>
            <a:off x="536244" y="547496"/>
            <a:ext cx="596773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Session Counter Example</a:t>
            </a:r>
            <a:endParaRPr sz="3600"/>
          </a:p>
        </p:txBody>
      </p:sp>
      <p:sp>
        <p:nvSpPr>
          <p:cNvPr id="1035" name="Google Shape;1035;p116"/>
          <p:cNvSpPr txBox="1"/>
          <p:nvPr/>
        </p:nvSpPr>
        <p:spPr>
          <a:xfrm>
            <a:off x="652068" y="1549603"/>
            <a:ext cx="5194300" cy="4051300"/>
          </a:xfrm>
          <a:prstGeom prst="rect">
            <a:avLst/>
          </a:prstGeom>
          <a:noFill/>
          <a:ln>
            <a:noFill/>
          </a:ln>
        </p:spPr>
        <p:txBody>
          <a:bodyPr anchorCtr="0" anchor="t" bIns="0" lIns="0" spcFirstLastPara="1" rIns="0" wrap="square" tIns="12050">
            <a:spAutoFit/>
          </a:bodyPr>
          <a:lstStyle/>
          <a:p>
            <a:pPr indent="-192405" lvl="0" marL="204470" marR="3244850" rtl="0" algn="l">
              <a:lnSpc>
                <a:spcPct val="120100"/>
              </a:lnSpc>
              <a:spcBef>
                <a:spcPts val="0"/>
              </a:spcBef>
              <a:spcAft>
                <a:spcPts val="0"/>
              </a:spcAft>
              <a:buNone/>
            </a:pPr>
            <a:r>
              <a:rPr lang="en-US" sz="2200">
                <a:solidFill>
                  <a:schemeClr val="dk1"/>
                </a:solidFill>
                <a:latin typeface="Calibri"/>
                <a:ea typeface="Calibri"/>
                <a:cs typeface="Calibri"/>
                <a:sym typeface="Calibri"/>
              </a:rPr>
              <a:t>&lt;?php  session_start();</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3000">
              <a:solidFill>
                <a:schemeClr val="dk1"/>
              </a:solidFill>
              <a:latin typeface="Calibri"/>
              <a:ea typeface="Calibri"/>
              <a:cs typeface="Calibri"/>
              <a:sym typeface="Calibri"/>
            </a:endParaRPr>
          </a:p>
          <a:p>
            <a:pPr indent="0" lvl="0" marL="204470" marR="0" rtl="0" algn="l">
              <a:lnSpc>
                <a:spcPct val="100000"/>
              </a:lnSpc>
              <a:spcBef>
                <a:spcPts val="5"/>
              </a:spcBef>
              <a:spcAft>
                <a:spcPts val="0"/>
              </a:spcAft>
              <a:buNone/>
            </a:pPr>
            <a:r>
              <a:rPr b="1" lang="en-US" sz="2200">
                <a:solidFill>
                  <a:schemeClr val="dk1"/>
                </a:solidFill>
                <a:latin typeface="Calibri"/>
                <a:ea typeface="Calibri"/>
                <a:cs typeface="Calibri"/>
                <a:sym typeface="Calibri"/>
              </a:rPr>
              <a:t>if </a:t>
            </a:r>
            <a:r>
              <a:rPr lang="en-US" sz="2200">
                <a:solidFill>
                  <a:schemeClr val="dk1"/>
                </a:solidFill>
                <a:latin typeface="Calibri"/>
                <a:ea typeface="Calibri"/>
                <a:cs typeface="Calibri"/>
                <a:sym typeface="Calibri"/>
              </a:rPr>
              <a:t>(!isset($_SESSION['counter'])) {</a:t>
            </a:r>
            <a:endParaRPr sz="2200">
              <a:solidFill>
                <a:schemeClr val="dk1"/>
              </a:solidFill>
              <a:latin typeface="Calibri"/>
              <a:ea typeface="Calibri"/>
              <a:cs typeface="Calibri"/>
              <a:sym typeface="Calibri"/>
            </a:endParaRPr>
          </a:p>
          <a:p>
            <a:pPr indent="0" lvl="0" marL="393065" marR="0" rtl="0" algn="l">
              <a:lnSpc>
                <a:spcPct val="100000"/>
              </a:lnSpc>
              <a:spcBef>
                <a:spcPts val="525"/>
              </a:spcBef>
              <a:spcAft>
                <a:spcPts val="0"/>
              </a:spcAft>
              <a:buNone/>
            </a:pPr>
            <a:r>
              <a:rPr lang="en-US" sz="2200">
                <a:solidFill>
                  <a:schemeClr val="dk1"/>
                </a:solidFill>
                <a:latin typeface="Calibri"/>
                <a:ea typeface="Calibri"/>
                <a:cs typeface="Calibri"/>
                <a:sym typeface="Calibri"/>
              </a:rPr>
              <a:t>$_SESSION['counter'] = 1;</a:t>
            </a:r>
            <a:endParaRPr sz="2200">
              <a:solidFill>
                <a:schemeClr val="dk1"/>
              </a:solidFill>
              <a:latin typeface="Calibri"/>
              <a:ea typeface="Calibri"/>
              <a:cs typeface="Calibri"/>
              <a:sym typeface="Calibri"/>
            </a:endParaRPr>
          </a:p>
          <a:p>
            <a:pPr indent="0" lvl="0" marL="204470" marR="0" rtl="0" algn="l">
              <a:lnSpc>
                <a:spcPct val="100000"/>
              </a:lnSpc>
              <a:spcBef>
                <a:spcPts val="530"/>
              </a:spcBef>
              <a:spcAft>
                <a:spcPts val="0"/>
              </a:spcAft>
              <a:buNone/>
            </a:pPr>
            <a:r>
              <a:rPr lang="en-US" sz="2200">
                <a:solidFill>
                  <a:schemeClr val="dk1"/>
                </a:solidFill>
                <a:latin typeface="Calibri"/>
                <a:ea typeface="Calibri"/>
                <a:cs typeface="Calibri"/>
                <a:sym typeface="Calibri"/>
              </a:rPr>
              <a:t>} </a:t>
            </a:r>
            <a:r>
              <a:rPr b="1" lang="en-US" sz="2200">
                <a:solidFill>
                  <a:schemeClr val="dk1"/>
                </a:solidFill>
                <a:latin typeface="Calibri"/>
                <a:ea typeface="Calibri"/>
                <a:cs typeface="Calibri"/>
                <a:sym typeface="Calibri"/>
              </a:rPr>
              <a:t>else </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393065" marR="0" rtl="0" algn="l">
              <a:lnSpc>
                <a:spcPct val="100000"/>
              </a:lnSpc>
              <a:spcBef>
                <a:spcPts val="530"/>
              </a:spcBef>
              <a:spcAft>
                <a:spcPts val="0"/>
              </a:spcAft>
              <a:buNone/>
            </a:pPr>
            <a:r>
              <a:rPr lang="en-US" sz="2200">
                <a:solidFill>
                  <a:schemeClr val="dk1"/>
                </a:solidFill>
                <a:latin typeface="Calibri"/>
                <a:ea typeface="Calibri"/>
                <a:cs typeface="Calibri"/>
                <a:sym typeface="Calibri"/>
              </a:rPr>
              <a:t>$_SESSION['counter']++;</a:t>
            </a:r>
            <a:endParaRPr sz="2200">
              <a:solidFill>
                <a:schemeClr val="dk1"/>
              </a:solidFill>
              <a:latin typeface="Calibri"/>
              <a:ea typeface="Calibri"/>
              <a:cs typeface="Calibri"/>
              <a:sym typeface="Calibri"/>
            </a:endParaRPr>
          </a:p>
          <a:p>
            <a:pPr indent="0" lvl="0" marL="204470" marR="0" rtl="0" algn="l">
              <a:lnSpc>
                <a:spcPct val="100000"/>
              </a:lnSpc>
              <a:spcBef>
                <a:spcPts val="530"/>
              </a:spcBef>
              <a:spcAft>
                <a:spcPts val="0"/>
              </a:spcAft>
              <a:buNone/>
            </a:pP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204470" marR="0" rtl="0" algn="l">
              <a:lnSpc>
                <a:spcPct val="100000"/>
              </a:lnSpc>
              <a:spcBef>
                <a:spcPts val="530"/>
              </a:spcBef>
              <a:spcAft>
                <a:spcPts val="0"/>
              </a:spcAft>
              <a:buNone/>
            </a:pPr>
            <a:r>
              <a:rPr lang="en-US" sz="2200">
                <a:solidFill>
                  <a:schemeClr val="dk1"/>
                </a:solidFill>
                <a:latin typeface="Calibri"/>
                <a:ea typeface="Calibri"/>
                <a:cs typeface="Calibri"/>
                <a:sym typeface="Calibri"/>
              </a:rPr>
              <a:t>echo ("Page Views: ".$_SESSION['counter']);</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17"/>
          <p:cNvSpPr txBox="1"/>
          <p:nvPr>
            <p:ph type="title"/>
          </p:nvPr>
        </p:nvSpPr>
        <p:spPr>
          <a:xfrm>
            <a:off x="536244" y="547496"/>
            <a:ext cx="24745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Session</a:t>
            </a:r>
            <a:endParaRPr sz="3600"/>
          </a:p>
        </p:txBody>
      </p:sp>
      <p:sp>
        <p:nvSpPr>
          <p:cNvPr id="1041" name="Google Shape;1041;p117"/>
          <p:cNvSpPr txBox="1"/>
          <p:nvPr/>
        </p:nvSpPr>
        <p:spPr>
          <a:xfrm>
            <a:off x="652068" y="1549603"/>
            <a:ext cx="7052309" cy="317881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Destroying Session</a:t>
            </a:r>
            <a:endParaRPr sz="2200">
              <a:solidFill>
                <a:schemeClr val="dk1"/>
              </a:solidFill>
              <a:latin typeface="Calibri"/>
              <a:ea typeface="Calibri"/>
              <a:cs typeface="Calibri"/>
              <a:sym typeface="Calibri"/>
            </a:endParaRPr>
          </a:p>
          <a:p>
            <a:pPr indent="-228600" lvl="0" marL="240665" marR="508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session_destroy() function is used to destroy all session  variables completely.</a:t>
            </a:r>
            <a:endParaRPr sz="2200">
              <a:solidFill>
                <a:schemeClr val="dk1"/>
              </a:solidFill>
              <a:latin typeface="Calibri"/>
              <a:ea typeface="Calibri"/>
              <a:cs typeface="Calibri"/>
              <a:sym typeface="Calibri"/>
            </a:endParaRPr>
          </a:p>
          <a:p>
            <a:pPr indent="0" lvl="0" marL="0" marR="0" rtl="0" algn="l">
              <a:lnSpc>
                <a:spcPct val="100000"/>
              </a:lnSpc>
              <a:spcBef>
                <a:spcPts val="55"/>
              </a:spcBef>
              <a:spcAft>
                <a:spcPts val="0"/>
              </a:spcAft>
              <a:buNone/>
            </a:pPr>
            <a:r>
              <a:t/>
            </a:r>
            <a:endParaRPr sz="2550">
              <a:solidFill>
                <a:schemeClr val="dk1"/>
              </a:solidFill>
              <a:latin typeface="Calibri"/>
              <a:ea typeface="Calibri"/>
              <a:cs typeface="Calibri"/>
              <a:sym typeface="Calibri"/>
            </a:endParaRPr>
          </a:p>
          <a:p>
            <a:pPr indent="0" lvl="0" marL="12700" marR="4962525" rtl="0" algn="l">
              <a:lnSpc>
                <a:spcPct val="120000"/>
              </a:lnSpc>
              <a:spcBef>
                <a:spcPts val="0"/>
              </a:spcBef>
              <a:spcAft>
                <a:spcPts val="0"/>
              </a:spcAft>
              <a:buNone/>
            </a:pPr>
            <a:r>
              <a:rPr lang="en-US" sz="2200">
                <a:solidFill>
                  <a:schemeClr val="dk1"/>
                </a:solidFill>
                <a:latin typeface="Calibri"/>
                <a:ea typeface="Calibri"/>
                <a:cs typeface="Calibri"/>
                <a:sym typeface="Calibri"/>
              </a:rPr>
              <a:t>&lt;?php  session_start();  session_destroy();</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118"/>
          <p:cNvSpPr txBox="1"/>
          <p:nvPr>
            <p:ph type="title"/>
          </p:nvPr>
        </p:nvSpPr>
        <p:spPr>
          <a:xfrm>
            <a:off x="152400" y="228600"/>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$_File Variable</a:t>
            </a:r>
            <a:endParaRPr/>
          </a:p>
        </p:txBody>
      </p:sp>
      <p:sp>
        <p:nvSpPr>
          <p:cNvPr id="1047" name="Google Shape;1047;p118"/>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48" name="Google Shape;1048;p118"/>
          <p:cNvPicPr preferRelativeResize="0"/>
          <p:nvPr/>
        </p:nvPicPr>
        <p:blipFill rotWithShape="1">
          <a:blip r:embed="rId3">
            <a:alphaModFix/>
          </a:blip>
          <a:srcRect b="0" l="0" r="0" t="0"/>
          <a:stretch/>
        </p:blipFill>
        <p:spPr>
          <a:xfrm>
            <a:off x="685800" y="1447800"/>
            <a:ext cx="5915025" cy="41338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19"/>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54" name="Google Shape;1054;p119"/>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55" name="Google Shape;1055;p119"/>
          <p:cNvPicPr preferRelativeResize="0"/>
          <p:nvPr/>
        </p:nvPicPr>
        <p:blipFill rotWithShape="1">
          <a:blip r:embed="rId3">
            <a:alphaModFix/>
          </a:blip>
          <a:srcRect b="0" l="0" r="0" t="0"/>
          <a:stretch/>
        </p:blipFill>
        <p:spPr>
          <a:xfrm>
            <a:off x="1381125" y="1857375"/>
            <a:ext cx="6381750" cy="31432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120"/>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example</a:t>
            </a:r>
            <a:endParaRPr/>
          </a:p>
        </p:txBody>
      </p:sp>
      <p:sp>
        <p:nvSpPr>
          <p:cNvPr id="1061" name="Google Shape;1061;p120"/>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62" name="Google Shape;1062;p120"/>
          <p:cNvPicPr preferRelativeResize="0"/>
          <p:nvPr/>
        </p:nvPicPr>
        <p:blipFill rotWithShape="1">
          <a:blip r:embed="rId3">
            <a:alphaModFix/>
          </a:blip>
          <a:srcRect b="0" l="0" r="0" t="0"/>
          <a:stretch/>
        </p:blipFill>
        <p:spPr>
          <a:xfrm>
            <a:off x="457200" y="990600"/>
            <a:ext cx="7696200" cy="47244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21"/>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68" name="Google Shape;1068;p121"/>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69" name="Google Shape;1069;p121"/>
          <p:cNvPicPr preferRelativeResize="0"/>
          <p:nvPr/>
        </p:nvPicPr>
        <p:blipFill rotWithShape="1">
          <a:blip r:embed="rId3">
            <a:alphaModFix/>
          </a:blip>
          <a:srcRect b="0" l="0" r="0" t="0"/>
          <a:stretch/>
        </p:blipFill>
        <p:spPr>
          <a:xfrm>
            <a:off x="3962400" y="2698400"/>
            <a:ext cx="4097578" cy="34738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pic>
        <p:nvPicPr>
          <p:cNvPr id="1070" name="Google Shape;1070;p121"/>
          <p:cNvPicPr preferRelativeResize="0"/>
          <p:nvPr/>
        </p:nvPicPr>
        <p:blipFill rotWithShape="1">
          <a:blip r:embed="rId4">
            <a:alphaModFix/>
          </a:blip>
          <a:srcRect b="0" l="0" r="0" t="0"/>
          <a:stretch/>
        </p:blipFill>
        <p:spPr>
          <a:xfrm>
            <a:off x="304800" y="914400"/>
            <a:ext cx="3099460" cy="2057400"/>
          </a:xfrm>
          <a:prstGeom prst="roundRect">
            <a:avLst>
              <a:gd fmla="val 16667" name="adj"/>
            </a:avLst>
          </a:prstGeom>
          <a:noFill/>
          <a:ln>
            <a:noFill/>
          </a:ln>
          <a:effectLst>
            <a:outerShdw blurRad="76200" rotWithShape="0" algn="tl" dir="7800000" dist="38100">
              <a:srgbClr val="000000">
                <a:alpha val="40000"/>
              </a:srgbClr>
            </a:outerShdw>
          </a:effectLst>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122"/>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076" name="Google Shape;1076;p122"/>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77" name="Google Shape;1077;p122"/>
          <p:cNvPicPr preferRelativeResize="0"/>
          <p:nvPr/>
        </p:nvPicPr>
        <p:blipFill rotWithShape="1">
          <a:blip r:embed="rId3">
            <a:alphaModFix/>
          </a:blip>
          <a:srcRect b="0" l="0" r="0" t="0"/>
          <a:stretch/>
        </p:blipFill>
        <p:spPr>
          <a:xfrm>
            <a:off x="596175" y="1143000"/>
            <a:ext cx="7319036" cy="381952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123"/>
          <p:cNvSpPr txBox="1"/>
          <p:nvPr>
            <p:ph type="title"/>
          </p:nvPr>
        </p:nvSpPr>
        <p:spPr>
          <a:xfrm>
            <a:off x="175361" y="-16306"/>
            <a:ext cx="4635500" cy="1415772"/>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Die and Exit functionsin PHP</a:t>
            </a:r>
            <a:endParaRPr/>
          </a:p>
        </p:txBody>
      </p:sp>
      <p:sp>
        <p:nvSpPr>
          <p:cNvPr id="1083" name="Google Shape;1083;p123"/>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084" name="Google Shape;1084;p123"/>
          <p:cNvPicPr preferRelativeResize="0"/>
          <p:nvPr/>
        </p:nvPicPr>
        <p:blipFill rotWithShape="1">
          <a:blip r:embed="rId3">
            <a:alphaModFix/>
          </a:blip>
          <a:srcRect b="0" l="0" r="0" t="0"/>
          <a:stretch/>
        </p:blipFill>
        <p:spPr>
          <a:xfrm>
            <a:off x="304800" y="1447800"/>
            <a:ext cx="3028950" cy="2352675"/>
          </a:xfrm>
          <a:prstGeom prst="rect">
            <a:avLst/>
          </a:prstGeom>
          <a:noFill/>
          <a:ln>
            <a:noFill/>
          </a:ln>
        </p:spPr>
      </p:pic>
      <p:pic>
        <p:nvPicPr>
          <p:cNvPr id="1085" name="Google Shape;1085;p123"/>
          <p:cNvPicPr preferRelativeResize="0"/>
          <p:nvPr/>
        </p:nvPicPr>
        <p:blipFill rotWithShape="1">
          <a:blip r:embed="rId4">
            <a:alphaModFix/>
          </a:blip>
          <a:srcRect b="0" l="0" r="0" t="0"/>
          <a:stretch/>
        </p:blipFill>
        <p:spPr>
          <a:xfrm>
            <a:off x="4038600" y="1423792"/>
            <a:ext cx="2057400" cy="1847850"/>
          </a:xfrm>
          <a:prstGeom prst="rect">
            <a:avLst/>
          </a:prstGeom>
          <a:noFill/>
          <a:ln>
            <a:noFill/>
          </a:ln>
          <a:effectLst>
            <a:outerShdw blurRad="292100" rotWithShape="0" algn="tl" dir="2700000" dist="139700">
              <a:srgbClr val="333333">
                <a:alpha val="64705"/>
              </a:srgbClr>
            </a:outerShdw>
          </a:effectLst>
        </p:spPr>
      </p:pic>
      <p:pic>
        <p:nvPicPr>
          <p:cNvPr id="1086" name="Google Shape;1086;p123"/>
          <p:cNvPicPr preferRelativeResize="0"/>
          <p:nvPr/>
        </p:nvPicPr>
        <p:blipFill rotWithShape="1">
          <a:blip r:embed="rId5">
            <a:alphaModFix/>
          </a:blip>
          <a:srcRect b="0" l="0" r="0" t="0"/>
          <a:stretch/>
        </p:blipFill>
        <p:spPr>
          <a:xfrm>
            <a:off x="304800" y="3962400"/>
            <a:ext cx="2504945" cy="2301622"/>
          </a:xfrm>
          <a:prstGeom prst="rect">
            <a:avLst/>
          </a:prstGeom>
          <a:noFill/>
          <a:ln>
            <a:noFill/>
          </a:ln>
        </p:spPr>
      </p:pic>
      <p:pic>
        <p:nvPicPr>
          <p:cNvPr id="1087" name="Google Shape;1087;p123"/>
          <p:cNvPicPr preferRelativeResize="0"/>
          <p:nvPr/>
        </p:nvPicPr>
        <p:blipFill rotWithShape="1">
          <a:blip r:embed="rId6">
            <a:alphaModFix/>
          </a:blip>
          <a:srcRect b="0" l="0" r="0" t="0"/>
          <a:stretch/>
        </p:blipFill>
        <p:spPr>
          <a:xfrm>
            <a:off x="4038600" y="4316046"/>
            <a:ext cx="2305050" cy="1552575"/>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24"/>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File Handling</a:t>
            </a:r>
            <a:endParaRPr/>
          </a:p>
        </p:txBody>
      </p:sp>
      <p:sp>
        <p:nvSpPr>
          <p:cNvPr id="1093" name="Google Shape;1093;p124"/>
          <p:cNvSpPr txBox="1"/>
          <p:nvPr>
            <p:ph idx="1" type="body"/>
          </p:nvPr>
        </p:nvSpPr>
        <p:spPr>
          <a:xfrm>
            <a:off x="990600" y="1600200"/>
            <a:ext cx="6324600" cy="121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PHP readfile()-</a:t>
            </a:r>
            <a:endParaRPr/>
          </a:p>
          <a:p>
            <a:pPr indent="0" lvl="0" marL="0" rtl="0" algn="l">
              <a:spcBef>
                <a:spcPts val="0"/>
              </a:spcBef>
              <a:spcAft>
                <a:spcPts val="0"/>
              </a:spcAft>
              <a:buNone/>
            </a:pPr>
            <a:r>
              <a:rPr lang="en-US"/>
              <a:t>The readfile() function is useful if all you want to do is open up a file and read its contents.</a:t>
            </a:r>
            <a:endParaRPr/>
          </a:p>
          <a:p>
            <a:pPr indent="0" lvl="0" marL="0" rtl="0" algn="l">
              <a:spcBef>
                <a:spcPts val="0"/>
              </a:spcBef>
              <a:spcAft>
                <a:spcPts val="0"/>
              </a:spcAft>
              <a:buNone/>
            </a:pPr>
            <a:r>
              <a:t/>
            </a:r>
            <a:endParaRPr/>
          </a:p>
        </p:txBody>
      </p:sp>
      <p:pic>
        <p:nvPicPr>
          <p:cNvPr id="1094" name="Google Shape;1094;p124"/>
          <p:cNvPicPr preferRelativeResize="0"/>
          <p:nvPr/>
        </p:nvPicPr>
        <p:blipFill rotWithShape="1">
          <a:blip r:embed="rId3">
            <a:alphaModFix/>
          </a:blip>
          <a:srcRect b="0" l="0" r="0" t="0"/>
          <a:stretch/>
        </p:blipFill>
        <p:spPr>
          <a:xfrm>
            <a:off x="838200" y="2971800"/>
            <a:ext cx="4271961" cy="2724972"/>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25"/>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
        <p:nvSpPr>
          <p:cNvPr id="1100" name="Google Shape;1100;p125"/>
          <p:cNvSpPr txBox="1"/>
          <p:nvPr/>
        </p:nvSpPr>
        <p:spPr>
          <a:xfrm>
            <a:off x="194563" y="1644523"/>
            <a:ext cx="8050530" cy="4650632"/>
          </a:xfrm>
          <a:prstGeom prst="rect">
            <a:avLst/>
          </a:prstGeom>
          <a:noFill/>
          <a:ln>
            <a:noFill/>
          </a:ln>
        </p:spPr>
        <p:txBody>
          <a:bodyPr anchorCtr="0" anchor="t" bIns="0" lIns="0" spcFirstLastPara="1" rIns="0" wrap="square" tIns="13325">
            <a:spAutoFit/>
          </a:bodyPr>
          <a:lstStyle/>
          <a:p>
            <a:pPr indent="-229234" lvl="0" marL="241300" marR="5080" rtl="0" algn="l">
              <a:lnSpc>
                <a:spcPct val="100000"/>
              </a:lnSpc>
              <a:spcBef>
                <a:spcPts val="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PHP File System allows us to create file, read file line by line, read file  character by character, write file, append file, delete file and close  file.</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b="1" lang="en-US" sz="2200">
                <a:solidFill>
                  <a:srgbClr val="C00000"/>
                </a:solidFill>
                <a:latin typeface="Calibri"/>
                <a:ea typeface="Calibri"/>
                <a:cs typeface="Calibri"/>
                <a:sym typeface="Calibri"/>
              </a:rPr>
              <a:t>PHP Open File - fopen()</a:t>
            </a:r>
            <a:endParaRPr sz="2200">
              <a:solidFill>
                <a:schemeClr val="dk1"/>
              </a:solidFill>
              <a:latin typeface="Calibri"/>
              <a:ea typeface="Calibri"/>
              <a:cs typeface="Calibri"/>
              <a:sym typeface="Calibri"/>
            </a:endParaRPr>
          </a:p>
          <a:p>
            <a:pPr indent="-229234"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PHP fopen() function is used to open a file</a:t>
            </a:r>
            <a:endParaRPr/>
          </a:p>
          <a:p>
            <a:pPr indent="-229234"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 fopen ( string $filename , string $mode)</a:t>
            </a:r>
            <a:endParaRPr/>
          </a:p>
          <a:p>
            <a:pPr indent="-229234"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&lt;?php</a:t>
            </a:r>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$handle = fopen("c:\\folder\\file.txt", "r") </a:t>
            </a:r>
            <a:r>
              <a:rPr b="0" i="0" lang="en-US" sz="2400">
                <a:solidFill>
                  <a:srgbClr val="0000CD"/>
                </a:solidFill>
                <a:latin typeface="Consolas"/>
                <a:ea typeface="Consolas"/>
                <a:cs typeface="Consolas"/>
                <a:sym typeface="Consolas"/>
              </a:rPr>
              <a:t>or</a:t>
            </a:r>
            <a:r>
              <a:rPr b="0" i="0" lang="en-US" sz="2400">
                <a:solidFill>
                  <a:srgbClr val="000000"/>
                </a:solidFill>
                <a:latin typeface="Consolas"/>
                <a:ea typeface="Consolas"/>
                <a:cs typeface="Consolas"/>
                <a:sym typeface="Consolas"/>
              </a:rPr>
              <a:t> </a:t>
            </a:r>
            <a:r>
              <a:rPr b="0" i="0" lang="en-US" sz="2400">
                <a:solidFill>
                  <a:srgbClr val="0000CD"/>
                </a:solidFill>
                <a:latin typeface="Consolas"/>
                <a:ea typeface="Consolas"/>
                <a:cs typeface="Consolas"/>
                <a:sym typeface="Consolas"/>
              </a:rPr>
              <a:t>die</a:t>
            </a:r>
            <a:r>
              <a:rPr b="0" i="0" lang="en-US" sz="2400">
                <a:solidFill>
                  <a:srgbClr val="000000"/>
                </a:solidFill>
                <a:latin typeface="Consolas"/>
                <a:ea typeface="Consolas"/>
                <a:cs typeface="Consolas"/>
                <a:sym typeface="Consolas"/>
              </a:rPr>
              <a:t>(</a:t>
            </a:r>
            <a:r>
              <a:rPr b="0" i="0" lang="en-US" sz="2400">
                <a:solidFill>
                  <a:srgbClr val="A52A2A"/>
                </a:solidFill>
                <a:latin typeface="Consolas"/>
                <a:ea typeface="Consolas"/>
                <a:cs typeface="Consolas"/>
                <a:sym typeface="Consolas"/>
              </a:rPr>
              <a:t>"Unable to open file!"</a:t>
            </a:r>
            <a:r>
              <a:rPr b="0" i="0" lang="en-US" sz="2400">
                <a:solidFill>
                  <a:srgbClr val="000000"/>
                </a:solidFill>
                <a:latin typeface="Consolas"/>
                <a:ea typeface="Consolas"/>
                <a:cs typeface="Consolas"/>
                <a:sym typeface="Consolas"/>
              </a:rPr>
              <a:t>);</a:t>
            </a:r>
            <a:r>
              <a:rPr lang="en-US" sz="2200">
                <a:solidFill>
                  <a:schemeClr val="dk1"/>
                </a:solidFill>
                <a:latin typeface="Calibri"/>
                <a:ea typeface="Calibri"/>
                <a:cs typeface="Calibri"/>
                <a:sym typeface="Calibri"/>
              </a:rPr>
              <a:t>;</a:t>
            </a:r>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26"/>
          <p:cNvSpPr txBox="1"/>
          <p:nvPr>
            <p:ph type="title"/>
          </p:nvPr>
        </p:nvSpPr>
        <p:spPr>
          <a:xfrm>
            <a:off x="175361" y="-16306"/>
            <a:ext cx="4635500" cy="728345"/>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1106" name="Google Shape;1106;p126"/>
          <p:cNvSpPr txBox="1"/>
          <p:nvPr>
            <p:ph idx="1" type="body"/>
          </p:nvPr>
        </p:nvSpPr>
        <p:spPr>
          <a:xfrm>
            <a:off x="652068" y="1567053"/>
            <a:ext cx="4885055" cy="379095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1107" name="Google Shape;1107;p126"/>
          <p:cNvPicPr preferRelativeResize="0"/>
          <p:nvPr/>
        </p:nvPicPr>
        <p:blipFill rotWithShape="1">
          <a:blip r:embed="rId3">
            <a:alphaModFix/>
          </a:blip>
          <a:srcRect b="0" l="0" r="0" t="0"/>
          <a:stretch/>
        </p:blipFill>
        <p:spPr>
          <a:xfrm>
            <a:off x="304800" y="990600"/>
            <a:ext cx="7962900" cy="41910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27"/>
          <p:cNvSpPr txBox="1"/>
          <p:nvPr/>
        </p:nvSpPr>
        <p:spPr>
          <a:xfrm>
            <a:off x="652068" y="1549603"/>
            <a:ext cx="7228840" cy="324612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Close File - fclose()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PHP fclose() function is used to close an open file pointer.</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 fclose ( file )</a:t>
            </a:r>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5382895" rtl="0" algn="l">
              <a:lnSpc>
                <a:spcPct val="120100"/>
              </a:lnSpc>
              <a:spcBef>
                <a:spcPts val="0"/>
              </a:spcBef>
              <a:spcAft>
                <a:spcPts val="0"/>
              </a:spcAft>
              <a:buNone/>
            </a:pPr>
            <a:r>
              <a:rPr lang="en-US" sz="2200">
                <a:solidFill>
                  <a:schemeClr val="dk1"/>
                </a:solidFill>
                <a:latin typeface="Calibri"/>
                <a:ea typeface="Calibri"/>
                <a:cs typeface="Calibri"/>
                <a:sym typeface="Calibri"/>
              </a:rPr>
              <a:t>&lt;?php  fclose($handle);</a:t>
            </a:r>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1113" name="Google Shape;1113;p127"/>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28"/>
          <p:cNvSpPr txBox="1"/>
          <p:nvPr/>
        </p:nvSpPr>
        <p:spPr>
          <a:xfrm>
            <a:off x="652068" y="1564005"/>
            <a:ext cx="6937375" cy="51244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PHP Read File - fread()</a:t>
            </a:r>
            <a:endParaRPr sz="2000">
              <a:solidFill>
                <a:schemeClr val="dk1"/>
              </a:solidFill>
              <a:latin typeface="Calibri"/>
              <a:ea typeface="Calibri"/>
              <a:cs typeface="Calibri"/>
              <a:sym typeface="Calibri"/>
            </a:endParaRPr>
          </a:p>
          <a:p>
            <a:pPr indent="-228600" lvl="0" marL="241300" marR="0" rtl="0" algn="l">
              <a:lnSpc>
                <a:spcPct val="108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The PHP fread() function is used to read the content of the file. It</a:t>
            </a:r>
            <a:endParaRPr sz="2000">
              <a:solidFill>
                <a:schemeClr val="dk1"/>
              </a:solidFill>
              <a:latin typeface="Calibri"/>
              <a:ea typeface="Calibri"/>
              <a:cs typeface="Calibri"/>
              <a:sym typeface="Calibri"/>
            </a:endParaRPr>
          </a:p>
          <a:p>
            <a:pPr indent="0" lvl="0" marL="240665" marR="0" rtl="0" algn="l">
              <a:lnSpc>
                <a:spcPct val="108000"/>
              </a:lnSpc>
              <a:spcBef>
                <a:spcPts val="0"/>
              </a:spcBef>
              <a:spcAft>
                <a:spcPts val="0"/>
              </a:spcAft>
              <a:buNone/>
            </a:pPr>
            <a:r>
              <a:rPr lang="en-US" sz="2000">
                <a:solidFill>
                  <a:schemeClr val="dk1"/>
                </a:solidFill>
                <a:latin typeface="Calibri"/>
                <a:ea typeface="Calibri"/>
                <a:cs typeface="Calibri"/>
                <a:sym typeface="Calibri"/>
              </a:rPr>
              <a:t>accepts two arguments: resource and file size.</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000">
                <a:solidFill>
                  <a:schemeClr val="dk1"/>
                </a:solidFill>
                <a:latin typeface="Calibri"/>
                <a:ea typeface="Calibri"/>
                <a:cs typeface="Calibri"/>
                <a:sym typeface="Calibri"/>
              </a:rPr>
              <a:t>string fread ( resource $handle , int $length )</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$filename = "c:\\myfile.txt";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$handle = fopen($filename, "r");//open file in read mode</a:t>
            </a:r>
            <a:endParaRPr sz="2000">
              <a:solidFill>
                <a:schemeClr val="dk1"/>
              </a:solidFill>
              <a:latin typeface="Calibri"/>
              <a:ea typeface="Calibri"/>
              <a:cs typeface="Calibri"/>
              <a:sym typeface="Calibri"/>
            </a:endParaRPr>
          </a:p>
          <a:p>
            <a:pPr indent="0" lvl="0" marL="12700" marR="984250" rtl="0" algn="l">
              <a:lnSpc>
                <a:spcPct val="200100"/>
              </a:lnSpc>
              <a:spcBef>
                <a:spcPts val="0"/>
              </a:spcBef>
              <a:spcAft>
                <a:spcPts val="0"/>
              </a:spcAft>
              <a:buNone/>
            </a:pPr>
            <a:r>
              <a:rPr lang="en-US" sz="2000">
                <a:solidFill>
                  <a:schemeClr val="dk1"/>
                </a:solidFill>
                <a:latin typeface="Calibri"/>
                <a:ea typeface="Calibri"/>
                <a:cs typeface="Calibri"/>
                <a:sym typeface="Calibri"/>
              </a:rPr>
              <a:t>$contents = fread($handle, filesize($filename));//read file  echo $contents;//printing data of file</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000">
                <a:solidFill>
                  <a:schemeClr val="dk1"/>
                </a:solidFill>
                <a:latin typeface="Calibri"/>
                <a:ea typeface="Calibri"/>
                <a:cs typeface="Calibri"/>
                <a:sym typeface="Calibri"/>
              </a:rPr>
              <a:t>fclose($handle);//close file</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4805045" marR="0" rtl="0" algn="l">
              <a:lnSpc>
                <a:spcPct val="100000"/>
              </a:lnSpc>
              <a:spcBef>
                <a:spcPts val="30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4805045" marR="0" rtl="0" algn="l">
              <a:lnSpc>
                <a:spcPct val="100000"/>
              </a:lnSpc>
              <a:spcBef>
                <a:spcPts val="0"/>
              </a:spcBef>
              <a:spcAft>
                <a:spcPts val="0"/>
              </a:spcAft>
              <a:buNone/>
            </a:pPr>
            <a:r>
              <a:rPr lang="en-US" sz="1800">
                <a:solidFill>
                  <a:schemeClr val="dk1"/>
                </a:solidFill>
                <a:latin typeface="Calibri"/>
                <a:ea typeface="Calibri"/>
                <a:cs typeface="Calibri"/>
                <a:sym typeface="Calibri"/>
              </a:rPr>
              <a:t>hello php file</a:t>
            </a:r>
            <a:endParaRPr sz="1800">
              <a:solidFill>
                <a:schemeClr val="dk1"/>
              </a:solidFill>
              <a:latin typeface="Calibri"/>
              <a:ea typeface="Calibri"/>
              <a:cs typeface="Calibri"/>
              <a:sym typeface="Calibri"/>
            </a:endParaRPr>
          </a:p>
        </p:txBody>
      </p:sp>
      <p:sp>
        <p:nvSpPr>
          <p:cNvPr id="1119" name="Google Shape;1119;p128"/>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29"/>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
        <p:nvSpPr>
          <p:cNvPr id="1125" name="Google Shape;1125;p129"/>
          <p:cNvSpPr txBox="1"/>
          <p:nvPr/>
        </p:nvSpPr>
        <p:spPr>
          <a:xfrm>
            <a:off x="652068" y="1557031"/>
            <a:ext cx="7129780" cy="3653790"/>
          </a:xfrm>
          <a:prstGeom prst="rect">
            <a:avLst/>
          </a:prstGeom>
          <a:noFill/>
          <a:ln>
            <a:noFill/>
          </a:ln>
        </p:spPr>
        <p:txBody>
          <a:bodyPr anchorCtr="0" anchor="t" bIns="0" lIns="0" spcFirstLastPara="1" rIns="0" wrap="square" tIns="42525">
            <a:spAutoFit/>
          </a:bodyPr>
          <a:lstStyle/>
          <a:p>
            <a:pPr indent="0" lvl="0" marL="1270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PHP Write File - fwrite()</a:t>
            </a:r>
            <a:endParaRPr sz="2000">
              <a:solidFill>
                <a:schemeClr val="dk1"/>
              </a:solidFill>
              <a:latin typeface="Calibri"/>
              <a:ea typeface="Calibri"/>
              <a:cs typeface="Calibri"/>
              <a:sym typeface="Calibri"/>
            </a:endParaRPr>
          </a:p>
          <a:p>
            <a:pPr indent="-228600" lvl="0" marL="241300" marR="0" rtl="0" algn="l">
              <a:lnSpc>
                <a:spcPct val="114000"/>
              </a:lnSpc>
              <a:spcBef>
                <a:spcPts val="24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The PHP fwrite() function is used to write content of the string into</a:t>
            </a:r>
            <a:endParaRPr sz="2000">
              <a:solidFill>
                <a:schemeClr val="dk1"/>
              </a:solidFill>
              <a:latin typeface="Calibri"/>
              <a:ea typeface="Calibri"/>
              <a:cs typeface="Calibri"/>
              <a:sym typeface="Calibri"/>
            </a:endParaRPr>
          </a:p>
          <a:p>
            <a:pPr indent="0" lvl="0" marL="240665" marR="0" rtl="0" algn="l">
              <a:lnSpc>
                <a:spcPct val="114000"/>
              </a:lnSpc>
              <a:spcBef>
                <a:spcPts val="0"/>
              </a:spcBef>
              <a:spcAft>
                <a:spcPts val="0"/>
              </a:spcAft>
              <a:buNone/>
            </a:pPr>
            <a:r>
              <a:rPr lang="en-US" sz="2000">
                <a:solidFill>
                  <a:schemeClr val="dk1"/>
                </a:solidFill>
                <a:latin typeface="Calibri"/>
                <a:ea typeface="Calibri"/>
                <a:cs typeface="Calibri"/>
                <a:sym typeface="Calibri"/>
              </a:rPr>
              <a:t>file.</a:t>
            </a:r>
            <a:endParaRPr sz="2000">
              <a:solidFill>
                <a:schemeClr val="dk1"/>
              </a:solidFill>
              <a:latin typeface="Calibri"/>
              <a:ea typeface="Calibri"/>
              <a:cs typeface="Calibri"/>
              <a:sym typeface="Calibri"/>
            </a:endParaRPr>
          </a:p>
          <a:p>
            <a:pPr indent="-228600" lvl="0" marL="241300" marR="0" rtl="0" algn="l">
              <a:lnSpc>
                <a:spcPct val="100000"/>
              </a:lnSpc>
              <a:spcBef>
                <a:spcPts val="24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245"/>
              </a:spcBef>
              <a:spcAft>
                <a:spcPts val="0"/>
              </a:spcAft>
              <a:buNone/>
            </a:pPr>
            <a:r>
              <a:rPr lang="en-US" sz="2000">
                <a:solidFill>
                  <a:schemeClr val="dk1"/>
                </a:solidFill>
                <a:latin typeface="Calibri"/>
                <a:ea typeface="Calibri"/>
                <a:cs typeface="Calibri"/>
                <a:sym typeface="Calibri"/>
              </a:rPr>
              <a:t>int fwrite ( resource $handle , string $string [, int $length ] )</a:t>
            </a:r>
            <a:endParaRPr sz="2000">
              <a:solidFill>
                <a:schemeClr val="dk1"/>
              </a:solidFill>
              <a:latin typeface="Calibri"/>
              <a:ea typeface="Calibri"/>
              <a:cs typeface="Calibri"/>
              <a:sym typeface="Calibri"/>
            </a:endParaRPr>
          </a:p>
          <a:p>
            <a:pPr indent="-228600" lvl="0" marL="241300" marR="0" rtl="0" algn="l">
              <a:lnSpc>
                <a:spcPct val="100000"/>
              </a:lnSpc>
              <a:spcBef>
                <a:spcPts val="24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$fp = fopen('data.txt', 'w');//open file in write mode</a:t>
            </a:r>
            <a:endParaRPr sz="2000">
              <a:solidFill>
                <a:schemeClr val="dk1"/>
              </a:solidFill>
              <a:latin typeface="Calibri"/>
              <a:ea typeface="Calibri"/>
              <a:cs typeface="Calibri"/>
              <a:sym typeface="Calibri"/>
            </a:endParaRPr>
          </a:p>
          <a:p>
            <a:pPr indent="0" lvl="0" marL="12700" marR="4924425" rtl="0" algn="l">
              <a:lnSpc>
                <a:spcPct val="110000"/>
              </a:lnSpc>
              <a:spcBef>
                <a:spcPts val="5"/>
              </a:spcBef>
              <a:spcAft>
                <a:spcPts val="0"/>
              </a:spcAft>
              <a:buNone/>
            </a:pPr>
            <a:r>
              <a:rPr lang="en-US" sz="2000">
                <a:solidFill>
                  <a:schemeClr val="dk1"/>
                </a:solidFill>
                <a:latin typeface="Calibri"/>
                <a:ea typeface="Calibri"/>
                <a:cs typeface="Calibri"/>
                <a:sym typeface="Calibri"/>
              </a:rPr>
              <a:t>fwrite($fp, 'hello ');  fwrite($fp, 'php file');  fclose($fp);</a:t>
            </a:r>
            <a:endParaRPr sz="2000">
              <a:solidFill>
                <a:schemeClr val="dk1"/>
              </a:solidFill>
              <a:latin typeface="Calibri"/>
              <a:ea typeface="Calibri"/>
              <a:cs typeface="Calibri"/>
              <a:sym typeface="Calibri"/>
            </a:endParaRPr>
          </a:p>
        </p:txBody>
      </p:sp>
      <p:sp>
        <p:nvSpPr>
          <p:cNvPr id="1126" name="Google Shape;1126;p129"/>
          <p:cNvSpPr txBox="1"/>
          <p:nvPr/>
        </p:nvSpPr>
        <p:spPr>
          <a:xfrm>
            <a:off x="652068" y="5521286"/>
            <a:ext cx="3288029" cy="695960"/>
          </a:xfrm>
          <a:prstGeom prst="rect">
            <a:avLst/>
          </a:prstGeom>
          <a:noFill/>
          <a:ln>
            <a:noFill/>
          </a:ln>
        </p:spPr>
        <p:txBody>
          <a:bodyPr anchorCtr="0" anchor="t" bIns="0" lIns="0" spcFirstLastPara="1" rIns="0" wrap="square" tIns="425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echo "File written successfully";</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1127" name="Google Shape;1127;p129"/>
          <p:cNvSpPr txBox="1"/>
          <p:nvPr/>
        </p:nvSpPr>
        <p:spPr>
          <a:xfrm>
            <a:off x="5084445" y="5825439"/>
            <a:ext cx="2216150"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File written successfully</a:t>
            </a:r>
            <a:endParaRPr sz="1800">
              <a:solidFill>
                <a:schemeClr val="dk1"/>
              </a:solidFill>
              <a:latin typeface="Calibri"/>
              <a:ea typeface="Calibri"/>
              <a:cs typeface="Calibri"/>
              <a:sym typeface="Calibri"/>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30"/>
          <p:cNvSpPr txBox="1"/>
          <p:nvPr/>
        </p:nvSpPr>
        <p:spPr>
          <a:xfrm>
            <a:off x="652068" y="1549603"/>
            <a:ext cx="5955665" cy="405130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Delete File - unlink()</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PHP unlink() function is used to delete file.</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bool unlink ( string $filename [, resource $context ]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3993515" rtl="0" algn="l">
              <a:lnSpc>
                <a:spcPct val="120100"/>
              </a:lnSpc>
              <a:spcBef>
                <a:spcPts val="0"/>
              </a:spcBef>
              <a:spcAft>
                <a:spcPts val="0"/>
              </a:spcAft>
              <a:buNone/>
            </a:pPr>
            <a:r>
              <a:rPr lang="en-US" sz="2200">
                <a:solidFill>
                  <a:schemeClr val="dk1"/>
                </a:solidFill>
                <a:latin typeface="Calibri"/>
                <a:ea typeface="Calibri"/>
                <a:cs typeface="Calibri"/>
                <a:sym typeface="Calibri"/>
              </a:rPr>
              <a:t>&lt;?php  unlink('data.txt');</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3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"File deleted successfully";</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1133" name="Google Shape;1133;p130"/>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31"/>
          <p:cNvSpPr txBox="1"/>
          <p:nvPr/>
        </p:nvSpPr>
        <p:spPr>
          <a:xfrm>
            <a:off x="652068" y="1549603"/>
            <a:ext cx="7228840" cy="324612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Close File - fclose()</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PHP fclose() function is used to close an open file pointer.</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ool fclose ( resource $handle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5382895" rtl="0" algn="l">
              <a:lnSpc>
                <a:spcPct val="120100"/>
              </a:lnSpc>
              <a:spcBef>
                <a:spcPts val="0"/>
              </a:spcBef>
              <a:spcAft>
                <a:spcPts val="0"/>
              </a:spcAft>
              <a:buNone/>
            </a:pPr>
            <a:r>
              <a:rPr lang="en-US" sz="2200">
                <a:solidFill>
                  <a:schemeClr val="dk1"/>
                </a:solidFill>
                <a:latin typeface="Calibri"/>
                <a:ea typeface="Calibri"/>
                <a:cs typeface="Calibri"/>
                <a:sym typeface="Calibri"/>
              </a:rPr>
              <a:t>&lt;?php  fclose($handle);</a:t>
            </a:r>
            <a:endParaRPr sz="2200">
              <a:solidFill>
                <a:schemeClr val="dk1"/>
              </a:solidFill>
              <a:latin typeface="Calibri"/>
              <a:ea typeface="Calibri"/>
              <a:cs typeface="Calibri"/>
              <a:sym typeface="Calibri"/>
            </a:endParaRPr>
          </a:p>
          <a:p>
            <a:pPr indent="0" lvl="0" marL="12700" marR="0" rtl="0" algn="l">
              <a:lnSpc>
                <a:spcPct val="100000"/>
              </a:lnSpc>
              <a:spcBef>
                <a:spcPts val="525"/>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1139" name="Google Shape;1139;p131"/>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32"/>
          <p:cNvSpPr txBox="1"/>
          <p:nvPr/>
        </p:nvSpPr>
        <p:spPr>
          <a:xfrm>
            <a:off x="652068" y="1564005"/>
            <a:ext cx="6937375" cy="512445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PHP Read File - fread()</a:t>
            </a:r>
            <a:endParaRPr sz="2000">
              <a:solidFill>
                <a:schemeClr val="dk1"/>
              </a:solidFill>
              <a:latin typeface="Calibri"/>
              <a:ea typeface="Calibri"/>
              <a:cs typeface="Calibri"/>
              <a:sym typeface="Calibri"/>
            </a:endParaRPr>
          </a:p>
          <a:p>
            <a:pPr indent="-228600" lvl="0" marL="241300" marR="0" rtl="0" algn="l">
              <a:lnSpc>
                <a:spcPct val="108000"/>
              </a:lnSpc>
              <a:spcBef>
                <a:spcPts val="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The PHP fread() function is used to read the content of the file. It</a:t>
            </a:r>
            <a:endParaRPr sz="2000">
              <a:solidFill>
                <a:schemeClr val="dk1"/>
              </a:solidFill>
              <a:latin typeface="Calibri"/>
              <a:ea typeface="Calibri"/>
              <a:cs typeface="Calibri"/>
              <a:sym typeface="Calibri"/>
            </a:endParaRPr>
          </a:p>
          <a:p>
            <a:pPr indent="0" lvl="0" marL="240665" marR="0" rtl="0" algn="l">
              <a:lnSpc>
                <a:spcPct val="108000"/>
              </a:lnSpc>
              <a:spcBef>
                <a:spcPts val="0"/>
              </a:spcBef>
              <a:spcAft>
                <a:spcPts val="0"/>
              </a:spcAft>
              <a:buNone/>
            </a:pPr>
            <a:r>
              <a:rPr lang="en-US" sz="2000">
                <a:solidFill>
                  <a:schemeClr val="dk1"/>
                </a:solidFill>
                <a:latin typeface="Calibri"/>
                <a:ea typeface="Calibri"/>
                <a:cs typeface="Calibri"/>
                <a:sym typeface="Calibri"/>
              </a:rPr>
              <a:t>accepts two arguments: resource and file size.</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000">
                <a:solidFill>
                  <a:schemeClr val="dk1"/>
                </a:solidFill>
                <a:latin typeface="Calibri"/>
                <a:ea typeface="Calibri"/>
                <a:cs typeface="Calibri"/>
                <a:sym typeface="Calibri"/>
              </a:rPr>
              <a:t>string fread ( resource $handle , int $length )</a:t>
            </a:r>
            <a:endParaRPr sz="2000">
              <a:solidFill>
                <a:schemeClr val="dk1"/>
              </a:solidFill>
              <a:latin typeface="Calibri"/>
              <a:ea typeface="Calibri"/>
              <a:cs typeface="Calibri"/>
              <a:sym typeface="Calibri"/>
            </a:endParaRPr>
          </a:p>
          <a:p>
            <a:pPr indent="-228600" lvl="0" marL="241300" marR="0" rtl="0" algn="l">
              <a:lnSpc>
                <a:spcPct val="100000"/>
              </a:lnSpc>
              <a:spcBef>
                <a:spcPts val="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$filename = "c:\\myfile.txt";</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$handle = fopen($filename, "r");//open file in read mode</a:t>
            </a:r>
            <a:endParaRPr sz="2000">
              <a:solidFill>
                <a:schemeClr val="dk1"/>
              </a:solidFill>
              <a:latin typeface="Calibri"/>
              <a:ea typeface="Calibri"/>
              <a:cs typeface="Calibri"/>
              <a:sym typeface="Calibri"/>
            </a:endParaRPr>
          </a:p>
          <a:p>
            <a:pPr indent="0" lvl="0" marL="12700" marR="984250" rtl="0" algn="l">
              <a:lnSpc>
                <a:spcPct val="200100"/>
              </a:lnSpc>
              <a:spcBef>
                <a:spcPts val="0"/>
              </a:spcBef>
              <a:spcAft>
                <a:spcPts val="0"/>
              </a:spcAft>
              <a:buNone/>
            </a:pPr>
            <a:r>
              <a:rPr lang="en-US" sz="2000">
                <a:solidFill>
                  <a:schemeClr val="dk1"/>
                </a:solidFill>
                <a:latin typeface="Calibri"/>
                <a:ea typeface="Calibri"/>
                <a:cs typeface="Calibri"/>
                <a:sym typeface="Calibri"/>
              </a:rPr>
              <a:t>$contents = fread($handle, filesize($filename));//read file  echo $contents;//printing data of file</a:t>
            </a:r>
            <a:endParaRPr sz="20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2000">
                <a:solidFill>
                  <a:schemeClr val="dk1"/>
                </a:solidFill>
                <a:latin typeface="Calibri"/>
                <a:ea typeface="Calibri"/>
                <a:cs typeface="Calibri"/>
                <a:sym typeface="Calibri"/>
              </a:rPr>
              <a:t>fclose($handle);//close file</a:t>
            </a:r>
            <a:endParaRPr sz="2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a:p>
            <a:pPr indent="0" lvl="0" marL="4805045" marR="0" rtl="0" algn="l">
              <a:lnSpc>
                <a:spcPct val="100000"/>
              </a:lnSpc>
              <a:spcBef>
                <a:spcPts val="30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4805045" marR="0" rtl="0" algn="l">
              <a:lnSpc>
                <a:spcPct val="100000"/>
              </a:lnSpc>
              <a:spcBef>
                <a:spcPts val="0"/>
              </a:spcBef>
              <a:spcAft>
                <a:spcPts val="0"/>
              </a:spcAft>
              <a:buNone/>
            </a:pPr>
            <a:r>
              <a:rPr lang="en-US" sz="1800">
                <a:solidFill>
                  <a:schemeClr val="dk1"/>
                </a:solidFill>
                <a:latin typeface="Calibri"/>
                <a:ea typeface="Calibri"/>
                <a:cs typeface="Calibri"/>
                <a:sym typeface="Calibri"/>
              </a:rPr>
              <a:t>hello php file</a:t>
            </a:r>
            <a:endParaRPr sz="1800">
              <a:solidFill>
                <a:schemeClr val="dk1"/>
              </a:solidFill>
              <a:latin typeface="Calibri"/>
              <a:ea typeface="Calibri"/>
              <a:cs typeface="Calibri"/>
              <a:sym typeface="Calibri"/>
            </a:endParaRPr>
          </a:p>
        </p:txBody>
      </p:sp>
      <p:sp>
        <p:nvSpPr>
          <p:cNvPr id="1145" name="Google Shape;1145;p132"/>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33"/>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
        <p:nvSpPr>
          <p:cNvPr id="1151" name="Google Shape;1151;p133"/>
          <p:cNvSpPr txBox="1"/>
          <p:nvPr/>
        </p:nvSpPr>
        <p:spPr>
          <a:xfrm>
            <a:off x="652068" y="1557031"/>
            <a:ext cx="7129780" cy="3653790"/>
          </a:xfrm>
          <a:prstGeom prst="rect">
            <a:avLst/>
          </a:prstGeom>
          <a:noFill/>
          <a:ln>
            <a:noFill/>
          </a:ln>
        </p:spPr>
        <p:txBody>
          <a:bodyPr anchorCtr="0" anchor="t" bIns="0" lIns="0" spcFirstLastPara="1" rIns="0" wrap="square" tIns="42525">
            <a:spAutoFit/>
          </a:bodyPr>
          <a:lstStyle/>
          <a:p>
            <a:pPr indent="0" lvl="0" marL="12700" marR="0" rtl="0" algn="l">
              <a:lnSpc>
                <a:spcPct val="100000"/>
              </a:lnSpc>
              <a:spcBef>
                <a:spcPts val="0"/>
              </a:spcBef>
              <a:spcAft>
                <a:spcPts val="0"/>
              </a:spcAft>
              <a:buNone/>
            </a:pPr>
            <a:r>
              <a:rPr b="1" lang="en-US" sz="2000">
                <a:solidFill>
                  <a:srgbClr val="C00000"/>
                </a:solidFill>
                <a:latin typeface="Calibri"/>
                <a:ea typeface="Calibri"/>
                <a:cs typeface="Calibri"/>
                <a:sym typeface="Calibri"/>
              </a:rPr>
              <a:t>PHP Write File - fwrite()</a:t>
            </a:r>
            <a:endParaRPr sz="2000">
              <a:solidFill>
                <a:schemeClr val="dk1"/>
              </a:solidFill>
              <a:latin typeface="Calibri"/>
              <a:ea typeface="Calibri"/>
              <a:cs typeface="Calibri"/>
              <a:sym typeface="Calibri"/>
            </a:endParaRPr>
          </a:p>
          <a:p>
            <a:pPr indent="-228600" lvl="0" marL="241300" marR="0" rtl="0" algn="l">
              <a:lnSpc>
                <a:spcPct val="114000"/>
              </a:lnSpc>
              <a:spcBef>
                <a:spcPts val="240"/>
              </a:spcBef>
              <a:spcAft>
                <a:spcPts val="0"/>
              </a:spcAft>
              <a:buClr>
                <a:srgbClr val="4F81BC"/>
              </a:buClr>
              <a:buSzPts val="2000"/>
              <a:buFont typeface="Arial"/>
              <a:buChar char="•"/>
            </a:pPr>
            <a:r>
              <a:rPr lang="en-US" sz="2000">
                <a:solidFill>
                  <a:schemeClr val="dk1"/>
                </a:solidFill>
                <a:latin typeface="Calibri"/>
                <a:ea typeface="Calibri"/>
                <a:cs typeface="Calibri"/>
                <a:sym typeface="Calibri"/>
              </a:rPr>
              <a:t>The PHP fwrite() function is used to write content of the string into</a:t>
            </a:r>
            <a:endParaRPr sz="2000">
              <a:solidFill>
                <a:schemeClr val="dk1"/>
              </a:solidFill>
              <a:latin typeface="Calibri"/>
              <a:ea typeface="Calibri"/>
              <a:cs typeface="Calibri"/>
              <a:sym typeface="Calibri"/>
            </a:endParaRPr>
          </a:p>
          <a:p>
            <a:pPr indent="0" lvl="0" marL="240665" marR="0" rtl="0" algn="l">
              <a:lnSpc>
                <a:spcPct val="114000"/>
              </a:lnSpc>
              <a:spcBef>
                <a:spcPts val="0"/>
              </a:spcBef>
              <a:spcAft>
                <a:spcPts val="0"/>
              </a:spcAft>
              <a:buNone/>
            </a:pPr>
            <a:r>
              <a:rPr lang="en-US" sz="2000">
                <a:solidFill>
                  <a:schemeClr val="dk1"/>
                </a:solidFill>
                <a:latin typeface="Calibri"/>
                <a:ea typeface="Calibri"/>
                <a:cs typeface="Calibri"/>
                <a:sym typeface="Calibri"/>
              </a:rPr>
              <a:t>file.</a:t>
            </a:r>
            <a:endParaRPr sz="2000">
              <a:solidFill>
                <a:schemeClr val="dk1"/>
              </a:solidFill>
              <a:latin typeface="Calibri"/>
              <a:ea typeface="Calibri"/>
              <a:cs typeface="Calibri"/>
              <a:sym typeface="Calibri"/>
            </a:endParaRPr>
          </a:p>
          <a:p>
            <a:pPr indent="-228600" lvl="0" marL="241300" marR="0" rtl="0" algn="l">
              <a:lnSpc>
                <a:spcPct val="100000"/>
              </a:lnSpc>
              <a:spcBef>
                <a:spcPts val="24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Syntax</a:t>
            </a:r>
            <a:endParaRPr sz="2000">
              <a:solidFill>
                <a:schemeClr val="dk1"/>
              </a:solidFill>
              <a:latin typeface="Calibri"/>
              <a:ea typeface="Calibri"/>
              <a:cs typeface="Calibri"/>
              <a:sym typeface="Calibri"/>
            </a:endParaRPr>
          </a:p>
          <a:p>
            <a:pPr indent="0" lvl="0" marL="12700" marR="0" rtl="0" algn="l">
              <a:lnSpc>
                <a:spcPct val="100000"/>
              </a:lnSpc>
              <a:spcBef>
                <a:spcPts val="245"/>
              </a:spcBef>
              <a:spcAft>
                <a:spcPts val="0"/>
              </a:spcAft>
              <a:buNone/>
            </a:pPr>
            <a:r>
              <a:rPr lang="en-US" sz="2000">
                <a:solidFill>
                  <a:schemeClr val="dk1"/>
                </a:solidFill>
                <a:latin typeface="Calibri"/>
                <a:ea typeface="Calibri"/>
                <a:cs typeface="Calibri"/>
                <a:sym typeface="Calibri"/>
              </a:rPr>
              <a:t>int fwrite ( resource $handle , string $string [, int $length ] )</a:t>
            </a:r>
            <a:endParaRPr sz="2000">
              <a:solidFill>
                <a:schemeClr val="dk1"/>
              </a:solidFill>
              <a:latin typeface="Calibri"/>
              <a:ea typeface="Calibri"/>
              <a:cs typeface="Calibri"/>
              <a:sym typeface="Calibri"/>
            </a:endParaRPr>
          </a:p>
          <a:p>
            <a:pPr indent="-228600" lvl="0" marL="241300" marR="0" rtl="0" algn="l">
              <a:lnSpc>
                <a:spcPct val="100000"/>
              </a:lnSpc>
              <a:spcBef>
                <a:spcPts val="240"/>
              </a:spcBef>
              <a:spcAft>
                <a:spcPts val="0"/>
              </a:spcAft>
              <a:buClr>
                <a:srgbClr val="4F81BC"/>
              </a:buClr>
              <a:buSzPts val="2000"/>
              <a:buFont typeface="Arial"/>
              <a:buChar char="•"/>
            </a:pPr>
            <a:r>
              <a:rPr b="1" lang="en-US" sz="2000">
                <a:solidFill>
                  <a:schemeClr val="dk1"/>
                </a:solidFill>
                <a:latin typeface="Calibri"/>
                <a:ea typeface="Calibri"/>
                <a:cs typeface="Calibri"/>
                <a:sym typeface="Calibri"/>
              </a:rPr>
              <a:t>Example</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&lt;?php</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$fp = fopen('data.txt', 'w');//open file in write mode</a:t>
            </a:r>
            <a:endParaRPr sz="2000">
              <a:solidFill>
                <a:schemeClr val="dk1"/>
              </a:solidFill>
              <a:latin typeface="Calibri"/>
              <a:ea typeface="Calibri"/>
              <a:cs typeface="Calibri"/>
              <a:sym typeface="Calibri"/>
            </a:endParaRPr>
          </a:p>
          <a:p>
            <a:pPr indent="0" lvl="0" marL="12700" marR="4924425" rtl="0" algn="l">
              <a:lnSpc>
                <a:spcPct val="110000"/>
              </a:lnSpc>
              <a:spcBef>
                <a:spcPts val="5"/>
              </a:spcBef>
              <a:spcAft>
                <a:spcPts val="0"/>
              </a:spcAft>
              <a:buNone/>
            </a:pPr>
            <a:r>
              <a:rPr lang="en-US" sz="2000">
                <a:solidFill>
                  <a:schemeClr val="dk1"/>
                </a:solidFill>
                <a:latin typeface="Calibri"/>
                <a:ea typeface="Calibri"/>
                <a:cs typeface="Calibri"/>
                <a:sym typeface="Calibri"/>
              </a:rPr>
              <a:t>fwrite($fp, 'hello ');  fwrite($fp, 'php file');  fclose($fp);</a:t>
            </a:r>
            <a:endParaRPr sz="2000">
              <a:solidFill>
                <a:schemeClr val="dk1"/>
              </a:solidFill>
              <a:latin typeface="Calibri"/>
              <a:ea typeface="Calibri"/>
              <a:cs typeface="Calibri"/>
              <a:sym typeface="Calibri"/>
            </a:endParaRPr>
          </a:p>
        </p:txBody>
      </p:sp>
      <p:sp>
        <p:nvSpPr>
          <p:cNvPr id="1152" name="Google Shape;1152;p133"/>
          <p:cNvSpPr txBox="1"/>
          <p:nvPr/>
        </p:nvSpPr>
        <p:spPr>
          <a:xfrm>
            <a:off x="652068" y="5521286"/>
            <a:ext cx="3288029" cy="695960"/>
          </a:xfrm>
          <a:prstGeom prst="rect">
            <a:avLst/>
          </a:prstGeom>
          <a:noFill/>
          <a:ln>
            <a:noFill/>
          </a:ln>
        </p:spPr>
        <p:txBody>
          <a:bodyPr anchorCtr="0" anchor="t" bIns="0" lIns="0" spcFirstLastPara="1" rIns="0" wrap="square" tIns="42525">
            <a:spAutoFit/>
          </a:bodyPr>
          <a:lstStyle/>
          <a:p>
            <a:pPr indent="0" lvl="0" marL="12700" marR="0" rtl="0" algn="l">
              <a:lnSpc>
                <a:spcPct val="100000"/>
              </a:lnSpc>
              <a:spcBef>
                <a:spcPts val="0"/>
              </a:spcBef>
              <a:spcAft>
                <a:spcPts val="0"/>
              </a:spcAft>
              <a:buNone/>
            </a:pPr>
            <a:r>
              <a:rPr lang="en-US" sz="2000">
                <a:solidFill>
                  <a:schemeClr val="dk1"/>
                </a:solidFill>
                <a:latin typeface="Calibri"/>
                <a:ea typeface="Calibri"/>
                <a:cs typeface="Calibri"/>
                <a:sym typeface="Calibri"/>
              </a:rPr>
              <a:t>echo "File written successfully";</a:t>
            </a:r>
            <a:endParaRPr sz="2000">
              <a:solidFill>
                <a:schemeClr val="dk1"/>
              </a:solidFill>
              <a:latin typeface="Calibri"/>
              <a:ea typeface="Calibri"/>
              <a:cs typeface="Calibri"/>
              <a:sym typeface="Calibri"/>
            </a:endParaRPr>
          </a:p>
          <a:p>
            <a:pPr indent="0" lvl="0" marL="12700" marR="0" rtl="0" algn="l">
              <a:lnSpc>
                <a:spcPct val="100000"/>
              </a:lnSpc>
              <a:spcBef>
                <a:spcPts val="240"/>
              </a:spcBef>
              <a:spcAft>
                <a:spcPts val="0"/>
              </a:spcAft>
              <a:buNone/>
            </a:pPr>
            <a:r>
              <a:rPr lang="en-US" sz="2000">
                <a:solidFill>
                  <a:schemeClr val="dk1"/>
                </a:solidFill>
                <a:latin typeface="Calibri"/>
                <a:ea typeface="Calibri"/>
                <a:cs typeface="Calibri"/>
                <a:sym typeface="Calibri"/>
              </a:rPr>
              <a:t>?&gt;</a:t>
            </a:r>
            <a:endParaRPr sz="2000">
              <a:solidFill>
                <a:schemeClr val="dk1"/>
              </a:solidFill>
              <a:latin typeface="Calibri"/>
              <a:ea typeface="Calibri"/>
              <a:cs typeface="Calibri"/>
              <a:sym typeface="Calibri"/>
            </a:endParaRPr>
          </a:p>
        </p:txBody>
      </p:sp>
      <p:sp>
        <p:nvSpPr>
          <p:cNvPr id="1153" name="Google Shape;1153;p133"/>
          <p:cNvSpPr txBox="1"/>
          <p:nvPr/>
        </p:nvSpPr>
        <p:spPr>
          <a:xfrm>
            <a:off x="5084445" y="5825439"/>
            <a:ext cx="2216150" cy="574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u="sng">
                <a:solidFill>
                  <a:schemeClr val="dk1"/>
                </a:solidFill>
                <a:latin typeface="Calibri"/>
                <a:ea typeface="Calibri"/>
                <a:cs typeface="Calibri"/>
                <a:sym typeface="Calibri"/>
              </a:rPr>
              <a:t>Output:</a:t>
            </a:r>
            <a:endParaRPr sz="1800">
              <a:solidFill>
                <a:schemeClr val="dk1"/>
              </a:solidFill>
              <a:latin typeface="Calibri"/>
              <a:ea typeface="Calibri"/>
              <a:cs typeface="Calibri"/>
              <a:sym typeface="Calibri"/>
            </a:endParaRPr>
          </a:p>
          <a:p>
            <a:pPr indent="0" lvl="0" marL="12700" marR="0" rtl="0" algn="l">
              <a:lnSpc>
                <a:spcPct val="100000"/>
              </a:lnSpc>
              <a:spcBef>
                <a:spcPts val="5"/>
              </a:spcBef>
              <a:spcAft>
                <a:spcPts val="0"/>
              </a:spcAft>
              <a:buNone/>
            </a:pPr>
            <a:r>
              <a:rPr lang="en-US" sz="1800">
                <a:solidFill>
                  <a:schemeClr val="dk1"/>
                </a:solidFill>
                <a:latin typeface="Calibri"/>
                <a:ea typeface="Calibri"/>
                <a:cs typeface="Calibri"/>
                <a:sym typeface="Calibri"/>
              </a:rPr>
              <a:t>File written successfully</a:t>
            </a:r>
            <a:endParaRPr sz="1800">
              <a:solidFill>
                <a:schemeClr val="dk1"/>
              </a:solidFill>
              <a:latin typeface="Calibri"/>
              <a:ea typeface="Calibri"/>
              <a:cs typeface="Calibri"/>
              <a:sym typeface="Calibri"/>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134"/>
          <p:cNvSpPr txBox="1"/>
          <p:nvPr/>
        </p:nvSpPr>
        <p:spPr>
          <a:xfrm>
            <a:off x="652068" y="1549603"/>
            <a:ext cx="5955665" cy="4051300"/>
          </a:xfrm>
          <a:prstGeom prst="rect">
            <a:avLst/>
          </a:prstGeom>
          <a:noFill/>
          <a:ln>
            <a:noFill/>
          </a:ln>
        </p:spPr>
        <p:txBody>
          <a:bodyPr anchorCtr="0" anchor="t" bIns="0" lIns="0" spcFirstLastPara="1" rIns="0" wrap="square" tIns="80000">
            <a:spAutoFit/>
          </a:bodyPr>
          <a:lstStyle/>
          <a:p>
            <a:pPr indent="0" lvl="0" marL="12700" marR="0" rtl="0" algn="l">
              <a:lnSpc>
                <a:spcPct val="100000"/>
              </a:lnSpc>
              <a:spcBef>
                <a:spcPts val="0"/>
              </a:spcBef>
              <a:spcAft>
                <a:spcPts val="0"/>
              </a:spcAft>
              <a:buNone/>
            </a:pPr>
            <a:r>
              <a:rPr b="1" lang="en-US" sz="2200">
                <a:solidFill>
                  <a:srgbClr val="C00000"/>
                </a:solidFill>
                <a:latin typeface="Calibri"/>
                <a:ea typeface="Calibri"/>
                <a:cs typeface="Calibri"/>
                <a:sym typeface="Calibri"/>
              </a:rPr>
              <a:t>PHP Delete File - unlink()</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lang="en-US" sz="2200">
                <a:solidFill>
                  <a:schemeClr val="dk1"/>
                </a:solidFill>
                <a:latin typeface="Calibri"/>
                <a:ea typeface="Calibri"/>
                <a:cs typeface="Calibri"/>
                <a:sym typeface="Calibri"/>
              </a:rPr>
              <a:t>The PHP unlink() function is used to delete file.</a:t>
            </a:r>
            <a:endParaRPr sz="2200">
              <a:solidFill>
                <a:schemeClr val="dk1"/>
              </a:solidFill>
              <a:latin typeface="Calibri"/>
              <a:ea typeface="Calibri"/>
              <a:cs typeface="Calibri"/>
              <a:sym typeface="Calibri"/>
            </a:endParaRPr>
          </a:p>
          <a:p>
            <a:pPr indent="-228600" lvl="0" marL="241300" marR="0" rtl="0" algn="l">
              <a:lnSpc>
                <a:spcPct val="100000"/>
              </a:lnSpc>
              <a:spcBef>
                <a:spcPts val="525"/>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Syntax</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bool unlink ( string $filename [, resource $context ] )</a:t>
            </a:r>
            <a:endParaRPr sz="2200">
              <a:solidFill>
                <a:schemeClr val="dk1"/>
              </a:solidFill>
              <a:latin typeface="Calibri"/>
              <a:ea typeface="Calibri"/>
              <a:cs typeface="Calibri"/>
              <a:sym typeface="Calibri"/>
            </a:endParaRPr>
          </a:p>
          <a:p>
            <a:pPr indent="-228600" lvl="0" marL="241300" marR="0" rtl="0" algn="l">
              <a:lnSpc>
                <a:spcPct val="100000"/>
              </a:lnSpc>
              <a:spcBef>
                <a:spcPts val="530"/>
              </a:spcBef>
              <a:spcAft>
                <a:spcPts val="0"/>
              </a:spcAft>
              <a:buClr>
                <a:srgbClr val="4F81BC"/>
              </a:buClr>
              <a:buSzPts val="2200"/>
              <a:buFont typeface="Arial"/>
              <a:buChar char="•"/>
            </a:pPr>
            <a:r>
              <a:rPr b="1" lang="en-US" sz="2200">
                <a:solidFill>
                  <a:schemeClr val="dk1"/>
                </a:solidFill>
                <a:latin typeface="Calibri"/>
                <a:ea typeface="Calibri"/>
                <a:cs typeface="Calibri"/>
                <a:sym typeface="Calibri"/>
              </a:rPr>
              <a:t>Example</a:t>
            </a:r>
            <a:endParaRPr sz="2200">
              <a:solidFill>
                <a:schemeClr val="dk1"/>
              </a:solidFill>
              <a:latin typeface="Calibri"/>
              <a:ea typeface="Calibri"/>
              <a:cs typeface="Calibri"/>
              <a:sym typeface="Calibri"/>
            </a:endParaRPr>
          </a:p>
          <a:p>
            <a:pPr indent="0" lvl="0" marL="12700" marR="3993515" rtl="0" algn="l">
              <a:lnSpc>
                <a:spcPct val="120100"/>
              </a:lnSpc>
              <a:spcBef>
                <a:spcPts val="0"/>
              </a:spcBef>
              <a:spcAft>
                <a:spcPts val="0"/>
              </a:spcAft>
              <a:buNone/>
            </a:pPr>
            <a:r>
              <a:rPr lang="en-US" sz="2200">
                <a:solidFill>
                  <a:schemeClr val="dk1"/>
                </a:solidFill>
                <a:latin typeface="Calibri"/>
                <a:ea typeface="Calibri"/>
                <a:cs typeface="Calibri"/>
                <a:sym typeface="Calibri"/>
              </a:rPr>
              <a:t>&lt;?php  unlink('data.txt');</a:t>
            </a:r>
            <a:endParaRPr sz="2200">
              <a:solidFill>
                <a:schemeClr val="dk1"/>
              </a:solidFill>
              <a:latin typeface="Calibri"/>
              <a:ea typeface="Calibri"/>
              <a:cs typeface="Calibri"/>
              <a:sym typeface="Calibri"/>
            </a:endParaRPr>
          </a:p>
          <a:p>
            <a:pPr indent="0" lvl="0" marL="0" marR="0" rtl="0" algn="l">
              <a:lnSpc>
                <a:spcPct val="100000"/>
              </a:lnSpc>
              <a:spcBef>
                <a:spcPts val="35"/>
              </a:spcBef>
              <a:spcAft>
                <a:spcPts val="0"/>
              </a:spcAft>
              <a:buNone/>
            </a:pPr>
            <a:r>
              <a:t/>
            </a:r>
            <a:endParaRPr sz="3000">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echo "File deleted successfully";</a:t>
            </a:r>
            <a:endParaRPr sz="2200">
              <a:solidFill>
                <a:schemeClr val="dk1"/>
              </a:solidFill>
              <a:latin typeface="Calibri"/>
              <a:ea typeface="Calibri"/>
              <a:cs typeface="Calibri"/>
              <a:sym typeface="Calibri"/>
            </a:endParaRPr>
          </a:p>
          <a:p>
            <a:pPr indent="0" lvl="0" marL="12700" marR="0" rtl="0" algn="l">
              <a:lnSpc>
                <a:spcPct val="100000"/>
              </a:lnSpc>
              <a:spcBef>
                <a:spcPts val="530"/>
              </a:spcBef>
              <a:spcAft>
                <a:spcPts val="0"/>
              </a:spcAft>
              <a:buNone/>
            </a:pPr>
            <a:r>
              <a:rPr lang="en-US" sz="2200">
                <a:solidFill>
                  <a:schemeClr val="dk1"/>
                </a:solidFill>
                <a:latin typeface="Calibri"/>
                <a:ea typeface="Calibri"/>
                <a:cs typeface="Calibri"/>
                <a:sym typeface="Calibri"/>
              </a:rPr>
              <a:t>?&gt;</a:t>
            </a:r>
            <a:endParaRPr sz="2200">
              <a:solidFill>
                <a:schemeClr val="dk1"/>
              </a:solidFill>
              <a:latin typeface="Calibri"/>
              <a:ea typeface="Calibri"/>
              <a:cs typeface="Calibri"/>
              <a:sym typeface="Calibri"/>
            </a:endParaRPr>
          </a:p>
        </p:txBody>
      </p:sp>
      <p:sp>
        <p:nvSpPr>
          <p:cNvPr id="1159" name="Google Shape;1159;p134"/>
          <p:cNvSpPr txBox="1"/>
          <p:nvPr>
            <p:ph type="title"/>
          </p:nvPr>
        </p:nvSpPr>
        <p:spPr>
          <a:xfrm>
            <a:off x="536244" y="547496"/>
            <a:ext cx="36226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600"/>
              <a:t>PHP File Handling</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2024-02-23T06:13:45Z</dcterms:created>
  <dc:creator>ismail - [2010]</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2020-10-27T00:00:00Z</vt:filetime>
  </property>
  <property fmtid="{D5CDD505-2E9C-101B-9397-08002B2CF9AE}" pid="3" name="Creator">
    <vt:lpwstr>Microsoft® PowerPoint® 2016</vt:lpwstr>
  </property>
  <property fmtid="{D5CDD505-2E9C-101B-9397-08002B2CF9AE}" pid="4" name="LastSaved">
    <vt:filetime>2024-02-23T00:00:00Z</vt:filetime>
  </property>
</Properties>
</file>