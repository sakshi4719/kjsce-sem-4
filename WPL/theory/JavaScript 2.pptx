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9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39" r:id="rId53"/>
    <p:sldId id="340" r:id="rId54"/>
    <p:sldId id="341" r:id="rId55"/>
    <p:sldId id="337" r:id="rId56"/>
    <p:sldId id="351" r:id="rId57"/>
    <p:sldId id="328" r:id="rId58"/>
    <p:sldId id="329" r:id="rId59"/>
    <p:sldId id="352" r:id="rId60"/>
    <p:sldId id="333" r:id="rId61"/>
    <p:sldId id="334" r:id="rId62"/>
    <p:sldId id="335" r:id="rId63"/>
    <p:sldId id="336" r:id="rId64"/>
    <p:sldId id="338" r:id="rId65"/>
    <p:sldId id="343" r:id="rId66"/>
    <p:sldId id="344" r:id="rId67"/>
    <p:sldId id="353" r:id="rId68"/>
    <p:sldId id="345" r:id="rId69"/>
    <p:sldId id="311" r:id="rId70"/>
    <p:sldId id="330" r:id="rId71"/>
    <p:sldId id="331" r:id="rId72"/>
    <p:sldId id="332" r:id="rId73"/>
    <p:sldId id="312" r:id="rId74"/>
    <p:sldId id="313" r:id="rId75"/>
    <p:sldId id="346" r:id="rId76"/>
    <p:sldId id="347" r:id="rId77"/>
    <p:sldId id="348" r:id="rId78"/>
    <p:sldId id="350" r:id="rId79"/>
    <p:sldId id="349" r:id="rId80"/>
    <p:sldId id="316" r:id="rId81"/>
    <p:sldId id="317" r:id="rId82"/>
    <p:sldId id="318" r:id="rId83"/>
    <p:sldId id="319" r:id="rId84"/>
    <p:sldId id="320" r:id="rId85"/>
    <p:sldId id="321" r:id="rId86"/>
    <p:sldId id="322" r:id="rId87"/>
    <p:sldId id="323" r:id="rId88"/>
    <p:sldId id="324" r:id="rId89"/>
    <p:sldId id="325" r:id="rId90"/>
    <p:sldId id="326" r:id="rId91"/>
    <p:sldId id="327" r:id="rId92"/>
    <p:sldId id="314" r:id="rId93"/>
    <p:sldId id="315" r:id="rId94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6" roundtripDataSignature="AMtx7mi/mJhXjf+7RykSfhiZMq+Kb7nx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E7C01E4A-ECF9-481C-8706-59F973F03C87}">
  <a:tblStyle styleId="{E7C01E4A-ECF9-481C-8706-59F973F03C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1206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25447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7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77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1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388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2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67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32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8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3689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245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14570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253190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703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176374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718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7796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0690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5"/>
          <p:cNvSpPr txBox="1">
            <a:spLocks noGrp="1"/>
          </p:cNvSpPr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5"/>
          <p:cNvSpPr txBox="1">
            <a:spLocks noGrp="1"/>
          </p:cNvSpPr>
          <p:nvPr>
            <p:ph type="body" idx="1"/>
          </p:nvPr>
        </p:nvSpPr>
        <p:spPr>
          <a:xfrm>
            <a:off x="841044" y="1180940"/>
            <a:ext cx="7046595" cy="459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5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5"/>
          <p:cNvSpPr txBox="1">
            <a:spLocks noGrp="1"/>
          </p:cNvSpPr>
          <p:nvPr>
            <p:ph type="sldNum" idx="12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9685" marR="0" lv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9685" marR="0" lvl="1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9685" marR="0" lvl="2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9685" marR="0" lvl="3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9685" marR="0" lvl="4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685" marR="0" lvl="5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9685" marR="0" lvl="6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9685" marR="0" lvl="7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9685" marR="0" lvl="8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7648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1_Title Only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6"/>
          <p:cNvSpPr txBox="1">
            <a:spLocks noGrp="1"/>
          </p:cNvSpPr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6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6"/>
          <p:cNvSpPr txBox="1">
            <a:spLocks noGrp="1"/>
          </p:cNvSpPr>
          <p:nvPr>
            <p:ph type="sldNum" idx="12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9685" marR="0" lv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9685" marR="0" lvl="1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9685" marR="0" lvl="2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9685" marR="0" lvl="3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9685" marR="0" lvl="4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685" marR="0" lvl="5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9685" marR="0" lvl="6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9685" marR="0" lvl="7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9685" marR="0" lvl="8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35122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1_Two Content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8"/>
          <p:cNvSpPr txBox="1">
            <a:spLocks noGrp="1"/>
          </p:cNvSpPr>
          <p:nvPr>
            <p:ph type="title"/>
          </p:nvPr>
        </p:nvSpPr>
        <p:spPr>
          <a:xfrm>
            <a:off x="3187064" y="1208277"/>
            <a:ext cx="2769870" cy="636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8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8"/>
          <p:cNvSpPr txBox="1">
            <a:spLocks noGrp="1"/>
          </p:cNvSpPr>
          <p:nvPr>
            <p:ph type="body" idx="2"/>
          </p:nvPr>
        </p:nvSpPr>
        <p:spPr>
          <a:xfrm>
            <a:off x="4957317" y="2336139"/>
            <a:ext cx="2970529" cy="371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8"/>
          <p:cNvSpPr txBox="1">
            <a:spLocks noGrp="1"/>
          </p:cNvSpPr>
          <p:nvPr>
            <p:ph type="sldNum" idx="12"/>
          </p:nvPr>
        </p:nvSpPr>
        <p:spPr>
          <a:xfrm>
            <a:off x="7724520" y="6019912"/>
            <a:ext cx="198754" cy="169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9685" marR="0" lvl="0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9685" marR="0" lvl="1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9685" marR="0" lvl="2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9685" marR="0" lvl="3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9685" marR="0" lvl="4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685" marR="0" lvl="5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9685" marR="0" lvl="6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9685" marR="0" lvl="7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9685" marR="0" lvl="8" indent="0" algn="l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919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19685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35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/>
        </p:nvSpPr>
        <p:spPr>
          <a:xfrm>
            <a:off x="2671064" y="2286457"/>
            <a:ext cx="3501390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i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Javascript: Basics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>
            <a:spLocks noGrp="1"/>
          </p:cNvSpPr>
          <p:nvPr>
            <p:ph type="title"/>
          </p:nvPr>
        </p:nvSpPr>
        <p:spPr>
          <a:xfrm>
            <a:off x="3430015" y="935228"/>
            <a:ext cx="229044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Introduction</a:t>
            </a:r>
            <a:endParaRPr sz="3600"/>
          </a:p>
        </p:txBody>
      </p:sp>
      <p:sp>
        <p:nvSpPr>
          <p:cNvPr id="72" name="Google Shape;72;p2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917244" y="1609725"/>
            <a:ext cx="7542530" cy="3928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508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is a scripting language most often used for client-  side web development.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6985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JavaScript supported in the browsers typically support  additional objects.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Window, Frame, Form, DOM object, etc.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6350" lvl="0" indent="-287019" algn="l" rtl="0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brands or/and different  versions of	browsers may  support different implementation of JavaScript.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not fully compatible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JScript is the Microsoft version of JavaScript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>
            <a:spLocks noGrp="1"/>
          </p:cNvSpPr>
          <p:nvPr>
            <p:ph type="title"/>
          </p:nvPr>
        </p:nvSpPr>
        <p:spPr>
          <a:xfrm>
            <a:off x="804226" y="740899"/>
            <a:ext cx="69984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can we do with JavaScript?</a:t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728225" y="1370600"/>
            <a:ext cx="8130900" cy="50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299085" marR="0" lvl="0" indent="-287019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create interactive user interface in a web page (e.g., menu,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pop-up alert, windows, etc.)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Manipulating web content dynamically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the content and style of an element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Replace images on a page without page reload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Hide/Show contents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600"/>
              <a:buFont typeface="Arial"/>
              <a:buNone/>
            </a:pP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HTML contents on the fly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validation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AJAX (e.g. Google complete)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1336147" y="818850"/>
            <a:ext cx="5232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Why Study JavaScript?</a:t>
            </a:r>
            <a:endParaRPr sz="3600"/>
          </a:p>
        </p:txBody>
      </p:sp>
      <p:sp>
        <p:nvSpPr>
          <p:cNvPr id="87" name="Google Shape;87;p4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48275" y="1385850"/>
            <a:ext cx="8624700" cy="48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299085" marR="5080" lvl="0" indent="-287019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	is	one	of	the	</a:t>
            </a: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	languages	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	web  d</a:t>
            </a:r>
            <a:r>
              <a:rPr lang="en-US" sz="2400" u="sng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evelopers </a:t>
            </a:r>
            <a:r>
              <a:rPr lang="en-US" sz="2400" b="1" u="sng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</a:t>
            </a:r>
            <a:r>
              <a:rPr lang="en-US" sz="2400" u="sng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learn:						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7685" marR="0" lvl="1" indent="-287019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AutoNum type="arabicPeriod"/>
            </a:pPr>
            <a:r>
              <a:rPr lang="en-US" sz="2400" b="1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</a:t>
            </a:r>
            <a:r>
              <a:rPr lang="en-US" sz="24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define the content of web pages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7685" marR="0" lvl="1" indent="-287019" algn="l" rtl="0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AutoNum type="arabicPeriod"/>
            </a:pPr>
            <a:r>
              <a:rPr lang="en-US" sz="2400" b="1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 </a:t>
            </a:r>
            <a:r>
              <a:rPr lang="en-US" sz="24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specify the layout of web pages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7685" marR="0" lvl="1" indent="-287019" algn="l" rtl="0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252525"/>
              </a:buClr>
              <a:buSzPts val="2400"/>
              <a:buFont typeface="Times New Roman"/>
              <a:buAutoNum type="arabicPeriod"/>
            </a:pPr>
            <a:r>
              <a:rPr lang="en-US" sz="2400" b="1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</a:t>
            </a:r>
            <a:r>
              <a:rPr lang="en-US" sz="24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program the behavior of web pages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pages are not the only place where JavaScript is used.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13958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desktop and server programs use JavaScript.	Node.js is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best known.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8255" lvl="0" indent="-287019" algn="l" rtl="0">
              <a:lnSpc>
                <a:spcPct val="107916"/>
              </a:lnSpc>
              <a:spcBef>
                <a:spcPts val="121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	databases,	like	MongoDB	and	CouchDB,	also	use  JavaScript as their programming language.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 txBox="1">
            <a:spLocks noGrp="1"/>
          </p:cNvSpPr>
          <p:nvPr>
            <p:ph type="title"/>
          </p:nvPr>
        </p:nvSpPr>
        <p:spPr>
          <a:xfrm>
            <a:off x="2931890" y="474925"/>
            <a:ext cx="22410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Syntax</a:t>
            </a:r>
            <a:endParaRPr sz="3600"/>
          </a:p>
        </p:txBody>
      </p:sp>
      <p:sp>
        <p:nvSpPr>
          <p:cNvPr id="95" name="Google Shape;95;p5"/>
          <p:cNvSpPr txBox="1"/>
          <p:nvPr/>
        </p:nvSpPr>
        <p:spPr>
          <a:xfrm>
            <a:off x="7776718" y="6019912"/>
            <a:ext cx="147955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38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841051" y="1455252"/>
            <a:ext cx="7884900" cy="40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can be implemented using JavaScript statements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are placed within the </a:t>
            </a: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&lt;script&gt;... &lt;/script&gt;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just" rtl="0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place the </a:t>
            </a: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 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tags, containing your  JavaScript, anywhere within your web page, but it is  normally recommended that you should keep it within  the </a:t>
            </a: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 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tags.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213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&lt;script&gt;	tag	alerts	the	browser	program	to	start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interpreting all the text between these tags as a script.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3210560" y="620344"/>
            <a:ext cx="2800350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 Simple Script</a:t>
            </a:r>
            <a:endParaRPr sz="3600"/>
          </a:p>
        </p:txBody>
      </p:sp>
      <p:grpSp>
        <p:nvGrpSpPr>
          <p:cNvPr id="102" name="Google Shape;102;p6"/>
          <p:cNvGrpSpPr/>
          <p:nvPr/>
        </p:nvGrpSpPr>
        <p:grpSpPr>
          <a:xfrm>
            <a:off x="763523" y="1601724"/>
            <a:ext cx="7467600" cy="4114800"/>
            <a:chOff x="763523" y="1601724"/>
            <a:chExt cx="7467600" cy="4114800"/>
          </a:xfrm>
        </p:grpSpPr>
        <p:sp>
          <p:nvSpPr>
            <p:cNvPr id="103" name="Google Shape;103;p6"/>
            <p:cNvSpPr/>
            <p:nvPr/>
          </p:nvSpPr>
          <p:spPr>
            <a:xfrm>
              <a:off x="763523" y="1601724"/>
              <a:ext cx="7467600" cy="4114800"/>
            </a:xfrm>
            <a:custGeom>
              <a:avLst/>
              <a:gdLst/>
              <a:ahLst/>
              <a:cxnLst/>
              <a:rect l="l" t="t" r="r" b="b"/>
              <a:pathLst>
                <a:path w="7467600" h="4114800" extrusionOk="0">
                  <a:moveTo>
                    <a:pt x="74676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7467600" y="4114800"/>
                  </a:lnTo>
                  <a:lnTo>
                    <a:pt x="74676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763523" y="1601724"/>
              <a:ext cx="7467600" cy="4114800"/>
            </a:xfrm>
            <a:custGeom>
              <a:avLst/>
              <a:gdLst/>
              <a:ahLst/>
              <a:cxnLst/>
              <a:rect l="l" t="t" r="r" b="b"/>
              <a:pathLst>
                <a:path w="7467600" h="4114800" extrusionOk="0">
                  <a:moveTo>
                    <a:pt x="0" y="4114800"/>
                  </a:moveTo>
                  <a:lnTo>
                    <a:pt x="7467600" y="4114800"/>
                  </a:lnTo>
                  <a:lnTo>
                    <a:pt x="7467600" y="0"/>
                  </a:lnTo>
                  <a:lnTo>
                    <a:pt x="0" y="0"/>
                  </a:lnTo>
                  <a:lnTo>
                    <a:pt x="0" y="41148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6"/>
          <p:cNvSpPr txBox="1"/>
          <p:nvPr/>
        </p:nvSpPr>
        <p:spPr>
          <a:xfrm>
            <a:off x="7814818" y="6036193"/>
            <a:ext cx="71755" cy="14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410455" y="4191000"/>
            <a:ext cx="4276344" cy="213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841044" y="1202033"/>
            <a:ext cx="6400800" cy="428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850" rIns="0" bIns="0" anchor="t" anchorCtr="0">
            <a:spAutoFit/>
          </a:bodyPr>
          <a:lstStyle/>
          <a:p>
            <a:pPr marL="4889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Ex1.html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&lt;head&gt;&lt;title&gt;First JavaScript Page&lt;/title&gt;&lt;/head&gt;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&lt;h1&gt;First JavaScript Page&lt;/h1&gt;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74320" marR="2345055" lvl="0" indent="-262255" algn="l" rtl="0">
              <a:lnSpc>
                <a:spcPct val="168235"/>
              </a:lnSpc>
              <a:spcBef>
                <a:spcPts val="209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&lt;script type="text/javascript"&gt;  </a:t>
            </a:r>
            <a:r>
              <a:rPr lang="en-US" sz="17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document.write("&lt;hr&gt;");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74320" marR="0" lvl="0" indent="0" algn="l" rtl="0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document.write("Hello World from JavaScript!");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74320" marR="0" lvl="0" indent="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document.write("&lt;hr&gt;");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>
            <a:spLocks noGrp="1"/>
          </p:cNvSpPr>
          <p:nvPr>
            <p:ph type="title"/>
          </p:nvPr>
        </p:nvSpPr>
        <p:spPr>
          <a:xfrm>
            <a:off x="709225" y="474925"/>
            <a:ext cx="7959900" cy="11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625" rIns="0" bIns="0" anchor="t" anchorCtr="0">
            <a:spAutoFit/>
          </a:bodyPr>
          <a:lstStyle/>
          <a:p>
            <a:pPr marL="3892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Enabling - Chrome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None/>
            </a:pPr>
            <a:r>
              <a:rPr lang="en-US" sz="2400"/>
              <a:t>           Step 2 : Advance Setting -&gt; Privacy &amp; Security</a:t>
            </a:r>
            <a:endParaRPr sz="2400"/>
          </a:p>
        </p:txBody>
      </p:sp>
      <p:sp>
        <p:nvSpPr>
          <p:cNvPr id="113" name="Google Shape;113;p8"/>
          <p:cNvSpPr/>
          <p:nvPr/>
        </p:nvSpPr>
        <p:spPr>
          <a:xfrm>
            <a:off x="905136" y="1933800"/>
            <a:ext cx="7568100" cy="4258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1393129" y="835875"/>
            <a:ext cx="4910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Enabling - Chrome</a:t>
            </a:r>
            <a:endParaRPr sz="3600"/>
          </a:p>
        </p:txBody>
      </p:sp>
      <p:sp>
        <p:nvSpPr>
          <p:cNvPr id="121" name="Google Shape;121;p7"/>
          <p:cNvSpPr txBox="1"/>
          <p:nvPr/>
        </p:nvSpPr>
        <p:spPr>
          <a:xfrm>
            <a:off x="1393125" y="1582800"/>
            <a:ext cx="67062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: Choose Setting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66825" y="2019000"/>
            <a:ext cx="7620000" cy="463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 txBox="1">
            <a:spLocks noGrp="1"/>
          </p:cNvSpPr>
          <p:nvPr>
            <p:ph type="title"/>
          </p:nvPr>
        </p:nvSpPr>
        <p:spPr>
          <a:xfrm>
            <a:off x="1032175" y="555500"/>
            <a:ext cx="52053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Enabling - Chrome</a:t>
            </a:r>
            <a:endParaRPr sz="3600"/>
          </a:p>
        </p:txBody>
      </p:sp>
      <p:sp>
        <p:nvSpPr>
          <p:cNvPr id="130" name="Google Shape;130;p9"/>
          <p:cNvSpPr txBox="1"/>
          <p:nvPr/>
        </p:nvSpPr>
        <p:spPr>
          <a:xfrm>
            <a:off x="841052" y="1025853"/>
            <a:ext cx="81891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: Privacy &amp; Security -&gt; Content Settings-Enable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914400" y="1778255"/>
            <a:ext cx="7315200" cy="388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 txBox="1">
            <a:spLocks noGrp="1"/>
          </p:cNvSpPr>
          <p:nvPr>
            <p:ph type="title"/>
          </p:nvPr>
        </p:nvSpPr>
        <p:spPr>
          <a:xfrm>
            <a:off x="2172019" y="683899"/>
            <a:ext cx="35067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Comments</a:t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936675" y="1665898"/>
            <a:ext cx="7082100" cy="3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0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Line Comment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represented by double forward slashes (//). It can be used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and after the statement.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Multiline Comment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used to add single as well as multi line comments. So,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more convenient.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/* your code */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>
            <a:spLocks noGrp="1"/>
          </p:cNvSpPr>
          <p:nvPr>
            <p:ph type="title"/>
          </p:nvPr>
        </p:nvSpPr>
        <p:spPr>
          <a:xfrm>
            <a:off x="1260145" y="417953"/>
            <a:ext cx="47142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 Simple Script</a:t>
            </a:r>
            <a:endParaRPr sz="3600"/>
          </a:p>
        </p:txBody>
      </p:sp>
      <p:grpSp>
        <p:nvGrpSpPr>
          <p:cNvPr id="146" name="Google Shape;146;p11"/>
          <p:cNvGrpSpPr/>
          <p:nvPr/>
        </p:nvGrpSpPr>
        <p:grpSpPr>
          <a:xfrm>
            <a:off x="763523" y="1586483"/>
            <a:ext cx="7543800" cy="4267200"/>
            <a:chOff x="763523" y="1586483"/>
            <a:chExt cx="7543800" cy="4267200"/>
          </a:xfrm>
        </p:grpSpPr>
        <p:sp>
          <p:nvSpPr>
            <p:cNvPr id="147" name="Google Shape;147;p11"/>
            <p:cNvSpPr/>
            <p:nvPr/>
          </p:nvSpPr>
          <p:spPr>
            <a:xfrm>
              <a:off x="763523" y="1586483"/>
              <a:ext cx="7543800" cy="4267200"/>
            </a:xfrm>
            <a:custGeom>
              <a:avLst/>
              <a:gdLst/>
              <a:ahLst/>
              <a:cxnLst/>
              <a:rect l="l" t="t" r="r" b="b"/>
              <a:pathLst>
                <a:path w="7543800" h="4267200" extrusionOk="0">
                  <a:moveTo>
                    <a:pt x="7543800" y="0"/>
                  </a:moveTo>
                  <a:lnTo>
                    <a:pt x="0" y="0"/>
                  </a:lnTo>
                  <a:lnTo>
                    <a:pt x="0" y="4267200"/>
                  </a:lnTo>
                  <a:lnTo>
                    <a:pt x="7543800" y="4267200"/>
                  </a:lnTo>
                  <a:lnTo>
                    <a:pt x="75438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1"/>
            <p:cNvSpPr/>
            <p:nvPr/>
          </p:nvSpPr>
          <p:spPr>
            <a:xfrm>
              <a:off x="763523" y="1586483"/>
              <a:ext cx="7543800" cy="4267200"/>
            </a:xfrm>
            <a:custGeom>
              <a:avLst/>
              <a:gdLst/>
              <a:ahLst/>
              <a:cxnLst/>
              <a:rect l="l" t="t" r="r" b="b"/>
              <a:pathLst>
                <a:path w="7543800" h="4267200" extrusionOk="0">
                  <a:moveTo>
                    <a:pt x="0" y="4267200"/>
                  </a:moveTo>
                  <a:lnTo>
                    <a:pt x="7543800" y="4267200"/>
                  </a:lnTo>
                  <a:lnTo>
                    <a:pt x="7543800" y="0"/>
                  </a:lnTo>
                  <a:lnTo>
                    <a:pt x="0" y="0"/>
                  </a:lnTo>
                  <a:lnTo>
                    <a:pt x="0" y="42672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1"/>
          <p:cNvSpPr txBox="1"/>
          <p:nvPr/>
        </p:nvSpPr>
        <p:spPr>
          <a:xfrm>
            <a:off x="5669905" y="3742182"/>
            <a:ext cx="2352040" cy="285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//Printing Message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853744" y="1471015"/>
            <a:ext cx="4568825" cy="2791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62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1826260" lvl="0" indent="0" algn="l" rtl="0">
              <a:lnSpc>
                <a:spcPct val="1389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/* Sample Program for  comment */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5080" lvl="0" indent="0" algn="l" rtl="0">
              <a:lnSpc>
                <a:spcPct val="139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// It is single line comment  document.write("hello javascript");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6385" marR="0" lvl="0" indent="0" algn="l" rtl="0">
              <a:lnSpc>
                <a:spcPct val="1088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on Output device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853744" y="4599978"/>
            <a:ext cx="1184910" cy="11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237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841044" y="1216533"/>
            <a:ext cx="9817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Ex2.html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4495800" y="4169664"/>
            <a:ext cx="4020311" cy="195986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 txBox="1">
            <a:spLocks noGrp="1"/>
          </p:cNvSpPr>
          <p:nvPr>
            <p:ph type="title"/>
          </p:nvPr>
        </p:nvSpPr>
        <p:spPr>
          <a:xfrm>
            <a:off x="1278629" y="474923"/>
            <a:ext cx="45423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Basic Features</a:t>
            </a:r>
            <a:endParaRPr sz="3600"/>
          </a:p>
        </p:txBody>
      </p:sp>
      <p:sp>
        <p:nvSpPr>
          <p:cNvPr id="161" name="Google Shape;161;p12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2"/>
          <p:cNvSpPr txBox="1"/>
          <p:nvPr/>
        </p:nvSpPr>
        <p:spPr>
          <a:xfrm>
            <a:off x="841675" y="1093414"/>
            <a:ext cx="7238400" cy="48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use as many &lt;script&gt; tags as you like in both the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 and &lt;body&gt; and they are executed sequentially.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Script Execution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Top-down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 before &lt;body&gt;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Can’t forward reference outside a &lt;script&gt; tag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is case sensitive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Whitespace is generally ignored in JavaScript statement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	X	+ 1 same as X=X+1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/>
          </p:nvPr>
        </p:nvSpPr>
        <p:spPr>
          <a:xfrm>
            <a:off x="1887055" y="778877"/>
            <a:ext cx="3668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Statements</a:t>
            </a:r>
            <a:endParaRPr sz="3600"/>
          </a:p>
        </p:txBody>
      </p:sp>
      <p:sp>
        <p:nvSpPr>
          <p:cNvPr id="169" name="Google Shape;169;p13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1278625" y="2221672"/>
            <a:ext cx="6900600" cy="31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script is made up of individual statements.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	statement	are	terminated	by	returns	/  semi-colons (;)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Prefer to use semi-colons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Statements are group together using curly braces { }.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654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control structures and functions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 txBox="1">
            <a:spLocks noGrp="1"/>
          </p:cNvSpPr>
          <p:nvPr>
            <p:ph type="title"/>
          </p:nvPr>
        </p:nvSpPr>
        <p:spPr>
          <a:xfrm>
            <a:off x="1856994" y="969975"/>
            <a:ext cx="5433060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993900" marR="5080" lvl="0" indent="-19818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JavaScript Can Change HTML  Content</a:t>
            </a:r>
            <a:endParaRPr sz="3600"/>
          </a:p>
        </p:txBody>
      </p:sp>
      <p:sp>
        <p:nvSpPr>
          <p:cNvPr id="177" name="Google Shape;177;p14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764844" y="2411066"/>
            <a:ext cx="7465695" cy="291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299085" marR="0" lvl="0" indent="-28701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650"/>
              <a:buFont typeface="Arial"/>
              <a:buChar char="•"/>
            </a:pPr>
            <a:r>
              <a:rPr lang="en-US" sz="23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many JavaScript HTML methods is </a:t>
            </a:r>
            <a:r>
              <a:rPr lang="en-US" sz="2300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getElementById</a:t>
            </a:r>
            <a:r>
              <a:rPr lang="en-US" sz="23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().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just" rtl="0">
              <a:lnSpc>
                <a:spcPct val="100000"/>
              </a:lnSpc>
              <a:spcBef>
                <a:spcPts val="1150"/>
              </a:spcBef>
              <a:spcAft>
                <a:spcPts val="0"/>
              </a:spcAft>
              <a:buClr>
                <a:srgbClr val="83992A"/>
              </a:buClr>
              <a:buSzPts val="2650"/>
              <a:buFont typeface="Arial"/>
              <a:buChar char="•"/>
            </a:pPr>
            <a:r>
              <a:rPr lang="en-US" sz="23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example uses the method to "find" an HTML element  (with id="demo") and changes the element content  (</a:t>
            </a:r>
            <a:r>
              <a:rPr lang="en-US" sz="23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innerHTML</a:t>
            </a:r>
            <a:r>
              <a:rPr lang="en-US" sz="23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to "Hello JavaScript":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just" rtl="0">
              <a:lnSpc>
                <a:spcPct val="100000"/>
              </a:lnSpc>
              <a:spcBef>
                <a:spcPts val="1275"/>
              </a:spcBef>
              <a:spcAft>
                <a:spcPts val="0"/>
              </a:spcAft>
              <a:buClr>
                <a:srgbClr val="83992A"/>
              </a:buClr>
              <a:buSzPts val="2650"/>
              <a:buFont typeface="Arial"/>
              <a:buChar char="•"/>
            </a:pPr>
            <a:r>
              <a:rPr lang="en-US" sz="23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3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6350" lvl="0" indent="0" algn="just" rtl="0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</a:t>
            </a:r>
            <a:r>
              <a:rPr lang="en-US" sz="24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("demo").</a:t>
            </a:r>
            <a:r>
              <a:rPr lang="en-US" sz="2400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innerHTML</a:t>
            </a:r>
            <a:r>
              <a:rPr lang="en-US" sz="24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"Hello  JavaScript";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>
            <a:spLocks noGrp="1"/>
          </p:cNvSpPr>
          <p:nvPr>
            <p:ph type="title"/>
          </p:nvPr>
        </p:nvSpPr>
        <p:spPr>
          <a:xfrm>
            <a:off x="1298828" y="969975"/>
            <a:ext cx="654875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778125" marR="5080" lvl="0" indent="-27654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JavaScript Can Change HTML Styles  (CSS)</a:t>
            </a:r>
            <a:endParaRPr sz="3600"/>
          </a:p>
        </p:txBody>
      </p:sp>
      <p:sp>
        <p:nvSpPr>
          <p:cNvPr id="185" name="Google Shape;185;p15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1145844" y="2500629"/>
            <a:ext cx="6870700" cy="215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508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Changing the style of an HTML element, is a variant of  changing an HTML attribute: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200660" lvl="0" indent="457200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document.getElementById("demo").style.fontSize =  "35px";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2094738" y="969975"/>
            <a:ext cx="4960620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646554" marR="5080" lvl="0" indent="-163448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JavaScript Can Hide HTML  Elements</a:t>
            </a:r>
            <a:endParaRPr sz="3600"/>
          </a:p>
        </p:txBody>
      </p:sp>
      <p:sp>
        <p:nvSpPr>
          <p:cNvPr id="193" name="Google Shape;193;p16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1069644" y="2500629"/>
            <a:ext cx="6717665" cy="2153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113664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Hiding HTML elements can be done by changing the  display style: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document.getElementById("demo").style.display = "non  e";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>
            <a:spLocks noGrp="1"/>
          </p:cNvSpPr>
          <p:nvPr>
            <p:ph type="title"/>
          </p:nvPr>
        </p:nvSpPr>
        <p:spPr>
          <a:xfrm>
            <a:off x="2036826" y="969975"/>
            <a:ext cx="5074285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704339" marR="5080" lvl="0" indent="-16922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JavaScript Can Show HTML  Elements</a:t>
            </a:r>
            <a:endParaRPr sz="3600"/>
          </a:p>
        </p:txBody>
      </p:sp>
      <p:sp>
        <p:nvSpPr>
          <p:cNvPr id="201" name="Google Shape;201;p17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917244" y="2500629"/>
            <a:ext cx="7091680" cy="178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43180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Showing hidden HTML elements can also be done by  changing the display style: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-174624" algn="l" rtl="0">
              <a:lnSpc>
                <a:spcPct val="1409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r>
              <a:rPr lang="en-US" sz="24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document.getElementById("demo").style.display = "block";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>
            <a:spLocks noGrp="1"/>
          </p:cNvSpPr>
          <p:nvPr>
            <p:ph type="title"/>
          </p:nvPr>
        </p:nvSpPr>
        <p:spPr>
          <a:xfrm>
            <a:off x="2548889" y="1208277"/>
            <a:ext cx="405257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Where To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255572" y="2344299"/>
            <a:ext cx="6517005" cy="351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0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in &lt;head&gt;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{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91185" marR="0" lvl="0" indent="0" algn="l" rtl="0">
              <a:lnSpc>
                <a:spcPct val="113684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"Paragraph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marR="0" lvl="0" indent="0" algn="l" rtl="0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changed.";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 txBox="1">
            <a:spLocks noGrp="1"/>
          </p:cNvSpPr>
          <p:nvPr>
            <p:ph type="title"/>
          </p:nvPr>
        </p:nvSpPr>
        <p:spPr>
          <a:xfrm>
            <a:off x="2548889" y="741425"/>
            <a:ext cx="405257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Where To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917244" y="1649958"/>
            <a:ext cx="6970395" cy="413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in &lt;body&gt;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</a:t>
            </a:r>
            <a:r>
              <a:rPr lang="en-US" sz="17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dy&gt;	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&lt;h1&gt;A Web Page&lt;/h1&gt;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id="demo"&gt;A Paragraph&lt;/p&gt;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 type="button" onclick="myFunction()"&gt;Try it&lt;/button&gt;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{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31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"Paragraph changed.";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>
            <a:spLocks noGrp="1"/>
          </p:cNvSpPr>
          <p:nvPr>
            <p:ph type="title"/>
          </p:nvPr>
        </p:nvSpPr>
        <p:spPr>
          <a:xfrm>
            <a:off x="1718751" y="453326"/>
            <a:ext cx="377888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External JavaScript</a:t>
            </a:r>
            <a:endParaRPr dirty="0"/>
          </a:p>
        </p:txBody>
      </p:sp>
      <p:sp>
        <p:nvSpPr>
          <p:cNvPr id="224" name="Google Shape;224;p20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917244" y="1486585"/>
            <a:ext cx="6777355" cy="456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Scripts can also be placed in external files: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4327525" lvl="0" indent="0" algn="l" rtl="0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file: myScript.js  </a:t>
            </a: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myFunction() {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448944" lvl="0" indent="63500" algn="l" rtl="0">
              <a:lnSpc>
                <a:spcPct val="800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"Paragraph  changed.";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27305" lvl="0" indent="-287019" algn="l" rtl="0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scripts are practical when the same code is used in many  different web pages.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files have the file extension.js.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8000"/>
              </a:lnSpc>
              <a:spcBef>
                <a:spcPts val="60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use an external script, put the name of the script file in the src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(source) attribute of a &lt;script&gt; tag: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 src="myScript.js"&gt;&lt;/script&gt;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 txBox="1">
            <a:spLocks noGrp="1"/>
          </p:cNvSpPr>
          <p:nvPr>
            <p:ph type="title"/>
          </p:nvPr>
        </p:nvSpPr>
        <p:spPr>
          <a:xfrm>
            <a:off x="1585341" y="1208277"/>
            <a:ext cx="598360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Display Possibilities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255572" y="2410183"/>
            <a:ext cx="6597015" cy="2918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can "display" data in different ways: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HTML element, using innerHTML.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HTML output using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an alert box, using window.alert().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into the browser console, using console.log().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>
            <a:spLocks noGrp="1"/>
          </p:cNvSpPr>
          <p:nvPr>
            <p:ph type="title"/>
          </p:nvPr>
        </p:nvSpPr>
        <p:spPr>
          <a:xfrm>
            <a:off x="1585341" y="1208277"/>
            <a:ext cx="598360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Display Possibilities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255572" y="2500629"/>
            <a:ext cx="6623050" cy="319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document.getElementById("demo").innerHTML = 5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752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document.write(5 + 6);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&lt;button type="button" onclick="document.write(5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+ 6)"&gt;Try it&lt;/button&gt;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window.alert(5 + 6);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console.log(5 + 6);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 txBox="1">
            <a:spLocks noGrp="1"/>
          </p:cNvSpPr>
          <p:nvPr>
            <p:ph type="title"/>
          </p:nvPr>
        </p:nvSpPr>
        <p:spPr>
          <a:xfrm>
            <a:off x="2286007" y="1082851"/>
            <a:ext cx="31968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Variables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1255572" y="2410183"/>
            <a:ext cx="6641465" cy="187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are containers for storing data values.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unique names are called identifiers.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Identifiers can be short names (like x and y) or more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descriptive names (age, sum, total).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/>
          <p:nvPr/>
        </p:nvSpPr>
        <p:spPr>
          <a:xfrm>
            <a:off x="1277061" y="1597752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 txBox="1">
            <a:spLocks noGrp="1"/>
          </p:cNvSpPr>
          <p:nvPr>
            <p:ph type="title"/>
          </p:nvPr>
        </p:nvSpPr>
        <p:spPr>
          <a:xfrm>
            <a:off x="2978442" y="866327"/>
            <a:ext cx="15252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1068069" y="1710274"/>
            <a:ext cx="7008000" cy="44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99085" marR="0" lvl="0" indent="-287019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general	rules	for	constructing	names	for	variables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(unique identifiers) are: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can contain letters, digits, underscores, and dollar signs.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must begin with a letter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5080" lvl="1" indent="-287019" algn="l" rtl="0">
              <a:lnSpc>
                <a:spcPct val="108421"/>
              </a:lnSpc>
              <a:spcBef>
                <a:spcPts val="107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can also begin with $ and _ (but we will not use it in this  tutorial)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 are case sensitive (y and Y are different variables)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13684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Reserved	words	(like	JavaScript	keywords)	cannot	be	used	as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0" indent="0" algn="l" rtl="0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 txBox="1">
            <a:spLocks noGrp="1"/>
          </p:cNvSpPr>
          <p:nvPr>
            <p:ph type="title"/>
          </p:nvPr>
        </p:nvSpPr>
        <p:spPr>
          <a:xfrm>
            <a:off x="2988894" y="778877"/>
            <a:ext cx="23508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950850" y="1484185"/>
            <a:ext cx="6596400" cy="44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0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a variable using the var statement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x;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undefined a variable will be defined on its first use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can be assigned at declaration time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 = 5;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Commas can be used to define many variables at once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x, y = 5, z;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>
            <a:spLocks noGrp="1"/>
          </p:cNvSpPr>
          <p:nvPr>
            <p:ph type="title"/>
          </p:nvPr>
        </p:nvSpPr>
        <p:spPr>
          <a:xfrm>
            <a:off x="3173983" y="663702"/>
            <a:ext cx="279908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 Simple Script</a:t>
            </a:r>
            <a:endParaRPr sz="3600"/>
          </a:p>
        </p:txBody>
      </p:sp>
      <p:grpSp>
        <p:nvGrpSpPr>
          <p:cNvPr id="271" name="Google Shape;271;p26"/>
          <p:cNvGrpSpPr/>
          <p:nvPr/>
        </p:nvGrpSpPr>
        <p:grpSpPr>
          <a:xfrm>
            <a:off x="986027" y="1647444"/>
            <a:ext cx="7315200" cy="4114800"/>
            <a:chOff x="986027" y="1647444"/>
            <a:chExt cx="7315200" cy="4114800"/>
          </a:xfrm>
        </p:grpSpPr>
        <p:sp>
          <p:nvSpPr>
            <p:cNvPr id="272" name="Google Shape;272;p26"/>
            <p:cNvSpPr/>
            <p:nvPr/>
          </p:nvSpPr>
          <p:spPr>
            <a:xfrm>
              <a:off x="986027" y="1647444"/>
              <a:ext cx="7315200" cy="4114800"/>
            </a:xfrm>
            <a:custGeom>
              <a:avLst/>
              <a:gdLst/>
              <a:ahLst/>
              <a:cxnLst/>
              <a:rect l="l" t="t" r="r" b="b"/>
              <a:pathLst>
                <a:path w="7315200" h="4114800" extrusionOk="0">
                  <a:moveTo>
                    <a:pt x="7315200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7315200" y="4114800"/>
                  </a:lnTo>
                  <a:lnTo>
                    <a:pt x="7315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986027" y="1647444"/>
              <a:ext cx="7315200" cy="4114800"/>
            </a:xfrm>
            <a:custGeom>
              <a:avLst/>
              <a:gdLst/>
              <a:ahLst/>
              <a:cxnLst/>
              <a:rect l="l" t="t" r="r" b="b"/>
              <a:pathLst>
                <a:path w="7315200" h="4114800" extrusionOk="0">
                  <a:moveTo>
                    <a:pt x="0" y="4114800"/>
                  </a:moveTo>
                  <a:lnTo>
                    <a:pt x="7315200" y="4114800"/>
                  </a:lnTo>
                  <a:lnTo>
                    <a:pt x="7315200" y="0"/>
                  </a:lnTo>
                  <a:lnTo>
                    <a:pt x="0" y="0"/>
                  </a:lnTo>
                  <a:lnTo>
                    <a:pt x="0" y="4114800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" name="Google Shape;274;p26"/>
          <p:cNvSpPr txBox="1"/>
          <p:nvPr/>
        </p:nvSpPr>
        <p:spPr>
          <a:xfrm>
            <a:off x="986027" y="1647444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" marR="0" lvl="0" indent="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" marR="0" lvl="0" indent="0" algn="l" rtl="0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377825" marR="0" lvl="0" indent="0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var myvar = 31;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548640" marR="4596130" lvl="0" indent="0" algn="l" rtl="0">
              <a:lnSpc>
                <a:spcPct val="1477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document.write(myvar);  document.write(Myvar);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" marR="0" lvl="0" indent="0" algn="l" rtl="0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&lt;/script&gt;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" marR="0" lvl="0" indent="0" algn="l" rtl="0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&lt;/body&gt;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" marR="0" lvl="0" indent="0" algn="l" rtl="0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252525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1012647" y="1250060"/>
            <a:ext cx="98171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Ex3.html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3886200" y="2895600"/>
            <a:ext cx="4191000" cy="264871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7706232" y="6019912"/>
            <a:ext cx="218440" cy="172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588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</a:t>
            </a:fld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" name="Google Shape;282;p27"/>
          <p:cNvGraphicFramePr/>
          <p:nvPr/>
        </p:nvGraphicFramePr>
        <p:xfrm>
          <a:off x="548640" y="536448"/>
          <a:ext cx="8040975" cy="5745125"/>
        </p:xfrm>
        <a:graphic>
          <a:graphicData uri="http://schemas.openxmlformats.org/drawingml/2006/table">
            <a:tbl>
              <a:tblPr firstRow="1" bandRow="1">
                <a:noFill/>
                <a:tableStyleId>{E7C01E4A-ECF9-481C-8706-59F973F03C87}</a:tableStyleId>
              </a:tblPr>
              <a:tblGrid>
                <a:gridCol w="3187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548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4847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484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548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156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0925">
                <a:tc gridSpan="6">
                  <a:txBody>
                    <a:bodyPr/>
                    <a:lstStyle/>
                    <a:p>
                      <a:pPr marL="1841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 u="none" strike="noStrike" cap="none">
                          <a:solidFill>
                            <a:srgbClr val="25252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JavaScript Reserved Words</a:t>
                      </a:r>
                      <a:endParaRPr sz="4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63225" marB="0">
                    <a:lnL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8500">
                <a:tc rowSpan="9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abstract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arguments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await*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boolean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9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5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026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break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49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byte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49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49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catch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49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5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char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class*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5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debugger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default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delete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5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double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else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enum*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eval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856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export*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extends*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855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finally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float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85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goto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if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import*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994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instanceof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09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interface	</a:t>
                      </a:r>
                      <a:r>
                        <a:rPr lang="en-US" sz="1500" u="none" strike="noStrike" cap="none" baseline="-25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1500" u="none" strike="noStrike" cap="none" baseline="-25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3992A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>
            <a:spLocks noGrp="1"/>
          </p:cNvSpPr>
          <p:nvPr>
            <p:ph type="title"/>
          </p:nvPr>
        </p:nvSpPr>
        <p:spPr>
          <a:xfrm>
            <a:off x="1939544" y="893521"/>
            <a:ext cx="5290185" cy="636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Reserved Words</a:t>
            </a:r>
            <a:endParaRPr/>
          </a:p>
        </p:txBody>
      </p:sp>
      <p:sp>
        <p:nvSpPr>
          <p:cNvPr id="288" name="Google Shape;288;p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28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9" name="Google Shape;289;p28"/>
          <p:cNvGraphicFramePr/>
          <p:nvPr/>
        </p:nvGraphicFramePr>
        <p:xfrm>
          <a:off x="1160462" y="1974850"/>
          <a:ext cx="6817400" cy="3581350"/>
        </p:xfrm>
        <a:graphic>
          <a:graphicData uri="http://schemas.openxmlformats.org/drawingml/2006/table">
            <a:tbl>
              <a:tblPr firstRow="1" bandRow="1">
                <a:noFill/>
                <a:tableStyleId>{E7C01E4A-ECF9-481C-8706-59F973F03C87}</a:tableStyleId>
              </a:tblPr>
              <a:tblGrid>
                <a:gridCol w="17043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043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7043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7043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11675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native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1550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null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package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protected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1675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short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static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8425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1550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super*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synchronized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1675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throw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throws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transient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1550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try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typeof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void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11675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volatile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while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yield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290" name="Google Shape;290;p28"/>
          <p:cNvSpPr txBox="1"/>
          <p:nvPr/>
        </p:nvSpPr>
        <p:spPr>
          <a:xfrm>
            <a:off x="1349121" y="5759907"/>
            <a:ext cx="5374005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Words marked with* are new in ECMAScript 5 and 6.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9"/>
          <p:cNvSpPr txBox="1">
            <a:spLocks noGrp="1"/>
          </p:cNvSpPr>
          <p:nvPr>
            <p:ph type="title"/>
          </p:nvPr>
        </p:nvSpPr>
        <p:spPr>
          <a:xfrm>
            <a:off x="1127177" y="778877"/>
            <a:ext cx="45798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Types</a:t>
            </a:r>
            <a:endParaRPr/>
          </a:p>
        </p:txBody>
      </p:sp>
      <p:sp>
        <p:nvSpPr>
          <p:cNvPr id="297" name="Google Shape;297;p2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29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1198885" y="1711012"/>
            <a:ext cx="6746100" cy="39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99085" marR="0" lvl="0" indent="-287019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variable has a data type that indicates what kind of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the variable holds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data types in JavaScript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654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654" algn="l" rtl="0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654" algn="l" rtl="0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654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150"/>
              <a:buFont typeface="Arial"/>
              <a:buChar char="•"/>
            </a:pPr>
            <a:r>
              <a:rPr lang="en-US" sz="19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</a:t>
            </a:r>
            <a:endParaRPr sz="19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l" rtl="0">
              <a:lnSpc>
                <a:spcPct val="108181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 has  dynamic  types.  This	means	that the same  variable can be used to hold different data types.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0"/>
          <p:cNvSpPr txBox="1">
            <a:spLocks noGrp="1"/>
          </p:cNvSpPr>
          <p:nvPr>
            <p:ph type="title"/>
          </p:nvPr>
        </p:nvSpPr>
        <p:spPr>
          <a:xfrm>
            <a:off x="2513982" y="1025851"/>
            <a:ext cx="30066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Numbers</a:t>
            </a:r>
            <a:endParaRPr/>
          </a:p>
        </p:txBody>
      </p:sp>
      <p:sp>
        <p:nvSpPr>
          <p:cNvPr id="305" name="Google Shape;305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30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0"/>
          <p:cNvSpPr txBox="1"/>
          <p:nvPr/>
        </p:nvSpPr>
        <p:spPr>
          <a:xfrm>
            <a:off x="956200" y="1880925"/>
            <a:ext cx="7712700" cy="4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6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has only one type of numbers.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Numbers can be written with, or without decimals: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27100" marR="0" lvl="0" indent="0" algn="l" rtl="0">
              <a:lnSpc>
                <a:spcPct val="113684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x1 = 34.00;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27100" marR="0" lvl="0" indent="0" algn="l" rtl="0">
              <a:lnSpc>
                <a:spcPct val="1136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x2 = -34;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14090"/>
              </a:lnSpc>
              <a:spcBef>
                <a:spcPts val="85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	large	or	extra	small	numbers	can	be	written	with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scientific (exponential) notation.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2485" marR="0" lvl="0" indent="0" algn="l" rtl="0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y = 123e5;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1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 txBox="1">
            <a:spLocks noGrp="1"/>
          </p:cNvSpPr>
          <p:nvPr>
            <p:ph type="title"/>
          </p:nvPr>
        </p:nvSpPr>
        <p:spPr>
          <a:xfrm>
            <a:off x="2077038" y="1082851"/>
            <a:ext cx="31896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Strings</a:t>
            </a:r>
            <a:endParaRPr/>
          </a:p>
        </p:txBody>
      </p:sp>
      <p:sp>
        <p:nvSpPr>
          <p:cNvPr id="313" name="Google Shape;313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31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1"/>
          <p:cNvSpPr txBox="1"/>
          <p:nvPr/>
        </p:nvSpPr>
        <p:spPr>
          <a:xfrm>
            <a:off x="696301" y="1941278"/>
            <a:ext cx="7751400" cy="38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475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string (or a text string) is a series of characters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 are written with quotes. You can use single or double quotes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lang="en-US" sz="17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(“thomas”, ‘x’, “Who are you?”)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 may include special escaped characters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lang="en-US" sz="17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‘This isn\’t hard’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Strings may contain some formatting characters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Clr>
                <a:srgbClr val="83992A"/>
              </a:buClr>
              <a:buSzPts val="1950"/>
              <a:buFont typeface="Arial"/>
              <a:buChar char="•"/>
            </a:pPr>
            <a:r>
              <a:rPr lang="en-US" sz="17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“Here are some newlines \n\n\n and tabs \t\t\t yes!”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2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Whitespace has no meaning outside of  quotation marks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2115" marR="0" lvl="0" indent="0" algn="l" rtl="0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foo = ’ h e l l o world ’;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2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2"/>
          <p:cNvSpPr txBox="1">
            <a:spLocks noGrp="1"/>
          </p:cNvSpPr>
          <p:nvPr>
            <p:ph type="title"/>
          </p:nvPr>
        </p:nvSpPr>
        <p:spPr>
          <a:xfrm>
            <a:off x="2228992" y="1158825"/>
            <a:ext cx="31755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Boolean</a:t>
            </a:r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32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2"/>
          <p:cNvSpPr txBox="1"/>
          <p:nvPr/>
        </p:nvSpPr>
        <p:spPr>
          <a:xfrm>
            <a:off x="1255572" y="2410183"/>
            <a:ext cx="6013450" cy="100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Booleans can only have two values: true or false.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Booleans are often used in conditional testing.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3"/>
          <p:cNvSpPr txBox="1">
            <a:spLocks noGrp="1"/>
          </p:cNvSpPr>
          <p:nvPr>
            <p:ph type="title"/>
          </p:nvPr>
        </p:nvSpPr>
        <p:spPr>
          <a:xfrm>
            <a:off x="766217" y="1087001"/>
            <a:ext cx="55020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 Conversion</a:t>
            </a:r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33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1069644" y="2500629"/>
            <a:ext cx="414147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	</a:t>
            </a: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	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	to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5390134" y="2500629"/>
            <a:ext cx="502284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6073266" y="2500629"/>
            <a:ext cx="192722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type	of	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1069644" y="2775945"/>
            <a:ext cx="2459990" cy="1878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2990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variable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 (3)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typeof (3 + 4)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4071750" y="4257874"/>
            <a:ext cx="2707500" cy="7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Returns "number"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0764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Returns "number"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4"/>
          <p:cNvSpPr txBox="1">
            <a:spLocks noGrp="1"/>
          </p:cNvSpPr>
          <p:nvPr>
            <p:ph type="title"/>
          </p:nvPr>
        </p:nvSpPr>
        <p:spPr>
          <a:xfrm>
            <a:off x="1678088" y="816877"/>
            <a:ext cx="35595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Arrays</a:t>
            </a:r>
            <a:endParaRPr/>
          </a:p>
        </p:txBody>
      </p:sp>
      <p:sp>
        <p:nvSpPr>
          <p:cNvPr id="341" name="Google Shape;341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34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4"/>
          <p:cNvSpPr txBox="1"/>
          <p:nvPr/>
        </p:nvSpPr>
        <p:spPr>
          <a:xfrm>
            <a:off x="994200" y="1842948"/>
            <a:ext cx="6947400" cy="40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array is a special variable, which can hold more than one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 at a time.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array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59585" marR="0" lvl="0" indent="0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cars = [];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890395" marR="0" lvl="0" indent="0" algn="l" rtl="0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cars = ["Saab", "Volvo", "BMW"];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the elements of an array by referring </a:t>
            </a:r>
            <a:r>
              <a:rPr lang="en-US" sz="22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 </a:t>
            </a: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3039745" lvl="0" indent="0" algn="r" rtl="0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name = car[1];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6385" marR="2991485" lvl="0" indent="-286385" algn="r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 index starts from zero (0).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5"/>
          <p:cNvSpPr txBox="1">
            <a:spLocks noGrp="1"/>
          </p:cNvSpPr>
          <p:nvPr>
            <p:ph type="title"/>
          </p:nvPr>
        </p:nvSpPr>
        <p:spPr>
          <a:xfrm>
            <a:off x="3814317" y="1208277"/>
            <a:ext cx="152527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Cont…</a:t>
            </a:r>
            <a:endParaRPr/>
          </a:p>
        </p:txBody>
      </p:sp>
      <p:sp>
        <p:nvSpPr>
          <p:cNvPr id="349" name="Google Shape;349;p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35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5"/>
          <p:cNvSpPr txBox="1"/>
          <p:nvPr/>
        </p:nvSpPr>
        <p:spPr>
          <a:xfrm>
            <a:off x="1145844" y="2500629"/>
            <a:ext cx="6852920" cy="259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43815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length 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 of	an array returns the length of  an array (the number of array elements).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cars.length;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l" rtl="0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062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	a	new	element	to	an	array	is	using	the	push  method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2115" marR="0" lvl="0" indent="0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cars.push(“swift”)</a:t>
            </a:r>
            <a:r>
              <a:rPr lang="en-US" sz="18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6"/>
          <p:cNvSpPr txBox="1">
            <a:spLocks noGrp="1"/>
          </p:cNvSpPr>
          <p:nvPr>
            <p:ph type="title"/>
          </p:nvPr>
        </p:nvSpPr>
        <p:spPr>
          <a:xfrm>
            <a:off x="2436114" y="1051051"/>
            <a:ext cx="427672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Arithmetic Operators</a:t>
            </a:r>
            <a:endParaRPr/>
          </a:p>
        </p:txBody>
      </p:sp>
      <p:sp>
        <p:nvSpPr>
          <p:cNvPr id="357" name="Google Shape;357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36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8" name="Google Shape;358;p36"/>
          <p:cNvGraphicFramePr/>
          <p:nvPr/>
        </p:nvGraphicFramePr>
        <p:xfrm>
          <a:off x="1290637" y="2460561"/>
          <a:ext cx="6679550" cy="3630700"/>
        </p:xfrm>
        <a:graphic>
          <a:graphicData uri="http://schemas.openxmlformats.org/drawingml/2006/table">
            <a:tbl>
              <a:tblPr firstRow="1" bandRow="1">
                <a:noFill/>
                <a:tableStyleId>{E7C01E4A-ECF9-481C-8706-59F973F03C87}</a:tableStyleId>
              </a:tblPr>
              <a:tblGrid>
                <a:gridCol w="16624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171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3900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1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1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3775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Addition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3900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Subtraction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53775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Multiplication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3900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Division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53775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Modulus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53850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++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Increment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53825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--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50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Decrement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50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7"/>
          <p:cNvSpPr txBox="1">
            <a:spLocks noGrp="1"/>
          </p:cNvSpPr>
          <p:nvPr>
            <p:ph type="title"/>
          </p:nvPr>
        </p:nvSpPr>
        <p:spPr>
          <a:xfrm>
            <a:off x="2423922" y="1208277"/>
            <a:ext cx="430593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Assignment Operator</a:t>
            </a:r>
            <a:endParaRPr/>
          </a:p>
        </p:txBody>
      </p:sp>
      <p:sp>
        <p:nvSpPr>
          <p:cNvPr id="365" name="Google Shape;365;p3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37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6" name="Google Shape;366;p37"/>
          <p:cNvGraphicFramePr/>
          <p:nvPr/>
        </p:nvGraphicFramePr>
        <p:xfrm>
          <a:off x="723900" y="2617787"/>
          <a:ext cx="7696850" cy="2841675"/>
        </p:xfrm>
        <a:graphic>
          <a:graphicData uri="http://schemas.openxmlformats.org/drawingml/2006/table">
            <a:tbl>
              <a:tblPr firstRow="1" bandRow="1">
                <a:noFill/>
                <a:tableStyleId>{E7C01E4A-ECF9-481C-8706-59F973F03C87}</a:tableStyleId>
              </a:tblPr>
              <a:tblGrid>
                <a:gridCol w="1915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905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8905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59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Equivalent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6025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59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+=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+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6025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-=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-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59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*=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*=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*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6025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/=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/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059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%=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= x % y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>
            <a:spLocks noGrp="1"/>
          </p:cNvSpPr>
          <p:nvPr>
            <p:ph type="title"/>
          </p:nvPr>
        </p:nvSpPr>
        <p:spPr>
          <a:xfrm>
            <a:off x="2591561" y="889457"/>
            <a:ext cx="396938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Comparison Operator</a:t>
            </a:r>
            <a:endParaRPr sz="3600"/>
          </a:p>
        </p:txBody>
      </p:sp>
      <p:graphicFrame>
        <p:nvGraphicFramePr>
          <p:cNvPr id="372" name="Google Shape;372;p38"/>
          <p:cNvGraphicFramePr/>
          <p:nvPr/>
        </p:nvGraphicFramePr>
        <p:xfrm>
          <a:off x="909637" y="1711388"/>
          <a:ext cx="7390775" cy="4516517"/>
        </p:xfrm>
        <a:graphic>
          <a:graphicData uri="http://schemas.openxmlformats.org/drawingml/2006/table">
            <a:tbl>
              <a:tblPr firstRow="1" bandRow="1">
                <a:noFill/>
                <a:tableStyleId>{E7C01E4A-ECF9-481C-8706-59F973F03C87}</a:tableStyleId>
              </a:tblPr>
              <a:tblGrid>
                <a:gridCol w="8788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5119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84400">
                <a:tc>
                  <a:txBody>
                    <a:bodyPr/>
                    <a:lstStyle/>
                    <a:p>
                      <a:pPr marL="144780" marR="13335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  or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1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1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1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equal to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1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===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equal value and equal type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18975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equal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!==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 equal value or not equal type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greater than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than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greater than or equal to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1900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&lt;=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than or equal to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419050">
                <a:tc>
                  <a:txBody>
                    <a:bodyPr/>
                    <a:lstStyle/>
                    <a:p>
                      <a:pPr marL="14478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?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50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1258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ternary operator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412750" lvl="0" indent="0" algn="r" rtl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38</a:t>
                      </a:r>
                      <a:endParaRPr sz="10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450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9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9"/>
          <p:cNvSpPr txBox="1">
            <a:spLocks noGrp="1"/>
          </p:cNvSpPr>
          <p:nvPr>
            <p:ph type="title"/>
          </p:nvPr>
        </p:nvSpPr>
        <p:spPr>
          <a:xfrm>
            <a:off x="2875279" y="1051051"/>
            <a:ext cx="3400425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Logical Operator</a:t>
            </a:r>
            <a:endParaRPr/>
          </a:p>
        </p:txBody>
      </p:sp>
      <p:graphicFrame>
        <p:nvGraphicFramePr>
          <p:cNvPr id="379" name="Google Shape;379;p39"/>
          <p:cNvGraphicFramePr/>
          <p:nvPr/>
        </p:nvGraphicFramePr>
        <p:xfrm>
          <a:off x="1290637" y="2662237"/>
          <a:ext cx="6680200" cy="2667000"/>
        </p:xfrm>
        <a:graphic>
          <a:graphicData uri="http://schemas.openxmlformats.org/drawingml/2006/table">
            <a:tbl>
              <a:tblPr firstRow="1" bandRow="1">
                <a:noFill/>
                <a:tableStyleId>{E7C01E4A-ECF9-481C-8706-59F973F03C87}</a:tableStyleId>
              </a:tblPr>
              <a:tblGrid>
                <a:gridCol w="17513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9288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64200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Operator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67650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&amp;&amp;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logical and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67500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||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logical or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382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67650">
                <a:tc>
                  <a:txBody>
                    <a:bodyPr/>
                    <a:lstStyle/>
                    <a:p>
                      <a:pPr marL="14541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!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730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logical not</a:t>
                      </a:r>
                      <a:endParaRPr sz="17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444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380" name="Google Shape;380;p39"/>
          <p:cNvSpPr txBox="1"/>
          <p:nvPr/>
        </p:nvSpPr>
        <p:spPr>
          <a:xfrm>
            <a:off x="7731632" y="6011367"/>
            <a:ext cx="166370" cy="17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0"/>
          <p:cNvSpPr txBox="1">
            <a:spLocks noGrp="1"/>
          </p:cNvSpPr>
          <p:nvPr>
            <p:ph type="title"/>
          </p:nvPr>
        </p:nvSpPr>
        <p:spPr>
          <a:xfrm>
            <a:off x="2356866" y="974851"/>
            <a:ext cx="443865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Conditional Statement</a:t>
            </a:r>
            <a:endParaRPr/>
          </a:p>
        </p:txBody>
      </p:sp>
      <p:sp>
        <p:nvSpPr>
          <p:cNvPr id="386" name="Google Shape;386;p40"/>
          <p:cNvSpPr txBox="1"/>
          <p:nvPr/>
        </p:nvSpPr>
        <p:spPr>
          <a:xfrm>
            <a:off x="7731632" y="6011367"/>
            <a:ext cx="166370" cy="17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0"/>
          <p:cNvSpPr txBox="1"/>
          <p:nvPr/>
        </p:nvSpPr>
        <p:spPr>
          <a:xfrm>
            <a:off x="790143" y="1802637"/>
            <a:ext cx="7164070" cy="634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(hour &lt; 18)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	</a:t>
            </a: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1070863" y="2412619"/>
            <a:ext cx="2567305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day";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0"/>
          <p:cNvSpPr txBox="1"/>
          <p:nvPr/>
        </p:nvSpPr>
        <p:spPr>
          <a:xfrm>
            <a:off x="790143" y="2717419"/>
            <a:ext cx="110489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0"/>
          <p:cNvSpPr txBox="1"/>
          <p:nvPr/>
        </p:nvSpPr>
        <p:spPr>
          <a:xfrm>
            <a:off x="4804664" y="2460117"/>
            <a:ext cx="3127375" cy="3378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1060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 hour = new  Date().getHours();  var greeting;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255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(hour &lt; 18)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02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day";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7023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evening";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4874767" y="5814466"/>
            <a:ext cx="110489" cy="32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0"/>
          <p:cNvSpPr txBox="1"/>
          <p:nvPr/>
        </p:nvSpPr>
        <p:spPr>
          <a:xfrm>
            <a:off x="790143" y="3434918"/>
            <a:ext cx="3329304" cy="2464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(hour&lt; 10) {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1116330" lvl="0" indent="2806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 morning";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else if (hour &lt; 20) {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337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day";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 else {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337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greeting = "Good evening";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1"/>
          <p:cNvSpPr txBox="1">
            <a:spLocks noGrp="1"/>
          </p:cNvSpPr>
          <p:nvPr>
            <p:ph type="title"/>
          </p:nvPr>
        </p:nvSpPr>
        <p:spPr>
          <a:xfrm>
            <a:off x="3936238" y="1208277"/>
            <a:ext cx="128270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399" name="Google Shape;399;p4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42</a:t>
            </a:r>
            <a:endParaRPr/>
          </a:p>
        </p:txBody>
      </p:sp>
      <p:sp>
        <p:nvSpPr>
          <p:cNvPr id="400" name="Google Shape;400;p41"/>
          <p:cNvSpPr txBox="1"/>
          <p:nvPr/>
        </p:nvSpPr>
        <p:spPr>
          <a:xfrm>
            <a:off x="1255572" y="2467102"/>
            <a:ext cx="6744334" cy="325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299085" marR="5080" lvl="0" indent="-287019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Loops	can	execute	a	block	of	code	as	long	as	a  specified condition is true.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7620" lvl="0" indent="-287019" algn="l" rtl="0">
              <a:lnSpc>
                <a:spcPct val="107916"/>
              </a:lnSpc>
              <a:spcBef>
                <a:spcPts val="118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loop loops through a block of code as long as a  specified condition is true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marR="0" lvl="0" indent="0" algn="l" rtl="0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27125" marR="0" lvl="0" indent="0" algn="l" rtl="0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while (</a:t>
            </a: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271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8049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 to be executed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2712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2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2"/>
          <p:cNvSpPr txBox="1">
            <a:spLocks noGrp="1"/>
          </p:cNvSpPr>
          <p:nvPr>
            <p:ph type="title"/>
          </p:nvPr>
        </p:nvSpPr>
        <p:spPr>
          <a:xfrm>
            <a:off x="3649726" y="745362"/>
            <a:ext cx="1783714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09" name="Google Shape;409;p4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43</a:t>
            </a:r>
            <a:endParaRPr/>
          </a:p>
        </p:txBody>
      </p:sp>
      <p:sp>
        <p:nvSpPr>
          <p:cNvPr id="407" name="Google Shape;407;p42"/>
          <p:cNvSpPr txBox="1"/>
          <p:nvPr/>
        </p:nvSpPr>
        <p:spPr>
          <a:xfrm>
            <a:off x="917244" y="1268100"/>
            <a:ext cx="4006850" cy="43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2858770" lvl="0" indent="0" algn="l" rtl="0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text = "";  var i = 1;  </a:t>
            </a: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(i &lt; 10)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document.write("&lt;br&gt; The number is " + i);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i++;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42"/>
          <p:cNvSpPr/>
          <p:nvPr/>
        </p:nvSpPr>
        <p:spPr>
          <a:xfrm>
            <a:off x="5257800" y="2036064"/>
            <a:ext cx="3066288" cy="334365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3"/>
          <p:cNvSpPr txBox="1">
            <a:spLocks noGrp="1"/>
          </p:cNvSpPr>
          <p:nvPr>
            <p:ph type="title"/>
          </p:nvPr>
        </p:nvSpPr>
        <p:spPr>
          <a:xfrm>
            <a:off x="3664965" y="682193"/>
            <a:ext cx="160464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18" name="Google Shape;418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44</a:t>
            </a:r>
            <a:endParaRPr/>
          </a:p>
        </p:txBody>
      </p:sp>
      <p:sp>
        <p:nvSpPr>
          <p:cNvPr id="416" name="Google Shape;416;p43"/>
          <p:cNvSpPr txBox="1"/>
          <p:nvPr/>
        </p:nvSpPr>
        <p:spPr>
          <a:xfrm>
            <a:off x="841044" y="1268100"/>
            <a:ext cx="4006850" cy="4721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2858770" lvl="0" indent="0" algn="l" rtl="0">
              <a:lnSpc>
                <a:spcPct val="12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text = "";  </a:t>
            </a:r>
            <a:r>
              <a:rPr lang="en-US" sz="1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i = 10;  </a:t>
            </a: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(i &lt; 10)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document.write("&lt;br&gt; The number is " + i);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i++;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document.write(“Outside while loop “ + i);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7" name="Google Shape;417;p43"/>
          <p:cNvSpPr/>
          <p:nvPr/>
        </p:nvSpPr>
        <p:spPr>
          <a:xfrm>
            <a:off x="5029200" y="1645920"/>
            <a:ext cx="3343655" cy="42946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4"/>
          <p:cNvSpPr txBox="1">
            <a:spLocks noGrp="1"/>
          </p:cNvSpPr>
          <p:nvPr>
            <p:ph type="title"/>
          </p:nvPr>
        </p:nvSpPr>
        <p:spPr>
          <a:xfrm>
            <a:off x="3936238" y="1208277"/>
            <a:ext cx="1282700" cy="636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Loops</a:t>
            </a:r>
            <a:endParaRPr/>
          </a:p>
        </p:txBody>
      </p:sp>
      <p:sp>
        <p:nvSpPr>
          <p:cNvPr id="425" name="Google Shape;425;p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45</a:t>
            </a:r>
            <a:endParaRPr/>
          </a:p>
        </p:txBody>
      </p:sp>
      <p:sp>
        <p:nvSpPr>
          <p:cNvPr id="426" name="Google Shape;426;p44"/>
          <p:cNvSpPr txBox="1"/>
          <p:nvPr/>
        </p:nvSpPr>
        <p:spPr>
          <a:xfrm>
            <a:off x="1069644" y="2452573"/>
            <a:ext cx="6830695" cy="341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5080" lvl="0" indent="-287019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Do-while loop will execute the code block once,  before checking if the condition is true, then it will  repeat the loop as long as the condition is true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sz="3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0777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 to be executed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2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71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 while (</a:t>
            </a:r>
            <a:r>
              <a:rPr lang="en-US" sz="20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lang="en-US" sz="2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5"/>
          <p:cNvSpPr txBox="1">
            <a:spLocks noGrp="1"/>
          </p:cNvSpPr>
          <p:nvPr>
            <p:ph type="title"/>
          </p:nvPr>
        </p:nvSpPr>
        <p:spPr>
          <a:xfrm>
            <a:off x="2589951" y="702901"/>
            <a:ext cx="2786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32" name="Google Shape;432;p4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&lt;html&gt;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&lt;body&gt;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&lt;scr</a:t>
            </a:r>
            <a:r>
              <a:rPr lang="en-US" u="sng"/>
              <a:t>ipt&gt;	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/>
              <a:t>var i = 1;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do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{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document.write("&lt;br&gt; The number is " + i);</a:t>
            </a:r>
            <a:endParaRPr/>
          </a:p>
          <a:p>
            <a:pPr marL="45720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i++;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} while (i &lt; 10);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&lt;/script&gt;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&lt;/body&gt;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/>
              <a:t>&lt;/html&gt;</a:t>
            </a:r>
            <a:endParaRPr/>
          </a:p>
        </p:txBody>
      </p:sp>
      <p:sp>
        <p:nvSpPr>
          <p:cNvPr id="434" name="Google Shape;434;p4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46</a:t>
            </a:r>
            <a:endParaRPr/>
          </a:p>
        </p:txBody>
      </p:sp>
      <p:sp>
        <p:nvSpPr>
          <p:cNvPr id="433" name="Google Shape;433;p45"/>
          <p:cNvSpPr/>
          <p:nvPr/>
        </p:nvSpPr>
        <p:spPr>
          <a:xfrm>
            <a:off x="5867400" y="2514600"/>
            <a:ext cx="2532888" cy="306628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6"/>
          <p:cNvSpPr txBox="1">
            <a:spLocks noGrp="1"/>
          </p:cNvSpPr>
          <p:nvPr>
            <p:ph type="title"/>
          </p:nvPr>
        </p:nvSpPr>
        <p:spPr>
          <a:xfrm>
            <a:off x="2475976" y="740900"/>
            <a:ext cx="2900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40" name="Google Shape;440;p4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895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&lt;html&gt;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&lt;body&gt;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&lt;scr</a:t>
            </a:r>
            <a:r>
              <a:rPr lang="en-US" u="sng"/>
              <a:t>ipt&gt;	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/>
              <a:t>var i = 10;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do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{</a:t>
            </a:r>
            <a:endParaRPr/>
          </a:p>
          <a:p>
            <a:pPr marL="469265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document.write("&lt;br&gt; The number is " + i);</a:t>
            </a:r>
            <a:endParaRPr/>
          </a:p>
          <a:p>
            <a:pPr marL="469265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i++;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</a:rPr>
              <a:t>} while (i &lt; 10);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&lt;/script&gt;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&lt;/body&gt;</a:t>
            </a:r>
            <a:endParaRPr/>
          </a:p>
          <a:p>
            <a:pPr marL="1270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/>
              <a:t>&lt;/html&gt;</a:t>
            </a:r>
            <a:endParaRPr/>
          </a:p>
        </p:txBody>
      </p:sp>
      <p:sp>
        <p:nvSpPr>
          <p:cNvPr id="442" name="Google Shape;442;p4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  <p:sp>
        <p:nvSpPr>
          <p:cNvPr id="441" name="Google Shape;441;p46"/>
          <p:cNvSpPr/>
          <p:nvPr/>
        </p:nvSpPr>
        <p:spPr>
          <a:xfrm>
            <a:off x="5943600" y="2465832"/>
            <a:ext cx="2657855" cy="29108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7"/>
          <p:cNvSpPr txBox="1">
            <a:spLocks noGrp="1"/>
          </p:cNvSpPr>
          <p:nvPr>
            <p:ph type="title"/>
          </p:nvPr>
        </p:nvSpPr>
        <p:spPr>
          <a:xfrm>
            <a:off x="3710685" y="666445"/>
            <a:ext cx="173037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For Loop</a:t>
            </a:r>
            <a:endParaRPr sz="3600"/>
          </a:p>
        </p:txBody>
      </p:sp>
      <p:sp>
        <p:nvSpPr>
          <p:cNvPr id="448" name="Google Shape;448;p4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48</a:t>
            </a:r>
            <a:endParaRPr/>
          </a:p>
        </p:txBody>
      </p:sp>
      <p:sp>
        <p:nvSpPr>
          <p:cNvPr id="449" name="Google Shape;449;p47"/>
          <p:cNvSpPr txBox="1"/>
          <p:nvPr/>
        </p:nvSpPr>
        <p:spPr>
          <a:xfrm>
            <a:off x="728225" y="1348799"/>
            <a:ext cx="7349400" cy="45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3975" rIns="0" bIns="0" anchor="t" anchorCtr="0">
            <a:spAutoFit/>
          </a:bodyPr>
          <a:lstStyle/>
          <a:p>
            <a:pPr marL="299085" marR="5080" lvl="0" indent="-287019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for	loop	is	often	the	tool	you	will	use	when	you  </a:t>
            </a:r>
            <a:r>
              <a:rPr lang="en-US" sz="2400" u="sng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want to create a loop							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84225" marR="0" lvl="0" indent="0" algn="l" rtl="0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for (</a:t>
            </a: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statement 1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statement 2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statement 3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037589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 to be executed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8422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56285" marR="0" lvl="1" indent="-287019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1 </a:t>
            </a: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executed before the loop (the code block) starts.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14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2 </a:t>
            </a: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defines the condition for running the loop (the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block).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1" indent="-287019" algn="l" rtl="0">
              <a:lnSpc>
                <a:spcPct val="114000"/>
              </a:lnSpc>
              <a:spcBef>
                <a:spcPts val="84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 b="1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3 </a:t>
            </a:r>
            <a:r>
              <a:rPr lang="en-US" sz="2000" b="0" i="0" u="none" strike="noStrike" cap="none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executed each time after the loop (the code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block) has been executed.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8"/>
          <p:cNvSpPr txBox="1">
            <a:spLocks noGrp="1"/>
          </p:cNvSpPr>
          <p:nvPr>
            <p:ph type="title"/>
          </p:nvPr>
        </p:nvSpPr>
        <p:spPr>
          <a:xfrm>
            <a:off x="2437969" y="702902"/>
            <a:ext cx="30285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458" name="Google Shape;458;p4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250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49</a:t>
            </a:r>
            <a:endParaRPr/>
          </a:p>
        </p:txBody>
      </p:sp>
      <p:sp>
        <p:nvSpPr>
          <p:cNvPr id="456" name="Google Shape;456;p48"/>
          <p:cNvSpPr txBox="1"/>
          <p:nvPr/>
        </p:nvSpPr>
        <p:spPr>
          <a:xfrm>
            <a:off x="993450" y="1480925"/>
            <a:ext cx="4826100" cy="4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87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html&gt;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i = 1;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for(i=1;i&lt;10;i++)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65430" marR="0" lvl="0" indent="0" algn="l" rtl="0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document.write("&lt;br&gt; The number is " + i);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48"/>
          <p:cNvSpPr/>
          <p:nvPr/>
        </p:nvSpPr>
        <p:spPr>
          <a:xfrm>
            <a:off x="5715000" y="1840992"/>
            <a:ext cx="2895600" cy="38039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9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9"/>
          <p:cNvSpPr txBox="1">
            <a:spLocks noGrp="1"/>
          </p:cNvSpPr>
          <p:nvPr>
            <p:ph type="title"/>
          </p:nvPr>
        </p:nvSpPr>
        <p:spPr>
          <a:xfrm>
            <a:off x="994199" y="455920"/>
            <a:ext cx="52989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Switch Statement</a:t>
            </a:r>
            <a:endParaRPr/>
          </a:p>
        </p:txBody>
      </p:sp>
      <p:sp>
        <p:nvSpPr>
          <p:cNvPr id="465" name="Google Shape;465;p49"/>
          <p:cNvSpPr txBox="1"/>
          <p:nvPr/>
        </p:nvSpPr>
        <p:spPr>
          <a:xfrm>
            <a:off x="688652" y="2089700"/>
            <a:ext cx="1388400" cy="3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49"/>
          <p:cNvSpPr txBox="1"/>
          <p:nvPr/>
        </p:nvSpPr>
        <p:spPr>
          <a:xfrm>
            <a:off x="688650" y="4730302"/>
            <a:ext cx="76506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1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switch expression is evaluated once.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 of the expression is compared with the values of each case.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3992A"/>
              </a:buClr>
              <a:buSzPts val="2300"/>
              <a:buFont typeface="Arial"/>
              <a:buChar char="•"/>
            </a:pPr>
            <a:r>
              <a:rPr lang="en-US" sz="2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a match, the associated block of code is executed.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49"/>
          <p:cNvSpPr txBox="1"/>
          <p:nvPr/>
        </p:nvSpPr>
        <p:spPr>
          <a:xfrm>
            <a:off x="7731632" y="6011367"/>
            <a:ext cx="166370" cy="17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9"/>
          <p:cNvSpPr txBox="1"/>
          <p:nvPr/>
        </p:nvSpPr>
        <p:spPr>
          <a:xfrm>
            <a:off x="367275" y="1243700"/>
            <a:ext cx="849180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switch statement to select one of many blocks of code to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 executed.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41804" marR="0" lvl="0" indent="0" algn="l" rtl="0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switch(</a:t>
            </a: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9"/>
          <p:cNvSpPr txBox="1"/>
          <p:nvPr/>
        </p:nvSpPr>
        <p:spPr>
          <a:xfrm>
            <a:off x="1963045" y="2600114"/>
            <a:ext cx="2084100" cy="22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case </a:t>
            </a: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60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6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break;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case </a:t>
            </a: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6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6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break;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default: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860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code block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9"/>
          <p:cNvSpPr txBox="1"/>
          <p:nvPr/>
        </p:nvSpPr>
        <p:spPr>
          <a:xfrm>
            <a:off x="2418079" y="4521530"/>
            <a:ext cx="102235" cy="300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0"/>
          <p:cNvSpPr txBox="1">
            <a:spLocks noGrp="1"/>
          </p:cNvSpPr>
          <p:nvPr>
            <p:ph type="title"/>
          </p:nvPr>
        </p:nvSpPr>
        <p:spPr>
          <a:xfrm>
            <a:off x="3026904" y="320700"/>
            <a:ext cx="23313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Example</a:t>
            </a:r>
            <a:endParaRPr sz="3600"/>
          </a:p>
        </p:txBody>
      </p:sp>
      <p:sp>
        <p:nvSpPr>
          <p:cNvPr id="478" name="Google Shape;478;p50"/>
          <p:cNvSpPr txBox="1">
            <a:spLocks noGrp="1"/>
          </p:cNvSpPr>
          <p:nvPr>
            <p:ph type="body" idx="1"/>
          </p:nvPr>
        </p:nvSpPr>
        <p:spPr>
          <a:xfrm>
            <a:off x="4732390" y="1897584"/>
            <a:ext cx="3190884" cy="4340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case 4:</a:t>
            </a:r>
            <a:endParaRPr dirty="0"/>
          </a:p>
          <a:p>
            <a:pPr marL="445134" marR="969010" lvl="0" indent="0" algn="l" rtl="0">
              <a:lnSpc>
                <a:spcPct val="155294"/>
              </a:lnSpc>
              <a:spcBef>
                <a:spcPts val="185"/>
              </a:spcBef>
              <a:spcAft>
                <a:spcPts val="0"/>
              </a:spcAft>
              <a:buNone/>
            </a:pPr>
            <a:r>
              <a:rPr lang="en-US" dirty="0"/>
              <a:t>day = "Thursday";  break;</a:t>
            </a:r>
            <a:endParaRPr dirty="0"/>
          </a:p>
          <a:p>
            <a:pPr marL="228600" lvl="0" indent="0" algn="l" rtl="0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dirty="0"/>
              <a:t>case 5:</a:t>
            </a:r>
            <a:endParaRPr dirty="0"/>
          </a:p>
          <a:p>
            <a:pPr marL="445134" marR="1233805" lvl="0" indent="0" algn="l" rtl="0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day = "Friday";  break;</a:t>
            </a:r>
            <a:endParaRPr dirty="0"/>
          </a:p>
          <a:p>
            <a:pPr marL="2286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case 6:</a:t>
            </a:r>
            <a:endParaRPr dirty="0"/>
          </a:p>
          <a:p>
            <a:pPr marL="445134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dirty="0"/>
              <a:t>day = "Saturday";</a:t>
            </a:r>
            <a:endParaRPr dirty="0"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}</a:t>
            </a:r>
            <a:endParaRPr dirty="0"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 err="1"/>
              <a:t>document.write</a:t>
            </a:r>
            <a:r>
              <a:rPr lang="en-US" dirty="0"/>
              <a:t>("Today is " + day);</a:t>
            </a:r>
            <a:endParaRPr dirty="0"/>
          </a:p>
          <a:p>
            <a:pPr marL="127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&lt;/script&gt;</a:t>
            </a:r>
            <a:endParaRPr dirty="0"/>
          </a:p>
        </p:txBody>
      </p:sp>
      <p:sp>
        <p:nvSpPr>
          <p:cNvPr id="476" name="Google Shape;476;p5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51</a:t>
            </a:r>
            <a:endParaRPr/>
          </a:p>
        </p:txBody>
      </p:sp>
      <p:sp>
        <p:nvSpPr>
          <p:cNvPr id="477" name="Google Shape;477;p50"/>
          <p:cNvSpPr txBox="1"/>
          <p:nvPr/>
        </p:nvSpPr>
        <p:spPr>
          <a:xfrm>
            <a:off x="400523" y="1997652"/>
            <a:ext cx="3526901" cy="373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1828164" lvl="0" indent="0" algn="l" rtl="0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  let day;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5080" lvl="0" indent="-216534" algn="l" rtl="0">
              <a:lnSpc>
                <a:spcPct val="1293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switch (new Date().</a:t>
            </a:r>
            <a:r>
              <a:rPr lang="en-US" sz="17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getDay</a:t>
            </a: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()) {  case 0: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5769" marR="786130" lvl="0" indent="0" algn="l" rtl="0">
              <a:lnSpc>
                <a:spcPct val="129399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"Sunday";  break;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5769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"Monday";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5769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5769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"Tuesday";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5769" marR="0" lvl="0" indent="0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break;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399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3: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5769" marR="450850" lvl="0" indent="0" algn="l" rtl="0">
              <a:lnSpc>
                <a:spcPct val="129399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day = "Wednesday";  break;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1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1"/>
          <p:cNvSpPr txBox="1">
            <a:spLocks noGrp="1"/>
          </p:cNvSpPr>
          <p:nvPr>
            <p:ph type="title"/>
          </p:nvPr>
        </p:nvSpPr>
        <p:spPr>
          <a:xfrm>
            <a:off x="1004569" y="166377"/>
            <a:ext cx="48573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JavaScript Functions</a:t>
            </a:r>
            <a:endParaRPr dirty="0"/>
          </a:p>
        </p:txBody>
      </p:sp>
      <p:sp>
        <p:nvSpPr>
          <p:cNvPr id="485" name="Google Shape;485;p5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5075" rIns="0" bIns="0" anchor="t" anchorCtr="0">
            <a:spAutoFit/>
          </a:bodyPr>
          <a:lstStyle/>
          <a:p>
            <a:pPr marL="196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52</a:t>
            </a:r>
            <a:endParaRPr/>
          </a:p>
        </p:txBody>
      </p:sp>
      <p:sp>
        <p:nvSpPr>
          <p:cNvPr id="486" name="Google Shape;486;p51"/>
          <p:cNvSpPr txBox="1"/>
          <p:nvPr/>
        </p:nvSpPr>
        <p:spPr>
          <a:xfrm>
            <a:off x="734518" y="1110271"/>
            <a:ext cx="7674964" cy="5182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99085" marR="0" lvl="0" indent="-287019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JavaScript function is a block of code designed to perform a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particular task.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JavaScript function is executed when "something" invokes it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(calls it).</a:t>
            </a:r>
          </a:p>
          <a:p>
            <a:pPr marL="299085" marR="0" lvl="0" indent="-287019" algn="l" rtl="0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b="1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definition:</a:t>
            </a:r>
          </a:p>
          <a:p>
            <a:pPr marL="299085" marR="0" lvl="0" indent="-287019" algn="l" rtl="0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</a:t>
            </a:r>
            <a:r>
              <a:rPr lang="en-US" sz="2200" dirty="0" err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functionName</a:t>
            </a: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(parameters)</a:t>
            </a:r>
          </a:p>
          <a:p>
            <a:pPr marL="299085" marR="0" lvl="0" indent="-287019" algn="l" rtl="0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</a:p>
          <a:p>
            <a:pPr marL="299085" marR="0" lvl="0" indent="-287019" algn="l" rtl="0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//  function body;</a:t>
            </a:r>
          </a:p>
          <a:p>
            <a:pPr marL="299085" marR="0" lvl="0" indent="-287019" algn="l" rtl="0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marL="299085" marR="0" lvl="0" indent="-287019" algn="l" rtl="0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calling:</a:t>
            </a:r>
          </a:p>
          <a:p>
            <a:pPr marL="299085" marR="0" lvl="0" indent="-287019" algn="l" rtl="0">
              <a:lnSpc>
                <a:spcPct val="11409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nameOfThefunction</a:t>
            </a:r>
            <a:r>
              <a:rPr lang="en-US" sz="2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(arguments);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CFE8D72-C55F-8B3D-F948-5F81F000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C8AF5A8-F8F3-7249-0749-EC7C574EA5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69036"/>
            <a:ext cx="6347714" cy="45723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</a:t>
            </a:r>
            <a:r>
              <a:rPr lang="en-US" dirty="0" smtClean="0"/>
              <a:t>&gt; &lt;</a:t>
            </a:r>
            <a:r>
              <a:rPr lang="en-US" dirty="0"/>
              <a:t>body&gt;</a:t>
            </a:r>
          </a:p>
          <a:p>
            <a:r>
              <a:rPr lang="en-US" dirty="0" smtClean="0"/>
              <a:t>&lt;</a:t>
            </a:r>
            <a:r>
              <a:rPr lang="en-US" dirty="0"/>
              <a:t>h1&gt;JavaScript Functions&lt;/h1&gt;</a:t>
            </a:r>
          </a:p>
          <a:p>
            <a:r>
              <a:rPr lang="en-US" dirty="0" smtClean="0"/>
              <a:t>&lt;</a:t>
            </a:r>
            <a:r>
              <a:rPr lang="en-US" dirty="0"/>
              <a:t>p&gt;Call a function which performs a calculation and returns the result:&lt;/p&gt;</a:t>
            </a:r>
          </a:p>
          <a:p>
            <a:r>
              <a:rPr lang="en-US" dirty="0" smtClean="0"/>
              <a:t>&lt;</a:t>
            </a:r>
            <a:r>
              <a:rPr lang="en-US" dirty="0"/>
              <a:t>p id="demo"&gt;&lt;/p&gt;</a:t>
            </a:r>
          </a:p>
          <a:p>
            <a:r>
              <a:rPr lang="en-US" dirty="0" smtClean="0"/>
              <a:t>&lt;</a:t>
            </a:r>
            <a:r>
              <a:rPr lang="en-US" dirty="0"/>
              <a:t>script&gt;</a:t>
            </a:r>
          </a:p>
          <a:p>
            <a:r>
              <a:rPr lang="en-US" dirty="0"/>
              <a:t>let x = </a:t>
            </a:r>
            <a:r>
              <a:rPr lang="en-US" dirty="0" err="1"/>
              <a:t>myFunction</a:t>
            </a:r>
            <a:r>
              <a:rPr lang="en-US" dirty="0"/>
              <a:t>(4, 3</a:t>
            </a:r>
            <a:r>
              <a:rPr lang="en-US" dirty="0" smtClean="0"/>
              <a:t>); //function calling</a:t>
            </a:r>
            <a:endParaRPr lang="en-US" dirty="0"/>
          </a:p>
          <a:p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x;</a:t>
            </a:r>
          </a:p>
          <a:p>
            <a:r>
              <a:rPr lang="en-US" dirty="0" smtClean="0"/>
              <a:t>function </a:t>
            </a:r>
            <a:r>
              <a:rPr lang="en-US" dirty="0" err="1"/>
              <a:t>myFunction</a:t>
            </a:r>
            <a:r>
              <a:rPr lang="en-US" dirty="0"/>
              <a:t>(a, b) </a:t>
            </a:r>
            <a:r>
              <a:rPr lang="en-US" dirty="0" smtClean="0"/>
              <a:t>//function definition</a:t>
            </a:r>
          </a:p>
          <a:p>
            <a:r>
              <a:rPr lang="en-US" dirty="0" smtClean="0"/>
              <a:t>{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return a * b;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&lt;/script</a:t>
            </a:r>
            <a:r>
              <a:rPr lang="en-US" dirty="0" smtClean="0"/>
              <a:t>&gt; &lt;/</a:t>
            </a:r>
            <a:r>
              <a:rPr lang="en-US" dirty="0"/>
              <a:t>body</a:t>
            </a:r>
            <a:r>
              <a:rPr lang="en-US" dirty="0" smtClean="0"/>
              <a:t>&gt;&lt;/</a:t>
            </a:r>
            <a:r>
              <a:rPr lang="en-US" dirty="0"/>
              <a:t>html&gt;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82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D7C3C8-7776-AAC6-326E-72B090A10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97" y="609600"/>
            <a:ext cx="7540053" cy="769495"/>
          </a:xfrm>
        </p:spPr>
        <p:txBody>
          <a:bodyPr/>
          <a:lstStyle/>
          <a:p>
            <a:r>
              <a:rPr lang="en-US" dirty="0"/>
              <a:t>JavaScript Object Notation(JSON)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0782B3-9823-976D-BEA7-3980442DE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497" y="1379095"/>
            <a:ext cx="7150310" cy="5276537"/>
          </a:xfrm>
        </p:spPr>
        <p:txBody>
          <a:bodyPr/>
          <a:lstStyle/>
          <a:p>
            <a:r>
              <a:rPr lang="en-US" dirty="0"/>
              <a:t>Object –</a:t>
            </a:r>
          </a:p>
          <a:p>
            <a:r>
              <a:rPr lang="en-US" dirty="0"/>
              <a:t>Logically all the data stored together under one name</a:t>
            </a:r>
          </a:p>
          <a:p>
            <a:r>
              <a:rPr lang="en-US" dirty="0"/>
              <a:t>It has properties and Methods.</a:t>
            </a:r>
          </a:p>
          <a:p>
            <a:pPr lvl="1"/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 are the attributes of an Object.</a:t>
            </a:r>
          </a:p>
          <a:p>
            <a:pPr lvl="1"/>
            <a:r>
              <a:rPr lang="en-US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are actions that can be performed on objects.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C0AC411-883B-CE8D-5936-A0BC9948E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3" y="3578902"/>
            <a:ext cx="2168538" cy="5883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92C49307-28BE-6DBD-FCC8-BDCFD64CA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54" y="4339963"/>
            <a:ext cx="1962181" cy="15361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FAB1FCD6-304D-8186-0D57-F581A2AD9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935" y="4414914"/>
            <a:ext cx="1562714" cy="13862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E79DF2D-B466-76BB-9158-E609DA6921C8}"/>
              </a:ext>
            </a:extLst>
          </p:cNvPr>
          <p:cNvSpPr txBox="1"/>
          <p:nvPr/>
        </p:nvSpPr>
        <p:spPr>
          <a:xfrm>
            <a:off x="3894435" y="3895089"/>
            <a:ext cx="4366952" cy="198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9085" marR="7620" lvl="0" indent="-287019" algn="l" rtl="0">
              <a:lnSpc>
                <a:spcPct val="8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cars have the same properties, but the property values  differ from car to car.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l" rtl="0">
              <a:lnSpc>
                <a:spcPct val="8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endParaRPr lang="en-US" sz="1800" dirty="0">
              <a:solidFill>
                <a:srgbClr val="25252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l" rtl="0">
              <a:lnSpc>
                <a:spcPct val="8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18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	cars	have	the	same	methods,	but	the	methods	are  performed at different times.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17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039F18-6767-8D0F-2B7D-FB4B3095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31889"/>
            <a:ext cx="6347714" cy="769495"/>
          </a:xfrm>
        </p:spPr>
        <p:txBody>
          <a:bodyPr/>
          <a:lstStyle/>
          <a:p>
            <a:r>
              <a:rPr lang="en-US"/>
              <a:t>Object creation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B02850A-28E4-C5CD-6BE4-5B0F7BC2B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66" y="1439056"/>
            <a:ext cx="7345180" cy="5261547"/>
          </a:xfrm>
        </p:spPr>
        <p:txBody>
          <a:bodyPr/>
          <a:lstStyle/>
          <a:p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properties are written as </a:t>
            </a:r>
            <a:r>
              <a:rPr lang="en-US" sz="24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name:value</a:t>
            </a: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pairs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(name and value  separated by a colon).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EX. </a:t>
            </a:r>
            <a:r>
              <a:rPr lang="en-US" sz="2400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</a:t>
            </a:r>
            <a:r>
              <a:rPr lang="en-US" sz="24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 = {type</a:t>
            </a:r>
            <a:r>
              <a:rPr lang="en-US" sz="2400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:“</a:t>
            </a:r>
            <a:r>
              <a:rPr lang="en-US" sz="2400" dirty="0" err="1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Baleno</a:t>
            </a:r>
            <a:r>
              <a:rPr lang="en-US" sz="2400" dirty="0" smtClean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", </a:t>
            </a:r>
            <a:r>
              <a:rPr lang="en-US" sz="24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model:"500", </a:t>
            </a:r>
            <a:r>
              <a:rPr lang="en-US" sz="2400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color:"white</a:t>
            </a:r>
            <a:r>
              <a:rPr lang="en-US" sz="24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"};</a:t>
            </a: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52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1FDB950A-82AE-7F87-5ED7-B184689E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objects in JavaScript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C7E2C38-CA89-2F4B-FAC2-09C80F259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62" y="1590805"/>
            <a:ext cx="7653403" cy="4546947"/>
          </a:xfrm>
        </p:spPr>
        <p:txBody>
          <a:bodyPr>
            <a:normAutofit/>
          </a:bodyPr>
          <a:lstStyle/>
          <a:p>
            <a:pPr algn="just">
              <a:buFont typeface="+mj-lt"/>
              <a:buAutoNum type="arabicPeriod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By object </a:t>
            </a:r>
            <a:r>
              <a:rPr lang="en-US" sz="2400" b="0" i="0" dirty="0" smtClean="0">
                <a:solidFill>
                  <a:srgbClr val="000000"/>
                </a:solidFill>
                <a:effectLst/>
                <a:latin typeface="inter-regular"/>
              </a:rPr>
              <a:t>literal</a:t>
            </a:r>
            <a:endParaRPr lang="en-US" sz="2200" dirty="0" smtClean="0"/>
          </a:p>
          <a:p>
            <a:pPr lvl="1" algn="just"/>
            <a:r>
              <a:rPr lang="en-US" sz="2200" dirty="0" smtClean="0"/>
              <a:t>You </a:t>
            </a:r>
            <a:r>
              <a:rPr lang="en-US" sz="2200" dirty="0"/>
              <a:t>define properties and methods directly within curly braces </a:t>
            </a:r>
            <a:r>
              <a:rPr lang="en-US" sz="2200" dirty="0"/>
              <a:t>{}</a:t>
            </a:r>
            <a:endParaRPr lang="en-US" sz="22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By creating instance of Object directly (using new keyword)</a:t>
            </a:r>
          </a:p>
          <a:p>
            <a:pPr algn="just">
              <a:buFont typeface="+mj-lt"/>
              <a:buAutoNum type="arabicPeriod"/>
            </a:pPr>
            <a:endParaRPr lang="en-US" sz="24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inter-regular"/>
              </a:rPr>
              <a:t>By using an object constructor (using new keyword)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3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859B62-4BE5-8200-673C-43FE47D3D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49179"/>
            <a:ext cx="6347714" cy="705853"/>
          </a:xfrm>
        </p:spPr>
        <p:txBody>
          <a:bodyPr>
            <a:normAutofit/>
          </a:bodyPr>
          <a:lstStyle/>
          <a:p>
            <a:r>
              <a:rPr lang="en-US" dirty="0"/>
              <a:t>Creating object by literal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25F03C-09D3-4498-FA46-16C691849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1717B50-3B16-2F02-7E7B-3AA9F9AD3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375626"/>
            <a:ext cx="7373394" cy="504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5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5B12154C-B8A9-210B-D781-9E4A43688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95" y="175364"/>
            <a:ext cx="7544845" cy="680581"/>
          </a:xfrm>
        </p:spPr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 By creating instance of Object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2A922434-2E92-2C13-6AAD-C114AF924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289154"/>
            <a:ext cx="7080355" cy="556884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 syntax of creating object directly is given below: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var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inter-regular"/>
              </a:rPr>
              <a:t>objectname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new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Object();  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Here,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new keyword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is used to create object.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&lt;script&gt;  </a:t>
            </a:r>
          </a:p>
          <a:p>
            <a:r>
              <a:rPr lang="en-US" dirty="0"/>
              <a:t>var emp=new Object();  </a:t>
            </a:r>
          </a:p>
          <a:p>
            <a:r>
              <a:rPr lang="en-US" dirty="0"/>
              <a:t>emp.id=101;  </a:t>
            </a:r>
          </a:p>
          <a:p>
            <a:r>
              <a:rPr lang="en-US" dirty="0"/>
              <a:t>emp.name="Ravi Joshi";  </a:t>
            </a:r>
          </a:p>
          <a:p>
            <a:r>
              <a:rPr lang="en-US" dirty="0" err="1"/>
              <a:t>emp.salary</a:t>
            </a:r>
            <a:r>
              <a:rPr lang="en-US" dirty="0"/>
              <a:t>=50000;  </a:t>
            </a:r>
          </a:p>
          <a:p>
            <a:r>
              <a:rPr lang="en-US" dirty="0" err="1"/>
              <a:t>document.write</a:t>
            </a:r>
            <a:r>
              <a:rPr lang="en-US" dirty="0"/>
              <a:t>(emp.id+" "+emp.name+" "+</a:t>
            </a:r>
            <a:r>
              <a:rPr lang="en-US" dirty="0" err="1"/>
              <a:t>emp.salary</a:t>
            </a:r>
            <a:r>
              <a:rPr lang="en-US" dirty="0"/>
              <a:t>);  </a:t>
            </a:r>
          </a:p>
          <a:p>
            <a:r>
              <a:rPr lang="en-US" dirty="0"/>
              <a:t>&lt;/script&gt; </a:t>
            </a:r>
          </a:p>
          <a:p>
            <a:r>
              <a:rPr lang="en-US" dirty="0"/>
              <a:t>&lt;/body&gt;&lt;/html&gt;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6A85C23-610F-E1AF-5251-68DEB5F30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764" y="2604972"/>
            <a:ext cx="4391638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4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309D64-3AB7-B61B-EEE0-092229865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57" y="396658"/>
            <a:ext cx="7482214" cy="730684"/>
          </a:xfrm>
        </p:spPr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 By using an Object constructor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92E1E3-66DE-CC94-DA70-D1DA2C9E4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675" y="1301270"/>
            <a:ext cx="7615004" cy="5231567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Here, you need to create function with arguments. Each argument value can be assigned in the current object by using </a:t>
            </a:r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‘this’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keyword.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 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this keyword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refers to the current object.</a:t>
            </a:r>
          </a:p>
          <a:p>
            <a:pPr algn="just"/>
            <a:r>
              <a:rPr lang="en-US" dirty="0">
                <a:solidFill>
                  <a:srgbClr val="333333"/>
                </a:solidFill>
                <a:latin typeface="inter-regular"/>
              </a:rPr>
              <a:t>Example: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&lt;script&gt; 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function </a:t>
            </a:r>
            <a:r>
              <a:rPr lang="en-US" b="0" i="0" dirty="0" err="1" smtClean="0">
                <a:solidFill>
                  <a:srgbClr val="333333"/>
                </a:solidFill>
                <a:effectLst/>
                <a:latin typeface="inter-regular"/>
              </a:rPr>
              <a:t>emp</a:t>
            </a:r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(</a:t>
            </a:r>
            <a:r>
              <a:rPr lang="en-US" b="0" i="0" dirty="0" err="1" smtClean="0">
                <a:solidFill>
                  <a:srgbClr val="333333"/>
                </a:solidFill>
                <a:effectLst/>
                <a:latin typeface="inter-regular"/>
              </a:rPr>
              <a:t>eid,ename,esalary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){  </a:t>
            </a:r>
          </a:p>
          <a:p>
            <a:pPr algn="just"/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this.id=</a:t>
            </a:r>
            <a:r>
              <a:rPr lang="en-US" b="0" i="0" dirty="0" err="1" smtClean="0">
                <a:solidFill>
                  <a:srgbClr val="333333"/>
                </a:solidFill>
                <a:effectLst/>
                <a:latin typeface="inter-regular"/>
              </a:rPr>
              <a:t>eid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;  </a:t>
            </a:r>
          </a:p>
          <a:p>
            <a:pPr algn="just"/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this.name=</a:t>
            </a:r>
            <a:r>
              <a:rPr lang="en-US" b="0" i="0" dirty="0" err="1" smtClean="0">
                <a:solidFill>
                  <a:srgbClr val="333333"/>
                </a:solidFill>
                <a:effectLst/>
                <a:latin typeface="inter-regular"/>
              </a:rPr>
              <a:t>ename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;  </a:t>
            </a:r>
          </a:p>
          <a:p>
            <a:pPr algn="just"/>
            <a:r>
              <a:rPr lang="en-US" b="0" i="0" dirty="0" err="1" smtClean="0">
                <a:solidFill>
                  <a:srgbClr val="333333"/>
                </a:solidFill>
                <a:effectLst/>
                <a:latin typeface="inter-regular"/>
              </a:rPr>
              <a:t>this.salary</a:t>
            </a:r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=</a:t>
            </a:r>
            <a:r>
              <a:rPr lang="en-US" b="0" i="0" dirty="0" err="1" smtClean="0">
                <a:solidFill>
                  <a:srgbClr val="333333"/>
                </a:solidFill>
                <a:effectLst/>
                <a:latin typeface="inter-regular"/>
              </a:rPr>
              <a:t>esalary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; 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}  </a:t>
            </a:r>
          </a:p>
          <a:p>
            <a:pPr algn="just"/>
            <a:r>
              <a:rPr lang="en-US" b="0" i="0" dirty="0" err="1" smtClean="0">
                <a:solidFill>
                  <a:srgbClr val="333333"/>
                </a:solidFill>
                <a:effectLst/>
                <a:latin typeface="inter-regular"/>
              </a:rPr>
              <a:t>Var</a:t>
            </a:r>
            <a:r>
              <a:rPr lang="en-US" b="0" i="0" dirty="0" smtClean="0">
                <a:solidFill>
                  <a:srgbClr val="333333"/>
                </a:solidFill>
                <a:effectLst/>
                <a:latin typeface="inter-regular"/>
              </a:rPr>
              <a:t> e=new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emp(103,"Vimal Jaiswal",30000);  </a:t>
            </a:r>
          </a:p>
          <a:p>
            <a:pPr algn="just"/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document.write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(e.id+" "+e.name+" "+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inter-regular"/>
              </a:rPr>
              <a:t>e.salary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);  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&lt;/script&gt;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03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36" y="526093"/>
            <a:ext cx="7610740" cy="5774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68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CC4BDC-71B0-595B-FF87-58AF65674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02C157-3929-9E04-CF8A-69E1D6C0D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getElementById</a:t>
            </a:r>
            <a:r>
              <a:rPr lang="en-US" dirty="0"/>
              <a:t>()</a:t>
            </a:r>
          </a:p>
          <a:p>
            <a:r>
              <a:rPr lang="en-US" dirty="0" err="1"/>
              <a:t>GetElementsByClassName</a:t>
            </a:r>
            <a:r>
              <a:rPr lang="en-US" dirty="0"/>
              <a:t>()</a:t>
            </a:r>
          </a:p>
          <a:p>
            <a:r>
              <a:rPr lang="en-US" dirty="0" err="1"/>
              <a:t>getElementsByName</a:t>
            </a:r>
            <a:endParaRPr lang="en-US" dirty="0"/>
          </a:p>
          <a:p>
            <a:r>
              <a:rPr lang="en-US" dirty="0" err="1"/>
              <a:t>getElementsByTagName</a:t>
            </a:r>
            <a:endParaRPr lang="en-US" dirty="0"/>
          </a:p>
          <a:p>
            <a:r>
              <a:rPr lang="en-US" dirty="0"/>
              <a:t>JS </a:t>
            </a:r>
            <a:r>
              <a:rPr lang="en-US" dirty="0" err="1"/>
              <a:t>innerHTML</a:t>
            </a:r>
            <a:r>
              <a:rPr lang="en-US" dirty="0"/>
              <a:t> property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46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9DD502-70AB-52E2-9FFA-D4875CF5F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Document.getElementById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E7BD487-61E6-3A2E-4562-0AFD41D44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499016"/>
            <a:ext cx="7035385" cy="5231568"/>
          </a:xfrm>
        </p:spPr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The 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inter-bold"/>
              </a:rPr>
              <a:t>document.getElementById</a:t>
            </a:r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()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 method returns the element of specified id.</a:t>
            </a:r>
          </a:p>
          <a:p>
            <a:r>
              <a:rPr lang="en-US" dirty="0">
                <a:solidFill>
                  <a:srgbClr val="333333"/>
                </a:solidFill>
                <a:latin typeface="inter-regular"/>
              </a:rPr>
              <a:t>Example: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  <a:p>
            <a:r>
              <a:rPr lang="en-US" sz="1800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</a:t>
            </a:r>
            <a:r>
              <a:rPr lang="en-US" sz="18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("demo").</a:t>
            </a:r>
            <a:r>
              <a:rPr lang="en-US" sz="1800" dirty="0" err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innerHTML</a:t>
            </a:r>
            <a:r>
              <a:rPr lang="en-US" sz="18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"Hello  JavaScript";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&lt;h2&gt;What Can JavaScript Do?&lt;/h2&gt;</a:t>
            </a:r>
          </a:p>
          <a:p>
            <a:r>
              <a:rPr lang="en-US" dirty="0"/>
              <a:t>&lt;p id="demo"&gt;JavaScript can change HTML content.&lt;/p&gt;</a:t>
            </a:r>
          </a:p>
          <a:p>
            <a:r>
              <a:rPr lang="en-US" dirty="0"/>
              <a:t>&lt;button type="button" onclick='</a:t>
            </a:r>
            <a:r>
              <a:rPr lang="en-US" dirty="0" err="1"/>
              <a:t>document.getElementById</a:t>
            </a:r>
            <a:r>
              <a:rPr lang="en-US" dirty="0"/>
              <a:t>("demo").</a:t>
            </a:r>
            <a:r>
              <a:rPr lang="en-US" dirty="0" err="1"/>
              <a:t>innerHTML</a:t>
            </a:r>
            <a:r>
              <a:rPr lang="en-US" dirty="0"/>
              <a:t> = "Hello JavaScript!"'&gt;Click Me!&lt;/button&gt;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5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4C13B3-74D1-1271-55C1-D91D2259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09796"/>
            <a:ext cx="6347714" cy="207037"/>
          </a:xfrm>
        </p:spPr>
        <p:txBody>
          <a:bodyPr>
            <a:normAutofit fontScale="90000"/>
          </a:bodyPr>
          <a:lstStyle/>
          <a:p>
            <a:r>
              <a:rPr lang="en-US" b="0" i="0" dirty="0" err="1">
                <a:solidFill>
                  <a:srgbClr val="610B38"/>
                </a:solidFill>
                <a:effectLst/>
                <a:latin typeface="erdana"/>
              </a:rPr>
              <a:t>document.getElementsByName</a:t>
            </a:r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()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8603D6-0C76-19DD-C331-888A01DF4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74164"/>
            <a:ext cx="6870492" cy="527404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This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 returns all the element of specified name.</a:t>
            </a:r>
          </a:p>
          <a:p>
            <a:pPr algn="just"/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syntax :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	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document.getElementsByName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("name")  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Example: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&lt;script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type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"text/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javascript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function 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totalelements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()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{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var 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inter-regular"/>
              </a:rPr>
              <a:t>allgenders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document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.getElementsByName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("gender");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alert("Total Genders:"+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allgenders.length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&lt;/script&gt;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&lt;form&gt;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Male: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&lt;input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type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"radio"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name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"gender"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value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"male"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Female: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&lt;input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type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"radio"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name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"gender"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value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"female"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&lt;input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type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"button"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onclick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inter-regular"/>
              </a:rPr>
              <a:t>totalelements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()"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</a:t>
            </a: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value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=</a:t>
            </a:r>
            <a:r>
              <a:rPr lang="en-US" b="0" i="0" dirty="0">
                <a:solidFill>
                  <a:srgbClr val="0000FF"/>
                </a:solidFill>
                <a:effectLst/>
                <a:latin typeface="inter-regular"/>
              </a:rPr>
              <a:t>"Total Genders"</a:t>
            </a: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>
              <a:buFont typeface="+mj-lt"/>
              <a:buAutoNum type="arabicPeriod"/>
            </a:pPr>
            <a:r>
              <a:rPr lang="en-US" b="1" i="0" dirty="0">
                <a:solidFill>
                  <a:srgbClr val="006699"/>
                </a:solidFill>
                <a:effectLst/>
                <a:latin typeface="inter-regular"/>
              </a:rPr>
              <a:t>&lt;/form&gt;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53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4A5C2B-12C4-D408-46E5-871F7DAD0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716" y="204866"/>
            <a:ext cx="7180288" cy="649574"/>
          </a:xfrm>
        </p:spPr>
        <p:txBody>
          <a:bodyPr>
            <a:normAutofit fontScale="90000"/>
          </a:bodyPr>
          <a:lstStyle/>
          <a:p>
            <a:r>
              <a:rPr lang="en-US" b="0" i="0" dirty="0" err="1">
                <a:solidFill>
                  <a:srgbClr val="610B38"/>
                </a:solidFill>
                <a:effectLst/>
                <a:latin typeface="erdana"/>
              </a:rPr>
              <a:t>document.getElementsByTagName</a:t>
            </a:r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()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382FC9-67B7-8161-1B5B-225CFDCCD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716" y="911901"/>
            <a:ext cx="7465103" cy="5741233"/>
          </a:xfrm>
        </p:spPr>
        <p:txBody>
          <a:bodyPr>
            <a:normAutofit/>
          </a:bodyPr>
          <a:lstStyle/>
          <a:p>
            <a:r>
              <a:rPr lang="en-US" dirty="0"/>
              <a:t>This </a:t>
            </a:r>
            <a:r>
              <a:rPr lang="en-US" b="0" i="0" dirty="0">
                <a:solidFill>
                  <a:srgbClr val="333333"/>
                </a:solidFill>
                <a:effectLst/>
                <a:latin typeface="inter-regular"/>
              </a:rPr>
              <a:t>method returns all the element of specified tag name.</a:t>
            </a:r>
          </a:p>
          <a:p>
            <a:r>
              <a:rPr lang="en-US" dirty="0">
                <a:solidFill>
                  <a:srgbClr val="333333"/>
                </a:solidFill>
                <a:latin typeface="inter-regular"/>
              </a:rPr>
              <a:t>Syntax:</a:t>
            </a:r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inter-regular"/>
              </a:rPr>
              <a:t>document.getElementsByTagName</a:t>
            </a:r>
            <a:r>
              <a:rPr lang="en-US" b="0" i="0" dirty="0" smtClean="0">
                <a:solidFill>
                  <a:srgbClr val="000000"/>
                </a:solidFill>
                <a:effectLst/>
                <a:latin typeface="inter-regular"/>
              </a:rPr>
              <a:t>(“p")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r>
              <a:rPr lang="en-US" dirty="0">
                <a:solidFill>
                  <a:srgbClr val="333333"/>
                </a:solidFill>
                <a:latin typeface="inter-regular"/>
              </a:rPr>
              <a:t>Example: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58" y="2592887"/>
            <a:ext cx="8301475" cy="396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2282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126CCC-0C86-C4CB-E3EB-E070BF8B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761" y="182053"/>
            <a:ext cx="7490084" cy="80729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ParseInt</a:t>
            </a:r>
            <a:r>
              <a:rPr lang="en-US" dirty="0"/>
              <a:t>()- String to Int conversion</a:t>
            </a:r>
            <a:br>
              <a:rPr lang="en-US" dirty="0"/>
            </a:br>
            <a:r>
              <a:rPr lang="en-US" dirty="0" err="1"/>
              <a:t>ParseFloat</a:t>
            </a:r>
            <a:r>
              <a:rPr lang="en-US" dirty="0"/>
              <a:t>()- String to float conversion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B26AF6-28CF-67D0-2895-8FE27C0E6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319134"/>
            <a:ext cx="7065365" cy="553886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Example:</a:t>
            </a:r>
          </a:p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&lt;head&gt;&lt;title&gt;&lt;/title&gt;&lt;/head&gt;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 smtClean="0"/>
              <a:t>&lt;</a:t>
            </a:r>
            <a:r>
              <a:rPr lang="en-US" dirty="0"/>
              <a:t>script&gt;</a:t>
            </a:r>
          </a:p>
          <a:p>
            <a:r>
              <a:rPr lang="en-US" dirty="0"/>
              <a:t>var num1=prompt(“Enter the number");</a:t>
            </a:r>
          </a:p>
          <a:p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typeof</a:t>
            </a:r>
            <a:r>
              <a:rPr lang="en-US" dirty="0"/>
              <a:t> num1);</a:t>
            </a:r>
          </a:p>
          <a:p>
            <a:r>
              <a:rPr lang="en-US" dirty="0" err="1"/>
              <a:t>document.write</a:t>
            </a:r>
            <a:r>
              <a:rPr lang="en-US" dirty="0"/>
              <a:t>(num1+9);</a:t>
            </a:r>
          </a:p>
          <a:p>
            <a:r>
              <a:rPr lang="en-US" dirty="0" err="1"/>
              <a:t>document.write</a:t>
            </a:r>
            <a:r>
              <a:rPr lang="en-US" dirty="0"/>
              <a:t>("&lt;</a:t>
            </a:r>
            <a:r>
              <a:rPr lang="en-US" dirty="0" err="1"/>
              <a:t>br</a:t>
            </a:r>
            <a:r>
              <a:rPr lang="en-US" dirty="0"/>
              <a:t>&gt;");</a:t>
            </a:r>
          </a:p>
          <a:p>
            <a:r>
              <a:rPr lang="en-US" dirty="0" err="1"/>
              <a:t>document.write</a:t>
            </a:r>
            <a:r>
              <a:rPr lang="en-US" dirty="0"/>
              <a:t>(</a:t>
            </a:r>
            <a:r>
              <a:rPr lang="en-US" dirty="0" err="1"/>
              <a:t>parseInt</a:t>
            </a:r>
            <a:r>
              <a:rPr lang="en-US" dirty="0"/>
              <a:t>(num1)+9);</a:t>
            </a:r>
          </a:p>
          <a:p>
            <a:r>
              <a:rPr lang="en-US" dirty="0"/>
              <a:t>&lt;/script&gt;</a:t>
            </a:r>
          </a:p>
          <a:p>
            <a:r>
              <a:rPr lang="en-US"/>
              <a:t>&lt;/body&gt;</a:t>
            </a:r>
          </a:p>
          <a:p>
            <a:r>
              <a:rPr lang="en-US" smtClean="0"/>
              <a:t>&lt;/</a:t>
            </a:r>
            <a:r>
              <a:rPr lang="en-US" dirty="0"/>
              <a:t>html&gt;</a:t>
            </a:r>
          </a:p>
          <a:p>
            <a:r>
              <a:rPr lang="en-US" dirty="0"/>
              <a:t>var num1=</a:t>
            </a:r>
            <a:r>
              <a:rPr lang="en-US" dirty="0" err="1"/>
              <a:t>parseInt</a:t>
            </a:r>
            <a:r>
              <a:rPr lang="en-US" dirty="0"/>
              <a:t>(prompt(“Enter the number"));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8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554AEB-2F11-C392-C9B7-1BD0626DE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667" y="586447"/>
            <a:ext cx="7065365" cy="1320800"/>
          </a:xfrm>
        </p:spPr>
        <p:txBody>
          <a:bodyPr/>
          <a:lstStyle/>
          <a:p>
            <a:r>
              <a:rPr lang="en-US" dirty="0"/>
              <a:t>Document Object Model: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BE6165-285D-863B-3E85-7270F47E8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5D9D07D-1E51-14DD-F5FB-CF2E1CB64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67" y="1714398"/>
            <a:ext cx="7271432" cy="444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0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765AB1-77DB-6883-43FD-7080D229E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685" y="494675"/>
            <a:ext cx="6477627" cy="1435725"/>
          </a:xfrm>
        </p:spPr>
        <p:txBody>
          <a:bodyPr/>
          <a:lstStyle/>
          <a:p>
            <a:r>
              <a:rPr lang="en-US" dirty="0"/>
              <a:t>Document Object Model: Event Listeners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ADA703-BC42-7FD0-1AD4-FF919B4F1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2160590"/>
            <a:ext cx="7605011" cy="4569994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04E4A34-C153-3CEF-CD6E-8E9A0D12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2160590"/>
            <a:ext cx="6876542" cy="402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1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Statically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JavaScript, you can add event listeners both statically (in your HTML markup) and dynamically (in your JavaScript code).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HTML, you can add event listeners directly to elements using attributes like </a:t>
            </a:r>
            <a:r>
              <a:rPr lang="en-US" dirty="0" err="1"/>
              <a:t>onclick</a:t>
            </a:r>
            <a:r>
              <a:rPr lang="en-US" dirty="0"/>
              <a:t>, </a:t>
            </a:r>
            <a:r>
              <a:rPr lang="en-US" dirty="0" err="1"/>
              <a:t>onmouseover</a:t>
            </a:r>
            <a:r>
              <a:rPr lang="en-US" dirty="0"/>
              <a:t>, etc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Example:</a:t>
            </a:r>
          </a:p>
          <a:p>
            <a:r>
              <a:rPr lang="en-US" dirty="0"/>
              <a:t>&lt;button </a:t>
            </a:r>
            <a:r>
              <a:rPr lang="en-US" dirty="0" err="1"/>
              <a:t>onclick</a:t>
            </a:r>
            <a:r>
              <a:rPr lang="en-US" dirty="0"/>
              <a:t>="</a:t>
            </a:r>
            <a:r>
              <a:rPr lang="en-US" dirty="0" err="1"/>
              <a:t>myFunction</a:t>
            </a:r>
            <a:r>
              <a:rPr lang="en-US" dirty="0"/>
              <a:t>()"&gt;Click me&lt;/button&gt;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80145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FC46C7-D955-A06E-F2E3-A97F141E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28931E5-C92E-1A52-F56F-8AD498837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39" y="1321346"/>
            <a:ext cx="6347714" cy="3880773"/>
          </a:xfrm>
        </p:spPr>
        <p:txBody>
          <a:bodyPr/>
          <a:lstStyle/>
          <a:p>
            <a:r>
              <a:rPr lang="en-US" dirty="0"/>
              <a:t>In JavaScript, you can add event listeners to elements dynamically using the </a:t>
            </a:r>
            <a:r>
              <a:rPr lang="en-US" dirty="0" err="1"/>
              <a:t>addEventListener</a:t>
            </a:r>
            <a:r>
              <a:rPr lang="en-US" dirty="0"/>
              <a:t>()</a:t>
            </a:r>
            <a:r>
              <a:rPr lang="en-US" dirty="0"/>
              <a:t> method</a:t>
            </a:r>
            <a:endParaRPr lang="en-US" dirty="0" smtClean="0"/>
          </a:p>
          <a:p>
            <a:r>
              <a:rPr lang="en-US" dirty="0" smtClean="0"/>
              <a:t>Syntax</a:t>
            </a:r>
            <a:r>
              <a:rPr lang="en-US" dirty="0"/>
              <a:t>:</a:t>
            </a:r>
          </a:p>
          <a:p>
            <a:r>
              <a:rPr lang="en-US" dirty="0" err="1"/>
              <a:t>Element.addEventListener</a:t>
            </a:r>
            <a:r>
              <a:rPr lang="en-US" dirty="0"/>
              <a:t>(</a:t>
            </a:r>
            <a:r>
              <a:rPr lang="en-US" dirty="0" err="1"/>
              <a:t>event,function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8841E670-6AAD-0339-58F7-A8BEA79F1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9" y="3414380"/>
            <a:ext cx="9106321" cy="261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87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Common HTML Events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17FA89D-4AC4-6A8D-E97D-BDDDC5CAE1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210" y="1488613"/>
            <a:ext cx="7625517" cy="4759787"/>
          </a:xfrm>
        </p:spPr>
        <p:txBody>
          <a:bodyPr/>
          <a:lstStyle/>
          <a:p>
            <a:r>
              <a:rPr lang="en-US" b="0" i="0" dirty="0">
                <a:solidFill>
                  <a:srgbClr val="610B4B"/>
                </a:solidFill>
                <a:effectLst/>
                <a:latin typeface="erdana"/>
              </a:rPr>
              <a:t>Mouse events:</a:t>
            </a:r>
          </a:p>
          <a:p>
            <a:endParaRPr lang="en-US" dirty="0"/>
          </a:p>
        </p:txBody>
      </p:sp>
      <p:sp>
        <p:nvSpPr>
          <p:cNvPr id="526" name="Google Shape;526;p5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57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E169030-C768-2A41-7582-81AB3DF70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10" y="2211022"/>
            <a:ext cx="7835379" cy="331496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E80B86A7-A1EC-475B-9166-88902B033A3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4C4E113-6CFB-7E0C-91BE-E9111507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26" y="609600"/>
            <a:ext cx="6447501" cy="1320800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xmlns="" id="{C2C29CB1-9F74-4879-A6AF-AEA67B6F1F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DE45A708-6CE3-5777-7FA2-E4C2046F8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6" y="2160589"/>
            <a:ext cx="6447501" cy="3880773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xmlns="" id="{7E2C7115-5336-410C-AD71-0F0952A2E5A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4435ADD2-CF0E-9339-2E28-9FCC80D01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29" y="1487777"/>
            <a:ext cx="7125694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443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88A93E-1317-6549-FEBF-A5C55EFA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10B4B"/>
                </a:solidFill>
                <a:effectLst/>
                <a:latin typeface="erdana"/>
              </a:rPr>
              <a:t>Click Event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B2CEBC-2DCF-E6C6-AF54-69B3C3DD5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734" y="1409076"/>
            <a:ext cx="7495082" cy="544892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&lt;html&gt;</a:t>
            </a:r>
          </a:p>
          <a:p>
            <a:r>
              <a:rPr lang="en-US" dirty="0"/>
              <a:t>&lt;head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  <a:latin typeface="Söhne Mono"/>
              </a:rPr>
              <a:t>&lt;meta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charset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=</a:t>
            </a:r>
            <a:r>
              <a:rPr lang="en-US" b="0" i="0" dirty="0">
                <a:solidFill>
                  <a:srgbClr val="00A67D"/>
                </a:solidFill>
                <a:effectLst/>
                <a:latin typeface="Söhne Mono"/>
              </a:rPr>
              <a:t>"</a:t>
            </a:r>
            <a:r>
              <a:rPr lang="en-US" b="0" i="0" dirty="0" smtClean="0">
                <a:solidFill>
                  <a:srgbClr val="00A67D"/>
                </a:solidFill>
                <a:effectLst/>
                <a:latin typeface="Söhne Mono"/>
              </a:rPr>
              <a:t>UTF-8”&gt;</a:t>
            </a:r>
            <a:r>
              <a:rPr lang="en-US" b="0" i="0" dirty="0" smtClean="0">
                <a:solidFill>
                  <a:srgbClr val="FFFFFF"/>
                </a:solidFill>
                <a:effectLst/>
                <a:latin typeface="Söhne Mono"/>
              </a:rPr>
              <a:t>&gt;&gt;</a:t>
            </a:r>
            <a:endParaRPr lang="en-US" b="0" i="0" dirty="0">
              <a:solidFill>
                <a:srgbClr val="FFFFFF"/>
              </a:solidFill>
              <a:effectLst/>
              <a:latin typeface="Söhne Mono"/>
            </a:endParaRPr>
          </a:p>
          <a:p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&lt;meta name</a:t>
            </a:r>
            <a:r>
              <a:rPr lang="en-US" dirty="0">
                <a:solidFill>
                  <a:srgbClr val="FFFFFF"/>
                </a:solidFill>
                <a:latin typeface="Söhne Mono"/>
              </a:rPr>
              <a:t> </a:t>
            </a:r>
            <a:r>
              <a:rPr lang="en-US" dirty="0">
                <a:solidFill>
                  <a:schemeClr val="tx1"/>
                </a:solidFill>
                <a:latin typeface="Söhne Mono"/>
              </a:rPr>
              <a:t>=</a:t>
            </a:r>
            <a:r>
              <a:rPr lang="en-US" b="0" i="0" dirty="0">
                <a:solidFill>
                  <a:srgbClr val="00A67D"/>
                </a:solidFill>
                <a:effectLst/>
                <a:latin typeface="Söhne Mono"/>
              </a:rPr>
              <a:t>"viewport"</a:t>
            </a:r>
            <a:r>
              <a:rPr lang="en-US" b="0" i="0" dirty="0">
                <a:solidFill>
                  <a:srgbClr val="FFFFFF"/>
                </a:solidFill>
                <a:effectLst/>
                <a:latin typeface="Söhne Mono"/>
              </a:rPr>
              <a:t> </a:t>
            </a:r>
            <a:r>
              <a:rPr lang="en-US" b="0" i="0" dirty="0">
                <a:solidFill>
                  <a:srgbClr val="DF3079"/>
                </a:solidFill>
                <a:effectLst/>
                <a:latin typeface="Söhne Mono"/>
              </a:rPr>
              <a:t>content-</a:t>
            </a:r>
            <a:r>
              <a:rPr lang="en-US" b="0" i="0" dirty="0">
                <a:solidFill>
                  <a:srgbClr val="00A67D"/>
                </a:solidFill>
                <a:effectLst/>
                <a:latin typeface="Söhne Mono"/>
              </a:rPr>
              <a:t>width=“device-width”&gt;</a:t>
            </a:r>
          </a:p>
          <a:p>
            <a:r>
              <a:rPr lang="en-US" dirty="0"/>
              <a:t>&lt;title&gt; </a:t>
            </a:r>
            <a:r>
              <a:rPr lang="en-US" dirty="0" err="1"/>
              <a:t>Javascript</a:t>
            </a:r>
            <a:r>
              <a:rPr lang="en-US" dirty="0"/>
              <a:t> Events &lt;/title&gt; 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>
                <a:solidFill>
                  <a:srgbClr val="0070C0"/>
                </a:solidFill>
              </a:rPr>
              <a:t>&lt;script language="</a:t>
            </a:r>
            <a:r>
              <a:rPr lang="en-US" dirty="0" err="1">
                <a:solidFill>
                  <a:srgbClr val="0070C0"/>
                </a:solidFill>
              </a:rPr>
              <a:t>Javascript</a:t>
            </a:r>
            <a:r>
              <a:rPr lang="en-US" dirty="0">
                <a:solidFill>
                  <a:srgbClr val="0070C0"/>
                </a:solidFill>
              </a:rPr>
              <a:t>" type="text/</a:t>
            </a:r>
            <a:r>
              <a:rPr lang="en-US" dirty="0" err="1">
                <a:solidFill>
                  <a:srgbClr val="0070C0"/>
                </a:solidFill>
              </a:rPr>
              <a:t>Javascript</a:t>
            </a:r>
            <a:r>
              <a:rPr lang="en-US" dirty="0">
                <a:solidFill>
                  <a:srgbClr val="0070C0"/>
                </a:solidFill>
              </a:rPr>
              <a:t>"&gt;</a:t>
            </a:r>
          </a:p>
          <a:p>
            <a:r>
              <a:rPr lang="en-US" dirty="0">
                <a:solidFill>
                  <a:srgbClr val="0070C0"/>
                </a:solidFill>
              </a:rPr>
              <a:t>	function </a:t>
            </a:r>
            <a:r>
              <a:rPr lang="en-US" dirty="0" err="1">
                <a:solidFill>
                  <a:srgbClr val="0070C0"/>
                </a:solidFill>
              </a:rPr>
              <a:t>clickevent</a:t>
            </a:r>
            <a:r>
              <a:rPr lang="en-US" dirty="0">
                <a:solidFill>
                  <a:srgbClr val="0070C0"/>
                </a:solidFill>
              </a:rPr>
              <a:t>()</a:t>
            </a:r>
          </a:p>
          <a:p>
            <a:r>
              <a:rPr lang="en-US" dirty="0">
                <a:solidFill>
                  <a:srgbClr val="0070C0"/>
                </a:solidFill>
              </a:rPr>
              <a:t>	{</a:t>
            </a:r>
          </a:p>
          <a:p>
            <a:r>
              <a:rPr lang="en-US" dirty="0">
                <a:solidFill>
                  <a:srgbClr val="0070C0"/>
                </a:solidFill>
              </a:rPr>
              <a:t>		</a:t>
            </a:r>
            <a:r>
              <a:rPr lang="en-US" dirty="0" err="1">
                <a:solidFill>
                  <a:srgbClr val="0070C0"/>
                </a:solidFill>
              </a:rPr>
              <a:t>document.write</a:t>
            </a:r>
            <a:r>
              <a:rPr lang="en-US" dirty="0">
                <a:solidFill>
                  <a:srgbClr val="0070C0"/>
                </a:solidFill>
              </a:rPr>
              <a:t>("This is </a:t>
            </a:r>
            <a:r>
              <a:rPr lang="en-US" dirty="0" err="1">
                <a:solidFill>
                  <a:srgbClr val="0070C0"/>
                </a:solidFill>
              </a:rPr>
              <a:t>Javascript</a:t>
            </a:r>
            <a:r>
              <a:rPr lang="en-US" dirty="0">
                <a:solidFill>
                  <a:srgbClr val="0070C0"/>
                </a:solidFill>
              </a:rPr>
              <a:t> Event demo");</a:t>
            </a:r>
          </a:p>
          <a:p>
            <a:r>
              <a:rPr lang="en-US" dirty="0">
                <a:solidFill>
                  <a:srgbClr val="0070C0"/>
                </a:solidFill>
              </a:rPr>
              <a:t>	}</a:t>
            </a:r>
          </a:p>
          <a:p>
            <a:r>
              <a:rPr lang="en-US" dirty="0">
                <a:solidFill>
                  <a:srgbClr val="0070C0"/>
                </a:solidFill>
              </a:rPr>
              <a:t>	&lt;/script&gt;</a:t>
            </a:r>
          </a:p>
          <a:p>
            <a:r>
              <a:rPr lang="en-US" dirty="0"/>
              <a:t>&lt;form&gt;</a:t>
            </a:r>
          </a:p>
          <a:p>
            <a:r>
              <a:rPr lang="en-US" dirty="0"/>
              <a:t>&lt;input type="button" onclick="</a:t>
            </a:r>
            <a:r>
              <a:rPr lang="en-US" dirty="0" err="1"/>
              <a:t>clickevent</a:t>
            </a:r>
            <a:r>
              <a:rPr lang="en-US" dirty="0"/>
              <a:t>()" value=“Click here"/&gt;</a:t>
            </a:r>
          </a:p>
          <a:p>
            <a:r>
              <a:rPr lang="en-US" dirty="0"/>
              <a:t>&lt;/form&gt;</a:t>
            </a:r>
          </a:p>
          <a:p>
            <a:r>
              <a:rPr lang="en-US" dirty="0"/>
              <a:t>&lt;/body&gt;&lt;/html&gt;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780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CD630F-900F-8A36-FE8B-F0C52861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34650"/>
            <a:ext cx="6347714" cy="649574"/>
          </a:xfrm>
        </p:spPr>
        <p:txBody>
          <a:bodyPr/>
          <a:lstStyle/>
          <a:p>
            <a:r>
              <a:rPr lang="en-US" dirty="0"/>
              <a:t>Mouse over Event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4EA2BA-7FDA-B91E-D031-D0DCBEFF6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54046"/>
            <a:ext cx="6915464" cy="5036695"/>
          </a:xfrm>
        </p:spPr>
        <p:txBody>
          <a:bodyPr>
            <a:normAutofit/>
          </a:bodyPr>
          <a:lstStyle/>
          <a:p>
            <a:r>
              <a:rPr lang="en-US" dirty="0"/>
              <a:t>&lt;body&gt;  </a:t>
            </a:r>
          </a:p>
          <a:p>
            <a:r>
              <a:rPr lang="en-US" dirty="0"/>
              <a:t>&lt;script type="text/</a:t>
            </a:r>
            <a:r>
              <a:rPr lang="en-US" dirty="0" err="1"/>
              <a:t>Javascript</a:t>
            </a:r>
            <a:r>
              <a:rPr lang="en-US" dirty="0"/>
              <a:t>"&gt;  </a:t>
            </a:r>
          </a:p>
          <a:p>
            <a:r>
              <a:rPr lang="en-US" dirty="0"/>
              <a:t>     function </a:t>
            </a:r>
            <a:r>
              <a:rPr lang="en-US" dirty="0" err="1"/>
              <a:t>mouseoverevent</a:t>
            </a:r>
            <a:r>
              <a:rPr lang="en-US" dirty="0"/>
              <a:t>()  </a:t>
            </a:r>
          </a:p>
          <a:p>
            <a:r>
              <a:rPr lang="en-US" dirty="0"/>
              <a:t>    {  </a:t>
            </a:r>
          </a:p>
          <a:p>
            <a:r>
              <a:rPr lang="en-US" dirty="0"/>
              <a:t>        </a:t>
            </a:r>
            <a:r>
              <a:rPr lang="en-US" dirty="0" err="1"/>
              <a:t>document.write</a:t>
            </a:r>
            <a:r>
              <a:rPr lang="en-US" dirty="0"/>
              <a:t>("This is Mouse Over Event");  </a:t>
            </a:r>
          </a:p>
          <a:p>
            <a:r>
              <a:rPr lang="en-US" dirty="0"/>
              <a:t>    }  </a:t>
            </a:r>
          </a:p>
          <a:p>
            <a:r>
              <a:rPr lang="en-US" dirty="0"/>
              <a:t>&lt;/script&gt;  </a:t>
            </a:r>
          </a:p>
          <a:p>
            <a:r>
              <a:rPr lang="en-US" dirty="0"/>
              <a:t>&lt;p </a:t>
            </a:r>
            <a:r>
              <a:rPr lang="en-US" dirty="0" err="1"/>
              <a:t>onmouseover</a:t>
            </a:r>
            <a:r>
              <a:rPr lang="en-US" dirty="0"/>
              <a:t>="</a:t>
            </a:r>
            <a:r>
              <a:rPr lang="en-US" dirty="0" err="1"/>
              <a:t>mouseoverevent</a:t>
            </a:r>
            <a:r>
              <a:rPr lang="en-US" dirty="0"/>
              <a:t>()"&gt; Keep cursor over me&lt;/p&gt;  </a:t>
            </a:r>
          </a:p>
          <a:p>
            <a:r>
              <a:rPr lang="en-US" dirty="0"/>
              <a:t>&lt;/body&gt;  </a:t>
            </a:r>
          </a:p>
          <a:p>
            <a:r>
              <a:rPr lang="en-US" dirty="0"/>
              <a:t>&lt;/html&gt;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7C06FA4C-FD65-082C-5C0B-EF6FA82F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867" y="4999190"/>
            <a:ext cx="2391109" cy="1324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8E4926D-56BD-077F-499E-C2AE04BF0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759" y="5123032"/>
            <a:ext cx="2314898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28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7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7"/>
          <p:cNvSpPr txBox="1">
            <a:spLocks noGrp="1"/>
          </p:cNvSpPr>
          <p:nvPr>
            <p:ph type="title"/>
          </p:nvPr>
        </p:nvSpPr>
        <p:spPr>
          <a:xfrm>
            <a:off x="880200" y="436924"/>
            <a:ext cx="61515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can JavaScript Do?</a:t>
            </a:r>
            <a:endParaRPr/>
          </a:p>
        </p:txBody>
      </p:sp>
      <p:sp>
        <p:nvSpPr>
          <p:cNvPr id="534" name="Google Shape;534;p5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58</a:t>
            </a:r>
            <a:endParaRPr/>
          </a:p>
        </p:txBody>
      </p:sp>
      <p:sp>
        <p:nvSpPr>
          <p:cNvPr id="535" name="Google Shape;535;p57"/>
          <p:cNvSpPr txBox="1"/>
          <p:nvPr/>
        </p:nvSpPr>
        <p:spPr>
          <a:xfrm>
            <a:off x="663815" y="1684745"/>
            <a:ext cx="7259459" cy="3488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 handlers can be used to handle, and verify, user input, user actions, and browser actions: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should be done every time a page loads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that should be done when the page is closed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1409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that should be performed when a user clicks a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1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button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that should be verified when a user inputs data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more ...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8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8"/>
          <p:cNvSpPr txBox="1">
            <a:spLocks noGrp="1"/>
          </p:cNvSpPr>
          <p:nvPr>
            <p:ph type="title"/>
          </p:nvPr>
        </p:nvSpPr>
        <p:spPr>
          <a:xfrm>
            <a:off x="880197" y="664903"/>
            <a:ext cx="61515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can JavaScript Do?</a:t>
            </a:r>
            <a:endParaRPr/>
          </a:p>
        </p:txBody>
      </p:sp>
      <p:sp>
        <p:nvSpPr>
          <p:cNvPr id="542" name="Google Shape;542;p5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59</a:t>
            </a:r>
            <a:endParaRPr/>
          </a:p>
        </p:txBody>
      </p:sp>
      <p:sp>
        <p:nvSpPr>
          <p:cNvPr id="543" name="Google Shape;543;p58"/>
          <p:cNvSpPr txBox="1"/>
          <p:nvPr/>
        </p:nvSpPr>
        <p:spPr>
          <a:xfrm>
            <a:off x="1051175" y="1430164"/>
            <a:ext cx="6916500" cy="4104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different methods can be used to let JavaScript work with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events: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event attributes can execute JavaScript code directly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 event attributes can call JavaScript functions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assign your own event handler functions to HTML elements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prevent events from being sent or being handled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more ...</a:t>
            </a:r>
            <a:endParaRPr sz="2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B4DE830A-B531-4A3B-96F6-0ECE88B085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2813DF2C-461A-4A8F-9679-A172790D1F3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54CD3A85-C039-4249-86E4-1EB9318B54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xmlns="" id="{887EA6D2-2883-42C2-993D-094CA6D65DA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xmlns="" id="{3B895046-636F-4D1B-ACA4-29AA0CB332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xmlns="" id="{C6B0CDE3-E054-4EDD-A43B-F96843D8BF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xmlns="" id="{3B66B1A2-F145-4C9B-85CC-4BF30D58CBC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xmlns="" id="{5D4FC972-94B3-4035-8D31-E668C132B4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xmlns="" id="{374B9941-AFBE-4A77-A50E-B6EA04A746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xmlns="" id="{27A982C5-2C38-4CE9-BC18-94697AD657F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xmlns="" id="{0060D8D1-7BB1-498F-AFBB-ADAC130A9E9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AD7835E7-B831-A957-00B6-7E24FCCA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553712"/>
            <a:ext cx="6216024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Form validation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BBA39160-8B53-2727-1745-7C21C564C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5314" y="1244783"/>
            <a:ext cx="7518550" cy="317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034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B4DE830A-B531-4A3B-96F6-0ECE88B0855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2813DF2C-461A-4A8F-9679-A172790D1F3A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54CD3A85-C039-4249-86E4-1EB9318B54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xmlns="" id="{887EA6D2-2883-42C2-993D-094CA6D65DA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xmlns="" id="{3B895046-636F-4D1B-ACA4-29AA0CB3329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xmlns="" id="{C6B0CDE3-E054-4EDD-A43B-F96843D8BF5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xmlns="" id="{3B66B1A2-F145-4C9B-85CC-4BF30D58CBC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xmlns="" id="{5D4FC972-94B3-4035-8D31-E668C132B41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xmlns="" id="{374B9941-AFBE-4A77-A50E-B6EA04A746AE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xmlns="" id="{27A982C5-2C38-4CE9-BC18-94697AD657FB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xmlns="" id="{0060D8D1-7BB1-498F-AFBB-ADAC130A9E9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906B41-A54B-4A3D-29C3-2C2C751CA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476" y="4553712"/>
            <a:ext cx="6216024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4200" kern="120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571103A6-DB6B-4312-346F-1F60A41C1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305" y="2458016"/>
            <a:ext cx="7093361" cy="319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381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8C89D6-D412-1132-59B2-3F849B80A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978E1D-E02B-A1DD-B63D-5878BF50D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99FBB161-7B47-33BF-C807-2C242AEF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695" y="666161"/>
            <a:ext cx="3894617" cy="1332759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10" y="2573135"/>
            <a:ext cx="6307703" cy="2903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908742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931AA3-8383-AB75-43DE-566CBAE6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438B16-BD53-7C1D-E30B-0350FDF16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9A4C739-0516-B21B-ED69-31B6DFCB4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85" y="1288457"/>
            <a:ext cx="6785855" cy="495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7721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7A10F3C-F76C-CD32-2E6D-FB04A9C0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54144"/>
            <a:ext cx="6192814" cy="379751"/>
          </a:xfrm>
        </p:spPr>
        <p:txBody>
          <a:bodyPr>
            <a:normAutofit fontScale="90000"/>
          </a:bodyPr>
          <a:lstStyle/>
          <a:p>
            <a:r>
              <a:rPr lang="en-US" dirty="0"/>
              <a:t>Complete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FAB6F0-89CF-63B0-5109-05BB97165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6B3B78D-C35E-96C2-6114-B5FE00FD7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21" y="957562"/>
            <a:ext cx="8278380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559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61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61"/>
          <p:cNvSpPr txBox="1">
            <a:spLocks noGrp="1"/>
          </p:cNvSpPr>
          <p:nvPr>
            <p:ph type="title"/>
          </p:nvPr>
        </p:nvSpPr>
        <p:spPr>
          <a:xfrm>
            <a:off x="962675" y="607903"/>
            <a:ext cx="6912600" cy="1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787015" marR="5080" lvl="0" indent="-277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JavaScript Errors - Throw and Try to  Catch</a:t>
            </a:r>
            <a:endParaRPr sz="3600"/>
          </a:p>
        </p:txBody>
      </p:sp>
      <p:sp>
        <p:nvSpPr>
          <p:cNvPr id="567" name="Google Shape;567;p6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62</a:t>
            </a:r>
            <a:endParaRPr/>
          </a:p>
        </p:txBody>
      </p:sp>
      <p:sp>
        <p:nvSpPr>
          <p:cNvPr id="568" name="Google Shape;568;p61"/>
          <p:cNvSpPr txBox="1"/>
          <p:nvPr/>
        </p:nvSpPr>
        <p:spPr>
          <a:xfrm>
            <a:off x="1069650" y="1841688"/>
            <a:ext cx="6912600" cy="41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</a:t>
            </a: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test a block of code for errors.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 </a:t>
            </a: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handle the error.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 </a:t>
            </a: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create custom errors.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 </a:t>
            </a: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execute code, after try and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catch, regardless of the result.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executing JavaScript code, different errors can occur.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l" rtl="0">
              <a:lnSpc>
                <a:spcPct val="100000"/>
              </a:lnSpc>
              <a:spcBef>
                <a:spcPts val="113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Errors can be coding errors made by the programmer, errors  due to wrong input, and other unforeseeable things.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2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62"/>
          <p:cNvSpPr txBox="1">
            <a:spLocks noGrp="1"/>
          </p:cNvSpPr>
          <p:nvPr>
            <p:ph type="title"/>
          </p:nvPr>
        </p:nvSpPr>
        <p:spPr>
          <a:xfrm>
            <a:off x="209863" y="216673"/>
            <a:ext cx="821461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787015" marR="5080" lvl="0" indent="-2774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JavaScript Errors - Throw and Try to  Catch</a:t>
            </a:r>
            <a:endParaRPr sz="3600" dirty="0"/>
          </a:p>
        </p:txBody>
      </p:sp>
      <p:sp>
        <p:nvSpPr>
          <p:cNvPr id="575" name="Google Shape;575;p6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63</a:t>
            </a:r>
            <a:endParaRPr/>
          </a:p>
        </p:txBody>
      </p:sp>
      <p:sp>
        <p:nvSpPr>
          <p:cNvPr id="576" name="Google Shape;576;p62"/>
          <p:cNvSpPr txBox="1"/>
          <p:nvPr/>
        </p:nvSpPr>
        <p:spPr>
          <a:xfrm>
            <a:off x="639720" y="783495"/>
            <a:ext cx="7084800" cy="5689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7950" rIns="0" bIns="0" anchor="t" anchorCtr="0">
            <a:spAutoFit/>
          </a:bodyPr>
          <a:lstStyle/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Example&lt;!DOCTYPE html&gt;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&lt;html&gt;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&lt;h2&gt;JavaScript Error Handling&lt;/h2&gt;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&lt;p id="demo"&gt;&lt;/p&gt;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&lt;script&gt;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 {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adddlert</a:t>
            </a: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("Welcome guest!");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catch(err) {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document.getElementById</a:t>
            </a: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("demo").</a:t>
            </a:r>
            <a:r>
              <a:rPr lang="en-US" sz="24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innerHTML</a:t>
            </a: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400" dirty="0" err="1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err.message</a:t>
            </a: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&lt;/script&gt;&lt;/body&gt;&lt;/html&gt;</a:t>
            </a:r>
          </a:p>
          <a:p>
            <a:pPr marL="299085" marR="0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3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63"/>
          <p:cNvSpPr txBox="1">
            <a:spLocks noGrp="1"/>
          </p:cNvSpPr>
          <p:nvPr>
            <p:ph type="title"/>
          </p:nvPr>
        </p:nvSpPr>
        <p:spPr>
          <a:xfrm>
            <a:off x="751974" y="645903"/>
            <a:ext cx="70446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Throws Errors, finally</a:t>
            </a:r>
            <a:endParaRPr/>
          </a:p>
        </p:txBody>
      </p:sp>
      <p:sp>
        <p:nvSpPr>
          <p:cNvPr id="583" name="Google Shape;583;p6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64</a:t>
            </a:r>
            <a:endParaRPr/>
          </a:p>
        </p:txBody>
      </p:sp>
      <p:sp>
        <p:nvSpPr>
          <p:cNvPr id="584" name="Google Shape;584;p63"/>
          <p:cNvSpPr txBox="1"/>
          <p:nvPr/>
        </p:nvSpPr>
        <p:spPr>
          <a:xfrm>
            <a:off x="830416" y="2474198"/>
            <a:ext cx="7044600" cy="3429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9085" marR="139065" lvl="0" indent="-28701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an error occurs, JavaScript will normally stop and  generate an error message.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310515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technical term for this is: JavaScript will </a:t>
            </a:r>
            <a:r>
              <a:rPr lang="en-US" sz="2400" b="1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 an  exception (throw an error)</a:t>
            </a: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will actually create an Error object with two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properties: name and message.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 </a:t>
            </a: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statement lets you execute code, after try and catch, regardless of the result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4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64"/>
          <p:cNvSpPr txBox="1">
            <a:spLocks noGrp="1"/>
          </p:cNvSpPr>
          <p:nvPr>
            <p:ph type="title"/>
          </p:nvPr>
        </p:nvSpPr>
        <p:spPr>
          <a:xfrm>
            <a:off x="804228" y="740902"/>
            <a:ext cx="59118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Debugging</a:t>
            </a:r>
            <a:endParaRPr/>
          </a:p>
        </p:txBody>
      </p:sp>
      <p:sp>
        <p:nvSpPr>
          <p:cNvPr id="591" name="Google Shape;591;p64"/>
          <p:cNvSpPr txBox="1"/>
          <p:nvPr/>
        </p:nvSpPr>
        <p:spPr>
          <a:xfrm>
            <a:off x="7749920" y="6019912"/>
            <a:ext cx="147955" cy="169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65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64"/>
          <p:cNvSpPr txBox="1"/>
          <p:nvPr/>
        </p:nvSpPr>
        <p:spPr>
          <a:xfrm>
            <a:off x="933900" y="1823586"/>
            <a:ext cx="7276200" cy="398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47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Debugging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14166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code might contain syntax  errors, or logical errors.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just" rtl="0">
              <a:lnSpc>
                <a:spcPct val="100000"/>
              </a:lnSpc>
              <a:spcBef>
                <a:spcPts val="89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of these errors are difficult to diagnose.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7620" lvl="0" indent="-287019" algn="just" rtl="0">
              <a:lnSpc>
                <a:spcPct val="90100"/>
              </a:lnSpc>
              <a:spcBef>
                <a:spcPts val="117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Often, when programming code contains errors, nothing  will happen. There are no error messages, and you will get  no indications where to search for errors.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715" lvl="0" indent="-287019" algn="just" rtl="0">
              <a:lnSpc>
                <a:spcPct val="107916"/>
              </a:lnSpc>
              <a:spcBef>
                <a:spcPts val="122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 for (and fixing) errors in programming code is  called code debugging.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5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65"/>
          <p:cNvSpPr txBox="1">
            <a:spLocks noGrp="1"/>
          </p:cNvSpPr>
          <p:nvPr>
            <p:ph type="title"/>
          </p:nvPr>
        </p:nvSpPr>
        <p:spPr>
          <a:xfrm>
            <a:off x="614254" y="892876"/>
            <a:ext cx="61020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Debugging</a:t>
            </a:r>
            <a:endParaRPr/>
          </a:p>
        </p:txBody>
      </p:sp>
      <p:sp>
        <p:nvSpPr>
          <p:cNvPr id="599" name="Google Shape;599;p6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66</a:t>
            </a:r>
            <a:endParaRPr/>
          </a:p>
        </p:txBody>
      </p:sp>
      <p:sp>
        <p:nvSpPr>
          <p:cNvPr id="600" name="Google Shape;600;p65"/>
          <p:cNvSpPr txBox="1"/>
          <p:nvPr/>
        </p:nvSpPr>
        <p:spPr>
          <a:xfrm>
            <a:off x="1089175" y="1842725"/>
            <a:ext cx="7144500" cy="36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12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Debuggers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12065" lvl="0" indent="-287019" algn="just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Debugging is not easy. But fortunately, all modern  browsers have a built-in JavaScript debugger.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9525" lvl="0" indent="-287019" algn="just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Built-in debuggers can be turned on and off, forcing  errors to be reported to the user.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just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 debugger, you can also set breakpoints (places  where code execution can be stopped), and examine  variables while the code is executing.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6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66"/>
          <p:cNvSpPr txBox="1">
            <a:spLocks noGrp="1"/>
          </p:cNvSpPr>
          <p:nvPr>
            <p:ph type="title"/>
          </p:nvPr>
        </p:nvSpPr>
        <p:spPr>
          <a:xfrm>
            <a:off x="993443" y="854877"/>
            <a:ext cx="49635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09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07" name="Google Shape;607;p6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67</a:t>
            </a:r>
            <a:endParaRPr/>
          </a:p>
        </p:txBody>
      </p:sp>
      <p:sp>
        <p:nvSpPr>
          <p:cNvPr id="608" name="Google Shape;608;p66"/>
          <p:cNvSpPr txBox="1"/>
          <p:nvPr/>
        </p:nvSpPr>
        <p:spPr>
          <a:xfrm>
            <a:off x="993450" y="1690974"/>
            <a:ext cx="6663000" cy="40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9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global variables, avoid new, avoid ==, avoid eval()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Global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 the use of global variables.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includes all data types, objects, and functions.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12065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 variables and functions can be overwritten by  other scripts.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local variables instead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7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7"/>
          <p:cNvSpPr txBox="1">
            <a:spLocks noGrp="1"/>
          </p:cNvSpPr>
          <p:nvPr>
            <p:ph type="title"/>
          </p:nvPr>
        </p:nvSpPr>
        <p:spPr>
          <a:xfrm>
            <a:off x="1278619" y="873877"/>
            <a:ext cx="46782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09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15" name="Google Shape;615;p6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68</a:t>
            </a:r>
            <a:endParaRPr/>
          </a:p>
        </p:txBody>
      </p:sp>
      <p:sp>
        <p:nvSpPr>
          <p:cNvPr id="616" name="Google Shape;616;p67"/>
          <p:cNvSpPr txBox="1"/>
          <p:nvPr/>
        </p:nvSpPr>
        <p:spPr>
          <a:xfrm>
            <a:off x="1027107" y="1861508"/>
            <a:ext cx="7089900" cy="3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12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Declare Local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just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variables used in a function should be declared as  local variables.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7620" lvl="0" indent="-287019" algn="just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 variables must be declared with the var keyword or  the let keyword, otherwise they will become global  variables.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just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Strict mode does not allow undeclared variables.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8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68"/>
          <p:cNvSpPr txBox="1">
            <a:spLocks noGrp="1"/>
          </p:cNvSpPr>
          <p:nvPr>
            <p:ph type="title"/>
          </p:nvPr>
        </p:nvSpPr>
        <p:spPr>
          <a:xfrm>
            <a:off x="1374119" y="873877"/>
            <a:ext cx="45828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09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23" name="Google Shape;623;p6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69</a:t>
            </a:r>
            <a:endParaRPr/>
          </a:p>
        </p:txBody>
      </p:sp>
      <p:sp>
        <p:nvSpPr>
          <p:cNvPr id="624" name="Google Shape;624;p68"/>
          <p:cNvSpPr txBox="1"/>
          <p:nvPr/>
        </p:nvSpPr>
        <p:spPr>
          <a:xfrm>
            <a:off x="1032175" y="1502974"/>
            <a:ext cx="6735300" cy="46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2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Declarations on Top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7954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good coding practice to put all declarations at the top of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script or function.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will: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cleaner code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single place to look for local variables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it easier to avoid unwanted (implied) global variables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the possibility of unwanted re-declarations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JavaScript moves all declarations to the top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9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69"/>
          <p:cNvSpPr txBox="1">
            <a:spLocks noGrp="1"/>
          </p:cNvSpPr>
          <p:nvPr>
            <p:ph type="title"/>
          </p:nvPr>
        </p:nvSpPr>
        <p:spPr>
          <a:xfrm>
            <a:off x="1089168" y="778878"/>
            <a:ext cx="48678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09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31" name="Google Shape;631;p6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70</a:t>
            </a:r>
            <a:endParaRPr/>
          </a:p>
        </p:txBody>
      </p:sp>
      <p:sp>
        <p:nvSpPr>
          <p:cNvPr id="632" name="Google Shape;632;p69"/>
          <p:cNvSpPr txBox="1"/>
          <p:nvPr/>
        </p:nvSpPr>
        <p:spPr>
          <a:xfrm>
            <a:off x="1089175" y="1484173"/>
            <a:ext cx="6823800" cy="3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1925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a good coding practice to initialize variables when you  declare them.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will: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 cleaner code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single place to initialize variables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undefined values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0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70"/>
          <p:cNvSpPr txBox="1">
            <a:spLocks noGrp="1"/>
          </p:cNvSpPr>
          <p:nvPr>
            <p:ph type="title"/>
          </p:nvPr>
        </p:nvSpPr>
        <p:spPr>
          <a:xfrm>
            <a:off x="1830071" y="873877"/>
            <a:ext cx="41268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09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39" name="Google Shape;639;p7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71</a:t>
            </a:r>
            <a:endParaRPr/>
          </a:p>
        </p:txBody>
      </p:sp>
      <p:sp>
        <p:nvSpPr>
          <p:cNvPr id="640" name="Google Shape;640;p70"/>
          <p:cNvSpPr txBox="1"/>
          <p:nvPr/>
        </p:nvSpPr>
        <p:spPr>
          <a:xfrm>
            <a:off x="993444" y="2410183"/>
            <a:ext cx="6796405" cy="22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Never Declare Number, String, or Boolean Objects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7239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Always treat numbers, strings, or booleans as primitive  values. Not as objects.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Declaring these types as objects, slows down execution  speed, and produces nasty side effects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1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71"/>
          <p:cNvSpPr txBox="1">
            <a:spLocks noGrp="1"/>
          </p:cNvSpPr>
          <p:nvPr>
            <p:ph type="title"/>
          </p:nvPr>
        </p:nvSpPr>
        <p:spPr>
          <a:xfrm>
            <a:off x="993443" y="816877"/>
            <a:ext cx="49635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09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47" name="Google Shape;647;p7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72</a:t>
            </a:r>
            <a:endParaRPr/>
          </a:p>
        </p:txBody>
      </p:sp>
      <p:sp>
        <p:nvSpPr>
          <p:cNvPr id="648" name="Google Shape;648;p71"/>
          <p:cNvSpPr txBox="1"/>
          <p:nvPr/>
        </p:nvSpPr>
        <p:spPr>
          <a:xfrm>
            <a:off x="866457" y="1745217"/>
            <a:ext cx="5125200" cy="42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36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Don't Use new Object()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{} instead of new Object()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"" instead of new String()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0 instead of new Number()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false instead of new Boolean()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[] instead of new Array()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/()/ instead of new RegExp()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83992A"/>
              </a:buClr>
              <a:buSzPts val="2500"/>
              <a:buFont typeface="Arial"/>
              <a:buChar char="•"/>
            </a:pPr>
            <a:r>
              <a:rPr lang="en-US" sz="22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function (){} instead of new Function()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2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72"/>
          <p:cNvSpPr txBox="1">
            <a:spLocks noGrp="1"/>
          </p:cNvSpPr>
          <p:nvPr>
            <p:ph type="title"/>
          </p:nvPr>
        </p:nvSpPr>
        <p:spPr>
          <a:xfrm>
            <a:off x="993443" y="873877"/>
            <a:ext cx="49635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209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Practices</a:t>
            </a:r>
            <a:endParaRPr/>
          </a:p>
        </p:txBody>
      </p:sp>
      <p:sp>
        <p:nvSpPr>
          <p:cNvPr id="655" name="Google Shape;655;p7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73</a:t>
            </a:r>
            <a:endParaRPr/>
          </a:p>
        </p:txBody>
      </p:sp>
      <p:sp>
        <p:nvSpPr>
          <p:cNvPr id="656" name="Google Shape;656;p72"/>
          <p:cNvSpPr txBox="1"/>
          <p:nvPr/>
        </p:nvSpPr>
        <p:spPr>
          <a:xfrm>
            <a:off x="993444" y="2500629"/>
            <a:ext cx="455739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Don't Use new Object(): Examples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7" name="Google Shape;657;p72"/>
          <p:cNvSpPr txBox="1"/>
          <p:nvPr/>
        </p:nvSpPr>
        <p:spPr>
          <a:xfrm>
            <a:off x="993444" y="3016122"/>
            <a:ext cx="1699260" cy="2220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x1 = {};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x2 = "";  var x3 = 0;  var x4 = false;  var x5 = [];  var x6 = /()/;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72"/>
          <p:cNvSpPr txBox="1"/>
          <p:nvPr/>
        </p:nvSpPr>
        <p:spPr>
          <a:xfrm>
            <a:off x="3140201" y="3016122"/>
            <a:ext cx="3175635" cy="2220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4033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object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461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primitive string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31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primitive number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498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primitive boolean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array object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7970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new regexp object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72"/>
          <p:cNvSpPr txBox="1"/>
          <p:nvPr/>
        </p:nvSpPr>
        <p:spPr>
          <a:xfrm>
            <a:off x="993444" y="5211571"/>
            <a:ext cx="546100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x7 = function(){}; // new function object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9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9"/>
          <p:cNvSpPr txBox="1">
            <a:spLocks noGrp="1"/>
          </p:cNvSpPr>
          <p:nvPr>
            <p:ph type="title"/>
          </p:nvPr>
        </p:nvSpPr>
        <p:spPr>
          <a:xfrm>
            <a:off x="861200" y="550926"/>
            <a:ext cx="58317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JavaScript Date Objects</a:t>
            </a:r>
            <a:endParaRPr sz="3600"/>
          </a:p>
        </p:txBody>
      </p:sp>
      <p:sp>
        <p:nvSpPr>
          <p:cNvPr id="550" name="Google Shape;550;p5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60</a:t>
            </a:r>
            <a:endParaRPr/>
          </a:p>
        </p:txBody>
      </p:sp>
      <p:sp>
        <p:nvSpPr>
          <p:cNvPr id="551" name="Google Shape;551;p59"/>
          <p:cNvSpPr txBox="1"/>
          <p:nvPr/>
        </p:nvSpPr>
        <p:spPr>
          <a:xfrm>
            <a:off x="690225" y="1117925"/>
            <a:ext cx="7557600" cy="50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25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new Date()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 d = new Date();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 Aug 17 2019 18:46:55 GMT+0530 (India Standard Time)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objects are created with the new Date() constructor.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4 ways to create a new date object:</a:t>
            </a:r>
            <a:endParaRPr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Date(year, month, day, hours, minutes, seconds, milliseconds)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Date(milliseconds)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Date(date string)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0"/>
          <p:cNvSpPr/>
          <p:nvPr/>
        </p:nvSpPr>
        <p:spPr>
          <a:xfrm>
            <a:off x="1278636" y="2357627"/>
            <a:ext cx="6596380" cy="0"/>
          </a:xfrm>
          <a:custGeom>
            <a:avLst/>
            <a:gdLst/>
            <a:ahLst/>
            <a:cxnLst/>
            <a:rect l="l" t="t" r="r" b="b"/>
            <a:pathLst>
              <a:path w="6596380" h="120000" extrusionOk="0">
                <a:moveTo>
                  <a:pt x="0" y="0"/>
                </a:moveTo>
                <a:lnTo>
                  <a:pt x="6595998" y="0"/>
                </a:lnTo>
              </a:path>
            </a:pathLst>
          </a:custGeom>
          <a:noFill/>
          <a:ln w="15225" cap="flat" cmpd="sng">
            <a:solidFill>
              <a:srgbClr val="83992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60"/>
          <p:cNvSpPr txBox="1">
            <a:spLocks noGrp="1"/>
          </p:cNvSpPr>
          <p:nvPr>
            <p:ph type="title"/>
          </p:nvPr>
        </p:nvSpPr>
        <p:spPr>
          <a:xfrm>
            <a:off x="766226" y="664903"/>
            <a:ext cx="62232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JavaScript Date Formats</a:t>
            </a:r>
            <a:endParaRPr/>
          </a:p>
        </p:txBody>
      </p:sp>
      <p:sp>
        <p:nvSpPr>
          <p:cNvPr id="558" name="Google Shape;558;p6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61</a:t>
            </a:r>
            <a:endParaRPr/>
          </a:p>
        </p:txBody>
      </p:sp>
      <p:sp>
        <p:nvSpPr>
          <p:cNvPr id="559" name="Google Shape;559;p60"/>
          <p:cNvSpPr txBox="1"/>
          <p:nvPr/>
        </p:nvSpPr>
        <p:spPr>
          <a:xfrm>
            <a:off x="1278622" y="1906046"/>
            <a:ext cx="6333600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28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Date Input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9085" marR="5080" lvl="0" indent="-287019" algn="l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83992A"/>
              </a:buClr>
              <a:buSzPts val="2750"/>
              <a:buFont typeface="Arial"/>
              <a:buChar char="•"/>
            </a:pPr>
            <a:r>
              <a:rPr lang="en-US" sz="24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generally 3 types of JavaScript date input  formats: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60" name="Google Shape;560;p60"/>
          <p:cNvGraphicFramePr/>
          <p:nvPr/>
        </p:nvGraphicFramePr>
        <p:xfrm>
          <a:off x="1171575" y="3881437"/>
          <a:ext cx="6901825" cy="1942100"/>
        </p:xfrm>
        <a:graphic>
          <a:graphicData uri="http://schemas.openxmlformats.org/drawingml/2006/table">
            <a:tbl>
              <a:tblPr firstRow="1" bandRow="1">
                <a:noFill/>
                <a:tableStyleId>{E7C01E4A-ECF9-481C-8706-59F973F03C87}</a:tableStyleId>
              </a:tblPr>
              <a:tblGrid>
                <a:gridCol w="1590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3117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85525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5525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 Date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"2015-03-25" (The International Standard)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85525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Short Date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"03/25/2015"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050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85525">
                <a:tc>
                  <a:txBody>
                    <a:bodyPr/>
                    <a:lstStyle/>
                    <a:p>
                      <a:pPr marL="120014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Long Date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6032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"Mar 25 2015" or "25 Mar 2015"</a:t>
                      </a:r>
                      <a:endParaRPr sz="2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19675" marB="0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DDDDD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4295</TotalTime>
  <Words>3567</Words>
  <Application>Microsoft Office PowerPoint</Application>
  <PresentationFormat>On-screen Show (4:3)</PresentationFormat>
  <Paragraphs>903</Paragraphs>
  <Slides>93</Slides>
  <Notes>68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4" baseType="lpstr">
      <vt:lpstr>Facet</vt:lpstr>
      <vt:lpstr>PowerPoint Presentation</vt:lpstr>
      <vt:lpstr>Introduction</vt:lpstr>
      <vt:lpstr>What can we do with JavaScript?</vt:lpstr>
      <vt:lpstr>Why Study JavaScript?</vt:lpstr>
      <vt:lpstr>Syntax</vt:lpstr>
      <vt:lpstr>A Simple Script</vt:lpstr>
      <vt:lpstr>Enabling - Chrome            Step 2 : Advance Setting -&gt; Privacy &amp; Security</vt:lpstr>
      <vt:lpstr>Enabling - Chrome</vt:lpstr>
      <vt:lpstr>Enabling - Chrome</vt:lpstr>
      <vt:lpstr>Comments</vt:lpstr>
      <vt:lpstr>A Simple Script</vt:lpstr>
      <vt:lpstr>Basic Features</vt:lpstr>
      <vt:lpstr>Statements</vt:lpstr>
      <vt:lpstr>JavaScript Can Change HTML  Content</vt:lpstr>
      <vt:lpstr>JavaScript Can Change HTML Styles  (CSS)</vt:lpstr>
      <vt:lpstr>JavaScript Can Hide HTML  Elements</vt:lpstr>
      <vt:lpstr>JavaScript Can Show HTML  Elements</vt:lpstr>
      <vt:lpstr>JavaScript Where To</vt:lpstr>
      <vt:lpstr>JavaScript Where To</vt:lpstr>
      <vt:lpstr>External JavaScript</vt:lpstr>
      <vt:lpstr>JavaScript Display Possibilities</vt:lpstr>
      <vt:lpstr>JavaScript Display Possibilities</vt:lpstr>
      <vt:lpstr>Variables</vt:lpstr>
      <vt:lpstr>Cont…</vt:lpstr>
      <vt:lpstr>Cont…</vt:lpstr>
      <vt:lpstr>A Simple Script</vt:lpstr>
      <vt:lpstr>PowerPoint Presentation</vt:lpstr>
      <vt:lpstr>JavaScript Reserved Words</vt:lpstr>
      <vt:lpstr>Data Types</vt:lpstr>
      <vt:lpstr>Numbers</vt:lpstr>
      <vt:lpstr>Strings</vt:lpstr>
      <vt:lpstr>Boolean</vt:lpstr>
      <vt:lpstr>Type Conversion</vt:lpstr>
      <vt:lpstr>Arrays</vt:lpstr>
      <vt:lpstr>Cont…</vt:lpstr>
      <vt:lpstr>Arithmetic Operators</vt:lpstr>
      <vt:lpstr>Assignment Operator</vt:lpstr>
      <vt:lpstr>Comparison Operator</vt:lpstr>
      <vt:lpstr>Logical Operator</vt:lpstr>
      <vt:lpstr>Conditional Statement</vt:lpstr>
      <vt:lpstr>Loops</vt:lpstr>
      <vt:lpstr>Example</vt:lpstr>
      <vt:lpstr>Example</vt:lpstr>
      <vt:lpstr>Loops</vt:lpstr>
      <vt:lpstr>Example</vt:lpstr>
      <vt:lpstr>Example</vt:lpstr>
      <vt:lpstr>For Loop</vt:lpstr>
      <vt:lpstr>Example</vt:lpstr>
      <vt:lpstr>Switch Statement</vt:lpstr>
      <vt:lpstr>Example</vt:lpstr>
      <vt:lpstr>JavaScript Functions</vt:lpstr>
      <vt:lpstr>Example </vt:lpstr>
      <vt:lpstr>JavaScript Object Notation(JSON)</vt:lpstr>
      <vt:lpstr>Object creation</vt:lpstr>
      <vt:lpstr>Creating objects in JavaScript</vt:lpstr>
      <vt:lpstr>Creating object by literal</vt:lpstr>
      <vt:lpstr> By creating instance of Object</vt:lpstr>
      <vt:lpstr> By using an Object constructor</vt:lpstr>
      <vt:lpstr>PowerPoint Presentation</vt:lpstr>
      <vt:lpstr>Javascript method</vt:lpstr>
      <vt:lpstr>Document.getElementById()</vt:lpstr>
      <vt:lpstr>document.getElementsByName() </vt:lpstr>
      <vt:lpstr>document.getElementsByTagName() </vt:lpstr>
      <vt:lpstr>ParseInt()- String to Int conversion ParseFloat()- String to float conversion </vt:lpstr>
      <vt:lpstr>Document Object Model: Events</vt:lpstr>
      <vt:lpstr>Document Object Model: Event Listeners</vt:lpstr>
      <vt:lpstr>Statically </vt:lpstr>
      <vt:lpstr>Dynamic method</vt:lpstr>
      <vt:lpstr>Common HTML Events</vt:lpstr>
      <vt:lpstr>PowerPoint Presentation</vt:lpstr>
      <vt:lpstr>Click Event</vt:lpstr>
      <vt:lpstr>Mouse over Event </vt:lpstr>
      <vt:lpstr>What can JavaScript Do?</vt:lpstr>
      <vt:lpstr>What can JavaScript Do?</vt:lpstr>
      <vt:lpstr>Form validation</vt:lpstr>
      <vt:lpstr>PowerPoint Presentation</vt:lpstr>
      <vt:lpstr>Example </vt:lpstr>
      <vt:lpstr>PowerPoint Presentation</vt:lpstr>
      <vt:lpstr>Complete example:</vt:lpstr>
      <vt:lpstr>JavaScript Errors - Throw and Try to  Catch</vt:lpstr>
      <vt:lpstr>JavaScript Errors - Throw and Try to  Catch</vt:lpstr>
      <vt:lpstr>JavaScript Throws Errors, finally</vt:lpstr>
      <vt:lpstr>JavaScript Debugging</vt:lpstr>
      <vt:lpstr>JavaScript Debugging</vt:lpstr>
      <vt:lpstr>Best Practices</vt:lpstr>
      <vt:lpstr>Best Practices</vt:lpstr>
      <vt:lpstr>Best Practices</vt:lpstr>
      <vt:lpstr>Best Practices</vt:lpstr>
      <vt:lpstr>Best Practices</vt:lpstr>
      <vt:lpstr>Best Practices</vt:lpstr>
      <vt:lpstr>Best Practices</vt:lpstr>
      <vt:lpstr>JavaScript Date Objects</vt:lpstr>
      <vt:lpstr>JavaScript Date Formats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cjyuan</dc:creator>
  <cp:lastModifiedBy>kjscecomp</cp:lastModifiedBy>
  <cp:revision>45</cp:revision>
  <dcterms:created xsi:type="dcterms:W3CDTF">2022-02-14T05:25:08Z</dcterms:created>
  <dcterms:modified xsi:type="dcterms:W3CDTF">2024-02-07T09:34:13Z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2022-02-14T00:00:00Z</vt:filetime>
  </property>
</Properties>
</file>